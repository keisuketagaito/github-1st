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7.svg" ContentType="image/svg+xml"/>
  <Override PartName="/ppt/media/image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38"/>
  </p:notesMasterIdLst>
  <p:sldIdLst>
    <p:sldId id="770" r:id="rId2"/>
    <p:sldId id="269" r:id="rId3"/>
    <p:sldId id="693" r:id="rId4"/>
    <p:sldId id="749" r:id="rId5"/>
    <p:sldId id="748" r:id="rId6"/>
    <p:sldId id="799" r:id="rId33"/>
    <p:sldId id="774" r:id="rId7"/>
    <p:sldId id="775" r:id="rId8"/>
    <p:sldId id="266" r:id="rId9"/>
    <p:sldId id="772" r:id="rId10"/>
    <p:sldId id="776" r:id="rId11"/>
    <p:sldId id="798" r:id="rId12"/>
    <p:sldId id="800" r:id="rId34"/>
    <p:sldId id="802" r:id="rId41"/>
    <p:sldId id="796" r:id="rId13"/>
    <p:sldId id="792" r:id="rId14"/>
    <p:sldId id="779" r:id="rId15"/>
    <p:sldId id="797" r:id="rId16"/>
    <p:sldId id="771" r:id="rId17"/>
    <p:sldId id="780" r:id="rId18"/>
    <p:sldId id="789" r:id="rId19"/>
    <p:sldId id="781" r:id="rId20"/>
    <p:sldId id="790" r:id="rId21"/>
    <p:sldId id="793" r:id="rId22"/>
    <p:sldId id="791" r:id="rId23"/>
    <p:sldId id="795" r:id="rId24"/>
    <p:sldId id="803" r:id="rId40"/>
    <p:sldId id="773" r:id="rId25"/>
    <p:sldId id="784" r:id="rId26"/>
    <p:sldId id="785" r:id="rId27"/>
    <p:sldId id="787" r:id="rId29"/>
    <p:sldId id="782" r:id="rId30"/>
    <p:sldId id="783" r:id="rId31"/>
    <p:sldId id="788" r:id="rId35"/>
    <p:sldId id="801" r:id="rId36"/>
    <p:sldId id="277" r:id="rId37"/>
  </p:sldIdLst>
  <p:sldSz cx="10691813" cy="7559675"/>
  <p:notesSz cx="9939338" cy="1436846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774"/>
            <p14:sldId id="775"/>
            <p14:sldId id="266"/>
            <p14:sldId id="772"/>
            <p14:sldId id="776"/>
            <p14:sldId id="798"/>
            <p14:sldId id="796"/>
            <p14:sldId id="792"/>
            <p14:sldId id="779"/>
            <p14:sldId id="797"/>
            <p14:sldId id="771"/>
            <p14:sldId id="780"/>
            <p14:sldId id="789"/>
            <p14:sldId id="781"/>
            <p14:sldId id="790"/>
            <p14:sldId id="793"/>
            <p14:sldId id="791"/>
            <p14:sldId id="795"/>
            <p14:sldId id="773"/>
            <p14:sldId id="784"/>
            <p14:sldId id="785"/>
            <p14:sldId id="786"/>
            <p14:sldId id="787"/>
            <p14:sldId id="782"/>
            <p14:sldId id="783"/>
            <p14:sldId id="794"/>
            <p14:sldId id="799"/>
            <p14:sldId id="800"/>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4526" userDrawn="1">
          <p15:clr>
            <a:srgbClr val="A4A3A4"/>
          </p15:clr>
        </p15:guide>
        <p15:guide id="2" pos="3131" userDrawn="1">
          <p15:clr>
            <a:srgbClr val="A4A3A4"/>
          </p15:clr>
        </p15:guide>
      </p15:notes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2"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889C9"/>
    <a:srgbClr val="006AB1"/>
    <a:srgbClr val="0B3041"/>
    <a:srgbClr val="54CCB3"/>
    <a:srgbClr val="E1F2FB"/>
    <a:srgbClr val="E3E7E9"/>
    <a:srgbClr val="727F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87" d="100"/>
          <a:sy n="87" d="100"/>
        </p:scale>
        <p:origin x="907" y="58"/>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4526"/>
        <p:guide pos="313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3" Type="http://schemas.openxmlformats.org/officeDocument/2006/relationships/slide" Target="slides/slide6.xml"/><Relationship Id="rId34" Type="http://schemas.openxmlformats.org/officeDocument/2006/relationships/slide" Target="slides/slide13.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notesMaster" Target="notesMasters/notesMaster1.xml"/><Relationship Id="rId40" Type="http://schemas.openxmlformats.org/officeDocument/2006/relationships/slide" Target="slides/slide36.xml"/><Relationship Id="rId41" Type="http://schemas.openxmlformats.org/officeDocument/2006/relationships/slide" Target="slides/slide35.xml"/><Relationship Id="rId42" Type="http://customschemas.google.com/relationships/presentationmetadata" Target="metadata"/><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900" b="1">
                <a:solidFill>
                  <a:srgbClr val="0B3041"/>
                </a:solidFill>
                <a:latin typeface="游ゴシック"/>
                <a:ea typeface="游ゴシック"/>
              </a:rPr>
              <a:t>月別売上高（百万円）</a:t>
            </a:r>
          </a:p>
        </c:rich>
      </c:tx>
      <c:layout/>
      <c:overlay val="0"/>
    </c:title>
    <c:autoTitleDeleted val="0"/>
    <c:plotArea>
      <c:barChart>
        <c:barDir val="col"/>
        <c:grouping val="clustered"/>
        <c:ser>
          <c:idx val="0"/>
          <c:order val="0"/>
          <c:tx>
            <c:strRef>
              <c:f>Sheet1!$B$1</c:f>
              <c:strCache>
                <c:ptCount val="1"/>
                <c:pt idx="0">
                  <c:v>売上高</c:v>
                </c:pt>
              </c:strCache>
            </c:strRef>
          </c:tx>
          <c:spPr>
            <a:solidFill>
              <a:srgbClr val="0B3041"/>
            </a:solidFill>
          </c:spPr>
          <c:invertIfNegative val="0"/>
          <c:cat>
            <c:strRef>
              <c:f>Sheet1!$A$2:$A$13</c:f>
              <c:strCache>
                <c:ptCount val="12"/>
                <c:pt idx="0">
                  <c:v>4月</c:v>
                </c:pt>
                <c:pt idx="1">
                  <c:v>5月</c:v>
                </c:pt>
                <c:pt idx="2">
                  <c:v>6月</c:v>
                </c:pt>
                <c:pt idx="3">
                  <c:v>7月</c:v>
                </c:pt>
                <c:pt idx="4">
                  <c:v>8月</c:v>
                </c:pt>
                <c:pt idx="5">
                  <c:v>9月</c:v>
                </c:pt>
                <c:pt idx="6">
                  <c:v>10月</c:v>
                </c:pt>
                <c:pt idx="7">
                  <c:v>11月</c:v>
                </c:pt>
                <c:pt idx="8">
                  <c:v>12月</c:v>
                </c:pt>
                <c:pt idx="9">
                  <c:v>1月</c:v>
                </c:pt>
                <c:pt idx="10">
                  <c:v>2月</c:v>
                </c:pt>
                <c:pt idx="11">
                  <c:v>3月</c:v>
                </c:pt>
              </c:strCache>
            </c:strRef>
          </c:cat>
          <c:val>
            <c:numRef>
              <c:f>Sheet1!$B$2:$B$13</c:f>
              <c:numCache>
                <c:formatCode>General</c:formatCode>
                <c:ptCount val="12"/>
                <c:pt idx="0">
                  <c:v>88</c:v>
                </c:pt>
                <c:pt idx="1">
                  <c:v>102</c:v>
                </c:pt>
                <c:pt idx="2">
                  <c:v>84</c:v>
                </c:pt>
                <c:pt idx="3">
                  <c:v>146</c:v>
                </c:pt>
                <c:pt idx="4">
                  <c:v>138</c:v>
                </c:pt>
                <c:pt idx="5">
                  <c:v>110</c:v>
                </c:pt>
                <c:pt idx="6">
                  <c:v>106</c:v>
                </c:pt>
                <c:pt idx="7">
                  <c:v>101</c:v>
                </c:pt>
                <c:pt idx="8">
                  <c:v>98</c:v>
                </c:pt>
                <c:pt idx="9">
                  <c:v>70</c:v>
                </c:pt>
                <c:pt idx="10">
                  <c:v>69</c:v>
                </c:pt>
                <c:pt idx="11">
                  <c:v>84</c:v>
                </c:pt>
              </c:numCache>
            </c:numRef>
          </c:val>
        </c:ser>
        <c:dLbls>
          <c:numFmt formatCode="#,##0" sourceLinked="0"/>
          <c:txPr>
            <a:bodyPr/>
            <a:lstStyle/>
            <a:p>
              <a:pPr>
                <a:defRPr sz="800">
                  <a:solidFill>
                    <a:srgbClr val="333333"/>
                  </a:solidFill>
                  <a:latin typeface="Arial"/>
                </a:defRPr>
              </a:pPr>
            </a:p>
          </c:txPr>
          <c:dLblPos val="outEnd"/>
          <c:showLegendKey val="0"/>
          <c:showVal val="1"/>
          <c:showCatName val="0"/>
          <c:showSerName val="0"/>
          <c:showPercent val="0"/>
          <c:showBubbleSize val="0"/>
          <c:showLeaderLines val="1"/>
        </c:dLbls>
        <c:gapWidth val="60"/>
        <c:overlap val="-8"/>
        <c:axId val="-2068027336"/>
        <c:axId val="-2113994440"/>
      </c:barChart>
      <c:catAx>
        <c:axId val="-2068027336"/>
        <c:scaling>
          <c:orientation val="minMax"/>
        </c:scaling>
        <c:delete val="0"/>
        <c:axPos val="b"/>
        <c:majorTickMark val="out"/>
        <c:minorTickMark val="none"/>
        <c:tickLblPos val="low"/>
        <c:spPr>
          <a:ln>
            <a:solidFill>
              <a:srgbClr val="5A6670"/>
            </a:solidFill>
          </a:ln>
        </c:spPr>
        <c:txPr>
          <a:bodyPr/>
          <a:lstStyle/>
          <a:p>
            <a:pPr>
              <a:defRPr sz="800">
                <a:latin typeface="游ゴシック"/>
              </a:defRPr>
            </a:pPr>
          </a:p>
        </c:txPr>
        <c:crossAx val="-2113994440"/>
        <c:crosses val="autoZero"/>
        <c:auto val="1"/>
        <c:lblAlgn val="ctr"/>
        <c:lblOffset val="100"/>
        <c:noMultiLvlLbl val="0"/>
      </c:catAx>
      <c:valAx>
        <c:axId val="-2113994440"/>
        <c:scaling/>
        <c:delete val="0"/>
        <c:axPos val="l"/>
        <c:majorGridlines>
          <c:spPr>
            <a:ln>
              <a:solidFill>
                <a:srgbClr val="E3E7E9"/>
              </a:solidFill>
            </a:ln>
          </c:spPr>
        </c:majorGridlines>
        <c:numFmt formatCode="#,##0" sourceLinked="0"/>
        <c:majorTickMark val="out"/>
        <c:minorTickMark val="none"/>
        <c:tickLblPos val="nextTo"/>
        <c:spPr>
          <a:ln>
            <a:noFill/>
          </a:ln>
        </c:spPr>
        <c:txPr>
          <a:bodyPr/>
          <a:lstStyle/>
          <a:p>
            <a:pPr>
              <a:defRPr sz="800">
                <a:solidFill>
                  <a:srgbClr val="5A6670"/>
                </a:solidFill>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r>
              <a:rPr sz="1000" b="1">
                <a:latin typeface="游ゴシック"/>
              </a:rPr>
              <a:t>区分別構成（2026/3期）</a:t>
            </a:r>
          </a:p>
        </c:rich>
      </c:tx>
      <c:layout/>
      <c:overlay val="0"/>
    </c:title>
    <c:autoTitleDeleted val="0"/>
    <c:plotArea>
      <c:pieChart>
        <c:varyColors val="1"/>
        <c:ser>
          <c:idx val="0"/>
          <c:order val="0"/>
          <c:tx>
            <c:strRef>
              <c:f>Sheet1!$B$1</c:f>
              <c:strCache>
                <c:ptCount val="1"/>
                <c:pt idx="0">
                  <c:v>2026/3期</c:v>
                </c:pt>
              </c:strCache>
            </c:strRef>
          </c:tx>
          <c:dPt>
            <c:idx val="0"/>
            <c:spPr>
              <a:solidFill>
                <a:srgbClr val="0B3041"/>
              </a:solidFill>
            </c:spPr>
          </c:dPt>
          <c:dPt>
            <c:idx val="1"/>
            <c:spPr>
              <a:solidFill>
                <a:srgbClr val="2E75B6"/>
              </a:solidFill>
            </c:spPr>
          </c:dPt>
          <c:dPt>
            <c:idx val="2"/>
            <c:spPr>
              <a:solidFill>
                <a:srgbClr val="9DC3E6"/>
              </a:solidFill>
            </c:spPr>
          </c:dPt>
          <c:dPt>
            <c:idx val="3"/>
            <c:spPr>
              <a:solidFill>
                <a:srgbClr val="BFBFBF"/>
              </a:solidFill>
            </c:spPr>
          </c:dPt>
          <c:cat>
            <c:strRef>
              <c:f>Sheet1!$A$2:$A$5</c:f>
              <c:strCache>
                <c:ptCount val="4"/>
                <c:pt idx="0">
                  <c:v>野菜 56.6%</c:v>
                </c:pt>
                <c:pt idx="1">
                  <c:v>果実 37.3%</c:v>
                </c:pt>
                <c:pt idx="2">
                  <c:v>花き 2.4%</c:v>
                </c:pt>
                <c:pt idx="3">
                  <c:v>加工品 3.7%</c:v>
                </c:pt>
              </c:strCache>
            </c:strRef>
          </c:cat>
          <c:val>
            <c:numRef>
              <c:f>Sheet1!$B$2:$B$5</c:f>
              <c:numCache>
                <c:formatCode>General</c:formatCode>
                <c:ptCount val="4"/>
                <c:pt idx="0">
                  <c:v>732910</c:v>
                </c:pt>
                <c:pt idx="1">
                  <c:v>482577</c:v>
                </c:pt>
                <c:pt idx="2">
                  <c:v>31116</c:v>
                </c:pt>
                <c:pt idx="3">
                  <c:v>47322</c:v>
                </c:pt>
              </c:numCache>
            </c:numRef>
          </c:val>
        </c:ser>
      </c:pieChart>
    </c:plotArea>
    <c:legend>
      <c:legendPos val="b"/>
      <c:overlay val="0"/>
      <c:txPr>
        <a:bodyPr/>
        <a:lstStyle/>
        <a:p>
          <a:pPr>
            <a:defRPr sz="850">
              <a:latin typeface="游ゴシック"/>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5" y="4"/>
            <a:ext cx="4306676" cy="719872"/>
          </a:xfrm>
          <a:prstGeom prst="rect">
            <a:avLst/>
          </a:prstGeom>
          <a:noFill/>
          <a:ln>
            <a:noFill/>
          </a:ln>
        </p:spPr>
        <p:txBody>
          <a:bodyPr spcFirstLastPara="1" wrap="square" lIns="128134" tIns="64050" rIns="128134" bIns="64050" anchor="t"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5630444" y="4"/>
            <a:ext cx="4306675" cy="719872"/>
          </a:xfrm>
          <a:prstGeom prst="rect">
            <a:avLst/>
          </a:prstGeom>
          <a:noFill/>
          <a:ln>
            <a:noFill/>
          </a:ln>
        </p:spPr>
        <p:txBody>
          <a:bodyPr spcFirstLastPara="1" wrap="square" lIns="128134" tIns="64050" rIns="128134" bIns="64050" anchor="t" anchorCtr="0">
            <a:noAutofit/>
          </a:bodyPr>
          <a:lstStyle>
            <a:lvl1pPr marR="0" lvl="0" algn="r"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5" y="13648596"/>
            <a:ext cx="4306676" cy="719872"/>
          </a:xfrm>
          <a:prstGeom prst="rect">
            <a:avLst/>
          </a:prstGeom>
          <a:noFill/>
          <a:ln>
            <a:noFill/>
          </a:ln>
        </p:spPr>
        <p:txBody>
          <a:bodyPr spcFirstLastPara="1" wrap="square" lIns="128134" tIns="64050" rIns="128134" bIns="64050" anchor="b" anchorCtr="0">
            <a:noAutofit/>
          </a:bodyPr>
          <a:lstStyle>
            <a:lvl1pPr marR="0" lvl="0" algn="l" rtl="0">
              <a:spcBef>
                <a:spcPts val="0"/>
              </a:spcBef>
              <a:spcAft>
                <a:spcPts val="0"/>
              </a:spcAft>
              <a:buSzPts val="1400"/>
              <a:buNone/>
              <a:defRPr sz="17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25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25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25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25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25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25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25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25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sz="1700" smtClean="0">
                <a:solidFill>
                  <a:schemeClr val="dk1"/>
                </a:solidFill>
              </a:rPr>
              <a:pPr algn="r"/>
              <a:t>‹#›</a:t>
            </a:fld>
            <a:endParaRPr lang="en-US" sz="17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1038225" y="1244600"/>
            <a:ext cx="4745038" cy="33559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682755" y="4787722"/>
            <a:ext cx="5455939" cy="3915961"/>
          </a:xfrm>
          <a:prstGeom prst="rect">
            <a:avLst/>
          </a:prstGeom>
          <a:noFill/>
          <a:ln>
            <a:noFill/>
          </a:ln>
        </p:spPr>
        <p:txBody>
          <a:bodyPr spcFirstLastPara="1" wrap="square" lIns="88335" tIns="44169" rIns="88335" bIns="44169" anchor="t" anchorCtr="0">
            <a:noAutofit/>
          </a:bodyPr>
          <a:lstStyle/>
          <a:p>
            <a:endParaRPr dirty="0"/>
          </a:p>
        </p:txBody>
      </p:sp>
      <p:sp>
        <p:nvSpPr>
          <p:cNvPr id="257" name="Google Shape;257;p2:notes"/>
          <p:cNvSpPr txBox="1">
            <a:spLocks noGrp="1"/>
          </p:cNvSpPr>
          <p:nvPr>
            <p:ph type="sldNum" idx="12"/>
          </p:nvPr>
        </p:nvSpPr>
        <p:spPr>
          <a:xfrm>
            <a:off x="3863353" y="9448918"/>
            <a:ext cx="2955046" cy="498368"/>
          </a:xfrm>
          <a:prstGeom prst="rect">
            <a:avLst/>
          </a:prstGeom>
          <a:noFill/>
          <a:ln>
            <a:noFill/>
          </a:ln>
        </p:spPr>
        <p:txBody>
          <a:bodyPr spcFirstLastPara="1" wrap="square" lIns="88335" tIns="44169" rIns="88335" bIns="44169" anchor="b" anchorCtr="0">
            <a:noAutofit/>
          </a:bodyPr>
          <a:lstStyle/>
          <a:p>
            <a:pPr algn="r"/>
            <a:fld id="{00000000-1234-1234-1234-123412341234}" type="slidenum">
              <a:rPr lang="en-US" altLang="ja-JP"/>
              <a:pPr algn="r"/>
              <a:t>2</a:t>
            </a:fld>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p:cNvSpPr>
            <a:spLocks noGrp="1"/>
          </p:cNvSpPr>
          <p:nvPr>
            <p:ph type="sldNum" sz="quarter" idx="5"/>
          </p:nvPr>
        </p:nvSpPr>
        <p:spPr/>
        <p:txBody>
          <a:bodyPr/>
          <a:lstStyle/>
          <a:p>
            <a:fld id="{30FF3BCC-1A43-4D25-8467-E40EF431E2F1}" type="slidenum">
              <a:rPr kumimoji="1" lang="ja-JP" altLang="en-US" smtClean="0"/>
              <a:t>4</a:t>
            </a:fld>
            <a:endParaRPr kumimoji="1" lang="ja-JP" altLang="en-US"/>
          </a:p>
        </p:txBody>
      </p:sp>
    </p:spTree>
    <p:extLst>
      <p:ext uri="{BB962C8B-B14F-4D97-AF65-F5344CB8AC3E}">
        <p14:creationId xmlns:p14="http://schemas.microsoft.com/office/powerpoint/2010/main" val="38172004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D25C8-440A-2828-878D-418A0792F61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7C3FEA-F9FD-B7DB-149F-6EC1DBA8826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3A5BB81D-E86C-9959-31EE-7B30A06B6D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0211B70-4BC5-9F81-584A-69CFC82BF433}"/>
              </a:ext>
            </a:extLst>
          </p:cNvPr>
          <p:cNvSpPr>
            <a:spLocks noGrp="1"/>
          </p:cNvSpPr>
          <p:nvPr>
            <p:ph type="sldNum" sz="quarter" idx="5"/>
          </p:nvPr>
        </p:nvSpPr>
        <p:spPr/>
        <p:txBody>
          <a:bodyPr/>
          <a:lstStyle/>
          <a:p>
            <a:fld id="{30FF3BCC-1A43-4D25-8467-E40EF431E2F1}" type="slidenum">
              <a:rPr kumimoji="1" lang="ja-JP" altLang="en-US" smtClean="0"/>
              <a:t>5</a:t>
            </a:fld>
            <a:endParaRPr kumimoji="1" lang="ja-JP" altLang="en-US"/>
          </a:p>
        </p:txBody>
      </p:sp>
    </p:spTree>
    <p:extLst>
      <p:ext uri="{BB962C8B-B14F-4D97-AF65-F5344CB8AC3E}">
        <p14:creationId xmlns:p14="http://schemas.microsoft.com/office/powerpoint/2010/main" val="774749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ED554-B8EF-4A9F-7D23-DA7BEB53934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71CEDC1-16A4-E7E3-6D33-36595C1E076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07542380-129E-8965-7EF1-2B0D19ED3CF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C20D6D73-0F3C-EDF6-E562-BBF922D0AE83}"/>
              </a:ext>
            </a:extLst>
          </p:cNvPr>
          <p:cNvSpPr>
            <a:spLocks noGrp="1"/>
          </p:cNvSpPr>
          <p:nvPr>
            <p:ph type="sldNum" sz="quarter" idx="5"/>
          </p:nvPr>
        </p:nvSpPr>
        <p:spPr/>
        <p:txBody>
          <a:bodyPr/>
          <a:lstStyle/>
          <a:p>
            <a:fld id="{30FF3BCC-1A43-4D25-8467-E40EF431E2F1}" type="slidenum">
              <a:rPr kumimoji="1" lang="ja-JP" altLang="en-US" smtClean="0"/>
              <a:t>6</a:t>
            </a:fld>
            <a:endParaRPr kumimoji="1" lang="ja-JP" altLang="en-US"/>
          </a:p>
        </p:txBody>
      </p:sp>
    </p:spTree>
    <p:extLst>
      <p:ext uri="{BB962C8B-B14F-4D97-AF65-F5344CB8AC3E}">
        <p14:creationId xmlns:p14="http://schemas.microsoft.com/office/powerpoint/2010/main" val="1899608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a:spLocks noGrp="1" noRot="1" noChangeAspect="1"/>
          </p:cNvSpPr>
          <p:nvPr>
            <p:ph type="sldImg" idx="2"/>
          </p:nvPr>
        </p:nvSpPr>
        <p:spPr>
          <a:xfrm>
            <a:off x="1543050" y="1797050"/>
            <a:ext cx="6856413" cy="48498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11:notes"/>
          <p:cNvSpPr txBox="1">
            <a:spLocks noGrp="1"/>
          </p:cNvSpPr>
          <p:nvPr>
            <p:ph type="body" idx="1"/>
          </p:nvPr>
        </p:nvSpPr>
        <p:spPr>
          <a:xfrm>
            <a:off x="995044" y="6915677"/>
            <a:ext cx="7951470" cy="5656454"/>
          </a:xfrm>
          <a:prstGeom prst="rect">
            <a:avLst/>
          </a:prstGeom>
          <a:noFill/>
          <a:ln>
            <a:noFill/>
          </a:ln>
        </p:spPr>
        <p:txBody>
          <a:bodyPr spcFirstLastPara="1" wrap="square" lIns="128134" tIns="64050" rIns="128134" bIns="64050" anchor="t" anchorCtr="0">
            <a:noAutofit/>
          </a:bodyPr>
          <a:lstStyle/>
          <a:p>
            <a:pPr marL="0" indent="0"/>
            <a:endParaRPr/>
          </a:p>
        </p:txBody>
      </p:sp>
      <p:sp>
        <p:nvSpPr>
          <p:cNvPr id="268" name="Google Shape;268;p11:notes"/>
          <p:cNvSpPr txBox="1">
            <a:spLocks noGrp="1"/>
          </p:cNvSpPr>
          <p:nvPr>
            <p:ph type="sldNum" idx="12"/>
          </p:nvPr>
        </p:nvSpPr>
        <p:spPr>
          <a:xfrm>
            <a:off x="5630444" y="13648596"/>
            <a:ext cx="4306675" cy="719872"/>
          </a:xfrm>
          <a:prstGeom prst="rect">
            <a:avLst/>
          </a:prstGeom>
          <a:noFill/>
          <a:ln>
            <a:noFill/>
          </a:ln>
        </p:spPr>
        <p:txBody>
          <a:bodyPr spcFirstLastPara="1" wrap="square" lIns="128134" tIns="64050" rIns="128134" bIns="64050" anchor="b" anchorCtr="0">
            <a:noAutofit/>
          </a:bodyPr>
          <a:lstStyle/>
          <a:p>
            <a:pPr algn="r"/>
            <a:fld id="{00000000-1234-1234-1234-123412341234}" type="slidenum">
              <a:rPr lang="en-US" altLang="ja-JP"/>
              <a:pPr algn="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55F2-72AB-FF31-01FE-A6493B0F50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381C757-4FDD-ACE7-CF68-5819651248C1}"/>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5EE625D-8D2D-C468-280D-551D9E317BF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DF0B3B1-489B-7B8F-FCE9-8191D341F15C}"/>
              </a:ext>
            </a:extLst>
          </p:cNvPr>
          <p:cNvSpPr>
            <a:spLocks noGrp="1"/>
          </p:cNvSpPr>
          <p:nvPr>
            <p:ph type="sldNum" sz="quarter" idx="5"/>
          </p:nvPr>
        </p:nvSpPr>
        <p:spPr/>
        <p:txBody>
          <a:bodyPr/>
          <a:lstStyle/>
          <a:p>
            <a:fld id="{CAF5A409-FE33-4202-B69D-8515A6FDCE7E}" type="slidenum">
              <a:rPr kumimoji="1" lang="ja-JP" altLang="en-US" smtClean="0"/>
              <a:t>9</a:t>
            </a:fld>
            <a:endParaRPr kumimoji="1" lang="ja-JP" altLang="en-US"/>
          </a:p>
        </p:txBody>
      </p:sp>
    </p:spTree>
    <p:extLst>
      <p:ext uri="{BB962C8B-B14F-4D97-AF65-F5344CB8AC3E}">
        <p14:creationId xmlns:p14="http://schemas.microsoft.com/office/powerpoint/2010/main" val="1806618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2053-256C-05EB-FF6B-3E836DA88FD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BE281C-3A22-F726-BA35-A4756E55EBE3}"/>
              </a:ext>
            </a:extLst>
          </p:cNvPr>
          <p:cNvSpPr>
            <a:spLocks noGrp="1" noRot="1" noChangeAspect="1"/>
          </p:cNvSpPr>
          <p:nvPr>
            <p:ph type="sldImg"/>
          </p:nvPr>
        </p:nvSpPr>
        <p:spPr>
          <a:xfrm>
            <a:off x="1247775" y="1143000"/>
            <a:ext cx="4362450" cy="3086100"/>
          </a:xfrm>
        </p:spPr>
      </p:sp>
      <p:sp>
        <p:nvSpPr>
          <p:cNvPr id="3" name="ノート プレースホルダー 2">
            <a:extLst>
              <a:ext uri="{FF2B5EF4-FFF2-40B4-BE49-F238E27FC236}">
                <a16:creationId xmlns:a16="http://schemas.microsoft.com/office/drawing/2014/main" id="{DB7B9342-8F57-66B0-B807-2488575A5459}"/>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00245A20-27B3-F697-2291-87BE1C3A1772}"/>
              </a:ext>
            </a:extLst>
          </p:cNvPr>
          <p:cNvSpPr>
            <a:spLocks noGrp="1"/>
          </p:cNvSpPr>
          <p:nvPr>
            <p:ph type="sldNum" sz="quarter" idx="5"/>
          </p:nvPr>
        </p:nvSpPr>
        <p:spPr/>
        <p:txBody>
          <a:bodyPr/>
          <a:lstStyle/>
          <a:p>
            <a:fld id="{CCD08276-B047-45AB-869B-6FEE4FD0AA7E}" type="slidenum">
              <a:rPr kumimoji="1" lang="ja-JP" altLang="en-US" smtClean="0"/>
              <a:t>10</a:t>
            </a:fld>
            <a:endParaRPr kumimoji="1" lang="ja-JP" altLang="en-US"/>
          </a:p>
        </p:txBody>
      </p:sp>
    </p:spTree>
    <p:extLst>
      <p:ext uri="{BB962C8B-B14F-4D97-AF65-F5344CB8AC3E}">
        <p14:creationId xmlns:p14="http://schemas.microsoft.com/office/powerpoint/2010/main" val="41460065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247775" y="1143000"/>
            <a:ext cx="4362450" cy="3086100"/>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11</a:t>
            </a:fld>
            <a:endParaRPr kumimoji="1" lang="ja-JP" altLang="en-US"/>
          </a:p>
        </p:txBody>
      </p:sp>
    </p:spTree>
    <p:extLst>
      <p:ext uri="{BB962C8B-B14F-4D97-AF65-F5344CB8AC3E}">
        <p14:creationId xmlns:p14="http://schemas.microsoft.com/office/powerpoint/2010/main" val="3746752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C040D-60A3-F058-65D5-629296F9C77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DF3EA90-DD81-CBB9-EF73-27816BB83DE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B54EE8A0-BFED-396D-4CAA-82A6D5708D4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1534188-0443-756D-A5E2-5F3AA4D2F28B}"/>
              </a:ext>
            </a:extLst>
          </p:cNvPr>
          <p:cNvSpPr>
            <a:spLocks noGrp="1"/>
          </p:cNvSpPr>
          <p:nvPr>
            <p:ph type="sldNum" sz="quarter" idx="5"/>
          </p:nvPr>
        </p:nvSpPr>
        <p:spPr/>
        <p:txBody>
          <a:bodyPr/>
          <a:lstStyle/>
          <a:p>
            <a:fld id="{30FF3BCC-1A43-4D25-8467-E40EF431E2F1}" type="slidenum">
              <a:rPr kumimoji="1" lang="ja-JP" altLang="en-US" smtClean="0"/>
              <a:t>12</a:t>
            </a:fld>
            <a:endParaRPr kumimoji="1" lang="ja-JP" altLang="en-US"/>
          </a:p>
        </p:txBody>
      </p:sp>
    </p:spTree>
    <p:extLst>
      <p:ext uri="{BB962C8B-B14F-4D97-AF65-F5344CB8AC3E}">
        <p14:creationId xmlns:p14="http://schemas.microsoft.com/office/powerpoint/2010/main" val="1997313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9CA458-621A-F6CD-BCBF-9D132A609B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5834A7-AD91-AB56-B63B-5F4E423CE6A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642B7059-7F90-A560-40B9-33E684841AB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291A80AB-D339-06B2-3E95-24ED9AB082F7}"/>
              </a:ext>
            </a:extLst>
          </p:cNvPr>
          <p:cNvSpPr>
            <a:spLocks noGrp="1"/>
          </p:cNvSpPr>
          <p:nvPr>
            <p:ph type="sldNum" sz="quarter" idx="5"/>
          </p:nvPr>
        </p:nvSpPr>
        <p:spPr/>
        <p:txBody>
          <a:bodyPr/>
          <a:lstStyle/>
          <a:p>
            <a:fld id="{30FF3BCC-1A43-4D25-8467-E40EF431E2F1}" type="slidenum">
              <a:rPr kumimoji="1" lang="ja-JP" altLang="en-US" smtClean="0"/>
              <a:t>13</a:t>
            </a:fld>
            <a:endParaRPr kumimoji="1" lang="ja-JP" altLang="en-US"/>
          </a:p>
        </p:txBody>
      </p:sp>
    </p:spTree>
    <p:extLst>
      <p:ext uri="{BB962C8B-B14F-4D97-AF65-F5344CB8AC3E}">
        <p14:creationId xmlns:p14="http://schemas.microsoft.com/office/powerpoint/2010/main" val="1626880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A592E-568B-2BA5-2B19-12B81CE778D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7A7352E-A782-2B96-F549-A44B4533D5C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EF54036B-FC89-BE57-BD1D-9528CDD969D8}"/>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71950A32-E8C7-5909-50B6-CF7BE228A3D0}"/>
              </a:ext>
            </a:extLst>
          </p:cNvPr>
          <p:cNvSpPr>
            <a:spLocks noGrp="1"/>
          </p:cNvSpPr>
          <p:nvPr>
            <p:ph type="sldNum" sz="quarter" idx="5"/>
          </p:nvPr>
        </p:nvSpPr>
        <p:spPr/>
        <p:txBody>
          <a:bodyPr/>
          <a:lstStyle/>
          <a:p>
            <a:fld id="{30FF3BCC-1A43-4D25-8467-E40EF431E2F1}" type="slidenum">
              <a:rPr kumimoji="1" lang="ja-JP" altLang="en-US" smtClean="0"/>
              <a:t>14</a:t>
            </a:fld>
            <a:endParaRPr kumimoji="1" lang="ja-JP" altLang="en-US"/>
          </a:p>
        </p:txBody>
      </p:sp>
    </p:spTree>
    <p:extLst>
      <p:ext uri="{BB962C8B-B14F-4D97-AF65-F5344CB8AC3E}">
        <p14:creationId xmlns:p14="http://schemas.microsoft.com/office/powerpoint/2010/main" val="16178411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60B1B-8967-EB16-F654-95E71A21670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6F3223C-6CB5-B48E-4B27-2931302D029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33B0F29-3AAB-5E14-B4D9-A017F82CA42C}"/>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E8F4B38-0355-E574-CF5F-76C145B0E13C}"/>
              </a:ext>
            </a:extLst>
          </p:cNvPr>
          <p:cNvSpPr>
            <a:spLocks noGrp="1"/>
          </p:cNvSpPr>
          <p:nvPr>
            <p:ph type="sldNum" sz="quarter" idx="5"/>
          </p:nvPr>
        </p:nvSpPr>
        <p:spPr/>
        <p:txBody>
          <a:bodyPr/>
          <a:lstStyle/>
          <a:p>
            <a:fld id="{30FF3BCC-1A43-4D25-8467-E40EF431E2F1}" type="slidenum">
              <a:rPr kumimoji="1" lang="ja-JP" altLang="en-US" smtClean="0"/>
              <a:t>16</a:t>
            </a:fld>
            <a:endParaRPr kumimoji="1" lang="ja-JP" altLang="en-US"/>
          </a:p>
        </p:txBody>
      </p:sp>
    </p:spTree>
    <p:extLst>
      <p:ext uri="{BB962C8B-B14F-4D97-AF65-F5344CB8AC3E}">
        <p14:creationId xmlns:p14="http://schemas.microsoft.com/office/powerpoint/2010/main" val="409466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8DC-3B5A-8CE0-C236-C6578FA6AB0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576820E-69EC-DFBB-76F4-BBF2BC15D6DB}"/>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41A58E-CABA-7A79-2BAA-194DDE6D065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A0865AC2-C5B9-11C1-D7AC-9B470F32EF53}"/>
              </a:ext>
            </a:extLst>
          </p:cNvPr>
          <p:cNvSpPr>
            <a:spLocks noGrp="1"/>
          </p:cNvSpPr>
          <p:nvPr>
            <p:ph type="sldNum" sz="quarter" idx="5"/>
          </p:nvPr>
        </p:nvSpPr>
        <p:spPr/>
        <p:txBody>
          <a:bodyPr/>
          <a:lstStyle/>
          <a:p>
            <a:fld id="{30FF3BCC-1A43-4D25-8467-E40EF431E2F1}" type="slidenum">
              <a:rPr kumimoji="1" lang="ja-JP" altLang="en-US" smtClean="0"/>
              <a:t>17</a:t>
            </a:fld>
            <a:endParaRPr kumimoji="1" lang="ja-JP" altLang="en-US"/>
          </a:p>
        </p:txBody>
      </p:sp>
    </p:spTree>
    <p:extLst>
      <p:ext uri="{BB962C8B-B14F-4D97-AF65-F5344CB8AC3E}">
        <p14:creationId xmlns:p14="http://schemas.microsoft.com/office/powerpoint/2010/main" val="2026445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22E725-D7D8-17E1-4745-D0791B9111B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6A1D65-57DD-D413-2249-F85A5B42102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0982E84-E980-EAEA-3AF3-155A001191DF}"/>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35F2FC0-9ABA-38FB-BDED-E00320A10C78}"/>
              </a:ext>
            </a:extLst>
          </p:cNvPr>
          <p:cNvSpPr>
            <a:spLocks noGrp="1"/>
          </p:cNvSpPr>
          <p:nvPr>
            <p:ph type="sldNum" sz="quarter" idx="5"/>
          </p:nvPr>
        </p:nvSpPr>
        <p:spPr/>
        <p:txBody>
          <a:bodyPr/>
          <a:lstStyle/>
          <a:p>
            <a:fld id="{30FF3BCC-1A43-4D25-8467-E40EF431E2F1}" type="slidenum">
              <a:rPr kumimoji="1" lang="ja-JP" altLang="en-US" smtClean="0"/>
              <a:t>18</a:t>
            </a:fld>
            <a:endParaRPr kumimoji="1" lang="ja-JP" altLang="en-US"/>
          </a:p>
        </p:txBody>
      </p:sp>
    </p:spTree>
    <p:extLst>
      <p:ext uri="{BB962C8B-B14F-4D97-AF65-F5344CB8AC3E}">
        <p14:creationId xmlns:p14="http://schemas.microsoft.com/office/powerpoint/2010/main" val="1741109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0C7B85-83C3-9DDE-4335-158CC42969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57E6BA9-F36D-604F-3499-7C87D66ABC57}"/>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45EFA15-1CDA-B8D1-0BAC-253999A0B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F28CD9B-652E-87FA-D240-FE835F6686E1}"/>
              </a:ext>
            </a:extLst>
          </p:cNvPr>
          <p:cNvSpPr>
            <a:spLocks noGrp="1"/>
          </p:cNvSpPr>
          <p:nvPr>
            <p:ph type="sldNum" sz="quarter" idx="5"/>
          </p:nvPr>
        </p:nvSpPr>
        <p:spPr/>
        <p:txBody>
          <a:bodyPr/>
          <a:lstStyle/>
          <a:p>
            <a:fld id="{30FF3BCC-1A43-4D25-8467-E40EF431E2F1}" type="slidenum">
              <a:rPr kumimoji="1" lang="ja-JP" altLang="en-US" smtClean="0"/>
              <a:t>19</a:t>
            </a:fld>
            <a:endParaRPr kumimoji="1" lang="ja-JP" altLang="en-US"/>
          </a:p>
        </p:txBody>
      </p:sp>
    </p:spTree>
    <p:extLst>
      <p:ext uri="{BB962C8B-B14F-4D97-AF65-F5344CB8AC3E}">
        <p14:creationId xmlns:p14="http://schemas.microsoft.com/office/powerpoint/2010/main" val="5849257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35142-7613-2F88-6DDF-0AA0B95CE30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9A89B74-D534-CC5D-3603-B157866C912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2C5E7B25-D992-5558-9CAA-3A2BB05B714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540B3A9-5359-D1DF-207E-4945C3794197}"/>
              </a:ext>
            </a:extLst>
          </p:cNvPr>
          <p:cNvSpPr>
            <a:spLocks noGrp="1"/>
          </p:cNvSpPr>
          <p:nvPr>
            <p:ph type="sldNum" sz="quarter" idx="5"/>
          </p:nvPr>
        </p:nvSpPr>
        <p:spPr/>
        <p:txBody>
          <a:bodyPr/>
          <a:lstStyle/>
          <a:p>
            <a:fld id="{30FF3BCC-1A43-4D25-8467-E40EF431E2F1}" type="slidenum">
              <a:rPr kumimoji="1" lang="ja-JP" altLang="en-US" smtClean="0"/>
              <a:t>20</a:t>
            </a:fld>
            <a:endParaRPr kumimoji="1" lang="ja-JP" altLang="en-US"/>
          </a:p>
        </p:txBody>
      </p:sp>
    </p:spTree>
    <p:extLst>
      <p:ext uri="{BB962C8B-B14F-4D97-AF65-F5344CB8AC3E}">
        <p14:creationId xmlns:p14="http://schemas.microsoft.com/office/powerpoint/2010/main" val="4071856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76726-F92E-C8AC-70BE-109958028C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AB818D-78DD-0444-71FA-AF55300919C5}"/>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CC10619B-E5D8-2E73-006F-A5FD1904CBC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8095705-0959-428A-F57F-B098A8BDB7DB}"/>
              </a:ext>
            </a:extLst>
          </p:cNvPr>
          <p:cNvSpPr>
            <a:spLocks noGrp="1"/>
          </p:cNvSpPr>
          <p:nvPr>
            <p:ph type="sldNum" sz="quarter" idx="5"/>
          </p:nvPr>
        </p:nvSpPr>
        <p:spPr/>
        <p:txBody>
          <a:bodyPr/>
          <a:lstStyle/>
          <a:p>
            <a:fld id="{30FF3BCC-1A43-4D25-8467-E40EF431E2F1}" type="slidenum">
              <a:rPr kumimoji="1" lang="ja-JP" altLang="en-US" smtClean="0"/>
              <a:t>21</a:t>
            </a:fld>
            <a:endParaRPr kumimoji="1" lang="ja-JP" altLang="en-US"/>
          </a:p>
        </p:txBody>
      </p:sp>
    </p:spTree>
    <p:extLst>
      <p:ext uri="{BB962C8B-B14F-4D97-AF65-F5344CB8AC3E}">
        <p14:creationId xmlns:p14="http://schemas.microsoft.com/office/powerpoint/2010/main" val="21491322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93F79-295E-F06B-7AB6-52A5A3EA39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26F7EE7-AB24-EA55-7ACE-47505BF35BAF}"/>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7BDE5B4E-F52E-8016-E763-B450F1D89C74}"/>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86271926-BBCD-B1D8-D398-CE016D9998E8}"/>
              </a:ext>
            </a:extLst>
          </p:cNvPr>
          <p:cNvSpPr>
            <a:spLocks noGrp="1"/>
          </p:cNvSpPr>
          <p:nvPr>
            <p:ph type="sldNum" sz="quarter" idx="5"/>
          </p:nvPr>
        </p:nvSpPr>
        <p:spPr/>
        <p:txBody>
          <a:bodyPr/>
          <a:lstStyle/>
          <a:p>
            <a:fld id="{30FF3BCC-1A43-4D25-8467-E40EF431E2F1}" type="slidenum">
              <a:rPr kumimoji="1" lang="ja-JP" altLang="en-US" smtClean="0"/>
              <a:t>22</a:t>
            </a:fld>
            <a:endParaRPr kumimoji="1" lang="ja-JP" altLang="en-US"/>
          </a:p>
        </p:txBody>
      </p:sp>
    </p:spTree>
    <p:extLst>
      <p:ext uri="{BB962C8B-B14F-4D97-AF65-F5344CB8AC3E}">
        <p14:creationId xmlns:p14="http://schemas.microsoft.com/office/powerpoint/2010/main" val="33173544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8BDAB-B0BC-D005-A2A7-951EBC89B4C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52DC877-776A-449C-A43E-AEB3CE94D630}"/>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030C70C-7CA3-B8C1-0D62-4A544C5F87B2}"/>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96B92F43-F674-D334-F90F-5304787C5E7D}"/>
              </a:ext>
            </a:extLst>
          </p:cNvPr>
          <p:cNvSpPr>
            <a:spLocks noGrp="1"/>
          </p:cNvSpPr>
          <p:nvPr>
            <p:ph type="sldNum" sz="quarter" idx="5"/>
          </p:nvPr>
        </p:nvSpPr>
        <p:spPr/>
        <p:txBody>
          <a:bodyPr/>
          <a:lstStyle/>
          <a:p>
            <a:fld id="{30FF3BCC-1A43-4D25-8467-E40EF431E2F1}" type="slidenum">
              <a:rPr kumimoji="1" lang="ja-JP" altLang="en-US" smtClean="0"/>
              <a:t>24</a:t>
            </a:fld>
            <a:endParaRPr kumimoji="1" lang="ja-JP" altLang="en-US"/>
          </a:p>
        </p:txBody>
      </p:sp>
    </p:spTree>
    <p:extLst>
      <p:ext uri="{BB962C8B-B14F-4D97-AF65-F5344CB8AC3E}">
        <p14:creationId xmlns:p14="http://schemas.microsoft.com/office/powerpoint/2010/main" val="206598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A4A82-F556-35B1-B856-FE508044492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EC3BDB4-265E-5E67-CFEA-208DBEE091A4}"/>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BF07348-0B3E-EDA2-CC24-8961BB8EE4D3}"/>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0395BC13-068C-8F1D-24E2-48104E91BC41}"/>
              </a:ext>
            </a:extLst>
          </p:cNvPr>
          <p:cNvSpPr>
            <a:spLocks noGrp="1"/>
          </p:cNvSpPr>
          <p:nvPr>
            <p:ph type="sldNum" sz="quarter" idx="5"/>
          </p:nvPr>
        </p:nvSpPr>
        <p:spPr/>
        <p:txBody>
          <a:bodyPr/>
          <a:lstStyle/>
          <a:p>
            <a:fld id="{30FF3BCC-1A43-4D25-8467-E40EF431E2F1}" type="slidenum">
              <a:rPr kumimoji="1" lang="ja-JP" altLang="en-US" smtClean="0"/>
              <a:t>25</a:t>
            </a:fld>
            <a:endParaRPr kumimoji="1" lang="ja-JP" altLang="en-US"/>
          </a:p>
        </p:txBody>
      </p:sp>
    </p:spTree>
    <p:extLst>
      <p:ext uri="{BB962C8B-B14F-4D97-AF65-F5344CB8AC3E}">
        <p14:creationId xmlns:p14="http://schemas.microsoft.com/office/powerpoint/2010/main" val="294578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D6D02-57FD-62EB-BC56-6E300F505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138501E-F5AF-0224-79A6-DBE6F9F7E093}"/>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F0C518C7-436D-8B71-5734-02D19443C6B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64216A50-996C-4CF3-5119-58EFABB781F5}"/>
              </a:ext>
            </a:extLst>
          </p:cNvPr>
          <p:cNvSpPr>
            <a:spLocks noGrp="1"/>
          </p:cNvSpPr>
          <p:nvPr>
            <p:ph type="sldNum" sz="quarter" idx="5"/>
          </p:nvPr>
        </p:nvSpPr>
        <p:spPr/>
        <p:txBody>
          <a:bodyPr/>
          <a:lstStyle/>
          <a:p>
            <a:fld id="{30FF3BCC-1A43-4D25-8467-E40EF431E2F1}" type="slidenum">
              <a:rPr kumimoji="1" lang="ja-JP" altLang="en-US" smtClean="0"/>
              <a:t>27</a:t>
            </a:fld>
            <a:endParaRPr kumimoji="1" lang="ja-JP" altLang="en-US"/>
          </a:p>
        </p:txBody>
      </p:sp>
    </p:spTree>
    <p:extLst>
      <p:ext uri="{BB962C8B-B14F-4D97-AF65-F5344CB8AC3E}">
        <p14:creationId xmlns:p14="http://schemas.microsoft.com/office/powerpoint/2010/main" val="2898530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F017-472F-0872-A57B-F89F02E4AE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D7AC265-7FBA-5DC7-99A1-03FC2F6AC04A}"/>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47597C32-1DAD-46CB-92D2-4B18BA8A3020}"/>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3D7D21C-CA67-AD27-2D15-37084604B145}"/>
              </a:ext>
            </a:extLst>
          </p:cNvPr>
          <p:cNvSpPr>
            <a:spLocks noGrp="1"/>
          </p:cNvSpPr>
          <p:nvPr>
            <p:ph type="sldNum" sz="quarter" idx="5"/>
          </p:nvPr>
        </p:nvSpPr>
        <p:spPr/>
        <p:txBody>
          <a:bodyPr/>
          <a:lstStyle/>
          <a:p>
            <a:fld id="{30FF3BCC-1A43-4D25-8467-E40EF431E2F1}" type="slidenum">
              <a:rPr kumimoji="1" lang="ja-JP" altLang="en-US" smtClean="0"/>
              <a:t>29</a:t>
            </a:fld>
            <a:endParaRPr kumimoji="1" lang="ja-JP" altLang="en-US"/>
          </a:p>
        </p:txBody>
      </p:sp>
    </p:spTree>
    <p:extLst>
      <p:ext uri="{BB962C8B-B14F-4D97-AF65-F5344CB8AC3E}">
        <p14:creationId xmlns:p14="http://schemas.microsoft.com/office/powerpoint/2010/main" val="8899097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F683D-5DAD-A120-6033-B5D7A3A10F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98E89A-CF82-A78D-98DD-04A02EFED8B9}"/>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55B7C49F-E7C2-17E6-0809-6FDB7372C5D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4C2036E6-B3B5-956E-AF2B-34A9EF32DC49}"/>
              </a:ext>
            </a:extLst>
          </p:cNvPr>
          <p:cNvSpPr>
            <a:spLocks noGrp="1"/>
          </p:cNvSpPr>
          <p:nvPr>
            <p:ph type="sldNum" sz="quarter" idx="5"/>
          </p:nvPr>
        </p:nvSpPr>
        <p:spPr/>
        <p:txBody>
          <a:bodyPr/>
          <a:lstStyle/>
          <a:p>
            <a:fld id="{30FF3BCC-1A43-4D25-8467-E40EF431E2F1}" type="slidenum">
              <a:rPr kumimoji="1" lang="ja-JP" altLang="en-US" smtClean="0"/>
              <a:t>31</a:t>
            </a:fld>
            <a:endParaRPr kumimoji="1" lang="ja-JP" altLang="en-US"/>
          </a:p>
        </p:txBody>
      </p:sp>
    </p:spTree>
    <p:extLst>
      <p:ext uri="{BB962C8B-B14F-4D97-AF65-F5344CB8AC3E}">
        <p14:creationId xmlns:p14="http://schemas.microsoft.com/office/powerpoint/2010/main" val="28520950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C24FB-19A2-172A-74F4-CB5E1A03BB0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B274906-680C-CCA8-6ED5-B65D3F03778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17A1201A-F7B1-9EBF-6AF8-700AAAA309EE}"/>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D92A0E97-1BCC-5386-BCB7-C636C2D0D234}"/>
              </a:ext>
            </a:extLst>
          </p:cNvPr>
          <p:cNvSpPr>
            <a:spLocks noGrp="1"/>
          </p:cNvSpPr>
          <p:nvPr>
            <p:ph type="sldNum" sz="quarter" idx="5"/>
          </p:nvPr>
        </p:nvSpPr>
        <p:spPr/>
        <p:txBody>
          <a:bodyPr/>
          <a:lstStyle/>
          <a:p>
            <a:fld id="{30FF3BCC-1A43-4D25-8467-E40EF431E2F1}" type="slidenum">
              <a:rPr kumimoji="1" lang="ja-JP" altLang="en-US" smtClean="0"/>
              <a:t>32</a:t>
            </a:fld>
            <a:endParaRPr kumimoji="1" lang="ja-JP" altLang="en-US"/>
          </a:p>
        </p:txBody>
      </p:sp>
    </p:spTree>
    <p:extLst>
      <p:ext uri="{BB962C8B-B14F-4D97-AF65-F5344CB8AC3E}">
        <p14:creationId xmlns:p14="http://schemas.microsoft.com/office/powerpoint/2010/main" val="227924488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8CDCC-4499-9CC9-1F39-99083A511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3DCC5A-4CF0-CE33-9793-735FCC81AE4E}"/>
              </a:ext>
            </a:extLst>
          </p:cNvPr>
          <p:cNvSpPr>
            <a:spLocks noGrp="1" noRot="1" noChangeAspect="1"/>
          </p:cNvSpPr>
          <p:nvPr>
            <p:ph type="sldImg"/>
          </p:nvPr>
        </p:nvSpPr>
        <p:spPr>
          <a:xfrm>
            <a:off x="1033463" y="1243013"/>
            <a:ext cx="4740275" cy="3352800"/>
          </a:xfrm>
        </p:spPr>
      </p:sp>
      <p:sp>
        <p:nvSpPr>
          <p:cNvPr id="3" name="ノート プレースホルダー 2">
            <a:extLst>
              <a:ext uri="{FF2B5EF4-FFF2-40B4-BE49-F238E27FC236}">
                <a16:creationId xmlns:a16="http://schemas.microsoft.com/office/drawing/2014/main" id="{96E4A811-4C57-E7FA-999B-3B2346969CFA}"/>
              </a:ext>
            </a:extLst>
          </p:cNvPr>
          <p:cNvSpPr>
            <a:spLocks noGrp="1"/>
          </p:cNvSpPr>
          <p:nvPr>
            <p:ph type="body" idx="1"/>
          </p:nvPr>
        </p:nvSpPr>
        <p:spPr/>
        <p: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lang="en-US" altLang="ja-JP" dirty="0"/>
          </a:p>
        </p:txBody>
      </p:sp>
      <p:sp>
        <p:nvSpPr>
          <p:cNvPr id="4" name="スライド番号プレースホルダー 3">
            <a:extLst>
              <a:ext uri="{FF2B5EF4-FFF2-40B4-BE49-F238E27FC236}">
                <a16:creationId xmlns:a16="http://schemas.microsoft.com/office/drawing/2014/main" id="{E5D9E0B5-62CD-B7FC-7619-BDD324DA7A35}"/>
              </a:ext>
            </a:extLst>
          </p:cNvPr>
          <p:cNvSpPr>
            <a:spLocks noGrp="1"/>
          </p:cNvSpPr>
          <p:nvPr>
            <p:ph type="sldNum" sz="quarter" idx="5"/>
          </p:nvPr>
        </p:nvSpPr>
        <p:spPr/>
        <p:txBody>
          <a:bodyPr/>
          <a:lstStyle/>
          <a:p>
            <a:fld id="{30FF3BCC-1A43-4D25-8467-E40EF431E2F1}" type="slidenum">
              <a:rPr kumimoji="1" lang="ja-JP" altLang="en-US" smtClean="0"/>
              <a:t>33</a:t>
            </a:fld>
            <a:endParaRPr kumimoji="1" lang="ja-JP" altLang="en-US"/>
          </a:p>
        </p:txBody>
      </p:sp>
    </p:spTree>
    <p:extLst>
      <p:ext uri="{BB962C8B-B14F-4D97-AF65-F5344CB8AC3E}">
        <p14:creationId xmlns:p14="http://schemas.microsoft.com/office/powerpoint/2010/main" val="21640625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1033463" y="1243013"/>
            <a:ext cx="4740275" cy="3352800"/>
          </a:xfrm>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dirty="0"/>
          </a:p>
        </p:txBody>
      </p:sp>
      <p:sp>
        <p:nvSpPr>
          <p:cNvPr id="4" name="スライド番号プレースホルダー 3"/>
          <p:cNvSpPr>
            <a:spLocks noGrp="1"/>
          </p:cNvSpPr>
          <p:nvPr>
            <p:ph type="sldNum" sz="quarter" idx="5"/>
          </p:nvPr>
        </p:nvSpPr>
        <p:spPr/>
        <p:txBody>
          <a:bodyPr/>
          <a:lstStyle/>
          <a:p>
            <a:fld id="{CAF5A409-FE33-4202-B69D-8515A6FDCE7E}" type="slidenum">
              <a:rPr kumimoji="1" lang="ja-JP" altLang="en-US" smtClean="0"/>
              <a:t>34</a:t>
            </a:fld>
            <a:endParaRPr kumimoji="1" lang="ja-JP" altLang="en-US"/>
          </a:p>
        </p:txBody>
      </p:sp>
    </p:spTree>
    <p:extLst>
      <p:ext uri="{BB962C8B-B14F-4D97-AF65-F5344CB8AC3E}">
        <p14:creationId xmlns:p14="http://schemas.microsoft.com/office/powerpoint/2010/main" val="3909621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10.e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1.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14.e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5.emf"/><Relationship Id="rId4"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16.emf"/><Relationship Id="rId4" Type="http://schemas.openxmlformats.org/officeDocument/2006/relationships/image" Target="../media/image17.e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8.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19.png"/><Relationship Id="rId4" Type="http://schemas.openxmlformats.org/officeDocument/2006/relationships/image" Target="../media/image20.png"/><Relationship Id="rId5" Type="http://schemas.microsoft.com/office/2007/relationships/hdphoto" Target="../media/hdphoto1.wdp"/><Relationship Id="rId6" Type="http://schemas.openxmlformats.org/officeDocument/2006/relationships/image" Target="../media/image21.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2.emf"/><Relationship Id="rId4" Type="http://schemas.openxmlformats.org/officeDocument/2006/relationships/image" Target="../media/image23.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jpeg"/><Relationship Id="rId3" Type="http://schemas.openxmlformats.org/officeDocument/2006/relationships/image" Target="../media/image8.png"/><Relationship Id="rId4" Type="http://schemas.openxmlformats.org/officeDocument/2006/relationships/image" Target="../media/image9.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p:txBody>
          <a:bodyPr/>
          <a:lstStyle/>
          <a:p>
            <a:r>
              <a:rPr lang="ja-JP" altLang="en-US" dirty="0"/>
              <a:t>企業概要書 </a:t>
            </a:r>
            <a:r>
              <a:rPr lang="en-US" altLang="ja-JP" sz="2400" dirty="0"/>
              <a:t>&lt;野菜卸売業／東北&gt;</a:t>
            </a:r>
            <a:r>
              <a:rPr lang="ja-JP" altLang="en-US" sz="2400" dirty="0"/>
              <a:t/>
            </a:r>
            <a:r>
              <a:rPr lang="en-US" altLang="ja-JP" sz="2400" dirty="0"/>
              <a:t/>
            </a:r>
            <a:r>
              <a:rPr lang="ja-JP" altLang="en-US" sz="2400" dirty="0"/>
              <a:t/>
            </a:r>
            <a:r>
              <a:rPr lang="en-US" altLang="ja-JP" sz="2400" dirty="0"/>
              <a:t/>
            </a:r>
            <a:r>
              <a:rPr lang="ja-JP" altLang="en-US" dirty="0"/>
              <a:t/>
            </a:r>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Information</a:t>
            </a:r>
            <a:r>
              <a:rPr lang="ja-JP" altLang="en-US" sz="1800" dirty="0"/>
              <a:t> </a:t>
            </a:r>
            <a:r>
              <a:rPr lang="en-US" altLang="ja-JP" sz="1800" dirty="0"/>
              <a:t>Memorandum</a:t>
            </a:r>
            <a:r>
              <a:rPr lang="zh-TW" altLang="en-US" dirty="0"/>
              <a:t>　</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3713220567"/>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r>
                        <a:rPr lang="en-US" altLang="ja-JP" sz="1200" b="1" u="none" strike="noStrike" cap="none" spc="30" baseline="0" dirty="0">
                          <a:latin typeface="+mj-ea"/>
                          <a:ea typeface="+mj-ea"/>
                        </a:rPr>
                        <a:t/>
                      </a:r>
                      <a:r>
                        <a:rPr lang="ja-JP" alt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r>
                        <a:rPr lang="ja-JP" altLang="en-US" sz="1200" b="1" u="none" strike="noStrike" cap="none" spc="30" baseline="0" dirty="0">
                          <a:latin typeface="+mj-ea"/>
                          <a:ea typeface="+mj-ea"/>
                        </a:rPr>
                        <a:t/>
                      </a:r>
                      <a:r>
                        <a:rPr lang="en-US" sz="1200" b="1" u="none" strike="noStrike" cap="none" spc="30" baseline="0" dirty="0">
                          <a:latin typeface="+mj-ea"/>
                          <a:ea typeface="+mj-ea"/>
                        </a:rPr>
                        <a:t/>
                      </a:r>
                      <a:r>
                        <a:rPr lang="ja-JP" altLang="en-US" sz="1200" b="1" u="none" strike="noStrike" cap="none" spc="30" baseline="0" dirty="0">
                          <a:latin typeface="+mj-ea"/>
                          <a:ea typeface="+mj-ea"/>
                        </a:rPr>
                        <a:t/>
                      </a:r>
                      <a:r>
                        <a:rPr lang="en-US" sz="1200" b="1" u="none" strike="noStrike" cap="none" spc="30" baseline="0" dirty="0">
                          <a:latin typeface="+mj-ea"/>
                          <a:ea typeface="+mj-ea"/>
                        </a:rPr>
                        <a:t/>
                      </a:r>
                      <a:r>
                        <a:rPr lang="ja-JP" alt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tagaito_keisuke@ma-sg.co.jp</a:t>
                      </a:r>
                      <a:r>
                        <a:rPr lang="en-US" sz="1200" b="1" u="none" strike="noStrike" cap="none" spc="30" baseline="0" dirty="0">
                          <a:latin typeface="+mj-ea"/>
                          <a:ea typeface="+mj-ea"/>
                        </a:rPr>
                        <a:t/>
                      </a:r>
                      <a:r>
                        <a:rPr lang="ja-JP" altLang="en-US" sz="1200" b="1" u="none" strike="noStrike" cap="none" spc="30" baseline="0" dirty="0">
                          <a:latin typeface="+mj-ea"/>
                          <a:ea typeface="+mj-ea"/>
                        </a:rPr>
                        <a:t/>
                      </a:r>
                      <a:r>
                        <a:rPr lang="en-US" sz="1200" b="1" u="none" strike="noStrike" cap="none" spc="30" baseline="0" dirty="0">
                          <a:latin typeface="+mj-ea"/>
                          <a:ea typeface="+mj-ea"/>
                        </a:rPr>
                        <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当該企業概要書（以下、「本概要書」といいます）は、株式会社</a:t>
            </a:r>
            <a:r>
              <a:rPr lang="en-US" altLang="ja-JP" dirty="0">
                <a:ea typeface="+mn-ea"/>
              </a:rPr>
              <a:t>M&amp;A</a:t>
            </a:r>
            <a:r>
              <a:rPr lang="ja-JP" altLang="en-US" dirty="0">
                <a:ea typeface="+mn-ea"/>
              </a:rPr>
              <a:t>承継機構（以下「弊社」といいます）が、対象会社の発行済株式の取得もしくは事業その他資産の譲受（以下「本取引」といいます）に関する仲介者として、対象会社から提供された情報に基づき、対象会社に関する情報を貴社に提供するために作成したものです。</a:t>
            </a:r>
          </a:p>
          <a:p>
            <a:pPr>
              <a:spcAft>
                <a:spcPts val="1800"/>
              </a:spcAft>
            </a:pPr>
            <a:r>
              <a:rPr lang="ja-JP" altLang="en-US" dirty="0">
                <a:ea typeface="+mn-ea"/>
              </a:rPr>
              <a:t>本概要書の存在及び記載されている情報並びに本概要書に関する全ての連絡・協議は貴社と弊社間で締結している秘密保持契約書（以下「秘密保持契約書」といいます）に定めのある秘密情報に該当致します。</a:t>
            </a:r>
          </a:p>
          <a:p>
            <a:pPr>
              <a:spcAft>
                <a:spcPts val="1800"/>
              </a:spcAft>
            </a:pPr>
            <a:r>
              <a:rPr lang="ja-JP" altLang="en-US" dirty="0">
                <a:ea typeface="+mn-ea"/>
              </a:rPr>
              <a:t>本概要書は、貴社が本取引を行うことを検討するための情報を提供することのみを目的として作成されておりますが、貴社が必要と考える全ての情報を網羅しているとは限りません。また、対象会社並びに弊社取締役、執行役員、監査役及び従業員（以下総称して「情報提供者」といいます）は、本概要書に記載されているいかなる情報及び意見に関しても、明示、黙示にかかわらず、その正確性及び完全性について表明または保証するものではありません。</a:t>
            </a:r>
          </a:p>
          <a:p>
            <a:pPr>
              <a:spcAft>
                <a:spcPts val="1800"/>
              </a:spcAft>
            </a:pPr>
            <a:r>
              <a:rPr lang="ja-JP" altLang="en-US" dirty="0">
                <a:ea typeface="+mn-ea"/>
              </a:rPr>
              <a:t>本概要書は必ずしも対象会社の現況をあらわしているものではなく、本概要書に記載されている日付または本概要書に記載されている情報の日付から、対象会社の状態が変化していないことを表明するものではありません。</a:t>
            </a:r>
          </a:p>
          <a:p>
            <a:pPr>
              <a:spcAft>
                <a:spcPts val="1800"/>
              </a:spcAft>
            </a:pPr>
            <a:r>
              <a:rPr lang="ja-JP" altLang="en-US" dirty="0">
                <a:ea typeface="+mn-ea"/>
              </a:rPr>
              <a:t>いかなる場合でも、本取引に関して、対象会社の役職員（元役職員を含む）及び取引先に対して、貴社及び貴社のアドバイザー等本取引に関与する者が直接、間接を問わずコンタクトをとることを禁止させていただくと共に、全てのご連絡は必ず弊社を介していただきますようお願い申し上げ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エグゼクティブサマリー</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事業概要</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組織、拠点、設備等</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財務情報</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Appendix</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エグゼクティブサマリー</a:t>
            </a:r>
            <a:endParaRPr lang="en-US" altLang="ja-JP" dirty="0"/>
          </a:p>
        </p:txBody>
      </p:sp>
    </p:spTree>
    <p:extLst>
      <p:ext uri="{BB962C8B-B14F-4D97-AF65-F5344CB8AC3E}">
        <p14:creationId xmlns:p14="http://schemas.microsoft.com/office/powerpoint/2010/main" val="540406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字幕 13">
            <a:extLst>
              <a:ext uri="{FF2B5EF4-FFF2-40B4-BE49-F238E27FC236}">
                <a16:creationId xmlns:a16="http://schemas.microsoft.com/office/drawing/2014/main" id="{79A14348-475C-CD64-9408-407529B44C13}"/>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1973年設立。鶴岡市内で唯一の青果物地方卸売市場を自ら運営し、集荷から卸売、小分け・包装、配送までを一貫して担う。売上高は約12億円で安定推移し、市場用地・施設を自社で保有する庄内地区の青果流通拠点。</a:t>
            </a:r>
          </a:p>
        </p:txBody>
      </p:sp>
      <p:sp>
        <p:nvSpPr>
          <p:cNvPr id="13" name="タイトル 12">
            <a:extLst>
              <a:ext uri="{FF2B5EF4-FFF2-40B4-BE49-F238E27FC236}">
                <a16:creationId xmlns:a16="http://schemas.microsoft.com/office/drawing/2014/main" id="{85E2D3B1-D668-47BF-7D76-2F8709456651}"/>
              </a:ext>
            </a:extLst>
          </p:cNvPr>
          <p:cNvSpPr>
            <a:spLocks noGrp="1"/>
          </p:cNvSpPr>
          <p:nvPr>
            <p:ph type="ctrTitle"/>
          </p:nvPr>
        </p:nvSpPr>
        <p:spPr>
          <a:xfrm>
            <a:off x="311150" y="180296"/>
            <a:ext cx="7799917" cy="339267"/>
          </a:xfrm>
        </p:spPr>
        <p:txBody>
          <a:bodyPr>
            <a:normAutofit/>
          </a:bodyPr>
          <a:lstStyle/>
          <a:p>
            <a:r>
              <a:rPr lang="ja-JP" altLang="en-US" dirty="0"/>
              <a:t>基本情報</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2" name="正方形/長方形 1">
            <a:extLst>
              <a:ext uri="{FF2B5EF4-FFF2-40B4-BE49-F238E27FC236}">
                <a16:creationId xmlns:a16="http://schemas.microsoft.com/office/drawing/2014/main" id="{A0EF9F9A-5414-64EC-48C3-D1A342DF89A8}"/>
              </a:ext>
            </a:extLst>
          </p:cNvPr>
          <p:cNvSpPr/>
          <p:nvPr/>
        </p:nvSpPr>
        <p:spPr>
          <a:xfrm>
            <a:off x="310896" y="1481328"/>
            <a:ext cx="5861304" cy="35661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会社概要</a:t>
            </a:r>
          </a:p>
        </p:txBody>
      </p:sp>
      <p:sp>
        <p:nvSpPr>
          <p:cNvPr id="16" name="正方形/長方形 7">
            <a:extLst>
              <a:ext uri="{FF2B5EF4-FFF2-40B4-BE49-F238E27FC236}">
                <a16:creationId xmlns:a16="http://schemas.microsoft.com/office/drawing/2014/main" id="{CBD334A9-999C-ACD4-9DD2-EF961CBA0926}"/>
              </a:ext>
            </a:extLst>
          </p:cNvPr>
          <p:cNvSpPr/>
          <p:nvPr/>
        </p:nvSpPr>
        <p:spPr>
          <a:xfrm>
            <a:off x="6355080" y="1481328"/>
            <a:ext cx="4023360" cy="4791455"/>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本件のポイント</a:t>
            </a:r>
            <a:endParaRPr kumimoji="1" lang="ja-JP" altLang="en-US" sz="1600" b="1" dirty="0">
              <a:solidFill>
                <a:schemeClr val="tx2"/>
              </a:solidFill>
              <a:latin typeface="+mj-lt"/>
              <a:ea typeface="+mj-ea"/>
            </a:endParaRPr>
          </a:p>
        </p:txBody>
      </p:sp>
      <p:sp>
        <p:nvSpPr>
          <p:cNvPr id="17" name="テキスト ボックス 8">
            <a:extLst>
              <a:ext uri="{FF2B5EF4-FFF2-40B4-BE49-F238E27FC236}">
                <a16:creationId xmlns:a16="http://schemas.microsoft.com/office/drawing/2014/main" id="{E5084622-1D6B-783F-80DE-6D9A498C7C12}"/>
              </a:ext>
            </a:extLst>
          </p:cNvPr>
          <p:cNvSpPr txBox="1"/>
          <p:nvPr/>
        </p:nvSpPr>
        <p:spPr>
          <a:xfrm>
            <a:off x="6355080" y="2011680"/>
            <a:ext cx="4023360" cy="4215383"/>
          </a:xfrm>
          <a:prstGeom prst="rect">
            <a:avLst/>
          </a:prstGeom>
          <a:noFill/>
        </p:spPr>
        <p:txBody>
          <a:bodyPr wrap="square" lIns="288000" tIns="0" rIns="252000" bIns="0" rtlCol="0">
            <a:spAutoFit/>
          </a:bodyPr>
          <a:lstStyle/>
          <a:p>
            <a:pPr>
              <a:spcAft>
                <a:spcPts val="100"/>
              </a:spcAft>
            </a:pPr>
            <a:r>
              <a:rPr lang="ja-JP" altLang="en-US" sz="900" b="1" dirty="0">
                <a:solidFill>
                  <a:sysClr val="windowText" lastClr="000000"/>
                </a:solidFill>
                <a:latin typeface="游ゴシック"/>
                <a:ea typeface="游ゴシック"/>
              </a:rPr>
              <a:t>≪鶴岡市内唯一の青果市場≫</a:t>
            </a:r>
          </a:p>
          <a:p>
            <a:pPr>
              <a:spcAft>
                <a:spcPts val="100"/>
              </a:spcAft>
            </a:pPr>
            <a:r>
              <a:rPr lang="ja-JP" altLang="en-US" sz="850" b="0" dirty="0">
                <a:solidFill>
                  <a:sysClr val="windowText" lastClr="000000"/>
                </a:solidFill>
                <a:latin typeface="游ゴシック"/>
                <a:ea typeface="游ゴシック"/>
              </a:rPr>
              <a:t>・市内の青果市場は当社のみ（2026年1月に2社体制から1社に）。山形県知事の認定を受けた地方卸売市場の開設者兼卸売業者。</a:t>
            </a:r>
          </a:p>
          <a:p>
            <a:pPr>
              <a:spcAft>
                <a:spcPts val="100"/>
              </a:spcAft>
            </a:pPr>
            <a:r>
              <a:rPr lang="ja-JP" altLang="en-US" sz="900" b="1" dirty="0">
                <a:solidFill>
                  <a:sysClr val="windowText" lastClr="000000"/>
                </a:solidFill>
                <a:latin typeface="游ゴシック"/>
                <a:ea typeface="游ゴシック"/>
              </a:rPr>
              <a:t>≪農家の持込を全量受け入れる集荷力≫</a:t>
            </a:r>
          </a:p>
          <a:p>
            <a:pPr>
              <a:spcAft>
                <a:spcPts val="100"/>
              </a:spcAft>
            </a:pPr>
            <a:r>
              <a:rPr lang="ja-JP" altLang="en-US" sz="850" b="0" dirty="0">
                <a:solidFill>
                  <a:sysClr val="windowText" lastClr="000000"/>
                </a:solidFill>
                <a:latin typeface="游ゴシック"/>
                <a:ea typeface="游ゴシック"/>
              </a:rPr>
              <a:t>・持込は数量が多くても原則すべて受け入れる。地元優先で販売し、過剰分は豊洲市場・他県へ出荷。</a:t>
            </a:r>
          </a:p>
          <a:p>
            <a:pPr>
              <a:spcAft>
                <a:spcPts val="100"/>
              </a:spcAft>
            </a:pPr>
            <a:r>
              <a:rPr lang="ja-JP" altLang="en-US" sz="900" b="1" dirty="0">
                <a:solidFill>
                  <a:sysClr val="windowText" lastClr="000000"/>
                </a:solidFill>
                <a:latin typeface="游ゴシック"/>
                <a:ea typeface="游ゴシック"/>
              </a:rPr>
              <a:t>≪安定した売上規模と分散した品揃え≫</a:t>
            </a:r>
          </a:p>
          <a:p>
            <a:pPr>
              <a:spcAft>
                <a:spcPts val="100"/>
              </a:spcAft>
            </a:pPr>
            <a:r>
              <a:rPr lang="ja-JP" altLang="en-US" sz="850" b="0" dirty="0">
                <a:solidFill>
                  <a:sysClr val="windowText" lastClr="000000"/>
                </a:solidFill>
                <a:latin typeface="游ゴシック"/>
                <a:ea typeface="游ゴシック"/>
              </a:rPr>
              <a:t>・売上高は約12億円で安定。野菜約6割・果実約3割で、だだちゃ豆・庄内柿・メロン等の地場産品を扱う。</a:t>
            </a:r>
          </a:p>
          <a:p>
            <a:pPr>
              <a:spcAft>
                <a:spcPts val="100"/>
              </a:spcAft>
            </a:pPr>
            <a:r>
              <a:rPr lang="ja-JP" altLang="en-US" sz="900" b="1" dirty="0">
                <a:solidFill>
                  <a:sysClr val="windowText" lastClr="000000"/>
                </a:solidFill>
                <a:latin typeface="游ゴシック"/>
                <a:ea typeface="游ゴシック"/>
              </a:rPr>
              <a:t>≪足元の収益改善≫</a:t>
            </a:r>
          </a:p>
          <a:p>
            <a:pPr>
              <a:spcAft>
                <a:spcPts val="100"/>
              </a:spcAft>
            </a:pPr>
            <a:r>
              <a:rPr lang="ja-JP" altLang="en-US" sz="850" b="0" dirty="0">
                <a:solidFill>
                  <a:sysClr val="windowText" lastClr="000000"/>
                </a:solidFill>
                <a:latin typeface="游ゴシック"/>
                <a:ea typeface="游ゴシック"/>
              </a:rPr>
              <a:t>・2026年4〜9月の営業利益は20,426千円（前年同期9,454千円）。人件費・運賃の削減による。</a:t>
            </a:r>
          </a:p>
          <a:p>
            <a:pPr>
              <a:spcAft>
                <a:spcPts val="100"/>
              </a:spcAft>
            </a:pPr>
            <a:r>
              <a:rPr lang="ja-JP" altLang="en-US" sz="900" b="1" dirty="0">
                <a:solidFill>
                  <a:sysClr val="windowText" lastClr="000000"/>
                </a:solidFill>
                <a:latin typeface="游ゴシック"/>
                <a:ea typeface="游ゴシック"/>
              </a:rPr>
              <a:t>≪事業用不動産を自社保有≫</a:t>
            </a:r>
          </a:p>
          <a:p>
            <a:pPr>
              <a:spcAft>
                <a:spcPts val="100"/>
              </a:spcAft>
            </a:pPr>
            <a:r>
              <a:rPr lang="ja-JP" altLang="en-US" sz="850" b="0" dirty="0">
                <a:solidFill>
                  <a:sysClr val="windowText" lastClr="000000"/>
                </a:solidFill>
                <a:latin typeface="游ゴシック"/>
                <a:ea typeface="游ゴシック"/>
              </a:rPr>
              <a:t>・本社市場とパッケージ場は隣接する自社保有地。賃借物件はなく地代負担がない。</a:t>
            </a:r>
          </a:p>
          <a:p>
            <a:pPr>
              <a:spcAft>
                <a:spcPts val="100"/>
              </a:spcAft>
            </a:pPr>
            <a:r>
              <a:rPr lang="ja-JP" altLang="en-US" sz="900" b="1" dirty="0">
                <a:solidFill>
                  <a:sysClr val="windowText" lastClr="000000"/>
                </a:solidFill>
                <a:latin typeface="游ゴシック"/>
                <a:ea typeface="游ゴシック"/>
              </a:rPr>
              <a:t>≪確認中の論点≫</a:t>
            </a:r>
          </a:p>
          <a:p>
            <a:pPr>
              <a:spcAft>
                <a:spcPts val="100"/>
              </a:spcAft>
            </a:pPr>
            <a:r>
              <a:rPr lang="ja-JP" altLang="en-US" sz="850" b="0" dirty="0">
                <a:solidFill>
                  <a:sysClr val="windowText" lastClr="000000"/>
                </a:solidFill>
                <a:latin typeface="游ゴシック"/>
                <a:ea typeface="游ゴシック"/>
              </a:rPr>
              <a:t>・(株)主婦の店への依存度、社内勘定の性質、2026年9月の新規借入の使途、不動産の時価。</a:t>
            </a:r>
          </a:p>
        </p:txBody>
      </p:sp>
      <p:graphicFrame>
        <p:nvGraphicFramePr>
          <p:cNvPr id="18" name="表（会社概要!B2:C15）"/>
          <p:cNvGraphicFramePr>
            <a:graphicFrameLocks noGrp="1"/>
          </p:cNvGraphicFramePr>
          <p:nvPr/>
        </p:nvGraphicFramePr>
        <p:xfrm>
          <a:off x="310896" y="1883664"/>
          <a:ext cx="5861303" cy="4343393"/>
        </p:xfrm>
        <a:graphic>
          <a:graphicData uri="http://schemas.openxmlformats.org/drawingml/2006/table">
            <a:tbl>
              <a:tblPr firstRow="0" bandRow="0">
                <a:tableStyleId>{2D5ABB26-0587-4C30-8999-92F81FD0307C}</a:tableStyleId>
              </a:tblPr>
              <a:tblGrid>
                <a:gridCol w="1354799"/>
                <a:gridCol w="4506504"/>
              </a:tblGrid>
              <a:tr h="160561">
                <a:tc>
                  <a:txBody>
                    <a:bodyPr/>
                    <a:lstStyle/>
                    <a:p>
                      <a:pPr algn="ctr" fontAlgn="ctr"/>
                      <a:r>
                        <a:rPr lang="ja-JP" altLang="en-US" sz="996" b="1" i="0" dirty="0">
                          <a:solidFill>
                            <a:srgbClr val="FFFFFF"/>
                          </a:solidFill>
                          <a:latin typeface="游ゴシック"/>
                          <a:ea typeface="游ゴシック"/>
                        </a:rPr>
                        <a:t>項目</a:t>
                      </a:r>
                      <a:endParaRPr lang="ja-JP" altLang="en-US" sz="996" b="1"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96" b="1" i="0" dirty="0">
                          <a:solidFill>
                            <a:srgbClr val="FFFFFF"/>
                          </a:solidFill>
                          <a:latin typeface="游ゴシック"/>
                          <a:ea typeface="游ゴシック"/>
                        </a:rPr>
                        <a:t>内容</a:t>
                      </a:r>
                      <a:endParaRPr lang="ja-JP" altLang="en-US" sz="996"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45825">
                <a:tc>
                  <a:txBody>
                    <a:bodyPr/>
                    <a:lstStyle/>
                    <a:p>
                      <a:pPr algn="l" fontAlgn="ctr"/>
                      <a:r>
                        <a:rPr lang="ja-JP" altLang="en-US" sz="996" b="0" i="0" dirty="0">
                          <a:solidFill>
                            <a:srgbClr val="000000"/>
                          </a:solidFill>
                          <a:latin typeface="游ゴシック"/>
                          <a:ea typeface="游ゴシック"/>
                        </a:rPr>
                        <a:t>　会社名</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株式会社鶴岡中央青果（http://www.turu-chu.co.jp/）</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r>
              <a:tr h="189380">
                <a:tc>
                  <a:txBody>
                    <a:bodyPr/>
                    <a:lstStyle/>
                    <a:p>
                      <a:pPr algn="l" fontAlgn="ctr"/>
                      <a:r>
                        <a:rPr lang="ja-JP" altLang="en-US" sz="996" b="0" i="0" dirty="0">
                          <a:solidFill>
                            <a:srgbClr val="000000"/>
                          </a:solidFill>
                          <a:latin typeface="游ゴシック"/>
                          <a:ea typeface="游ゴシック"/>
                        </a:rPr>
                        <a:t>　本社所在地</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山形県鶴岡市宝田一丁目4番20号</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502269">
                <a:tc>
                  <a:txBody>
                    <a:bodyPr/>
                    <a:lstStyle/>
                    <a:p>
                      <a:pPr algn="l" fontAlgn="ctr"/>
                      <a:r>
                        <a:rPr lang="ja-JP" altLang="en-US" sz="996" b="0" i="0" dirty="0">
                          <a:solidFill>
                            <a:srgbClr val="000000"/>
                          </a:solidFill>
                          <a:latin typeface="游ゴシック"/>
                          <a:ea typeface="游ゴシック"/>
                        </a:rPr>
                        <a:t>　その他拠点</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① パッケージ場：山形県鶴岡市宝田一丁目5-1</a:t>
                      </a:r>
                      <a:endParaRPr lang="ja-JP" altLang="en-US" sz="996" b="0" i="0" dirty="0">
                        <a:solidFill>
                          <a:srgbClr val="000000"/>
                        </a:solidFill>
                        <a:latin typeface="游ゴシック"/>
                        <a:ea typeface="游ゴシック"/>
                      </a:endParaRPr>
                    </a:p>
                    <a:p>
                      <a:pPr algn="l" fontAlgn="ctr"/>
                      <a:r>
                        <a:rPr lang="ja-JP" altLang="en-US" sz="996" b="0" i="0" dirty="0">
                          <a:solidFill>
                            <a:srgbClr val="000000"/>
                          </a:solidFill>
                          <a:latin typeface="游ゴシック"/>
                          <a:ea typeface="游ゴシック"/>
                        </a:rPr>
                        <a:t>② 旧倉庫敷地（駐車場）：山形県東田川郡庄内町長沼字宮前304-7</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189380">
                <a:tc>
                  <a:txBody>
                    <a:bodyPr/>
                    <a:lstStyle/>
                    <a:p>
                      <a:pPr algn="l" fontAlgn="ctr"/>
                      <a:r>
                        <a:rPr lang="ja-JP" altLang="en-US" sz="996" b="0" i="0" dirty="0">
                          <a:solidFill>
                            <a:srgbClr val="000000"/>
                          </a:solidFill>
                          <a:latin typeface="游ゴシック"/>
                          <a:ea typeface="游ゴシック"/>
                        </a:rPr>
                        <a:t>　設立</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1973年（昭和48年）11月22日（第54期）</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189380">
                <a:tc>
                  <a:txBody>
                    <a:bodyPr/>
                    <a:lstStyle/>
                    <a:p>
                      <a:pPr algn="l" fontAlgn="ctr"/>
                      <a:r>
                        <a:rPr lang="ja-JP" altLang="en-US" sz="996" b="0" i="0" dirty="0">
                          <a:solidFill>
                            <a:srgbClr val="000000"/>
                          </a:solidFill>
                          <a:latin typeface="游ゴシック"/>
                          <a:ea typeface="游ゴシック"/>
                        </a:rPr>
                        <a:t>　資本金</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40,000千円</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189380">
                <a:tc>
                  <a:txBody>
                    <a:bodyPr/>
                    <a:lstStyle/>
                    <a:p>
                      <a:pPr algn="l" fontAlgn="ctr"/>
                      <a:r>
                        <a:rPr lang="ja-JP" altLang="en-US" sz="996" b="0" i="0" dirty="0">
                          <a:solidFill>
                            <a:srgbClr val="000000"/>
                          </a:solidFill>
                          <a:latin typeface="游ゴシック"/>
                          <a:ea typeface="游ゴシック"/>
                        </a:rPr>
                        <a:t>　代表者</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岡部 寛</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345825">
                <a:tc>
                  <a:txBody>
                    <a:bodyPr/>
                    <a:lstStyle/>
                    <a:p>
                      <a:pPr algn="l" fontAlgn="ctr"/>
                      <a:r>
                        <a:rPr lang="ja-JP" altLang="en-US" sz="996" b="0" i="0" dirty="0">
                          <a:solidFill>
                            <a:srgbClr val="000000"/>
                          </a:solidFill>
                          <a:latin typeface="游ゴシック"/>
                          <a:ea typeface="游ゴシック"/>
                        </a:rPr>
                        <a:t>　株主</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岡部 寛（1,510株／37.8%）ほか7名</a:t>
                      </a:r>
                      <a:endParaRPr lang="ja-JP" altLang="en-US" sz="996" b="0" i="0" dirty="0">
                        <a:solidFill>
                          <a:srgbClr val="000000"/>
                        </a:solidFill>
                        <a:latin typeface="游ゴシック"/>
                        <a:ea typeface="游ゴシック"/>
                      </a:endParaRPr>
                    </a:p>
                    <a:p>
                      <a:pPr algn="l" fontAlgn="ctr"/>
                      <a:r>
                        <a:rPr lang="ja-JP" altLang="en-US" sz="996" b="0" i="0" dirty="0">
                          <a:solidFill>
                            <a:srgbClr val="000000"/>
                          </a:solidFill>
                          <a:latin typeface="游ゴシック"/>
                          <a:ea typeface="游ゴシック"/>
                        </a:rPr>
                        <a:t>代表者一族4名で75.8%を保有</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815159">
                <a:tc>
                  <a:txBody>
                    <a:bodyPr/>
                    <a:lstStyle/>
                    <a:p>
                      <a:pPr algn="l" fontAlgn="ctr"/>
                      <a:r>
                        <a:rPr lang="ja-JP" altLang="en-US" sz="996" b="0" i="0" dirty="0">
                          <a:solidFill>
                            <a:srgbClr val="000000"/>
                          </a:solidFill>
                          <a:latin typeface="游ゴシック"/>
                          <a:ea typeface="游ゴシック"/>
                        </a:rPr>
                        <a:t>　事業内容</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・青果物（野菜・果実）の卸売（地方卸売市場の開設・運営、買付販売・受託販売）</a:t>
                      </a:r>
                      <a:endParaRPr lang="ja-JP" altLang="en-US" sz="996" b="0" i="0" dirty="0">
                        <a:solidFill>
                          <a:srgbClr val="000000"/>
                        </a:solidFill>
                        <a:latin typeface="游ゴシック"/>
                        <a:ea typeface="游ゴシック"/>
                      </a:endParaRPr>
                    </a:p>
                    <a:p>
                      <a:pPr algn="l" fontAlgn="ctr"/>
                      <a:r>
                        <a:rPr lang="ja-JP" altLang="en-US" sz="996" b="0" i="0" dirty="0">
                          <a:solidFill>
                            <a:srgbClr val="000000"/>
                          </a:solidFill>
                          <a:latin typeface="游ゴシック"/>
                          <a:ea typeface="游ゴシック"/>
                        </a:rPr>
                        <a:t>・パッケージ（小分け・包装）、配送（量販店の配送受託を含む）</a:t>
                      </a:r>
                      <a:endParaRPr lang="ja-JP" altLang="en-US" sz="996" b="0" i="0" dirty="0">
                        <a:solidFill>
                          <a:srgbClr val="000000"/>
                        </a:solidFill>
                        <a:latin typeface="游ゴシック"/>
                        <a:ea typeface="游ゴシック"/>
                      </a:endParaRPr>
                    </a:p>
                    <a:p>
                      <a:pPr algn="l" fontAlgn="ctr"/>
                      <a:r>
                        <a:rPr lang="ja-JP" altLang="en-US" sz="996" b="0" i="0" dirty="0">
                          <a:solidFill>
                            <a:srgbClr val="000000"/>
                          </a:solidFill>
                          <a:latin typeface="游ゴシック"/>
                          <a:ea typeface="游ゴシック"/>
                        </a:rPr>
                        <a:t>・包装資材の販売</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502269">
                <a:tc>
                  <a:txBody>
                    <a:bodyPr/>
                    <a:lstStyle/>
                    <a:p>
                      <a:pPr algn="l" fontAlgn="ctr"/>
                      <a:r>
                        <a:rPr lang="ja-JP" altLang="en-US" sz="996" b="0" i="0" dirty="0">
                          <a:solidFill>
                            <a:srgbClr val="000000"/>
                          </a:solidFill>
                          <a:latin typeface="游ゴシック"/>
                          <a:ea typeface="游ゴシック"/>
                        </a:rPr>
                        <a:t>　従業員数</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24名（正社員17名、嘱託・再雇用・試用3名、パート・アルバイト4名）</a:t>
                      </a:r>
                      <a:endParaRPr lang="ja-JP" altLang="en-US" sz="996" b="0" i="0" dirty="0">
                        <a:solidFill>
                          <a:srgbClr val="000000"/>
                        </a:solidFill>
                        <a:latin typeface="游ゴシック"/>
                        <a:ea typeface="游ゴシック"/>
                      </a:endParaRPr>
                    </a:p>
                    <a:p>
                      <a:pPr algn="l" fontAlgn="ctr"/>
                      <a:r>
                        <a:rPr lang="ja-JP" altLang="en-US" sz="996" b="0" i="0" dirty="0">
                          <a:solidFill>
                            <a:srgbClr val="000000"/>
                          </a:solidFill>
                          <a:latin typeface="游ゴシック"/>
                          <a:ea typeface="游ゴシック"/>
                        </a:rPr>
                        <a:t>※2026年9月1日時点。別途、常勤役員2名</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345825">
                <a:tc>
                  <a:txBody>
                    <a:bodyPr/>
                    <a:lstStyle/>
                    <a:p>
                      <a:pPr algn="l" fontAlgn="ctr"/>
                      <a:r>
                        <a:rPr lang="ja-JP" altLang="en-US" sz="996" b="0" i="0" dirty="0">
                          <a:solidFill>
                            <a:srgbClr val="000000"/>
                          </a:solidFill>
                          <a:latin typeface="游ゴシック"/>
                          <a:ea typeface="游ゴシック"/>
                        </a:rPr>
                        <a:t>　許認可等</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地方卸売市場の認定（卸売市場法・山形県知事）</a:t>
                      </a:r>
                      <a:endParaRPr lang="ja-JP" altLang="en-US" sz="996" b="0" i="0" dirty="0">
                        <a:solidFill>
                          <a:srgbClr val="000000"/>
                        </a:solidFill>
                        <a:latin typeface="游ゴシック"/>
                        <a:ea typeface="游ゴシック"/>
                      </a:endParaRPr>
                    </a:p>
                    <a:p>
                      <a:pPr algn="l" fontAlgn="ctr"/>
                      <a:r>
                        <a:rPr lang="ja-JP" altLang="en-US" sz="996" b="0" i="0" dirty="0">
                          <a:solidFill>
                            <a:srgbClr val="000000"/>
                          </a:solidFill>
                          <a:latin typeface="游ゴシック"/>
                          <a:ea typeface="游ゴシック"/>
                        </a:rPr>
                        <a:t>2020年6月認定、2026年2月変更認定</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189380">
                <a:tc>
                  <a:txBody>
                    <a:bodyPr/>
                    <a:lstStyle/>
                    <a:p>
                      <a:pPr algn="l" fontAlgn="ctr"/>
                      <a:r>
                        <a:rPr lang="ja-JP" altLang="en-US" sz="996" b="0" i="0" dirty="0">
                          <a:solidFill>
                            <a:srgbClr val="000000"/>
                          </a:solidFill>
                          <a:latin typeface="游ゴシック"/>
                          <a:ea typeface="游ゴシック"/>
                        </a:rPr>
                        <a:t>　売上高</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1,195,893千円（2026年3月期）</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189380">
                <a:tc>
                  <a:txBody>
                    <a:bodyPr/>
                    <a:lstStyle/>
                    <a:p>
                      <a:pPr algn="l" fontAlgn="ctr"/>
                      <a:r>
                        <a:rPr lang="ja-JP" altLang="en-US" sz="996" b="0" i="0" dirty="0">
                          <a:solidFill>
                            <a:srgbClr val="000000"/>
                          </a:solidFill>
                          <a:latin typeface="游ゴシック"/>
                          <a:ea typeface="游ゴシック"/>
                        </a:rPr>
                        <a:t>　調整後EBITDA</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29,317千円（過去3期平均）</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189380">
                <a:tc>
                  <a:txBody>
                    <a:bodyPr/>
                    <a:lstStyle/>
                    <a:p>
                      <a:pPr algn="l" fontAlgn="ctr"/>
                      <a:r>
                        <a:rPr lang="ja-JP" altLang="en-US" sz="996" b="0" i="0" dirty="0">
                          <a:solidFill>
                            <a:srgbClr val="000000"/>
                          </a:solidFill>
                          <a:latin typeface="游ゴシック"/>
                          <a:ea typeface="游ゴシック"/>
                        </a:rPr>
                        <a:t>　譲渡理由</a:t>
                      </a:r>
                      <a:endParaRPr lang="ja-JP" altLang="en-US" sz="996"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96" b="0" i="0" dirty="0">
                          <a:solidFill>
                            <a:srgbClr val="000000"/>
                          </a:solidFill>
                          <a:latin typeface="游ゴシック"/>
                          <a:ea typeface="游ゴシック"/>
                        </a:rPr>
                        <a:t>後継者不在およびさらなる企業の発展</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bl>
          </a:graphicData>
        </a:graphic>
      </p:graphicFrame>
    </p:spTree>
    <p:extLst>
      <p:ext uri="{BB962C8B-B14F-4D97-AF65-F5344CB8AC3E}">
        <p14:creationId xmlns:p14="http://schemas.microsoft.com/office/powerpoint/2010/main" val="2819346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D7509-A147-F771-4D5B-58FD19177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98C8B8-8318-9D2C-71AB-4A0772618FCB}"/>
              </a:ext>
            </a:extLst>
          </p:cNvPr>
          <p:cNvSpPr>
            <a:spLocks noGrp="1"/>
          </p:cNvSpPr>
          <p:nvPr>
            <p:ph type="ctrTitle"/>
          </p:nvPr>
        </p:nvSpPr>
        <p:spPr>
          <a:xfrm>
            <a:off x="311150" y="180296"/>
            <a:ext cx="7799917" cy="339267"/>
          </a:xfrm>
        </p:spPr>
        <p:txBody>
          <a:bodyPr>
            <a:normAutofit/>
          </a:bodyPr>
          <a:lstStyle/>
          <a:p>
            <a:r>
              <a:rPr lang="ja-JP" altLang="en-US" dirty="0"/>
              <a:t>事業概要</a:t>
            </a:r>
          </a:p>
        </p:txBody>
      </p:sp>
      <p:sp>
        <p:nvSpPr>
          <p:cNvPr id="5" name="タイトル 1">
            <a:extLst>
              <a:ext uri="{FF2B5EF4-FFF2-40B4-BE49-F238E27FC236}">
                <a16:creationId xmlns:a16="http://schemas.microsoft.com/office/drawing/2014/main" id="{3612E327-1829-4D56-4AD9-5013C3211CE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エグゼクティブサマリー</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96CF066E-37EF-5081-6153-116AC130DDF9}"/>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鶴岡市内唯一の青果物地方卸売市場を自ら運営する「開設者兼卸売業者」。農家の持込を原則全量受け入れる集荷力を持ち、セリ・相対による卸売から小分け・包装、配送まで一貫して担う。</a:t>
            </a:r>
          </a:p>
        </p:txBody>
      </p:sp>
      <p:sp>
        <p:nvSpPr>
          <p:cNvPr id="14" name="TextBox 13"/>
          <p:cNvSpPr txBox="1"/>
          <p:nvPr/>
        </p:nvSpPr>
        <p:spPr>
          <a:xfrm>
            <a:off x="310896" y="1536192"/>
            <a:ext cx="6309360" cy="274320"/>
          </a:xfrm>
          <a:prstGeom prst="rect">
            <a:avLst/>
          </a:prstGeom>
          <a:noFill/>
        </p:spPr>
        <p:txBody>
          <a:bodyPr wrap="square" lIns="0" rIns="0" tIns="0" bIns="0" anchor="t">
            <a:spAutoFit/>
          </a:bodyPr>
          <a:lstStyle/>
          <a:p>
            <a:pPr algn="l"/>
            <a:r>
              <a:rPr sz="1100" b="1">
                <a:solidFill>
                  <a:srgbClr val="0B3041"/>
                </a:solidFill>
                <a:latin typeface="游ゴシック"/>
                <a:ea typeface="游ゴシック"/>
              </a:rPr>
              <a:t>■ 事業フロー</a:t>
            </a:r>
          </a:p>
        </p:txBody>
      </p:sp>
      <p:sp>
        <p:nvSpPr>
          <p:cNvPr id="15" name="Rectangle 14"/>
          <p:cNvSpPr/>
          <p:nvPr/>
        </p:nvSpPr>
        <p:spPr>
          <a:xfrm>
            <a:off x="3108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集荷・仕入</a:t>
            </a:r>
          </a:p>
        </p:txBody>
      </p:sp>
      <p:sp>
        <p:nvSpPr>
          <p:cNvPr id="16" name="Rectangle 15"/>
          <p:cNvSpPr/>
          <p:nvPr/>
        </p:nvSpPr>
        <p:spPr>
          <a:xfrm>
            <a:off x="3108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農家の持込（30〜40%）</a:t>
            </a:r>
          </a:p>
          <a:p>
            <a:pPr algn="ctr"/>
            <a:r>
              <a:rPr sz="850" b="0">
                <a:solidFill>
                  <a:srgbClr val="000000"/>
                </a:solidFill>
                <a:latin typeface="游ゴシック"/>
                <a:ea typeface="游ゴシック"/>
              </a:rPr>
              <a:t>当社による集荷（残り）</a:t>
            </a:r>
          </a:p>
          <a:p>
            <a:pPr algn="ctr"/>
            <a:r>
              <a:rPr sz="850" b="0">
                <a:solidFill>
                  <a:srgbClr val="000000"/>
                </a:solidFill>
                <a:latin typeface="游ゴシック"/>
                <a:ea typeface="游ゴシック"/>
              </a:rPr>
              <a:t>県内外の市場からの仕入</a:t>
            </a:r>
          </a:p>
        </p:txBody>
      </p:sp>
      <p:cxnSp>
        <p:nvCxnSpPr>
          <p:cNvPr id="17" name="Connector 16"/>
          <p:cNvCxnSpPr/>
          <p:nvPr/>
        </p:nvCxnSpPr>
        <p:spPr>
          <a:xfrm>
            <a:off x="1700784" y="1975104"/>
            <a:ext cx="192023"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1911095"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卸売</a:t>
            </a:r>
          </a:p>
        </p:txBody>
      </p:sp>
      <p:sp>
        <p:nvSpPr>
          <p:cNvPr id="19" name="Rectangle 18"/>
          <p:cNvSpPr/>
          <p:nvPr/>
        </p:nvSpPr>
        <p:spPr>
          <a:xfrm>
            <a:off x="1911095"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セリ・相対による販売</a:t>
            </a:r>
          </a:p>
          <a:p>
            <a:pPr algn="ctr"/>
            <a:r>
              <a:rPr sz="850" b="0">
                <a:solidFill>
                  <a:srgbClr val="000000"/>
                </a:solidFill>
                <a:latin typeface="游ゴシック"/>
                <a:ea typeface="游ゴシック"/>
              </a:rPr>
              <a:t>（仲卸業者・買参人）</a:t>
            </a:r>
          </a:p>
          <a:p>
            <a:pPr algn="ctr"/>
            <a:r>
              <a:rPr sz="850" b="0">
                <a:solidFill>
                  <a:srgbClr val="000000"/>
                </a:solidFill>
                <a:latin typeface="游ゴシック"/>
                <a:ea typeface="游ゴシック"/>
              </a:rPr>
              <a:t>量販店等への直接販売</a:t>
            </a:r>
          </a:p>
        </p:txBody>
      </p:sp>
      <p:cxnSp>
        <p:nvCxnSpPr>
          <p:cNvPr id="20" name="Connector 19"/>
          <p:cNvCxnSpPr/>
          <p:nvPr/>
        </p:nvCxnSpPr>
        <p:spPr>
          <a:xfrm>
            <a:off x="3300984" y="1975104"/>
            <a:ext cx="192024"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35112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パッケージ</a:t>
            </a:r>
          </a:p>
        </p:txBody>
      </p:sp>
      <p:sp>
        <p:nvSpPr>
          <p:cNvPr id="22" name="Rectangle 21"/>
          <p:cNvSpPr/>
          <p:nvPr/>
        </p:nvSpPr>
        <p:spPr>
          <a:xfrm>
            <a:off x="35112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小分け・包装</a:t>
            </a:r>
          </a:p>
          <a:p>
            <a:pPr algn="ctr"/>
            <a:r>
              <a:rPr sz="850" b="0">
                <a:solidFill>
                  <a:srgbClr val="000000"/>
                </a:solidFill>
                <a:latin typeface="游ゴシック"/>
                <a:ea typeface="游ゴシック"/>
              </a:rPr>
              <a:t>（パッケージ部7名）</a:t>
            </a:r>
          </a:p>
        </p:txBody>
      </p:sp>
      <p:cxnSp>
        <p:nvCxnSpPr>
          <p:cNvPr id="23" name="Connector 22"/>
          <p:cNvCxnSpPr/>
          <p:nvPr/>
        </p:nvCxnSpPr>
        <p:spPr>
          <a:xfrm>
            <a:off x="4901183" y="1975104"/>
            <a:ext cx="192025"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111496" y="1810512"/>
            <a:ext cx="1371600" cy="329184"/>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00" b="1">
                <a:solidFill>
                  <a:srgbClr val="FFFFFF"/>
                </a:solidFill>
                <a:latin typeface="游ゴシック"/>
                <a:ea typeface="游ゴシック"/>
              </a:rPr>
              <a:t>配送・センター</a:t>
            </a:r>
          </a:p>
        </p:txBody>
      </p:sp>
      <p:sp>
        <p:nvSpPr>
          <p:cNvPr id="25" name="Rectangle 24"/>
          <p:cNvSpPr/>
          <p:nvPr/>
        </p:nvSpPr>
        <p:spPr>
          <a:xfrm>
            <a:off x="5111496" y="2139696"/>
            <a:ext cx="1371600" cy="960120"/>
          </a:xfrm>
          <a:prstGeom prst="rect">
            <a:avLst/>
          </a:prstGeom>
          <a:solidFill>
            <a:srgbClr val="FFFFFF"/>
          </a:solidFill>
          <a:ln w="9525">
            <a:solidFill>
              <a:srgbClr val="0B3041"/>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850" b="0">
                <a:solidFill>
                  <a:srgbClr val="000000"/>
                </a:solidFill>
                <a:latin typeface="游ゴシック"/>
                <a:ea typeface="游ゴシック"/>
              </a:rPr>
              <a:t>集配部による自社配送</a:t>
            </a:r>
          </a:p>
          <a:p>
            <a:pPr algn="ctr"/>
            <a:r>
              <a:rPr sz="850" b="0">
                <a:solidFill>
                  <a:srgbClr val="000000"/>
                </a:solidFill>
                <a:latin typeface="游ゴシック"/>
                <a:ea typeface="游ゴシック"/>
              </a:rPr>
              <a:t>主婦の店の配送受託</a:t>
            </a:r>
          </a:p>
          <a:p>
            <a:pPr algn="ctr"/>
            <a:r>
              <a:rPr sz="850" b="0">
                <a:solidFill>
                  <a:srgbClr val="000000"/>
                </a:solidFill>
                <a:latin typeface="游ゴシック"/>
                <a:ea typeface="游ゴシック"/>
              </a:rPr>
              <a:t>（センター費）</a:t>
            </a:r>
          </a:p>
        </p:txBody>
      </p:sp>
      <p:sp>
        <p:nvSpPr>
          <p:cNvPr id="26" name="TextBox 25"/>
          <p:cNvSpPr txBox="1"/>
          <p:nvPr/>
        </p:nvSpPr>
        <p:spPr>
          <a:xfrm>
            <a:off x="310896" y="3246120"/>
            <a:ext cx="6309360" cy="274320"/>
          </a:xfrm>
          <a:prstGeom prst="rect">
            <a:avLst/>
          </a:prstGeom>
          <a:noFill/>
        </p:spPr>
        <p:txBody>
          <a:bodyPr wrap="square" lIns="0" rIns="0" tIns="0" bIns="0" anchor="t">
            <a:spAutoFit/>
          </a:bodyPr>
          <a:lstStyle/>
          <a:p>
            <a:pPr algn="l"/>
            <a:r>
              <a:rPr sz="1100" b="1">
                <a:solidFill>
                  <a:srgbClr val="0B3041"/>
                </a:solidFill>
                <a:latin typeface="游ゴシック"/>
                <a:ea typeface="游ゴシック"/>
              </a:rPr>
              <a:t>■ 主な取扱品目・機能</a:t>
            </a:r>
          </a:p>
        </p:txBody>
      </p:sp>
      <p:sp>
        <p:nvSpPr>
          <p:cNvPr id="27" name="Rectangle 26"/>
          <p:cNvSpPr/>
          <p:nvPr/>
        </p:nvSpPr>
        <p:spPr>
          <a:xfrm>
            <a:off x="310896" y="356616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野菜</a:t>
            </a:r>
          </a:p>
          <a:p>
            <a:pPr algn="l"/>
            <a:r>
              <a:rPr sz="900" b="0">
                <a:solidFill>
                  <a:srgbClr val="000000"/>
                </a:solidFill>
                <a:latin typeface="游ゴシック"/>
                <a:ea typeface="游ゴシック"/>
              </a:rPr>
              <a:t>近郷部・野菜営業部が担当。地場野菜（だだちゃ豆等）を含む</a:t>
            </a:r>
          </a:p>
        </p:txBody>
      </p:sp>
      <p:sp>
        <p:nvSpPr>
          <p:cNvPr id="28" name="Rectangle 27"/>
          <p:cNvSpPr/>
          <p:nvPr/>
        </p:nvSpPr>
        <p:spPr>
          <a:xfrm>
            <a:off x="3511296" y="356616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果実</a:t>
            </a:r>
          </a:p>
          <a:p>
            <a:pPr algn="l"/>
            <a:r>
              <a:rPr sz="900" b="0">
                <a:solidFill>
                  <a:srgbClr val="000000"/>
                </a:solidFill>
                <a:latin typeface="游ゴシック"/>
                <a:ea typeface="游ゴシック"/>
              </a:rPr>
              <a:t>果実営業部が担当。庄内柿・和梨・さくらんぼ・メロン・シャインマスカット等</a:t>
            </a:r>
          </a:p>
        </p:txBody>
      </p:sp>
      <p:sp>
        <p:nvSpPr>
          <p:cNvPr id="29" name="Rectangle 28"/>
          <p:cNvSpPr/>
          <p:nvPr/>
        </p:nvSpPr>
        <p:spPr>
          <a:xfrm>
            <a:off x="310896" y="434340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生花</a:t>
            </a:r>
          </a:p>
          <a:p>
            <a:pPr algn="l"/>
            <a:r>
              <a:rPr sz="900" b="0">
                <a:solidFill>
                  <a:srgbClr val="000000"/>
                </a:solidFill>
                <a:latin typeface="游ゴシック"/>
                <a:ea typeface="游ゴシック"/>
              </a:rPr>
              <a:t>生花部（1名）による取扱い</a:t>
            </a:r>
          </a:p>
        </p:txBody>
      </p:sp>
      <p:sp>
        <p:nvSpPr>
          <p:cNvPr id="30" name="Rectangle 29"/>
          <p:cNvSpPr/>
          <p:nvPr/>
        </p:nvSpPr>
        <p:spPr>
          <a:xfrm>
            <a:off x="3511296" y="4343400"/>
            <a:ext cx="3108960" cy="68580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00" b="1">
                <a:solidFill>
                  <a:srgbClr val="000000"/>
                </a:solidFill>
                <a:latin typeface="游ゴシック"/>
                <a:ea typeface="游ゴシック"/>
              </a:rPr>
              <a:t>資材</a:t>
            </a:r>
          </a:p>
          <a:p>
            <a:pPr algn="l"/>
            <a:r>
              <a:rPr sz="900" b="0">
                <a:solidFill>
                  <a:srgbClr val="000000"/>
                </a:solidFill>
                <a:latin typeface="游ゴシック"/>
                <a:ea typeface="游ゴシック"/>
              </a:rPr>
              <a:t>資材部が担当。パック・容器等（約8割は自社利用。肥料はほぼ取扱いなし）</a:t>
            </a:r>
          </a:p>
        </p:txBody>
      </p:sp>
      <p:sp>
        <p:nvSpPr>
          <p:cNvPr id="31" name="TextBox 30"/>
          <p:cNvSpPr txBox="1"/>
          <p:nvPr/>
        </p:nvSpPr>
        <p:spPr>
          <a:xfrm>
            <a:off x="310896" y="5166360"/>
            <a:ext cx="6309360"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※取扱品目の構成比は資料依頼中。入荷構成・手数料率等は代表者ヒアリングによる。</a:t>
            </a:r>
          </a:p>
        </p:txBody>
      </p:sp>
      <p:sp>
        <p:nvSpPr>
          <p:cNvPr id="32" name="Rectangle 31"/>
          <p:cNvSpPr/>
          <p:nvPr/>
        </p:nvSpPr>
        <p:spPr>
          <a:xfrm>
            <a:off x="6812280" y="1536192"/>
            <a:ext cx="3566160" cy="32004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1">
                <a:solidFill>
                  <a:srgbClr val="FFFFFF"/>
                </a:solidFill>
                <a:latin typeface="游ゴシック"/>
                <a:ea typeface="游ゴシック"/>
              </a:rPr>
              <a:t>主な事業・サービス</a:t>
            </a:r>
          </a:p>
        </p:txBody>
      </p:sp>
      <p:sp>
        <p:nvSpPr>
          <p:cNvPr id="33" name="Rectangle 32"/>
          <p:cNvSpPr/>
          <p:nvPr/>
        </p:nvSpPr>
        <p:spPr>
          <a:xfrm>
            <a:off x="6812280" y="1938528"/>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1</a:t>
            </a:r>
          </a:p>
        </p:txBody>
      </p:sp>
      <p:sp>
        <p:nvSpPr>
          <p:cNvPr id="34" name="TextBox 33"/>
          <p:cNvSpPr txBox="1"/>
          <p:nvPr/>
        </p:nvSpPr>
        <p:spPr>
          <a:xfrm>
            <a:off x="7269480" y="1938528"/>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青果物の卸売（買付販売）</a:t>
            </a:r>
          </a:p>
          <a:p>
            <a:pPr algn="l"/>
            <a:r>
              <a:rPr sz="900" b="0">
                <a:solidFill>
                  <a:srgbClr val="000000"/>
                </a:solidFill>
                <a:latin typeface="游ゴシック"/>
                <a:ea typeface="游ゴシック"/>
              </a:rPr>
              <a:t>野菜・果実を買い付け、仲卸業者・量販店等へ販売</a:t>
            </a:r>
          </a:p>
        </p:txBody>
      </p:sp>
      <p:sp>
        <p:nvSpPr>
          <p:cNvPr id="35" name="Rectangle 34"/>
          <p:cNvSpPr/>
          <p:nvPr/>
        </p:nvSpPr>
        <p:spPr>
          <a:xfrm>
            <a:off x="6812280" y="2788920"/>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2</a:t>
            </a:r>
          </a:p>
        </p:txBody>
      </p:sp>
      <p:sp>
        <p:nvSpPr>
          <p:cNvPr id="36" name="TextBox 35"/>
          <p:cNvSpPr txBox="1"/>
          <p:nvPr/>
        </p:nvSpPr>
        <p:spPr>
          <a:xfrm>
            <a:off x="7269480" y="2788920"/>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青果物の卸売（受託販売）</a:t>
            </a:r>
          </a:p>
          <a:p>
            <a:pPr algn="l"/>
            <a:r>
              <a:rPr sz="900" b="0">
                <a:solidFill>
                  <a:srgbClr val="000000"/>
                </a:solidFill>
                <a:latin typeface="游ゴシック"/>
                <a:ea typeface="游ゴシック"/>
              </a:rPr>
              <a:t>生産者の商品を預かり販売し、販売額の8.5%を手数料として収受</a:t>
            </a:r>
          </a:p>
        </p:txBody>
      </p:sp>
      <p:sp>
        <p:nvSpPr>
          <p:cNvPr id="37" name="Rectangle 36"/>
          <p:cNvSpPr/>
          <p:nvPr/>
        </p:nvSpPr>
        <p:spPr>
          <a:xfrm>
            <a:off x="6812280" y="3639312"/>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3</a:t>
            </a:r>
          </a:p>
        </p:txBody>
      </p:sp>
      <p:sp>
        <p:nvSpPr>
          <p:cNvPr id="38" name="TextBox 37"/>
          <p:cNvSpPr txBox="1"/>
          <p:nvPr/>
        </p:nvSpPr>
        <p:spPr>
          <a:xfrm>
            <a:off x="7269480" y="3639312"/>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パッケージ・配送</a:t>
            </a:r>
          </a:p>
          <a:p>
            <a:pPr algn="l"/>
            <a:r>
              <a:rPr sz="900" b="0">
                <a:solidFill>
                  <a:srgbClr val="000000"/>
                </a:solidFill>
                <a:latin typeface="游ゴシック"/>
                <a:ea typeface="游ゴシック"/>
              </a:rPr>
              <a:t>小分け・包装と自社配送。主婦の店の配送受託（配送額の約10%をセンター費として収受）</a:t>
            </a:r>
          </a:p>
        </p:txBody>
      </p:sp>
      <p:sp>
        <p:nvSpPr>
          <p:cNvPr id="39" name="Rectangle 38"/>
          <p:cNvSpPr/>
          <p:nvPr/>
        </p:nvSpPr>
        <p:spPr>
          <a:xfrm>
            <a:off x="6812280" y="4489704"/>
            <a:ext cx="384048" cy="384048"/>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00" b="1">
                <a:solidFill>
                  <a:srgbClr val="FFFFFF"/>
                </a:solidFill>
                <a:latin typeface="Arial"/>
                <a:ea typeface="游ゴシック"/>
              </a:rPr>
              <a:t>4</a:t>
            </a:r>
          </a:p>
        </p:txBody>
      </p:sp>
      <p:sp>
        <p:nvSpPr>
          <p:cNvPr id="40" name="TextBox 39"/>
          <p:cNvSpPr txBox="1"/>
          <p:nvPr/>
        </p:nvSpPr>
        <p:spPr>
          <a:xfrm>
            <a:off x="7269480" y="4489704"/>
            <a:ext cx="3108960" cy="777240"/>
          </a:xfrm>
          <a:prstGeom prst="rect">
            <a:avLst/>
          </a:prstGeom>
          <a:noFill/>
        </p:spPr>
        <p:txBody>
          <a:bodyPr wrap="square" lIns="0" rIns="0" tIns="0" bIns="0" anchor="t">
            <a:spAutoFit/>
          </a:bodyPr>
          <a:lstStyle/>
          <a:p>
            <a:pPr algn="l"/>
            <a:r>
              <a:rPr sz="1000" b="1">
                <a:solidFill>
                  <a:srgbClr val="000000"/>
                </a:solidFill>
                <a:latin typeface="游ゴシック"/>
                <a:ea typeface="游ゴシック"/>
              </a:rPr>
              <a:t>資材販売</a:t>
            </a:r>
          </a:p>
          <a:p>
            <a:pPr algn="l"/>
            <a:r>
              <a:rPr sz="900" b="0">
                <a:solidFill>
                  <a:srgbClr val="000000"/>
                </a:solidFill>
                <a:latin typeface="游ゴシック"/>
                <a:ea typeface="游ゴシック"/>
              </a:rPr>
              <a:t>包装資材を生産者等へ販売（肥料はほぼ取扱いなし）</a:t>
            </a:r>
          </a:p>
        </p:txBody>
      </p:sp>
      <p:sp>
        <p:nvSpPr>
          <p:cNvPr id="41" name="Rectangle 40"/>
          <p:cNvSpPr/>
          <p:nvPr/>
        </p:nvSpPr>
        <p:spPr>
          <a:xfrm>
            <a:off x="310896" y="5532120"/>
            <a:ext cx="10058400" cy="10515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10896" y="5532120"/>
            <a:ext cx="1097280" cy="105156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游ゴシック"/>
                <a:ea typeface="游ゴシック"/>
              </a:rPr>
              <a:t>強み</a:t>
            </a:r>
          </a:p>
        </p:txBody>
      </p:sp>
      <p:sp>
        <p:nvSpPr>
          <p:cNvPr id="43" name="TextBox 42"/>
          <p:cNvSpPr txBox="1"/>
          <p:nvPr/>
        </p:nvSpPr>
        <p:spPr>
          <a:xfrm>
            <a:off x="1554480" y="5650992"/>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鶴岡市内唯一の青果市場（開設者兼卸売業者）</a:t>
            </a:r>
          </a:p>
        </p:txBody>
      </p:sp>
      <p:sp>
        <p:nvSpPr>
          <p:cNvPr id="44" name="TextBox 43"/>
          <p:cNvSpPr txBox="1"/>
          <p:nvPr/>
        </p:nvSpPr>
        <p:spPr>
          <a:xfrm>
            <a:off x="5989320" y="5650992"/>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農家の持込を原則全量受け入れる集荷力</a:t>
            </a:r>
          </a:p>
        </p:txBody>
      </p:sp>
      <p:sp>
        <p:nvSpPr>
          <p:cNvPr id="45" name="TextBox 44"/>
          <p:cNvSpPr txBox="1"/>
          <p:nvPr/>
        </p:nvSpPr>
        <p:spPr>
          <a:xfrm>
            <a:off x="1554480" y="6080759"/>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地元優先の分散した販路（過剰分は豊洲・他県へ）</a:t>
            </a:r>
          </a:p>
        </p:txBody>
      </p:sp>
      <p:sp>
        <p:nvSpPr>
          <p:cNvPr id="46" name="TextBox 45"/>
          <p:cNvSpPr txBox="1"/>
          <p:nvPr/>
        </p:nvSpPr>
        <p:spPr>
          <a:xfrm>
            <a:off x="5989320" y="6080759"/>
            <a:ext cx="4343400" cy="365760"/>
          </a:xfrm>
          <a:prstGeom prst="rect">
            <a:avLst/>
          </a:prstGeom>
          <a:noFill/>
        </p:spPr>
        <p:txBody>
          <a:bodyPr wrap="square" lIns="0" rIns="0" tIns="0" bIns="0" anchor="ctr">
            <a:spAutoFit/>
          </a:bodyPr>
          <a:lstStyle/>
          <a:p>
            <a:pPr algn="l"/>
            <a:r>
              <a:rPr sz="1000" b="1">
                <a:solidFill>
                  <a:srgbClr val="0B3041"/>
                </a:solidFill>
                <a:latin typeface="游ゴシック"/>
                <a:ea typeface="游ゴシック"/>
              </a:rPr>
              <a:t>✓ </a:t>
            </a:r>
            <a:r>
              <a:rPr sz="950" b="1">
                <a:solidFill>
                  <a:srgbClr val="000000"/>
                </a:solidFill>
                <a:latin typeface="游ゴシック"/>
                <a:ea typeface="游ゴシック"/>
              </a:rPr>
              <a:t>自社保有の市場施設とセリ人資格者3名</a:t>
            </a:r>
          </a:p>
        </p:txBody>
      </p:sp>
    </p:spTree>
    <p:extLst>
      <p:ext uri="{BB962C8B-B14F-4D97-AF65-F5344CB8AC3E}">
        <p14:creationId xmlns:p14="http://schemas.microsoft.com/office/powerpoint/2010/main" val="1482897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8EF9F-B9BD-9E7E-BA2C-5A4B51173A7F}"/>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780A147-C248-92F8-8F3F-25BD76E0BC3B}"/>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P/L</a:t>
            </a:r>
            <a:r>
              <a:rPr lang="ja-JP" altLang="en-US" dirty="0"/>
              <a:t>）</a:t>
            </a:r>
          </a:p>
        </p:txBody>
      </p:sp>
      <p:sp>
        <p:nvSpPr>
          <p:cNvPr id="5" name="タイトル 1">
            <a:extLst>
              <a:ext uri="{FF2B5EF4-FFF2-40B4-BE49-F238E27FC236}">
                <a16:creationId xmlns:a16="http://schemas.microsoft.com/office/drawing/2014/main" id="{BE8912DE-7392-DA52-DCED-61F45ED11AC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売上高は約12億円で安定。2026/3期は営業黒字へ回復し、調整後EBITDAは3期平均29,317千円。進行期（2026年4〜9月）は人件費・運賃の削減で営業利益20,426千円と前年同期の2.2倍。</a:t>
            </a:r>
          </a:p>
        </p:txBody>
      </p:sp>
      <p:sp>
        <p:nvSpPr>
          <p:cNvPr id="2" name="正方形/長方形 1">
            <a:extLst>
              <a:ext uri="{FF2B5EF4-FFF2-40B4-BE49-F238E27FC236}">
                <a16:creationId xmlns:a16="http://schemas.microsoft.com/office/drawing/2014/main" id="{22D7A017-71F2-4035-677D-AF49C1C280D6}"/>
              </a:ext>
            </a:extLst>
          </p:cNvPr>
          <p:cNvSpPr/>
          <p:nvPr/>
        </p:nvSpPr>
        <p:spPr>
          <a:xfrm>
            <a:off x="6455664" y="5166360"/>
            <a:ext cx="3922776" cy="1828800"/>
          </a:xfrm>
          <a:prstGeom prst="rect">
            <a:avLst/>
          </a:prstGeom>
          <a:solidFill>
            <a:schemeClr val="accent2"/>
          </a:solid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nSpc>
                <a:spcPct val="150000"/>
              </a:lnSpc>
            </a:pPr>
            <a:endParaRPr kumimoji="1" lang="en-US" altLang="ja-JP" sz="1200" b="1" dirty="0">
              <a:solidFill>
                <a:schemeClr val="tx1"/>
              </a:solidFill>
              <a:latin typeface="+mn-ea"/>
            </a:endParaRPr>
          </a:p>
        </p:txBody>
      </p:sp>
      <p:sp>
        <p:nvSpPr>
          <p:cNvPr id="8" name="正方形/長方形 7">
            <a:extLst>
              <a:ext uri="{FF2B5EF4-FFF2-40B4-BE49-F238E27FC236}">
                <a16:creationId xmlns:a16="http://schemas.microsoft.com/office/drawing/2014/main" id="{CBD334A9-999C-ACD4-9DD2-EF961CBA0926}"/>
              </a:ext>
            </a:extLst>
          </p:cNvPr>
          <p:cNvSpPr/>
          <p:nvPr/>
        </p:nvSpPr>
        <p:spPr>
          <a:xfrm>
            <a:off x="6455664" y="1463040"/>
            <a:ext cx="3922776" cy="361188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9" name="テキスト ボックス 8">
            <a:extLst>
              <a:ext uri="{FF2B5EF4-FFF2-40B4-BE49-F238E27FC236}">
                <a16:creationId xmlns:a16="http://schemas.microsoft.com/office/drawing/2014/main" id="{E5084622-1D6B-783F-80DE-6D9A498C7C12}"/>
              </a:ext>
            </a:extLst>
          </p:cNvPr>
          <p:cNvSpPr txBox="1"/>
          <p:nvPr/>
        </p:nvSpPr>
        <p:spPr>
          <a:xfrm>
            <a:off x="6455664" y="1993392"/>
            <a:ext cx="3913632" cy="3017520"/>
          </a:xfrm>
          <a:prstGeom prst="rect">
            <a:avLst/>
          </a:prstGeom>
          <a:noFill/>
        </p:spPr>
        <p:txBody>
          <a:bodyPr wrap="square" lIns="288000" tIns="0" rIns="252000" bIns="0" rtlCol="0">
            <a:spAutoFit/>
          </a:bodyPr>
          <a:lstStyle/>
          <a:p>
            <a:pPr>
              <a:spcAft>
                <a:spcPts val="200"/>
              </a:spcAft>
            </a:pPr>
            <a:r>
              <a:rPr lang="ja-JP" altLang="en-US" sz="950" b="1" dirty="0">
                <a:solidFill>
                  <a:sysClr val="windowText" lastClr="000000"/>
                </a:solidFill>
                <a:latin typeface="游ゴシック"/>
                <a:ea typeface="游ゴシック"/>
              </a:rPr>
              <a:t>≪売上高≫</a:t>
            </a:r>
          </a:p>
          <a:p>
            <a:pPr>
              <a:spcAft>
                <a:spcPts val="200"/>
              </a:spcAft>
            </a:pPr>
            <a:r>
              <a:rPr lang="ja-JP" altLang="en-US" sz="850" b="0" dirty="0">
                <a:solidFill>
                  <a:sysClr val="windowText" lastClr="000000"/>
                </a:solidFill>
                <a:latin typeface="游ゴシック"/>
                <a:ea typeface="游ゴシック"/>
              </a:rPr>
              <a:t>・1,178,489→1,181,947→1,195,893千円と約12億円で安定。繁忙期は7〜12月、閑散期は1〜5月。</a:t>
            </a:r>
          </a:p>
          <a:p>
            <a:pPr>
              <a:spcAft>
                <a:spcPts val="200"/>
              </a:spcAft>
            </a:pPr>
            <a:r>
              <a:rPr lang="ja-JP" altLang="en-US" sz="950" b="1" dirty="0">
                <a:solidFill>
                  <a:sysClr val="windowText" lastClr="000000"/>
                </a:solidFill>
                <a:latin typeface="游ゴシック"/>
                <a:ea typeface="游ゴシック"/>
              </a:rPr>
              <a:t>≪売上総利益≫</a:t>
            </a:r>
          </a:p>
          <a:p>
            <a:pPr>
              <a:spcAft>
                <a:spcPts val="200"/>
              </a:spcAft>
            </a:pPr>
            <a:r>
              <a:rPr lang="ja-JP" altLang="en-US" sz="850" b="0" dirty="0">
                <a:solidFill>
                  <a:sysClr val="windowText" lastClr="000000"/>
                </a:solidFill>
                <a:latin typeface="游ゴシック"/>
                <a:ea typeface="游ゴシック"/>
              </a:rPr>
              <a:t>・粗利率は18.6%→17.9%→16.6%と低下（要因は要確認）。</a:t>
            </a:r>
          </a:p>
          <a:p>
            <a:pPr>
              <a:spcAft>
                <a:spcPts val="200"/>
              </a:spcAft>
            </a:pPr>
            <a:r>
              <a:rPr lang="ja-JP" altLang="en-US" sz="950" b="1" dirty="0">
                <a:solidFill>
                  <a:sysClr val="windowText" lastClr="000000"/>
                </a:solidFill>
                <a:latin typeface="游ゴシック"/>
                <a:ea typeface="游ゴシック"/>
              </a:rPr>
              <a:t>≪営業利益≫</a:t>
            </a:r>
          </a:p>
          <a:p>
            <a:pPr>
              <a:spcAft>
                <a:spcPts val="200"/>
              </a:spcAft>
            </a:pPr>
            <a:r>
              <a:rPr lang="ja-JP" altLang="en-US" sz="850" b="0" dirty="0">
                <a:solidFill>
                  <a:sysClr val="windowText" lastClr="000000"/>
                </a:solidFill>
                <a:latin typeface="游ゴシック"/>
                <a:ea typeface="游ゴシック"/>
              </a:rPr>
              <a:t>・2025/3期は粗利減少で営業赤字。2026/3期は役員報酬・賞与・償却費の減少で黒字に回復。</a:t>
            </a:r>
          </a:p>
          <a:p>
            <a:pPr>
              <a:spcAft>
                <a:spcPts val="200"/>
              </a:spcAft>
            </a:pPr>
            <a:r>
              <a:rPr lang="ja-JP" altLang="en-US" sz="950" b="1" dirty="0">
                <a:solidFill>
                  <a:sysClr val="windowText" lastClr="000000"/>
                </a:solidFill>
                <a:latin typeface="游ゴシック"/>
                <a:ea typeface="游ゴシック"/>
              </a:rPr>
              <a:t>≪進行期（2026年4〜9月）≫</a:t>
            </a:r>
          </a:p>
          <a:p>
            <a:pPr>
              <a:spcAft>
                <a:spcPts val="200"/>
              </a:spcAft>
            </a:pPr>
            <a:r>
              <a:rPr lang="ja-JP" altLang="en-US" sz="850" b="0" dirty="0">
                <a:solidFill>
                  <a:sysClr val="windowText" lastClr="000000"/>
                </a:solidFill>
                <a:latin typeface="游ゴシック"/>
                <a:ea typeface="游ゴシック"/>
              </a:rPr>
              <a:t>・売上高621,331千円（前年同期比93.1%）。販管費は前年同期比△13.3%（人件費△6,338千円、運賃△4,975千円、償却費△2,586千円）。</a:t>
            </a:r>
          </a:p>
          <a:p>
            <a:pPr>
              <a:spcAft>
                <a:spcPts val="200"/>
              </a:spcAft>
            </a:pPr>
            <a:r>
              <a:rPr lang="ja-JP" altLang="en-US" sz="850" b="0" dirty="0">
                <a:solidFill>
                  <a:sysClr val="windowText" lastClr="000000"/>
                </a:solidFill>
                <a:latin typeface="游ゴシック"/>
                <a:ea typeface="游ゴシック"/>
              </a:rPr>
              <a:t>・営業利益20,426千円（前年同期9,454千円）、調整後EBITDA25,486千円。</a:t>
            </a:r>
          </a:p>
        </p:txBody>
      </p:sp>
      <p:sp>
        <p:nvSpPr>
          <p:cNvPr id="10" name="テキスト ボックス 9">
            <a:extLst>
              <a:ext uri="{FF2B5EF4-FFF2-40B4-BE49-F238E27FC236}">
                <a16:creationId xmlns:a16="http://schemas.microsoft.com/office/drawing/2014/main" id="{9CE926BB-0658-93C0-4CB2-D9073D01110E}"/>
              </a:ext>
            </a:extLst>
          </p:cNvPr>
          <p:cNvSpPr txBox="1"/>
          <p:nvPr/>
        </p:nvSpPr>
        <p:spPr>
          <a:xfrm>
            <a:off x="6464808" y="5239512"/>
            <a:ext cx="3913632" cy="1691640"/>
          </a:xfrm>
          <a:prstGeom prst="rect">
            <a:avLst/>
          </a:prstGeom>
          <a:noFill/>
        </p:spPr>
        <p:txBody>
          <a:bodyPr wrap="square" lIns="288000" tIns="0" rIns="252000" bIns="0" rtlCol="0">
            <a:spAutoFit/>
          </a:bodyPr>
          <a:lstStyle/>
          <a:p>
            <a:pPr>
              <a:spcAft>
                <a:spcPts val="100"/>
              </a:spcAft>
            </a:pPr>
            <a:r>
              <a:rPr lang="ja-JP" altLang="en-US" sz="900" b="1" dirty="0">
                <a:solidFill>
                  <a:sysClr val="windowText" lastClr="000000"/>
                </a:solidFill>
                <a:latin typeface="游ゴシック"/>
                <a:ea typeface="游ゴシック"/>
              </a:rPr>
              <a:t>【調整項目】</a:t>
            </a:r>
          </a:p>
          <a:p>
            <a:pPr>
              <a:spcAft>
                <a:spcPts val="100"/>
              </a:spcAft>
            </a:pPr>
            <a:r>
              <a:rPr lang="ja-JP" altLang="en-US" sz="900" b="1" dirty="0">
                <a:solidFill>
                  <a:sysClr val="windowText" lastClr="000000"/>
                </a:solidFill>
                <a:latin typeface="游ゴシック"/>
                <a:ea typeface="游ゴシック"/>
              </a:rPr>
              <a:t>≪役員報酬・顧問料・社会保険料≫</a:t>
            </a:r>
          </a:p>
          <a:p>
            <a:pPr>
              <a:spcAft>
                <a:spcPts val="100"/>
              </a:spcAft>
            </a:pPr>
            <a:r>
              <a:rPr lang="ja-JP" altLang="en-US" sz="800" b="0" dirty="0">
                <a:solidFill>
                  <a:sysClr val="windowText" lastClr="000000"/>
                </a:solidFill>
                <a:latin typeface="游ゴシック"/>
                <a:ea typeface="游ゴシック"/>
              </a:rPr>
              <a:t>・退任役員（代表者・配偶者・監査役・退任済みの常務）の報酬を全額控除（社保15%連動）し、代表者の顧問料（月18万円）を計上</a:t>
            </a:r>
          </a:p>
          <a:p>
            <a:pPr>
              <a:spcAft>
                <a:spcPts val="100"/>
              </a:spcAft>
            </a:pPr>
            <a:r>
              <a:rPr lang="ja-JP" altLang="en-US" sz="900" b="1" dirty="0">
                <a:solidFill>
                  <a:sysClr val="windowText" lastClr="000000"/>
                </a:solidFill>
                <a:latin typeface="游ゴシック"/>
                <a:ea typeface="游ゴシック"/>
              </a:rPr>
              <a:t>≪賞与≫</a:t>
            </a:r>
          </a:p>
          <a:p>
            <a:pPr>
              <a:spcAft>
                <a:spcPts val="100"/>
              </a:spcAft>
            </a:pPr>
            <a:r>
              <a:rPr lang="ja-JP" altLang="en-US" sz="800" b="0" dirty="0">
                <a:solidFill>
                  <a:sysClr val="windowText" lastClr="000000"/>
                </a:solidFill>
                <a:latin typeface="游ゴシック"/>
                <a:ea typeface="游ゴシック"/>
              </a:rPr>
              <a:t>・賞与規定はなく業績連動。2026/3期は支給なし。継続支給を前提に前2期平均（社保込）を控除（保守的に想定）</a:t>
            </a:r>
          </a:p>
          <a:p>
            <a:pPr>
              <a:spcAft>
                <a:spcPts val="100"/>
              </a:spcAft>
            </a:pPr>
            <a:r>
              <a:rPr lang="ja-JP" altLang="en-US" sz="900" b="1" dirty="0">
                <a:solidFill>
                  <a:sysClr val="windowText" lastClr="000000"/>
                </a:solidFill>
                <a:latin typeface="游ゴシック"/>
                <a:ea typeface="游ゴシック"/>
              </a:rPr>
              <a:t>≪寄付金・受取奨励金≫</a:t>
            </a:r>
          </a:p>
          <a:p>
            <a:pPr>
              <a:spcAft>
                <a:spcPts val="100"/>
              </a:spcAft>
            </a:pPr>
            <a:r>
              <a:rPr lang="ja-JP" altLang="en-US" sz="800" b="0" dirty="0">
                <a:solidFill>
                  <a:sysClr val="windowText" lastClr="000000"/>
                </a:solidFill>
                <a:latin typeface="游ゴシック"/>
                <a:ea typeface="游ゴシック"/>
              </a:rPr>
              <a:t>・譲渡後に発生しない寄付金と、経常的に発生する受取奨励金（純額）を加算</a:t>
            </a:r>
          </a:p>
        </p:txBody>
      </p:sp>
      <p:graphicFrame>
        <p:nvGraphicFramePr>
          <p:cNvPr id="17" name="表（PLハイライト!B2:G25）"/>
          <p:cNvGraphicFramePr>
            <a:graphicFrameLocks noGrp="1"/>
          </p:cNvGraphicFramePr>
          <p:nvPr/>
        </p:nvGraphicFramePr>
        <p:xfrm>
          <a:off x="310896" y="1417320"/>
          <a:ext cx="6053326" cy="4571986"/>
        </p:xfrm>
        <a:graphic>
          <a:graphicData uri="http://schemas.openxmlformats.org/drawingml/2006/table">
            <a:tbl>
              <a:tblPr firstRow="0" bandRow="0">
                <a:tableStyleId>{2D5ABB26-0587-4C30-8999-92F81FD0307C}</a:tableStyleId>
              </a:tblPr>
              <a:tblGrid>
                <a:gridCol w="1682954"/>
                <a:gridCol w="1092593"/>
                <a:gridCol w="1092593"/>
                <a:gridCol w="1092593"/>
                <a:gridCol w="1092593"/>
              </a:tblGrid>
              <a:tr h="162511">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62" b="0" i="0" dirty="0">
                          <a:solidFill>
                            <a:srgbClr val="000000"/>
                          </a:solidFill>
                          <a:latin typeface="游ゴシック"/>
                          <a:ea typeface="游ゴシック"/>
                        </a:rPr>
                        <a:t>(単位：千円)</a:t>
                      </a:r>
                      <a:endParaRPr lang="ja-JP" altLang="en-US" sz="962"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357526">
                <a:tc>
                  <a:txBody>
                    <a:bodyPr/>
                    <a:lstStyle/>
                    <a:p>
                      <a:pPr algn="ctr" fontAlgn="ctr"/>
                      <a:endParaRPr lang="ja-JP" altLang="en-US" sz="1050" b="0"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50" b="0" i="0" dirty="0">
                          <a:solidFill>
                            <a:srgbClr val="FFFFFF"/>
                          </a:solidFill>
                          <a:latin typeface="游ゴシック"/>
                          <a:ea typeface="游ゴシック"/>
                        </a:rPr>
                        <a:t>24年3月期</a:t>
                      </a:r>
                      <a:endParaRPr lang="ja-JP" altLang="en-US" sz="10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50" b="0" i="0" dirty="0">
                          <a:solidFill>
                            <a:srgbClr val="FFFFFF"/>
                          </a:solidFill>
                          <a:latin typeface="游ゴシック"/>
                          <a:ea typeface="游ゴシック"/>
                        </a:rPr>
                        <a:t>25年3月期</a:t>
                      </a:r>
                      <a:endParaRPr lang="ja-JP" altLang="en-US" sz="10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50" b="0" i="0" dirty="0">
                          <a:solidFill>
                            <a:srgbClr val="FFFFFF"/>
                          </a:solidFill>
                          <a:latin typeface="游ゴシック"/>
                          <a:ea typeface="游ゴシック"/>
                        </a:rPr>
                        <a:t>26年3月期</a:t>
                      </a:r>
                      <a:endParaRPr lang="ja-JP" altLang="en-US" sz="10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50" b="0" i="0" dirty="0">
                          <a:solidFill>
                            <a:srgbClr val="FFFFFF"/>
                          </a:solidFill>
                          <a:latin typeface="游ゴシック"/>
                          <a:ea typeface="游ゴシック"/>
                        </a:rPr>
                        <a:t>27年3月期</a:t>
                      </a:r>
                      <a:endParaRPr lang="ja-JP" altLang="en-US" sz="1050" b="0" i="0" dirty="0">
                        <a:solidFill>
                          <a:srgbClr val="FFFFFF"/>
                        </a:solidFill>
                        <a:latin typeface="游ゴシック"/>
                        <a:ea typeface="游ゴシック"/>
                      </a:endParaRPr>
                    </a:p>
                    <a:p>
                      <a:pPr algn="ctr" fontAlgn="ctr"/>
                      <a:r>
                        <a:rPr lang="ja-JP" altLang="en-US" sz="1050" b="0" i="0" dirty="0">
                          <a:solidFill>
                            <a:srgbClr val="FFFFFF"/>
                          </a:solidFill>
                          <a:latin typeface="游ゴシック"/>
                          <a:ea typeface="游ゴシック"/>
                        </a:rPr>
                        <a:t>4〜9月TB</a:t>
                      </a:r>
                      <a:endParaRPr lang="ja-JP" altLang="en-US" sz="105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727F88"/>
                    </a:solidFill>
                  </a:tcPr>
                </a:tc>
              </a:tr>
              <a:tr h="216682">
                <a:tc>
                  <a:txBody>
                    <a:bodyPr/>
                    <a:lstStyle/>
                    <a:p>
                      <a:pPr algn="l" fontAlgn="ctr"/>
                      <a:r>
                        <a:rPr lang="ja-JP" altLang="en-US" sz="1050" b="0" i="0" dirty="0">
                          <a:solidFill>
                            <a:srgbClr val="000000"/>
                          </a:solidFill>
                          <a:latin typeface="游ゴシック"/>
                          <a:ea typeface="游ゴシック"/>
                        </a:rPr>
                        <a:t>　売上高</a:t>
                      </a:r>
                      <a:endParaRPr lang="ja-JP" altLang="en-US" sz="105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　1,178,489</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noFill/>
                    </a:lnB>
                    <a:noFill/>
                  </a:tcPr>
                </a:tc>
                <a:tc>
                  <a:txBody>
                    <a:bodyPr/>
                    <a:lstStyle/>
                    <a:p>
                      <a:pPr algn="r" fontAlgn="ctr"/>
                      <a:r>
                        <a:rPr lang="ja-JP" altLang="en-US" sz="1050" b="0" i="0" dirty="0">
                          <a:solidFill>
                            <a:srgbClr val="000000"/>
                          </a:solidFill>
                          <a:latin typeface="Arial"/>
                          <a:ea typeface="游ゴシック Medium"/>
                        </a:rPr>
                        <a:t>　1,181,947</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noFill/>
                    </a:lnB>
                    <a:noFill/>
                  </a:tcPr>
                </a:tc>
                <a:tc>
                  <a:txBody>
                    <a:bodyPr/>
                    <a:lstStyle/>
                    <a:p>
                      <a:pPr algn="r" fontAlgn="ctr"/>
                      <a:r>
                        <a:rPr lang="ja-JP" altLang="en-US" sz="1050" b="0" i="0" dirty="0">
                          <a:solidFill>
                            <a:srgbClr val="000000"/>
                          </a:solidFill>
                          <a:latin typeface="Arial"/>
                          <a:ea typeface="游ゴシック Medium"/>
                        </a:rPr>
                        <a:t>　1,195,893</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noFill/>
                    </a:lnB>
                    <a:noFill/>
                  </a:tcPr>
                </a:tc>
                <a:tc>
                  <a:txBody>
                    <a:bodyPr/>
                    <a:lstStyle/>
                    <a:p>
                      <a:pPr algn="r" fontAlgn="ctr"/>
                      <a:r>
                        <a:rPr lang="ja-JP" altLang="en-US" sz="1050" b="0" i="0" dirty="0">
                          <a:solidFill>
                            <a:srgbClr val="000000"/>
                          </a:solidFill>
                          <a:latin typeface="Arial"/>
                          <a:ea typeface="游ゴシック Medium"/>
                        </a:rPr>
                        <a:t>　621,331</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noFill/>
                    </a:lnB>
                    <a:noFill/>
                  </a:tcPr>
                </a:tc>
              </a:tr>
              <a:tr h="151677">
                <a:tc>
                  <a:txBody>
                    <a:bodyPr/>
                    <a:lstStyle/>
                    <a:p>
                      <a:pPr algn="r" fontAlgn="ctr"/>
                      <a:r>
                        <a:rPr lang="ja-JP" altLang="en-US" sz="788" b="0" i="1" dirty="0">
                          <a:solidFill>
                            <a:srgbClr val="000000"/>
                          </a:solidFill>
                          <a:latin typeface="游ゴシック"/>
                          <a:ea typeface="游ゴシック"/>
                        </a:rPr>
                        <a:t>　前期比</a:t>
                      </a:r>
                      <a:endParaRPr lang="ja-JP" altLang="en-US" sz="788" b="0" i="1"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r" fontAlgn="ctr"/>
                      <a:r>
                        <a:rPr lang="ja-JP" altLang="en-US" sz="788" b="0" i="1" dirty="0">
                          <a:solidFill>
                            <a:srgbClr val="000000"/>
                          </a:solidFill>
                          <a:latin typeface="Arial"/>
                          <a:ea typeface="游ゴシック Medium"/>
                        </a:rPr>
                        <a:t>　-</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100.3%</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101.2%</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93.1%</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216682">
                <a:tc>
                  <a:txBody>
                    <a:bodyPr/>
                    <a:lstStyle/>
                    <a:p>
                      <a:pPr algn="l" fontAlgn="ctr"/>
                      <a:r>
                        <a:rPr lang="ja-JP" altLang="en-US" sz="1050" b="0" i="0" dirty="0">
                          <a:solidFill>
                            <a:srgbClr val="000000"/>
                          </a:solidFill>
                          <a:latin typeface="游ゴシック"/>
                          <a:ea typeface="游ゴシック"/>
                        </a:rPr>
                        <a:t>　売上総利益</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　219,580</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211,296</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199,011</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106,172</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51677">
                <a:tc>
                  <a:txBody>
                    <a:bodyPr/>
                    <a:lstStyle/>
                    <a:p>
                      <a:pPr algn="r" fontAlgn="ctr"/>
                      <a:r>
                        <a:rPr lang="ja-JP" altLang="en-US" sz="788" b="0" i="1" dirty="0">
                          <a:solidFill>
                            <a:srgbClr val="000000"/>
                          </a:solidFill>
                          <a:latin typeface="游ゴシック"/>
                          <a:ea typeface="游ゴシック"/>
                        </a:rPr>
                        <a:t>　利益率</a:t>
                      </a:r>
                      <a:endParaRPr lang="ja-JP" altLang="en-US" sz="788" b="0" i="1"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r" fontAlgn="ctr"/>
                      <a:r>
                        <a:rPr lang="ja-JP" altLang="en-US" sz="788" b="0" i="1" dirty="0">
                          <a:solidFill>
                            <a:srgbClr val="000000"/>
                          </a:solidFill>
                          <a:latin typeface="Arial"/>
                          <a:ea typeface="游ゴシック Medium"/>
                        </a:rPr>
                        <a:t>　18.6%</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17.9%</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16.6%</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17.1%</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216682">
                <a:tc>
                  <a:txBody>
                    <a:bodyPr/>
                    <a:lstStyle/>
                    <a:p>
                      <a:pPr algn="l" fontAlgn="ctr"/>
                      <a:r>
                        <a:rPr lang="ja-JP" altLang="en-US" sz="1050" b="0" i="0" dirty="0">
                          <a:solidFill>
                            <a:srgbClr val="000000"/>
                          </a:solidFill>
                          <a:latin typeface="游ゴシック"/>
                          <a:ea typeface="游ゴシック"/>
                        </a:rPr>
                        <a:t>　営業利益</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　4,757</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△4,423</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5,860</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20,426</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noFill/>
                    </a:lnB>
                    <a:noFill/>
                  </a:tcPr>
                </a:tc>
              </a:tr>
              <a:tr h="151677">
                <a:tc>
                  <a:txBody>
                    <a:bodyPr/>
                    <a:lstStyle/>
                    <a:p>
                      <a:pPr algn="r" fontAlgn="ctr"/>
                      <a:r>
                        <a:rPr lang="ja-JP" altLang="en-US" sz="788" b="0" i="1" dirty="0">
                          <a:solidFill>
                            <a:srgbClr val="000000"/>
                          </a:solidFill>
                          <a:latin typeface="游ゴシック"/>
                          <a:ea typeface="游ゴシック"/>
                        </a:rPr>
                        <a:t>　利益率</a:t>
                      </a:r>
                      <a:endParaRPr lang="ja-JP" altLang="en-US" sz="788" b="0" i="1"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r" fontAlgn="ctr"/>
                      <a:r>
                        <a:rPr lang="ja-JP" altLang="en-US" sz="788" b="0" i="1" dirty="0">
                          <a:solidFill>
                            <a:srgbClr val="000000"/>
                          </a:solidFill>
                          <a:latin typeface="Arial"/>
                          <a:ea typeface="游ゴシック Medium"/>
                        </a:rPr>
                        <a:t>　0.4%</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-0.4%</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0.5%</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3.3%</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216682">
                <a:tc>
                  <a:txBody>
                    <a:bodyPr/>
                    <a:lstStyle/>
                    <a:p>
                      <a:pPr algn="l" fontAlgn="ctr"/>
                      <a:r>
                        <a:rPr lang="ja-JP" altLang="en-US" sz="1050" b="0" i="0" dirty="0">
                          <a:solidFill>
                            <a:srgbClr val="000000"/>
                          </a:solidFill>
                          <a:latin typeface="游ゴシック"/>
                          <a:ea typeface="游ゴシック"/>
                        </a:rPr>
                        <a:t>　経常利益</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　11,317</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2,181</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8,068</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21,166</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noFill/>
                    </a:lnB>
                    <a:noFill/>
                  </a:tcPr>
                </a:tc>
              </a:tr>
              <a:tr h="151677">
                <a:tc>
                  <a:txBody>
                    <a:bodyPr/>
                    <a:lstStyle/>
                    <a:p>
                      <a:pPr algn="r" fontAlgn="ctr"/>
                      <a:r>
                        <a:rPr lang="ja-JP" altLang="en-US" sz="788" b="0" i="1" dirty="0">
                          <a:solidFill>
                            <a:srgbClr val="000000"/>
                          </a:solidFill>
                          <a:latin typeface="游ゴシック"/>
                          <a:ea typeface="游ゴシック"/>
                        </a:rPr>
                        <a:t>　利益率</a:t>
                      </a:r>
                      <a:endParaRPr lang="ja-JP" altLang="en-US" sz="788" b="0" i="1"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r" fontAlgn="ctr"/>
                      <a:r>
                        <a:rPr lang="ja-JP" altLang="en-US" sz="788" b="0" i="1" dirty="0">
                          <a:solidFill>
                            <a:srgbClr val="000000"/>
                          </a:solidFill>
                          <a:latin typeface="Arial"/>
                          <a:ea typeface="游ゴシック Medium"/>
                        </a:rPr>
                        <a:t>　1.0%</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0.2%</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0.7%</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3.4%</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216682">
                <a:tc>
                  <a:txBody>
                    <a:bodyPr/>
                    <a:lstStyle/>
                    <a:p>
                      <a:pPr algn="l" fontAlgn="ctr"/>
                      <a:r>
                        <a:rPr lang="ja-JP" altLang="en-US" sz="1050" b="0" i="0" dirty="0">
                          <a:solidFill>
                            <a:srgbClr val="000000"/>
                          </a:solidFill>
                          <a:latin typeface="游ゴシック"/>
                          <a:ea typeface="游ゴシック"/>
                        </a:rPr>
                        <a:t>　税引後当期純利益</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　9,107</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2,929</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△15,085</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21,166</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noFill/>
                    </a:lnB>
                    <a:noFill/>
                  </a:tcPr>
                </a:tc>
              </a:tr>
              <a:tr h="151677">
                <a:tc>
                  <a:txBody>
                    <a:bodyPr/>
                    <a:lstStyle/>
                    <a:p>
                      <a:pPr algn="r" fontAlgn="ctr"/>
                      <a:r>
                        <a:rPr lang="ja-JP" altLang="en-US" sz="788" b="0" i="1" dirty="0">
                          <a:solidFill>
                            <a:srgbClr val="000000"/>
                          </a:solidFill>
                          <a:latin typeface="游ゴシック"/>
                          <a:ea typeface="游ゴシック"/>
                        </a:rPr>
                        <a:t>　利益率</a:t>
                      </a:r>
                      <a:endParaRPr lang="ja-JP" altLang="en-US" sz="788" b="0" i="1"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r" fontAlgn="ctr"/>
                      <a:r>
                        <a:rPr lang="ja-JP" altLang="en-US" sz="788" b="0" i="1" dirty="0">
                          <a:solidFill>
                            <a:srgbClr val="000000"/>
                          </a:solidFill>
                          <a:latin typeface="Arial"/>
                          <a:ea typeface="游ゴシック Medium"/>
                        </a:rPr>
                        <a:t>　0.8%</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0.2%</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-1.3%</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88" b="0" i="1" dirty="0">
                          <a:solidFill>
                            <a:srgbClr val="000000"/>
                          </a:solidFill>
                          <a:latin typeface="Arial"/>
                          <a:ea typeface="游ゴシック Medium"/>
                        </a:rPr>
                        <a:t>　3.4%</a:t>
                      </a:r>
                      <a:endParaRPr lang="ja-JP" altLang="en-US" sz="788" b="0" i="1"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86672">
                <a:tc>
                  <a:txBody>
                    <a:bodyPr/>
                    <a:lstStyle/>
                    <a:p>
                      <a:pPr algn="l" fontAlgn="ctr"/>
                      <a:endParaRPr lang="ja-JP" altLang="en-US" sz="48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16682">
                <a:tc>
                  <a:txBody>
                    <a:bodyPr/>
                    <a:lstStyle/>
                    <a:p>
                      <a:pPr algn="l" fontAlgn="ctr"/>
                      <a:r>
                        <a:rPr lang="ja-JP" altLang="en-US" sz="1050" b="0" i="0" dirty="0">
                          <a:solidFill>
                            <a:srgbClr val="000000"/>
                          </a:solidFill>
                          <a:latin typeface="游ゴシック"/>
                          <a:ea typeface="游ゴシック"/>
                        </a:rPr>
                        <a:t>　減価償却費</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13,664</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1050" b="0" i="0" dirty="0">
                          <a:solidFill>
                            <a:srgbClr val="000000"/>
                          </a:solidFill>
                          <a:latin typeface="Arial"/>
                          <a:ea typeface="游ゴシック Medium"/>
                        </a:rPr>
                        <a:t>12,558</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1050" b="0" i="0" dirty="0">
                          <a:solidFill>
                            <a:srgbClr val="000000"/>
                          </a:solidFill>
                          <a:latin typeface="Arial"/>
                          <a:ea typeface="游ゴシック Medium"/>
                        </a:rPr>
                        <a:t>8,879</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1050" b="0" i="0" dirty="0">
                          <a:solidFill>
                            <a:srgbClr val="000000"/>
                          </a:solidFill>
                          <a:latin typeface="Arial"/>
                          <a:ea typeface="游ゴシック Medium"/>
                        </a:rPr>
                        <a:t>3,654</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r>
              <a:tr h="86672">
                <a:tc>
                  <a:txBody>
                    <a:bodyPr/>
                    <a:lstStyle/>
                    <a:p>
                      <a:pPr algn="l" fontAlgn="ctr"/>
                      <a:endParaRPr lang="ja-JP" altLang="en-US" sz="48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16682">
                <a:tc>
                  <a:txBody>
                    <a:bodyPr/>
                    <a:lstStyle/>
                    <a:p>
                      <a:pPr algn="l" fontAlgn="ctr"/>
                      <a:r>
                        <a:rPr lang="ja-JP" altLang="en-US" sz="1050" b="1" i="0" dirty="0">
                          <a:solidFill>
                            <a:srgbClr val="000000"/>
                          </a:solidFill>
                          <a:latin typeface="游ゴシック"/>
                          <a:ea typeface="游ゴシック"/>
                        </a:rPr>
                        <a:t>　調整項目 合計</a:t>
                      </a:r>
                      <a:endParaRPr lang="ja-JP" altLang="en-US" sz="1050"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1F3FB"/>
                    </a:solidFill>
                  </a:tcPr>
                </a:tc>
                <a:tc>
                  <a:txBody>
                    <a:bodyPr/>
                    <a:lstStyle/>
                    <a:p>
                      <a:pPr algn="r" fontAlgn="ctr"/>
                      <a:r>
                        <a:rPr lang="ja-JP" altLang="en-US" sz="962" b="1" i="0" dirty="0">
                          <a:solidFill>
                            <a:srgbClr val="000000"/>
                          </a:solidFill>
                          <a:latin typeface="Arial"/>
                          <a:ea typeface="游ゴシック Medium"/>
                        </a:rPr>
                        <a:t>20,042</a:t>
                      </a:r>
                      <a:endParaRPr lang="ja-JP" altLang="en-US" sz="962" b="1" i="0" dirty="0">
                        <a:solidFill>
                          <a:srgbClr val="000000"/>
                        </a:solidFill>
                        <a:latin typeface="Arial"/>
                        <a:ea typeface="游ゴシック Medium"/>
                      </a:endParaRPr>
                    </a:p>
                  </a:txBody>
                  <a:tcPr marL="36576" marR="36576" marT="0" marB="0" anchor="ctr">
                    <a:lnL w="6350">
                      <a:noFill/>
                    </a:lnL>
                    <a:lnR w="6350">
                      <a:noFill/>
                    </a:lnR>
                    <a:lnT w="6350">
                      <a:solidFill>
                        <a:srgbClr val="0B3041"/>
                      </a:solidFill>
                    </a:lnT>
                    <a:lnB w="6350">
                      <a:solidFill>
                        <a:srgbClr val="0B3041"/>
                      </a:solidFill>
                    </a:lnB>
                    <a:noFill/>
                  </a:tcPr>
                </a:tc>
                <a:tc>
                  <a:txBody>
                    <a:bodyPr/>
                    <a:lstStyle/>
                    <a:p>
                      <a:pPr algn="r" fontAlgn="ctr"/>
                      <a:r>
                        <a:rPr lang="ja-JP" altLang="en-US" sz="962" b="1" i="0" dirty="0">
                          <a:solidFill>
                            <a:srgbClr val="000000"/>
                          </a:solidFill>
                          <a:latin typeface="Arial"/>
                          <a:ea typeface="游ゴシック Medium"/>
                        </a:rPr>
                        <a:t>20,236</a:t>
                      </a:r>
                      <a:endParaRPr lang="ja-JP" altLang="en-US" sz="962" b="1" i="0" dirty="0">
                        <a:solidFill>
                          <a:srgbClr val="000000"/>
                        </a:solidFill>
                        <a:latin typeface="Arial"/>
                        <a:ea typeface="游ゴシック Medium"/>
                      </a:endParaRPr>
                    </a:p>
                  </a:txBody>
                  <a:tcPr marL="36576" marR="36576" marT="0" marB="0" anchor="ctr">
                    <a:lnL w="6350">
                      <a:noFill/>
                    </a:lnL>
                    <a:lnR w="6350">
                      <a:noFill/>
                    </a:lnR>
                    <a:lnT w="6350">
                      <a:solidFill>
                        <a:srgbClr val="0B3041"/>
                      </a:solidFill>
                    </a:lnT>
                    <a:lnB w="6350">
                      <a:solidFill>
                        <a:srgbClr val="0B3041"/>
                      </a:solidFill>
                    </a:lnB>
                    <a:noFill/>
                  </a:tcPr>
                </a:tc>
                <a:tc>
                  <a:txBody>
                    <a:bodyPr/>
                    <a:lstStyle/>
                    <a:p>
                      <a:pPr algn="r" fontAlgn="ctr"/>
                      <a:r>
                        <a:rPr lang="ja-JP" altLang="en-US" sz="962" b="1" i="0" dirty="0">
                          <a:solidFill>
                            <a:srgbClr val="000000"/>
                          </a:solidFill>
                          <a:latin typeface="Arial"/>
                          <a:ea typeface="游ゴシック Medium"/>
                        </a:rPr>
                        <a:t>6,379</a:t>
                      </a:r>
                      <a:endParaRPr lang="ja-JP" altLang="en-US" sz="962" b="1" i="0" dirty="0">
                        <a:solidFill>
                          <a:srgbClr val="000000"/>
                        </a:solidFill>
                        <a:latin typeface="Arial"/>
                        <a:ea typeface="游ゴシック Medium"/>
                      </a:endParaRPr>
                    </a:p>
                  </a:txBody>
                  <a:tcPr marL="36576" marR="36576" marT="0" marB="0" anchor="ctr">
                    <a:lnL w="6350">
                      <a:noFill/>
                    </a:lnL>
                    <a:lnR w="6350">
                      <a:noFill/>
                    </a:lnR>
                    <a:lnT w="6350">
                      <a:solidFill>
                        <a:srgbClr val="0B3041"/>
                      </a:solidFill>
                    </a:lnT>
                    <a:lnB w="6350">
                      <a:solidFill>
                        <a:srgbClr val="0B3041"/>
                      </a:solidFill>
                    </a:lnB>
                    <a:noFill/>
                  </a:tcPr>
                </a:tc>
                <a:tc>
                  <a:txBody>
                    <a:bodyPr/>
                    <a:lstStyle/>
                    <a:p>
                      <a:pPr algn="r" fontAlgn="ctr"/>
                      <a:r>
                        <a:rPr lang="ja-JP" altLang="en-US" sz="962" b="1" i="0" dirty="0">
                          <a:solidFill>
                            <a:srgbClr val="000000"/>
                          </a:solidFill>
                          <a:latin typeface="Arial"/>
                          <a:ea typeface="游ゴシック Medium"/>
                        </a:rPr>
                        <a:t>1,406</a:t>
                      </a:r>
                      <a:endParaRPr lang="ja-JP" altLang="en-US" sz="962" b="1" i="0" dirty="0">
                        <a:solidFill>
                          <a:srgbClr val="000000"/>
                        </a:solidFill>
                        <a:latin typeface="Arial"/>
                        <a:ea typeface="游ゴシック Medium"/>
                      </a:endParaRPr>
                    </a:p>
                  </a:txBody>
                  <a:tcPr marL="36576" marR="36576" marT="0" marB="0" anchor="ctr">
                    <a:lnL w="6350">
                      <a:noFill/>
                    </a:lnL>
                    <a:lnR w="6350">
                      <a:noFill/>
                    </a:lnR>
                    <a:lnT w="6350">
                      <a:solidFill>
                        <a:srgbClr val="0B3041"/>
                      </a:solidFill>
                    </a:lnT>
                    <a:lnB w="6350">
                      <a:solidFill>
                        <a:srgbClr val="0B3041"/>
                      </a:solidFill>
                    </a:lnB>
                    <a:noFill/>
                  </a:tcPr>
                </a:tc>
              </a:tr>
              <a:tr h="216682">
                <a:tc>
                  <a:txBody>
                    <a:bodyPr/>
                    <a:lstStyle/>
                    <a:p>
                      <a:pPr algn="l" fontAlgn="ctr"/>
                      <a:r>
                        <a:rPr lang="ja-JP" altLang="en-US" sz="1050" b="0" i="0" dirty="0">
                          <a:solidFill>
                            <a:srgbClr val="000000"/>
                          </a:solidFill>
                          <a:latin typeface="游ゴシック"/>
                          <a:ea typeface="游ゴシック"/>
                        </a:rPr>
                        <a:t>　　役員報酬（退任役員）</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17,400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17,400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11,160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4,050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r>
              <a:tr h="216682">
                <a:tc>
                  <a:txBody>
                    <a:bodyPr/>
                    <a:lstStyle/>
                    <a:p>
                      <a:pPr algn="l" fontAlgn="ctr"/>
                      <a:r>
                        <a:rPr lang="ja-JP" altLang="en-US" sz="1050" b="0" i="0" dirty="0">
                          <a:solidFill>
                            <a:srgbClr val="000000"/>
                          </a:solidFill>
                          <a:latin typeface="游ゴシック"/>
                          <a:ea typeface="游ゴシック"/>
                        </a:rPr>
                        <a:t>　　顧問料（代表者）</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△2,160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△2,160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△2,160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△1,080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r>
              <a:tr h="216682">
                <a:tc>
                  <a:txBody>
                    <a:bodyPr/>
                    <a:lstStyle/>
                    <a:p>
                      <a:pPr algn="l" fontAlgn="ctr"/>
                      <a:r>
                        <a:rPr lang="ja-JP" altLang="en-US" sz="1050" b="0" i="0" dirty="0">
                          <a:solidFill>
                            <a:srgbClr val="000000"/>
                          </a:solidFill>
                          <a:latin typeface="游ゴシック"/>
                          <a:ea typeface="游ゴシック"/>
                        </a:rPr>
                        <a:t>　　社会保険料</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2,610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2,610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1,674</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608</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r>
              <a:tr h="216682">
                <a:tc>
                  <a:txBody>
                    <a:bodyPr/>
                    <a:lstStyle/>
                    <a:p>
                      <a:pPr algn="l" fontAlgn="ctr"/>
                      <a:r>
                        <a:rPr lang="ja-JP" altLang="en-US" sz="1050" b="0" i="0" dirty="0">
                          <a:solidFill>
                            <a:srgbClr val="000000"/>
                          </a:solidFill>
                          <a:latin typeface="游ゴシック"/>
                          <a:ea typeface="游ゴシック"/>
                        </a:rPr>
                        <a:t>　　賞与の正常化</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0</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△6,724</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△3,362</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r>
              <a:tr h="216682">
                <a:tc>
                  <a:txBody>
                    <a:bodyPr/>
                    <a:lstStyle/>
                    <a:p>
                      <a:pPr algn="l" fontAlgn="ctr"/>
                      <a:r>
                        <a:rPr lang="ja-JP" altLang="en-US" sz="1050" b="0" i="0" dirty="0">
                          <a:solidFill>
                            <a:srgbClr val="000000"/>
                          </a:solidFill>
                          <a:latin typeface="游ゴシック"/>
                          <a:ea typeface="游ゴシック"/>
                        </a:rPr>
                        <a:t>　　寄付金</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13</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71</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11</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7</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r>
              <a:tr h="216682">
                <a:tc>
                  <a:txBody>
                    <a:bodyPr/>
                    <a:lstStyle/>
                    <a:p>
                      <a:pPr algn="l" fontAlgn="ctr"/>
                      <a:r>
                        <a:rPr lang="ja-JP" altLang="en-US" sz="1050" b="0" i="0" dirty="0">
                          <a:solidFill>
                            <a:srgbClr val="000000"/>
                          </a:solidFill>
                          <a:latin typeface="游ゴシック"/>
                          <a:ea typeface="游ゴシック"/>
                        </a:rPr>
                        <a:t>　　受取奨励金（純額）</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noFill/>
                    </a:lnB>
                    <a:solidFill>
                      <a:srgbClr val="E3E7E9"/>
                    </a:solidFill>
                  </a:tcPr>
                </a:tc>
                <a:tc>
                  <a:txBody>
                    <a:bodyPr/>
                    <a:lstStyle/>
                    <a:p>
                      <a:pPr algn="r" fontAlgn="ctr"/>
                      <a:r>
                        <a:rPr lang="ja-JP" altLang="en-US" sz="1050" b="0" i="0" dirty="0">
                          <a:solidFill>
                            <a:srgbClr val="000000"/>
                          </a:solidFill>
                          <a:latin typeface="Arial"/>
                          <a:ea typeface="游ゴシック Medium"/>
                        </a:rPr>
                        <a:t>2,179</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2,315</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2,418</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c>
                  <a:txBody>
                    <a:bodyPr/>
                    <a:lstStyle/>
                    <a:p>
                      <a:pPr algn="r" fontAlgn="ctr"/>
                      <a:r>
                        <a:rPr lang="ja-JP" altLang="en-US" sz="1050" b="0" i="0" dirty="0">
                          <a:solidFill>
                            <a:srgbClr val="000000"/>
                          </a:solidFill>
                          <a:latin typeface="Arial"/>
                          <a:ea typeface="游ゴシック Medium"/>
                        </a:rPr>
                        <a:t>1,184</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noFill/>
                    </a:lnB>
                    <a:noFill/>
                  </a:tcPr>
                </a:tc>
              </a:tr>
              <a:tr h="86672">
                <a:tc>
                  <a:txBody>
                    <a:bodyPr/>
                    <a:lstStyle/>
                    <a:p>
                      <a:pPr algn="l" fontAlgn="ctr"/>
                      <a:endParaRPr lang="ja-JP" altLang="en-US" sz="48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l" fontAlgn="ctr"/>
                      <a:endParaRPr lang="ja-JP" altLang="en-US" sz="48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16682">
                <a:tc>
                  <a:txBody>
                    <a:bodyPr/>
                    <a:lstStyle/>
                    <a:p>
                      <a:pPr algn="l" fontAlgn="ctr"/>
                      <a:r>
                        <a:rPr lang="ja-JP" altLang="en-US" sz="1050" b="1" i="0" dirty="0">
                          <a:solidFill>
                            <a:srgbClr val="000000"/>
                          </a:solidFill>
                          <a:latin typeface="游ゴシック"/>
                          <a:ea typeface="游ゴシック"/>
                        </a:rPr>
                        <a:t>　調整後EBITDA</a:t>
                      </a:r>
                      <a:endParaRPr lang="ja-JP" altLang="en-US" sz="1050" b="1" i="0" dirty="0">
                        <a:solidFill>
                          <a:srgbClr val="000000"/>
                        </a:solidFill>
                        <a:latin typeface="游ゴシック"/>
                        <a:ea typeface="游ゴシック"/>
                      </a:endParaRPr>
                    </a:p>
                  </a:txBody>
                  <a:tcPr marL="36576" marR="36576" marT="0" marB="0" anchor="ctr">
                    <a:lnL w="6350">
                      <a:noFill/>
                    </a:lnL>
                    <a:lnR w="6350">
                      <a:solidFill>
                        <a:srgbClr val="FFFFFF"/>
                      </a:solidFill>
                    </a:lnR>
                    <a:lnT w="25400">
                      <a:solidFill>
                        <a:srgbClr val="0889C9"/>
                      </a:solidFill>
                    </a:lnT>
                    <a:lnB w="25400">
                      <a:solidFill>
                        <a:srgbClr val="0889C9"/>
                      </a:solidFill>
                    </a:lnB>
                    <a:solidFill>
                      <a:srgbClr val="E1F3FB"/>
                    </a:solidFill>
                  </a:tcPr>
                </a:tc>
                <a:tc>
                  <a:txBody>
                    <a:bodyPr/>
                    <a:lstStyle/>
                    <a:p>
                      <a:pPr algn="r" fontAlgn="ctr"/>
                      <a:r>
                        <a:rPr lang="ja-JP" altLang="en-US" sz="1050" b="1" i="0" dirty="0">
                          <a:solidFill>
                            <a:srgbClr val="000000"/>
                          </a:solidFill>
                          <a:latin typeface="Arial"/>
                          <a:ea typeface="游ゴシック Medium"/>
                        </a:rPr>
                        <a:t>　38,462</a:t>
                      </a:r>
                      <a:endParaRPr lang="ja-JP" altLang="en-US" sz="105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25400">
                      <a:solidFill>
                        <a:srgbClr val="0889C9"/>
                      </a:solidFill>
                    </a:lnT>
                    <a:lnB w="25400">
                      <a:solidFill>
                        <a:srgbClr val="0889C9"/>
                      </a:solidFill>
                    </a:lnB>
                    <a:noFill/>
                  </a:tcPr>
                </a:tc>
                <a:tc>
                  <a:txBody>
                    <a:bodyPr/>
                    <a:lstStyle/>
                    <a:p>
                      <a:pPr algn="r" fontAlgn="ctr"/>
                      <a:r>
                        <a:rPr lang="ja-JP" altLang="en-US" sz="1050" b="1" i="0" dirty="0">
                          <a:solidFill>
                            <a:srgbClr val="000000"/>
                          </a:solidFill>
                          <a:latin typeface="Arial"/>
                          <a:ea typeface="游ゴシック Medium"/>
                        </a:rPr>
                        <a:t>　28,370</a:t>
                      </a:r>
                      <a:endParaRPr lang="ja-JP" altLang="en-US" sz="105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25400">
                      <a:solidFill>
                        <a:srgbClr val="0889C9"/>
                      </a:solidFill>
                    </a:lnT>
                    <a:lnB w="25400">
                      <a:solidFill>
                        <a:srgbClr val="0889C9"/>
                      </a:solidFill>
                    </a:lnB>
                    <a:noFill/>
                  </a:tcPr>
                </a:tc>
                <a:tc>
                  <a:txBody>
                    <a:bodyPr/>
                    <a:lstStyle/>
                    <a:p>
                      <a:pPr algn="r" fontAlgn="ctr"/>
                      <a:r>
                        <a:rPr lang="ja-JP" altLang="en-US" sz="1050" b="1" i="0" dirty="0">
                          <a:solidFill>
                            <a:srgbClr val="000000"/>
                          </a:solidFill>
                          <a:latin typeface="Arial"/>
                          <a:ea typeface="游ゴシック Medium"/>
                        </a:rPr>
                        <a:t>　21,118</a:t>
                      </a:r>
                      <a:endParaRPr lang="ja-JP" altLang="en-US" sz="105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25400">
                      <a:solidFill>
                        <a:srgbClr val="0889C9"/>
                      </a:solidFill>
                    </a:lnT>
                    <a:lnB w="25400">
                      <a:solidFill>
                        <a:srgbClr val="0889C9"/>
                      </a:solidFill>
                    </a:lnB>
                    <a:noFill/>
                  </a:tcPr>
                </a:tc>
                <a:tc>
                  <a:txBody>
                    <a:bodyPr/>
                    <a:lstStyle/>
                    <a:p>
                      <a:pPr algn="r" fontAlgn="ctr"/>
                      <a:r>
                        <a:rPr lang="ja-JP" altLang="en-US" sz="1050" b="1" i="0" dirty="0">
                          <a:solidFill>
                            <a:srgbClr val="000000"/>
                          </a:solidFill>
                          <a:latin typeface="Arial"/>
                          <a:ea typeface="游ゴシック Medium"/>
                        </a:rPr>
                        <a:t>　25,486</a:t>
                      </a:r>
                      <a:endParaRPr lang="ja-JP" altLang="en-US" sz="105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25400">
                      <a:solidFill>
                        <a:srgbClr val="0889C9"/>
                      </a:solidFill>
                    </a:lnT>
                    <a:lnB w="25400">
                      <a:solidFill>
                        <a:srgbClr val="0889C9"/>
                      </a:solidFill>
                    </a:lnB>
                    <a:noFill/>
                  </a:tcPr>
                </a:tc>
              </a:tr>
            </a:tbl>
          </a:graphicData>
        </a:graphic>
      </p:graphicFrame>
      <p:sp>
        <p:nvSpPr>
          <p:cNvPr id="18" name="TextBox 17"/>
          <p:cNvSpPr txBox="1"/>
          <p:nvPr/>
        </p:nvSpPr>
        <p:spPr>
          <a:xfrm>
            <a:off x="310896" y="6080759"/>
            <a:ext cx="6053328" cy="329184"/>
          </a:xfrm>
          <a:prstGeom prst="rect">
            <a:avLst/>
          </a:prstGeom>
          <a:noFill/>
        </p:spPr>
        <p:txBody>
          <a:bodyPr wrap="square" lIns="0" rIns="0" tIns="0" bIns="0">
            <a:spAutoFit/>
          </a:bodyPr>
          <a:lstStyle/>
          <a:p>
            <a:r>
              <a:rPr sz="750">
                <a:solidFill>
                  <a:srgbClr val="000000"/>
                </a:solidFill>
                <a:latin typeface="游ゴシック"/>
                <a:ea typeface="游ゴシック"/>
              </a:rPr>
              <a:t>※EBITDA＝営業利益＋減価償却費。調整後EBITDAの3期平均は29,317千円、直近2期平均は24,744千円。</a:t>
            </a:r>
          </a:p>
          <a:p>
            <a:r>
              <a:rPr sz="750">
                <a:solidFill>
                  <a:srgbClr val="000000"/>
                </a:solidFill>
                <a:latin typeface="游ゴシック"/>
                <a:ea typeface="游ゴシック"/>
              </a:rPr>
              <a:t>※進行期は2026年4〜9月の試算表（6か月累計、年換算しない）。前期比は前年同期比。調整項目は同じ方針で6か月分を算定（賞与は年額の6/12）。</a:t>
            </a:r>
          </a:p>
        </p:txBody>
      </p:sp>
    </p:spTree>
    <p:extLst>
      <p:ext uri="{BB962C8B-B14F-4D97-AF65-F5344CB8AC3E}">
        <p14:creationId xmlns:p14="http://schemas.microsoft.com/office/powerpoint/2010/main" val="3016589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25D46-8BE9-D21F-8F78-292CE6E9B929}"/>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AA39DD4-3E77-6023-715D-76F64D8C46A7}"/>
              </a:ext>
            </a:extLst>
          </p:cNvPr>
          <p:cNvSpPr>
            <a:spLocks noGrp="1"/>
          </p:cNvSpPr>
          <p:nvPr>
            <p:ph type="ctrTitle"/>
          </p:nvPr>
        </p:nvSpPr>
        <p:spPr>
          <a:xfrm>
            <a:off x="311150" y="180296"/>
            <a:ext cx="7799917" cy="339267"/>
          </a:xfrm>
        </p:spPr>
        <p:txBody>
          <a:bodyPr>
            <a:normAutofit/>
          </a:bodyPr>
          <a:lstStyle/>
          <a:p>
            <a:r>
              <a:rPr lang="ja-JP" altLang="en-US" dirty="0"/>
              <a:t>財務ハイライト（</a:t>
            </a:r>
            <a:r>
              <a:rPr lang="en-US" altLang="ja-JP" dirty="0"/>
              <a:t>B/S</a:t>
            </a:r>
            <a:r>
              <a:rPr lang="ja-JP" altLang="en-US" dirty="0"/>
              <a:t>）</a:t>
            </a:r>
          </a:p>
        </p:txBody>
      </p:sp>
      <p:sp>
        <p:nvSpPr>
          <p:cNvPr id="5" name="タイトル 1">
            <a:extLst>
              <a:ext uri="{FF2B5EF4-FFF2-40B4-BE49-F238E27FC236}">
                <a16:creationId xmlns:a16="http://schemas.microsoft.com/office/drawing/2014/main" id="{393BEF8A-36B7-CC08-2D29-C971912378C9}"/>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エグゼクティブサマリー</a:t>
            </a:r>
          </a:p>
        </p:txBody>
      </p:sp>
      <p:sp>
        <p:nvSpPr>
          <p:cNvPr id="6" name="正方形/長方形 5">
            <a:extLst>
              <a:ext uri="{FF2B5EF4-FFF2-40B4-BE49-F238E27FC236}">
                <a16:creationId xmlns:a16="http://schemas.microsoft.com/office/drawing/2014/main" id="{63937474-FD16-D668-CAE8-2B82EF0CD424}"/>
              </a:ext>
            </a:extLst>
          </p:cNvPr>
          <p:cNvSpPr/>
          <p:nvPr/>
        </p:nvSpPr>
        <p:spPr>
          <a:xfrm>
            <a:off x="5559552" y="4956048"/>
            <a:ext cx="4791456" cy="2039112"/>
          </a:xfrm>
          <a:prstGeom prst="rect">
            <a:avLst/>
          </a:prstGeom>
          <a:solidFill>
            <a:schemeClr val="accent2"/>
          </a:solidFill>
          <a:ln w="285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lnSpc>
                <a:spcPct val="150000"/>
              </a:lnSpc>
              <a:buFont typeface="Wingdings" panose="05000000000000000000" pitchFamily="2" charset="2"/>
              <a:buChar char="ü"/>
            </a:pPr>
            <a:endParaRPr kumimoji="1" lang="en-US" altLang="ja-JP" sz="1200" b="1" dirty="0">
              <a:solidFill>
                <a:schemeClr val="tx1"/>
              </a:solidFill>
              <a:latin typeface="+mn-ea"/>
            </a:endParaRPr>
          </a:p>
        </p:txBody>
      </p:sp>
      <p:sp>
        <p:nvSpPr>
          <p:cNvPr id="11" name="字幕 13">
            <a:extLst>
              <a:ext uri="{FF2B5EF4-FFF2-40B4-BE49-F238E27FC236}">
                <a16:creationId xmlns:a16="http://schemas.microsoft.com/office/drawing/2014/main" id="{4BDEA35E-AAC5-A70B-357F-0FB600B4A83F}"/>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市場用地等の土地93,137千円・建物等の事業用資産と現預金210,887千円を有する一方、長期借入金361,058千円を負う。土地の時価評価等を反映した時価純資産は55,318千円と試算。</a:t>
            </a:r>
          </a:p>
        </p:txBody>
      </p:sp>
      <p:sp>
        <p:nvSpPr>
          <p:cNvPr id="2" name="正方形/長方形 1">
            <a:extLst>
              <a:ext uri="{FF2B5EF4-FFF2-40B4-BE49-F238E27FC236}">
                <a16:creationId xmlns:a16="http://schemas.microsoft.com/office/drawing/2014/main" id="{612EABB3-CE7D-61AA-49A7-0C5A39CB2F7F}"/>
              </a:ext>
            </a:extLst>
          </p:cNvPr>
          <p:cNvSpPr/>
          <p:nvPr/>
        </p:nvSpPr>
        <p:spPr>
          <a:xfrm>
            <a:off x="5559552" y="1463040"/>
            <a:ext cx="4791456" cy="3429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7" name="テキスト ボックス 6">
            <a:extLst>
              <a:ext uri="{FF2B5EF4-FFF2-40B4-BE49-F238E27FC236}">
                <a16:creationId xmlns:a16="http://schemas.microsoft.com/office/drawing/2014/main" id="{07A18A00-4497-FBE7-D232-D583ED28CEE8}"/>
              </a:ext>
            </a:extLst>
          </p:cNvPr>
          <p:cNvSpPr txBox="1"/>
          <p:nvPr/>
        </p:nvSpPr>
        <p:spPr>
          <a:xfrm>
            <a:off x="5559552" y="1993392"/>
            <a:ext cx="4791456" cy="2834640"/>
          </a:xfrm>
          <a:prstGeom prst="rect">
            <a:avLst/>
          </a:prstGeom>
          <a:noFill/>
        </p:spPr>
        <p:txBody>
          <a:bodyPr wrap="square" lIns="288000" tIns="0" rIns="252000" bIns="0" rtlCol="0">
            <a:spAutoFit/>
          </a:bodyPr>
          <a:lstStyle/>
          <a:p>
            <a:pPr>
              <a:spcAft>
                <a:spcPts val="200"/>
              </a:spcAft>
            </a:pPr>
            <a:r>
              <a:rPr lang="ja-JP" altLang="en-US" sz="950" b="1" dirty="0">
                <a:solidFill>
                  <a:sysClr val="windowText" lastClr="000000"/>
                </a:solidFill>
                <a:latin typeface="游ゴシック"/>
                <a:ea typeface="游ゴシック"/>
              </a:rPr>
              <a:t>≪現金及び預金≫</a:t>
            </a:r>
          </a:p>
          <a:p>
            <a:pPr>
              <a:spcAft>
                <a:spcPts val="200"/>
              </a:spcAft>
            </a:pPr>
            <a:r>
              <a:rPr lang="ja-JP" altLang="en-US" sz="850" b="0" dirty="0">
                <a:solidFill>
                  <a:sysClr val="windowText" lastClr="000000"/>
                </a:solidFill>
                <a:latin typeface="游ゴシック"/>
                <a:ea typeface="游ゴシック"/>
              </a:rPr>
              <a:t>・210,887千円：鶴岡信用金庫84,940千円、山形銀行63,122千円、荘内銀行59,634千円ほか。</a:t>
            </a:r>
          </a:p>
          <a:p>
            <a:pPr>
              <a:spcAft>
                <a:spcPts val="200"/>
              </a:spcAft>
            </a:pPr>
            <a:r>
              <a:rPr lang="ja-JP" altLang="en-US" sz="950" b="1" dirty="0">
                <a:solidFill>
                  <a:sysClr val="windowText" lastClr="000000"/>
                </a:solidFill>
                <a:latin typeface="游ゴシック"/>
                <a:ea typeface="游ゴシック"/>
              </a:rPr>
              <a:t>≪売上債権・棚卸資産≫</a:t>
            </a:r>
          </a:p>
          <a:p>
            <a:pPr>
              <a:spcAft>
                <a:spcPts val="200"/>
              </a:spcAft>
            </a:pPr>
            <a:r>
              <a:rPr lang="ja-JP" altLang="en-US" sz="850" b="0" dirty="0">
                <a:solidFill>
                  <a:sysClr val="windowText" lastClr="000000"/>
                </a:solidFill>
                <a:latin typeface="游ゴシック"/>
                <a:ea typeface="游ゴシック"/>
              </a:rPr>
              <a:t>・売掛金は(株)主婦の店7,194千円が最大。棚卸資産は商品・資材・地物で、廃棄を要する滞留在庫はないとのこと。</a:t>
            </a:r>
          </a:p>
          <a:p>
            <a:pPr>
              <a:spcAft>
                <a:spcPts val="200"/>
              </a:spcAft>
            </a:pPr>
            <a:r>
              <a:rPr lang="ja-JP" altLang="en-US" sz="950" b="1" dirty="0">
                <a:solidFill>
                  <a:sysClr val="windowText" lastClr="000000"/>
                </a:solidFill>
                <a:latin typeface="游ゴシック"/>
                <a:ea typeface="游ゴシック"/>
              </a:rPr>
              <a:t>≪固定資産≫</a:t>
            </a:r>
          </a:p>
          <a:p>
            <a:pPr>
              <a:spcAft>
                <a:spcPts val="200"/>
              </a:spcAft>
            </a:pPr>
            <a:r>
              <a:rPr lang="ja-JP" altLang="en-US" sz="850" b="0" dirty="0">
                <a:solidFill>
                  <a:sysClr val="windowText" lastClr="000000"/>
                </a:solidFill>
                <a:latin typeface="游ゴシック"/>
                <a:ea typeface="游ゴシック"/>
              </a:rPr>
              <a:t>・土地93,137千円：本社・市場70,757千円、パッケージ場21,380千円、旧倉庫敷地1,000千円。</a:t>
            </a:r>
          </a:p>
          <a:p>
            <a:pPr>
              <a:spcAft>
                <a:spcPts val="200"/>
              </a:spcAft>
            </a:pPr>
            <a:r>
              <a:rPr lang="ja-JP" altLang="en-US" sz="850" b="0" dirty="0">
                <a:solidFill>
                  <a:sysClr val="windowText" lastClr="000000"/>
                </a:solidFill>
                <a:latin typeface="游ゴシック"/>
                <a:ea typeface="游ゴシック"/>
              </a:rPr>
              <a:t>・保証金33,303千円：仕入代金のデポジット（約10日分）で取引終了時に返金。</a:t>
            </a:r>
          </a:p>
          <a:p>
            <a:pPr>
              <a:spcAft>
                <a:spcPts val="200"/>
              </a:spcAft>
            </a:pPr>
            <a:r>
              <a:rPr lang="ja-JP" altLang="en-US" sz="950" b="1" dirty="0">
                <a:solidFill>
                  <a:sysClr val="windowText" lastClr="000000"/>
                </a:solidFill>
                <a:latin typeface="游ゴシック"/>
                <a:ea typeface="游ゴシック"/>
              </a:rPr>
              <a:t>≪負債≫</a:t>
            </a:r>
          </a:p>
          <a:p>
            <a:pPr>
              <a:spcAft>
                <a:spcPts val="200"/>
              </a:spcAft>
            </a:pPr>
            <a:r>
              <a:rPr lang="ja-JP" altLang="en-US" sz="850" b="0" dirty="0">
                <a:solidFill>
                  <a:sysClr val="windowText" lastClr="000000"/>
                </a:solidFill>
                <a:latin typeface="游ゴシック"/>
                <a:ea typeface="游ゴシック"/>
              </a:rPr>
              <a:t>・長期借入金361,058千円：鶴岡信用金庫182,840千円、山形銀行70,250千円、日本政策金融公庫107,968千円。</a:t>
            </a:r>
          </a:p>
          <a:p>
            <a:pPr>
              <a:spcAft>
                <a:spcPts val="200"/>
              </a:spcAft>
            </a:pPr>
            <a:r>
              <a:rPr lang="ja-JP" altLang="en-US" sz="850" b="0" dirty="0">
                <a:solidFill>
                  <a:sysClr val="windowText" lastClr="000000"/>
                </a:solidFill>
                <a:latin typeface="游ゴシック"/>
                <a:ea typeface="游ゴシック"/>
              </a:rPr>
              <a:t>・2026年9月末は長期借入金526,264千円（3月末比+165,206千円）、現預金393,411千円（試算表）。新規借入の使途・条件は要確認。</a:t>
            </a:r>
          </a:p>
        </p:txBody>
      </p:sp>
      <p:sp>
        <p:nvSpPr>
          <p:cNvPr id="8" name="テキスト ボックス 7">
            <a:extLst>
              <a:ext uri="{FF2B5EF4-FFF2-40B4-BE49-F238E27FC236}">
                <a16:creationId xmlns:a16="http://schemas.microsoft.com/office/drawing/2014/main" id="{632197B6-9950-6937-E8F9-2140ACC03ACD}"/>
              </a:ext>
            </a:extLst>
          </p:cNvPr>
          <p:cNvSpPr txBox="1"/>
          <p:nvPr/>
        </p:nvSpPr>
        <p:spPr>
          <a:xfrm>
            <a:off x="5559552" y="5029200"/>
            <a:ext cx="4791456" cy="1920240"/>
          </a:xfrm>
          <a:prstGeom prst="rect">
            <a:avLst/>
          </a:prstGeom>
          <a:noFill/>
        </p:spPr>
        <p:txBody>
          <a:bodyPr wrap="square" lIns="288000" tIns="0" rIns="252000" bIns="0" rtlCol="0">
            <a:spAutoFit/>
          </a:bodyPr>
          <a:lstStyle/>
          <a:p>
            <a:pPr>
              <a:spcAft>
                <a:spcPts val="100"/>
              </a:spcAft>
            </a:pPr>
            <a:r>
              <a:rPr lang="ja-JP" altLang="en-US" sz="900" b="1" dirty="0">
                <a:solidFill>
                  <a:sysClr val="windowText" lastClr="000000"/>
                </a:solidFill>
                <a:latin typeface="游ゴシック"/>
                <a:ea typeface="游ゴシック"/>
              </a:rPr>
              <a:t>【時価修正】</a:t>
            </a:r>
          </a:p>
          <a:p>
            <a:pPr>
              <a:spcAft>
                <a:spcPts val="100"/>
              </a:spcAft>
            </a:pPr>
            <a:r>
              <a:rPr lang="ja-JP" altLang="en-US" sz="900" b="1" dirty="0">
                <a:solidFill>
                  <a:sysClr val="windowText" lastClr="000000"/>
                </a:solidFill>
                <a:latin typeface="游ゴシック"/>
                <a:ea typeface="游ゴシック"/>
              </a:rPr>
              <a:t>≪土地≫</a:t>
            </a:r>
          </a:p>
          <a:p>
            <a:pPr>
              <a:spcAft>
                <a:spcPts val="100"/>
              </a:spcAft>
            </a:pPr>
            <a:r>
              <a:rPr lang="ja-JP" altLang="en-US" sz="850" b="0" dirty="0">
                <a:solidFill>
                  <a:sysClr val="windowText" lastClr="000000"/>
                </a:solidFill>
                <a:latin typeface="游ゴシック"/>
                <a:ea typeface="游ゴシック"/>
              </a:rPr>
              <a:t>・固定資産税評価額÷0.7で時価評価（△25,312千円）。時価は確認中</a:t>
            </a:r>
          </a:p>
          <a:p>
            <a:pPr>
              <a:spcAft>
                <a:spcPts val="100"/>
              </a:spcAft>
            </a:pPr>
            <a:r>
              <a:rPr lang="ja-JP" altLang="en-US" sz="900" b="1" dirty="0">
                <a:solidFill>
                  <a:sysClr val="windowText" lastClr="000000"/>
                </a:solidFill>
                <a:latin typeface="游ゴシック"/>
                <a:ea typeface="游ゴシック"/>
              </a:rPr>
              <a:t>≪投資有価証券≫</a:t>
            </a:r>
          </a:p>
          <a:p>
            <a:pPr>
              <a:spcAft>
                <a:spcPts val="100"/>
              </a:spcAft>
            </a:pPr>
            <a:r>
              <a:rPr lang="ja-JP" altLang="en-US" sz="850" b="0" dirty="0">
                <a:solidFill>
                  <a:sysClr val="windowText" lastClr="000000"/>
                </a:solidFill>
                <a:latin typeface="游ゴシック"/>
                <a:ea typeface="游ゴシック"/>
              </a:rPr>
              <a:t>・上場株式を時価評価（+7,242千円）</a:t>
            </a:r>
          </a:p>
          <a:p>
            <a:pPr>
              <a:spcAft>
                <a:spcPts val="100"/>
              </a:spcAft>
            </a:pPr>
            <a:r>
              <a:rPr lang="ja-JP" altLang="en-US" sz="900" b="1" dirty="0">
                <a:solidFill>
                  <a:sysClr val="windowText" lastClr="000000"/>
                </a:solidFill>
                <a:latin typeface="游ゴシック"/>
                <a:ea typeface="游ゴシック"/>
              </a:rPr>
              <a:t>≪貸倒引当金・電話加入権≫</a:t>
            </a:r>
          </a:p>
          <a:p>
            <a:pPr>
              <a:spcAft>
                <a:spcPts val="100"/>
              </a:spcAft>
            </a:pPr>
            <a:r>
              <a:rPr lang="ja-JP" altLang="en-US" sz="850" b="0" dirty="0">
                <a:solidFill>
                  <a:sysClr val="windowText" lastClr="000000"/>
                </a:solidFill>
                <a:latin typeface="游ゴシック"/>
                <a:ea typeface="游ゴシック"/>
              </a:rPr>
              <a:t>・引当金戻入（+203千円）、電話加入権を減額（△2,156千円）</a:t>
            </a:r>
          </a:p>
          <a:p>
            <a:pPr>
              <a:spcAft>
                <a:spcPts val="100"/>
              </a:spcAft>
            </a:pPr>
            <a:r>
              <a:rPr lang="ja-JP" altLang="en-US" sz="900" b="1" dirty="0">
                <a:solidFill>
                  <a:sysClr val="windowText" lastClr="000000"/>
                </a:solidFill>
                <a:latin typeface="游ゴシック"/>
                <a:ea typeface="游ゴシック"/>
              </a:rPr>
              <a:t>≪税効果≫</a:t>
            </a:r>
          </a:p>
          <a:p>
            <a:pPr>
              <a:spcAft>
                <a:spcPts val="100"/>
              </a:spcAft>
            </a:pPr>
            <a:r>
              <a:rPr lang="ja-JP" altLang="en-US" sz="850" b="0" dirty="0">
                <a:solidFill>
                  <a:sysClr val="windowText" lastClr="000000"/>
                </a:solidFill>
                <a:latin typeface="游ゴシック"/>
                <a:ea typeface="游ゴシック"/>
              </a:rPr>
              <a:t>・評価差額に係る繰延税金負債（△2,531千円）</a:t>
            </a:r>
          </a:p>
          <a:p>
            <a:pPr>
              <a:spcAft>
                <a:spcPts val="100"/>
              </a:spcAft>
            </a:pPr>
            <a:r>
              <a:rPr lang="ja-JP" altLang="en-US" sz="900" b="1" dirty="0">
                <a:solidFill>
                  <a:sysClr val="windowText" lastClr="000000"/>
                </a:solidFill>
                <a:latin typeface="游ゴシック"/>
                <a:ea typeface="游ゴシック"/>
              </a:rPr>
              <a:t>✓ 簿価純資産77,873千円 → 時価純資産55,318千円</a:t>
            </a:r>
          </a:p>
        </p:txBody>
      </p:sp>
      <p:graphicFrame>
        <p:nvGraphicFramePr>
          <p:cNvPr id="14" name="表（BSハイライト!B2:F21）"/>
          <p:cNvGraphicFramePr>
            <a:graphicFrameLocks noGrp="1"/>
          </p:cNvGraphicFramePr>
          <p:nvPr/>
        </p:nvGraphicFramePr>
        <p:xfrm>
          <a:off x="338328" y="1417320"/>
          <a:ext cx="5001764" cy="4571991"/>
        </p:xfrm>
        <a:graphic>
          <a:graphicData uri="http://schemas.openxmlformats.org/drawingml/2006/table">
            <a:tbl>
              <a:tblPr firstRow="0" bandRow="0">
                <a:tableStyleId>{2D5ABB26-0587-4C30-8999-92F81FD0307C}</a:tableStyleId>
              </a:tblPr>
              <a:tblGrid>
                <a:gridCol w="1338061"/>
                <a:gridCol w="1089746"/>
                <a:gridCol w="146150"/>
                <a:gridCol w="1338061"/>
                <a:gridCol w="1089746"/>
              </a:tblGrid>
              <a:tr h="156040">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62" b="0" i="0" dirty="0">
                          <a:solidFill>
                            <a:srgbClr val="000000"/>
                          </a:solidFill>
                          <a:latin typeface="游ゴシック"/>
                          <a:ea typeface="游ゴシック"/>
                        </a:rPr>
                        <a:t>(単位：千円)</a:t>
                      </a:r>
                      <a:endParaRPr lang="ja-JP" altLang="en-US" sz="962"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02853">
                <a:tc>
                  <a:txBody>
                    <a:bodyPr/>
                    <a:lstStyle/>
                    <a:p>
                      <a:pPr algn="ctr" fontAlgn="ctr"/>
                      <a:r>
                        <a:rPr lang="ja-JP" altLang="en-US" sz="1050" b="0" i="0" dirty="0">
                          <a:solidFill>
                            <a:srgbClr val="FFFFFF"/>
                          </a:solidFill>
                          <a:latin typeface="游ゴシック"/>
                          <a:ea typeface="游ゴシック"/>
                        </a:rPr>
                        <a:t>26年3月期末</a:t>
                      </a:r>
                      <a:endParaRPr lang="ja-JP" altLang="en-US" sz="1050" b="0" i="0" dirty="0">
                        <a:solidFill>
                          <a:srgbClr val="FFFFFF"/>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A6A6A6"/>
                      </a:solidFill>
                    </a:lnB>
                    <a:solidFill>
                      <a:srgbClr val="0B3041"/>
                    </a:solidFill>
                  </a:tcPr>
                </a:tc>
                <a:tc>
                  <a:txBody>
                    <a:bodyPr/>
                    <a:lstStyle/>
                    <a:p>
                      <a:pPr algn="ctr" fontAlgn="ctr"/>
                      <a:endParaRPr lang="ja-JP" altLang="en-US" sz="1050" b="0" i="0" dirty="0">
                        <a:solidFill>
                          <a:srgbClr val="FFFFFF"/>
                        </a:solidFill>
                        <a:latin typeface="游ゴシック"/>
                        <a:ea typeface="游ゴシック"/>
                      </a:endParaRPr>
                    </a:p>
                  </a:txBody>
                  <a:tcPr marL="36576" marR="36576" marT="0" marB="0" anchor="ctr">
                    <a:lnL w="6350">
                      <a:noFill/>
                    </a:lnL>
                    <a:lnR w="6350">
                      <a:noFill/>
                    </a:lnR>
                    <a:lnT w="6350">
                      <a:noFill/>
                    </a:lnT>
                    <a:lnB w="6350">
                      <a:solidFill>
                        <a:srgbClr val="A6A6A6"/>
                      </a:solidFill>
                    </a:lnB>
                    <a:solidFill>
                      <a:srgbClr val="0B3041"/>
                    </a:solidFill>
                  </a:tcPr>
                </a:tc>
                <a:tc>
                  <a:txBody>
                    <a:bodyPr/>
                    <a:lstStyle/>
                    <a:p>
                      <a:pPr algn="ctr" fontAlgn="ctr"/>
                      <a:endParaRPr lang="ja-JP" altLang="en-US" sz="1050" b="0" i="0" dirty="0">
                        <a:solidFill>
                          <a:srgbClr val="FFFFFF"/>
                        </a:solidFill>
                        <a:latin typeface="游ゴシック"/>
                        <a:ea typeface="游ゴシック"/>
                      </a:endParaRPr>
                    </a:p>
                  </a:txBody>
                  <a:tcPr marL="36576" marR="36576" marT="0" marB="0" anchor="ctr">
                    <a:lnL w="6350">
                      <a:noFill/>
                    </a:lnL>
                    <a:lnR w="6350">
                      <a:noFill/>
                    </a:lnR>
                    <a:lnT w="6350">
                      <a:noFill/>
                    </a:lnT>
                    <a:lnB w="6350">
                      <a:solidFill>
                        <a:srgbClr val="A6A6A6"/>
                      </a:solidFill>
                    </a:lnB>
                    <a:solidFill>
                      <a:srgbClr val="0B3041"/>
                    </a:solidFill>
                  </a:tcPr>
                </a:tc>
                <a:tc>
                  <a:txBody>
                    <a:bodyPr/>
                    <a:lstStyle/>
                    <a:p>
                      <a:pPr algn="ctr" fontAlgn="ctr"/>
                      <a:endParaRPr lang="ja-JP" altLang="en-US" sz="1050" b="0" i="0" dirty="0">
                        <a:solidFill>
                          <a:srgbClr val="FFFFFF"/>
                        </a:solidFill>
                        <a:latin typeface="游ゴシック"/>
                        <a:ea typeface="游ゴシック"/>
                      </a:endParaRPr>
                    </a:p>
                  </a:txBody>
                  <a:tcPr marL="36576" marR="36576" marT="0" marB="0" anchor="ctr">
                    <a:lnL w="6350">
                      <a:noFill/>
                    </a:lnL>
                    <a:lnR w="6350">
                      <a:noFill/>
                    </a:lnR>
                    <a:lnT w="6350">
                      <a:noFill/>
                    </a:lnT>
                    <a:lnB w="6350">
                      <a:noFill/>
                    </a:lnB>
                    <a:solidFill>
                      <a:srgbClr val="0B3041"/>
                    </a:solidFill>
                  </a:tcPr>
                </a:tc>
                <a:tc>
                  <a:txBody>
                    <a:bodyPr/>
                    <a:lstStyle/>
                    <a:p>
                      <a:pPr algn="ctr" fontAlgn="ctr"/>
                      <a:endParaRPr lang="ja-JP" altLang="en-US" sz="1050" b="0" i="0" dirty="0">
                        <a:solidFill>
                          <a:srgbClr val="FFFFFF"/>
                        </a:solidFill>
                        <a:latin typeface="游ゴシック"/>
                        <a:ea typeface="游ゴシック"/>
                      </a:endParaRPr>
                    </a:p>
                  </a:txBody>
                  <a:tcPr marL="36576" marR="36576" marT="0" marB="0" anchor="ctr">
                    <a:lnL w="6350">
                      <a:noFill/>
                    </a:lnL>
                    <a:lnR w="6350">
                      <a:noFill/>
                    </a:lnR>
                    <a:lnT w="6350">
                      <a:noFill/>
                    </a:lnT>
                    <a:lnB w="6350">
                      <a:noFill/>
                    </a:lnB>
                    <a:solidFill>
                      <a:srgbClr val="0B3041"/>
                    </a:solidFill>
                  </a:tcPr>
                </a:tc>
              </a:tr>
              <a:tr h="234061">
                <a:tc>
                  <a:txBody>
                    <a:bodyPr/>
                    <a:lstStyle/>
                    <a:p>
                      <a:pPr algn="l" fontAlgn="ctr"/>
                      <a:r>
                        <a:rPr lang="ja-JP" altLang="en-US" sz="1050" b="0" i="0" dirty="0">
                          <a:solidFill>
                            <a:srgbClr val="000000"/>
                          </a:solidFill>
                          <a:latin typeface="游ゴシック"/>
                          <a:ea typeface="游ゴシック"/>
                        </a:rPr>
                        <a:t>　流動資産</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solidFill>
                        <a:srgbClr val="A6A6A6"/>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　249,705</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solidFill>
                        <a:srgbClr val="A6A6A6"/>
                      </a:solidFill>
                    </a:lnT>
                    <a:lnB w="6350">
                      <a:solidFill>
                        <a:srgbClr val="0B3041"/>
                      </a:solidFill>
                    </a:lnB>
                    <a:solidFill>
                      <a:srgbClr val="E3E7E9"/>
                    </a:solid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A6A6A6"/>
                      </a:solidFill>
                    </a:lnT>
                    <a:lnB w="6350">
                      <a:noFill/>
                    </a:lnB>
                    <a:noFill/>
                  </a:tcPr>
                </a:tc>
                <a:tc>
                  <a:txBody>
                    <a:bodyPr/>
                    <a:lstStyle/>
                    <a:p>
                      <a:pPr algn="l" fontAlgn="ctr"/>
                      <a:r>
                        <a:rPr lang="ja-JP" altLang="en-US" sz="1050" b="0" i="0" dirty="0">
                          <a:solidFill>
                            <a:srgbClr val="000000"/>
                          </a:solidFill>
                          <a:latin typeface="游ゴシック"/>
                          <a:ea typeface="游ゴシック"/>
                        </a:rPr>
                        <a:t>　流動負債</a:t>
                      </a:r>
                      <a:endParaRPr lang="ja-JP" altLang="en-US" sz="1050" b="0" i="0" dirty="0">
                        <a:solidFill>
                          <a:srgbClr val="000000"/>
                        </a:solidFill>
                        <a:latin typeface="游ゴシック"/>
                        <a:ea typeface="游ゴシック"/>
                      </a:endParaRPr>
                    </a:p>
                  </a:txBody>
                  <a:tcPr marL="36576" marR="36576" marT="0" marB="0" anchor="ctr">
                    <a:lnL w="6350">
                      <a:solidFill>
                        <a:srgbClr val="FFFFFF"/>
                      </a:solid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37,280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r>
              <a:tr h="234061">
                <a:tc>
                  <a:txBody>
                    <a:bodyPr/>
                    <a:lstStyle/>
                    <a:p>
                      <a:pPr algn="l" fontAlgn="ctr"/>
                      <a:r>
                        <a:rPr lang="ja-JP" altLang="en-US" sz="1050" b="0" i="0" dirty="0">
                          <a:solidFill>
                            <a:srgbClr val="000000"/>
                          </a:solidFill>
                          <a:latin typeface="游ゴシック"/>
                          <a:ea typeface="游ゴシック"/>
                        </a:rPr>
                        <a:t>　　現預金</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210,887</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　　買掛金</a:t>
                      </a:r>
                      <a:endParaRPr lang="ja-JP" altLang="en-US" sz="105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26,349</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売掛金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20,836</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　　未払金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6,630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在庫</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14,597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　　預り金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281</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未収入金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3,011</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　　未払法人税等</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1,851</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仮払金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493</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　　未払消費税</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2,168</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その他</a:t>
                      </a:r>
                      <a:endParaRPr lang="ja-JP" altLang="en-US" sz="105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-119</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　　その他</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0</a:t>
                      </a:r>
                      <a:endParaRPr lang="ja-JP" altLang="en-US" sz="105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固定資産</a:t>
                      </a:r>
                      <a:endParaRPr lang="ja-JP" altLang="en-US" sz="1050" b="0" i="0" dirty="0">
                        <a:solidFill>
                          <a:srgbClr val="000000"/>
                        </a:solidFill>
                        <a:latin typeface="游ゴシック"/>
                        <a:ea typeface="游ゴシック"/>
                      </a:endParaRPr>
                    </a:p>
                  </a:txBody>
                  <a:tcPr marL="36576" marR="36576" marT="0" marB="0" anchor="ctr">
                    <a:lnL w="6350">
                      <a:solidFill>
                        <a:srgbClr val="FFFFFF"/>
                      </a:solid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　235,485</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　固定負債</a:t>
                      </a:r>
                      <a:endParaRPr lang="ja-JP" altLang="en-US" sz="1050" b="0" i="0" dirty="0">
                        <a:solidFill>
                          <a:srgbClr val="000000"/>
                        </a:solidFill>
                        <a:latin typeface="游ゴシック"/>
                        <a:ea typeface="游ゴシック"/>
                      </a:endParaRPr>
                    </a:p>
                  </a:txBody>
                  <a:tcPr marL="36576" marR="36576" marT="0" marB="0" anchor="ctr">
                    <a:lnL w="6350">
                      <a:solidFill>
                        <a:srgbClr val="FFFFFF"/>
                      </a:solid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1050" b="0" i="0" dirty="0">
                          <a:solidFill>
                            <a:srgbClr val="000000"/>
                          </a:solidFill>
                          <a:latin typeface="Arial"/>
                          <a:ea typeface="游ゴシック Medium"/>
                        </a:rPr>
                        <a:t>370,038</a:t>
                      </a:r>
                      <a:endParaRPr lang="ja-JP" altLang="en-US" sz="1050" b="0" i="0" dirty="0">
                        <a:solidFill>
                          <a:srgbClr val="000000"/>
                        </a:solidFill>
                        <a:latin typeface="Arial"/>
                        <a:ea typeface="游ゴシック Medium"/>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r>
              <a:tr h="234061">
                <a:tc>
                  <a:txBody>
                    <a:bodyPr/>
                    <a:lstStyle/>
                    <a:p>
                      <a:pPr algn="l" fontAlgn="ctr"/>
                      <a:r>
                        <a:rPr lang="ja-JP" altLang="en-US" sz="1050" b="0" i="0" dirty="0">
                          <a:solidFill>
                            <a:srgbClr val="000000"/>
                          </a:solidFill>
                          <a:latin typeface="游ゴシック"/>
                          <a:ea typeface="游ゴシック"/>
                        </a:rPr>
                        <a:t>　　建物</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92,066</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　　長期借入金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361,058</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建物付属設備</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11,400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　　預り保証金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8,980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構築物</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284</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土地</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93,137</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　負債合計</a:t>
                      </a:r>
                      <a:endParaRPr lang="ja-JP" altLang="en-US" sz="1050" b="1" i="0" dirty="0">
                        <a:solidFill>
                          <a:srgbClr val="000000"/>
                        </a:solidFill>
                        <a:latin typeface="游ゴシック"/>
                        <a:ea typeface="游ゴシック"/>
                      </a:endParaRPr>
                    </a:p>
                  </a:txBody>
                  <a:tcPr marL="36576" marR="36576" marT="0" marB="0" anchor="ctr">
                    <a:lnL w="6350">
                      <a:noFill/>
                    </a:lnL>
                    <a:lnR w="6350">
                      <a:noFill/>
                    </a:lnR>
                    <a:lnT w="6350">
                      <a:solidFill>
                        <a:srgbClr val="000000"/>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407,318</a:t>
                      </a:r>
                      <a:endParaRPr lang="ja-JP" altLang="en-US" sz="1050" b="1" i="0" dirty="0">
                        <a:solidFill>
                          <a:srgbClr val="000000"/>
                        </a:solidFill>
                        <a:latin typeface="Arial"/>
                        <a:ea typeface="游ゴシック Medium"/>
                      </a:endParaRPr>
                    </a:p>
                  </a:txBody>
                  <a:tcPr marL="36576" marR="36576" marT="0" marB="0" anchor="ctr">
                    <a:lnL w="6350">
                      <a:noFill/>
                    </a:lnL>
                    <a:lnR w="6350">
                      <a:noFill/>
                    </a:lnR>
                    <a:lnT w="6350">
                      <a:solidFill>
                        <a:srgbClr val="000000"/>
                      </a:solidFill>
                    </a:lnT>
                    <a:lnB w="6350">
                      <a:solidFill>
                        <a:srgbClr val="0B3041"/>
                      </a:solidFill>
                    </a:lnB>
                    <a:solidFill>
                      <a:srgbClr val="E3E7E9"/>
                    </a:solidFill>
                  </a:tcPr>
                </a:tc>
              </a:tr>
              <a:tr h="234061">
                <a:tc>
                  <a:txBody>
                    <a:bodyPr/>
                    <a:lstStyle/>
                    <a:p>
                      <a:pPr algn="l" fontAlgn="ctr"/>
                      <a:r>
                        <a:rPr lang="ja-JP" altLang="en-US" sz="1050" b="0" i="0" dirty="0">
                          <a:solidFill>
                            <a:srgbClr val="000000"/>
                          </a:solidFill>
                          <a:latin typeface="游ゴシック"/>
                          <a:ea typeface="游ゴシック"/>
                        </a:rPr>
                        <a:t>　　電話加入権</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2,156</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ソフトウェア</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372</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6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6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投資有価証券</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2,600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　　資本金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40,000</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保証金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33,303</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0" i="0" dirty="0">
                          <a:solidFill>
                            <a:srgbClr val="000000"/>
                          </a:solidFill>
                          <a:latin typeface="游ゴシック"/>
                          <a:ea typeface="游ゴシック"/>
                        </a:rPr>
                        <a:t>　　利益剰余金</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37,873</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234061">
                <a:tc>
                  <a:txBody>
                    <a:bodyPr/>
                    <a:lstStyle/>
                    <a:p>
                      <a:pPr algn="l" fontAlgn="ctr"/>
                      <a:r>
                        <a:rPr lang="ja-JP" altLang="en-US" sz="1050" b="0" i="0" dirty="0">
                          <a:solidFill>
                            <a:srgbClr val="000000"/>
                          </a:solidFill>
                          <a:latin typeface="游ゴシック"/>
                          <a:ea typeface="游ゴシック"/>
                        </a:rPr>
                        <a:t>　　その他</a:t>
                      </a: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1050" b="0" i="0" dirty="0">
                          <a:solidFill>
                            <a:srgbClr val="000000"/>
                          </a:solidFill>
                          <a:latin typeface="Arial"/>
                          <a:ea typeface="游ゴシック Medium"/>
                        </a:rPr>
                        <a:t>　168</a:t>
                      </a:r>
                      <a:endParaRPr lang="ja-JP" altLang="en-US" sz="105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　純資産合計</a:t>
                      </a:r>
                      <a:endParaRPr lang="ja-JP" altLang="en-US" sz="1050"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77,873</a:t>
                      </a:r>
                      <a:endParaRPr lang="ja-JP" altLang="en-US" sz="1050" b="1" i="0" dirty="0">
                        <a:solidFill>
                          <a:srgbClr val="000000"/>
                        </a:solidFill>
                        <a:latin typeface="Arial"/>
                        <a:ea typeface="游ゴシック Medium"/>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r>
              <a:tr h="234061">
                <a:tc>
                  <a:txBody>
                    <a:bodyPr/>
                    <a:lstStyle/>
                    <a:p>
                      <a:pPr algn="l" fontAlgn="ctr"/>
                      <a:r>
                        <a:rPr lang="ja-JP" altLang="en-US" sz="1050" b="1" i="0" dirty="0">
                          <a:solidFill>
                            <a:srgbClr val="000000"/>
                          </a:solidFill>
                          <a:latin typeface="游ゴシック"/>
                          <a:ea typeface="游ゴシック"/>
                        </a:rPr>
                        <a:t>　資産合計</a:t>
                      </a:r>
                      <a:endParaRPr lang="ja-JP" altLang="en-US" sz="1050"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　485,190</a:t>
                      </a:r>
                      <a:endParaRPr lang="ja-JP" altLang="en-US" sz="1050" b="1" i="0" dirty="0">
                        <a:solidFill>
                          <a:srgbClr val="000000"/>
                        </a:solidFill>
                        <a:latin typeface="Arial"/>
                        <a:ea typeface="游ゴシック Medium"/>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c>
                  <a:txBody>
                    <a:bodyPr/>
                    <a:lstStyle/>
                    <a:p>
                      <a:pPr algn="r" fontAlgn="ctr"/>
                      <a:endParaRPr lang="ja-JP" altLang="en-US" sz="105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r>
                        <a:rPr lang="ja-JP" altLang="en-US" sz="1050" b="1" i="0" dirty="0">
                          <a:solidFill>
                            <a:srgbClr val="000000"/>
                          </a:solidFill>
                          <a:latin typeface="游ゴシック"/>
                          <a:ea typeface="游ゴシック"/>
                        </a:rPr>
                        <a:t>　負債・純資産合計</a:t>
                      </a:r>
                      <a:endParaRPr lang="ja-JP" altLang="en-US" sz="1050"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1050" b="1" i="0" dirty="0">
                          <a:solidFill>
                            <a:srgbClr val="000000"/>
                          </a:solidFill>
                          <a:latin typeface="Arial"/>
                          <a:ea typeface="游ゴシック Medium"/>
                        </a:rPr>
                        <a:t>485,190</a:t>
                      </a:r>
                      <a:endParaRPr lang="ja-JP" altLang="en-US" sz="1050" b="1" i="0" dirty="0">
                        <a:solidFill>
                          <a:srgbClr val="000000"/>
                        </a:solidFill>
                        <a:latin typeface="Arial"/>
                        <a:ea typeface="游ゴシック Medium"/>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r>
            </a:tbl>
          </a:graphicData>
        </a:graphic>
      </p:graphicFrame>
      <p:sp>
        <p:nvSpPr>
          <p:cNvPr id="15" name="TextBox 14"/>
          <p:cNvSpPr txBox="1"/>
          <p:nvPr/>
        </p:nvSpPr>
        <p:spPr>
          <a:xfrm>
            <a:off x="338328" y="6080760"/>
            <a:ext cx="5001768" cy="164592"/>
          </a:xfrm>
          <a:prstGeom prst="rect">
            <a:avLst/>
          </a:prstGeom>
          <a:noFill/>
        </p:spPr>
        <p:txBody>
          <a:bodyPr wrap="square" lIns="0" rIns="0" tIns="0" bIns="0">
            <a:spAutoFit/>
          </a:bodyPr>
          <a:lstStyle/>
          <a:p>
            <a:r>
              <a:rPr sz="750">
                <a:solidFill>
                  <a:srgbClr val="000000"/>
                </a:solidFill>
                <a:latin typeface="游ゴシック"/>
                <a:ea typeface="游ゴシック"/>
              </a:rPr>
              <a:t>※2026年3月期末（評価基準日）。3期推移・2026年9月末は「財務情報詳細｜貸借対照表」に記載。</a:t>
            </a:r>
          </a:p>
        </p:txBody>
      </p:sp>
    </p:spTree>
    <p:extLst>
      <p:ext uri="{BB962C8B-B14F-4D97-AF65-F5344CB8AC3E}">
        <p14:creationId xmlns:p14="http://schemas.microsoft.com/office/powerpoint/2010/main" val="4030334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7" name="タイトル 6">
            <a:extLst>
              <a:ext uri="{FF2B5EF4-FFF2-40B4-BE49-F238E27FC236}">
                <a16:creationId xmlns:a16="http://schemas.microsoft.com/office/drawing/2014/main" id="{5297D612-8E56-9402-459F-FE068C2C5D1A}"/>
              </a:ext>
            </a:extLst>
          </p:cNvPr>
          <p:cNvSpPr>
            <a:spLocks noGrp="1"/>
          </p:cNvSpPr>
          <p:nvPr>
            <p:ph type="ctrTitle"/>
          </p:nvPr>
        </p:nvSpPr>
        <p:spPr>
          <a:xfrm>
            <a:off x="341313" y="180296"/>
            <a:ext cx="7799917" cy="339267"/>
          </a:xfrm>
        </p:spPr>
        <p:txBody>
          <a:bodyPr/>
          <a:lstStyle/>
          <a:p>
            <a:r>
              <a:rPr lang="zh-CN" altLang="en-US" dirty="0"/>
              <a:t>譲渡希望条件</a:t>
            </a:r>
          </a:p>
        </p:txBody>
      </p:sp>
      <p:sp>
        <p:nvSpPr>
          <p:cNvPr id="9" name="タイトル 1">
            <a:extLst>
              <a:ext uri="{FF2B5EF4-FFF2-40B4-BE49-F238E27FC236}">
                <a16:creationId xmlns:a16="http://schemas.microsoft.com/office/drawing/2014/main" id="{203C135E-3923-6D8E-447A-FF4DC0536B9B}"/>
              </a:ext>
            </a:extLst>
          </p:cNvPr>
          <p:cNvSpPr txBox="1">
            <a:spLocks/>
          </p:cNvSpPr>
          <p:nvPr/>
        </p:nvSpPr>
        <p:spPr>
          <a:xfrm>
            <a:off x="8366333" y="252154"/>
            <a:ext cx="1984167" cy="184666"/>
          </a:xfrm>
          <a:prstGeom prst="rect">
            <a:avLst/>
          </a:prstGeom>
        </p:spPr>
        <p:txBody>
          <a:bodyPr vert="horz" lIns="0" tIns="0" rIns="0" bIns="0" rtlCol="0" anchor="ctr">
            <a:spAutoFit/>
          </a:bodyPr>
          <a:lstStyle>
            <a:defPPr marR="0" lvl="0" algn="l" rtl="0">
              <a:lnSpc>
                <a:spcPct val="100000"/>
              </a:lnSpc>
              <a:spcBef>
                <a:spcPts val="0"/>
              </a:spcBef>
              <a:spcAft>
                <a:spcPts val="0"/>
              </a:spcAft>
              <a:defRPr/>
            </a:defPPr>
            <a:lvl1pPr algn="r" defTabSz="914400" eaLnBrk="1" latinLnBrk="0" hangingPunct="1">
              <a:spcBef>
                <a:spcPct val="0"/>
              </a:spcBef>
              <a:buClr>
                <a:schemeClr val="bg1"/>
              </a:buClr>
              <a:buNone/>
              <a:defRPr kumimoji="1" sz="1200" b="1" kern="1200" spc="55">
                <a:solidFill>
                  <a:schemeClr val="bg1"/>
                </a:solidFill>
                <a:latin typeface="+mj-lt"/>
                <a:ea typeface="+mj-ea"/>
                <a:cs typeface="+mj-cs"/>
              </a:defRPr>
            </a:lvl1pPr>
          </a:lstStyle>
          <a:p>
            <a:r>
              <a:rPr lang="ja-JP" altLang="en-US" spc="0" dirty="0"/>
              <a:t>　エグゼクティブサマリー</a:t>
            </a:r>
          </a:p>
        </p:txBody>
      </p:sp>
      <p:sp>
        <p:nvSpPr>
          <p:cNvPr id="18" name="正方形/長方形 17">
            <a:extLst>
              <a:ext uri="{FF2B5EF4-FFF2-40B4-BE49-F238E27FC236}">
                <a16:creationId xmlns:a16="http://schemas.microsoft.com/office/drawing/2014/main" id="{77AE94F8-D910-3328-173F-F4A99716CFE7}"/>
              </a:ext>
            </a:extLst>
          </p:cNvPr>
          <p:cNvSpPr/>
          <p:nvPr/>
        </p:nvSpPr>
        <p:spPr>
          <a:xfrm>
            <a:off x="449262" y="1225957"/>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2" name="直線コネクタ 21">
            <a:extLst>
              <a:ext uri="{FF2B5EF4-FFF2-40B4-BE49-F238E27FC236}">
                <a16:creationId xmlns:a16="http://schemas.microsoft.com/office/drawing/2014/main" id="{1928CBFA-2EBE-A608-C5BF-40E5AFFAF1AD}"/>
              </a:ext>
            </a:extLst>
          </p:cNvPr>
          <p:cNvCxnSpPr>
            <a:cxnSpLocks/>
          </p:cNvCxnSpPr>
          <p:nvPr/>
        </p:nvCxnSpPr>
        <p:spPr>
          <a:xfrm>
            <a:off x="3133558" y="1349963"/>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FFFB131C-8535-2A88-A3C8-FF60589D2A11}"/>
              </a:ext>
            </a:extLst>
          </p:cNvPr>
          <p:cNvSpPr txBox="1"/>
          <p:nvPr/>
        </p:nvSpPr>
        <p:spPr>
          <a:xfrm>
            <a:off x="3151380" y="1703936"/>
            <a:ext cx="7074659" cy="338554"/>
          </a:xfrm>
          <a:prstGeom prst="rect">
            <a:avLst/>
          </a:prstGeom>
          <a:noFill/>
        </p:spPr>
        <p:txBody>
          <a:bodyPr wrap="square" lIns="1440000" tIns="0" rIns="0" bIns="0" rtlCol="0" anchor="ctr">
            <a:spAutoFit/>
          </a:bodyPr>
          <a:lstStyle/>
          <a:p>
            <a:r>
              <a:rPr lang="ja-JP" altLang="en-US" sz="1800" b="1" spc="50" dirty="0">
                <a:solidFill>
                  <a:schemeClr val="dk1"/>
                </a:solidFill>
                <a:latin typeface="+mj-ea"/>
                <a:ea typeface="+mj-ea"/>
              </a:rPr>
              <a:t>株式100％譲渡（全株主の株式を譲渡可能）</a:t>
            </a:r>
          </a:p>
        </p:txBody>
      </p:sp>
      <p:sp>
        <p:nvSpPr>
          <p:cNvPr id="23" name="正方形/長方形 22">
            <a:extLst>
              <a:ext uri="{FF2B5EF4-FFF2-40B4-BE49-F238E27FC236}">
                <a16:creationId xmlns:a16="http://schemas.microsoft.com/office/drawing/2014/main" id="{A4BC3D1B-6519-3EC6-F8C8-D12E5886EBA8}"/>
              </a:ext>
            </a:extLst>
          </p:cNvPr>
          <p:cNvSpPr/>
          <p:nvPr/>
        </p:nvSpPr>
        <p:spPr>
          <a:xfrm>
            <a:off x="908477" y="1467627"/>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1</a:t>
            </a:r>
          </a:p>
        </p:txBody>
      </p:sp>
      <p:sp>
        <p:nvSpPr>
          <p:cNvPr id="46" name="正方形/長方形 45">
            <a:extLst>
              <a:ext uri="{FF2B5EF4-FFF2-40B4-BE49-F238E27FC236}">
                <a16:creationId xmlns:a16="http://schemas.microsoft.com/office/drawing/2014/main" id="{538DA60A-A0C2-2AC4-6AFA-6E9A0A840E2F}"/>
              </a:ext>
            </a:extLst>
          </p:cNvPr>
          <p:cNvSpPr/>
          <p:nvPr/>
        </p:nvSpPr>
        <p:spPr>
          <a:xfrm>
            <a:off x="908477" y="1905968"/>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スキーム</a:t>
            </a:r>
            <a:endParaRPr lang="en-US" altLang="ja-JP" sz="1800" b="1" spc="70" dirty="0">
              <a:solidFill>
                <a:schemeClr val="tx2"/>
              </a:solidFill>
              <a:latin typeface="+mj-ea"/>
              <a:ea typeface="+mj-ea"/>
            </a:endParaRPr>
          </a:p>
        </p:txBody>
      </p:sp>
      <p:sp>
        <p:nvSpPr>
          <p:cNvPr id="47" name="二等辺三角形 46">
            <a:extLst>
              <a:ext uri="{FF2B5EF4-FFF2-40B4-BE49-F238E27FC236}">
                <a16:creationId xmlns:a16="http://schemas.microsoft.com/office/drawing/2014/main" id="{E30A0C32-ED58-E579-307E-2A50184F7621}"/>
              </a:ext>
            </a:extLst>
          </p:cNvPr>
          <p:cNvSpPr/>
          <p:nvPr/>
        </p:nvSpPr>
        <p:spPr>
          <a:xfrm rot="5400000">
            <a:off x="3953282" y="1731194"/>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54" name="正方形/長方形 53">
            <a:extLst>
              <a:ext uri="{FF2B5EF4-FFF2-40B4-BE49-F238E27FC236}">
                <a16:creationId xmlns:a16="http://schemas.microsoft.com/office/drawing/2014/main" id="{CF75FB02-E0C4-B24A-D8DD-19550648E691}"/>
              </a:ext>
            </a:extLst>
          </p:cNvPr>
          <p:cNvSpPr/>
          <p:nvPr/>
        </p:nvSpPr>
        <p:spPr>
          <a:xfrm>
            <a:off x="449262" y="2678813"/>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55" name="直線コネクタ 54">
            <a:extLst>
              <a:ext uri="{FF2B5EF4-FFF2-40B4-BE49-F238E27FC236}">
                <a16:creationId xmlns:a16="http://schemas.microsoft.com/office/drawing/2014/main" id="{031A2A35-DDED-EC21-CA05-09DA68DA2C0D}"/>
              </a:ext>
            </a:extLst>
          </p:cNvPr>
          <p:cNvCxnSpPr>
            <a:cxnSpLocks/>
          </p:cNvCxnSpPr>
          <p:nvPr/>
        </p:nvCxnSpPr>
        <p:spPr>
          <a:xfrm>
            <a:off x="3133558" y="2802819"/>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56" name="テキスト ボックス 55">
            <a:extLst>
              <a:ext uri="{FF2B5EF4-FFF2-40B4-BE49-F238E27FC236}">
                <a16:creationId xmlns:a16="http://schemas.microsoft.com/office/drawing/2014/main" id="{4F61C06A-72C7-F15D-8706-7F1E6F179BF5}"/>
              </a:ext>
            </a:extLst>
          </p:cNvPr>
          <p:cNvSpPr txBox="1"/>
          <p:nvPr/>
        </p:nvSpPr>
        <p:spPr>
          <a:xfrm>
            <a:off x="3151380" y="3156792"/>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algn="l"/>
            <a:r>
              <a:rPr lang="en-US" altLang="ja-JP" spc="50" dirty="0" sz="1800"/>
              <a:t>110,000千円以上</a:t>
            </a:r>
          </a:p>
        </p:txBody>
      </p:sp>
      <p:sp>
        <p:nvSpPr>
          <p:cNvPr id="59" name="正方形/長方形 58">
            <a:extLst>
              <a:ext uri="{FF2B5EF4-FFF2-40B4-BE49-F238E27FC236}">
                <a16:creationId xmlns:a16="http://schemas.microsoft.com/office/drawing/2014/main" id="{CFFDBAD3-865C-CB13-2F89-BB6495428292}"/>
              </a:ext>
            </a:extLst>
          </p:cNvPr>
          <p:cNvSpPr/>
          <p:nvPr/>
        </p:nvSpPr>
        <p:spPr>
          <a:xfrm>
            <a:off x="908477" y="2920483"/>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2</a:t>
            </a:r>
          </a:p>
        </p:txBody>
      </p:sp>
      <p:sp>
        <p:nvSpPr>
          <p:cNvPr id="60" name="正方形/長方形 59">
            <a:extLst>
              <a:ext uri="{FF2B5EF4-FFF2-40B4-BE49-F238E27FC236}">
                <a16:creationId xmlns:a16="http://schemas.microsoft.com/office/drawing/2014/main" id="{C0C6D277-3738-13CF-070E-BA308BBE1973}"/>
              </a:ext>
            </a:extLst>
          </p:cNvPr>
          <p:cNvSpPr/>
          <p:nvPr/>
        </p:nvSpPr>
        <p:spPr>
          <a:xfrm>
            <a:off x="908477" y="3358824"/>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希望価格</a:t>
            </a:r>
          </a:p>
        </p:txBody>
      </p:sp>
      <p:sp>
        <p:nvSpPr>
          <p:cNvPr id="58" name="二等辺三角形 57">
            <a:extLst>
              <a:ext uri="{FF2B5EF4-FFF2-40B4-BE49-F238E27FC236}">
                <a16:creationId xmlns:a16="http://schemas.microsoft.com/office/drawing/2014/main" id="{C23C8717-6A45-2543-9780-94DF43068F77}"/>
              </a:ext>
            </a:extLst>
          </p:cNvPr>
          <p:cNvSpPr/>
          <p:nvPr/>
        </p:nvSpPr>
        <p:spPr>
          <a:xfrm rot="5400000">
            <a:off x="3953282" y="3184050"/>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62" name="正方形/長方形 61">
            <a:extLst>
              <a:ext uri="{FF2B5EF4-FFF2-40B4-BE49-F238E27FC236}">
                <a16:creationId xmlns:a16="http://schemas.microsoft.com/office/drawing/2014/main" id="{7140BAFD-DDE9-DDDD-13AE-F82ADD82CD40}"/>
              </a:ext>
            </a:extLst>
          </p:cNvPr>
          <p:cNvSpPr/>
          <p:nvPr/>
        </p:nvSpPr>
        <p:spPr>
          <a:xfrm>
            <a:off x="449262" y="4131669"/>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63" name="直線コネクタ 62">
            <a:extLst>
              <a:ext uri="{FF2B5EF4-FFF2-40B4-BE49-F238E27FC236}">
                <a16:creationId xmlns:a16="http://schemas.microsoft.com/office/drawing/2014/main" id="{364A6865-94EE-F5C9-85ED-D69680FD951A}"/>
              </a:ext>
            </a:extLst>
          </p:cNvPr>
          <p:cNvCxnSpPr>
            <a:cxnSpLocks/>
          </p:cNvCxnSpPr>
          <p:nvPr/>
        </p:nvCxnSpPr>
        <p:spPr>
          <a:xfrm>
            <a:off x="3133558" y="4255675"/>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56" name="テキスト ボックス 255">
            <a:extLst>
              <a:ext uri="{FF2B5EF4-FFF2-40B4-BE49-F238E27FC236}">
                <a16:creationId xmlns:a16="http://schemas.microsoft.com/office/drawing/2014/main" id="{B6D90125-A2A7-8289-0B44-6FD810A06C6F}"/>
              </a:ext>
            </a:extLst>
          </p:cNvPr>
          <p:cNvSpPr txBox="1"/>
          <p:nvPr/>
        </p:nvSpPr>
        <p:spPr>
          <a:xfrm>
            <a:off x="3154680" y="4206240"/>
            <a:ext cx="7077456" cy="1143000"/>
          </a:xfrm>
          <a:prstGeom prst="rect">
            <a:avLst/>
          </a:prstGeom>
          <a:noFill/>
        </p:spPr>
        <p:txBody>
          <a:bodyPr wrap="square" lIns="1368000" tIns="0" rIns="0" bIns="0" rtlCol="0" anchor="ctr">
            <a:spAutoFit/>
          </a:bodyPr>
          <a:lstStyle>
            <a:defPPr marR="0" lvl="0" algn="l" rtl="0">
              <a:lnSpc>
                <a:spcPct val="100000"/>
              </a:lnSpc>
              <a:spcBef>
                <a:spcPts val="0"/>
              </a:spcBef>
              <a:spcAft>
                <a:spcPts val="0"/>
              </a:spcAft>
            </a:defPPr>
            <a:lvl1pPr algn="ctr">
              <a:defRPr sz="2200" b="1">
                <a:solidFill>
                  <a:schemeClr val="dk1"/>
                </a:solidFill>
                <a:latin typeface="+mj-ea"/>
                <a:ea typeface="+mj-ea"/>
              </a:defRPr>
            </a:lvl1pPr>
          </a:lstStyle>
          <a:p>
            <a:pPr marL="324000" indent="-324000" algn="l">
              <a:spcAft>
                <a:spcPts val="200"/>
              </a:spcAft>
              <a:buClr>
                <a:schemeClr val="tx2"/>
              </a:buClr>
              <a:buFont typeface="游ゴシック" panose="020B0400000000000000" pitchFamily="50" charset="-128"/>
              <a:buChar char="▪"/>
            </a:pPr>
            <a:r>
              <a:rPr lang="ja-JP" altLang="en-US" spc="50" dirty="0" sz="1200"/>
              <a:t>従業員の雇用維持（最も重視）</a:t>
            </a:r>
            <a:endParaRPr lang="en-US" altLang="ja-JP" spc="50" dirty="0"/>
          </a:p>
          <a:p>
            <a:pPr marL="324000" indent="-324000" algn="l">
              <a:spcAft>
                <a:spcPts val="200"/>
              </a:spcAft>
              <a:buClr>
                <a:schemeClr val="tx2"/>
              </a:buClr>
              <a:buFont typeface="游ゴシック" panose="020B0400000000000000" pitchFamily="50" charset="-128"/>
              <a:buChar char="▪"/>
            </a:pPr>
            <a:r>
              <a:rPr lang="ja-JP" altLang="en-US" spc="50" dirty="0" sz="1200"/>
              <a:t>引継ぎ期間は最大1年（状況により半年程度）</a:t>
            </a:r>
            <a:endParaRPr lang="en-US" altLang="ja-JP" spc="50" dirty="0"/>
          </a:p>
          <a:p>
            <a:pPr marL="324000" indent="-324000" algn="l">
              <a:spcAft>
                <a:spcPts val="200"/>
              </a:spcAft>
              <a:buClr>
                <a:schemeClr val="tx2"/>
              </a:buClr>
              <a:buFont typeface="游ゴシック" panose="020B0400000000000000" pitchFamily="50" charset="-128"/>
              <a:buChar char="▪"/>
            </a:pPr>
            <a:r>
              <a:rPr lang="ja-JP" altLang="en-US" spc="50" dirty="0" sz="1200"/>
              <a:t>代表者は退任後、顧問として関与（業務量・報酬とも現在の半分程度、月額18万円）</a:t>
            </a:r>
            <a:endParaRPr lang="en-US" altLang="ja-JP" spc="50" dirty="0"/>
          </a:p>
          <a:p>
            <a:pPr marL="324000" indent="-324000" algn="l">
              <a:spcAft>
                <a:spcPts val="200"/>
              </a:spcAft>
              <a:buClr>
                <a:schemeClr val="tx2"/>
              </a:buClr>
              <a:buFont typeface="游ゴシック" panose="020B0400000000000000" pitchFamily="50" charset="-128"/>
              <a:buChar char="▪"/>
            </a:pPr>
            <a:r>
              <a:rPr lang="ja-JP" altLang="en-US" spc="50" dirty="0" sz="1200"/>
              <a:t>取締役（代表者の弟）は残留予定。その他の役員は譲渡時に退任予定</a:t>
            </a:r>
            <a:endParaRPr lang="en-US" altLang="ja-JP" spc="50" dirty="0"/>
          </a:p>
        </p:txBody>
      </p:sp>
      <p:sp>
        <p:nvSpPr>
          <p:cNvPr id="259" name="正方形/長方形 258">
            <a:extLst>
              <a:ext uri="{FF2B5EF4-FFF2-40B4-BE49-F238E27FC236}">
                <a16:creationId xmlns:a16="http://schemas.microsoft.com/office/drawing/2014/main" id="{11BED845-77D7-96E2-7088-05671252A4BC}"/>
              </a:ext>
            </a:extLst>
          </p:cNvPr>
          <p:cNvSpPr/>
          <p:nvPr/>
        </p:nvSpPr>
        <p:spPr>
          <a:xfrm>
            <a:off x="908477" y="4373339"/>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条件</a:t>
            </a:r>
            <a:r>
              <a:rPr lang="en-US" altLang="ja-JP" b="1" spc="70" dirty="0">
                <a:solidFill>
                  <a:schemeClr val="bg1"/>
                </a:solidFill>
                <a:latin typeface="+mj-ea"/>
                <a:ea typeface="+mj-ea"/>
              </a:rPr>
              <a:t>3</a:t>
            </a:r>
          </a:p>
        </p:txBody>
      </p:sp>
      <p:sp>
        <p:nvSpPr>
          <p:cNvPr id="260" name="正方形/長方形 259">
            <a:extLst>
              <a:ext uri="{FF2B5EF4-FFF2-40B4-BE49-F238E27FC236}">
                <a16:creationId xmlns:a16="http://schemas.microsoft.com/office/drawing/2014/main" id="{6B9DA270-CEE2-C021-D23B-6674C7B58B8F}"/>
              </a:ext>
            </a:extLst>
          </p:cNvPr>
          <p:cNvSpPr/>
          <p:nvPr/>
        </p:nvSpPr>
        <p:spPr>
          <a:xfrm>
            <a:off x="908477" y="4811680"/>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付帯条件</a:t>
            </a:r>
          </a:p>
        </p:txBody>
      </p:sp>
      <p:sp>
        <p:nvSpPr>
          <p:cNvPr id="258" name="二等辺三角形 257">
            <a:extLst>
              <a:ext uri="{FF2B5EF4-FFF2-40B4-BE49-F238E27FC236}">
                <a16:creationId xmlns:a16="http://schemas.microsoft.com/office/drawing/2014/main" id="{ED431A8E-E118-9737-A89C-BA75554554F2}"/>
              </a:ext>
            </a:extLst>
          </p:cNvPr>
          <p:cNvSpPr/>
          <p:nvPr/>
        </p:nvSpPr>
        <p:spPr>
          <a:xfrm rot="5400000">
            <a:off x="3953282" y="463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262" name="正方形/長方形 261">
            <a:extLst>
              <a:ext uri="{FF2B5EF4-FFF2-40B4-BE49-F238E27FC236}">
                <a16:creationId xmlns:a16="http://schemas.microsoft.com/office/drawing/2014/main" id="{0DA87416-6EB3-2B9D-5D99-EBF7AD989A1A}"/>
              </a:ext>
            </a:extLst>
          </p:cNvPr>
          <p:cNvSpPr/>
          <p:nvPr/>
        </p:nvSpPr>
        <p:spPr>
          <a:xfrm>
            <a:off x="449262" y="5584525"/>
            <a:ext cx="9793287" cy="1256013"/>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cxnSp>
        <p:nvCxnSpPr>
          <p:cNvPr id="263" name="直線コネクタ 262">
            <a:extLst>
              <a:ext uri="{FF2B5EF4-FFF2-40B4-BE49-F238E27FC236}">
                <a16:creationId xmlns:a16="http://schemas.microsoft.com/office/drawing/2014/main" id="{348C7A7D-E8C0-8FBA-0152-B09944A67B14}"/>
              </a:ext>
            </a:extLst>
          </p:cNvPr>
          <p:cNvCxnSpPr>
            <a:cxnSpLocks/>
          </p:cNvCxnSpPr>
          <p:nvPr/>
        </p:nvCxnSpPr>
        <p:spPr>
          <a:xfrm>
            <a:off x="3133558" y="5708531"/>
            <a:ext cx="0" cy="1008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64" name="テキスト ボックス 263">
            <a:extLst>
              <a:ext uri="{FF2B5EF4-FFF2-40B4-BE49-F238E27FC236}">
                <a16:creationId xmlns:a16="http://schemas.microsoft.com/office/drawing/2014/main" id="{37AEE9E9-0B13-7FD4-A3CA-A47C7839F11C}"/>
              </a:ext>
            </a:extLst>
          </p:cNvPr>
          <p:cNvSpPr txBox="1"/>
          <p:nvPr/>
        </p:nvSpPr>
        <p:spPr>
          <a:xfrm>
            <a:off x="3151380" y="6062504"/>
            <a:ext cx="7074659" cy="338554"/>
          </a:xfrm>
          <a:prstGeom prst="rect">
            <a:avLst/>
          </a:prstGeom>
          <a:noFill/>
        </p:spPr>
        <p:txBody>
          <a:bodyPr wrap="square" lIns="1440000" tIns="0" rIns="0" bIns="0" rtlCol="0" anchor="ctr">
            <a:spAutoFit/>
          </a:bodyPr>
          <a:lstStyle>
            <a:defPPr marR="0" lvl="0" algn="l" rtl="0">
              <a:lnSpc>
                <a:spcPct val="100000"/>
              </a:lnSpc>
              <a:spcBef>
                <a:spcPts val="0"/>
              </a:spcBef>
              <a:spcAft>
                <a:spcPts val="0"/>
              </a:spcAft>
            </a:defPPr>
            <a:lvl1pPr>
              <a:defRPr sz="2200" b="1">
                <a:solidFill>
                  <a:schemeClr val="dk1"/>
                </a:solidFill>
                <a:latin typeface="+mj-ea"/>
                <a:ea typeface="+mj-ea"/>
              </a:defRPr>
            </a:lvl1pPr>
          </a:lstStyle>
          <a:p>
            <a:r>
              <a:rPr lang="ja-JP" altLang="en-US" spc="50" dirty="0" sz="1800"/>
              <a:t>後継者不在およびさらなる企業の発展</a:t>
            </a:r>
          </a:p>
        </p:txBody>
      </p:sp>
      <p:sp>
        <p:nvSpPr>
          <p:cNvPr id="267" name="正方形/長方形 266">
            <a:extLst>
              <a:ext uri="{FF2B5EF4-FFF2-40B4-BE49-F238E27FC236}">
                <a16:creationId xmlns:a16="http://schemas.microsoft.com/office/drawing/2014/main" id="{5C906CE1-F422-F0CF-35F9-FA21CDF60987}"/>
              </a:ext>
            </a:extLst>
          </p:cNvPr>
          <p:cNvSpPr/>
          <p:nvPr/>
        </p:nvSpPr>
        <p:spPr>
          <a:xfrm>
            <a:off x="908477" y="5826195"/>
            <a:ext cx="1780804"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b="1" spc="70" dirty="0">
                <a:solidFill>
                  <a:schemeClr val="bg1"/>
                </a:solidFill>
                <a:latin typeface="+mj-ea"/>
                <a:ea typeface="+mj-ea"/>
              </a:rPr>
              <a:t>その他</a:t>
            </a:r>
            <a:endParaRPr lang="en-US" altLang="ja-JP" b="1" spc="70" dirty="0">
              <a:solidFill>
                <a:schemeClr val="bg1"/>
              </a:solidFill>
              <a:latin typeface="+mj-ea"/>
              <a:ea typeface="+mj-ea"/>
            </a:endParaRPr>
          </a:p>
        </p:txBody>
      </p:sp>
      <p:sp>
        <p:nvSpPr>
          <p:cNvPr id="268" name="正方形/長方形 267">
            <a:extLst>
              <a:ext uri="{FF2B5EF4-FFF2-40B4-BE49-F238E27FC236}">
                <a16:creationId xmlns:a16="http://schemas.microsoft.com/office/drawing/2014/main" id="{46529E79-2433-FBD9-6238-E748A585579E}"/>
              </a:ext>
            </a:extLst>
          </p:cNvPr>
          <p:cNvSpPr/>
          <p:nvPr/>
        </p:nvSpPr>
        <p:spPr>
          <a:xfrm>
            <a:off x="908477" y="6264536"/>
            <a:ext cx="1780804" cy="3600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lnSpc>
                <a:spcPct val="120000"/>
              </a:lnSpc>
              <a:buClr>
                <a:schemeClr val="tx2"/>
              </a:buClr>
              <a:buSzPct val="80000"/>
            </a:pPr>
            <a:r>
              <a:rPr lang="ja-JP" altLang="en-US" sz="1800" b="1" spc="70" dirty="0">
                <a:solidFill>
                  <a:schemeClr val="tx2"/>
                </a:solidFill>
                <a:latin typeface="+mj-ea"/>
                <a:ea typeface="+mj-ea"/>
              </a:rPr>
              <a:t>譲渡理由</a:t>
            </a:r>
          </a:p>
        </p:txBody>
      </p:sp>
      <p:sp>
        <p:nvSpPr>
          <p:cNvPr id="266" name="二等辺三角形 265">
            <a:extLst>
              <a:ext uri="{FF2B5EF4-FFF2-40B4-BE49-F238E27FC236}">
                <a16:creationId xmlns:a16="http://schemas.microsoft.com/office/drawing/2014/main" id="{94757AC3-62D5-3E6F-15D0-8CC989986978}"/>
              </a:ext>
            </a:extLst>
          </p:cNvPr>
          <p:cNvSpPr/>
          <p:nvPr/>
        </p:nvSpPr>
        <p:spPr>
          <a:xfrm rot="5400000">
            <a:off x="3953282" y="6089762"/>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事業概要</a:t>
            </a:r>
            <a:endParaRPr lang="en-US" altLang="ja-JP" dirty="0"/>
          </a:p>
        </p:txBody>
      </p:sp>
    </p:spTree>
    <p:extLst>
      <p:ext uri="{BB962C8B-B14F-4D97-AF65-F5344CB8AC3E}">
        <p14:creationId xmlns:p14="http://schemas.microsoft.com/office/powerpoint/2010/main" val="40851993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DAF01-C12B-9043-B114-455CAA33D0F7}"/>
            </a:ext>
          </a:extLst>
        </p:cNvPr>
        <p:cNvGrpSpPr/>
        <p:nvPr/>
      </p:nvGrpSpPr>
      <p:grpSpPr>
        <a:xfrm>
          <a:off x="0" y="0"/>
          <a:ext cx="0" cy="0"/>
          <a:chOff x="0" y="0"/>
          <a:chExt cx="0" cy="0"/>
        </a:xfrm>
      </p:grpSpPr>
      <p:sp>
        <p:nvSpPr>
          <p:cNvPr id="5" name="正方形/長方形 4">
            <a:extLst>
              <a:ext uri="{FF2B5EF4-FFF2-40B4-BE49-F238E27FC236}">
                <a16:creationId xmlns:a16="http://schemas.microsoft.com/office/drawing/2014/main" id="{E743677C-E154-B684-80CF-3F2817127171}"/>
              </a:ext>
            </a:extLst>
          </p:cNvPr>
          <p:cNvSpPr/>
          <p:nvPr/>
        </p:nvSpPr>
        <p:spPr>
          <a:xfrm>
            <a:off x="449262" y="1481694"/>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1"/>
                </a:solidFill>
                <a:latin typeface="+mj-ea"/>
                <a:ea typeface="+mj-ea"/>
              </a:rPr>
              <a:t>主要仕入先</a:t>
            </a:r>
          </a:p>
        </p:txBody>
      </p:sp>
      <p:sp>
        <p:nvSpPr>
          <p:cNvPr id="17" name="正方形/長方形 16">
            <a:extLst>
              <a:ext uri="{FF2B5EF4-FFF2-40B4-BE49-F238E27FC236}">
                <a16:creationId xmlns:a16="http://schemas.microsoft.com/office/drawing/2014/main" id="{6FD21BE9-2FB9-6DA0-CBB4-78D9B31143EA}"/>
              </a:ext>
            </a:extLst>
          </p:cNvPr>
          <p:cNvSpPr/>
          <p:nvPr/>
        </p:nvSpPr>
        <p:spPr>
          <a:xfrm>
            <a:off x="8082550" y="1463675"/>
            <a:ext cx="2160000" cy="5472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a:solidFill>
                  <a:schemeClr val="tx1"/>
                </a:solidFill>
                <a:latin typeface="+mj-ea"/>
                <a:ea typeface="+mj-ea"/>
              </a:rPr>
              <a:t>主要販売先</a:t>
            </a:r>
          </a:p>
        </p:txBody>
      </p:sp>
      <p:sp>
        <p:nvSpPr>
          <p:cNvPr id="21" name="正方形/長方形 20">
            <a:extLst>
              <a:ext uri="{FF2B5EF4-FFF2-40B4-BE49-F238E27FC236}">
                <a16:creationId xmlns:a16="http://schemas.microsoft.com/office/drawing/2014/main" id="{95D20CE9-562D-5FB0-80DD-F3BD3CE1D49C}"/>
              </a:ext>
            </a:extLst>
          </p:cNvPr>
          <p:cNvSpPr/>
          <p:nvPr/>
        </p:nvSpPr>
        <p:spPr>
          <a:xfrm>
            <a:off x="2933906" y="1487165"/>
            <a:ext cx="4824000" cy="4016481"/>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t"/>
          <a:lstStyle/>
          <a:p>
            <a:pPr algn="ctr"/>
            <a:r>
              <a:rPr kumimoji="1" lang="ja-JP" altLang="en-US" sz="1800" b="1" spc="100" dirty="0">
                <a:solidFill>
                  <a:schemeClr val="tx2"/>
                </a:solidFill>
                <a:latin typeface="+mj-ea"/>
                <a:ea typeface="+mj-ea"/>
              </a:rPr>
              <a:t>対象会社</a:t>
            </a:r>
          </a:p>
        </p:txBody>
      </p:sp>
      <p:cxnSp>
        <p:nvCxnSpPr>
          <p:cNvPr id="24" name="直線コネクタ 23">
            <a:extLst>
              <a:ext uri="{FF2B5EF4-FFF2-40B4-BE49-F238E27FC236}">
                <a16:creationId xmlns:a16="http://schemas.microsoft.com/office/drawing/2014/main" id="{F5D312B4-FD5F-5D39-501F-FA5FF893E938}"/>
              </a:ext>
            </a:extLst>
          </p:cNvPr>
          <p:cNvCxnSpPr>
            <a:cxnSpLocks/>
          </p:cNvCxnSpPr>
          <p:nvPr/>
        </p:nvCxnSpPr>
        <p:spPr>
          <a:xfrm>
            <a:off x="2933907" y="1467042"/>
            <a:ext cx="4824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4" name="タイトル 3">
            <a:extLst>
              <a:ext uri="{FF2B5EF4-FFF2-40B4-BE49-F238E27FC236}">
                <a16:creationId xmlns:a16="http://schemas.microsoft.com/office/drawing/2014/main" id="{E91DD8E0-55E1-1614-7417-2E76D253FEAD}"/>
              </a:ext>
            </a:extLst>
          </p:cNvPr>
          <p:cNvSpPr>
            <a:spLocks noGrp="1"/>
          </p:cNvSpPr>
          <p:nvPr>
            <p:ph type="ctrTitle"/>
          </p:nvPr>
        </p:nvSpPr>
        <p:spPr/>
        <p:txBody>
          <a:bodyPr/>
          <a:lstStyle/>
          <a:p>
            <a:r>
              <a:rPr lang="ja-JP" altLang="en-US" dirty="0"/>
              <a:t>事業内容</a:t>
            </a:r>
          </a:p>
        </p:txBody>
      </p:sp>
      <p:sp>
        <p:nvSpPr>
          <p:cNvPr id="20" name="タイトル 1">
            <a:extLst>
              <a:ext uri="{FF2B5EF4-FFF2-40B4-BE49-F238E27FC236}">
                <a16:creationId xmlns:a16="http://schemas.microsoft.com/office/drawing/2014/main" id="{96C927CB-5A9B-C47E-368A-3579B2595C1E}"/>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事業概要</a:t>
            </a:r>
          </a:p>
        </p:txBody>
      </p:sp>
      <p:cxnSp>
        <p:nvCxnSpPr>
          <p:cNvPr id="16" name="直線コネクタ 15">
            <a:extLst>
              <a:ext uri="{FF2B5EF4-FFF2-40B4-BE49-F238E27FC236}">
                <a16:creationId xmlns:a16="http://schemas.microsoft.com/office/drawing/2014/main" id="{FD5050F0-3C11-BC61-1EAA-56B714331E84}"/>
              </a:ext>
            </a:extLst>
          </p:cNvPr>
          <p:cNvCxnSpPr>
            <a:cxnSpLocks/>
          </p:cNvCxnSpPr>
          <p:nvPr/>
        </p:nvCxnSpPr>
        <p:spPr>
          <a:xfrm>
            <a:off x="449263"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cxnSp>
        <p:nvCxnSpPr>
          <p:cNvPr id="19" name="直線コネクタ 18">
            <a:extLst>
              <a:ext uri="{FF2B5EF4-FFF2-40B4-BE49-F238E27FC236}">
                <a16:creationId xmlns:a16="http://schemas.microsoft.com/office/drawing/2014/main" id="{4E6E5648-22F1-DE1E-6020-D47989377CA9}"/>
              </a:ext>
            </a:extLst>
          </p:cNvPr>
          <p:cNvCxnSpPr>
            <a:cxnSpLocks/>
          </p:cNvCxnSpPr>
          <p:nvPr/>
        </p:nvCxnSpPr>
        <p:spPr>
          <a:xfrm>
            <a:off x="8082550" y="1467042"/>
            <a:ext cx="2160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 name="二等辺三角形 2">
            <a:extLst>
              <a:ext uri="{FF2B5EF4-FFF2-40B4-BE49-F238E27FC236}">
                <a16:creationId xmlns:a16="http://schemas.microsoft.com/office/drawing/2014/main" id="{B557BBBE-1218-1342-7E2D-CD72F7B39D2F}"/>
              </a:ext>
            </a:extLst>
          </p:cNvPr>
          <p:cNvSpPr/>
          <p:nvPr/>
        </p:nvSpPr>
        <p:spPr>
          <a:xfrm rot="5400000">
            <a:off x="7612581"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9" name="二等辺三角形 8">
            <a:extLst>
              <a:ext uri="{FF2B5EF4-FFF2-40B4-BE49-F238E27FC236}">
                <a16:creationId xmlns:a16="http://schemas.microsoft.com/office/drawing/2014/main" id="{91745C76-6270-D9EC-0862-A4072EDFED90}"/>
              </a:ext>
            </a:extLst>
          </p:cNvPr>
          <p:cNvSpPr/>
          <p:nvPr/>
        </p:nvSpPr>
        <p:spPr>
          <a:xfrm rot="5400000">
            <a:off x="2470990" y="4076906"/>
            <a:ext cx="613305" cy="245539"/>
          </a:xfrm>
          <a:prstGeom prst="triangle">
            <a:avLst/>
          </a:prstGeom>
          <a:gradFill>
            <a:gsLst>
              <a:gs pos="3529">
                <a:schemeClr val="tx2"/>
              </a:gs>
              <a:gs pos="54000">
                <a:schemeClr val="accent4"/>
              </a:gs>
              <a:gs pos="100000">
                <a:schemeClr val="accent4">
                  <a:alpha val="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
        <p:nvSpPr>
          <p:cNvPr id="12" name="正方形/長方形 11">
            <a:extLst>
              <a:ext uri="{FF2B5EF4-FFF2-40B4-BE49-F238E27FC236}">
                <a16:creationId xmlns:a16="http://schemas.microsoft.com/office/drawing/2014/main" id="{29C58FFC-1A01-A8F0-166D-D51C0B6A2C66}"/>
              </a:ext>
            </a:extLst>
          </p:cNvPr>
          <p:cNvSpPr/>
          <p:nvPr/>
        </p:nvSpPr>
        <p:spPr>
          <a:xfrm>
            <a:off x="2933906" y="5890769"/>
            <a:ext cx="4824000" cy="103282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tIns="180000" rtlCol="0" anchor="ctr"/>
          <a:lstStyle/>
          <a:p>
            <a:pPr algn="ctr"/>
            <a:r>
              <a:rPr kumimoji="1" lang="ja-JP" altLang="en-US" sz="1000" b="1" spc="100" dirty="0">
                <a:solidFill>
                  <a:schemeClr val="tx1"/>
                </a:solidFill>
                <a:latin typeface="+mj-ea"/>
                <a:ea typeface="+mj-ea"/>
              </a:rPr>
              <a:t>物流：自社配送（東京向け出荷・一部の地元スーパー向け配送のみ外部運送会社を利用）</a:t>
            </a:r>
          </a:p>
        </p:txBody>
      </p:sp>
      <p:cxnSp>
        <p:nvCxnSpPr>
          <p:cNvPr id="14" name="直線コネクタ 13">
            <a:extLst>
              <a:ext uri="{FF2B5EF4-FFF2-40B4-BE49-F238E27FC236}">
                <a16:creationId xmlns:a16="http://schemas.microsoft.com/office/drawing/2014/main" id="{0FD3DDF0-DCBD-CE14-F158-968514C4BE62}"/>
              </a:ext>
            </a:extLst>
          </p:cNvPr>
          <p:cNvCxnSpPr>
            <a:cxnSpLocks/>
          </p:cNvCxnSpPr>
          <p:nvPr/>
        </p:nvCxnSpPr>
        <p:spPr>
          <a:xfrm>
            <a:off x="2933906" y="5890769"/>
            <a:ext cx="4862558"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5" name="字幕 13">
            <a:extLst>
              <a:ext uri="{FF2B5EF4-FFF2-40B4-BE49-F238E27FC236}">
                <a16:creationId xmlns:a16="http://schemas.microsoft.com/office/drawing/2014/main" id="{999986B5-FEED-86D6-9A2B-D6BEF4A1BD44}"/>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近郷農家の持込・当社集荷と県内外の市場からの仕入で品揃えを確保し、セリ・相対と直接販売で地元へ供給。地元で捌き切れない過剰分は豊洲市場・他県へ販売している。</a:t>
            </a:r>
          </a:p>
        </p:txBody>
      </p:sp>
      <p:sp>
        <p:nvSpPr>
          <p:cNvPr id="36" name="TextBox 35"/>
          <p:cNvSpPr txBox="1"/>
          <p:nvPr/>
        </p:nvSpPr>
        <p:spPr>
          <a:xfrm>
            <a:off x="502920" y="2011680"/>
            <a:ext cx="2057400" cy="4114800"/>
          </a:xfrm>
          <a:prstGeom prst="rect">
            <a:avLst/>
          </a:prstGeom>
          <a:noFill/>
        </p:spPr>
        <p:txBody>
          <a:bodyPr wrap="square" lIns="0" rIns="0" tIns="0" bIns="0" anchor="t">
            <a:spAutoFit/>
          </a:bodyPr>
          <a:lstStyle/>
          <a:p>
            <a:pPr algn="l">
              <a:spcAft>
                <a:spcPts val="300"/>
              </a:spcAft>
            </a:pPr>
            <a:r>
              <a:rPr sz="900" b="0">
                <a:solidFill>
                  <a:srgbClr val="000000"/>
                </a:solidFill>
                <a:latin typeface="游ゴシック"/>
                <a:ea typeface="游ゴシック"/>
              </a:rPr>
              <a:t>■ 近郷の農家（持込30〜40%・残りは当社集荷）</a:t>
            </a:r>
          </a:p>
          <a:p>
            <a:pPr algn="l">
              <a:spcAft>
                <a:spcPts val="300"/>
              </a:spcAft>
            </a:pPr>
            <a:r>
              <a:rPr sz="900" b="0">
                <a:solidFill>
                  <a:srgbClr val="000000"/>
                </a:solidFill>
                <a:latin typeface="游ゴシック"/>
                <a:ea typeface="游ゴシック"/>
              </a:rPr>
              <a:t>■ 丸果庄内青果(株)</a:t>
            </a:r>
          </a:p>
          <a:p>
            <a:pPr algn="l">
              <a:spcAft>
                <a:spcPts val="300"/>
              </a:spcAft>
            </a:pPr>
            <a:r>
              <a:rPr sz="900" b="0">
                <a:solidFill>
                  <a:srgbClr val="000000"/>
                </a:solidFill>
                <a:latin typeface="游ゴシック"/>
                <a:ea typeface="游ゴシック"/>
              </a:rPr>
              <a:t>■ (株)庄果</a:t>
            </a:r>
          </a:p>
          <a:p>
            <a:pPr algn="l">
              <a:spcAft>
                <a:spcPts val="300"/>
              </a:spcAft>
            </a:pPr>
            <a:r>
              <a:rPr sz="900" b="0">
                <a:solidFill>
                  <a:srgbClr val="000000"/>
                </a:solidFill>
                <a:latin typeface="游ゴシック"/>
                <a:ea typeface="游ゴシック"/>
              </a:rPr>
              <a:t>　（公設庄内青果物地方卸売市場：三川町）</a:t>
            </a:r>
          </a:p>
          <a:p>
            <a:pPr algn="l">
              <a:spcAft>
                <a:spcPts val="300"/>
              </a:spcAft>
            </a:pPr>
            <a:r>
              <a:rPr sz="900" b="0">
                <a:solidFill>
                  <a:srgbClr val="000000"/>
                </a:solidFill>
                <a:latin typeface="游ゴシック"/>
                <a:ea typeface="游ゴシック"/>
              </a:rPr>
              <a:t>■ 長井中央青果(株)</a:t>
            </a:r>
          </a:p>
          <a:p>
            <a:pPr algn="l">
              <a:spcAft>
                <a:spcPts val="300"/>
              </a:spcAft>
            </a:pPr>
            <a:r>
              <a:rPr sz="900" b="0">
                <a:solidFill>
                  <a:srgbClr val="000000"/>
                </a:solidFill>
                <a:latin typeface="游ゴシック"/>
                <a:ea typeface="游ゴシック"/>
              </a:rPr>
              <a:t>■ (株)マルト直治郎商店</a:t>
            </a:r>
          </a:p>
          <a:p>
            <a:pPr algn="l">
              <a:spcAft>
                <a:spcPts val="300"/>
              </a:spcAft>
            </a:pPr>
            <a:r>
              <a:rPr sz="900" b="0">
                <a:solidFill>
                  <a:srgbClr val="000000"/>
                </a:solidFill>
                <a:latin typeface="游ゴシック"/>
                <a:ea typeface="游ゴシック"/>
              </a:rPr>
              <a:t>■ 成田食品(株)（福島県）</a:t>
            </a:r>
          </a:p>
          <a:p>
            <a:pPr algn="l">
              <a:spcAft>
                <a:spcPts val="300"/>
              </a:spcAft>
            </a:pPr>
            <a:r>
              <a:rPr sz="900" b="0">
                <a:solidFill>
                  <a:srgbClr val="000000"/>
                </a:solidFill>
                <a:latin typeface="游ゴシック"/>
                <a:ea typeface="游ゴシック"/>
              </a:rPr>
              <a:t>■ (株)ファーマインド（東京都）</a:t>
            </a:r>
          </a:p>
          <a:p>
            <a:pPr algn="l">
              <a:spcAft>
                <a:spcPts val="300"/>
              </a:spcAft>
            </a:pPr>
            <a:r>
              <a:rPr sz="900" b="0">
                <a:solidFill>
                  <a:srgbClr val="000000"/>
                </a:solidFill>
                <a:latin typeface="游ゴシック"/>
                <a:ea typeface="游ゴシック"/>
              </a:rPr>
              <a:t>■ (株)東根農産センター</a:t>
            </a:r>
          </a:p>
          <a:p>
            <a:pPr algn="l">
              <a:spcAft>
                <a:spcPts val="300"/>
              </a:spcAft>
            </a:pPr>
            <a:r>
              <a:rPr sz="900" b="0">
                <a:solidFill>
                  <a:srgbClr val="000000"/>
                </a:solidFill>
                <a:latin typeface="游ゴシック"/>
                <a:ea typeface="游ゴシック"/>
              </a:rPr>
              <a:t>■ 関東の仲卸業者（12月〜正月）</a:t>
            </a:r>
          </a:p>
        </p:txBody>
      </p:sp>
      <p:sp>
        <p:nvSpPr>
          <p:cNvPr id="37" name="TextBox 36"/>
          <p:cNvSpPr txBox="1"/>
          <p:nvPr/>
        </p:nvSpPr>
        <p:spPr>
          <a:xfrm>
            <a:off x="8138160" y="2011680"/>
            <a:ext cx="2057400" cy="4114800"/>
          </a:xfrm>
          <a:prstGeom prst="rect">
            <a:avLst/>
          </a:prstGeom>
          <a:noFill/>
        </p:spPr>
        <p:txBody>
          <a:bodyPr wrap="square" lIns="0" rIns="0" tIns="0" bIns="0" anchor="t">
            <a:spAutoFit/>
          </a:bodyPr>
          <a:lstStyle/>
          <a:p>
            <a:pPr algn="l">
              <a:spcAft>
                <a:spcPts val="300"/>
              </a:spcAft>
            </a:pPr>
            <a:r>
              <a:rPr sz="900" b="0">
                <a:solidFill>
                  <a:srgbClr val="000000"/>
                </a:solidFill>
                <a:latin typeface="游ゴシック"/>
                <a:ea typeface="游ゴシック"/>
              </a:rPr>
              <a:t>■ (株)主婦の店（量販店）</a:t>
            </a:r>
          </a:p>
          <a:p>
            <a:pPr algn="l">
              <a:spcAft>
                <a:spcPts val="300"/>
              </a:spcAft>
            </a:pPr>
            <a:r>
              <a:rPr sz="900" b="0">
                <a:solidFill>
                  <a:srgbClr val="000000"/>
                </a:solidFill>
                <a:latin typeface="游ゴシック"/>
                <a:ea typeface="游ゴシック"/>
              </a:rPr>
              <a:t>■ 生活協同組合共立社</a:t>
            </a:r>
          </a:p>
          <a:p>
            <a:pPr algn="l">
              <a:spcAft>
                <a:spcPts val="300"/>
              </a:spcAft>
            </a:pPr>
            <a:r>
              <a:rPr sz="900" b="0">
                <a:solidFill>
                  <a:srgbClr val="000000"/>
                </a:solidFill>
                <a:latin typeface="游ゴシック"/>
                <a:ea typeface="游ゴシック"/>
              </a:rPr>
              <a:t>■ 生協連合会アイチョイス</a:t>
            </a:r>
          </a:p>
          <a:p>
            <a:pPr algn="l">
              <a:spcAft>
                <a:spcPts val="300"/>
              </a:spcAft>
            </a:pPr>
            <a:r>
              <a:rPr sz="900" b="0">
                <a:solidFill>
                  <a:srgbClr val="000000"/>
                </a:solidFill>
                <a:latin typeface="游ゴシック"/>
                <a:ea typeface="游ゴシック"/>
              </a:rPr>
              <a:t>■ 小島商店</a:t>
            </a:r>
          </a:p>
          <a:p>
            <a:pPr algn="l">
              <a:spcAft>
                <a:spcPts val="300"/>
              </a:spcAft>
            </a:pPr>
            <a:r>
              <a:rPr sz="900" b="0">
                <a:solidFill>
                  <a:srgbClr val="000000"/>
                </a:solidFill>
                <a:latin typeface="游ゴシック"/>
                <a:ea typeface="游ゴシック"/>
              </a:rPr>
              <a:t>■ 給食センター</a:t>
            </a:r>
          </a:p>
          <a:p>
            <a:pPr algn="l">
              <a:spcAft>
                <a:spcPts val="300"/>
              </a:spcAft>
            </a:pPr>
            <a:r>
              <a:rPr sz="900" b="0">
                <a:solidFill>
                  <a:srgbClr val="000000"/>
                </a:solidFill>
                <a:latin typeface="游ゴシック"/>
                <a:ea typeface="游ゴシック"/>
              </a:rPr>
              <a:t>■ 長井中央青果(株)</a:t>
            </a:r>
          </a:p>
          <a:p>
            <a:pPr algn="l">
              <a:spcAft>
                <a:spcPts val="300"/>
              </a:spcAft>
            </a:pPr>
            <a:r>
              <a:rPr sz="900" b="0">
                <a:solidFill>
                  <a:srgbClr val="000000"/>
                </a:solidFill>
                <a:latin typeface="游ゴシック"/>
                <a:ea typeface="游ゴシック"/>
              </a:rPr>
              <a:t>■ 元青果</a:t>
            </a:r>
          </a:p>
          <a:p>
            <a:pPr algn="l">
              <a:spcAft>
                <a:spcPts val="300"/>
              </a:spcAft>
            </a:pPr>
            <a:r>
              <a:rPr sz="900" b="0">
                <a:solidFill>
                  <a:srgbClr val="000000"/>
                </a:solidFill>
                <a:latin typeface="游ゴシック"/>
                <a:ea typeface="游ゴシック"/>
              </a:rPr>
              <a:t>■ 市場の仲卸業者・買参人</a:t>
            </a:r>
          </a:p>
          <a:p>
            <a:pPr algn="l">
              <a:spcAft>
                <a:spcPts val="300"/>
              </a:spcAft>
            </a:pPr>
            <a:r>
              <a:rPr sz="900" b="0">
                <a:solidFill>
                  <a:srgbClr val="000000"/>
                </a:solidFill>
                <a:latin typeface="游ゴシック"/>
                <a:ea typeface="游ゴシック"/>
              </a:rPr>
              <a:t>■ 豊洲市場・県外市場（過剰分）</a:t>
            </a:r>
          </a:p>
          <a:p>
            <a:pPr algn="l">
              <a:spcAft>
                <a:spcPts val="300"/>
              </a:spcAft>
            </a:pPr>
            <a:r>
              <a:rPr sz="900" b="0">
                <a:solidFill>
                  <a:srgbClr val="000000"/>
                </a:solidFill>
                <a:latin typeface="游ゴシック"/>
                <a:ea typeface="游ゴシック"/>
              </a:rPr>
              <a:t>■ ゲームセンター（景品用）</a:t>
            </a:r>
          </a:p>
        </p:txBody>
      </p:sp>
      <p:sp>
        <p:nvSpPr>
          <p:cNvPr id="38" name="Rectangle 37"/>
          <p:cNvSpPr/>
          <p:nvPr/>
        </p:nvSpPr>
        <p:spPr>
          <a:xfrm>
            <a:off x="3154680" y="2084831"/>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青果卸売事業（買付販売）</a:t>
            </a:r>
          </a:p>
          <a:p>
            <a:pPr algn="l"/>
            <a:r>
              <a:rPr sz="900" b="0">
                <a:solidFill>
                  <a:srgbClr val="000000"/>
                </a:solidFill>
                <a:latin typeface="游ゴシック"/>
                <a:ea typeface="游ゴシック"/>
              </a:rPr>
              <a:t>野菜・果実を買い付けて販売（総額計上）</a:t>
            </a:r>
          </a:p>
        </p:txBody>
      </p:sp>
      <p:sp>
        <p:nvSpPr>
          <p:cNvPr id="39" name="Rectangle 38"/>
          <p:cNvSpPr/>
          <p:nvPr/>
        </p:nvSpPr>
        <p:spPr>
          <a:xfrm>
            <a:off x="3154680" y="2926079"/>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青果卸売事業（受託販売）</a:t>
            </a:r>
          </a:p>
          <a:p>
            <a:pPr algn="l"/>
            <a:r>
              <a:rPr sz="900" b="0">
                <a:solidFill>
                  <a:srgbClr val="000000"/>
                </a:solidFill>
                <a:latin typeface="游ゴシック"/>
                <a:ea typeface="游ゴシック"/>
              </a:rPr>
              <a:t>生産者の商品を預かり販売し、販売額の8.5%を手数料として収受（純額計上）</a:t>
            </a:r>
          </a:p>
        </p:txBody>
      </p:sp>
      <p:sp>
        <p:nvSpPr>
          <p:cNvPr id="40" name="Rectangle 39"/>
          <p:cNvSpPr/>
          <p:nvPr/>
        </p:nvSpPr>
        <p:spPr>
          <a:xfrm>
            <a:off x="3154680" y="3767328"/>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関連サービス</a:t>
            </a:r>
          </a:p>
          <a:p>
            <a:pPr algn="l"/>
            <a:r>
              <a:rPr sz="900" b="0">
                <a:solidFill>
                  <a:srgbClr val="000000"/>
                </a:solidFill>
                <a:latin typeface="游ゴシック"/>
                <a:ea typeface="游ゴシック"/>
              </a:rPr>
              <a:t>小分け・包装、自社配送、(株)主婦の店の配送受託（配送額の約10%をセンター費として収受）</a:t>
            </a:r>
          </a:p>
        </p:txBody>
      </p:sp>
      <p:sp>
        <p:nvSpPr>
          <p:cNvPr id="41" name="Rectangle 40"/>
          <p:cNvSpPr/>
          <p:nvPr/>
        </p:nvSpPr>
        <p:spPr>
          <a:xfrm>
            <a:off x="3154680" y="4608576"/>
            <a:ext cx="4343400" cy="731520"/>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1050" b="1">
                <a:solidFill>
                  <a:srgbClr val="000000"/>
                </a:solidFill>
                <a:latin typeface="游ゴシック"/>
                <a:ea typeface="游ゴシック"/>
              </a:rPr>
              <a:t>資材販売</a:t>
            </a:r>
          </a:p>
          <a:p>
            <a:pPr algn="l"/>
            <a:r>
              <a:rPr sz="900" b="0">
                <a:solidFill>
                  <a:srgbClr val="000000"/>
                </a:solidFill>
                <a:latin typeface="游ゴシック"/>
                <a:ea typeface="游ゴシック"/>
              </a:rPr>
              <a:t>包装資材の販売（仕入資材の約8割は自社利用。肥料はほぼ取扱いなし）</a:t>
            </a:r>
          </a:p>
        </p:txBody>
      </p:sp>
      <p:sp>
        <p:nvSpPr>
          <p:cNvPr id="42" name="TextBox 41"/>
          <p:cNvSpPr txBox="1"/>
          <p:nvPr/>
        </p:nvSpPr>
        <p:spPr>
          <a:xfrm>
            <a:off x="8138160" y="6126480"/>
            <a:ext cx="2057400" cy="329184"/>
          </a:xfrm>
          <a:prstGeom prst="rect">
            <a:avLst/>
          </a:prstGeom>
          <a:noFill/>
        </p:spPr>
        <p:txBody>
          <a:bodyPr wrap="square" lIns="0" rIns="0" tIns="0" bIns="0" anchor="t">
            <a:spAutoFit/>
          </a:bodyPr>
          <a:lstStyle/>
          <a:p>
            <a:pPr algn="l"/>
            <a:r>
              <a:rPr sz="750" b="0">
                <a:solidFill>
                  <a:srgbClr val="000000"/>
                </a:solidFill>
                <a:latin typeface="游ゴシック"/>
                <a:ea typeface="游ゴシック"/>
              </a:rPr>
              <a:t>※社名は期末残高の上位先。</a:t>
            </a:r>
          </a:p>
          <a:p>
            <a:pPr algn="l"/>
            <a:r>
              <a:rPr sz="750" b="0">
                <a:solidFill>
                  <a:srgbClr val="000000"/>
                </a:solidFill>
                <a:latin typeface="游ゴシック"/>
                <a:ea typeface="游ゴシック"/>
              </a:rPr>
              <a:t>　取引規模は要確認。</a:t>
            </a:r>
          </a:p>
        </p:txBody>
      </p:sp>
    </p:spTree>
    <p:extLst>
      <p:ext uri="{BB962C8B-B14F-4D97-AF65-F5344CB8AC3E}">
        <p14:creationId xmlns:p14="http://schemas.microsoft.com/office/powerpoint/2010/main" val="5383831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0B1C5-D3FA-B80D-FCF0-3C49EF8E798D}"/>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C98E073B-FCE4-F6FA-66A7-29E757285F77}"/>
              </a:ext>
            </a:extLst>
          </p:cNvPr>
          <p:cNvSpPr>
            <a:spLocks noGrp="1"/>
          </p:cNvSpPr>
          <p:nvPr>
            <p:ph type="ctrTitle"/>
          </p:nvPr>
        </p:nvSpPr>
        <p:spPr/>
        <p:txBody>
          <a:bodyPr/>
          <a:lstStyle/>
          <a:p>
            <a:r>
              <a:rPr lang="ja-JP" altLang="en-US" dirty="0"/>
              <a:t>事業の仕組みと収益源</a:t>
            </a:r>
          </a:p>
        </p:txBody>
      </p:sp>
      <p:sp>
        <p:nvSpPr>
          <p:cNvPr id="2" name="タイトル 1">
            <a:extLst>
              <a:ext uri="{FF2B5EF4-FFF2-40B4-BE49-F238E27FC236}">
                <a16:creationId xmlns:a16="http://schemas.microsoft.com/office/drawing/2014/main" id="{1F33762E-23F4-8C5B-C467-2E3E3671C9B0}"/>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sp>
        <p:nvSpPr>
          <p:cNvPr id="16" name="字幕 13">
            <a:extLst>
              <a:ext uri="{FF2B5EF4-FFF2-40B4-BE49-F238E27FC236}">
                <a16:creationId xmlns:a16="http://schemas.microsoft.com/office/drawing/2014/main" id="{7A1881B5-EF3F-935A-CE45-EAB497D19AE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市場の開設者と卸売業者を一社で兼ね、買付販売と受託販売（手数料8.5%）の卸売に加え、配送受託のセンター費・資材販売で収益を補完する構造。</a:t>
            </a:r>
          </a:p>
        </p:txBody>
      </p:sp>
      <p:sp>
        <p:nvSpPr>
          <p:cNvPr id="17" name="Rectangle 16"/>
          <p:cNvSpPr/>
          <p:nvPr/>
        </p:nvSpPr>
        <p:spPr>
          <a:xfrm>
            <a:off x="448056" y="178308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出荷者・仕入先</a:t>
            </a:r>
          </a:p>
        </p:txBody>
      </p:sp>
      <p:sp>
        <p:nvSpPr>
          <p:cNvPr id="18" name="Rectangle 17"/>
          <p:cNvSpPr/>
          <p:nvPr/>
        </p:nvSpPr>
        <p:spPr>
          <a:xfrm>
            <a:off x="448056" y="205740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近郷農家（持込・当社集荷）</a:t>
            </a:r>
          </a:p>
          <a:p>
            <a:pPr algn="ctr"/>
            <a:r>
              <a:rPr sz="900" b="0">
                <a:solidFill>
                  <a:srgbClr val="000000"/>
                </a:solidFill>
                <a:latin typeface="游ゴシック"/>
                <a:ea typeface="游ゴシック"/>
              </a:rPr>
              <a:t>他市場の卸売業者</a:t>
            </a:r>
          </a:p>
          <a:p>
            <a:pPr algn="ctr"/>
            <a:r>
              <a:rPr sz="900" b="0">
                <a:solidFill>
                  <a:srgbClr val="000000"/>
                </a:solidFill>
                <a:latin typeface="游ゴシック"/>
                <a:ea typeface="游ゴシック"/>
              </a:rPr>
              <a:t>関東の仲卸 等</a:t>
            </a:r>
          </a:p>
        </p:txBody>
      </p:sp>
      <p:sp>
        <p:nvSpPr>
          <p:cNvPr id="19" name="Rectangle 18"/>
          <p:cNvSpPr/>
          <p:nvPr/>
        </p:nvSpPr>
        <p:spPr>
          <a:xfrm>
            <a:off x="3063240" y="1554480"/>
            <a:ext cx="283464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株式会社鶴岡中央青果</a:t>
            </a:r>
          </a:p>
        </p:txBody>
      </p:sp>
      <p:sp>
        <p:nvSpPr>
          <p:cNvPr id="20" name="Rectangle 19"/>
          <p:cNvSpPr/>
          <p:nvPr/>
        </p:nvSpPr>
        <p:spPr>
          <a:xfrm>
            <a:off x="3063240" y="1828800"/>
            <a:ext cx="2834640" cy="11887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地方卸売市場の開設者兼卸売業者</a:t>
            </a:r>
          </a:p>
          <a:p>
            <a:pPr algn="ctr"/>
            <a:r>
              <a:rPr sz="900" b="0">
                <a:solidFill>
                  <a:srgbClr val="000000"/>
                </a:solidFill>
                <a:latin typeface="游ゴシック"/>
                <a:ea typeface="游ゴシック"/>
              </a:rPr>
              <a:t>（鶴岡市宝田）</a:t>
            </a:r>
          </a:p>
        </p:txBody>
      </p:sp>
      <p:sp>
        <p:nvSpPr>
          <p:cNvPr id="21" name="Rectangle 20"/>
          <p:cNvSpPr/>
          <p:nvPr/>
        </p:nvSpPr>
        <p:spPr>
          <a:xfrm>
            <a:off x="6446520" y="141732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仲卸業者・買参人</a:t>
            </a:r>
          </a:p>
        </p:txBody>
      </p:sp>
      <p:sp>
        <p:nvSpPr>
          <p:cNvPr id="22" name="Rectangle 21"/>
          <p:cNvSpPr/>
          <p:nvPr/>
        </p:nvSpPr>
        <p:spPr>
          <a:xfrm>
            <a:off x="6446520" y="169164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市場内でセリ・相対により購入</a:t>
            </a:r>
          </a:p>
        </p:txBody>
      </p:sp>
      <p:sp>
        <p:nvSpPr>
          <p:cNvPr id="23" name="Rectangle 22"/>
          <p:cNvSpPr/>
          <p:nvPr/>
        </p:nvSpPr>
        <p:spPr>
          <a:xfrm>
            <a:off x="6446520" y="2514600"/>
            <a:ext cx="2103120" cy="27432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000" b="1">
                <a:solidFill>
                  <a:srgbClr val="FFFFFF"/>
                </a:solidFill>
                <a:latin typeface="游ゴシック"/>
                <a:ea typeface="游ゴシック"/>
              </a:rPr>
              <a:t>量販店・生協・給食 等</a:t>
            </a:r>
          </a:p>
        </p:txBody>
      </p:sp>
      <p:sp>
        <p:nvSpPr>
          <p:cNvPr id="24" name="Rectangle 23"/>
          <p:cNvSpPr/>
          <p:nvPr/>
        </p:nvSpPr>
        <p:spPr>
          <a:xfrm>
            <a:off x="6446520" y="2788920"/>
            <a:ext cx="2103120" cy="73152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r>
              <a:rPr sz="900" b="0">
                <a:solidFill>
                  <a:srgbClr val="000000"/>
                </a:solidFill>
                <a:latin typeface="游ゴシック"/>
                <a:ea typeface="游ゴシック"/>
              </a:rPr>
              <a:t>当社から直接販売</a:t>
            </a:r>
          </a:p>
          <a:p>
            <a:pPr algn="ctr"/>
            <a:r>
              <a:rPr sz="900" b="0">
                <a:solidFill>
                  <a:srgbClr val="000000"/>
                </a:solidFill>
                <a:latin typeface="游ゴシック"/>
                <a:ea typeface="游ゴシック"/>
              </a:rPr>
              <a:t>過剰分は豊洲・他県へ</a:t>
            </a:r>
          </a:p>
        </p:txBody>
      </p:sp>
      <p:cxnSp>
        <p:nvCxnSpPr>
          <p:cNvPr id="25" name="Connector 24"/>
          <p:cNvCxnSpPr/>
          <p:nvPr/>
        </p:nvCxnSpPr>
        <p:spPr>
          <a:xfrm>
            <a:off x="2596896" y="2286000"/>
            <a:ext cx="420624"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943600" y="1874519"/>
            <a:ext cx="457200"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943600" y="2926080"/>
            <a:ext cx="457200" cy="0"/>
          </a:xfrm>
          <a:prstGeom prst="line">
            <a:avLst/>
          </a:prstGeom>
          <a:ln w="19050">
            <a:solidFill>
              <a:srgbClr val="0B304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8732520" y="1417320"/>
            <a:ext cx="1600200" cy="1874519"/>
          </a:xfrm>
          <a:prstGeom prst="rect">
            <a:avLst/>
          </a:prstGeom>
          <a:solidFill>
            <a:srgbClr val="FFFFFF"/>
          </a:solidFill>
          <a:ln w="9525">
            <a:solidFill>
              <a:srgbClr val="E3E7E9"/>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73152" bIns="73152"/>
          <a:lstStyle/>
          <a:p>
            <a:pPr algn="l"/>
            <a:r>
              <a:rPr sz="850" b="1">
                <a:solidFill>
                  <a:srgbClr val="000000"/>
                </a:solidFill>
                <a:latin typeface="游ゴシック"/>
                <a:ea typeface="游ゴシック"/>
              </a:rPr>
              <a:t>部門構成</a:t>
            </a:r>
          </a:p>
          <a:p>
            <a:pPr algn="l"/>
            <a:r>
              <a:rPr sz="850" b="0">
                <a:solidFill>
                  <a:srgbClr val="000000"/>
                </a:solidFill>
                <a:latin typeface="游ゴシック"/>
                <a:ea typeface="游ゴシック"/>
              </a:rPr>
              <a:t>野菜営業部／果実営業部／近郷部／集配部／パッケージ部／生花部／資材部／総務部</a:t>
            </a:r>
          </a:p>
        </p:txBody>
      </p:sp>
      <p:graphicFrame>
        <p:nvGraphicFramePr>
          <p:cNvPr id="29" name="表（売上構成!B4:E11）"/>
          <p:cNvGraphicFramePr>
            <a:graphicFrameLocks noGrp="1"/>
          </p:cNvGraphicFramePr>
          <p:nvPr/>
        </p:nvGraphicFramePr>
        <p:xfrm>
          <a:off x="448056" y="3611880"/>
          <a:ext cx="9793222" cy="1920234"/>
        </p:xfrm>
        <a:graphic>
          <a:graphicData uri="http://schemas.openxmlformats.org/drawingml/2006/table">
            <a:tbl>
              <a:tblPr firstRow="0" bandRow="0">
                <a:tableStyleId>{2D5ABB26-0587-4C30-8999-92F81FD0307C}</a:tableStyleId>
              </a:tblPr>
              <a:tblGrid>
                <a:gridCol w="2304352"/>
                <a:gridCol w="1204651"/>
                <a:gridCol w="838085"/>
                <a:gridCol w="5446134"/>
              </a:tblGrid>
              <a:tr h="182301">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30914">
                <a:tc>
                  <a:txBody>
                    <a:bodyPr/>
                    <a:lstStyle/>
                    <a:p>
                      <a:pPr algn="ctr" fontAlgn="ctr"/>
                      <a:r>
                        <a:rPr lang="ja-JP" altLang="en-US" sz="1000" b="0" i="0" dirty="0">
                          <a:solidFill>
                            <a:srgbClr val="FFFFFF"/>
                          </a:solidFill>
                          <a:latin typeface="游ゴシック"/>
                          <a:ea typeface="游ゴシック"/>
                        </a:rPr>
                        <a:t>収益区分（2026年4〜9月）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金額</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構成比</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内容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55221">
                <a:tc>
                  <a:txBody>
                    <a:bodyPr/>
                    <a:lstStyle/>
                    <a:p>
                      <a:pPr algn="l" fontAlgn="ctr"/>
                      <a:r>
                        <a:rPr lang="ja-JP" altLang="en-US" sz="1050" b="0" i="0" dirty="0">
                          <a:solidFill>
                            <a:srgbClr val="000000"/>
                          </a:solidFill>
                          <a:latin typeface="游ゴシック"/>
                          <a:ea typeface="游ゴシック"/>
                        </a:rPr>
                        <a:t>商品売上高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568,871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91.6%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青果物の販売（買付販売は総額、受託販売は2019年10月以降手数料のみの純額で計上）</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55221">
                <a:tc>
                  <a:txBody>
                    <a:bodyPr/>
                    <a:lstStyle/>
                    <a:p>
                      <a:pPr algn="l" fontAlgn="ctr"/>
                      <a:r>
                        <a:rPr lang="ja-JP" altLang="en-US" sz="1050" b="0" i="0" dirty="0">
                          <a:solidFill>
                            <a:srgbClr val="000000"/>
                          </a:solidFill>
                          <a:latin typeface="游ゴシック"/>
                          <a:ea typeface="游ゴシック"/>
                        </a:rPr>
                        <a:t>委託手数料収入</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19,959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受託販売の手数料。生産者の商品を預かり、販売後に販売額の8.5%を収受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55221">
                <a:tc>
                  <a:txBody>
                    <a:bodyPr/>
                    <a:lstStyle/>
                    <a:p>
                      <a:pPr algn="l" fontAlgn="ctr"/>
                      <a:r>
                        <a:rPr lang="ja-JP" altLang="en-US" sz="1050" b="0" i="0" dirty="0">
                          <a:solidFill>
                            <a:srgbClr val="000000"/>
                          </a:solidFill>
                          <a:latin typeface="游ゴシック"/>
                          <a:ea typeface="游ゴシック"/>
                        </a:rPr>
                        <a:t>主婦センター費（配送受託）</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18,416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(株)主婦の店の仕入商品の配送受託。配送額の約10%を収受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55221">
                <a:tc>
                  <a:txBody>
                    <a:bodyPr/>
                    <a:lstStyle/>
                    <a:p>
                      <a:pPr algn="l" fontAlgn="ctr"/>
                      <a:r>
                        <a:rPr lang="ja-JP" altLang="en-US" sz="1050" b="0" i="0" dirty="0">
                          <a:solidFill>
                            <a:srgbClr val="000000"/>
                          </a:solidFill>
                          <a:latin typeface="游ゴシック"/>
                          <a:ea typeface="游ゴシック"/>
                        </a:rPr>
                        <a:t>資材売上高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14,843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包装資材の販売（自社利用分の振替を含む。肥料の取扱いはほぼなし）</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55221">
                <a:tc>
                  <a:txBody>
                    <a:bodyPr/>
                    <a:lstStyle/>
                    <a:p>
                      <a:pPr algn="l" fontAlgn="ctr"/>
                      <a:r>
                        <a:rPr lang="ja-JP" altLang="en-US" sz="1050" b="0" i="0" dirty="0">
                          <a:solidFill>
                            <a:srgbClr val="000000"/>
                          </a:solidFill>
                          <a:latin typeface="游ゴシック"/>
                          <a:ea typeface="游ゴシック"/>
                        </a:rPr>
                        <a:t>売上割戻（完納奨励金）</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△758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△0.1%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期限内に代金を支払った八百屋等へ支給（市場の商慣習）</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30914">
                <a:tc>
                  <a:txBody>
                    <a:bodyPr/>
                    <a:lstStyle/>
                    <a:p>
                      <a:pPr algn="l" fontAlgn="ctr"/>
                      <a:r>
                        <a:rPr lang="ja-JP" altLang="en-US" sz="1050" b="1" i="0" dirty="0">
                          <a:solidFill>
                            <a:srgbClr val="000000"/>
                          </a:solidFill>
                          <a:latin typeface="游ゴシック"/>
                          <a:ea typeface="游ゴシック"/>
                        </a:rPr>
                        <a:t>売上高 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621,331</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100.0%</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30" name="TextBox 29"/>
          <p:cNvSpPr txBox="1"/>
          <p:nvPr/>
        </p:nvSpPr>
        <p:spPr>
          <a:xfrm>
            <a:off x="448056" y="5605272"/>
            <a:ext cx="9793224" cy="493776"/>
          </a:xfrm>
          <a:prstGeom prst="rect">
            <a:avLst/>
          </a:prstGeom>
          <a:noFill/>
        </p:spPr>
        <p:txBody>
          <a:bodyPr wrap="square" lIns="0" rIns="0" tIns="0" bIns="0">
            <a:spAutoFit/>
          </a:bodyPr>
          <a:lstStyle/>
          <a:p>
            <a:r>
              <a:rPr sz="750">
                <a:solidFill>
                  <a:srgbClr val="000000"/>
                </a:solidFill>
                <a:latin typeface="游ゴシック"/>
                <a:ea typeface="游ゴシック"/>
              </a:rPr>
              <a:t>※決算書では売上高を「商品売上高」1本で表示しているため、収益源別の内訳は試算表（2026年4〜9月）で代替。資材売上には自社利用分の振替を含む（同額を資材仕入に計上）。</a:t>
            </a:r>
          </a:p>
          <a:p>
            <a:r>
              <a:rPr sz="750">
                <a:solidFill>
                  <a:srgbClr val="000000"/>
                </a:solidFill>
                <a:latin typeface="游ゴシック"/>
                <a:ea typeface="游ゴシック"/>
              </a:rPr>
              <a:t>※手数料率8.5%から逆算した受託販売の取扱高は6か月で約235百万円（推計）。センター費は月約3.1百万円。</a:t>
            </a:r>
          </a:p>
          <a:p>
            <a:r>
              <a:rPr sz="750">
                <a:solidFill>
                  <a:srgbClr val="000000"/>
                </a:solidFill>
                <a:latin typeface="游ゴシック"/>
                <a:ea typeface="游ゴシック"/>
              </a:rPr>
              <a:t>※上記のほか、受取奨励金（内容は要確認）、仲卸業者等からのゴミ処理料・冷蔵庫保管料を営業外収益に計上。仲卸業者数・売買参加者数は要確認。</a:t>
            </a:r>
          </a:p>
        </p:txBody>
      </p:sp>
    </p:spTree>
    <p:extLst>
      <p:ext uri="{BB962C8B-B14F-4D97-AF65-F5344CB8AC3E}">
        <p14:creationId xmlns:p14="http://schemas.microsoft.com/office/powerpoint/2010/main" val="2527513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E5D56-7D5E-B85F-B7B1-659520F1133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E6BC784-35A2-FA39-F6DC-45D9CB3301D2}"/>
              </a:ext>
            </a:extLst>
          </p:cNvPr>
          <p:cNvSpPr>
            <a:spLocks noGrp="1"/>
          </p:cNvSpPr>
          <p:nvPr>
            <p:ph type="ctrTitle"/>
          </p:nvPr>
        </p:nvSpPr>
        <p:spPr>
          <a:xfrm>
            <a:off x="311150" y="180296"/>
            <a:ext cx="7799917" cy="339267"/>
          </a:xfrm>
        </p:spPr>
        <p:txBody>
          <a:bodyPr>
            <a:normAutofit/>
          </a:bodyPr>
          <a:lstStyle/>
          <a:p>
            <a:r>
              <a:rPr lang="ja-JP" altLang="en-US" dirty="0"/>
              <a:t>仕入・販売の仕組み</a:t>
            </a:r>
          </a:p>
        </p:txBody>
      </p:sp>
      <p:sp>
        <p:nvSpPr>
          <p:cNvPr id="5" name="タイトル 1">
            <a:extLst>
              <a:ext uri="{FF2B5EF4-FFF2-40B4-BE49-F238E27FC236}">
                <a16:creationId xmlns:a16="http://schemas.microsoft.com/office/drawing/2014/main" id="{8DAB018D-EC63-CB47-E5A5-25D667E4D34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事業概要</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8D56502D-3750-7017-6E60-6BF9CD0674B6}"/>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農家の持込を原則全量受け入れ、地元優先で販売し、過剰分は豊洲市場・他県へ出荷する。仕入価格は東京の中央卸売市場の相場と販売見積からの逆算を併用して決めている。</a:t>
            </a:r>
          </a:p>
        </p:txBody>
      </p:sp>
      <p:sp>
        <p:nvSpPr>
          <p:cNvPr id="14" name="正方形/長方形 7">
            <a:extLst>
              <a:ext uri="{FF2B5EF4-FFF2-40B4-BE49-F238E27FC236}">
                <a16:creationId xmlns:a16="http://schemas.microsoft.com/office/drawing/2014/main" id="{CBD334A9-999C-ACD4-9DD2-EF961CBA0926}"/>
              </a:ext>
            </a:extLst>
          </p:cNvPr>
          <p:cNvSpPr/>
          <p:nvPr/>
        </p:nvSpPr>
        <p:spPr>
          <a:xfrm>
            <a:off x="310896" y="1463040"/>
            <a:ext cx="4937760" cy="338328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仕入（集荷）</a:t>
            </a:r>
            <a:endParaRPr kumimoji="1" lang="ja-JP" altLang="en-US" sz="1600" b="1" dirty="0">
              <a:solidFill>
                <a:schemeClr val="tx2"/>
              </a:solidFill>
              <a:latin typeface="+mj-lt"/>
              <a:ea typeface="+mj-ea"/>
            </a:endParaRPr>
          </a:p>
        </p:txBody>
      </p:sp>
      <p:sp>
        <p:nvSpPr>
          <p:cNvPr id="15" name="テキスト ボックス 8">
            <a:extLst>
              <a:ext uri="{FF2B5EF4-FFF2-40B4-BE49-F238E27FC236}">
                <a16:creationId xmlns:a16="http://schemas.microsoft.com/office/drawing/2014/main" id="{E5084622-1D6B-783F-80DE-6D9A498C7C12}"/>
              </a:ext>
            </a:extLst>
          </p:cNvPr>
          <p:cNvSpPr txBox="1"/>
          <p:nvPr/>
        </p:nvSpPr>
        <p:spPr>
          <a:xfrm>
            <a:off x="310896" y="1993392"/>
            <a:ext cx="4937760" cy="2807208"/>
          </a:xfrm>
          <a:prstGeom prst="rect">
            <a:avLst/>
          </a:prstGeom>
          <a:noFill/>
        </p:spPr>
        <p:txBody>
          <a:bodyPr wrap="square" lIns="288000" tIns="0" rIns="252000" bIns="0" rtlCol="0">
            <a:spAutoFit/>
          </a:bodyPr>
          <a:lstStyle/>
          <a:p>
            <a:pPr>
              <a:spcAft>
                <a:spcPts val="400"/>
              </a:spcAft>
            </a:pPr>
            <a:r>
              <a:rPr lang="ja-JP" altLang="en-US" sz="1000" b="1" dirty="0">
                <a:solidFill>
                  <a:sysClr val="windowText" lastClr="000000"/>
                </a:solidFill>
                <a:latin typeface="游ゴシック"/>
                <a:ea typeface="游ゴシック"/>
              </a:rPr>
              <a:t>≪集荷の方法≫</a:t>
            </a:r>
          </a:p>
          <a:p>
            <a:pPr>
              <a:spcAft>
                <a:spcPts val="400"/>
              </a:spcAft>
            </a:pPr>
            <a:r>
              <a:rPr lang="ja-JP" altLang="en-US" sz="950" b="0" dirty="0">
                <a:solidFill>
                  <a:sysClr val="windowText" lastClr="000000"/>
                </a:solidFill>
                <a:latin typeface="游ゴシック"/>
                <a:ea typeface="游ゴシック"/>
              </a:rPr>
              <a:t>・入荷の30〜40%は農家の持込で、職員が早朝に農家を回って集荷する分の方が多い。持込は数量が多くても原則すべて受け入れる。</a:t>
            </a:r>
          </a:p>
          <a:p>
            <a:pPr>
              <a:spcAft>
                <a:spcPts val="400"/>
              </a:spcAft>
            </a:pPr>
            <a:r>
              <a:rPr lang="ja-JP" altLang="en-US" sz="1000" b="1" dirty="0">
                <a:solidFill>
                  <a:sysClr val="windowText" lastClr="000000"/>
                </a:solidFill>
                <a:latin typeface="游ゴシック"/>
                <a:ea typeface="游ゴシック"/>
              </a:rPr>
              <a:t>≪仕入価格の決め方≫</a:t>
            </a:r>
          </a:p>
          <a:p>
            <a:pPr>
              <a:spcAft>
                <a:spcPts val="400"/>
              </a:spcAft>
            </a:pPr>
            <a:r>
              <a:rPr lang="ja-JP" altLang="en-US" sz="950" b="0" dirty="0">
                <a:solidFill>
                  <a:sysClr val="windowText" lastClr="000000"/>
                </a:solidFill>
                <a:latin typeface="游ゴシック"/>
                <a:ea typeface="游ゴシック"/>
              </a:rPr>
              <a:t>・東北では東京の中央卸売市場の相場が基準。スーパーへの販売見積から逆算する場合もある。相場は変動が大きく、日々・時間単位で確認している。</a:t>
            </a:r>
          </a:p>
          <a:p>
            <a:pPr>
              <a:spcAft>
                <a:spcPts val="400"/>
              </a:spcAft>
            </a:pPr>
            <a:r>
              <a:rPr lang="ja-JP" altLang="en-US" sz="950" b="0" dirty="0">
                <a:solidFill>
                  <a:sysClr val="windowText" lastClr="000000"/>
                </a:solidFill>
                <a:latin typeface="游ゴシック"/>
                <a:ea typeface="游ゴシック"/>
              </a:rPr>
              <a:t>・価格条件によっては近隣の市場へ出荷する農家もあり、農家と相談しながら仕入価格を決めている。</a:t>
            </a:r>
          </a:p>
          <a:p>
            <a:pPr>
              <a:spcAft>
                <a:spcPts val="400"/>
              </a:spcAft>
            </a:pPr>
            <a:r>
              <a:rPr lang="ja-JP" altLang="en-US" sz="1000" b="1" dirty="0">
                <a:solidFill>
                  <a:sysClr val="windowText" lastClr="000000"/>
                </a:solidFill>
                <a:latin typeface="游ゴシック"/>
                <a:ea typeface="游ゴシック"/>
              </a:rPr>
              <a:t>≪取引単位≫</a:t>
            </a:r>
          </a:p>
          <a:p>
            <a:pPr>
              <a:spcAft>
                <a:spcPts val="400"/>
              </a:spcAft>
            </a:pPr>
            <a:r>
              <a:rPr lang="ja-JP" altLang="en-US" sz="950" b="0" dirty="0">
                <a:solidFill>
                  <a:sysClr val="windowText" lastClr="000000"/>
                </a:solidFill>
                <a:latin typeface="游ゴシック"/>
                <a:ea typeface="游ゴシック"/>
              </a:rPr>
              <a:t>・品目により箱単位のほか、ピーマン等は袋単位で取り扱う。</a:t>
            </a:r>
          </a:p>
          <a:p>
            <a:pPr>
              <a:spcAft>
                <a:spcPts val="400"/>
              </a:spcAft>
            </a:pPr>
            <a:r>
              <a:rPr lang="ja-JP" altLang="en-US" sz="1000" b="1" dirty="0">
                <a:solidFill>
                  <a:sysClr val="windowText" lastClr="000000"/>
                </a:solidFill>
                <a:latin typeface="游ゴシック"/>
                <a:ea typeface="游ゴシック"/>
              </a:rPr>
              <a:t>≪需要期の補完≫</a:t>
            </a:r>
          </a:p>
          <a:p>
            <a:pPr>
              <a:spcAft>
                <a:spcPts val="400"/>
              </a:spcAft>
            </a:pPr>
            <a:r>
              <a:rPr lang="ja-JP" altLang="en-US" sz="950" b="0" dirty="0">
                <a:solidFill>
                  <a:sysClr val="windowText" lastClr="000000"/>
                </a:solidFill>
                <a:latin typeface="游ゴシック"/>
                <a:ea typeface="游ゴシック"/>
              </a:rPr>
              <a:t>・12月〜正月は需要増に対応するため、関東の仲卸業者から仕入れることもある。</a:t>
            </a:r>
          </a:p>
        </p:txBody>
      </p:sp>
      <p:sp>
        <p:nvSpPr>
          <p:cNvPr id="16" name="正方形/長方形 7">
            <a:extLst>
              <a:ext uri="{FF2B5EF4-FFF2-40B4-BE49-F238E27FC236}">
                <a16:creationId xmlns:a16="http://schemas.microsoft.com/office/drawing/2014/main" id="{CBD334A9-999C-ACD4-9DD2-EF961CBA0926}"/>
              </a:ext>
            </a:extLst>
          </p:cNvPr>
          <p:cNvSpPr/>
          <p:nvPr/>
        </p:nvSpPr>
        <p:spPr>
          <a:xfrm>
            <a:off x="5440680" y="1463040"/>
            <a:ext cx="4937760" cy="338328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販売</a:t>
            </a:r>
            <a:endParaRPr kumimoji="1" lang="ja-JP" altLang="en-US" sz="1600" b="1" dirty="0">
              <a:solidFill>
                <a:schemeClr val="tx2"/>
              </a:solidFill>
              <a:latin typeface="+mj-lt"/>
              <a:ea typeface="+mj-ea"/>
            </a:endParaRPr>
          </a:p>
        </p:txBody>
      </p:sp>
      <p:sp>
        <p:nvSpPr>
          <p:cNvPr id="17" name="テキスト ボックス 8">
            <a:extLst>
              <a:ext uri="{FF2B5EF4-FFF2-40B4-BE49-F238E27FC236}">
                <a16:creationId xmlns:a16="http://schemas.microsoft.com/office/drawing/2014/main" id="{E5084622-1D6B-783F-80DE-6D9A498C7C12}"/>
              </a:ext>
            </a:extLst>
          </p:cNvPr>
          <p:cNvSpPr txBox="1"/>
          <p:nvPr/>
        </p:nvSpPr>
        <p:spPr>
          <a:xfrm>
            <a:off x="5440680" y="1993392"/>
            <a:ext cx="4937760" cy="2807208"/>
          </a:xfrm>
          <a:prstGeom prst="rect">
            <a:avLst/>
          </a:prstGeom>
          <a:noFill/>
        </p:spPr>
        <p:txBody>
          <a:bodyPr wrap="square" lIns="288000" tIns="0" rIns="252000" bIns="0" rtlCol="0">
            <a:spAutoFit/>
          </a:bodyPr>
          <a:lstStyle/>
          <a:p>
            <a:pPr>
              <a:spcAft>
                <a:spcPts val="400"/>
              </a:spcAft>
            </a:pPr>
            <a:r>
              <a:rPr lang="ja-JP" altLang="en-US" sz="1000" b="1" dirty="0">
                <a:solidFill>
                  <a:sysClr val="windowText" lastClr="000000"/>
                </a:solidFill>
                <a:latin typeface="游ゴシック"/>
                <a:ea typeface="游ゴシック"/>
              </a:rPr>
              <a:t>≪地元優先の販売≫</a:t>
            </a:r>
          </a:p>
          <a:p>
            <a:pPr>
              <a:spcAft>
                <a:spcPts val="400"/>
              </a:spcAft>
            </a:pPr>
            <a:r>
              <a:rPr lang="ja-JP" altLang="en-US" sz="950" b="0" dirty="0">
                <a:solidFill>
                  <a:sysClr val="windowText" lastClr="000000"/>
                </a:solidFill>
                <a:latin typeface="游ゴシック"/>
                <a:ea typeface="游ゴシック"/>
              </a:rPr>
              <a:t>・可能な限り地元で販売。生鮮品のため、地元で捌き切れない過剰分は豊洲市場や他県へ販売する。</a:t>
            </a:r>
          </a:p>
          <a:p>
            <a:pPr>
              <a:spcAft>
                <a:spcPts val="400"/>
              </a:spcAft>
            </a:pPr>
            <a:r>
              <a:rPr lang="ja-JP" altLang="en-US" sz="1000" b="1" dirty="0">
                <a:solidFill>
                  <a:sysClr val="windowText" lastClr="000000"/>
                </a:solidFill>
                <a:latin typeface="游ゴシック"/>
                <a:ea typeface="游ゴシック"/>
              </a:rPr>
              <a:t>≪主な販売先≫</a:t>
            </a:r>
          </a:p>
          <a:p>
            <a:pPr>
              <a:spcAft>
                <a:spcPts val="400"/>
              </a:spcAft>
            </a:pPr>
            <a:r>
              <a:rPr lang="ja-JP" altLang="en-US" sz="950" b="0" dirty="0">
                <a:solidFill>
                  <a:sysClr val="windowText" lastClr="000000"/>
                </a:solidFill>
                <a:latin typeface="游ゴシック"/>
                <a:ea typeface="游ゴシック"/>
              </a:rPr>
              <a:t>・スーパー・生協等。生協へは鶴岡市内4店舗・酒田市内2店舗と物流拠点へ毎日納品。ゲームセンターの景品向けに野菜・果物を卸す取引もある。</a:t>
            </a:r>
          </a:p>
          <a:p>
            <a:pPr>
              <a:spcAft>
                <a:spcPts val="400"/>
              </a:spcAft>
            </a:pPr>
            <a:r>
              <a:rPr lang="ja-JP" altLang="en-US" sz="1000" b="1" dirty="0">
                <a:solidFill>
                  <a:sysClr val="windowText" lastClr="000000"/>
                </a:solidFill>
                <a:latin typeface="游ゴシック"/>
                <a:ea typeface="游ゴシック"/>
              </a:rPr>
              <a:t>≪配送受託（センター費）≫</a:t>
            </a:r>
          </a:p>
          <a:p>
            <a:pPr>
              <a:spcAft>
                <a:spcPts val="400"/>
              </a:spcAft>
            </a:pPr>
            <a:r>
              <a:rPr lang="ja-JP" altLang="en-US" sz="950" b="0" dirty="0">
                <a:solidFill>
                  <a:sysClr val="windowText" lastClr="000000"/>
                </a:solidFill>
                <a:latin typeface="游ゴシック"/>
                <a:ea typeface="游ゴシック"/>
              </a:rPr>
              <a:t>・(株)主婦の店へは自社商品の納品に加え、先方仕入商品の配送も受託し、配送額の約10%（1日約10万円）をセンター費として受領。同社の店舗数は以前の12店舗から6店舗に減少。</a:t>
            </a:r>
          </a:p>
          <a:p>
            <a:pPr>
              <a:spcAft>
                <a:spcPts val="400"/>
              </a:spcAft>
            </a:pPr>
            <a:r>
              <a:rPr lang="ja-JP" altLang="en-US" sz="1000" b="1" dirty="0">
                <a:solidFill>
                  <a:sysClr val="windowText" lastClr="000000"/>
                </a:solidFill>
                <a:latin typeface="游ゴシック"/>
                <a:ea typeface="游ゴシック"/>
              </a:rPr>
              <a:t>≪受託販売≫</a:t>
            </a:r>
          </a:p>
          <a:p>
            <a:pPr>
              <a:spcAft>
                <a:spcPts val="400"/>
              </a:spcAft>
            </a:pPr>
            <a:r>
              <a:rPr lang="ja-JP" altLang="en-US" sz="950" b="0" dirty="0">
                <a:solidFill>
                  <a:sysClr val="windowText" lastClr="000000"/>
                </a:solidFill>
                <a:latin typeface="游ゴシック"/>
                <a:ea typeface="游ゴシック"/>
              </a:rPr>
              <a:t>・生産者の商品を預かって販売し、販売後に8.5%の手数料を受領（市場で一般的な水準）。</a:t>
            </a:r>
          </a:p>
          <a:p>
            <a:pPr>
              <a:spcAft>
                <a:spcPts val="400"/>
              </a:spcAft>
            </a:pPr>
            <a:r>
              <a:rPr lang="ja-JP" altLang="en-US" sz="1000" b="1" dirty="0">
                <a:solidFill>
                  <a:sysClr val="windowText" lastClr="000000"/>
                </a:solidFill>
                <a:latin typeface="游ゴシック"/>
                <a:ea typeface="游ゴシック"/>
              </a:rPr>
              <a:t>≪代金回収≫</a:t>
            </a:r>
          </a:p>
          <a:p>
            <a:pPr>
              <a:spcAft>
                <a:spcPts val="400"/>
              </a:spcAft>
            </a:pPr>
            <a:r>
              <a:rPr lang="ja-JP" altLang="en-US" sz="950" b="0" dirty="0">
                <a:solidFill>
                  <a:sysClr val="windowText" lastClr="000000"/>
                </a:solidFill>
                <a:latin typeface="游ゴシック"/>
                <a:ea typeface="游ゴシック"/>
              </a:rPr>
              <a:t>・期限内に代金を支払った八百屋等へ完納奨励金を支給（市場業界の商慣習）。販売先から保証金（1先5〜30万円程度）を預かる。</a:t>
            </a:r>
          </a:p>
        </p:txBody>
      </p:sp>
      <p:sp>
        <p:nvSpPr>
          <p:cNvPr id="18" name="Rectangle 17"/>
          <p:cNvSpPr/>
          <p:nvPr/>
        </p:nvSpPr>
        <p:spPr>
          <a:xfrm>
            <a:off x="310896" y="5029200"/>
            <a:ext cx="1280160" cy="155448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游ゴシック"/>
                <a:ea typeface="游ゴシック"/>
              </a:rPr>
              <a:t>ポイント</a:t>
            </a:r>
          </a:p>
        </p:txBody>
      </p:sp>
      <p:sp>
        <p:nvSpPr>
          <p:cNvPr id="19" name="Rectangle 18"/>
          <p:cNvSpPr/>
          <p:nvPr/>
        </p:nvSpPr>
        <p:spPr>
          <a:xfrm>
            <a:off x="1645920" y="5029200"/>
            <a:ext cx="8732520" cy="155448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109728" bIns="109728"/>
          <a:lstStyle/>
          <a:p>
            <a:pPr algn="l">
              <a:spcAft>
                <a:spcPts val="400"/>
              </a:spcAft>
            </a:pPr>
            <a:r>
              <a:rPr sz="1000" b="0">
                <a:solidFill>
                  <a:srgbClr val="000000"/>
                </a:solidFill>
                <a:latin typeface="游ゴシック"/>
                <a:ea typeface="游ゴシック"/>
              </a:rPr>
              <a:t>■ 持込品を原則全量受け入れる集荷力が強みである一方、過剰入荷時の販売先確保が経営上の課題。余剰青果物を継続的に引き取れる販路を持つ買手とのシナジーが大きい。</a:t>
            </a:r>
          </a:p>
          <a:p>
            <a:pPr algn="l">
              <a:spcAft>
                <a:spcPts val="400"/>
              </a:spcAft>
            </a:pPr>
            <a:r>
              <a:rPr sz="1000" b="0">
                <a:solidFill>
                  <a:srgbClr val="000000"/>
                </a:solidFill>
                <a:latin typeface="游ゴシック"/>
                <a:ea typeface="游ゴシック"/>
              </a:rPr>
              <a:t>■ 山形・秋田の大型市場へ出荷している大規模農家など、仕入先の新規開拓余地がある（現状は農家への積極的な営業を行えていない）。</a:t>
            </a:r>
          </a:p>
          <a:p>
            <a:pPr algn="l">
              <a:spcAft>
                <a:spcPts val="400"/>
              </a:spcAft>
            </a:pPr>
            <a:r>
              <a:rPr sz="1000" b="0">
                <a:solidFill>
                  <a:srgbClr val="000000"/>
                </a:solidFill>
                <a:latin typeface="游ゴシック"/>
                <a:ea typeface="游ゴシック"/>
              </a:rPr>
              <a:t>■ 在庫は野菜・果物に分けて各2〜3名で管理。廃棄を要する滞留在庫はなく、帳簿は概ね実態に即しているとのこと。</a:t>
            </a:r>
          </a:p>
        </p:txBody>
      </p:sp>
      <p:sp>
        <p:nvSpPr>
          <p:cNvPr id="20" name="TextBox 19"/>
          <p:cNvSpPr txBox="1"/>
          <p:nvPr/>
        </p:nvSpPr>
        <p:spPr>
          <a:xfrm>
            <a:off x="310896" y="6720840"/>
            <a:ext cx="10058400"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※第2回面談（2026年10月16日、代表者）でのヒアリング内容。過剰分の販売実績・取引条件の裏付け資料は依頼中。</a:t>
            </a:r>
          </a:p>
        </p:txBody>
      </p:sp>
    </p:spTree>
    <p:extLst>
      <p:ext uri="{BB962C8B-B14F-4D97-AF65-F5344CB8AC3E}">
        <p14:creationId xmlns:p14="http://schemas.microsoft.com/office/powerpoint/2010/main" val="1764594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正方形/長方形 15">
            <a:extLst>
              <a:ext uri="{FF2B5EF4-FFF2-40B4-BE49-F238E27FC236}">
                <a16:creationId xmlns:a16="http://schemas.microsoft.com/office/drawing/2014/main" id="{C40E5E72-4BCD-E861-A1A2-154E947EEC6C}"/>
              </a:ext>
            </a:extLst>
          </p:cNvPr>
          <p:cNvSpPr/>
          <p:nvPr/>
        </p:nvSpPr>
        <p:spPr>
          <a:xfrm>
            <a:off x="449262" y="112768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14" name="テキスト ボックス 13">
            <a:extLst>
              <a:ext uri="{FF2B5EF4-FFF2-40B4-BE49-F238E27FC236}">
                <a16:creationId xmlns:a16="http://schemas.microsoft.com/office/drawing/2014/main" id="{E4EAC5C5-4B19-168C-44C3-D63B9FCB0292}"/>
              </a:ext>
            </a:extLst>
          </p:cNvPr>
          <p:cNvSpPr txBox="1"/>
          <p:nvPr/>
        </p:nvSpPr>
        <p:spPr>
          <a:xfrm>
            <a:off x="2114550" y="155426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鶴岡市内唯一の青果市場（開設者兼卸売業者）</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市内の青果市場は当社のみ（2026年1月に2社体制から1社に）。集荷・セリ・分荷の市場機能を自社で担う地域の青果流通インフラ。車で10〜15分の三川町には公設市場がある。</a:t>
            </a:r>
            <a:endParaRPr lang="en-US" altLang="ja-JP" sz="1600" b="1" spc="30" dirty="0">
              <a:solidFill>
                <a:schemeClr val="tx2"/>
              </a:solidFill>
              <a:latin typeface="+mj-ea"/>
              <a:ea typeface="+mj-ea"/>
            </a:endParaRPr>
          </a:p>
        </p:txBody>
      </p:sp>
      <p:sp>
        <p:nvSpPr>
          <p:cNvPr id="3" name="タイトル 2">
            <a:extLst>
              <a:ext uri="{FF2B5EF4-FFF2-40B4-BE49-F238E27FC236}">
                <a16:creationId xmlns:a16="http://schemas.microsoft.com/office/drawing/2014/main" id="{3DD08FDB-DE43-2BEC-7657-AFC65253B448}"/>
              </a:ext>
            </a:extLst>
          </p:cNvPr>
          <p:cNvSpPr>
            <a:spLocks noGrp="1"/>
          </p:cNvSpPr>
          <p:nvPr>
            <p:ph type="ctrTitle"/>
          </p:nvPr>
        </p:nvSpPr>
        <p:spPr/>
        <p:txBody>
          <a:bodyPr/>
          <a:lstStyle/>
          <a:p>
            <a:r>
              <a:rPr lang="ja-JP" altLang="en-US" dirty="0"/>
              <a:t>特徴、強み、成長性等</a:t>
            </a:r>
          </a:p>
        </p:txBody>
      </p:sp>
      <p:sp>
        <p:nvSpPr>
          <p:cNvPr id="2" name="タイトル 1">
            <a:extLst>
              <a:ext uri="{FF2B5EF4-FFF2-40B4-BE49-F238E27FC236}">
                <a16:creationId xmlns:a16="http://schemas.microsoft.com/office/drawing/2014/main" id="{0A4FF749-E8A2-9754-A990-0C08664F52BF}"/>
              </a:ext>
            </a:extLst>
          </p:cNvPr>
          <p:cNvSpPr txBox="1">
            <a:spLocks/>
          </p:cNvSpPr>
          <p:nvPr/>
        </p:nvSpPr>
        <p:spPr>
          <a:xfrm>
            <a:off x="8293101" y="252155"/>
            <a:ext cx="2057400" cy="184666"/>
          </a:xfrm>
          <a:prstGeom prst="rect">
            <a:avLst/>
          </a:prstGeom>
        </p:spPr>
        <p:txBody>
          <a:bodyPr vert="horz" wrap="square"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spc="0" dirty="0"/>
              <a:t>事業概要</a:t>
            </a:r>
          </a:p>
        </p:txBody>
      </p:sp>
      <p:cxnSp>
        <p:nvCxnSpPr>
          <p:cNvPr id="4" name="直線コネクタ 3">
            <a:extLst>
              <a:ext uri="{FF2B5EF4-FFF2-40B4-BE49-F238E27FC236}">
                <a16:creationId xmlns:a16="http://schemas.microsoft.com/office/drawing/2014/main" id="{15777771-F922-A7C4-D3CB-74B58B03FF57}"/>
              </a:ext>
            </a:extLst>
          </p:cNvPr>
          <p:cNvCxnSpPr>
            <a:cxnSpLocks/>
          </p:cNvCxnSpPr>
          <p:nvPr/>
        </p:nvCxnSpPr>
        <p:spPr>
          <a:xfrm>
            <a:off x="449263" y="112311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2" name="正方形/長方形 11">
            <a:extLst>
              <a:ext uri="{FF2B5EF4-FFF2-40B4-BE49-F238E27FC236}">
                <a16:creationId xmlns:a16="http://schemas.microsoft.com/office/drawing/2014/main" id="{4D234CEC-3A04-0F25-446A-5400388CA526}"/>
              </a:ext>
            </a:extLst>
          </p:cNvPr>
          <p:cNvSpPr/>
          <p:nvPr/>
        </p:nvSpPr>
        <p:spPr>
          <a:xfrm>
            <a:off x="647115" y="146968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特徴</a:t>
            </a:r>
            <a:endParaRPr lang="en-US" altLang="ja-JP" b="1" spc="70" dirty="0">
              <a:solidFill>
                <a:schemeClr val="bg1"/>
              </a:solidFill>
              <a:latin typeface="+mj-ea"/>
              <a:ea typeface="+mj-ea"/>
            </a:endParaRPr>
          </a:p>
        </p:txBody>
      </p:sp>
      <p:sp>
        <p:nvSpPr>
          <p:cNvPr id="18" name="正方形/長方形 17">
            <a:extLst>
              <a:ext uri="{FF2B5EF4-FFF2-40B4-BE49-F238E27FC236}">
                <a16:creationId xmlns:a16="http://schemas.microsoft.com/office/drawing/2014/main" id="{0C864657-FFF0-FA13-5524-DC1F4F22D1C8}"/>
              </a:ext>
            </a:extLst>
          </p:cNvPr>
          <p:cNvSpPr/>
          <p:nvPr/>
        </p:nvSpPr>
        <p:spPr>
          <a:xfrm>
            <a:off x="449262" y="3124558"/>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0" name="テキスト ボックス 19">
            <a:extLst>
              <a:ext uri="{FF2B5EF4-FFF2-40B4-BE49-F238E27FC236}">
                <a16:creationId xmlns:a16="http://schemas.microsoft.com/office/drawing/2014/main" id="{48644844-8906-9AF0-5D0D-98648174194F}"/>
              </a:ext>
            </a:extLst>
          </p:cNvPr>
          <p:cNvSpPr txBox="1"/>
          <p:nvPr/>
        </p:nvSpPr>
        <p:spPr>
          <a:xfrm>
            <a:off x="2114550" y="3551135"/>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農家の持込を全量受け入れる集荷力と地元密着の販路</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農家からの持込は数量が多くても原則すべて受け入れる。地元優先で販売し、過剰分は豊洲市場・他県へ出荷。市場用地・施設は自社保有で地代負担なし。</a:t>
            </a:r>
            <a:endParaRPr lang="en-US" altLang="ja-JP" sz="1600" b="1" spc="30" dirty="0">
              <a:solidFill>
                <a:schemeClr val="tx2"/>
              </a:solidFill>
              <a:latin typeface="+mj-ea"/>
              <a:ea typeface="+mj-ea"/>
            </a:endParaRPr>
          </a:p>
        </p:txBody>
      </p:sp>
      <p:cxnSp>
        <p:nvCxnSpPr>
          <p:cNvPr id="21" name="直線コネクタ 20">
            <a:extLst>
              <a:ext uri="{FF2B5EF4-FFF2-40B4-BE49-F238E27FC236}">
                <a16:creationId xmlns:a16="http://schemas.microsoft.com/office/drawing/2014/main" id="{3CCDB214-2D0E-0EEE-88F8-7201AB775BEA}"/>
              </a:ext>
            </a:extLst>
          </p:cNvPr>
          <p:cNvCxnSpPr>
            <a:cxnSpLocks/>
          </p:cNvCxnSpPr>
          <p:nvPr/>
        </p:nvCxnSpPr>
        <p:spPr>
          <a:xfrm>
            <a:off x="449263" y="3119987"/>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8C7E43AC-FD21-D8FF-812C-F486F11E9CD0}"/>
              </a:ext>
            </a:extLst>
          </p:cNvPr>
          <p:cNvSpPr/>
          <p:nvPr/>
        </p:nvSpPr>
        <p:spPr>
          <a:xfrm>
            <a:off x="647115" y="3466558"/>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強み</a:t>
            </a:r>
            <a:endParaRPr lang="en-US" altLang="ja-JP" b="1" spc="70" dirty="0">
              <a:solidFill>
                <a:schemeClr val="bg1"/>
              </a:solidFill>
              <a:latin typeface="+mj-ea"/>
              <a:ea typeface="+mj-ea"/>
            </a:endParaRPr>
          </a:p>
        </p:txBody>
      </p:sp>
      <p:sp>
        <p:nvSpPr>
          <p:cNvPr id="28" name="正方形/長方形 27">
            <a:extLst>
              <a:ext uri="{FF2B5EF4-FFF2-40B4-BE49-F238E27FC236}">
                <a16:creationId xmlns:a16="http://schemas.microsoft.com/office/drawing/2014/main" id="{0BB6E073-4046-E1C0-AB4F-403D39FF250A}"/>
              </a:ext>
            </a:extLst>
          </p:cNvPr>
          <p:cNvSpPr/>
          <p:nvPr/>
        </p:nvSpPr>
        <p:spPr>
          <a:xfrm>
            <a:off x="449262" y="5112286"/>
            <a:ext cx="9793287" cy="1656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endParaRPr kumimoji="1" lang="ja-JP" altLang="en-US" sz="1400" b="1" dirty="0"/>
          </a:p>
        </p:txBody>
      </p:sp>
      <p:sp>
        <p:nvSpPr>
          <p:cNvPr id="29" name="テキスト ボックス 28">
            <a:extLst>
              <a:ext uri="{FF2B5EF4-FFF2-40B4-BE49-F238E27FC236}">
                <a16:creationId xmlns:a16="http://schemas.microsoft.com/office/drawing/2014/main" id="{91275261-EC0D-E601-4242-EE2F20F981A2}"/>
              </a:ext>
            </a:extLst>
          </p:cNvPr>
          <p:cNvSpPr txBox="1"/>
          <p:nvPr/>
        </p:nvSpPr>
        <p:spPr>
          <a:xfrm>
            <a:off x="2114550" y="5538863"/>
            <a:ext cx="7768831" cy="802848"/>
          </a:xfrm>
          <a:prstGeom prst="rect">
            <a:avLst/>
          </a:prstGeom>
          <a:noFill/>
        </p:spPr>
        <p:txBody>
          <a:bodyPr wrap="square" lIns="0" tIns="0" rIns="0" bIns="0" rtlCol="0" anchor="ctr">
            <a:spAutoFit/>
          </a:bodyPr>
          <a:lstStyle/>
          <a:p>
            <a:pPr>
              <a:lnSpc>
                <a:spcPct val="120000"/>
              </a:lnSpc>
              <a:spcAft>
                <a:spcPts val="600"/>
              </a:spcAft>
            </a:pPr>
            <a:r>
              <a:rPr lang="ja-JP" altLang="en-US" sz="1600" b="1" spc="30" dirty="0">
                <a:solidFill>
                  <a:schemeClr val="tx2"/>
                </a:solidFill>
                <a:latin typeface="+mj-ea"/>
                <a:ea typeface="+mj-ea"/>
              </a:rPr>
              <a:t>販路を持つ買手とのシナジー、仕入先の開拓余地</a:t>
            </a:r>
            <a:endParaRPr lang="en-US" altLang="ja-JP" sz="1600" b="1" spc="30" dirty="0">
              <a:solidFill>
                <a:schemeClr val="tx2"/>
              </a:solidFill>
              <a:latin typeface="+mj-ea"/>
              <a:ea typeface="+mj-ea"/>
            </a:endParaRPr>
          </a:p>
          <a:p>
            <a:pPr>
              <a:lnSpc>
                <a:spcPct val="120000"/>
              </a:lnSpc>
              <a:spcAft>
                <a:spcPts val="600"/>
              </a:spcAft>
            </a:pPr>
            <a:r>
              <a:rPr lang="ja-JP" altLang="en-US" sz="1600" b="1" spc="30" dirty="0">
                <a:solidFill>
                  <a:schemeClr val="tx2"/>
                </a:solidFill>
                <a:latin typeface="+mj-ea"/>
                <a:ea typeface="+mj-ea"/>
              </a:rPr>
              <a:t>過剰入荷時の販売先確保が課題であり、余剰青果物を継続的に引き取れる販売網との統合で出口を拡大できる。山形・秋田の大型市場へ出荷する大規模農家の開拓余地もある。</a:t>
            </a:r>
            <a:endParaRPr lang="en-US" altLang="ja-JP" sz="1600" b="1" spc="30" dirty="0">
              <a:solidFill>
                <a:schemeClr val="tx2"/>
              </a:solidFill>
              <a:latin typeface="+mj-ea"/>
              <a:ea typeface="+mj-ea"/>
            </a:endParaRPr>
          </a:p>
        </p:txBody>
      </p:sp>
      <p:cxnSp>
        <p:nvCxnSpPr>
          <p:cNvPr id="30" name="直線コネクタ 29">
            <a:extLst>
              <a:ext uri="{FF2B5EF4-FFF2-40B4-BE49-F238E27FC236}">
                <a16:creationId xmlns:a16="http://schemas.microsoft.com/office/drawing/2014/main" id="{9E59F759-029D-ACD7-2E8B-82D0E894FB13}"/>
              </a:ext>
            </a:extLst>
          </p:cNvPr>
          <p:cNvCxnSpPr>
            <a:cxnSpLocks/>
          </p:cNvCxnSpPr>
          <p:nvPr/>
        </p:nvCxnSpPr>
        <p:spPr>
          <a:xfrm>
            <a:off x="449263" y="5107715"/>
            <a:ext cx="0" cy="165600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9F97658D-62E2-B46F-7C6B-A887412B79A8}"/>
              </a:ext>
            </a:extLst>
          </p:cNvPr>
          <p:cNvSpPr/>
          <p:nvPr/>
        </p:nvSpPr>
        <p:spPr>
          <a:xfrm>
            <a:off x="647115" y="5454286"/>
            <a:ext cx="1191210" cy="972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lnSpc>
                <a:spcPct val="120000"/>
              </a:lnSpc>
              <a:buClr>
                <a:schemeClr val="tx2"/>
              </a:buClr>
              <a:buSzPct val="80000"/>
            </a:pPr>
            <a:r>
              <a:rPr lang="ja-JP" altLang="en-US" b="1" spc="70" dirty="0">
                <a:solidFill>
                  <a:schemeClr val="bg1"/>
                </a:solidFill>
                <a:latin typeface="+mj-ea"/>
                <a:ea typeface="+mj-ea"/>
              </a:rPr>
              <a:t>成長性</a:t>
            </a:r>
            <a:endParaRPr lang="en-US" altLang="ja-JP" b="1" spc="70" dirty="0">
              <a:solidFill>
                <a:schemeClr val="bg1"/>
              </a:solidFill>
              <a:latin typeface="+mj-ea"/>
              <a:ea typeface="+mj-ea"/>
            </a:endParaRPr>
          </a:p>
        </p:txBody>
      </p:sp>
      <p:sp>
        <p:nvSpPr>
          <p:cNvPr id="32" name="TextBox 31"/>
          <p:cNvSpPr txBox="1"/>
          <p:nvPr/>
        </p:nvSpPr>
        <p:spPr>
          <a:xfrm>
            <a:off x="448056" y="6784848"/>
            <a:ext cx="9793224"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※代表者ヒアリング（第2回面談）による。成長性は今後の取組みを前提とした想定であり、実績ではない。</a:t>
            </a:r>
          </a:p>
        </p:txBody>
      </p:sp>
    </p:spTree>
    <p:extLst>
      <p:ext uri="{BB962C8B-B14F-4D97-AF65-F5344CB8AC3E}">
        <p14:creationId xmlns:p14="http://schemas.microsoft.com/office/powerpoint/2010/main" val="27210844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F8F80-D630-2549-01F8-FD24A474441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t>主要得意先の3期推移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(株)主婦の店（鶴岡店）が売上高の28.9%を占める最大の販売先。生協・近隣の青果卸・食品加工業者へも販売し、上位先は3期を通じて概ね同じ顔ぶれで長期・安定的な取引関係にある。</a:t>
            </a:r>
          </a:p>
        </p:txBody>
      </p:sp>
      <p:graphicFrame>
        <p:nvGraphicFramePr>
          <p:cNvPr id="14" name="表（取引先!B2:M17）"/>
          <p:cNvGraphicFramePr>
            <a:graphicFrameLocks noGrp="1"/>
          </p:cNvGraphicFramePr>
          <p:nvPr/>
        </p:nvGraphicFramePr>
        <p:xfrm>
          <a:off x="310896" y="1417320"/>
          <a:ext cx="10058394" cy="4023358"/>
        </p:xfrm>
        <a:graphic>
          <a:graphicData uri="http://schemas.openxmlformats.org/drawingml/2006/table">
            <a:tbl>
              <a:tblPr firstRow="0" bandRow="0">
                <a:tableStyleId>{2D5ABB26-0587-4C30-8999-92F81FD0307C}</a:tableStyleId>
              </a:tblPr>
              <a:tblGrid>
                <a:gridCol w="331942"/>
                <a:gridCol w="1668982"/>
                <a:gridCol w="890123"/>
                <a:gridCol w="955028"/>
                <a:gridCol w="1084838"/>
                <a:gridCol w="727861"/>
                <a:gridCol w="533147"/>
                <a:gridCol w="727861"/>
                <a:gridCol w="533147"/>
                <a:gridCol w="727861"/>
                <a:gridCol w="533147"/>
                <a:gridCol w="1344457"/>
              </a:tblGrid>
              <a:tr h="168317">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792" b="0" i="0" dirty="0">
                          <a:solidFill>
                            <a:srgbClr val="000000"/>
                          </a:solidFill>
                          <a:latin typeface="游ゴシック"/>
                          <a:ea typeface="游ゴシック"/>
                        </a:rPr>
                        <a:t>(単位：千円)</a:t>
                      </a:r>
                      <a:endParaRPr lang="ja-JP" altLang="en-US" sz="792"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r>
              <a:tr h="217130">
                <a:tc rowSpan="2">
                  <a:txBody>
                    <a:bodyPr/>
                    <a:lstStyle/>
                    <a:p>
                      <a:pPr algn="ctr" fontAlgn="ctr"/>
                      <a:r>
                        <a:rPr lang="ja-JP" altLang="en-US" sz="864" b="1" i="0" dirty="0">
                          <a:solidFill>
                            <a:srgbClr val="FFFFFF"/>
                          </a:solidFill>
                          <a:latin typeface="游ゴシック"/>
                          <a:ea typeface="游ゴシック"/>
                        </a:rPr>
                        <a:t>№</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rowSpan="2">
                  <a:txBody>
                    <a:bodyPr/>
                    <a:lstStyle/>
                    <a:p>
                      <a:pPr algn="ctr" fontAlgn="ctr"/>
                      <a:r>
                        <a:rPr lang="ja-JP" altLang="en-US" sz="864" b="1" i="0" dirty="0">
                          <a:solidFill>
                            <a:srgbClr val="FFFFFF"/>
                          </a:solidFill>
                          <a:latin typeface="游ゴシック"/>
                          <a:ea typeface="游ゴシック"/>
                        </a:rPr>
                        <a:t>得意先</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rowSpan="2">
                  <a:txBody>
                    <a:bodyPr/>
                    <a:lstStyle/>
                    <a:p>
                      <a:pPr algn="ctr" fontAlgn="ctr"/>
                      <a:r>
                        <a:rPr lang="ja-JP" altLang="en-US" sz="864" b="1" i="0" dirty="0">
                          <a:solidFill>
                            <a:srgbClr val="FFFFFF"/>
                          </a:solidFill>
                          <a:latin typeface="游ゴシック"/>
                          <a:ea typeface="游ゴシック"/>
                        </a:rPr>
                        <a:t>取引内容</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rowSpan="2">
                  <a:txBody>
                    <a:bodyPr/>
                    <a:lstStyle/>
                    <a:p>
                      <a:pPr algn="ctr" fontAlgn="ctr"/>
                      <a:r>
                        <a:rPr lang="ja-JP" altLang="en-US" sz="864" b="1" i="0" dirty="0">
                          <a:solidFill>
                            <a:srgbClr val="FFFFFF"/>
                          </a:solidFill>
                          <a:latin typeface="游ゴシック"/>
                          <a:ea typeface="游ゴシック"/>
                        </a:rPr>
                        <a:t>本社所在地</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rowSpan="2">
                  <a:txBody>
                    <a:bodyPr/>
                    <a:lstStyle/>
                    <a:p>
                      <a:pPr algn="ctr" fontAlgn="ctr"/>
                      <a:r>
                        <a:rPr lang="ja-JP" altLang="en-US" sz="864" b="1" i="0" dirty="0">
                          <a:solidFill>
                            <a:srgbClr val="FFFFFF"/>
                          </a:solidFill>
                          <a:latin typeface="游ゴシック"/>
                          <a:ea typeface="游ゴシック"/>
                        </a:rPr>
                        <a:t>業種等</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24年3月期</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25年3月期</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26年3月期</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rowSpan="2">
                  <a:txBody>
                    <a:bodyPr/>
                    <a:lstStyle/>
                    <a:p>
                      <a:pPr algn="ctr" fontAlgn="ctr"/>
                      <a:r>
                        <a:rPr lang="ja-JP" altLang="en-US" sz="864" b="1" i="0" dirty="0">
                          <a:solidFill>
                            <a:srgbClr val="FFFFFF"/>
                          </a:solidFill>
                          <a:latin typeface="游ゴシック"/>
                          <a:ea typeface="游ゴシック"/>
                        </a:rPr>
                        <a:t>備考</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FFFFFF"/>
                      </a:solidFill>
                    </a:lnB>
                    <a:solidFill>
                      <a:srgbClr val="0B3041"/>
                    </a:solidFill>
                  </a:tcPr>
                </a:tc>
              </a:tr>
              <a:tr h="217130">
                <a:tc vMerge="1">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noFill/>
                  </a:tcPr>
                </a:tc>
                <a:tc vMerge="1">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noFill/>
                  </a:tcPr>
                </a:tc>
                <a:tc vMerge="1">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noFill/>
                  </a:tcPr>
                </a:tc>
                <a:tc vMerge="1">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noFill/>
                  </a:tcPr>
                </a:tc>
                <a:tc vMerge="1">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noFill/>
                  </a:tcPr>
                </a:tc>
                <a:tc>
                  <a:txBody>
                    <a:bodyPr/>
                    <a:lstStyle/>
                    <a:p>
                      <a:pPr algn="ctr" fontAlgn="ctr"/>
                      <a:r>
                        <a:rPr lang="ja-JP" altLang="en-US" sz="864" b="1" i="0" dirty="0">
                          <a:solidFill>
                            <a:srgbClr val="FFFFFF"/>
                          </a:solidFill>
                          <a:latin typeface="游ゴシック"/>
                          <a:ea typeface="游ゴシック"/>
                        </a:rPr>
                        <a:t>売上高</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構成比</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売上高</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構成比</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売上高</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構成比</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vMerge="1">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solidFill>
                        <a:srgbClr val="FFFFFF"/>
                      </a:solidFill>
                    </a:lnL>
                    <a:lnR w="6350">
                      <a:noFill/>
                    </a:lnR>
                    <a:lnT w="6350">
                      <a:noFill/>
                    </a:lnT>
                    <a:lnB w="6350">
                      <a:solidFill>
                        <a:srgbClr val="FFFFFF"/>
                      </a:solidFill>
                    </a:lnB>
                    <a:noFill/>
                  </a:tcPr>
                </a:tc>
              </a:tr>
              <a:tr h="263137">
                <a:tc>
                  <a:txBody>
                    <a:bodyPr/>
                    <a:lstStyle/>
                    <a:p>
                      <a:pPr algn="ctr" fontAlgn="ctr"/>
                      <a:r>
                        <a:rPr lang="ja-JP" altLang="en-US" sz="864" b="0" i="0" dirty="0">
                          <a:solidFill>
                            <a:srgbClr val="000000"/>
                          </a:solidFill>
                          <a:latin typeface="游ゴシック"/>
                          <a:ea typeface="游ゴシック"/>
                        </a:rPr>
                        <a:t>1</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(株)主婦の店（鶴岡店）</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山形県鶴岡市</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食品スーパー</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308,383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26.2%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302,458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25.6%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345,227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28.9%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配送受託あり</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2</a:t>
                      </a:r>
                      <a:endParaRPr lang="ja-JP" altLang="en-US" sz="864"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生活協同組合共立社</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山形県鶴岡市</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生活協同組合</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96,151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8.2%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99,249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8.4%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85,616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7.2%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毎日納品</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3</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長井中央青果(株)</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山形県長井市</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青果卸売業</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88,081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7.5%</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77,320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6.5%</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75,395</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6.3%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仕入先でもある</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4</a:t>
                      </a:r>
                      <a:endParaRPr lang="ja-JP" altLang="en-US" sz="864"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松浦青果(株)</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要確認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要確認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13,988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20,012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32,186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5</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生活協同組合連合会アイチョイス</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愛知県名古屋市</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生協連合会</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25,341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28,050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22,376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6</a:t>
                      </a:r>
                      <a:endParaRPr lang="ja-JP" altLang="en-US" sz="864"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(株)新庄丸果青果</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山形県新庄市</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青果卸売業</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25,222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23,896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20,030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7</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(株)マルタ</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要確認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要確認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26,352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32,060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19,175</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8</a:t>
                      </a:r>
                      <a:endParaRPr lang="ja-JP" altLang="en-US" sz="864"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小野寺食品 やま亀</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要確認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食品加工</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20,115</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16,808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18,892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9</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(株)R&amp;Cながの青果</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長野県</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青果卸売業</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27,716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25,777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18,857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10</a:t>
                      </a:r>
                      <a:endParaRPr lang="ja-JP" altLang="en-US" sz="864"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(株)マルト直治郎商店</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山形県三川町</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青果卸売業</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6,679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17,634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1.5%</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仕入先でもある</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l"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ctr" fontAlgn="ctr"/>
                      <a:r>
                        <a:rPr lang="ja-JP" altLang="en-US" sz="864" b="0" i="0" dirty="0">
                          <a:solidFill>
                            <a:srgbClr val="000000"/>
                          </a:solidFill>
                          <a:latin typeface="游ゴシック"/>
                          <a:ea typeface="游ゴシック"/>
                        </a:rPr>
                        <a:t>社内勘定（近郷・パッケージ）</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ctr" fontAlgn="ctr"/>
                      <a:r>
                        <a:rPr lang="ja-JP" altLang="en-US" sz="864" b="0" i="0" dirty="0">
                          <a:solidFill>
                            <a:srgbClr val="000000"/>
                          </a:solidFill>
                          <a:latin typeface="游ゴシック"/>
                          <a:ea typeface="游ゴシック"/>
                        </a:rPr>
                        <a:t>部門別勘定</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ctr" fontAlgn="ctr"/>
                      <a:r>
                        <a:rPr lang="ja-JP" altLang="en-US" sz="864" b="0" i="0" dirty="0">
                          <a:solidFill>
                            <a:srgbClr val="000000"/>
                          </a:solidFill>
                          <a:latin typeface="游ゴシック"/>
                          <a:ea typeface="游ゴシック"/>
                        </a:rPr>
                        <a:t>－</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ctr" fontAlgn="ctr"/>
                      <a:r>
                        <a:rPr lang="ja-JP" altLang="en-US" sz="864" b="0" i="0" dirty="0">
                          <a:solidFill>
                            <a:srgbClr val="000000"/>
                          </a:solidFill>
                          <a:latin typeface="游ゴシック"/>
                          <a:ea typeface="游ゴシック"/>
                        </a:rPr>
                        <a:t>－</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306,830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26.0%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334,004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28.3%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333,489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27.9%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性質は要確認（注記参照）</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l"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ctr" fontAlgn="ctr"/>
                      <a:r>
                        <a:rPr lang="ja-JP" altLang="en-US" sz="864" b="0" i="0" dirty="0">
                          <a:solidFill>
                            <a:srgbClr val="000000"/>
                          </a:solidFill>
                          <a:latin typeface="游ゴシック"/>
                          <a:ea typeface="游ゴシック"/>
                        </a:rPr>
                        <a:t>その他</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240,310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20.4%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215,634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18.2%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207,017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17.3%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l"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1F3FB"/>
                    </a:solidFill>
                  </a:tcPr>
                </a:tc>
                <a:tc>
                  <a:txBody>
                    <a:bodyPr/>
                    <a:lstStyle/>
                    <a:p>
                      <a:pPr algn="ctr" fontAlgn="ctr"/>
                      <a:r>
                        <a:rPr lang="ja-JP" altLang="en-US" sz="864" b="1" i="0" dirty="0">
                          <a:solidFill>
                            <a:srgbClr val="000000"/>
                          </a:solidFill>
                          <a:latin typeface="游ゴシック"/>
                          <a:ea typeface="游ゴシック"/>
                        </a:rPr>
                        <a:t>合計（決算書の売上高）</a:t>
                      </a: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ctr"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ctr"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ctr"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1,178,489</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100.0%</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1,181,947</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100.0%</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1,195,893</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100.0%</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l"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r>
            </a:tbl>
          </a:graphicData>
        </a:graphic>
      </p:graphicFrame>
      <p:sp>
        <p:nvSpPr>
          <p:cNvPr id="15" name="TextBox 14"/>
          <p:cNvSpPr txBox="1"/>
          <p:nvPr/>
        </p:nvSpPr>
        <p:spPr>
          <a:xfrm>
            <a:off x="310896" y="5623560"/>
            <a:ext cx="10058400" cy="329184"/>
          </a:xfrm>
          <a:prstGeom prst="rect">
            <a:avLst/>
          </a:prstGeom>
          <a:noFill/>
        </p:spPr>
        <p:txBody>
          <a:bodyPr wrap="square" lIns="0" rIns="0" tIns="0" bIns="0">
            <a:spAutoFit/>
          </a:bodyPr>
          <a:lstStyle/>
          <a:p>
            <a:r>
              <a:rPr sz="750">
                <a:solidFill>
                  <a:srgbClr val="000000"/>
                </a:solidFill>
                <a:latin typeface="游ゴシック"/>
                <a:ea typeface="游ゴシック"/>
              </a:rPr>
              <a:t>※買参人別順位表（販売管理システム、各期上位20位）の年間売上金額。上位20位圏外の年度は「－」。構成比は決算書の売上高に対する比率（集計基準が異なるため参考値）。業種等は公開情報からの推察を含む。</a:t>
            </a:r>
          </a:p>
          <a:p>
            <a:r>
              <a:rPr sz="750">
                <a:solidFill>
                  <a:srgbClr val="000000"/>
                </a:solidFill>
                <a:latin typeface="游ゴシック"/>
                <a:ea typeface="游ゴシック"/>
              </a:rPr>
              <a:t>※社内勘定は近郷部の集荷担当別（KK）・パッケージ部門別の勘定で、仕入側にも同名の勘定がある（性質は要確認）。長井中央青果(株)の2024/3期は旧コード分を合算。</a:t>
            </a:r>
          </a:p>
        </p:txBody>
      </p:sp>
    </p:spTree>
    <p:extLst>
      <p:ext uri="{BB962C8B-B14F-4D97-AF65-F5344CB8AC3E}">
        <p14:creationId xmlns:p14="http://schemas.microsoft.com/office/powerpoint/2010/main" val="588634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8376-2868-4693-0731-367BA549897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C27F0F89-0B1D-9CEC-826A-DEB17C9DB0B7}"/>
              </a:ext>
            </a:extLst>
          </p:cNvPr>
          <p:cNvSpPr>
            <a:spLocks noGrp="1"/>
          </p:cNvSpPr>
          <p:nvPr>
            <p:ph type="ctrTitle"/>
          </p:nvPr>
        </p:nvSpPr>
        <p:spPr>
          <a:xfrm>
            <a:off x="311150" y="180296"/>
            <a:ext cx="7799917" cy="339267"/>
          </a:xfrm>
        </p:spPr>
        <p:txBody>
          <a:bodyPr>
            <a:normAutofit/>
          </a:bodyPr>
          <a:lstStyle/>
          <a:p>
            <a:r>
              <a:rPr lang="ja-JP" altLang="en-US" dirty="0"/>
              <a:t>主要仕入先の3期推移</a:t>
            </a:r>
          </a:p>
        </p:txBody>
      </p:sp>
      <p:sp>
        <p:nvSpPr>
          <p:cNvPr id="5" name="タイトル 1">
            <a:extLst>
              <a:ext uri="{FF2B5EF4-FFF2-40B4-BE49-F238E27FC236}">
                <a16:creationId xmlns:a16="http://schemas.microsoft.com/office/drawing/2014/main" id="{2223494B-5776-7256-BAFB-772D4CDC079C}"/>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5" name="字幕 13">
            <a:extLst>
              <a:ext uri="{FF2B5EF4-FFF2-40B4-BE49-F238E27FC236}">
                <a16:creationId xmlns:a16="http://schemas.microsoft.com/office/drawing/2014/main" id="{1F008ACD-B486-E0BB-8334-06D21A697D0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公設庄内青果物地方卸売市場（三川町）の卸売業者2社からの仕入が41.5%を占める。長井中央青果(株)等の県内市場、JA・地元生産者からも集荷し、品揃えを確保している。</a:t>
            </a:r>
          </a:p>
        </p:txBody>
      </p:sp>
      <p:graphicFrame>
        <p:nvGraphicFramePr>
          <p:cNvPr id="16" name="表（仕入先!B2:L17）"/>
          <p:cNvGraphicFramePr>
            <a:graphicFrameLocks noGrp="1"/>
          </p:cNvGraphicFramePr>
          <p:nvPr/>
        </p:nvGraphicFramePr>
        <p:xfrm>
          <a:off x="310896" y="1417320"/>
          <a:ext cx="10058397" cy="4023358"/>
        </p:xfrm>
        <a:graphic>
          <a:graphicData uri="http://schemas.openxmlformats.org/drawingml/2006/table">
            <a:tbl>
              <a:tblPr firstRow="0" bandRow="0">
                <a:tableStyleId>{2D5ABB26-0587-4C30-8999-92F81FD0307C}</a:tableStyleId>
              </a:tblPr>
              <a:tblGrid>
                <a:gridCol w="351719"/>
                <a:gridCol w="1768423"/>
                <a:gridCol w="1080703"/>
                <a:gridCol w="1149475"/>
                <a:gridCol w="771229"/>
                <a:gridCol w="564913"/>
                <a:gridCol w="771229"/>
                <a:gridCol w="564913"/>
                <a:gridCol w="771229"/>
                <a:gridCol w="564913"/>
                <a:gridCol w="1699651"/>
              </a:tblGrid>
              <a:tr h="168317">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792" b="0" i="0" dirty="0">
                          <a:solidFill>
                            <a:srgbClr val="000000"/>
                          </a:solidFill>
                          <a:latin typeface="游ゴシック"/>
                          <a:ea typeface="游ゴシック"/>
                        </a:rPr>
                        <a:t>(単位：千円)</a:t>
                      </a:r>
                      <a:endParaRPr lang="ja-JP" altLang="en-US" sz="792"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r>
              <a:tr h="217130">
                <a:tc rowSpan="2">
                  <a:txBody>
                    <a:bodyPr/>
                    <a:lstStyle/>
                    <a:p>
                      <a:pPr algn="ctr" fontAlgn="ctr"/>
                      <a:r>
                        <a:rPr lang="ja-JP" altLang="en-US" sz="864" b="1" i="0" dirty="0">
                          <a:solidFill>
                            <a:srgbClr val="FFFFFF"/>
                          </a:solidFill>
                          <a:latin typeface="游ゴシック"/>
                          <a:ea typeface="游ゴシック"/>
                        </a:rPr>
                        <a:t>№</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rowSpan="2">
                  <a:txBody>
                    <a:bodyPr/>
                    <a:lstStyle/>
                    <a:p>
                      <a:pPr algn="ctr" fontAlgn="ctr"/>
                      <a:r>
                        <a:rPr lang="ja-JP" altLang="en-US" sz="864" b="1" i="0" dirty="0">
                          <a:solidFill>
                            <a:srgbClr val="FFFFFF"/>
                          </a:solidFill>
                          <a:latin typeface="游ゴシック"/>
                          <a:ea typeface="游ゴシック"/>
                        </a:rPr>
                        <a:t>仕入先</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rowSpan="2">
                  <a:txBody>
                    <a:bodyPr/>
                    <a:lstStyle/>
                    <a:p>
                      <a:pPr algn="ctr" fontAlgn="ctr"/>
                      <a:r>
                        <a:rPr lang="ja-JP" altLang="en-US" sz="864" b="1" i="0" dirty="0">
                          <a:solidFill>
                            <a:srgbClr val="FFFFFF"/>
                          </a:solidFill>
                          <a:latin typeface="游ゴシック"/>
                          <a:ea typeface="游ゴシック"/>
                        </a:rPr>
                        <a:t>仕入内容</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rowSpan="2">
                  <a:txBody>
                    <a:bodyPr/>
                    <a:lstStyle/>
                    <a:p>
                      <a:pPr algn="ctr" fontAlgn="ctr"/>
                      <a:r>
                        <a:rPr lang="ja-JP" altLang="en-US" sz="864" b="1" i="0" dirty="0">
                          <a:solidFill>
                            <a:srgbClr val="FFFFFF"/>
                          </a:solidFill>
                          <a:latin typeface="游ゴシック"/>
                          <a:ea typeface="游ゴシック"/>
                        </a:rPr>
                        <a:t>本社所在地</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24年3月期</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25年3月期</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26年3月期</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rowSpan="2">
                  <a:txBody>
                    <a:bodyPr/>
                    <a:lstStyle/>
                    <a:p>
                      <a:pPr algn="ctr" fontAlgn="ctr"/>
                      <a:r>
                        <a:rPr lang="ja-JP" altLang="en-US" sz="864" b="1" i="0" dirty="0">
                          <a:solidFill>
                            <a:srgbClr val="FFFFFF"/>
                          </a:solidFill>
                          <a:latin typeface="游ゴシック"/>
                          <a:ea typeface="游ゴシック"/>
                        </a:rPr>
                        <a:t>備考</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FFFFFF"/>
                      </a:solidFill>
                    </a:lnB>
                    <a:solidFill>
                      <a:srgbClr val="0B3041"/>
                    </a:solidFill>
                  </a:tcPr>
                </a:tc>
              </a:tr>
              <a:tr h="217130">
                <a:tc vMerge="1">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noFill/>
                  </a:tcPr>
                </a:tc>
                <a:tc vMerge="1">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noFill/>
                  </a:tcPr>
                </a:tc>
                <a:tc vMerge="1">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noFill/>
                  </a:tcPr>
                </a:tc>
                <a:tc vMerge="1">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noFill/>
                  </a:tcPr>
                </a:tc>
                <a:tc>
                  <a:txBody>
                    <a:bodyPr/>
                    <a:lstStyle/>
                    <a:p>
                      <a:pPr algn="ctr" fontAlgn="ctr"/>
                      <a:r>
                        <a:rPr lang="ja-JP" altLang="en-US" sz="864" b="1" i="0" dirty="0">
                          <a:solidFill>
                            <a:srgbClr val="FFFFFF"/>
                          </a:solidFill>
                          <a:latin typeface="游ゴシック"/>
                          <a:ea typeface="游ゴシック"/>
                        </a:rPr>
                        <a:t>仕入高</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構成比</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仕入高</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構成比</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仕入高</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構成比</a:t>
                      </a:r>
                      <a:endParaRPr lang="ja-JP" altLang="en-US" sz="86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vMerge="1">
                  <a:txBody>
                    <a:bodyPr/>
                    <a:lstStyle/>
                    <a:p>
                      <a:pPr algn="l" fontAlgn="ctr"/>
                      <a:endParaRPr lang="ja-JP" altLang="en-US" sz="792" b="0" i="0" dirty="0">
                        <a:solidFill>
                          <a:srgbClr val="000000"/>
                        </a:solidFill>
                        <a:latin typeface="游ゴシック Medium"/>
                        <a:ea typeface="游ゴシック"/>
                      </a:endParaRPr>
                    </a:p>
                  </a:txBody>
                  <a:tcPr marL="36576" marR="36576" marT="0" marB="0" anchor="ctr">
                    <a:lnL w="6350">
                      <a:solidFill>
                        <a:srgbClr val="FFFFFF"/>
                      </a:solidFill>
                    </a:lnL>
                    <a:lnR w="6350">
                      <a:noFill/>
                    </a:lnR>
                    <a:lnT w="6350">
                      <a:noFill/>
                    </a:lnT>
                    <a:lnB w="6350">
                      <a:solidFill>
                        <a:srgbClr val="FFFFFF"/>
                      </a:solidFill>
                    </a:lnB>
                    <a:noFill/>
                  </a:tcPr>
                </a:tc>
              </a:tr>
              <a:tr h="263137">
                <a:tc>
                  <a:txBody>
                    <a:bodyPr/>
                    <a:lstStyle/>
                    <a:p>
                      <a:pPr algn="ctr" fontAlgn="ctr"/>
                      <a:r>
                        <a:rPr lang="ja-JP" altLang="en-US" sz="864" b="0" i="0" dirty="0">
                          <a:solidFill>
                            <a:srgbClr val="000000"/>
                          </a:solidFill>
                          <a:latin typeface="游ゴシック"/>
                          <a:ea typeface="游ゴシック"/>
                        </a:rPr>
                        <a:t>1</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丸果庄内青果(株)</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山形県三川町</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237,537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24.9%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246,284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25.2%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315,032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31.6%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公設庄内青果物市場の卸売業者</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2</a:t>
                      </a:r>
                      <a:endParaRPr lang="ja-JP" altLang="en-US" sz="864"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(株)庄果</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山形県三川町</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113,535</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11.9%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114,398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11.7%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98,622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9.9%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同上</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3</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長井中央青果(株)</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山形県長井市</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29,926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3.1%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35,263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3.6%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62,586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6.3%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販売先でもある</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4</a:t>
                      </a:r>
                      <a:endParaRPr lang="ja-JP" altLang="en-US" sz="864"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(株)マルト直治郎商店</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山形県三川町</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30,113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3.2%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56,151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5.8%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21,975</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2.2%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販売先でもある</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5</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成田食品(株)</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青果・加工品</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福島県相馬市</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14,128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1.5%</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14,916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1.5%</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15,635</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6</a:t>
                      </a:r>
                      <a:endParaRPr lang="ja-JP" altLang="en-US" sz="864"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庄内みどり農業協同組合</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受託品</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山形県酒田市</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7,118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7,594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8,879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受託販売の委託者</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7</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マルショウ青果(有)</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要確認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14,840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3,207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7,847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8</a:t>
                      </a:r>
                      <a:endParaRPr lang="ja-JP" altLang="en-US" sz="864"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生産者A（波の会）</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地場産青果物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庄内地方</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5,608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6,263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6,934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個人生産者のため匿名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9</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生産者B（波の会）</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地場産青果物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庄内地方</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8,174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7,441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6,490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個人生産者のため匿名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ctr" fontAlgn="ctr"/>
                      <a:r>
                        <a:rPr lang="ja-JP" altLang="en-US" sz="864" b="0" i="0" dirty="0">
                          <a:solidFill>
                            <a:srgbClr val="000000"/>
                          </a:solidFill>
                          <a:latin typeface="游ゴシック"/>
                          <a:ea typeface="游ゴシック"/>
                        </a:rPr>
                        <a:t>10</a:t>
                      </a:r>
                      <a:endParaRPr lang="ja-JP" altLang="en-US" sz="864"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(株)丸越</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青果物</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要確認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6,057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6,407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0.6%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ctr" fontAlgn="ctr"/>
                      <a:r>
                        <a:rPr lang="ja-JP" altLang="en-US" sz="864" b="0" i="0" dirty="0">
                          <a:solidFill>
                            <a:srgbClr val="000000"/>
                          </a:solidFill>
                          <a:latin typeface="游ゴシック"/>
                          <a:ea typeface="游ゴシック"/>
                        </a:rPr>
                        <a:t>社内勘定（近郷・パッケージ）</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ctr" fontAlgn="ctr"/>
                      <a:r>
                        <a:rPr lang="ja-JP" altLang="en-US" sz="864" b="0" i="0" dirty="0">
                          <a:solidFill>
                            <a:srgbClr val="000000"/>
                          </a:solidFill>
                          <a:latin typeface="游ゴシック"/>
                          <a:ea typeface="游ゴシック"/>
                        </a:rPr>
                        <a:t>部門別勘定</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ctr" fontAlgn="ctr"/>
                      <a:r>
                        <a:rPr lang="ja-JP" altLang="en-US" sz="864" b="0" i="0" dirty="0">
                          <a:solidFill>
                            <a:srgbClr val="000000"/>
                          </a:solidFill>
                          <a:latin typeface="游ゴシック"/>
                          <a:ea typeface="游ゴシック"/>
                        </a:rPr>
                        <a:t>－</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405,811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42.6%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377,524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38.7%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328,220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33.0%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864" b="0" i="0" dirty="0">
                          <a:solidFill>
                            <a:srgbClr val="000000"/>
                          </a:solidFill>
                          <a:latin typeface="游ゴシック"/>
                          <a:ea typeface="游ゴシック"/>
                        </a:rPr>
                        <a:t>　性質は要確認（注記参照）</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ctr" fontAlgn="ctr"/>
                      <a:r>
                        <a:rPr lang="ja-JP" altLang="en-US" sz="864" b="0" i="0" dirty="0">
                          <a:solidFill>
                            <a:srgbClr val="000000"/>
                          </a:solidFill>
                          <a:latin typeface="游ゴシック"/>
                          <a:ea typeface="游ゴシック"/>
                        </a:rPr>
                        <a:t>その他</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86,508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9.1%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101,137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10.4%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117,408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864" b="0" i="0" dirty="0">
                          <a:solidFill>
                            <a:srgbClr val="000000"/>
                          </a:solidFill>
                          <a:latin typeface="Arial"/>
                          <a:ea typeface="游ゴシック Medium"/>
                        </a:rPr>
                        <a:t>　11.8%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63137">
                <a:tc>
                  <a:txBody>
                    <a:bodyPr/>
                    <a:lstStyle/>
                    <a:p>
                      <a:pPr algn="l"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1F3FB"/>
                    </a:solidFill>
                  </a:tcPr>
                </a:tc>
                <a:tc>
                  <a:txBody>
                    <a:bodyPr/>
                    <a:lstStyle/>
                    <a:p>
                      <a:pPr algn="ctr" fontAlgn="ctr"/>
                      <a:r>
                        <a:rPr lang="ja-JP" altLang="en-US" sz="864" b="1" i="0" dirty="0">
                          <a:solidFill>
                            <a:srgbClr val="000000"/>
                          </a:solidFill>
                          <a:latin typeface="游ゴシック"/>
                          <a:ea typeface="游ゴシック"/>
                        </a:rPr>
                        <a:t>合計（決算書の仕入高）</a:t>
                      </a: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ctr"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ctr"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953,298</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100.0%</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976,236</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100.0%</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996,035</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64" b="1" i="0" dirty="0">
                          <a:solidFill>
                            <a:srgbClr val="000000"/>
                          </a:solidFill>
                          <a:latin typeface="Arial"/>
                          <a:ea typeface="游ゴシック Medium"/>
                        </a:rPr>
                        <a:t>100.0%</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l"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r>
            </a:tbl>
          </a:graphicData>
        </a:graphic>
      </p:graphicFrame>
      <p:sp>
        <p:nvSpPr>
          <p:cNvPr id="17" name="TextBox 16"/>
          <p:cNvSpPr txBox="1"/>
          <p:nvPr/>
        </p:nvSpPr>
        <p:spPr>
          <a:xfrm>
            <a:off x="310896" y="5623560"/>
            <a:ext cx="10058400" cy="329184"/>
          </a:xfrm>
          <a:prstGeom prst="rect">
            <a:avLst/>
          </a:prstGeom>
          <a:noFill/>
        </p:spPr>
        <p:txBody>
          <a:bodyPr wrap="square" lIns="0" rIns="0" tIns="0" bIns="0">
            <a:spAutoFit/>
          </a:bodyPr>
          <a:lstStyle/>
          <a:p>
            <a:r>
              <a:rPr sz="750">
                <a:solidFill>
                  <a:srgbClr val="000000"/>
                </a:solidFill>
                <a:latin typeface="游ゴシック"/>
                <a:ea typeface="游ゴシック"/>
              </a:rPr>
              <a:t>※荷主別順位表（販売管理システム、各期上位20件）の年間仕入金額。上位20件圏外の年度は「－」。構成比は決算書の仕入高に対する比率（集計基準が異なるため参考値）。所在地・業種等は推察を含む。</a:t>
            </a:r>
          </a:p>
          <a:p>
            <a:r>
              <a:rPr sz="750">
                <a:solidFill>
                  <a:srgbClr val="000000"/>
                </a:solidFill>
                <a:latin typeface="游ゴシック"/>
                <a:ea typeface="游ゴシック"/>
              </a:rPr>
              <a:t>※個人生産者は匿名で記載。社内勘定は近郷部の集荷担当別（KK）・パッケージ部門別の勘定（性質は要確認）。</a:t>
            </a:r>
          </a:p>
        </p:txBody>
      </p:sp>
    </p:spTree>
    <p:extLst>
      <p:ext uri="{BB962C8B-B14F-4D97-AF65-F5344CB8AC3E}">
        <p14:creationId xmlns:p14="http://schemas.microsoft.com/office/powerpoint/2010/main" val="19629684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7C0C1-FCD4-88FA-EA3C-20168900DCC8}"/>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AE20CDE1-7008-F0D4-81FD-53AE154BF5EA}"/>
              </a:ext>
            </a:extLst>
          </p:cNvPr>
          <p:cNvSpPr>
            <a:spLocks noGrp="1"/>
          </p:cNvSpPr>
          <p:nvPr>
            <p:ph type="ctrTitle"/>
          </p:nvPr>
        </p:nvSpPr>
        <p:spPr>
          <a:xfrm>
            <a:off x="311150" y="180296"/>
            <a:ext cx="7799917" cy="339267"/>
          </a:xfrm>
        </p:spPr>
        <p:txBody>
          <a:bodyPr>
            <a:normAutofit/>
          </a:bodyPr>
          <a:lstStyle/>
          <a:p>
            <a:r>
              <a:rPr lang="ja-JP" altLang="en-US" dirty="0"/>
              <a:t>月別売上高（2026/3期）</a:t>
            </a:r>
          </a:p>
        </p:txBody>
      </p:sp>
      <p:sp>
        <p:nvSpPr>
          <p:cNvPr id="5" name="タイトル 1">
            <a:extLst>
              <a:ext uri="{FF2B5EF4-FFF2-40B4-BE49-F238E27FC236}">
                <a16:creationId xmlns:a16="http://schemas.microsoft.com/office/drawing/2014/main" id="{6790A563-0096-2902-0624-D66AB2A099B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7" name="字幕 13">
            <a:extLst>
              <a:ext uri="{FF2B5EF4-FFF2-40B4-BE49-F238E27FC236}">
                <a16:creationId xmlns:a16="http://schemas.microsoft.com/office/drawing/2014/main" id="{C28AC2D5-7B01-C5B2-1062-1CE28DB5BD3C}"/>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繁忙期は7〜12月、閑散期は1〜5月。2026/3期は7月の146百万円がピークで、1〜2月の約70百万円とは約2倍の差がある。</a:t>
            </a:r>
          </a:p>
        </p:txBody>
      </p:sp>
      <p:graphicFrame>
        <p:nvGraphicFramePr>
          <p:cNvPr id="14" name="Chart 13"/>
          <p:cNvGraphicFramePr>
            <a:graphicFrameLocks noGrp="1"/>
          </p:cNvGraphicFramePr>
          <p:nvPr/>
        </p:nvGraphicFramePr>
        <p:xfrm>
          <a:off x="310896" y="1417320"/>
          <a:ext cx="6675120" cy="3429000"/>
        </p:xfrm>
        <a:graphic>
          <a:graphicData uri="http://schemas.openxmlformats.org/drawingml/2006/chart">
            <c:chart xmlns:c="http://schemas.openxmlformats.org/drawingml/2006/chart" r:id="rId4"/>
          </a:graphicData>
        </a:graphic>
      </p:graphicFrame>
      <p:sp>
        <p:nvSpPr>
          <p:cNvPr id="15" name="正方形/長方形 7">
            <a:extLst>
              <a:ext uri="{FF2B5EF4-FFF2-40B4-BE49-F238E27FC236}">
                <a16:creationId xmlns:a16="http://schemas.microsoft.com/office/drawing/2014/main" id="{CBD334A9-999C-ACD4-9DD2-EF961CBA0926}"/>
              </a:ext>
            </a:extLst>
          </p:cNvPr>
          <p:cNvSpPr/>
          <p:nvPr/>
        </p:nvSpPr>
        <p:spPr>
          <a:xfrm>
            <a:off x="7178040" y="1417320"/>
            <a:ext cx="3154680" cy="342900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16" name="テキスト ボックス 8">
            <a:extLst>
              <a:ext uri="{FF2B5EF4-FFF2-40B4-BE49-F238E27FC236}">
                <a16:creationId xmlns:a16="http://schemas.microsoft.com/office/drawing/2014/main" id="{E5084622-1D6B-783F-80DE-6D9A498C7C12}"/>
              </a:ext>
            </a:extLst>
          </p:cNvPr>
          <p:cNvSpPr txBox="1"/>
          <p:nvPr/>
        </p:nvSpPr>
        <p:spPr>
          <a:xfrm>
            <a:off x="7178040" y="1874519"/>
            <a:ext cx="3154680" cy="292608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≪季節性≫</a:t>
            </a:r>
          </a:p>
          <a:p>
            <a:pPr>
              <a:spcAft>
                <a:spcPts val="300"/>
              </a:spcAft>
            </a:pPr>
            <a:r>
              <a:rPr lang="ja-JP" altLang="en-US" sz="900" b="0" dirty="0">
                <a:solidFill>
                  <a:sysClr val="windowText" lastClr="000000"/>
                </a:solidFill>
                <a:latin typeface="游ゴシック"/>
                <a:ea typeface="游ゴシック"/>
              </a:rPr>
              <a:t>・月平均100百万円に対し、7月は1.47倍、8月は1.39倍。</a:t>
            </a:r>
          </a:p>
          <a:p>
            <a:pPr>
              <a:spcAft>
                <a:spcPts val="300"/>
              </a:spcAft>
            </a:pPr>
            <a:r>
              <a:rPr lang="ja-JP" altLang="en-US" sz="1000" b="1" dirty="0">
                <a:solidFill>
                  <a:sysClr val="windowText" lastClr="000000"/>
                </a:solidFill>
                <a:latin typeface="游ゴシック"/>
                <a:ea typeface="游ゴシック"/>
              </a:rPr>
              <a:t>≪主な地元産品≫</a:t>
            </a:r>
          </a:p>
          <a:p>
            <a:pPr>
              <a:spcAft>
                <a:spcPts val="300"/>
              </a:spcAft>
            </a:pPr>
            <a:r>
              <a:rPr lang="ja-JP" altLang="en-US" sz="900" b="0" dirty="0">
                <a:solidFill>
                  <a:sysClr val="windowText" lastClr="000000"/>
                </a:solidFill>
                <a:latin typeface="游ゴシック"/>
                <a:ea typeface="游ゴシック"/>
              </a:rPr>
              <a:t>・庄内柿、和梨、さくらんぼ、メロン、シャインマスカット等。果物は概ね11月頃まで。12月〜正月は関東の仲卸からも仕入れて需要に対応。</a:t>
            </a:r>
          </a:p>
          <a:p>
            <a:pPr>
              <a:spcAft>
                <a:spcPts val="300"/>
              </a:spcAft>
            </a:pPr>
            <a:r>
              <a:rPr lang="ja-JP" altLang="en-US" sz="1000" b="1" dirty="0">
                <a:solidFill>
                  <a:sysClr val="windowText" lastClr="000000"/>
                </a:solidFill>
                <a:latin typeface="游ゴシック"/>
                <a:ea typeface="游ゴシック"/>
              </a:rPr>
              <a:t>≪運転資金≫</a:t>
            </a:r>
          </a:p>
          <a:p>
            <a:pPr>
              <a:spcAft>
                <a:spcPts val="300"/>
              </a:spcAft>
            </a:pPr>
            <a:r>
              <a:rPr lang="ja-JP" altLang="en-US" sz="900" b="0" dirty="0">
                <a:solidFill>
                  <a:sysClr val="windowText" lastClr="000000"/>
                </a:solidFill>
                <a:latin typeface="游ゴシック"/>
                <a:ea typeface="游ゴシック"/>
              </a:rPr>
              <a:t>・2026年7月末の売上債権43.0百万円・在庫36.6百万円は3月末から増加。</a:t>
            </a:r>
          </a:p>
        </p:txBody>
      </p:sp>
      <p:graphicFrame>
        <p:nvGraphicFramePr>
          <p:cNvPr id="17" name="表（月別売上!B4:O8）"/>
          <p:cNvGraphicFramePr>
            <a:graphicFrameLocks noGrp="1"/>
          </p:cNvGraphicFramePr>
          <p:nvPr/>
        </p:nvGraphicFramePr>
        <p:xfrm>
          <a:off x="310896" y="5029200"/>
          <a:ext cx="10021817" cy="1079500"/>
        </p:xfrm>
        <a:graphic>
          <a:graphicData uri="http://schemas.openxmlformats.org/drawingml/2006/table">
            <a:tbl>
              <a:tblPr firstRow="0" bandRow="0">
                <a:tableStyleId>{2D5ABB26-0587-4C30-8999-92F81FD0307C}</a:tableStyleId>
              </a:tblPr>
              <a:tblGrid>
                <a:gridCol w="978977"/>
                <a:gridCol w="680570"/>
                <a:gridCol w="680570"/>
                <a:gridCol w="680570"/>
                <a:gridCol w="680570"/>
                <a:gridCol w="680570"/>
                <a:gridCol w="680570"/>
                <a:gridCol w="680570"/>
                <a:gridCol w="680570"/>
                <a:gridCol w="680570"/>
                <a:gridCol w="680570"/>
                <a:gridCol w="680570"/>
                <a:gridCol w="680570"/>
                <a:gridCol w="876000"/>
              </a:tblGrid>
              <a:tr h="190500">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Calibri"/>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28600">
                <a:tc>
                  <a:txBody>
                    <a:bodyPr/>
                    <a:lstStyle/>
                    <a:p>
                      <a:pPr algn="ctr" fontAlgn="ct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4月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5月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6月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7月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8月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9月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10月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11月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12月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1月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2月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3月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合計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241300">
                <a:tc>
                  <a:txBody>
                    <a:bodyPr/>
                    <a:lstStyle/>
                    <a:p>
                      <a:pPr algn="l" fontAlgn="ctr"/>
                      <a:r>
                        <a:rPr lang="ja-JP" altLang="en-US" sz="1050" b="0" i="0" dirty="0">
                          <a:solidFill>
                            <a:srgbClr val="000000"/>
                          </a:solidFill>
                          <a:latin typeface="游ゴシック"/>
                          <a:ea typeface="游ゴシック"/>
                        </a:rPr>
                        <a:t>売上高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87,736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101,698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83,794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146,060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138,177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110,175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106,499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100,617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98,058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69,520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69,339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84,221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1" i="0" dirty="0">
                          <a:solidFill>
                            <a:srgbClr val="000000"/>
                          </a:solidFill>
                          <a:latin typeface="Arial"/>
                          <a:ea typeface="游ゴシック Medium"/>
                        </a:rPr>
                        <a:t>1,195,894</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241300">
                <a:tc>
                  <a:txBody>
                    <a:bodyPr/>
                    <a:lstStyle/>
                    <a:p>
                      <a:pPr algn="l" fontAlgn="ctr"/>
                      <a:r>
                        <a:rPr lang="ja-JP" altLang="en-US" sz="1050" b="0" i="0" dirty="0">
                          <a:solidFill>
                            <a:srgbClr val="000000"/>
                          </a:solidFill>
                          <a:latin typeface="游ゴシック"/>
                          <a:ea typeface="游ゴシック"/>
                        </a:rPr>
                        <a:t>仕入高</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1050" b="0" i="0" dirty="0">
                          <a:solidFill>
                            <a:srgbClr val="000000"/>
                          </a:solidFill>
                          <a:latin typeface="Arial"/>
                          <a:ea typeface="游ゴシック Medium"/>
                        </a:rPr>
                        <a:t>76,904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86,235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74,095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139,243</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96,826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85,074</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84,386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85,425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82,345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56,698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58,088</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70,716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1" i="0" dirty="0">
                          <a:solidFill>
                            <a:srgbClr val="000000"/>
                          </a:solidFill>
                          <a:latin typeface="Arial"/>
                          <a:ea typeface="游ゴシック Medium"/>
                        </a:rPr>
                        <a:t>996,035</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r h="177800">
                <a:tc>
                  <a:txBody>
                    <a:bodyPr/>
                    <a:lstStyle/>
                    <a:p>
                      <a:pPr algn="r" fontAlgn="ctr"/>
                      <a:r>
                        <a:rPr lang="ja-JP" altLang="en-US" sz="700" b="0" i="1" dirty="0">
                          <a:solidFill>
                            <a:srgbClr val="000000"/>
                          </a:solidFill>
                          <a:latin typeface="游ゴシック"/>
                          <a:ea typeface="游ゴシック"/>
                        </a:rPr>
                        <a:t>月平均比</a:t>
                      </a:r>
                      <a:endParaRPr lang="ja-JP" altLang="en-US" sz="700" b="0" i="1"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r" fontAlgn="ctr"/>
                      <a:r>
                        <a:rPr lang="ja-JP" altLang="en-US" sz="700" b="0" i="1" dirty="0">
                          <a:solidFill>
                            <a:srgbClr val="000000"/>
                          </a:solidFill>
                          <a:latin typeface="Arial"/>
                          <a:ea typeface="游ゴシック Medium"/>
                        </a:rPr>
                        <a:t>0.88倍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1.02倍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0.84倍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1.47倍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1.39倍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1.11倍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1.07倍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1.01倍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0.98倍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0.70倍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0.70倍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700" b="0" i="1" dirty="0">
                          <a:solidFill>
                            <a:srgbClr val="000000"/>
                          </a:solidFill>
                          <a:latin typeface="Arial"/>
                          <a:ea typeface="游ゴシック Medium"/>
                        </a:rPr>
                        <a:t>0.85倍</a:t>
                      </a: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endParaRPr lang="ja-JP" altLang="en-US" sz="700" b="0" i="1"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8" name="TextBox 17"/>
          <p:cNvSpPr txBox="1"/>
          <p:nvPr/>
        </p:nvSpPr>
        <p:spPr>
          <a:xfrm>
            <a:off x="310896" y="6163563"/>
            <a:ext cx="10021824" cy="164592"/>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※出所：法人事業概況説明書（2026/3期）の月別売上・仕入金額。</a:t>
            </a:r>
          </a:p>
        </p:txBody>
      </p:sp>
    </p:spTree>
    <p:extLst>
      <p:ext uri="{BB962C8B-B14F-4D97-AF65-F5344CB8AC3E}">
        <p14:creationId xmlns:p14="http://schemas.microsoft.com/office/powerpoint/2010/main" val="2932585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EAEF2-738C-97B3-4696-F3BB344E559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D6C9D74-25B9-202B-100C-14E88F8A35B4}"/>
              </a:ext>
            </a:extLst>
          </p:cNvPr>
          <p:cNvSpPr>
            <a:spLocks noGrp="1"/>
          </p:cNvSpPr>
          <p:nvPr>
            <p:ph type="title"/>
          </p:nvPr>
        </p:nvSpPr>
        <p:spPr>
          <a:xfrm>
            <a:off x="989013" y="3656161"/>
            <a:ext cx="9221787" cy="615553"/>
          </a:xfrm>
        </p:spPr>
        <p:txBody>
          <a:bodyPr/>
          <a:lstStyle/>
          <a:p>
            <a:r>
              <a:rPr lang="ja-JP" altLang="en-US" dirty="0"/>
              <a:t>組織、拠点、設備等</a:t>
            </a:r>
            <a:endParaRPr lang="en-US" altLang="ja-JP" dirty="0"/>
          </a:p>
        </p:txBody>
      </p:sp>
    </p:spTree>
    <p:extLst>
      <p:ext uri="{BB962C8B-B14F-4D97-AF65-F5344CB8AC3E}">
        <p14:creationId xmlns:p14="http://schemas.microsoft.com/office/powerpoint/2010/main" val="179782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DBCD3-5A3B-2BD8-C28A-632388175E8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59B21744-4533-BD30-603B-B8A7A98290C9}"/>
              </a:ext>
            </a:extLst>
          </p:cNvPr>
          <p:cNvSpPr>
            <a:spLocks noGrp="1"/>
          </p:cNvSpPr>
          <p:nvPr>
            <p:ph type="ctrTitle"/>
          </p:nvPr>
        </p:nvSpPr>
        <p:spPr>
          <a:xfrm>
            <a:off x="311150" y="180296"/>
            <a:ext cx="7799917" cy="339267"/>
          </a:xfrm>
        </p:spPr>
        <p:txBody>
          <a:bodyPr>
            <a:normAutofit/>
          </a:bodyPr>
          <a:lstStyle/>
          <a:p>
            <a:r>
              <a:rPr lang="ja-JP" altLang="en-US" dirty="0"/>
              <a:t>組織図</a:t>
            </a:r>
          </a:p>
        </p:txBody>
      </p:sp>
      <p:sp>
        <p:nvSpPr>
          <p:cNvPr id="5" name="タイトル 1">
            <a:extLst>
              <a:ext uri="{FF2B5EF4-FFF2-40B4-BE49-F238E27FC236}">
                <a16:creationId xmlns:a16="http://schemas.microsoft.com/office/drawing/2014/main" id="{804C58BE-3C7F-3F33-BB99-084C0822899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30" name="長方形 17">
            <a:extLst>
              <a:ext uri="{FF2B5EF4-FFF2-40B4-BE49-F238E27FC236}">
                <a16:creationId xmlns:a16="http://schemas.microsoft.com/office/drawing/2014/main" id="{3E64D33C-2E81-EC32-F689-91E2661ACA25}"/>
              </a:ext>
            </a:extLst>
          </p:cNvPr>
          <p:cNvSpPr/>
          <p:nvPr/>
        </p:nvSpPr>
        <p:spPr>
          <a:xfrm>
            <a:off x="4434840" y="2240280"/>
            <a:ext cx="1828800" cy="5486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b="1" dirty="0">
                <a:solidFill>
                  <a:schemeClr val="tx1"/>
                </a:solidFill>
                <a:latin typeface="+mn-ea"/>
              </a:rPr>
              <a:t>代表取締役</a:t>
            </a:r>
            <a:endParaRPr lang="en-US" altLang="ja-JP" sz="1100" b="1" dirty="0">
              <a:solidFill>
                <a:schemeClr val="tx1"/>
              </a:solidFill>
              <a:latin typeface="+mn-ea"/>
            </a:endParaRPr>
          </a:p>
          <a:p>
            <a:pPr algn="ctr" defTabSz="350844">
              <a:lnSpc>
                <a:spcPct val="90000"/>
              </a:lnSpc>
              <a:spcBef>
                <a:spcPct val="0"/>
              </a:spcBef>
              <a:spcAft>
                <a:spcPct val="35000"/>
              </a:spcAft>
            </a:pPr>
            <a:r>
              <a:rPr lang="ja-JP" altLang="en-US" sz="1000" dirty="0">
                <a:solidFill>
                  <a:schemeClr val="tx1"/>
                </a:solidFill>
                <a:latin typeface="+mn-ea"/>
              </a:rPr>
              <a:t>岡部 寛</a:t>
            </a:r>
          </a:p>
        </p:txBody>
      </p:sp>
      <p:sp>
        <p:nvSpPr>
          <p:cNvPr id="72" name="長方形 17">
            <a:extLst>
              <a:ext uri="{FF2B5EF4-FFF2-40B4-BE49-F238E27FC236}">
                <a16:creationId xmlns:a16="http://schemas.microsoft.com/office/drawing/2014/main" id="{F94861D8-1583-D60F-AE0B-65736108294A}"/>
              </a:ext>
            </a:extLst>
          </p:cNvPr>
          <p:cNvSpPr/>
          <p:nvPr/>
        </p:nvSpPr>
        <p:spPr>
          <a:xfrm>
            <a:off x="4434840" y="1508760"/>
            <a:ext cx="182880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dirty="0">
                <a:solidFill>
                  <a:schemeClr val="tx1"/>
                </a:solidFill>
                <a:latin typeface="+mn-ea"/>
              </a:rPr>
              <a:t>取締役会</a:t>
            </a:r>
          </a:p>
          <a:p>
            <a:pPr algn="ctr" defTabSz="350844">
              <a:lnSpc>
                <a:spcPct val="90000"/>
              </a:lnSpc>
              <a:spcBef>
                <a:spcPct val="0"/>
              </a:spcBef>
              <a:spcAft>
                <a:spcPct val="35000"/>
              </a:spcAft>
            </a:pPr>
            <a:r>
              <a:rPr lang="ja-JP" altLang="en-US" sz="900" dirty="0">
                <a:solidFill>
                  <a:schemeClr val="tx1"/>
                </a:solidFill>
                <a:latin typeface="+mn-ea"/>
              </a:rPr>
              <a:t>取締役3名</a:t>
            </a:r>
          </a:p>
        </p:txBody>
      </p:sp>
      <p:sp>
        <p:nvSpPr>
          <p:cNvPr id="82" name="字幕 13">
            <a:extLst>
              <a:ext uri="{FF2B5EF4-FFF2-40B4-BE49-F238E27FC236}">
                <a16:creationId xmlns:a16="http://schemas.microsoft.com/office/drawing/2014/main" id="{A3493DA6-7810-69DF-5543-B8DAEAC7277F}"/>
              </a:ext>
            </a:extLst>
          </p:cNvPr>
          <p:cNvSpPr txBox="1">
            <a:spLocks/>
          </p:cNvSpPr>
          <p:nvPr/>
        </p:nvSpPr>
        <p:spPr>
          <a:xfrm>
            <a:off x="365760" y="1463040"/>
            <a:ext cx="2651760" cy="1188720"/>
          </a:xfrm>
          <a:prstGeom prst="rect">
            <a:avLst/>
          </a:prstGeom>
          <a:solidFill>
            <a:schemeClr val="bg2"/>
          </a:solidFill>
        </p:spPr>
        <p:txBody>
          <a:bodyPr wrap="square" lIns="0" tIns="0" rIns="0" bIns="0">
            <a:noAutofit/>
          </a:bodyPr>
          <a:lstStyle>
            <a:lvl1pPr marL="0" indent="0" algn="l" defTabSz="1007943" rtl="0" eaLnBrk="1" latinLnBrk="0" hangingPunct="1">
              <a:lnSpc>
                <a:spcPct val="120000"/>
              </a:lnSpc>
              <a:spcBef>
                <a:spcPts val="0"/>
              </a:spcBef>
              <a:buFont typeface="Arial" panose="020B0604020202020204" pitchFamily="34" charset="0"/>
              <a:buNone/>
              <a:defRPr kumimoji="1" sz="1400" b="1" kern="1200" spc="55" baseline="0">
                <a:solidFill>
                  <a:schemeClr val="tx1"/>
                </a:solidFill>
                <a:latin typeface="+mj-ea"/>
                <a:ea typeface="+mj-ea"/>
                <a:cs typeface="+mn-cs"/>
              </a:defRPr>
            </a:lvl1pPr>
            <a:lvl2pPr marL="503972" indent="0" algn="ctr" defTabSz="1007943" rtl="0" eaLnBrk="1" latinLnBrk="0" hangingPunct="1">
              <a:lnSpc>
                <a:spcPct val="90000"/>
              </a:lnSpc>
              <a:spcBef>
                <a:spcPts val="551"/>
              </a:spcBef>
              <a:buFont typeface="Arial" panose="020B0604020202020204" pitchFamily="34" charset="0"/>
              <a:buNone/>
              <a:defRPr kumimoji="1" sz="2205" kern="1200">
                <a:solidFill>
                  <a:schemeClr val="tx1"/>
                </a:solidFill>
                <a:latin typeface="+mn-lt"/>
                <a:ea typeface="+mn-ea"/>
                <a:cs typeface="+mn-cs"/>
              </a:defRPr>
            </a:lvl2pPr>
            <a:lvl3pPr marL="1007943" indent="0" algn="ctr" defTabSz="1007943" rtl="0" eaLnBrk="1" latinLnBrk="0" hangingPunct="1">
              <a:lnSpc>
                <a:spcPct val="90000"/>
              </a:lnSpc>
              <a:spcBef>
                <a:spcPts val="551"/>
              </a:spcBef>
              <a:buFont typeface="Arial" panose="020B0604020202020204" pitchFamily="34" charset="0"/>
              <a:buNone/>
              <a:defRPr kumimoji="1" sz="1984" kern="1200">
                <a:solidFill>
                  <a:schemeClr val="tx1"/>
                </a:solidFill>
                <a:latin typeface="+mn-lt"/>
                <a:ea typeface="+mn-ea"/>
                <a:cs typeface="+mn-cs"/>
              </a:defRPr>
            </a:lvl3pPr>
            <a:lvl4pPr marL="1511915"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4pPr>
            <a:lvl5pPr marL="2015886"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5pPr>
            <a:lvl6pPr marL="2519858"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6pPr>
            <a:lvl7pPr marL="3023829"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7pPr>
            <a:lvl8pPr marL="3527801"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8pPr>
            <a:lvl9pPr marL="4031772" indent="0" algn="ctr" defTabSz="1007943" rtl="0" eaLnBrk="1" latinLnBrk="0" hangingPunct="1">
              <a:lnSpc>
                <a:spcPct val="90000"/>
              </a:lnSpc>
              <a:spcBef>
                <a:spcPts val="551"/>
              </a:spcBef>
              <a:buFont typeface="Arial" panose="020B0604020202020204" pitchFamily="34" charset="0"/>
              <a:buNone/>
              <a:defRPr kumimoji="1" sz="1764" kern="1200">
                <a:solidFill>
                  <a:schemeClr val="tx1"/>
                </a:solidFill>
                <a:latin typeface="+mn-lt"/>
                <a:ea typeface="+mn-ea"/>
                <a:cs typeface="+mn-cs"/>
              </a:defRPr>
            </a:lvl9pPr>
          </a:lstStyle>
          <a:p>
            <a:pPr>
              <a:buClrTx/>
            </a:pPr>
            <a:r>
              <a:rPr lang="en-US" altLang="ja-JP" sz="1000" dirty="0"/>
              <a:t>【人員構成】（2026年9月1日時点）</a:t>
            </a:r>
          </a:p>
          <a:p>
            <a:pPr>
              <a:buClrTx/>
            </a:pPr>
            <a:r>
              <a:rPr lang="en-US" altLang="ja-JP" sz="1000" dirty="0"/>
              <a:t>　取締役：3名</a:t>
            </a:r>
          </a:p>
          <a:p>
            <a:pPr>
              <a:buClrTx/>
            </a:pPr>
            <a:r>
              <a:rPr lang="en-US" altLang="ja-JP" sz="1000" dirty="0"/>
              <a:t>　正社員：17名</a:t>
            </a:r>
          </a:p>
          <a:p>
            <a:pPr>
              <a:buClrTx/>
            </a:pPr>
            <a:r>
              <a:rPr lang="en-US" altLang="ja-JP" sz="1000" dirty="0"/>
              <a:t>　嘱託・再雇用・試用：3名</a:t>
            </a:r>
          </a:p>
          <a:p>
            <a:pPr>
              <a:buClrTx/>
            </a:pPr>
            <a:r>
              <a:rPr lang="en-US" altLang="ja-JP" sz="1000" dirty="0"/>
              <a:t>　パート・アルバイト：4名</a:t>
            </a:r>
          </a:p>
          <a:p>
            <a:pPr>
              <a:buClrTx/>
            </a:pPr>
            <a:r>
              <a:rPr lang="en-US" altLang="ja-JP" sz="1000" dirty="0"/>
              <a:t>　平均年齢51.0歳／平均勤続12.7年</a:t>
            </a:r>
          </a:p>
        </p:txBody>
      </p:sp>
      <p:sp>
        <p:nvSpPr>
          <p:cNvPr id="85" name="字幕 13">
            <a:extLst>
              <a:ext uri="{FF2B5EF4-FFF2-40B4-BE49-F238E27FC236}">
                <a16:creationId xmlns:a16="http://schemas.microsoft.com/office/drawing/2014/main" id="{AE763FA6-9689-E705-5BEC-31A36E71F8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8部門・従業員24名の体制。営業（野菜・果実・近郷）とパッケージ部に人員が厚く、セリ人資格者は営業系に配置。</a:t>
            </a:r>
          </a:p>
        </p:txBody>
      </p:sp>
      <p:sp>
        <p:nvSpPr>
          <p:cNvPr id="86" name="長方形 17">
            <a:extLst>
              <a:ext uri="{FF2B5EF4-FFF2-40B4-BE49-F238E27FC236}">
                <a16:creationId xmlns:a16="http://schemas.microsoft.com/office/drawing/2014/main" id="{F94861D8-1583-D60F-AE0B-65736108294A}"/>
              </a:ext>
            </a:extLst>
          </p:cNvPr>
          <p:cNvSpPr/>
          <p:nvPr/>
        </p:nvSpPr>
        <p:spPr>
          <a:xfrm>
            <a:off x="7498079" y="1508760"/>
            <a:ext cx="201168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dirty="0">
                <a:solidFill>
                  <a:schemeClr val="tx1"/>
                </a:solidFill>
                <a:latin typeface="+mn-ea"/>
              </a:rPr>
              <a:t>監査役</a:t>
            </a:r>
          </a:p>
          <a:p>
            <a:pPr algn="ctr" defTabSz="350844">
              <a:lnSpc>
                <a:spcPct val="90000"/>
              </a:lnSpc>
              <a:spcBef>
                <a:spcPct val="0"/>
              </a:spcBef>
              <a:spcAft>
                <a:spcPct val="35000"/>
              </a:spcAft>
            </a:pPr>
            <a:r>
              <a:rPr lang="ja-JP" altLang="en-US" sz="900" dirty="0">
                <a:solidFill>
                  <a:schemeClr val="tx1"/>
                </a:solidFill>
                <a:latin typeface="+mn-ea"/>
              </a:rPr>
              <a:t>会計監査に限定</a:t>
            </a:r>
          </a:p>
        </p:txBody>
      </p:sp>
      <p:sp>
        <p:nvSpPr>
          <p:cNvPr id="87" name="長方形 17">
            <a:extLst>
              <a:ext uri="{FF2B5EF4-FFF2-40B4-BE49-F238E27FC236}">
                <a16:creationId xmlns:a16="http://schemas.microsoft.com/office/drawing/2014/main" id="{3E64D33C-2E81-EC32-F689-91E2661ACA25}"/>
              </a:ext>
            </a:extLst>
          </p:cNvPr>
          <p:cNvSpPr/>
          <p:nvPr/>
        </p:nvSpPr>
        <p:spPr>
          <a:xfrm>
            <a:off x="7498079" y="2240280"/>
            <a:ext cx="2011680" cy="5486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100" b="1" dirty="0">
                <a:solidFill>
                  <a:schemeClr val="tx1"/>
                </a:solidFill>
                <a:latin typeface="+mn-ea"/>
              </a:rPr>
              <a:t>取締役部長</a:t>
            </a:r>
            <a:endParaRPr lang="en-US" altLang="ja-JP" sz="11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1"/>
                </a:solidFill>
                <a:latin typeface="+mn-ea"/>
              </a:rPr>
              <a:t>岡部 一（買付・販売）</a:t>
            </a:r>
          </a:p>
        </p:txBody>
      </p:sp>
      <p:cxnSp>
        <p:nvCxnSpPr>
          <p:cNvPr id="88" name="Connector 87"/>
          <p:cNvCxnSpPr/>
          <p:nvPr/>
        </p:nvCxnSpPr>
        <p:spPr>
          <a:xfrm>
            <a:off x="5349240" y="2011680"/>
            <a:ext cx="0" cy="22860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6263640" y="1755648"/>
            <a:ext cx="1234439"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6263640" y="2514600"/>
            <a:ext cx="1234439"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5349240" y="2788920"/>
            <a:ext cx="0" cy="27432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948690" y="3063240"/>
            <a:ext cx="8801100" cy="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9486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94" name="長方形 143">
            <a:extLst>
              <a:ext uri="{FF2B5EF4-FFF2-40B4-BE49-F238E27FC236}">
                <a16:creationId xmlns:a16="http://schemas.microsoft.com/office/drawing/2014/main" id="{BCEB2967-C83B-DBEC-B8EA-880A804DB347}"/>
              </a:ext>
            </a:extLst>
          </p:cNvPr>
          <p:cNvSpPr/>
          <p:nvPr/>
        </p:nvSpPr>
        <p:spPr>
          <a:xfrm>
            <a:off x="3657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野菜営業部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3名</a:t>
            </a:r>
          </a:p>
        </p:txBody>
      </p:sp>
      <p:sp>
        <p:nvSpPr>
          <p:cNvPr id="95" name="長方形 179">
            <a:extLst>
              <a:ext uri="{FF2B5EF4-FFF2-40B4-BE49-F238E27FC236}">
                <a16:creationId xmlns:a16="http://schemas.microsoft.com/office/drawing/2014/main" id="{C344BD57-39A2-E7B7-1F68-D52B956AE252}"/>
              </a:ext>
            </a:extLst>
          </p:cNvPr>
          <p:cNvSpPr/>
          <p:nvPr/>
        </p:nvSpPr>
        <p:spPr>
          <a:xfrm>
            <a:off x="365760" y="3840480"/>
            <a:ext cx="1165860" cy="77724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No.2 副部長★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 副部長</a:t>
            </a:r>
          </a:p>
          <a:p>
            <a:pPr algn="ctr" defTabSz="350844">
              <a:lnSpc>
                <a:spcPct val="90000"/>
              </a:lnSpc>
              <a:spcBef>
                <a:spcPct val="0"/>
              </a:spcBef>
              <a:spcAft>
                <a:spcPct val="35000"/>
              </a:spcAft>
            </a:pPr>
            <a:r>
              <a:rPr lang="ja-JP" altLang="en-US" sz="800" b="1" dirty="0">
                <a:solidFill>
                  <a:schemeClr val="tx1"/>
                </a:solidFill>
                <a:latin typeface="+mn-ea"/>
              </a:rPr>
              <a:t>No.7 正社員</a:t>
            </a:r>
          </a:p>
        </p:txBody>
      </p:sp>
      <p:cxnSp>
        <p:nvCxnSpPr>
          <p:cNvPr id="96" name="Connector 95"/>
          <p:cNvCxnSpPr/>
          <p:nvPr/>
        </p:nvCxnSpPr>
        <p:spPr>
          <a:xfrm>
            <a:off x="22059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97" name="長方形 143">
            <a:extLst>
              <a:ext uri="{FF2B5EF4-FFF2-40B4-BE49-F238E27FC236}">
                <a16:creationId xmlns:a16="http://schemas.microsoft.com/office/drawing/2014/main" id="{BCEB2967-C83B-DBEC-B8EA-880A804DB347}"/>
              </a:ext>
            </a:extLst>
          </p:cNvPr>
          <p:cNvSpPr/>
          <p:nvPr/>
        </p:nvSpPr>
        <p:spPr>
          <a:xfrm>
            <a:off x="16230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果実営業部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2名</a:t>
            </a:r>
          </a:p>
        </p:txBody>
      </p:sp>
      <p:sp>
        <p:nvSpPr>
          <p:cNvPr id="98" name="長方形 179">
            <a:extLst>
              <a:ext uri="{FF2B5EF4-FFF2-40B4-BE49-F238E27FC236}">
                <a16:creationId xmlns:a16="http://schemas.microsoft.com/office/drawing/2014/main" id="{C344BD57-39A2-E7B7-1F68-D52B956AE252}"/>
              </a:ext>
            </a:extLst>
          </p:cNvPr>
          <p:cNvSpPr/>
          <p:nvPr/>
        </p:nvSpPr>
        <p:spPr>
          <a:xfrm>
            <a:off x="1623060" y="3840480"/>
            <a:ext cx="1165860" cy="5943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No.16 課長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No.8 正社員</a:t>
            </a:r>
          </a:p>
        </p:txBody>
      </p:sp>
      <p:cxnSp>
        <p:nvCxnSpPr>
          <p:cNvPr id="99" name="Connector 98"/>
          <p:cNvCxnSpPr/>
          <p:nvPr/>
        </p:nvCxnSpPr>
        <p:spPr>
          <a:xfrm>
            <a:off x="34632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0" name="長方形 143">
            <a:extLst>
              <a:ext uri="{FF2B5EF4-FFF2-40B4-BE49-F238E27FC236}">
                <a16:creationId xmlns:a16="http://schemas.microsoft.com/office/drawing/2014/main" id="{BCEB2967-C83B-DBEC-B8EA-880A804DB347}"/>
              </a:ext>
            </a:extLst>
          </p:cNvPr>
          <p:cNvSpPr/>
          <p:nvPr/>
        </p:nvSpPr>
        <p:spPr>
          <a:xfrm>
            <a:off x="28803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近郷部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4名</a:t>
            </a:r>
          </a:p>
        </p:txBody>
      </p:sp>
      <p:sp>
        <p:nvSpPr>
          <p:cNvPr id="101" name="長方形 179">
            <a:extLst>
              <a:ext uri="{FF2B5EF4-FFF2-40B4-BE49-F238E27FC236}">
                <a16:creationId xmlns:a16="http://schemas.microsoft.com/office/drawing/2014/main" id="{C344BD57-39A2-E7B7-1F68-D52B956AE252}"/>
              </a:ext>
            </a:extLst>
          </p:cNvPr>
          <p:cNvSpPr/>
          <p:nvPr/>
        </p:nvSpPr>
        <p:spPr>
          <a:xfrm>
            <a:off x="2880360" y="3840480"/>
            <a:ext cx="1165860" cy="9601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No.3 課長★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No.4 正社員</a:t>
            </a:r>
          </a:p>
          <a:p>
            <a:pPr algn="ctr" defTabSz="350844">
              <a:lnSpc>
                <a:spcPct val="90000"/>
              </a:lnSpc>
              <a:spcBef>
                <a:spcPct val="0"/>
              </a:spcBef>
              <a:spcAft>
                <a:spcPct val="35000"/>
              </a:spcAft>
            </a:pPr>
            <a:r>
              <a:rPr lang="ja-JP" altLang="en-US" sz="800" b="1" dirty="0">
                <a:solidFill>
                  <a:schemeClr val="tx1"/>
                </a:solidFill>
                <a:latin typeface="+mn-ea"/>
              </a:rPr>
              <a:t>No.5 正社員</a:t>
            </a:r>
          </a:p>
          <a:p>
            <a:pPr algn="ctr" defTabSz="350844">
              <a:lnSpc>
                <a:spcPct val="90000"/>
              </a:lnSpc>
              <a:spcBef>
                <a:spcPct val="0"/>
              </a:spcBef>
              <a:spcAft>
                <a:spcPct val="35000"/>
              </a:spcAft>
            </a:pPr>
            <a:r>
              <a:rPr lang="ja-JP" altLang="en-US" sz="800" b="1" dirty="0">
                <a:solidFill>
                  <a:schemeClr val="tx1"/>
                </a:solidFill>
                <a:latin typeface="+mn-ea"/>
              </a:rPr>
              <a:t>No.12 試用期間★</a:t>
            </a:r>
          </a:p>
        </p:txBody>
      </p:sp>
      <p:cxnSp>
        <p:nvCxnSpPr>
          <p:cNvPr id="102" name="Connector 101"/>
          <p:cNvCxnSpPr/>
          <p:nvPr/>
        </p:nvCxnSpPr>
        <p:spPr>
          <a:xfrm>
            <a:off x="47205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3" name="長方形 143">
            <a:extLst>
              <a:ext uri="{FF2B5EF4-FFF2-40B4-BE49-F238E27FC236}">
                <a16:creationId xmlns:a16="http://schemas.microsoft.com/office/drawing/2014/main" id="{BCEB2967-C83B-DBEC-B8EA-880A804DB347}"/>
              </a:ext>
            </a:extLst>
          </p:cNvPr>
          <p:cNvSpPr/>
          <p:nvPr/>
        </p:nvSpPr>
        <p:spPr>
          <a:xfrm>
            <a:off x="41376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集配部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4名</a:t>
            </a:r>
          </a:p>
        </p:txBody>
      </p:sp>
      <p:sp>
        <p:nvSpPr>
          <p:cNvPr id="104" name="長方形 179">
            <a:extLst>
              <a:ext uri="{FF2B5EF4-FFF2-40B4-BE49-F238E27FC236}">
                <a16:creationId xmlns:a16="http://schemas.microsoft.com/office/drawing/2014/main" id="{C344BD57-39A2-E7B7-1F68-D52B956AE252}"/>
              </a:ext>
            </a:extLst>
          </p:cNvPr>
          <p:cNvSpPr/>
          <p:nvPr/>
        </p:nvSpPr>
        <p:spPr>
          <a:xfrm>
            <a:off x="4137660" y="3840480"/>
            <a:ext cx="1165860" cy="9601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No.9 正社員</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No.6 正社員</a:t>
            </a:r>
          </a:p>
          <a:p>
            <a:pPr algn="ctr" defTabSz="350844">
              <a:lnSpc>
                <a:spcPct val="90000"/>
              </a:lnSpc>
              <a:spcBef>
                <a:spcPct val="0"/>
              </a:spcBef>
              <a:spcAft>
                <a:spcPct val="35000"/>
              </a:spcAft>
            </a:pPr>
            <a:r>
              <a:rPr lang="ja-JP" altLang="en-US" sz="800" b="1" dirty="0">
                <a:solidFill>
                  <a:schemeClr val="tx1"/>
                </a:solidFill>
                <a:latin typeface="+mn-ea"/>
              </a:rPr>
              <a:t>No.11 再雇用正社員</a:t>
            </a:r>
          </a:p>
          <a:p>
            <a:pPr algn="ctr" defTabSz="350844">
              <a:lnSpc>
                <a:spcPct val="90000"/>
              </a:lnSpc>
              <a:spcBef>
                <a:spcPct val="0"/>
              </a:spcBef>
              <a:spcAft>
                <a:spcPct val="35000"/>
              </a:spcAft>
            </a:pPr>
            <a:r>
              <a:rPr lang="ja-JP" altLang="en-US" sz="800" b="1" dirty="0">
                <a:solidFill>
                  <a:schemeClr val="tx1"/>
                </a:solidFill>
                <a:latin typeface="+mn-ea"/>
              </a:rPr>
              <a:t>No.13 アルバイト</a:t>
            </a:r>
          </a:p>
        </p:txBody>
      </p:sp>
      <p:cxnSp>
        <p:nvCxnSpPr>
          <p:cNvPr id="105" name="Connector 104"/>
          <p:cNvCxnSpPr/>
          <p:nvPr/>
        </p:nvCxnSpPr>
        <p:spPr>
          <a:xfrm>
            <a:off x="59778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6" name="長方形 143">
            <a:extLst>
              <a:ext uri="{FF2B5EF4-FFF2-40B4-BE49-F238E27FC236}">
                <a16:creationId xmlns:a16="http://schemas.microsoft.com/office/drawing/2014/main" id="{BCEB2967-C83B-DBEC-B8EA-880A804DB347}"/>
              </a:ext>
            </a:extLst>
          </p:cNvPr>
          <p:cNvSpPr/>
          <p:nvPr/>
        </p:nvSpPr>
        <p:spPr>
          <a:xfrm>
            <a:off x="53949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生花部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1名</a:t>
            </a:r>
          </a:p>
        </p:txBody>
      </p:sp>
      <p:sp>
        <p:nvSpPr>
          <p:cNvPr id="107" name="長方形 179">
            <a:extLst>
              <a:ext uri="{FF2B5EF4-FFF2-40B4-BE49-F238E27FC236}">
                <a16:creationId xmlns:a16="http://schemas.microsoft.com/office/drawing/2014/main" id="{C344BD57-39A2-E7B7-1F68-D52B956AE252}"/>
              </a:ext>
            </a:extLst>
          </p:cNvPr>
          <p:cNvSpPr/>
          <p:nvPr/>
        </p:nvSpPr>
        <p:spPr>
          <a:xfrm>
            <a:off x="5394960" y="3840480"/>
            <a:ext cx="1165860" cy="41148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No.10 嘱託社員</a:t>
            </a:r>
            <a:endParaRPr lang="en-US" altLang="ja-JP" sz="800" b="1" dirty="0">
              <a:solidFill>
                <a:schemeClr val="tx1"/>
              </a:solidFill>
              <a:latin typeface="+mn-ea"/>
            </a:endParaRPr>
          </a:p>
        </p:txBody>
      </p:sp>
      <p:cxnSp>
        <p:nvCxnSpPr>
          <p:cNvPr id="108" name="Connector 107"/>
          <p:cNvCxnSpPr/>
          <p:nvPr/>
        </p:nvCxnSpPr>
        <p:spPr>
          <a:xfrm>
            <a:off x="72351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09" name="長方形 143">
            <a:extLst>
              <a:ext uri="{FF2B5EF4-FFF2-40B4-BE49-F238E27FC236}">
                <a16:creationId xmlns:a16="http://schemas.microsoft.com/office/drawing/2014/main" id="{BCEB2967-C83B-DBEC-B8EA-880A804DB347}"/>
              </a:ext>
            </a:extLst>
          </p:cNvPr>
          <p:cNvSpPr/>
          <p:nvPr/>
        </p:nvSpPr>
        <p:spPr>
          <a:xfrm>
            <a:off x="66522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パッケージ部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7名</a:t>
            </a:r>
          </a:p>
        </p:txBody>
      </p:sp>
      <p:sp>
        <p:nvSpPr>
          <p:cNvPr id="110" name="長方形 179">
            <a:extLst>
              <a:ext uri="{FF2B5EF4-FFF2-40B4-BE49-F238E27FC236}">
                <a16:creationId xmlns:a16="http://schemas.microsoft.com/office/drawing/2014/main" id="{C344BD57-39A2-E7B7-1F68-D52B956AE252}"/>
              </a:ext>
            </a:extLst>
          </p:cNvPr>
          <p:cNvSpPr/>
          <p:nvPr/>
        </p:nvSpPr>
        <p:spPr>
          <a:xfrm>
            <a:off x="6652260" y="3840480"/>
            <a:ext cx="1165860" cy="15087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No.18 係長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No.19 正社員</a:t>
            </a:r>
          </a:p>
          <a:p>
            <a:pPr algn="ctr" defTabSz="350844">
              <a:lnSpc>
                <a:spcPct val="90000"/>
              </a:lnSpc>
              <a:spcBef>
                <a:spcPct val="0"/>
              </a:spcBef>
              <a:spcAft>
                <a:spcPct val="35000"/>
              </a:spcAft>
            </a:pPr>
            <a:r>
              <a:rPr lang="ja-JP" altLang="en-US" sz="800" b="1" dirty="0">
                <a:solidFill>
                  <a:schemeClr val="tx1"/>
                </a:solidFill>
                <a:latin typeface="+mn-ea"/>
              </a:rPr>
              <a:t>No.21 正社員</a:t>
            </a:r>
          </a:p>
          <a:p>
            <a:pPr algn="ctr" defTabSz="350844">
              <a:lnSpc>
                <a:spcPct val="90000"/>
              </a:lnSpc>
              <a:spcBef>
                <a:spcPct val="0"/>
              </a:spcBef>
              <a:spcAft>
                <a:spcPct val="35000"/>
              </a:spcAft>
            </a:pPr>
            <a:r>
              <a:rPr lang="ja-JP" altLang="en-US" sz="800" b="1" dirty="0">
                <a:solidFill>
                  <a:schemeClr val="tx1"/>
                </a:solidFill>
                <a:latin typeface="+mn-ea"/>
              </a:rPr>
              <a:t>No.22 パート</a:t>
            </a:r>
          </a:p>
          <a:p>
            <a:pPr algn="ctr" defTabSz="350844">
              <a:lnSpc>
                <a:spcPct val="90000"/>
              </a:lnSpc>
              <a:spcBef>
                <a:spcPct val="0"/>
              </a:spcBef>
              <a:spcAft>
                <a:spcPct val="35000"/>
              </a:spcAft>
            </a:pPr>
            <a:r>
              <a:rPr lang="ja-JP" altLang="en-US" sz="800" b="1" dirty="0">
                <a:solidFill>
                  <a:schemeClr val="tx1"/>
                </a:solidFill>
                <a:latin typeface="+mn-ea"/>
              </a:rPr>
              <a:t>No.23 パート</a:t>
            </a:r>
          </a:p>
          <a:p>
            <a:pPr algn="ctr" defTabSz="350844">
              <a:lnSpc>
                <a:spcPct val="90000"/>
              </a:lnSpc>
              <a:spcBef>
                <a:spcPct val="0"/>
              </a:spcBef>
              <a:spcAft>
                <a:spcPct val="35000"/>
              </a:spcAft>
            </a:pPr>
            <a:r>
              <a:rPr lang="ja-JP" altLang="en-US" sz="800" b="1" dirty="0">
                <a:solidFill>
                  <a:schemeClr val="tx1"/>
                </a:solidFill>
                <a:latin typeface="+mn-ea"/>
              </a:rPr>
              <a:t>No.20 正社員</a:t>
            </a:r>
          </a:p>
          <a:p>
            <a:pPr algn="ctr" defTabSz="350844">
              <a:lnSpc>
                <a:spcPct val="90000"/>
              </a:lnSpc>
              <a:spcBef>
                <a:spcPct val="0"/>
              </a:spcBef>
              <a:spcAft>
                <a:spcPct val="35000"/>
              </a:spcAft>
            </a:pPr>
            <a:r>
              <a:rPr lang="ja-JP" altLang="en-US" sz="800" b="1" dirty="0">
                <a:solidFill>
                  <a:schemeClr val="tx1"/>
                </a:solidFill>
                <a:latin typeface="+mn-ea"/>
              </a:rPr>
              <a:t>No.24 パート</a:t>
            </a:r>
          </a:p>
        </p:txBody>
      </p:sp>
      <p:cxnSp>
        <p:nvCxnSpPr>
          <p:cNvPr id="111" name="Connector 110"/>
          <p:cNvCxnSpPr/>
          <p:nvPr/>
        </p:nvCxnSpPr>
        <p:spPr>
          <a:xfrm>
            <a:off x="84924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12" name="長方形 143">
            <a:extLst>
              <a:ext uri="{FF2B5EF4-FFF2-40B4-BE49-F238E27FC236}">
                <a16:creationId xmlns:a16="http://schemas.microsoft.com/office/drawing/2014/main" id="{BCEB2967-C83B-DBEC-B8EA-880A804DB347}"/>
              </a:ext>
            </a:extLst>
          </p:cNvPr>
          <p:cNvSpPr/>
          <p:nvPr/>
        </p:nvSpPr>
        <p:spPr>
          <a:xfrm>
            <a:off x="79095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資材部</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1名</a:t>
            </a:r>
          </a:p>
        </p:txBody>
      </p:sp>
      <p:sp>
        <p:nvSpPr>
          <p:cNvPr id="113" name="長方形 179">
            <a:extLst>
              <a:ext uri="{FF2B5EF4-FFF2-40B4-BE49-F238E27FC236}">
                <a16:creationId xmlns:a16="http://schemas.microsoft.com/office/drawing/2014/main" id="{C344BD57-39A2-E7B7-1F68-D52B956AE252}"/>
              </a:ext>
            </a:extLst>
          </p:cNvPr>
          <p:cNvSpPr/>
          <p:nvPr/>
        </p:nvSpPr>
        <p:spPr>
          <a:xfrm>
            <a:off x="7909560" y="3840480"/>
            <a:ext cx="1165860" cy="41148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No.15 課長</a:t>
            </a:r>
            <a:endParaRPr lang="en-US" altLang="ja-JP" sz="800" b="1" dirty="0">
              <a:solidFill>
                <a:schemeClr val="tx1"/>
              </a:solidFill>
              <a:latin typeface="+mn-ea"/>
            </a:endParaRPr>
          </a:p>
        </p:txBody>
      </p:sp>
      <p:cxnSp>
        <p:nvCxnSpPr>
          <p:cNvPr id="114" name="Connector 113"/>
          <p:cNvCxnSpPr/>
          <p:nvPr/>
        </p:nvCxnSpPr>
        <p:spPr>
          <a:xfrm>
            <a:off x="9749790" y="3063240"/>
            <a:ext cx="0" cy="182880"/>
          </a:xfrm>
          <a:prstGeom prst="line">
            <a:avLst/>
          </a:prstGeom>
          <a:ln w="9525">
            <a:solidFill>
              <a:srgbClr val="808080"/>
            </a:solidFill>
          </a:ln>
        </p:spPr>
        <p:style>
          <a:lnRef idx="2">
            <a:schemeClr val="accent1"/>
          </a:lnRef>
          <a:fillRef idx="0">
            <a:schemeClr val="accent1"/>
          </a:fillRef>
          <a:effectRef idx="1">
            <a:schemeClr val="accent1"/>
          </a:effectRef>
          <a:fontRef idx="minor">
            <a:schemeClr val="tx1"/>
          </a:fontRef>
        </p:style>
      </p:cxnSp>
      <p:sp>
        <p:nvSpPr>
          <p:cNvPr id="115" name="長方形 143">
            <a:extLst>
              <a:ext uri="{FF2B5EF4-FFF2-40B4-BE49-F238E27FC236}">
                <a16:creationId xmlns:a16="http://schemas.microsoft.com/office/drawing/2014/main" id="{BCEB2967-C83B-DBEC-B8EA-880A804DB347}"/>
              </a:ext>
            </a:extLst>
          </p:cNvPr>
          <p:cNvSpPr/>
          <p:nvPr/>
        </p:nvSpPr>
        <p:spPr>
          <a:xfrm>
            <a:off x="9166860" y="3246120"/>
            <a:ext cx="1165860" cy="50292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ctr" anchorCtr="0">
            <a:noAutofit/>
            <a:flatTx/>
          </a:bodyPr>
          <a:lstStyle/>
          <a:p>
            <a:pPr algn="ctr" defTabSz="350844">
              <a:lnSpc>
                <a:spcPct val="90000"/>
              </a:lnSpc>
              <a:spcBef>
                <a:spcPct val="0"/>
              </a:spcBef>
              <a:spcAft>
                <a:spcPct val="35000"/>
              </a:spcAft>
            </a:pPr>
            <a:r>
              <a:rPr lang="ja-JP" altLang="en-US" sz="1000" b="1" dirty="0">
                <a:solidFill>
                  <a:schemeClr val="tx1"/>
                </a:solidFill>
                <a:latin typeface="+mn-ea"/>
              </a:rPr>
              <a:t>総務部・事務</a:t>
            </a:r>
            <a:endParaRPr lang="en-US" altLang="ja-JP" sz="1000" b="1" dirty="0">
              <a:solidFill>
                <a:schemeClr val="tx1"/>
              </a:solidFill>
              <a:latin typeface="+mn-ea"/>
            </a:endParaRPr>
          </a:p>
          <a:p>
            <a:pPr algn="ctr" defTabSz="350844">
              <a:lnSpc>
                <a:spcPct val="90000"/>
              </a:lnSpc>
              <a:spcBef>
                <a:spcPct val="0"/>
              </a:spcBef>
              <a:spcAft>
                <a:spcPct val="35000"/>
              </a:spcAft>
            </a:pPr>
            <a:r>
              <a:rPr lang="ja-JP" altLang="en-US" sz="900" dirty="0">
                <a:solidFill>
                  <a:schemeClr val="tx2">
                    <a:lumMod val="50000"/>
                  </a:schemeClr>
                </a:solidFill>
                <a:latin typeface="+mn-ea"/>
              </a:rPr>
              <a:t>2名</a:t>
            </a:r>
          </a:p>
        </p:txBody>
      </p:sp>
      <p:sp>
        <p:nvSpPr>
          <p:cNvPr id="116" name="長方形 179">
            <a:extLst>
              <a:ext uri="{FF2B5EF4-FFF2-40B4-BE49-F238E27FC236}">
                <a16:creationId xmlns:a16="http://schemas.microsoft.com/office/drawing/2014/main" id="{C344BD57-39A2-E7B7-1F68-D52B956AE252}"/>
              </a:ext>
            </a:extLst>
          </p:cNvPr>
          <p:cNvSpPr/>
          <p:nvPr/>
        </p:nvSpPr>
        <p:spPr>
          <a:xfrm>
            <a:off x="9166860" y="3840480"/>
            <a:ext cx="1165860" cy="594360"/>
          </a:xfrm>
          <a:prstGeom prst="rect">
            <a:avLst/>
          </a:prstGeom>
          <a:solidFill>
            <a:schemeClr val="accent2"/>
          </a:solidFill>
          <a:ln w="28575" cap="rnd" cmpd="sng" algn="ctr">
            <a:no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5012" tIns="5012" rIns="5012" bIns="47365" numCol="1" spcCol="1270" rtlCol="0" anchor="t" anchorCtr="0">
            <a:noAutofit/>
            <a:flatTx/>
          </a:bodyPr>
          <a:lstStyle/>
          <a:p>
            <a:pPr algn="ctr" defTabSz="350844">
              <a:lnSpc>
                <a:spcPct val="90000"/>
              </a:lnSpc>
              <a:spcBef>
                <a:spcPct val="0"/>
              </a:spcBef>
              <a:spcAft>
                <a:spcPct val="35000"/>
              </a:spcAft>
            </a:pPr>
            <a:r>
              <a:rPr lang="ja-JP" altLang="en-US" sz="800" b="1" dirty="0">
                <a:solidFill>
                  <a:schemeClr val="tx1"/>
                </a:solidFill>
                <a:latin typeface="+mn-ea"/>
              </a:rPr>
              <a:t>No.14 部長</a:t>
            </a:r>
            <a:endParaRPr lang="en-US" altLang="ja-JP" sz="800" b="1" dirty="0">
              <a:solidFill>
                <a:schemeClr val="tx1"/>
              </a:solidFill>
              <a:latin typeface="+mn-ea"/>
            </a:endParaRPr>
          </a:p>
          <a:p>
            <a:pPr algn="ctr" defTabSz="350844">
              <a:lnSpc>
                <a:spcPct val="90000"/>
              </a:lnSpc>
              <a:spcBef>
                <a:spcPct val="0"/>
              </a:spcBef>
              <a:spcAft>
                <a:spcPct val="35000"/>
              </a:spcAft>
            </a:pPr>
            <a:r>
              <a:rPr lang="ja-JP" altLang="en-US" sz="800" b="1" dirty="0">
                <a:solidFill>
                  <a:schemeClr val="tx1"/>
                </a:solidFill>
                <a:latin typeface="+mn-ea"/>
              </a:rPr>
              <a:t>No.17 正社員</a:t>
            </a:r>
          </a:p>
        </p:txBody>
      </p:sp>
      <p:sp>
        <p:nvSpPr>
          <p:cNvPr id="117" name="TextBox 116"/>
          <p:cNvSpPr txBox="1"/>
          <p:nvPr/>
        </p:nvSpPr>
        <p:spPr>
          <a:xfrm>
            <a:off x="365760" y="6629400"/>
            <a:ext cx="996696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※図中のNo.は「従業員一覧」ページの№と対応。★はセリ人資格保有者。役職のない者は雇用形態を表示。</a:t>
            </a:r>
          </a:p>
          <a:p>
            <a:pPr algn="l"/>
            <a:r>
              <a:rPr sz="800" b="0">
                <a:solidFill>
                  <a:srgbClr val="000000"/>
                </a:solidFill>
                <a:latin typeface="游ゴシック"/>
                <a:ea typeface="游ゴシック"/>
              </a:rPr>
              <a:t>※常務取締役は2026年5月29日に退任。取締役（非常勤）1名は図示省略。在庫管理は野菜・果物に分け、それぞれ2〜3名で担当。</a:t>
            </a:r>
          </a:p>
        </p:txBody>
      </p:sp>
    </p:spTree>
    <p:extLst>
      <p:ext uri="{BB962C8B-B14F-4D97-AF65-F5344CB8AC3E}">
        <p14:creationId xmlns:p14="http://schemas.microsoft.com/office/powerpoint/2010/main" val="2728612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B11F1-1D51-B82A-B921-6A785A32569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FAD2F8E-0153-3144-7799-F8299088775F}"/>
              </a:ext>
            </a:extLst>
          </p:cNvPr>
          <p:cNvSpPr>
            <a:spLocks noGrp="1"/>
          </p:cNvSpPr>
          <p:nvPr>
            <p:ph type="ctrTitle"/>
          </p:nvPr>
        </p:nvSpPr>
        <p:spPr>
          <a:xfrm>
            <a:off x="311150" y="180296"/>
            <a:ext cx="7799917" cy="339267"/>
          </a:xfrm>
        </p:spPr>
        <p:txBody>
          <a:bodyPr>
            <a:normAutofit/>
          </a:bodyPr>
          <a:lstStyle/>
          <a:p>
            <a:r>
              <a:rPr lang="ja-JP" altLang="en-US" dirty="0"/>
              <a:t>株主及び役員</a:t>
            </a:r>
          </a:p>
        </p:txBody>
      </p:sp>
      <p:sp>
        <p:nvSpPr>
          <p:cNvPr id="2" name="正方形/長方形 1">
            <a:extLst>
              <a:ext uri="{FF2B5EF4-FFF2-40B4-BE49-F238E27FC236}">
                <a16:creationId xmlns:a16="http://schemas.microsoft.com/office/drawing/2014/main" id="{F474A0FB-C4FD-5021-0996-014C9ADB8336}"/>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株主</a:t>
            </a:r>
          </a:p>
        </p:txBody>
      </p:sp>
      <p:sp>
        <p:nvSpPr>
          <p:cNvPr id="3" name="正方形/長方形 2">
            <a:extLst>
              <a:ext uri="{FF2B5EF4-FFF2-40B4-BE49-F238E27FC236}">
                <a16:creationId xmlns:a16="http://schemas.microsoft.com/office/drawing/2014/main" id="{75AD8D3D-AB28-DAEE-3CFD-D5FBA0A0A9F7}"/>
              </a:ext>
            </a:extLst>
          </p:cNvPr>
          <p:cNvSpPr/>
          <p:nvPr/>
        </p:nvSpPr>
        <p:spPr>
          <a:xfrm>
            <a:off x="310896" y="427024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役員</a:t>
            </a:r>
          </a:p>
        </p:txBody>
      </p:sp>
      <p:sp>
        <p:nvSpPr>
          <p:cNvPr id="4" name="タイトル 1">
            <a:extLst>
              <a:ext uri="{FF2B5EF4-FFF2-40B4-BE49-F238E27FC236}">
                <a16:creationId xmlns:a16="http://schemas.microsoft.com/office/drawing/2014/main" id="{7A477B2A-8CB0-33C5-E13F-6A9007ED2C1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B2B57451-0F79-4EA4-E5F7-DD3BE659A77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代表者一族（4名）で発行済株式の75.8%を保有し、全株主の株式を譲渡可能。代表者は経営全般・販売、弟は買付・販売を担い、譲渡後は弟が残留予定。</a:t>
            </a:r>
          </a:p>
        </p:txBody>
      </p:sp>
      <p:sp>
        <p:nvSpPr>
          <p:cNvPr id="16" name="TextBox 15"/>
          <p:cNvSpPr txBox="1"/>
          <p:nvPr/>
        </p:nvSpPr>
        <p:spPr>
          <a:xfrm>
            <a:off x="310896" y="6629400"/>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※役員報酬総額は22,200千円（2024/3期・2025/3期）→15,360千円（2026/3期）。代表取締役は10,560千円→4,320千円に減額（理由は要確認）。</a:t>
            </a:r>
          </a:p>
          <a:p>
            <a:pPr algn="l"/>
            <a:r>
              <a:rPr sz="800" b="0">
                <a:solidFill>
                  <a:srgbClr val="000000"/>
                </a:solidFill>
                <a:latin typeface="游ゴシック"/>
                <a:ea typeface="游ゴシック"/>
              </a:rPr>
              <a:t>※出所：法人税申告書別表二（2026/3期）、履歴事項全部証明書（2026年9月10日現在）。株主名簿・名義株の有無は要確認。</a:t>
            </a:r>
          </a:p>
        </p:txBody>
      </p:sp>
      <p:graphicFrame>
        <p:nvGraphicFramePr>
          <p:cNvPr id="17" name="表（株主!B2:H15）"/>
          <p:cNvGraphicFramePr>
            <a:graphicFrameLocks noGrp="1"/>
          </p:cNvGraphicFramePr>
          <p:nvPr/>
        </p:nvGraphicFramePr>
        <p:xfrm>
          <a:off x="777240" y="1828800"/>
          <a:ext cx="8778236" cy="2331715"/>
        </p:xfrm>
        <a:graphic>
          <a:graphicData uri="http://schemas.openxmlformats.org/drawingml/2006/table">
            <a:tbl>
              <a:tblPr firstRow="0" bandRow="0">
                <a:tableStyleId>{2D5ABB26-0587-4C30-8999-92F81FD0307C}</a:tableStyleId>
              </a:tblPr>
              <a:tblGrid>
                <a:gridCol w="309169"/>
                <a:gridCol w="1357090"/>
                <a:gridCol w="1562118"/>
                <a:gridCol w="1197624"/>
                <a:gridCol w="1197624"/>
                <a:gridCol w="1197624"/>
                <a:gridCol w="1956987"/>
              </a:tblGrid>
              <a:tr h="135015">
                <a:tc>
                  <a:txBody>
                    <a:bodyPr/>
                    <a:lstStyle/>
                    <a:p>
                      <a:pPr algn="l" fontAlgn="ctr"/>
                      <a:endParaRPr lang="ja-JP" altLang="en-US" sz="858"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858"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858"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58" b="0" i="0" dirty="0">
                          <a:solidFill>
                            <a:srgbClr val="000000"/>
                          </a:solidFill>
                          <a:latin typeface="游ゴシック"/>
                          <a:ea typeface="游ゴシック"/>
                        </a:rPr>
                        <a:t>(単位：千円)</a:t>
                      </a:r>
                      <a:endParaRPr lang="ja-JP" altLang="en-US" sz="858"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858"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858"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858"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r>
              <a:tr h="297034">
                <a:tc>
                  <a:txBody>
                    <a:bodyPr/>
                    <a:lstStyle/>
                    <a:p>
                      <a:pPr algn="ctr" fontAlgn="ctr"/>
                      <a:r>
                        <a:rPr lang="ja-JP" altLang="en-US" sz="936" b="1" i="0" dirty="0">
                          <a:solidFill>
                            <a:srgbClr val="FFFFFF"/>
                          </a:solidFill>
                          <a:latin typeface="游ゴシック"/>
                          <a:ea typeface="游ゴシック"/>
                        </a:rPr>
                        <a:t>№</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氏名</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役職</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役員報酬</a:t>
                      </a:r>
                      <a:endParaRPr lang="ja-JP" altLang="en-US" sz="936" b="1" i="0" dirty="0">
                        <a:solidFill>
                          <a:srgbClr val="FFFFFF"/>
                        </a:solidFill>
                        <a:latin typeface="游ゴシック"/>
                        <a:ea typeface="游ゴシック"/>
                      </a:endParaRPr>
                    </a:p>
                    <a:p>
                      <a:pPr algn="ctr" fontAlgn="ctr"/>
                      <a:r>
                        <a:rPr lang="ja-JP" altLang="en-US" sz="936" b="1" i="0" dirty="0">
                          <a:solidFill>
                            <a:srgbClr val="FFFFFF"/>
                          </a:solidFill>
                          <a:latin typeface="游ゴシック"/>
                          <a:ea typeface="游ゴシック"/>
                        </a:rPr>
                        <a:t>（26年3月期）</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保有株式数</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保有割合</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備考</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FFFFFF"/>
                      </a:solidFill>
                    </a:lnB>
                    <a:solidFill>
                      <a:srgbClr val="0B3041"/>
                    </a:solidFill>
                  </a:tcPr>
                </a:tc>
              </a:tr>
              <a:tr h="211074">
                <a:tc>
                  <a:txBody>
                    <a:bodyPr/>
                    <a:lstStyle/>
                    <a:p>
                      <a:pPr algn="ctr" fontAlgn="ctr"/>
                      <a:r>
                        <a:rPr lang="ja-JP" altLang="en-US" sz="936" b="0" i="0" dirty="0">
                          <a:solidFill>
                            <a:srgbClr val="000000"/>
                          </a:solidFill>
                          <a:latin typeface="游ゴシック"/>
                          <a:ea typeface="游ゴシック"/>
                        </a:rPr>
                        <a:t>1</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岡部 寛</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代表取締役</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4,320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1,510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37.8%</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r>
              <a:tr h="211074">
                <a:tc>
                  <a:txBody>
                    <a:bodyPr/>
                    <a:lstStyle/>
                    <a:p>
                      <a:pPr algn="ctr" fontAlgn="ctr"/>
                      <a:r>
                        <a:rPr lang="ja-JP" altLang="en-US" sz="936" b="0" i="0" dirty="0">
                          <a:solidFill>
                            <a:srgbClr val="000000"/>
                          </a:solidFill>
                          <a:latin typeface="游ゴシック"/>
                          <a:ea typeface="游ゴシック"/>
                        </a:rPr>
                        <a:t>2</a:t>
                      </a:r>
                      <a:endParaRPr lang="ja-JP" altLang="en-US" sz="936"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岡部 一</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取締役（代表者の弟）</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4,200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720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18.0%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11074">
                <a:tc>
                  <a:txBody>
                    <a:bodyPr/>
                    <a:lstStyle/>
                    <a:p>
                      <a:pPr algn="ctr" fontAlgn="ctr"/>
                      <a:r>
                        <a:rPr lang="ja-JP" altLang="en-US" sz="936" b="0" i="0" dirty="0">
                          <a:solidFill>
                            <a:srgbClr val="000000"/>
                          </a:solidFill>
                          <a:latin typeface="游ゴシック"/>
                          <a:ea typeface="游ゴシック"/>
                        </a:rPr>
                        <a:t>3</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岡部 和子</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代表者の親族</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500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12.5%</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11074">
                <a:tc>
                  <a:txBody>
                    <a:bodyPr/>
                    <a:lstStyle/>
                    <a:p>
                      <a:pPr algn="ctr" fontAlgn="ctr"/>
                      <a:r>
                        <a:rPr lang="ja-JP" altLang="en-US" sz="936" b="0" i="0" dirty="0">
                          <a:solidFill>
                            <a:srgbClr val="000000"/>
                          </a:solidFill>
                          <a:latin typeface="游ゴシック"/>
                          <a:ea typeface="游ゴシック"/>
                        </a:rPr>
                        <a:t>4</a:t>
                      </a:r>
                      <a:endParaRPr lang="ja-JP" altLang="en-US" sz="936"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梅津 恵一</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360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9.0%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11074">
                <a:tc>
                  <a:txBody>
                    <a:bodyPr/>
                    <a:lstStyle/>
                    <a:p>
                      <a:pPr algn="ctr" fontAlgn="ctr"/>
                      <a:r>
                        <a:rPr lang="ja-JP" altLang="en-US" sz="936" b="0" i="0" dirty="0">
                          <a:solidFill>
                            <a:srgbClr val="000000"/>
                          </a:solidFill>
                          <a:latin typeface="游ゴシック"/>
                          <a:ea typeface="游ゴシック"/>
                        </a:rPr>
                        <a:t>5</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小野寺 則和</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監査役</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120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350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8.8%</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11074">
                <a:tc>
                  <a:txBody>
                    <a:bodyPr/>
                    <a:lstStyle/>
                    <a:p>
                      <a:pPr algn="ctr" fontAlgn="ctr"/>
                      <a:r>
                        <a:rPr lang="ja-JP" altLang="en-US" sz="936" b="0" i="0" dirty="0">
                          <a:solidFill>
                            <a:srgbClr val="000000"/>
                          </a:solidFill>
                          <a:latin typeface="游ゴシック"/>
                          <a:ea typeface="游ゴシック"/>
                        </a:rPr>
                        <a:t>6</a:t>
                      </a:r>
                      <a:endParaRPr lang="ja-JP" altLang="en-US" sz="936"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岡部 竹古</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取締役（代表者の配偶者）</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120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300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7.5%</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11074">
                <a:tc>
                  <a:txBody>
                    <a:bodyPr/>
                    <a:lstStyle/>
                    <a:p>
                      <a:pPr algn="ctr" fontAlgn="ctr"/>
                      <a:r>
                        <a:rPr lang="ja-JP" altLang="en-US" sz="936" b="0" i="0" dirty="0">
                          <a:solidFill>
                            <a:srgbClr val="000000"/>
                          </a:solidFill>
                          <a:latin typeface="游ゴシック"/>
                          <a:ea typeface="游ゴシック"/>
                        </a:rPr>
                        <a:t>7</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佐藤 令子</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200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5.0%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11074">
                <a:tc>
                  <a:txBody>
                    <a:bodyPr/>
                    <a:lstStyle/>
                    <a:p>
                      <a:pPr algn="ctr" fontAlgn="ctr"/>
                      <a:r>
                        <a:rPr lang="ja-JP" altLang="en-US" sz="936" b="0" i="0" dirty="0">
                          <a:solidFill>
                            <a:srgbClr val="000000"/>
                          </a:solidFill>
                          <a:latin typeface="游ゴシック"/>
                          <a:ea typeface="游ゴシック"/>
                        </a:rPr>
                        <a:t>8</a:t>
                      </a:r>
                      <a:endParaRPr lang="ja-JP" altLang="en-US" sz="936"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菅原 圭吾</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元常務取締役</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6,600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60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1.5%</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2026年5月29日退任</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11074">
                <a:tc>
                  <a:txBody>
                    <a:bodyPr/>
                    <a:lstStyle/>
                    <a:p>
                      <a:pPr algn="ctr" fontAlgn="ctr"/>
                      <a:endParaRPr lang="ja-JP" altLang="en-US" sz="936" b="1"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1F3FB"/>
                    </a:solidFill>
                  </a:tcPr>
                </a:tc>
                <a:tc>
                  <a:txBody>
                    <a:bodyPr/>
                    <a:lstStyle/>
                    <a:p>
                      <a:pPr algn="ctr" fontAlgn="ctr"/>
                      <a:r>
                        <a:rPr lang="ja-JP" altLang="en-US" sz="936" b="1" i="0" dirty="0">
                          <a:solidFill>
                            <a:srgbClr val="000000"/>
                          </a:solidFill>
                          <a:latin typeface="游ゴシック"/>
                          <a:ea typeface="游ゴシック"/>
                        </a:rPr>
                        <a:t>合計</a:t>
                      </a:r>
                      <a:endParaRPr lang="ja-JP" altLang="en-US" sz="936"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ctr" fontAlgn="ctr"/>
                      <a:endParaRPr lang="ja-JP" altLang="en-US" sz="936"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936" b="1" i="0" dirty="0">
                          <a:solidFill>
                            <a:srgbClr val="000000"/>
                          </a:solidFill>
                          <a:latin typeface="Arial"/>
                          <a:ea typeface="游ゴシック Medium"/>
                        </a:rPr>
                        <a:t>　15,360</a:t>
                      </a:r>
                      <a:endParaRPr lang="ja-JP" altLang="en-US" sz="936" b="1" i="0" dirty="0">
                        <a:solidFill>
                          <a:srgbClr val="000000"/>
                        </a:solidFill>
                        <a:latin typeface="Arial"/>
                        <a:ea typeface="游ゴシック Medium"/>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936" b="1" i="0" dirty="0">
                          <a:solidFill>
                            <a:srgbClr val="000000"/>
                          </a:solidFill>
                          <a:latin typeface="Arial"/>
                          <a:ea typeface="游ゴシック Medium"/>
                        </a:rPr>
                        <a:t>　4,000</a:t>
                      </a:r>
                      <a:endParaRPr lang="ja-JP" altLang="en-US" sz="936" b="1" i="0" dirty="0">
                        <a:solidFill>
                          <a:srgbClr val="000000"/>
                        </a:solidFill>
                        <a:latin typeface="Arial"/>
                        <a:ea typeface="游ゴシック Medium"/>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936" b="1" i="0" dirty="0">
                          <a:solidFill>
                            <a:srgbClr val="000000"/>
                          </a:solidFill>
                          <a:latin typeface="Arial"/>
                          <a:ea typeface="游ゴシック Medium"/>
                        </a:rPr>
                        <a:t>　100.0%</a:t>
                      </a:r>
                      <a:endParaRPr lang="ja-JP" altLang="en-US" sz="936"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l" fontAlgn="ctr"/>
                      <a:endParaRPr lang="ja-JP" altLang="en-US" sz="936"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r>
            </a:tbl>
          </a:graphicData>
        </a:graphic>
      </p:graphicFrame>
      <p:graphicFrame>
        <p:nvGraphicFramePr>
          <p:cNvPr id="18" name="表（取締役!B2:H15）"/>
          <p:cNvGraphicFramePr>
            <a:graphicFrameLocks noGrp="1"/>
          </p:cNvGraphicFramePr>
          <p:nvPr/>
        </p:nvGraphicFramePr>
        <p:xfrm>
          <a:off x="777240" y="4663440"/>
          <a:ext cx="8778236" cy="1554477"/>
        </p:xfrm>
        <a:graphic>
          <a:graphicData uri="http://schemas.openxmlformats.org/drawingml/2006/table">
            <a:tbl>
              <a:tblPr firstRow="0" bandRow="0">
                <a:tableStyleId>{2D5ABB26-0587-4C30-8999-92F81FD0307C}</a:tableStyleId>
              </a:tblPr>
              <a:tblGrid>
                <a:gridCol w="363812"/>
                <a:gridCol w="1188995"/>
                <a:gridCol w="1615814"/>
                <a:gridCol w="975585"/>
                <a:gridCol w="975585"/>
                <a:gridCol w="1758086"/>
                <a:gridCol w="1900359"/>
              </a:tblGrid>
              <a:tr h="141102">
                <a:tc>
                  <a:txBody>
                    <a:bodyPr/>
                    <a:lstStyle/>
                    <a:p>
                      <a:pPr algn="l" fontAlgn="ctr"/>
                      <a:endParaRPr lang="ja-JP" altLang="en-US" sz="858"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858"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858"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858"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58" b="0" i="0" dirty="0">
                          <a:solidFill>
                            <a:srgbClr val="000000"/>
                          </a:solidFill>
                          <a:latin typeface="游ゴシック"/>
                          <a:ea typeface="游ゴシック"/>
                        </a:rPr>
                        <a:t>(単位：千円)</a:t>
                      </a:r>
                      <a:endParaRPr lang="ja-JP" altLang="en-US" sz="858"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r" fontAlgn="ctr"/>
                      <a:endParaRPr lang="ja-JP" altLang="en-US" sz="858"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858"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r>
              <a:tr h="310425">
                <a:tc>
                  <a:txBody>
                    <a:bodyPr/>
                    <a:lstStyle/>
                    <a:p>
                      <a:pPr algn="ctr" fontAlgn="ctr"/>
                      <a:r>
                        <a:rPr lang="ja-JP" altLang="en-US" sz="936" b="1" i="0" dirty="0">
                          <a:solidFill>
                            <a:srgbClr val="FFFFFF"/>
                          </a:solidFill>
                          <a:latin typeface="游ゴシック"/>
                          <a:ea typeface="游ゴシック"/>
                        </a:rPr>
                        <a:t>№</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氏名</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役職</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代表者との関係</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役員報酬</a:t>
                      </a:r>
                      <a:endParaRPr lang="ja-JP" altLang="en-US" sz="936" b="1" i="0" dirty="0">
                        <a:solidFill>
                          <a:srgbClr val="FFFFFF"/>
                        </a:solidFill>
                        <a:latin typeface="游ゴシック"/>
                        <a:ea typeface="游ゴシック"/>
                      </a:endParaRPr>
                    </a:p>
                    <a:p>
                      <a:pPr algn="ctr" fontAlgn="ctr"/>
                      <a:r>
                        <a:rPr lang="ja-JP" altLang="en-US" sz="936" b="1" i="0" dirty="0">
                          <a:solidFill>
                            <a:srgbClr val="FFFFFF"/>
                          </a:solidFill>
                          <a:latin typeface="游ゴシック"/>
                          <a:ea typeface="游ゴシック"/>
                        </a:rPr>
                        <a:t>（26年3月期）</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業務範囲</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r>
                        <a:rPr lang="ja-JP" altLang="en-US" sz="936" b="1" i="0" dirty="0">
                          <a:solidFill>
                            <a:srgbClr val="FFFFFF"/>
                          </a:solidFill>
                          <a:latin typeface="游ゴシック"/>
                          <a:ea typeface="游ゴシック"/>
                        </a:rPr>
                        <a:t>備考</a:t>
                      </a:r>
                      <a:endParaRPr lang="ja-JP" altLang="en-US" sz="936" b="1" i="0" dirty="0">
                        <a:solidFill>
                          <a:srgbClr val="FFFFFF"/>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FFFFFF"/>
                      </a:solidFill>
                    </a:lnB>
                    <a:solidFill>
                      <a:srgbClr val="0B3041"/>
                    </a:solidFill>
                  </a:tcPr>
                </a:tc>
              </a:tr>
              <a:tr h="220590">
                <a:tc>
                  <a:txBody>
                    <a:bodyPr/>
                    <a:lstStyle/>
                    <a:p>
                      <a:pPr algn="ctr" fontAlgn="ctr"/>
                      <a:r>
                        <a:rPr lang="ja-JP" altLang="en-US" sz="936" b="0" i="0" dirty="0">
                          <a:solidFill>
                            <a:srgbClr val="000000"/>
                          </a:solidFill>
                          <a:latin typeface="游ゴシック"/>
                          <a:ea typeface="游ゴシック"/>
                        </a:rPr>
                        <a:t>1</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岡部 寛</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代表取締役（常勤）</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本人</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4,320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経営全般・販売</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譲渡後は顧問（最大1年）</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r>
              <a:tr h="220590">
                <a:tc>
                  <a:txBody>
                    <a:bodyPr/>
                    <a:lstStyle/>
                    <a:p>
                      <a:pPr algn="ctr" fontAlgn="ctr"/>
                      <a:r>
                        <a:rPr lang="ja-JP" altLang="en-US" sz="936" b="0" i="0" dirty="0">
                          <a:solidFill>
                            <a:srgbClr val="000000"/>
                          </a:solidFill>
                          <a:latin typeface="游ゴシック"/>
                          <a:ea typeface="游ゴシック"/>
                        </a:rPr>
                        <a:t>2</a:t>
                      </a:r>
                      <a:endParaRPr lang="ja-JP" altLang="en-US" sz="936"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岡部 一</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取締役（常勤）</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弟</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4,200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買付・販売</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譲渡後も継続勤務予定</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20590">
                <a:tc>
                  <a:txBody>
                    <a:bodyPr/>
                    <a:lstStyle/>
                    <a:p>
                      <a:pPr algn="ctr" fontAlgn="ctr"/>
                      <a:r>
                        <a:rPr lang="ja-JP" altLang="en-US" sz="936" b="0" i="0" dirty="0">
                          <a:solidFill>
                            <a:srgbClr val="000000"/>
                          </a:solidFill>
                          <a:latin typeface="游ゴシック"/>
                          <a:ea typeface="游ゴシック"/>
                        </a:rPr>
                        <a:t>3</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岡部 竹古</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取締役（非常勤）</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配偶者</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Arial"/>
                          <a:ea typeface="游ゴシック Medium"/>
                        </a:rPr>
                        <a:t>　120</a:t>
                      </a:r>
                      <a:endParaRPr lang="ja-JP" altLang="en-US" sz="93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業務への関与なし</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譲渡時に退任予定</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20590">
                <a:tc>
                  <a:txBody>
                    <a:bodyPr/>
                    <a:lstStyle/>
                    <a:p>
                      <a:pPr algn="ctr" fontAlgn="ctr"/>
                      <a:r>
                        <a:rPr lang="ja-JP" altLang="en-US" sz="936" b="0" i="0" dirty="0">
                          <a:solidFill>
                            <a:srgbClr val="000000"/>
                          </a:solidFill>
                          <a:latin typeface="游ゴシック"/>
                          <a:ea typeface="游ゴシック"/>
                        </a:rPr>
                        <a:t>4</a:t>
                      </a:r>
                      <a:endParaRPr lang="ja-JP" altLang="en-US" sz="936"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3E7E9"/>
                    </a:solidFill>
                  </a:tcPr>
                </a:tc>
                <a:tc>
                  <a:txBody>
                    <a:bodyPr/>
                    <a:lstStyle/>
                    <a:p>
                      <a:pPr algn="l" fontAlgn="ctr"/>
                      <a:r>
                        <a:rPr lang="ja-JP" altLang="en-US" sz="936" b="0" i="0" dirty="0">
                          <a:solidFill>
                            <a:srgbClr val="000000"/>
                          </a:solidFill>
                          <a:latin typeface="游ゴシック"/>
                          <a:ea typeface="游ゴシック"/>
                        </a:rPr>
                        <a:t>　小野寺 則和</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監査役（非常勤）</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936" b="0" i="0" dirty="0">
                          <a:solidFill>
                            <a:srgbClr val="000000"/>
                          </a:solidFill>
                          <a:latin typeface="ＭＳ Ｐゴシック"/>
                          <a:ea typeface="游ゴシック"/>
                        </a:rPr>
                        <a:t>　120</a:t>
                      </a:r>
                      <a:endParaRPr lang="ja-JP" altLang="en-US" sz="936" b="0" i="0" dirty="0">
                        <a:solidFill>
                          <a:srgbClr val="000000"/>
                        </a:solidFill>
                        <a:latin typeface="ＭＳ Ｐ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会計監査</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noFill/>
                  </a:tcPr>
                </a:tc>
                <a:tc>
                  <a:txBody>
                    <a:bodyPr/>
                    <a:lstStyle/>
                    <a:p>
                      <a:pPr algn="l" fontAlgn="ctr"/>
                      <a:r>
                        <a:rPr lang="ja-JP" altLang="en-US" sz="936" b="0" i="0" dirty="0">
                          <a:solidFill>
                            <a:srgbClr val="000000"/>
                          </a:solidFill>
                          <a:latin typeface="游ゴシック"/>
                          <a:ea typeface="游ゴシック"/>
                        </a:rPr>
                        <a:t>　譲渡時に退任予定</a:t>
                      </a:r>
                      <a:endParaRPr lang="ja-JP" altLang="en-US" sz="936"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220590">
                <a:tc>
                  <a:txBody>
                    <a:bodyPr/>
                    <a:lstStyle/>
                    <a:p>
                      <a:pPr algn="ctr" fontAlgn="ctr"/>
                      <a:endParaRPr lang="ja-JP" altLang="en-US" sz="936" b="1"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1F3FB"/>
                    </a:solidFill>
                  </a:tcPr>
                </a:tc>
                <a:tc>
                  <a:txBody>
                    <a:bodyPr/>
                    <a:lstStyle/>
                    <a:p>
                      <a:pPr algn="ctr" fontAlgn="ctr"/>
                      <a:r>
                        <a:rPr lang="ja-JP" altLang="en-US" sz="936" b="1" i="0" dirty="0">
                          <a:solidFill>
                            <a:srgbClr val="000000"/>
                          </a:solidFill>
                          <a:latin typeface="游ゴシック"/>
                          <a:ea typeface="游ゴシック"/>
                        </a:rPr>
                        <a:t>合計</a:t>
                      </a:r>
                      <a:endParaRPr lang="ja-JP" altLang="en-US" sz="936"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ctr" fontAlgn="ctr"/>
                      <a:endParaRPr lang="ja-JP" altLang="en-US" sz="936"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ctr" fontAlgn="ctr"/>
                      <a:endParaRPr lang="ja-JP" altLang="en-US" sz="936"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936" b="1" i="0" dirty="0">
                          <a:solidFill>
                            <a:srgbClr val="000000"/>
                          </a:solidFill>
                          <a:latin typeface="Arial"/>
                          <a:ea typeface="游ゴシック Medium"/>
                        </a:rPr>
                        <a:t>　15,360</a:t>
                      </a:r>
                      <a:endParaRPr lang="ja-JP" altLang="en-US" sz="936" b="1" i="0" dirty="0">
                        <a:solidFill>
                          <a:srgbClr val="000000"/>
                        </a:solidFill>
                        <a:latin typeface="Arial"/>
                        <a:ea typeface="游ゴシック Medium"/>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l" fontAlgn="ctr"/>
                      <a:endParaRPr lang="ja-JP" altLang="en-US" sz="936"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l" fontAlgn="ctr"/>
                      <a:endParaRPr lang="ja-JP" altLang="en-US" sz="936"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r>
            </a:tbl>
          </a:graphicData>
        </a:graphic>
      </p:graphicFrame>
    </p:spTree>
    <p:extLst>
      <p:ext uri="{BB962C8B-B14F-4D97-AF65-F5344CB8AC3E}">
        <p14:creationId xmlns:p14="http://schemas.microsoft.com/office/powerpoint/2010/main" val="11113659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5D0D1-0787-475E-2A3A-4107DB8EC8C6}"/>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7057045-99B0-78F1-349A-A7BFEFFF27C9}"/>
              </a:ext>
            </a:extLst>
          </p:cNvPr>
          <p:cNvSpPr>
            <a:spLocks noGrp="1"/>
          </p:cNvSpPr>
          <p:nvPr>
            <p:ph type="ctrTitle"/>
          </p:nvPr>
        </p:nvSpPr>
        <p:spPr>
          <a:xfrm>
            <a:off x="311150" y="180296"/>
            <a:ext cx="7799917" cy="339267"/>
          </a:xfrm>
        </p:spPr>
        <p:txBody>
          <a:bodyPr>
            <a:normAutofit/>
          </a:bodyPr>
          <a:lstStyle/>
          <a:p>
            <a:r>
              <a:rPr lang="ja-JP" altLang="en-US" dirty="0"/>
              <a:t>従業員一覧</a:t>
            </a:r>
          </a:p>
        </p:txBody>
      </p:sp>
      <p:sp>
        <p:nvSpPr>
          <p:cNvPr id="2" name="タイトル 1">
            <a:extLst>
              <a:ext uri="{FF2B5EF4-FFF2-40B4-BE49-F238E27FC236}">
                <a16:creationId xmlns:a16="http://schemas.microsoft.com/office/drawing/2014/main" id="{221C2F7A-197F-87B3-7293-77B559F8B532}"/>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6" name="字幕 13">
            <a:extLst>
              <a:ext uri="{FF2B5EF4-FFF2-40B4-BE49-F238E27FC236}">
                <a16:creationId xmlns:a16="http://schemas.microsoft.com/office/drawing/2014/main" id="{9F39F7D2-779F-1749-1B8E-9FCB51D635C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従業員24名（平均年齢51.0歳・平均勤続12.7年）。勤続20年以上のベテランが多い一方、60歳以上が8名在籍。セリ人資格者3名が市場運営を担う。</a:t>
            </a:r>
          </a:p>
        </p:txBody>
      </p:sp>
      <p:graphicFrame>
        <p:nvGraphicFramePr>
          <p:cNvPr id="14" name="表（従業員!B4:Q28）"/>
          <p:cNvGraphicFramePr>
            <a:graphicFrameLocks noGrp="1"/>
          </p:cNvGraphicFramePr>
          <p:nvPr/>
        </p:nvGraphicFramePr>
        <p:xfrm>
          <a:off x="310896" y="1371600"/>
          <a:ext cx="10058396" cy="4892035"/>
        </p:xfrm>
        <a:graphic>
          <a:graphicData uri="http://schemas.openxmlformats.org/drawingml/2006/table">
            <a:tbl>
              <a:tblPr firstRow="0" bandRow="0">
                <a:tableStyleId>{2D5ABB26-0587-4C30-8999-92F81FD0307C}</a:tableStyleId>
              </a:tblPr>
              <a:tblGrid>
                <a:gridCol w="460708"/>
                <a:gridCol w="1215487"/>
                <a:gridCol w="503593"/>
                <a:gridCol w="1035369"/>
                <a:gridCol w="1035369"/>
                <a:gridCol w="975330"/>
                <a:gridCol w="975330"/>
                <a:gridCol w="3857210"/>
              </a:tblGrid>
              <a:tr h="329515">
                <a:tc>
                  <a:txBody>
                    <a:bodyPr/>
                    <a:lstStyle/>
                    <a:p>
                      <a:pPr algn="ctr" fontAlgn="ctr"/>
                      <a:r>
                        <a:rPr lang="ja-JP" altLang="en-US" sz="900" b="1" i="0" dirty="0">
                          <a:solidFill>
                            <a:srgbClr val="FFFFFF"/>
                          </a:solidFill>
                          <a:latin typeface="游ゴシック"/>
                          <a:ea typeface="游ゴシック"/>
                        </a:rPr>
                        <a:t>№</a:t>
                      </a:r>
                      <a:endParaRPr lang="ja-JP" altLang="en-US" sz="900" b="1"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雇用形態</a:t>
                      </a:r>
                      <a:endParaRPr lang="ja-JP" altLang="en-US" sz="900" b="1" i="0" dirty="0">
                        <a:solidFill>
                          <a:srgbClr val="FFFFFF"/>
                        </a:solidFill>
                        <a:latin typeface="游ゴシック"/>
                        <a:ea typeface="游ゴシック"/>
                      </a:endParaRPr>
                    </a:p>
                  </a:txBody>
                  <a:tcPr marL="36576" marR="36576" marT="0" marB="0" anchor="ctr">
                    <a:lnL w="6350">
                      <a:no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性別</a:t>
                      </a:r>
                      <a:endParaRPr lang="ja-JP" altLang="en-US" sz="900" b="1" i="0" dirty="0">
                        <a:solidFill>
                          <a:srgbClr val="FFFFFF"/>
                        </a:solidFill>
                        <a:latin typeface="游ゴシック"/>
                        <a:ea typeface="游ゴシック"/>
                      </a:endParaRPr>
                    </a:p>
                  </a:txBody>
                  <a:tcPr marL="36576" marR="36576" marT="0" marB="0" anchor="ctr">
                    <a:lnL w="6350">
                      <a:no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年齢</a:t>
                      </a:r>
                      <a:endParaRPr lang="ja-JP" altLang="en-US" sz="900" b="1" i="0" dirty="0">
                        <a:solidFill>
                          <a:srgbClr val="FFFFFF"/>
                        </a:solidFill>
                        <a:latin typeface="游ゴシック"/>
                        <a:ea typeface="游ゴシック"/>
                      </a:endParaRPr>
                    </a:p>
                    <a:p>
                      <a:pPr algn="ctr" fontAlgn="ctr"/>
                      <a:r>
                        <a:rPr lang="ja-JP" altLang="en-US" sz="900" b="1" i="0" dirty="0">
                          <a:solidFill>
                            <a:srgbClr val="FFFFFF"/>
                          </a:solidFill>
                          <a:latin typeface="游ゴシック"/>
                          <a:ea typeface="游ゴシック"/>
                        </a:rPr>
                        <a:t>（歳）</a:t>
                      </a:r>
                      <a:endParaRPr lang="ja-JP" altLang="en-US" sz="900" b="1" i="0" dirty="0">
                        <a:solidFill>
                          <a:srgbClr val="FFFFFF"/>
                        </a:solidFill>
                        <a:latin typeface="游ゴシック"/>
                        <a:ea typeface="游ゴシック"/>
                      </a:endParaRPr>
                    </a:p>
                  </a:txBody>
                  <a:tcPr marL="36576" marR="36576" marT="0" marB="0" anchor="ctr">
                    <a:lnL w="6350">
                      <a:no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勤続年数</a:t>
                      </a:r>
                      <a:endParaRPr lang="ja-JP" altLang="en-US" sz="900" b="1" i="0" dirty="0">
                        <a:solidFill>
                          <a:srgbClr val="FFFFFF"/>
                        </a:solidFill>
                        <a:latin typeface="游ゴシック"/>
                        <a:ea typeface="游ゴシック"/>
                      </a:endParaRPr>
                    </a:p>
                    <a:p>
                      <a:pPr algn="ctr" fontAlgn="ctr"/>
                      <a:r>
                        <a:rPr lang="ja-JP" altLang="en-US" sz="900" b="1" i="0" dirty="0">
                          <a:solidFill>
                            <a:srgbClr val="FFFFFF"/>
                          </a:solidFill>
                          <a:latin typeface="游ゴシック"/>
                          <a:ea typeface="游ゴシック"/>
                        </a:rPr>
                        <a:t>（年）</a:t>
                      </a:r>
                      <a:endParaRPr lang="ja-JP" altLang="en-US" sz="9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部署</a:t>
                      </a:r>
                      <a:endParaRPr lang="ja-JP" altLang="en-US" sz="9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役職</a:t>
                      </a:r>
                      <a:endParaRPr lang="ja-JP" altLang="en-US" sz="9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備考</a:t>
                      </a:r>
                      <a:endParaRPr lang="ja-JP" altLang="en-US" sz="900" b="1" i="0" dirty="0">
                        <a:solidFill>
                          <a:srgbClr val="FFFFFF"/>
                        </a:solidFill>
                        <a:latin typeface="游ゴシック"/>
                        <a:ea typeface="游ゴシック"/>
                      </a:endParaRPr>
                    </a:p>
                  </a:txBody>
                  <a:tcPr marL="36576" marR="36576" marT="0" marB="0" anchor="ctr">
                    <a:lnL w="6350">
                      <a:noFill/>
                    </a:lnL>
                    <a:lnR w="6350">
                      <a:noFill/>
                    </a:lnR>
                    <a:lnT w="6350">
                      <a:noFill/>
                    </a:lnT>
                    <a:lnB w="6350">
                      <a:noFill/>
                    </a:lnB>
                    <a:solidFill>
                      <a:srgbClr val="0B3041"/>
                    </a:solidFill>
                  </a:tcPr>
                </a:tc>
              </a:tr>
              <a:tr h="190105">
                <a:tc>
                  <a:txBody>
                    <a:bodyPr/>
                    <a:lstStyle/>
                    <a:p>
                      <a:pPr algn="ctr" fontAlgn="ctr"/>
                      <a:r>
                        <a:rPr lang="ja-JP" altLang="en-US" sz="900" b="0" i="0" dirty="0">
                          <a:solidFill>
                            <a:srgbClr val="000000"/>
                          </a:solidFill>
                          <a:latin typeface="游ゴシック"/>
                          <a:ea typeface="游ゴシック"/>
                        </a:rPr>
                        <a:t>1</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63</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1</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野菜営業部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副部長</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2</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47</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24</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野菜営業部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副部長</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セリ人資格認定、フォークリフト運転免許</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3</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31</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12</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近郷部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課長</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セリ人資格認定、フォークリフト運転免許</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4</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42</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7</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近郷部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フォークリフト運転免許</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5</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45</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7</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近郷部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フォークリフト運転免許</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6</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63</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6</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集配部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フォークリフト運転免許</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7</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32</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6</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野菜営業部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フォークリフト運転免許</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8</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36</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4</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野菜営業部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フォークリフト運転免許</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9</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42</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14</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集配部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令和4年4月16日よりフルタイム勤務、フォークリフト運転免許</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10</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嘱託社員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69</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20</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生花部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フォークリフト運転免許</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11</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再雇用正社員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40</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3</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集配部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12</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試用期間</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66</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2</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近郷部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セリ人資格認定、</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13</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アルバイト</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55</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0</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集配部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14</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女</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56</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38</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総務部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部長</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15</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女</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65</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47</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資材部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課長</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16</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女</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49</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19</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野菜営業部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課長</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17</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女</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28</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7</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事務</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18</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女</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52</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20</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パッケージ部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係長</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平成24年4月21日よりフルタイム勤務</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19</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女</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65</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20</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パッケージ部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平成24年4月21日よりフルタイム勤務</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20</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女</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56</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5</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パッケージ部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21</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正社員</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女</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66</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17</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パッケージ部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r>
                        <a:rPr lang="ja-JP" altLang="en-US" sz="675" b="0" i="0" dirty="0">
                          <a:solidFill>
                            <a:srgbClr val="000000"/>
                          </a:solidFill>
                          <a:latin typeface="游ゴシック"/>
                          <a:ea typeface="游ゴシック"/>
                        </a:rPr>
                        <a:t>　平成24年4月21日よりフルタイム勤務</a:t>
                      </a: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22</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パート</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女</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67</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14</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パッケージ部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23</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パート</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男</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29</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8</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パッケージ部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r h="190105">
                <a:tc>
                  <a:txBody>
                    <a:bodyPr/>
                    <a:lstStyle/>
                    <a:p>
                      <a:pPr algn="ctr" fontAlgn="ctr"/>
                      <a:r>
                        <a:rPr lang="ja-JP" altLang="en-US" sz="900" b="0" i="0" dirty="0">
                          <a:solidFill>
                            <a:srgbClr val="000000"/>
                          </a:solidFill>
                          <a:latin typeface="游ゴシック"/>
                          <a:ea typeface="游ゴシック"/>
                        </a:rPr>
                        <a:t>24</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パート</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女</a:t>
                      </a: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59</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r" fontAlgn="ctr"/>
                      <a:r>
                        <a:rPr lang="ja-JP" altLang="en-US" sz="900" b="0" i="0" dirty="0">
                          <a:solidFill>
                            <a:srgbClr val="000000"/>
                          </a:solidFill>
                          <a:latin typeface="游ゴシック"/>
                          <a:ea typeface="游ゴシック"/>
                        </a:rPr>
                        <a:t>　3</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c>
                  <a:txBody>
                    <a:bodyPr/>
                    <a:lstStyle/>
                    <a:p>
                      <a:pPr algn="l" fontAlgn="ctr"/>
                      <a:r>
                        <a:rPr lang="ja-JP" altLang="en-US" sz="900" b="0" i="0" dirty="0">
                          <a:solidFill>
                            <a:srgbClr val="000000"/>
                          </a:solidFill>
                          <a:latin typeface="游ゴシック"/>
                          <a:ea typeface="游ゴシック"/>
                        </a:rPr>
                        <a:t>　パッケージ部</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l" fontAlgn="ctr"/>
                      <a:endParaRPr lang="ja-JP" altLang="en-US" sz="675"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FFFFFF"/>
                    </a:solidFill>
                  </a:tcPr>
                </a:tc>
              </a:tr>
            </a:tbl>
          </a:graphicData>
        </a:graphic>
      </p:graphicFrame>
      <p:sp>
        <p:nvSpPr>
          <p:cNvPr id="15" name="TextBox 14"/>
          <p:cNvSpPr txBox="1"/>
          <p:nvPr/>
        </p:nvSpPr>
        <p:spPr>
          <a:xfrm>
            <a:off x="310896" y="6336792"/>
            <a:ext cx="10058400" cy="329184"/>
          </a:xfrm>
          <a:prstGeom prst="rect">
            <a:avLst/>
          </a:prstGeom>
          <a:noFill/>
        </p:spPr>
        <p:txBody>
          <a:bodyPr wrap="square" lIns="0" rIns="0" tIns="0" bIns="0">
            <a:spAutoFit/>
          </a:bodyPr>
          <a:lstStyle/>
          <a:p>
            <a:r>
              <a:rPr sz="750">
                <a:solidFill>
                  <a:srgbClr val="000000"/>
                </a:solidFill>
                <a:latin typeface="游ゴシック"/>
                <a:ea typeface="游ゴシック"/>
              </a:rPr>
              <a:t>※職員名簿（2026年9月1日現在）。役員は含まない。賞与規定はなく業績に応じて支給。退職金規程あり（中退共・オリックス生命で外部積立。会社の追加負担は基本的にないとの認識）。</a:t>
            </a:r>
          </a:p>
          <a:p>
            <a:r>
              <a:rPr sz="750">
                <a:solidFill>
                  <a:srgbClr val="000000"/>
                </a:solidFill>
                <a:latin typeface="游ゴシック"/>
                <a:ea typeface="游ゴシック"/>
              </a:rPr>
              <a:t>※法人事業概況説明書（2026/3期末）では従業員30名（常勤役員3名含む）と記載があり、人数の定義差は要確認。就業規則・定年（60歳／65歳）は要確認。</a:t>
            </a:r>
          </a:p>
        </p:txBody>
      </p:sp>
    </p:spTree>
    <p:extLst>
      <p:ext uri="{BB962C8B-B14F-4D97-AF65-F5344CB8AC3E}">
        <p14:creationId xmlns:p14="http://schemas.microsoft.com/office/powerpoint/2010/main" val="453025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C3BC0-753C-033E-F6BF-1E996308297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33F37850-AD52-3D13-0C74-E00196D01FCC}"/>
              </a:ext>
            </a:extLst>
          </p:cNvPr>
          <p:cNvSpPr>
            <a:spLocks noGrp="1"/>
          </p:cNvSpPr>
          <p:nvPr>
            <p:ph type="ctrTitle"/>
          </p:nvPr>
        </p:nvSpPr>
        <p:spPr>
          <a:xfrm>
            <a:off x="311150" y="180296"/>
            <a:ext cx="7799917" cy="339267"/>
          </a:xfrm>
        </p:spPr>
        <p:txBody>
          <a:bodyPr>
            <a:normAutofit/>
          </a:bodyPr>
          <a:lstStyle/>
          <a:p>
            <a:r>
              <a:rPr lang="ja-JP" altLang="en-US" dirty="0"/>
              <a:t>拠点概要（本社・市場）</a:t>
            </a:r>
          </a:p>
        </p:txBody>
      </p:sp>
      <p:sp>
        <p:nvSpPr>
          <p:cNvPr id="2" name="正方形/長方形 1">
            <a:extLst>
              <a:ext uri="{FF2B5EF4-FFF2-40B4-BE49-F238E27FC236}">
                <a16:creationId xmlns:a16="http://schemas.microsoft.com/office/drawing/2014/main" id="{C00DE4F3-8549-4974-DCEF-6F7481D67517}"/>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拠点</a:t>
            </a:r>
          </a:p>
        </p:txBody>
      </p:sp>
      <p:sp>
        <p:nvSpPr>
          <p:cNvPr id="6" name="タイトル 1">
            <a:extLst>
              <a:ext uri="{FF2B5EF4-FFF2-40B4-BE49-F238E27FC236}">
                <a16:creationId xmlns:a16="http://schemas.microsoft.com/office/drawing/2014/main" id="{C94241A7-8BCE-A268-9079-8C5AF9CFCFBF}"/>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B8D00A9D-DB7C-195B-A6F7-0DBDF4FF728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本社市場とパッケージ場は隣接する自社保有地（計4,001㎡）。主要建物は1981〜82年築で、改修を重ねて使用している。</a:t>
            </a:r>
          </a:p>
        </p:txBody>
      </p:sp>
      <p:sp>
        <p:nvSpPr>
          <p:cNvPr id="15" name="正方形/長方形 7">
            <a:extLst>
              <a:ext uri="{FF2B5EF4-FFF2-40B4-BE49-F238E27FC236}">
                <a16:creationId xmlns:a16="http://schemas.microsoft.com/office/drawing/2014/main" id="{CBD334A9-999C-ACD4-9DD2-EF961CBA0926}"/>
              </a:ext>
            </a:extLst>
          </p:cNvPr>
          <p:cNvSpPr/>
          <p:nvPr/>
        </p:nvSpPr>
        <p:spPr>
          <a:xfrm>
            <a:off x="310896" y="4023360"/>
            <a:ext cx="10058400" cy="2606039"/>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拠点の状況</a:t>
            </a:r>
            <a:endParaRPr kumimoji="1" lang="ja-JP" altLang="en-US" sz="1600" b="1" dirty="0">
              <a:solidFill>
                <a:schemeClr val="tx2"/>
              </a:solidFill>
              <a:latin typeface="+mj-lt"/>
              <a:ea typeface="+mj-ea"/>
            </a:endParaRPr>
          </a:p>
        </p:txBody>
      </p:sp>
      <p:sp>
        <p:nvSpPr>
          <p:cNvPr id="16" name="テキスト ボックス 8">
            <a:extLst>
              <a:ext uri="{FF2B5EF4-FFF2-40B4-BE49-F238E27FC236}">
                <a16:creationId xmlns:a16="http://schemas.microsoft.com/office/drawing/2014/main" id="{E5084622-1D6B-783F-80DE-6D9A498C7C12}"/>
              </a:ext>
            </a:extLst>
          </p:cNvPr>
          <p:cNvSpPr txBox="1"/>
          <p:nvPr/>
        </p:nvSpPr>
        <p:spPr>
          <a:xfrm>
            <a:off x="310896" y="4526280"/>
            <a:ext cx="10058400" cy="205740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≪営業時間・定休日≫</a:t>
            </a:r>
          </a:p>
          <a:p>
            <a:pPr>
              <a:spcAft>
                <a:spcPts val="300"/>
              </a:spcAft>
            </a:pPr>
            <a:r>
              <a:rPr lang="ja-JP" altLang="en-US" sz="900" b="0" dirty="0">
                <a:solidFill>
                  <a:sysClr val="windowText" lastClr="000000"/>
                </a:solidFill>
                <a:latin typeface="游ゴシック"/>
                <a:ea typeface="游ゴシック"/>
              </a:rPr>
              <a:t>・早朝5時から営業（終業時刻は要確認）。定休日は水・日・祝日。</a:t>
            </a:r>
          </a:p>
          <a:p>
            <a:pPr>
              <a:spcAft>
                <a:spcPts val="300"/>
              </a:spcAft>
            </a:pPr>
            <a:r>
              <a:rPr lang="ja-JP" altLang="en-US" sz="1000" b="1" dirty="0">
                <a:solidFill>
                  <a:sysClr val="windowText" lastClr="000000"/>
                </a:solidFill>
                <a:latin typeface="游ゴシック"/>
                <a:ea typeface="游ゴシック"/>
              </a:rPr>
              <a:t>≪物流≫</a:t>
            </a:r>
          </a:p>
          <a:p>
            <a:pPr>
              <a:spcAft>
                <a:spcPts val="300"/>
              </a:spcAft>
            </a:pPr>
            <a:r>
              <a:rPr lang="ja-JP" altLang="en-US" sz="900" b="0" dirty="0">
                <a:solidFill>
                  <a:sysClr val="windowText" lastClr="000000"/>
                </a:solidFill>
                <a:latin typeface="游ゴシック"/>
                <a:ea typeface="游ゴシック"/>
              </a:rPr>
              <a:t>・配送は基本的に自社対応。東京向け出荷と一部の地元スーパー向け配送のみ外部運送会社を利用。</a:t>
            </a:r>
          </a:p>
          <a:p>
            <a:pPr>
              <a:spcAft>
                <a:spcPts val="300"/>
              </a:spcAft>
            </a:pPr>
            <a:r>
              <a:rPr lang="ja-JP" altLang="en-US" sz="1000" b="1" dirty="0">
                <a:solidFill>
                  <a:sysClr val="windowText" lastClr="000000"/>
                </a:solidFill>
                <a:latin typeface="游ゴシック"/>
                <a:ea typeface="游ゴシック"/>
              </a:rPr>
              <a:t>≪施設の状況≫</a:t>
            </a:r>
          </a:p>
          <a:p>
            <a:pPr>
              <a:spcAft>
                <a:spcPts val="300"/>
              </a:spcAft>
            </a:pPr>
            <a:r>
              <a:rPr lang="ja-JP" altLang="en-US" sz="900" b="0" dirty="0">
                <a:solidFill>
                  <a:sysClr val="windowText" lastClr="000000"/>
                </a:solidFill>
                <a:latin typeface="游ゴシック"/>
                <a:ea typeface="游ゴシック"/>
              </a:rPr>
              <a:t>・屋根・外壁・シャッター・冷蔵庫ユニット等の改修工事を継続的に資産計上（詳細は「保有設備一覧」）。車両は自己所有とリースを併用（リース料年6,227千円）。</a:t>
            </a:r>
          </a:p>
          <a:p>
            <a:pPr>
              <a:spcAft>
                <a:spcPts val="300"/>
              </a:spcAft>
            </a:pPr>
            <a:r>
              <a:rPr lang="ja-JP" altLang="en-US" sz="1000" b="1" dirty="0">
                <a:solidFill>
                  <a:sysClr val="windowText" lastClr="000000"/>
                </a:solidFill>
                <a:latin typeface="游ゴシック"/>
                <a:ea typeface="游ゴシック"/>
              </a:rPr>
              <a:t>≪写真≫</a:t>
            </a:r>
          </a:p>
          <a:p>
            <a:pPr>
              <a:spcAft>
                <a:spcPts val="300"/>
              </a:spcAft>
            </a:pPr>
            <a:r>
              <a:rPr lang="ja-JP" altLang="en-US" sz="900" b="0" dirty="0">
                <a:solidFill>
                  <a:sysClr val="windowText" lastClr="000000"/>
                </a:solidFill>
                <a:latin typeface="游ゴシック"/>
                <a:ea typeface="游ゴシック"/>
              </a:rPr>
              <a:t>・社屋外観・市場内観・周辺地図は売主様より写真を受領後に掲載予定。</a:t>
            </a:r>
          </a:p>
        </p:txBody>
      </p:sp>
      <p:graphicFrame>
        <p:nvGraphicFramePr>
          <p:cNvPr id="17" name="表（拠点(本社等)!B2:G6）"/>
          <p:cNvGraphicFramePr>
            <a:graphicFrameLocks noGrp="1"/>
          </p:cNvGraphicFramePr>
          <p:nvPr/>
        </p:nvGraphicFramePr>
        <p:xfrm>
          <a:off x="310896" y="1874519"/>
          <a:ext cx="10058397" cy="1920240"/>
        </p:xfrm>
        <a:graphic>
          <a:graphicData uri="http://schemas.openxmlformats.org/drawingml/2006/table">
            <a:tbl>
              <a:tblPr firstRow="0" bandRow="0">
                <a:tableStyleId>{2D5ABB26-0587-4C30-8999-92F81FD0307C}</a:tableStyleId>
              </a:tblPr>
              <a:tblGrid>
                <a:gridCol w="1020749"/>
                <a:gridCol w="2465856"/>
                <a:gridCol w="779898"/>
                <a:gridCol w="860182"/>
                <a:gridCol w="2786991"/>
                <a:gridCol w="2144721"/>
              </a:tblGrid>
              <a:tr h="384048">
                <a:tc>
                  <a:txBody>
                    <a:bodyPr/>
                    <a:lstStyle/>
                    <a:p>
                      <a:pPr algn="ctr" fontAlgn="ctr"/>
                      <a:r>
                        <a:rPr lang="ja-JP" altLang="en-US" sz="996" b="1" i="0" dirty="0">
                          <a:solidFill>
                            <a:srgbClr val="FFFFFF"/>
                          </a:solidFill>
                          <a:latin typeface="游ゴシック"/>
                          <a:ea typeface="游ゴシック"/>
                        </a:rPr>
                        <a:t>拠点</a:t>
                      </a:r>
                      <a:endParaRPr lang="ja-JP" altLang="en-US" sz="996" b="1"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96" b="1" i="0" dirty="0">
                          <a:solidFill>
                            <a:srgbClr val="FFFFFF"/>
                          </a:solidFill>
                          <a:latin typeface="游ゴシック"/>
                          <a:ea typeface="游ゴシック"/>
                        </a:rPr>
                        <a:t>所在地</a:t>
                      </a:r>
                      <a:endParaRPr lang="ja-JP" altLang="en-US" sz="996"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96" b="1" i="0" dirty="0">
                          <a:solidFill>
                            <a:srgbClr val="FFFFFF"/>
                          </a:solidFill>
                          <a:latin typeface="游ゴシック"/>
                          <a:ea typeface="游ゴシック"/>
                        </a:rPr>
                        <a:t>所有区分</a:t>
                      </a:r>
                      <a:endParaRPr lang="ja-JP" altLang="en-US" sz="996"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96" b="1" i="0" dirty="0">
                          <a:solidFill>
                            <a:srgbClr val="FFFFFF"/>
                          </a:solidFill>
                          <a:latin typeface="游ゴシック"/>
                          <a:ea typeface="游ゴシック"/>
                        </a:rPr>
                        <a:t>土地面積</a:t>
                      </a:r>
                      <a:endParaRPr lang="ja-JP" altLang="en-US" sz="996" b="1" i="0" dirty="0">
                        <a:solidFill>
                          <a:srgbClr val="FFFFFF"/>
                        </a:solidFill>
                        <a:latin typeface="游ゴシック"/>
                        <a:ea typeface="游ゴシック"/>
                      </a:endParaRPr>
                    </a:p>
                    <a:p>
                      <a:pPr algn="ctr" fontAlgn="ctr"/>
                      <a:r>
                        <a:rPr lang="ja-JP" altLang="en-US" sz="996" b="1" i="0" dirty="0">
                          <a:solidFill>
                            <a:srgbClr val="FFFFFF"/>
                          </a:solidFill>
                          <a:latin typeface="游ゴシック"/>
                          <a:ea typeface="游ゴシック"/>
                        </a:rPr>
                        <a:t>(㎡)</a:t>
                      </a:r>
                      <a:endParaRPr lang="ja-JP" altLang="en-US" sz="996"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96" b="1" i="0" dirty="0">
                          <a:solidFill>
                            <a:srgbClr val="FFFFFF"/>
                          </a:solidFill>
                          <a:latin typeface="游ゴシック"/>
                          <a:ea typeface="游ゴシック"/>
                        </a:rPr>
                        <a:t>主な建物</a:t>
                      </a:r>
                      <a:endParaRPr lang="ja-JP" altLang="en-US" sz="996"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96" b="1" i="0" dirty="0">
                          <a:solidFill>
                            <a:srgbClr val="FFFFFF"/>
                          </a:solidFill>
                          <a:latin typeface="游ゴシック"/>
                          <a:ea typeface="游ゴシック"/>
                        </a:rPr>
                        <a:t>用途</a:t>
                      </a:r>
                      <a:endParaRPr lang="ja-JP" altLang="en-US" sz="996" b="1" i="0" dirty="0">
                        <a:solidFill>
                          <a:srgbClr val="FFFFFF"/>
                        </a:solidFill>
                        <a:latin typeface="游ゴシック"/>
                        <a:ea typeface="游ゴシック"/>
                      </a:endParaRPr>
                    </a:p>
                  </a:txBody>
                  <a:tcPr marL="36576" marR="36576" marT="0" marB="0" anchor="ctr">
                    <a:lnL w="6350">
                      <a:noFill/>
                    </a:lnL>
                    <a:lnR w="6350">
                      <a:noFill/>
                    </a:lnR>
                    <a:lnT w="6350">
                      <a:noFill/>
                    </a:lnT>
                    <a:lnB w="6350">
                      <a:noFill/>
                    </a:lnB>
                    <a:solidFill>
                      <a:srgbClr val="0B3041"/>
                    </a:solidFill>
                  </a:tcPr>
                </a:tc>
              </a:tr>
              <a:tr h="384048">
                <a:tc>
                  <a:txBody>
                    <a:bodyPr/>
                    <a:lstStyle/>
                    <a:p>
                      <a:pPr algn="l" fontAlgn="ctr"/>
                      <a:r>
                        <a:rPr lang="ja-JP" altLang="en-US" sz="996" b="0" i="0" dirty="0">
                          <a:solidFill>
                            <a:srgbClr val="000000"/>
                          </a:solidFill>
                          <a:latin typeface="游ゴシック"/>
                          <a:ea typeface="游ゴシック"/>
                        </a:rPr>
                        <a:t>　本社・市場</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ctr" fontAlgn="ctr"/>
                      <a:r>
                        <a:rPr lang="ja-JP" altLang="en-US" sz="996" b="0" i="0" dirty="0">
                          <a:solidFill>
                            <a:srgbClr val="000000"/>
                          </a:solidFill>
                          <a:latin typeface="游ゴシック"/>
                          <a:ea typeface="游ゴシック"/>
                        </a:rPr>
                        <a:t>山形県鶴岡市宝田一丁目4番20号</a:t>
                      </a:r>
                      <a:endParaRPr lang="ja-JP" altLang="en-US" sz="996" b="0" i="0" dirty="0">
                        <a:solidFill>
                          <a:srgbClr val="000000"/>
                        </a:solidFill>
                        <a:latin typeface="游ゴシック"/>
                        <a:ea typeface="游ゴシック"/>
                      </a:endParaRPr>
                    </a:p>
                    <a:p>
                      <a:pPr algn="ctr" fontAlgn="ctr"/>
                      <a:r>
                        <a:rPr lang="ja-JP" altLang="en-US" sz="996" b="0" i="0" dirty="0">
                          <a:solidFill>
                            <a:srgbClr val="000000"/>
                          </a:solidFill>
                          <a:latin typeface="游ゴシック"/>
                          <a:ea typeface="游ゴシック"/>
                        </a:rPr>
                        <a:t>（地番：宝田一丁目4-2）</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96" b="0" i="0" dirty="0">
                          <a:solidFill>
                            <a:srgbClr val="000000"/>
                          </a:solidFill>
                          <a:latin typeface="游ゴシック"/>
                          <a:ea typeface="游ゴシック"/>
                        </a:rPr>
                        <a:t>　法人</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96" b="0" i="0" dirty="0">
                          <a:solidFill>
                            <a:srgbClr val="000000"/>
                          </a:solidFill>
                          <a:latin typeface="Arial"/>
                          <a:ea typeface="游ゴシック Medium"/>
                        </a:rPr>
                        <a:t>3,100.22</a:t>
                      </a:r>
                      <a:endParaRPr lang="ja-JP" altLang="en-US" sz="99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96" b="0" i="0" dirty="0">
                          <a:solidFill>
                            <a:srgbClr val="000000"/>
                          </a:solidFill>
                          <a:latin typeface="Arial"/>
                          <a:ea typeface="游ゴシック Medium"/>
                        </a:rPr>
                        <a:t>　事務所（管理棟）・市場・倉庫・容器庫・貯蔵庫</a:t>
                      </a:r>
                      <a:endParaRPr lang="ja-JP" altLang="en-US" sz="99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96" b="0" i="0" dirty="0">
                          <a:solidFill>
                            <a:srgbClr val="000000"/>
                          </a:solidFill>
                          <a:latin typeface="游ゴシック"/>
                          <a:ea typeface="游ゴシック"/>
                        </a:rPr>
                        <a:t>　事務、セリ・相対取引、保管</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384048">
                <a:tc>
                  <a:txBody>
                    <a:bodyPr/>
                    <a:lstStyle/>
                    <a:p>
                      <a:pPr algn="l" fontAlgn="ctr"/>
                      <a:r>
                        <a:rPr lang="ja-JP" altLang="en-US" sz="996" b="0" i="0" dirty="0">
                          <a:solidFill>
                            <a:srgbClr val="000000"/>
                          </a:solidFill>
                          <a:latin typeface="游ゴシック"/>
                          <a:ea typeface="游ゴシック"/>
                        </a:rPr>
                        <a:t>　パッケージ場</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ctr" fontAlgn="ctr"/>
                      <a:r>
                        <a:rPr lang="ja-JP" altLang="en-US" sz="996" b="0" i="0" dirty="0">
                          <a:solidFill>
                            <a:srgbClr val="000000"/>
                          </a:solidFill>
                          <a:latin typeface="游ゴシック"/>
                          <a:ea typeface="游ゴシック"/>
                        </a:rPr>
                        <a:t>山形県鶴岡市宝田一丁目5-1</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96" b="0" i="0" dirty="0">
                          <a:solidFill>
                            <a:srgbClr val="000000"/>
                          </a:solidFill>
                          <a:latin typeface="游ゴシック"/>
                          <a:ea typeface="游ゴシック"/>
                        </a:rPr>
                        <a:t>　法人</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96" b="0" i="0" dirty="0">
                          <a:solidFill>
                            <a:srgbClr val="000000"/>
                          </a:solidFill>
                          <a:latin typeface="Arial"/>
                          <a:ea typeface="游ゴシック Medium"/>
                        </a:rPr>
                        <a:t>900.50</a:t>
                      </a:r>
                      <a:endParaRPr lang="ja-JP" altLang="en-US" sz="99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96" b="0" i="0" dirty="0">
                          <a:solidFill>
                            <a:srgbClr val="000000"/>
                          </a:solidFill>
                          <a:latin typeface="Arial"/>
                          <a:ea typeface="游ゴシック Medium"/>
                        </a:rPr>
                        <a:t>　事務所兼倉庫（パッケージ場）・倉庫</a:t>
                      </a:r>
                      <a:endParaRPr lang="ja-JP" altLang="en-US" sz="99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96" b="0" i="0" dirty="0">
                          <a:solidFill>
                            <a:srgbClr val="000000"/>
                          </a:solidFill>
                          <a:latin typeface="游ゴシック"/>
                          <a:ea typeface="游ゴシック"/>
                        </a:rPr>
                        <a:t>　小分け・包装、保管</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384048">
                <a:tc>
                  <a:txBody>
                    <a:bodyPr/>
                    <a:lstStyle/>
                    <a:p>
                      <a:pPr algn="l" fontAlgn="ctr"/>
                      <a:r>
                        <a:rPr lang="ja-JP" altLang="en-US" sz="996" b="0" i="0" dirty="0">
                          <a:solidFill>
                            <a:srgbClr val="000000"/>
                          </a:solidFill>
                          <a:latin typeface="游ゴシック"/>
                          <a:ea typeface="游ゴシック"/>
                        </a:rPr>
                        <a:t>　旧倉庫敷地</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ctr" fontAlgn="ctr"/>
                      <a:r>
                        <a:rPr lang="ja-JP" altLang="en-US" sz="996" b="0" i="0" dirty="0">
                          <a:solidFill>
                            <a:srgbClr val="000000"/>
                          </a:solidFill>
                          <a:latin typeface="游ゴシック"/>
                          <a:ea typeface="游ゴシック"/>
                        </a:rPr>
                        <a:t>山形県東田川郡庄内町長沼字宮前304-7</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96" b="0" i="0" dirty="0">
                          <a:solidFill>
                            <a:srgbClr val="000000"/>
                          </a:solidFill>
                          <a:latin typeface="游ゴシック"/>
                          <a:ea typeface="游ゴシック"/>
                        </a:rPr>
                        <a:t>　法人</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96" b="0" i="0" dirty="0">
                          <a:solidFill>
                            <a:srgbClr val="000000"/>
                          </a:solidFill>
                          <a:latin typeface="Arial"/>
                          <a:ea typeface="游ゴシック Medium"/>
                        </a:rPr>
                        <a:t>261.81</a:t>
                      </a:r>
                      <a:endParaRPr lang="ja-JP" altLang="en-US" sz="99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96" b="0" i="0" dirty="0">
                          <a:solidFill>
                            <a:srgbClr val="000000"/>
                          </a:solidFill>
                          <a:latin typeface="Arial"/>
                          <a:ea typeface="游ゴシック Medium"/>
                        </a:rPr>
                        <a:t>　なし（倉庫は老朽化により解体済み）</a:t>
                      </a:r>
                      <a:endParaRPr lang="ja-JP" altLang="en-US" sz="99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96" b="0" i="0" dirty="0">
                          <a:solidFill>
                            <a:srgbClr val="000000"/>
                          </a:solidFill>
                          <a:latin typeface="游ゴシック"/>
                          <a:ea typeface="游ゴシック"/>
                        </a:rPr>
                        <a:t>　月極駐車場として近隣へ賃貸</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384048">
                <a:tc>
                  <a:txBody>
                    <a:bodyPr/>
                    <a:lstStyle/>
                    <a:p>
                      <a:pPr algn="l" fontAlgn="ctr"/>
                      <a:r>
                        <a:rPr lang="ja-JP" altLang="en-US" sz="996" b="0" i="0" dirty="0">
                          <a:solidFill>
                            <a:srgbClr val="000000"/>
                          </a:solidFill>
                          <a:latin typeface="游ゴシック"/>
                          <a:ea typeface="游ゴシック"/>
                        </a:rPr>
                        <a:t>　賃借物件</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ctr" fontAlgn="ctr"/>
                      <a:r>
                        <a:rPr lang="ja-JP" altLang="en-US" sz="996" b="0" i="0" dirty="0">
                          <a:solidFill>
                            <a:srgbClr val="000000"/>
                          </a:solidFill>
                          <a:latin typeface="游ゴシック"/>
                          <a:ea typeface="游ゴシック"/>
                        </a:rPr>
                        <a:t>なし（地代家賃の計上なし）</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96" b="0" i="0" dirty="0">
                          <a:solidFill>
                            <a:srgbClr val="000000"/>
                          </a:solidFill>
                          <a:latin typeface="游ゴシック"/>
                          <a:ea typeface="游ゴシック"/>
                        </a:rPr>
                        <a:t>　－</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endParaRPr lang="ja-JP" altLang="en-US" sz="99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96" b="0" i="0" dirty="0">
                          <a:solidFill>
                            <a:srgbClr val="000000"/>
                          </a:solidFill>
                          <a:latin typeface="Arial"/>
                          <a:ea typeface="游ゴシック Medium"/>
                        </a:rPr>
                        <a:t>　－</a:t>
                      </a:r>
                      <a:endParaRPr lang="ja-JP" altLang="en-US" sz="996"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96" b="0" i="0" dirty="0">
                          <a:solidFill>
                            <a:srgbClr val="000000"/>
                          </a:solidFill>
                          <a:latin typeface="游ゴシック"/>
                          <a:ea typeface="游ゴシック"/>
                        </a:rPr>
                        <a:t>　－</a:t>
                      </a:r>
                      <a:endParaRPr lang="ja-JP" altLang="en-US" sz="996"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bl>
          </a:graphicData>
        </a:graphic>
      </p:graphicFrame>
    </p:spTree>
    <p:extLst>
      <p:ext uri="{BB962C8B-B14F-4D97-AF65-F5344CB8AC3E}">
        <p14:creationId xmlns:p14="http://schemas.microsoft.com/office/powerpoint/2010/main" val="6307501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12D40-6E48-E93D-4FC9-F10D333C1CB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F9793F7-DC5F-E269-D0AF-CEA1591E82A7}"/>
              </a:ext>
            </a:extLst>
          </p:cNvPr>
          <p:cNvSpPr>
            <a:spLocks noGrp="1"/>
          </p:cNvSpPr>
          <p:nvPr>
            <p:ph type="ctrTitle"/>
          </p:nvPr>
        </p:nvSpPr>
        <p:spPr>
          <a:xfrm>
            <a:off x="311150" y="180296"/>
            <a:ext cx="7799917" cy="339267"/>
          </a:xfrm>
        </p:spPr>
        <p:txBody>
          <a:bodyPr>
            <a:normAutofit/>
          </a:bodyPr>
          <a:lstStyle/>
          <a:p>
            <a:r>
              <a:rPr lang="ja-JP" altLang="en-US" dirty="0"/>
              <a:t>不動産概況</a:t>
            </a:r>
          </a:p>
        </p:txBody>
      </p:sp>
      <p:sp>
        <p:nvSpPr>
          <p:cNvPr id="6" name="タイトル 1">
            <a:extLst>
              <a:ext uri="{FF2B5EF4-FFF2-40B4-BE49-F238E27FC236}">
                <a16:creationId xmlns:a16="http://schemas.microsoft.com/office/drawing/2014/main" id="{541F4B75-7B8F-E770-E8BD-648B0D9A1125}"/>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9" name="字幕 13">
            <a:extLst>
              <a:ext uri="{FF2B5EF4-FFF2-40B4-BE49-F238E27FC236}">
                <a16:creationId xmlns:a16="http://schemas.microsoft.com/office/drawing/2014/main" id="{C67BBAB2-F39C-2CF9-AEE1-8D09DEE08EBD}"/>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本社・市場、パッケージ場、旧倉庫敷地（駐車場）の土地3筆（計4,263㎡）と建物7棟をすべて法人で所有し、賃借物件はない。土地の時価は約67,825千円と推計（確認中）。</a:t>
            </a:r>
          </a:p>
        </p:txBody>
      </p:sp>
      <p:sp>
        <p:nvSpPr>
          <p:cNvPr id="15" name="TextBox 14"/>
          <p:cNvSpPr txBox="1"/>
          <p:nvPr/>
        </p:nvSpPr>
        <p:spPr>
          <a:xfrm>
            <a:off x="310896" y="3592068"/>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※面積は登記地積（固定資産税課税明細書）。土地時価＝固定資産税評価額÷0.7（推計）。建物評価額は令和8年度固定資産税評価額。</a:t>
            </a:r>
          </a:p>
          <a:p>
            <a:pPr algn="l"/>
            <a:r>
              <a:rPr sz="800" b="0">
                <a:solidFill>
                  <a:srgbClr val="000000"/>
                </a:solidFill>
                <a:latin typeface="游ゴシック"/>
                <a:ea typeface="游ゴシック"/>
              </a:rPr>
              <a:t>※旧倉庫敷地は現在建物を建てられない土地（代表者談）。倉庫は老朽化により解体済みで、近隣へ月極駐車場として賃貸（収入は僅少）。担保設定の状況は登記簿謄本（未受領）で確認予定。</a:t>
            </a:r>
          </a:p>
        </p:txBody>
      </p:sp>
      <p:sp>
        <p:nvSpPr>
          <p:cNvPr id="16" name="Rectangle 15"/>
          <p:cNvSpPr/>
          <p:nvPr/>
        </p:nvSpPr>
        <p:spPr>
          <a:xfrm>
            <a:off x="310896" y="4480560"/>
            <a:ext cx="1280160" cy="1737360"/>
          </a:xfrm>
          <a:prstGeom prst="rect">
            <a:avLst/>
          </a:prstGeom>
          <a:solidFill>
            <a:srgbClr val="0B30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a:solidFill>
                  <a:srgbClr val="FFFFFF"/>
                </a:solidFill>
                <a:latin typeface="游ゴシック"/>
                <a:ea typeface="游ゴシック"/>
              </a:rPr>
              <a:t>ポイント</a:t>
            </a:r>
          </a:p>
        </p:txBody>
      </p:sp>
      <p:sp>
        <p:nvSpPr>
          <p:cNvPr id="17" name="Rectangle 16"/>
          <p:cNvSpPr/>
          <p:nvPr/>
        </p:nvSpPr>
        <p:spPr>
          <a:xfrm>
            <a:off x="1645920" y="4480560"/>
            <a:ext cx="8723376" cy="1737360"/>
          </a:xfrm>
          <a:prstGeom prst="rect">
            <a:avLst/>
          </a:prstGeom>
          <a:solidFill>
            <a:srgbClr val="E1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400"/>
              </a:spcAft>
            </a:pPr>
            <a:r>
              <a:rPr sz="1000" b="0">
                <a:solidFill>
                  <a:srgbClr val="000000"/>
                </a:solidFill>
                <a:latin typeface="游ゴシック"/>
                <a:ea typeface="游ゴシック"/>
              </a:rPr>
              <a:t>■ 本社・市場とパッケージ場は隣接する一団の土地であり、事業用地はすべて法人所有。地代家賃の負担がなく、拠点の継続性が高い。</a:t>
            </a:r>
          </a:p>
          <a:p>
            <a:pPr algn="l">
              <a:spcAft>
                <a:spcPts val="400"/>
              </a:spcAft>
            </a:pPr>
            <a:r>
              <a:rPr sz="1000" b="0">
                <a:solidFill>
                  <a:srgbClr val="000000"/>
                </a:solidFill>
                <a:latin typeface="游ゴシック"/>
                <a:ea typeface="游ゴシック"/>
              </a:rPr>
              <a:t>■ 土地時価約67.8百万円・建物評価額約47.1百万円の資産を保有。一方、土地の帳簿価額93.1百万円は時価推計を上回り、時価純資産の減少要因（△25.3百万円）となる。</a:t>
            </a:r>
          </a:p>
          <a:p>
            <a:pPr algn="l">
              <a:spcAft>
                <a:spcPts val="400"/>
              </a:spcAft>
            </a:pPr>
            <a:r>
              <a:rPr sz="1000" b="0">
                <a:solidFill>
                  <a:srgbClr val="000000"/>
                </a:solidFill>
                <a:latin typeface="游ゴシック"/>
                <a:ea typeface="游ゴシック"/>
              </a:rPr>
              <a:t>■ 主要建物は1981〜82年築。改修を継続しており、耐震性・今後の更新計画は要確認。土地・建物の時価は路線価・査定等で確認中。</a:t>
            </a:r>
          </a:p>
        </p:txBody>
      </p:sp>
      <p:graphicFrame>
        <p:nvGraphicFramePr>
          <p:cNvPr id="18" name="表（不動産概況!B4:J9）"/>
          <p:cNvGraphicFramePr>
            <a:graphicFrameLocks noGrp="1"/>
          </p:cNvGraphicFramePr>
          <p:nvPr/>
        </p:nvGraphicFramePr>
        <p:xfrm>
          <a:off x="310896" y="1463040"/>
          <a:ext cx="10058394" cy="1727200"/>
        </p:xfrm>
        <a:graphic>
          <a:graphicData uri="http://schemas.openxmlformats.org/drawingml/2006/table">
            <a:tbl>
              <a:tblPr firstRow="0" bandRow="0">
                <a:tableStyleId>{2D5ABB26-0587-4C30-8999-92F81FD0307C}</a:tableStyleId>
              </a:tblPr>
              <a:tblGrid>
                <a:gridCol w="1020751"/>
                <a:gridCol w="2186472"/>
                <a:gridCol w="825874"/>
                <a:gridCol w="728790"/>
                <a:gridCol w="1701050"/>
                <a:gridCol w="922958"/>
                <a:gridCol w="922958"/>
                <a:gridCol w="1020751"/>
                <a:gridCol w="728790"/>
              </a:tblGrid>
              <a:tr h="190500">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900" b="0" i="0" dirty="0">
                          <a:solidFill>
                            <a:srgbClr val="000000"/>
                          </a:solidFill>
                          <a:latin typeface="游ゴシック"/>
                          <a:ea typeface="游ゴシック"/>
                        </a:rPr>
                        <a:t>(単位：千円)</a:t>
                      </a:r>
                      <a:endParaRPr lang="ja-JP" altLang="en-US" sz="900"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381000">
                <a:tc>
                  <a:txBody>
                    <a:bodyPr/>
                    <a:lstStyle/>
                    <a:p>
                      <a:pPr algn="ctr" fontAlgn="ctr"/>
                      <a:r>
                        <a:rPr lang="ja-JP" altLang="en-US" sz="1000" b="0" i="0" dirty="0">
                          <a:solidFill>
                            <a:srgbClr val="FFFFFF"/>
                          </a:solidFill>
                          <a:latin typeface="游ゴシック"/>
                          <a:ea typeface="游ゴシック"/>
                        </a:rPr>
                        <a:t>拠点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所在地</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土地面積</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土地の</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所有区分</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建物の所有区分</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土地簿価</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土地時価</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（推計）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建物固定資産税</a:t>
                      </a:r>
                      <a:endParaRPr lang="ja-JP" altLang="en-US" sz="1000" b="0" i="0" dirty="0">
                        <a:solidFill>
                          <a:srgbClr val="FFFFFF"/>
                        </a:solidFill>
                        <a:latin typeface="游ゴシック"/>
                        <a:ea typeface="游ゴシック"/>
                      </a:endParaRPr>
                    </a:p>
                    <a:p>
                      <a:pPr algn="ctr" fontAlgn="ctr"/>
                      <a:r>
                        <a:rPr lang="ja-JP" altLang="en-US" sz="1000" b="0" i="0" dirty="0">
                          <a:solidFill>
                            <a:srgbClr val="FFFFFF"/>
                          </a:solidFill>
                          <a:latin typeface="游ゴシック"/>
                          <a:ea typeface="游ゴシック"/>
                        </a:rPr>
                        <a:t>評価額</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担保</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04800">
                <a:tc>
                  <a:txBody>
                    <a:bodyPr/>
                    <a:lstStyle/>
                    <a:p>
                      <a:pPr algn="l" fontAlgn="ctr"/>
                      <a:r>
                        <a:rPr lang="ja-JP" altLang="en-US" sz="1050" b="0" i="0" dirty="0">
                          <a:solidFill>
                            <a:srgbClr val="000000"/>
                          </a:solidFill>
                          <a:latin typeface="游ゴシック"/>
                          <a:ea typeface="游ゴシック"/>
                        </a:rPr>
                        <a:t>本社・市場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鶴岡市宝田一丁目4-2</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3,100.22</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法人（5棟／延床1,246.20㎡）</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70,757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51,230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22,295</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パッケージ場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鶴岡市宝田一丁目5-1</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900.50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法人（2棟／延床766.48㎡）</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21,380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15,086</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24,767</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旧倉庫敷地</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東田川郡庄内町長沼字宮前304-7</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261.81</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法人</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建物なし（解体済み）</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1,000</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1,509</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1050" b="0" i="0" dirty="0">
                          <a:solidFill>
                            <a:srgbClr val="000000"/>
                          </a:solidFill>
                          <a:latin typeface="Arial"/>
                          <a:ea typeface="游ゴシック Medium"/>
                        </a:rPr>
                        <a:t>-</a:t>
                      </a:r>
                      <a:endParaRPr lang="ja-JP" altLang="en-US" sz="1050"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a:txBody>
                    <a:bodyPr/>
                    <a:lstStyle/>
                    <a:p>
                      <a:pPr algn="l" fontAlgn="ctr"/>
                      <a:r>
                        <a:rPr lang="ja-JP" altLang="en-US" sz="1050" b="1" i="0" dirty="0">
                          <a:solidFill>
                            <a:srgbClr val="000000"/>
                          </a:solidFill>
                          <a:latin typeface="游ゴシック"/>
                          <a:ea typeface="游ゴシック"/>
                        </a:rPr>
                        <a:t>合計</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4,262.53</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r>
                        <a:rPr lang="ja-JP" altLang="en-US" sz="1050" b="1" i="0" dirty="0">
                          <a:solidFill>
                            <a:srgbClr val="000000"/>
                          </a:solidFill>
                          <a:latin typeface="游ゴシック"/>
                          <a:ea typeface="游ゴシック"/>
                        </a:rPr>
                        <a:t>法人 7棟</a:t>
                      </a: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93,137</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67,825</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1050" b="1" i="0" dirty="0">
                          <a:solidFill>
                            <a:srgbClr val="000000"/>
                          </a:solidFill>
                          <a:latin typeface="Arial"/>
                          <a:ea typeface="游ゴシック Medium"/>
                        </a:rPr>
                        <a:t>47,062</a:t>
                      </a:r>
                      <a:endParaRPr lang="ja-JP" altLang="en-US" sz="1050"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1050"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Tree>
    <p:extLst>
      <p:ext uri="{BB962C8B-B14F-4D97-AF65-F5344CB8AC3E}">
        <p14:creationId xmlns:p14="http://schemas.microsoft.com/office/powerpoint/2010/main" val="37072750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6CA44-E527-07A7-EABE-FD69A9CC2754}"/>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676FF1C4-EA62-3485-4D28-7C17FD9DDA7D}"/>
              </a:ext>
            </a:extLst>
          </p:cNvPr>
          <p:cNvSpPr>
            <a:spLocks noGrp="1"/>
          </p:cNvSpPr>
          <p:nvPr>
            <p:ph type="ctrTitle"/>
          </p:nvPr>
        </p:nvSpPr>
        <p:spPr>
          <a:xfrm>
            <a:off x="311150" y="180296"/>
            <a:ext cx="7799917" cy="339267"/>
          </a:xfrm>
        </p:spPr>
        <p:txBody>
          <a:bodyPr>
            <a:normAutofit/>
          </a:bodyPr>
          <a:lstStyle/>
          <a:p>
            <a:r>
              <a:rPr lang="ja-JP" altLang="en-US" dirty="0"/>
              <a:t>不動産詳細</a:t>
            </a:r>
          </a:p>
        </p:txBody>
      </p:sp>
      <p:sp>
        <p:nvSpPr>
          <p:cNvPr id="2" name="正方形/長方形 1">
            <a:extLst>
              <a:ext uri="{FF2B5EF4-FFF2-40B4-BE49-F238E27FC236}">
                <a16:creationId xmlns:a16="http://schemas.microsoft.com/office/drawing/2014/main" id="{6E2B06A4-5CE5-00C3-97BF-5F9AFAE677E3}"/>
              </a:ext>
            </a:extLst>
          </p:cNvPr>
          <p:cNvSpPr/>
          <p:nvPr/>
        </p:nvSpPr>
        <p:spPr>
          <a:xfrm>
            <a:off x="310896" y="1463040"/>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所有</a:t>
            </a:r>
          </a:p>
        </p:txBody>
      </p:sp>
      <p:sp>
        <p:nvSpPr>
          <p:cNvPr id="3" name="正方形/長方形 2">
            <a:extLst>
              <a:ext uri="{FF2B5EF4-FFF2-40B4-BE49-F238E27FC236}">
                <a16:creationId xmlns:a16="http://schemas.microsoft.com/office/drawing/2014/main" id="{75ADC88D-D2D4-EEF0-D14C-0426FECA60C3}"/>
              </a:ext>
            </a:extLst>
          </p:cNvPr>
          <p:cNvSpPr/>
          <p:nvPr/>
        </p:nvSpPr>
        <p:spPr>
          <a:xfrm>
            <a:off x="310896" y="5230368"/>
            <a:ext cx="1479550" cy="360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ja-JP" altLang="en-US" sz="1400" b="1" spc="70" dirty="0">
                <a:solidFill>
                  <a:schemeClr val="bg1"/>
                </a:solidFill>
                <a:latin typeface="+mj-ea"/>
                <a:ea typeface="+mj-ea"/>
              </a:rPr>
              <a:t>賃借</a:t>
            </a:r>
          </a:p>
        </p:txBody>
      </p:sp>
      <p:sp>
        <p:nvSpPr>
          <p:cNvPr id="4" name="タイトル 1">
            <a:extLst>
              <a:ext uri="{FF2B5EF4-FFF2-40B4-BE49-F238E27FC236}">
                <a16:creationId xmlns:a16="http://schemas.microsoft.com/office/drawing/2014/main" id="{DAA41D5B-A131-C808-ADF3-2DAFD20777F6}"/>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8" name="字幕 13">
            <a:extLst>
              <a:ext uri="{FF2B5EF4-FFF2-40B4-BE49-F238E27FC236}">
                <a16:creationId xmlns:a16="http://schemas.microsoft.com/office/drawing/2014/main" id="{A751CA4D-CB14-CD08-826F-75C234B5BA9A}"/>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土地3筆・建物7棟を所有。土地の簿価93.1百万円に対し、固定資産税評価額ベースの時価推計は約68百万円。</a:t>
            </a:r>
          </a:p>
        </p:txBody>
      </p:sp>
      <p:sp>
        <p:nvSpPr>
          <p:cNvPr id="15" name="TextBox 14"/>
          <p:cNvSpPr txBox="1"/>
          <p:nvPr/>
        </p:nvSpPr>
        <p:spPr>
          <a:xfrm>
            <a:off x="1965960" y="5230368"/>
            <a:ext cx="8229600" cy="356616"/>
          </a:xfrm>
          <a:prstGeom prst="rect">
            <a:avLst/>
          </a:prstGeom>
          <a:noFill/>
        </p:spPr>
        <p:txBody>
          <a:bodyPr wrap="square" lIns="0" rIns="0" tIns="0" bIns="0" anchor="ctr">
            <a:spAutoFit/>
          </a:bodyPr>
          <a:lstStyle/>
          <a:p>
            <a:pPr algn="l"/>
            <a:r>
              <a:rPr sz="1050" b="0">
                <a:solidFill>
                  <a:srgbClr val="000000"/>
                </a:solidFill>
                <a:latin typeface="游ゴシック"/>
                <a:ea typeface="游ゴシック"/>
              </a:rPr>
              <a:t>賃借物件はありません（地代家賃の計上なし）。</a:t>
            </a:r>
          </a:p>
        </p:txBody>
      </p:sp>
      <p:sp>
        <p:nvSpPr>
          <p:cNvPr id="16" name="TextBox 15"/>
          <p:cNvSpPr txBox="1"/>
          <p:nvPr/>
        </p:nvSpPr>
        <p:spPr>
          <a:xfrm>
            <a:off x="310896" y="5733288"/>
            <a:ext cx="10058400" cy="329184"/>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※建物の簿価は棟別ではなく改修工事を含めた合計（BS建物・建物付属設備）。棟別の帳簿内訳は「保有設備一覧」に記載。庄内町長沼の土地は建築不可（代表者談）。</a:t>
            </a:r>
          </a:p>
          <a:p>
            <a:pPr algn="l"/>
            <a:r>
              <a:rPr sz="800" b="0">
                <a:solidFill>
                  <a:srgbClr val="000000"/>
                </a:solidFill>
                <a:latin typeface="游ゴシック"/>
                <a:ea typeface="游ゴシック"/>
              </a:rPr>
              <a:t>※1981年築の建物は新耐震基準（1981年6月施行）の適用有無を建築確認日で要確認。土地の時価は鑑定・路線価で要確認。担保設定は登記簿謄本で要確認。</a:t>
            </a:r>
          </a:p>
        </p:txBody>
      </p:sp>
      <p:graphicFrame>
        <p:nvGraphicFramePr>
          <p:cNvPr id="17" name="表（不動産(所有)!B3:K15）"/>
          <p:cNvGraphicFramePr>
            <a:graphicFrameLocks noGrp="1"/>
          </p:cNvGraphicFramePr>
          <p:nvPr/>
        </p:nvGraphicFramePr>
        <p:xfrm>
          <a:off x="310896" y="1847088"/>
          <a:ext cx="10058394" cy="3017512"/>
        </p:xfrm>
        <a:graphic>
          <a:graphicData uri="http://schemas.openxmlformats.org/drawingml/2006/table">
            <a:tbl>
              <a:tblPr firstRow="0" bandRow="0">
                <a:tableStyleId>{2D5ABB26-0587-4C30-8999-92F81FD0307C}</a:tableStyleId>
              </a:tblPr>
              <a:tblGrid>
                <a:gridCol w="731195"/>
                <a:gridCol w="1417806"/>
                <a:gridCol w="1542644"/>
                <a:gridCol w="606357"/>
                <a:gridCol w="1105710"/>
                <a:gridCol w="918453"/>
                <a:gridCol w="668776"/>
                <a:gridCol w="668776"/>
                <a:gridCol w="731195"/>
                <a:gridCol w="1667482"/>
              </a:tblGrid>
              <a:tr h="324196">
                <a:tc>
                  <a:txBody>
                    <a:bodyPr/>
                    <a:lstStyle/>
                    <a:p>
                      <a:pPr algn="ctr" fontAlgn="ctr"/>
                      <a:r>
                        <a:rPr lang="ja-JP" altLang="en-US" sz="864" b="1" i="0" dirty="0">
                          <a:solidFill>
                            <a:srgbClr val="FFFFFF"/>
                          </a:solidFill>
                          <a:latin typeface="游ゴシック"/>
                          <a:ea typeface="游ゴシック"/>
                        </a:rPr>
                        <a:t>事業所名</a:t>
                      </a:r>
                      <a:endParaRPr lang="ja-JP" altLang="en-US" sz="864" b="1" i="0" dirty="0">
                        <a:solidFill>
                          <a:srgbClr val="FFFFFF"/>
                        </a:solidFill>
                        <a:latin typeface="游ゴシック"/>
                        <a:ea typeface="游ゴシック"/>
                      </a:endParaRPr>
                    </a:p>
                  </a:txBody>
                  <a:tcPr marL="36576" marR="36576" marT="0" marB="0" anchor="ctr">
                    <a:lnL w="6350">
                      <a:no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内容</a:t>
                      </a:r>
                      <a:endParaRPr lang="ja-JP" altLang="en-US" sz="864" b="1" i="0" dirty="0">
                        <a:solidFill>
                          <a:srgbClr val="FFFFFF"/>
                        </a:solidFill>
                        <a:latin typeface="游ゴシック"/>
                        <a:ea typeface="游ゴシック"/>
                      </a:endParaRPr>
                    </a:p>
                  </a:txBody>
                  <a:tcPr marL="36576" marR="36576" marT="0" marB="0" anchor="ctr">
                    <a:lnL w="6350">
                      <a:no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所在地</a:t>
                      </a:r>
                      <a:endParaRPr lang="ja-JP" altLang="en-US" sz="864" b="1" i="0" dirty="0">
                        <a:solidFill>
                          <a:srgbClr val="FFFFFF"/>
                        </a:solidFill>
                        <a:latin typeface="游ゴシック"/>
                        <a:ea typeface="游ゴシック"/>
                      </a:endParaRPr>
                    </a:p>
                    <a:p>
                      <a:pPr algn="ctr" fontAlgn="ctr"/>
                      <a:r>
                        <a:rPr lang="ja-JP" altLang="en-US" sz="864" b="1" i="0" dirty="0">
                          <a:solidFill>
                            <a:srgbClr val="FFFFFF"/>
                          </a:solidFill>
                          <a:latin typeface="游ゴシック"/>
                          <a:ea typeface="游ゴシック"/>
                        </a:rPr>
                        <a:t>地番・家屋番号</a:t>
                      </a:r>
                      <a:endParaRPr lang="ja-JP" altLang="en-US" sz="864"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面積</a:t>
                      </a:r>
                      <a:endParaRPr lang="ja-JP" altLang="en-US" sz="864" b="1" i="0" dirty="0">
                        <a:solidFill>
                          <a:srgbClr val="FFFFFF"/>
                        </a:solidFill>
                        <a:latin typeface="游ゴシック"/>
                        <a:ea typeface="游ゴシック"/>
                      </a:endParaRPr>
                    </a:p>
                    <a:p>
                      <a:pPr algn="ctr" fontAlgn="ctr"/>
                      <a:r>
                        <a:rPr lang="ja-JP" altLang="en-US" sz="864" b="1" i="0" dirty="0">
                          <a:solidFill>
                            <a:srgbClr val="FFFFFF"/>
                          </a:solidFill>
                          <a:latin typeface="游ゴシック"/>
                          <a:ea typeface="游ゴシック"/>
                        </a:rPr>
                        <a:t>(㎡)</a:t>
                      </a:r>
                      <a:endParaRPr lang="ja-JP" altLang="en-US" sz="864"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区分</a:t>
                      </a:r>
                      <a:endParaRPr lang="ja-JP" altLang="en-US" sz="864" b="1" i="0" dirty="0">
                        <a:solidFill>
                          <a:srgbClr val="FFFFFF"/>
                        </a:solidFill>
                        <a:latin typeface="游ゴシック"/>
                        <a:ea typeface="游ゴシック"/>
                      </a:endParaRPr>
                    </a:p>
                    <a:p>
                      <a:pPr algn="ctr" fontAlgn="ctr"/>
                      <a:r>
                        <a:rPr lang="ja-JP" altLang="en-US" sz="864" b="1" i="0" dirty="0">
                          <a:solidFill>
                            <a:srgbClr val="FFFFFF"/>
                          </a:solidFill>
                          <a:latin typeface="游ゴシック"/>
                          <a:ea typeface="游ゴシック"/>
                        </a:rPr>
                        <a:t>・構造</a:t>
                      </a:r>
                      <a:endParaRPr lang="ja-JP" altLang="en-US" sz="864"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所有（建築）</a:t>
                      </a:r>
                      <a:endParaRPr lang="ja-JP" altLang="en-US" sz="864" b="1" i="0" dirty="0">
                        <a:solidFill>
                          <a:srgbClr val="FFFFFF"/>
                        </a:solidFill>
                        <a:latin typeface="游ゴシック"/>
                        <a:ea typeface="游ゴシック"/>
                      </a:endParaRPr>
                    </a:p>
                    <a:p>
                      <a:pPr algn="ctr" fontAlgn="ctr"/>
                      <a:r>
                        <a:rPr lang="ja-JP" altLang="en-US" sz="864" b="1" i="0" dirty="0">
                          <a:solidFill>
                            <a:srgbClr val="FFFFFF"/>
                          </a:solidFill>
                          <a:latin typeface="游ゴシック"/>
                          <a:ea typeface="游ゴシック"/>
                        </a:rPr>
                        <a:t>年月・事由</a:t>
                      </a:r>
                      <a:endParaRPr lang="ja-JP" altLang="en-US" sz="864"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前期末簿価</a:t>
                      </a:r>
                      <a:endParaRPr lang="ja-JP" altLang="en-US" sz="864" b="1" i="0" dirty="0">
                        <a:solidFill>
                          <a:srgbClr val="FFFFFF"/>
                        </a:solidFill>
                        <a:latin typeface="游ゴシック"/>
                        <a:ea typeface="游ゴシック"/>
                      </a:endParaRPr>
                    </a:p>
                    <a:p>
                      <a:pPr algn="ctr" fontAlgn="ctr"/>
                      <a:r>
                        <a:rPr lang="ja-JP" altLang="en-US" sz="864" b="1" i="0" dirty="0">
                          <a:solidFill>
                            <a:srgbClr val="FFFFFF"/>
                          </a:solidFill>
                          <a:latin typeface="游ゴシック"/>
                          <a:ea typeface="游ゴシック"/>
                        </a:rPr>
                        <a:t>(千円)</a:t>
                      </a:r>
                      <a:endParaRPr lang="ja-JP" altLang="en-US" sz="864"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時価</a:t>
                      </a:r>
                      <a:endParaRPr lang="ja-JP" altLang="en-US" sz="864" b="1" i="0" dirty="0">
                        <a:solidFill>
                          <a:srgbClr val="FFFFFF"/>
                        </a:solidFill>
                        <a:latin typeface="游ゴシック"/>
                        <a:ea typeface="游ゴシック"/>
                      </a:endParaRPr>
                    </a:p>
                    <a:p>
                      <a:pPr algn="ctr" fontAlgn="ctr"/>
                      <a:r>
                        <a:rPr lang="ja-JP" altLang="en-US" sz="864" b="1" i="0" dirty="0">
                          <a:solidFill>
                            <a:srgbClr val="FFFFFF"/>
                          </a:solidFill>
                          <a:latin typeface="游ゴシック"/>
                          <a:ea typeface="游ゴシック"/>
                        </a:rPr>
                        <a:t>(千円)</a:t>
                      </a:r>
                      <a:endParaRPr lang="ja-JP" altLang="en-US" sz="864"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固定資産税</a:t>
                      </a:r>
                      <a:endParaRPr lang="ja-JP" altLang="en-US" sz="864" b="1" i="0" dirty="0">
                        <a:solidFill>
                          <a:srgbClr val="FFFFFF"/>
                        </a:solidFill>
                        <a:latin typeface="游ゴシック"/>
                        <a:ea typeface="游ゴシック"/>
                      </a:endParaRPr>
                    </a:p>
                    <a:p>
                      <a:pPr algn="ctr" fontAlgn="ctr"/>
                      <a:r>
                        <a:rPr lang="ja-JP" altLang="en-US" sz="864" b="1" i="0" dirty="0">
                          <a:solidFill>
                            <a:srgbClr val="FFFFFF"/>
                          </a:solidFill>
                          <a:latin typeface="游ゴシック"/>
                          <a:ea typeface="游ゴシック"/>
                        </a:rPr>
                        <a:t>評価額(千円)</a:t>
                      </a:r>
                      <a:endParaRPr lang="ja-JP" altLang="en-US" sz="864"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864" b="1" i="0" dirty="0">
                          <a:solidFill>
                            <a:srgbClr val="FFFFFF"/>
                          </a:solidFill>
                          <a:latin typeface="游ゴシック"/>
                          <a:ea typeface="游ゴシック"/>
                        </a:rPr>
                        <a:t>備考</a:t>
                      </a:r>
                      <a:endParaRPr lang="ja-JP" altLang="en-US" sz="864" b="1" i="0" dirty="0">
                        <a:solidFill>
                          <a:srgbClr val="FFFFFF"/>
                        </a:solidFill>
                        <a:latin typeface="游ゴシック"/>
                        <a:ea typeface="游ゴシック"/>
                      </a:endParaRPr>
                    </a:p>
                  </a:txBody>
                  <a:tcPr marL="36576" marR="36576" marT="0" marB="0" anchor="ctr">
                    <a:lnL w="6350">
                      <a:noFill/>
                    </a:lnL>
                    <a:lnR w="6350">
                      <a:noFill/>
                    </a:lnR>
                    <a:lnT w="6350">
                      <a:noFill/>
                    </a:lnT>
                    <a:lnB w="6350">
                      <a:noFill/>
                    </a:lnB>
                    <a:solidFill>
                      <a:srgbClr val="0B3041"/>
                    </a:solidFill>
                  </a:tcPr>
                </a:tc>
              </a:tr>
              <a:tr h="224443">
                <a:tc>
                  <a:txBody>
                    <a:bodyPr/>
                    <a:lstStyle/>
                    <a:p>
                      <a:pPr algn="ctr" fontAlgn="ctr"/>
                      <a:r>
                        <a:rPr lang="ja-JP" altLang="en-US" sz="864" b="0" i="0" dirty="0">
                          <a:solidFill>
                            <a:srgbClr val="000000"/>
                          </a:solidFill>
                          <a:latin typeface="游ゴシック"/>
                          <a:ea typeface="游ゴシック"/>
                        </a:rPr>
                        <a:t>本社・市場</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土地）市場敷地</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鶴岡市宝田一丁目4-2</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3,100.22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宅地</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游ゴシック"/>
                          <a:ea typeface="游ゴシック"/>
                        </a:rPr>
                        <a:t>　要確認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70,757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51,230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35,861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648" b="0" i="0" dirty="0">
                          <a:solidFill>
                            <a:srgbClr val="000000"/>
                          </a:solidFill>
                          <a:latin typeface="游ゴシック"/>
                          <a:ea typeface="游ゴシック"/>
                        </a:rPr>
                        <a:t>　固定資産税評価額を0.7で割戻し、時価を算出</a:t>
                      </a:r>
                      <a:endParaRPr lang="ja-JP" altLang="en-US" sz="648"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r h="224443">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建物）事務所</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宝田一丁目4-2</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365.63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鉄骨造 2階</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游ゴシック"/>
                          <a:ea typeface="游ゴシック"/>
                        </a:rPr>
                        <a:t>　1981年新築</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11,218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endParaRPr lang="ja-JP" altLang="en-US" sz="648"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r h="224443">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建物）市場</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宝田一丁目4-2</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320.22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鉄骨造 1階</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游ゴシック"/>
                          <a:ea typeface="游ゴシック"/>
                        </a:rPr>
                        <a:t>　1981年新築</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4,713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endParaRPr lang="ja-JP" altLang="en-US" sz="648"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r h="224443">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建物）倉庫</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宝田一丁目4-2</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327.13</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鉄骨造 1階</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游ゴシック"/>
                          <a:ea typeface="游ゴシック"/>
                        </a:rPr>
                        <a:t>　1981年新築</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4,561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endParaRPr lang="ja-JP" altLang="en-US" sz="648"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r h="224443">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建物）容器庫</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宝田一丁目4-2</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198.74</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軽量鉄骨造 2階</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游ゴシック"/>
                          <a:ea typeface="游ゴシック"/>
                        </a:rPr>
                        <a:t>　1981年新築</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1,237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endParaRPr lang="ja-JP" altLang="en-US" sz="648"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r h="224443">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建物）貯蔵庫</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宝田一丁目4-2</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34.48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軽量鉄骨造 1階</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游ゴシック"/>
                          <a:ea typeface="游ゴシック"/>
                        </a:rPr>
                        <a:t>　1981年新築</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567</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endParaRPr lang="ja-JP" altLang="en-US" sz="648"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r h="224443">
                <a:tc>
                  <a:txBody>
                    <a:bodyPr/>
                    <a:lstStyle/>
                    <a:p>
                      <a:pPr algn="ctr" fontAlgn="ctr"/>
                      <a:r>
                        <a:rPr lang="ja-JP" altLang="en-US" sz="864" b="0" i="0" dirty="0">
                          <a:solidFill>
                            <a:srgbClr val="000000"/>
                          </a:solidFill>
                          <a:latin typeface="游ゴシック"/>
                          <a:ea typeface="游ゴシック"/>
                        </a:rPr>
                        <a:t>パッケージ場</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土地）作業場敷地</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鶴岡市宝田一丁目5-1</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900.50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宅地</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游ゴシック"/>
                          <a:ea typeface="游ゴシック"/>
                        </a:rPr>
                        <a:t>　要確認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21,380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15,086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10,560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648" b="0" i="0" dirty="0">
                          <a:solidFill>
                            <a:srgbClr val="000000"/>
                          </a:solidFill>
                          <a:latin typeface="游ゴシック"/>
                          <a:ea typeface="游ゴシック"/>
                        </a:rPr>
                        <a:t>　固定資産税評価額を0.7で割戻し、時価を算出</a:t>
                      </a:r>
                      <a:endParaRPr lang="ja-JP" altLang="en-US" sz="648"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r h="224443">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建物）事務所兼倉庫</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宝田一丁目5-1</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627.40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鉄骨造 2階</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游ゴシック"/>
                          <a:ea typeface="游ゴシック"/>
                        </a:rPr>
                        <a:t>　1982年新築</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13,111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endParaRPr lang="ja-JP" altLang="en-US" sz="648"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r h="224443">
                <a:tc>
                  <a:txBody>
                    <a:bodyPr/>
                    <a:lstStyle/>
                    <a:p>
                      <a:pPr algn="ctr" fontAlgn="ct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建物）倉庫</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宝田一丁目5-1</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139.08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鉄骨造 1階</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游ゴシック"/>
                          <a:ea typeface="游ゴシック"/>
                        </a:rPr>
                        <a:t>　2012年新築</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11,656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endParaRPr lang="ja-JP" altLang="en-US" sz="648"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r h="224443">
                <a:tc>
                  <a:txBody>
                    <a:bodyPr/>
                    <a:lstStyle/>
                    <a:p>
                      <a:pPr algn="ctr" fontAlgn="ctr"/>
                      <a:r>
                        <a:rPr lang="ja-JP" altLang="en-US" sz="864" b="0" i="0" dirty="0">
                          <a:solidFill>
                            <a:srgbClr val="000000"/>
                          </a:solidFill>
                          <a:latin typeface="游ゴシック"/>
                          <a:ea typeface="游ゴシック"/>
                        </a:rPr>
                        <a:t>旧倉庫敷地</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土地）駐車場</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東田川郡庄内町長沼字宮前304-7</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261.81</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宅地</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游ゴシック"/>
                          <a:ea typeface="游ゴシック"/>
                        </a:rPr>
                        <a:t>　要確認</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1,000</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1,509</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1,056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648" b="0" i="0" dirty="0">
                          <a:solidFill>
                            <a:srgbClr val="000000"/>
                          </a:solidFill>
                          <a:latin typeface="游ゴシック"/>
                          <a:ea typeface="游ゴシック"/>
                        </a:rPr>
                        <a:t>　倉庫は解体済み。月極駐車場として賃貸</a:t>
                      </a:r>
                      <a:endParaRPr lang="ja-JP" altLang="en-US" sz="648"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r h="224443">
                <a:tc>
                  <a:txBody>
                    <a:bodyPr/>
                    <a:lstStyle/>
                    <a:p>
                      <a:pPr algn="ctr" fontAlgn="ctr"/>
                      <a:r>
                        <a:rPr lang="ja-JP" altLang="en-US" sz="864" b="0" i="0" dirty="0">
                          <a:solidFill>
                            <a:srgbClr val="000000"/>
                          </a:solidFill>
                          <a:latin typeface="游ゴシック"/>
                          <a:ea typeface="游ゴシック"/>
                        </a:rPr>
                        <a:t>建物計</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建物・付属設備（7棟）</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2,012.68</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864" b="0" i="0" dirty="0">
                          <a:solidFill>
                            <a:srgbClr val="000000"/>
                          </a:solidFill>
                          <a:latin typeface="游ゴシック"/>
                          <a:ea typeface="游ゴシック"/>
                        </a:rPr>
                        <a:t>　－</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游ゴシック"/>
                          <a:ea typeface="游ゴシック"/>
                        </a:rPr>
                        <a:t>　－</a:t>
                      </a:r>
                      <a:endParaRPr lang="ja-JP" altLang="en-US" sz="864"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103,466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103,466</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0" i="0" dirty="0">
                          <a:solidFill>
                            <a:srgbClr val="000000"/>
                          </a:solidFill>
                          <a:latin typeface="Arial"/>
                          <a:ea typeface="游ゴシック Medium"/>
                        </a:rPr>
                        <a:t>47,062</a:t>
                      </a:r>
                      <a:endParaRPr lang="ja-JP" altLang="en-US" sz="86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648" b="0" i="0" dirty="0">
                          <a:solidFill>
                            <a:srgbClr val="000000"/>
                          </a:solidFill>
                          <a:latin typeface="游ゴシック"/>
                          <a:ea typeface="游ゴシック"/>
                        </a:rPr>
                        <a:t>　減価償却過不足なし（別表十六）、簿価＝時価として評価。棟別簿価は台帳で要確認</a:t>
                      </a:r>
                      <a:endParaRPr lang="ja-JP" altLang="en-US" sz="648"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r h="224443">
                <a:tc>
                  <a:txBody>
                    <a:bodyPr/>
                    <a:lstStyle/>
                    <a:p>
                      <a:pPr algn="ctr" fontAlgn="ctr"/>
                      <a:r>
                        <a:rPr lang="ja-JP" altLang="en-US" sz="864" b="1" i="0" dirty="0">
                          <a:solidFill>
                            <a:srgbClr val="000000"/>
                          </a:solidFill>
                          <a:latin typeface="游ゴシック"/>
                          <a:ea typeface="游ゴシック"/>
                        </a:rPr>
                        <a:t>合計</a:t>
                      </a: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endParaRPr lang="ja-JP" altLang="en-US" sz="864"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1" i="0" dirty="0">
                          <a:solidFill>
                            <a:srgbClr val="000000"/>
                          </a:solidFill>
                          <a:latin typeface="Arial"/>
                          <a:ea typeface="游ゴシック Medium"/>
                        </a:rPr>
                        <a:t>　4,262.53</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1" i="0" dirty="0">
                          <a:solidFill>
                            <a:srgbClr val="000000"/>
                          </a:solidFill>
                          <a:latin typeface="Arial"/>
                          <a:ea typeface="游ゴシック Medium"/>
                        </a:rPr>
                        <a:t>　196,603</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1" i="0" dirty="0">
                          <a:solidFill>
                            <a:srgbClr val="000000"/>
                          </a:solidFill>
                          <a:latin typeface="Arial"/>
                          <a:ea typeface="游ゴシック Medium"/>
                        </a:rPr>
                        <a:t>　171,291</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r" fontAlgn="ctr"/>
                      <a:r>
                        <a:rPr lang="ja-JP" altLang="en-US" sz="864" b="1" i="0" dirty="0">
                          <a:solidFill>
                            <a:srgbClr val="000000"/>
                          </a:solidFill>
                          <a:latin typeface="Arial"/>
                          <a:ea typeface="游ゴシック Medium"/>
                        </a:rPr>
                        <a:t>　94,540</a:t>
                      </a: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endParaRPr lang="ja-JP" altLang="en-US" sz="86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r>
            </a:tbl>
          </a:graphicData>
        </a:graphic>
      </p:graphicFrame>
    </p:spTree>
    <p:extLst>
      <p:ext uri="{BB962C8B-B14F-4D97-AF65-F5344CB8AC3E}">
        <p14:creationId xmlns:p14="http://schemas.microsoft.com/office/powerpoint/2010/main" val="20041296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83CB5-D66B-9D1A-A660-C02FFA666B7D}"/>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B1EDBB24-67BB-E96E-B74B-D3EB5F75EDA4}"/>
              </a:ext>
            </a:extLst>
          </p:cNvPr>
          <p:cNvSpPr>
            <a:spLocks noGrp="1"/>
          </p:cNvSpPr>
          <p:nvPr>
            <p:ph type="ctrTitle"/>
          </p:nvPr>
        </p:nvSpPr>
        <p:spPr>
          <a:xfrm>
            <a:off x="311150" y="180296"/>
            <a:ext cx="7799917" cy="339267"/>
          </a:xfrm>
        </p:spPr>
        <p:txBody>
          <a:bodyPr>
            <a:normAutofit/>
          </a:bodyPr>
          <a:lstStyle/>
          <a:p>
            <a:r>
              <a:rPr lang="ja-JP" altLang="en-US" dirty="0"/>
              <a:t>保有設備一覧</a:t>
            </a:r>
          </a:p>
        </p:txBody>
      </p:sp>
      <p:sp>
        <p:nvSpPr>
          <p:cNvPr id="4" name="タイトル 1">
            <a:extLst>
              <a:ext uri="{FF2B5EF4-FFF2-40B4-BE49-F238E27FC236}">
                <a16:creationId xmlns:a16="http://schemas.microsoft.com/office/drawing/2014/main" id="{9A038C7C-FDC6-3DA9-FB86-371BEF2D480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組織、拠点、設備等</a:t>
            </a:r>
          </a:p>
        </p:txBody>
      </p:sp>
      <p:sp>
        <p:nvSpPr>
          <p:cNvPr id="7" name="字幕 13">
            <a:extLst>
              <a:ext uri="{FF2B5EF4-FFF2-40B4-BE49-F238E27FC236}">
                <a16:creationId xmlns:a16="http://schemas.microsoft.com/office/drawing/2014/main" id="{AF62B1A2-0C69-2A17-FF69-1256D98EBEC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機械・車両は償却済み（車両は自己所有とリースを併用）。建物は屋根・外壁・シャッター・冷蔵庫ユニット等の改修を継続して資産計上。</a:t>
            </a:r>
          </a:p>
        </p:txBody>
      </p:sp>
      <p:sp>
        <p:nvSpPr>
          <p:cNvPr id="16" name="TextBox 15"/>
          <p:cNvSpPr txBox="1"/>
          <p:nvPr/>
        </p:nvSpPr>
        <p:spPr>
          <a:xfrm>
            <a:off x="6172200" y="3675888"/>
            <a:ext cx="4389120" cy="493776"/>
          </a:xfrm>
          <a:prstGeom prst="rect">
            <a:avLst/>
          </a:prstGeom>
          <a:noFill/>
        </p:spPr>
        <p:txBody>
          <a:bodyPr wrap="square" lIns="0" rIns="0" tIns="0" bIns="0" anchor="t">
            <a:spAutoFit/>
          </a:bodyPr>
          <a:lstStyle/>
          <a:p>
            <a:pPr algn="l"/>
            <a:r>
              <a:rPr sz="800" b="0">
                <a:solidFill>
                  <a:srgbClr val="000000"/>
                </a:solidFill>
                <a:latin typeface="游ゴシック"/>
                <a:ea typeface="游ゴシック"/>
              </a:rPr>
              <a:t>※固定資産内訳書（2026/3期末）。固定資産台帳は未受領</a:t>
            </a:r>
          </a:p>
          <a:p>
            <a:pPr algn="l"/>
            <a:r>
              <a:rPr sz="800" b="0">
                <a:solidFill>
                  <a:srgbClr val="000000"/>
                </a:solidFill>
                <a:latin typeface="游ゴシック"/>
                <a:ea typeface="游ゴシック"/>
              </a:rPr>
              <a:t>　のため、冷蔵設備・フォークリフト・車両等の明細は</a:t>
            </a:r>
          </a:p>
          <a:p>
            <a:pPr algn="l"/>
            <a:r>
              <a:rPr sz="800" b="0">
                <a:solidFill>
                  <a:srgbClr val="000000"/>
                </a:solidFill>
                <a:latin typeface="游ゴシック"/>
                <a:ea typeface="游ゴシック"/>
              </a:rPr>
              <a:t>　受領後に追加。リース契約の一覧は資料依頼中。</a:t>
            </a:r>
          </a:p>
        </p:txBody>
      </p:sp>
      <p:graphicFrame>
        <p:nvGraphicFramePr>
          <p:cNvPr id="17" name="表（設備!B2:K29）"/>
          <p:cNvGraphicFramePr>
            <a:graphicFrameLocks noGrp="1"/>
          </p:cNvGraphicFramePr>
          <p:nvPr/>
        </p:nvGraphicFramePr>
        <p:xfrm>
          <a:off x="310896" y="1371600"/>
          <a:ext cx="5669278" cy="5120618"/>
        </p:xfrm>
        <a:graphic>
          <a:graphicData uri="http://schemas.openxmlformats.org/drawingml/2006/table">
            <a:tbl>
              <a:tblPr firstRow="0" bandRow="0">
                <a:tableStyleId>{2D5ABB26-0587-4C30-8999-92F81FD0307C}</a:tableStyleId>
              </a:tblPr>
              <a:tblGrid>
                <a:gridCol w="404595"/>
                <a:gridCol w="673087"/>
                <a:gridCol w="1712414"/>
                <a:gridCol w="1166768"/>
                <a:gridCol w="1712414"/>
              </a:tblGrid>
              <a:tr h="304223">
                <a:tc>
                  <a:txBody>
                    <a:bodyPr/>
                    <a:lstStyle/>
                    <a:p>
                      <a:pPr algn="ctr" fontAlgn="ctr"/>
                      <a:r>
                        <a:rPr lang="ja-JP" altLang="en-US" sz="900" b="0" i="0" dirty="0">
                          <a:solidFill>
                            <a:srgbClr val="FFFFFF"/>
                          </a:solidFill>
                          <a:latin typeface="游ゴシック"/>
                          <a:ea typeface="游ゴシック"/>
                        </a:rPr>
                        <a:t>№</a:t>
                      </a:r>
                      <a:endParaRPr lang="ja-JP" altLang="en-US" sz="900" b="0"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科目</a:t>
                      </a:r>
                      <a:endParaRPr lang="ja-JP" altLang="en-US" sz="900" b="1"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資産名（用途）</a:t>
                      </a:r>
                      <a:endParaRPr lang="ja-JP" altLang="en-US" sz="9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期末帳簿価額</a:t>
                      </a:r>
                      <a:endParaRPr lang="ja-JP" altLang="en-US" sz="900" b="1" i="0" dirty="0">
                        <a:solidFill>
                          <a:srgbClr val="FFFFFF"/>
                        </a:solidFill>
                        <a:latin typeface="游ゴシック"/>
                        <a:ea typeface="游ゴシック"/>
                      </a:endParaRPr>
                    </a:p>
                    <a:p>
                      <a:pPr algn="ctr" fontAlgn="ctr"/>
                      <a:r>
                        <a:rPr lang="ja-JP" altLang="en-US" sz="900" b="1" i="0" dirty="0">
                          <a:solidFill>
                            <a:srgbClr val="FFFFFF"/>
                          </a:solidFill>
                          <a:latin typeface="游ゴシック"/>
                          <a:ea typeface="游ゴシック"/>
                        </a:rPr>
                        <a:t>(千円)</a:t>
                      </a:r>
                      <a:endParaRPr lang="ja-JP" altLang="en-US" sz="9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所在・面積等</a:t>
                      </a:r>
                      <a:endParaRPr lang="ja-JP" altLang="en-US" sz="900" b="1" i="0" dirty="0">
                        <a:solidFill>
                          <a:srgbClr val="FFFFFF"/>
                        </a:solidFill>
                        <a:latin typeface="游ゴシック"/>
                        <a:ea typeface="游ゴシック"/>
                      </a:endParaRPr>
                    </a:p>
                  </a:txBody>
                  <a:tcPr marL="36576" marR="36576" marT="0" marB="0" anchor="ctr">
                    <a:lnL w="6350">
                      <a:noFill/>
                    </a:lnL>
                    <a:lnR w="6350">
                      <a:noFill/>
                    </a:lnR>
                    <a:lnT w="6350">
                      <a:noFill/>
                    </a:lnT>
                    <a:lnB w="6350">
                      <a:noFill/>
                    </a:lnB>
                    <a:solidFill>
                      <a:srgbClr val="0B3041"/>
                    </a:solidFill>
                  </a:tcPr>
                </a:tc>
              </a:tr>
              <a:tr h="178385">
                <a:tc>
                  <a:txBody>
                    <a:bodyPr/>
                    <a:lstStyle/>
                    <a:p>
                      <a:pPr algn="ctr" fontAlgn="ctr"/>
                      <a:r>
                        <a:rPr lang="ja-JP" altLang="en-US" sz="900" b="0" i="0" dirty="0">
                          <a:solidFill>
                            <a:srgbClr val="000000"/>
                          </a:solidFill>
                          <a:latin typeface="游ゴシック"/>
                          <a:ea typeface="游ゴシック"/>
                        </a:rPr>
                        <a:t>1</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管理棟</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20,193</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宝田一丁目4-20（365.0㎡）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2</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荷捌市場</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5,899</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宝田一丁目4-20（330.7㎡）</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3</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倉庫</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1,166</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宝田一丁目4-20（320.2㎡）</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4</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容器庫</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500</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宝田一丁目4-20（198.7㎡）</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5</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物置</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0</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宝田一丁目4-20（34.4㎡）</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6</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容器倉庫</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249</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7</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シャッター</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0</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8</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シャッター取替</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1,739</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9</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改修工事</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2,695</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10</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改修工事</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6,000</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11</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パッケージ場</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11,751</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宝田一丁目5-20（629.3㎡）</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12</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シャッター更新</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1,078</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13</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プレハブ修繕</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1,377</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14</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不用材置場</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0</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15</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倉庫</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8,917</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宝田一丁目5-1</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16</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2階改修</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6,404</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17</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1階トイレ改修</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1,170</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18</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屋根改修</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3,391</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19</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屋根改修</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3,120</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20</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屋根改修</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3,737</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21</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下屋修理・塗装</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971</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22</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パッケージ場外壁</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6,815</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宝田一丁目5-20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23</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冷蔵庫ユニット交換工事</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1,002</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24</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シャッター</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2,570</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25</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資材倉庫外壁改修（2025年5月）</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918</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r>
                        <a:rPr lang="ja-JP" altLang="en-US" sz="900" b="0" i="0" dirty="0">
                          <a:solidFill>
                            <a:srgbClr val="000000"/>
                          </a:solidFill>
                          <a:latin typeface="游ゴシック"/>
                          <a:ea typeface="游ゴシック"/>
                        </a:rPr>
                        <a:t>26</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E3E7E9"/>
                    </a:solidFill>
                  </a:tcPr>
                </a:tc>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900" b="0" i="0" dirty="0">
                          <a:solidFill>
                            <a:srgbClr val="000000"/>
                          </a:solidFill>
                          <a:latin typeface="游ゴシック"/>
                          <a:ea typeface="游ゴシック"/>
                        </a:rPr>
                        <a:t>　資材倉庫シャッター（2025年5月）</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402</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宝田一丁目4-20</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178385">
                <a:tc>
                  <a:txBody>
                    <a:bodyPr/>
                    <a:lstStyle/>
                    <a:p>
                      <a:pPr algn="ctr" fontAlgn="ctr"/>
                      <a:endParaRPr lang="ja-JP" altLang="en-US" sz="900" b="0" i="0" dirty="0">
                        <a:solidFill>
                          <a:srgbClr val="000000"/>
                        </a:solidFill>
                        <a:latin typeface="游ゴシック"/>
                        <a:ea typeface="游ゴシック"/>
                      </a:endParaRPr>
                    </a:p>
                  </a:txBody>
                  <a:tcPr marL="36576" marR="36576" marT="0" marB="0" anchor="ctr">
                    <a:lnL w="6350">
                      <a:noFill/>
                    </a:lnL>
                    <a:lnR w="6350">
                      <a:solidFill>
                        <a:srgbClr val="FFFFFF"/>
                      </a:solidFill>
                    </a:lnR>
                    <a:lnT w="6350">
                      <a:noFill/>
                    </a:lnT>
                    <a:lnB w="6350">
                      <a:solidFill>
                        <a:srgbClr val="0B3041"/>
                      </a:solidFill>
                    </a:lnB>
                    <a:solidFill>
                      <a:srgbClr val="E1F3FB"/>
                    </a:solidFill>
                  </a:tcPr>
                </a:tc>
                <a:tc>
                  <a:txBody>
                    <a:bodyPr/>
                    <a:lstStyle/>
                    <a:p>
                      <a:pPr algn="l" fontAlgn="ctr"/>
                      <a:r>
                        <a:rPr lang="ja-JP" altLang="en-US" sz="900" b="1" i="0" dirty="0">
                          <a:solidFill>
                            <a:srgbClr val="000000"/>
                          </a:solidFill>
                          <a:latin typeface="游ゴシック"/>
                          <a:ea typeface="游ゴシック"/>
                        </a:rPr>
                        <a:t>　建物 計</a:t>
                      </a:r>
                      <a:endParaRPr lang="ja-JP" altLang="en-US" sz="900" b="1"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1F3FB"/>
                    </a:solidFill>
                  </a:tcPr>
                </a:tc>
                <a:tc>
                  <a:txBody>
                    <a:bodyPr/>
                    <a:lstStyle/>
                    <a:p>
                      <a:pPr algn="l" fontAlgn="ctr"/>
                      <a:endParaRPr lang="ja-JP" altLang="en-US" sz="900" b="1"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1F3FB"/>
                    </a:solidFill>
                  </a:tcPr>
                </a:tc>
                <a:tc>
                  <a:txBody>
                    <a:bodyPr/>
                    <a:lstStyle/>
                    <a:p>
                      <a:pPr algn="r" fontAlgn="ctr"/>
                      <a:r>
                        <a:rPr lang="ja-JP" altLang="en-US" sz="900" b="1" i="0" dirty="0">
                          <a:solidFill>
                            <a:srgbClr val="000000"/>
                          </a:solidFill>
                          <a:latin typeface="Arial"/>
                          <a:ea typeface="游ゴシック Medium"/>
                        </a:rPr>
                        <a:t>　92,066</a:t>
                      </a:r>
                      <a:endParaRPr lang="ja-JP" altLang="en-US" sz="90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l" fontAlgn="ctr"/>
                      <a:endParaRPr lang="ja-JP" altLang="en-US" sz="675" b="1" i="0" dirty="0">
                        <a:solidFill>
                          <a:srgbClr val="000000"/>
                        </a:solidFill>
                        <a:latin typeface="游ゴシック Medium"/>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r>
            </a:tbl>
          </a:graphicData>
        </a:graphic>
      </p:graphicFrame>
      <p:graphicFrame>
        <p:nvGraphicFramePr>
          <p:cNvPr id="18" name="表（設備!D33:K41）"/>
          <p:cNvGraphicFramePr>
            <a:graphicFrameLocks noGrp="1"/>
          </p:cNvGraphicFramePr>
          <p:nvPr/>
        </p:nvGraphicFramePr>
        <p:xfrm>
          <a:off x="6172200" y="1371600"/>
          <a:ext cx="4206239" cy="2194553"/>
        </p:xfrm>
        <a:graphic>
          <a:graphicData uri="http://schemas.openxmlformats.org/drawingml/2006/table">
            <a:tbl>
              <a:tblPr firstRow="0" bandRow="0">
                <a:tableStyleId>{2D5ABB26-0587-4C30-8999-92F81FD0307C}</a:tableStyleId>
              </a:tblPr>
              <a:tblGrid>
                <a:gridCol w="1568697"/>
                <a:gridCol w="1068845"/>
                <a:gridCol w="1568697"/>
              </a:tblGrid>
              <a:tr h="385625">
                <a:tc>
                  <a:txBody>
                    <a:bodyPr/>
                    <a:lstStyle/>
                    <a:p>
                      <a:pPr algn="ctr" fontAlgn="ctr"/>
                      <a:r>
                        <a:rPr lang="ja-JP" altLang="en-US" sz="900" b="1" i="0" dirty="0">
                          <a:solidFill>
                            <a:srgbClr val="FFFFFF"/>
                          </a:solidFill>
                          <a:latin typeface="游ゴシック"/>
                          <a:ea typeface="游ゴシック"/>
                        </a:rPr>
                        <a:t>科目</a:t>
                      </a:r>
                      <a:endParaRPr lang="ja-JP" altLang="en-US" sz="900" b="1"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期末帳簿価額</a:t>
                      </a:r>
                      <a:endParaRPr lang="ja-JP" altLang="en-US" sz="900" b="1" i="0" dirty="0">
                        <a:solidFill>
                          <a:srgbClr val="FFFFFF"/>
                        </a:solidFill>
                        <a:latin typeface="游ゴシック"/>
                        <a:ea typeface="游ゴシック"/>
                      </a:endParaRPr>
                    </a:p>
                    <a:p>
                      <a:pPr algn="ctr" fontAlgn="ctr"/>
                      <a:r>
                        <a:rPr lang="ja-JP" altLang="en-US" sz="900" b="1" i="0" dirty="0">
                          <a:solidFill>
                            <a:srgbClr val="FFFFFF"/>
                          </a:solidFill>
                          <a:latin typeface="游ゴシック"/>
                          <a:ea typeface="游ゴシック"/>
                        </a:rPr>
                        <a:t>(千円)</a:t>
                      </a:r>
                      <a:endParaRPr lang="ja-JP" altLang="en-US" sz="90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00" b="1" i="0" dirty="0">
                          <a:solidFill>
                            <a:srgbClr val="FFFFFF"/>
                          </a:solidFill>
                          <a:latin typeface="游ゴシック"/>
                          <a:ea typeface="游ゴシック"/>
                        </a:rPr>
                        <a:t>備考</a:t>
                      </a:r>
                      <a:endParaRPr lang="ja-JP" altLang="en-US" sz="900" b="1" i="0" dirty="0">
                        <a:solidFill>
                          <a:srgbClr val="FFFFFF"/>
                        </a:solidFill>
                        <a:latin typeface="游ゴシック"/>
                        <a:ea typeface="游ゴシック"/>
                      </a:endParaRPr>
                    </a:p>
                  </a:txBody>
                  <a:tcPr marL="36576" marR="36576" marT="0" marB="0" anchor="ctr">
                    <a:lnL w="6350">
                      <a:noFill/>
                    </a:lnL>
                    <a:lnR w="6350">
                      <a:noFill/>
                    </a:lnR>
                    <a:lnT w="6350">
                      <a:noFill/>
                    </a:lnT>
                    <a:lnB w="6350">
                      <a:noFill/>
                    </a:lnB>
                    <a:solidFill>
                      <a:srgbClr val="0B3041"/>
                    </a:solidFill>
                  </a:tcPr>
                </a:tc>
              </a:tr>
              <a:tr h="226116">
                <a:tc>
                  <a:txBody>
                    <a:bodyPr/>
                    <a:lstStyle/>
                    <a:p>
                      <a:pPr algn="l" fontAlgn="ctr"/>
                      <a:r>
                        <a:rPr lang="ja-JP" altLang="en-US" sz="900" b="0" i="0" dirty="0">
                          <a:solidFill>
                            <a:srgbClr val="000000"/>
                          </a:solidFill>
                          <a:latin typeface="游ゴシック"/>
                          <a:ea typeface="游ゴシック"/>
                        </a:rPr>
                        <a:t>　建物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92,066</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左表の内訳のとおり。改修工事を資産計上</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226116">
                <a:tc>
                  <a:txBody>
                    <a:bodyPr/>
                    <a:lstStyle/>
                    <a:p>
                      <a:pPr algn="l" fontAlgn="ctr"/>
                      <a:r>
                        <a:rPr lang="ja-JP" altLang="en-US" sz="900" b="0" i="0" dirty="0">
                          <a:solidFill>
                            <a:srgbClr val="000000"/>
                          </a:solidFill>
                          <a:latin typeface="游ゴシック"/>
                          <a:ea typeface="游ゴシック"/>
                        </a:rPr>
                        <a:t>　建物付属設備</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11,400</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冷蔵庫ユニット・シャッター等（内訳は台帳で要確認）</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226116">
                <a:tc>
                  <a:txBody>
                    <a:bodyPr/>
                    <a:lstStyle/>
                    <a:p>
                      <a:pPr algn="l" fontAlgn="ctr"/>
                      <a:r>
                        <a:rPr lang="ja-JP" altLang="en-US" sz="900" b="0" i="0" dirty="0">
                          <a:solidFill>
                            <a:srgbClr val="000000"/>
                          </a:solidFill>
                          <a:latin typeface="游ゴシック"/>
                          <a:ea typeface="游ゴシック"/>
                        </a:rPr>
                        <a:t>　構築物</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284</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226116">
                <a:tc>
                  <a:txBody>
                    <a:bodyPr/>
                    <a:lstStyle/>
                    <a:p>
                      <a:pPr algn="l" fontAlgn="ctr"/>
                      <a:r>
                        <a:rPr lang="ja-JP" altLang="en-US" sz="900" b="0" i="0" dirty="0">
                          <a:solidFill>
                            <a:srgbClr val="000000"/>
                          </a:solidFill>
                          <a:latin typeface="游ゴシック"/>
                          <a:ea typeface="游ゴシック"/>
                        </a:rPr>
                        <a:t>　機械装置</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0</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備忘価額のみ（償却済）</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226116">
                <a:tc>
                  <a:txBody>
                    <a:bodyPr/>
                    <a:lstStyle/>
                    <a:p>
                      <a:pPr algn="l" fontAlgn="ctr"/>
                      <a:r>
                        <a:rPr lang="ja-JP" altLang="en-US" sz="900" b="0" i="0" dirty="0">
                          <a:solidFill>
                            <a:srgbClr val="000000"/>
                          </a:solidFill>
                          <a:latin typeface="游ゴシック"/>
                          <a:ea typeface="游ゴシック"/>
                        </a:rPr>
                        <a:t>　車両運搬具</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0</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備忘価額のみ（償却済）。車両は自己所有とリースを併用</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226116">
                <a:tc>
                  <a:txBody>
                    <a:bodyPr/>
                    <a:lstStyle/>
                    <a:p>
                      <a:pPr algn="l" fontAlgn="ctr"/>
                      <a:r>
                        <a:rPr lang="ja-JP" altLang="en-US" sz="900" b="0" i="0" dirty="0">
                          <a:solidFill>
                            <a:srgbClr val="000000"/>
                          </a:solidFill>
                          <a:latin typeface="游ゴシック"/>
                          <a:ea typeface="游ゴシック"/>
                        </a:rPr>
                        <a:t>　工具器具備品</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19</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226116">
                <a:tc>
                  <a:txBody>
                    <a:bodyPr/>
                    <a:lstStyle/>
                    <a:p>
                      <a:pPr algn="l" fontAlgn="ctr"/>
                      <a:r>
                        <a:rPr lang="ja-JP" altLang="en-US" sz="900" b="0" i="0" dirty="0">
                          <a:solidFill>
                            <a:srgbClr val="000000"/>
                          </a:solidFill>
                          <a:latin typeface="游ゴシック"/>
                          <a:ea typeface="游ゴシック"/>
                        </a:rPr>
                        <a:t>　ソフトウェア</a:t>
                      </a:r>
                      <a:endParaRPr lang="ja-JP" altLang="en-US" sz="90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r" fontAlgn="ctr"/>
                      <a:r>
                        <a:rPr lang="ja-JP" altLang="en-US" sz="900" b="0" i="0" dirty="0">
                          <a:solidFill>
                            <a:srgbClr val="000000"/>
                          </a:solidFill>
                          <a:latin typeface="Arial"/>
                          <a:ea typeface="游ゴシック Medium"/>
                        </a:rPr>
                        <a:t>372</a:t>
                      </a:r>
                      <a:endParaRPr lang="ja-JP" altLang="en-US" sz="90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noFill/>
                  </a:tcPr>
                </a:tc>
                <a:tc>
                  <a:txBody>
                    <a:bodyPr/>
                    <a:lstStyle/>
                    <a:p>
                      <a:pPr algn="l" fontAlgn="ctr"/>
                      <a:r>
                        <a:rPr lang="ja-JP" altLang="en-US" sz="675" b="0" i="0" dirty="0">
                          <a:solidFill>
                            <a:srgbClr val="000000"/>
                          </a:solidFill>
                          <a:latin typeface="游ゴシック Medium"/>
                          <a:ea typeface="游ゴシック"/>
                        </a:rPr>
                        <a:t>　販売管理システム等と推察（要確認）</a:t>
                      </a:r>
                      <a:endParaRPr lang="ja-JP" altLang="en-US" sz="675" b="0" i="0" dirty="0">
                        <a:solidFill>
                          <a:srgbClr val="000000"/>
                        </a:solidFill>
                        <a:latin typeface="游ゴシック Medium"/>
                        <a:ea typeface="游ゴシック"/>
                      </a:endParaRPr>
                    </a:p>
                  </a:txBody>
                  <a:tcPr marL="36576" marR="36576" marT="0" marB="0" anchor="ctr">
                    <a:lnL w="6350">
                      <a:solidFill>
                        <a:srgbClr val="FFFFFF"/>
                      </a:solidFill>
                    </a:lnL>
                    <a:lnR w="6350">
                      <a:solidFill>
                        <a:srgbClr val="FFFFFF"/>
                      </a:solidFill>
                    </a:lnR>
                    <a:lnT w="6350">
                      <a:solidFill>
                        <a:srgbClr val="A6A6A6"/>
                      </a:solidFill>
                    </a:lnT>
                    <a:lnB w="6350">
                      <a:solidFill>
                        <a:srgbClr val="0B3041"/>
                      </a:solidFill>
                    </a:lnB>
                    <a:solidFill>
                      <a:srgbClr val="FFFFFF"/>
                    </a:solidFill>
                  </a:tcPr>
                </a:tc>
              </a:tr>
              <a:tr h="226116">
                <a:tc>
                  <a:txBody>
                    <a:bodyPr/>
                    <a:lstStyle/>
                    <a:p>
                      <a:pPr algn="l" fontAlgn="ctr"/>
                      <a:r>
                        <a:rPr lang="ja-JP" altLang="en-US" sz="900" b="1" i="0" dirty="0">
                          <a:solidFill>
                            <a:srgbClr val="000000"/>
                          </a:solidFill>
                          <a:latin typeface="游ゴシック"/>
                          <a:ea typeface="游ゴシック"/>
                        </a:rPr>
                        <a:t>　合計</a:t>
                      </a:r>
                      <a:endParaRPr lang="ja-JP" altLang="en-US" sz="900" b="1" i="0" dirty="0">
                        <a:solidFill>
                          <a:srgbClr val="000000"/>
                        </a:solidFill>
                        <a:latin typeface="游ゴシック"/>
                        <a:ea typeface="游ゴシック"/>
                      </a:endParaRPr>
                    </a:p>
                  </a:txBody>
                  <a:tcPr marL="36576" marR="36576" marT="0" marB="0" anchor="ctr">
                    <a:lnL w="6350">
                      <a:noFill/>
                    </a:lnL>
                    <a:lnR w="6350">
                      <a:solidFill>
                        <a:srgbClr val="FFFFFF"/>
                      </a:solidFill>
                    </a:lnR>
                    <a:lnT w="6350">
                      <a:solidFill>
                        <a:srgbClr val="0B3041"/>
                      </a:solidFill>
                    </a:lnT>
                    <a:lnB w="6350">
                      <a:solidFill>
                        <a:srgbClr val="0B3041"/>
                      </a:solidFill>
                    </a:lnB>
                    <a:solidFill>
                      <a:srgbClr val="E1F3FB"/>
                    </a:solidFill>
                  </a:tcPr>
                </a:tc>
                <a:tc>
                  <a:txBody>
                    <a:bodyPr/>
                    <a:lstStyle/>
                    <a:p>
                      <a:pPr algn="r" fontAlgn="ctr"/>
                      <a:r>
                        <a:rPr lang="ja-JP" altLang="en-US" sz="900" b="1" i="0" dirty="0">
                          <a:solidFill>
                            <a:srgbClr val="000000"/>
                          </a:solidFill>
                          <a:latin typeface="Arial"/>
                          <a:ea typeface="游ゴシック Medium"/>
                        </a:rPr>
                        <a:t>　104,140</a:t>
                      </a:r>
                      <a:endParaRPr lang="ja-JP" altLang="en-US" sz="90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l" fontAlgn="ctr"/>
                      <a:endParaRPr lang="ja-JP" altLang="en-US" sz="675" b="1" i="0" dirty="0">
                        <a:solidFill>
                          <a:srgbClr val="000000"/>
                        </a:solidFill>
                        <a:latin typeface="游ゴシック Medium"/>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r>
            </a:tbl>
          </a:graphicData>
        </a:graphic>
      </p:graphicFrame>
    </p:spTree>
    <p:extLst>
      <p:ext uri="{BB962C8B-B14F-4D97-AF65-F5344CB8AC3E}">
        <p14:creationId xmlns:p14="http://schemas.microsoft.com/office/powerpoint/2010/main" val="9155409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7F8BB-F852-9D0D-47DC-B75AAADC3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2D80B5D-88ED-D63E-E6F8-E5830356F6CE}"/>
              </a:ext>
            </a:extLst>
          </p:cNvPr>
          <p:cNvSpPr>
            <a:spLocks noGrp="1"/>
          </p:cNvSpPr>
          <p:nvPr>
            <p:ph type="title"/>
          </p:nvPr>
        </p:nvSpPr>
        <p:spPr>
          <a:xfrm>
            <a:off x="989013" y="3656161"/>
            <a:ext cx="9221787" cy="615553"/>
          </a:xfrm>
        </p:spPr>
        <p:txBody>
          <a:bodyPr/>
          <a:lstStyle/>
          <a:p>
            <a:r>
              <a:rPr lang="ja-JP" altLang="en-US" dirty="0"/>
              <a:t>財務情報詳細</a:t>
            </a:r>
            <a:endParaRPr lang="en-US" altLang="ja-JP" dirty="0"/>
          </a:p>
        </p:txBody>
      </p:sp>
    </p:spTree>
    <p:extLst>
      <p:ext uri="{BB962C8B-B14F-4D97-AF65-F5344CB8AC3E}">
        <p14:creationId xmlns:p14="http://schemas.microsoft.com/office/powerpoint/2010/main" val="15844496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B347B-E74F-2AA1-D695-C8F2C57E0D27}"/>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8AB158FB-2AD5-0994-A1DD-08907F35E57B}"/>
              </a:ext>
            </a:extLst>
          </p:cNvPr>
          <p:cNvSpPr>
            <a:spLocks noGrp="1"/>
          </p:cNvSpPr>
          <p:nvPr>
            <p:ph type="ctrTitle"/>
          </p:nvPr>
        </p:nvSpPr>
        <p:spPr>
          <a:xfrm>
            <a:off x="311150" y="180296"/>
            <a:ext cx="7799917" cy="339267"/>
          </a:xfrm>
        </p:spPr>
        <p:txBody>
          <a:bodyPr>
            <a:normAutofit/>
          </a:bodyPr>
          <a:lstStyle/>
          <a:p>
            <a:r>
              <a:rPr lang="ja-JP" altLang="en-US" dirty="0"/>
              <a:t>貸借対照表</a:t>
            </a:r>
          </a:p>
        </p:txBody>
      </p:sp>
      <p:sp>
        <p:nvSpPr>
          <p:cNvPr id="5" name="タイトル 1">
            <a:extLst>
              <a:ext uri="{FF2B5EF4-FFF2-40B4-BE49-F238E27FC236}">
                <a16:creationId xmlns:a16="http://schemas.microsoft.com/office/drawing/2014/main" id="{CB37C797-A02B-4ADD-85CA-EEB0AC88114E}"/>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9FB86E35-A8A4-6E80-826F-9FF288E82A13}"/>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直近3期と進行期（2026年9月末）の貸借対照表。総資産は借入金の返済で652→485百万円に圧縮したが、9月末は新規借入で長期借入金が526百万円に増加。</a:t>
            </a:r>
          </a:p>
        </p:txBody>
      </p:sp>
      <p:graphicFrame>
        <p:nvGraphicFramePr>
          <p:cNvPr id="14" name="表（'BS(借方)'!B3:G61）"/>
          <p:cNvGraphicFramePr>
            <a:graphicFrameLocks noGrp="1"/>
          </p:cNvGraphicFramePr>
          <p:nvPr/>
        </p:nvGraphicFramePr>
        <p:xfrm>
          <a:off x="310896" y="1389888"/>
          <a:ext cx="4956047" cy="5303511"/>
        </p:xfrm>
        <a:graphic>
          <a:graphicData uri="http://schemas.openxmlformats.org/drawingml/2006/table">
            <a:tbl>
              <a:tblPr firstRow="0" bandRow="0">
                <a:tableStyleId>{2D5ABB26-0587-4C30-8999-92F81FD0307C}</a:tableStyleId>
              </a:tblPr>
              <a:tblGrid>
                <a:gridCol w="1481287"/>
                <a:gridCol w="868690"/>
                <a:gridCol w="868690"/>
                <a:gridCol w="868690"/>
                <a:gridCol w="868690"/>
              </a:tblGrid>
              <a:tr h="185760">
                <a:tc>
                  <a:txBody>
                    <a:bodyPr/>
                    <a:lstStyle/>
                    <a:p>
                      <a:pPr algn="ctr" fontAlgn="ctr"/>
                      <a:r>
                        <a:rPr lang="ja-JP" altLang="en-US" sz="840" b="1" i="0" dirty="0">
                          <a:solidFill>
                            <a:srgbClr val="FFFFFF"/>
                          </a:solidFill>
                          <a:latin typeface="游ゴシック"/>
                          <a:ea typeface="游ゴシック"/>
                        </a:rPr>
                        <a:t>資産の部</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r>
              <a:tr h="255543">
                <a:tc>
                  <a:txBody>
                    <a:bodyPr/>
                    <a:lstStyle/>
                    <a:p>
                      <a:pPr algn="ctr" fontAlgn="ctr"/>
                      <a:r>
                        <a:rPr lang="ja-JP" altLang="en-US" sz="840" b="1" i="0" dirty="0">
                          <a:solidFill>
                            <a:srgbClr val="FFFFFF"/>
                          </a:solidFill>
                          <a:latin typeface="游ゴシック"/>
                          <a:ea typeface="游ゴシック"/>
                        </a:rPr>
                        <a:t>科目</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840" b="1" i="0" dirty="0">
                          <a:solidFill>
                            <a:srgbClr val="FFFFFF"/>
                          </a:solidFill>
                          <a:latin typeface="游ゴシック"/>
                          <a:ea typeface="游ゴシック"/>
                        </a:rPr>
                        <a:t>24年3月期</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840" b="1" i="0" dirty="0">
                          <a:solidFill>
                            <a:srgbClr val="FFFFFF"/>
                          </a:solidFill>
                          <a:latin typeface="游ゴシック"/>
                          <a:ea typeface="游ゴシック"/>
                        </a:rPr>
                        <a:t>25年3月期</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840" b="1" i="0" dirty="0">
                          <a:solidFill>
                            <a:srgbClr val="FFFFFF"/>
                          </a:solidFill>
                          <a:latin typeface="游ゴシック"/>
                          <a:ea typeface="游ゴシック"/>
                        </a:rPr>
                        <a:t>26年3月期</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840" b="1" i="0" dirty="0">
                          <a:solidFill>
                            <a:srgbClr val="FFFFFF"/>
                          </a:solidFill>
                          <a:latin typeface="游ゴシック"/>
                          <a:ea typeface="游ゴシック"/>
                        </a:rPr>
                        <a:t>27年3月期</a:t>
                      </a:r>
                      <a:endParaRPr lang="ja-JP" altLang="en-US" sz="840" b="1" i="0" dirty="0">
                        <a:solidFill>
                          <a:srgbClr val="FFFFFF"/>
                        </a:solidFill>
                        <a:latin typeface="游ゴシック"/>
                        <a:ea typeface="游ゴシック"/>
                      </a:endParaRPr>
                    </a:p>
                    <a:p>
                      <a:pPr algn="ctr" fontAlgn="ctr"/>
                      <a:r>
                        <a:rPr lang="ja-JP" altLang="en-US" sz="840" b="1" i="0" dirty="0">
                          <a:solidFill>
                            <a:srgbClr val="FFFFFF"/>
                          </a:solidFill>
                          <a:latin typeface="游ゴシック"/>
                          <a:ea typeface="游ゴシック"/>
                        </a:rPr>
                        <a:t>4〜9月TB</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727F88"/>
                    </a:solidFill>
                  </a:tcPr>
                </a:tc>
              </a:tr>
              <a:tr h="147429">
                <a:tc>
                  <a:txBody>
                    <a:bodyPr/>
                    <a:lstStyle/>
                    <a:p>
                      <a:pPr algn="l" fontAlgn="ctr"/>
                      <a:r>
                        <a:rPr lang="ja-JP" altLang="en-US" sz="840" b="1" i="0" dirty="0">
                          <a:solidFill>
                            <a:srgbClr val="000000"/>
                          </a:solidFill>
                          <a:latin typeface="游ゴシック"/>
                          <a:ea typeface="游ゴシック"/>
                        </a:rPr>
                        <a:t>　【流動資産】</a:t>
                      </a:r>
                      <a:endParaRPr lang="ja-JP" altLang="en-US" sz="840"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375,589</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303,101</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249,705</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434,733</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r>
              <a:tr h="147429">
                <a:tc>
                  <a:txBody>
                    <a:bodyPr/>
                    <a:lstStyle/>
                    <a:p>
                      <a:pPr algn="l" fontAlgn="ctr"/>
                      <a:r>
                        <a:rPr lang="ja-JP" altLang="en-US" sz="840" b="0" i="0" dirty="0">
                          <a:solidFill>
                            <a:srgbClr val="000000"/>
                          </a:solidFill>
                          <a:latin typeface="游ゴシック"/>
                          <a:ea typeface="游ゴシック"/>
                        </a:rPr>
                        <a:t>　　　現金及び預金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339,553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259,719</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210,887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393,411</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売掛金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21,171</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21,897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19,609</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22,835</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資材肥料売掛金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1,352</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1,269</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1,227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1,138</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棚卸資産</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9,860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15,444</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14,597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14,405</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立替金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97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6</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未収入金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3,684</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3,905</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3,011</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3,046</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仮払金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493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前払費用</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109</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96</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84</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101</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仮払税金等</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998</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貸倒引当金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-237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-234</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-203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-203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1" i="0" dirty="0">
                          <a:solidFill>
                            <a:srgbClr val="000000"/>
                          </a:solidFill>
                          <a:latin typeface="游ゴシック"/>
                          <a:ea typeface="游ゴシック"/>
                        </a:rPr>
                        <a:t>　【固定資産】</a:t>
                      </a:r>
                      <a:endParaRPr lang="ja-JP" altLang="en-US" sz="840"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276,115</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264,261</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235,485</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230,831</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r>
              <a:tr h="147429">
                <a:tc>
                  <a:txBody>
                    <a:bodyPr/>
                    <a:lstStyle/>
                    <a:p>
                      <a:pPr algn="l" fontAlgn="ctr"/>
                      <a:r>
                        <a:rPr lang="ja-JP" altLang="en-US" sz="840" b="0" i="0" dirty="0">
                          <a:solidFill>
                            <a:srgbClr val="000000"/>
                          </a:solidFill>
                          <a:latin typeface="游ゴシック"/>
                          <a:ea typeface="游ゴシック"/>
                        </a:rPr>
                        <a:t>　　［有形固定資産］</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216,357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204,260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196,906</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193,252</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r>
              <a:tr h="147429">
                <a:tc>
                  <a:txBody>
                    <a:bodyPr/>
                    <a:lstStyle/>
                    <a:p>
                      <a:pPr algn="l" fontAlgn="ctr"/>
                      <a:r>
                        <a:rPr lang="ja-JP" altLang="en-US" sz="840" b="0" i="0" dirty="0">
                          <a:solidFill>
                            <a:srgbClr val="000000"/>
                          </a:solidFill>
                          <a:latin typeface="游ゴシック"/>
                          <a:ea typeface="游ゴシック"/>
                        </a:rPr>
                        <a:t>　　　建物</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101,162</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95,851</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92,066</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92,066</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建物付属設備</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15,417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13,503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11,400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11,400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構築物</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383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333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284</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284</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機械装置</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134</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車両運搬具</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5,838</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1,282</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工具器具備品</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288</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153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19</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19</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土地</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93,137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93,137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93,137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93,137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減価償却累計額</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-3,654</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［無形固定資産］</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2,871</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2,699</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2,527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2,527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r>
              <a:tr h="146446">
                <a:tc>
                  <a:txBody>
                    <a:bodyPr/>
                    <a:lstStyle/>
                    <a:p>
                      <a:pPr algn="l" fontAlgn="ctr"/>
                      <a:r>
                        <a:rPr lang="ja-JP" altLang="en-US" sz="840" b="0" i="0" dirty="0">
                          <a:solidFill>
                            <a:srgbClr val="000000"/>
                          </a:solidFill>
                          <a:latin typeface="游ゴシック"/>
                          <a:ea typeface="游ゴシック"/>
                        </a:rPr>
                        <a:t>　　　電話加入権</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2,156</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2,156</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2,156</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solidFill>
                      <a:srgbClr val="FFFFFF"/>
                    </a:solidFill>
                  </a:tcPr>
                </a:tc>
                <a:tc>
                  <a:txBody>
                    <a:bodyPr/>
                    <a:lstStyle/>
                    <a:p>
                      <a:pPr algn="r" fontAlgn="ctr"/>
                      <a:r>
                        <a:rPr lang="ja-JP" altLang="en-US" sz="840" b="0" i="0" dirty="0">
                          <a:solidFill>
                            <a:srgbClr val="000000"/>
                          </a:solidFill>
                          <a:latin typeface="Arial"/>
                          <a:ea typeface="游ゴシック Medium"/>
                        </a:rPr>
                        <a:t>　2,156</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solidFill>
                      <a:srgbClr val="FFFFFF"/>
                    </a:solidFill>
                  </a:tcPr>
                </a:tc>
              </a:tr>
              <a:tr h="146446">
                <a:tc>
                  <a:txBody>
                    <a:bodyPr/>
                    <a:lstStyle/>
                    <a:p>
                      <a:pPr algn="l" fontAlgn="ctr"/>
                      <a:r>
                        <a:rPr lang="ja-JP" altLang="en-US" sz="840" b="0" i="0" dirty="0">
                          <a:solidFill>
                            <a:srgbClr val="000000"/>
                          </a:solidFill>
                          <a:latin typeface="游ゴシック"/>
                          <a:ea typeface="游ゴシック"/>
                        </a:rPr>
                        <a:t>　　　ソフトウェア</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715</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543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372</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solidFill>
                      <a:srgbClr val="FFFFFF"/>
                    </a:solidFill>
                  </a:tcPr>
                </a:tc>
                <a:tc>
                  <a:txBody>
                    <a:bodyPr/>
                    <a:lstStyle/>
                    <a:p>
                      <a:pPr algn="r" fontAlgn="ctr"/>
                      <a:r>
                        <a:rPr lang="ja-JP" altLang="en-US" sz="840" b="0" i="0" dirty="0">
                          <a:solidFill>
                            <a:srgbClr val="000000"/>
                          </a:solidFill>
                          <a:latin typeface="Arial"/>
                          <a:ea typeface="游ゴシック Medium"/>
                        </a:rPr>
                        <a:t>　372</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solidFill>
                      <a:srgbClr val="FFFFFF"/>
                    </a:solidFill>
                  </a:tcPr>
                </a:tc>
              </a:tr>
              <a:tr h="146446">
                <a:tc>
                  <a:txBody>
                    <a:bodyPr/>
                    <a:lstStyle/>
                    <a:p>
                      <a:pPr algn="l" fontAlgn="ctr"/>
                      <a:r>
                        <a:rPr lang="ja-JP" altLang="en-US" sz="840" b="0" i="0" dirty="0">
                          <a:solidFill>
                            <a:srgbClr val="000000"/>
                          </a:solidFill>
                          <a:latin typeface="游ゴシック"/>
                          <a:ea typeface="游ゴシック"/>
                        </a:rPr>
                        <a:t>　［投資その他資産］</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56,887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57,302</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36,052</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c>
                  <a:txBody>
                    <a:bodyPr/>
                    <a:lstStyle/>
                    <a:p>
                      <a:pPr algn="r" fontAlgn="ctr"/>
                      <a:r>
                        <a:rPr lang="ja-JP" altLang="en-US" sz="840" b="0" i="0" dirty="0">
                          <a:solidFill>
                            <a:srgbClr val="000000"/>
                          </a:solidFill>
                          <a:latin typeface="Arial"/>
                          <a:ea typeface="游ゴシック Medium"/>
                        </a:rPr>
                        <a:t>　35,052</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FFFFFF"/>
                    </a:solidFill>
                  </a:tcPr>
                </a:tc>
              </a:tr>
              <a:tr h="147429">
                <a:tc>
                  <a:txBody>
                    <a:bodyPr/>
                    <a:lstStyle/>
                    <a:p>
                      <a:pPr algn="l" fontAlgn="ctr"/>
                      <a:r>
                        <a:rPr lang="ja-JP" altLang="en-US" sz="840" b="0" i="0" dirty="0">
                          <a:solidFill>
                            <a:srgbClr val="000000"/>
                          </a:solidFill>
                          <a:latin typeface="游ゴシック"/>
                          <a:ea typeface="游ゴシック"/>
                        </a:rPr>
                        <a:t>　　　投資有価証券</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3,250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3,250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2,600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solidFill>
                      <a:srgbClr val="FFFFFF"/>
                    </a:solidFill>
                  </a:tcPr>
                </a:tc>
                <a:tc>
                  <a:txBody>
                    <a:bodyPr/>
                    <a:lstStyle/>
                    <a:p>
                      <a:pPr algn="r" fontAlgn="ctr"/>
                      <a:r>
                        <a:rPr lang="ja-JP" altLang="en-US" sz="840" b="0" i="0" dirty="0">
                          <a:solidFill>
                            <a:srgbClr val="000000"/>
                          </a:solidFill>
                          <a:latin typeface="Arial"/>
                          <a:ea typeface="游ゴシック Medium"/>
                        </a:rPr>
                        <a:t>　1,600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solidFill>
                      <a:srgbClr val="FFFFFF"/>
                    </a:solidFill>
                  </a:tcPr>
                </a:tc>
              </a:tr>
              <a:tr h="147429">
                <a:tc>
                  <a:txBody>
                    <a:bodyPr/>
                    <a:lstStyle/>
                    <a:p>
                      <a:pPr algn="l" fontAlgn="ctr"/>
                      <a:r>
                        <a:rPr lang="ja-JP" altLang="en-US" sz="840" b="0" i="0" dirty="0">
                          <a:solidFill>
                            <a:srgbClr val="000000"/>
                          </a:solidFill>
                          <a:latin typeface="游ゴシック"/>
                          <a:ea typeface="游ゴシック"/>
                        </a:rPr>
                        <a:t>　　　出資金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75</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75</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75</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75</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長期前払費用</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397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75</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75</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75</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保証金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32,003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33,003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33,303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33,303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0" i="0" dirty="0">
                          <a:solidFill>
                            <a:srgbClr val="000000"/>
                          </a:solidFill>
                          <a:latin typeface="游ゴシック"/>
                          <a:ea typeface="游ゴシック"/>
                        </a:rPr>
                        <a:t>　　　事業保険積立金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21,162</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20,900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1" i="0" dirty="0">
                          <a:solidFill>
                            <a:srgbClr val="000000"/>
                          </a:solidFill>
                          <a:latin typeface="游ゴシック"/>
                          <a:ea typeface="游ゴシック"/>
                        </a:rPr>
                        <a:t>【繰延資産】</a:t>
                      </a:r>
                      <a:endParaRPr lang="ja-JP" altLang="en-US" sz="840" b="1"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2FB"/>
                    </a:solidFill>
                  </a:tcPr>
                </a:tc>
                <a:tc>
                  <a:txBody>
                    <a:bodyPr/>
                    <a:lstStyle/>
                    <a:p>
                      <a:pPr algn="r" fontAlgn="ctr"/>
                      <a:r>
                        <a:rPr lang="ja-JP" altLang="en-US" sz="840" b="1" i="0" dirty="0">
                          <a:solidFill>
                            <a:srgbClr val="000000"/>
                          </a:solidFill>
                          <a:latin typeface="Arial"/>
                          <a:ea typeface="游ゴシック Medium"/>
                        </a:rPr>
                        <a:t>　244</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2FB"/>
                    </a:solidFill>
                  </a:tcPr>
                </a:tc>
                <a:tc>
                  <a:txBody>
                    <a:bodyPr/>
                    <a:lstStyle/>
                    <a:p>
                      <a:pPr algn="r" fontAlgn="ctr"/>
                      <a:r>
                        <a:rPr lang="ja-JP" altLang="en-US" sz="840" b="1" i="0" dirty="0">
                          <a:solidFill>
                            <a:srgbClr val="000000"/>
                          </a:solidFill>
                          <a:latin typeface="Arial"/>
                          <a:ea typeface="游ゴシック Medium"/>
                        </a:rPr>
                        <a:t>　167</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2FB"/>
                    </a:solidFill>
                  </a:tcPr>
                </a:tc>
                <a:tc>
                  <a:txBody>
                    <a:bodyPr/>
                    <a:lstStyle/>
                    <a:p>
                      <a:pPr algn="r" fontAlgn="ctr"/>
                      <a:r>
                        <a:rPr lang="ja-JP" altLang="en-US" sz="840" b="1" i="0" dirty="0">
                          <a:solidFill>
                            <a:srgbClr val="000000"/>
                          </a:solidFill>
                          <a:latin typeface="Arial"/>
                          <a:ea typeface="游ゴシック Medium"/>
                        </a:rPr>
                        <a:t>　0</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2FB"/>
                    </a:solidFill>
                  </a:tcPr>
                </a:tc>
                <a:tc>
                  <a:txBody>
                    <a:bodyPr/>
                    <a:lstStyle/>
                    <a:p>
                      <a:pPr algn="r" fontAlgn="ctr"/>
                      <a:r>
                        <a:rPr lang="ja-JP" altLang="en-US" sz="840" b="1" i="0" dirty="0">
                          <a:solidFill>
                            <a:srgbClr val="000000"/>
                          </a:solidFill>
                          <a:latin typeface="Arial"/>
                          <a:ea typeface="游ゴシック Medium"/>
                        </a:rPr>
                        <a:t>　0</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2FB"/>
                    </a:solidFill>
                  </a:tcPr>
                </a:tc>
              </a:tr>
              <a:tr h="147429">
                <a:tc>
                  <a:txBody>
                    <a:bodyPr/>
                    <a:lstStyle/>
                    <a:p>
                      <a:pPr algn="l" fontAlgn="ctr"/>
                      <a:r>
                        <a:rPr lang="ja-JP" altLang="en-US" sz="840" b="0" i="0" dirty="0">
                          <a:solidFill>
                            <a:srgbClr val="000000"/>
                          </a:solidFill>
                          <a:latin typeface="游ゴシック"/>
                          <a:ea typeface="游ゴシック"/>
                        </a:rPr>
                        <a:t>　　　繰延資産</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244</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167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47429">
                <a:tc>
                  <a:txBody>
                    <a:bodyPr/>
                    <a:lstStyle/>
                    <a:p>
                      <a:pPr algn="l" fontAlgn="ctr"/>
                      <a:r>
                        <a:rPr lang="ja-JP" altLang="en-US" sz="840" b="1" i="0" dirty="0">
                          <a:solidFill>
                            <a:srgbClr val="FFFFFF"/>
                          </a:solidFill>
                          <a:latin typeface="游ゴシック"/>
                          <a:ea typeface="游ゴシック"/>
                        </a:rPr>
                        <a:t>　資産合計</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0B3041"/>
                    </a:solidFill>
                  </a:tcPr>
                </a:tc>
                <a:tc>
                  <a:txBody>
                    <a:bodyPr/>
                    <a:lstStyle/>
                    <a:p>
                      <a:pPr algn="r" fontAlgn="ctr"/>
                      <a:r>
                        <a:rPr lang="ja-JP" altLang="en-US" sz="840" b="1" i="0" dirty="0">
                          <a:solidFill>
                            <a:srgbClr val="FFFFFF"/>
                          </a:solidFill>
                          <a:latin typeface="Arial"/>
                          <a:ea typeface="游ゴシック Medium"/>
                        </a:rPr>
                        <a:t>　651,948</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FFFFFF"/>
                      </a:solidFill>
                    </a:lnB>
                    <a:solidFill>
                      <a:srgbClr val="0B3041"/>
                    </a:solidFill>
                  </a:tcPr>
                </a:tc>
                <a:tc>
                  <a:txBody>
                    <a:bodyPr/>
                    <a:lstStyle/>
                    <a:p>
                      <a:pPr algn="r" fontAlgn="ctr"/>
                      <a:r>
                        <a:rPr lang="ja-JP" altLang="en-US" sz="840" b="1" i="0" dirty="0">
                          <a:solidFill>
                            <a:srgbClr val="FFFFFF"/>
                          </a:solidFill>
                          <a:latin typeface="Arial"/>
                          <a:ea typeface="游ゴシック Medium"/>
                        </a:rPr>
                        <a:t>　567,529</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FFFFFF"/>
                      </a:solidFill>
                    </a:lnB>
                    <a:solidFill>
                      <a:srgbClr val="0B3041"/>
                    </a:solidFill>
                  </a:tcPr>
                </a:tc>
                <a:tc>
                  <a:txBody>
                    <a:bodyPr/>
                    <a:lstStyle/>
                    <a:p>
                      <a:pPr algn="r" fontAlgn="ctr"/>
                      <a:r>
                        <a:rPr lang="ja-JP" altLang="en-US" sz="840" b="1" i="0" dirty="0">
                          <a:solidFill>
                            <a:srgbClr val="FFFFFF"/>
                          </a:solidFill>
                          <a:latin typeface="Arial"/>
                          <a:ea typeface="游ゴシック Medium"/>
                        </a:rPr>
                        <a:t>　485,190</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FFFFFF"/>
                      </a:solidFill>
                    </a:lnB>
                    <a:solidFill>
                      <a:srgbClr val="0B3041"/>
                    </a:solidFill>
                  </a:tcPr>
                </a:tc>
                <a:tc>
                  <a:txBody>
                    <a:bodyPr/>
                    <a:lstStyle/>
                    <a:p>
                      <a:pPr algn="r" fontAlgn="ctr"/>
                      <a:r>
                        <a:rPr lang="ja-JP" altLang="en-US" sz="840" b="1" i="0" dirty="0">
                          <a:solidFill>
                            <a:srgbClr val="FFFFFF"/>
                          </a:solidFill>
                          <a:latin typeface="Arial"/>
                          <a:ea typeface="游ゴシック Medium"/>
                        </a:rPr>
                        <a:t>　665,564</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FFFFFF"/>
                      </a:solidFill>
                    </a:lnB>
                    <a:solidFill>
                      <a:srgbClr val="0B3041"/>
                    </a:solidFill>
                  </a:tcPr>
                </a:tc>
              </a:tr>
            </a:tbl>
          </a:graphicData>
        </a:graphic>
      </p:graphicFrame>
      <p:graphicFrame>
        <p:nvGraphicFramePr>
          <p:cNvPr id="15" name="表（'BS (貸方)'!B3:G25）"/>
          <p:cNvGraphicFramePr>
            <a:graphicFrameLocks noGrp="1"/>
          </p:cNvGraphicFramePr>
          <p:nvPr/>
        </p:nvGraphicFramePr>
        <p:xfrm>
          <a:off x="5376672" y="1389888"/>
          <a:ext cx="4956047" cy="2194554"/>
        </p:xfrm>
        <a:graphic>
          <a:graphicData uri="http://schemas.openxmlformats.org/drawingml/2006/table">
            <a:tbl>
              <a:tblPr firstRow="0" bandRow="0">
                <a:tableStyleId>{2D5ABB26-0587-4C30-8999-92F81FD0307C}</a:tableStyleId>
              </a:tblPr>
              <a:tblGrid>
                <a:gridCol w="1481287"/>
                <a:gridCol w="868690"/>
                <a:gridCol w="868690"/>
                <a:gridCol w="868690"/>
                <a:gridCol w="868690"/>
              </a:tblGrid>
              <a:tr h="196760">
                <a:tc>
                  <a:txBody>
                    <a:bodyPr/>
                    <a:lstStyle/>
                    <a:p>
                      <a:pPr algn="ctr" fontAlgn="ctr"/>
                      <a:r>
                        <a:rPr lang="ja-JP" altLang="en-US" sz="840" b="1" i="0" dirty="0">
                          <a:solidFill>
                            <a:srgbClr val="FFFFFF"/>
                          </a:solidFill>
                          <a:latin typeface="游ゴシック"/>
                          <a:ea typeface="游ゴシック"/>
                        </a:rPr>
                        <a:t>負債の部</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noFill/>
                    </a:lnT>
                    <a:lnB w="6350">
                      <a:solidFill>
                        <a:srgbClr val="FFFFFF"/>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noFill/>
                    </a:lnT>
                    <a:lnB w="6350">
                      <a:solidFill>
                        <a:srgbClr val="FFFFFF"/>
                      </a:solidFill>
                    </a:lnB>
                    <a:solidFill>
                      <a:srgbClr val="0B3041"/>
                    </a:solidFill>
                  </a:tcPr>
                </a:tc>
              </a:tr>
              <a:tr h="280045">
                <a:tc>
                  <a:txBody>
                    <a:bodyPr/>
                    <a:lstStyle/>
                    <a:p>
                      <a:pPr algn="ctr" fontAlgn="ctr"/>
                      <a:r>
                        <a:rPr lang="ja-JP" altLang="en-US" sz="840" b="1" i="0" dirty="0">
                          <a:solidFill>
                            <a:srgbClr val="FFFFFF"/>
                          </a:solidFill>
                          <a:latin typeface="游ゴシック"/>
                          <a:ea typeface="游ゴシック"/>
                        </a:rPr>
                        <a:t>科目</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840" b="1" i="0" dirty="0">
                          <a:solidFill>
                            <a:srgbClr val="FFFFFF"/>
                          </a:solidFill>
                          <a:latin typeface="游ゴシック"/>
                          <a:ea typeface="游ゴシック"/>
                        </a:rPr>
                        <a:t>24年3月期</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840" b="1" i="0" dirty="0">
                          <a:solidFill>
                            <a:srgbClr val="FFFFFF"/>
                          </a:solidFill>
                          <a:latin typeface="游ゴシック"/>
                          <a:ea typeface="游ゴシック"/>
                        </a:rPr>
                        <a:t>25年3月期</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840" b="1" i="0" dirty="0">
                          <a:solidFill>
                            <a:srgbClr val="FFFFFF"/>
                          </a:solidFill>
                          <a:latin typeface="游ゴシック"/>
                          <a:ea typeface="游ゴシック"/>
                        </a:rPr>
                        <a:t>26年3月期</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840" b="1" i="0" dirty="0">
                          <a:solidFill>
                            <a:srgbClr val="FFFFFF"/>
                          </a:solidFill>
                          <a:latin typeface="游ゴシック"/>
                          <a:ea typeface="游ゴシック"/>
                        </a:rPr>
                        <a:t>27年3月期</a:t>
                      </a:r>
                      <a:endParaRPr lang="ja-JP" altLang="en-US" sz="840" b="1" i="0" dirty="0">
                        <a:solidFill>
                          <a:srgbClr val="FFFFFF"/>
                        </a:solidFill>
                        <a:latin typeface="游ゴシック"/>
                        <a:ea typeface="游ゴシック"/>
                      </a:endParaRPr>
                    </a:p>
                    <a:p>
                      <a:pPr algn="ctr" fontAlgn="ctr"/>
                      <a:r>
                        <a:rPr lang="ja-JP" altLang="en-US" sz="840" b="1" i="0" dirty="0">
                          <a:solidFill>
                            <a:srgbClr val="FFFFFF"/>
                          </a:solidFill>
                          <a:latin typeface="游ゴシック"/>
                          <a:ea typeface="游ゴシック"/>
                        </a:rPr>
                        <a:t>4〜9月TB</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solidFill>
                        <a:srgbClr val="FFFFFF"/>
                      </a:solidFill>
                    </a:lnT>
                    <a:lnB w="6350">
                      <a:noFill/>
                    </a:lnB>
                    <a:solidFill>
                      <a:srgbClr val="727F88"/>
                    </a:solidFill>
                  </a:tcPr>
                </a:tc>
              </a:tr>
              <a:tr h="156159">
                <a:tc>
                  <a:txBody>
                    <a:bodyPr/>
                    <a:lstStyle/>
                    <a:p>
                      <a:pPr algn="l" fontAlgn="ctr"/>
                      <a:r>
                        <a:rPr lang="ja-JP" altLang="en-US" sz="840" b="1" i="0" dirty="0">
                          <a:solidFill>
                            <a:srgbClr val="000000"/>
                          </a:solidFill>
                          <a:latin typeface="游ゴシック"/>
                          <a:ea typeface="游ゴシック"/>
                        </a:rPr>
                        <a:t>　【流動負債】</a:t>
                      </a:r>
                      <a:endParaRPr lang="ja-JP" altLang="en-US" sz="840"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34,109</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29,456</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37,280</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31,282</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r>
              <a:tr h="156159">
                <a:tc>
                  <a:txBody>
                    <a:bodyPr/>
                    <a:lstStyle/>
                    <a:p>
                      <a:pPr algn="l" fontAlgn="ctr"/>
                      <a:r>
                        <a:rPr lang="ja-JP" altLang="en-US" sz="840" b="0" i="0" dirty="0">
                          <a:solidFill>
                            <a:srgbClr val="000000"/>
                          </a:solidFill>
                          <a:latin typeface="游ゴシック"/>
                          <a:ea typeface="游ゴシック"/>
                        </a:rPr>
                        <a:t>　　　買掛金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18,128</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19,955</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26,349</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18,258</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156159">
                <a:tc>
                  <a:txBody>
                    <a:bodyPr/>
                    <a:lstStyle/>
                    <a:p>
                      <a:pPr algn="l" fontAlgn="ctr"/>
                      <a:r>
                        <a:rPr lang="ja-JP" altLang="en-US" sz="840" b="0" i="0" dirty="0">
                          <a:solidFill>
                            <a:srgbClr val="000000"/>
                          </a:solidFill>
                          <a:latin typeface="游ゴシック"/>
                          <a:ea typeface="游ゴシック"/>
                        </a:rPr>
                        <a:t>　　　未払金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10,199</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7,303</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6,630</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3,564</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156159">
                <a:tc>
                  <a:txBody>
                    <a:bodyPr/>
                    <a:lstStyle/>
                    <a:p>
                      <a:pPr algn="l" fontAlgn="ctr"/>
                      <a:r>
                        <a:rPr lang="ja-JP" altLang="en-US" sz="840" b="0" i="0" dirty="0">
                          <a:solidFill>
                            <a:srgbClr val="000000"/>
                          </a:solidFill>
                          <a:latin typeface="游ゴシック"/>
                          <a:ea typeface="游ゴシック"/>
                        </a:rPr>
                        <a:t>　　　仮受金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6,109</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156159">
                <a:tc>
                  <a:txBody>
                    <a:bodyPr/>
                    <a:lstStyle/>
                    <a:p>
                      <a:pPr algn="l" fontAlgn="ctr"/>
                      <a:r>
                        <a:rPr lang="ja-JP" altLang="en-US" sz="840" b="0" i="0" dirty="0">
                          <a:solidFill>
                            <a:srgbClr val="000000"/>
                          </a:solidFill>
                          <a:latin typeface="游ゴシック"/>
                          <a:ea typeface="游ゴシック"/>
                        </a:rPr>
                        <a:t>　　　預り金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504</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558</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281</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328</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156159">
                <a:tc>
                  <a:txBody>
                    <a:bodyPr/>
                    <a:lstStyle/>
                    <a:p>
                      <a:pPr algn="l" fontAlgn="ctr"/>
                      <a:r>
                        <a:rPr lang="ja-JP" altLang="en-US" sz="840" b="0" i="0" dirty="0">
                          <a:solidFill>
                            <a:srgbClr val="000000"/>
                          </a:solidFill>
                          <a:latin typeface="游ゴシック"/>
                          <a:ea typeface="游ゴシック"/>
                        </a:rPr>
                        <a:t>　　　未払法人税等</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2,308</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34</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1,851</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156159">
                <a:tc>
                  <a:txBody>
                    <a:bodyPr/>
                    <a:lstStyle/>
                    <a:p>
                      <a:pPr algn="l" fontAlgn="ctr"/>
                      <a:r>
                        <a:rPr lang="ja-JP" altLang="en-US" sz="840" b="0" i="0" dirty="0">
                          <a:solidFill>
                            <a:srgbClr val="000000"/>
                          </a:solidFill>
                          <a:latin typeface="游ゴシック"/>
                          <a:ea typeface="游ゴシック"/>
                        </a:rPr>
                        <a:t>　　　未払消費税</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2,970</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1,607</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2,168</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3,023</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156159">
                <a:tc>
                  <a:txBody>
                    <a:bodyPr/>
                    <a:lstStyle/>
                    <a:p>
                      <a:pPr algn="l" fontAlgn="ctr"/>
                      <a:r>
                        <a:rPr lang="ja-JP" altLang="en-US" sz="840" b="1" i="0" dirty="0">
                          <a:solidFill>
                            <a:srgbClr val="000000"/>
                          </a:solidFill>
                          <a:latin typeface="游ゴシック"/>
                          <a:ea typeface="游ゴシック"/>
                        </a:rPr>
                        <a:t>　【固定負債】</a:t>
                      </a:r>
                      <a:endParaRPr lang="ja-JP" altLang="en-US" sz="840" b="1"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525,010</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444,316</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370,038</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840" b="1" i="0" dirty="0">
                          <a:solidFill>
                            <a:srgbClr val="000000"/>
                          </a:solidFill>
                          <a:latin typeface="Arial"/>
                          <a:ea typeface="游ゴシック Medium"/>
                        </a:rPr>
                        <a:t>　535,244</a:t>
                      </a:r>
                      <a:endParaRPr lang="ja-JP" altLang="en-US" sz="840" b="1" i="0" dirty="0">
                        <a:solidFill>
                          <a:srgbClr val="000000"/>
                        </a:solidFill>
                        <a:latin typeface="Arial"/>
                        <a:ea typeface="游ゴシック Medium"/>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r>
              <a:tr h="156159">
                <a:tc>
                  <a:txBody>
                    <a:bodyPr/>
                    <a:lstStyle/>
                    <a:p>
                      <a:pPr algn="l" fontAlgn="ctr"/>
                      <a:r>
                        <a:rPr lang="ja-JP" altLang="en-US" sz="840" b="0" i="0" dirty="0">
                          <a:solidFill>
                            <a:srgbClr val="000000"/>
                          </a:solidFill>
                          <a:latin typeface="游ゴシック"/>
                          <a:ea typeface="游ゴシック"/>
                        </a:rPr>
                        <a:t>　　　長期借入金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514,690</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434,046</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361,058</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526,264</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156159">
                <a:tc>
                  <a:txBody>
                    <a:bodyPr/>
                    <a:lstStyle/>
                    <a:p>
                      <a:pPr algn="l" fontAlgn="ctr"/>
                      <a:r>
                        <a:rPr lang="ja-JP" altLang="en-US" sz="840" b="0" i="0" dirty="0">
                          <a:solidFill>
                            <a:srgbClr val="000000"/>
                          </a:solidFill>
                          <a:latin typeface="游ゴシック"/>
                          <a:ea typeface="游ゴシック"/>
                        </a:rPr>
                        <a:t>　　　預り保証金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10,320</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10,270</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8,980</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8,980</a:t>
                      </a:r>
                      <a:endParaRPr lang="ja-JP" altLang="en-US" sz="840" b="0" i="0" dirty="0">
                        <a:solidFill>
                          <a:srgbClr val="000000"/>
                        </a:solidFill>
                        <a:latin typeface="Arial"/>
                        <a:ea typeface="游ゴシック Medium"/>
                      </a:endParaRPr>
                    </a:p>
                  </a:txBody>
                  <a:tcPr marL="36576" marR="36576" marT="0" marB="0" anchor="ctr">
                    <a:lnL w="6350">
                      <a:noFill/>
                    </a:lnL>
                    <a:lnR w="6350">
                      <a:noFill/>
                    </a:lnR>
                    <a:lnT w="6350">
                      <a:noFill/>
                    </a:lnT>
                    <a:lnB w="6350">
                      <a:noFill/>
                    </a:lnB>
                    <a:noFill/>
                  </a:tcPr>
                </a:tc>
              </a:tr>
              <a:tr h="156159">
                <a:tc>
                  <a:txBody>
                    <a:bodyPr/>
                    <a:lstStyle/>
                    <a:p>
                      <a:pPr algn="l" fontAlgn="ctr"/>
                      <a:r>
                        <a:rPr lang="ja-JP" altLang="en-US" sz="840" b="1" i="0" dirty="0">
                          <a:solidFill>
                            <a:srgbClr val="FFFFFF"/>
                          </a:solidFill>
                          <a:latin typeface="游ゴシック"/>
                          <a:ea typeface="游ゴシック"/>
                        </a:rPr>
                        <a:t>　負債合計</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0B3041"/>
                    </a:solidFill>
                  </a:tcPr>
                </a:tc>
                <a:tc>
                  <a:txBody>
                    <a:bodyPr/>
                    <a:lstStyle/>
                    <a:p>
                      <a:pPr algn="r" fontAlgn="ctr"/>
                      <a:r>
                        <a:rPr lang="ja-JP" altLang="en-US" sz="840" b="1" i="0" dirty="0">
                          <a:solidFill>
                            <a:srgbClr val="FFFFFF"/>
                          </a:solidFill>
                          <a:latin typeface="Arial"/>
                          <a:ea typeface="游ゴシック Medium"/>
                        </a:rPr>
                        <a:t>　559,119</a:t>
                      </a:r>
                      <a:endParaRPr lang="ja-JP" altLang="en-US" sz="840" b="1" i="0" dirty="0">
                        <a:solidFill>
                          <a:srgbClr val="FFFFFF"/>
                        </a:solidFill>
                        <a:latin typeface="Arial"/>
                        <a:ea typeface="游ゴシック Medium"/>
                      </a:endParaRPr>
                    </a:p>
                  </a:txBody>
                  <a:tcPr marL="36576" marR="36576" marT="0" marB="0" anchor="ctr">
                    <a:lnL w="6350">
                      <a:noFill/>
                    </a:lnL>
                    <a:lnR w="6350">
                      <a:noFill/>
                    </a:lnR>
                    <a:lnT w="6350">
                      <a:noFill/>
                    </a:lnT>
                    <a:lnB w="6350">
                      <a:solidFill>
                        <a:srgbClr val="0B3041"/>
                      </a:solidFill>
                    </a:lnB>
                    <a:solidFill>
                      <a:srgbClr val="0B3041"/>
                    </a:solidFill>
                  </a:tcPr>
                </a:tc>
                <a:tc>
                  <a:txBody>
                    <a:bodyPr/>
                    <a:lstStyle/>
                    <a:p>
                      <a:pPr algn="r" fontAlgn="ctr"/>
                      <a:r>
                        <a:rPr lang="ja-JP" altLang="en-US" sz="840" b="1" i="0" dirty="0">
                          <a:solidFill>
                            <a:srgbClr val="FFFFFF"/>
                          </a:solidFill>
                          <a:latin typeface="Arial"/>
                          <a:ea typeface="游ゴシック Medium"/>
                        </a:rPr>
                        <a:t>　473,772</a:t>
                      </a:r>
                      <a:endParaRPr lang="ja-JP" altLang="en-US" sz="840" b="1" i="0" dirty="0">
                        <a:solidFill>
                          <a:srgbClr val="FFFFFF"/>
                        </a:solidFill>
                        <a:latin typeface="Arial"/>
                        <a:ea typeface="游ゴシック Medium"/>
                      </a:endParaRPr>
                    </a:p>
                  </a:txBody>
                  <a:tcPr marL="36576" marR="36576" marT="0" marB="0" anchor="ctr">
                    <a:lnL w="6350">
                      <a:noFill/>
                    </a:lnL>
                    <a:lnR w="6350">
                      <a:noFill/>
                    </a:lnR>
                    <a:lnT w="6350">
                      <a:noFill/>
                    </a:lnT>
                    <a:lnB w="6350">
                      <a:solidFill>
                        <a:srgbClr val="0B3041"/>
                      </a:solidFill>
                    </a:lnB>
                    <a:solidFill>
                      <a:srgbClr val="0B3041"/>
                    </a:solidFill>
                  </a:tcPr>
                </a:tc>
                <a:tc>
                  <a:txBody>
                    <a:bodyPr/>
                    <a:lstStyle/>
                    <a:p>
                      <a:pPr algn="r" fontAlgn="ctr"/>
                      <a:r>
                        <a:rPr lang="ja-JP" altLang="en-US" sz="840" b="1" i="0" dirty="0">
                          <a:solidFill>
                            <a:srgbClr val="FFFFFF"/>
                          </a:solidFill>
                          <a:latin typeface="Arial"/>
                          <a:ea typeface="游ゴシック Medium"/>
                        </a:rPr>
                        <a:t>　407,318</a:t>
                      </a:r>
                      <a:endParaRPr lang="ja-JP" altLang="en-US" sz="840" b="1" i="0" dirty="0">
                        <a:solidFill>
                          <a:srgbClr val="FFFFFF"/>
                        </a:solidFill>
                        <a:latin typeface="Arial"/>
                        <a:ea typeface="游ゴシック Medium"/>
                      </a:endParaRPr>
                    </a:p>
                  </a:txBody>
                  <a:tcPr marL="36576" marR="36576" marT="0" marB="0" anchor="ctr">
                    <a:lnL w="6350">
                      <a:noFill/>
                    </a:lnL>
                    <a:lnR w="6350">
                      <a:noFill/>
                    </a:lnR>
                    <a:lnT w="6350">
                      <a:noFill/>
                    </a:lnT>
                    <a:lnB w="6350">
                      <a:solidFill>
                        <a:srgbClr val="0B3041"/>
                      </a:solidFill>
                    </a:lnB>
                    <a:solidFill>
                      <a:srgbClr val="0B3041"/>
                    </a:solidFill>
                  </a:tcPr>
                </a:tc>
                <a:tc>
                  <a:txBody>
                    <a:bodyPr/>
                    <a:lstStyle/>
                    <a:p>
                      <a:pPr algn="r" fontAlgn="ctr"/>
                      <a:r>
                        <a:rPr lang="ja-JP" altLang="en-US" sz="840" b="1" i="0" dirty="0">
                          <a:solidFill>
                            <a:srgbClr val="FFFFFF"/>
                          </a:solidFill>
                          <a:latin typeface="Arial"/>
                          <a:ea typeface="游ゴシック Medium"/>
                        </a:rPr>
                        <a:t>　566,526</a:t>
                      </a:r>
                      <a:endParaRPr lang="ja-JP" altLang="en-US" sz="840" b="1" i="0" dirty="0">
                        <a:solidFill>
                          <a:srgbClr val="FFFFFF"/>
                        </a:solidFill>
                        <a:latin typeface="Arial"/>
                        <a:ea typeface="游ゴシック Medium"/>
                      </a:endParaRPr>
                    </a:p>
                  </a:txBody>
                  <a:tcPr marL="36576" marR="36576" marT="0" marB="0" anchor="ctr">
                    <a:lnL w="6350">
                      <a:noFill/>
                    </a:lnL>
                    <a:lnR w="6350">
                      <a:noFill/>
                    </a:lnR>
                    <a:lnT w="6350">
                      <a:noFill/>
                    </a:lnT>
                    <a:lnB w="6350">
                      <a:solidFill>
                        <a:srgbClr val="0B3041"/>
                      </a:solidFill>
                    </a:lnB>
                    <a:solidFill>
                      <a:srgbClr val="0B3041"/>
                    </a:solidFill>
                  </a:tcPr>
                </a:tc>
              </a:tr>
            </a:tbl>
          </a:graphicData>
        </a:graphic>
      </p:graphicFrame>
      <p:graphicFrame>
        <p:nvGraphicFramePr>
          <p:cNvPr id="16" name="表（'BS (貸方)'!B34:G51）"/>
          <p:cNvGraphicFramePr>
            <a:graphicFrameLocks noGrp="1"/>
          </p:cNvGraphicFramePr>
          <p:nvPr/>
        </p:nvGraphicFramePr>
        <p:xfrm>
          <a:off x="5376672" y="5282088"/>
          <a:ext cx="4956047" cy="1411314"/>
        </p:xfrm>
        <a:graphic>
          <a:graphicData uri="http://schemas.openxmlformats.org/drawingml/2006/table">
            <a:tbl>
              <a:tblPr firstRow="0" bandRow="0">
                <a:tableStyleId>{2D5ABB26-0587-4C30-8999-92F81FD0307C}</a:tableStyleId>
              </a:tblPr>
              <a:tblGrid>
                <a:gridCol w="1481287"/>
                <a:gridCol w="868690"/>
                <a:gridCol w="868690"/>
                <a:gridCol w="868690"/>
                <a:gridCol w="868690"/>
              </a:tblGrid>
              <a:tr h="156114">
                <a:tc>
                  <a:txBody>
                    <a:bodyPr/>
                    <a:lstStyle/>
                    <a:p>
                      <a:pPr algn="ctr" fontAlgn="ctr"/>
                      <a:r>
                        <a:rPr lang="ja-JP" altLang="en-US" sz="840" b="1" i="0" dirty="0">
                          <a:solidFill>
                            <a:srgbClr val="FFFFFF"/>
                          </a:solidFill>
                          <a:latin typeface="游ゴシック"/>
                          <a:ea typeface="游ゴシック"/>
                        </a:rPr>
                        <a:t>純資産の部</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A6A6A6"/>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6350">
                      <a:noFill/>
                    </a:lnL>
                    <a:lnR w="12700">
                      <a:solidFill>
                        <a:srgbClr val="FFFFFF"/>
                      </a:solidFill>
                    </a:lnR>
                    <a:lnT w="6350">
                      <a:noFill/>
                    </a:lnT>
                    <a:lnB w="6350">
                      <a:solidFill>
                        <a:srgbClr val="A6A6A6"/>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endParaRPr lang="ja-JP" altLang="en-US" sz="840" b="1"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56114">
                <a:tc>
                  <a:txBody>
                    <a:bodyPr/>
                    <a:lstStyle/>
                    <a:p>
                      <a:pPr algn="l" fontAlgn="ctr"/>
                      <a:r>
                        <a:rPr lang="ja-JP" altLang="en-US" sz="840" b="0" i="0" dirty="0">
                          <a:solidFill>
                            <a:srgbClr val="000000"/>
                          </a:solidFill>
                          <a:latin typeface="游ゴシック"/>
                          <a:ea typeface="游ゴシック"/>
                        </a:rPr>
                        <a:t>　【資本金】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0B3041"/>
                      </a:solidFill>
                    </a:lnB>
                    <a:solidFill>
                      <a:srgbClr val="E1F3FB"/>
                    </a:solidFill>
                  </a:tcPr>
                </a:tc>
                <a:tc>
                  <a:txBody>
                    <a:bodyPr/>
                    <a:lstStyle/>
                    <a:p>
                      <a:pPr algn="r" fontAlgn="ctr"/>
                      <a:r>
                        <a:rPr lang="ja-JP" altLang="en-US" sz="840" b="0" i="0" dirty="0">
                          <a:solidFill>
                            <a:srgbClr val="000000"/>
                          </a:solidFill>
                          <a:latin typeface="Arial"/>
                          <a:ea typeface="游ゴシック Medium"/>
                        </a:rPr>
                        <a:t>　40,000</a:t>
                      </a:r>
                      <a:endParaRPr lang="ja-JP" altLang="en-US" sz="840" b="0" i="0" dirty="0">
                        <a:solidFill>
                          <a:srgbClr val="000000"/>
                        </a:solidFill>
                        <a:latin typeface="Arial"/>
                        <a:ea typeface="游ゴシック Medium"/>
                      </a:endParaRPr>
                    </a:p>
                  </a:txBody>
                  <a:tcPr marL="36576" marR="36576" marT="0" marB="0" anchor="ctr">
                    <a:lnL w="6350">
                      <a:no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0" i="0" dirty="0">
                          <a:solidFill>
                            <a:srgbClr val="000000"/>
                          </a:solidFill>
                          <a:latin typeface="Arial"/>
                          <a:ea typeface="游ゴシック Medium"/>
                        </a:rPr>
                        <a:t>　40,000</a:t>
                      </a:r>
                      <a:endParaRPr lang="ja-JP" altLang="en-US" sz="840" b="0" i="0" dirty="0">
                        <a:solidFill>
                          <a:srgbClr val="000000"/>
                        </a:solidFill>
                        <a:latin typeface="Arial"/>
                        <a:ea typeface="游ゴシック Medium"/>
                      </a:endParaRPr>
                    </a:p>
                  </a:txBody>
                  <a:tcPr marL="36576" marR="36576" marT="0" marB="0" anchor="ctr">
                    <a:lnL w="6350">
                      <a:no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0" i="0" dirty="0">
                          <a:solidFill>
                            <a:srgbClr val="000000"/>
                          </a:solidFill>
                          <a:latin typeface="Arial"/>
                          <a:ea typeface="游ゴシック Medium"/>
                        </a:rPr>
                        <a:t>　40,000</a:t>
                      </a:r>
                      <a:endParaRPr lang="ja-JP" altLang="en-US" sz="840" b="0" i="0" dirty="0">
                        <a:solidFill>
                          <a:srgbClr val="000000"/>
                        </a:solidFill>
                        <a:latin typeface="Arial"/>
                        <a:ea typeface="游ゴシック Medium"/>
                      </a:endParaRPr>
                    </a:p>
                  </a:txBody>
                  <a:tcPr marL="36576" marR="36576" marT="0" marB="0" anchor="ctr">
                    <a:lnL w="6350">
                      <a:no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0" i="0" dirty="0">
                          <a:solidFill>
                            <a:srgbClr val="000000"/>
                          </a:solidFill>
                          <a:latin typeface="Arial"/>
                          <a:ea typeface="游ゴシック Medium"/>
                        </a:rPr>
                        <a:t>　40,000</a:t>
                      </a:r>
                      <a:endParaRPr lang="ja-JP" altLang="en-US" sz="840" b="0" i="0" dirty="0">
                        <a:solidFill>
                          <a:srgbClr val="000000"/>
                        </a:solidFill>
                        <a:latin typeface="Arial"/>
                        <a:ea typeface="游ゴシック Medium"/>
                      </a:endParaRPr>
                    </a:p>
                  </a:txBody>
                  <a:tcPr marL="36576" marR="36576" marT="0" marB="0" anchor="ctr">
                    <a:lnL w="6350">
                      <a:noFill/>
                    </a:lnL>
                    <a:lnR w="6350">
                      <a:solidFill>
                        <a:srgbClr val="FFFFFF"/>
                      </a:solidFill>
                    </a:lnR>
                    <a:lnT w="6350">
                      <a:noFill/>
                    </a:lnT>
                    <a:lnB w="6350">
                      <a:solidFill>
                        <a:srgbClr val="0B3041"/>
                      </a:solidFill>
                    </a:lnB>
                    <a:solidFill>
                      <a:srgbClr val="E1F3FB"/>
                    </a:solidFill>
                  </a:tcPr>
                </a:tc>
              </a:tr>
              <a:tr h="156114">
                <a:tc>
                  <a:txBody>
                    <a:bodyPr/>
                    <a:lstStyle/>
                    <a:p>
                      <a:pPr algn="l" fontAlgn="ctr"/>
                      <a:r>
                        <a:rPr lang="ja-JP" altLang="en-US" sz="840" b="0" i="0" dirty="0">
                          <a:solidFill>
                            <a:srgbClr val="000000"/>
                          </a:solidFill>
                          <a:latin typeface="游ゴシック"/>
                          <a:ea typeface="游ゴシック"/>
                        </a:rPr>
                        <a:t>　　　資本金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40,000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40,000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40,000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40,000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57162">
                <a:tc>
                  <a:txBody>
                    <a:bodyPr/>
                    <a:lstStyle/>
                    <a:p>
                      <a:pPr algn="l" fontAlgn="ctr"/>
                      <a:r>
                        <a:rPr lang="ja-JP" altLang="en-US" sz="840" b="0" i="0" dirty="0">
                          <a:solidFill>
                            <a:srgbClr val="000000"/>
                          </a:solidFill>
                          <a:latin typeface="游ゴシック"/>
                          <a:ea typeface="游ゴシック"/>
                        </a:rPr>
                        <a:t>　【利益剰余金】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solidFill>
                        <a:srgbClr val="0B3041"/>
                      </a:solidFill>
                    </a:lnT>
                    <a:lnB w="6350">
                      <a:solidFill>
                        <a:srgbClr val="0B3041"/>
                      </a:solidFill>
                    </a:lnB>
                    <a:solidFill>
                      <a:srgbClr val="E1F3FB"/>
                    </a:solidFill>
                  </a:tcPr>
                </a:tc>
                <a:tc>
                  <a:txBody>
                    <a:bodyPr/>
                    <a:lstStyle/>
                    <a:p>
                      <a:pPr algn="r" fontAlgn="ctr"/>
                      <a:r>
                        <a:rPr lang="ja-JP" altLang="en-US" sz="840" b="0" i="0" dirty="0">
                          <a:solidFill>
                            <a:srgbClr val="000000"/>
                          </a:solidFill>
                          <a:latin typeface="Arial"/>
                          <a:ea typeface="游ゴシック Medium"/>
                        </a:rPr>
                        <a:t>　52,828</a:t>
                      </a:r>
                      <a:endParaRPr lang="ja-JP" altLang="en-US" sz="840" b="0" i="0" dirty="0">
                        <a:solidFill>
                          <a:srgbClr val="000000"/>
                        </a:solidFill>
                        <a:latin typeface="Arial"/>
                        <a:ea typeface="游ゴシック Medium"/>
                      </a:endParaRPr>
                    </a:p>
                  </a:txBody>
                  <a:tcPr marL="36576" marR="36576" marT="0" marB="0" anchor="ctr">
                    <a:lnL w="6350">
                      <a:no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0" i="0" dirty="0">
                          <a:solidFill>
                            <a:srgbClr val="000000"/>
                          </a:solidFill>
                          <a:latin typeface="Arial"/>
                          <a:ea typeface="游ゴシック Medium"/>
                        </a:rPr>
                        <a:t>　53,757</a:t>
                      </a:r>
                      <a:endParaRPr lang="ja-JP" altLang="en-US" sz="840" b="0" i="0" dirty="0">
                        <a:solidFill>
                          <a:srgbClr val="000000"/>
                        </a:solidFill>
                        <a:latin typeface="Arial"/>
                        <a:ea typeface="游ゴシック Medium"/>
                      </a:endParaRPr>
                    </a:p>
                  </a:txBody>
                  <a:tcPr marL="36576" marR="36576" marT="0" marB="0" anchor="ctr">
                    <a:lnL w="6350">
                      <a:no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0" i="0" dirty="0">
                          <a:solidFill>
                            <a:srgbClr val="000000"/>
                          </a:solidFill>
                          <a:latin typeface="Arial"/>
                          <a:ea typeface="游ゴシック Medium"/>
                        </a:rPr>
                        <a:t>　37,873</a:t>
                      </a:r>
                      <a:endParaRPr lang="ja-JP" altLang="en-US" sz="840" b="0" i="0" dirty="0">
                        <a:solidFill>
                          <a:srgbClr val="000000"/>
                        </a:solidFill>
                        <a:latin typeface="Arial"/>
                        <a:ea typeface="游ゴシック Medium"/>
                      </a:endParaRPr>
                    </a:p>
                  </a:txBody>
                  <a:tcPr marL="36576" marR="36576" marT="0" marB="0" anchor="ctr">
                    <a:lnL w="6350">
                      <a:no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840" b="0" i="0" dirty="0">
                          <a:solidFill>
                            <a:srgbClr val="000000"/>
                          </a:solidFill>
                          <a:latin typeface="Arial"/>
                          <a:ea typeface="游ゴシック Medium"/>
                        </a:rPr>
                        <a:t>　59,038</a:t>
                      </a:r>
                      <a:endParaRPr lang="ja-JP" altLang="en-US" sz="840" b="0" i="0" dirty="0">
                        <a:solidFill>
                          <a:srgbClr val="000000"/>
                        </a:solidFill>
                        <a:latin typeface="Arial"/>
                        <a:ea typeface="游ゴシック Medium"/>
                      </a:endParaRPr>
                    </a:p>
                  </a:txBody>
                  <a:tcPr marL="36576" marR="36576" marT="0" marB="0" anchor="ctr">
                    <a:lnL w="6350">
                      <a:noFill/>
                    </a:lnL>
                    <a:lnR w="6350">
                      <a:solidFill>
                        <a:srgbClr val="FFFFFF"/>
                      </a:solidFill>
                    </a:lnR>
                    <a:lnT w="6350">
                      <a:noFill/>
                    </a:lnT>
                    <a:lnB w="6350">
                      <a:solidFill>
                        <a:srgbClr val="0B3041"/>
                      </a:solidFill>
                    </a:lnB>
                    <a:solidFill>
                      <a:srgbClr val="E1F3FB"/>
                    </a:solidFill>
                  </a:tcPr>
                </a:tc>
              </a:tr>
              <a:tr h="157162">
                <a:tc>
                  <a:txBody>
                    <a:bodyPr/>
                    <a:lstStyle/>
                    <a:p>
                      <a:pPr algn="l" fontAlgn="ctr"/>
                      <a:r>
                        <a:rPr lang="ja-JP" altLang="en-US" sz="840" b="0" i="0" dirty="0">
                          <a:solidFill>
                            <a:srgbClr val="000000"/>
                          </a:solidFill>
                          <a:latin typeface="游ゴシック"/>
                          <a:ea typeface="游ゴシック"/>
                        </a:rPr>
                        <a:t>　　　利益準備金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1,800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2,000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2,080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2,080</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57162">
                <a:tc>
                  <a:txBody>
                    <a:bodyPr/>
                    <a:lstStyle/>
                    <a:p>
                      <a:pPr algn="l" fontAlgn="ctr"/>
                      <a:r>
                        <a:rPr lang="ja-JP" altLang="en-US" sz="840" b="0" i="0" dirty="0">
                          <a:solidFill>
                            <a:srgbClr val="000000"/>
                          </a:solidFill>
                          <a:latin typeface="游ゴシック"/>
                          <a:ea typeface="游ゴシック"/>
                        </a:rPr>
                        <a:t>　　　繰越利益剰余金</a:t>
                      </a: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r>
                        <a:rPr lang="ja-JP" altLang="en-US" sz="840" b="0" i="0" dirty="0">
                          <a:solidFill>
                            <a:srgbClr val="000000"/>
                          </a:solidFill>
                          <a:latin typeface="Arial"/>
                          <a:ea typeface="游ゴシック Medium"/>
                        </a:rPr>
                        <a:t>　51,028</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51,757</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35,793</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840" b="0" i="0" dirty="0">
                          <a:solidFill>
                            <a:srgbClr val="000000"/>
                          </a:solidFill>
                          <a:latin typeface="Arial"/>
                          <a:ea typeface="游ゴシック Medium"/>
                        </a:rPr>
                        <a:t>　56,958</a:t>
                      </a: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57162">
                <a:tc>
                  <a:txBody>
                    <a:bodyPr/>
                    <a:lstStyle/>
                    <a:p>
                      <a:pPr algn="l" fontAlgn="ctr"/>
                      <a:endParaRPr lang="ja-JP" altLang="en-US" sz="840"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840"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57162">
                <a:tc>
                  <a:txBody>
                    <a:bodyPr/>
                    <a:lstStyle/>
                    <a:p>
                      <a:pPr algn="l" fontAlgn="ctr"/>
                      <a:r>
                        <a:rPr lang="ja-JP" altLang="en-US" sz="840" b="1" i="0" dirty="0">
                          <a:solidFill>
                            <a:srgbClr val="FFFFFF"/>
                          </a:solidFill>
                          <a:latin typeface="游ゴシック"/>
                          <a:ea typeface="游ゴシック"/>
                        </a:rPr>
                        <a:t>　純資産合計</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noFill/>
                    </a:lnR>
                    <a:lnT w="6350">
                      <a:solidFill>
                        <a:srgbClr val="FFFFFF"/>
                      </a:solidFill>
                    </a:lnT>
                    <a:lnB w="6350">
                      <a:solidFill>
                        <a:srgbClr val="FFFFFF"/>
                      </a:solidFill>
                    </a:lnB>
                    <a:solidFill>
                      <a:srgbClr val="0B3041"/>
                    </a:solidFill>
                  </a:tcPr>
                </a:tc>
                <a:tc>
                  <a:txBody>
                    <a:bodyPr/>
                    <a:lstStyle/>
                    <a:p>
                      <a:pPr algn="r" fontAlgn="ctr"/>
                      <a:r>
                        <a:rPr lang="ja-JP" altLang="en-US" sz="840" b="1" i="0" dirty="0">
                          <a:solidFill>
                            <a:srgbClr val="FFFFFF"/>
                          </a:solidFill>
                          <a:latin typeface="Arial"/>
                          <a:ea typeface="游ゴシック Medium"/>
                        </a:rPr>
                        <a:t>　92,828</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r" fontAlgn="ctr"/>
                      <a:r>
                        <a:rPr lang="ja-JP" altLang="en-US" sz="840" b="1" i="0" dirty="0">
                          <a:solidFill>
                            <a:srgbClr val="FFFFFF"/>
                          </a:solidFill>
                          <a:latin typeface="Arial"/>
                          <a:ea typeface="游ゴシック Medium"/>
                        </a:rPr>
                        <a:t>　93,757</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r" fontAlgn="ctr"/>
                      <a:r>
                        <a:rPr lang="ja-JP" altLang="en-US" sz="840" b="1" i="0" dirty="0">
                          <a:solidFill>
                            <a:srgbClr val="FFFFFF"/>
                          </a:solidFill>
                          <a:latin typeface="Arial"/>
                          <a:ea typeface="游ゴシック Medium"/>
                        </a:rPr>
                        <a:t>　77,873</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c>
                  <a:txBody>
                    <a:bodyPr/>
                    <a:lstStyle/>
                    <a:p>
                      <a:pPr algn="r" fontAlgn="ctr"/>
                      <a:r>
                        <a:rPr lang="ja-JP" altLang="en-US" sz="840" b="1" i="0" dirty="0">
                          <a:solidFill>
                            <a:srgbClr val="FFFFFF"/>
                          </a:solidFill>
                          <a:latin typeface="Arial"/>
                          <a:ea typeface="游ゴシック Medium"/>
                        </a:rPr>
                        <a:t>　99,038</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FFFFFF"/>
                      </a:solidFill>
                    </a:lnT>
                    <a:lnB w="6350">
                      <a:solidFill>
                        <a:srgbClr val="FFFFFF"/>
                      </a:solidFill>
                    </a:lnB>
                    <a:solidFill>
                      <a:srgbClr val="0B3041"/>
                    </a:solidFill>
                  </a:tcPr>
                </a:tc>
              </a:tr>
              <a:tr h="157162">
                <a:tc>
                  <a:txBody>
                    <a:bodyPr/>
                    <a:lstStyle/>
                    <a:p>
                      <a:pPr algn="l" fontAlgn="ctr"/>
                      <a:r>
                        <a:rPr lang="ja-JP" altLang="en-US" sz="840" b="1" i="0" dirty="0">
                          <a:solidFill>
                            <a:srgbClr val="FFFFFF"/>
                          </a:solidFill>
                          <a:latin typeface="游ゴシック"/>
                          <a:ea typeface="游ゴシック"/>
                        </a:rPr>
                        <a:t>　負債・純資産合計</a:t>
                      </a:r>
                      <a:endParaRPr lang="ja-JP" altLang="en-US" sz="840" b="1" i="0" dirty="0">
                        <a:solidFill>
                          <a:srgbClr val="FFFFFF"/>
                        </a:solidFill>
                        <a:latin typeface="游ゴシック"/>
                        <a:ea typeface="游ゴシック"/>
                      </a:endParaRPr>
                    </a:p>
                  </a:txBody>
                  <a:tcPr marL="36576" marR="36576" marT="0" marB="0" anchor="ctr">
                    <a:lnL w="6350">
                      <a:solidFill>
                        <a:srgbClr val="FFFFFF"/>
                      </a:solidFill>
                    </a:lnL>
                    <a:lnR w="6350">
                      <a:noFill/>
                    </a:lnR>
                    <a:lnT w="6350">
                      <a:solidFill>
                        <a:srgbClr val="FFFFFF"/>
                      </a:solidFill>
                    </a:lnT>
                    <a:lnB w="6350">
                      <a:noFill/>
                    </a:lnB>
                    <a:solidFill>
                      <a:srgbClr val="0B3041"/>
                    </a:solidFill>
                  </a:tcPr>
                </a:tc>
                <a:tc>
                  <a:txBody>
                    <a:bodyPr/>
                    <a:lstStyle/>
                    <a:p>
                      <a:pPr algn="r" fontAlgn="ctr"/>
                      <a:r>
                        <a:rPr lang="ja-JP" altLang="en-US" sz="840" b="1" i="0" dirty="0">
                          <a:solidFill>
                            <a:srgbClr val="FFFFFF"/>
                          </a:solidFill>
                          <a:latin typeface="Arial"/>
                          <a:ea typeface="游ゴシック Medium"/>
                        </a:rPr>
                        <a:t>　651,948</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r" fontAlgn="ctr"/>
                      <a:r>
                        <a:rPr lang="ja-JP" altLang="en-US" sz="840" b="1" i="0" dirty="0">
                          <a:solidFill>
                            <a:srgbClr val="FFFFFF"/>
                          </a:solidFill>
                          <a:latin typeface="Arial"/>
                          <a:ea typeface="游ゴシック Medium"/>
                        </a:rPr>
                        <a:t>　567,529</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r" fontAlgn="ctr"/>
                      <a:r>
                        <a:rPr lang="ja-JP" altLang="en-US" sz="840" b="1" i="0" dirty="0">
                          <a:solidFill>
                            <a:srgbClr val="FFFFFF"/>
                          </a:solidFill>
                          <a:latin typeface="Arial"/>
                          <a:ea typeface="游ゴシック Medium"/>
                        </a:rPr>
                        <a:t>　485,190</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r" fontAlgn="ctr"/>
                      <a:r>
                        <a:rPr lang="ja-JP" altLang="en-US" sz="840" b="1" i="0" dirty="0">
                          <a:solidFill>
                            <a:srgbClr val="FFFFFF"/>
                          </a:solidFill>
                          <a:latin typeface="Arial"/>
                          <a:ea typeface="游ゴシック Medium"/>
                        </a:rPr>
                        <a:t>　665,564</a:t>
                      </a:r>
                      <a:endParaRPr lang="ja-JP" altLang="en-US" sz="840" b="1" i="0" dirty="0">
                        <a:solidFill>
                          <a:srgbClr val="FFFFFF"/>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r>
            </a:tbl>
          </a:graphicData>
        </a:graphic>
      </p:graphicFrame>
    </p:spTree>
    <p:extLst>
      <p:ext uri="{BB962C8B-B14F-4D97-AF65-F5344CB8AC3E}">
        <p14:creationId xmlns:p14="http://schemas.microsoft.com/office/powerpoint/2010/main" val="28778819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83D88-B54F-0820-A617-759035C5FFCE}"/>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2C2D39CC-0147-8513-46F0-368EBE22D97C}"/>
              </a:ext>
            </a:extLst>
          </p:cNvPr>
          <p:cNvSpPr>
            <a:spLocks noGrp="1"/>
          </p:cNvSpPr>
          <p:nvPr>
            <p:ph type="ctrTitle"/>
          </p:nvPr>
        </p:nvSpPr>
        <p:spPr>
          <a:xfrm>
            <a:off x="311150" y="180296"/>
            <a:ext cx="7799917" cy="339267"/>
          </a:xfrm>
        </p:spPr>
        <p:txBody>
          <a:bodyPr>
            <a:normAutofit/>
          </a:bodyPr>
          <a:lstStyle/>
          <a:p>
            <a:r>
              <a:rPr lang="ja-JP" altLang="en-US" dirty="0"/>
              <a:t>損益計算書</a:t>
            </a:r>
          </a:p>
        </p:txBody>
      </p:sp>
      <p:sp>
        <p:nvSpPr>
          <p:cNvPr id="5" name="タイトル 1">
            <a:extLst>
              <a:ext uri="{FF2B5EF4-FFF2-40B4-BE49-F238E27FC236}">
                <a16:creationId xmlns:a16="http://schemas.microsoft.com/office/drawing/2014/main" id="{B1382B80-EF7F-718A-0685-302C41A8531B}"/>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C391002A-F61E-39B7-D75D-796D17928C17}"/>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売上高は約12億円で推移。2026/3期は保険積立金の取崩しで当期純損失。進行期（2026年4〜9月）は経常利益21,166千円と前年同期（10,013千円）を大きく上回る。</a:t>
            </a:r>
          </a:p>
        </p:txBody>
      </p:sp>
      <p:sp>
        <p:nvSpPr>
          <p:cNvPr id="2" name="正方形/長方形 1">
            <a:extLst>
              <a:ext uri="{FF2B5EF4-FFF2-40B4-BE49-F238E27FC236}">
                <a16:creationId xmlns:a16="http://schemas.microsoft.com/office/drawing/2014/main" id="{BF27BA7A-9153-58C5-3140-5975C57507B3}"/>
              </a:ext>
            </a:extLst>
          </p:cNvPr>
          <p:cNvSpPr/>
          <p:nvPr/>
        </p:nvSpPr>
        <p:spPr>
          <a:xfrm>
            <a:off x="7132320" y="1325880"/>
            <a:ext cx="3246120" cy="55778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6" name="テキスト ボックス 5">
            <a:extLst>
              <a:ext uri="{FF2B5EF4-FFF2-40B4-BE49-F238E27FC236}">
                <a16:creationId xmlns:a16="http://schemas.microsoft.com/office/drawing/2014/main" id="{A007D27D-8826-CDC6-2389-3E385CB817A8}"/>
              </a:ext>
            </a:extLst>
          </p:cNvPr>
          <p:cNvSpPr txBox="1"/>
          <p:nvPr/>
        </p:nvSpPr>
        <p:spPr>
          <a:xfrm>
            <a:off x="7132320" y="1874519"/>
            <a:ext cx="3227832" cy="4937760"/>
          </a:xfrm>
          <a:prstGeom prst="rect">
            <a:avLst/>
          </a:prstGeom>
          <a:noFill/>
        </p:spPr>
        <p:txBody>
          <a:bodyPr wrap="square" lIns="288000" tIns="0" rIns="252000" bIns="0" rtlCol="0">
            <a:spAutoFit/>
          </a:bodyPr>
          <a:lstStyle/>
          <a:p>
            <a:pPr>
              <a:spcAft>
                <a:spcPts val="200"/>
              </a:spcAft>
            </a:pPr>
            <a:r>
              <a:rPr lang="ja-JP" altLang="en-US" sz="900" b="1" dirty="0">
                <a:solidFill>
                  <a:sysClr val="windowText" lastClr="000000"/>
                </a:solidFill>
                <a:latin typeface="游ゴシック"/>
                <a:ea typeface="游ゴシック"/>
              </a:rPr>
              <a:t>≪売上高≫</a:t>
            </a:r>
          </a:p>
          <a:p>
            <a:pPr>
              <a:spcAft>
                <a:spcPts val="200"/>
              </a:spcAft>
            </a:pPr>
            <a:r>
              <a:rPr lang="ja-JP" altLang="en-US" sz="800" b="0" dirty="0">
                <a:solidFill>
                  <a:sysClr val="windowText" lastClr="000000"/>
                </a:solidFill>
                <a:latin typeface="游ゴシック"/>
                <a:ea typeface="游ゴシック"/>
              </a:rPr>
              <a:t>・決算書では「商品売上高」1本で表示。受託販売は2019年10月以降、手数料（8.5%）のみの純額表示。売上割戻は期限内に代金を支払った八百屋等への完納奨励金（市場の商慣習）。</a:t>
            </a:r>
          </a:p>
          <a:p>
            <a:pPr>
              <a:spcAft>
                <a:spcPts val="200"/>
              </a:spcAft>
            </a:pPr>
            <a:r>
              <a:rPr lang="ja-JP" altLang="en-US" sz="900" b="1" dirty="0">
                <a:solidFill>
                  <a:sysClr val="windowText" lastClr="000000"/>
                </a:solidFill>
                <a:latin typeface="游ゴシック"/>
                <a:ea typeface="游ゴシック"/>
              </a:rPr>
              <a:t>≪売上原価≫</a:t>
            </a:r>
          </a:p>
          <a:p>
            <a:pPr>
              <a:spcAft>
                <a:spcPts val="200"/>
              </a:spcAft>
            </a:pPr>
            <a:r>
              <a:rPr lang="ja-JP" altLang="en-US" sz="800" b="0" dirty="0">
                <a:solidFill>
                  <a:sysClr val="windowText" lastClr="000000"/>
                </a:solidFill>
                <a:latin typeface="游ゴシック"/>
                <a:ea typeface="游ゴシック"/>
              </a:rPr>
              <a:t>・粗利率は18.6%→17.9%→16.6%。棚卸資産は最終仕入原価法で評価。</a:t>
            </a:r>
          </a:p>
          <a:p>
            <a:pPr>
              <a:spcAft>
                <a:spcPts val="200"/>
              </a:spcAft>
            </a:pPr>
            <a:r>
              <a:rPr lang="ja-JP" altLang="en-US" sz="900" b="1" dirty="0">
                <a:solidFill>
                  <a:sysClr val="windowText" lastClr="000000"/>
                </a:solidFill>
                <a:latin typeface="游ゴシック"/>
                <a:ea typeface="游ゴシック"/>
              </a:rPr>
              <a:t>≪営業外損益≫</a:t>
            </a:r>
          </a:p>
          <a:p>
            <a:pPr>
              <a:spcAft>
                <a:spcPts val="200"/>
              </a:spcAft>
            </a:pPr>
            <a:r>
              <a:rPr lang="ja-JP" altLang="en-US" sz="800" b="0" dirty="0">
                <a:solidFill>
                  <a:sysClr val="windowText" lastClr="000000"/>
                </a:solidFill>
                <a:latin typeface="游ゴシック"/>
                <a:ea typeface="游ゴシック"/>
              </a:rPr>
              <a:t>・受取奨励金（毎期約2.3〜2.5百万円、内容は要確認）、雑収入（ゴミ処理料・冷蔵庫保管料等）を計上。支払利息は年約4百万円。</a:t>
            </a:r>
          </a:p>
          <a:p>
            <a:pPr>
              <a:spcAft>
                <a:spcPts val="200"/>
              </a:spcAft>
            </a:pPr>
            <a:r>
              <a:rPr lang="ja-JP" altLang="en-US" sz="900" b="1" dirty="0">
                <a:solidFill>
                  <a:sysClr val="windowText" lastClr="000000"/>
                </a:solidFill>
                <a:latin typeface="游ゴシック"/>
                <a:ea typeface="游ゴシック"/>
              </a:rPr>
              <a:t>≪特別損益≫</a:t>
            </a:r>
          </a:p>
          <a:p>
            <a:pPr>
              <a:spcAft>
                <a:spcPts val="200"/>
              </a:spcAft>
            </a:pPr>
            <a:r>
              <a:rPr lang="ja-JP" altLang="en-US" sz="800" b="0" dirty="0">
                <a:solidFill>
                  <a:sysClr val="windowText" lastClr="000000"/>
                </a:solidFill>
                <a:latin typeface="游ゴシック"/>
                <a:ea typeface="游ゴシック"/>
              </a:rPr>
              <a:t>・2026/3期の前期損益修正損20,900千円は過年度の保険解約に係る訂正額（非経常）。</a:t>
            </a:r>
          </a:p>
          <a:p>
            <a:pPr>
              <a:spcAft>
                <a:spcPts val="200"/>
              </a:spcAft>
            </a:pPr>
            <a:r>
              <a:rPr lang="ja-JP" altLang="en-US" sz="900" b="1" dirty="0">
                <a:solidFill>
                  <a:sysClr val="windowText" lastClr="000000"/>
                </a:solidFill>
                <a:latin typeface="游ゴシック"/>
                <a:ea typeface="游ゴシック"/>
              </a:rPr>
              <a:t>≪進行期（2026年4〜9月）≫</a:t>
            </a:r>
          </a:p>
          <a:p>
            <a:pPr>
              <a:spcAft>
                <a:spcPts val="200"/>
              </a:spcAft>
            </a:pPr>
            <a:r>
              <a:rPr lang="ja-JP" altLang="en-US" sz="800" b="0" dirty="0">
                <a:solidFill>
                  <a:sysClr val="windowText" lastClr="000000"/>
                </a:solidFill>
                <a:latin typeface="游ゴシック"/>
                <a:ea typeface="游ゴシック"/>
              </a:rPr>
              <a:t>・売上高621,331千円、営業利益20,426千円、経常利益21,166千円（6か月累計、試算表）。繁忙期を含むため年換算しない。</a:t>
            </a:r>
          </a:p>
        </p:txBody>
      </p:sp>
      <p:graphicFrame>
        <p:nvGraphicFramePr>
          <p:cNvPr id="14" name="表（PL!B2:L56）"/>
          <p:cNvGraphicFramePr>
            <a:graphicFrameLocks noGrp="1"/>
          </p:cNvGraphicFramePr>
          <p:nvPr/>
        </p:nvGraphicFramePr>
        <p:xfrm>
          <a:off x="310896" y="1371600"/>
          <a:ext cx="6675112" cy="5257792"/>
        </p:xfrm>
        <a:graphic>
          <a:graphicData uri="http://schemas.openxmlformats.org/drawingml/2006/table">
            <a:tbl>
              <a:tblPr firstRow="0" bandRow="0">
                <a:tableStyleId>{2D5ABB26-0587-4C30-8999-92F81FD0307C}</a:tableStyleId>
              </a:tblPr>
              <a:tblGrid>
                <a:gridCol w="1508800"/>
                <a:gridCol w="645789"/>
                <a:gridCol w="645789"/>
                <a:gridCol w="645789"/>
                <a:gridCol w="645789"/>
                <a:gridCol w="645789"/>
                <a:gridCol w="645789"/>
                <a:gridCol w="645789"/>
                <a:gridCol w="645789"/>
              </a:tblGrid>
              <a:tr h="113608">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solidFill>
                        <a:srgbClr val="FFFFFF"/>
                      </a:solidFill>
                    </a:lnL>
                    <a:lnR w="6350">
                      <a:noFill/>
                    </a:lnR>
                    <a:lnT w="6350">
                      <a:noFill/>
                    </a:lnT>
                    <a:lnB w="6350">
                      <a:noFill/>
                    </a:lnB>
                    <a:noFill/>
                  </a:tcPr>
                </a:tc>
                <a:tc>
                  <a:txBody>
                    <a:bodyPr/>
                    <a:lstStyle/>
                    <a:p>
                      <a:pPr algn="r" fontAlgn="ctr"/>
                      <a:endParaRPr lang="ja-JP" altLang="en-US" sz="682"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solidFill>
                        <a:srgbClr val="FFFFFF"/>
                      </a:solidFill>
                    </a:lnL>
                    <a:lnR w="6350">
                      <a:noFill/>
                    </a:lnR>
                    <a:lnT w="6350">
                      <a:noFill/>
                    </a:lnT>
                    <a:lnB w="6350">
                      <a:noFill/>
                    </a:lnB>
                    <a:noFill/>
                  </a:tcPr>
                </a:tc>
                <a:tc>
                  <a:txBody>
                    <a:bodyPr/>
                    <a:lstStyle/>
                    <a:p>
                      <a:pPr algn="r" fontAlgn="ctr"/>
                      <a:r>
                        <a:rPr lang="ja-JP" altLang="en-US" sz="682" b="0" i="0" dirty="0">
                          <a:solidFill>
                            <a:srgbClr val="000000"/>
                          </a:solidFill>
                          <a:latin typeface="游ゴシック"/>
                          <a:ea typeface="游ゴシック"/>
                        </a:rPr>
                        <a:t>(単位：千円)</a:t>
                      </a:r>
                      <a:endParaRPr lang="ja-JP" altLang="en-US" sz="682"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18152">
                <a:tc rowSpan="2">
                  <a:txBody>
                    <a:bodyPr/>
                    <a:lstStyle/>
                    <a:p>
                      <a:pPr algn="ctr" fontAlgn="ctr"/>
                      <a:r>
                        <a:rPr lang="ja-JP" altLang="en-US" sz="744" b="1" i="0" dirty="0">
                          <a:solidFill>
                            <a:srgbClr val="FFFFFF"/>
                          </a:solidFill>
                          <a:latin typeface="游ゴシック"/>
                          <a:ea typeface="游ゴシック"/>
                        </a:rPr>
                        <a:t>科目</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noFill/>
                    </a:lnR>
                    <a:lnT w="6350">
                      <a:noFill/>
                    </a:lnT>
                    <a:lnB w="6350">
                      <a:solidFill>
                        <a:srgbClr val="A6A6A6"/>
                      </a:solidFill>
                    </a:lnB>
                    <a:solidFill>
                      <a:srgbClr val="0B3041"/>
                    </a:solidFill>
                  </a:tcPr>
                </a:tc>
                <a:tc gridSpan="2">
                  <a:txBody>
                    <a:bodyPr/>
                    <a:lstStyle/>
                    <a:p>
                      <a:pPr algn="ctr" fontAlgn="ctr"/>
                      <a:r>
                        <a:rPr lang="ja-JP" altLang="en-US" sz="744" b="1" i="0" dirty="0">
                          <a:solidFill>
                            <a:srgbClr val="FFFFFF"/>
                          </a:solidFill>
                          <a:latin typeface="游ゴシック"/>
                          <a:ea typeface="游ゴシック"/>
                        </a:rPr>
                        <a:t>24年3月期</a:t>
                      </a:r>
                      <a:endParaRPr lang="ja-JP" altLang="en-US" sz="744" b="1" i="0" dirty="0">
                        <a:solidFill>
                          <a:srgbClr val="FFFFFF"/>
                        </a:solidFill>
                        <a:latin typeface="游ゴシック"/>
                        <a:ea typeface="游ゴシック"/>
                      </a:endParaRPr>
                    </a:p>
                  </a:txBody>
                  <a:tcPr marL="36576" marR="36576" marT="0" marB="0" anchor="ctr">
                    <a:lnL w="6350">
                      <a:noFill/>
                    </a:lnL>
                    <a:lnR w="12700">
                      <a:solidFill>
                        <a:srgbClr val="FFFFFF"/>
                      </a:solidFill>
                    </a:lnR>
                    <a:lnT w="6350">
                      <a:noFill/>
                    </a:lnT>
                    <a:lnB w="6350">
                      <a:noFill/>
                    </a:lnB>
                    <a:solidFill>
                      <a:srgbClr val="0B3041"/>
                    </a:solidFill>
                  </a:tcPr>
                </a:tc>
                <a:tc hMerge="1">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noFill/>
                    </a:lnB>
                    <a:noFill/>
                  </a:tcPr>
                </a:tc>
                <a:tc gridSpan="2">
                  <a:txBody>
                    <a:bodyPr/>
                    <a:lstStyle/>
                    <a:p>
                      <a:pPr algn="ctr" fontAlgn="ctr"/>
                      <a:r>
                        <a:rPr lang="ja-JP" altLang="en-US" sz="744" b="1" i="0" dirty="0">
                          <a:solidFill>
                            <a:srgbClr val="FFFFFF"/>
                          </a:solidFill>
                          <a:latin typeface="游ゴシック"/>
                          <a:ea typeface="游ゴシック"/>
                        </a:rPr>
                        <a:t>25年3月期</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noFill/>
                    </a:lnT>
                    <a:lnB w="6350">
                      <a:solidFill>
                        <a:srgbClr val="FFFFFF"/>
                      </a:solidFill>
                    </a:lnB>
                    <a:solidFill>
                      <a:srgbClr val="0B3041"/>
                    </a:solidFill>
                  </a:tcPr>
                </a:tc>
                <a:tc hMerge="1">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solidFill>
                        <a:srgbClr val="FFFFFF"/>
                      </a:solidFill>
                    </a:lnB>
                    <a:noFill/>
                  </a:tcPr>
                </a:tc>
                <a:tc gridSpan="2">
                  <a:txBody>
                    <a:bodyPr/>
                    <a:lstStyle/>
                    <a:p>
                      <a:pPr algn="ctr" fontAlgn="ctr"/>
                      <a:r>
                        <a:rPr lang="ja-JP" altLang="en-US" sz="744" b="1" i="0" dirty="0">
                          <a:solidFill>
                            <a:srgbClr val="FFFFFF"/>
                          </a:solidFill>
                          <a:latin typeface="游ゴシック"/>
                          <a:ea typeface="游ゴシック"/>
                        </a:rPr>
                        <a:t>26年3月期</a:t>
                      </a:r>
                      <a:endParaRPr lang="ja-JP" altLang="en-US" sz="744" b="1" i="0" dirty="0">
                        <a:solidFill>
                          <a:srgbClr val="FFFFFF"/>
                        </a:solidFill>
                        <a:latin typeface="游ゴシック"/>
                        <a:ea typeface="游ゴシック"/>
                      </a:endParaRPr>
                    </a:p>
                  </a:txBody>
                  <a:tcPr marL="36576" marR="36576" marT="0" marB="0" anchor="ctr">
                    <a:lnL w="6350">
                      <a:noFill/>
                    </a:lnL>
                    <a:lnR w="12700">
                      <a:solidFill>
                        <a:srgbClr val="FFFFFF"/>
                      </a:solidFill>
                    </a:lnR>
                    <a:lnT w="6350">
                      <a:noFill/>
                    </a:lnT>
                    <a:lnB w="6350">
                      <a:solidFill>
                        <a:srgbClr val="FFFFFF"/>
                      </a:solidFill>
                    </a:lnB>
                    <a:solidFill>
                      <a:srgbClr val="0B3041"/>
                    </a:solidFill>
                  </a:tcPr>
                </a:tc>
                <a:tc hMerge="1">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solidFill>
                        <a:srgbClr val="FFFFFF"/>
                      </a:solidFill>
                    </a:lnB>
                    <a:noFill/>
                  </a:tcPr>
                </a:tc>
                <a:tc gridSpan="2">
                  <a:txBody>
                    <a:bodyPr/>
                    <a:lstStyle/>
                    <a:p>
                      <a:pPr algn="ctr" fontAlgn="ctr"/>
                      <a:r>
                        <a:rPr lang="ja-JP" altLang="en-US" sz="744" b="1" i="0" dirty="0">
                          <a:solidFill>
                            <a:srgbClr val="FFFFFF"/>
                          </a:solidFill>
                          <a:latin typeface="游ゴシック"/>
                          <a:ea typeface="游ゴシック"/>
                        </a:rPr>
                        <a:t>27年3月期</a:t>
                      </a:r>
                      <a:endParaRPr lang="ja-JP" altLang="en-US" sz="744" b="1" i="0" dirty="0">
                        <a:solidFill>
                          <a:srgbClr val="FFFFFF"/>
                        </a:solidFill>
                        <a:latin typeface="游ゴシック"/>
                        <a:ea typeface="游ゴシック"/>
                      </a:endParaRPr>
                    </a:p>
                    <a:p>
                      <a:pPr algn="ctr" fontAlgn="ctr"/>
                      <a:r>
                        <a:rPr lang="ja-JP" altLang="en-US" sz="744" b="1" i="0" dirty="0">
                          <a:solidFill>
                            <a:srgbClr val="FFFFFF"/>
                          </a:solidFill>
                          <a:latin typeface="游ゴシック"/>
                          <a:ea typeface="游ゴシック"/>
                        </a:rPr>
                        <a:t>4〜9月TB</a:t>
                      </a:r>
                      <a:endParaRPr lang="ja-JP" altLang="en-US" sz="744" b="1" i="0" dirty="0">
                        <a:solidFill>
                          <a:srgbClr val="FFFFFF"/>
                        </a:solidFill>
                        <a:latin typeface="游ゴシック"/>
                        <a:ea typeface="游ゴシック"/>
                      </a:endParaRPr>
                    </a:p>
                  </a:txBody>
                  <a:tcPr marL="36576" marR="36576" marT="0" marB="0" anchor="ctr">
                    <a:lnL w="6350">
                      <a:noFill/>
                    </a:lnL>
                    <a:lnR w="12700">
                      <a:solidFill>
                        <a:srgbClr val="FFFFFF"/>
                      </a:solidFill>
                    </a:lnR>
                    <a:lnT w="6350">
                      <a:noFill/>
                    </a:lnT>
                    <a:lnB w="6350">
                      <a:solidFill>
                        <a:srgbClr val="FFFFFF"/>
                      </a:solidFill>
                    </a:lnB>
                    <a:solidFill>
                      <a:srgbClr val="0B3041"/>
                    </a:solidFill>
                  </a:tcPr>
                </a:tc>
                <a:tc hMerge="1">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solidFill>
                        <a:srgbClr val="FFFFFF"/>
                      </a:solidFill>
                    </a:lnB>
                    <a:noFill/>
                  </a:tcPr>
                </a:tc>
              </a:tr>
              <a:tr h="118152">
                <a:tc vMerge="1">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solidFill>
                        <a:srgbClr val="FFFFFF"/>
                      </a:solidFill>
                    </a:lnL>
                    <a:lnR w="6350">
                      <a:noFill/>
                    </a:lnR>
                    <a:lnT w="6350">
                      <a:noFill/>
                    </a:lnT>
                    <a:lnB w="6350">
                      <a:solidFill>
                        <a:srgbClr val="A6A6A6"/>
                      </a:solidFill>
                    </a:lnB>
                    <a:noFill/>
                  </a:tcPr>
                </a:tc>
                <a:tc>
                  <a:txBody>
                    <a:bodyPr/>
                    <a:lstStyle/>
                    <a:p>
                      <a:pPr algn="ctr" fontAlgn="ctr"/>
                      <a:r>
                        <a:rPr lang="ja-JP" altLang="en-US" sz="744" b="1" i="0" dirty="0">
                          <a:solidFill>
                            <a:srgbClr val="FFFFFF"/>
                          </a:solidFill>
                          <a:latin typeface="游ゴシック"/>
                          <a:ea typeface="游ゴシック"/>
                        </a:rPr>
                        <a:t>帳簿価額</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A6A6A6"/>
                      </a:solidFill>
                    </a:lnB>
                    <a:solidFill>
                      <a:srgbClr val="0B3041"/>
                    </a:solidFill>
                  </a:tcPr>
                </a:tc>
                <a:tc>
                  <a:txBody>
                    <a:bodyPr/>
                    <a:lstStyle/>
                    <a:p>
                      <a:pPr algn="ctr" fontAlgn="ctr"/>
                      <a:r>
                        <a:rPr lang="ja-JP" altLang="en-US" sz="744" b="1" i="0" dirty="0">
                          <a:solidFill>
                            <a:srgbClr val="FFFFFF"/>
                          </a:solidFill>
                          <a:latin typeface="游ゴシック"/>
                          <a:ea typeface="游ゴシック"/>
                        </a:rPr>
                        <a:t>売上高比</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A6A6A6"/>
                      </a:solidFill>
                    </a:lnB>
                    <a:solidFill>
                      <a:srgbClr val="0B3041"/>
                    </a:solidFill>
                  </a:tcPr>
                </a:tc>
                <a:tc>
                  <a:txBody>
                    <a:bodyPr/>
                    <a:lstStyle/>
                    <a:p>
                      <a:pPr algn="ctr" fontAlgn="ctr"/>
                      <a:r>
                        <a:rPr lang="ja-JP" altLang="en-US" sz="744" b="1" i="0" dirty="0">
                          <a:solidFill>
                            <a:srgbClr val="FFFFFF"/>
                          </a:solidFill>
                          <a:latin typeface="游ゴシック"/>
                          <a:ea typeface="游ゴシック"/>
                        </a:rPr>
                        <a:t>帳簿価額</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A6A6A6"/>
                      </a:solidFill>
                    </a:lnB>
                    <a:solidFill>
                      <a:srgbClr val="0B3041"/>
                    </a:solidFill>
                  </a:tcPr>
                </a:tc>
                <a:tc>
                  <a:txBody>
                    <a:bodyPr/>
                    <a:lstStyle/>
                    <a:p>
                      <a:pPr algn="ctr" fontAlgn="ctr"/>
                      <a:r>
                        <a:rPr lang="ja-JP" altLang="en-US" sz="744" b="1" i="0" dirty="0">
                          <a:solidFill>
                            <a:srgbClr val="FFFFFF"/>
                          </a:solidFill>
                          <a:latin typeface="游ゴシック"/>
                          <a:ea typeface="游ゴシック"/>
                        </a:rPr>
                        <a:t>売上高比</a:t>
                      </a:r>
                      <a:endParaRPr lang="ja-JP" altLang="en-US" sz="744" b="1" i="0" dirty="0">
                        <a:solidFill>
                          <a:srgbClr val="FFFFFF"/>
                        </a:solidFill>
                        <a:latin typeface="游ゴシック"/>
                        <a:ea typeface="游ゴシック"/>
                      </a:endParaRPr>
                    </a:p>
                  </a:txBody>
                  <a:tcPr marL="36576" marR="36576" marT="0" marB="0" anchor="ctr">
                    <a:lnL w="6350">
                      <a:noFill/>
                    </a:lnL>
                    <a:lnR w="6350">
                      <a:solidFill>
                        <a:srgbClr val="FFFFFF"/>
                      </a:solidFill>
                    </a:lnR>
                    <a:lnT w="6350">
                      <a:noFill/>
                    </a:lnT>
                    <a:lnB w="6350">
                      <a:noFill/>
                    </a:lnB>
                    <a:solidFill>
                      <a:srgbClr val="0B3041"/>
                    </a:solidFill>
                  </a:tcPr>
                </a:tc>
                <a:tc>
                  <a:txBody>
                    <a:bodyPr/>
                    <a:lstStyle/>
                    <a:p>
                      <a:pPr algn="ctr" fontAlgn="ctr"/>
                      <a:r>
                        <a:rPr lang="ja-JP" altLang="en-US" sz="744" b="1" i="0" dirty="0">
                          <a:solidFill>
                            <a:srgbClr val="FFFFFF"/>
                          </a:solidFill>
                          <a:latin typeface="游ゴシック"/>
                          <a:ea typeface="游ゴシック"/>
                        </a:rPr>
                        <a:t>帳簿価額</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A6A6A6"/>
                      </a:solidFill>
                    </a:lnB>
                    <a:solidFill>
                      <a:srgbClr val="0B3041"/>
                    </a:solidFill>
                  </a:tcPr>
                </a:tc>
                <a:tc>
                  <a:txBody>
                    <a:bodyPr/>
                    <a:lstStyle/>
                    <a:p>
                      <a:pPr algn="ctr" fontAlgn="ctr"/>
                      <a:r>
                        <a:rPr lang="ja-JP" altLang="en-US" sz="744" b="1" i="0" dirty="0">
                          <a:solidFill>
                            <a:srgbClr val="FFFFFF"/>
                          </a:solidFill>
                          <a:latin typeface="游ゴシック"/>
                          <a:ea typeface="游ゴシック"/>
                        </a:rPr>
                        <a:t>売上高比</a:t>
                      </a:r>
                      <a:endParaRPr lang="ja-JP" altLang="en-US" sz="744" b="1" i="0" dirty="0">
                        <a:solidFill>
                          <a:srgbClr val="FFFFFF"/>
                        </a:solidFill>
                        <a:latin typeface="游ゴシック"/>
                        <a:ea typeface="游ゴシック"/>
                      </a:endParaRPr>
                    </a:p>
                  </a:txBody>
                  <a:tcPr marL="36576" marR="36576" marT="0" marB="0" anchor="ctr">
                    <a:lnL w="6350">
                      <a:noFill/>
                    </a:lnL>
                    <a:lnR w="6350">
                      <a:solidFill>
                        <a:srgbClr val="FFFFFF"/>
                      </a:solidFill>
                    </a:lnR>
                    <a:lnT w="6350">
                      <a:noFill/>
                    </a:lnT>
                    <a:lnB w="6350">
                      <a:noFill/>
                    </a:lnB>
                    <a:solidFill>
                      <a:srgbClr val="0B3041"/>
                    </a:solidFill>
                  </a:tcPr>
                </a:tc>
                <a:tc>
                  <a:txBody>
                    <a:bodyPr/>
                    <a:lstStyle/>
                    <a:p>
                      <a:pPr algn="ctr" fontAlgn="ctr"/>
                      <a:r>
                        <a:rPr lang="ja-JP" altLang="en-US" sz="744" b="1" i="0" dirty="0">
                          <a:solidFill>
                            <a:srgbClr val="FFFFFF"/>
                          </a:solidFill>
                          <a:latin typeface="游ゴシック"/>
                          <a:ea typeface="游ゴシック"/>
                        </a:rPr>
                        <a:t>帳簿価額</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solidFill>
                        <a:srgbClr val="A6A6A6"/>
                      </a:solidFill>
                    </a:lnB>
                    <a:solidFill>
                      <a:srgbClr val="727F88"/>
                    </a:solidFill>
                  </a:tcPr>
                </a:tc>
                <a:tc>
                  <a:txBody>
                    <a:bodyPr/>
                    <a:lstStyle/>
                    <a:p>
                      <a:pPr algn="ctr" fontAlgn="ctr"/>
                      <a:r>
                        <a:rPr lang="ja-JP" altLang="en-US" sz="744" b="1" i="0" dirty="0">
                          <a:solidFill>
                            <a:srgbClr val="FFFFFF"/>
                          </a:solidFill>
                          <a:latin typeface="游ゴシック"/>
                          <a:ea typeface="游ゴシック"/>
                        </a:rPr>
                        <a:t>売上高比</a:t>
                      </a:r>
                      <a:endParaRPr lang="ja-JP" altLang="en-US" sz="744" b="1" i="0" dirty="0">
                        <a:solidFill>
                          <a:srgbClr val="FFFFFF"/>
                        </a:solidFill>
                        <a:latin typeface="游ゴシック"/>
                        <a:ea typeface="游ゴシック"/>
                      </a:endParaRPr>
                    </a:p>
                  </a:txBody>
                  <a:tcPr marL="36576" marR="36576" marT="0" marB="0" anchor="ctr">
                    <a:lnL w="6350">
                      <a:noFill/>
                    </a:lnL>
                    <a:lnR w="6350">
                      <a:solidFill>
                        <a:srgbClr val="FFFFFF"/>
                      </a:solidFill>
                    </a:lnR>
                    <a:lnT w="6350">
                      <a:noFill/>
                    </a:lnT>
                    <a:lnB w="6350">
                      <a:noFill/>
                    </a:lnB>
                    <a:solidFill>
                      <a:srgbClr val="727F88"/>
                    </a:solidFill>
                  </a:tcPr>
                </a:tc>
              </a:tr>
              <a:tr h="136330">
                <a:tc>
                  <a:txBody>
                    <a:bodyPr/>
                    <a:lstStyle/>
                    <a:p>
                      <a:pPr algn="l" fontAlgn="ctr"/>
                      <a:r>
                        <a:rPr lang="ja-JP" altLang="en-US" sz="744" b="0" i="0" dirty="0">
                          <a:solidFill>
                            <a:srgbClr val="000000"/>
                          </a:solidFill>
                          <a:latin typeface="游ゴシック"/>
                          <a:ea typeface="游ゴシック"/>
                        </a:rPr>
                        <a:t>　　商品売上高</a:t>
                      </a:r>
                      <a:endParaRPr lang="ja-JP" altLang="en-US" sz="744" b="0" i="0" dirty="0">
                        <a:solidFill>
                          <a:srgbClr val="000000"/>
                        </a:solidFill>
                        <a:latin typeface="游ゴシック"/>
                        <a:ea typeface="游ゴシック"/>
                      </a:endParaRPr>
                    </a:p>
                  </a:txBody>
                  <a:tcPr marL="36576" marR="36576" marT="0" marB="0" anchor="ctr">
                    <a:lnL w="6350">
                      <a:solidFill>
                        <a:srgbClr val="FFFFFF"/>
                      </a:solidFill>
                    </a:lnL>
                    <a:lnR w="6350">
                      <a:noFill/>
                    </a:lnR>
                    <a:lnT w="6350">
                      <a:solidFill>
                        <a:srgbClr val="A6A6A6"/>
                      </a:solid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1,179,974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noFill/>
                    </a:lnB>
                    <a:noFill/>
                  </a:tcPr>
                </a:tc>
                <a:tc>
                  <a:txBody>
                    <a:bodyPr/>
                    <a:lstStyle/>
                    <a:p>
                      <a:pPr algn="r" fontAlgn="ctr"/>
                      <a:r>
                        <a:rPr lang="ja-JP" altLang="en-US" sz="744" b="0" i="0" dirty="0">
                          <a:solidFill>
                            <a:srgbClr val="000000"/>
                          </a:solidFill>
                          <a:latin typeface="Arial"/>
                          <a:ea typeface="游ゴシック Medium"/>
                        </a:rPr>
                        <a:t>　100.1%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1,183,309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noFill/>
                    </a:lnB>
                    <a:noFill/>
                  </a:tcPr>
                </a:tc>
                <a:tc>
                  <a:txBody>
                    <a:bodyPr/>
                    <a:lstStyle/>
                    <a:p>
                      <a:pPr algn="r" fontAlgn="ctr"/>
                      <a:r>
                        <a:rPr lang="ja-JP" altLang="en-US" sz="744" b="0" i="0" dirty="0">
                          <a:solidFill>
                            <a:srgbClr val="000000"/>
                          </a:solidFill>
                          <a:latin typeface="Arial"/>
                          <a:ea typeface="游ゴシック Medium"/>
                        </a:rPr>
                        <a:t>　100.1%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1,197,530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noFill/>
                    </a:lnB>
                    <a:noFill/>
                  </a:tcPr>
                </a:tc>
                <a:tc>
                  <a:txBody>
                    <a:bodyPr/>
                    <a:lstStyle/>
                    <a:p>
                      <a:pPr algn="r" fontAlgn="ctr"/>
                      <a:r>
                        <a:rPr lang="ja-JP" altLang="en-US" sz="744" b="0" i="0" dirty="0">
                          <a:solidFill>
                            <a:srgbClr val="000000"/>
                          </a:solidFill>
                          <a:latin typeface="Arial"/>
                          <a:ea typeface="游ゴシック Medium"/>
                        </a:rPr>
                        <a:t>　100.1%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568,871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A6A6A6"/>
                      </a:solidFill>
                    </a:lnT>
                    <a:lnB w="6350">
                      <a:noFill/>
                    </a:lnB>
                    <a:noFill/>
                  </a:tcPr>
                </a:tc>
                <a:tc>
                  <a:txBody>
                    <a:bodyPr/>
                    <a:lstStyle/>
                    <a:p>
                      <a:pPr algn="r" fontAlgn="ctr"/>
                      <a:r>
                        <a:rPr lang="ja-JP" altLang="en-US" sz="744" b="0" i="0" dirty="0">
                          <a:solidFill>
                            <a:srgbClr val="000000"/>
                          </a:solidFill>
                          <a:latin typeface="Arial"/>
                          <a:ea typeface="游ゴシック Medium"/>
                        </a:rPr>
                        <a:t>　91.6%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資材売上高</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5,369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資材売上（自社）</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9,474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主婦センター費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18,416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委託手数料収入</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19,959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売上割戻金</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solidFill>
                        <a:srgbClr val="0B3041"/>
                      </a:solidFill>
                    </a:lnB>
                    <a:solidFill>
                      <a:srgbClr val="E3E7E9"/>
                    </a:solidFill>
                  </a:tcPr>
                </a:tc>
                <a:tc>
                  <a:txBody>
                    <a:bodyPr/>
                    <a:lstStyle/>
                    <a:p>
                      <a:pPr algn="r" fontAlgn="ctr"/>
                      <a:r>
                        <a:rPr lang="ja-JP" altLang="en-US" sz="744" b="0" i="0" dirty="0">
                          <a:solidFill>
                            <a:srgbClr val="000000"/>
                          </a:solidFill>
                          <a:latin typeface="Arial"/>
                          <a:ea typeface="游ゴシック Medium"/>
                        </a:rPr>
                        <a:t>　△1,485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0" i="0" dirty="0">
                          <a:solidFill>
                            <a:srgbClr val="000000"/>
                          </a:solidFill>
                          <a:latin typeface="Arial"/>
                          <a:ea typeface="游ゴシック Medium"/>
                        </a:rPr>
                        <a:t>　△1,361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0" i="0" dirty="0">
                          <a:solidFill>
                            <a:srgbClr val="000000"/>
                          </a:solidFill>
                          <a:latin typeface="Arial"/>
                          <a:ea typeface="游ゴシック Medium"/>
                        </a:rPr>
                        <a:t>　△1,637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0" i="0" dirty="0">
                          <a:solidFill>
                            <a:srgbClr val="000000"/>
                          </a:solidFill>
                          <a:latin typeface="Arial"/>
                          <a:ea typeface="游ゴシック Medium"/>
                        </a:rPr>
                        <a:t>　△758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136330">
                <a:tc>
                  <a:txBody>
                    <a:bodyPr/>
                    <a:lstStyle/>
                    <a:p>
                      <a:pPr algn="l" fontAlgn="ctr"/>
                      <a:r>
                        <a:rPr lang="ja-JP" altLang="en-US" sz="744" b="1" i="0" dirty="0">
                          <a:solidFill>
                            <a:srgbClr val="000000"/>
                          </a:solidFill>
                          <a:latin typeface="游ゴシック"/>
                          <a:ea typeface="游ゴシック"/>
                        </a:rPr>
                        <a:t>　売上高</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1,178,489</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100.0%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1,181,947</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100.0%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1,195,893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100.0%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621,331</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100.0%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r>
              <a:tr h="136330">
                <a:tc>
                  <a:txBody>
                    <a:bodyPr/>
                    <a:lstStyle/>
                    <a:p>
                      <a:pPr algn="l" fontAlgn="ctr"/>
                      <a:r>
                        <a:rPr lang="ja-JP" altLang="en-US" sz="744" b="0" i="0" dirty="0">
                          <a:solidFill>
                            <a:srgbClr val="000000"/>
                          </a:solidFill>
                          <a:latin typeface="游ゴシック"/>
                          <a:ea typeface="游ゴシック"/>
                        </a:rPr>
                        <a:t>　　期首棚卸高</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15,470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9,860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15,444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14,597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仕入高</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953,298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80.9%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976,236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82.6%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996,035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83.3%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514,968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82.9%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期末棚卸高</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△9,860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△15,444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△14,597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△14,405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1" i="0" dirty="0">
                          <a:solidFill>
                            <a:srgbClr val="000000"/>
                          </a:solidFill>
                          <a:latin typeface="游ゴシック"/>
                          <a:ea typeface="游ゴシック"/>
                        </a:rPr>
                        <a:t>　　売上原価</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744" b="1" i="0" dirty="0">
                          <a:solidFill>
                            <a:srgbClr val="000000"/>
                          </a:solidFill>
                          <a:latin typeface="Arial"/>
                          <a:ea typeface="游ゴシック Medium"/>
                        </a:rPr>
                        <a:t>　958,909</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81.4%</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970,652</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82.1%</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996,882</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83.4%</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515,159</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82.9%</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r>
              <a:tr h="136330">
                <a:tc>
                  <a:txBody>
                    <a:bodyPr/>
                    <a:lstStyle/>
                    <a:p>
                      <a:pPr algn="l" fontAlgn="ctr"/>
                      <a:r>
                        <a:rPr lang="ja-JP" altLang="en-US" sz="744" b="1" i="0" dirty="0">
                          <a:solidFill>
                            <a:srgbClr val="000000"/>
                          </a:solidFill>
                          <a:latin typeface="游ゴシック"/>
                          <a:ea typeface="游ゴシック"/>
                        </a:rPr>
                        <a:t>　売上総利益</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219,580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18.6%</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211,296</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17.9%</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199,011</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16.6%</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106,172</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17.1%</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r>
              <a:tr h="136330">
                <a:tc>
                  <a:txBody>
                    <a:bodyPr/>
                    <a:lstStyle/>
                    <a:p>
                      <a:pPr algn="l" fontAlgn="ctr"/>
                      <a:r>
                        <a:rPr lang="ja-JP" altLang="en-US" sz="744" b="1" i="0" dirty="0">
                          <a:solidFill>
                            <a:srgbClr val="000000"/>
                          </a:solidFill>
                          <a:latin typeface="游ゴシック"/>
                          <a:ea typeface="游ゴシック"/>
                        </a:rPr>
                        <a:t>　　販売費及び一般管理費</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744" b="1" i="0" dirty="0">
                          <a:solidFill>
                            <a:srgbClr val="000000"/>
                          </a:solidFill>
                          <a:latin typeface="Arial"/>
                          <a:ea typeface="游ゴシック Medium"/>
                        </a:rPr>
                        <a:t>　214,823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18.2%</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215,718</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18.3%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193,151</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16.2%</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85,746</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13.8%</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136330">
                <a:tc>
                  <a:txBody>
                    <a:bodyPr/>
                    <a:lstStyle/>
                    <a:p>
                      <a:pPr algn="l" fontAlgn="ctr"/>
                      <a:r>
                        <a:rPr lang="ja-JP" altLang="en-US" sz="744" b="1" i="0" dirty="0">
                          <a:solidFill>
                            <a:srgbClr val="000000"/>
                          </a:solidFill>
                          <a:latin typeface="游ゴシック"/>
                          <a:ea typeface="游ゴシック"/>
                        </a:rPr>
                        <a:t>　営業利益</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4,757</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0.4%</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△4,423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-0.4%</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5,860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0.5%</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20,426</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3.3%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r>
              <a:tr h="136330">
                <a:tc>
                  <a:txBody>
                    <a:bodyPr/>
                    <a:lstStyle/>
                    <a:p>
                      <a:pPr algn="l" fontAlgn="ctr"/>
                      <a:r>
                        <a:rPr lang="ja-JP" altLang="en-US" sz="744" b="1" i="0" dirty="0">
                          <a:solidFill>
                            <a:srgbClr val="000000"/>
                          </a:solidFill>
                          <a:latin typeface="游ゴシック"/>
                          <a:ea typeface="游ゴシック"/>
                        </a:rPr>
                        <a:t>　　営業外収益</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744" b="1" i="0" dirty="0">
                          <a:solidFill>
                            <a:srgbClr val="000000"/>
                          </a:solidFill>
                          <a:latin typeface="Arial"/>
                          <a:ea typeface="游ゴシック Medium"/>
                        </a:rPr>
                        <a:t>　10,628</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0.9%</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10,737</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0.9%</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6,578</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0.6%</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2,830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0.5%</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136330">
                <a:tc>
                  <a:txBody>
                    <a:bodyPr/>
                    <a:lstStyle/>
                    <a:p>
                      <a:pPr algn="l" fontAlgn="ctr"/>
                      <a:r>
                        <a:rPr lang="ja-JP" altLang="en-US" sz="744" b="0" i="0" dirty="0">
                          <a:solidFill>
                            <a:srgbClr val="000000"/>
                          </a:solidFill>
                          <a:latin typeface="游ゴシック"/>
                          <a:ea typeface="游ゴシック"/>
                        </a:rPr>
                        <a:t>　　　受取利息</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85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267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162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受取配当金</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31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受取延滞料</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170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147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59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受取奨励金</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2,284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2,407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2,513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1,184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受取運賃・配達収入</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163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雑収入</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8,142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8,067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3,670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1,231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1" i="0" dirty="0">
                          <a:solidFill>
                            <a:srgbClr val="000000"/>
                          </a:solidFill>
                          <a:latin typeface="游ゴシック"/>
                          <a:ea typeface="游ゴシック"/>
                        </a:rPr>
                        <a:t>　　営業外費用</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744" b="1" i="0" dirty="0">
                          <a:solidFill>
                            <a:srgbClr val="000000"/>
                          </a:solidFill>
                          <a:latin typeface="Arial"/>
                          <a:ea typeface="游ゴシック Medium"/>
                        </a:rPr>
                        <a:t>　4,068</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4,133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4,370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0.4%</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2,090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136330">
                <a:tc>
                  <a:txBody>
                    <a:bodyPr/>
                    <a:lstStyle/>
                    <a:p>
                      <a:pPr algn="l" fontAlgn="ctr"/>
                      <a:r>
                        <a:rPr lang="ja-JP" altLang="en-US" sz="744" b="0" i="0" dirty="0">
                          <a:solidFill>
                            <a:srgbClr val="000000"/>
                          </a:solidFill>
                          <a:latin typeface="游ゴシック"/>
                          <a:ea typeface="游ゴシック"/>
                        </a:rPr>
                        <a:t>　　　支払利息</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3,962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4,041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3,896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2,090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出荷奨励金</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106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雑損失</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379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1" i="0" dirty="0">
                          <a:solidFill>
                            <a:srgbClr val="000000"/>
                          </a:solidFill>
                          <a:latin typeface="游ゴシック"/>
                          <a:ea typeface="游ゴシック"/>
                        </a:rPr>
                        <a:t>　経常利益</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11,317</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2,181</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0.2%</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8,068</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0.7%</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21,166</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3.4%</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r>
              <a:tr h="136330">
                <a:tc>
                  <a:txBody>
                    <a:bodyPr/>
                    <a:lstStyle/>
                    <a:p>
                      <a:pPr algn="l" fontAlgn="ctr"/>
                      <a:r>
                        <a:rPr lang="ja-JP" altLang="en-US" sz="744" b="1" i="0" dirty="0">
                          <a:solidFill>
                            <a:srgbClr val="000000"/>
                          </a:solidFill>
                          <a:latin typeface="游ゴシック"/>
                          <a:ea typeface="游ゴシック"/>
                        </a:rPr>
                        <a:t>　　特別利益</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744" b="1" i="0" dirty="0">
                          <a:solidFill>
                            <a:srgbClr val="000000"/>
                          </a:solidFill>
                          <a:latin typeface="Arial"/>
                          <a:ea typeface="游ゴシック Medium"/>
                        </a:rPr>
                        <a:t>　1,887</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0.2%</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1,846</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0.2%</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234</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r>
              <a:tr h="136330">
                <a:tc>
                  <a:txBody>
                    <a:bodyPr/>
                    <a:lstStyle/>
                    <a:p>
                      <a:pPr algn="l" fontAlgn="ctr"/>
                      <a:r>
                        <a:rPr lang="ja-JP" altLang="en-US" sz="744" b="0" i="0" dirty="0">
                          <a:solidFill>
                            <a:srgbClr val="000000"/>
                          </a:solidFill>
                          <a:latin typeface="游ゴシック"/>
                          <a:ea typeface="游ゴシック"/>
                        </a:rPr>
                        <a:t>　　　固定資産売却益</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1,711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1,609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貸倒引当金戻入</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176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237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234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1" i="0" dirty="0">
                          <a:solidFill>
                            <a:srgbClr val="000000"/>
                          </a:solidFill>
                          <a:latin typeface="游ゴシック"/>
                          <a:ea typeface="游ゴシック"/>
                        </a:rPr>
                        <a:t>　　特別損失</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744" b="1" i="0" dirty="0">
                          <a:solidFill>
                            <a:srgbClr val="000000"/>
                          </a:solidFill>
                          <a:latin typeface="Arial"/>
                          <a:ea typeface="游ゴシック Medium"/>
                        </a:rPr>
                        <a:t>　439</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234</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21,103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1.8%</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noFill/>
                  </a:tcPr>
                </a:tc>
              </a:tr>
              <a:tr h="136330">
                <a:tc>
                  <a:txBody>
                    <a:bodyPr/>
                    <a:lstStyle/>
                    <a:p>
                      <a:pPr algn="l" fontAlgn="ctr"/>
                      <a:r>
                        <a:rPr lang="ja-JP" altLang="en-US" sz="744" b="0" i="0" dirty="0">
                          <a:solidFill>
                            <a:srgbClr val="000000"/>
                          </a:solidFill>
                          <a:latin typeface="游ゴシック"/>
                          <a:ea typeface="游ゴシック"/>
                        </a:rPr>
                        <a:t>　　　固定資産売却除却損</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202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貸倒引当金繰入</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237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234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0" i="0" dirty="0">
                          <a:solidFill>
                            <a:srgbClr val="000000"/>
                          </a:solidFill>
                          <a:latin typeface="游ゴシック"/>
                          <a:ea typeface="游ゴシック"/>
                        </a:rPr>
                        <a:t>　　　前期損益修正損</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20,900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36330">
                <a:tc>
                  <a:txBody>
                    <a:bodyPr/>
                    <a:lstStyle/>
                    <a:p>
                      <a:pPr algn="l" fontAlgn="ctr"/>
                      <a:r>
                        <a:rPr lang="ja-JP" altLang="en-US" sz="744" b="1" i="0" dirty="0">
                          <a:solidFill>
                            <a:srgbClr val="000000"/>
                          </a:solidFill>
                          <a:latin typeface="游ゴシック"/>
                          <a:ea typeface="游ゴシック"/>
                        </a:rPr>
                        <a:t>　税引前当期純利益</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12,765</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1.1%</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3,793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0.3%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△12,801</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-1.1%</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21,166</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3.4%</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r>
              <a:tr h="136330">
                <a:tc>
                  <a:txBody>
                    <a:bodyPr/>
                    <a:lstStyle/>
                    <a:p>
                      <a:pPr algn="l" fontAlgn="ctr"/>
                      <a:r>
                        <a:rPr lang="ja-JP" altLang="en-US" sz="744" b="1" i="0" dirty="0">
                          <a:solidFill>
                            <a:srgbClr val="000000"/>
                          </a:solidFill>
                          <a:latin typeface="游ゴシック"/>
                          <a:ea typeface="游ゴシック"/>
                        </a:rPr>
                        <a:t>　　法人税等</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3E7E9"/>
                    </a:solidFill>
                  </a:tcPr>
                </a:tc>
                <a:tc>
                  <a:txBody>
                    <a:bodyPr/>
                    <a:lstStyle/>
                    <a:p>
                      <a:pPr algn="r" fontAlgn="ctr"/>
                      <a:r>
                        <a:rPr lang="ja-JP" altLang="en-US" sz="744" b="1" i="0" dirty="0">
                          <a:solidFill>
                            <a:srgbClr val="000000"/>
                          </a:solidFill>
                          <a:latin typeface="Arial"/>
                          <a:ea typeface="游ゴシック Medium"/>
                        </a:rPr>
                        <a:t>　3,658</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864</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0.1%</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2,283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0.2%</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r>
                        <a:rPr lang="ja-JP" altLang="en-US" sz="744" b="1" i="0" dirty="0">
                          <a:solidFill>
                            <a:srgbClr val="000000"/>
                          </a:solidFill>
                          <a:latin typeface="Arial"/>
                          <a:ea typeface="游ゴシック Medium"/>
                        </a:rPr>
                        <a:t>　0</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c>
                  <a:txBody>
                    <a:bodyPr/>
                    <a:lstStyle/>
                    <a:p>
                      <a:pPr algn="r" fontAlgn="ct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noFill/>
                  </a:tcPr>
                </a:tc>
              </a:tr>
              <a:tr h="136330">
                <a:tc>
                  <a:txBody>
                    <a:bodyPr/>
                    <a:lstStyle/>
                    <a:p>
                      <a:pPr algn="l" fontAlgn="ctr"/>
                      <a:r>
                        <a:rPr lang="ja-JP" altLang="en-US" sz="744" b="1" i="0" dirty="0">
                          <a:solidFill>
                            <a:srgbClr val="000000"/>
                          </a:solidFill>
                          <a:latin typeface="游ゴシック"/>
                          <a:ea typeface="游ゴシック"/>
                        </a:rPr>
                        <a:t>　税引後当期純利益</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9,107</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0.8%</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2,929</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0.2%</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△15,085</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21,166</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3.4%</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solidFill>
                        <a:srgbClr val="0B3041"/>
                      </a:solidFill>
                    </a:lnB>
                    <a:solidFill>
                      <a:srgbClr val="E1F3FB"/>
                    </a:solidFill>
                  </a:tcPr>
                </a:tc>
              </a:tr>
            </a:tbl>
          </a:graphicData>
        </a:graphic>
      </p:graphicFrame>
    </p:spTree>
    <p:extLst>
      <p:ext uri="{BB962C8B-B14F-4D97-AF65-F5344CB8AC3E}">
        <p14:creationId xmlns:p14="http://schemas.microsoft.com/office/powerpoint/2010/main" val="37409429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11451-02A5-56C7-8AF6-DBDAA7CFCC10}"/>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F326988B-EA79-EED8-C9CB-DD122747A00F}"/>
              </a:ext>
            </a:extLst>
          </p:cNvPr>
          <p:cNvSpPr>
            <a:spLocks noGrp="1"/>
          </p:cNvSpPr>
          <p:nvPr>
            <p:ph type="ctrTitle"/>
          </p:nvPr>
        </p:nvSpPr>
        <p:spPr>
          <a:xfrm>
            <a:off x="311150" y="180296"/>
            <a:ext cx="7799917" cy="339267"/>
          </a:xfrm>
        </p:spPr>
        <p:txBody>
          <a:bodyPr>
            <a:normAutofit/>
          </a:bodyPr>
          <a:lstStyle/>
          <a:p>
            <a:r>
              <a:rPr lang="ja-JP" altLang="en-US" dirty="0"/>
              <a:t>販売費及び一般管理費</a:t>
            </a:r>
          </a:p>
        </p:txBody>
      </p:sp>
      <p:sp>
        <p:nvSpPr>
          <p:cNvPr id="5" name="タイトル 1">
            <a:extLst>
              <a:ext uri="{FF2B5EF4-FFF2-40B4-BE49-F238E27FC236}">
                <a16:creationId xmlns:a16="http://schemas.microsoft.com/office/drawing/2014/main" id="{7691939A-6180-3920-2B7D-F305819429C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財務情報詳細</a:t>
            </a:r>
          </a:p>
        </p:txBody>
      </p:sp>
      <p:sp>
        <p:nvSpPr>
          <p:cNvPr id="4" name="字幕 13">
            <a:extLst>
              <a:ext uri="{FF2B5EF4-FFF2-40B4-BE49-F238E27FC236}">
                <a16:creationId xmlns:a16="http://schemas.microsoft.com/office/drawing/2014/main" id="{7F8A1EE0-ADF4-993B-FF72-FBEC016B82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販管費は約2億円で、人件費（約105百万円）と運賃・車両関連費（約39百万円）が中心。</a:t>
            </a:r>
          </a:p>
        </p:txBody>
      </p:sp>
      <p:sp>
        <p:nvSpPr>
          <p:cNvPr id="2" name="正方形/長方形 1">
            <a:extLst>
              <a:ext uri="{FF2B5EF4-FFF2-40B4-BE49-F238E27FC236}">
                <a16:creationId xmlns:a16="http://schemas.microsoft.com/office/drawing/2014/main" id="{CBEBB478-5E89-4238-4A34-967912E35C60}"/>
              </a:ext>
            </a:extLst>
          </p:cNvPr>
          <p:cNvSpPr/>
          <p:nvPr/>
        </p:nvSpPr>
        <p:spPr>
          <a:xfrm>
            <a:off x="7132320" y="1325880"/>
            <a:ext cx="3246120" cy="55778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3" name="テキスト ボックス 2">
            <a:extLst>
              <a:ext uri="{FF2B5EF4-FFF2-40B4-BE49-F238E27FC236}">
                <a16:creationId xmlns:a16="http://schemas.microsoft.com/office/drawing/2014/main" id="{6BA87817-38E4-3F47-34EB-C9702B87B984}"/>
              </a:ext>
            </a:extLst>
          </p:cNvPr>
          <p:cNvSpPr txBox="1"/>
          <p:nvPr/>
        </p:nvSpPr>
        <p:spPr>
          <a:xfrm>
            <a:off x="7132320" y="1874519"/>
            <a:ext cx="3227832" cy="4937760"/>
          </a:xfrm>
          <a:prstGeom prst="rect">
            <a:avLst/>
          </a:prstGeom>
          <a:noFill/>
        </p:spPr>
        <p:txBody>
          <a:bodyPr wrap="square" lIns="288000" tIns="0" rIns="252000" bIns="0" rtlCol="0">
            <a:spAutoFit/>
          </a:bodyPr>
          <a:lstStyle/>
          <a:p>
            <a:pPr>
              <a:spcAft>
                <a:spcPts val="200"/>
              </a:spcAft>
            </a:pPr>
            <a:r>
              <a:rPr lang="ja-JP" altLang="en-US" sz="900" b="1" dirty="0">
                <a:solidFill>
                  <a:sysClr val="windowText" lastClr="000000"/>
                </a:solidFill>
                <a:latin typeface="游ゴシック"/>
                <a:ea typeface="游ゴシック"/>
              </a:rPr>
              <a:t>≪人件費≫</a:t>
            </a:r>
          </a:p>
          <a:p>
            <a:pPr>
              <a:spcAft>
                <a:spcPts val="200"/>
              </a:spcAft>
            </a:pPr>
            <a:r>
              <a:rPr lang="ja-JP" altLang="en-US" sz="800" b="0" dirty="0">
                <a:solidFill>
                  <a:sysClr val="windowText" lastClr="000000"/>
                </a:solidFill>
                <a:latin typeface="游ゴシック"/>
                <a:ea typeface="游ゴシック"/>
              </a:rPr>
              <a:t>・役員報酬は22,200→15,360千円に減少。賞与規定はなく業績に応じて支給（2026/3期は支給なし）。</a:t>
            </a:r>
          </a:p>
          <a:p>
            <a:pPr>
              <a:spcAft>
                <a:spcPts val="200"/>
              </a:spcAft>
            </a:pPr>
            <a:r>
              <a:rPr lang="ja-JP" altLang="en-US" sz="800" b="0" dirty="0">
                <a:solidFill>
                  <a:sysClr val="windowText" lastClr="000000"/>
                </a:solidFill>
                <a:latin typeface="游ゴシック"/>
                <a:ea typeface="游ゴシック"/>
              </a:rPr>
              <a:t>・進行期は役員報酬・給料手当等が前年同期比△6,338千円。2026年10月の最低賃金改定に伴い給与を改定（影響額は要確認）。</a:t>
            </a:r>
          </a:p>
          <a:p>
            <a:pPr>
              <a:spcAft>
                <a:spcPts val="200"/>
              </a:spcAft>
            </a:pPr>
            <a:r>
              <a:rPr lang="ja-JP" altLang="en-US" sz="800" b="0" dirty="0">
                <a:solidFill>
                  <a:sysClr val="windowText" lastClr="000000"/>
                </a:solidFill>
                <a:latin typeface="游ゴシック"/>
                <a:ea typeface="游ゴシック"/>
              </a:rPr>
              <a:t>・退職金は中退共・オリックス生命で外部積立。</a:t>
            </a:r>
          </a:p>
          <a:p>
            <a:pPr>
              <a:spcAft>
                <a:spcPts val="200"/>
              </a:spcAft>
            </a:pPr>
            <a:r>
              <a:rPr lang="ja-JP" altLang="en-US" sz="900" b="1" dirty="0">
                <a:solidFill>
                  <a:sysClr val="windowText" lastClr="000000"/>
                </a:solidFill>
                <a:latin typeface="游ゴシック"/>
                <a:ea typeface="游ゴシック"/>
              </a:rPr>
              <a:t>≪運賃・車両関連費≫</a:t>
            </a:r>
          </a:p>
          <a:p>
            <a:pPr>
              <a:spcAft>
                <a:spcPts val="200"/>
              </a:spcAft>
            </a:pPr>
            <a:r>
              <a:rPr lang="ja-JP" altLang="en-US" sz="800" b="0" dirty="0">
                <a:solidFill>
                  <a:sysClr val="windowText" lastClr="000000"/>
                </a:solidFill>
                <a:latin typeface="游ゴシック"/>
                <a:ea typeface="游ゴシック"/>
              </a:rPr>
              <a:t>・自社配送に伴う費用（東京向け出荷等の一部のみ外部運送）。車両は自己所有（償却済み）とリース（年約6百万円）を併用。</a:t>
            </a:r>
          </a:p>
          <a:p>
            <a:pPr>
              <a:spcAft>
                <a:spcPts val="200"/>
              </a:spcAft>
            </a:pPr>
            <a:r>
              <a:rPr lang="ja-JP" altLang="en-US" sz="900" b="1" dirty="0">
                <a:solidFill>
                  <a:sysClr val="windowText" lastClr="000000"/>
                </a:solidFill>
                <a:latin typeface="游ゴシック"/>
                <a:ea typeface="游ゴシック"/>
              </a:rPr>
              <a:t>≪租税公課・消費税引当金≫</a:t>
            </a:r>
          </a:p>
          <a:p>
            <a:pPr>
              <a:spcAft>
                <a:spcPts val="200"/>
              </a:spcAft>
            </a:pPr>
            <a:r>
              <a:rPr lang="ja-JP" altLang="en-US" sz="800" b="0" dirty="0">
                <a:solidFill>
                  <a:sysClr val="windowText" lastClr="000000"/>
                </a:solidFill>
                <a:latin typeface="游ゴシック"/>
                <a:ea typeface="游ゴシック"/>
              </a:rPr>
              <a:t>・消費税は税込経理。決算では納付額を租税公課、試算表では消費税引当金に計上。</a:t>
            </a:r>
          </a:p>
          <a:p>
            <a:pPr>
              <a:spcAft>
                <a:spcPts val="200"/>
              </a:spcAft>
            </a:pPr>
            <a:r>
              <a:rPr lang="ja-JP" altLang="en-US" sz="900" b="1" dirty="0">
                <a:solidFill>
                  <a:sysClr val="windowText" lastClr="000000"/>
                </a:solidFill>
                <a:latin typeface="游ゴシック"/>
                <a:ea typeface="游ゴシック"/>
              </a:rPr>
              <a:t>≪減価償却費≫</a:t>
            </a:r>
          </a:p>
          <a:p>
            <a:pPr>
              <a:spcAft>
                <a:spcPts val="200"/>
              </a:spcAft>
            </a:pPr>
            <a:r>
              <a:rPr lang="ja-JP" altLang="en-US" sz="800" b="0" dirty="0">
                <a:solidFill>
                  <a:sysClr val="windowText" lastClr="000000"/>
                </a:solidFill>
                <a:latin typeface="游ゴシック"/>
                <a:ea typeface="游ゴシック"/>
              </a:rPr>
              <a:t>・13,664→8,879千円へ減少（車両等の償却終了）。進行期は月次で概算計上。</a:t>
            </a:r>
          </a:p>
        </p:txBody>
      </p:sp>
      <p:graphicFrame>
        <p:nvGraphicFramePr>
          <p:cNvPr id="14" name="表（SGA!B2:L40）"/>
          <p:cNvGraphicFramePr>
            <a:graphicFrameLocks noGrp="1"/>
          </p:cNvGraphicFramePr>
          <p:nvPr/>
        </p:nvGraphicFramePr>
        <p:xfrm>
          <a:off x="310896" y="1371600"/>
          <a:ext cx="6675112" cy="5257776"/>
        </p:xfrm>
        <a:graphic>
          <a:graphicData uri="http://schemas.openxmlformats.org/drawingml/2006/table">
            <a:tbl>
              <a:tblPr firstRow="0" bandRow="0">
                <a:tableStyleId>{2D5ABB26-0587-4C30-8999-92F81FD0307C}</a:tableStyleId>
              </a:tblPr>
              <a:tblGrid>
                <a:gridCol w="1508800"/>
                <a:gridCol w="645789"/>
                <a:gridCol w="645789"/>
                <a:gridCol w="645789"/>
                <a:gridCol w="645789"/>
                <a:gridCol w="645789"/>
                <a:gridCol w="645789"/>
                <a:gridCol w="645789"/>
                <a:gridCol w="645789"/>
              </a:tblGrid>
              <a:tr h="138801">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solidFill>
                        <a:srgbClr val="FFFFFF"/>
                      </a:solidFill>
                    </a:lnL>
                    <a:lnR w="6350">
                      <a:noFill/>
                    </a:lnR>
                    <a:lnT w="6350">
                      <a:noFill/>
                    </a:lnT>
                    <a:lnB w="6350">
                      <a:noFill/>
                    </a:lnB>
                    <a:noFill/>
                  </a:tcPr>
                </a:tc>
                <a:tc>
                  <a:txBody>
                    <a:bodyPr/>
                    <a:lstStyle/>
                    <a:p>
                      <a:pPr algn="r" fontAlgn="ctr"/>
                      <a:endParaRPr lang="ja-JP" altLang="en-US" sz="682"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solidFill>
                        <a:srgbClr val="FFFFFF"/>
                      </a:solidFill>
                    </a:lnL>
                    <a:lnR w="6350">
                      <a:noFill/>
                    </a:lnR>
                    <a:lnT w="6350">
                      <a:noFill/>
                    </a:lnT>
                    <a:lnB w="6350">
                      <a:noFill/>
                    </a:lnB>
                    <a:noFill/>
                  </a:tcPr>
                </a:tc>
                <a:tc>
                  <a:txBody>
                    <a:bodyPr/>
                    <a:lstStyle/>
                    <a:p>
                      <a:pPr algn="r" fontAlgn="ctr"/>
                      <a:r>
                        <a:rPr lang="ja-JP" altLang="en-US" sz="682" b="0" i="0" dirty="0">
                          <a:solidFill>
                            <a:srgbClr val="000000"/>
                          </a:solidFill>
                          <a:latin typeface="游ゴシック"/>
                          <a:ea typeface="游ゴシック"/>
                        </a:rPr>
                        <a:t>(単位：千円)</a:t>
                      </a:r>
                      <a:endParaRPr lang="ja-JP" altLang="en-US" sz="682"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144353">
                <a:tc rowSpan="2">
                  <a:txBody>
                    <a:bodyPr/>
                    <a:lstStyle/>
                    <a:p>
                      <a:pPr algn="ctr" fontAlgn="ctr"/>
                      <a:r>
                        <a:rPr lang="ja-JP" altLang="en-US" sz="744" b="1" i="0" dirty="0">
                          <a:solidFill>
                            <a:srgbClr val="FFFFFF"/>
                          </a:solidFill>
                          <a:latin typeface="游ゴシック"/>
                          <a:ea typeface="游ゴシック"/>
                        </a:rPr>
                        <a:t>科目</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0B3041"/>
                    </a:solidFill>
                  </a:tcPr>
                </a:tc>
                <a:tc gridSpan="2">
                  <a:txBody>
                    <a:bodyPr/>
                    <a:lstStyle/>
                    <a:p>
                      <a:pPr algn="ctr" fontAlgn="ctr"/>
                      <a:r>
                        <a:rPr lang="ja-JP" altLang="en-US" sz="744" b="1" i="0" dirty="0">
                          <a:solidFill>
                            <a:srgbClr val="FFFFFF"/>
                          </a:solidFill>
                          <a:latin typeface="游ゴシック"/>
                          <a:ea typeface="游ゴシック"/>
                        </a:rPr>
                        <a:t>24年3月期</a:t>
                      </a:r>
                      <a:endParaRPr lang="ja-JP" altLang="en-US" sz="744" b="1" i="0" dirty="0">
                        <a:solidFill>
                          <a:srgbClr val="FFFFFF"/>
                        </a:solidFill>
                        <a:latin typeface="游ゴシック"/>
                        <a:ea typeface="游ゴシック"/>
                      </a:endParaRPr>
                    </a:p>
                  </a:txBody>
                  <a:tcPr marL="36576" marR="36576" marT="0" marB="0" anchor="ctr">
                    <a:lnL w="6350">
                      <a:noFill/>
                    </a:lnL>
                    <a:lnR w="12700">
                      <a:solidFill>
                        <a:srgbClr val="FFFFFF"/>
                      </a:solidFill>
                    </a:lnR>
                    <a:lnT w="6350">
                      <a:noFill/>
                    </a:lnT>
                    <a:lnB w="6350">
                      <a:noFill/>
                    </a:lnB>
                    <a:solidFill>
                      <a:srgbClr val="0B3041"/>
                    </a:solidFill>
                  </a:tcPr>
                </a:tc>
                <a:tc hMerge="1">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noFill/>
                    </a:lnB>
                    <a:noFill/>
                  </a:tcPr>
                </a:tc>
                <a:tc gridSpan="2">
                  <a:txBody>
                    <a:bodyPr/>
                    <a:lstStyle/>
                    <a:p>
                      <a:pPr algn="ctr" fontAlgn="ctr"/>
                      <a:r>
                        <a:rPr lang="ja-JP" altLang="en-US" sz="744" b="1" i="0" dirty="0">
                          <a:solidFill>
                            <a:srgbClr val="FFFFFF"/>
                          </a:solidFill>
                          <a:latin typeface="游ゴシック"/>
                          <a:ea typeface="游ゴシック"/>
                        </a:rPr>
                        <a:t>25年3月期</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noFill/>
                    </a:lnT>
                    <a:lnB w="6350">
                      <a:solidFill>
                        <a:srgbClr val="FFFFFF"/>
                      </a:solidFill>
                    </a:lnB>
                    <a:solidFill>
                      <a:srgbClr val="0B3041"/>
                    </a:solidFill>
                  </a:tcPr>
                </a:tc>
                <a:tc hMerge="1">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solidFill>
                        <a:srgbClr val="FFFFFF"/>
                      </a:solidFill>
                    </a:lnB>
                    <a:noFill/>
                  </a:tcPr>
                </a:tc>
                <a:tc gridSpan="2">
                  <a:txBody>
                    <a:bodyPr/>
                    <a:lstStyle/>
                    <a:p>
                      <a:pPr algn="ctr" fontAlgn="ctr"/>
                      <a:r>
                        <a:rPr lang="ja-JP" altLang="en-US" sz="744" b="1" i="0" dirty="0">
                          <a:solidFill>
                            <a:srgbClr val="FFFFFF"/>
                          </a:solidFill>
                          <a:latin typeface="游ゴシック"/>
                          <a:ea typeface="游ゴシック"/>
                        </a:rPr>
                        <a:t>26年3月期</a:t>
                      </a:r>
                      <a:endParaRPr lang="ja-JP" altLang="en-US" sz="744" b="1" i="0" dirty="0">
                        <a:solidFill>
                          <a:srgbClr val="FFFFFF"/>
                        </a:solidFill>
                        <a:latin typeface="游ゴシック"/>
                        <a:ea typeface="游ゴシック"/>
                      </a:endParaRPr>
                    </a:p>
                  </a:txBody>
                  <a:tcPr marL="36576" marR="36576" marT="0" marB="0" anchor="ctr">
                    <a:lnL w="6350">
                      <a:noFill/>
                    </a:lnL>
                    <a:lnR w="12700">
                      <a:solidFill>
                        <a:srgbClr val="FFFFFF"/>
                      </a:solidFill>
                    </a:lnR>
                    <a:lnT w="6350">
                      <a:noFill/>
                    </a:lnT>
                    <a:lnB w="6350">
                      <a:solidFill>
                        <a:srgbClr val="FFFFFF"/>
                      </a:solidFill>
                    </a:lnB>
                    <a:solidFill>
                      <a:srgbClr val="0B3041"/>
                    </a:solidFill>
                  </a:tcPr>
                </a:tc>
                <a:tc hMerge="1">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solidFill>
                        <a:srgbClr val="FFFFFF"/>
                      </a:solidFill>
                    </a:lnB>
                    <a:noFill/>
                  </a:tcPr>
                </a:tc>
                <a:tc gridSpan="2">
                  <a:txBody>
                    <a:bodyPr/>
                    <a:lstStyle/>
                    <a:p>
                      <a:pPr algn="ctr" fontAlgn="ctr"/>
                      <a:r>
                        <a:rPr lang="ja-JP" altLang="en-US" sz="744" b="1" i="0" dirty="0">
                          <a:solidFill>
                            <a:srgbClr val="FFFFFF"/>
                          </a:solidFill>
                          <a:latin typeface="游ゴシック"/>
                          <a:ea typeface="游ゴシック"/>
                        </a:rPr>
                        <a:t>27年3月期</a:t>
                      </a:r>
                      <a:endParaRPr lang="ja-JP" altLang="en-US" sz="744" b="1" i="0" dirty="0">
                        <a:solidFill>
                          <a:srgbClr val="FFFFFF"/>
                        </a:solidFill>
                        <a:latin typeface="游ゴシック"/>
                        <a:ea typeface="游ゴシック"/>
                      </a:endParaRPr>
                    </a:p>
                    <a:p>
                      <a:pPr algn="ctr" fontAlgn="ctr"/>
                      <a:r>
                        <a:rPr lang="ja-JP" altLang="en-US" sz="744" b="1" i="0" dirty="0">
                          <a:solidFill>
                            <a:srgbClr val="FFFFFF"/>
                          </a:solidFill>
                          <a:latin typeface="游ゴシック"/>
                          <a:ea typeface="游ゴシック"/>
                        </a:rPr>
                        <a:t>4〜9月TB</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12700">
                      <a:solidFill>
                        <a:srgbClr val="FFFFFF"/>
                      </a:solidFill>
                    </a:lnR>
                    <a:lnT w="6350">
                      <a:noFill/>
                    </a:lnT>
                    <a:lnB w="6350">
                      <a:solidFill>
                        <a:srgbClr val="FFFFFF"/>
                      </a:solidFill>
                    </a:lnB>
                    <a:solidFill>
                      <a:srgbClr val="727F88"/>
                    </a:solidFill>
                  </a:tcPr>
                </a:tc>
                <a:tc hMerge="1">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solidFill>
                        <a:srgbClr val="FFFFFF"/>
                      </a:solidFill>
                    </a:lnB>
                    <a:noFill/>
                  </a:tcPr>
                </a:tc>
              </a:tr>
              <a:tr h="144353">
                <a:tc vMerge="1">
                  <a:txBody>
                    <a:bodyPr/>
                    <a:lstStyle/>
                    <a:p>
                      <a:pPr algn="l" fontAlgn="ctr"/>
                      <a:endParaRPr lang="ja-JP" altLang="en-US" sz="682" b="0" i="0" dirty="0">
                        <a:solidFill>
                          <a:srgbClr val="000000"/>
                        </a:solidFill>
                        <a:latin typeface="游ゴシック Medium"/>
                        <a:ea typeface="游ゴシック"/>
                      </a:endParaRPr>
                    </a:p>
                  </a:txBody>
                  <a:tcPr marL="36576" marR="36576" marT="0" marB="0" anchor="ctr">
                    <a:lnL w="6350">
                      <a:solidFill>
                        <a:srgbClr val="FFFFFF"/>
                      </a:solidFill>
                    </a:lnL>
                    <a:lnR w="6350">
                      <a:noFill/>
                    </a:lnR>
                    <a:lnT w="6350">
                      <a:noFill/>
                    </a:lnT>
                    <a:lnB w="6350">
                      <a:noFill/>
                    </a:lnB>
                    <a:noFill/>
                  </a:tcPr>
                </a:tc>
                <a:tc>
                  <a:txBody>
                    <a:bodyPr/>
                    <a:lstStyle/>
                    <a:p>
                      <a:pPr algn="ctr" fontAlgn="ctr"/>
                      <a:r>
                        <a:rPr lang="ja-JP" altLang="en-US" sz="744" b="1" i="0" dirty="0">
                          <a:solidFill>
                            <a:srgbClr val="FFFFFF"/>
                          </a:solidFill>
                          <a:latin typeface="游ゴシック"/>
                          <a:ea typeface="游ゴシック"/>
                        </a:rPr>
                        <a:t>帳簿価額</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744" b="1" i="0" dirty="0">
                          <a:solidFill>
                            <a:srgbClr val="FFFFFF"/>
                          </a:solidFill>
                          <a:latin typeface="游ゴシック"/>
                          <a:ea typeface="游ゴシック"/>
                        </a:rPr>
                        <a:t>売上高比</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744" b="1" i="0" dirty="0">
                          <a:solidFill>
                            <a:srgbClr val="FFFFFF"/>
                          </a:solidFill>
                          <a:latin typeface="游ゴシック"/>
                          <a:ea typeface="游ゴシック"/>
                        </a:rPr>
                        <a:t>帳簿価額</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744" b="1" i="0" dirty="0">
                          <a:solidFill>
                            <a:srgbClr val="FFFFFF"/>
                          </a:solidFill>
                          <a:latin typeface="游ゴシック"/>
                          <a:ea typeface="游ゴシック"/>
                        </a:rPr>
                        <a:t>売上高比</a:t>
                      </a:r>
                      <a:endParaRPr lang="ja-JP" altLang="en-US" sz="744" b="1" i="0" dirty="0">
                        <a:solidFill>
                          <a:srgbClr val="FFFFFF"/>
                        </a:solidFill>
                        <a:latin typeface="游ゴシック"/>
                        <a:ea typeface="游ゴシック"/>
                      </a:endParaRPr>
                    </a:p>
                  </a:txBody>
                  <a:tcPr marL="36576" marR="36576" marT="0" marB="0" anchor="ctr">
                    <a:lnL w="6350">
                      <a:noFill/>
                    </a:lnL>
                    <a:lnR w="6350">
                      <a:solidFill>
                        <a:srgbClr val="FFFFFF"/>
                      </a:solidFill>
                    </a:lnR>
                    <a:lnT w="6350">
                      <a:noFill/>
                    </a:lnT>
                    <a:lnB w="6350">
                      <a:noFill/>
                    </a:lnB>
                    <a:solidFill>
                      <a:srgbClr val="0B3041"/>
                    </a:solidFill>
                  </a:tcPr>
                </a:tc>
                <a:tc>
                  <a:txBody>
                    <a:bodyPr/>
                    <a:lstStyle/>
                    <a:p>
                      <a:pPr algn="ctr" fontAlgn="ctr"/>
                      <a:r>
                        <a:rPr lang="ja-JP" altLang="en-US" sz="744" b="1" i="0" dirty="0">
                          <a:solidFill>
                            <a:srgbClr val="FFFFFF"/>
                          </a:solidFill>
                          <a:latin typeface="游ゴシック"/>
                          <a:ea typeface="游ゴシック"/>
                        </a:rPr>
                        <a:t>帳簿価額</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0B3041"/>
                    </a:solidFill>
                  </a:tcPr>
                </a:tc>
                <a:tc>
                  <a:txBody>
                    <a:bodyPr/>
                    <a:lstStyle/>
                    <a:p>
                      <a:pPr algn="ctr" fontAlgn="ctr"/>
                      <a:r>
                        <a:rPr lang="ja-JP" altLang="en-US" sz="744" b="1" i="0" dirty="0">
                          <a:solidFill>
                            <a:srgbClr val="FFFFFF"/>
                          </a:solidFill>
                          <a:latin typeface="游ゴシック"/>
                          <a:ea typeface="游ゴシック"/>
                        </a:rPr>
                        <a:t>売上高比</a:t>
                      </a:r>
                      <a:endParaRPr lang="ja-JP" altLang="en-US" sz="744" b="1" i="0" dirty="0">
                        <a:solidFill>
                          <a:srgbClr val="FFFFFF"/>
                        </a:solidFill>
                        <a:latin typeface="游ゴシック"/>
                        <a:ea typeface="游ゴシック"/>
                      </a:endParaRPr>
                    </a:p>
                  </a:txBody>
                  <a:tcPr marL="36576" marR="36576" marT="0" marB="0" anchor="ctr">
                    <a:lnL w="6350">
                      <a:noFill/>
                    </a:lnL>
                    <a:lnR w="6350">
                      <a:solidFill>
                        <a:srgbClr val="FFFFFF"/>
                      </a:solidFill>
                    </a:lnR>
                    <a:lnT w="6350">
                      <a:noFill/>
                    </a:lnT>
                    <a:lnB w="6350">
                      <a:noFill/>
                    </a:lnB>
                    <a:solidFill>
                      <a:srgbClr val="0B3041"/>
                    </a:solidFill>
                  </a:tcPr>
                </a:tc>
                <a:tc>
                  <a:txBody>
                    <a:bodyPr/>
                    <a:lstStyle/>
                    <a:p>
                      <a:pPr algn="ctr" fontAlgn="ctr"/>
                      <a:r>
                        <a:rPr lang="ja-JP" altLang="en-US" sz="744" b="1" i="0" dirty="0">
                          <a:solidFill>
                            <a:srgbClr val="FFFFFF"/>
                          </a:solidFill>
                          <a:latin typeface="游ゴシック"/>
                          <a:ea typeface="游ゴシック"/>
                        </a:rPr>
                        <a:t>帳簿価額</a:t>
                      </a:r>
                      <a:endParaRPr lang="ja-JP" altLang="en-US" sz="744" b="1" i="0" dirty="0">
                        <a:solidFill>
                          <a:srgbClr val="FFFFFF"/>
                        </a:solidFill>
                        <a:latin typeface="游ゴシック"/>
                        <a:ea typeface="游ゴシック"/>
                      </a:endParaRPr>
                    </a:p>
                  </a:txBody>
                  <a:tcPr marL="36576" marR="36576" marT="0" marB="0" anchor="ctr">
                    <a:lnL w="6350">
                      <a:solidFill>
                        <a:srgbClr val="FFFFFF"/>
                      </a:solidFill>
                    </a:lnL>
                    <a:lnR w="6350">
                      <a:solidFill>
                        <a:srgbClr val="FFFFFF"/>
                      </a:solidFill>
                    </a:lnR>
                    <a:lnT w="6350">
                      <a:solidFill>
                        <a:srgbClr val="FFFFFF"/>
                      </a:solidFill>
                    </a:lnT>
                    <a:lnB w="6350">
                      <a:noFill/>
                    </a:lnB>
                    <a:solidFill>
                      <a:srgbClr val="727F88"/>
                    </a:solidFill>
                  </a:tcPr>
                </a:tc>
                <a:tc>
                  <a:txBody>
                    <a:bodyPr/>
                    <a:lstStyle/>
                    <a:p>
                      <a:pPr algn="ctr" fontAlgn="ctr"/>
                      <a:r>
                        <a:rPr lang="ja-JP" altLang="en-US" sz="744" b="1" i="0" dirty="0">
                          <a:solidFill>
                            <a:srgbClr val="FFFFFF"/>
                          </a:solidFill>
                          <a:latin typeface="游ゴシック"/>
                          <a:ea typeface="游ゴシック"/>
                        </a:rPr>
                        <a:t>売上高比</a:t>
                      </a:r>
                      <a:endParaRPr lang="ja-JP" altLang="en-US" sz="744" b="1" i="0" dirty="0">
                        <a:solidFill>
                          <a:srgbClr val="FFFFFF"/>
                        </a:solidFill>
                        <a:latin typeface="游ゴシック"/>
                        <a:ea typeface="游ゴシック"/>
                      </a:endParaRPr>
                    </a:p>
                  </a:txBody>
                  <a:tcPr marL="36576" marR="36576" marT="0" marB="0" anchor="ctr">
                    <a:lnL w="6350">
                      <a:noFill/>
                    </a:lnL>
                    <a:lnR w="6350">
                      <a:solidFill>
                        <a:srgbClr val="FFFFFF"/>
                      </a:solidFill>
                    </a:lnR>
                    <a:lnT w="6350">
                      <a:noFill/>
                    </a:lnT>
                    <a:lnB w="6350">
                      <a:noFill/>
                    </a:lnB>
                    <a:solidFill>
                      <a:srgbClr val="727F88"/>
                    </a:solidFill>
                  </a:tcPr>
                </a:tc>
              </a:tr>
              <a:tr h="166561">
                <a:tc>
                  <a:txBody>
                    <a:bodyPr/>
                    <a:lstStyle/>
                    <a:p>
                      <a:pPr algn="l" fontAlgn="ctr"/>
                      <a:r>
                        <a:rPr lang="ja-JP" altLang="en-US" sz="744" b="0" i="0" dirty="0">
                          <a:solidFill>
                            <a:srgbClr val="000000"/>
                          </a:solidFill>
                          <a:latin typeface="游ゴシック"/>
                          <a:ea typeface="游ゴシック"/>
                        </a:rPr>
                        <a:t>　　役員報酬</a:t>
                      </a:r>
                      <a:endParaRPr lang="ja-JP" altLang="en-US" sz="744" b="0" i="0" dirty="0">
                        <a:solidFill>
                          <a:srgbClr val="000000"/>
                        </a:solidFill>
                        <a:latin typeface="游ゴシック"/>
                        <a:ea typeface="游ゴシック"/>
                      </a:endParaRPr>
                    </a:p>
                  </a:txBody>
                  <a:tcPr marL="36576" marR="36576" marT="0" marB="0" anchor="ctr">
                    <a:lnL w="6350">
                      <a:solidFill>
                        <a:srgbClr val="FFFFFF"/>
                      </a:solid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22,200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22,200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15,360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6,150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給料手当</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73,148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6.2%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74,179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6.3%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71,673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6.0%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30,948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5.0%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賞与</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6,002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5,693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退職金共済掛金</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3,175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3,166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3,026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1,139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退職金</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356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747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法定福利費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15,154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14,913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13,296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5,328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福利厚生費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595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460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124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広告宣伝費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203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89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旅費交通費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45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212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79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通信費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1,435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1,143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1,192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503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車両関連費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8,475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10,126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9,862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4,665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運賃</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27,547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29,494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28,997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12,048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振込手数料負担金</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123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207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215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委託手数料</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3,709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3,539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4,075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2,223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接待交際費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3,475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2,486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1,580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1,059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水道光熱費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4,424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4,701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4,685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2,319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消耗品費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36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95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租税公課</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14,465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12,814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12,177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3,617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支払手数料</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1,546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1,527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1,597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1,290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諸会費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181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141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138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寄付金</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71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リース料</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4,712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6,711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6,227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3,082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支払保険料</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2,772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1,431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1,542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326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修繕費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1,170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708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124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702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事務用消耗品費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2,033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1,935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2,336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1,408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減価償却費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13,664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12,558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1.1%</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8,879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0.7%</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3,654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0.6%</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雑費</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r>
                        <a:rPr lang="ja-JP" altLang="en-US" sz="744" b="0" i="0" dirty="0">
                          <a:solidFill>
                            <a:srgbClr val="000000"/>
                          </a:solidFill>
                          <a:latin typeface="Arial"/>
                          <a:ea typeface="游ゴシック Medium"/>
                        </a:rPr>
                        <a:t>　4,522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4,393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4,690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0.4%</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1,899</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0" i="0" dirty="0">
                          <a:solidFill>
                            <a:srgbClr val="000000"/>
                          </a:solidFill>
                          <a:latin typeface="游ゴシック"/>
                          <a:ea typeface="游ゴシック"/>
                        </a:rPr>
                        <a:t>　　消費税引当金</a:t>
                      </a:r>
                      <a:endParaRPr lang="ja-JP" altLang="en-US" sz="744"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solidFill>
                      <a:srgbClr val="E3E7E9"/>
                    </a:solid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0.0%</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3,023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c>
                  <a:txBody>
                    <a:bodyPr/>
                    <a:lstStyle/>
                    <a:p>
                      <a:pPr algn="r" fontAlgn="ctr"/>
                      <a:r>
                        <a:rPr lang="ja-JP" altLang="en-US" sz="744" b="0" i="0" dirty="0">
                          <a:solidFill>
                            <a:srgbClr val="000000"/>
                          </a:solidFill>
                          <a:latin typeface="Arial"/>
                          <a:ea typeface="游ゴシック Medium"/>
                        </a:rPr>
                        <a:t>　0.5%</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noFill/>
                    </a:lnT>
                    <a:lnB w="6350">
                      <a:noFill/>
                    </a:lnB>
                    <a:noFill/>
                  </a:tcPr>
                </a:tc>
              </a:tr>
              <a:tr h="166561">
                <a:tc>
                  <a:txBody>
                    <a:bodyPr/>
                    <a:lstStyle/>
                    <a:p>
                      <a:pPr algn="l" fontAlgn="ctr"/>
                      <a:r>
                        <a:rPr lang="ja-JP" altLang="en-US" sz="744" b="1" i="0" dirty="0">
                          <a:solidFill>
                            <a:srgbClr val="000000"/>
                          </a:solidFill>
                          <a:latin typeface="游ゴシック"/>
                          <a:ea typeface="游ゴシック"/>
                        </a:rPr>
                        <a:t>販売費および一般管理費合計</a:t>
                      </a:r>
                      <a:endParaRPr lang="ja-JP" altLang="en-US" sz="744" b="1" i="0" dirty="0">
                        <a:solidFill>
                          <a:srgbClr val="000000"/>
                        </a:solidFill>
                        <a:latin typeface="游ゴシック"/>
                        <a:ea typeface="游ゴシック"/>
                      </a:endParaRPr>
                    </a:p>
                  </a:txBody>
                  <a:tcPr marL="36576" marR="36576" marT="0" marB="0" anchor="ctr">
                    <a:lnL w="6350">
                      <a:noFill/>
                    </a:lnL>
                    <a:lnR w="6350">
                      <a:noFill/>
                    </a:lnR>
                    <a:lnT w="6350">
                      <a:solidFill>
                        <a:srgbClr val="0B3041"/>
                      </a:solid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214,823</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3FB"/>
                    </a:solidFill>
                  </a:tcPr>
                </a:tc>
                <a:tc>
                  <a:txBody>
                    <a:bodyPr/>
                    <a:lstStyle/>
                    <a:p>
                      <a:pPr algn="r" fontAlgn="ctr"/>
                      <a:r>
                        <a:rPr lang="ja-JP" altLang="en-US" sz="744" b="0" i="0" dirty="0">
                          <a:solidFill>
                            <a:srgbClr val="000000"/>
                          </a:solidFill>
                          <a:latin typeface="Arial"/>
                          <a:ea typeface="游ゴシック Medium"/>
                        </a:rPr>
                        <a:t>　18.2%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215,718</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3FB"/>
                    </a:solidFill>
                  </a:tcPr>
                </a:tc>
                <a:tc>
                  <a:txBody>
                    <a:bodyPr/>
                    <a:lstStyle/>
                    <a:p>
                      <a:pPr algn="r" fontAlgn="ctr"/>
                      <a:r>
                        <a:rPr lang="ja-JP" altLang="en-US" sz="744" b="0" i="0" dirty="0">
                          <a:solidFill>
                            <a:srgbClr val="000000"/>
                          </a:solidFill>
                          <a:latin typeface="Arial"/>
                          <a:ea typeface="游ゴシック Medium"/>
                        </a:rPr>
                        <a:t>　18.3%</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193,151</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3FB"/>
                    </a:solidFill>
                  </a:tcPr>
                </a:tc>
                <a:tc>
                  <a:txBody>
                    <a:bodyPr/>
                    <a:lstStyle/>
                    <a:p>
                      <a:pPr algn="r" fontAlgn="ctr"/>
                      <a:r>
                        <a:rPr lang="ja-JP" altLang="en-US" sz="744" b="0" i="0" dirty="0">
                          <a:solidFill>
                            <a:srgbClr val="000000"/>
                          </a:solidFill>
                          <a:latin typeface="Arial"/>
                          <a:ea typeface="游ゴシック Medium"/>
                        </a:rPr>
                        <a:t>　16.2%</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3FB"/>
                    </a:solidFill>
                  </a:tcPr>
                </a:tc>
                <a:tc>
                  <a:txBody>
                    <a:bodyPr/>
                    <a:lstStyle/>
                    <a:p>
                      <a:pPr algn="r" fontAlgn="ctr"/>
                      <a:r>
                        <a:rPr lang="ja-JP" altLang="en-US" sz="744" b="1" i="0" dirty="0">
                          <a:solidFill>
                            <a:srgbClr val="000000"/>
                          </a:solidFill>
                          <a:latin typeface="Arial"/>
                          <a:ea typeface="游ゴシック Medium"/>
                        </a:rPr>
                        <a:t>　85,746</a:t>
                      </a:r>
                      <a:endParaRPr lang="ja-JP" altLang="en-US" sz="744" b="1"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3FB"/>
                    </a:solidFill>
                  </a:tcPr>
                </a:tc>
                <a:tc>
                  <a:txBody>
                    <a:bodyPr/>
                    <a:lstStyle/>
                    <a:p>
                      <a:pPr algn="r" fontAlgn="ctr"/>
                      <a:r>
                        <a:rPr lang="ja-JP" altLang="en-US" sz="744" b="0" i="0" dirty="0">
                          <a:solidFill>
                            <a:srgbClr val="000000"/>
                          </a:solidFill>
                          <a:latin typeface="Arial"/>
                          <a:ea typeface="游ゴシック Medium"/>
                        </a:rPr>
                        <a:t>　13.8%</a:t>
                      </a:r>
                      <a:endParaRPr lang="ja-JP" altLang="en-US" sz="744" b="0" i="0" dirty="0">
                        <a:solidFill>
                          <a:srgbClr val="000000"/>
                        </a:solidFill>
                        <a:latin typeface="Arial"/>
                        <a:ea typeface="游ゴシック Medium"/>
                      </a:endParaRPr>
                    </a:p>
                  </a:txBody>
                  <a:tcPr marL="36576" marR="36576" marT="0" marB="0" anchor="ctr">
                    <a:lnL w="6350">
                      <a:solidFill>
                        <a:srgbClr val="FFFFFF"/>
                      </a:solidFill>
                    </a:lnL>
                    <a:lnR w="6350">
                      <a:solidFill>
                        <a:srgbClr val="FFFFFF"/>
                      </a:solidFill>
                    </a:lnR>
                    <a:lnT w="6350">
                      <a:solidFill>
                        <a:srgbClr val="0B3041"/>
                      </a:solidFill>
                    </a:lnT>
                    <a:lnB w="6350">
                      <a:solidFill>
                        <a:srgbClr val="0B3041"/>
                      </a:solidFill>
                    </a:lnB>
                    <a:solidFill>
                      <a:srgbClr val="E1F3FB"/>
                    </a:solidFill>
                  </a:tcPr>
                </a:tc>
              </a:tr>
            </a:tbl>
          </a:graphicData>
        </a:graphic>
      </p:graphicFrame>
    </p:spTree>
    <p:extLst>
      <p:ext uri="{BB962C8B-B14F-4D97-AF65-F5344CB8AC3E}">
        <p14:creationId xmlns:p14="http://schemas.microsoft.com/office/powerpoint/2010/main" val="1909380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E9481-F171-6C11-CA74-858754CED30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067C0B-FDBB-DAD1-C4BF-FB866758BEC6}"/>
              </a:ext>
            </a:extLst>
          </p:cNvPr>
          <p:cNvSpPr>
            <a:spLocks noGrp="1"/>
          </p:cNvSpPr>
          <p:nvPr>
            <p:ph type="title"/>
          </p:nvPr>
        </p:nvSpPr>
        <p:spPr>
          <a:xfrm>
            <a:off x="989013" y="3656161"/>
            <a:ext cx="9221787" cy="615553"/>
          </a:xfrm>
        </p:spPr>
        <p:txBody>
          <a:bodyPr/>
          <a:lstStyle/>
          <a:p>
            <a:r>
              <a:rPr lang="en-US" altLang="ja-JP" dirty="0"/>
              <a:t>Appendix</a:t>
            </a:r>
          </a:p>
        </p:txBody>
      </p:sp>
    </p:spTree>
    <p:extLst>
      <p:ext uri="{BB962C8B-B14F-4D97-AF65-F5344CB8AC3E}">
        <p14:creationId xmlns:p14="http://schemas.microsoft.com/office/powerpoint/2010/main" val="34130237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2E3EC-2048-079E-7643-70D2CF76772A}"/>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02E27983-8C8F-AAE9-9CF2-1036574B4BDE}"/>
              </a:ext>
            </a:extLst>
          </p:cNvPr>
          <p:cNvSpPr>
            <a:spLocks noGrp="1"/>
          </p:cNvSpPr>
          <p:nvPr>
            <p:ph type="ctrTitle"/>
          </p:nvPr>
        </p:nvSpPr>
        <p:spPr>
          <a:xfrm>
            <a:off x="311150" y="180296"/>
            <a:ext cx="7799917" cy="339267"/>
          </a:xfrm>
        </p:spPr>
        <p:txBody>
          <a:bodyPr>
            <a:normAutofit/>
          </a:bodyPr>
          <a:lstStyle/>
          <a:p>
            <a:r>
              <a:rPr lang="ja-JP" altLang="en-US" dirty="0"/>
              <a:t>沿革</a:t>
            </a:r>
          </a:p>
        </p:txBody>
      </p:sp>
      <p:sp>
        <p:nvSpPr>
          <p:cNvPr id="5" name="タイトル 1">
            <a:extLst>
              <a:ext uri="{FF2B5EF4-FFF2-40B4-BE49-F238E27FC236}">
                <a16:creationId xmlns:a16="http://schemas.microsoft.com/office/drawing/2014/main" id="{7C6D20B5-6E7B-D773-483A-3D3213A63C3D}"/>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16508C02-2E69-432A-5CCB-7583CED20D5E}"/>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1973年の設立以来、鶴岡市宝田を拠点に青果物卸売を継続。施設の改修を重ねながら市場を運営している。</a:t>
            </a:r>
          </a:p>
        </p:txBody>
      </p:sp>
      <p:graphicFrame>
        <p:nvGraphicFramePr>
          <p:cNvPr id="14" name="表（沿革!B4:C16）"/>
          <p:cNvGraphicFramePr>
            <a:graphicFrameLocks noGrp="1"/>
          </p:cNvGraphicFramePr>
          <p:nvPr/>
        </p:nvGraphicFramePr>
        <p:xfrm>
          <a:off x="448056" y="1463040"/>
          <a:ext cx="9793223" cy="4368800"/>
        </p:xfrm>
        <a:graphic>
          <a:graphicData uri="http://schemas.openxmlformats.org/drawingml/2006/table">
            <a:tbl>
              <a:tblPr firstRow="0" bandRow="0">
                <a:tableStyleId>{2D5ABB26-0587-4C30-8999-92F81FD0307C}</a:tableStyleId>
              </a:tblPr>
              <a:tblGrid>
                <a:gridCol w="1784772"/>
                <a:gridCol w="8008451"/>
              </a:tblGrid>
              <a:tr h="254000">
                <a:tc>
                  <a:txBody>
                    <a:bodyPr/>
                    <a:lstStyle/>
                    <a:p>
                      <a:pPr algn="ctr" fontAlgn="ctr"/>
                      <a:r>
                        <a:rPr lang="ja-JP" altLang="en-US" sz="1000" b="0" i="0" dirty="0">
                          <a:solidFill>
                            <a:srgbClr val="FFFFFF"/>
                          </a:solidFill>
                          <a:latin typeface="游ゴシック"/>
                          <a:ea typeface="游ゴシック"/>
                        </a:rPr>
                        <a:t>年月</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主な出来事</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342900">
                <a:tc>
                  <a:txBody>
                    <a:bodyPr/>
                    <a:lstStyle/>
                    <a:p>
                      <a:pPr algn="l" fontAlgn="ctr"/>
                      <a:r>
                        <a:rPr lang="ja-JP" altLang="en-US" sz="1050" b="0" i="0" dirty="0">
                          <a:solidFill>
                            <a:srgbClr val="000000"/>
                          </a:solidFill>
                          <a:latin typeface="游ゴシック"/>
                          <a:ea typeface="游ゴシック"/>
                        </a:rPr>
                        <a:t>1973年11月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株式会社鶴岡中央青果を設立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1981〜82年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現本社地（宝田一丁目）に事務所・市場・倉庫・パッケージ場（事務所兼倉庫）を建築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1984年11月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住居表示の実施により本店所在地の表記が「鶴岡市宝田一丁目4番20号」となる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2006年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会社法施行に伴い取締役会設置会社・監査役設置会社の登記</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2012年</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定款の目的を変更（現行：青果物の販売及び卸売、倉庫業ほか）。宝田一丁目5-1に倉庫（鉄骨造139㎡）を新築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2019年10月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受託販売の会計表示を総額から純額（受託手数料のみ）へ変更</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2020年6月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改正卸売市場法の施行に伴い、山形県知事より地方卸売市場の認定を受ける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2025年5月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資材倉庫の外壁・シャッターを改修</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2026年1月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鶴岡市内のもう1社の青果市場が撤退し、市内で唯一の青果市場となる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2026年2月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地方卸売市場の変更の認定（2026年4月1日効力発生。変更内容は要確認）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2026年5月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役員改選（取締役3名重任、常務取締役退任）</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42900">
                <a:tc>
                  <a:txBody>
                    <a:bodyPr/>
                    <a:lstStyle/>
                    <a:p>
                      <a:pPr algn="l" fontAlgn="ctr"/>
                      <a:r>
                        <a:rPr lang="ja-JP" altLang="en-US" sz="1050" b="0" i="0" dirty="0">
                          <a:solidFill>
                            <a:srgbClr val="000000"/>
                          </a:solidFill>
                          <a:latin typeface="游ゴシック"/>
                          <a:ea typeface="游ゴシック"/>
                        </a:rPr>
                        <a:t>時期要確認</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庄内町長沼の倉庫を老朽化により解体（跡地は駐車場として賃貸）</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5" name="TextBox 14"/>
          <p:cNvSpPr txBox="1"/>
          <p:nvPr/>
        </p:nvSpPr>
        <p:spPr>
          <a:xfrm>
            <a:off x="448056" y="5923280"/>
            <a:ext cx="9793224" cy="164592"/>
          </a:xfrm>
          <a:prstGeom prst="rect">
            <a:avLst/>
          </a:prstGeom>
          <a:noFill/>
        </p:spPr>
        <p:txBody>
          <a:bodyPr wrap="square" lIns="0" rIns="0" tIns="0" bIns="0">
            <a:spAutoFit/>
          </a:bodyPr>
          <a:lstStyle/>
          <a:p>
            <a:r>
              <a:rPr sz="800">
                <a:solidFill>
                  <a:srgbClr val="000000"/>
                </a:solidFill>
                <a:latin typeface="游ゴシック"/>
                <a:ea typeface="游ゴシック"/>
              </a:rPr>
              <a:t>※出所：履歴事項全部証明書、地方卸売市場の認定証、固定資産税課税明細書、個別注記表、固定資産内訳書。創業の経緯・代表者の経歴は売主様へ確認中。</a:t>
            </a:r>
          </a:p>
        </p:txBody>
      </p:sp>
    </p:spTree>
    <p:extLst>
      <p:ext uri="{BB962C8B-B14F-4D97-AF65-F5344CB8AC3E}">
        <p14:creationId xmlns:p14="http://schemas.microsoft.com/office/powerpoint/2010/main" val="391401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75621-FF75-0C7B-591E-C5EBD950595B}"/>
            </a:ext>
          </a:extLst>
        </p:cNvPr>
        <p:cNvGrpSpPr/>
        <p:nvPr/>
      </p:nvGrpSpPr>
      <p:grpSpPr>
        <a:xfrm>
          <a:off x="0" y="0"/>
          <a:ext cx="0" cy="0"/>
          <a:chOff x="0" y="0"/>
          <a:chExt cx="0" cy="0"/>
        </a:xfrm>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lang="ja-JP" altLang="en-US" dirty="0"/>
              <a:t>その他補足情報</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Appendix</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許認可・競合環境・取引慣行・人事制度等の補足情報。地方卸売市場は2020年6月に山形県知事の認定を受け、2026年2月に変更の認定を受けている。</a:t>
            </a:r>
          </a:p>
        </p:txBody>
      </p:sp>
      <p:graphicFrame>
        <p:nvGraphicFramePr>
          <p:cNvPr id="14" name="表（その他補足!B4:C15）"/>
          <p:cNvGraphicFramePr>
            <a:graphicFrameLocks noGrp="1"/>
          </p:cNvGraphicFramePr>
          <p:nvPr/>
        </p:nvGraphicFramePr>
        <p:xfrm>
          <a:off x="448056" y="1508760"/>
          <a:ext cx="9793223" cy="4673600"/>
        </p:xfrm>
        <a:graphic>
          <a:graphicData uri="http://schemas.openxmlformats.org/drawingml/2006/table">
            <a:tbl>
              <a:tblPr firstRow="0" bandRow="0">
                <a:tableStyleId>{2D5ABB26-0587-4C30-8999-92F81FD0307C}</a:tableStyleId>
              </a:tblPr>
              <a:tblGrid>
                <a:gridCol w="1647411"/>
                <a:gridCol w="8145812"/>
              </a:tblGrid>
              <a:tr h="254000">
                <a:tc>
                  <a:txBody>
                    <a:bodyPr/>
                    <a:lstStyle/>
                    <a:p>
                      <a:pPr algn="ctr" fontAlgn="ctr"/>
                      <a:r>
                        <a:rPr lang="ja-JP" altLang="en-US" sz="1000" b="0" i="0" dirty="0">
                          <a:solidFill>
                            <a:srgbClr val="FFFFFF"/>
                          </a:solidFill>
                          <a:latin typeface="游ゴシック"/>
                          <a:ea typeface="游ゴシック"/>
                        </a:rPr>
                        <a:t>項目</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内容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457200">
                <a:tc>
                  <a:txBody>
                    <a:bodyPr/>
                    <a:lstStyle/>
                    <a:p>
                      <a:pPr algn="l" fontAlgn="ctr"/>
                      <a:r>
                        <a:rPr lang="ja-JP" altLang="en-US" sz="1050" b="0" i="0" dirty="0">
                          <a:solidFill>
                            <a:srgbClr val="000000"/>
                          </a:solidFill>
                          <a:latin typeface="游ゴシック"/>
                          <a:ea typeface="游ゴシック"/>
                        </a:rPr>
                        <a:t>許認可</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・地方卸売市場（卸売市場法）：2020年6月に山形県知事の認定、2026年2月に変更の認定（「許認可一覧」参照）</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・倉庫業：定款目的に記載（登録の有無は要確認）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競合環境</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・鶴岡市内の青果市場は当社のみ（2026年1月に2社体制から1社に）</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・車で10〜15分の三川町に公設市場があり集荷面で競合。山形市・秋田の市場も集荷に来ており、秋田へ直接出荷する農家もある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市場関係</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・保証金33,303千円は仕入代金のデポジット（約10日分）。取引終了時に返金される</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・預り保証金8,980千円は販売先（八百屋等）からの預り（1先あたり5〜30万円程度）</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手数料・商慣習</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・受託販売手数料は8.5%（市場で一般的な水準。県への届出等で変更可能だが据置）</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・売上割戻は期限内に代金を支払った八百屋等への完納奨励金（市場業界の商慣習）</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賞与・退職金</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・賞与規定はなく、業績に応じて支給</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・退職金規程あり。中退共・オリックス生命で外部積立（会社の追加負担は基本的にないとの認識）</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加入団体・出資先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・山形県中小商工業協同組合、商工会議所、鶴岡信用金庫（出資金）</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取引金融機関</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・鶴岡信用金庫、山形銀行、荘内銀行、日本政策金融公庫（借入残高は「財務ハイライト（B/S）」参照）</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仕入先・物流</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・丸果庄内青果(株)、(株)庄果（公設庄内青果物地方卸売市場）、長井中央青果(株)、(株)マルト直治郎商店 ほか</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・配送は自社対応（東京向け出荷・一部の地元スーパー向け配送のみ外部運送会社を利用）</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営業時間・定休日</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・早朝5時から営業（終業時刻は要確認）／定休日は水・日・祝日</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機関設計・株式</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・取締役会設置会社／監査役設置会社（監査の範囲を会計に限定）</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・株式の譲渡制限あり（取締役会の承認）。発行済株式4,000株（株主8名）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304800">
                <a:tc>
                  <a:txBody>
                    <a:bodyPr/>
                    <a:lstStyle/>
                    <a:p>
                      <a:pPr algn="l" fontAlgn="ctr"/>
                      <a:r>
                        <a:rPr lang="ja-JP" altLang="en-US" sz="1050" b="0" i="0" dirty="0">
                          <a:solidFill>
                            <a:srgbClr val="000000"/>
                          </a:solidFill>
                          <a:latin typeface="游ゴシック"/>
                          <a:ea typeface="游ゴシック"/>
                        </a:rPr>
                        <a:t>Webサイト</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・http://www.turu-chu.co.jp/（だだちゃ豆・庄内柿等の特産品、安全への取組みを掲載。検索結果の要約であり本文は要確認）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Tree>
    <p:extLst>
      <p:ext uri="{BB962C8B-B14F-4D97-AF65-F5344CB8AC3E}">
        <p14:creationId xmlns:p14="http://schemas.microsoft.com/office/powerpoint/2010/main" val="8056887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正方形/長方形 12">
            <a:extLst>
              <a:ext uri="{FF2B5EF4-FFF2-40B4-BE49-F238E27FC236}">
                <a16:creationId xmlns:a16="http://schemas.microsoft.com/office/drawing/2014/main" id="{89F2FC56-6ADD-9704-B514-62FD74DE3ED5}"/>
              </a:ext>
            </a:extLst>
          </p:cNvPr>
          <p:cNvSpPr/>
          <p:nvPr/>
        </p:nvSpPr>
        <p:spPr>
          <a:xfrm>
            <a:off x="449263" y="1362266"/>
            <a:ext cx="3816000" cy="366383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360000" rIns="180000" bIns="0" rtlCol="0" anchor="t"/>
          <a:lstStyle/>
          <a:p>
            <a:pPr algn="ctr">
              <a:buClr>
                <a:schemeClr val="tx2"/>
              </a:buClr>
              <a:buSzPct val="80000"/>
            </a:pPr>
            <a:endParaRPr kumimoji="1" lang="zh-TW" altLang="en-US" sz="2000" b="1" spc="110" dirty="0">
              <a:solidFill>
                <a:schemeClr val="tx2"/>
              </a:solidFill>
              <a:latin typeface="+mj-ea"/>
              <a:ea typeface="+mj-ea"/>
            </a:endParaRPr>
          </a:p>
        </p:txBody>
      </p:sp>
      <p:sp>
        <p:nvSpPr>
          <p:cNvPr id="34" name="正方形/長方形 33">
            <a:extLst>
              <a:ext uri="{FF2B5EF4-FFF2-40B4-BE49-F238E27FC236}">
                <a16:creationId xmlns:a16="http://schemas.microsoft.com/office/drawing/2014/main" id="{F2057333-40C8-2D4A-60A4-202E9B7B444C}"/>
              </a:ext>
            </a:extLst>
          </p:cNvPr>
          <p:cNvSpPr/>
          <p:nvPr/>
        </p:nvSpPr>
        <p:spPr>
          <a:xfrm>
            <a:off x="4522064" y="1362266"/>
            <a:ext cx="5724000" cy="572432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成功報酬</a:t>
            </a:r>
            <a:r>
              <a:rPr kumimoji="1" lang="en-US" altLang="ja-JP" sz="1800" spc="110" baseline="30000" dirty="0">
                <a:solidFill>
                  <a:schemeClr val="tx1"/>
                </a:solidFill>
                <a:latin typeface="+mj-ea"/>
                <a:ea typeface="+mj-ea"/>
              </a:rPr>
              <a:t>※2</a:t>
            </a:r>
            <a:r>
              <a:rPr kumimoji="1" lang="ja-JP" altLang="en-US" sz="1800" b="1" spc="110" dirty="0">
                <a:solidFill>
                  <a:schemeClr val="tx1"/>
                </a:solidFill>
                <a:latin typeface="+mj-ea"/>
                <a:ea typeface="+mj-ea"/>
              </a:rPr>
              <a:t>の算定方法</a:t>
            </a:r>
          </a:p>
        </p:txBody>
      </p:sp>
      <p:sp>
        <p:nvSpPr>
          <p:cNvPr id="6" name="字幕 5">
            <a:extLst>
              <a:ext uri="{FF2B5EF4-FFF2-40B4-BE49-F238E27FC236}">
                <a16:creationId xmlns:a16="http://schemas.microsoft.com/office/drawing/2014/main" id="{8B635CAA-C777-BCBD-D6CB-D6FE9099ED6B}"/>
              </a:ext>
            </a:extLst>
          </p:cNvPr>
          <p:cNvSpPr>
            <a:spLocks noGrp="1"/>
          </p:cNvSpPr>
          <p:nvPr>
            <p:ph type="subTitle" idx="1"/>
          </p:nvPr>
        </p:nvSpPr>
        <p:spPr>
          <a:xfrm>
            <a:off x="460675" y="830046"/>
            <a:ext cx="9781875" cy="241861"/>
          </a:xfrm>
        </p:spPr>
        <p:txBody>
          <a:bodyPr/>
          <a:lstStyle/>
          <a:p>
            <a:r>
              <a:rPr lang="ja-JP" altLang="en-US" dirty="0"/>
              <a:t>時価総資産</a:t>
            </a:r>
            <a:r>
              <a:rPr lang="en-US" altLang="ja-JP" dirty="0"/>
              <a:t>(</a:t>
            </a:r>
            <a:r>
              <a:rPr lang="ja-JP" altLang="en-US" dirty="0"/>
              <a:t>営業権含む</a:t>
            </a:r>
            <a:r>
              <a:rPr lang="en-US" altLang="ja-JP" dirty="0"/>
              <a:t>)</a:t>
            </a:r>
            <a:r>
              <a:rPr lang="ja-JP" altLang="en-US" dirty="0"/>
              <a:t>を基準とした報酬体系であり、独占交渉権獲得の段階まで費用は発生しません</a:t>
            </a:r>
            <a:endParaRPr lang="en-US" altLang="ja-JP" dirty="0"/>
          </a:p>
        </p:txBody>
      </p:sp>
      <p:sp>
        <p:nvSpPr>
          <p:cNvPr id="2" name="タイトル 1">
            <a:extLst>
              <a:ext uri="{FF2B5EF4-FFF2-40B4-BE49-F238E27FC236}">
                <a16:creationId xmlns:a16="http://schemas.microsoft.com/office/drawing/2014/main" id="{D080ECA5-1EC6-E0DA-1045-7623DC8B0517}"/>
              </a:ext>
            </a:extLst>
          </p:cNvPr>
          <p:cNvSpPr>
            <a:spLocks noGrp="1"/>
          </p:cNvSpPr>
          <p:nvPr>
            <p:ph type="ctrTitle"/>
          </p:nvPr>
        </p:nvSpPr>
        <p:spPr/>
        <p:txBody>
          <a:bodyPr/>
          <a:lstStyle/>
          <a:p>
            <a:r>
              <a:rPr lang="ja-JP" altLang="en-US" dirty="0"/>
              <a:t>報酬体系</a:t>
            </a:r>
          </a:p>
        </p:txBody>
      </p:sp>
      <p:sp>
        <p:nvSpPr>
          <p:cNvPr id="7" name="タイトル 1">
            <a:extLst>
              <a:ext uri="{FF2B5EF4-FFF2-40B4-BE49-F238E27FC236}">
                <a16:creationId xmlns:a16="http://schemas.microsoft.com/office/drawing/2014/main" id="{0DF55F9A-C4D7-02A8-F804-D2CAF9784F10}"/>
              </a:ext>
            </a:extLst>
          </p:cNvPr>
          <p:cNvSpPr txBox="1">
            <a:spLocks/>
          </p:cNvSpPr>
          <p:nvPr/>
        </p:nvSpPr>
        <p:spPr>
          <a:xfrm>
            <a:off x="8366333" y="252155"/>
            <a:ext cx="1984167" cy="184666"/>
          </a:xfrm>
          <a:prstGeom prst="rect">
            <a:avLst/>
          </a:prstGeom>
        </p:spPr>
        <p:txBody>
          <a:bodyPr vert="horz" lIns="0" tIns="0" rIns="0" bIns="0" rtlCol="0" anchor="ctr">
            <a:spAutoFit/>
          </a:bodyPr>
          <a:lstStyle>
            <a:defPPr>
              <a:defRPr lang="en-US"/>
            </a:defPPr>
            <a:lvl1pPr algn="r" defTabSz="914400">
              <a:lnSpc>
                <a:spcPct val="100000"/>
              </a:lnSpc>
              <a:spcBef>
                <a:spcPct val="0"/>
              </a:spcBef>
              <a:buClr>
                <a:schemeClr val="bg1"/>
              </a:buClr>
              <a:buNone/>
              <a:defRPr kumimoji="1" sz="1200" b="1" spc="55">
                <a:solidFill>
                  <a:schemeClr val="bg1"/>
                </a:solidFill>
                <a:latin typeface="+mj-lt"/>
                <a:ea typeface="+mj-ea"/>
                <a:cs typeface="+mj-cs"/>
              </a:defRPr>
            </a:lvl1pPr>
          </a:lstStyle>
          <a:p>
            <a:r>
              <a:rPr lang="ja-JP" altLang="en-US" dirty="0"/>
              <a:t>　</a:t>
            </a:r>
            <a:r>
              <a:rPr lang="en-US" altLang="ja-JP" dirty="0"/>
              <a:t>Appendix</a:t>
            </a:r>
            <a:endParaRPr lang="ja-JP" altLang="en-US" dirty="0"/>
          </a:p>
        </p:txBody>
      </p:sp>
      <p:cxnSp>
        <p:nvCxnSpPr>
          <p:cNvPr id="15" name="直線コネクタ 14">
            <a:extLst>
              <a:ext uri="{FF2B5EF4-FFF2-40B4-BE49-F238E27FC236}">
                <a16:creationId xmlns:a16="http://schemas.microsoft.com/office/drawing/2014/main" id="{CB8BC532-89AB-609B-2D65-2652067D6567}"/>
              </a:ext>
            </a:extLst>
          </p:cNvPr>
          <p:cNvCxnSpPr>
            <a:cxnSpLocks/>
          </p:cNvCxnSpPr>
          <p:nvPr/>
        </p:nvCxnSpPr>
        <p:spPr>
          <a:xfrm>
            <a:off x="449263" y="1362267"/>
            <a:ext cx="3816000" cy="0"/>
          </a:xfrm>
          <a:prstGeom prst="line">
            <a:avLst/>
          </a:prstGeom>
          <a:ln w="25400">
            <a:solidFill>
              <a:schemeClr val="tx2"/>
            </a:solidFill>
          </a:ln>
        </p:spPr>
        <p:style>
          <a:lnRef idx="2">
            <a:schemeClr val="accent1"/>
          </a:lnRef>
          <a:fillRef idx="0">
            <a:schemeClr val="accent1"/>
          </a:fillRef>
          <a:effectRef idx="1">
            <a:schemeClr val="accent1"/>
          </a:effectRef>
          <a:fontRef idx="minor">
            <a:schemeClr val="tx1"/>
          </a:fontRef>
        </p:style>
      </p:cxnSp>
      <p:sp>
        <p:nvSpPr>
          <p:cNvPr id="18" name="正方形/長方形 17">
            <a:extLst>
              <a:ext uri="{FF2B5EF4-FFF2-40B4-BE49-F238E27FC236}">
                <a16:creationId xmlns:a16="http://schemas.microsoft.com/office/drawing/2014/main" id="{6E720941-89DA-5B24-F4D1-711BB1F814EF}"/>
              </a:ext>
            </a:extLst>
          </p:cNvPr>
          <p:cNvSpPr>
            <a:spLocks/>
          </p:cNvSpPr>
          <p:nvPr/>
        </p:nvSpPr>
        <p:spPr>
          <a:xfrm>
            <a:off x="768087" y="2452713"/>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zh-TW" altLang="en-US" sz="1600" b="1" spc="110" dirty="0">
                <a:solidFill>
                  <a:schemeClr val="tx2"/>
                </a:solidFill>
                <a:latin typeface="+mj-ea"/>
                <a:ea typeface="+mj-ea"/>
              </a:rPr>
              <a:t>着手金</a:t>
            </a:r>
            <a:endParaRPr kumimoji="1" lang="zh-TW" altLang="en-US" sz="1600" spc="110" baseline="30000" dirty="0">
              <a:solidFill>
                <a:schemeClr val="tx2"/>
              </a:solidFill>
              <a:latin typeface="+mj-ea"/>
              <a:ea typeface="+mj-ea"/>
            </a:endParaRPr>
          </a:p>
        </p:txBody>
      </p:sp>
      <p:sp>
        <p:nvSpPr>
          <p:cNvPr id="20" name="正方形/長方形 19">
            <a:extLst>
              <a:ext uri="{FF2B5EF4-FFF2-40B4-BE49-F238E27FC236}">
                <a16:creationId xmlns:a16="http://schemas.microsoft.com/office/drawing/2014/main" id="{C770662D-0186-159D-6B20-6AADFFE9CBBA}"/>
              </a:ext>
            </a:extLst>
          </p:cNvPr>
          <p:cNvSpPr>
            <a:spLocks/>
          </p:cNvSpPr>
          <p:nvPr/>
        </p:nvSpPr>
        <p:spPr>
          <a:xfrm>
            <a:off x="768087" y="3965025"/>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リテイナーフィー</a:t>
            </a:r>
            <a:endParaRPr kumimoji="1" lang="zh-TW" altLang="en-US" sz="1600" spc="110" baseline="30000" dirty="0">
              <a:solidFill>
                <a:schemeClr val="tx2"/>
              </a:solidFill>
              <a:latin typeface="+mj-ea"/>
              <a:ea typeface="+mj-ea"/>
            </a:endParaRPr>
          </a:p>
        </p:txBody>
      </p:sp>
      <p:sp>
        <p:nvSpPr>
          <p:cNvPr id="21" name="正方形/長方形 20">
            <a:extLst>
              <a:ext uri="{FF2B5EF4-FFF2-40B4-BE49-F238E27FC236}">
                <a16:creationId xmlns:a16="http://schemas.microsoft.com/office/drawing/2014/main" id="{E00098F5-AD27-787B-FFFF-9D575BB76654}"/>
              </a:ext>
            </a:extLst>
          </p:cNvPr>
          <p:cNvSpPr>
            <a:spLocks/>
          </p:cNvSpPr>
          <p:nvPr/>
        </p:nvSpPr>
        <p:spPr>
          <a:xfrm>
            <a:off x="768087" y="3208869"/>
            <a:ext cx="2412000" cy="612000"/>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288000" tIns="0" rIns="144000" bIns="0" rtlCol="0" anchor="ctr"/>
          <a:lstStyle/>
          <a:p>
            <a:pPr marL="180000" indent="-180000">
              <a:lnSpc>
                <a:spcPct val="120000"/>
              </a:lnSpc>
              <a:spcAft>
                <a:spcPts val="600"/>
              </a:spcAft>
              <a:buClr>
                <a:schemeClr val="tx2"/>
              </a:buClr>
              <a:buSzPct val="100000"/>
              <a:buFont typeface="游ゴシック" panose="020B0400000000000000" pitchFamily="50" charset="-128"/>
              <a:buChar char="▪"/>
            </a:pPr>
            <a:r>
              <a:rPr kumimoji="1" lang="ja-JP" altLang="en-US" sz="1600" b="1" spc="110" dirty="0">
                <a:solidFill>
                  <a:schemeClr val="tx2"/>
                </a:solidFill>
                <a:latin typeface="+mj-ea"/>
                <a:ea typeface="+mj-ea"/>
              </a:rPr>
              <a:t>情報提供料</a:t>
            </a:r>
            <a:endParaRPr kumimoji="1" lang="zh-TW" altLang="en-US" sz="1600" b="1" spc="110" dirty="0">
              <a:solidFill>
                <a:schemeClr val="tx2"/>
              </a:solidFill>
              <a:latin typeface="+mj-ea"/>
              <a:ea typeface="+mj-ea"/>
            </a:endParaRPr>
          </a:p>
        </p:txBody>
      </p:sp>
      <p:sp>
        <p:nvSpPr>
          <p:cNvPr id="24" name="テキスト ボックス 23">
            <a:extLst>
              <a:ext uri="{FF2B5EF4-FFF2-40B4-BE49-F238E27FC236}">
                <a16:creationId xmlns:a16="http://schemas.microsoft.com/office/drawing/2014/main" id="{732BB496-90B0-3CEC-6685-2DABCCD36309}"/>
              </a:ext>
            </a:extLst>
          </p:cNvPr>
          <p:cNvSpPr txBox="1"/>
          <p:nvPr/>
        </p:nvSpPr>
        <p:spPr>
          <a:xfrm>
            <a:off x="3604575" y="3422948"/>
            <a:ext cx="428323" cy="278731"/>
          </a:xfrm>
          <a:prstGeom prst="rect">
            <a:avLst/>
          </a:prstGeom>
          <a:noFill/>
        </p:spPr>
        <p:txBody>
          <a:bodyPr wrap="none" lIns="0" tIns="0" rIns="0" bIns="0" rtlCol="0">
            <a:spAutoFit/>
          </a:bodyPr>
          <a:lstStyle/>
          <a:p>
            <a:pPr algn="ctr">
              <a:lnSpc>
                <a:spcPct val="120000"/>
              </a:lnSpc>
              <a:buClr>
                <a:schemeClr val="tx2"/>
              </a:buClr>
              <a:buSzPct val="80000"/>
            </a:pPr>
            <a:r>
              <a:rPr lang="ja-JP" altLang="en-US" sz="1600" b="1" spc="70" dirty="0">
                <a:latin typeface="+mj-ea"/>
                <a:ea typeface="+mj-ea"/>
              </a:rPr>
              <a:t>無料</a:t>
            </a:r>
          </a:p>
        </p:txBody>
      </p:sp>
      <p:sp>
        <p:nvSpPr>
          <p:cNvPr id="30" name="右大かっこ 29">
            <a:extLst>
              <a:ext uri="{FF2B5EF4-FFF2-40B4-BE49-F238E27FC236}">
                <a16:creationId xmlns:a16="http://schemas.microsoft.com/office/drawing/2014/main" id="{3B1D8EBE-EC59-B246-AF6C-841872564D9C}"/>
              </a:ext>
            </a:extLst>
          </p:cNvPr>
          <p:cNvSpPr/>
          <p:nvPr/>
        </p:nvSpPr>
        <p:spPr>
          <a:xfrm>
            <a:off x="3324087" y="2479728"/>
            <a:ext cx="174824" cy="2097297"/>
          </a:xfrm>
          <a:prstGeom prst="rightBracket">
            <a:avLst>
              <a:gd name="adj" fmla="val 0"/>
            </a:avLst>
          </a:prstGeom>
          <a:ln w="12700">
            <a:solidFill>
              <a:schemeClr val="tx2"/>
            </a:solidFill>
            <a:prstDash val="sysDot"/>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6" name="正方形/長方形 35">
            <a:extLst>
              <a:ext uri="{FF2B5EF4-FFF2-40B4-BE49-F238E27FC236}">
                <a16:creationId xmlns:a16="http://schemas.microsoft.com/office/drawing/2014/main" id="{9AE04EFA-8A89-729B-C209-CDC92D8F408B}"/>
              </a:ext>
            </a:extLst>
          </p:cNvPr>
          <p:cNvSpPr/>
          <p:nvPr/>
        </p:nvSpPr>
        <p:spPr>
          <a:xfrm>
            <a:off x="4766690" y="6067960"/>
            <a:ext cx="4411464" cy="942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※2</a:t>
            </a:r>
            <a:r>
              <a:rPr lang="ja-JP" altLang="en-US" sz="800" dirty="0">
                <a:solidFill>
                  <a:schemeClr val="tx1"/>
                </a:solidFill>
                <a:latin typeface="+mn-ea"/>
              </a:rPr>
              <a:t>　以下の項目については上記報酬には含まれておりません。</a:t>
            </a:r>
          </a:p>
          <a:p>
            <a:pPr>
              <a:lnSpc>
                <a:spcPct val="110000"/>
              </a:lnSpc>
            </a:pPr>
            <a:r>
              <a:rPr lang="ja-JP" altLang="en-US" sz="800" dirty="0">
                <a:solidFill>
                  <a:schemeClr val="tx1"/>
                </a:solidFill>
                <a:latin typeface="+mn-ea"/>
              </a:rPr>
              <a:t>　　・買収監査、特殊な市場調査や技術評価、経営計画作成のための費用</a:t>
            </a:r>
          </a:p>
          <a:p>
            <a:pPr>
              <a:lnSpc>
                <a:spcPct val="110000"/>
              </a:lnSpc>
            </a:pPr>
            <a:r>
              <a:rPr lang="ja-JP" altLang="en-US" sz="800" dirty="0">
                <a:solidFill>
                  <a:schemeClr val="tx1"/>
                </a:solidFill>
                <a:latin typeface="+mn-ea"/>
              </a:rPr>
              <a:t>　　・登記費用および公認会計士、税理士、弁護士、不動産鑑定士等の専門家費用の実費</a:t>
            </a:r>
          </a:p>
          <a:p>
            <a:pPr>
              <a:lnSpc>
                <a:spcPct val="110000"/>
              </a:lnSpc>
            </a:pPr>
            <a:r>
              <a:rPr lang="ja-JP" altLang="en-US" sz="800" dirty="0">
                <a:solidFill>
                  <a:schemeClr val="tx1"/>
                </a:solidFill>
                <a:latin typeface="+mn-ea"/>
              </a:rPr>
              <a:t>　　・譲渡企業の海外事業所等訪問時の通訳費、当社および貴社関係者の交通費、宿泊費、日当</a:t>
            </a:r>
            <a:endParaRPr lang="en-US" altLang="ja-JP" sz="800" dirty="0">
              <a:solidFill>
                <a:schemeClr val="tx1"/>
              </a:solidFill>
              <a:latin typeface="+mn-ea"/>
            </a:endParaRPr>
          </a:p>
          <a:p>
            <a:pPr>
              <a:lnSpc>
                <a:spcPct val="110000"/>
              </a:lnSpc>
            </a:pPr>
            <a:r>
              <a:rPr lang="ja-JP" altLang="en-US" sz="800" dirty="0">
                <a:solidFill>
                  <a:schemeClr val="tx1"/>
                </a:solidFill>
                <a:latin typeface="+mn-ea"/>
              </a:rPr>
              <a:t>　　以下の場合、上記の各種報酬について別途ご相談いたします。</a:t>
            </a:r>
          </a:p>
          <a:p>
            <a:pPr>
              <a:lnSpc>
                <a:spcPct val="110000"/>
              </a:lnSpc>
            </a:pPr>
            <a:r>
              <a:rPr lang="ja-JP" altLang="en-US" sz="800" dirty="0">
                <a:solidFill>
                  <a:schemeClr val="tx1"/>
                </a:solidFill>
                <a:latin typeface="+mn-ea"/>
              </a:rPr>
              <a:t>　　・譲渡企業が関係会社を保有する場合や事業所を複数持つ場合</a:t>
            </a:r>
          </a:p>
          <a:p>
            <a:pPr>
              <a:lnSpc>
                <a:spcPct val="110000"/>
              </a:lnSpc>
            </a:pPr>
            <a:r>
              <a:rPr lang="ja-JP" altLang="en-US" sz="800" dirty="0">
                <a:solidFill>
                  <a:schemeClr val="tx1"/>
                </a:solidFill>
                <a:latin typeface="+mn-ea"/>
              </a:rPr>
              <a:t>　　・譲渡企業が海外に関係会社・事業所・工場を保有する場合</a:t>
            </a:r>
          </a:p>
        </p:txBody>
      </p:sp>
      <p:sp>
        <p:nvSpPr>
          <p:cNvPr id="37" name="正方形/長方形 36">
            <a:extLst>
              <a:ext uri="{FF2B5EF4-FFF2-40B4-BE49-F238E27FC236}">
                <a16:creationId xmlns:a16="http://schemas.microsoft.com/office/drawing/2014/main" id="{F22E4C30-8FC3-B869-53BD-9D8860037344}"/>
              </a:ext>
            </a:extLst>
          </p:cNvPr>
          <p:cNvSpPr/>
          <p:nvPr/>
        </p:nvSpPr>
        <p:spPr>
          <a:xfrm>
            <a:off x="683263" y="1669542"/>
            <a:ext cx="3348000" cy="468000"/>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lIns="0" tIns="28800" rIns="0" bIns="0" rtlCol="0" anchor="ctr"/>
          <a:lstStyle/>
          <a:p>
            <a:pPr algn="ctr">
              <a:buClr>
                <a:schemeClr val="tx2"/>
              </a:buClr>
              <a:buSzPct val="80000"/>
            </a:pPr>
            <a:r>
              <a:rPr lang="zh-TW" altLang="en-US" sz="1800" b="1" spc="70" dirty="0">
                <a:solidFill>
                  <a:schemeClr val="bg1"/>
                </a:solidFill>
                <a:latin typeface="+mj-ea"/>
                <a:ea typeface="+mj-ea"/>
              </a:rPr>
              <a:t>料金体系｜成功報酬型</a:t>
            </a:r>
          </a:p>
        </p:txBody>
      </p:sp>
      <p:sp>
        <p:nvSpPr>
          <p:cNvPr id="38" name="正方形/長方形 37">
            <a:extLst>
              <a:ext uri="{FF2B5EF4-FFF2-40B4-BE49-F238E27FC236}">
                <a16:creationId xmlns:a16="http://schemas.microsoft.com/office/drawing/2014/main" id="{A662A524-58DF-E539-7CF9-2CCAAD4E7CAF}"/>
              </a:ext>
            </a:extLst>
          </p:cNvPr>
          <p:cNvSpPr>
            <a:spLocks/>
          </p:cNvSpPr>
          <p:nvPr/>
        </p:nvSpPr>
        <p:spPr>
          <a:xfrm>
            <a:off x="4752550" y="1974789"/>
            <a:ext cx="5256000" cy="3051315"/>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a:solidFill>
                  <a:schemeClr val="tx2"/>
                </a:solidFill>
                <a:ea typeface="+mj-ea"/>
              </a:rPr>
              <a:t>1. M</a:t>
            </a:r>
            <a:r>
              <a:rPr kumimoji="1" lang="ja-JP" altLang="en-US" sz="1543" b="1">
                <a:solidFill>
                  <a:schemeClr val="tx2"/>
                </a:solidFill>
                <a:ea typeface="+mj-ea"/>
              </a:rPr>
              <a:t>＆</a:t>
            </a:r>
            <a:r>
              <a:rPr kumimoji="1" lang="en-US" altLang="ja-JP" sz="1543" b="1">
                <a:solidFill>
                  <a:schemeClr val="tx2"/>
                </a:solidFill>
                <a:ea typeface="+mj-ea"/>
              </a:rPr>
              <a:t>A</a:t>
            </a:r>
            <a:r>
              <a:rPr kumimoji="1" lang="ja-JP" altLang="en-US" sz="1543" b="1">
                <a:solidFill>
                  <a:schemeClr val="tx2"/>
                </a:solidFill>
                <a:ea typeface="+mj-ea"/>
              </a:rPr>
              <a:t>（株式・事業譲渡）の場合</a:t>
            </a:r>
            <a:endParaRPr kumimoji="1" lang="ja-JP" altLang="en-US" sz="1543" b="1" dirty="0">
              <a:solidFill>
                <a:schemeClr val="tx2"/>
              </a:solidFill>
              <a:ea typeface="+mj-ea"/>
            </a:endParaRPr>
          </a:p>
        </p:txBody>
      </p:sp>
      <p:sp>
        <p:nvSpPr>
          <p:cNvPr id="39" name="正方形/長方形 38">
            <a:extLst>
              <a:ext uri="{FF2B5EF4-FFF2-40B4-BE49-F238E27FC236}">
                <a16:creationId xmlns:a16="http://schemas.microsoft.com/office/drawing/2014/main" id="{3005CCDB-36FD-4152-9A26-F18CB327D833}"/>
              </a:ext>
            </a:extLst>
          </p:cNvPr>
          <p:cNvSpPr>
            <a:spLocks/>
          </p:cNvSpPr>
          <p:nvPr/>
        </p:nvSpPr>
        <p:spPr>
          <a:xfrm>
            <a:off x="4752550" y="5145149"/>
            <a:ext cx="5256000" cy="855016"/>
          </a:xfrm>
          <a:prstGeom prst="rect">
            <a:avLst/>
          </a:prstGeom>
          <a:solidFill>
            <a:schemeClr val="bg1"/>
          </a:solidFill>
          <a:ln>
            <a:noFill/>
          </a:ln>
          <a:effectLst>
            <a:outerShdw blurRad="50800" algn="ctr"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lIns="144000" tIns="108000" rIns="0" bIns="0" rtlCol="0" anchor="t">
            <a:noAutofit/>
          </a:bodyPr>
          <a:lstStyle/>
          <a:p>
            <a:r>
              <a:rPr kumimoji="1" lang="en-US" altLang="ja-JP" sz="1543" b="1" dirty="0">
                <a:solidFill>
                  <a:schemeClr val="tx2"/>
                </a:solidFill>
                <a:ea typeface="+mj-ea"/>
              </a:rPr>
              <a:t>2. </a:t>
            </a:r>
            <a:r>
              <a:rPr kumimoji="1" lang="ja-JP" altLang="en-US" sz="1543" b="1" dirty="0">
                <a:solidFill>
                  <a:schemeClr val="tx2"/>
                </a:solidFill>
                <a:ea typeface="+mj-ea"/>
              </a:rPr>
              <a:t>合併・会社分割・業務提携などの場合</a:t>
            </a:r>
          </a:p>
        </p:txBody>
      </p:sp>
      <p:sp>
        <p:nvSpPr>
          <p:cNvPr id="43" name="正方形/長方形 42">
            <a:extLst>
              <a:ext uri="{FF2B5EF4-FFF2-40B4-BE49-F238E27FC236}">
                <a16:creationId xmlns:a16="http://schemas.microsoft.com/office/drawing/2014/main" id="{45F9569B-84C3-F6AA-8270-6F2A0C5A48FE}"/>
              </a:ext>
            </a:extLst>
          </p:cNvPr>
          <p:cNvSpPr/>
          <p:nvPr/>
        </p:nvSpPr>
        <p:spPr>
          <a:xfrm>
            <a:off x="4968550" y="5594330"/>
            <a:ext cx="4824000" cy="286791"/>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形態、規模に応じてお見積り</a:t>
            </a:r>
          </a:p>
        </p:txBody>
      </p:sp>
      <p:sp>
        <p:nvSpPr>
          <p:cNvPr id="44" name="テキスト ボックス 43">
            <a:extLst>
              <a:ext uri="{FF2B5EF4-FFF2-40B4-BE49-F238E27FC236}">
                <a16:creationId xmlns:a16="http://schemas.microsoft.com/office/drawing/2014/main" id="{1E78D870-E1BA-6FCD-62FA-37BB1F2E0B3D}"/>
              </a:ext>
            </a:extLst>
          </p:cNvPr>
          <p:cNvSpPr txBox="1"/>
          <p:nvPr/>
        </p:nvSpPr>
        <p:spPr>
          <a:xfrm>
            <a:off x="4968550" y="4554047"/>
            <a:ext cx="3546805" cy="191399"/>
          </a:xfrm>
          <a:prstGeom prst="rect">
            <a:avLst/>
          </a:prstGeom>
          <a:noFill/>
        </p:spPr>
        <p:txBody>
          <a:bodyPr wrap="none" lIns="0" tIns="0" rIns="0" bIns="0" rtlCol="0">
            <a:spAutoFit/>
          </a:bodyPr>
          <a:lstStyle/>
          <a:p>
            <a:pPr>
              <a:lnSpc>
                <a:spcPct val="120000"/>
              </a:lnSpc>
              <a:buClr>
                <a:schemeClr val="tx2"/>
              </a:buClr>
              <a:buSzPct val="80000"/>
            </a:pPr>
            <a:r>
              <a:rPr lang="ja-JP" altLang="en-US" sz="1100" spc="70" dirty="0">
                <a:latin typeface="+mn-ea"/>
              </a:rPr>
              <a:t>成功報酬の最低額は</a:t>
            </a:r>
            <a:r>
              <a:rPr lang="en-US" altLang="ja-JP" sz="1100" spc="70" dirty="0">
                <a:latin typeface="+mn-ea"/>
              </a:rPr>
              <a:t>1,500</a:t>
            </a:r>
            <a:r>
              <a:rPr lang="ja-JP" altLang="en-US" sz="1100" spc="70" dirty="0">
                <a:latin typeface="+mn-ea"/>
              </a:rPr>
              <a:t>万円を設定しております。</a:t>
            </a:r>
          </a:p>
        </p:txBody>
      </p:sp>
      <p:graphicFrame>
        <p:nvGraphicFramePr>
          <p:cNvPr id="45" name="表 44">
            <a:extLst>
              <a:ext uri="{FF2B5EF4-FFF2-40B4-BE49-F238E27FC236}">
                <a16:creationId xmlns:a16="http://schemas.microsoft.com/office/drawing/2014/main" id="{43BEAE47-9189-F306-0E9E-F73105167DC7}"/>
              </a:ext>
            </a:extLst>
          </p:cNvPr>
          <p:cNvGraphicFramePr>
            <a:graphicFrameLocks noGrp="1"/>
          </p:cNvGraphicFramePr>
          <p:nvPr/>
        </p:nvGraphicFramePr>
        <p:xfrm>
          <a:off x="4968550" y="2395845"/>
          <a:ext cx="4824000" cy="2448000"/>
        </p:xfrm>
        <a:graphic>
          <a:graphicData uri="http://schemas.openxmlformats.org/drawingml/2006/table">
            <a:tbl>
              <a:tblPr firstRow="1" bandRow="1">
                <a:tableStyleId>{F2DE63D5-997A-4646-A377-4702673A728D}</a:tableStyleId>
              </a:tblPr>
              <a:tblGrid>
                <a:gridCol w="2952000">
                  <a:extLst>
                    <a:ext uri="{9D8B030D-6E8A-4147-A177-3AD203B41FA5}">
                      <a16:colId xmlns:a16="http://schemas.microsoft.com/office/drawing/2014/main" val="4012313631"/>
                    </a:ext>
                  </a:extLst>
                </a:gridCol>
                <a:gridCol w="1872000">
                  <a:extLst>
                    <a:ext uri="{9D8B030D-6E8A-4147-A177-3AD203B41FA5}">
                      <a16:colId xmlns:a16="http://schemas.microsoft.com/office/drawing/2014/main" val="1332805218"/>
                    </a:ext>
                  </a:extLst>
                </a:gridCol>
              </a:tblGrid>
              <a:tr h="396000">
                <a:tc>
                  <a:txBody>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1100" b="1" i="0" u="none" strike="noStrike" kern="1200" cap="none" spc="50" normalizeH="0" baseline="0" noProof="0" dirty="0">
                          <a:ln>
                            <a:noFill/>
                          </a:ln>
                          <a:solidFill>
                            <a:schemeClr val="bg1"/>
                          </a:solidFill>
                          <a:effectLst/>
                          <a:uLnTx/>
                          <a:uFillTx/>
                          <a:latin typeface="+mj-ea"/>
                          <a:ea typeface="+mj-ea"/>
                        </a:rPr>
                        <a:t>譲渡企業の時価総資産額</a:t>
                      </a:r>
                      <a:endParaRPr kumimoji="1" lang="en-US" altLang="ja-JP" sz="1100" b="1" i="0" u="none" strike="noStrike" kern="1200" cap="none" spc="50" normalizeH="0" baseline="0" noProof="0" dirty="0">
                        <a:ln>
                          <a:noFill/>
                        </a:ln>
                        <a:solidFill>
                          <a:schemeClr val="bg1"/>
                        </a:solidFill>
                        <a:effectLst/>
                        <a:uLnTx/>
                        <a:uFillTx/>
                        <a:latin typeface="+mj-ea"/>
                        <a:ea typeface="+mj-ea"/>
                      </a:endParaRPr>
                    </a:p>
                    <a:p>
                      <a:pPr marL="0" marR="0" lvl="0" indent="0" algn="ctr" defTabSz="914400" rtl="0" eaLnBrk="1" fontAlgn="auto" latinLnBrk="0" hangingPunct="1">
                        <a:lnSpc>
                          <a:spcPct val="110000"/>
                        </a:lnSpc>
                        <a:spcBef>
                          <a:spcPts val="0"/>
                        </a:spcBef>
                        <a:spcAft>
                          <a:spcPts val="0"/>
                        </a:spcAft>
                        <a:buClrTx/>
                        <a:buSzTx/>
                        <a:buFontTx/>
                        <a:buNone/>
                        <a:tabLst/>
                        <a:defRPr/>
                      </a:pPr>
                      <a:r>
                        <a:rPr kumimoji="1" lang="ja-JP" altLang="en-US" sz="800" b="1" i="0" u="none" strike="noStrike" kern="1200" cap="none" spc="50" normalizeH="0" baseline="0" noProof="0" dirty="0">
                          <a:ln>
                            <a:noFill/>
                          </a:ln>
                          <a:solidFill>
                            <a:schemeClr val="bg1"/>
                          </a:solidFill>
                          <a:effectLst/>
                          <a:uLnTx/>
                          <a:uFillTx/>
                          <a:latin typeface="+mj-ea"/>
                          <a:ea typeface="+mj-ea"/>
                        </a:rPr>
                        <a:t>（営業権を含む）</a:t>
                      </a:r>
                    </a:p>
                  </a:txBody>
                  <a:tcPr marL="0" marR="0" marT="0" marB="0" anchor="ctr" anchorCtr="1">
                    <a:lnL w="3175"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nSpc>
                          <a:spcPct val="110000"/>
                        </a:lnSpc>
                      </a:pPr>
                      <a:r>
                        <a:rPr kumimoji="1" lang="ja-JP" altLang="en-US" sz="1100" b="1" spc="50" baseline="0" dirty="0">
                          <a:latin typeface="+mj-ea"/>
                          <a:ea typeface="+mj-ea"/>
                        </a:rPr>
                        <a:t>手数料率</a:t>
                      </a:r>
                    </a:p>
                  </a:txBody>
                  <a:tcPr marL="0" marR="0" marT="0" marB="0" anchor="ctr" anchorCtr="1">
                    <a:lnL w="12700"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552892255"/>
                  </a:ext>
                </a:extLst>
              </a:tr>
              <a:tr h="342000">
                <a:tc>
                  <a:txBody>
                    <a:bodyPr/>
                    <a:lstStyle/>
                    <a:p>
                      <a:pPr algn="l">
                        <a:lnSpc>
                          <a:spcPct val="110000"/>
                        </a:lnSpc>
                      </a:pPr>
                      <a:r>
                        <a:rPr kumimoji="1" lang="en-US" altLang="ja-JP" sz="1200" b="1" spc="50" baseline="0" dirty="0">
                          <a:latin typeface="+mj-lt"/>
                          <a:ea typeface="+mj-ea"/>
                        </a:rPr>
                        <a:t>2</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2,000</a:t>
                      </a:r>
                      <a:r>
                        <a:rPr kumimoji="1" lang="ja-JP" altLang="en-US" sz="1100" b="1" spc="50" baseline="0" dirty="0">
                          <a:solidFill>
                            <a:schemeClr val="tx1"/>
                          </a:solidFill>
                          <a:latin typeface="+mn-lt"/>
                          <a:ea typeface="+mn-ea"/>
                        </a:rPr>
                        <a:t>万円</a:t>
                      </a:r>
                      <a:endParaRPr kumimoji="1" lang="ja-JP" altLang="en-US" sz="1100" b="0" spc="50" baseline="0" dirty="0">
                        <a:solidFill>
                          <a:schemeClr val="tx1"/>
                        </a:solidFill>
                        <a:latin typeface="+mn-lt"/>
                        <a:ea typeface="+mn-ea"/>
                      </a:endParaRP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6350" cap="flat" cmpd="sng" algn="ctr">
                      <a:solidFill>
                        <a:schemeClr val="accent2">
                          <a:lumMod val="1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21334838"/>
                  </a:ext>
                </a:extLst>
              </a:tr>
              <a:tr h="342000">
                <a:tc>
                  <a:txBody>
                    <a:bodyPr/>
                    <a:lstStyle/>
                    <a:p>
                      <a:pPr marL="0" marR="0" lvl="0" indent="0" algn="l" defTabSz="1007943" rtl="0" eaLnBrk="1" fontAlgn="auto" latinLnBrk="0" hangingPunct="1">
                        <a:lnSpc>
                          <a:spcPct val="110000"/>
                        </a:lnSpc>
                        <a:spcBef>
                          <a:spcPts val="0"/>
                        </a:spcBef>
                        <a:spcAft>
                          <a:spcPts val="0"/>
                        </a:spcAft>
                        <a:buClrTx/>
                        <a:buSzTx/>
                        <a:buFontTx/>
                        <a:buNone/>
                        <a:tabLst/>
                        <a:defRPr/>
                      </a:pPr>
                      <a:r>
                        <a:rPr kumimoji="1" lang="en-US" altLang="ja-JP" sz="1200" b="1" kern="1200" spc="50" baseline="0" dirty="0">
                          <a:solidFill>
                            <a:schemeClr val="tx1"/>
                          </a:solidFill>
                          <a:latin typeface="+mn-lt"/>
                          <a:ea typeface="+mn-ea"/>
                          <a:cs typeface="+mn-cs"/>
                        </a:rPr>
                        <a:t>2</a:t>
                      </a:r>
                      <a:r>
                        <a:rPr kumimoji="1" lang="ja-JP" altLang="en-US" sz="1200" b="1" kern="1200" spc="50" baseline="0" dirty="0">
                          <a:solidFill>
                            <a:schemeClr val="tx1"/>
                          </a:solidFill>
                          <a:latin typeface="+mn-lt"/>
                          <a:ea typeface="+mn-ea"/>
                          <a:cs typeface="+mn-cs"/>
                        </a:rPr>
                        <a:t>億円超　</a:t>
                      </a:r>
                      <a:r>
                        <a:rPr kumimoji="1" lang="en-US" altLang="ja-JP" sz="1200" b="1" kern="1200" spc="50" baseline="0" dirty="0">
                          <a:solidFill>
                            <a:schemeClr val="tx1"/>
                          </a:solidFill>
                          <a:latin typeface="+mn-lt"/>
                          <a:ea typeface="+mn-ea"/>
                          <a:cs typeface="+mn-cs"/>
                        </a:rPr>
                        <a:t>5</a:t>
                      </a:r>
                      <a:r>
                        <a:rPr kumimoji="1" lang="ja-JP" altLang="en-US" sz="1200" b="1" kern="1200" spc="50" baseline="0" dirty="0">
                          <a:solidFill>
                            <a:schemeClr val="tx1"/>
                          </a:solidFill>
                          <a:latin typeface="+mn-lt"/>
                          <a:ea typeface="+mn-ea"/>
                          <a:cs typeface="+mn-cs"/>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nSpc>
                          <a:spcPct val="110000"/>
                        </a:lnSpc>
                      </a:pPr>
                      <a:r>
                        <a:rPr kumimoji="1" lang="en-US" altLang="ja-JP" sz="1800" b="1" spc="50" baseline="0" dirty="0">
                          <a:solidFill>
                            <a:schemeClr val="tx1"/>
                          </a:solidFill>
                          <a:latin typeface="+mn-lt"/>
                          <a:ea typeface="+mn-ea"/>
                        </a:rPr>
                        <a:t>5</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accent2">
                          <a:lumMod val="10000"/>
                        </a:schemeClr>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0064655"/>
                  </a:ext>
                </a:extLst>
              </a:tr>
              <a:tr h="342000">
                <a:tc>
                  <a:txBody>
                    <a:bodyPr/>
                    <a:lstStyle/>
                    <a:p>
                      <a:pPr algn="l">
                        <a:lnSpc>
                          <a:spcPct val="110000"/>
                        </a:lnSpc>
                      </a:pPr>
                      <a:r>
                        <a:rPr kumimoji="1" lang="en-US" altLang="ja-JP" sz="1200" b="1" spc="50" baseline="0" dirty="0">
                          <a:latin typeface="+mj-lt"/>
                          <a:ea typeface="+mj-ea"/>
                        </a:rPr>
                        <a:t>5</a:t>
                      </a:r>
                      <a:r>
                        <a:rPr kumimoji="1" lang="ja-JP" altLang="en-US" sz="1200" b="1" spc="50" baseline="0" dirty="0">
                          <a:latin typeface="+mj-lt"/>
                          <a:ea typeface="+mj-ea"/>
                        </a:rPr>
                        <a:t>億円超　</a:t>
                      </a:r>
                      <a:r>
                        <a:rPr kumimoji="1" lang="en-US" altLang="ja-JP" sz="1200" b="1" spc="50" baseline="0" dirty="0">
                          <a:latin typeface="+mj-lt"/>
                          <a:ea typeface="+mj-ea"/>
                        </a:rPr>
                        <a:t>10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4</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5221436"/>
                  </a:ext>
                </a:extLst>
              </a:tr>
              <a:tr h="342000">
                <a:tc>
                  <a:txBody>
                    <a:bodyPr/>
                    <a:lstStyle/>
                    <a:p>
                      <a:pPr algn="l">
                        <a:lnSpc>
                          <a:spcPct val="110000"/>
                        </a:lnSpc>
                      </a:pPr>
                      <a:r>
                        <a:rPr kumimoji="1" lang="en-US" altLang="ja-JP" sz="1200" b="1" spc="50" baseline="0" dirty="0">
                          <a:latin typeface="+mj-lt"/>
                          <a:ea typeface="+mj-ea"/>
                        </a:rPr>
                        <a:t>10</a:t>
                      </a:r>
                      <a:r>
                        <a:rPr kumimoji="1" lang="ja-JP" altLang="en-US" sz="1200" b="1" spc="50" baseline="0" dirty="0">
                          <a:latin typeface="+mj-lt"/>
                          <a:ea typeface="+mj-ea"/>
                        </a:rPr>
                        <a:t>億円超　</a:t>
                      </a:r>
                      <a:r>
                        <a:rPr kumimoji="1" lang="en-US" altLang="ja-JP" sz="1200" b="1" spc="50" baseline="0" dirty="0">
                          <a:latin typeface="+mj-lt"/>
                          <a:ea typeface="+mj-ea"/>
                        </a:rPr>
                        <a:t>50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3</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654929017"/>
                  </a:ext>
                </a:extLst>
              </a:tr>
              <a:tr h="342000">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200" b="1" spc="50" baseline="0" dirty="0">
                          <a:latin typeface="+mj-lt"/>
                          <a:ea typeface="+mj-ea"/>
                        </a:rPr>
                        <a:t>50</a:t>
                      </a:r>
                      <a:r>
                        <a:rPr kumimoji="1" lang="ja-JP" altLang="en-US" sz="1200" b="1" spc="50" baseline="0" dirty="0">
                          <a:latin typeface="+mj-lt"/>
                          <a:ea typeface="+mj-ea"/>
                        </a:rPr>
                        <a:t>億円超　</a:t>
                      </a:r>
                      <a:r>
                        <a:rPr kumimoji="1" lang="en-US" altLang="ja-JP" sz="1200" b="1" spc="50" baseline="0" dirty="0">
                          <a:latin typeface="+mj-lt"/>
                          <a:ea typeface="+mj-ea"/>
                        </a:rPr>
                        <a:t>100</a:t>
                      </a:r>
                      <a:r>
                        <a:rPr kumimoji="1" lang="ja-JP" altLang="en-US" sz="1200" b="1" spc="50" baseline="0" dirty="0">
                          <a:latin typeface="+mj-lt"/>
                          <a:ea typeface="+mj-ea"/>
                        </a:rPr>
                        <a:t>億円以下の部分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2</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96813135"/>
                  </a:ext>
                </a:extLst>
              </a:tr>
              <a:tr h="342000">
                <a:tc>
                  <a:txBody>
                    <a:bodyPr/>
                    <a:lstStyle/>
                    <a:p>
                      <a:pPr algn="l">
                        <a:lnSpc>
                          <a:spcPct val="110000"/>
                        </a:lnSpc>
                      </a:pPr>
                      <a:r>
                        <a:rPr kumimoji="1" lang="en-US" altLang="ja-JP" sz="1200" b="1" spc="50" baseline="0" dirty="0">
                          <a:latin typeface="+mj-lt"/>
                          <a:ea typeface="+mj-ea"/>
                        </a:rPr>
                        <a:t>100</a:t>
                      </a:r>
                      <a:r>
                        <a:rPr kumimoji="1" lang="ja-JP" altLang="en-US" sz="1200" b="1" spc="50" baseline="0" dirty="0">
                          <a:latin typeface="+mj-lt"/>
                          <a:ea typeface="+mj-ea"/>
                        </a:rPr>
                        <a:t>億円超の部分</a:t>
                      </a:r>
                    </a:p>
                  </a:txBody>
                  <a:tcPr marL="288000" marR="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l" defTabSz="497504" rtl="0" eaLnBrk="1" fontAlgn="auto" latinLnBrk="0" hangingPunct="1">
                        <a:lnSpc>
                          <a:spcPct val="110000"/>
                        </a:lnSpc>
                        <a:spcBef>
                          <a:spcPts val="0"/>
                        </a:spcBef>
                        <a:spcAft>
                          <a:spcPts val="0"/>
                        </a:spcAft>
                        <a:buClrTx/>
                        <a:buSzTx/>
                        <a:buFontTx/>
                        <a:buNone/>
                        <a:tabLst/>
                        <a:defRPr/>
                      </a:pPr>
                      <a:r>
                        <a:rPr kumimoji="1" lang="en-US" altLang="ja-JP" sz="1800" b="1" spc="50" baseline="0" dirty="0">
                          <a:solidFill>
                            <a:schemeClr val="tx1"/>
                          </a:solidFill>
                          <a:latin typeface="+mn-lt"/>
                          <a:ea typeface="+mn-ea"/>
                        </a:rPr>
                        <a:t>1</a:t>
                      </a:r>
                      <a:r>
                        <a:rPr kumimoji="1" lang="ja-JP" altLang="en-US" sz="1100" b="0" spc="50" baseline="0" dirty="0">
                          <a:solidFill>
                            <a:schemeClr val="tx1"/>
                          </a:solidFill>
                          <a:latin typeface="+mn-lt"/>
                          <a:ea typeface="+mn-ea"/>
                        </a:rPr>
                        <a:t>％</a:t>
                      </a:r>
                    </a:p>
                  </a:txBody>
                  <a:tcPr marL="0" marR="0" marT="0" marB="0" anchor="ctr" anchorCtr="1">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0759054"/>
                  </a:ext>
                </a:extLst>
              </a:tr>
            </a:tbl>
          </a:graphicData>
        </a:graphic>
      </p:graphicFrame>
      <p:sp>
        <p:nvSpPr>
          <p:cNvPr id="3" name="テキスト ボックス 2">
            <a:extLst>
              <a:ext uri="{FF2B5EF4-FFF2-40B4-BE49-F238E27FC236}">
                <a16:creationId xmlns:a16="http://schemas.microsoft.com/office/drawing/2014/main" id="{08F1693B-FFF1-ED80-7351-7BBDED97C92F}"/>
              </a:ext>
            </a:extLst>
          </p:cNvPr>
          <p:cNvSpPr txBox="1"/>
          <p:nvPr/>
        </p:nvSpPr>
        <p:spPr>
          <a:xfrm>
            <a:off x="8985126" y="2145278"/>
            <a:ext cx="788036" cy="209545"/>
          </a:xfrm>
          <a:prstGeom prst="rect">
            <a:avLst/>
          </a:prstGeom>
          <a:noFill/>
        </p:spPr>
        <p:txBody>
          <a:bodyPr wrap="none" lIns="0" tIns="0" rIns="0" bIns="0" rtlCol="0">
            <a:spAutoFit/>
          </a:bodyPr>
          <a:lstStyle/>
          <a:p>
            <a:pPr algn="ctr">
              <a:lnSpc>
                <a:spcPct val="120000"/>
              </a:lnSpc>
              <a:buClr>
                <a:schemeClr val="tx2"/>
              </a:buClr>
              <a:buSzPct val="80000"/>
            </a:pPr>
            <a:r>
              <a:rPr lang="en-US" altLang="ja-JP" sz="1200" spc="70" dirty="0">
                <a:latin typeface="+mj-ea"/>
                <a:ea typeface="+mj-ea"/>
              </a:rPr>
              <a:t>(</a:t>
            </a:r>
            <a:r>
              <a:rPr lang="ja-JP" altLang="en-US" sz="1200" spc="70" dirty="0">
                <a:latin typeface="+mj-ea"/>
                <a:ea typeface="+mj-ea"/>
              </a:rPr>
              <a:t>消費税別</a:t>
            </a:r>
            <a:r>
              <a:rPr lang="en-US" altLang="ja-JP" sz="1200" spc="70" dirty="0">
                <a:latin typeface="+mj-ea"/>
                <a:ea typeface="+mj-ea"/>
              </a:rPr>
              <a:t>)</a:t>
            </a:r>
            <a:endParaRPr lang="ja-JP" altLang="en-US" sz="1200" spc="70" dirty="0">
              <a:latin typeface="+mj-ea"/>
              <a:ea typeface="+mj-ea"/>
            </a:endParaRPr>
          </a:p>
        </p:txBody>
      </p:sp>
      <p:sp>
        <p:nvSpPr>
          <p:cNvPr id="4" name="正方形/長方形 3">
            <a:extLst>
              <a:ext uri="{FF2B5EF4-FFF2-40B4-BE49-F238E27FC236}">
                <a16:creationId xmlns:a16="http://schemas.microsoft.com/office/drawing/2014/main" id="{021EBBB3-E8D6-A883-4081-72409664F3A2}"/>
              </a:ext>
            </a:extLst>
          </p:cNvPr>
          <p:cNvSpPr/>
          <p:nvPr/>
        </p:nvSpPr>
        <p:spPr>
          <a:xfrm>
            <a:off x="449264" y="5224403"/>
            <a:ext cx="3816000" cy="186218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lIns="180000" tIns="180000" rIns="180000" bIns="0" rtlCol="0" anchor="t"/>
          <a:lstStyle/>
          <a:p>
            <a:pPr algn="ctr">
              <a:buClr>
                <a:schemeClr val="tx2"/>
              </a:buClr>
              <a:buSzPct val="80000"/>
            </a:pPr>
            <a:r>
              <a:rPr kumimoji="1" lang="ja-JP" altLang="en-US" sz="1800" b="1" spc="110" dirty="0">
                <a:solidFill>
                  <a:schemeClr val="tx1"/>
                </a:solidFill>
                <a:latin typeface="+mj-ea"/>
                <a:ea typeface="+mj-ea"/>
              </a:rPr>
              <a:t>中間報酬</a:t>
            </a:r>
            <a:r>
              <a:rPr kumimoji="1" lang="en-US" altLang="ja-JP" sz="1800" spc="110" baseline="30000" dirty="0">
                <a:solidFill>
                  <a:schemeClr val="tx1"/>
                </a:solidFill>
                <a:latin typeface="+mj-ea"/>
                <a:ea typeface="+mj-ea"/>
              </a:rPr>
              <a:t>※1</a:t>
            </a:r>
            <a:r>
              <a:rPr kumimoji="1" lang="ja-JP" altLang="en-US" sz="1800" b="1" spc="110" dirty="0">
                <a:solidFill>
                  <a:schemeClr val="tx1"/>
                </a:solidFill>
                <a:latin typeface="+mj-ea"/>
                <a:ea typeface="+mj-ea"/>
              </a:rPr>
              <a:t>の算定方法</a:t>
            </a:r>
          </a:p>
        </p:txBody>
      </p:sp>
      <p:sp>
        <p:nvSpPr>
          <p:cNvPr id="5" name="正方形/長方形 4">
            <a:extLst>
              <a:ext uri="{FF2B5EF4-FFF2-40B4-BE49-F238E27FC236}">
                <a16:creationId xmlns:a16="http://schemas.microsoft.com/office/drawing/2014/main" id="{0A844F69-2E35-9611-A4E1-15256E6FA8E2}"/>
              </a:ext>
            </a:extLst>
          </p:cNvPr>
          <p:cNvSpPr/>
          <p:nvPr/>
        </p:nvSpPr>
        <p:spPr>
          <a:xfrm>
            <a:off x="615951" y="5812442"/>
            <a:ext cx="3482623" cy="916330"/>
          </a:xfrm>
          <a:prstGeom prst="rect">
            <a:avLst/>
          </a:prstGeom>
          <a:solidFill>
            <a:schemeClr val="bg1"/>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r>
              <a:rPr kumimoji="1" lang="ja-JP" altLang="en-US" sz="1600" b="1" spc="30" dirty="0">
                <a:solidFill>
                  <a:schemeClr val="tx1"/>
                </a:solidFill>
                <a:latin typeface="+mj-ea"/>
                <a:ea typeface="+mj-ea"/>
              </a:rPr>
              <a:t>成功報酬の</a:t>
            </a:r>
            <a:r>
              <a:rPr kumimoji="1" lang="en-US" altLang="ja-JP" sz="1600" b="1" spc="30" dirty="0">
                <a:solidFill>
                  <a:schemeClr val="tx1"/>
                </a:solidFill>
                <a:latin typeface="+mj-ea"/>
                <a:ea typeface="+mj-ea"/>
              </a:rPr>
              <a:t>10</a:t>
            </a:r>
            <a:r>
              <a:rPr kumimoji="1" lang="ja-JP" altLang="en-US" sz="1600" b="1" spc="30" dirty="0">
                <a:solidFill>
                  <a:schemeClr val="tx1"/>
                </a:solidFill>
                <a:latin typeface="+mj-ea"/>
                <a:ea typeface="+mj-ea"/>
              </a:rPr>
              <a:t>％</a:t>
            </a:r>
            <a:endParaRPr kumimoji="1" lang="en-US" altLang="ja-JP" sz="1600" b="1" spc="30" dirty="0">
              <a:solidFill>
                <a:schemeClr val="tx1"/>
              </a:solidFill>
              <a:latin typeface="+mj-ea"/>
              <a:ea typeface="+mj-ea"/>
            </a:endParaRPr>
          </a:p>
          <a:p>
            <a:pPr algn="ctr">
              <a:lnSpc>
                <a:spcPct val="120000"/>
              </a:lnSpc>
            </a:pPr>
            <a:r>
              <a:rPr kumimoji="1" lang="ja-JP" altLang="en-US" sz="1200" b="1" spc="30" dirty="0">
                <a:solidFill>
                  <a:schemeClr val="tx1"/>
                </a:solidFill>
                <a:latin typeface="+mj-ea"/>
                <a:ea typeface="+mj-ea"/>
              </a:rPr>
              <a:t>（但し最低額は</a:t>
            </a:r>
            <a:r>
              <a:rPr kumimoji="1" lang="en-US" altLang="ja-JP" sz="1200" b="1" spc="30" dirty="0">
                <a:solidFill>
                  <a:schemeClr val="tx1"/>
                </a:solidFill>
                <a:latin typeface="+mj-ea"/>
                <a:ea typeface="+mj-ea"/>
              </a:rPr>
              <a:t>300</a:t>
            </a:r>
            <a:r>
              <a:rPr kumimoji="1" lang="ja-JP" altLang="en-US" sz="1200" b="1" spc="30" dirty="0">
                <a:solidFill>
                  <a:schemeClr val="tx1"/>
                </a:solidFill>
                <a:latin typeface="+mj-ea"/>
                <a:ea typeface="+mj-ea"/>
              </a:rPr>
              <a:t>万円とします）</a:t>
            </a:r>
          </a:p>
        </p:txBody>
      </p:sp>
      <p:sp>
        <p:nvSpPr>
          <p:cNvPr id="8" name="正方形/長方形 7">
            <a:extLst>
              <a:ext uri="{FF2B5EF4-FFF2-40B4-BE49-F238E27FC236}">
                <a16:creationId xmlns:a16="http://schemas.microsoft.com/office/drawing/2014/main" id="{6EED8059-D8E2-0DAF-A350-928100484E14}"/>
              </a:ext>
            </a:extLst>
          </p:cNvPr>
          <p:cNvSpPr/>
          <p:nvPr/>
        </p:nvSpPr>
        <p:spPr>
          <a:xfrm>
            <a:off x="615951" y="6812925"/>
            <a:ext cx="3135474" cy="12997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b">
            <a:spAutoFit/>
          </a:bodyPr>
          <a:lstStyle/>
          <a:p>
            <a:pPr>
              <a:lnSpc>
                <a:spcPct val="110000"/>
              </a:lnSpc>
            </a:pPr>
            <a:r>
              <a:rPr lang="en-US" altLang="ja-JP" sz="800" dirty="0">
                <a:solidFill>
                  <a:schemeClr val="tx1"/>
                </a:solidFill>
                <a:latin typeface="+mn-ea"/>
              </a:rPr>
              <a:t>※1</a:t>
            </a:r>
            <a:r>
              <a:rPr lang="ja-JP" altLang="en-US" sz="800" dirty="0">
                <a:solidFill>
                  <a:schemeClr val="tx1"/>
                </a:solidFill>
                <a:latin typeface="+mn-ea"/>
              </a:rPr>
              <a:t>　中間報酬は成約した場合、成功報酬に含め、充当いたします。</a:t>
            </a:r>
          </a:p>
        </p:txBody>
      </p:sp>
    </p:spTree>
    <p:extLst>
      <p:ext uri="{BB962C8B-B14F-4D97-AF65-F5344CB8AC3E}">
        <p14:creationId xmlns:p14="http://schemas.microsoft.com/office/powerpoint/2010/main" val="2577499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F701402F-4CEB-57E0-97C2-822B3C0B999E}"/>
              </a:ext>
            </a:extLst>
          </p:cNvPr>
          <p:cNvSpPr>
            <a:spLocks noGrp="1"/>
          </p:cNvSpPr>
          <p:nvPr>
            <p:ph type="ctrTitle"/>
          </p:nvPr>
        </p:nvSpPr>
        <p:spPr>
          <a:xfrm>
            <a:off x="311150" y="180296"/>
            <a:ext cx="7799917" cy="339267"/>
          </a:xfrm>
        </p:spPr>
        <p:txBody>
          <a:bodyPr>
            <a:normAutofit/>
          </a:bodyPr>
          <a:lstStyle/>
          <a:p>
            <a:r>
              <a:rPr lang="ja-JP" altLang="en-US" dirty="0"/>
              <a:t>品目別売上高の3期推移</a:t>
            </a:r>
          </a:p>
        </p:txBody>
      </p:sp>
      <p:sp>
        <p:nvSpPr>
          <p:cNvPr id="5" name="タイトル 1">
            <a:extLst>
              <a:ext uri="{FF2B5EF4-FFF2-40B4-BE49-F238E27FC236}">
                <a16:creationId xmlns:a16="http://schemas.microsoft.com/office/drawing/2014/main" id="{AC4464AF-219D-E466-F3BC-96AEFEDBCFD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事業概要</a:t>
            </a:r>
          </a:p>
        </p:txBody>
      </p:sp>
      <p:sp>
        <p:nvSpPr>
          <p:cNvPr id="11" name="字幕 13">
            <a:extLst>
              <a:ext uri="{FF2B5EF4-FFF2-40B4-BE49-F238E27FC236}">
                <a16:creationId xmlns:a16="http://schemas.microsoft.com/office/drawing/2014/main" id="{9BD509DC-88D9-BD2F-8F86-54221089006B}"/>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年間取扱高は約12.9億円で3期とも横ばい。葉茎菜類・果菜類・メロン類が上位を占め、だだちゃ豆・庄内柿・メロン等の庄内の特産品を扱う。野菜と果実をバランスよく揃える総合青果市場。</a:t>
            </a:r>
          </a:p>
        </p:txBody>
      </p:sp>
      <p:graphicFrame>
        <p:nvGraphicFramePr>
          <p:cNvPr id="14" name="表（品目別売上!B4:J23）"/>
          <p:cNvGraphicFramePr>
            <a:graphicFrameLocks noGrp="1"/>
          </p:cNvGraphicFramePr>
          <p:nvPr/>
        </p:nvGraphicFramePr>
        <p:xfrm>
          <a:off x="310896" y="1371600"/>
          <a:ext cx="7498076" cy="4292600"/>
        </p:xfrm>
        <a:graphic>
          <a:graphicData uri="http://schemas.openxmlformats.org/drawingml/2006/table">
            <a:tbl>
              <a:tblPr firstRow="0" bandRow="0">
                <a:tableStyleId>{2D5ABB26-0587-4C30-8999-92F81FD0307C}</a:tableStyleId>
              </a:tblPr>
              <a:tblGrid>
                <a:gridCol w="641064"/>
                <a:gridCol w="1161542"/>
                <a:gridCol w="760815"/>
                <a:gridCol w="496778"/>
                <a:gridCol w="760815"/>
                <a:gridCol w="496778"/>
                <a:gridCol w="760815"/>
                <a:gridCol w="496778"/>
                <a:gridCol w="1922691"/>
              </a:tblGrid>
              <a:tr h="190500">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6350">
                      <a:noFill/>
                    </a:lnL>
                    <a:lnR w="6350">
                      <a:noFill/>
                    </a:lnR>
                    <a:lnT w="6350">
                      <a:noFill/>
                    </a:lnT>
                    <a:lnB w="6350">
                      <a:noFill/>
                    </a:lnB>
                    <a:noFill/>
                  </a:tcPr>
                </a:tc>
                <a:tc>
                  <a:txBody>
                    <a:bodyPr/>
                    <a:lstStyle/>
                    <a:p>
                      <a:pPr algn="r" fontAlgn="ctr"/>
                      <a:r>
                        <a:rPr lang="ja-JP" altLang="en-US" sz="828" b="0" i="0" dirty="0">
                          <a:solidFill>
                            <a:srgbClr val="000000"/>
                          </a:solidFill>
                          <a:latin typeface="游ゴシック"/>
                          <a:ea typeface="游ゴシック"/>
                        </a:rPr>
                        <a:t>(単位：千円)</a:t>
                      </a:r>
                      <a:endParaRPr lang="ja-JP" altLang="en-US" sz="828" b="0" i="0" dirty="0">
                        <a:solidFill>
                          <a:srgbClr val="000000"/>
                        </a:solidFill>
                        <a:latin typeface="游ゴシック"/>
                        <a:ea typeface="游ゴシック"/>
                      </a:endParaRPr>
                    </a:p>
                  </a:txBody>
                  <a:tcPr marL="36576" marR="36576" marT="0" marB="0" anchor="ctr">
                    <a:lnL w="6350">
                      <a:noFill/>
                    </a:lnL>
                    <a:lnR w="6350">
                      <a:noFill/>
                    </a:lnR>
                    <a:lnT w="6350">
                      <a:noFill/>
                    </a:lnT>
                    <a:lnB w="6350">
                      <a:noFill/>
                    </a:lnB>
                    <a:noFill/>
                  </a:tcPr>
                </a:tc>
              </a:tr>
              <a:tr h="215900">
                <a:tc rowSpan="2">
                  <a:txBody>
                    <a:bodyPr/>
                    <a:lstStyle/>
                    <a:p>
                      <a:pPr algn="ctr" fontAlgn="ctr"/>
                      <a:r>
                        <a:rPr lang="ja-JP" altLang="en-US" sz="920" b="0" i="0" dirty="0">
                          <a:solidFill>
                            <a:srgbClr val="FFFFFF"/>
                          </a:solidFill>
                          <a:latin typeface="游ゴシック"/>
                          <a:ea typeface="游ゴシック"/>
                        </a:rPr>
                        <a:t>区分</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rowSpan="2">
                  <a:txBody>
                    <a:bodyPr/>
                    <a:lstStyle/>
                    <a:p>
                      <a:pPr algn="ctr" fontAlgn="ctr"/>
                      <a:r>
                        <a:rPr lang="ja-JP" altLang="en-US" sz="920" b="0" i="0" dirty="0">
                          <a:solidFill>
                            <a:srgbClr val="FFFFFF"/>
                          </a:solidFill>
                          <a:latin typeface="游ゴシック"/>
                          <a:ea typeface="游ゴシック"/>
                        </a:rPr>
                        <a:t>品目（大分類）</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gridSpan="2">
                  <a:txBody>
                    <a:bodyPr/>
                    <a:lstStyle/>
                    <a:p>
                      <a:pPr algn="ctr" fontAlgn="ctr"/>
                      <a:r>
                        <a:rPr lang="ja-JP" altLang="en-US" sz="920" b="0" i="0" dirty="0">
                          <a:solidFill>
                            <a:srgbClr val="FFFFFF"/>
                          </a:solidFill>
                          <a:latin typeface="游ゴシック"/>
                          <a:ea typeface="游ゴシック"/>
                        </a:rPr>
                        <a:t>24年3月期</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20" b="0" i="0" dirty="0">
                          <a:solidFill>
                            <a:srgbClr val="FFFFFF"/>
                          </a:solidFill>
                          <a:latin typeface="游ゴシック"/>
                          <a:ea typeface="游ゴシック"/>
                        </a:rPr>
                        <a:t>25年3月期</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gridSpan="2">
                  <a:txBody>
                    <a:bodyPr/>
                    <a:lstStyle/>
                    <a:p>
                      <a:pPr algn="ctr" fontAlgn="ctr"/>
                      <a:r>
                        <a:rPr lang="ja-JP" altLang="en-US" sz="920" b="0" i="0" dirty="0">
                          <a:solidFill>
                            <a:srgbClr val="FFFFFF"/>
                          </a:solidFill>
                          <a:latin typeface="游ゴシック"/>
                          <a:ea typeface="游ゴシック"/>
                        </a:rPr>
                        <a:t>26年3月期</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h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rowSpan="2">
                  <a:txBody>
                    <a:bodyPr/>
                    <a:lstStyle/>
                    <a:p>
                      <a:pPr algn="ctr" fontAlgn="ctr"/>
                      <a:r>
                        <a:rPr lang="ja-JP" altLang="en-US" sz="920" b="0" i="0" dirty="0">
                          <a:solidFill>
                            <a:srgbClr val="FFFFFF"/>
                          </a:solidFill>
                          <a:latin typeface="游ゴシック"/>
                          <a:ea typeface="游ゴシック"/>
                        </a:rPr>
                        <a:t>主な品目（2026/3期の上位）</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190500">
                <a:tc vMerge="1">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vMerge="1">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ctr" fontAlgn="ctr"/>
                      <a:r>
                        <a:rPr lang="ja-JP" altLang="en-US" sz="920" b="0" i="0" dirty="0">
                          <a:solidFill>
                            <a:srgbClr val="FFFFFF"/>
                          </a:solidFill>
                          <a:latin typeface="游ゴシック"/>
                          <a:ea typeface="游ゴシック"/>
                        </a:rPr>
                        <a:t>売上高</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20" b="0" i="0" dirty="0">
                          <a:solidFill>
                            <a:srgbClr val="FFFFFF"/>
                          </a:solidFill>
                          <a:latin typeface="游ゴシック"/>
                          <a:ea typeface="游ゴシック"/>
                        </a:rPr>
                        <a:t>構成比</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20" b="0" i="0" dirty="0">
                          <a:solidFill>
                            <a:srgbClr val="FFFFFF"/>
                          </a:solidFill>
                          <a:latin typeface="游ゴシック"/>
                          <a:ea typeface="游ゴシック"/>
                        </a:rPr>
                        <a:t>売上高</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20" b="0" i="0" dirty="0">
                          <a:solidFill>
                            <a:srgbClr val="FFFFFF"/>
                          </a:solidFill>
                          <a:latin typeface="游ゴシック"/>
                          <a:ea typeface="游ゴシック"/>
                        </a:rPr>
                        <a:t>構成比</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20" b="0" i="0" dirty="0">
                          <a:solidFill>
                            <a:srgbClr val="FFFFFF"/>
                          </a:solidFill>
                          <a:latin typeface="游ゴシック"/>
                          <a:ea typeface="游ゴシック"/>
                        </a:rPr>
                        <a:t>売上高</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920" b="0" i="0" dirty="0">
                          <a:solidFill>
                            <a:srgbClr val="FFFFFF"/>
                          </a:solidFill>
                          <a:latin typeface="游ゴシック"/>
                          <a:ea typeface="游ゴシック"/>
                        </a:rPr>
                        <a:t>構成比</a:t>
                      </a:r>
                      <a:endParaRPr lang="ja-JP" altLang="en-US" sz="92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vMerge="1">
                  <a:txBody>
                    <a:bodyPr/>
                    <a:lstStyle/>
                    <a:p>
                      <a:pPr algn="l" fontAlgn="ctr"/>
                      <a:endParaRPr lang="ja-JP" altLang="en-US" sz="900"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rowSpan="7">
                  <a:txBody>
                    <a:bodyPr/>
                    <a:lstStyle/>
                    <a:p>
                      <a:pPr algn="l" fontAlgn="ctr"/>
                      <a:r>
                        <a:rPr lang="ja-JP" altLang="en-US" sz="966" b="0" i="0" dirty="0">
                          <a:solidFill>
                            <a:srgbClr val="000000"/>
                          </a:solidFill>
                          <a:latin typeface="游ゴシック"/>
                          <a:ea typeface="游ゴシック"/>
                        </a:rPr>
                        <a:t>野菜</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66" b="0" i="0" dirty="0">
                          <a:solidFill>
                            <a:srgbClr val="000000"/>
                          </a:solidFill>
                          <a:latin typeface="游ゴシック"/>
                          <a:ea typeface="游ゴシック"/>
                        </a:rPr>
                        <a:t>葉茎菜類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205,856</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15.9%</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244,724</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18.9%</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191,041</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14.8%</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ねぎ・ほうれん草・小松菜</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l" fontAlgn="ctr"/>
                      <a:r>
                        <a:rPr lang="ja-JP" altLang="en-US" sz="966" b="0" i="0" dirty="0">
                          <a:solidFill>
                            <a:srgbClr val="000000"/>
                          </a:solidFill>
                          <a:latin typeface="游ゴシック"/>
                          <a:ea typeface="游ゴシック"/>
                        </a:rPr>
                        <a:t>果菜類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142,774</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11.0%</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149,191</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11.5%</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169,569</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13.1%</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ミニトマト・胡瓜・なす</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l" fontAlgn="ctr"/>
                      <a:r>
                        <a:rPr lang="ja-JP" altLang="en-US" sz="966" b="0" i="0" dirty="0">
                          <a:solidFill>
                            <a:srgbClr val="000000"/>
                          </a:solidFill>
                          <a:latin typeface="游ゴシック"/>
                          <a:ea typeface="游ゴシック"/>
                        </a:rPr>
                        <a:t>土物類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123,757</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9.5%</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98,684</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7.6%</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107,261</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8.3%</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たまねぎ・馬鈴薯・さつま芋</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l" fontAlgn="ctr"/>
                      <a:r>
                        <a:rPr lang="ja-JP" altLang="en-US" sz="966" b="0" i="0" dirty="0">
                          <a:solidFill>
                            <a:srgbClr val="000000"/>
                          </a:solidFill>
                          <a:latin typeface="游ゴシック"/>
                          <a:ea typeface="游ゴシック"/>
                        </a:rPr>
                        <a:t>きのこ・山菜類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126,643</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9.8%</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120,958</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9.3%</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104,553</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8.1%</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生しいたけ・なめこ・わらび</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l" fontAlgn="ctr"/>
                      <a:r>
                        <a:rPr lang="ja-JP" altLang="en-US" sz="966" b="0" i="0" dirty="0">
                          <a:solidFill>
                            <a:srgbClr val="000000"/>
                          </a:solidFill>
                          <a:latin typeface="游ゴシック"/>
                          <a:ea typeface="游ゴシック"/>
                        </a:rPr>
                        <a:t>豆類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66,320</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5.1%</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71,834</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5.5%</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68,917</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5.3%</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だだちゃ豆・枝豆・いんげん</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l" fontAlgn="ctr"/>
                      <a:r>
                        <a:rPr lang="ja-JP" altLang="en-US" sz="966" b="0" i="0" dirty="0">
                          <a:solidFill>
                            <a:srgbClr val="000000"/>
                          </a:solidFill>
                          <a:latin typeface="游ゴシック"/>
                          <a:ea typeface="游ゴシック"/>
                        </a:rPr>
                        <a:t>根菜類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69,222</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5.3%</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64,047</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4.9%</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61,838</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4.8%</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人参・たけのこ・ごぼう</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66" b="0" i="0" dirty="0">
                          <a:solidFill>
                            <a:srgbClr val="000000"/>
                          </a:solidFill>
                          <a:latin typeface="游ゴシック"/>
                          <a:ea typeface="游ゴシック"/>
                        </a:rPr>
                        <a:t>その他野菜</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37,250</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2.9%</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31,133</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2.4%</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29,732</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2.3%</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しょうが・みょうが・食用菊</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rowSpan="7">
                  <a:txBody>
                    <a:bodyPr/>
                    <a:lstStyle/>
                    <a:p>
                      <a:pPr algn="l" fontAlgn="ctr"/>
                      <a:r>
                        <a:rPr lang="ja-JP" altLang="en-US" sz="966" b="0" i="0" dirty="0">
                          <a:solidFill>
                            <a:srgbClr val="000000"/>
                          </a:solidFill>
                          <a:latin typeface="游ゴシック"/>
                          <a:ea typeface="游ゴシック"/>
                        </a:rPr>
                        <a:t>果実</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66" b="0" i="0" dirty="0">
                          <a:solidFill>
                            <a:srgbClr val="000000"/>
                          </a:solidFill>
                          <a:latin typeface="游ゴシック"/>
                          <a:ea typeface="游ゴシック"/>
                        </a:rPr>
                        <a:t>メロン類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131,781</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10.2%</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133,033</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10.3%</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124,870</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9.7%</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アンデスメロン・赤アンデス</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l" fontAlgn="ctr"/>
                      <a:r>
                        <a:rPr lang="ja-JP" altLang="en-US" sz="966" b="0" i="0" dirty="0">
                          <a:solidFill>
                            <a:srgbClr val="000000"/>
                          </a:solidFill>
                          <a:latin typeface="游ゴシック"/>
                          <a:ea typeface="游ゴシック"/>
                        </a:rPr>
                        <a:t>かき類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66,976</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5.2%</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75,494</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5.8%</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70,713</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5.5%</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庄内柿</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l" fontAlgn="ctr"/>
                      <a:r>
                        <a:rPr lang="ja-JP" altLang="en-US" sz="966" b="0" i="0" dirty="0">
                          <a:solidFill>
                            <a:srgbClr val="000000"/>
                          </a:solidFill>
                          <a:latin typeface="游ゴシック"/>
                          <a:ea typeface="游ゴシック"/>
                        </a:rPr>
                        <a:t>なし類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39,028</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3.0%</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47,752</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3.7%</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46,850</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3.6%</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幸水・豊水・ラ・フランス</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l" fontAlgn="ctr"/>
                      <a:r>
                        <a:rPr lang="ja-JP" altLang="en-US" sz="966" b="0" i="0" dirty="0">
                          <a:solidFill>
                            <a:srgbClr val="000000"/>
                          </a:solidFill>
                          <a:latin typeface="游ゴシック"/>
                          <a:ea typeface="游ゴシック"/>
                        </a:rPr>
                        <a:t>柑橘類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73,930</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5.7%</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67,852</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5.2%</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58,031</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4.5%</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みかん・ネーブル・デコポン</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l" fontAlgn="ctr"/>
                      <a:r>
                        <a:rPr lang="ja-JP" altLang="en-US" sz="966" b="0" i="0" dirty="0">
                          <a:solidFill>
                            <a:srgbClr val="000000"/>
                          </a:solidFill>
                          <a:latin typeface="游ゴシック"/>
                          <a:ea typeface="游ゴシック"/>
                        </a:rPr>
                        <a:t>キウイ・バナナ等</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28,002</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2.2%</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21,420</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1.7%</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38,747</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3.0%</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キウイ・バナナ・アボカド</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noFill/>
                    </a:lnB>
                    <a:noFill/>
                  </a:tcPr>
                </a:tc>
                <a:tc>
                  <a:txBody>
                    <a:bodyPr/>
                    <a:lstStyle/>
                    <a:p>
                      <a:pPr algn="l" fontAlgn="ctr"/>
                      <a:r>
                        <a:rPr lang="ja-JP" altLang="en-US" sz="966" b="0" i="0" dirty="0">
                          <a:solidFill>
                            <a:srgbClr val="000000"/>
                          </a:solidFill>
                          <a:latin typeface="游ゴシック"/>
                          <a:ea typeface="游ゴシック"/>
                        </a:rPr>
                        <a:t>りんご類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16,736</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1.3%</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15,461</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1.2%</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33,824</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2.6%</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ふじ・つがる</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v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966" b="0" i="0" dirty="0">
                          <a:solidFill>
                            <a:srgbClr val="000000"/>
                          </a:solidFill>
                          <a:latin typeface="游ゴシック"/>
                          <a:ea typeface="游ゴシック"/>
                        </a:rPr>
                        <a:t>その他果実</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85,752</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6.6%</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74,250</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5.7%</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109,542</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8.5%</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いちご・すいか・桃・さくらんぼ</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66" b="0" i="0" dirty="0">
                          <a:solidFill>
                            <a:srgbClr val="000000"/>
                          </a:solidFill>
                          <a:latin typeface="游ゴシック"/>
                          <a:ea typeface="游ゴシック"/>
                        </a:rPr>
                        <a:t>花き</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66" b="0" i="0" dirty="0">
                          <a:solidFill>
                            <a:srgbClr val="000000"/>
                          </a:solidFill>
                          <a:latin typeface="游ゴシック"/>
                          <a:ea typeface="游ゴシック"/>
                        </a:rPr>
                        <a:t>花き類</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33,555</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2.6%</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31,788</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2.5%</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31,116</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2.4%</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生花（花束等）</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15900">
                <a:tc>
                  <a:txBody>
                    <a:bodyPr/>
                    <a:lstStyle/>
                    <a:p>
                      <a:pPr algn="l" fontAlgn="ctr"/>
                      <a:r>
                        <a:rPr lang="ja-JP" altLang="en-US" sz="966" b="0" i="0" dirty="0">
                          <a:solidFill>
                            <a:srgbClr val="000000"/>
                          </a:solidFill>
                          <a:latin typeface="游ゴシック"/>
                          <a:ea typeface="游ゴシック"/>
                        </a:rPr>
                        <a:t>加工品</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966" b="0" i="0" dirty="0">
                          <a:solidFill>
                            <a:srgbClr val="000000"/>
                          </a:solidFill>
                          <a:latin typeface="游ゴシック"/>
                          <a:ea typeface="游ゴシック"/>
                        </a:rPr>
                        <a:t>加工品・その他</a:t>
                      </a:r>
                      <a:endParaRPr lang="ja-JP" altLang="en-US" sz="966"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49,920</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3.8%</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48,111</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3.7%</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966" b="0" i="0" dirty="0">
                          <a:solidFill>
                            <a:srgbClr val="000000"/>
                          </a:solidFill>
                          <a:latin typeface="Arial"/>
                          <a:ea typeface="游ゴシック Medium"/>
                        </a:rPr>
                        <a:t>47,322</a:t>
                      </a:r>
                      <a:endParaRPr lang="ja-JP" altLang="en-US" sz="966"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r" fontAlgn="ctr"/>
                      <a:r>
                        <a:rPr lang="ja-JP" altLang="en-US" sz="828" b="0" i="0" dirty="0">
                          <a:solidFill>
                            <a:srgbClr val="000000"/>
                          </a:solidFill>
                          <a:latin typeface="Arial"/>
                          <a:ea typeface="游ゴシック Medium"/>
                        </a:rPr>
                        <a:t>3.7%</a:t>
                      </a:r>
                      <a:endParaRPr lang="ja-JP" altLang="en-US" sz="828" b="0"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828" b="0" i="0" dirty="0">
                          <a:solidFill>
                            <a:srgbClr val="000000"/>
                          </a:solidFill>
                          <a:latin typeface="游ゴシック"/>
                          <a:ea typeface="游ゴシック"/>
                        </a:rPr>
                        <a:t>もやし・干物・漬物等</a:t>
                      </a:r>
                      <a:endParaRPr lang="ja-JP" altLang="en-US" sz="828"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241300">
                <a:tc gridSpan="2">
                  <a:txBody>
                    <a:bodyPr/>
                    <a:lstStyle/>
                    <a:p>
                      <a:pPr algn="l" fontAlgn="ctr"/>
                      <a:r>
                        <a:rPr lang="ja-JP" altLang="en-US" sz="966" b="1" i="0" dirty="0">
                          <a:solidFill>
                            <a:srgbClr val="000000"/>
                          </a:solidFill>
                          <a:latin typeface="游ゴシック"/>
                          <a:ea typeface="游ゴシック"/>
                        </a:rPr>
                        <a:t>合計</a:t>
                      </a:r>
                      <a:endParaRPr lang="ja-JP" altLang="en-US" sz="966"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hMerge="1">
                  <a:txBody>
                    <a:bodyPr/>
                    <a:lstStyle/>
                    <a:p>
                      <a:pPr algn="l" fontAlgn="ctr"/>
                      <a:endParaRPr lang="ja-JP" altLang="en-US" sz="1012" b="0" i="0" dirty="0">
                        <a:solidFill>
                          <a:srgbClr val="000000"/>
                        </a:solidFill>
                        <a:latin typeface="游ゴシック Medium"/>
                        <a:ea typeface="游ゴシック"/>
                      </a:endParaRPr>
                    </a:p>
                  </a:txBody>
                  <a:tcPr marL="36576" marR="36576" marT="0" marB="0" anchor="ctr">
                    <a:lnL w="6350">
                      <a:noFill/>
                    </a:lnL>
                    <a:lnR w="12700">
                      <a:solidFill>
                        <a:srgbClr val="FFFFFF"/>
                      </a:solidFill>
                    </a:lnR>
                    <a:lnT w="6350">
                      <a:noFill/>
                    </a:lnT>
                    <a:lnB w="6350">
                      <a:solidFill>
                        <a:srgbClr val="A6A6A6"/>
                      </a:solidFill>
                    </a:lnB>
                    <a:noFill/>
                  </a:tcPr>
                </a:tc>
                <a:tc>
                  <a:txBody>
                    <a:bodyPr/>
                    <a:lstStyle/>
                    <a:p>
                      <a:pPr algn="r" fontAlgn="ctr"/>
                      <a:r>
                        <a:rPr lang="ja-JP" altLang="en-US" sz="966" b="1" i="0" dirty="0">
                          <a:solidFill>
                            <a:srgbClr val="000000"/>
                          </a:solidFill>
                          <a:latin typeface="Arial"/>
                          <a:ea typeface="游ゴシック Medium"/>
                        </a:rPr>
                        <a:t>1,297,501</a:t>
                      </a:r>
                      <a:endParaRPr lang="ja-JP" altLang="en-US" sz="966"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66" b="1" i="0" dirty="0">
                          <a:solidFill>
                            <a:srgbClr val="000000"/>
                          </a:solidFill>
                          <a:latin typeface="Arial"/>
                          <a:ea typeface="游ゴシック Medium"/>
                        </a:rPr>
                        <a:t>100.0%</a:t>
                      </a:r>
                      <a:endParaRPr lang="ja-JP" altLang="en-US" sz="966"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66" b="1" i="0" dirty="0">
                          <a:solidFill>
                            <a:srgbClr val="000000"/>
                          </a:solidFill>
                          <a:latin typeface="Arial"/>
                          <a:ea typeface="游ゴシック Medium"/>
                        </a:rPr>
                        <a:t>1,295,730</a:t>
                      </a:r>
                      <a:endParaRPr lang="ja-JP" altLang="en-US" sz="966"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66" b="1" i="0" dirty="0">
                          <a:solidFill>
                            <a:srgbClr val="000000"/>
                          </a:solidFill>
                          <a:latin typeface="Arial"/>
                          <a:ea typeface="游ゴシック Medium"/>
                        </a:rPr>
                        <a:t>100.0%</a:t>
                      </a:r>
                      <a:endParaRPr lang="ja-JP" altLang="en-US" sz="966"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66" b="1" i="0" dirty="0">
                          <a:solidFill>
                            <a:srgbClr val="000000"/>
                          </a:solidFill>
                          <a:latin typeface="Arial"/>
                          <a:ea typeface="游ゴシック Medium"/>
                        </a:rPr>
                        <a:t>1,293,926</a:t>
                      </a:r>
                      <a:endParaRPr lang="ja-JP" altLang="en-US" sz="966"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r" fontAlgn="ctr"/>
                      <a:r>
                        <a:rPr lang="ja-JP" altLang="en-US" sz="966" b="1" i="0" dirty="0">
                          <a:solidFill>
                            <a:srgbClr val="000000"/>
                          </a:solidFill>
                          <a:latin typeface="Arial"/>
                          <a:ea typeface="游ゴシック Medium"/>
                        </a:rPr>
                        <a:t>100.0%</a:t>
                      </a:r>
                      <a:endParaRPr lang="ja-JP" altLang="en-US" sz="966" b="1" i="0" dirty="0">
                        <a:solidFill>
                          <a:srgbClr val="000000"/>
                        </a:solidFill>
                        <a:latin typeface="Arial"/>
                        <a:ea typeface="游ゴシック Medium"/>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c>
                  <a:txBody>
                    <a:bodyPr/>
                    <a:lstStyle/>
                    <a:p>
                      <a:pPr algn="l" fontAlgn="ctr"/>
                      <a:endParaRPr lang="ja-JP" altLang="en-US" sz="966" b="1"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1F3FB"/>
                    </a:solidFill>
                  </a:tcPr>
                </a:tc>
              </a:tr>
            </a:tbl>
          </a:graphicData>
        </a:graphic>
      </p:graphicFrame>
      <p:sp>
        <p:nvSpPr>
          <p:cNvPr id="15" name="TextBox 14"/>
          <p:cNvSpPr txBox="1"/>
          <p:nvPr/>
        </p:nvSpPr>
        <p:spPr>
          <a:xfrm>
            <a:off x="310896" y="5847080"/>
            <a:ext cx="7498079" cy="164592"/>
          </a:xfrm>
          <a:prstGeom prst="rect">
            <a:avLst/>
          </a:prstGeom>
          <a:noFill/>
        </p:spPr>
        <p:txBody>
          <a:bodyPr wrap="square" lIns="0" rIns="0" tIns="0" bIns="0">
            <a:spAutoFit/>
          </a:bodyPr>
          <a:lstStyle/>
          <a:p>
            <a:r>
              <a:rPr sz="750">
                <a:solidFill>
                  <a:srgbClr val="000000"/>
                </a:solidFill>
                <a:latin typeface="游ゴシック"/>
                <a:ea typeface="游ゴシック"/>
              </a:rPr>
              <a:t>※分類別商品売上実績表（販売管理システム、各期3月末現在の年間累計）。決算書の商品売上高とは集計範囲が異なる（受託販売分を販売額の総額で集計していると推察：要確認）。</a:t>
            </a:r>
          </a:p>
        </p:txBody>
      </p:sp>
      <p:graphicFrame>
        <p:nvGraphicFramePr>
          <p:cNvPr id="16" name="Chart 15"/>
          <p:cNvGraphicFramePr>
            <a:graphicFrameLocks noGrp="1"/>
          </p:cNvGraphicFramePr>
          <p:nvPr/>
        </p:nvGraphicFramePr>
        <p:xfrm>
          <a:off x="8001000" y="1463040"/>
          <a:ext cx="2377440" cy="3108960"/>
        </p:xfrm>
        <a:graphic>
          <a:graphicData uri="http://schemas.openxmlformats.org/drawingml/2006/chart">
            <c:chart xmlns:c="http://schemas.openxmlformats.org/drawingml/2006/chart" r:id="rId2"/>
          </a:graphicData>
        </a:graphic>
      </p:graphicFrame>
      <p:sp>
        <p:nvSpPr>
          <p:cNvPr id="17" name="正方形/長方形 7">
            <a:extLst>
              <a:ext uri="{FF2B5EF4-FFF2-40B4-BE49-F238E27FC236}">
                <a16:creationId xmlns:a16="http://schemas.microsoft.com/office/drawing/2014/main" id="{CBD334A9-999C-ACD4-9DD2-EF961CBA0926}"/>
              </a:ext>
            </a:extLst>
          </p:cNvPr>
          <p:cNvSpPr/>
          <p:nvPr/>
        </p:nvSpPr>
        <p:spPr>
          <a:xfrm>
            <a:off x="8001000" y="4754880"/>
            <a:ext cx="2377440" cy="1920240"/>
          </a:xfrm>
          <a:prstGeom prst="rect">
            <a:avLst/>
          </a:prstGeom>
          <a:noFill/>
          <a:ln w="25400">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252000" rIns="0" bIns="0" rtlCol="0" anchor="t"/>
          <a:lstStyle/>
          <a:p>
            <a:pPr algn="ctr"/>
            <a:r>
              <a:rPr kumimoji="1" lang="en-US" altLang="ja-JP" sz="1600" b="1" dirty="0">
                <a:solidFill>
                  <a:schemeClr val="tx2"/>
                </a:solidFill>
                <a:latin typeface="+mj-lt"/>
                <a:ea typeface="+mj-ea"/>
              </a:rPr>
              <a:t>Comment</a:t>
            </a:r>
            <a:endParaRPr kumimoji="1" lang="ja-JP" altLang="en-US" sz="1600" b="1" dirty="0">
              <a:solidFill>
                <a:schemeClr val="tx2"/>
              </a:solidFill>
              <a:latin typeface="+mj-lt"/>
              <a:ea typeface="+mj-ea"/>
            </a:endParaRPr>
          </a:p>
        </p:txBody>
      </p:sp>
      <p:sp>
        <p:nvSpPr>
          <p:cNvPr id="18" name="テキスト ボックス 8">
            <a:extLst>
              <a:ext uri="{FF2B5EF4-FFF2-40B4-BE49-F238E27FC236}">
                <a16:creationId xmlns:a16="http://schemas.microsoft.com/office/drawing/2014/main" id="{E5084622-1D6B-783F-80DE-6D9A498C7C12}"/>
              </a:ext>
            </a:extLst>
          </p:cNvPr>
          <p:cNvSpPr txBox="1"/>
          <p:nvPr/>
        </p:nvSpPr>
        <p:spPr>
          <a:xfrm>
            <a:off x="8001000" y="5257800"/>
            <a:ext cx="2377440" cy="1371600"/>
          </a:xfrm>
          <a:prstGeom prst="rect">
            <a:avLst/>
          </a:prstGeom>
          <a:noFill/>
        </p:spPr>
        <p:txBody>
          <a:bodyPr wrap="square" lIns="288000" tIns="0" rIns="252000" bIns="0" rtlCol="0">
            <a:spAutoFit/>
          </a:bodyPr>
          <a:lstStyle/>
          <a:p>
            <a:pPr>
              <a:spcAft>
                <a:spcPts val="300"/>
              </a:spcAft>
            </a:pPr>
            <a:r>
              <a:rPr lang="ja-JP" altLang="en-US" sz="1000" b="1" dirty="0">
                <a:solidFill>
                  <a:sysClr val="windowText" lastClr="000000"/>
                </a:solidFill>
                <a:latin typeface="游ゴシック"/>
                <a:ea typeface="游ゴシック"/>
              </a:rPr>
              <a:t>≪品揃え≫</a:t>
            </a:r>
          </a:p>
          <a:p>
            <a:pPr>
              <a:spcAft>
                <a:spcPts val="300"/>
              </a:spcAft>
            </a:pPr>
            <a:r>
              <a:rPr lang="ja-JP" altLang="en-US" sz="900" b="0" dirty="0">
                <a:solidFill>
                  <a:sysClr val="windowText" lastClr="000000"/>
                </a:solidFill>
                <a:latin typeface="游ゴシック"/>
                <a:ea typeface="游ゴシック"/>
              </a:rPr>
              <a:t>・野菜56.6%・果実37.3%。地場の葉物・だだちゃ豆・庄内柿・メロンが柱。</a:t>
            </a:r>
          </a:p>
          <a:p>
            <a:pPr>
              <a:spcAft>
                <a:spcPts val="300"/>
              </a:spcAft>
            </a:pPr>
            <a:r>
              <a:rPr lang="ja-JP" altLang="en-US" sz="1000" b="1" dirty="0">
                <a:solidFill>
                  <a:sysClr val="windowText" lastClr="000000"/>
                </a:solidFill>
                <a:latin typeface="游ゴシック"/>
                <a:ea typeface="游ゴシック"/>
              </a:rPr>
              <a:t>≪季節性≫</a:t>
            </a:r>
          </a:p>
          <a:p>
            <a:pPr>
              <a:spcAft>
                <a:spcPts val="300"/>
              </a:spcAft>
            </a:pPr>
            <a:r>
              <a:rPr lang="ja-JP" altLang="en-US" sz="900" b="0" dirty="0">
                <a:solidFill>
                  <a:sysClr val="windowText" lastClr="000000"/>
                </a:solidFill>
                <a:latin typeface="游ゴシック"/>
                <a:ea typeface="游ゴシック"/>
              </a:rPr>
              <a:t>・7〜8月の枝豆・メロン、10〜11月の庄内柿・梨が繁忙期を形成。</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 name="タイトル 12">
            <a:extLst>
              <a:ext uri="{FF2B5EF4-FFF2-40B4-BE49-F238E27FC236}">
                <a16:creationId xmlns:a16="http://schemas.microsoft.com/office/drawing/2014/main" id="{7E874B4C-2D5E-166C-B8B9-0164D0AAEFB9}"/>
              </a:ext>
            </a:extLst>
          </p:cNvPr>
          <p:cNvSpPr>
            <a:spLocks noGrp="1"/>
          </p:cNvSpPr>
          <p:nvPr>
            <p:ph type="ctrTitle"/>
          </p:nvPr>
        </p:nvSpPr>
        <p:spPr>
          <a:xfrm>
            <a:off x="311150" y="180296"/>
            <a:ext cx="7799917" cy="339267"/>
          </a:xfrm>
        </p:spPr>
        <p:txBody>
          <a:bodyPr>
            <a:normAutofit/>
          </a:bodyPr>
          <a:lstStyle/>
          <a:p>
            <a:r>
              <a:rPr lang="ja-JP" altLang="en-US" dirty="0"/>
              <a:t>許認可一覧</a:t>
            </a:r>
          </a:p>
        </p:txBody>
      </p:sp>
      <p:sp>
        <p:nvSpPr>
          <p:cNvPr id="5" name="タイトル 1">
            <a:extLst>
              <a:ext uri="{FF2B5EF4-FFF2-40B4-BE49-F238E27FC236}">
                <a16:creationId xmlns:a16="http://schemas.microsoft.com/office/drawing/2014/main" id="{8B300F08-EE1D-F462-B949-D3B040FD0277}"/>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en-US" altLang="ja-JP" sz="1200" b="1" spc="55" dirty="0">
                <a:solidFill>
                  <a:schemeClr val="bg1"/>
                </a:solidFill>
              </a:rPr>
              <a:t>組織、拠点、設備等</a:t>
            </a:r>
            <a:endParaRPr lang="ja-JP" altLang="en-US" sz="1200" b="1" spc="55" dirty="0">
              <a:solidFill>
                <a:schemeClr val="bg1"/>
              </a:solidFill>
            </a:endParaRPr>
          </a:p>
        </p:txBody>
      </p:sp>
      <p:sp>
        <p:nvSpPr>
          <p:cNvPr id="4" name="字幕 13">
            <a:extLst>
              <a:ext uri="{FF2B5EF4-FFF2-40B4-BE49-F238E27FC236}">
                <a16:creationId xmlns:a16="http://schemas.microsoft.com/office/drawing/2014/main" id="{FCA9575B-1240-BC5B-38CA-16FCB838E8D8}"/>
              </a:ext>
            </a:extLst>
          </p:cNvPr>
          <p:cNvSpPr>
            <a:spLocks noGrp="1"/>
          </p:cNvSpPr>
          <p:nvPr>
            <p:ph type="subTitle" idx="1"/>
          </p:nvPr>
        </p:nvSpPr>
        <p:spPr>
          <a:xfrm>
            <a:off x="460675" y="830046"/>
            <a:ext cx="9781875" cy="241861"/>
          </a:xfrm>
        </p:spPr>
        <p:txBody>
          <a:bodyPr>
            <a:noAutofit/>
          </a:bodyPr>
          <a:lstStyle/>
          <a:p>
            <a:r>
              <a:rPr lang="ja-JP" altLang="en-US" dirty="0">
                <a:latin typeface="游ゴシック"/>
                <a:ea typeface="游ゴシック"/>
              </a:rPr>
              <a:t>卸売市場法に基づき、山形県知事から地方卸売市場の認定を受けている（2020年6月認定、2026年2月変更認定）。市場の開設・運営は事業継続の前提となる許認可。</a:t>
            </a:r>
          </a:p>
        </p:txBody>
      </p:sp>
      <p:graphicFrame>
        <p:nvGraphicFramePr>
          <p:cNvPr id="14" name="表（許認可!B5:F8）"/>
          <p:cNvGraphicFramePr>
            <a:graphicFrameLocks noGrp="1"/>
          </p:cNvGraphicFramePr>
          <p:nvPr/>
        </p:nvGraphicFramePr>
        <p:xfrm>
          <a:off x="448056" y="1508760"/>
          <a:ext cx="9793221" cy="1612900"/>
        </p:xfrm>
        <a:graphic>
          <a:graphicData uri="http://schemas.openxmlformats.org/drawingml/2006/table">
            <a:tbl>
              <a:tblPr firstRow="0" bandRow="0">
                <a:tableStyleId>{2D5ABB26-0587-4C30-8999-92F81FD0307C}</a:tableStyleId>
              </a:tblPr>
              <a:tblGrid>
                <a:gridCol w="1788556"/>
                <a:gridCol w="1788556"/>
                <a:gridCol w="2951392"/>
                <a:gridCol w="1833556"/>
                <a:gridCol w="1431161"/>
              </a:tblGrid>
              <a:tr h="241300">
                <a:tc>
                  <a:txBody>
                    <a:bodyPr/>
                    <a:lstStyle/>
                    <a:p>
                      <a:pPr algn="ctr" fontAlgn="ctr"/>
                      <a:r>
                        <a:rPr lang="ja-JP" altLang="en-US" sz="1000" b="0" i="0" dirty="0">
                          <a:solidFill>
                            <a:srgbClr val="FFFFFF"/>
                          </a:solidFill>
                          <a:latin typeface="游ゴシック"/>
                          <a:ea typeface="游ゴシック"/>
                        </a:rPr>
                        <a:t>許認可等</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根拠法令・所管</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内容</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認定日・効力発生日</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c>
                  <a:txBody>
                    <a:bodyPr/>
                    <a:lstStyle/>
                    <a:p>
                      <a:pPr algn="ctr" fontAlgn="ctr"/>
                      <a:r>
                        <a:rPr lang="ja-JP" altLang="en-US" sz="1000" b="0" i="0" dirty="0">
                          <a:solidFill>
                            <a:srgbClr val="FFFFFF"/>
                          </a:solidFill>
                          <a:latin typeface="游ゴシック"/>
                          <a:ea typeface="游ゴシック"/>
                        </a:rPr>
                        <a:t>備考</a:t>
                      </a:r>
                      <a:endParaRPr lang="ja-JP" altLang="en-US" sz="1000" b="0" i="0" dirty="0">
                        <a:solidFill>
                          <a:srgbClr val="FFFFFF"/>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0B3041"/>
                    </a:solidFill>
                  </a:tcPr>
                </a:tc>
              </a:tr>
              <a:tr h="457200">
                <a:tc>
                  <a:txBody>
                    <a:bodyPr/>
                    <a:lstStyle/>
                    <a:p>
                      <a:pPr algn="l" fontAlgn="ctr"/>
                      <a:r>
                        <a:rPr lang="ja-JP" altLang="en-US" sz="1050" b="0" i="0" dirty="0">
                          <a:solidFill>
                            <a:srgbClr val="000000"/>
                          </a:solidFill>
                          <a:latin typeface="游ゴシック"/>
                          <a:ea typeface="游ゴシック"/>
                        </a:rPr>
                        <a:t>地方卸売市場の認定</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卸売市場法</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（山形県知事）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卸売市場の名称：株式会社鶴岡中央青果</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所在地：山形県鶴岡市宝田一丁目4番20号</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2020年6月19日認定</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（効力発生日 2020年6月21日）</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改正卸売市場法の施行に伴う認定</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地方卸売市場の変更の認定</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卸売市場法第14条</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（山形県知事）</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認定事項の変更（変更内容は要確認）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2026年2月13日認定</a:t>
                      </a:r>
                      <a:endParaRPr lang="ja-JP" altLang="en-US" sz="1000" b="0" i="0" dirty="0">
                        <a:solidFill>
                          <a:srgbClr val="000000"/>
                        </a:solidFill>
                        <a:latin typeface="游ゴシック"/>
                        <a:ea typeface="游ゴシック"/>
                      </a:endParaRPr>
                    </a:p>
                    <a:p>
                      <a:pPr algn="l" fontAlgn="ctr"/>
                      <a:r>
                        <a:rPr lang="ja-JP" altLang="en-US" sz="1000" b="0" i="0" dirty="0">
                          <a:solidFill>
                            <a:srgbClr val="000000"/>
                          </a:solidFill>
                          <a:latin typeface="游ゴシック"/>
                          <a:ea typeface="游ゴシック"/>
                        </a:rPr>
                        <a:t>（効力発生日 2026年4月1日）</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認定証の写しを受領</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r h="457200">
                <a:tc>
                  <a:txBody>
                    <a:bodyPr/>
                    <a:lstStyle/>
                    <a:p>
                      <a:pPr algn="l" fontAlgn="ctr"/>
                      <a:r>
                        <a:rPr lang="ja-JP" altLang="en-US" sz="1050" b="0" i="0" dirty="0">
                          <a:solidFill>
                            <a:srgbClr val="000000"/>
                          </a:solidFill>
                          <a:latin typeface="游ゴシック"/>
                          <a:ea typeface="游ゴシック"/>
                        </a:rPr>
                        <a:t>倉庫業</a:t>
                      </a:r>
                      <a:endParaRPr lang="ja-JP" altLang="en-US" sz="105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solidFill>
                      <a:srgbClr val="E3E7E9"/>
                    </a:solidFill>
                  </a:tcPr>
                </a:tc>
                <a:tc>
                  <a:txBody>
                    <a:bodyPr/>
                    <a:lstStyle/>
                    <a:p>
                      <a:pPr algn="l" fontAlgn="ctr"/>
                      <a:r>
                        <a:rPr lang="ja-JP" altLang="en-US" sz="1000" b="0" i="0" dirty="0">
                          <a:solidFill>
                            <a:srgbClr val="000000"/>
                          </a:solidFill>
                          <a:latin typeface="游ゴシック"/>
                          <a:ea typeface="游ゴシック"/>
                        </a:rPr>
                        <a:t>倉庫業法</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定款の目的に記載</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c>
                  <a:txBody>
                    <a:bodyPr/>
                    <a:lstStyle/>
                    <a:p>
                      <a:pPr algn="l" fontAlgn="ctr"/>
                      <a:r>
                        <a:rPr lang="ja-JP" altLang="en-US" sz="1000" b="0" i="0" dirty="0">
                          <a:solidFill>
                            <a:srgbClr val="000000"/>
                          </a:solidFill>
                          <a:latin typeface="游ゴシック"/>
                          <a:ea typeface="游ゴシック"/>
                        </a:rPr>
                        <a:t>登録の有無は要確認</a:t>
                      </a:r>
                      <a:endParaRPr lang="ja-JP" altLang="en-US" sz="1000" b="0" i="0" dirty="0">
                        <a:solidFill>
                          <a:srgbClr val="000000"/>
                        </a:solidFill>
                        <a:latin typeface="游ゴシック"/>
                        <a:ea typeface="游ゴシック"/>
                      </a:endParaRPr>
                    </a:p>
                  </a:txBody>
                  <a:tcPr marL="36576" marR="36576" marT="0" marB="0" anchor="ctr">
                    <a:lnL w="12700">
                      <a:solidFill>
                        <a:srgbClr val="FFFFFF"/>
                      </a:solidFill>
                    </a:lnL>
                    <a:lnR w="12700">
                      <a:solidFill>
                        <a:srgbClr val="FFFFFF"/>
                      </a:solidFill>
                    </a:lnR>
                    <a:lnT w="6350">
                      <a:noFill/>
                    </a:lnT>
                    <a:lnB w="6350">
                      <a:solidFill>
                        <a:srgbClr val="A6A6A6"/>
                      </a:solidFill>
                    </a:lnB>
                    <a:noFill/>
                  </a:tcPr>
                </a:tc>
              </a:tr>
            </a:tbl>
          </a:graphicData>
        </a:graphic>
      </p:graphicFrame>
      <p:sp>
        <p:nvSpPr>
          <p:cNvPr id="15" name="TextBox 14"/>
          <p:cNvSpPr txBox="1"/>
          <p:nvPr/>
        </p:nvSpPr>
        <p:spPr>
          <a:xfrm>
            <a:off x="448056" y="3213100"/>
            <a:ext cx="9793224" cy="164592"/>
          </a:xfrm>
          <a:prstGeom prst="rect">
            <a:avLst/>
          </a:prstGeom>
          <a:noFill/>
        </p:spPr>
        <p:txBody>
          <a:bodyPr wrap="square" lIns="0" rIns="0" tIns="0" bIns="0">
            <a:spAutoFit/>
          </a:bodyPr>
          <a:lstStyle/>
          <a:p>
            <a:r>
              <a:rPr sz="800">
                <a:solidFill>
                  <a:srgbClr val="000000"/>
                </a:solidFill>
                <a:latin typeface="游ゴシック"/>
                <a:ea typeface="游ゴシック"/>
              </a:rPr>
              <a:t>※出所：地方卸売市場の認定証・変更の認定証（山形県知事）、履歴事項全部証明書。認定の条件（取扱品目・開場日等）は業務規程で要確認。</a:t>
            </a:r>
          </a:p>
        </p:txBody>
      </p:sp>
    </p:spTree>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7717</TotalTime>
  <Words>3079</Words>
  <Application>Microsoft Office PowerPoint</Application>
  <PresentationFormat>ユーザー設定</PresentationFormat>
  <Paragraphs>384</Paragraphs>
  <Slides>36</Slides>
  <Notes>30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36</vt:i4>
      </vt:variant>
    </vt:vector>
  </HeadingPairs>
  <TitlesOfParts>
    <vt:vector size="40" baseType="lpstr">
      <vt:lpstr>游ゴシック</vt:lpstr>
      <vt:lpstr>Arial</vt:lpstr>
      <vt:lpstr>Wingdings</vt:lpstr>
      <vt:lpstr>SL_2026</vt:lpstr>
      <vt:lpstr>企業概要書 &lt;●●業/●●地区&gt;　</vt:lpstr>
      <vt:lpstr>はじめに</vt:lpstr>
      <vt:lpstr>PowerPoint プレゼンテーション</vt:lpstr>
      <vt:lpstr>エグゼクティブサマリー</vt:lpstr>
      <vt:lpstr>基本情報</vt:lpstr>
      <vt:lpstr>財務ハイライト（P/L）</vt:lpstr>
      <vt:lpstr>財務ハイライト（B/S）</vt:lpstr>
      <vt:lpstr>譲渡希望条件</vt:lpstr>
      <vt:lpstr>事業概要</vt:lpstr>
      <vt:lpstr>事業内容</vt:lpstr>
      <vt:lpstr>サービス概要、製品一例、工事実績、など</vt:lpstr>
      <vt:lpstr>特徴、強み、成長性等</vt:lpstr>
      <vt:lpstr>●●別売上高</vt:lpstr>
      <vt:lpstr>仕入先別取引高</vt:lpstr>
      <vt:lpstr>外注費</vt:lpstr>
      <vt:lpstr>組織、拠点、設備等</vt:lpstr>
      <vt:lpstr>組織図</vt:lpstr>
      <vt:lpstr>株主及び役員</vt:lpstr>
      <vt:lpstr>従業員</vt:lpstr>
      <vt:lpstr>拠点概要（本社）</vt:lpstr>
      <vt:lpstr>拠点概要（●●工場）</vt:lpstr>
      <vt:lpstr>不動産詳細</vt:lpstr>
      <vt:lpstr>保有設備一覧</vt:lpstr>
      <vt:lpstr>財務情報詳細</vt:lpstr>
      <vt:lpstr>貸借対照表</vt:lpstr>
      <vt:lpstr>損益計算書</vt:lpstr>
      <vt:lpstr>製造原価報告書</vt:lpstr>
      <vt:lpstr>販売費及び一般管理費</vt:lpstr>
      <vt:lpstr>Appendix</vt:lpstr>
      <vt:lpstr>沿革</vt:lpstr>
      <vt:lpstr>代表者経歴</vt:lpstr>
      <vt:lpstr>事業計画</vt:lpstr>
      <vt:lpstr>今期予算</vt:lpstr>
      <vt:lpstr>その他補足情報</vt:lpstr>
      <vt:lpstr>報酬体系</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宮本 健</dc:creator>
  <cp:lastModifiedBy>越智 真也</cp:lastModifiedBy>
  <cp:revision>176</cp:revision>
  <cp:lastPrinted>2025-10-23T01:12:16Z</cp:lastPrinted>
  <dcterms:created xsi:type="dcterms:W3CDTF">2022-11-09T11:25:01Z</dcterms:created>
  <dcterms:modified xsi:type="dcterms:W3CDTF">2026-02-10T11:59:22Z</dcterms:modified>
</cp:coreProperties>
</file>