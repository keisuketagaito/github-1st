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media/image7.svg" ContentType="image/svg+xml"/>
  <Override PartName="/ppt/media/image9.svg" ContentType="image/svg+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7.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2.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trictFirstAndLastChars="0" saveSubsetFonts="1" autoCompressPictures="0">
  <p:sldMasterIdLst>
    <p:sldMasterId id="2147483653" r:id="rId1"/>
  </p:sldMasterIdLst>
  <p:notesMasterIdLst>
    <p:notesMasterId r:id="rId38"/>
  </p:notesMasterIdLst>
  <p:sldIdLst>
    <p:sldId id="770" r:id="rId2"/>
    <p:sldId id="269" r:id="rId3"/>
    <p:sldId id="693" r:id="rId4"/>
    <p:sldId id="749" r:id="rId5"/>
    <p:sldId id="748" r:id="rId6"/>
    <p:sldId id="799" r:id="rId33"/>
    <p:sldId id="774" r:id="rId7"/>
    <p:sldId id="775" r:id="rId8"/>
    <p:sldId id="266" r:id="rId9"/>
    <p:sldId id="772" r:id="rId10"/>
    <p:sldId id="776" r:id="rId11"/>
    <p:sldId id="798" r:id="rId12"/>
    <p:sldId id="796" r:id="rId13"/>
    <p:sldId id="792" r:id="rId14"/>
    <p:sldId id="779" r:id="rId15"/>
    <p:sldId id="797" r:id="rId16"/>
    <p:sldId id="771" r:id="rId17"/>
    <p:sldId id="780" r:id="rId18"/>
    <p:sldId id="789" r:id="rId19"/>
    <p:sldId id="781" r:id="rId20"/>
    <p:sldId id="790" r:id="rId21"/>
    <p:sldId id="793" r:id="rId22"/>
    <p:sldId id="791" r:id="rId23"/>
    <p:sldId id="795" r:id="rId24"/>
    <p:sldId id="773" r:id="rId25"/>
    <p:sldId id="784" r:id="rId26"/>
    <p:sldId id="785" r:id="rId27"/>
    <p:sldId id="787" r:id="rId29"/>
    <p:sldId id="782" r:id="rId30"/>
    <p:sldId id="783" r:id="rId31"/>
    <p:sldId id="788" r:id="rId35"/>
    <p:sldId id="801" r:id="rId36"/>
    <p:sldId id="277" r:id="rId37"/>
  </p:sldIdLst>
  <p:sldSz cx="10691813" cy="7559675"/>
  <p:notesSz cx="9939338" cy="14368463"/>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既定のセクション" id="{F15EE332-85E8-464E-BD9B-6722D42356EC}">
          <p14:sldIdLst>
            <p14:sldId id="770"/>
            <p14:sldId id="269"/>
            <p14:sldId id="693"/>
            <p14:sldId id="749"/>
            <p14:sldId id="748"/>
            <p14:sldId id="774"/>
            <p14:sldId id="775"/>
            <p14:sldId id="266"/>
            <p14:sldId id="772"/>
            <p14:sldId id="776"/>
            <p14:sldId id="798"/>
            <p14:sldId id="796"/>
            <p14:sldId id="792"/>
            <p14:sldId id="779"/>
            <p14:sldId id="797"/>
            <p14:sldId id="771"/>
            <p14:sldId id="780"/>
            <p14:sldId id="789"/>
            <p14:sldId id="781"/>
            <p14:sldId id="790"/>
            <p14:sldId id="793"/>
            <p14:sldId id="791"/>
            <p14:sldId id="795"/>
            <p14:sldId id="773"/>
            <p14:sldId id="784"/>
            <p14:sldId id="785"/>
            <p14:sldId id="786"/>
            <p14:sldId id="787"/>
            <p14:sldId id="782"/>
            <p14:sldId id="783"/>
            <p14:sldId id="794"/>
            <p14:sldId id="799"/>
            <p14:sldId id="800"/>
            <p14:sldId id="788"/>
            <p14:sldId id="801"/>
            <p14:sldId id="277"/>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4526" userDrawn="1">
          <p15:clr>
            <a:srgbClr val="A4A3A4"/>
          </p15:clr>
        </p15:guide>
        <p15:guide id="2" pos="3131" userDrawn="1">
          <p15:clr>
            <a:srgbClr val="A4A3A4"/>
          </p15:clr>
        </p15:guide>
      </p15:notes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2" roundtripDataSignature="AMtx7miHo5eoGHrZPWeT5AyeZZ6LkEE/Y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889C9"/>
    <a:srgbClr val="006AB1"/>
    <a:srgbClr val="0B3041"/>
    <a:srgbClr val="54CCB3"/>
    <a:srgbClr val="E1F2FB"/>
    <a:srgbClr val="E3E7E9"/>
    <a:srgbClr val="727F8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E9FEF8D-0F9E-4D7E-9A0F-5DDE6A6739AB}">
  <a:tblStyle styleId="{2E9FEF8D-0F9E-4D7E-9A0F-5DDE6A6739AB}" styleName="Table_0">
    <a:wholeTbl>
      <a:tcTxStyle b="off" i="off">
        <a:font>
          <a:latin typeface="游ゴシック"/>
          <a:ea typeface="游ゴシック"/>
          <a:cs typeface="游ゴシック"/>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9EFF7"/>
          </a:solidFill>
        </a:fill>
      </a:tcStyle>
    </a:wholeTbl>
    <a:band1H>
      <a:tcTxStyle/>
      <a:tcStyle>
        <a:tcBdr/>
        <a:fill>
          <a:solidFill>
            <a:srgbClr val="D0DEEF"/>
          </a:solidFill>
        </a:fill>
      </a:tcStyle>
    </a:band1H>
    <a:band2H>
      <a:tcTxStyle/>
      <a:tcStyle>
        <a:tcBdr/>
      </a:tcStyle>
    </a:band2H>
    <a:band1V>
      <a:tcTxStyle/>
      <a:tcStyle>
        <a:tcBdr/>
        <a:fill>
          <a:solidFill>
            <a:srgbClr val="D0DEEF"/>
          </a:solidFill>
        </a:fill>
      </a:tcStyle>
    </a:band1V>
    <a:band2V>
      <a:tcTxStyle/>
      <a:tcStyle>
        <a:tcBdr/>
      </a:tcStyle>
    </a:band2V>
    <a:lastCol>
      <a:tcTxStyle b="on" i="off">
        <a:font>
          <a:latin typeface="游ゴシック"/>
          <a:ea typeface="游ゴシック"/>
          <a:cs typeface="游ゴシック"/>
        </a:font>
        <a:schemeClr val="lt1"/>
      </a:tcTxStyle>
      <a:tcStyle>
        <a:tcBdr/>
        <a:fill>
          <a:solidFill>
            <a:schemeClr val="accent5"/>
          </a:solidFill>
        </a:fill>
      </a:tcStyle>
    </a:lastCol>
    <a:firstCol>
      <a:tcTxStyle b="on" i="off">
        <a:font>
          <a:latin typeface="游ゴシック"/>
          <a:ea typeface="游ゴシック"/>
          <a:cs typeface="游ゴシック"/>
        </a:font>
        <a:schemeClr val="lt1"/>
      </a:tcTxStyle>
      <a:tcStyle>
        <a:tcBdr/>
        <a:fill>
          <a:solidFill>
            <a:schemeClr val="accent5"/>
          </a:solidFill>
        </a:fill>
      </a:tcStyle>
    </a:firstCol>
    <a:lastRow>
      <a:tcTxStyle b="on" i="off">
        <a:font>
          <a:latin typeface="游ゴシック"/>
          <a:ea typeface="游ゴシック"/>
          <a:cs typeface="游ゴシック"/>
        </a:font>
        <a:schemeClr val="lt1"/>
      </a:tcTxStyle>
      <a:tcStyle>
        <a:tcBdr>
          <a:top>
            <a:ln w="38100" cap="flat" cmpd="sng">
              <a:solidFill>
                <a:schemeClr val="lt1"/>
              </a:solidFill>
              <a:prstDash val="solid"/>
              <a:round/>
              <a:headEnd type="none" w="sm" len="sm"/>
              <a:tailEnd type="none" w="sm" len="sm"/>
            </a:ln>
          </a:top>
        </a:tcBdr>
        <a:fill>
          <a:solidFill>
            <a:schemeClr val="accent5"/>
          </a:solidFill>
        </a:fill>
      </a:tcStyle>
    </a:lastRow>
    <a:seCell>
      <a:tcTxStyle/>
      <a:tcStyle>
        <a:tcBdr/>
      </a:tcStyle>
    </a:seCell>
    <a:swCell>
      <a:tcTxStyle/>
      <a:tcStyle>
        <a:tcBdr/>
      </a:tcStyle>
    </a:swCell>
    <a:firstRow>
      <a:tcTxStyle b="on" i="off">
        <a:font>
          <a:latin typeface="游ゴシック"/>
          <a:ea typeface="游ゴシック"/>
          <a:cs typeface="游ゴシック"/>
        </a:font>
        <a:schemeClr val="lt1"/>
      </a:tcTxStyle>
      <a:tcStyle>
        <a:tcBdr>
          <a:bottom>
            <a:ln w="38100" cap="flat" cmpd="sng">
              <a:solidFill>
                <a:schemeClr val="lt1"/>
              </a:solidFill>
              <a:prstDash val="solid"/>
              <a:round/>
              <a:headEnd type="none" w="sm" len="sm"/>
              <a:tailEnd type="none" w="sm" len="sm"/>
            </a:ln>
          </a:bottom>
        </a:tcBdr>
        <a:fill>
          <a:solidFill>
            <a:schemeClr val="accent5"/>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4660"/>
  </p:normalViewPr>
  <p:slideViewPr>
    <p:cSldViewPr snapToGrid="0">
      <p:cViewPr varScale="1">
        <p:scale>
          <a:sx n="87" d="100"/>
          <a:sy n="87" d="100"/>
        </p:scale>
        <p:origin x="907" y="58"/>
      </p:cViewPr>
      <p:guideLst/>
    </p:cSldViewPr>
  </p:slid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00" d="100"/>
          <a:sy n="100" d="100"/>
        </p:scale>
        <p:origin x="0" y="0"/>
      </p:cViewPr>
      <p:guideLst>
        <p:guide orient="horz" pos="4526"/>
        <p:guide pos="3131"/>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3" Type="http://schemas.openxmlformats.org/officeDocument/2006/relationships/slide" Target="slides/slide32.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42" Type="http://customschemas.google.com/relationships/presentationmetadata" Target="metadata"/><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1">
                <a:solidFill>
                  <a:srgbClr val="0B3041"/>
                </a:solidFill>
                <a:latin typeface="游ゴシック"/>
                <a:ea typeface="游ゴシック"/>
              </a:rPr>
              <a:t>営業利益・調整後EBITDA（百万円）</a:t>
            </a:r>
          </a:p>
        </c:rich>
      </c:tx>
      <c:layout/>
      <c:overlay val="0"/>
    </c:title>
    <c:autoTitleDeleted val="0"/>
    <c:plotArea>
      <c:barChart>
        <c:barDir val="col"/>
        <c:grouping val="clustered"/>
        <c:ser>
          <c:idx val="0"/>
          <c:order val="0"/>
          <c:tx>
            <c:strRef>
              <c:f>Sheet1!$B$1</c:f>
              <c:strCache>
                <c:ptCount val="1"/>
                <c:pt idx="0">
                  <c:v>営業利益</c:v>
                </c:pt>
              </c:strCache>
            </c:strRef>
          </c:tx>
          <c:spPr>
            <a:solidFill>
              <a:srgbClr val="0889C9"/>
            </a:solidFill>
          </c:spPr>
          <c:invertIfNegative val="0"/>
          <c:cat>
            <c:strRef>
              <c:f>Sheet1!$A$2:$A$4</c:f>
              <c:strCache>
                <c:ptCount val="3"/>
                <c:pt idx="0">
                  <c:v>2024/3期</c:v>
                </c:pt>
                <c:pt idx="1">
                  <c:v>2025/3期</c:v>
                </c:pt>
                <c:pt idx="2">
                  <c:v>2026/3期</c:v>
                </c:pt>
              </c:strCache>
            </c:strRef>
          </c:cat>
          <c:val>
            <c:numRef>
              <c:f>Sheet1!$B$2:$B$4</c:f>
              <c:numCache>
                <c:formatCode>General</c:formatCode>
                <c:ptCount val="3"/>
                <c:pt idx="0">
                  <c:v>4.8</c:v>
                </c:pt>
                <c:pt idx="1">
                  <c:v>-4.4</c:v>
                </c:pt>
                <c:pt idx="2">
                  <c:v>5.9</c:v>
                </c:pt>
              </c:numCache>
            </c:numRef>
          </c:val>
        </c:ser>
        <c:ser>
          <c:idx val="1"/>
          <c:order val="1"/>
          <c:tx>
            <c:strRef>
              <c:f>Sheet1!$C$1</c:f>
              <c:strCache>
                <c:ptCount val="1"/>
                <c:pt idx="0">
                  <c:v>調整後EBITDA</c:v>
                </c:pt>
              </c:strCache>
            </c:strRef>
          </c:tx>
          <c:spPr>
            <a:solidFill>
              <a:srgbClr val="E08A2E"/>
            </a:solidFill>
          </c:spPr>
          <c:invertIfNegative val="0"/>
          <c:cat>
            <c:strRef>
              <c:f>Sheet1!$A$2:$A$4</c:f>
              <c:strCache>
                <c:ptCount val="3"/>
                <c:pt idx="0">
                  <c:v>2024/3期</c:v>
                </c:pt>
                <c:pt idx="1">
                  <c:v>2025/3期</c:v>
                </c:pt>
                <c:pt idx="2">
                  <c:v>2026/3期</c:v>
                </c:pt>
              </c:strCache>
            </c:strRef>
          </c:cat>
          <c:val>
            <c:numRef>
              <c:f>Sheet1!$C$2:$C$4</c:f>
              <c:numCache>
                <c:formatCode>General</c:formatCode>
                <c:ptCount val="3"/>
                <c:pt idx="0">
                  <c:v>23.7</c:v>
                </c:pt>
                <c:pt idx="1">
                  <c:v>13.6</c:v>
                </c:pt>
                <c:pt idx="2">
                  <c:v>6.3</c:v>
                </c:pt>
              </c:numCache>
            </c:numRef>
          </c:val>
        </c:ser>
        <c:dLbls>
          <c:numFmt formatCode="#,##0.0" sourceLinked="0"/>
          <c:txPr>
            <a:bodyPr/>
            <a:lstStyle/>
            <a:p>
              <a:pPr>
                <a:defRPr sz="800">
                  <a:solidFill>
                    <a:srgbClr val="333333"/>
                  </a:solidFill>
                  <a:latin typeface="Arial"/>
                </a:defRPr>
              </a:pPr>
            </a:p>
          </c:txPr>
          <c:dLblPos val="outEnd"/>
          <c:showLegendKey val="0"/>
          <c:showVal val="1"/>
          <c:showCatName val="0"/>
          <c:showSerName val="0"/>
          <c:showPercent val="0"/>
          <c:showBubbleSize val="0"/>
          <c:showLeaderLines val="1"/>
        </c:dLbls>
        <c:gapWidth val="60"/>
        <c:overlap val="-8"/>
        <c:axId val="-2068027336"/>
        <c:axId val="-2113994440"/>
      </c:barChart>
      <c:catAx>
        <c:axId val="-2068027336"/>
        <c:scaling>
          <c:orientation val="minMax"/>
        </c:scaling>
        <c:delete val="0"/>
        <c:axPos val="b"/>
        <c:majorTickMark val="out"/>
        <c:minorTickMark val="none"/>
        <c:tickLblPos val="low"/>
        <c:spPr>
          <a:ln>
            <a:solidFill>
              <a:srgbClr val="5A6670"/>
            </a:solidFill>
          </a:ln>
        </c:spPr>
        <c:txPr>
          <a:bodyPr/>
          <a:lstStyle/>
          <a:p>
            <a:pPr>
              <a:defRPr sz="800">
                <a:latin typeface="游ゴシック"/>
              </a:defRPr>
            </a:pPr>
          </a:p>
        </c:txPr>
        <c:crossAx val="-2113994440"/>
        <c:crosses val="autoZero"/>
        <c:auto val="1"/>
        <c:lblAlgn val="ctr"/>
        <c:lblOffset val="100"/>
        <c:noMultiLvlLbl val="0"/>
      </c:catAx>
      <c:valAx>
        <c:axId val="-2113994440"/>
        <c:scaling/>
        <c:delete val="0"/>
        <c:axPos val="l"/>
        <c:majorGridlines>
          <c:spPr>
            <a:ln>
              <a:solidFill>
                <a:srgbClr val="E3E7E9"/>
              </a:solidFill>
            </a:ln>
          </c:spPr>
        </c:majorGridlines>
        <c:numFmt formatCode="#,##0.0" sourceLinked="0"/>
        <c:majorTickMark val="out"/>
        <c:minorTickMark val="none"/>
        <c:tickLblPos val="nextTo"/>
        <c:spPr>
          <a:ln>
            <a:noFill/>
          </a:ln>
        </c:spPr>
        <c:txPr>
          <a:bodyPr/>
          <a:lstStyle/>
          <a:p>
            <a:pPr>
              <a:defRPr sz="800">
                <a:solidFill>
                  <a:srgbClr val="5A6670"/>
                </a:solidFill>
                <a:latin typeface="Arial"/>
              </a:defRPr>
            </a:pPr>
          </a:p>
        </c:txPr>
        <c:crossAx val="-2068027336"/>
        <c:crosses val="autoZero"/>
      </c:valAx>
    </c:plotArea>
    <c:legend>
      <c:legendPos val="t"/>
      <c:overlay val="0"/>
      <c:txPr>
        <a:bodyPr/>
        <a:lstStyle/>
        <a:p>
          <a:pPr>
            <a:defRPr sz="800">
              <a:latin typeface="游ゴシック"/>
            </a:defRPr>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1">
                <a:solidFill>
                  <a:srgbClr val="0B3041"/>
                </a:solidFill>
                <a:latin typeface="游ゴシック"/>
                <a:ea typeface="游ゴシック"/>
              </a:rPr>
              <a:t>月別売上高（百万円）</a:t>
            </a:r>
          </a:p>
        </c:rich>
      </c:tx>
      <c:layout/>
      <c:overlay val="0"/>
    </c:title>
    <c:autoTitleDeleted val="0"/>
    <c:plotArea>
      <c:barChart>
        <c:barDir val="col"/>
        <c:grouping val="clustered"/>
        <c:ser>
          <c:idx val="0"/>
          <c:order val="0"/>
          <c:tx>
            <c:strRef>
              <c:f>Sheet1!$B$1</c:f>
              <c:strCache>
                <c:ptCount val="1"/>
                <c:pt idx="0">
                  <c:v>売上高</c:v>
                </c:pt>
              </c:strCache>
            </c:strRef>
          </c:tx>
          <c:spPr>
            <a:solidFill>
              <a:srgbClr val="0889C9"/>
            </a:solidFill>
          </c:spPr>
          <c:invertIfNegative val="0"/>
          <c:cat>
            <c:strRef>
              <c:f>Sheet1!$A$2:$A$13</c:f>
              <c:strCache>
                <c:ptCount val="12"/>
                <c:pt idx="0">
                  <c:v>4月</c:v>
                </c:pt>
                <c:pt idx="1">
                  <c:v>5月</c:v>
                </c:pt>
                <c:pt idx="2">
                  <c:v>6月</c:v>
                </c:pt>
                <c:pt idx="3">
                  <c:v>7月</c:v>
                </c:pt>
                <c:pt idx="4">
                  <c:v>8月</c:v>
                </c:pt>
                <c:pt idx="5">
                  <c:v>9月</c:v>
                </c:pt>
                <c:pt idx="6">
                  <c:v>10月</c:v>
                </c:pt>
                <c:pt idx="7">
                  <c:v>11月</c:v>
                </c:pt>
                <c:pt idx="8">
                  <c:v>12月</c:v>
                </c:pt>
                <c:pt idx="9">
                  <c:v>1月</c:v>
                </c:pt>
                <c:pt idx="10">
                  <c:v>2月</c:v>
                </c:pt>
                <c:pt idx="11">
                  <c:v>3月</c:v>
                </c:pt>
              </c:strCache>
            </c:strRef>
          </c:cat>
          <c:val>
            <c:numRef>
              <c:f>Sheet1!$B$2:$B$13</c:f>
              <c:numCache>
                <c:formatCode>General</c:formatCode>
                <c:ptCount val="12"/>
                <c:pt idx="0">
                  <c:v>88</c:v>
                </c:pt>
                <c:pt idx="1">
                  <c:v>102</c:v>
                </c:pt>
                <c:pt idx="2">
                  <c:v>84</c:v>
                </c:pt>
                <c:pt idx="3">
                  <c:v>146</c:v>
                </c:pt>
                <c:pt idx="4">
                  <c:v>138</c:v>
                </c:pt>
                <c:pt idx="5">
                  <c:v>110</c:v>
                </c:pt>
                <c:pt idx="6">
                  <c:v>106</c:v>
                </c:pt>
                <c:pt idx="7">
                  <c:v>101</c:v>
                </c:pt>
                <c:pt idx="8">
                  <c:v>98</c:v>
                </c:pt>
                <c:pt idx="9">
                  <c:v>70</c:v>
                </c:pt>
                <c:pt idx="10">
                  <c:v>69</c:v>
                </c:pt>
                <c:pt idx="11">
                  <c:v>84</c:v>
                </c:pt>
              </c:numCache>
            </c:numRef>
          </c:val>
        </c:ser>
        <c:dLbls>
          <c:numFmt formatCode="#,##0" sourceLinked="0"/>
          <c:txPr>
            <a:bodyPr/>
            <a:lstStyle/>
            <a:p>
              <a:pPr>
                <a:defRPr sz="800">
                  <a:solidFill>
                    <a:srgbClr val="333333"/>
                  </a:solidFill>
                  <a:latin typeface="Arial"/>
                </a:defRPr>
              </a:pPr>
            </a:p>
          </c:txPr>
          <c:dLblPos val="outEnd"/>
          <c:showLegendKey val="0"/>
          <c:showVal val="1"/>
          <c:showCatName val="0"/>
          <c:showSerName val="0"/>
          <c:showPercent val="0"/>
          <c:showBubbleSize val="0"/>
          <c:showLeaderLines val="1"/>
        </c:dLbls>
        <c:gapWidth val="60"/>
        <c:overlap val="-8"/>
        <c:axId val="-2068027336"/>
        <c:axId val="-2113994440"/>
      </c:barChart>
      <c:catAx>
        <c:axId val="-2068027336"/>
        <c:scaling>
          <c:orientation val="minMax"/>
        </c:scaling>
        <c:delete val="0"/>
        <c:axPos val="b"/>
        <c:majorTickMark val="out"/>
        <c:minorTickMark val="none"/>
        <c:tickLblPos val="low"/>
        <c:spPr>
          <a:ln>
            <a:solidFill>
              <a:srgbClr val="5A6670"/>
            </a:solidFill>
          </a:ln>
        </c:spPr>
        <c:txPr>
          <a:bodyPr/>
          <a:lstStyle/>
          <a:p>
            <a:pPr>
              <a:defRPr sz="800">
                <a:latin typeface="游ゴシック"/>
              </a:defRPr>
            </a:pPr>
          </a:p>
        </c:txPr>
        <c:crossAx val="-2113994440"/>
        <c:crosses val="autoZero"/>
        <c:auto val="1"/>
        <c:lblAlgn val="ctr"/>
        <c:lblOffset val="100"/>
        <c:noMultiLvlLbl val="0"/>
      </c:catAx>
      <c:valAx>
        <c:axId val="-2113994440"/>
        <c:scaling/>
        <c:delete val="0"/>
        <c:axPos val="l"/>
        <c:majorGridlines>
          <c:spPr>
            <a:ln>
              <a:solidFill>
                <a:srgbClr val="E3E7E9"/>
              </a:solidFill>
            </a:ln>
          </c:spPr>
        </c:majorGridlines>
        <c:numFmt formatCode="#,##0" sourceLinked="0"/>
        <c:majorTickMark val="out"/>
        <c:minorTickMark val="none"/>
        <c:tickLblPos val="nextTo"/>
        <c:spPr>
          <a:ln>
            <a:noFill/>
          </a:ln>
        </c:spPr>
        <c:txPr>
          <a:bodyPr/>
          <a:lstStyle/>
          <a:p>
            <a:pPr>
              <a:defRPr sz="800">
                <a:solidFill>
                  <a:srgbClr val="5A6670"/>
                </a:solidFill>
                <a:latin typeface="Arial"/>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5" y="4"/>
            <a:ext cx="4306676" cy="719872"/>
          </a:xfrm>
          <a:prstGeom prst="rect">
            <a:avLst/>
          </a:prstGeom>
          <a:noFill/>
          <a:ln>
            <a:noFill/>
          </a:ln>
        </p:spPr>
        <p:txBody>
          <a:bodyPr spcFirstLastPara="1" wrap="square" lIns="128134" tIns="64050" rIns="128134" bIns="64050" anchor="t" anchorCtr="0">
            <a:noAutofit/>
          </a:bodyPr>
          <a:lstStyle>
            <a:lvl1pPr marR="0" lvl="0" algn="l"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5630444" y="4"/>
            <a:ext cx="4306675" cy="719872"/>
          </a:xfrm>
          <a:prstGeom prst="rect">
            <a:avLst/>
          </a:prstGeom>
          <a:noFill/>
          <a:ln>
            <a:noFill/>
          </a:ln>
        </p:spPr>
        <p:txBody>
          <a:bodyPr spcFirstLastPara="1" wrap="square" lIns="128134" tIns="64050" rIns="128134" bIns="64050" anchor="t" anchorCtr="0">
            <a:noAutofit/>
          </a:bodyPr>
          <a:lstStyle>
            <a:lvl1pPr marR="0" lvl="0" algn="r"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1543050" y="1797050"/>
            <a:ext cx="6856413" cy="4849813"/>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995044" y="6915677"/>
            <a:ext cx="7951470" cy="5656454"/>
          </a:xfrm>
          <a:prstGeom prst="rect">
            <a:avLst/>
          </a:prstGeom>
          <a:noFill/>
          <a:ln>
            <a:noFill/>
          </a:ln>
        </p:spPr>
        <p:txBody>
          <a:bodyPr spcFirstLastPara="1" wrap="square" lIns="128134" tIns="64050" rIns="128134" bIns="6405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5" y="13648596"/>
            <a:ext cx="4306676" cy="719872"/>
          </a:xfrm>
          <a:prstGeom prst="rect">
            <a:avLst/>
          </a:prstGeom>
          <a:noFill/>
          <a:ln>
            <a:noFill/>
          </a:ln>
        </p:spPr>
        <p:txBody>
          <a:bodyPr spcFirstLastPara="1" wrap="square" lIns="128134" tIns="64050" rIns="128134" bIns="64050" anchor="b" anchorCtr="0">
            <a:noAutofit/>
          </a:bodyPr>
          <a:lstStyle>
            <a:lvl1pPr marR="0" lvl="0" algn="l"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5630444" y="13648596"/>
            <a:ext cx="4306675" cy="719872"/>
          </a:xfrm>
          <a:prstGeom prst="rect">
            <a:avLst/>
          </a:prstGeom>
          <a:noFill/>
          <a:ln>
            <a:noFill/>
          </a:ln>
        </p:spPr>
        <p:txBody>
          <a:bodyPr spcFirstLastPara="1" wrap="square" lIns="128134" tIns="64050" rIns="128134" bIns="64050" anchor="b" anchorCtr="0">
            <a:noAutofit/>
          </a:bodyPr>
          <a:lstStyle/>
          <a:p>
            <a:pPr algn="r"/>
            <a:fld id="{00000000-1234-1234-1234-123412341234}" type="slidenum">
              <a:rPr lang="en-US" altLang="ja-JP" sz="1700" smtClean="0">
                <a:solidFill>
                  <a:schemeClr val="dk1"/>
                </a:solidFill>
              </a:rPr>
              <a:pPr algn="r"/>
              <a:t>‹#›</a:t>
            </a:fld>
            <a:endParaRPr lang="en-US" sz="1700">
              <a:solidFill>
                <a:schemeClr val="dk1"/>
              </a:solidFil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72A68-D8F2-B22E-7BFA-83527B74627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8067325-FBD2-0A2C-AAB1-F7B579EB568F}"/>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7CC41CC2-90D7-5CB1-F482-54299D366ABB}"/>
              </a:ext>
            </a:extLst>
          </p:cNvPr>
          <p:cNvSpPr>
            <a:spLocks noGrp="1"/>
          </p:cNvSpPr>
          <p:nvPr>
            <p:ph type="body" idx="1"/>
          </p:nvPr>
        </p:nvSpPr>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6D654142-6A85-EA5B-5409-B0B81E07C5DC}"/>
              </a:ext>
            </a:extLst>
          </p:cNvPr>
          <p:cNvSpPr>
            <a:spLocks noGrp="1"/>
          </p:cNvSpPr>
          <p:nvPr>
            <p:ph type="sldNum" sz="quarter" idx="5"/>
          </p:nvPr>
        </p:nvSpPr>
        <p:spPr/>
        <p:txBody>
          <a:bodyPr/>
          <a:lstStyle/>
          <a:p>
            <a:fld id="{30FF3BCC-1A43-4D25-8467-E40EF431E2F1}" type="slidenum">
              <a:rPr kumimoji="1" lang="ja-JP" altLang="en-US" smtClean="0"/>
              <a:t>0</a:t>
            </a:fld>
            <a:endParaRPr kumimoji="1" lang="ja-JP" altLang="en-US"/>
          </a:p>
        </p:txBody>
      </p:sp>
    </p:spTree>
    <p:extLst>
      <p:ext uri="{BB962C8B-B14F-4D97-AF65-F5344CB8AC3E}">
        <p14:creationId xmlns:p14="http://schemas.microsoft.com/office/powerpoint/2010/main" val="23596415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a:t>
            </a:fld>
            <a:endParaRPr kumimoji="1" lang="ja-JP" altLang="en-US"/>
          </a:p>
        </p:txBody>
      </p:sp>
    </p:spTree>
    <p:extLst>
      <p:ext uri="{BB962C8B-B14F-4D97-AF65-F5344CB8AC3E}">
        <p14:creationId xmlns:p14="http://schemas.microsoft.com/office/powerpoint/2010/main" val="36371673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2:notes"/>
          <p:cNvSpPr>
            <a:spLocks noGrp="1" noRot="1" noChangeAspect="1"/>
          </p:cNvSpPr>
          <p:nvPr>
            <p:ph type="sldImg" idx="2"/>
          </p:nvPr>
        </p:nvSpPr>
        <p:spPr>
          <a:xfrm>
            <a:off x="1038225" y="1244600"/>
            <a:ext cx="4745038" cy="33559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6" name="Google Shape;256;p2:notes"/>
          <p:cNvSpPr txBox="1">
            <a:spLocks noGrp="1"/>
          </p:cNvSpPr>
          <p:nvPr>
            <p:ph type="body" idx="1"/>
          </p:nvPr>
        </p:nvSpPr>
        <p:spPr>
          <a:xfrm>
            <a:off x="682755" y="4787722"/>
            <a:ext cx="5455939" cy="3915961"/>
          </a:xfrm>
          <a:prstGeom prst="rect">
            <a:avLst/>
          </a:prstGeom>
          <a:noFill/>
          <a:ln>
            <a:noFill/>
          </a:ln>
        </p:spPr>
        <p:txBody>
          <a:bodyPr spcFirstLastPara="1" wrap="square" lIns="88335" tIns="44169" rIns="88335" bIns="44169" anchor="t" anchorCtr="0">
            <a:noAutofit/>
          </a:bodyPr>
          <a:lstStyle/>
          <a:p>
            <a:endParaRPr dirty="0"/>
          </a:p>
        </p:txBody>
      </p:sp>
      <p:sp>
        <p:nvSpPr>
          <p:cNvPr id="257" name="Google Shape;257;p2:notes"/>
          <p:cNvSpPr txBox="1">
            <a:spLocks noGrp="1"/>
          </p:cNvSpPr>
          <p:nvPr>
            <p:ph type="sldNum" idx="12"/>
          </p:nvPr>
        </p:nvSpPr>
        <p:spPr>
          <a:xfrm>
            <a:off x="3863353" y="9448918"/>
            <a:ext cx="2955046" cy="498368"/>
          </a:xfrm>
          <a:prstGeom prst="rect">
            <a:avLst/>
          </a:prstGeom>
          <a:noFill/>
          <a:ln>
            <a:noFill/>
          </a:ln>
        </p:spPr>
        <p:txBody>
          <a:bodyPr spcFirstLastPara="1" wrap="square" lIns="88335" tIns="44169" rIns="88335" bIns="44169" anchor="b" anchorCtr="0">
            <a:noAutofit/>
          </a:bodyPr>
          <a:lstStyle/>
          <a:p>
            <a:pPr algn="r"/>
            <a:fld id="{00000000-1234-1234-1234-123412341234}" type="slidenum">
              <a:rPr lang="en-US" altLang="ja-JP"/>
              <a:pPr algn="r"/>
              <a:t>2</a:t>
            </a:fld>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33463" y="1243013"/>
            <a:ext cx="4740275" cy="3352800"/>
          </a:xfrm>
        </p:spPr>
      </p:sp>
      <p:sp>
        <p:nvSpPr>
          <p:cNvPr id="3" name="ノート プレースホルダー 2"/>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p:cNvSpPr>
            <a:spLocks noGrp="1"/>
          </p:cNvSpPr>
          <p:nvPr>
            <p:ph type="sldNum" sz="quarter" idx="5"/>
          </p:nvPr>
        </p:nvSpPr>
        <p:spPr/>
        <p:txBody>
          <a:bodyPr/>
          <a:lstStyle/>
          <a:p>
            <a:fld id="{30FF3BCC-1A43-4D25-8467-E40EF431E2F1}" type="slidenum">
              <a:rPr kumimoji="1" lang="ja-JP" altLang="en-US" smtClean="0"/>
              <a:t>4</a:t>
            </a:fld>
            <a:endParaRPr kumimoji="1" lang="ja-JP" altLang="en-US"/>
          </a:p>
        </p:txBody>
      </p:sp>
    </p:spTree>
    <p:extLst>
      <p:ext uri="{BB962C8B-B14F-4D97-AF65-F5344CB8AC3E}">
        <p14:creationId xmlns:p14="http://schemas.microsoft.com/office/powerpoint/2010/main" val="38172004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D25C8-440A-2828-878D-418A0792F61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F7C3FEA-F9FD-B7DB-149F-6EC1DBA88260}"/>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3A5BB81D-E86C-9959-31EE-7B30A06B6D5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0211B70-4BC5-9F81-584A-69CFC82BF433}"/>
              </a:ext>
            </a:extLst>
          </p:cNvPr>
          <p:cNvSpPr>
            <a:spLocks noGrp="1"/>
          </p:cNvSpPr>
          <p:nvPr>
            <p:ph type="sldNum" sz="quarter" idx="5"/>
          </p:nvPr>
        </p:nvSpPr>
        <p:spPr/>
        <p:txBody>
          <a:bodyPr/>
          <a:lstStyle/>
          <a:p>
            <a:fld id="{30FF3BCC-1A43-4D25-8467-E40EF431E2F1}" type="slidenum">
              <a:rPr kumimoji="1" lang="ja-JP" altLang="en-US" smtClean="0"/>
              <a:t>5</a:t>
            </a:fld>
            <a:endParaRPr kumimoji="1" lang="ja-JP" altLang="en-US"/>
          </a:p>
        </p:txBody>
      </p:sp>
    </p:spTree>
    <p:extLst>
      <p:ext uri="{BB962C8B-B14F-4D97-AF65-F5344CB8AC3E}">
        <p14:creationId xmlns:p14="http://schemas.microsoft.com/office/powerpoint/2010/main" val="7747491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ED554-B8EF-4A9F-7D23-DA7BEB53934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71CEDC1-16A4-E7E3-6D33-36595C1E076B}"/>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07542380-129E-8965-7EF1-2B0D19ED3CF4}"/>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C20D6D73-0F3C-EDF6-E562-BBF922D0AE83}"/>
              </a:ext>
            </a:extLst>
          </p:cNvPr>
          <p:cNvSpPr>
            <a:spLocks noGrp="1"/>
          </p:cNvSpPr>
          <p:nvPr>
            <p:ph type="sldNum" sz="quarter" idx="5"/>
          </p:nvPr>
        </p:nvSpPr>
        <p:spPr/>
        <p:txBody>
          <a:bodyPr/>
          <a:lstStyle/>
          <a:p>
            <a:fld id="{30FF3BCC-1A43-4D25-8467-E40EF431E2F1}" type="slidenum">
              <a:rPr kumimoji="1" lang="ja-JP" altLang="en-US" smtClean="0"/>
              <a:t>6</a:t>
            </a:fld>
            <a:endParaRPr kumimoji="1" lang="ja-JP" altLang="en-US"/>
          </a:p>
        </p:txBody>
      </p:sp>
    </p:spTree>
    <p:extLst>
      <p:ext uri="{BB962C8B-B14F-4D97-AF65-F5344CB8AC3E}">
        <p14:creationId xmlns:p14="http://schemas.microsoft.com/office/powerpoint/2010/main" val="1899608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p11:notes"/>
          <p:cNvSpPr>
            <a:spLocks noGrp="1" noRot="1" noChangeAspect="1"/>
          </p:cNvSpPr>
          <p:nvPr>
            <p:ph type="sldImg" idx="2"/>
          </p:nvPr>
        </p:nvSpPr>
        <p:spPr>
          <a:xfrm>
            <a:off x="1543050" y="1797050"/>
            <a:ext cx="6856413" cy="4849813"/>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7" name="Google Shape;267;p11:notes"/>
          <p:cNvSpPr txBox="1">
            <a:spLocks noGrp="1"/>
          </p:cNvSpPr>
          <p:nvPr>
            <p:ph type="body" idx="1"/>
          </p:nvPr>
        </p:nvSpPr>
        <p:spPr>
          <a:xfrm>
            <a:off x="995044" y="6915677"/>
            <a:ext cx="7951470" cy="5656454"/>
          </a:xfrm>
          <a:prstGeom prst="rect">
            <a:avLst/>
          </a:prstGeom>
          <a:noFill/>
          <a:ln>
            <a:noFill/>
          </a:ln>
        </p:spPr>
        <p:txBody>
          <a:bodyPr spcFirstLastPara="1" wrap="square" lIns="128134" tIns="64050" rIns="128134" bIns="64050" anchor="t" anchorCtr="0">
            <a:noAutofit/>
          </a:bodyPr>
          <a:lstStyle/>
          <a:p>
            <a:pPr marL="0" indent="0"/>
            <a:endParaRPr/>
          </a:p>
        </p:txBody>
      </p:sp>
      <p:sp>
        <p:nvSpPr>
          <p:cNvPr id="268" name="Google Shape;268;p11:notes"/>
          <p:cNvSpPr txBox="1">
            <a:spLocks noGrp="1"/>
          </p:cNvSpPr>
          <p:nvPr>
            <p:ph type="sldNum" idx="12"/>
          </p:nvPr>
        </p:nvSpPr>
        <p:spPr>
          <a:xfrm>
            <a:off x="5630444" y="13648596"/>
            <a:ext cx="4306675" cy="719872"/>
          </a:xfrm>
          <a:prstGeom prst="rect">
            <a:avLst/>
          </a:prstGeom>
          <a:noFill/>
          <a:ln>
            <a:noFill/>
          </a:ln>
        </p:spPr>
        <p:txBody>
          <a:bodyPr spcFirstLastPara="1" wrap="square" lIns="128134" tIns="64050" rIns="128134" bIns="64050" anchor="b" anchorCtr="0">
            <a:noAutofit/>
          </a:bodyPr>
          <a:lstStyle/>
          <a:p>
            <a:pPr algn="r"/>
            <a:fld id="{00000000-1234-1234-1234-123412341234}" type="slidenum">
              <a:rPr lang="en-US" altLang="ja-JP"/>
              <a:pPr algn="r"/>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255F2-72AB-FF31-01FE-A6493B0F509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381C757-4FDD-ACE7-CF68-5819651248C1}"/>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C5EE625D-8D2D-C468-280D-551D9E317BF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0DF0B3B1-489B-7B8F-FCE9-8191D341F15C}"/>
              </a:ext>
            </a:extLst>
          </p:cNvPr>
          <p:cNvSpPr>
            <a:spLocks noGrp="1"/>
          </p:cNvSpPr>
          <p:nvPr>
            <p:ph type="sldNum" sz="quarter" idx="5"/>
          </p:nvPr>
        </p:nvSpPr>
        <p:spPr/>
        <p:txBody>
          <a:bodyPr/>
          <a:lstStyle/>
          <a:p>
            <a:fld id="{CAF5A409-FE33-4202-B69D-8515A6FDCE7E}" type="slidenum">
              <a:rPr kumimoji="1" lang="ja-JP" altLang="en-US" smtClean="0"/>
              <a:t>9</a:t>
            </a:fld>
            <a:endParaRPr kumimoji="1" lang="ja-JP" altLang="en-US"/>
          </a:p>
        </p:txBody>
      </p:sp>
    </p:spTree>
    <p:extLst>
      <p:ext uri="{BB962C8B-B14F-4D97-AF65-F5344CB8AC3E}">
        <p14:creationId xmlns:p14="http://schemas.microsoft.com/office/powerpoint/2010/main" val="1806618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F2053-256C-05EB-FF6B-3E836DA88FD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EBE281C-3A22-F726-BA35-A4756E55EBE3}"/>
              </a:ext>
            </a:extLst>
          </p:cNvPr>
          <p:cNvSpPr>
            <a:spLocks noGrp="1" noRot="1" noChangeAspect="1"/>
          </p:cNvSpPr>
          <p:nvPr>
            <p:ph type="sldImg"/>
          </p:nvPr>
        </p:nvSpPr>
        <p:spPr>
          <a:xfrm>
            <a:off x="1247775" y="1143000"/>
            <a:ext cx="4362450" cy="3086100"/>
          </a:xfrm>
        </p:spPr>
      </p:sp>
      <p:sp>
        <p:nvSpPr>
          <p:cNvPr id="3" name="ノート プレースホルダー 2">
            <a:extLst>
              <a:ext uri="{FF2B5EF4-FFF2-40B4-BE49-F238E27FC236}">
                <a16:creationId xmlns:a16="http://schemas.microsoft.com/office/drawing/2014/main" id="{DB7B9342-8F57-66B0-B807-2488575A5459}"/>
              </a:ext>
            </a:extLst>
          </p:cNvPr>
          <p:cNvSpPr>
            <a:spLocks noGrp="1"/>
          </p:cNvSpPr>
          <p:nvPr>
            <p:ph type="body" idx="1"/>
          </p:nvPr>
        </p:nvSpPr>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00245A20-27B3-F697-2291-87BE1C3A1772}"/>
              </a:ext>
            </a:extLst>
          </p:cNvPr>
          <p:cNvSpPr>
            <a:spLocks noGrp="1"/>
          </p:cNvSpPr>
          <p:nvPr>
            <p:ph type="sldNum" sz="quarter" idx="5"/>
          </p:nvPr>
        </p:nvSpPr>
        <p:spPr/>
        <p:txBody>
          <a:bodyPr/>
          <a:lstStyle/>
          <a:p>
            <a:fld id="{CCD08276-B047-45AB-869B-6FEE4FD0AA7E}" type="slidenum">
              <a:rPr kumimoji="1" lang="ja-JP" altLang="en-US" smtClean="0"/>
              <a:t>10</a:t>
            </a:fld>
            <a:endParaRPr kumimoji="1" lang="ja-JP" altLang="en-US"/>
          </a:p>
        </p:txBody>
      </p:sp>
    </p:spTree>
    <p:extLst>
      <p:ext uri="{BB962C8B-B14F-4D97-AF65-F5344CB8AC3E}">
        <p14:creationId xmlns:p14="http://schemas.microsoft.com/office/powerpoint/2010/main" val="41460065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11</a:t>
            </a:fld>
            <a:endParaRPr kumimoji="1" lang="ja-JP" altLang="en-US"/>
          </a:p>
        </p:txBody>
      </p:sp>
    </p:spTree>
    <p:extLst>
      <p:ext uri="{BB962C8B-B14F-4D97-AF65-F5344CB8AC3E}">
        <p14:creationId xmlns:p14="http://schemas.microsoft.com/office/powerpoint/2010/main" val="37467525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C040D-60A3-F058-65D5-629296F9C77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DF3EA90-DD81-CBB9-EF73-27816BB83DE7}"/>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B54EE8A0-BFED-396D-4CAA-82A6D5708D43}"/>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1534188-0443-756D-A5E2-5F3AA4D2F28B}"/>
              </a:ext>
            </a:extLst>
          </p:cNvPr>
          <p:cNvSpPr>
            <a:spLocks noGrp="1"/>
          </p:cNvSpPr>
          <p:nvPr>
            <p:ph type="sldNum" sz="quarter" idx="5"/>
          </p:nvPr>
        </p:nvSpPr>
        <p:spPr/>
        <p:txBody>
          <a:bodyPr/>
          <a:lstStyle/>
          <a:p>
            <a:fld id="{30FF3BCC-1A43-4D25-8467-E40EF431E2F1}" type="slidenum">
              <a:rPr kumimoji="1" lang="ja-JP" altLang="en-US" smtClean="0"/>
              <a:t>12</a:t>
            </a:fld>
            <a:endParaRPr kumimoji="1" lang="ja-JP" altLang="en-US"/>
          </a:p>
        </p:txBody>
      </p:sp>
    </p:spTree>
    <p:extLst>
      <p:ext uri="{BB962C8B-B14F-4D97-AF65-F5344CB8AC3E}">
        <p14:creationId xmlns:p14="http://schemas.microsoft.com/office/powerpoint/2010/main" val="19973134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9CA458-621A-F6CD-BCBF-9D132A609BE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5834A7-AD91-AB56-B63B-5F4E423CE6AE}"/>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642B7059-7F90-A560-40B9-33E684841ABF}"/>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291A80AB-D339-06B2-3E95-24ED9AB082F7}"/>
              </a:ext>
            </a:extLst>
          </p:cNvPr>
          <p:cNvSpPr>
            <a:spLocks noGrp="1"/>
          </p:cNvSpPr>
          <p:nvPr>
            <p:ph type="sldNum" sz="quarter" idx="5"/>
          </p:nvPr>
        </p:nvSpPr>
        <p:spPr/>
        <p:txBody>
          <a:bodyPr/>
          <a:lstStyle/>
          <a:p>
            <a:fld id="{30FF3BCC-1A43-4D25-8467-E40EF431E2F1}" type="slidenum">
              <a:rPr kumimoji="1" lang="ja-JP" altLang="en-US" smtClean="0"/>
              <a:t>13</a:t>
            </a:fld>
            <a:endParaRPr kumimoji="1" lang="ja-JP" altLang="en-US"/>
          </a:p>
        </p:txBody>
      </p:sp>
    </p:spTree>
    <p:extLst>
      <p:ext uri="{BB962C8B-B14F-4D97-AF65-F5344CB8AC3E}">
        <p14:creationId xmlns:p14="http://schemas.microsoft.com/office/powerpoint/2010/main" val="162688065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4A592E-568B-2BA5-2B19-12B81CE778D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7A7352E-A782-2B96-F549-A44B4533D5CB}"/>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EF54036B-FC89-BE57-BD1D-9528CDD969D8}"/>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71950A32-E8C7-5909-50B6-CF7BE228A3D0}"/>
              </a:ext>
            </a:extLst>
          </p:cNvPr>
          <p:cNvSpPr>
            <a:spLocks noGrp="1"/>
          </p:cNvSpPr>
          <p:nvPr>
            <p:ph type="sldNum" sz="quarter" idx="5"/>
          </p:nvPr>
        </p:nvSpPr>
        <p:spPr/>
        <p:txBody>
          <a:bodyPr/>
          <a:lstStyle/>
          <a:p>
            <a:fld id="{30FF3BCC-1A43-4D25-8467-E40EF431E2F1}" type="slidenum">
              <a:rPr kumimoji="1" lang="ja-JP" altLang="en-US" smtClean="0"/>
              <a:t>14</a:t>
            </a:fld>
            <a:endParaRPr kumimoji="1" lang="ja-JP" altLang="en-US"/>
          </a:p>
        </p:txBody>
      </p:sp>
    </p:spTree>
    <p:extLst>
      <p:ext uri="{BB962C8B-B14F-4D97-AF65-F5344CB8AC3E}">
        <p14:creationId xmlns:p14="http://schemas.microsoft.com/office/powerpoint/2010/main" val="16178411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60B1B-8967-EB16-F654-95E71A21670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6F3223C-6CB5-B48E-4B27-2931302D029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33B0F29-3AAB-5E14-B4D9-A017F82CA42C}"/>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E8F4B38-0355-E574-CF5F-76C145B0E13C}"/>
              </a:ext>
            </a:extLst>
          </p:cNvPr>
          <p:cNvSpPr>
            <a:spLocks noGrp="1"/>
          </p:cNvSpPr>
          <p:nvPr>
            <p:ph type="sldNum" sz="quarter" idx="5"/>
          </p:nvPr>
        </p:nvSpPr>
        <p:spPr/>
        <p:txBody>
          <a:bodyPr/>
          <a:lstStyle/>
          <a:p>
            <a:fld id="{30FF3BCC-1A43-4D25-8467-E40EF431E2F1}" type="slidenum">
              <a:rPr kumimoji="1" lang="ja-JP" altLang="en-US" smtClean="0"/>
              <a:t>16</a:t>
            </a:fld>
            <a:endParaRPr kumimoji="1" lang="ja-JP" altLang="en-US"/>
          </a:p>
        </p:txBody>
      </p:sp>
    </p:spTree>
    <p:extLst>
      <p:ext uri="{BB962C8B-B14F-4D97-AF65-F5344CB8AC3E}">
        <p14:creationId xmlns:p14="http://schemas.microsoft.com/office/powerpoint/2010/main" val="40946642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AFA8DC-3B5A-8CE0-C236-C6578FA6AB0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576820E-69EC-DFBB-76F4-BBF2BC15D6DB}"/>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041A58E-CABA-7A79-2BAA-194DDE6D065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A0865AC2-C5B9-11C1-D7AC-9B470F32EF53}"/>
              </a:ext>
            </a:extLst>
          </p:cNvPr>
          <p:cNvSpPr>
            <a:spLocks noGrp="1"/>
          </p:cNvSpPr>
          <p:nvPr>
            <p:ph type="sldNum" sz="quarter" idx="5"/>
          </p:nvPr>
        </p:nvSpPr>
        <p:spPr/>
        <p:txBody>
          <a:bodyPr/>
          <a:lstStyle/>
          <a:p>
            <a:fld id="{30FF3BCC-1A43-4D25-8467-E40EF431E2F1}" type="slidenum">
              <a:rPr kumimoji="1" lang="ja-JP" altLang="en-US" smtClean="0"/>
              <a:t>17</a:t>
            </a:fld>
            <a:endParaRPr kumimoji="1" lang="ja-JP" altLang="en-US"/>
          </a:p>
        </p:txBody>
      </p:sp>
    </p:spTree>
    <p:extLst>
      <p:ext uri="{BB962C8B-B14F-4D97-AF65-F5344CB8AC3E}">
        <p14:creationId xmlns:p14="http://schemas.microsoft.com/office/powerpoint/2010/main" val="202644553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22E725-D7D8-17E1-4745-D0791B9111B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36A1D65-57DD-D413-2249-F85A5B421025}"/>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0982E84-E980-EAEA-3AF3-155A001191DF}"/>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35F2FC0-9ABA-38FB-BDED-E00320A10C78}"/>
              </a:ext>
            </a:extLst>
          </p:cNvPr>
          <p:cNvSpPr>
            <a:spLocks noGrp="1"/>
          </p:cNvSpPr>
          <p:nvPr>
            <p:ph type="sldNum" sz="quarter" idx="5"/>
          </p:nvPr>
        </p:nvSpPr>
        <p:spPr/>
        <p:txBody>
          <a:bodyPr/>
          <a:lstStyle/>
          <a:p>
            <a:fld id="{30FF3BCC-1A43-4D25-8467-E40EF431E2F1}" type="slidenum">
              <a:rPr kumimoji="1" lang="ja-JP" altLang="en-US" smtClean="0"/>
              <a:t>18</a:t>
            </a:fld>
            <a:endParaRPr kumimoji="1" lang="ja-JP" altLang="en-US"/>
          </a:p>
        </p:txBody>
      </p:sp>
    </p:spTree>
    <p:extLst>
      <p:ext uri="{BB962C8B-B14F-4D97-AF65-F5344CB8AC3E}">
        <p14:creationId xmlns:p14="http://schemas.microsoft.com/office/powerpoint/2010/main" val="174110983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0C7B85-83C3-9DDE-4335-158CC42969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57E6BA9-F36D-604F-3499-7C87D66ABC57}"/>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445EFA15-1CDA-B8D1-0BAC-253999A0B14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F28CD9B-652E-87FA-D240-FE835F6686E1}"/>
              </a:ext>
            </a:extLst>
          </p:cNvPr>
          <p:cNvSpPr>
            <a:spLocks noGrp="1"/>
          </p:cNvSpPr>
          <p:nvPr>
            <p:ph type="sldNum" sz="quarter" idx="5"/>
          </p:nvPr>
        </p:nvSpPr>
        <p:spPr/>
        <p:txBody>
          <a:bodyPr/>
          <a:lstStyle/>
          <a:p>
            <a:fld id="{30FF3BCC-1A43-4D25-8467-E40EF431E2F1}" type="slidenum">
              <a:rPr kumimoji="1" lang="ja-JP" altLang="en-US" smtClean="0"/>
              <a:t>19</a:t>
            </a:fld>
            <a:endParaRPr kumimoji="1" lang="ja-JP" altLang="en-US"/>
          </a:p>
        </p:txBody>
      </p:sp>
    </p:spTree>
    <p:extLst>
      <p:ext uri="{BB962C8B-B14F-4D97-AF65-F5344CB8AC3E}">
        <p14:creationId xmlns:p14="http://schemas.microsoft.com/office/powerpoint/2010/main" val="58492579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035142-7613-2F88-6DDF-0AA0B95CE30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9A89B74-D534-CC5D-3603-B157866C912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2C5E7B25-D992-5558-9CAA-3A2BB05B714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540B3A9-5359-D1DF-207E-4945C3794197}"/>
              </a:ext>
            </a:extLst>
          </p:cNvPr>
          <p:cNvSpPr>
            <a:spLocks noGrp="1"/>
          </p:cNvSpPr>
          <p:nvPr>
            <p:ph type="sldNum" sz="quarter" idx="5"/>
          </p:nvPr>
        </p:nvSpPr>
        <p:spPr/>
        <p:txBody>
          <a:bodyPr/>
          <a:lstStyle/>
          <a:p>
            <a:fld id="{30FF3BCC-1A43-4D25-8467-E40EF431E2F1}" type="slidenum">
              <a:rPr kumimoji="1" lang="ja-JP" altLang="en-US" smtClean="0"/>
              <a:t>20</a:t>
            </a:fld>
            <a:endParaRPr kumimoji="1" lang="ja-JP" altLang="en-US"/>
          </a:p>
        </p:txBody>
      </p:sp>
    </p:spTree>
    <p:extLst>
      <p:ext uri="{BB962C8B-B14F-4D97-AF65-F5344CB8AC3E}">
        <p14:creationId xmlns:p14="http://schemas.microsoft.com/office/powerpoint/2010/main" val="40718563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576726-F92E-C8AC-70BE-109958028C7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AB818D-78DD-0444-71FA-AF55300919C5}"/>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CC10619B-E5D8-2E73-006F-A5FD1904CBC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D8095705-0959-428A-F57F-B098A8BDB7DB}"/>
              </a:ext>
            </a:extLst>
          </p:cNvPr>
          <p:cNvSpPr>
            <a:spLocks noGrp="1"/>
          </p:cNvSpPr>
          <p:nvPr>
            <p:ph type="sldNum" sz="quarter" idx="5"/>
          </p:nvPr>
        </p:nvSpPr>
        <p:spPr/>
        <p:txBody>
          <a:bodyPr/>
          <a:lstStyle/>
          <a:p>
            <a:fld id="{30FF3BCC-1A43-4D25-8467-E40EF431E2F1}" type="slidenum">
              <a:rPr kumimoji="1" lang="ja-JP" altLang="en-US" smtClean="0"/>
              <a:t>21</a:t>
            </a:fld>
            <a:endParaRPr kumimoji="1" lang="ja-JP" altLang="en-US"/>
          </a:p>
        </p:txBody>
      </p:sp>
    </p:spTree>
    <p:extLst>
      <p:ext uri="{BB962C8B-B14F-4D97-AF65-F5344CB8AC3E}">
        <p14:creationId xmlns:p14="http://schemas.microsoft.com/office/powerpoint/2010/main" val="214913224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93F79-295E-F06B-7AB6-52A5A3EA393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26F7EE7-AB24-EA55-7ACE-47505BF35BAF}"/>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7BDE5B4E-F52E-8016-E763-B450F1D89C74}"/>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6271926-BBCD-B1D8-D398-CE016D9998E8}"/>
              </a:ext>
            </a:extLst>
          </p:cNvPr>
          <p:cNvSpPr>
            <a:spLocks noGrp="1"/>
          </p:cNvSpPr>
          <p:nvPr>
            <p:ph type="sldNum" sz="quarter" idx="5"/>
          </p:nvPr>
        </p:nvSpPr>
        <p:spPr/>
        <p:txBody>
          <a:bodyPr/>
          <a:lstStyle/>
          <a:p>
            <a:fld id="{30FF3BCC-1A43-4D25-8467-E40EF431E2F1}" type="slidenum">
              <a:rPr kumimoji="1" lang="ja-JP" altLang="en-US" smtClean="0"/>
              <a:t>22</a:t>
            </a:fld>
            <a:endParaRPr kumimoji="1" lang="ja-JP" altLang="en-US"/>
          </a:p>
        </p:txBody>
      </p:sp>
    </p:spTree>
    <p:extLst>
      <p:ext uri="{BB962C8B-B14F-4D97-AF65-F5344CB8AC3E}">
        <p14:creationId xmlns:p14="http://schemas.microsoft.com/office/powerpoint/2010/main" val="331735442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58BDAB-B0BC-D005-A2A7-951EBC89B4C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52DC877-776A-449C-A43E-AEB3CE94D630}"/>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030C70C-7CA3-B8C1-0D62-4A544C5F87B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6B92F43-F674-D334-F90F-5304787C5E7D}"/>
              </a:ext>
            </a:extLst>
          </p:cNvPr>
          <p:cNvSpPr>
            <a:spLocks noGrp="1"/>
          </p:cNvSpPr>
          <p:nvPr>
            <p:ph type="sldNum" sz="quarter" idx="5"/>
          </p:nvPr>
        </p:nvSpPr>
        <p:spPr/>
        <p:txBody>
          <a:bodyPr/>
          <a:lstStyle/>
          <a:p>
            <a:fld id="{30FF3BCC-1A43-4D25-8467-E40EF431E2F1}" type="slidenum">
              <a:rPr kumimoji="1" lang="ja-JP" altLang="en-US" smtClean="0"/>
              <a:t>24</a:t>
            </a:fld>
            <a:endParaRPr kumimoji="1" lang="ja-JP" altLang="en-US"/>
          </a:p>
        </p:txBody>
      </p:sp>
    </p:spTree>
    <p:extLst>
      <p:ext uri="{BB962C8B-B14F-4D97-AF65-F5344CB8AC3E}">
        <p14:creationId xmlns:p14="http://schemas.microsoft.com/office/powerpoint/2010/main" val="20659891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A4A82-F556-35B1-B856-FE508044492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EC3BDB4-265E-5E67-CFEA-208DBEE091A4}"/>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BF07348-0B3E-EDA2-CC24-8961BB8EE4D3}"/>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0395BC13-068C-8F1D-24E2-48104E91BC41}"/>
              </a:ext>
            </a:extLst>
          </p:cNvPr>
          <p:cNvSpPr>
            <a:spLocks noGrp="1"/>
          </p:cNvSpPr>
          <p:nvPr>
            <p:ph type="sldNum" sz="quarter" idx="5"/>
          </p:nvPr>
        </p:nvSpPr>
        <p:spPr/>
        <p:txBody>
          <a:bodyPr/>
          <a:lstStyle/>
          <a:p>
            <a:fld id="{30FF3BCC-1A43-4D25-8467-E40EF431E2F1}" type="slidenum">
              <a:rPr kumimoji="1" lang="ja-JP" altLang="en-US" smtClean="0"/>
              <a:t>25</a:t>
            </a:fld>
            <a:endParaRPr kumimoji="1" lang="ja-JP" altLang="en-US"/>
          </a:p>
        </p:txBody>
      </p:sp>
    </p:spTree>
    <p:extLst>
      <p:ext uri="{BB962C8B-B14F-4D97-AF65-F5344CB8AC3E}">
        <p14:creationId xmlns:p14="http://schemas.microsoft.com/office/powerpoint/2010/main" val="29457885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D6D02-57FD-62EB-BC56-6E300F505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138501E-F5AF-0224-79A6-DBE6F9F7E093}"/>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F0C518C7-436D-8B71-5734-02D19443C6B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4216A50-996C-4CF3-5119-58EFABB781F5}"/>
              </a:ext>
            </a:extLst>
          </p:cNvPr>
          <p:cNvSpPr>
            <a:spLocks noGrp="1"/>
          </p:cNvSpPr>
          <p:nvPr>
            <p:ph type="sldNum" sz="quarter" idx="5"/>
          </p:nvPr>
        </p:nvSpPr>
        <p:spPr/>
        <p:txBody>
          <a:bodyPr/>
          <a:lstStyle/>
          <a:p>
            <a:fld id="{30FF3BCC-1A43-4D25-8467-E40EF431E2F1}" type="slidenum">
              <a:rPr kumimoji="1" lang="ja-JP" altLang="en-US" smtClean="0"/>
              <a:t>27</a:t>
            </a:fld>
            <a:endParaRPr kumimoji="1" lang="ja-JP" altLang="en-US"/>
          </a:p>
        </p:txBody>
      </p:sp>
    </p:spTree>
    <p:extLst>
      <p:ext uri="{BB962C8B-B14F-4D97-AF65-F5344CB8AC3E}">
        <p14:creationId xmlns:p14="http://schemas.microsoft.com/office/powerpoint/2010/main" val="289853074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FF017-472F-0872-A57B-F89F02E4AE7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7AC265-7FBA-5DC7-99A1-03FC2F6AC04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47597C32-1DAD-46CB-92D2-4B18BA8A302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E3D7D21C-CA67-AD27-2D15-37084604B145}"/>
              </a:ext>
            </a:extLst>
          </p:cNvPr>
          <p:cNvSpPr>
            <a:spLocks noGrp="1"/>
          </p:cNvSpPr>
          <p:nvPr>
            <p:ph type="sldNum" sz="quarter" idx="5"/>
          </p:nvPr>
        </p:nvSpPr>
        <p:spPr/>
        <p:txBody>
          <a:bodyPr/>
          <a:lstStyle/>
          <a:p>
            <a:fld id="{30FF3BCC-1A43-4D25-8467-E40EF431E2F1}" type="slidenum">
              <a:rPr kumimoji="1" lang="ja-JP" altLang="en-US" smtClean="0"/>
              <a:t>29</a:t>
            </a:fld>
            <a:endParaRPr kumimoji="1" lang="ja-JP" altLang="en-US"/>
          </a:p>
        </p:txBody>
      </p:sp>
    </p:spTree>
    <p:extLst>
      <p:ext uri="{BB962C8B-B14F-4D97-AF65-F5344CB8AC3E}">
        <p14:creationId xmlns:p14="http://schemas.microsoft.com/office/powerpoint/2010/main" val="88990971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FF683D-5DAD-A120-6033-B5D7A3A10F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298E89A-CF82-A78D-98DD-04A02EFED8B9}"/>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5B7C49F-E7C2-17E6-0809-6FDB7372C5DE}"/>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4C2036E6-B3B5-956E-AF2B-34A9EF32DC49}"/>
              </a:ext>
            </a:extLst>
          </p:cNvPr>
          <p:cNvSpPr>
            <a:spLocks noGrp="1"/>
          </p:cNvSpPr>
          <p:nvPr>
            <p:ph type="sldNum" sz="quarter" idx="5"/>
          </p:nvPr>
        </p:nvSpPr>
        <p:spPr/>
        <p:txBody>
          <a:bodyPr/>
          <a:lstStyle/>
          <a:p>
            <a:fld id="{30FF3BCC-1A43-4D25-8467-E40EF431E2F1}" type="slidenum">
              <a:rPr kumimoji="1" lang="ja-JP" altLang="en-US" smtClean="0"/>
              <a:t>31</a:t>
            </a:fld>
            <a:endParaRPr kumimoji="1" lang="ja-JP" altLang="en-US"/>
          </a:p>
        </p:txBody>
      </p:sp>
    </p:spTree>
    <p:extLst>
      <p:ext uri="{BB962C8B-B14F-4D97-AF65-F5344CB8AC3E}">
        <p14:creationId xmlns:p14="http://schemas.microsoft.com/office/powerpoint/2010/main" val="28520950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08CDCC-4499-9CC9-1F39-99083A511C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93DCC5A-4CF0-CE33-9793-735FCC81AE4E}"/>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6E4A811-4C57-E7FA-999B-3B2346969CF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E5D9E0B5-62CD-B7FC-7619-BDD324DA7A35}"/>
              </a:ext>
            </a:extLst>
          </p:cNvPr>
          <p:cNvSpPr>
            <a:spLocks noGrp="1"/>
          </p:cNvSpPr>
          <p:nvPr>
            <p:ph type="sldNum" sz="quarter" idx="5"/>
          </p:nvPr>
        </p:nvSpPr>
        <p:spPr/>
        <p:txBody>
          <a:bodyPr/>
          <a:lstStyle/>
          <a:p>
            <a:fld id="{30FF3BCC-1A43-4D25-8467-E40EF431E2F1}" type="slidenum">
              <a:rPr kumimoji="1" lang="ja-JP" altLang="en-US" smtClean="0"/>
              <a:t>33</a:t>
            </a:fld>
            <a:endParaRPr kumimoji="1" lang="ja-JP" altLang="en-US"/>
          </a:p>
        </p:txBody>
      </p:sp>
    </p:spTree>
    <p:extLst>
      <p:ext uri="{BB962C8B-B14F-4D97-AF65-F5344CB8AC3E}">
        <p14:creationId xmlns:p14="http://schemas.microsoft.com/office/powerpoint/2010/main" val="216406258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33463" y="1243013"/>
            <a:ext cx="4740275" cy="3352800"/>
          </a:xfrm>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dirty="0"/>
          </a:p>
        </p:txBody>
      </p:sp>
      <p:sp>
        <p:nvSpPr>
          <p:cNvPr id="4" name="スライド番号プレースホルダー 3"/>
          <p:cNvSpPr>
            <a:spLocks noGrp="1"/>
          </p:cNvSpPr>
          <p:nvPr>
            <p:ph type="sldNum" sz="quarter" idx="5"/>
          </p:nvPr>
        </p:nvSpPr>
        <p:spPr/>
        <p:txBody>
          <a:bodyPr/>
          <a:lstStyle/>
          <a:p>
            <a:fld id="{CAF5A409-FE33-4202-B69D-8515A6FDCE7E}" type="slidenum">
              <a:rPr kumimoji="1" lang="ja-JP" altLang="en-US" smtClean="0"/>
              <a:t>34</a:t>
            </a:fld>
            <a:endParaRPr kumimoji="1" lang="ja-JP" altLang="en-US"/>
          </a:p>
        </p:txBody>
      </p:sp>
    </p:spTree>
    <p:extLst>
      <p:ext uri="{BB962C8B-B14F-4D97-AF65-F5344CB8AC3E}">
        <p14:creationId xmlns:p14="http://schemas.microsoft.com/office/powerpoint/2010/main" val="39096212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6.png"/><Relationship Id="rId4" Type="http://schemas.openxmlformats.org/officeDocument/2006/relationships/image" Target="../media/image7.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9974122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10359687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目次">
    <p:spTree>
      <p:nvGrpSpPr>
        <p:cNvPr id="1" name=""/>
        <p:cNvGrpSpPr/>
        <p:nvPr/>
      </p:nvGrpSpPr>
      <p:grpSpPr>
        <a:xfrm>
          <a:off x="0" y="0"/>
          <a:ext cx="0" cy="0"/>
          <a:chOff x="0" y="0"/>
          <a:chExt cx="0" cy="0"/>
        </a:xfrm>
      </p:grpSpPr>
      <p:pic>
        <p:nvPicPr>
          <p:cNvPr id="2" name="図 1" descr="背景パターン&#10;&#10;AI 生成コンテンツは誤りを含む可能性があります。">
            <a:extLst>
              <a:ext uri="{FF2B5EF4-FFF2-40B4-BE49-F238E27FC236}">
                <a16:creationId xmlns:a16="http://schemas.microsoft.com/office/drawing/2014/main" id="{8E967D6D-5B52-5B07-CA48-6817A5CEB27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grpSp>
        <p:nvGrpSpPr>
          <p:cNvPr id="7" name="グループ化 6">
            <a:extLst>
              <a:ext uri="{FF2B5EF4-FFF2-40B4-BE49-F238E27FC236}">
                <a16:creationId xmlns:a16="http://schemas.microsoft.com/office/drawing/2014/main" id="{01D98B25-17B2-272C-53AC-A26D9745042C}"/>
              </a:ext>
            </a:extLst>
          </p:cNvPr>
          <p:cNvGrpSpPr/>
          <p:nvPr userDrawn="1"/>
        </p:nvGrpSpPr>
        <p:grpSpPr>
          <a:xfrm>
            <a:off x="887069" y="3420377"/>
            <a:ext cx="3420000" cy="602349"/>
            <a:chOff x="887069" y="3420377"/>
            <a:chExt cx="3420000" cy="602349"/>
          </a:xfrm>
        </p:grpSpPr>
        <p:sp>
          <p:nvSpPr>
            <p:cNvPr id="9" name="テキスト ボックス 8">
              <a:extLst>
                <a:ext uri="{FF2B5EF4-FFF2-40B4-BE49-F238E27FC236}">
                  <a16:creationId xmlns:a16="http://schemas.microsoft.com/office/drawing/2014/main" id="{C5012DD8-6B05-046F-3AF1-CACA060CA370}"/>
                </a:ext>
              </a:extLst>
            </p:cNvPr>
            <p:cNvSpPr txBox="1"/>
            <p:nvPr/>
          </p:nvSpPr>
          <p:spPr>
            <a:xfrm>
              <a:off x="977069" y="3420377"/>
              <a:ext cx="3240000" cy="492443"/>
            </a:xfrm>
            <a:prstGeom prst="rect">
              <a:avLst/>
            </a:prstGeom>
            <a:noFill/>
          </p:spPr>
          <p:txBody>
            <a:bodyPr wrap="square" lIns="0" tIns="0" rIns="0" bIns="0" anchor="t">
              <a:spAutoFit/>
            </a:bodyPr>
            <a:lstStyle/>
            <a:p>
              <a:pPr algn="ctr"/>
              <a:r>
                <a:rPr lang="ja-JP" altLang="en-US" sz="3200" b="1" dirty="0">
                  <a:latin typeface="+mj-lt"/>
                </a:rPr>
                <a:t>目次</a:t>
              </a:r>
            </a:p>
          </p:txBody>
        </p:sp>
        <p:cxnSp>
          <p:nvCxnSpPr>
            <p:cNvPr id="10" name="直線コネクタ 9">
              <a:extLst>
                <a:ext uri="{FF2B5EF4-FFF2-40B4-BE49-F238E27FC236}">
                  <a16:creationId xmlns:a16="http://schemas.microsoft.com/office/drawing/2014/main" id="{268C069C-EAF1-B7E8-021B-4DF925E86141}"/>
                </a:ext>
              </a:extLst>
            </p:cNvPr>
            <p:cNvCxnSpPr>
              <a:cxnSpLocks/>
            </p:cNvCxnSpPr>
            <p:nvPr/>
          </p:nvCxnSpPr>
          <p:spPr>
            <a:xfrm>
              <a:off x="887069" y="4022726"/>
              <a:ext cx="34200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gr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7898" y="641818"/>
            <a:ext cx="1627200" cy="322732"/>
          </a:xfrm>
          <a:prstGeom prst="rect">
            <a:avLst/>
          </a:prstGeom>
        </p:spPr>
      </p:pic>
      <p:sp>
        <p:nvSpPr>
          <p:cNvPr id="12" name="テキスト ボックス 11">
            <a:extLst>
              <a:ext uri="{FF2B5EF4-FFF2-40B4-BE49-F238E27FC236}">
                <a16:creationId xmlns:a16="http://schemas.microsoft.com/office/drawing/2014/main" id="{1A1C1562-A331-DA82-9B95-1B4F0DA08BD0}"/>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sp>
        <p:nvSpPr>
          <p:cNvPr id="13" name="Google Shape;14;p31">
            <a:extLst>
              <a:ext uri="{FF2B5EF4-FFF2-40B4-BE49-F238E27FC236}">
                <a16:creationId xmlns:a16="http://schemas.microsoft.com/office/drawing/2014/main" id="{0CB49C29-F967-F011-F3F8-2ED176CC202F}"/>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3" name="正方形/長方形 2">
            <a:extLst>
              <a:ext uri="{FF2B5EF4-FFF2-40B4-BE49-F238E27FC236}">
                <a16:creationId xmlns:a16="http://schemas.microsoft.com/office/drawing/2014/main" id="{7493C03D-EF3C-73CD-DCFB-960D33F81124}"/>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8014450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中扉">
    <p:spTree>
      <p:nvGrpSpPr>
        <p:cNvPr id="1" name=""/>
        <p:cNvGrpSpPr/>
        <p:nvPr/>
      </p:nvGrpSpPr>
      <p:grpSpPr>
        <a:xfrm>
          <a:off x="0" y="0"/>
          <a:ext cx="0" cy="0"/>
          <a:chOff x="0" y="0"/>
          <a:chExt cx="0" cy="0"/>
        </a:xfrm>
      </p:grpSpPr>
      <p:pic>
        <p:nvPicPr>
          <p:cNvPr id="3" name="図 2" descr="背景パターン&#10;&#10;AI 生成コンテンツは誤りを含む可能性があります。">
            <a:extLst>
              <a:ext uri="{FF2B5EF4-FFF2-40B4-BE49-F238E27FC236}">
                <a16:creationId xmlns:a16="http://schemas.microsoft.com/office/drawing/2014/main" id="{FDE449C2-8B65-9409-394F-45A167C6AEA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5" name="タイトル 1">
            <a:extLst>
              <a:ext uri="{FF2B5EF4-FFF2-40B4-BE49-F238E27FC236}">
                <a16:creationId xmlns:a16="http://schemas.microsoft.com/office/drawing/2014/main" id="{07D600CD-5CAD-A0C8-1E3D-CD1EA5B04422}"/>
              </a:ext>
            </a:extLst>
          </p:cNvPr>
          <p:cNvSpPr>
            <a:spLocks noGrp="1"/>
          </p:cNvSpPr>
          <p:nvPr>
            <p:ph type="title"/>
          </p:nvPr>
        </p:nvSpPr>
        <p:spPr>
          <a:xfrm>
            <a:off x="989013" y="3656161"/>
            <a:ext cx="9221787" cy="615553"/>
          </a:xfrm>
          <a:prstGeom prst="rect">
            <a:avLst/>
          </a:prstGeom>
          <a:noFill/>
        </p:spPr>
        <p:txBody>
          <a:bodyPr wrap="square" lIns="0" tIns="0" rIns="0" bIns="0" rtlCol="0" anchor="ctr">
            <a:spAutoFit/>
          </a:bodyPr>
          <a:lstStyle>
            <a:lvl1pPr>
              <a:lnSpc>
                <a:spcPct val="100000"/>
              </a:lnSpc>
              <a:defRPr lang="ja-JP" altLang="en-US" sz="4000" b="1" spc="200" dirty="0">
                <a:solidFill>
                  <a:schemeClr val="bg1"/>
                </a:solidFill>
                <a:latin typeface="+mj-lt"/>
                <a:cs typeface="+mn-cs"/>
              </a:defRPr>
            </a:lvl1pPr>
          </a:lstStyle>
          <a:p>
            <a:pPr marL="0" lvl="0" defTabSz="503972"/>
            <a:r>
              <a:rPr kumimoji="1" lang="ja-JP" altLang="en-US" dirty="0"/>
              <a:t>マスター タイトルの書式設定</a:t>
            </a:r>
          </a:p>
        </p:txBody>
      </p:sp>
      <p:pic>
        <p:nvPicPr>
          <p:cNvPr id="4" name="グラフィックス 3">
            <a:extLst>
              <a:ext uri="{FF2B5EF4-FFF2-40B4-BE49-F238E27FC236}">
                <a16:creationId xmlns:a16="http://schemas.microsoft.com/office/drawing/2014/main" id="{8D4E6481-3D38-43CE-56D4-0766A151BDBF}"/>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97898" y="641818"/>
            <a:ext cx="1627200" cy="320105"/>
          </a:xfrm>
          <a:prstGeom prst="rect">
            <a:avLst/>
          </a:prstGeom>
        </p:spPr>
      </p:pic>
      <p:sp>
        <p:nvSpPr>
          <p:cNvPr id="7" name="テキスト ボックス 6">
            <a:extLst>
              <a:ext uri="{FF2B5EF4-FFF2-40B4-BE49-F238E27FC236}">
                <a16:creationId xmlns:a16="http://schemas.microsoft.com/office/drawing/2014/main" id="{06F9BFF4-1363-8167-1FD9-7F8105B557A4}"/>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bg1"/>
                </a:solidFill>
                <a:latin typeface="+mj-lt"/>
              </a:rPr>
              <a:pPr algn="r"/>
              <a:t>‹#›</a:t>
            </a:fld>
            <a:endParaRPr kumimoji="1" lang="ja-JP" altLang="en-US" sz="992" dirty="0">
              <a:solidFill>
                <a:schemeClr val="bg1"/>
              </a:solidFill>
              <a:latin typeface="+mj-lt"/>
            </a:endParaRPr>
          </a:p>
        </p:txBody>
      </p:sp>
      <p:sp>
        <p:nvSpPr>
          <p:cNvPr id="8" name="Google Shape;14;p31">
            <a:extLst>
              <a:ext uri="{FF2B5EF4-FFF2-40B4-BE49-F238E27FC236}">
                <a16:creationId xmlns:a16="http://schemas.microsoft.com/office/drawing/2014/main" id="{4768A1B1-9FB9-F183-2D3A-178D813DD52B}"/>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bg1"/>
                </a:solidFill>
                <a:latin typeface="Arial"/>
                <a:ea typeface="Arial"/>
                <a:cs typeface="Arial"/>
                <a:sym typeface="Arial"/>
              </a:rPr>
              <a:t>Copyright© M＆A Succession Group Inc. All Right Reserved</a:t>
            </a:r>
            <a:endParaRPr sz="700" b="0" i="0" u="none" strike="noStrike" cap="none" dirty="0">
              <a:solidFill>
                <a:schemeClr val="bg1"/>
              </a:solidFill>
              <a:latin typeface="Arial"/>
              <a:ea typeface="Arial"/>
              <a:cs typeface="Arial"/>
              <a:sym typeface="Arial"/>
            </a:endParaRPr>
          </a:p>
        </p:txBody>
      </p:sp>
      <p:sp>
        <p:nvSpPr>
          <p:cNvPr id="2" name="正方形/長方形 1">
            <a:extLst>
              <a:ext uri="{FF2B5EF4-FFF2-40B4-BE49-F238E27FC236}">
                <a16:creationId xmlns:a16="http://schemas.microsoft.com/office/drawing/2014/main" id="{00B19FBA-B74F-4E88-0389-543A882445EE}"/>
              </a:ext>
            </a:extLst>
          </p:cNvPr>
          <p:cNvSpPr/>
          <p:nvPr userDrawn="1"/>
        </p:nvSpPr>
        <p:spPr>
          <a:xfrm>
            <a:off x="6933143" y="7209190"/>
            <a:ext cx="640572" cy="144000"/>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bg1"/>
                </a:solidFill>
              </a:rPr>
              <a:t>Confidential</a:t>
            </a:r>
          </a:p>
        </p:txBody>
      </p:sp>
    </p:spTree>
    <p:extLst>
      <p:ext uri="{BB962C8B-B14F-4D97-AF65-F5344CB8AC3E}">
        <p14:creationId xmlns:p14="http://schemas.microsoft.com/office/powerpoint/2010/main" val="18809509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本編1">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BA577B03-0430-76D0-A4E3-BD118824A3F8}"/>
              </a:ext>
            </a:extLst>
          </p:cNvPr>
          <p:cNvSpPr/>
          <p:nvPr userDrawn="1"/>
        </p:nvSpPr>
        <p:spPr>
          <a:xfrm>
            <a:off x="-1" y="0"/>
            <a:ext cx="10691814" cy="666000"/>
          </a:xfrm>
          <a:prstGeom prst="rect">
            <a:avLst/>
          </a:prstGeom>
          <a:gradFill>
            <a:gsLst>
              <a:gs pos="88000">
                <a:srgbClr val="006AB1"/>
              </a:gs>
              <a:gs pos="5000">
                <a:schemeClr val="tx2"/>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dirty="0"/>
          </a:p>
        </p:txBody>
      </p:sp>
      <p:sp>
        <p:nvSpPr>
          <p:cNvPr id="31" name="フリーフォーム: 図形 30">
            <a:extLst>
              <a:ext uri="{FF2B5EF4-FFF2-40B4-BE49-F238E27FC236}">
                <a16:creationId xmlns:a16="http://schemas.microsoft.com/office/drawing/2014/main" id="{D9CC89AC-0069-75DF-7665-F8D290946A33}"/>
              </a:ext>
            </a:extLst>
          </p:cNvPr>
          <p:cNvSpPr/>
          <p:nvPr userDrawn="1"/>
        </p:nvSpPr>
        <p:spPr>
          <a:xfrm>
            <a:off x="6714554"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96000">
                <a:schemeClr val="accent4"/>
              </a:gs>
              <a:gs pos="46000">
                <a:schemeClr val="tx2">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dirty="0"/>
          </a:p>
        </p:txBody>
      </p:sp>
      <p:sp>
        <p:nvSpPr>
          <p:cNvPr id="3" name="字幕 2">
            <a:extLst>
              <a:ext uri="{FF2B5EF4-FFF2-40B4-BE49-F238E27FC236}">
                <a16:creationId xmlns:a16="http://schemas.microsoft.com/office/drawing/2014/main" id="{E4C44029-31FF-A9F7-06AC-0A055C09D50F}"/>
              </a:ext>
            </a:extLst>
          </p:cNvPr>
          <p:cNvSpPr>
            <a:spLocks noGrp="1"/>
          </p:cNvSpPr>
          <p:nvPr>
            <p:ph type="subTitle" idx="1"/>
          </p:nvPr>
        </p:nvSpPr>
        <p:spPr>
          <a:xfrm>
            <a:off x="460675" y="830046"/>
            <a:ext cx="9781875" cy="241861"/>
          </a:xfrm>
          <a:prstGeom prst="rect">
            <a:avLst/>
          </a:prstGeom>
        </p:spPr>
        <p:txBody>
          <a:bodyPr wrap="square" lIns="0" tIns="0" rIns="0" bIns="0">
            <a:spAutoFit/>
          </a:bodyPr>
          <a:lstStyle>
            <a:lvl1pPr marL="0" indent="0" algn="l">
              <a:lnSpc>
                <a:spcPct val="120000"/>
              </a:lnSpc>
              <a:spcBef>
                <a:spcPts val="0"/>
              </a:spcBef>
              <a:buNone/>
              <a:defRPr sz="1400" b="1" spc="55" baseline="0">
                <a:latin typeface="+mj-ea"/>
                <a:ea typeface="+mj-ea"/>
              </a:defRPr>
            </a:lvl1pPr>
            <a:lvl2pPr marL="503972" indent="0" algn="ctr">
              <a:buNone/>
              <a:defRPr sz="2205"/>
            </a:lvl2pPr>
            <a:lvl3pPr marL="1007943" indent="0" algn="ctr">
              <a:buNone/>
              <a:defRPr sz="1984"/>
            </a:lvl3pPr>
            <a:lvl4pPr marL="1511915" indent="0" algn="ctr">
              <a:buNone/>
              <a:defRPr sz="1764"/>
            </a:lvl4pPr>
            <a:lvl5pPr marL="2015886" indent="0" algn="ctr">
              <a:buNone/>
              <a:defRPr sz="1764"/>
            </a:lvl5pPr>
            <a:lvl6pPr marL="2519858" indent="0" algn="ctr">
              <a:buNone/>
              <a:defRPr sz="1764"/>
            </a:lvl6pPr>
            <a:lvl7pPr marL="3023829" indent="0" algn="ctr">
              <a:buNone/>
              <a:defRPr sz="1764"/>
            </a:lvl7pPr>
            <a:lvl8pPr marL="3527801" indent="0" algn="ctr">
              <a:buNone/>
              <a:defRPr sz="1764"/>
            </a:lvl8pPr>
            <a:lvl9pPr marL="4031772" indent="0" algn="ctr">
              <a:buNone/>
              <a:defRPr sz="1764"/>
            </a:lvl9pPr>
          </a:lstStyle>
          <a:p>
            <a:r>
              <a:rPr kumimoji="1" lang="ja-JP" altLang="en-US" dirty="0"/>
              <a:t>マスター サブタイトルの書式設定</a:t>
            </a:r>
          </a:p>
        </p:txBody>
      </p:sp>
      <p:sp>
        <p:nvSpPr>
          <p:cNvPr id="6" name="テキスト ボックス 5">
            <a:extLst>
              <a:ext uri="{FF2B5EF4-FFF2-40B4-BE49-F238E27FC236}">
                <a16:creationId xmlns:a16="http://schemas.microsoft.com/office/drawing/2014/main" id="{C06A0380-DE0F-1825-615F-4DBC89C8C6DB}"/>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pic>
        <p:nvPicPr>
          <p:cNvPr id="8" name="グラフィックス 7">
            <a:extLst>
              <a:ext uri="{FF2B5EF4-FFF2-40B4-BE49-F238E27FC236}">
                <a16:creationId xmlns:a16="http://schemas.microsoft.com/office/drawing/2014/main" id="{15124CEF-AA7F-DF16-7A5C-692E9AB7616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04801" y="7086114"/>
            <a:ext cx="1625600" cy="322220"/>
          </a:xfrm>
          <a:prstGeom prst="rect">
            <a:avLst/>
          </a:prstGeom>
        </p:spPr>
      </p:pic>
      <p:grpSp>
        <p:nvGrpSpPr>
          <p:cNvPr id="26" name="グループ化 25">
            <a:extLst>
              <a:ext uri="{FF2B5EF4-FFF2-40B4-BE49-F238E27FC236}">
                <a16:creationId xmlns:a16="http://schemas.microsoft.com/office/drawing/2014/main" id="{2864EB89-7DDA-1F5E-BB78-27D39C8659FC}"/>
              </a:ext>
            </a:extLst>
          </p:cNvPr>
          <p:cNvGrpSpPr/>
          <p:nvPr userDrawn="1"/>
        </p:nvGrpSpPr>
        <p:grpSpPr>
          <a:xfrm>
            <a:off x="-1" y="0"/>
            <a:ext cx="252001" cy="666000"/>
            <a:chOff x="-1" y="0"/>
            <a:chExt cx="252001" cy="666000"/>
          </a:xfrm>
        </p:grpSpPr>
        <p:cxnSp>
          <p:nvCxnSpPr>
            <p:cNvPr id="19" name="直線コネクタ 18">
              <a:extLst>
                <a:ext uri="{FF2B5EF4-FFF2-40B4-BE49-F238E27FC236}">
                  <a16:creationId xmlns:a16="http://schemas.microsoft.com/office/drawing/2014/main" id="{05B82C66-0A6E-C82F-B38C-D4495200FAA8}"/>
                </a:ext>
              </a:extLst>
            </p:cNvPr>
            <p:cNvCxnSpPr>
              <a:cxnSpLocks/>
            </p:cNvCxnSpPr>
            <p:nvPr userDrawn="1"/>
          </p:nvCxnSpPr>
          <p:spPr>
            <a:xfrm>
              <a:off x="0" y="333000"/>
              <a:ext cx="252000"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11" name="正方形/長方形 10">
              <a:extLst>
                <a:ext uri="{FF2B5EF4-FFF2-40B4-BE49-F238E27FC236}">
                  <a16:creationId xmlns:a16="http://schemas.microsoft.com/office/drawing/2014/main" id="{A6BFD29D-964D-B44D-88A5-439ACA448282}"/>
                </a:ext>
              </a:extLst>
            </p:cNvPr>
            <p:cNvSpPr/>
            <p:nvPr userDrawn="1"/>
          </p:nvSpPr>
          <p:spPr>
            <a:xfrm>
              <a:off x="-1" y="0"/>
              <a:ext cx="108000" cy="666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cxnSp>
          <p:nvCxnSpPr>
            <p:cNvPr id="18" name="直線コネクタ 17">
              <a:extLst>
                <a:ext uri="{FF2B5EF4-FFF2-40B4-BE49-F238E27FC236}">
                  <a16:creationId xmlns:a16="http://schemas.microsoft.com/office/drawing/2014/main" id="{B87BA5C7-32E9-C506-2110-1D5AFE77B082}"/>
                </a:ext>
              </a:extLst>
            </p:cNvPr>
            <p:cNvCxnSpPr>
              <a:cxnSpLocks/>
            </p:cNvCxnSpPr>
            <p:nvPr userDrawn="1"/>
          </p:nvCxnSpPr>
          <p:spPr>
            <a:xfrm>
              <a:off x="-1" y="333000"/>
              <a:ext cx="108000" cy="0"/>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 name="タイトル 1">
            <a:extLst>
              <a:ext uri="{FF2B5EF4-FFF2-40B4-BE49-F238E27FC236}">
                <a16:creationId xmlns:a16="http://schemas.microsoft.com/office/drawing/2014/main" id="{1DA08165-590D-BD55-05E9-10B2D6F8DD63}"/>
              </a:ext>
            </a:extLst>
          </p:cNvPr>
          <p:cNvSpPr>
            <a:spLocks noGrp="1"/>
          </p:cNvSpPr>
          <p:nvPr userDrawn="1">
            <p:ph type="ctrTitle"/>
          </p:nvPr>
        </p:nvSpPr>
        <p:spPr>
          <a:xfrm>
            <a:off x="341313" y="180296"/>
            <a:ext cx="7799917" cy="339267"/>
          </a:xfrm>
          <a:prstGeom prst="rect">
            <a:avLst/>
          </a:prstGeom>
        </p:spPr>
        <p:txBody>
          <a:bodyPr wrap="square" lIns="0" tIns="0" rIns="0" bIns="0" anchor="ctr">
            <a:spAutoFit/>
          </a:bodyPr>
          <a:lstStyle>
            <a:lvl1pPr algn="l">
              <a:lnSpc>
                <a:spcPct val="100000"/>
              </a:lnSpc>
              <a:defRPr sz="2200" b="1" spc="77" baseline="0">
                <a:solidFill>
                  <a:schemeClr val="bg1"/>
                </a:solidFill>
                <a:latin typeface="+mj-lt"/>
              </a:defRPr>
            </a:lvl1pPr>
          </a:lstStyle>
          <a:p>
            <a:r>
              <a:rPr kumimoji="1" lang="ja-JP" altLang="en-US" dirty="0"/>
              <a:t>マスター タイトルの書式設定</a:t>
            </a:r>
          </a:p>
        </p:txBody>
      </p:sp>
      <p:sp>
        <p:nvSpPr>
          <p:cNvPr id="30" name="フリーフォーム: 図形 29">
            <a:extLst>
              <a:ext uri="{FF2B5EF4-FFF2-40B4-BE49-F238E27FC236}">
                <a16:creationId xmlns:a16="http://schemas.microsoft.com/office/drawing/2014/main" id="{0AA6A414-726D-CCFA-2EF2-5B8503BE0A88}"/>
              </a:ext>
            </a:extLst>
          </p:cNvPr>
          <p:cNvSpPr/>
          <p:nvPr userDrawn="1"/>
        </p:nvSpPr>
        <p:spPr>
          <a:xfrm>
            <a:off x="6386286"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100000">
                <a:schemeClr val="accent4"/>
              </a:gs>
              <a:gs pos="8000">
                <a:srgbClr val="0167AB">
                  <a:alpha val="0"/>
                </a:srgb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a:p>
        </p:txBody>
      </p:sp>
      <p:sp>
        <p:nvSpPr>
          <p:cNvPr id="33" name="Google Shape;14;p31">
            <a:extLst>
              <a:ext uri="{FF2B5EF4-FFF2-40B4-BE49-F238E27FC236}">
                <a16:creationId xmlns:a16="http://schemas.microsoft.com/office/drawing/2014/main" id="{273032A6-EBE9-0147-F9C2-495CA12FDE28}"/>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5" name="正方形/長方形 4">
            <a:extLst>
              <a:ext uri="{FF2B5EF4-FFF2-40B4-BE49-F238E27FC236}">
                <a16:creationId xmlns:a16="http://schemas.microsoft.com/office/drawing/2014/main" id="{283DDC2C-ECEE-530D-9F1C-6564A5A2BAB9}"/>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627557559"/>
      </p:ext>
    </p:extLst>
  </p:cSld>
  <p:clrMapOvr>
    <a:masterClrMapping/>
  </p:clrMapOvr>
  <p:extLst>
    <p:ext uri="{DCECCB84-F9BA-43D5-87BE-67443E8EF086}">
      <p15:sldGuideLst xmlns:p15="http://schemas.microsoft.com/office/powerpoint/2012/main">
        <p15:guide id="2" orient="horz" pos="4309">
          <p15:clr>
            <a:srgbClr val="FBAE40"/>
          </p15:clr>
        </p15:guide>
        <p15:guide id="3" pos="215">
          <p15:clr>
            <a:srgbClr val="A4A3A4"/>
          </p15:clr>
        </p15:guide>
        <p15:guide id="4" pos="6520">
          <p15:clr>
            <a:srgbClr val="A4A3A4"/>
          </p15:clr>
        </p15:guide>
        <p15:guide id="5" pos="283">
          <p15:clr>
            <a:srgbClr val="FBAE40"/>
          </p15:clr>
        </p15:guide>
        <p15:guide id="6" pos="64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_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21111899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58542152"/>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Lst>
  <p:txStyles>
    <p:titleStyle>
      <a:lvl1pPr algn="l" defTabSz="1007943" rtl="0" eaLnBrk="1" latinLnBrk="0" hangingPunct="1">
        <a:lnSpc>
          <a:spcPct val="90000"/>
        </a:lnSpc>
        <a:spcBef>
          <a:spcPct val="0"/>
        </a:spcBef>
        <a:buNone/>
        <a:defRPr kumimoji="1" sz="4850" kern="1200">
          <a:solidFill>
            <a:schemeClr val="tx1"/>
          </a:solidFill>
          <a:latin typeface="+mj-lt"/>
          <a:ea typeface="+mj-ea"/>
          <a:cs typeface="+mj-cs"/>
        </a:defRPr>
      </a:lvl1pPr>
    </p:titleStyle>
    <p:bodyStyle>
      <a:lvl1pPr marL="251986" indent="-251986" algn="l" defTabSz="1007943" rtl="0" eaLnBrk="1" latinLnBrk="0" hangingPunct="1">
        <a:lnSpc>
          <a:spcPct val="90000"/>
        </a:lnSpc>
        <a:spcBef>
          <a:spcPts val="1102"/>
        </a:spcBef>
        <a:buFont typeface="Arial" panose="020B0604020202020204" pitchFamily="34" charset="0"/>
        <a:buChar char="•"/>
        <a:defRPr kumimoji="1"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kumimoji="1"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kumimoji="1"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9pPr>
    </p:bodyStyle>
    <p:otherStyle>
      <a:defPPr>
        <a:defRPr lang="ja-JP"/>
      </a:defPPr>
      <a:lvl1pPr marL="0" algn="l" defTabSz="1007943" rtl="0" eaLnBrk="1" latinLnBrk="0" hangingPunct="1">
        <a:defRPr kumimoji="1" sz="1984" kern="1200">
          <a:solidFill>
            <a:schemeClr val="tx1"/>
          </a:solidFill>
          <a:latin typeface="+mn-lt"/>
          <a:ea typeface="+mn-ea"/>
          <a:cs typeface="+mn-cs"/>
        </a:defRPr>
      </a:lvl1pPr>
      <a:lvl2pPr marL="503972" algn="l" defTabSz="1007943" rtl="0" eaLnBrk="1" latinLnBrk="0" hangingPunct="1">
        <a:defRPr kumimoji="1" sz="1984" kern="1200">
          <a:solidFill>
            <a:schemeClr val="tx1"/>
          </a:solidFill>
          <a:latin typeface="+mn-lt"/>
          <a:ea typeface="+mn-ea"/>
          <a:cs typeface="+mn-cs"/>
        </a:defRPr>
      </a:lvl2pPr>
      <a:lvl3pPr marL="1007943" algn="l" defTabSz="1007943" rtl="0" eaLnBrk="1" latinLnBrk="0" hangingPunct="1">
        <a:defRPr kumimoji="1" sz="1984" kern="1200">
          <a:solidFill>
            <a:schemeClr val="tx1"/>
          </a:solidFill>
          <a:latin typeface="+mn-lt"/>
          <a:ea typeface="+mn-ea"/>
          <a:cs typeface="+mn-cs"/>
        </a:defRPr>
      </a:lvl3pPr>
      <a:lvl4pPr marL="1511915" algn="l" defTabSz="1007943" rtl="0" eaLnBrk="1" latinLnBrk="0" hangingPunct="1">
        <a:defRPr kumimoji="1" sz="1984" kern="1200">
          <a:solidFill>
            <a:schemeClr val="tx1"/>
          </a:solidFill>
          <a:latin typeface="+mn-lt"/>
          <a:ea typeface="+mn-ea"/>
          <a:cs typeface="+mn-cs"/>
        </a:defRPr>
      </a:lvl4pPr>
      <a:lvl5pPr marL="2015886" algn="l" defTabSz="1007943" rtl="0" eaLnBrk="1" latinLnBrk="0" hangingPunct="1">
        <a:defRPr kumimoji="1" sz="1984" kern="1200">
          <a:solidFill>
            <a:schemeClr val="tx1"/>
          </a:solidFill>
          <a:latin typeface="+mn-lt"/>
          <a:ea typeface="+mn-ea"/>
          <a:cs typeface="+mn-cs"/>
        </a:defRPr>
      </a:lvl5pPr>
      <a:lvl6pPr marL="2519858" algn="l" defTabSz="1007943" rtl="0" eaLnBrk="1" latinLnBrk="0" hangingPunct="1">
        <a:defRPr kumimoji="1" sz="1984" kern="1200">
          <a:solidFill>
            <a:schemeClr val="tx1"/>
          </a:solidFill>
          <a:latin typeface="+mn-lt"/>
          <a:ea typeface="+mn-ea"/>
          <a:cs typeface="+mn-cs"/>
        </a:defRPr>
      </a:lvl6pPr>
      <a:lvl7pPr marL="3023829" algn="l" defTabSz="1007943" rtl="0" eaLnBrk="1" latinLnBrk="0" hangingPunct="1">
        <a:defRPr kumimoji="1" sz="1984" kern="1200">
          <a:solidFill>
            <a:schemeClr val="tx1"/>
          </a:solidFill>
          <a:latin typeface="+mn-lt"/>
          <a:ea typeface="+mn-ea"/>
          <a:cs typeface="+mn-cs"/>
        </a:defRPr>
      </a:lvl7pPr>
      <a:lvl8pPr marL="3527801" algn="l" defTabSz="1007943" rtl="0" eaLnBrk="1" latinLnBrk="0" hangingPunct="1">
        <a:defRPr kumimoji="1" sz="1984" kern="1200">
          <a:solidFill>
            <a:schemeClr val="tx1"/>
          </a:solidFill>
          <a:latin typeface="+mn-lt"/>
          <a:ea typeface="+mn-ea"/>
          <a:cs typeface="+mn-cs"/>
        </a:defRPr>
      </a:lvl8pPr>
      <a:lvl9pPr marL="4031772" algn="l" defTabSz="1007943" rtl="0" eaLnBrk="1" latinLnBrk="0" hangingPunct="1">
        <a:defRPr kumimoji="1" sz="1984"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 Id="rId3" Type="http://schemas.openxmlformats.org/officeDocument/2006/relationships/image" Target="../media/image10.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11.emf"/><Relationship Id="rId4"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2.em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3.em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 Id="rId3" Type="http://schemas.openxmlformats.org/officeDocument/2006/relationships/image" Target="../media/image14.em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5.emf"/><Relationship Id="rId4" Type="http://schemas.openxmlformats.org/officeDocument/2006/relationships/chart" Target="../charts/char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16.emf"/><Relationship Id="rId4" Type="http://schemas.openxmlformats.org/officeDocument/2006/relationships/image" Target="../media/image17.em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18.em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19.png"/><Relationship Id="rId4" Type="http://schemas.openxmlformats.org/officeDocument/2006/relationships/image" Target="../media/image20.png"/><Relationship Id="rId5" Type="http://schemas.microsoft.com/office/2007/relationships/hdphoto" Target="../media/hdphoto1.wdp"/><Relationship Id="rId6" Type="http://schemas.openxmlformats.org/officeDocument/2006/relationships/image" Target="../media/image21.emf"/></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image" Target="../media/image22.emf"/><Relationship Id="rId4" Type="http://schemas.openxmlformats.org/officeDocument/2006/relationships/image" Target="../media/image23.em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jpeg"/><Relationship Id="rId3" Type="http://schemas.openxmlformats.org/officeDocument/2006/relationships/image" Target="../media/image8.png"/><Relationship Id="rId4" Type="http://schemas.openxmlformats.org/officeDocument/2006/relationships/image" Target="../media/image9.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E6EF2-E355-DFA0-0FDA-00C6AAD69C4F}"/>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F0EAAA34-63BD-2868-6F6F-9550B61A0EE2}"/>
              </a:ext>
            </a:extLst>
          </p:cNvPr>
          <p:cNvSpPr>
            <a:spLocks noGrp="1"/>
          </p:cNvSpPr>
          <p:nvPr>
            <p:ph type="title"/>
          </p:nvPr>
        </p:nvSpPr>
        <p:spPr/>
        <p:txBody>
          <a:bodyPr/>
          <a:lstStyle/>
          <a:p>
            <a:r>
              <a:rPr lang="ja-JP" altLang="en-US" dirty="0"/>
              <a:t>企業概要書 </a:t>
            </a:r>
            <a:r>
              <a:rPr lang="en-US" altLang="ja-JP" sz="2400" dirty="0"/>
              <a:t>&lt;青果卸売業／東北&gt;</a:t>
            </a:r>
            <a:r>
              <a:rPr lang="ja-JP" altLang="en-US" sz="2400" dirty="0"/>
              <a:t/>
            </a:r>
            <a:r>
              <a:rPr lang="en-US" altLang="ja-JP" sz="2400" dirty="0"/>
              <a:t/>
            </a:r>
            <a:r>
              <a:rPr lang="ja-JP" altLang="en-US" sz="2400" dirty="0"/>
              <a:t/>
            </a:r>
            <a:r>
              <a:rPr lang="en-US" altLang="ja-JP" sz="2400" dirty="0"/>
              <a:t/>
            </a:r>
            <a:r>
              <a:rPr lang="ja-JP" altLang="en-US" dirty="0"/>
              <a:t/>
            </a:r>
          </a:p>
        </p:txBody>
      </p:sp>
      <p:cxnSp>
        <p:nvCxnSpPr>
          <p:cNvPr id="11" name="直線コネクタ 10">
            <a:extLst>
              <a:ext uri="{FF2B5EF4-FFF2-40B4-BE49-F238E27FC236}">
                <a16:creationId xmlns:a16="http://schemas.microsoft.com/office/drawing/2014/main" id="{B552F00F-DAC8-72B9-D861-43E1B7EF96E4}"/>
              </a:ext>
            </a:extLst>
          </p:cNvPr>
          <p:cNvCxnSpPr>
            <a:cxnSpLocks/>
          </p:cNvCxnSpPr>
          <p:nvPr/>
        </p:nvCxnSpPr>
        <p:spPr>
          <a:xfrm>
            <a:off x="885526" y="4272782"/>
            <a:ext cx="6767299"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6" name="タイトル 2">
            <a:extLst>
              <a:ext uri="{FF2B5EF4-FFF2-40B4-BE49-F238E27FC236}">
                <a16:creationId xmlns:a16="http://schemas.microsoft.com/office/drawing/2014/main" id="{483B0F4A-40C8-4F5B-4490-660AE728BBA5}"/>
              </a:ext>
            </a:extLst>
          </p:cNvPr>
          <p:cNvSpPr txBox="1">
            <a:spLocks/>
          </p:cNvSpPr>
          <p:nvPr/>
        </p:nvSpPr>
        <p:spPr>
          <a:xfrm>
            <a:off x="941798" y="4043874"/>
            <a:ext cx="9221787" cy="738664"/>
          </a:xfrm>
          <a:prstGeom prst="rect">
            <a:avLst/>
          </a:prstGeom>
          <a:noFill/>
        </p:spPr>
        <p:txBody>
          <a:bodyPr wrap="square" lIns="0" tIns="0" rIns="0" bIns="0" rtlCol="0" anchor="ctr">
            <a:spAutoFit/>
          </a:bodyPr>
          <a:lstStyle>
            <a:lvl1pPr algn="l" defTabSz="1007943" rtl="0" eaLnBrk="1" latinLnBrk="0" hangingPunct="1">
              <a:lnSpc>
                <a:spcPct val="100000"/>
              </a:lnSpc>
              <a:spcBef>
                <a:spcPct val="0"/>
              </a:spcBef>
              <a:buNone/>
              <a:defRPr kumimoji="1" lang="ja-JP" altLang="en-US" sz="4800" b="1" kern="1200" spc="200">
                <a:solidFill>
                  <a:schemeClr val="tx1"/>
                </a:solidFill>
                <a:latin typeface="+mj-lt"/>
                <a:ea typeface="+mj-ea"/>
                <a:cs typeface="+mn-cs"/>
              </a:defRPr>
            </a:lvl1pPr>
          </a:lstStyle>
          <a:p>
            <a:pPr>
              <a:buClrTx/>
              <a:buFontTx/>
            </a:pPr>
            <a:r>
              <a:rPr lang="en-US" altLang="ja-JP" sz="1800" dirty="0"/>
              <a:t>Information</a:t>
            </a:r>
            <a:r>
              <a:rPr lang="ja-JP" altLang="en-US" sz="1800" dirty="0"/>
              <a:t> </a:t>
            </a:r>
            <a:r>
              <a:rPr lang="en-US" altLang="ja-JP" sz="1800" dirty="0"/>
              <a:t>Memorandum</a:t>
            </a:r>
            <a:r>
              <a:rPr lang="zh-TW" altLang="en-US" dirty="0"/>
              <a:t>　</a:t>
            </a:r>
          </a:p>
        </p:txBody>
      </p:sp>
    </p:spTree>
    <p:extLst>
      <p:ext uri="{BB962C8B-B14F-4D97-AF65-F5344CB8AC3E}">
        <p14:creationId xmlns:p14="http://schemas.microsoft.com/office/powerpoint/2010/main" val="4336838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187;p2">
            <a:extLst>
              <a:ext uri="{FF2B5EF4-FFF2-40B4-BE49-F238E27FC236}">
                <a16:creationId xmlns:a16="http://schemas.microsoft.com/office/drawing/2014/main" id="{A92DF3A4-79D3-09CF-A0AF-2A2E9BAD2537}"/>
              </a:ext>
            </a:extLst>
          </p:cNvPr>
          <p:cNvSpPr txBox="1"/>
          <p:nvPr/>
        </p:nvSpPr>
        <p:spPr>
          <a:xfrm>
            <a:off x="449263" y="5738246"/>
            <a:ext cx="3372853"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defPPr>
              <a:defRPr lang="en-US"/>
            </a:defPPr>
            <a:lvl1pPr marL="180000" indent="-180000">
              <a:buClr>
                <a:schemeClr val="tx2"/>
              </a:buClr>
              <a:buSzPct val="100000"/>
              <a:buFont typeface="游ゴシック" panose="020B0400000000000000" pitchFamily="50" charset="-128"/>
              <a:buChar char="▌"/>
              <a:defRPr sz="1600" b="1" spc="50">
                <a:solidFill>
                  <a:schemeClr val="tx1"/>
                </a:solidFill>
                <a:latin typeface="+mj-ea"/>
                <a:ea typeface="+mj-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t>本件のご照会先</a:t>
            </a:r>
          </a:p>
        </p:txBody>
      </p:sp>
      <p:graphicFrame>
        <p:nvGraphicFramePr>
          <p:cNvPr id="3" name="Google Shape;188;p2">
            <a:extLst>
              <a:ext uri="{FF2B5EF4-FFF2-40B4-BE49-F238E27FC236}">
                <a16:creationId xmlns:a16="http://schemas.microsoft.com/office/drawing/2014/main" id="{6A5E1FF5-E790-97CE-E190-6844BCDD57F5}"/>
              </a:ext>
            </a:extLst>
          </p:cNvPr>
          <p:cNvGraphicFramePr/>
          <p:nvPr>
            <p:extLst>
              <p:ext uri="{D42A27DB-BD31-4B8C-83A1-F6EECF244321}">
                <p14:modId xmlns:p14="http://schemas.microsoft.com/office/powerpoint/2010/main" val="3713220567"/>
              </p:ext>
            </p:extLst>
          </p:nvPr>
        </p:nvGraphicFramePr>
        <p:xfrm>
          <a:off x="449264" y="6120538"/>
          <a:ext cx="9793287" cy="720000"/>
        </p:xfrm>
        <a:graphic>
          <a:graphicData uri="http://schemas.openxmlformats.org/drawingml/2006/table">
            <a:tbl>
              <a:tblPr firstRow="1" bandRow="1">
                <a:noFill/>
              </a:tblPr>
              <a:tblGrid>
                <a:gridCol w="2448322">
                  <a:extLst>
                    <a:ext uri="{9D8B030D-6E8A-4147-A177-3AD203B41FA5}">
                      <a16:colId xmlns:a16="http://schemas.microsoft.com/office/drawing/2014/main" val="20000"/>
                    </a:ext>
                  </a:extLst>
                </a:gridCol>
                <a:gridCol w="2448321">
                  <a:extLst>
                    <a:ext uri="{9D8B030D-6E8A-4147-A177-3AD203B41FA5}">
                      <a16:colId xmlns:a16="http://schemas.microsoft.com/office/drawing/2014/main" val="20001"/>
                    </a:ext>
                  </a:extLst>
                </a:gridCol>
                <a:gridCol w="2448322">
                  <a:extLst>
                    <a:ext uri="{9D8B030D-6E8A-4147-A177-3AD203B41FA5}">
                      <a16:colId xmlns:a16="http://schemas.microsoft.com/office/drawing/2014/main" val="20002"/>
                    </a:ext>
                  </a:extLst>
                </a:gridCol>
                <a:gridCol w="2448322">
                  <a:extLst>
                    <a:ext uri="{9D8B030D-6E8A-4147-A177-3AD203B41FA5}">
                      <a16:colId xmlns:a16="http://schemas.microsoft.com/office/drawing/2014/main" val="20003"/>
                    </a:ext>
                  </a:extLst>
                </a:gridCol>
              </a:tblGrid>
              <a:tr h="360000">
                <a:tc>
                  <a:txBody>
                    <a:bodyPr/>
                    <a:lstStyle/>
                    <a:p>
                      <a:pPr marL="0" marR="0" lvl="0" indent="0" algn="ctr" rtl="0">
                        <a:spcBef>
                          <a:spcPts val="0"/>
                        </a:spcBef>
                        <a:spcAft>
                          <a:spcPts val="0"/>
                        </a:spcAft>
                        <a:buNone/>
                      </a:pPr>
                      <a:r>
                        <a:rPr lang="ja-JP" sz="1200" b="1" u="none" strike="noStrike" cap="none" spc="30" baseline="0" dirty="0">
                          <a:latin typeface="+mj-lt"/>
                          <a:ea typeface="+mj-ea"/>
                        </a:rPr>
                        <a:t>弊社名</a:t>
                      </a:r>
                      <a:endParaRPr sz="1200" b="1" spc="30" baseline="0" dirty="0">
                        <a:latin typeface="+mj-lt"/>
                        <a:ea typeface="+mj-ea"/>
                      </a:endParaRPr>
                    </a:p>
                  </a:txBody>
                  <a:tcPr marL="0" marR="0" marT="0" marB="0"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担当者名</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電話番号</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E-mailアドレス</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0000"/>
                  </a:ext>
                </a:extLst>
              </a:tr>
              <a:tr h="360000">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株式会社M&amp;A承継機構</a:t>
                      </a:r>
                      <a:r>
                        <a:rPr lang="en-US" altLang="ja-JP" sz="1200" b="1" u="none" strike="noStrike" cap="none" spc="30" baseline="0" dirty="0">
                          <a:latin typeface="+mj-ea"/>
                          <a:ea typeface="+mj-ea"/>
                        </a:rPr>
                        <a:t/>
                      </a:r>
                      <a:r>
                        <a:rPr lang="ja-JP" altLang="en-US" sz="1200" b="1" u="none" strike="noStrike" cap="none" spc="30" baseline="0" dirty="0">
                          <a:latin typeface="+mj-ea"/>
                          <a:ea typeface="+mj-ea"/>
                        </a:rPr>
                        <a:t/>
                      </a:r>
                      <a:endParaRPr sz="1200" b="1" u="none" strike="noStrike" cap="none" spc="30" baseline="0" dirty="0">
                        <a:latin typeface="+mj-ea"/>
                        <a:ea typeface="+mj-ea"/>
                      </a:endParaRPr>
                    </a:p>
                  </a:txBody>
                  <a:tcPr marL="91450" marR="91450" marT="45725" marB="45725"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田垣内　啓介</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en-US" sz="1200" b="1" u="none" strike="noStrike" cap="none" spc="30" baseline="0" dirty="0">
                          <a:latin typeface="+mj-ea"/>
                          <a:ea typeface="+mj-ea"/>
                        </a:rPr>
                        <a:t>080-4737-4326</a:t>
                      </a:r>
                      <a:r>
                        <a:rPr lang="ja-JP" altLang="en-US" sz="1200" b="1" u="none" strike="noStrike" cap="none" spc="30" baseline="0" dirty="0">
                          <a:latin typeface="+mj-ea"/>
                          <a:ea typeface="+mj-ea"/>
                        </a:rPr>
                        <a:t/>
                      </a:r>
                      <a:r>
                        <a:rPr lang="en-US" sz="1200" b="1" u="none" strike="noStrike" cap="none" spc="30" baseline="0" dirty="0">
                          <a:latin typeface="+mj-ea"/>
                          <a:ea typeface="+mj-ea"/>
                        </a:rPr>
                        <a:t/>
                      </a:r>
                      <a:r>
                        <a:rPr lang="ja-JP" altLang="en-US" sz="1200" b="1" u="none" strike="noStrike" cap="none" spc="30" baseline="0" dirty="0">
                          <a:latin typeface="+mj-ea"/>
                          <a:ea typeface="+mj-ea"/>
                        </a:rPr>
                        <a:t/>
                      </a:r>
                      <a:r>
                        <a:rPr lang="en-US" sz="1200" b="1" u="none" strike="noStrike" cap="none" spc="30" baseline="0" dirty="0">
                          <a:latin typeface="+mj-ea"/>
                          <a:ea typeface="+mj-ea"/>
                        </a:rPr>
                        <a:t/>
                      </a:r>
                      <a:r>
                        <a:rPr lang="ja-JP" altLang="en-US" sz="1200" b="1" u="none" strike="noStrike" cap="none" spc="30" baseline="0" dirty="0">
                          <a:latin typeface="+mj-ea"/>
                          <a:ea typeface="+mj-ea"/>
                        </a:rPr>
                        <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tagaito_keisuke@ma-sg.co.jp</a:t>
                      </a:r>
                      <a:r>
                        <a:rPr lang="en-US" sz="1200" b="1" u="none" strike="noStrike" cap="none" spc="30" baseline="0" dirty="0">
                          <a:latin typeface="+mj-ea"/>
                          <a:ea typeface="+mj-ea"/>
                        </a:rPr>
                        <a:t/>
                      </a:r>
                      <a:r>
                        <a:rPr lang="ja-JP" altLang="en-US" sz="1200" b="1" u="none" strike="noStrike" cap="none" spc="30" baseline="0" dirty="0">
                          <a:latin typeface="+mj-ea"/>
                          <a:ea typeface="+mj-ea"/>
                        </a:rPr>
                        <a:t/>
                      </a:r>
                      <a:r>
                        <a:rPr lang="en-US" sz="1200" b="1" u="none" strike="noStrike" cap="none" spc="30" baseline="0" dirty="0">
                          <a:latin typeface="+mj-ea"/>
                          <a:ea typeface="+mj-ea"/>
                        </a:rPr>
                        <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extLst>
                  <a:ext uri="{0D108BD9-81ED-4DB2-BD59-A6C34878D82A}">
                    <a16:rowId xmlns:a16="http://schemas.microsoft.com/office/drawing/2014/main" val="10001"/>
                  </a:ext>
                </a:extLst>
              </a:tr>
            </a:tbl>
          </a:graphicData>
        </a:graphic>
      </p:graphicFrame>
      <p:sp>
        <p:nvSpPr>
          <p:cNvPr id="9" name="タイトル 8">
            <a:extLst>
              <a:ext uri="{FF2B5EF4-FFF2-40B4-BE49-F238E27FC236}">
                <a16:creationId xmlns:a16="http://schemas.microsoft.com/office/drawing/2014/main" id="{02B70F11-C06B-AE35-D3C3-0142145E5C0A}"/>
              </a:ext>
            </a:extLst>
          </p:cNvPr>
          <p:cNvSpPr>
            <a:spLocks noGrp="1"/>
          </p:cNvSpPr>
          <p:nvPr>
            <p:ph type="ctrTitle"/>
          </p:nvPr>
        </p:nvSpPr>
        <p:spPr/>
        <p:txBody>
          <a:bodyPr>
            <a:normAutofit/>
          </a:bodyPr>
          <a:lstStyle/>
          <a:p>
            <a:r>
              <a:rPr lang="ja-JP" altLang="en-US" dirty="0"/>
              <a:t>はじめに</a:t>
            </a:r>
          </a:p>
        </p:txBody>
      </p:sp>
      <p:sp>
        <p:nvSpPr>
          <p:cNvPr id="15" name="正方形/長方形 14">
            <a:extLst>
              <a:ext uri="{FF2B5EF4-FFF2-40B4-BE49-F238E27FC236}">
                <a16:creationId xmlns:a16="http://schemas.microsoft.com/office/drawing/2014/main" id="{51A174C3-B2B8-45E2-E11E-021C915BC89C}"/>
              </a:ext>
            </a:extLst>
          </p:cNvPr>
          <p:cNvSpPr/>
          <p:nvPr/>
        </p:nvSpPr>
        <p:spPr>
          <a:xfrm>
            <a:off x="449263" y="863600"/>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重要なご留意事項</a:t>
            </a:r>
          </a:p>
        </p:txBody>
      </p:sp>
      <p:sp>
        <p:nvSpPr>
          <p:cNvPr id="23" name="テキスト ボックス 22">
            <a:extLst>
              <a:ext uri="{FF2B5EF4-FFF2-40B4-BE49-F238E27FC236}">
                <a16:creationId xmlns:a16="http://schemas.microsoft.com/office/drawing/2014/main" id="{B50E1823-5D75-9C7E-3748-4C2C1C220A43}"/>
              </a:ext>
            </a:extLst>
          </p:cNvPr>
          <p:cNvSpPr txBox="1"/>
          <p:nvPr/>
        </p:nvSpPr>
        <p:spPr>
          <a:xfrm>
            <a:off x="449263" y="1234930"/>
            <a:ext cx="9793287" cy="4012958"/>
          </a:xfrm>
          <a:prstGeom prst="rect">
            <a:avLst/>
          </a:prstGeom>
          <a:noFill/>
        </p:spPr>
        <p:txBody>
          <a:bodyPr wrap="square" lIns="0" tIns="0" rIns="0" bIns="0" rtlCol="0">
            <a:spAutoFit/>
          </a:bodyPr>
          <a:lstStyle>
            <a:defPPr marR="0" lvl="0" algn="l" rtl="0">
              <a:lnSpc>
                <a:spcPct val="100000"/>
              </a:lnSpc>
              <a:spcBef>
                <a:spcPts val="0"/>
              </a:spcBef>
              <a:spcAft>
                <a:spcPts val="0"/>
              </a:spcAft>
            </a:defPPr>
            <a:lvl1pPr marL="180000" indent="-180000">
              <a:lnSpc>
                <a:spcPct val="120000"/>
              </a:lnSpc>
              <a:spcAft>
                <a:spcPts val="1200"/>
              </a:spcAft>
              <a:buClr>
                <a:schemeClr val="tx2"/>
              </a:buClr>
              <a:buSzPct val="80000"/>
              <a:buFont typeface="Wingdings" panose="05000000000000000000" pitchFamily="2" charset="2"/>
              <a:buChar char="n"/>
              <a:defRPr kumimoji="1" sz="1200" spc="50">
                <a:latin typeface="+mn-ea"/>
              </a:defRPr>
            </a:lvl1pPr>
          </a:lstStyle>
          <a:p>
            <a:pPr>
              <a:spcAft>
                <a:spcPts val="1800"/>
              </a:spcAft>
            </a:pPr>
            <a:r>
              <a:rPr lang="ja-JP" altLang="en-US" dirty="0">
                <a:ea typeface="+mn-ea"/>
              </a:rPr>
              <a:t>当該企業概要書（以下、「本概要書」といいます）は、株式会社</a:t>
            </a:r>
            <a:r>
              <a:rPr lang="en-US" altLang="ja-JP" dirty="0">
                <a:ea typeface="+mn-ea"/>
              </a:rPr>
              <a:t>M&amp;A</a:t>
            </a:r>
            <a:r>
              <a:rPr lang="ja-JP" altLang="en-US" dirty="0">
                <a:ea typeface="+mn-ea"/>
              </a:rPr>
              <a:t>承継機構（以下「弊社」といいます）が、対象会社の発行済株式の取得もしくは事業その他資産の譲受（以下「本取引」といいます）に関する仲介者として、対象会社から提供された情報に基づき、対象会社に関する情報を貴社に提供するために作成したものです。</a:t>
            </a:r>
          </a:p>
          <a:p>
            <a:pPr>
              <a:spcAft>
                <a:spcPts val="1800"/>
              </a:spcAft>
            </a:pPr>
            <a:r>
              <a:rPr lang="ja-JP" altLang="en-US" dirty="0">
                <a:ea typeface="+mn-ea"/>
              </a:rPr>
              <a:t>本概要書の存在及び記載されている情報並びに本概要書に関する全ての連絡・協議は貴社と弊社間で締結している秘密保持契約書（以下「秘密保持契約書」といいます）に定めのある秘密情報に該当致します。</a:t>
            </a:r>
          </a:p>
          <a:p>
            <a:pPr>
              <a:spcAft>
                <a:spcPts val="1800"/>
              </a:spcAft>
            </a:pPr>
            <a:r>
              <a:rPr lang="ja-JP" altLang="en-US" dirty="0">
                <a:ea typeface="+mn-ea"/>
              </a:rPr>
              <a:t>本概要書は、貴社が本取引を行うことを検討するための情報を提供することのみを目的として作成されておりますが、貴社が必要と考える全ての情報を網羅しているとは限りません。また、対象会社並びに弊社取締役、執行役員、監査役及び従業員（以下総称して「情報提供者」といいます）は、本概要書に記載されているいかなる情報及び意見に関しても、明示、黙示にかかわらず、その正確性及び完全性について表明または保証するものではありません。</a:t>
            </a:r>
          </a:p>
          <a:p>
            <a:pPr>
              <a:spcAft>
                <a:spcPts val="1800"/>
              </a:spcAft>
            </a:pPr>
            <a:r>
              <a:rPr lang="ja-JP" altLang="en-US" dirty="0">
                <a:ea typeface="+mn-ea"/>
              </a:rPr>
              <a:t>本概要書は必ずしも対象会社の現況をあらわしているものではなく、本概要書に記載されている日付または本概要書に記載されている情報の日付から、対象会社の状態が変化していないことを表明するものではありません。</a:t>
            </a:r>
          </a:p>
          <a:p>
            <a:pPr>
              <a:spcAft>
                <a:spcPts val="1800"/>
              </a:spcAft>
            </a:pPr>
            <a:r>
              <a:rPr lang="ja-JP" altLang="en-US" dirty="0">
                <a:ea typeface="+mn-ea"/>
              </a:rPr>
              <a:t>いかなる場合でも、本取引に関して、対象会社の役職員（元役職員を含む）及び取引先に対して、貴社及び貴社のアドバイザー等本取引に関与する者が直接、間接を問わずコンタクトをとることを禁止させていただくと共に、全てのご連絡は必ず弊社を介していただきますようお願い申し上げます。</a:t>
            </a:r>
          </a:p>
        </p:txBody>
      </p:sp>
    </p:spTree>
    <p:extLst>
      <p:ext uri="{BB962C8B-B14F-4D97-AF65-F5344CB8AC3E}">
        <p14:creationId xmlns:p14="http://schemas.microsoft.com/office/powerpoint/2010/main" val="24619439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2"/>
          <p:cNvSpPr txBox="1"/>
          <p:nvPr/>
        </p:nvSpPr>
        <p:spPr>
          <a:xfrm>
            <a:off x="6191813" y="2339371"/>
            <a:ext cx="4500000" cy="3570208"/>
          </a:xfrm>
          <a:prstGeom prst="rect">
            <a:avLst/>
          </a:prstGeom>
          <a:noFill/>
          <a:ln>
            <a:noFill/>
          </a:ln>
        </p:spPr>
        <p:txBody>
          <a:bodyPr spcFirstLastPara="1" wrap="square" lIns="0" tIns="0" rIns="0" bIns="0" anchor="t" anchorCtr="0">
            <a:spAutoFit/>
          </a:bodyPr>
          <a:lstStyle/>
          <a:p>
            <a:pPr>
              <a:lnSpc>
                <a:spcPct val="110000"/>
              </a:lnSpc>
              <a:spcAft>
                <a:spcPts val="2400"/>
              </a:spcAft>
              <a:buClr>
                <a:schemeClr val="dk1"/>
              </a:buClr>
              <a:buSzPts val="1400"/>
            </a:pPr>
            <a:r>
              <a:rPr lang="ja-JP" altLang="en-US" sz="2400" b="1" spc="70" dirty="0">
                <a:latin typeface="+mj-lt"/>
                <a:ea typeface="+mj-ea"/>
              </a:rPr>
              <a:t>エグゼクティブサマリー</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事業概要</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組織、拠点、設備等</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財務情報</a:t>
            </a:r>
            <a:endParaRPr lang="en-US" altLang="ja-JP" sz="2400" b="1" spc="70" dirty="0">
              <a:latin typeface="+mj-lt"/>
              <a:ea typeface="+mj-ea"/>
            </a:endParaRPr>
          </a:p>
          <a:p>
            <a:pPr>
              <a:lnSpc>
                <a:spcPct val="110000"/>
              </a:lnSpc>
              <a:spcAft>
                <a:spcPts val="2400"/>
              </a:spcAft>
              <a:buClr>
                <a:schemeClr val="dk1"/>
              </a:buClr>
              <a:buSzPts val="1400"/>
            </a:pPr>
            <a:r>
              <a:rPr lang="en-US" altLang="ja-JP" sz="2400" b="1" spc="70" dirty="0">
                <a:latin typeface="+mj-lt"/>
                <a:ea typeface="+mj-ea"/>
              </a:rPr>
              <a:t>Appendix</a:t>
            </a:r>
          </a:p>
        </p:txBody>
      </p:sp>
      <p:sp>
        <p:nvSpPr>
          <p:cNvPr id="6" name="正方形/長方形 5">
            <a:extLst>
              <a:ext uri="{FF2B5EF4-FFF2-40B4-BE49-F238E27FC236}">
                <a16:creationId xmlns:a16="http://schemas.microsoft.com/office/drawing/2014/main" id="{7237316E-451C-1CCC-A702-B2048F3BE5F0}"/>
              </a:ext>
            </a:extLst>
          </p:cNvPr>
          <p:cNvSpPr/>
          <p:nvPr/>
        </p:nvSpPr>
        <p:spPr>
          <a:xfrm>
            <a:off x="5624542" y="235355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1</a:t>
            </a:r>
            <a:endParaRPr kumimoji="1" lang="ja-JP" altLang="en-US" b="1" dirty="0">
              <a:latin typeface="+mj-lt"/>
            </a:endParaRPr>
          </a:p>
        </p:txBody>
      </p:sp>
      <p:sp>
        <p:nvSpPr>
          <p:cNvPr id="9" name="正方形/長方形 8">
            <a:extLst>
              <a:ext uri="{FF2B5EF4-FFF2-40B4-BE49-F238E27FC236}">
                <a16:creationId xmlns:a16="http://schemas.microsoft.com/office/drawing/2014/main" id="{DDB8E843-D87E-F66B-3884-439FB909A0A7}"/>
              </a:ext>
            </a:extLst>
          </p:cNvPr>
          <p:cNvSpPr/>
          <p:nvPr/>
        </p:nvSpPr>
        <p:spPr>
          <a:xfrm>
            <a:off x="5624542" y="3060631"/>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2</a:t>
            </a:r>
            <a:endParaRPr kumimoji="1" lang="ja-JP" altLang="en-US" b="1" dirty="0">
              <a:latin typeface="+mj-lt"/>
            </a:endParaRPr>
          </a:p>
        </p:txBody>
      </p:sp>
      <p:sp>
        <p:nvSpPr>
          <p:cNvPr id="10" name="正方形/長方形 9">
            <a:extLst>
              <a:ext uri="{FF2B5EF4-FFF2-40B4-BE49-F238E27FC236}">
                <a16:creationId xmlns:a16="http://schemas.microsoft.com/office/drawing/2014/main" id="{FF90FB9F-20F8-D38F-B8AF-4A631E224A11}"/>
              </a:ext>
            </a:extLst>
          </p:cNvPr>
          <p:cNvSpPr/>
          <p:nvPr/>
        </p:nvSpPr>
        <p:spPr>
          <a:xfrm>
            <a:off x="5624542" y="376770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3</a:t>
            </a:r>
            <a:endParaRPr kumimoji="1" lang="ja-JP" altLang="en-US" b="1" dirty="0">
              <a:latin typeface="+mj-lt"/>
            </a:endParaRPr>
          </a:p>
        </p:txBody>
      </p:sp>
      <p:sp>
        <p:nvSpPr>
          <p:cNvPr id="11" name="正方形/長方形 10">
            <a:extLst>
              <a:ext uri="{FF2B5EF4-FFF2-40B4-BE49-F238E27FC236}">
                <a16:creationId xmlns:a16="http://schemas.microsoft.com/office/drawing/2014/main" id="{A76F0F70-F53A-8481-50DF-B7EEDD0BEE06}"/>
              </a:ext>
            </a:extLst>
          </p:cNvPr>
          <p:cNvSpPr/>
          <p:nvPr/>
        </p:nvSpPr>
        <p:spPr>
          <a:xfrm>
            <a:off x="5624542" y="4474781"/>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4</a:t>
            </a:r>
            <a:endParaRPr kumimoji="1" lang="ja-JP" altLang="en-US" b="1" dirty="0">
              <a:latin typeface="+mj-lt"/>
            </a:endParaRPr>
          </a:p>
        </p:txBody>
      </p:sp>
      <p:sp>
        <p:nvSpPr>
          <p:cNvPr id="3" name="正方形/長方形 2">
            <a:extLst>
              <a:ext uri="{FF2B5EF4-FFF2-40B4-BE49-F238E27FC236}">
                <a16:creationId xmlns:a16="http://schemas.microsoft.com/office/drawing/2014/main" id="{DE430CD6-B78A-5CFE-3B87-B7F6C2A9CBEA}"/>
              </a:ext>
            </a:extLst>
          </p:cNvPr>
          <p:cNvSpPr/>
          <p:nvPr/>
        </p:nvSpPr>
        <p:spPr>
          <a:xfrm>
            <a:off x="5624542" y="518185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5</a:t>
            </a:r>
            <a:endParaRPr kumimoji="1" lang="ja-JP" altLang="en-US" b="1" dirty="0">
              <a:latin typeface="+mj-l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t>エグゼクティブサマリー</a:t>
            </a:r>
            <a:endParaRPr lang="en-US" altLang="ja-JP" dirty="0"/>
          </a:p>
        </p:txBody>
      </p:sp>
    </p:spTree>
    <p:extLst>
      <p:ext uri="{BB962C8B-B14F-4D97-AF65-F5344CB8AC3E}">
        <p14:creationId xmlns:p14="http://schemas.microsoft.com/office/powerpoint/2010/main" val="54040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字幕 13">
            <a:extLst>
              <a:ext uri="{FF2B5EF4-FFF2-40B4-BE49-F238E27FC236}">
                <a16:creationId xmlns:a16="http://schemas.microsoft.com/office/drawing/2014/main" id="{79A14348-475C-CD64-9408-407529B44C13}"/>
              </a:ext>
            </a:extLst>
          </p:cNvPr>
          <p:cNvSpPr>
            <a:spLocks noGrp="1"/>
          </p:cNvSpPr>
          <p:nvPr>
            <p:ph type="subTitle" idx="1"/>
          </p:nvPr>
        </p:nvSpPr>
        <p:spPr>
          <a:xfrm>
            <a:off x="460675" y="830046"/>
            <a:ext cx="9781875" cy="241861"/>
          </a:xfrm>
        </p:spPr>
        <p:txBody>
          <a:bodyPr>
            <a:noAutofit/>
          </a:bodyPr>
          <a:lstStyle/>
          <a:p>
            <a:r>
              <a:rPr lang="ja-JP" altLang="en-US" dirty="0">
                <a:latin typeface="+mj-ea"/>
              </a:rPr>
              <a:t>1973年設立。鶴岡市宝田で青果物の地方卸売市場を自ら運営し、集荷から卸売、小分け・包装、配送までを一貫して担う。売上高は約12億円で安定推移し、市場用地・施設を自社で保有する庄内地区の青果流通拠点。</a:t>
            </a:r>
            <a:endParaRPr lang="en-US" altLang="ja-JP" dirty="0"/>
          </a:p>
        </p:txBody>
      </p:sp>
      <p:sp>
        <p:nvSpPr>
          <p:cNvPr id="13" name="タイトル 12">
            <a:extLst>
              <a:ext uri="{FF2B5EF4-FFF2-40B4-BE49-F238E27FC236}">
                <a16:creationId xmlns:a16="http://schemas.microsoft.com/office/drawing/2014/main" id="{85E2D3B1-D668-47BF-7D76-2F8709456651}"/>
              </a:ext>
            </a:extLst>
          </p:cNvPr>
          <p:cNvSpPr>
            <a:spLocks noGrp="1"/>
          </p:cNvSpPr>
          <p:nvPr>
            <p:ph type="ctrTitle"/>
          </p:nvPr>
        </p:nvSpPr>
        <p:spPr>
          <a:xfrm>
            <a:off x="311150" y="180296"/>
            <a:ext cx="7799917" cy="339267"/>
          </a:xfrm>
        </p:spPr>
        <p:txBody>
          <a:bodyPr>
            <a:normAutofit/>
          </a:bodyPr>
          <a:lstStyle/>
          <a:p>
            <a:r>
              <a:rPr lang="ja-JP" altLang="en-US" dirty="0"/>
              <a:t>基本情報</a:t>
            </a:r>
          </a:p>
        </p:txBody>
      </p:sp>
      <p:sp>
        <p:nvSpPr>
          <p:cNvPr id="5" name="タイトル 1">
            <a:extLst>
              <a:ext uri="{FF2B5EF4-FFF2-40B4-BE49-F238E27FC236}">
                <a16:creationId xmlns:a16="http://schemas.microsoft.com/office/drawing/2014/main" id="{4F103961-B26C-39D9-FB80-02B45E98D11A}"/>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エグゼクティブサマリー</a:t>
            </a:r>
          </a:p>
        </p:txBody>
      </p:sp>
      <p:sp>
        <p:nvSpPr>
          <p:cNvPr id="2" name="正方形/長方形 1">
            <a:extLst>
              <a:ext uri="{FF2B5EF4-FFF2-40B4-BE49-F238E27FC236}">
                <a16:creationId xmlns:a16="http://schemas.microsoft.com/office/drawing/2014/main" id="{A0EF9F9A-5414-64EC-48C3-D1A342DF89A8}"/>
              </a:ext>
            </a:extLst>
          </p:cNvPr>
          <p:cNvSpPr/>
          <p:nvPr/>
        </p:nvSpPr>
        <p:spPr>
          <a:xfrm>
            <a:off x="311150" y="1517736"/>
            <a:ext cx="5857066"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mj-ea"/>
                <a:ea typeface="+mj-ea"/>
              </a:rPr>
              <a:t>会社概要</a:t>
            </a:r>
          </a:p>
        </p:txBody>
      </p:sp>
      <p:graphicFrame>
        <p:nvGraphicFramePr>
          <p:cNvPr id="15" name="Table 14"/>
          <p:cNvGraphicFramePr>
            <a:graphicFrameLocks noGrp="1"/>
          </p:cNvGraphicFramePr>
          <p:nvPr/>
        </p:nvGraphicFramePr>
        <p:xfrm>
          <a:off x="310896" y="1874519"/>
          <a:ext cx="5861303" cy="4736592"/>
        </p:xfrm>
        <a:graphic>
          <a:graphicData uri="http://schemas.openxmlformats.org/drawingml/2006/table">
            <a:tbl>
              <a:tblPr firstRow="0" bandRow="0">
                <a:tableStyleId>{5940675A-B579-460E-94D1-54222C63F5DA}</a:tableStyleId>
              </a:tblPr>
              <a:tblGrid>
                <a:gridCol w="1142999"/>
                <a:gridCol w="4718304"/>
              </a:tblGrid>
              <a:tr h="338328">
                <a:tc>
                  <a:txBody>
                    <a:bodyPr wrap="square"/>
                    <a:lstStyle/>
                    <a:p>
                      <a:pPr algn="ctr"/>
                      <a:r>
                        <a:rPr sz="850" b="1">
                          <a:solidFill>
                            <a:srgbClr val="FFFFFF"/>
                          </a:solidFill>
                          <a:latin typeface="游ゴシック"/>
                          <a:ea typeface="游ゴシック"/>
                        </a:rPr>
                        <a:t>項目</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内容</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r>
              <a:tr h="338328">
                <a:tc>
                  <a:txBody>
                    <a:bodyPr wrap="square"/>
                    <a:lstStyle/>
                    <a:p>
                      <a:pPr algn="l"/>
                      <a:r>
                        <a:rPr sz="850" b="0">
                          <a:solidFill>
                            <a:srgbClr val="1A1A1A"/>
                          </a:solidFill>
                          <a:latin typeface="游ゴシック"/>
                          <a:ea typeface="游ゴシック"/>
                        </a:rPr>
                        <a:t>会社名</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株式会社鶴岡中央青果（http://www.turu-chu.co.jp/）</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38328">
                <a:tc>
                  <a:txBody>
                    <a:bodyPr wrap="square"/>
                    <a:lstStyle/>
                    <a:p>
                      <a:pPr algn="l"/>
                      <a:r>
                        <a:rPr sz="850" b="0">
                          <a:solidFill>
                            <a:srgbClr val="1A1A1A"/>
                          </a:solidFill>
                          <a:latin typeface="游ゴシック"/>
                          <a:ea typeface="游ゴシック"/>
                        </a:rPr>
                        <a:t>本社所在地</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山形県鶴岡市宝田一丁目4番20号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38328">
                <a:tc>
                  <a:txBody>
                    <a:bodyPr wrap="square"/>
                    <a:lstStyle/>
                    <a:p>
                      <a:pPr algn="l"/>
                      <a:r>
                        <a:rPr sz="850" b="0">
                          <a:solidFill>
                            <a:srgbClr val="1A1A1A"/>
                          </a:solidFill>
                          <a:latin typeface="游ゴシック"/>
                          <a:ea typeface="游ゴシック"/>
                        </a:rPr>
                        <a:t>その他拠点</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パッケージ場・倉庫（鶴岡市宝田一丁目5-1）、倉庫敷地（庄内町長沼）</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38328">
                <a:tc>
                  <a:txBody>
                    <a:bodyPr wrap="square"/>
                    <a:lstStyle/>
                    <a:p>
                      <a:pPr algn="l"/>
                      <a:r>
                        <a:rPr sz="850" b="0">
                          <a:solidFill>
                            <a:srgbClr val="1A1A1A"/>
                          </a:solidFill>
                          <a:latin typeface="游ゴシック"/>
                          <a:ea typeface="游ゴシック"/>
                        </a:rPr>
                        <a:t>設立</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1973年（昭和48年）11月22日</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38328">
                <a:tc>
                  <a:txBody>
                    <a:bodyPr wrap="square"/>
                    <a:lstStyle/>
                    <a:p>
                      <a:pPr algn="l"/>
                      <a:r>
                        <a:rPr sz="850" b="0">
                          <a:solidFill>
                            <a:srgbClr val="1A1A1A"/>
                          </a:solidFill>
                          <a:latin typeface="游ゴシック"/>
                          <a:ea typeface="游ゴシック"/>
                        </a:rPr>
                        <a:t>資本金</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40,000千円</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38328">
                <a:tc>
                  <a:txBody>
                    <a:bodyPr wrap="square"/>
                    <a:lstStyle/>
                    <a:p>
                      <a:pPr algn="l"/>
                      <a:r>
                        <a:rPr sz="850" b="0">
                          <a:solidFill>
                            <a:srgbClr val="1A1A1A"/>
                          </a:solidFill>
                          <a:latin typeface="游ゴシック"/>
                          <a:ea typeface="游ゴシック"/>
                        </a:rPr>
                        <a:t>代表者</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岡部 寛（代表取締役）</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38328">
                <a:tc>
                  <a:txBody>
                    <a:bodyPr wrap="square"/>
                    <a:lstStyle/>
                    <a:p>
                      <a:pPr algn="l"/>
                      <a:r>
                        <a:rPr sz="850" b="0">
                          <a:solidFill>
                            <a:srgbClr val="1A1A1A"/>
                          </a:solidFill>
                          <a:latin typeface="游ゴシック"/>
                          <a:ea typeface="游ゴシック"/>
                        </a:rPr>
                        <a:t>株主</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岡部 寛（1,510株/37.8%）、岡部 一（720株/18.0%）、岡部 和子（500株/12.5%）ほか5名（岡部家計75.8%）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38328">
                <a:tc>
                  <a:txBody>
                    <a:bodyPr wrap="square"/>
                    <a:lstStyle/>
                    <a:p>
                      <a:pPr algn="l"/>
                      <a:r>
                        <a:rPr sz="850" b="0">
                          <a:solidFill>
                            <a:srgbClr val="1A1A1A"/>
                          </a:solidFill>
                          <a:latin typeface="游ゴシック"/>
                          <a:ea typeface="游ゴシック"/>
                        </a:rPr>
                        <a:t>事業内容</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青果物の地方卸売市場の開設・運営および卸売、パッケージ（小分け・包装）、資材・肥料販売</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38328">
                <a:tc>
                  <a:txBody>
                    <a:bodyPr wrap="square"/>
                    <a:lstStyle/>
                    <a:p>
                      <a:pPr algn="l"/>
                      <a:r>
                        <a:rPr sz="850" b="0">
                          <a:solidFill>
                            <a:srgbClr val="1A1A1A"/>
                          </a:solidFill>
                          <a:latin typeface="游ゴシック"/>
                          <a:ea typeface="游ゴシック"/>
                        </a:rPr>
                        <a:t>従業員数</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24名（正社員17名・嘱託/再雇用/試用3名・パート3名・アルバイト1名）※2026年9月1日現在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38328">
                <a:tc>
                  <a:txBody>
                    <a:bodyPr wrap="square"/>
                    <a:lstStyle/>
                    <a:p>
                      <a:pPr algn="l"/>
                      <a:r>
                        <a:rPr sz="850" b="0">
                          <a:solidFill>
                            <a:srgbClr val="1A1A1A"/>
                          </a:solidFill>
                          <a:latin typeface="游ゴシック"/>
                          <a:ea typeface="游ゴシック"/>
                        </a:rPr>
                        <a:t>許認可等</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地方卸売市場（卸売市場法）の認定状況は要確認</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38328">
                <a:tc>
                  <a:txBody>
                    <a:bodyPr wrap="square"/>
                    <a:lstStyle/>
                    <a:p>
                      <a:pPr algn="l"/>
                      <a:r>
                        <a:rPr sz="850" b="0">
                          <a:solidFill>
                            <a:srgbClr val="1A1A1A"/>
                          </a:solidFill>
                          <a:latin typeface="游ゴシック"/>
                          <a:ea typeface="游ゴシック"/>
                        </a:rPr>
                        <a:t>売上高</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1,195,893千円（2026年3月期）</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38328">
                <a:tc>
                  <a:txBody>
                    <a:bodyPr wrap="square"/>
                    <a:lstStyle/>
                    <a:p>
                      <a:pPr algn="l"/>
                      <a:r>
                        <a:rPr sz="850" b="0">
                          <a:solidFill>
                            <a:srgbClr val="1A1A1A"/>
                          </a:solidFill>
                          <a:latin typeface="游ゴシック"/>
                          <a:ea typeface="游ゴシック"/>
                        </a:rPr>
                        <a:t>調整後EBITDA</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14,549千円（過去3期平均）</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38328">
                <a:tc>
                  <a:txBody>
                    <a:bodyPr wrap="square"/>
                    <a:lstStyle/>
                    <a:p>
                      <a:pPr algn="l"/>
                      <a:r>
                        <a:rPr sz="850" b="0">
                          <a:solidFill>
                            <a:srgbClr val="1A1A1A"/>
                          </a:solidFill>
                          <a:latin typeface="游ゴシック"/>
                          <a:ea typeface="游ゴシック"/>
                        </a:rPr>
                        <a:t>譲渡理由</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要確認</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bl>
          </a:graphicData>
        </a:graphic>
      </p:graphicFrame>
      <p:sp>
        <p:nvSpPr>
          <p:cNvPr id="16" name="Rectangle 15"/>
          <p:cNvSpPr/>
          <p:nvPr/>
        </p:nvSpPr>
        <p:spPr>
          <a:xfrm>
            <a:off x="6355080" y="1517904"/>
            <a:ext cx="4023360"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l"/>
            <a:r>
              <a:rPr sz="1100" b="1">
                <a:solidFill>
                  <a:srgbClr val="FFFFFF"/>
                </a:solidFill>
                <a:latin typeface="游ゴシック"/>
                <a:ea typeface="游ゴシック"/>
              </a:rPr>
              <a:t>本件のポイント</a:t>
            </a:r>
          </a:p>
        </p:txBody>
      </p:sp>
      <p:sp>
        <p:nvSpPr>
          <p:cNvPr id="17" name="Rectangle 16"/>
          <p:cNvSpPr/>
          <p:nvPr/>
        </p:nvSpPr>
        <p:spPr>
          <a:xfrm>
            <a:off x="6355080" y="1938528"/>
            <a:ext cx="4023360" cy="89611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1000" b="1">
                <a:solidFill>
                  <a:srgbClr val="0889C9"/>
                </a:solidFill>
                <a:latin typeface="游ゴシック"/>
                <a:ea typeface="游ゴシック"/>
              </a:rPr>
              <a:t>地域の青果流通インフラ</a:t>
            </a:r>
          </a:p>
          <a:p>
            <a:pPr algn="l"/>
            <a:r>
              <a:rPr sz="900" b="0">
                <a:solidFill>
                  <a:srgbClr val="1A1A1A"/>
                </a:solidFill>
                <a:latin typeface="游ゴシック"/>
                <a:ea typeface="游ゴシック"/>
              </a:rPr>
              <a:t>開設者兼卸売業者として鶴岡市宝田で青果市場を運営。セリ人資格者3名が在籍</a:t>
            </a:r>
          </a:p>
        </p:txBody>
      </p:sp>
      <p:sp>
        <p:nvSpPr>
          <p:cNvPr id="18" name="Rectangle 17"/>
          <p:cNvSpPr/>
          <p:nvPr/>
        </p:nvSpPr>
        <p:spPr>
          <a:xfrm>
            <a:off x="6355080" y="2889504"/>
            <a:ext cx="4023360" cy="89611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1000" b="1">
                <a:solidFill>
                  <a:srgbClr val="0889C9"/>
                </a:solidFill>
                <a:latin typeface="游ゴシック"/>
                <a:ea typeface="游ゴシック"/>
              </a:rPr>
              <a:t>安定した売上規模</a:t>
            </a:r>
          </a:p>
          <a:p>
            <a:pPr algn="l"/>
            <a:r>
              <a:rPr sz="900" b="0">
                <a:solidFill>
                  <a:srgbClr val="1A1A1A"/>
                </a:solidFill>
                <a:latin typeface="游ゴシック"/>
                <a:ea typeface="游ゴシック"/>
              </a:rPr>
              <a:t>売上高は1,178→1,182→1,196百万円。量販店・生協・学校給食・近隣市場へ分散販売</a:t>
            </a:r>
          </a:p>
        </p:txBody>
      </p:sp>
      <p:sp>
        <p:nvSpPr>
          <p:cNvPr id="19" name="Rectangle 18"/>
          <p:cNvSpPr/>
          <p:nvPr/>
        </p:nvSpPr>
        <p:spPr>
          <a:xfrm>
            <a:off x="6355080" y="3840480"/>
            <a:ext cx="4023360" cy="89611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1000" b="1">
                <a:solidFill>
                  <a:srgbClr val="0889C9"/>
                </a:solidFill>
                <a:latin typeface="游ゴシック"/>
                <a:ea typeface="游ゴシック"/>
              </a:rPr>
              <a:t>事業用不動産を自社保有</a:t>
            </a:r>
          </a:p>
          <a:p>
            <a:pPr algn="l"/>
            <a:r>
              <a:rPr sz="900" b="0">
                <a:solidFill>
                  <a:srgbClr val="1A1A1A"/>
                </a:solidFill>
                <a:latin typeface="游ゴシック"/>
                <a:ea typeface="游ゴシック"/>
              </a:rPr>
              <a:t>本社市場・パッケージ場等の土地4,263㎡、建物延床2,013㎡を保有（賃借なし）</a:t>
            </a:r>
          </a:p>
        </p:txBody>
      </p:sp>
      <p:sp>
        <p:nvSpPr>
          <p:cNvPr id="20" name="Rectangle 19"/>
          <p:cNvSpPr/>
          <p:nvPr/>
        </p:nvSpPr>
        <p:spPr>
          <a:xfrm>
            <a:off x="6355080" y="4791456"/>
            <a:ext cx="4023360" cy="89611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1000" b="1">
                <a:solidFill>
                  <a:srgbClr val="0889C9"/>
                </a:solidFill>
                <a:latin typeface="游ゴシック"/>
                <a:ea typeface="游ゴシック"/>
              </a:rPr>
              <a:t>付加価値機能</a:t>
            </a:r>
          </a:p>
          <a:p>
            <a:pPr algn="l"/>
            <a:r>
              <a:rPr sz="900" b="0">
                <a:solidFill>
                  <a:srgbClr val="1A1A1A"/>
                </a:solidFill>
                <a:latin typeface="游ゴシック"/>
                <a:ea typeface="游ゴシック"/>
              </a:rPr>
              <a:t>パッケージ部による小分け・包装、集配、資材・肥料販売を併営</a:t>
            </a:r>
          </a:p>
        </p:txBody>
      </p:sp>
      <p:sp>
        <p:nvSpPr>
          <p:cNvPr id="21" name="Rectangle 20"/>
          <p:cNvSpPr/>
          <p:nvPr/>
        </p:nvSpPr>
        <p:spPr>
          <a:xfrm>
            <a:off x="6355080" y="5742432"/>
            <a:ext cx="4023360" cy="89611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1000" b="1">
                <a:solidFill>
                  <a:srgbClr val="0889C9"/>
                </a:solidFill>
                <a:latin typeface="游ゴシック"/>
                <a:ea typeface="游ゴシック"/>
              </a:rPr>
              <a:t>論点（要確認）</a:t>
            </a:r>
          </a:p>
          <a:p>
            <a:pPr algn="l"/>
            <a:r>
              <a:rPr sz="900" b="0">
                <a:solidFill>
                  <a:srgbClr val="1A1A1A"/>
                </a:solidFill>
                <a:latin typeface="游ゴシック"/>
                <a:ea typeface="游ゴシック"/>
              </a:rPr>
              <a:t>粗利率の低下（18.6%→16.6%）、借入金361百万円、主要施設は1981〜82年築</a:t>
            </a:r>
          </a:p>
        </p:txBody>
      </p:sp>
      <p:sp>
        <p:nvSpPr>
          <p:cNvPr id="22" name="TextBox 21"/>
          <p:cNvSpPr txBox="1"/>
          <p:nvPr/>
        </p:nvSpPr>
        <p:spPr>
          <a:xfrm>
            <a:off x="310896" y="6675120"/>
            <a:ext cx="5943600" cy="274320"/>
          </a:xfrm>
          <a:prstGeom prst="rect">
            <a:avLst/>
          </a:prstGeom>
          <a:noFill/>
        </p:spPr>
        <p:txBody>
          <a:bodyPr wrap="square" lIns="0" rIns="0" tIns="0" bIns="0" anchor="t">
            <a:spAutoFit/>
          </a:bodyPr>
          <a:lstStyle/>
          <a:p>
            <a:pPr algn="l"/>
            <a:r>
              <a:rPr sz="750" b="0">
                <a:solidFill>
                  <a:srgbClr val="5A6670"/>
                </a:solidFill>
                <a:latin typeface="游ゴシック"/>
                <a:ea typeface="游ゴシック"/>
              </a:rPr>
              <a:t>※社屋・市場の写真は売主様より受領後（または現地訪問時に撮影）掲載予定。</a:t>
            </a:r>
          </a:p>
        </p:txBody>
      </p:sp>
    </p:spTree>
    <p:extLst>
      <p:ext uri="{BB962C8B-B14F-4D97-AF65-F5344CB8AC3E}">
        <p14:creationId xmlns:p14="http://schemas.microsoft.com/office/powerpoint/2010/main" val="28193464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8EF9F-B9BD-9E7E-BA2C-5A4B51173A7F}"/>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7780A147-C248-92F8-8F3F-25BD76E0BC3B}"/>
              </a:ext>
            </a:extLst>
          </p:cNvPr>
          <p:cNvSpPr>
            <a:spLocks noGrp="1"/>
          </p:cNvSpPr>
          <p:nvPr>
            <p:ph type="ctrTitle"/>
          </p:nvPr>
        </p:nvSpPr>
        <p:spPr>
          <a:xfrm>
            <a:off x="311150" y="180296"/>
            <a:ext cx="7799917" cy="339267"/>
          </a:xfrm>
        </p:spPr>
        <p:txBody>
          <a:bodyPr>
            <a:normAutofit/>
          </a:bodyPr>
          <a:lstStyle/>
          <a:p>
            <a:r>
              <a:rPr lang="ja-JP" altLang="en-US" dirty="0"/>
              <a:t>財務ハイライト（P/L）</a:t>
            </a:r>
          </a:p>
        </p:txBody>
      </p:sp>
      <p:sp>
        <p:nvSpPr>
          <p:cNvPr id="5" name="タイトル 1">
            <a:extLst>
              <a:ext uri="{FF2B5EF4-FFF2-40B4-BE49-F238E27FC236}">
                <a16:creationId xmlns:a16="http://schemas.microsoft.com/office/drawing/2014/main" id="{BE8912DE-7392-DA52-DCED-61F45ED11AC6}"/>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エグゼクティブサマリー</a:t>
            </a:r>
          </a:p>
        </p:txBody>
      </p:sp>
      <p:sp>
        <p:nvSpPr>
          <p:cNvPr id="16" name="字幕 13">
            <a:extLst>
              <a:ext uri="{FF2B5EF4-FFF2-40B4-BE49-F238E27FC236}">
                <a16:creationId xmlns:a16="http://schemas.microsoft.com/office/drawing/2014/main" id="{7A1881B5-EF3F-935A-CE45-EAB497D19AED}"/>
              </a:ext>
            </a:extLst>
          </p:cNvPr>
          <p:cNvSpPr>
            <a:spLocks noGrp="1"/>
          </p:cNvSpPr>
          <p:nvPr>
            <p:ph type="subTitle" idx="1"/>
          </p:nvPr>
        </p:nvSpPr>
        <p:spPr>
          <a:xfrm>
            <a:off x="460675" y="830046"/>
            <a:ext cx="9781875" cy="241861"/>
          </a:xfrm>
        </p:spPr>
        <p:txBody>
          <a:bodyPr>
            <a:noAutofit/>
          </a:bodyPr>
          <a:lstStyle/>
          <a:p>
            <a:r>
              <a:rPr lang="ja-JP" altLang="en-US" dirty="0">
                <a:latin typeface="+mj-ea"/>
              </a:rPr>
              <a:t>売上高は約12億円で安定。粗利率の低下を役員報酬・賞与・償却費の減少で補い、2026/3期は営業黒字へ回復。調整後EBITDAは3期平均14,549千円</a:t>
            </a:r>
            <a:endParaRPr lang="en-US" altLang="ja-JP" dirty="0">
              <a:latin typeface="+mj-ea"/>
            </a:endParaRPr>
          </a:p>
        </p:txBody>
      </p:sp>
      <p:sp>
        <p:nvSpPr>
          <p:cNvPr id="2" name="正方形/長方形 1">
            <a:extLst>
              <a:ext uri="{FF2B5EF4-FFF2-40B4-BE49-F238E27FC236}">
                <a16:creationId xmlns:a16="http://schemas.microsoft.com/office/drawing/2014/main" id="{22D7A017-71F2-4035-677D-AF49C1C280D6}"/>
              </a:ext>
            </a:extLst>
          </p:cNvPr>
          <p:cNvSpPr/>
          <p:nvPr/>
        </p:nvSpPr>
        <p:spPr>
          <a:xfrm>
            <a:off x="6455664" y="4604592"/>
            <a:ext cx="3924999" cy="2539157"/>
          </a:xfrm>
          <a:prstGeom prst="rect">
            <a:avLst/>
          </a:prstGeom>
          <a:solidFill>
            <a:schemeClr val="accent2"/>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endParaRPr kumimoji="1" lang="en-US" altLang="ja-JP" sz="1200" b="1" dirty="0">
              <a:solidFill>
                <a:schemeClr val="tx1"/>
              </a:solidFill>
              <a:latin typeface="+mn-ea"/>
            </a:endParaRPr>
          </a:p>
        </p:txBody>
      </p:sp>
      <p:sp>
        <p:nvSpPr>
          <p:cNvPr id="8" name="正方形/長方形 7">
            <a:extLst>
              <a:ext uri="{FF2B5EF4-FFF2-40B4-BE49-F238E27FC236}">
                <a16:creationId xmlns:a16="http://schemas.microsoft.com/office/drawing/2014/main" id="{CBD334A9-999C-ACD4-9DD2-EF961CBA0926}"/>
              </a:ext>
            </a:extLst>
          </p:cNvPr>
          <p:cNvSpPr/>
          <p:nvPr/>
        </p:nvSpPr>
        <p:spPr>
          <a:xfrm>
            <a:off x="6455664" y="1382390"/>
            <a:ext cx="3924999" cy="3106739"/>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graphicFrame>
        <p:nvGraphicFramePr>
          <p:cNvPr id="17" name="Table 16"/>
          <p:cNvGraphicFramePr>
            <a:graphicFrameLocks noGrp="1"/>
          </p:cNvGraphicFramePr>
          <p:nvPr/>
        </p:nvGraphicFramePr>
        <p:xfrm>
          <a:off x="310896" y="1408176"/>
          <a:ext cx="6044182" cy="3223260"/>
        </p:xfrm>
        <a:graphic>
          <a:graphicData uri="http://schemas.openxmlformats.org/drawingml/2006/table">
            <a:tbl>
              <a:tblPr firstRow="0" bandRow="0">
                <a:tableStyleId>{5940675A-B579-460E-94D1-54222C63F5DA}</a:tableStyleId>
              </a:tblPr>
              <a:tblGrid>
                <a:gridCol w="2110667"/>
                <a:gridCol w="959394"/>
                <a:gridCol w="959394"/>
                <a:gridCol w="959394"/>
                <a:gridCol w="1055333"/>
              </a:tblGrid>
              <a:tr h="214884">
                <a:tc>
                  <a:txBody>
                    <a:bodyPr wrap="square"/>
                    <a:lstStyle/>
                    <a:p>
                      <a:pPr algn="ctr"/>
                      <a:r>
                        <a:rPr sz="850" b="1">
                          <a:solidFill>
                            <a:srgbClr val="FFFFFF"/>
                          </a:solidFill>
                          <a:latin typeface="游ゴシック"/>
                          <a:ea typeface="游ゴシック"/>
                        </a:rPr>
                        <a:t>（単位：千円）</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Arial"/>
                          <a:ea typeface="游ゴシック"/>
                        </a:rPr>
                        <a:t>2024/3期</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Arial"/>
                          <a:ea typeface="游ゴシック"/>
                        </a:rPr>
                        <a:t>2025/3期</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Arial"/>
                          <a:ea typeface="游ゴシック"/>
                        </a:rPr>
                        <a:t>2026/3期</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Arial"/>
                          <a:ea typeface="游ゴシック"/>
                        </a:rPr>
                        <a:t>2026/4-7月</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r>
              <a:tr h="214884">
                <a:tc>
                  <a:txBody>
                    <a:bodyPr wrap="square"/>
                    <a:lstStyle/>
                    <a:p>
                      <a:pPr algn="l"/>
                      <a:r>
                        <a:rPr sz="850" b="1">
                          <a:solidFill>
                            <a:srgbClr val="1A1A1A"/>
                          </a:solidFill>
                          <a:latin typeface="游ゴシック"/>
                          <a:ea typeface="游ゴシック"/>
                        </a:rPr>
                        <a:t>売上高</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1,178,489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1,181,947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1,195,893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411,155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14884">
                <a:tc>
                  <a:txBody>
                    <a:bodyPr wrap="square"/>
                    <a:lstStyle/>
                    <a:p>
                      <a:pPr algn="l"/>
                      <a:r>
                        <a:rPr sz="850" b="0">
                          <a:solidFill>
                            <a:srgbClr val="1A1A1A"/>
                          </a:solidFill>
                          <a:latin typeface="游ゴシック"/>
                          <a:ea typeface="游ゴシック"/>
                        </a:rPr>
                        <a:t>売上総利益</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219,580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211,296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199,011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61,214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14884">
                <a:tc>
                  <a:txBody>
                    <a:bodyPr wrap="square"/>
                    <a:lstStyle/>
                    <a:p>
                      <a:pPr algn="l"/>
                      <a:r>
                        <a:rPr sz="850" b="0">
                          <a:solidFill>
                            <a:srgbClr val="1A1A1A"/>
                          </a:solidFill>
                          <a:latin typeface="游ゴシック"/>
                          <a:ea typeface="游ゴシック"/>
                        </a:rPr>
                        <a:t>　売上総利益率</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18.6%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17.9%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16.6%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14.9%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14884">
                <a:tc>
                  <a:txBody>
                    <a:bodyPr wrap="square"/>
                    <a:lstStyle/>
                    <a:p>
                      <a:pPr algn="l"/>
                      <a:r>
                        <a:rPr sz="850" b="0">
                          <a:solidFill>
                            <a:srgbClr val="1A1A1A"/>
                          </a:solidFill>
                          <a:latin typeface="游ゴシック"/>
                          <a:ea typeface="游ゴシック"/>
                        </a:rPr>
                        <a:t>販売費及び一般管理費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214,823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215,718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193,151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55,897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14884">
                <a:tc>
                  <a:txBody>
                    <a:bodyPr wrap="square"/>
                    <a:lstStyle/>
                    <a:p>
                      <a:pPr algn="l"/>
                      <a:r>
                        <a:rPr sz="850" b="1">
                          <a:solidFill>
                            <a:srgbClr val="1A1A1A"/>
                          </a:solidFill>
                          <a:latin typeface="游ゴシック"/>
                          <a:ea typeface="游ゴシック"/>
                        </a:rPr>
                        <a:t>営業利益</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4,757</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△4,423</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5,860</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5,317</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r>
              <a:tr h="214884">
                <a:tc>
                  <a:txBody>
                    <a:bodyPr wrap="square"/>
                    <a:lstStyle/>
                    <a:p>
                      <a:pPr algn="l"/>
                      <a:r>
                        <a:rPr sz="850" b="0">
                          <a:solidFill>
                            <a:srgbClr val="1A1A1A"/>
                          </a:solidFill>
                          <a:latin typeface="游ゴシック"/>
                          <a:ea typeface="游ゴシック"/>
                        </a:rPr>
                        <a:t>減価償却費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13,664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12,558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8,879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2,436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14884">
                <a:tc>
                  <a:txBody>
                    <a:bodyPr wrap="square"/>
                    <a:lstStyle/>
                    <a:p>
                      <a:pPr algn="l"/>
                      <a:r>
                        <a:rPr sz="850" b="0">
                          <a:solidFill>
                            <a:srgbClr val="1A1A1A"/>
                          </a:solidFill>
                          <a:latin typeface="游ゴシック"/>
                          <a:ea typeface="游ゴシック"/>
                        </a:rPr>
                        <a:t>EBITDA</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18,420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8,135</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14,739</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7,753</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r h="214884">
                <a:tc>
                  <a:txBody>
                    <a:bodyPr wrap="square"/>
                    <a:lstStyle/>
                    <a:p>
                      <a:pPr algn="l"/>
                      <a:r>
                        <a:rPr sz="850" b="0">
                          <a:solidFill>
                            <a:srgbClr val="1A1A1A"/>
                          </a:solidFill>
                          <a:latin typeface="游ゴシック"/>
                          <a:ea typeface="游ゴシック"/>
                        </a:rPr>
                        <a:t>　①役員報酬の正常化</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3,082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3,082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△4,094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14884">
                <a:tc>
                  <a:txBody>
                    <a:bodyPr wrap="square"/>
                    <a:lstStyle/>
                    <a:p>
                      <a:pPr algn="l"/>
                      <a:r>
                        <a:rPr sz="850" b="0">
                          <a:solidFill>
                            <a:srgbClr val="1A1A1A"/>
                          </a:solidFill>
                          <a:latin typeface="游ゴシック"/>
                          <a:ea typeface="游ゴシック"/>
                        </a:rPr>
                        <a:t>　②賞与の正常化</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△6,724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14884">
                <a:tc>
                  <a:txBody>
                    <a:bodyPr wrap="square"/>
                    <a:lstStyle/>
                    <a:p>
                      <a:pPr algn="l"/>
                      <a:r>
                        <a:rPr sz="850" b="0">
                          <a:solidFill>
                            <a:srgbClr val="1A1A1A"/>
                          </a:solidFill>
                          <a:latin typeface="游ゴシック"/>
                          <a:ea typeface="游ゴシック"/>
                        </a:rPr>
                        <a:t>　③受取奨励金（純額）</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2,179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2,315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2,418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14884">
                <a:tc>
                  <a:txBody>
                    <a:bodyPr wrap="square"/>
                    <a:lstStyle/>
                    <a:p>
                      <a:pPr algn="l"/>
                      <a:r>
                        <a:rPr sz="850" b="0">
                          <a:solidFill>
                            <a:srgbClr val="1A1A1A"/>
                          </a:solidFill>
                          <a:latin typeface="游ゴシック"/>
                          <a:ea typeface="游ゴシック"/>
                        </a:rPr>
                        <a:t>　④寄付金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71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14884">
                <a:tc>
                  <a:txBody>
                    <a:bodyPr wrap="square"/>
                    <a:lstStyle/>
                    <a:p>
                      <a:pPr algn="l"/>
                      <a:r>
                        <a:rPr sz="850" b="1">
                          <a:solidFill>
                            <a:srgbClr val="1A1A1A"/>
                          </a:solidFill>
                          <a:latin typeface="游ゴシック"/>
                          <a:ea typeface="游ゴシック"/>
                        </a:rPr>
                        <a:t>調整後EBITDA</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23,694</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13,602</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6,350</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r>
              <a:tr h="214884">
                <a:tc>
                  <a:txBody>
                    <a:bodyPr wrap="square"/>
                    <a:lstStyle/>
                    <a:p>
                      <a:pPr algn="l"/>
                      <a:r>
                        <a:rPr sz="850" b="0">
                          <a:solidFill>
                            <a:srgbClr val="1A1A1A"/>
                          </a:solidFill>
                          <a:latin typeface="游ゴシック"/>
                          <a:ea typeface="游ゴシック"/>
                        </a:rPr>
                        <a:t>経常利益</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11,317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2,181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8,068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5,885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14884">
                <a:tc>
                  <a:txBody>
                    <a:bodyPr wrap="square"/>
                    <a:lstStyle/>
                    <a:p>
                      <a:pPr algn="l"/>
                      <a:r>
                        <a:rPr sz="850" b="0">
                          <a:solidFill>
                            <a:srgbClr val="1A1A1A"/>
                          </a:solidFill>
                          <a:latin typeface="游ゴシック"/>
                          <a:ea typeface="游ゴシック"/>
                        </a:rPr>
                        <a:t>当期純利益</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9,107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2,929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△15,085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bl>
          </a:graphicData>
        </a:graphic>
      </p:graphicFrame>
      <p:graphicFrame>
        <p:nvGraphicFramePr>
          <p:cNvPr id="18" name="Chart 17"/>
          <p:cNvGraphicFramePr>
            <a:graphicFrameLocks noGrp="1"/>
          </p:cNvGraphicFramePr>
          <p:nvPr/>
        </p:nvGraphicFramePr>
        <p:xfrm>
          <a:off x="310896" y="4754880"/>
          <a:ext cx="6044184" cy="2194560"/>
        </p:xfrm>
        <a:graphic>
          <a:graphicData uri="http://schemas.openxmlformats.org/drawingml/2006/chart">
            <c:chart xmlns:c="http://schemas.openxmlformats.org/drawingml/2006/chart" r:id="rId4"/>
          </a:graphicData>
        </a:graphic>
      </p:graphicFrame>
      <p:sp>
        <p:nvSpPr>
          <p:cNvPr id="19" name="TextBox 18"/>
          <p:cNvSpPr txBox="1"/>
          <p:nvPr/>
        </p:nvSpPr>
        <p:spPr>
          <a:xfrm>
            <a:off x="6492240" y="1755648"/>
            <a:ext cx="3858768" cy="2788920"/>
          </a:xfrm>
          <a:prstGeom prst="rect">
            <a:avLst/>
          </a:prstGeom>
          <a:noFill/>
        </p:spPr>
        <p:txBody>
          <a:bodyPr wrap="square" lIns="0" rIns="0" tIns="0" bIns="0" anchor="t">
            <a:spAutoFit/>
          </a:bodyPr>
          <a:lstStyle/>
          <a:p>
            <a:pPr algn="l">
              <a:spcAft>
                <a:spcPts val="100"/>
              </a:spcAft>
            </a:pPr>
            <a:r>
              <a:rPr sz="750" b="1">
                <a:solidFill>
                  <a:srgbClr val="0889C9"/>
                </a:solidFill>
                <a:latin typeface="游ゴシック"/>
                <a:ea typeface="游ゴシック"/>
              </a:rPr>
              <a:t>≪売上高≫</a:t>
            </a:r>
          </a:p>
          <a:p>
            <a:pPr algn="l">
              <a:spcAft>
                <a:spcPts val="100"/>
              </a:spcAft>
            </a:pPr>
            <a:r>
              <a:rPr sz="750" b="0">
                <a:solidFill>
                  <a:srgbClr val="1A1A1A"/>
                </a:solidFill>
                <a:latin typeface="游ゴシック"/>
                <a:ea typeface="游ゴシック"/>
              </a:rPr>
              <a:t>・2024/3期1,178,489千円、2025/3期1,181,947千円、2026/3期1,195,893千円と約12億円で安定推移。7・8月が繁忙期（7月146百万円）。</a:t>
            </a:r>
          </a:p>
          <a:p>
            <a:pPr algn="l">
              <a:spcAft>
                <a:spcPts val="100"/>
              </a:spcAft>
            </a:pPr>
            <a:r>
              <a:rPr sz="750" b="0">
                <a:solidFill>
                  <a:srgbClr val="1A1A1A"/>
                </a:solidFill>
                <a:latin typeface="游ゴシック"/>
                <a:ea typeface="游ゴシック"/>
              </a:rPr>
              <a:t>・決算書上は「商品売上高」1本の表示。買付販売・受託手数料・センター費等の区分は試算表のみ（年度別内訳は確認中）。</a:t>
            </a:r>
          </a:p>
          <a:p>
            <a:pPr algn="l">
              <a:spcAft>
                <a:spcPts val="100"/>
              </a:spcAft>
            </a:pPr>
            <a:r>
              <a:rPr sz="750" b="1">
                <a:solidFill>
                  <a:srgbClr val="0889C9"/>
                </a:solidFill>
                <a:latin typeface="游ゴシック"/>
                <a:ea typeface="游ゴシック"/>
              </a:rPr>
              <a:t>≪売上総利益≫</a:t>
            </a:r>
          </a:p>
          <a:p>
            <a:pPr algn="l">
              <a:spcAft>
                <a:spcPts val="100"/>
              </a:spcAft>
            </a:pPr>
            <a:r>
              <a:rPr sz="750" b="0">
                <a:solidFill>
                  <a:srgbClr val="1A1A1A"/>
                </a:solidFill>
                <a:latin typeface="游ゴシック"/>
                <a:ea typeface="游ゴシック"/>
              </a:rPr>
              <a:t>・粗利率は18.6%→17.9%→16.6%と低下。2期で仕入高が+4.5%と売上高（+1.5%）を上回った。要因は確認中。</a:t>
            </a:r>
          </a:p>
          <a:p>
            <a:pPr algn="l">
              <a:spcAft>
                <a:spcPts val="100"/>
              </a:spcAft>
            </a:pPr>
            <a:r>
              <a:rPr sz="750" b="1">
                <a:solidFill>
                  <a:srgbClr val="0889C9"/>
                </a:solidFill>
                <a:latin typeface="游ゴシック"/>
                <a:ea typeface="游ゴシック"/>
              </a:rPr>
              <a:t>≪営業利益と経常利益の差異≫</a:t>
            </a:r>
          </a:p>
          <a:p>
            <a:pPr algn="l">
              <a:spcAft>
                <a:spcPts val="100"/>
              </a:spcAft>
            </a:pPr>
            <a:r>
              <a:rPr sz="750" b="0">
                <a:solidFill>
                  <a:srgbClr val="1A1A1A"/>
                </a:solidFill>
                <a:latin typeface="游ゴシック"/>
                <a:ea typeface="游ゴシック"/>
              </a:rPr>
              <a:t>・受取奨励金（毎期2.3〜2.5百万円）・雑収入を計上する一方、支払利息約4百万円を計上。2026/3期は経常利益8,068千円。</a:t>
            </a:r>
          </a:p>
          <a:p>
            <a:pPr algn="l">
              <a:spcAft>
                <a:spcPts val="100"/>
              </a:spcAft>
            </a:pPr>
            <a:r>
              <a:rPr sz="750" b="1">
                <a:solidFill>
                  <a:srgbClr val="0889C9"/>
                </a:solidFill>
                <a:latin typeface="游ゴシック"/>
                <a:ea typeface="游ゴシック"/>
              </a:rPr>
              <a:t>≪当期純利益≫</a:t>
            </a:r>
          </a:p>
          <a:p>
            <a:pPr algn="l">
              <a:spcAft>
                <a:spcPts val="100"/>
              </a:spcAft>
            </a:pPr>
            <a:r>
              <a:rPr sz="750" b="0">
                <a:solidFill>
                  <a:srgbClr val="1A1A1A"/>
                </a:solidFill>
                <a:latin typeface="游ゴシック"/>
                <a:ea typeface="游ゴシック"/>
              </a:rPr>
              <a:t>・2026/3期の当期純損失△15,085千円は事業保険積立金の取崩し（前期損益修正損20,900千円）による非経常損失。</a:t>
            </a:r>
          </a:p>
        </p:txBody>
      </p:sp>
      <p:sp>
        <p:nvSpPr>
          <p:cNvPr id="20" name="TextBox 19"/>
          <p:cNvSpPr txBox="1"/>
          <p:nvPr/>
        </p:nvSpPr>
        <p:spPr>
          <a:xfrm>
            <a:off x="6492240" y="4864608"/>
            <a:ext cx="3858768" cy="2194560"/>
          </a:xfrm>
          <a:prstGeom prst="rect">
            <a:avLst/>
          </a:prstGeom>
          <a:noFill/>
        </p:spPr>
        <p:txBody>
          <a:bodyPr wrap="square" lIns="0" rIns="0" tIns="0" bIns="0" anchor="t">
            <a:spAutoFit/>
          </a:bodyPr>
          <a:lstStyle/>
          <a:p>
            <a:pPr algn="l">
              <a:spcAft>
                <a:spcPts val="100"/>
              </a:spcAft>
            </a:pPr>
            <a:r>
              <a:rPr sz="750" b="1">
                <a:solidFill>
                  <a:srgbClr val="0B3041"/>
                </a:solidFill>
                <a:latin typeface="游ゴシック"/>
                <a:ea typeface="游ゴシック"/>
              </a:rPr>
              <a:t>【調整項目】</a:t>
            </a:r>
          </a:p>
          <a:p>
            <a:pPr algn="l">
              <a:spcAft>
                <a:spcPts val="100"/>
              </a:spcAft>
            </a:pPr>
            <a:r>
              <a:rPr sz="750" b="1">
                <a:solidFill>
                  <a:srgbClr val="0889C9"/>
                </a:solidFill>
                <a:latin typeface="游ゴシック"/>
                <a:ea typeface="游ゴシック"/>
              </a:rPr>
              <a:t>≪役員報酬・社会保険料≫</a:t>
            </a:r>
          </a:p>
          <a:p>
            <a:pPr algn="l">
              <a:spcAft>
                <a:spcPts val="100"/>
              </a:spcAft>
            </a:pPr>
            <a:r>
              <a:rPr sz="750" b="0">
                <a:solidFill>
                  <a:srgbClr val="1A1A1A"/>
                </a:solidFill>
                <a:latin typeface="游ゴシック"/>
                <a:ea typeface="游ゴシック"/>
              </a:rPr>
              <a:t>・代表者・配偶者の報酬を新体制の役員報酬8,000千円（仮定）に置換し、社保15%を連動</a:t>
            </a:r>
          </a:p>
          <a:p>
            <a:pPr algn="l">
              <a:spcAft>
                <a:spcPts val="100"/>
              </a:spcAft>
            </a:pPr>
            <a:r>
              <a:rPr sz="750" b="1">
                <a:solidFill>
                  <a:srgbClr val="0889C9"/>
                </a:solidFill>
                <a:latin typeface="游ゴシック"/>
                <a:ea typeface="游ゴシック"/>
              </a:rPr>
              <a:t>≪賞与≫</a:t>
            </a:r>
          </a:p>
          <a:p>
            <a:pPr algn="l">
              <a:spcAft>
                <a:spcPts val="100"/>
              </a:spcAft>
            </a:pPr>
            <a:r>
              <a:rPr sz="750" b="0">
                <a:solidFill>
                  <a:srgbClr val="1A1A1A"/>
                </a:solidFill>
                <a:latin typeface="游ゴシック"/>
                <a:ea typeface="游ゴシック"/>
              </a:rPr>
              <a:t>・2026/3期は計上なし。支給再開を前提に前2期平均（社保込）を控除（仮説）</a:t>
            </a:r>
          </a:p>
          <a:p>
            <a:pPr algn="l">
              <a:spcAft>
                <a:spcPts val="100"/>
              </a:spcAft>
            </a:pPr>
            <a:r>
              <a:rPr sz="750" b="1">
                <a:solidFill>
                  <a:srgbClr val="0889C9"/>
                </a:solidFill>
                <a:latin typeface="游ゴシック"/>
                <a:ea typeface="游ゴシック"/>
              </a:rPr>
              <a:t>≪受取奨励金・寄付金≫</a:t>
            </a:r>
          </a:p>
          <a:p>
            <a:pPr algn="l">
              <a:spcAft>
                <a:spcPts val="100"/>
              </a:spcAft>
            </a:pPr>
            <a:r>
              <a:rPr sz="750" b="0">
                <a:solidFill>
                  <a:srgbClr val="1A1A1A"/>
                </a:solidFill>
                <a:latin typeface="游ゴシック"/>
                <a:ea typeface="游ゴシック"/>
              </a:rPr>
              <a:t>・経常的な受取奨励金（純額）を加算、譲渡後に発生しない寄付金を加算</a:t>
            </a:r>
          </a:p>
          <a:p>
            <a:pPr algn="l">
              <a:spcAft>
                <a:spcPts val="100"/>
              </a:spcAft>
            </a:pPr>
            <a:r>
              <a:rPr sz="750" b="1">
                <a:solidFill>
                  <a:srgbClr val="0B3041"/>
                </a:solidFill>
                <a:latin typeface="游ゴシック"/>
                <a:ea typeface="游ゴシック"/>
              </a:rPr>
              <a:t>✓ 調整後EBITDA（過去3期平均）は14,549千円</a:t>
            </a:r>
          </a:p>
        </p:txBody>
      </p:sp>
    </p:spTree>
    <p:extLst>
      <p:ext uri="{BB962C8B-B14F-4D97-AF65-F5344CB8AC3E}">
        <p14:creationId xmlns:p14="http://schemas.microsoft.com/office/powerpoint/2010/main" val="30165897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25D46-8BE9-D21F-8F78-292CE6E9B929}"/>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2AA39DD4-3E77-6023-715D-76F64D8C46A7}"/>
              </a:ext>
            </a:extLst>
          </p:cNvPr>
          <p:cNvSpPr>
            <a:spLocks noGrp="1"/>
          </p:cNvSpPr>
          <p:nvPr>
            <p:ph type="ctrTitle"/>
          </p:nvPr>
        </p:nvSpPr>
        <p:spPr>
          <a:xfrm>
            <a:off x="311150" y="180296"/>
            <a:ext cx="7799917" cy="339267"/>
          </a:xfrm>
        </p:spPr>
        <p:txBody>
          <a:bodyPr>
            <a:normAutofit/>
          </a:bodyPr>
          <a:lstStyle/>
          <a:p>
            <a:r>
              <a:rPr lang="ja-JP" altLang="en-US" dirty="0"/>
              <a:t>財務ハイライト（B/S）</a:t>
            </a:r>
          </a:p>
        </p:txBody>
      </p:sp>
      <p:sp>
        <p:nvSpPr>
          <p:cNvPr id="5" name="タイトル 1">
            <a:extLst>
              <a:ext uri="{FF2B5EF4-FFF2-40B4-BE49-F238E27FC236}">
                <a16:creationId xmlns:a16="http://schemas.microsoft.com/office/drawing/2014/main" id="{393BEF8A-36B7-CC08-2D29-C971912378C9}"/>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エグゼクティブサマリー</a:t>
            </a:r>
          </a:p>
        </p:txBody>
      </p:sp>
      <p:sp>
        <p:nvSpPr>
          <p:cNvPr id="11" name="字幕 13">
            <a:extLst>
              <a:ext uri="{FF2B5EF4-FFF2-40B4-BE49-F238E27FC236}">
                <a16:creationId xmlns:a16="http://schemas.microsoft.com/office/drawing/2014/main" id="{4BDEA35E-AAC5-A70B-357F-0FB600B4A83F}"/>
              </a:ext>
            </a:extLst>
          </p:cNvPr>
          <p:cNvSpPr>
            <a:spLocks noGrp="1"/>
          </p:cNvSpPr>
          <p:nvPr>
            <p:ph type="subTitle" idx="1"/>
          </p:nvPr>
        </p:nvSpPr>
        <p:spPr>
          <a:xfrm>
            <a:off x="460675" y="830046"/>
            <a:ext cx="9781875" cy="241861"/>
          </a:xfrm>
        </p:spPr>
        <p:txBody>
          <a:bodyPr>
            <a:noAutofit/>
          </a:bodyPr>
          <a:lstStyle/>
          <a:p>
            <a:r>
              <a:rPr lang="ja-JP" altLang="en-US" dirty="0">
                <a:latin typeface="+mj-ea"/>
              </a:rPr>
              <a:t>市場用地等の土地93,137千円、建物等103,750千円の事業用資産と現預金210,887千円を有する一方、長期借入金361,058千円を負う。土地の時価評価等を反映した時価純資産は55,318千円と試算。</a:t>
            </a:r>
            <a:endParaRPr lang="en-US" altLang="ja-JP" dirty="0"/>
          </a:p>
        </p:txBody>
      </p:sp>
      <p:graphicFrame>
        <p:nvGraphicFramePr>
          <p:cNvPr id="14" name="Table 13"/>
          <p:cNvGraphicFramePr>
            <a:graphicFrameLocks noGrp="1"/>
          </p:cNvGraphicFramePr>
          <p:nvPr/>
        </p:nvGraphicFramePr>
        <p:xfrm>
          <a:off x="338328" y="1481328"/>
          <a:ext cx="5074917" cy="4526280"/>
        </p:xfrm>
        <a:graphic>
          <a:graphicData uri="http://schemas.openxmlformats.org/drawingml/2006/table">
            <a:tbl>
              <a:tblPr firstRow="0" bandRow="0">
                <a:tableStyleId>{5940675A-B579-460E-94D1-54222C63F5DA}</a:tableStyleId>
              </a:tblPr>
              <a:tblGrid>
                <a:gridCol w="1794163"/>
                <a:gridCol w="871450"/>
                <a:gridCol w="1537854"/>
                <a:gridCol w="871450"/>
              </a:tblGrid>
              <a:tr h="301752">
                <a:tc>
                  <a:txBody>
                    <a:bodyPr wrap="square"/>
                    <a:lstStyle/>
                    <a:p>
                      <a:pPr algn="ctr"/>
                      <a:r>
                        <a:rPr sz="800" b="1">
                          <a:solidFill>
                            <a:srgbClr val="FFFFFF"/>
                          </a:solidFill>
                          <a:latin typeface="游ゴシック"/>
                          <a:ea typeface="游ゴシック"/>
                        </a:rPr>
                        <a:t>2026年3月期末</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游ゴシック"/>
                          <a:ea typeface="游ゴシック"/>
                        </a:rPr>
                        <a:t>金額</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游ゴシック"/>
                          <a:ea typeface="游ゴシック"/>
                        </a:rPr>
                        <a:t>　</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游ゴシック"/>
                          <a:ea typeface="游ゴシック"/>
                        </a:rPr>
                        <a:t>金額</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r>
              <a:tr h="301752">
                <a:tc>
                  <a:txBody>
                    <a:bodyPr wrap="square"/>
                    <a:lstStyle/>
                    <a:p>
                      <a:pPr algn="l"/>
                      <a:r>
                        <a:rPr sz="800" b="1">
                          <a:solidFill>
                            <a:srgbClr val="1A1A1A"/>
                          </a:solidFill>
                          <a:latin typeface="游ゴシック"/>
                          <a:ea typeface="游ゴシック"/>
                        </a:rPr>
                        <a:t>流動資産</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249,705</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1">
                          <a:solidFill>
                            <a:srgbClr val="1A1A1A"/>
                          </a:solidFill>
                          <a:latin typeface="游ゴシック"/>
                          <a:ea typeface="游ゴシック"/>
                        </a:rPr>
                        <a:t>流動負債</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37,280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r h="301752">
                <a:tc>
                  <a:txBody>
                    <a:bodyPr wrap="square"/>
                    <a:lstStyle/>
                    <a:p>
                      <a:pPr algn="l"/>
                      <a:r>
                        <a:rPr sz="800" b="0">
                          <a:solidFill>
                            <a:srgbClr val="1A1A1A"/>
                          </a:solidFill>
                          <a:latin typeface="游ゴシック"/>
                          <a:ea typeface="游ゴシック"/>
                        </a:rPr>
                        <a:t>　現金及び預金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210,887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　買掛金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26,349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01752">
                <a:tc>
                  <a:txBody>
                    <a:bodyPr wrap="square"/>
                    <a:lstStyle/>
                    <a:p>
                      <a:pPr algn="l"/>
                      <a:r>
                        <a:rPr sz="800" b="0">
                          <a:solidFill>
                            <a:srgbClr val="1A1A1A"/>
                          </a:solidFill>
                          <a:latin typeface="游ゴシック"/>
                          <a:ea typeface="游ゴシック"/>
                        </a:rPr>
                        <a:t>　売上債権</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20,836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　未払金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6,630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01752">
                <a:tc>
                  <a:txBody>
                    <a:bodyPr wrap="square"/>
                    <a:lstStyle/>
                    <a:p>
                      <a:pPr algn="l"/>
                      <a:r>
                        <a:rPr sz="800" b="0">
                          <a:solidFill>
                            <a:srgbClr val="1A1A1A"/>
                          </a:solidFill>
                          <a:latin typeface="游ゴシック"/>
                          <a:ea typeface="游ゴシック"/>
                        </a:rPr>
                        <a:t>　棚卸資産</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14,597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　未払法人税等</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1,851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01752">
                <a:tc>
                  <a:txBody>
                    <a:bodyPr wrap="square"/>
                    <a:lstStyle/>
                    <a:p>
                      <a:pPr algn="l"/>
                      <a:r>
                        <a:rPr sz="800" b="0">
                          <a:solidFill>
                            <a:srgbClr val="1A1A1A"/>
                          </a:solidFill>
                          <a:latin typeface="游ゴシック"/>
                          <a:ea typeface="游ゴシック"/>
                        </a:rPr>
                        <a:t>　その他</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3,385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　その他</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2,449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01752">
                <a:tc>
                  <a:txBody>
                    <a:bodyPr wrap="square"/>
                    <a:lstStyle/>
                    <a:p>
                      <a:pPr algn="l"/>
                      <a:r>
                        <a:rPr sz="800" b="1">
                          <a:solidFill>
                            <a:srgbClr val="1A1A1A"/>
                          </a:solidFill>
                          <a:latin typeface="游ゴシック"/>
                          <a:ea typeface="游ゴシック"/>
                        </a:rPr>
                        <a:t>固定資産</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235,485</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1">
                          <a:solidFill>
                            <a:srgbClr val="1A1A1A"/>
                          </a:solidFill>
                          <a:latin typeface="游ゴシック"/>
                          <a:ea typeface="游ゴシック"/>
                        </a:rPr>
                        <a:t>固定負債</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370,038</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r h="301752">
                <a:tc>
                  <a:txBody>
                    <a:bodyPr wrap="square"/>
                    <a:lstStyle/>
                    <a:p>
                      <a:pPr algn="l"/>
                      <a:r>
                        <a:rPr sz="800" b="0">
                          <a:solidFill>
                            <a:srgbClr val="1A1A1A"/>
                          </a:solidFill>
                          <a:latin typeface="游ゴシック"/>
                          <a:ea typeface="游ゴシック"/>
                        </a:rPr>
                        <a:t>　建物・附属設備・構築物</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103,750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　長期借入金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361,058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01752">
                <a:tc>
                  <a:txBody>
                    <a:bodyPr wrap="square"/>
                    <a:lstStyle/>
                    <a:p>
                      <a:pPr algn="l"/>
                      <a:r>
                        <a:rPr sz="800" b="0">
                          <a:solidFill>
                            <a:srgbClr val="1A1A1A"/>
                          </a:solidFill>
                          <a:latin typeface="游ゴシック"/>
                          <a:ea typeface="游ゴシック"/>
                        </a:rPr>
                        <a:t>　土地</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93,137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　預り保証金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8,980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01752">
                <a:tc>
                  <a:txBody>
                    <a:bodyPr wrap="square"/>
                    <a:lstStyle/>
                    <a:p>
                      <a:pPr algn="l"/>
                      <a:r>
                        <a:rPr sz="800" b="1">
                          <a:solidFill>
                            <a:srgbClr val="1A1A1A"/>
                          </a:solidFill>
                          <a:latin typeface="游ゴシック"/>
                          <a:ea typeface="游ゴシック"/>
                        </a:rPr>
                        <a:t>　無形固定資産（電話加入権等）</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2,527</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1">
                          <a:solidFill>
                            <a:srgbClr val="1A1A1A"/>
                          </a:solidFill>
                          <a:latin typeface="游ゴシック"/>
                          <a:ea typeface="游ゴシック"/>
                        </a:rPr>
                        <a:t>負債合計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407,318</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r h="301752">
                <a:tc>
                  <a:txBody>
                    <a:bodyPr wrap="square"/>
                    <a:lstStyle/>
                    <a:p>
                      <a:pPr algn="l"/>
                      <a:r>
                        <a:rPr sz="800" b="1">
                          <a:solidFill>
                            <a:srgbClr val="1A1A1A"/>
                          </a:solidFill>
                          <a:latin typeface="游ゴシック"/>
                          <a:ea typeface="游ゴシック"/>
                        </a:rPr>
                        <a:t>　投資有価証券</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2,600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1">
                          <a:solidFill>
                            <a:srgbClr val="1A1A1A"/>
                          </a:solidFill>
                          <a:latin typeface="游ゴシック"/>
                          <a:ea typeface="游ゴシック"/>
                        </a:rPr>
                        <a:t>純資産</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77,873</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r h="301752">
                <a:tc>
                  <a:txBody>
                    <a:bodyPr wrap="square"/>
                    <a:lstStyle/>
                    <a:p>
                      <a:pPr algn="l"/>
                      <a:r>
                        <a:rPr sz="800" b="0">
                          <a:solidFill>
                            <a:srgbClr val="1A1A1A"/>
                          </a:solidFill>
                          <a:latin typeface="游ゴシック"/>
                          <a:ea typeface="游ゴシック"/>
                        </a:rPr>
                        <a:t>　保証金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33,303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　資本金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40,000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01752">
                <a:tc>
                  <a:txBody>
                    <a:bodyPr wrap="square"/>
                    <a:lstStyle/>
                    <a:p>
                      <a:pPr algn="l"/>
                      <a:r>
                        <a:rPr sz="800" b="0">
                          <a:solidFill>
                            <a:srgbClr val="1A1A1A"/>
                          </a:solidFill>
                          <a:latin typeface="游ゴシック"/>
                          <a:ea typeface="游ゴシック"/>
                        </a:rPr>
                        <a:t>　その他</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168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　利益剰余金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37,873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01752">
                <a:tc>
                  <a:txBody>
                    <a:bodyPr wrap="square"/>
                    <a:lstStyle/>
                    <a:p>
                      <a:pPr algn="l"/>
                      <a:r>
                        <a:rPr sz="80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01752">
                <a:tc>
                  <a:txBody>
                    <a:bodyPr wrap="square"/>
                    <a:lstStyle/>
                    <a:p>
                      <a:pPr algn="l"/>
                      <a:r>
                        <a:rPr sz="800" b="1">
                          <a:solidFill>
                            <a:srgbClr val="1A1A1A"/>
                          </a:solidFill>
                          <a:latin typeface="游ゴシック"/>
                          <a:ea typeface="游ゴシック"/>
                        </a:rPr>
                        <a:t>資産合計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485,190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1">
                          <a:solidFill>
                            <a:srgbClr val="1A1A1A"/>
                          </a:solidFill>
                          <a:latin typeface="游ゴシック"/>
                          <a:ea typeface="游ゴシック"/>
                        </a:rPr>
                        <a:t>負債・純資産合計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485,190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bl>
          </a:graphicData>
        </a:graphic>
      </p:graphicFrame>
      <p:sp>
        <p:nvSpPr>
          <p:cNvPr id="15" name="TextBox 14"/>
          <p:cNvSpPr txBox="1"/>
          <p:nvPr/>
        </p:nvSpPr>
        <p:spPr>
          <a:xfrm>
            <a:off x="338328" y="6080760"/>
            <a:ext cx="5074920" cy="457200"/>
          </a:xfrm>
          <a:prstGeom prst="rect">
            <a:avLst/>
          </a:prstGeom>
          <a:noFill/>
        </p:spPr>
        <p:txBody>
          <a:bodyPr wrap="square" lIns="0" rIns="0" tIns="0" bIns="0" anchor="t">
            <a:spAutoFit/>
          </a:bodyPr>
          <a:lstStyle/>
          <a:p>
            <a:pPr algn="l"/>
            <a:r>
              <a:rPr sz="750" b="0">
                <a:solidFill>
                  <a:srgbClr val="5A6670"/>
                </a:solidFill>
                <a:latin typeface="游ゴシック"/>
                <a:ea typeface="游ゴシック"/>
              </a:rPr>
              <a:t>※単位：千円。2026年3月期末の貸借対照表を要約。3期推移は「財務情報詳細」に記載。</a:t>
            </a:r>
          </a:p>
        </p:txBody>
      </p:sp>
      <p:sp>
        <p:nvSpPr>
          <p:cNvPr id="16" name="Rectangle 15"/>
          <p:cNvSpPr/>
          <p:nvPr/>
        </p:nvSpPr>
        <p:spPr>
          <a:xfrm>
            <a:off x="5596128" y="1481328"/>
            <a:ext cx="4754880" cy="27432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l"/>
            <a:r>
              <a:rPr sz="1000" b="1">
                <a:solidFill>
                  <a:srgbClr val="FFFFFF"/>
                </a:solidFill>
                <a:latin typeface="游ゴシック"/>
                <a:ea typeface="游ゴシック"/>
              </a:rPr>
              <a:t>Comment</a:t>
            </a:r>
          </a:p>
        </p:txBody>
      </p:sp>
      <p:sp>
        <p:nvSpPr>
          <p:cNvPr id="17" name="Rectangle 16"/>
          <p:cNvSpPr/>
          <p:nvPr/>
        </p:nvSpPr>
        <p:spPr>
          <a:xfrm>
            <a:off x="5596128" y="1773936"/>
            <a:ext cx="4754880" cy="5175504"/>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spcAft>
                <a:spcPts val="200"/>
              </a:spcAft>
            </a:pPr>
            <a:r>
              <a:rPr sz="750" b="1">
                <a:solidFill>
                  <a:srgbClr val="0889C9"/>
                </a:solidFill>
                <a:latin typeface="游ゴシック"/>
                <a:ea typeface="游ゴシック"/>
              </a:rPr>
              <a:t>≪現金及び預金≫</a:t>
            </a:r>
          </a:p>
          <a:p>
            <a:pPr algn="l">
              <a:spcAft>
                <a:spcPts val="200"/>
              </a:spcAft>
            </a:pPr>
            <a:r>
              <a:rPr sz="750" b="0">
                <a:solidFill>
                  <a:srgbClr val="1A1A1A"/>
                </a:solidFill>
                <a:latin typeface="游ゴシック"/>
                <a:ea typeface="游ゴシック"/>
              </a:rPr>
              <a:t>・210,887千円：鶴岡信用金庫84,940千円（うち定期預金・定期積金38,600千円）、山形銀行63,122千円、荘内銀行59,634千円ほか。</a:t>
            </a:r>
          </a:p>
          <a:p>
            <a:pPr algn="l">
              <a:spcAft>
                <a:spcPts val="200"/>
              </a:spcAft>
            </a:pPr>
            <a:r>
              <a:rPr sz="750" b="1">
                <a:solidFill>
                  <a:srgbClr val="0889C9"/>
                </a:solidFill>
                <a:latin typeface="游ゴシック"/>
                <a:ea typeface="游ゴシック"/>
              </a:rPr>
              <a:t>≪売上債権・棚卸資産≫</a:t>
            </a:r>
          </a:p>
          <a:p>
            <a:pPr algn="l">
              <a:spcAft>
                <a:spcPts val="200"/>
              </a:spcAft>
            </a:pPr>
            <a:r>
              <a:rPr sz="750" b="0">
                <a:solidFill>
                  <a:srgbClr val="1A1A1A"/>
                </a:solidFill>
                <a:latin typeface="游ゴシック"/>
                <a:ea typeface="游ゴシック"/>
              </a:rPr>
              <a:t>・売上債権20,836千円は(株)主婦の店7,194千円が最大。棚卸資産14,597千円は商品4,824千円・資材（パック・容器）8,485千円・地物1,288千円。</a:t>
            </a:r>
          </a:p>
          <a:p>
            <a:pPr algn="l">
              <a:spcAft>
                <a:spcPts val="200"/>
              </a:spcAft>
            </a:pPr>
            <a:r>
              <a:rPr sz="750" b="1">
                <a:solidFill>
                  <a:srgbClr val="0889C9"/>
                </a:solidFill>
                <a:latin typeface="游ゴシック"/>
                <a:ea typeface="游ゴシック"/>
              </a:rPr>
              <a:t>≪固定資産≫</a:t>
            </a:r>
          </a:p>
          <a:p>
            <a:pPr algn="l">
              <a:spcAft>
                <a:spcPts val="200"/>
              </a:spcAft>
            </a:pPr>
            <a:r>
              <a:rPr sz="750" b="0">
                <a:solidFill>
                  <a:srgbClr val="1A1A1A"/>
                </a:solidFill>
                <a:latin typeface="游ゴシック"/>
                <a:ea typeface="游ゴシック"/>
              </a:rPr>
              <a:t>・土地93,137千円：本社・市場（宝田一丁目4-20）70,757千円、パッケージ場（同5-20）21,380千円、倉庫敷地（庄内町）1,000千円。</a:t>
            </a:r>
          </a:p>
          <a:p>
            <a:pPr algn="l">
              <a:spcAft>
                <a:spcPts val="200"/>
              </a:spcAft>
            </a:pPr>
            <a:r>
              <a:rPr sz="750" b="0">
                <a:solidFill>
                  <a:srgbClr val="1A1A1A"/>
                </a:solidFill>
                <a:latin typeface="游ゴシック"/>
                <a:ea typeface="游ゴシック"/>
              </a:rPr>
              <a:t>・建物92,066千円：管理棟20,193千円、パッケージ場11,751千円ほか、屋根・外壁・シャッター等の改修工事を資産計上。</a:t>
            </a:r>
          </a:p>
          <a:p>
            <a:pPr algn="l">
              <a:spcAft>
                <a:spcPts val="200"/>
              </a:spcAft>
            </a:pPr>
            <a:r>
              <a:rPr sz="750" b="0">
                <a:solidFill>
                  <a:srgbClr val="1A1A1A"/>
                </a:solidFill>
                <a:latin typeface="游ゴシック"/>
                <a:ea typeface="游ゴシック"/>
              </a:rPr>
              <a:t>・投資有価証券2,600千円：フィデアHD株式3,000株（2026年9月18日終値2,814円で時価8,442千円）、(株)庄果株式ほか。</a:t>
            </a:r>
          </a:p>
          <a:p>
            <a:pPr algn="l">
              <a:spcAft>
                <a:spcPts val="200"/>
              </a:spcAft>
            </a:pPr>
            <a:r>
              <a:rPr sz="750" b="0">
                <a:solidFill>
                  <a:srgbClr val="1A1A1A"/>
                </a:solidFill>
                <a:latin typeface="游ゴシック"/>
                <a:ea typeface="游ゴシック"/>
              </a:rPr>
              <a:t>・保証金33,303千円：庄内青果物卸売精算(有)に対する31,993千円が大半。</a:t>
            </a:r>
          </a:p>
          <a:p>
            <a:pPr algn="l">
              <a:spcAft>
                <a:spcPts val="200"/>
              </a:spcAft>
            </a:pPr>
            <a:r>
              <a:rPr sz="750" b="1">
                <a:solidFill>
                  <a:srgbClr val="0889C9"/>
                </a:solidFill>
                <a:latin typeface="游ゴシック"/>
                <a:ea typeface="游ゴシック"/>
              </a:rPr>
              <a:t>≪負債≫</a:t>
            </a:r>
          </a:p>
          <a:p>
            <a:pPr algn="l">
              <a:spcAft>
                <a:spcPts val="200"/>
              </a:spcAft>
            </a:pPr>
            <a:r>
              <a:rPr sz="750" b="0">
                <a:solidFill>
                  <a:srgbClr val="1A1A1A"/>
                </a:solidFill>
                <a:latin typeface="游ゴシック"/>
                <a:ea typeface="游ゴシック"/>
              </a:rPr>
              <a:t>・長期借入金361,058千円：鶴岡信用金庫182,840千円、山形銀行70,250千円、日本政策金融公庫107,968千円。1年内返済額の区分なし。</a:t>
            </a:r>
          </a:p>
          <a:p>
            <a:pPr algn="l">
              <a:spcAft>
                <a:spcPts val="200"/>
              </a:spcAft>
            </a:pPr>
            <a:r>
              <a:rPr sz="750" b="0">
                <a:solidFill>
                  <a:srgbClr val="1A1A1A"/>
                </a:solidFill>
                <a:latin typeface="游ゴシック"/>
                <a:ea typeface="游ゴシック"/>
              </a:rPr>
              <a:t>・預り保証金8,980千円：仲卸業者・買参人等からの預りと推察（確認中）。</a:t>
            </a:r>
          </a:p>
          <a:p>
            <a:pPr algn="l">
              <a:spcAft>
                <a:spcPts val="200"/>
              </a:spcAft>
            </a:pPr>
            <a:r>
              <a:rPr sz="750" b="1">
                <a:solidFill>
                  <a:srgbClr val="0889C9"/>
                </a:solidFill>
                <a:latin typeface="游ゴシック"/>
                <a:ea typeface="游ゴシック"/>
              </a:rPr>
              <a:t>≪純資産≫</a:t>
            </a:r>
          </a:p>
          <a:p>
            <a:pPr algn="l">
              <a:spcAft>
                <a:spcPts val="200"/>
              </a:spcAft>
            </a:pPr>
            <a:r>
              <a:rPr sz="750" b="0">
                <a:solidFill>
                  <a:srgbClr val="1A1A1A"/>
                </a:solidFill>
                <a:latin typeface="游ゴシック"/>
                <a:ea typeface="游ゴシック"/>
              </a:rPr>
              <a:t>・簿価純資産77,873千円に対し、貸倒引当金の戻入203千円、土地の時価評価差額△25,312千円、電話加入権△2,156千円、有価証券評価益7,242千円および税効果△2,531千円を反映し、時価純資産は55,318千円と試算。</a:t>
            </a:r>
          </a:p>
        </p:txBody>
      </p:sp>
    </p:spTree>
    <p:extLst>
      <p:ext uri="{BB962C8B-B14F-4D97-AF65-F5344CB8AC3E}">
        <p14:creationId xmlns:p14="http://schemas.microsoft.com/office/powerpoint/2010/main" val="40303346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7" name="タイトル 6">
            <a:extLst>
              <a:ext uri="{FF2B5EF4-FFF2-40B4-BE49-F238E27FC236}">
                <a16:creationId xmlns:a16="http://schemas.microsoft.com/office/drawing/2014/main" id="{5297D612-8E56-9402-459F-FE068C2C5D1A}"/>
              </a:ext>
            </a:extLst>
          </p:cNvPr>
          <p:cNvSpPr>
            <a:spLocks noGrp="1"/>
          </p:cNvSpPr>
          <p:nvPr>
            <p:ph type="ctrTitle"/>
          </p:nvPr>
        </p:nvSpPr>
        <p:spPr>
          <a:xfrm>
            <a:off x="341313" y="180296"/>
            <a:ext cx="7799917" cy="339267"/>
          </a:xfrm>
        </p:spPr>
        <p:txBody>
          <a:bodyPr/>
          <a:lstStyle/>
          <a:p>
            <a:r>
              <a:rPr lang="zh-CN" altLang="en-US" dirty="0"/>
              <a:t>譲渡希望条件</a:t>
            </a:r>
          </a:p>
        </p:txBody>
      </p:sp>
      <p:sp>
        <p:nvSpPr>
          <p:cNvPr id="9" name="タイトル 1">
            <a:extLst>
              <a:ext uri="{FF2B5EF4-FFF2-40B4-BE49-F238E27FC236}">
                <a16:creationId xmlns:a16="http://schemas.microsoft.com/office/drawing/2014/main" id="{203C135E-3923-6D8E-447A-FF4DC0536B9B}"/>
              </a:ext>
            </a:extLst>
          </p:cNvPr>
          <p:cNvSpPr txBox="1">
            <a:spLocks/>
          </p:cNvSpPr>
          <p:nvPr/>
        </p:nvSpPr>
        <p:spPr>
          <a:xfrm>
            <a:off x="8366333" y="252154"/>
            <a:ext cx="1984167" cy="184666"/>
          </a:xfrm>
          <a:prstGeom prst="rect">
            <a:avLst/>
          </a:prstGeom>
        </p:spPr>
        <p:txBody>
          <a:bodyPr vert="horz" lIns="0" tIns="0" rIns="0" bIns="0" rtlCol="0" anchor="ctr">
            <a:spAutoFit/>
          </a:bodyPr>
          <a:lstStyle>
            <a:defPPr marR="0" lvl="0" algn="l" rtl="0">
              <a:lnSpc>
                <a:spcPct val="100000"/>
              </a:lnSpc>
              <a:spcBef>
                <a:spcPts val="0"/>
              </a:spcBef>
              <a:spcAft>
                <a:spcPts val="0"/>
              </a:spcAft>
              <a:defRPr/>
            </a:defPPr>
            <a:lvl1pPr algn="r" defTabSz="914400" eaLnBrk="1" latinLnBrk="0" hangingPunct="1">
              <a:spcBef>
                <a:spcPct val="0"/>
              </a:spcBef>
              <a:buClr>
                <a:schemeClr val="bg1"/>
              </a:buClr>
              <a:buNone/>
              <a:defRPr kumimoji="1" sz="1200" b="1" kern="1200" spc="55">
                <a:solidFill>
                  <a:schemeClr val="bg1"/>
                </a:solidFill>
                <a:latin typeface="+mj-lt"/>
                <a:ea typeface="+mj-ea"/>
                <a:cs typeface="+mj-cs"/>
              </a:defRPr>
            </a:lvl1pPr>
          </a:lstStyle>
          <a:p>
            <a:r>
              <a:rPr lang="ja-JP" altLang="en-US" spc="0" dirty="0"/>
              <a:t>　エグゼクティブサマリー</a:t>
            </a:r>
          </a:p>
        </p:txBody>
      </p:sp>
      <p:sp>
        <p:nvSpPr>
          <p:cNvPr id="18" name="正方形/長方形 17">
            <a:extLst>
              <a:ext uri="{FF2B5EF4-FFF2-40B4-BE49-F238E27FC236}">
                <a16:creationId xmlns:a16="http://schemas.microsoft.com/office/drawing/2014/main" id="{77AE94F8-D910-3328-173F-F4A99716CFE7}"/>
              </a:ext>
            </a:extLst>
          </p:cNvPr>
          <p:cNvSpPr/>
          <p:nvPr/>
        </p:nvSpPr>
        <p:spPr>
          <a:xfrm>
            <a:off x="449262" y="1225957"/>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22" name="直線コネクタ 21">
            <a:extLst>
              <a:ext uri="{FF2B5EF4-FFF2-40B4-BE49-F238E27FC236}">
                <a16:creationId xmlns:a16="http://schemas.microsoft.com/office/drawing/2014/main" id="{1928CBFA-2EBE-A608-C5BF-40E5AFFAF1AD}"/>
              </a:ext>
            </a:extLst>
          </p:cNvPr>
          <p:cNvCxnSpPr>
            <a:cxnSpLocks/>
          </p:cNvCxnSpPr>
          <p:nvPr/>
        </p:nvCxnSpPr>
        <p:spPr>
          <a:xfrm>
            <a:off x="3133558" y="1349963"/>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FFFB131C-8535-2A88-A3C8-FF60589D2A11}"/>
              </a:ext>
            </a:extLst>
          </p:cNvPr>
          <p:cNvSpPr txBox="1"/>
          <p:nvPr/>
        </p:nvSpPr>
        <p:spPr>
          <a:xfrm>
            <a:off x="3151380" y="1703936"/>
            <a:ext cx="7074659" cy="338554"/>
          </a:xfrm>
          <a:prstGeom prst="rect">
            <a:avLst/>
          </a:prstGeom>
          <a:noFill/>
        </p:spPr>
        <p:txBody>
          <a:bodyPr wrap="square" lIns="1440000" tIns="0" rIns="0" bIns="0" rtlCol="0" anchor="ctr">
            <a:spAutoFit/>
          </a:bodyPr>
          <a:lstStyle/>
          <a:p>
            <a:r>
              <a:rPr lang="ja-JP" altLang="en-US" sz="1800" b="1" spc="50" dirty="0">
                <a:solidFill>
                  <a:schemeClr val="dk1"/>
                </a:solidFill>
                <a:latin typeface="+mj-ea"/>
                <a:ea typeface="+mj-ea"/>
              </a:rPr>
              <a:t>株式100％譲渡を想定（要確認）</a:t>
            </a:r>
          </a:p>
        </p:txBody>
      </p:sp>
      <p:sp>
        <p:nvSpPr>
          <p:cNvPr id="23" name="正方形/長方形 22">
            <a:extLst>
              <a:ext uri="{FF2B5EF4-FFF2-40B4-BE49-F238E27FC236}">
                <a16:creationId xmlns:a16="http://schemas.microsoft.com/office/drawing/2014/main" id="{A4BC3D1B-6519-3EC6-F8C8-D12E5886EBA8}"/>
              </a:ext>
            </a:extLst>
          </p:cNvPr>
          <p:cNvSpPr/>
          <p:nvPr/>
        </p:nvSpPr>
        <p:spPr>
          <a:xfrm>
            <a:off x="908477" y="1467627"/>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1</a:t>
            </a:r>
          </a:p>
        </p:txBody>
      </p:sp>
      <p:sp>
        <p:nvSpPr>
          <p:cNvPr id="46" name="正方形/長方形 45">
            <a:extLst>
              <a:ext uri="{FF2B5EF4-FFF2-40B4-BE49-F238E27FC236}">
                <a16:creationId xmlns:a16="http://schemas.microsoft.com/office/drawing/2014/main" id="{538DA60A-A0C2-2AC4-6AFA-6E9A0A840E2F}"/>
              </a:ext>
            </a:extLst>
          </p:cNvPr>
          <p:cNvSpPr/>
          <p:nvPr/>
        </p:nvSpPr>
        <p:spPr>
          <a:xfrm>
            <a:off x="908477" y="1905968"/>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スキーム</a:t>
            </a:r>
            <a:endParaRPr lang="en-US" altLang="ja-JP" sz="1800" b="1" spc="70" dirty="0">
              <a:solidFill>
                <a:schemeClr val="tx2"/>
              </a:solidFill>
              <a:latin typeface="+mj-ea"/>
              <a:ea typeface="+mj-ea"/>
            </a:endParaRPr>
          </a:p>
        </p:txBody>
      </p:sp>
      <p:sp>
        <p:nvSpPr>
          <p:cNvPr id="47" name="二等辺三角形 46">
            <a:extLst>
              <a:ext uri="{FF2B5EF4-FFF2-40B4-BE49-F238E27FC236}">
                <a16:creationId xmlns:a16="http://schemas.microsoft.com/office/drawing/2014/main" id="{E30A0C32-ED58-E579-307E-2A50184F7621}"/>
              </a:ext>
            </a:extLst>
          </p:cNvPr>
          <p:cNvSpPr/>
          <p:nvPr/>
        </p:nvSpPr>
        <p:spPr>
          <a:xfrm rot="5400000">
            <a:off x="3953282" y="1731194"/>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54" name="正方形/長方形 53">
            <a:extLst>
              <a:ext uri="{FF2B5EF4-FFF2-40B4-BE49-F238E27FC236}">
                <a16:creationId xmlns:a16="http://schemas.microsoft.com/office/drawing/2014/main" id="{CF75FB02-E0C4-B24A-D8DD-19550648E691}"/>
              </a:ext>
            </a:extLst>
          </p:cNvPr>
          <p:cNvSpPr/>
          <p:nvPr/>
        </p:nvSpPr>
        <p:spPr>
          <a:xfrm>
            <a:off x="449262" y="2678813"/>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55" name="直線コネクタ 54">
            <a:extLst>
              <a:ext uri="{FF2B5EF4-FFF2-40B4-BE49-F238E27FC236}">
                <a16:creationId xmlns:a16="http://schemas.microsoft.com/office/drawing/2014/main" id="{031A2A35-DDED-EC21-CA05-09DA68DA2C0D}"/>
              </a:ext>
            </a:extLst>
          </p:cNvPr>
          <p:cNvCxnSpPr>
            <a:cxnSpLocks/>
          </p:cNvCxnSpPr>
          <p:nvPr/>
        </p:nvCxnSpPr>
        <p:spPr>
          <a:xfrm>
            <a:off x="3133558" y="2802819"/>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56" name="テキスト ボックス 55">
            <a:extLst>
              <a:ext uri="{FF2B5EF4-FFF2-40B4-BE49-F238E27FC236}">
                <a16:creationId xmlns:a16="http://schemas.microsoft.com/office/drawing/2014/main" id="{4F61C06A-72C7-F15D-8706-7F1E6F179BF5}"/>
              </a:ext>
            </a:extLst>
          </p:cNvPr>
          <p:cNvSpPr txBox="1"/>
          <p:nvPr/>
        </p:nvSpPr>
        <p:spPr>
          <a:xfrm>
            <a:off x="3151380" y="3156792"/>
            <a:ext cx="7074659" cy="338554"/>
          </a:xfrm>
          <a:prstGeom prst="rect">
            <a:avLst/>
          </a:prstGeom>
          <a:noFill/>
        </p:spPr>
        <p:txBody>
          <a:bodyPr wrap="square" lIns="1440000" tIns="0" rIns="0" bIns="0" rtlCol="0" anchor="ctr">
            <a:spAutoFit/>
          </a:bodyPr>
          <a:lstStyle>
            <a:defPPr marR="0" lvl="0" algn="l" rtl="0">
              <a:lnSpc>
                <a:spcPct val="100000"/>
              </a:lnSpc>
              <a:spcBef>
                <a:spcPts val="0"/>
              </a:spcBef>
              <a:spcAft>
                <a:spcPts val="0"/>
              </a:spcAft>
            </a:defPPr>
            <a:lvl1pPr algn="ctr">
              <a:defRPr sz="2200" b="1">
                <a:solidFill>
                  <a:schemeClr val="dk1"/>
                </a:solidFill>
                <a:latin typeface="+mj-ea"/>
                <a:ea typeface="+mj-ea"/>
              </a:defRPr>
            </a:lvl1pPr>
          </a:lstStyle>
          <a:p>
            <a:pPr algn="l"/>
            <a:r>
              <a:rPr lang="en-US" altLang="ja-JP" spc="50" dirty="0" sz="1800"/>
              <a:t>売主様と協議中（要確認）</a:t>
            </a:r>
          </a:p>
        </p:txBody>
      </p:sp>
      <p:sp>
        <p:nvSpPr>
          <p:cNvPr id="59" name="正方形/長方形 58">
            <a:extLst>
              <a:ext uri="{FF2B5EF4-FFF2-40B4-BE49-F238E27FC236}">
                <a16:creationId xmlns:a16="http://schemas.microsoft.com/office/drawing/2014/main" id="{CFFDBAD3-865C-CB13-2F89-BB6495428292}"/>
              </a:ext>
            </a:extLst>
          </p:cNvPr>
          <p:cNvSpPr/>
          <p:nvPr/>
        </p:nvSpPr>
        <p:spPr>
          <a:xfrm>
            <a:off x="908477" y="2920483"/>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2</a:t>
            </a:r>
          </a:p>
        </p:txBody>
      </p:sp>
      <p:sp>
        <p:nvSpPr>
          <p:cNvPr id="60" name="正方形/長方形 59">
            <a:extLst>
              <a:ext uri="{FF2B5EF4-FFF2-40B4-BE49-F238E27FC236}">
                <a16:creationId xmlns:a16="http://schemas.microsoft.com/office/drawing/2014/main" id="{C0C6D277-3738-13CF-070E-BA308BBE1973}"/>
              </a:ext>
            </a:extLst>
          </p:cNvPr>
          <p:cNvSpPr/>
          <p:nvPr/>
        </p:nvSpPr>
        <p:spPr>
          <a:xfrm>
            <a:off x="908477" y="3358824"/>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希望価格</a:t>
            </a:r>
          </a:p>
        </p:txBody>
      </p:sp>
      <p:sp>
        <p:nvSpPr>
          <p:cNvPr id="58" name="二等辺三角形 57">
            <a:extLst>
              <a:ext uri="{FF2B5EF4-FFF2-40B4-BE49-F238E27FC236}">
                <a16:creationId xmlns:a16="http://schemas.microsoft.com/office/drawing/2014/main" id="{C23C8717-6A45-2543-9780-94DF43068F77}"/>
              </a:ext>
            </a:extLst>
          </p:cNvPr>
          <p:cNvSpPr/>
          <p:nvPr/>
        </p:nvSpPr>
        <p:spPr>
          <a:xfrm rot="5400000">
            <a:off x="3953282" y="3184050"/>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62" name="正方形/長方形 61">
            <a:extLst>
              <a:ext uri="{FF2B5EF4-FFF2-40B4-BE49-F238E27FC236}">
                <a16:creationId xmlns:a16="http://schemas.microsoft.com/office/drawing/2014/main" id="{7140BAFD-DDE9-DDDD-13AE-F82ADD82CD40}"/>
              </a:ext>
            </a:extLst>
          </p:cNvPr>
          <p:cNvSpPr/>
          <p:nvPr/>
        </p:nvSpPr>
        <p:spPr>
          <a:xfrm>
            <a:off x="449262" y="4131669"/>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63" name="直線コネクタ 62">
            <a:extLst>
              <a:ext uri="{FF2B5EF4-FFF2-40B4-BE49-F238E27FC236}">
                <a16:creationId xmlns:a16="http://schemas.microsoft.com/office/drawing/2014/main" id="{364A6865-94EE-F5C9-85ED-D69680FD951A}"/>
              </a:ext>
            </a:extLst>
          </p:cNvPr>
          <p:cNvCxnSpPr>
            <a:cxnSpLocks/>
          </p:cNvCxnSpPr>
          <p:nvPr/>
        </p:nvCxnSpPr>
        <p:spPr>
          <a:xfrm>
            <a:off x="3133558" y="4255675"/>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56" name="テキスト ボックス 255">
            <a:extLst>
              <a:ext uri="{FF2B5EF4-FFF2-40B4-BE49-F238E27FC236}">
                <a16:creationId xmlns:a16="http://schemas.microsoft.com/office/drawing/2014/main" id="{B6D90125-A2A7-8289-0B44-6FD810A06C6F}"/>
              </a:ext>
            </a:extLst>
          </p:cNvPr>
          <p:cNvSpPr txBox="1"/>
          <p:nvPr/>
        </p:nvSpPr>
        <p:spPr>
          <a:xfrm>
            <a:off x="3151380" y="4427548"/>
            <a:ext cx="7074659" cy="702756"/>
          </a:xfrm>
          <a:prstGeom prst="rect">
            <a:avLst/>
          </a:prstGeom>
          <a:noFill/>
        </p:spPr>
        <p:txBody>
          <a:bodyPr wrap="square" lIns="1368000" tIns="0" rIns="0" bIns="0" rtlCol="0" anchor="ctr">
            <a:spAutoFit/>
          </a:bodyPr>
          <a:lstStyle>
            <a:defPPr marR="0" lvl="0" algn="l" rtl="0">
              <a:lnSpc>
                <a:spcPct val="100000"/>
              </a:lnSpc>
              <a:spcBef>
                <a:spcPts val="0"/>
              </a:spcBef>
              <a:spcAft>
                <a:spcPts val="0"/>
              </a:spcAft>
            </a:defPPr>
            <a:lvl1pPr algn="ctr">
              <a:defRPr sz="2200" b="1">
                <a:solidFill>
                  <a:schemeClr val="dk1"/>
                </a:solidFill>
                <a:latin typeface="+mj-ea"/>
                <a:ea typeface="+mj-ea"/>
              </a:defRPr>
            </a:lvl1pPr>
          </a:lstStyle>
          <a:p>
            <a:pPr marL="324000" indent="-324000" algn="l">
              <a:spcAft>
                <a:spcPts val="200"/>
              </a:spcAft>
              <a:buClr>
                <a:schemeClr val="tx2"/>
              </a:buClr>
              <a:buFont typeface="游ゴシック" panose="020B0400000000000000" pitchFamily="50" charset="-128"/>
              <a:buChar char="▪"/>
            </a:pPr>
            <a:r>
              <a:rPr lang="ja-JP" altLang="en-US" spc="50" dirty="0" sz="1400"/>
              <a:t>従業員の継続雇用・連帯保証の解除（想定・要確認）</a:t>
            </a:r>
            <a:endParaRPr lang="en-US" altLang="ja-JP" spc="50" dirty="0"/>
          </a:p>
          <a:p>
            <a:pPr marL="324000" indent="-324000" algn="l">
              <a:spcAft>
                <a:spcPts val="200"/>
              </a:spcAft>
              <a:buClr>
                <a:schemeClr val="tx2"/>
              </a:buClr>
              <a:buFont typeface="游ゴシック" panose="020B0400000000000000" pitchFamily="50" charset="-128"/>
              <a:buChar char="▪"/>
            </a:pPr>
            <a:r>
              <a:rPr lang="ja-JP" altLang="en-US" spc="50" dirty="0" sz="1400"/>
              <a:t>代表者の継続関与の期間・役職（要確認）</a:t>
            </a:r>
            <a:endParaRPr lang="en-US" altLang="ja-JP" spc="50" dirty="0"/>
          </a:p>
        </p:txBody>
      </p:sp>
      <p:sp>
        <p:nvSpPr>
          <p:cNvPr id="259" name="正方形/長方形 258">
            <a:extLst>
              <a:ext uri="{FF2B5EF4-FFF2-40B4-BE49-F238E27FC236}">
                <a16:creationId xmlns:a16="http://schemas.microsoft.com/office/drawing/2014/main" id="{11BED845-77D7-96E2-7088-05671252A4BC}"/>
              </a:ext>
            </a:extLst>
          </p:cNvPr>
          <p:cNvSpPr/>
          <p:nvPr/>
        </p:nvSpPr>
        <p:spPr>
          <a:xfrm>
            <a:off x="908477" y="4373339"/>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3</a:t>
            </a:r>
          </a:p>
        </p:txBody>
      </p:sp>
      <p:sp>
        <p:nvSpPr>
          <p:cNvPr id="260" name="正方形/長方形 259">
            <a:extLst>
              <a:ext uri="{FF2B5EF4-FFF2-40B4-BE49-F238E27FC236}">
                <a16:creationId xmlns:a16="http://schemas.microsoft.com/office/drawing/2014/main" id="{6B9DA270-CEE2-C021-D23B-6674C7B58B8F}"/>
              </a:ext>
            </a:extLst>
          </p:cNvPr>
          <p:cNvSpPr/>
          <p:nvPr/>
        </p:nvSpPr>
        <p:spPr>
          <a:xfrm>
            <a:off x="908477" y="4811680"/>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付帯条件</a:t>
            </a:r>
          </a:p>
        </p:txBody>
      </p:sp>
      <p:sp>
        <p:nvSpPr>
          <p:cNvPr id="258" name="二等辺三角形 257">
            <a:extLst>
              <a:ext uri="{FF2B5EF4-FFF2-40B4-BE49-F238E27FC236}">
                <a16:creationId xmlns:a16="http://schemas.microsoft.com/office/drawing/2014/main" id="{ED431A8E-E118-9737-A89C-BA75554554F2}"/>
              </a:ext>
            </a:extLst>
          </p:cNvPr>
          <p:cNvSpPr/>
          <p:nvPr/>
        </p:nvSpPr>
        <p:spPr>
          <a:xfrm rot="5400000">
            <a:off x="3953282" y="4636906"/>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262" name="正方形/長方形 261">
            <a:extLst>
              <a:ext uri="{FF2B5EF4-FFF2-40B4-BE49-F238E27FC236}">
                <a16:creationId xmlns:a16="http://schemas.microsoft.com/office/drawing/2014/main" id="{0DA87416-6EB3-2B9D-5D99-EBF7AD989A1A}"/>
              </a:ext>
            </a:extLst>
          </p:cNvPr>
          <p:cNvSpPr/>
          <p:nvPr/>
        </p:nvSpPr>
        <p:spPr>
          <a:xfrm>
            <a:off x="449262" y="5584525"/>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263" name="直線コネクタ 262">
            <a:extLst>
              <a:ext uri="{FF2B5EF4-FFF2-40B4-BE49-F238E27FC236}">
                <a16:creationId xmlns:a16="http://schemas.microsoft.com/office/drawing/2014/main" id="{348C7A7D-E8C0-8FBA-0152-B09944A67B14}"/>
              </a:ext>
            </a:extLst>
          </p:cNvPr>
          <p:cNvCxnSpPr>
            <a:cxnSpLocks/>
          </p:cNvCxnSpPr>
          <p:nvPr/>
        </p:nvCxnSpPr>
        <p:spPr>
          <a:xfrm>
            <a:off x="3133558" y="5708531"/>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64" name="テキスト ボックス 263">
            <a:extLst>
              <a:ext uri="{FF2B5EF4-FFF2-40B4-BE49-F238E27FC236}">
                <a16:creationId xmlns:a16="http://schemas.microsoft.com/office/drawing/2014/main" id="{37AEE9E9-0B13-7FD4-A3CA-A47C7839F11C}"/>
              </a:ext>
            </a:extLst>
          </p:cNvPr>
          <p:cNvSpPr txBox="1"/>
          <p:nvPr/>
        </p:nvSpPr>
        <p:spPr>
          <a:xfrm>
            <a:off x="3151380" y="6062504"/>
            <a:ext cx="7074659" cy="338554"/>
          </a:xfrm>
          <a:prstGeom prst="rect">
            <a:avLst/>
          </a:prstGeom>
          <a:noFill/>
        </p:spPr>
        <p:txBody>
          <a:bodyPr wrap="square" lIns="1440000" tIns="0" rIns="0" bIns="0" rtlCol="0" anchor="ctr">
            <a:spAutoFit/>
          </a:bodyPr>
          <a:lstStyle>
            <a:defPPr marR="0" lvl="0" algn="l" rtl="0">
              <a:lnSpc>
                <a:spcPct val="100000"/>
              </a:lnSpc>
              <a:spcBef>
                <a:spcPts val="0"/>
              </a:spcBef>
              <a:spcAft>
                <a:spcPts val="0"/>
              </a:spcAft>
            </a:defPPr>
            <a:lvl1pPr>
              <a:defRPr sz="2200" b="1">
                <a:solidFill>
                  <a:schemeClr val="dk1"/>
                </a:solidFill>
                <a:latin typeface="+mj-ea"/>
                <a:ea typeface="+mj-ea"/>
              </a:defRPr>
            </a:lvl1pPr>
          </a:lstStyle>
          <a:p>
            <a:r>
              <a:rPr lang="ja-JP" altLang="en-US" spc="50" dirty="0" sz="1800"/>
              <a:t>要確認</a:t>
            </a:r>
          </a:p>
        </p:txBody>
      </p:sp>
      <p:sp>
        <p:nvSpPr>
          <p:cNvPr id="267" name="正方形/長方形 266">
            <a:extLst>
              <a:ext uri="{FF2B5EF4-FFF2-40B4-BE49-F238E27FC236}">
                <a16:creationId xmlns:a16="http://schemas.microsoft.com/office/drawing/2014/main" id="{5C906CE1-F422-F0CF-35F9-FA21CDF60987}"/>
              </a:ext>
            </a:extLst>
          </p:cNvPr>
          <p:cNvSpPr/>
          <p:nvPr/>
        </p:nvSpPr>
        <p:spPr>
          <a:xfrm>
            <a:off x="908477" y="5826195"/>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その他</a:t>
            </a:r>
            <a:endParaRPr lang="en-US" altLang="ja-JP" b="1" spc="70" dirty="0">
              <a:solidFill>
                <a:schemeClr val="bg1"/>
              </a:solidFill>
              <a:latin typeface="+mj-ea"/>
              <a:ea typeface="+mj-ea"/>
            </a:endParaRPr>
          </a:p>
        </p:txBody>
      </p:sp>
      <p:sp>
        <p:nvSpPr>
          <p:cNvPr id="268" name="正方形/長方形 267">
            <a:extLst>
              <a:ext uri="{FF2B5EF4-FFF2-40B4-BE49-F238E27FC236}">
                <a16:creationId xmlns:a16="http://schemas.microsoft.com/office/drawing/2014/main" id="{46529E79-2433-FBD9-6238-E748A585579E}"/>
              </a:ext>
            </a:extLst>
          </p:cNvPr>
          <p:cNvSpPr/>
          <p:nvPr/>
        </p:nvSpPr>
        <p:spPr>
          <a:xfrm>
            <a:off x="908477" y="6264536"/>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譲渡理由</a:t>
            </a:r>
          </a:p>
        </p:txBody>
      </p:sp>
      <p:sp>
        <p:nvSpPr>
          <p:cNvPr id="266" name="二等辺三角形 265">
            <a:extLst>
              <a:ext uri="{FF2B5EF4-FFF2-40B4-BE49-F238E27FC236}">
                <a16:creationId xmlns:a16="http://schemas.microsoft.com/office/drawing/2014/main" id="{94757AC3-62D5-3E6F-15D0-8CC989986978}"/>
              </a:ext>
            </a:extLst>
          </p:cNvPr>
          <p:cNvSpPr/>
          <p:nvPr/>
        </p:nvSpPr>
        <p:spPr>
          <a:xfrm rot="5400000">
            <a:off x="3953282" y="6089762"/>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t>事業概要</a:t>
            </a:r>
            <a:endParaRPr lang="en-US" altLang="ja-JP" dirty="0"/>
          </a:p>
        </p:txBody>
      </p:sp>
    </p:spTree>
    <p:extLst>
      <p:ext uri="{BB962C8B-B14F-4D97-AF65-F5344CB8AC3E}">
        <p14:creationId xmlns:p14="http://schemas.microsoft.com/office/powerpoint/2010/main" val="40851993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DDAF01-C12B-9043-B114-455CAA33D0F7}"/>
            </a:ext>
          </a:extLst>
        </p:cNvPr>
        <p:cNvGrpSpPr/>
        <p:nvPr/>
      </p:nvGrpSpPr>
      <p:grpSpPr>
        <a:xfrm>
          <a:off x="0" y="0"/>
          <a:ext cx="0" cy="0"/>
          <a:chOff x="0" y="0"/>
          <a:chExt cx="0" cy="0"/>
        </a:xfrm>
      </p:grpSpPr>
      <p:sp>
        <p:nvSpPr>
          <p:cNvPr id="5" name="正方形/長方形 4">
            <a:extLst>
              <a:ext uri="{FF2B5EF4-FFF2-40B4-BE49-F238E27FC236}">
                <a16:creationId xmlns:a16="http://schemas.microsoft.com/office/drawing/2014/main" id="{E743677C-E154-B684-80CF-3F2817127171}"/>
              </a:ext>
            </a:extLst>
          </p:cNvPr>
          <p:cNvSpPr/>
          <p:nvPr/>
        </p:nvSpPr>
        <p:spPr>
          <a:xfrm>
            <a:off x="449262" y="1481694"/>
            <a:ext cx="2160000" cy="5472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800" b="1" spc="100" dirty="0">
                <a:solidFill>
                  <a:schemeClr val="tx1"/>
                </a:solidFill>
                <a:latin typeface="+mj-ea"/>
                <a:ea typeface="+mj-ea"/>
              </a:rPr>
              <a:t>主要仕入先</a:t>
            </a:r>
          </a:p>
        </p:txBody>
      </p:sp>
      <p:sp>
        <p:nvSpPr>
          <p:cNvPr id="17" name="正方形/長方形 16">
            <a:extLst>
              <a:ext uri="{FF2B5EF4-FFF2-40B4-BE49-F238E27FC236}">
                <a16:creationId xmlns:a16="http://schemas.microsoft.com/office/drawing/2014/main" id="{6FD21BE9-2FB9-6DA0-CBB4-78D9B31143EA}"/>
              </a:ext>
            </a:extLst>
          </p:cNvPr>
          <p:cNvSpPr/>
          <p:nvPr/>
        </p:nvSpPr>
        <p:spPr>
          <a:xfrm>
            <a:off x="8082550" y="1463675"/>
            <a:ext cx="2160000" cy="5472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800" b="1" spc="100">
                <a:solidFill>
                  <a:schemeClr val="tx1"/>
                </a:solidFill>
                <a:latin typeface="+mj-ea"/>
                <a:ea typeface="+mj-ea"/>
              </a:rPr>
              <a:t>主要販売先</a:t>
            </a:r>
          </a:p>
        </p:txBody>
      </p:sp>
      <p:sp>
        <p:nvSpPr>
          <p:cNvPr id="21" name="正方形/長方形 20">
            <a:extLst>
              <a:ext uri="{FF2B5EF4-FFF2-40B4-BE49-F238E27FC236}">
                <a16:creationId xmlns:a16="http://schemas.microsoft.com/office/drawing/2014/main" id="{95D20CE9-562D-5FB0-80DD-F3BD3CE1D49C}"/>
              </a:ext>
            </a:extLst>
          </p:cNvPr>
          <p:cNvSpPr/>
          <p:nvPr/>
        </p:nvSpPr>
        <p:spPr>
          <a:xfrm>
            <a:off x="2933906" y="1487165"/>
            <a:ext cx="4824000" cy="4016481"/>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800" b="1" spc="100" dirty="0">
                <a:solidFill>
                  <a:schemeClr val="tx2"/>
                </a:solidFill>
                <a:latin typeface="+mj-ea"/>
                <a:ea typeface="+mj-ea"/>
              </a:rPr>
              <a:t>対象会社</a:t>
            </a:r>
          </a:p>
        </p:txBody>
      </p:sp>
      <p:cxnSp>
        <p:nvCxnSpPr>
          <p:cNvPr id="24" name="直線コネクタ 23">
            <a:extLst>
              <a:ext uri="{FF2B5EF4-FFF2-40B4-BE49-F238E27FC236}">
                <a16:creationId xmlns:a16="http://schemas.microsoft.com/office/drawing/2014/main" id="{F5D312B4-FD5F-5D39-501F-FA5FF893E938}"/>
              </a:ext>
            </a:extLst>
          </p:cNvPr>
          <p:cNvCxnSpPr>
            <a:cxnSpLocks/>
          </p:cNvCxnSpPr>
          <p:nvPr/>
        </p:nvCxnSpPr>
        <p:spPr>
          <a:xfrm>
            <a:off x="2933907" y="1467042"/>
            <a:ext cx="4824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4" name="タイトル 3">
            <a:extLst>
              <a:ext uri="{FF2B5EF4-FFF2-40B4-BE49-F238E27FC236}">
                <a16:creationId xmlns:a16="http://schemas.microsoft.com/office/drawing/2014/main" id="{E91DD8E0-55E1-1614-7417-2E76D253FEAD}"/>
              </a:ext>
            </a:extLst>
          </p:cNvPr>
          <p:cNvSpPr>
            <a:spLocks noGrp="1"/>
          </p:cNvSpPr>
          <p:nvPr>
            <p:ph type="ctrTitle"/>
          </p:nvPr>
        </p:nvSpPr>
        <p:spPr/>
        <p:txBody>
          <a:bodyPr/>
          <a:lstStyle/>
          <a:p>
            <a:r>
              <a:rPr lang="ja-JP" altLang="en-US" dirty="0"/>
              <a:t>事業内容</a:t>
            </a:r>
          </a:p>
        </p:txBody>
      </p:sp>
      <p:sp>
        <p:nvSpPr>
          <p:cNvPr id="20" name="タイトル 1">
            <a:extLst>
              <a:ext uri="{FF2B5EF4-FFF2-40B4-BE49-F238E27FC236}">
                <a16:creationId xmlns:a16="http://schemas.microsoft.com/office/drawing/2014/main" id="{96C927CB-5A9B-C47E-368A-3579B2595C1E}"/>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t>事業概要</a:t>
            </a:r>
          </a:p>
        </p:txBody>
      </p:sp>
      <p:cxnSp>
        <p:nvCxnSpPr>
          <p:cNvPr id="16" name="直線コネクタ 15">
            <a:extLst>
              <a:ext uri="{FF2B5EF4-FFF2-40B4-BE49-F238E27FC236}">
                <a16:creationId xmlns:a16="http://schemas.microsoft.com/office/drawing/2014/main" id="{FD5050F0-3C11-BC61-1EAA-56B714331E84}"/>
              </a:ext>
            </a:extLst>
          </p:cNvPr>
          <p:cNvCxnSpPr>
            <a:cxnSpLocks/>
          </p:cNvCxnSpPr>
          <p:nvPr/>
        </p:nvCxnSpPr>
        <p:spPr>
          <a:xfrm>
            <a:off x="449263" y="1467042"/>
            <a:ext cx="2160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9" name="直線コネクタ 18">
            <a:extLst>
              <a:ext uri="{FF2B5EF4-FFF2-40B4-BE49-F238E27FC236}">
                <a16:creationId xmlns:a16="http://schemas.microsoft.com/office/drawing/2014/main" id="{4E6E5648-22F1-DE1E-6020-D47989377CA9}"/>
              </a:ext>
            </a:extLst>
          </p:cNvPr>
          <p:cNvCxnSpPr>
            <a:cxnSpLocks/>
          </p:cNvCxnSpPr>
          <p:nvPr/>
        </p:nvCxnSpPr>
        <p:spPr>
          <a:xfrm>
            <a:off x="8082550" y="1467042"/>
            <a:ext cx="2160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3" name="二等辺三角形 2">
            <a:extLst>
              <a:ext uri="{FF2B5EF4-FFF2-40B4-BE49-F238E27FC236}">
                <a16:creationId xmlns:a16="http://schemas.microsoft.com/office/drawing/2014/main" id="{B557BBBE-1218-1342-7E2D-CD72F7B39D2F}"/>
              </a:ext>
            </a:extLst>
          </p:cNvPr>
          <p:cNvSpPr/>
          <p:nvPr/>
        </p:nvSpPr>
        <p:spPr>
          <a:xfrm rot="5400000">
            <a:off x="7612581" y="4076906"/>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9" name="二等辺三角形 8">
            <a:extLst>
              <a:ext uri="{FF2B5EF4-FFF2-40B4-BE49-F238E27FC236}">
                <a16:creationId xmlns:a16="http://schemas.microsoft.com/office/drawing/2014/main" id="{91745C76-6270-D9EC-0862-A4072EDFED90}"/>
              </a:ext>
            </a:extLst>
          </p:cNvPr>
          <p:cNvSpPr/>
          <p:nvPr/>
        </p:nvSpPr>
        <p:spPr>
          <a:xfrm rot="5400000">
            <a:off x="2470990" y="4076906"/>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12" name="正方形/長方形 11">
            <a:extLst>
              <a:ext uri="{FF2B5EF4-FFF2-40B4-BE49-F238E27FC236}">
                <a16:creationId xmlns:a16="http://schemas.microsoft.com/office/drawing/2014/main" id="{29C58FFC-1A01-A8F0-166D-D51C0B6A2C66}"/>
              </a:ext>
            </a:extLst>
          </p:cNvPr>
          <p:cNvSpPr/>
          <p:nvPr/>
        </p:nvSpPr>
        <p:spPr>
          <a:xfrm>
            <a:off x="2933906" y="5890769"/>
            <a:ext cx="4824000" cy="103282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000" b="1" spc="100" dirty="0">
                <a:solidFill>
                  <a:schemeClr val="tx1"/>
                </a:solidFill>
                <a:latin typeface="+mj-ea"/>
                <a:ea typeface="+mj-ea"/>
              </a:rPr>
              <a:t>現時点の仮説（要ヒアリング）</a:t>
            </a:r>
          </a:p>
        </p:txBody>
      </p:sp>
      <p:cxnSp>
        <p:nvCxnSpPr>
          <p:cNvPr id="14" name="直線コネクタ 13">
            <a:extLst>
              <a:ext uri="{FF2B5EF4-FFF2-40B4-BE49-F238E27FC236}">
                <a16:creationId xmlns:a16="http://schemas.microsoft.com/office/drawing/2014/main" id="{0FD3DDF0-DCBD-CE14-F158-968514C4BE62}"/>
              </a:ext>
            </a:extLst>
          </p:cNvPr>
          <p:cNvCxnSpPr>
            <a:cxnSpLocks/>
          </p:cNvCxnSpPr>
          <p:nvPr/>
        </p:nvCxnSpPr>
        <p:spPr>
          <a:xfrm>
            <a:off x="2933906" y="5890769"/>
            <a:ext cx="4862558"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35" name="字幕 13">
            <a:extLst>
              <a:ext uri="{FF2B5EF4-FFF2-40B4-BE49-F238E27FC236}">
                <a16:creationId xmlns:a16="http://schemas.microsoft.com/office/drawing/2014/main" id="{999986B5-FEED-86D6-9A2B-D6BEF4A1BD44}"/>
              </a:ext>
            </a:extLst>
          </p:cNvPr>
          <p:cNvSpPr>
            <a:spLocks noGrp="1"/>
          </p:cNvSpPr>
          <p:nvPr>
            <p:ph type="subTitle" idx="1"/>
          </p:nvPr>
        </p:nvSpPr>
        <p:spPr>
          <a:xfrm>
            <a:off x="460675" y="830046"/>
            <a:ext cx="9781875" cy="241861"/>
          </a:xfrm>
        </p:spPr>
        <p:txBody>
          <a:bodyPr>
            <a:noAutofit/>
          </a:bodyPr>
          <a:lstStyle/>
          <a:p>
            <a:r>
              <a:rPr lang="ja-JP" altLang="en-US" dirty="0">
                <a:latin typeface="+mj-ea"/>
              </a:rPr>
              <a:t>公設庄内市場の卸売業者等からの仕入と近郷の出荷者からの集荷を、地元量販店・生協・給食および近隣市場へ供給</a:t>
            </a:r>
            <a:endParaRPr lang="en-US" altLang="ja-JP" dirty="0"/>
          </a:p>
        </p:txBody>
      </p:sp>
      <p:sp>
        <p:nvSpPr>
          <p:cNvPr id="36" name="TextBox 35"/>
          <p:cNvSpPr txBox="1"/>
          <p:nvPr/>
        </p:nvSpPr>
        <p:spPr>
          <a:xfrm>
            <a:off x="502920" y="2148840"/>
            <a:ext cx="2057400" cy="4572000"/>
          </a:xfrm>
          <a:prstGeom prst="rect">
            <a:avLst/>
          </a:prstGeom>
          <a:noFill/>
        </p:spPr>
        <p:txBody>
          <a:bodyPr wrap="square" lIns="0" rIns="0" tIns="0" bIns="0" anchor="t">
            <a:spAutoFit/>
          </a:bodyPr>
          <a:lstStyle/>
          <a:p>
            <a:pPr algn="l">
              <a:spcAft>
                <a:spcPts val="300"/>
              </a:spcAft>
            </a:pPr>
            <a:r>
              <a:rPr sz="850" b="0">
                <a:solidFill>
                  <a:srgbClr val="1A1A1A"/>
                </a:solidFill>
                <a:latin typeface="游ゴシック"/>
                <a:ea typeface="游ゴシック"/>
              </a:rPr>
              <a:t>■ 丸果庄内青果(株)</a:t>
            </a:r>
          </a:p>
          <a:p>
            <a:pPr algn="l">
              <a:spcAft>
                <a:spcPts val="300"/>
              </a:spcAft>
            </a:pPr>
            <a:r>
              <a:rPr sz="850" b="0">
                <a:solidFill>
                  <a:srgbClr val="1A1A1A"/>
                </a:solidFill>
                <a:latin typeface="游ゴシック"/>
                <a:ea typeface="游ゴシック"/>
              </a:rPr>
              <a:t>■ (株)庄果</a:t>
            </a:r>
          </a:p>
          <a:p>
            <a:pPr algn="l">
              <a:spcAft>
                <a:spcPts val="300"/>
              </a:spcAft>
            </a:pPr>
            <a:r>
              <a:rPr sz="850" b="0">
                <a:solidFill>
                  <a:srgbClr val="1A1A1A"/>
                </a:solidFill>
                <a:latin typeface="游ゴシック"/>
                <a:ea typeface="游ゴシック"/>
              </a:rPr>
              <a:t>　（公設庄内市場の卸：三川町）</a:t>
            </a:r>
          </a:p>
          <a:p>
            <a:pPr algn="l">
              <a:spcAft>
                <a:spcPts val="300"/>
              </a:spcAft>
            </a:pPr>
            <a:r>
              <a:rPr sz="850" b="0">
                <a:solidFill>
                  <a:srgbClr val="1A1A1A"/>
                </a:solidFill>
                <a:latin typeface="游ゴシック"/>
                <a:ea typeface="游ゴシック"/>
              </a:rPr>
              <a:t>■ 長井中央青果(株)</a:t>
            </a:r>
          </a:p>
          <a:p>
            <a:pPr algn="l">
              <a:spcAft>
                <a:spcPts val="300"/>
              </a:spcAft>
            </a:pPr>
            <a:r>
              <a:rPr sz="850" b="0">
                <a:solidFill>
                  <a:srgbClr val="1A1A1A"/>
                </a:solidFill>
                <a:latin typeface="游ゴシック"/>
                <a:ea typeface="游ゴシック"/>
              </a:rPr>
              <a:t>■ (株)マルト直治郎商店</a:t>
            </a:r>
          </a:p>
          <a:p>
            <a:pPr algn="l">
              <a:spcAft>
                <a:spcPts val="300"/>
              </a:spcAft>
            </a:pPr>
            <a:r>
              <a:rPr sz="850" b="0">
                <a:solidFill>
                  <a:srgbClr val="1A1A1A"/>
                </a:solidFill>
                <a:latin typeface="游ゴシック"/>
                <a:ea typeface="游ゴシック"/>
              </a:rPr>
              <a:t>■ 成田食品(株)（福島県）</a:t>
            </a:r>
          </a:p>
          <a:p>
            <a:pPr algn="l">
              <a:spcAft>
                <a:spcPts val="300"/>
              </a:spcAft>
            </a:pPr>
            <a:r>
              <a:rPr sz="850" b="0">
                <a:solidFill>
                  <a:srgbClr val="1A1A1A"/>
                </a:solidFill>
                <a:latin typeface="游ゴシック"/>
                <a:ea typeface="游ゴシック"/>
              </a:rPr>
              <a:t>■ (株)ファーマインド（東京都）</a:t>
            </a:r>
          </a:p>
          <a:p>
            <a:pPr algn="l">
              <a:spcAft>
                <a:spcPts val="300"/>
              </a:spcAft>
            </a:pPr>
            <a:r>
              <a:rPr sz="850" b="0">
                <a:solidFill>
                  <a:srgbClr val="1A1A1A"/>
                </a:solidFill>
                <a:latin typeface="游ゴシック"/>
                <a:ea typeface="游ゴシック"/>
              </a:rPr>
              <a:t>■ (株)東根農産センター</a:t>
            </a:r>
          </a:p>
          <a:p>
            <a:pPr algn="l">
              <a:spcAft>
                <a:spcPts val="300"/>
              </a:spcAft>
            </a:pPr>
            <a:r>
              <a:rPr sz="850" b="0">
                <a:solidFill>
                  <a:srgbClr val="1A1A1A"/>
                </a:solidFill>
                <a:latin typeface="游ゴシック"/>
                <a:ea typeface="游ゴシック"/>
              </a:rPr>
              <a:t>■ 近郷の生産者等（委託出荷）※推察</a:t>
            </a:r>
          </a:p>
        </p:txBody>
      </p:sp>
      <p:sp>
        <p:nvSpPr>
          <p:cNvPr id="37" name="TextBox 36"/>
          <p:cNvSpPr txBox="1"/>
          <p:nvPr/>
        </p:nvSpPr>
        <p:spPr>
          <a:xfrm>
            <a:off x="8138160" y="2148840"/>
            <a:ext cx="2057400" cy="4572000"/>
          </a:xfrm>
          <a:prstGeom prst="rect">
            <a:avLst/>
          </a:prstGeom>
          <a:noFill/>
        </p:spPr>
        <p:txBody>
          <a:bodyPr wrap="square" lIns="0" rIns="0" tIns="0" bIns="0" anchor="t">
            <a:spAutoFit/>
          </a:bodyPr>
          <a:lstStyle/>
          <a:p>
            <a:pPr algn="l">
              <a:spcAft>
                <a:spcPts val="300"/>
              </a:spcAft>
            </a:pPr>
            <a:r>
              <a:rPr sz="850" b="0">
                <a:solidFill>
                  <a:srgbClr val="1A1A1A"/>
                </a:solidFill>
                <a:latin typeface="游ゴシック"/>
                <a:ea typeface="游ゴシック"/>
              </a:rPr>
              <a:t>■ (株)主婦の店（量販店）</a:t>
            </a:r>
          </a:p>
          <a:p>
            <a:pPr algn="l">
              <a:spcAft>
                <a:spcPts val="300"/>
              </a:spcAft>
            </a:pPr>
            <a:r>
              <a:rPr sz="850" b="0">
                <a:solidFill>
                  <a:srgbClr val="1A1A1A"/>
                </a:solidFill>
                <a:latin typeface="游ゴシック"/>
                <a:ea typeface="游ゴシック"/>
              </a:rPr>
              <a:t>■ 生活協同組合共立社</a:t>
            </a:r>
          </a:p>
          <a:p>
            <a:pPr algn="l">
              <a:spcAft>
                <a:spcPts val="300"/>
              </a:spcAft>
            </a:pPr>
            <a:r>
              <a:rPr sz="850" b="0">
                <a:solidFill>
                  <a:srgbClr val="1A1A1A"/>
                </a:solidFill>
                <a:latin typeface="游ゴシック"/>
                <a:ea typeface="游ゴシック"/>
              </a:rPr>
              <a:t>■ 生協連合会アイチョイス</a:t>
            </a:r>
          </a:p>
          <a:p>
            <a:pPr algn="l">
              <a:spcAft>
                <a:spcPts val="300"/>
              </a:spcAft>
            </a:pPr>
            <a:r>
              <a:rPr sz="850" b="0">
                <a:solidFill>
                  <a:srgbClr val="1A1A1A"/>
                </a:solidFill>
                <a:latin typeface="游ゴシック"/>
                <a:ea typeface="游ゴシック"/>
              </a:rPr>
              <a:t>■ 小島商店</a:t>
            </a:r>
          </a:p>
          <a:p>
            <a:pPr algn="l">
              <a:spcAft>
                <a:spcPts val="300"/>
              </a:spcAft>
            </a:pPr>
            <a:r>
              <a:rPr sz="850" b="0">
                <a:solidFill>
                  <a:srgbClr val="1A1A1A"/>
                </a:solidFill>
                <a:latin typeface="游ゴシック"/>
                <a:ea typeface="游ゴシック"/>
              </a:rPr>
              <a:t>■ 給食センター</a:t>
            </a:r>
          </a:p>
          <a:p>
            <a:pPr algn="l">
              <a:spcAft>
                <a:spcPts val="300"/>
              </a:spcAft>
            </a:pPr>
            <a:r>
              <a:rPr sz="850" b="0">
                <a:solidFill>
                  <a:srgbClr val="1A1A1A"/>
                </a:solidFill>
                <a:latin typeface="游ゴシック"/>
                <a:ea typeface="游ゴシック"/>
              </a:rPr>
              <a:t>■ 長井中央青果(株)</a:t>
            </a:r>
          </a:p>
          <a:p>
            <a:pPr algn="l">
              <a:spcAft>
                <a:spcPts val="300"/>
              </a:spcAft>
            </a:pPr>
            <a:r>
              <a:rPr sz="850" b="0">
                <a:solidFill>
                  <a:srgbClr val="1A1A1A"/>
                </a:solidFill>
                <a:latin typeface="游ゴシック"/>
                <a:ea typeface="游ゴシック"/>
              </a:rPr>
              <a:t>■ 元青果</a:t>
            </a:r>
          </a:p>
          <a:p>
            <a:pPr algn="l">
              <a:spcAft>
                <a:spcPts val="300"/>
              </a:spcAft>
            </a:pPr>
            <a:r>
              <a:rPr sz="850" b="0">
                <a:solidFill>
                  <a:srgbClr val="1A1A1A"/>
                </a:solidFill>
                <a:latin typeface="游ゴシック"/>
                <a:ea typeface="游ゴシック"/>
              </a:rPr>
              <a:t>■ 市場の仲卸業者・買参人</a:t>
            </a:r>
          </a:p>
        </p:txBody>
      </p:sp>
      <p:sp>
        <p:nvSpPr>
          <p:cNvPr id="38" name="Rectangle 37"/>
          <p:cNvSpPr/>
          <p:nvPr/>
        </p:nvSpPr>
        <p:spPr>
          <a:xfrm>
            <a:off x="3154680" y="2011680"/>
            <a:ext cx="4343400" cy="75895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1000" b="1">
                <a:solidFill>
                  <a:srgbClr val="0B3041"/>
                </a:solidFill>
                <a:latin typeface="游ゴシック"/>
                <a:ea typeface="游ゴシック"/>
              </a:rPr>
              <a:t>青果卸売事業（買付販売）</a:t>
            </a:r>
          </a:p>
          <a:p>
            <a:pPr algn="l"/>
            <a:r>
              <a:rPr sz="850" b="0">
                <a:solidFill>
                  <a:srgbClr val="1A1A1A"/>
                </a:solidFill>
                <a:latin typeface="游ゴシック"/>
                <a:ea typeface="游ゴシック"/>
              </a:rPr>
              <a:t>野菜・果実を買い付けて販売（総額計上）</a:t>
            </a:r>
          </a:p>
          <a:p>
            <a:pPr algn="l"/>
            <a:r>
              <a:rPr sz="850" b="0">
                <a:solidFill>
                  <a:srgbClr val="0889C9"/>
                </a:solidFill>
                <a:latin typeface="游ゴシック"/>
                <a:ea typeface="游ゴシック"/>
              </a:rPr>
              <a:t>収益：商品売上高</a:t>
            </a:r>
          </a:p>
        </p:txBody>
      </p:sp>
      <p:sp>
        <p:nvSpPr>
          <p:cNvPr id="39" name="Rectangle 38"/>
          <p:cNvSpPr/>
          <p:nvPr/>
        </p:nvSpPr>
        <p:spPr>
          <a:xfrm>
            <a:off x="3154680" y="2862072"/>
            <a:ext cx="4343400" cy="75895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1000" b="1">
                <a:solidFill>
                  <a:srgbClr val="0B3041"/>
                </a:solidFill>
                <a:latin typeface="游ゴシック"/>
                <a:ea typeface="游ゴシック"/>
              </a:rPr>
              <a:t>青果卸売事業（受託販売）</a:t>
            </a:r>
          </a:p>
          <a:p>
            <a:pPr algn="l"/>
            <a:r>
              <a:rPr sz="850" b="0">
                <a:solidFill>
                  <a:srgbClr val="1A1A1A"/>
                </a:solidFill>
                <a:latin typeface="游ゴシック"/>
                <a:ea typeface="游ゴシック"/>
              </a:rPr>
              <a:t>出荷者から委託を受けセリ・相対で販売</a:t>
            </a:r>
          </a:p>
          <a:p>
            <a:pPr algn="l"/>
            <a:r>
              <a:rPr sz="850" b="0">
                <a:solidFill>
                  <a:srgbClr val="0889C9"/>
                </a:solidFill>
                <a:latin typeface="游ゴシック"/>
                <a:ea typeface="游ゴシック"/>
              </a:rPr>
              <a:t>収益：委託手数料（純額）</a:t>
            </a:r>
          </a:p>
        </p:txBody>
      </p:sp>
      <p:sp>
        <p:nvSpPr>
          <p:cNvPr id="40" name="Rectangle 39"/>
          <p:cNvSpPr/>
          <p:nvPr/>
        </p:nvSpPr>
        <p:spPr>
          <a:xfrm>
            <a:off x="3154680" y="3712464"/>
            <a:ext cx="4343400" cy="75895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1000" b="1">
                <a:solidFill>
                  <a:srgbClr val="0B3041"/>
                </a:solidFill>
                <a:latin typeface="游ゴシック"/>
                <a:ea typeface="游ゴシック"/>
              </a:rPr>
              <a:t>関連サービス</a:t>
            </a:r>
          </a:p>
          <a:p>
            <a:pPr algn="l"/>
            <a:r>
              <a:rPr sz="850" b="0">
                <a:solidFill>
                  <a:srgbClr val="1A1A1A"/>
                </a:solidFill>
                <a:latin typeface="游ゴシック"/>
                <a:ea typeface="游ゴシック"/>
              </a:rPr>
              <a:t>パッケージ（小分け・包装）・集配・センター業務（推察）</a:t>
            </a:r>
          </a:p>
          <a:p>
            <a:pPr algn="l"/>
            <a:r>
              <a:rPr sz="850" b="0">
                <a:solidFill>
                  <a:srgbClr val="0889C9"/>
                </a:solidFill>
                <a:latin typeface="游ゴシック"/>
                <a:ea typeface="游ゴシック"/>
              </a:rPr>
              <a:t>収益：センター費</a:t>
            </a:r>
          </a:p>
        </p:txBody>
      </p:sp>
      <p:sp>
        <p:nvSpPr>
          <p:cNvPr id="41" name="Rectangle 40"/>
          <p:cNvSpPr/>
          <p:nvPr/>
        </p:nvSpPr>
        <p:spPr>
          <a:xfrm>
            <a:off x="3154680" y="4562856"/>
            <a:ext cx="4343400" cy="75895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1000" b="1">
                <a:solidFill>
                  <a:srgbClr val="0B3041"/>
                </a:solidFill>
                <a:latin typeface="游ゴシック"/>
                <a:ea typeface="游ゴシック"/>
              </a:rPr>
              <a:t>資材・肥料販売</a:t>
            </a:r>
          </a:p>
          <a:p>
            <a:pPr algn="l"/>
            <a:r>
              <a:rPr sz="850" b="0">
                <a:solidFill>
                  <a:srgbClr val="1A1A1A"/>
                </a:solidFill>
                <a:latin typeface="游ゴシック"/>
                <a:ea typeface="游ゴシック"/>
              </a:rPr>
              <a:t>包装資材・肥料の販売</a:t>
            </a:r>
          </a:p>
          <a:p>
            <a:pPr algn="l"/>
            <a:r>
              <a:rPr sz="850" b="0">
                <a:solidFill>
                  <a:srgbClr val="0889C9"/>
                </a:solidFill>
                <a:latin typeface="游ゴシック"/>
                <a:ea typeface="游ゴシック"/>
              </a:rPr>
              <a:t>収益：資材売上高</a:t>
            </a:r>
          </a:p>
        </p:txBody>
      </p:sp>
      <p:sp>
        <p:nvSpPr>
          <p:cNvPr id="42" name="TextBox 41"/>
          <p:cNvSpPr txBox="1"/>
          <p:nvPr/>
        </p:nvSpPr>
        <p:spPr>
          <a:xfrm>
            <a:off x="3017520" y="6263640"/>
            <a:ext cx="4663440" cy="640080"/>
          </a:xfrm>
          <a:prstGeom prst="rect">
            <a:avLst/>
          </a:prstGeom>
          <a:noFill/>
        </p:spPr>
        <p:txBody>
          <a:bodyPr wrap="square" lIns="0" rIns="0" tIns="0" bIns="0" anchor="t">
            <a:spAutoFit/>
          </a:bodyPr>
          <a:lstStyle/>
          <a:p>
            <a:pPr algn="l">
              <a:spcAft>
                <a:spcPts val="100"/>
              </a:spcAft>
            </a:pPr>
            <a:r>
              <a:rPr sz="750" b="0">
                <a:solidFill>
                  <a:srgbClr val="1A1A1A"/>
                </a:solidFill>
                <a:latin typeface="游ゴシック"/>
                <a:ea typeface="游ゴシック"/>
              </a:rPr>
              <a:t>・受託販売は手数料のみの純額計上（2026年4〜7月の委託手数料収入12.6百万円）。取扱総額は要確認</a:t>
            </a:r>
          </a:p>
          <a:p>
            <a:pPr algn="l">
              <a:spcAft>
                <a:spcPts val="100"/>
              </a:spcAft>
            </a:pPr>
            <a:r>
              <a:rPr sz="750" b="0">
                <a:solidFill>
                  <a:srgbClr val="1A1A1A"/>
                </a:solidFill>
                <a:latin typeface="游ゴシック"/>
                <a:ea typeface="游ゴシック"/>
              </a:rPr>
              <a:t>・センター費12.3百万円（4〜7月）は主婦の店等の物流センター業務の受託と推察</a:t>
            </a:r>
          </a:p>
        </p:txBody>
      </p:sp>
    </p:spTree>
    <p:extLst>
      <p:ext uri="{BB962C8B-B14F-4D97-AF65-F5344CB8AC3E}">
        <p14:creationId xmlns:p14="http://schemas.microsoft.com/office/powerpoint/2010/main" val="5383831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0B1C5-D3FA-B80D-FCF0-3C49EF8E798D}"/>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C98E073B-FCE4-F6FA-66A7-29E757285F77}"/>
              </a:ext>
            </a:extLst>
          </p:cNvPr>
          <p:cNvSpPr>
            <a:spLocks noGrp="1"/>
          </p:cNvSpPr>
          <p:nvPr>
            <p:ph type="ctrTitle"/>
          </p:nvPr>
        </p:nvSpPr>
        <p:spPr/>
        <p:txBody>
          <a:bodyPr/>
          <a:lstStyle/>
          <a:p>
            <a:r>
              <a:rPr lang="ja-JP" altLang="en-US" dirty="0"/>
              <a:t>事業の仕組みと収益源</a:t>
            </a:r>
          </a:p>
        </p:txBody>
      </p:sp>
      <p:sp>
        <p:nvSpPr>
          <p:cNvPr id="2" name="タイトル 1">
            <a:extLst>
              <a:ext uri="{FF2B5EF4-FFF2-40B4-BE49-F238E27FC236}">
                <a16:creationId xmlns:a16="http://schemas.microsoft.com/office/drawing/2014/main" id="{1F33762E-23F4-8C5B-C467-2E3E3671C9B0}"/>
              </a:ext>
            </a:extLst>
          </p:cNvPr>
          <p:cNvSpPr txBox="1">
            <a:spLocks/>
          </p:cNvSpPr>
          <p:nvPr/>
        </p:nvSpPr>
        <p:spPr>
          <a:xfrm>
            <a:off x="8293101" y="252155"/>
            <a:ext cx="2057400" cy="184666"/>
          </a:xfrm>
          <a:prstGeom prst="rect">
            <a:avLst/>
          </a:prstGeom>
        </p:spPr>
        <p:txBody>
          <a:bodyPr vert="horz" wrap="square"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spc="0" dirty="0"/>
              <a:t>事業概要</a:t>
            </a:r>
          </a:p>
        </p:txBody>
      </p:sp>
      <p:sp>
        <p:nvSpPr>
          <p:cNvPr id="4" name="TextBox 3"/>
          <p:cNvSpPr txBox="1"/>
          <p:nvPr/>
        </p:nvSpPr>
        <p:spPr>
          <a:xfrm>
            <a:off x="457200" y="832104"/>
            <a:ext cx="9784080" cy="411480"/>
          </a:xfrm>
          <a:prstGeom prst="rect">
            <a:avLst/>
          </a:prstGeom>
          <a:noFill/>
        </p:spPr>
        <p:txBody>
          <a:bodyPr wrap="square" lIns="0" rIns="0" tIns="0" bIns="0" anchor="t">
            <a:spAutoFit/>
          </a:bodyPr>
          <a:lstStyle/>
          <a:p>
            <a:pPr algn="l"/>
            <a:r>
              <a:rPr sz="1100" b="1">
                <a:solidFill>
                  <a:srgbClr val="0B3041"/>
                </a:solidFill>
                <a:latin typeface="游ゴシック"/>
                <a:ea typeface="游ゴシック"/>
              </a:rPr>
              <a:t>市場の開設者と卸売業者を一社で兼ね、買付・受託の卸売に加え、センター費・資材販売・パッケージ等で収益を補完する構造（推察を含む）</a:t>
            </a:r>
          </a:p>
        </p:txBody>
      </p:sp>
      <p:sp>
        <p:nvSpPr>
          <p:cNvPr id="5" name="Rectangle 4"/>
          <p:cNvSpPr/>
          <p:nvPr/>
        </p:nvSpPr>
        <p:spPr>
          <a:xfrm>
            <a:off x="448056" y="1828800"/>
            <a:ext cx="2103120" cy="27432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00" b="1">
                <a:solidFill>
                  <a:srgbClr val="FFFFFF"/>
                </a:solidFill>
                <a:latin typeface="游ゴシック"/>
                <a:ea typeface="游ゴシック"/>
              </a:rPr>
              <a:t>出荷者・仕入先</a:t>
            </a:r>
          </a:p>
        </p:txBody>
      </p:sp>
      <p:sp>
        <p:nvSpPr>
          <p:cNvPr id="6" name="Rectangle 5"/>
          <p:cNvSpPr/>
          <p:nvPr/>
        </p:nvSpPr>
        <p:spPr>
          <a:xfrm>
            <a:off x="448056" y="2103120"/>
            <a:ext cx="2103120" cy="77724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900" b="0">
                <a:solidFill>
                  <a:srgbClr val="1A1A1A"/>
                </a:solidFill>
                <a:latin typeface="游ゴシック"/>
                <a:ea typeface="游ゴシック"/>
              </a:rPr>
              <a:t>生産者・農協（近郷）
他市場の卸売業者
産地業者 等</a:t>
            </a:r>
          </a:p>
        </p:txBody>
      </p:sp>
      <p:sp>
        <p:nvSpPr>
          <p:cNvPr id="7" name="Rectangle 6"/>
          <p:cNvSpPr/>
          <p:nvPr/>
        </p:nvSpPr>
        <p:spPr>
          <a:xfrm>
            <a:off x="3063240" y="1554480"/>
            <a:ext cx="2834640" cy="27432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00" b="1">
                <a:solidFill>
                  <a:srgbClr val="FFFFFF"/>
                </a:solidFill>
                <a:latin typeface="游ゴシック"/>
                <a:ea typeface="游ゴシック"/>
              </a:rPr>
              <a:t>株式会社鶴岡中央青果</a:t>
            </a:r>
          </a:p>
        </p:txBody>
      </p:sp>
      <p:sp>
        <p:nvSpPr>
          <p:cNvPr id="8" name="Rectangle 7"/>
          <p:cNvSpPr/>
          <p:nvPr/>
        </p:nvSpPr>
        <p:spPr>
          <a:xfrm>
            <a:off x="3063240" y="1828800"/>
            <a:ext cx="2834640" cy="128016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900" b="0">
                <a:solidFill>
                  <a:srgbClr val="1A1A1A"/>
                </a:solidFill>
                <a:latin typeface="游ゴシック"/>
                <a:ea typeface="游ゴシック"/>
              </a:rPr>
              <a:t>地方卸売市場の開設者兼卸売業者
（鶴岡市宝田）</a:t>
            </a:r>
          </a:p>
        </p:txBody>
      </p:sp>
      <p:sp>
        <p:nvSpPr>
          <p:cNvPr id="9" name="Rectangle 8"/>
          <p:cNvSpPr/>
          <p:nvPr/>
        </p:nvSpPr>
        <p:spPr>
          <a:xfrm>
            <a:off x="6446520" y="1417320"/>
            <a:ext cx="2103120" cy="27432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00" b="1">
                <a:solidFill>
                  <a:srgbClr val="FFFFFF"/>
                </a:solidFill>
                <a:latin typeface="游ゴシック"/>
                <a:ea typeface="游ゴシック"/>
              </a:rPr>
              <a:t>仲卸業者・買参人</a:t>
            </a:r>
          </a:p>
        </p:txBody>
      </p:sp>
      <p:sp>
        <p:nvSpPr>
          <p:cNvPr id="10" name="Rectangle 9"/>
          <p:cNvSpPr/>
          <p:nvPr/>
        </p:nvSpPr>
        <p:spPr>
          <a:xfrm>
            <a:off x="6446520" y="1691640"/>
            <a:ext cx="2103120" cy="77724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900" b="0">
                <a:solidFill>
                  <a:srgbClr val="1A1A1A"/>
                </a:solidFill>
                <a:latin typeface="游ゴシック"/>
                <a:ea typeface="游ゴシック"/>
              </a:rPr>
              <a:t>市場内でセリ・相対により購入</a:t>
            </a:r>
          </a:p>
        </p:txBody>
      </p:sp>
      <p:sp>
        <p:nvSpPr>
          <p:cNvPr id="11" name="Rectangle 10"/>
          <p:cNvSpPr/>
          <p:nvPr/>
        </p:nvSpPr>
        <p:spPr>
          <a:xfrm>
            <a:off x="6446520" y="2606040"/>
            <a:ext cx="2103120" cy="27432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00" b="1">
                <a:solidFill>
                  <a:srgbClr val="FFFFFF"/>
                </a:solidFill>
                <a:latin typeface="游ゴシック"/>
                <a:ea typeface="游ゴシック"/>
              </a:rPr>
              <a:t>量販店・生協・給食 等</a:t>
            </a:r>
          </a:p>
        </p:txBody>
      </p:sp>
      <p:sp>
        <p:nvSpPr>
          <p:cNvPr id="12" name="Rectangle 11"/>
          <p:cNvSpPr/>
          <p:nvPr/>
        </p:nvSpPr>
        <p:spPr>
          <a:xfrm>
            <a:off x="6446520" y="2880360"/>
            <a:ext cx="2103120" cy="77724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900" b="0">
                <a:solidFill>
                  <a:srgbClr val="1A1A1A"/>
                </a:solidFill>
                <a:latin typeface="游ゴシック"/>
                <a:ea typeface="游ゴシック"/>
              </a:rPr>
              <a:t>当社から直接販売</a:t>
            </a:r>
          </a:p>
        </p:txBody>
      </p:sp>
      <p:cxnSp>
        <p:nvCxnSpPr>
          <p:cNvPr id="13" name="Connector 12"/>
          <p:cNvCxnSpPr/>
          <p:nvPr/>
        </p:nvCxnSpPr>
        <p:spPr>
          <a:xfrm>
            <a:off x="2596896" y="2331720"/>
            <a:ext cx="420624" cy="0"/>
          </a:xfrm>
          <a:prstGeom prst="line">
            <a:avLst/>
          </a:prstGeom>
          <a:ln w="25400">
            <a:solidFill>
              <a:srgbClr val="0889C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943600" y="1920240"/>
            <a:ext cx="457200" cy="0"/>
          </a:xfrm>
          <a:prstGeom prst="line">
            <a:avLst/>
          </a:prstGeom>
          <a:ln w="25400">
            <a:solidFill>
              <a:srgbClr val="0889C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943600" y="3017520"/>
            <a:ext cx="457200" cy="0"/>
          </a:xfrm>
          <a:prstGeom prst="line">
            <a:avLst/>
          </a:prstGeom>
          <a:ln w="25400">
            <a:solidFill>
              <a:srgbClr val="0889C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8732520" y="1417320"/>
            <a:ext cx="1600200" cy="1965960"/>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800" b="0">
                <a:solidFill>
                  <a:srgbClr val="1A1A1A"/>
                </a:solidFill>
                <a:latin typeface="游ゴシック"/>
                <a:ea typeface="游ゴシック"/>
              </a:rPr>
              <a:t>部門構成</a:t>
            </a:r>
          </a:p>
          <a:p>
            <a:pPr algn="l"/>
            <a:r>
              <a:rPr sz="800" b="0">
                <a:solidFill>
                  <a:srgbClr val="1A1A1A"/>
                </a:solidFill>
                <a:latin typeface="游ゴシック"/>
                <a:ea typeface="游ゴシック"/>
              </a:rPr>
              <a:t>野菜営業部／果実営業部／近郷部／集配部／パッケージ部／生花部／資材部／総務部</a:t>
            </a:r>
          </a:p>
        </p:txBody>
      </p:sp>
      <p:graphicFrame>
        <p:nvGraphicFramePr>
          <p:cNvPr id="17" name="Table 16"/>
          <p:cNvGraphicFramePr>
            <a:graphicFrameLocks noGrp="1"/>
          </p:cNvGraphicFramePr>
          <p:nvPr/>
        </p:nvGraphicFramePr>
        <p:xfrm>
          <a:off x="448056" y="4023360"/>
          <a:ext cx="9793222" cy="1920240"/>
        </p:xfrm>
        <a:graphic>
          <a:graphicData uri="http://schemas.openxmlformats.org/drawingml/2006/table">
            <a:tbl>
              <a:tblPr firstRow="0" bandRow="0">
                <a:tableStyleId>{5940675A-B579-460E-94D1-54222C63F5DA}</a:tableStyleId>
              </a:tblPr>
              <a:tblGrid>
                <a:gridCol w="2026184"/>
                <a:gridCol w="1238223"/>
                <a:gridCol w="900526"/>
                <a:gridCol w="5628289"/>
              </a:tblGrid>
              <a:tr h="274320">
                <a:tc>
                  <a:txBody>
                    <a:bodyPr wrap="square"/>
                    <a:lstStyle/>
                    <a:p>
                      <a:pPr algn="ctr"/>
                      <a:r>
                        <a:rPr sz="850" b="1">
                          <a:solidFill>
                            <a:srgbClr val="FFFFFF"/>
                          </a:solidFill>
                          <a:latin typeface="游ゴシック"/>
                          <a:ea typeface="游ゴシック"/>
                        </a:rPr>
                        <a:t>収益源（2026年4〜7月）</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金額（千円）</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構成比</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内容</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r>
              <a:tr h="274320">
                <a:tc>
                  <a:txBody>
                    <a:bodyPr wrap="square"/>
                    <a:lstStyle/>
                    <a:p>
                      <a:pPr algn="l"/>
                      <a:r>
                        <a:rPr sz="850" b="0">
                          <a:solidFill>
                            <a:srgbClr val="1A1A1A"/>
                          </a:solidFill>
                          <a:latin typeface="游ゴシック"/>
                          <a:ea typeface="游ゴシック"/>
                        </a:rPr>
                        <a:t>商品売上高</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375,961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91.4%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青果物の販売（買付販売。総額計上）</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74320">
                <a:tc>
                  <a:txBody>
                    <a:bodyPr wrap="square"/>
                    <a:lstStyle/>
                    <a:p>
                      <a:pPr algn="l"/>
                      <a:r>
                        <a:rPr sz="850" b="0">
                          <a:solidFill>
                            <a:srgbClr val="1A1A1A"/>
                          </a:solidFill>
                          <a:latin typeface="游ゴシック"/>
                          <a:ea typeface="游ゴシック"/>
                        </a:rPr>
                        <a:t>委託手数料収入</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12,564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3.1%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受託販売の手数料（純額計上）</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74320">
                <a:tc>
                  <a:txBody>
                    <a:bodyPr wrap="square"/>
                    <a:lstStyle/>
                    <a:p>
                      <a:pPr algn="l"/>
                      <a:r>
                        <a:rPr sz="850" b="0">
                          <a:solidFill>
                            <a:srgbClr val="1A1A1A"/>
                          </a:solidFill>
                          <a:latin typeface="游ゴシック"/>
                          <a:ea typeface="游ゴシック"/>
                        </a:rPr>
                        <a:t>センター費収入</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12,273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3.0%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(株)主婦の店等からのセンター費（物流センター業務の受託と推察）</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74320">
                <a:tc>
                  <a:txBody>
                    <a:bodyPr wrap="square"/>
                    <a:lstStyle/>
                    <a:p>
                      <a:pPr algn="l"/>
                      <a:r>
                        <a:rPr sz="850" b="0">
                          <a:solidFill>
                            <a:srgbClr val="1A1A1A"/>
                          </a:solidFill>
                          <a:latin typeface="游ゴシック"/>
                          <a:ea typeface="游ゴシック"/>
                        </a:rPr>
                        <a:t>資材売上高</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10,820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2.6%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包装資材・肥料等の販売</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74320">
                <a:tc>
                  <a:txBody>
                    <a:bodyPr wrap="square"/>
                    <a:lstStyle/>
                    <a:p>
                      <a:pPr algn="l"/>
                      <a:r>
                        <a:rPr sz="850" b="0">
                          <a:solidFill>
                            <a:srgbClr val="1A1A1A"/>
                          </a:solidFill>
                          <a:latin typeface="游ゴシック"/>
                          <a:ea typeface="游ゴシック"/>
                        </a:rPr>
                        <a:t>売上割戻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△462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△0.1%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74320">
                <a:tc>
                  <a:txBody>
                    <a:bodyPr wrap="square"/>
                    <a:lstStyle/>
                    <a:p>
                      <a:pPr algn="l"/>
                      <a:r>
                        <a:rPr sz="850" b="1">
                          <a:solidFill>
                            <a:srgbClr val="1A1A1A"/>
                          </a:solidFill>
                          <a:latin typeface="游ゴシック"/>
                          <a:ea typeface="游ゴシック"/>
                        </a:rPr>
                        <a:t>売上高 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411,155</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100.0%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1">
                          <a:solidFill>
                            <a:srgbClr val="1A1A1A"/>
                          </a:solidFill>
                          <a:latin typeface="游ゴシック"/>
                          <a:ea typeface="游ゴシック"/>
                        </a:rPr>
                        <a:t>　</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bl>
          </a:graphicData>
        </a:graphic>
      </p:graphicFrame>
      <p:sp>
        <p:nvSpPr>
          <p:cNvPr id="18" name="TextBox 17"/>
          <p:cNvSpPr txBox="1"/>
          <p:nvPr/>
        </p:nvSpPr>
        <p:spPr>
          <a:xfrm>
            <a:off x="448056" y="6035040"/>
            <a:ext cx="9793224" cy="822960"/>
          </a:xfrm>
          <a:prstGeom prst="rect">
            <a:avLst/>
          </a:prstGeom>
          <a:noFill/>
        </p:spPr>
        <p:txBody>
          <a:bodyPr wrap="square" lIns="0" rIns="0" tIns="0" bIns="0" anchor="t">
            <a:spAutoFit/>
          </a:bodyPr>
          <a:lstStyle/>
          <a:p>
            <a:pPr algn="l"/>
            <a:r>
              <a:rPr sz="750" b="0">
                <a:solidFill>
                  <a:srgbClr val="5A6670"/>
                </a:solidFill>
                <a:latin typeface="游ゴシック"/>
                <a:ea typeface="游ゴシック"/>
              </a:rPr>
              <a:t>※決算書では売上高を「商品売上高」1本で表示しているため、年度別の収益源内訳は試算表（2026年4〜7月）で代替。年度別内訳は要確認。</a:t>
            </a:r>
          </a:p>
          <a:p>
            <a:pPr algn="l"/>
            <a:r>
              <a:rPr sz="750" b="0">
                <a:solidFill>
                  <a:srgbClr val="5A6670"/>
                </a:solidFill>
                <a:latin typeface="游ゴシック"/>
                <a:ea typeface="游ゴシック"/>
              </a:rPr>
              <a:t>※上記のほか、仲卸業者・買参人からのゴミ処理料・冷蔵庫保管料、受取奨励金（完納奨励金等）を営業外収益に計上。卸売市場法上の認定状況、仲卸業者数・買参人数は要確認。</a:t>
            </a:r>
          </a:p>
        </p:txBody>
      </p:sp>
    </p:spTree>
    <p:extLst>
      <p:ext uri="{BB962C8B-B14F-4D97-AF65-F5344CB8AC3E}">
        <p14:creationId xmlns:p14="http://schemas.microsoft.com/office/powerpoint/2010/main" val="25275136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正方形/長方形 15">
            <a:extLst>
              <a:ext uri="{FF2B5EF4-FFF2-40B4-BE49-F238E27FC236}">
                <a16:creationId xmlns:a16="http://schemas.microsoft.com/office/drawing/2014/main" id="{C40E5E72-4BCD-E861-A1A2-154E947EEC6C}"/>
              </a:ext>
            </a:extLst>
          </p:cNvPr>
          <p:cNvSpPr/>
          <p:nvPr/>
        </p:nvSpPr>
        <p:spPr>
          <a:xfrm>
            <a:off x="449262" y="1127688"/>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sp>
        <p:nvSpPr>
          <p:cNvPr id="14" name="テキスト ボックス 13">
            <a:extLst>
              <a:ext uri="{FF2B5EF4-FFF2-40B4-BE49-F238E27FC236}">
                <a16:creationId xmlns:a16="http://schemas.microsoft.com/office/drawing/2014/main" id="{E4EAC5C5-4B19-168C-44C3-D63B9FCB0292}"/>
              </a:ext>
            </a:extLst>
          </p:cNvPr>
          <p:cNvSpPr txBox="1"/>
          <p:nvPr/>
        </p:nvSpPr>
        <p:spPr>
          <a:xfrm>
            <a:off x="2114550" y="1554265"/>
            <a:ext cx="7768831" cy="802848"/>
          </a:xfrm>
          <a:prstGeom prst="rect">
            <a:avLst/>
          </a:prstGeom>
          <a:noFill/>
        </p:spPr>
        <p:txBody>
          <a:bodyPr wrap="square" lIns="0" tIns="0" rIns="0" bIns="0" rtlCol="0" anchor="ctr">
            <a:spAutoFit/>
          </a:bodyPr>
          <a:lstStyle/>
          <a:p>
            <a:pPr>
              <a:lnSpc>
                <a:spcPct val="120000"/>
              </a:lnSpc>
              <a:spcAft>
                <a:spcPts val="600"/>
              </a:spcAft>
            </a:pPr>
            <a:r>
              <a:rPr lang="ja-JP" altLang="en-US" sz="1600" b="1" spc="30" dirty="0">
                <a:solidFill>
                  <a:schemeClr val="tx2"/>
                </a:solidFill>
                <a:latin typeface="+mj-ea"/>
                <a:ea typeface="+mj-ea"/>
              </a:rPr>
              <a:t>市場機能を一社で保有（開設者兼卸売業者）</a:t>
            </a:r>
            <a:endParaRPr lang="en-US" altLang="ja-JP" sz="1600" b="1" spc="30" dirty="0">
              <a:solidFill>
                <a:schemeClr val="tx2"/>
              </a:solidFill>
              <a:latin typeface="+mj-ea"/>
              <a:ea typeface="+mj-ea"/>
            </a:endParaRPr>
          </a:p>
          <a:p>
            <a:pPr>
              <a:lnSpc>
                <a:spcPct val="120000"/>
              </a:lnSpc>
              <a:spcAft>
                <a:spcPts val="600"/>
              </a:spcAft>
            </a:pPr>
            <a:r>
              <a:rPr lang="ja-JP" altLang="en-US" sz="1600" b="1" spc="30" dirty="0">
                <a:solidFill>
                  <a:schemeClr val="tx2"/>
                </a:solidFill>
                <a:latin typeface="+mj-ea"/>
                <a:ea typeface="+mj-ea"/>
              </a:rPr>
              <a:t>集荷・セリ・分荷の市場機能を自社で担い、地域の青果流通インフラとして機能。セリ人資格者3名、販路は量販店・生協・学校給食・近隣市場・仲卸業者に分散。</a:t>
            </a:r>
            <a:endParaRPr lang="en-US" altLang="ja-JP" sz="1600" b="1" spc="30" dirty="0">
              <a:solidFill>
                <a:schemeClr val="tx2"/>
              </a:solidFill>
              <a:latin typeface="+mj-ea"/>
              <a:ea typeface="+mj-ea"/>
            </a:endParaRPr>
          </a:p>
        </p:txBody>
      </p:sp>
      <p:sp>
        <p:nvSpPr>
          <p:cNvPr id="3" name="タイトル 2">
            <a:extLst>
              <a:ext uri="{FF2B5EF4-FFF2-40B4-BE49-F238E27FC236}">
                <a16:creationId xmlns:a16="http://schemas.microsoft.com/office/drawing/2014/main" id="{3DD08FDB-DE43-2BEC-7657-AFC65253B448}"/>
              </a:ext>
            </a:extLst>
          </p:cNvPr>
          <p:cNvSpPr>
            <a:spLocks noGrp="1"/>
          </p:cNvSpPr>
          <p:nvPr>
            <p:ph type="ctrTitle"/>
          </p:nvPr>
        </p:nvSpPr>
        <p:spPr/>
        <p:txBody>
          <a:bodyPr/>
          <a:lstStyle/>
          <a:p>
            <a:r>
              <a:rPr lang="ja-JP" altLang="en-US" dirty="0"/>
              <a:t>特徴、強み、成長性等</a:t>
            </a:r>
          </a:p>
        </p:txBody>
      </p:sp>
      <p:sp>
        <p:nvSpPr>
          <p:cNvPr id="2" name="タイトル 1">
            <a:extLst>
              <a:ext uri="{FF2B5EF4-FFF2-40B4-BE49-F238E27FC236}">
                <a16:creationId xmlns:a16="http://schemas.microsoft.com/office/drawing/2014/main" id="{0A4FF749-E8A2-9754-A990-0C08664F52BF}"/>
              </a:ext>
            </a:extLst>
          </p:cNvPr>
          <p:cNvSpPr txBox="1">
            <a:spLocks/>
          </p:cNvSpPr>
          <p:nvPr/>
        </p:nvSpPr>
        <p:spPr>
          <a:xfrm>
            <a:off x="8293101" y="252155"/>
            <a:ext cx="2057400" cy="184666"/>
          </a:xfrm>
          <a:prstGeom prst="rect">
            <a:avLst/>
          </a:prstGeom>
        </p:spPr>
        <p:txBody>
          <a:bodyPr vert="horz" wrap="square"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spc="0" dirty="0"/>
              <a:t>事業概要</a:t>
            </a:r>
          </a:p>
        </p:txBody>
      </p:sp>
      <p:cxnSp>
        <p:nvCxnSpPr>
          <p:cNvPr id="4" name="直線コネクタ 3">
            <a:extLst>
              <a:ext uri="{FF2B5EF4-FFF2-40B4-BE49-F238E27FC236}">
                <a16:creationId xmlns:a16="http://schemas.microsoft.com/office/drawing/2014/main" id="{15777771-F922-A7C4-D3CB-74B58B03FF57}"/>
              </a:ext>
            </a:extLst>
          </p:cNvPr>
          <p:cNvCxnSpPr>
            <a:cxnSpLocks/>
          </p:cNvCxnSpPr>
          <p:nvPr/>
        </p:nvCxnSpPr>
        <p:spPr>
          <a:xfrm>
            <a:off x="449263" y="1123117"/>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2" name="正方形/長方形 11">
            <a:extLst>
              <a:ext uri="{FF2B5EF4-FFF2-40B4-BE49-F238E27FC236}">
                <a16:creationId xmlns:a16="http://schemas.microsoft.com/office/drawing/2014/main" id="{4D234CEC-3A04-0F25-446A-5400388CA526}"/>
              </a:ext>
            </a:extLst>
          </p:cNvPr>
          <p:cNvSpPr/>
          <p:nvPr/>
        </p:nvSpPr>
        <p:spPr>
          <a:xfrm>
            <a:off x="647115" y="1469688"/>
            <a:ext cx="1191210"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20000"/>
              </a:lnSpc>
              <a:buClr>
                <a:schemeClr val="tx2"/>
              </a:buClr>
              <a:buSzPct val="80000"/>
            </a:pPr>
            <a:r>
              <a:rPr lang="ja-JP" altLang="en-US" b="1" spc="70" dirty="0">
                <a:solidFill>
                  <a:schemeClr val="bg1"/>
                </a:solidFill>
                <a:latin typeface="+mj-ea"/>
                <a:ea typeface="+mj-ea"/>
              </a:rPr>
              <a:t>特徴</a:t>
            </a:r>
            <a:endParaRPr lang="en-US" altLang="ja-JP" b="1" spc="70" dirty="0">
              <a:solidFill>
                <a:schemeClr val="bg1"/>
              </a:solidFill>
              <a:latin typeface="+mj-ea"/>
              <a:ea typeface="+mj-ea"/>
            </a:endParaRPr>
          </a:p>
        </p:txBody>
      </p:sp>
      <p:sp>
        <p:nvSpPr>
          <p:cNvPr id="18" name="正方形/長方形 17">
            <a:extLst>
              <a:ext uri="{FF2B5EF4-FFF2-40B4-BE49-F238E27FC236}">
                <a16:creationId xmlns:a16="http://schemas.microsoft.com/office/drawing/2014/main" id="{0C864657-FFF0-FA13-5524-DC1F4F22D1C8}"/>
              </a:ext>
            </a:extLst>
          </p:cNvPr>
          <p:cNvSpPr/>
          <p:nvPr/>
        </p:nvSpPr>
        <p:spPr>
          <a:xfrm>
            <a:off x="449262" y="3124558"/>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sp>
        <p:nvSpPr>
          <p:cNvPr id="20" name="テキスト ボックス 19">
            <a:extLst>
              <a:ext uri="{FF2B5EF4-FFF2-40B4-BE49-F238E27FC236}">
                <a16:creationId xmlns:a16="http://schemas.microsoft.com/office/drawing/2014/main" id="{48644844-8906-9AF0-5D0D-98648174194F}"/>
              </a:ext>
            </a:extLst>
          </p:cNvPr>
          <p:cNvSpPr txBox="1"/>
          <p:nvPr/>
        </p:nvSpPr>
        <p:spPr>
          <a:xfrm>
            <a:off x="2114550" y="3551135"/>
            <a:ext cx="7768831" cy="802848"/>
          </a:xfrm>
          <a:prstGeom prst="rect">
            <a:avLst/>
          </a:prstGeom>
          <a:noFill/>
        </p:spPr>
        <p:txBody>
          <a:bodyPr wrap="square" lIns="0" tIns="0" rIns="0" bIns="0" rtlCol="0" anchor="ctr">
            <a:spAutoFit/>
          </a:bodyPr>
          <a:lstStyle/>
          <a:p>
            <a:pPr>
              <a:lnSpc>
                <a:spcPct val="120000"/>
              </a:lnSpc>
              <a:spcAft>
                <a:spcPts val="600"/>
              </a:spcAft>
            </a:pPr>
            <a:r>
              <a:rPr lang="ja-JP" altLang="en-US" sz="1600" b="1" spc="30" dirty="0">
                <a:solidFill>
                  <a:schemeClr val="tx2"/>
                </a:solidFill>
                <a:latin typeface="+mj-ea"/>
                <a:ea typeface="+mj-ea"/>
              </a:rPr>
              <a:t>自社保有の市場用地・施設と地域特産品の取扱い</a:t>
            </a:r>
            <a:endParaRPr lang="en-US" altLang="ja-JP" sz="1600" b="1" spc="30" dirty="0">
              <a:solidFill>
                <a:schemeClr val="tx2"/>
              </a:solidFill>
              <a:latin typeface="+mj-ea"/>
              <a:ea typeface="+mj-ea"/>
            </a:endParaRPr>
          </a:p>
          <a:p>
            <a:pPr>
              <a:lnSpc>
                <a:spcPct val="120000"/>
              </a:lnSpc>
              <a:spcAft>
                <a:spcPts val="600"/>
              </a:spcAft>
            </a:pPr>
            <a:r>
              <a:rPr lang="ja-JP" altLang="en-US" sz="1600" b="1" spc="30" dirty="0">
                <a:solidFill>
                  <a:schemeClr val="tx2"/>
                </a:solidFill>
                <a:latin typeface="+mj-ea"/>
                <a:ea typeface="+mj-ea"/>
              </a:rPr>
              <a:t>本社市場（3,100㎡）とパッケージ場（901㎡）が隣接し地代負担なし。Webサイトでだだちゃ豆・庄内柿・メロン・和梨/洋梨等の特産品を紹介（取扱実績は要確認）。</a:t>
            </a:r>
            <a:endParaRPr lang="en-US" altLang="ja-JP" sz="1600" b="1" spc="30" dirty="0">
              <a:solidFill>
                <a:schemeClr val="tx2"/>
              </a:solidFill>
              <a:latin typeface="+mj-ea"/>
              <a:ea typeface="+mj-ea"/>
            </a:endParaRPr>
          </a:p>
        </p:txBody>
      </p:sp>
      <p:cxnSp>
        <p:nvCxnSpPr>
          <p:cNvPr id="21" name="直線コネクタ 20">
            <a:extLst>
              <a:ext uri="{FF2B5EF4-FFF2-40B4-BE49-F238E27FC236}">
                <a16:creationId xmlns:a16="http://schemas.microsoft.com/office/drawing/2014/main" id="{3CCDB214-2D0E-0EEE-88F8-7201AB775BEA}"/>
              </a:ext>
            </a:extLst>
          </p:cNvPr>
          <p:cNvCxnSpPr>
            <a:cxnSpLocks/>
          </p:cNvCxnSpPr>
          <p:nvPr/>
        </p:nvCxnSpPr>
        <p:spPr>
          <a:xfrm>
            <a:off x="449263" y="3119987"/>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7" name="正方形/長方形 26">
            <a:extLst>
              <a:ext uri="{FF2B5EF4-FFF2-40B4-BE49-F238E27FC236}">
                <a16:creationId xmlns:a16="http://schemas.microsoft.com/office/drawing/2014/main" id="{8C7E43AC-FD21-D8FF-812C-F486F11E9CD0}"/>
              </a:ext>
            </a:extLst>
          </p:cNvPr>
          <p:cNvSpPr/>
          <p:nvPr/>
        </p:nvSpPr>
        <p:spPr>
          <a:xfrm>
            <a:off x="647115" y="3466558"/>
            <a:ext cx="1191210"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20000"/>
              </a:lnSpc>
              <a:buClr>
                <a:schemeClr val="tx2"/>
              </a:buClr>
              <a:buSzPct val="80000"/>
            </a:pPr>
            <a:r>
              <a:rPr lang="ja-JP" altLang="en-US" b="1" spc="70" dirty="0">
                <a:solidFill>
                  <a:schemeClr val="bg1"/>
                </a:solidFill>
                <a:latin typeface="+mj-ea"/>
                <a:ea typeface="+mj-ea"/>
              </a:rPr>
              <a:t>強み</a:t>
            </a:r>
            <a:endParaRPr lang="en-US" altLang="ja-JP" b="1" spc="70" dirty="0">
              <a:solidFill>
                <a:schemeClr val="bg1"/>
              </a:solidFill>
              <a:latin typeface="+mj-ea"/>
              <a:ea typeface="+mj-ea"/>
            </a:endParaRPr>
          </a:p>
        </p:txBody>
      </p:sp>
      <p:sp>
        <p:nvSpPr>
          <p:cNvPr id="28" name="正方形/長方形 27">
            <a:extLst>
              <a:ext uri="{FF2B5EF4-FFF2-40B4-BE49-F238E27FC236}">
                <a16:creationId xmlns:a16="http://schemas.microsoft.com/office/drawing/2014/main" id="{0BB6E073-4046-E1C0-AB4F-403D39FF250A}"/>
              </a:ext>
            </a:extLst>
          </p:cNvPr>
          <p:cNvSpPr/>
          <p:nvPr/>
        </p:nvSpPr>
        <p:spPr>
          <a:xfrm>
            <a:off x="449262" y="5112286"/>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sp>
        <p:nvSpPr>
          <p:cNvPr id="29" name="テキスト ボックス 28">
            <a:extLst>
              <a:ext uri="{FF2B5EF4-FFF2-40B4-BE49-F238E27FC236}">
                <a16:creationId xmlns:a16="http://schemas.microsoft.com/office/drawing/2014/main" id="{91275261-EC0D-E601-4242-EE2F20F981A2}"/>
              </a:ext>
            </a:extLst>
          </p:cNvPr>
          <p:cNvSpPr txBox="1"/>
          <p:nvPr/>
        </p:nvSpPr>
        <p:spPr>
          <a:xfrm>
            <a:off x="2114550" y="5538863"/>
            <a:ext cx="7768831" cy="802848"/>
          </a:xfrm>
          <a:prstGeom prst="rect">
            <a:avLst/>
          </a:prstGeom>
          <a:noFill/>
        </p:spPr>
        <p:txBody>
          <a:bodyPr wrap="square" lIns="0" tIns="0" rIns="0" bIns="0" rtlCol="0" anchor="ctr">
            <a:spAutoFit/>
          </a:bodyPr>
          <a:lstStyle/>
          <a:p>
            <a:pPr>
              <a:lnSpc>
                <a:spcPct val="120000"/>
              </a:lnSpc>
              <a:spcAft>
                <a:spcPts val="600"/>
              </a:spcAft>
            </a:pPr>
            <a:r>
              <a:rPr lang="ja-JP" altLang="en-US" sz="1600" b="1" spc="30" dirty="0">
                <a:solidFill>
                  <a:schemeClr val="tx2"/>
                </a:solidFill>
                <a:latin typeface="+mj-ea"/>
                <a:ea typeface="+mj-ea"/>
              </a:rPr>
              <a:t>（仮説）集荷力・物流拠点を活かした収益改善</a:t>
            </a:r>
            <a:endParaRPr lang="en-US" altLang="ja-JP" sz="1600" b="1" spc="30" dirty="0">
              <a:solidFill>
                <a:schemeClr val="tx2"/>
              </a:solidFill>
              <a:latin typeface="+mj-ea"/>
              <a:ea typeface="+mj-ea"/>
            </a:endParaRPr>
          </a:p>
          <a:p>
            <a:pPr>
              <a:lnSpc>
                <a:spcPct val="120000"/>
              </a:lnSpc>
              <a:spcAft>
                <a:spcPts val="600"/>
              </a:spcAft>
            </a:pPr>
            <a:r>
              <a:rPr lang="ja-JP" altLang="en-US" sz="1600" b="1" spc="30" dirty="0">
                <a:solidFill>
                  <a:schemeClr val="tx2"/>
                </a:solidFill>
                <a:latin typeface="+mj-ea"/>
                <a:ea typeface="+mj-ea"/>
              </a:rPr>
              <a:t>粗利率は18.6%→16.6%と低下しており、仕入価格の転嫁や品目構成の見直し、量販店向けセンター業務・パッケージの拡大に改善余地があると想定。主要棟は1981〜82年築で更新投資の見積りが必要。</a:t>
            </a:r>
            <a:endParaRPr lang="en-US" altLang="ja-JP" sz="1600" b="1" spc="30" dirty="0">
              <a:solidFill>
                <a:schemeClr val="tx2"/>
              </a:solidFill>
              <a:latin typeface="+mj-ea"/>
              <a:ea typeface="+mj-ea"/>
            </a:endParaRPr>
          </a:p>
        </p:txBody>
      </p:sp>
      <p:cxnSp>
        <p:nvCxnSpPr>
          <p:cNvPr id="30" name="直線コネクタ 29">
            <a:extLst>
              <a:ext uri="{FF2B5EF4-FFF2-40B4-BE49-F238E27FC236}">
                <a16:creationId xmlns:a16="http://schemas.microsoft.com/office/drawing/2014/main" id="{9E59F759-029D-ACD7-2E8B-82D0E894FB13}"/>
              </a:ext>
            </a:extLst>
          </p:cNvPr>
          <p:cNvCxnSpPr>
            <a:cxnSpLocks/>
          </p:cNvCxnSpPr>
          <p:nvPr/>
        </p:nvCxnSpPr>
        <p:spPr>
          <a:xfrm>
            <a:off x="449263" y="5107715"/>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31" name="正方形/長方形 30">
            <a:extLst>
              <a:ext uri="{FF2B5EF4-FFF2-40B4-BE49-F238E27FC236}">
                <a16:creationId xmlns:a16="http://schemas.microsoft.com/office/drawing/2014/main" id="{9F97658D-62E2-B46F-7C6B-A887412B79A8}"/>
              </a:ext>
            </a:extLst>
          </p:cNvPr>
          <p:cNvSpPr/>
          <p:nvPr/>
        </p:nvSpPr>
        <p:spPr>
          <a:xfrm>
            <a:off x="647115" y="5454286"/>
            <a:ext cx="1191210"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20000"/>
              </a:lnSpc>
              <a:buClr>
                <a:schemeClr val="tx2"/>
              </a:buClr>
              <a:buSzPct val="80000"/>
            </a:pPr>
            <a:r>
              <a:rPr lang="ja-JP" altLang="en-US" b="1" spc="70" dirty="0">
                <a:solidFill>
                  <a:schemeClr val="bg1"/>
                </a:solidFill>
                <a:latin typeface="+mj-ea"/>
                <a:ea typeface="+mj-ea"/>
              </a:rPr>
              <a:t>成長性</a:t>
            </a:r>
            <a:endParaRPr lang="en-US" altLang="ja-JP" b="1" spc="70" dirty="0">
              <a:solidFill>
                <a:schemeClr val="bg1"/>
              </a:solidFill>
              <a:latin typeface="+mj-ea"/>
              <a:ea typeface="+mj-ea"/>
            </a:endParaRPr>
          </a:p>
        </p:txBody>
      </p:sp>
      <p:sp>
        <p:nvSpPr>
          <p:cNvPr id="32" name="TextBox 31"/>
          <p:cNvSpPr txBox="1"/>
          <p:nvPr/>
        </p:nvSpPr>
        <p:spPr>
          <a:xfrm>
            <a:off x="448056" y="6784848"/>
            <a:ext cx="9793224" cy="228600"/>
          </a:xfrm>
          <a:prstGeom prst="rect">
            <a:avLst/>
          </a:prstGeom>
          <a:noFill/>
        </p:spPr>
        <p:txBody>
          <a:bodyPr wrap="square" lIns="0" rIns="0" tIns="0" bIns="0" anchor="t">
            <a:spAutoFit/>
          </a:bodyPr>
          <a:lstStyle/>
          <a:p>
            <a:pPr algn="l"/>
            <a:r>
              <a:rPr sz="750" b="0">
                <a:solidFill>
                  <a:srgbClr val="5A6670"/>
                </a:solidFill>
                <a:latin typeface="游ゴシック"/>
                <a:ea typeface="游ゴシック"/>
              </a:rPr>
              <a:t>※「仮説」は資料から推定した論点であり、売主様への確認前の内容です。</a:t>
            </a:r>
          </a:p>
        </p:txBody>
      </p:sp>
    </p:spTree>
    <p:extLst>
      <p:ext uri="{BB962C8B-B14F-4D97-AF65-F5344CB8AC3E}">
        <p14:creationId xmlns:p14="http://schemas.microsoft.com/office/powerpoint/2010/main" val="27210844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6F8F80-D630-2549-01F8-FD24A474441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t>主要得意先の3期推移</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事業概要</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lang="ja-JP" altLang="en-US" dirty="0">
                <a:latin typeface="+mj-ea"/>
              </a:rPr>
              <a:t>(株)主婦の店を筆頭に、地元量販店・生協・学校給食・近隣市場へ販売。売掛金残高の上位先は3期を通じて概ね同じ顔ぶれであり、長期・安定的な取引関係にある。</a:t>
            </a:r>
            <a:endParaRPr lang="en-US" altLang="ja-JP" dirty="0"/>
          </a:p>
        </p:txBody>
      </p:sp>
      <p:graphicFrame>
        <p:nvGraphicFramePr>
          <p:cNvPr id="14" name="Table 13"/>
          <p:cNvGraphicFramePr>
            <a:graphicFrameLocks noGrp="1"/>
          </p:cNvGraphicFramePr>
          <p:nvPr/>
        </p:nvGraphicFramePr>
        <p:xfrm>
          <a:off x="310896" y="1481328"/>
          <a:ext cx="10058400" cy="4224528"/>
        </p:xfrm>
        <a:graphic>
          <a:graphicData uri="http://schemas.openxmlformats.org/drawingml/2006/table">
            <a:tbl>
              <a:tblPr firstRow="0" bandRow="0">
                <a:tableStyleId>{5940675A-B579-460E-94D1-54222C63F5DA}</a:tableStyleId>
              </a:tblPr>
              <a:tblGrid>
                <a:gridCol w="274320"/>
                <a:gridCol w="1920240"/>
                <a:gridCol w="960120"/>
                <a:gridCol w="731520"/>
                <a:gridCol w="548640"/>
                <a:gridCol w="731520"/>
                <a:gridCol w="548640"/>
                <a:gridCol w="731520"/>
                <a:gridCol w="548640"/>
                <a:gridCol w="3063240"/>
              </a:tblGrid>
              <a:tr h="301752">
                <a:tc>
                  <a:txBody>
                    <a:bodyPr wrap="square"/>
                    <a:lstStyle/>
                    <a:p>
                      <a:pPr algn="ctr"/>
                      <a:r>
                        <a:rPr sz="800" b="1">
                          <a:solidFill>
                            <a:srgbClr val="FFFFFF"/>
                          </a:solidFill>
                          <a:latin typeface="游ゴシック"/>
                          <a:ea typeface="游ゴシック"/>
                        </a:rPr>
                        <a:t>№</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游ゴシック"/>
                          <a:ea typeface="游ゴシック"/>
                        </a:rPr>
                        <a:t>相手先</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游ゴシック"/>
                          <a:ea typeface="游ゴシック"/>
                        </a:rPr>
                        <a:t>所在地</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游ゴシック"/>
                          <a:ea typeface="游ゴシック"/>
                        </a:rPr>
                        <a:t>2024/3末</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游ゴシック"/>
                          <a:ea typeface="游ゴシック"/>
                        </a:rPr>
                        <a:t>構成比</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游ゴシック"/>
                          <a:ea typeface="游ゴシック"/>
                        </a:rPr>
                        <a:t>2025/3末</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游ゴシック"/>
                          <a:ea typeface="游ゴシック"/>
                        </a:rPr>
                        <a:t>構成比</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游ゴシック"/>
                          <a:ea typeface="游ゴシック"/>
                        </a:rPr>
                        <a:t>2026/3末</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游ゴシック"/>
                          <a:ea typeface="游ゴシック"/>
                        </a:rPr>
                        <a:t>構成比</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游ゴシック"/>
                          <a:ea typeface="游ゴシック"/>
                        </a:rPr>
                        <a:t>業種・備考</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r>
              <a:tr h="301752">
                <a:tc>
                  <a:txBody>
                    <a:bodyPr wrap="square"/>
                    <a:lstStyle/>
                    <a:p>
                      <a:pPr algn="ctr"/>
                      <a:r>
                        <a:rPr sz="800" b="0">
                          <a:solidFill>
                            <a:srgbClr val="1A1A1A"/>
                          </a:solidFill>
                          <a:latin typeface="Arial"/>
                          <a:ea typeface="游ゴシック"/>
                        </a:rPr>
                        <a:t>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(株)主婦の店</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鶴岡市</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7,625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33.9%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7,465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32.2%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7,194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34.5%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食品スーパー（推察）</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01752">
                <a:tc>
                  <a:txBody>
                    <a:bodyPr wrap="square"/>
                    <a:lstStyle/>
                    <a:p>
                      <a:pPr algn="ctr"/>
                      <a:r>
                        <a:rPr sz="800" b="0">
                          <a:solidFill>
                            <a:srgbClr val="1A1A1A"/>
                          </a:solidFill>
                          <a:latin typeface="Arial"/>
                          <a:ea typeface="游ゴシック"/>
                        </a:rPr>
                        <a:t>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小島商店</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鶴岡市</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3,566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15.8%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1,610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6.9%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2,482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11.9%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青果小売（推察）</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01752">
                <a:tc>
                  <a:txBody>
                    <a:bodyPr wrap="square"/>
                    <a:lstStyle/>
                    <a:p>
                      <a:pPr algn="ctr"/>
                      <a:r>
                        <a:rPr sz="800" b="0">
                          <a:solidFill>
                            <a:srgbClr val="1A1A1A"/>
                          </a:solidFill>
                          <a:latin typeface="Arial"/>
                          <a:ea typeface="游ゴシック"/>
                        </a:rPr>
                        <a:t>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長井中央青果(株)</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長井市</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3,039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13.5%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4,185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18.1%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1,785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8.6%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青果卸（長井中央青果地方卸売市場）</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01752">
                <a:tc>
                  <a:txBody>
                    <a:bodyPr wrap="square"/>
                    <a:lstStyle/>
                    <a:p>
                      <a:pPr algn="ctr"/>
                      <a:r>
                        <a:rPr sz="800" b="0">
                          <a:solidFill>
                            <a:srgbClr val="1A1A1A"/>
                          </a:solidFill>
                          <a:latin typeface="Arial"/>
                          <a:ea typeface="游ゴシック"/>
                        </a:rPr>
                        <a:t>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生活協同組合共立社</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鶴岡市</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1,110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4.9%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2,034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8.8%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1,932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9.3%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生協</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01752">
                <a:tc>
                  <a:txBody>
                    <a:bodyPr wrap="square"/>
                    <a:lstStyle/>
                    <a:p>
                      <a:pPr algn="ctr"/>
                      <a:r>
                        <a:rPr sz="800" b="0">
                          <a:solidFill>
                            <a:srgbClr val="1A1A1A"/>
                          </a:solidFill>
                          <a:latin typeface="Arial"/>
                          <a:ea typeface="游ゴシック"/>
                        </a:rPr>
                        <a:t>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給食センター</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鶴岡市</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793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1,307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5.6%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1,121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5.4%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学校給食（推察）</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01752">
                <a:tc>
                  <a:txBody>
                    <a:bodyPr wrap="square"/>
                    <a:lstStyle/>
                    <a:p>
                      <a:pPr algn="ctr"/>
                      <a:r>
                        <a:rPr sz="800" b="0">
                          <a:solidFill>
                            <a:srgbClr val="1A1A1A"/>
                          </a:solidFill>
                          <a:latin typeface="Arial"/>
                          <a:ea typeface="游ゴシック"/>
                        </a:rPr>
                        <a:t>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元青果</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三川町</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1,051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4.7%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1,019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4.4%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746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公設庄内青果物地方卸売市場内事業者（推察）</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01752">
                <a:tc>
                  <a:txBody>
                    <a:bodyPr wrap="square"/>
                    <a:lstStyle/>
                    <a:p>
                      <a:pPr algn="ctr"/>
                      <a:r>
                        <a:rPr sz="800" b="0">
                          <a:solidFill>
                            <a:srgbClr val="1A1A1A"/>
                          </a:solidFill>
                          <a:latin typeface="Arial"/>
                          <a:ea typeface="游ゴシック"/>
                        </a:rPr>
                        <a:t>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生活協同組合連合会アイチョイス</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名古屋市</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751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1,033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4.5%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618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生協連合会</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01752">
                <a:tc>
                  <a:txBody>
                    <a:bodyPr wrap="square"/>
                    <a:lstStyle/>
                    <a:p>
                      <a:pPr algn="ctr"/>
                      <a:r>
                        <a:rPr sz="800" b="0">
                          <a:solidFill>
                            <a:srgbClr val="1A1A1A"/>
                          </a:solidFill>
                          <a:latin typeface="Arial"/>
                          <a:ea typeface="游ゴシック"/>
                        </a:rPr>
                        <a:t>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(株)みどりの里</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愛知県豊田市</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503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2.2%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886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01752">
                <a:tc>
                  <a:txBody>
                    <a:bodyPr wrap="square"/>
                    <a:lstStyle/>
                    <a:p>
                      <a:pPr algn="ctr"/>
                      <a:r>
                        <a:rPr sz="800" b="0">
                          <a:solidFill>
                            <a:srgbClr val="1A1A1A"/>
                          </a:solidFill>
                          <a:latin typeface="Arial"/>
                          <a:ea typeface="游ゴシック"/>
                        </a:rPr>
                        <a:t>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(有)新庄丸果青果</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新庄市</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825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706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青果卸（推察）</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01752">
                <a:tc>
                  <a:txBody>
                    <a:bodyPr wrap="square"/>
                    <a:lstStyle/>
                    <a:p>
                      <a:pPr algn="ctr"/>
                      <a:r>
                        <a:rPr sz="800" b="0">
                          <a:solidFill>
                            <a:srgbClr val="1A1A1A"/>
                          </a:solidFill>
                          <a:latin typeface="Arial"/>
                          <a:ea typeface="游ゴシック"/>
                        </a:rPr>
                        <a:t>10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(株)やま高商店</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仙台市</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862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01752">
                <a:tc>
                  <a:txBody>
                    <a:bodyPr wrap="square"/>
                    <a:lstStyle/>
                    <a:p>
                      <a:pPr algn="ctr"/>
                      <a:r>
                        <a:rPr sz="800" b="0">
                          <a:solidFill>
                            <a:srgbClr val="1A1A1A"/>
                          </a:solidFill>
                          <a:latin typeface="Arial"/>
                          <a:ea typeface="游ゴシック"/>
                        </a:rPr>
                        <a:t>11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みどり水産</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630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2.7%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01752">
                <a:tc>
                  <a:txBody>
                    <a:bodyPr wrap="square"/>
                    <a:lstStyle/>
                    <a:p>
                      <a:pPr algn="ctr"/>
                      <a:r>
                        <a:rPr sz="80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その他</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2,398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10.6%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2,291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9.9%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4,958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23.8%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01752">
                <a:tc>
                  <a:txBody>
                    <a:bodyPr wrap="square"/>
                    <a:lstStyle/>
                    <a:p>
                      <a:pPr algn="ctr"/>
                      <a:r>
                        <a:rPr sz="800" b="1">
                          <a:solidFill>
                            <a:srgbClr val="1A1A1A"/>
                          </a:solidFill>
                          <a:latin typeface="游ゴシック"/>
                          <a:ea typeface="游ゴシック"/>
                        </a:rPr>
                        <a:t>　</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1">
                          <a:solidFill>
                            <a:srgbClr val="1A1A1A"/>
                          </a:solidFill>
                          <a:latin typeface="游ゴシック"/>
                          <a:ea typeface="游ゴシック"/>
                        </a:rPr>
                        <a:t>合計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1">
                          <a:solidFill>
                            <a:srgbClr val="1A1A1A"/>
                          </a:solidFill>
                          <a:latin typeface="游ゴシック"/>
                          <a:ea typeface="游ゴシック"/>
                        </a:rPr>
                        <a:t>　</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22,524</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100.0%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23,166</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100.0%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20,836</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100.0%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1">
                          <a:solidFill>
                            <a:srgbClr val="1A1A1A"/>
                          </a:solidFill>
                          <a:latin typeface="游ゴシック"/>
                          <a:ea typeface="游ゴシック"/>
                        </a:rPr>
                        <a:t>　</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bl>
          </a:graphicData>
        </a:graphic>
      </p:graphicFrame>
      <p:sp>
        <p:nvSpPr>
          <p:cNvPr id="15" name="TextBox 14"/>
          <p:cNvSpPr txBox="1"/>
          <p:nvPr/>
        </p:nvSpPr>
        <p:spPr>
          <a:xfrm>
            <a:off x="310896" y="6583680"/>
            <a:ext cx="10058400" cy="411480"/>
          </a:xfrm>
          <a:prstGeom prst="rect">
            <a:avLst/>
          </a:prstGeom>
          <a:noFill/>
        </p:spPr>
        <p:txBody>
          <a:bodyPr wrap="square" lIns="0" rIns="0" tIns="0" bIns="0" anchor="t">
            <a:spAutoFit/>
          </a:bodyPr>
          <a:lstStyle/>
          <a:p>
            <a:pPr algn="l"/>
            <a:r>
              <a:rPr sz="750" b="0">
                <a:solidFill>
                  <a:srgbClr val="5A6670"/>
                </a:solidFill>
                <a:latin typeface="游ゴシック"/>
                <a:ea typeface="游ゴシック"/>
              </a:rPr>
              <a:t>※単位：千円。勘定科目内訳明細書の期末残高（50万円以上の相手先を個別記載）。年間取引高ではないため取引規模の順位とは異なる可能性がある（年間取引高は資料依頼中）。</a:t>
            </a:r>
          </a:p>
          <a:p>
            <a:pPr algn="l"/>
            <a:r>
              <a:rPr sz="750" b="0">
                <a:solidFill>
                  <a:srgbClr val="5A6670"/>
                </a:solidFill>
                <a:latin typeface="游ゴシック"/>
                <a:ea typeface="游ゴシック"/>
              </a:rPr>
              <a:t>※業種は公開情報等からの推察を含む。</a:t>
            </a:r>
          </a:p>
        </p:txBody>
      </p:sp>
    </p:spTree>
    <p:extLst>
      <p:ext uri="{BB962C8B-B14F-4D97-AF65-F5344CB8AC3E}">
        <p14:creationId xmlns:p14="http://schemas.microsoft.com/office/powerpoint/2010/main" val="5886346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B8376-2868-4693-0731-367BA549897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C27F0F89-0B1D-9CEC-826A-DEB17C9DB0B7}"/>
              </a:ext>
            </a:extLst>
          </p:cNvPr>
          <p:cNvSpPr>
            <a:spLocks noGrp="1"/>
          </p:cNvSpPr>
          <p:nvPr>
            <p:ph type="ctrTitle"/>
          </p:nvPr>
        </p:nvSpPr>
        <p:spPr>
          <a:xfrm>
            <a:off x="311150" y="180296"/>
            <a:ext cx="7799917" cy="339267"/>
          </a:xfrm>
        </p:spPr>
        <p:txBody>
          <a:bodyPr>
            <a:normAutofit/>
          </a:bodyPr>
          <a:lstStyle/>
          <a:p>
            <a:r>
              <a:rPr lang="ja-JP" altLang="en-US" dirty="0"/>
              <a:t>主要仕入先の3期推移</a:t>
            </a:r>
          </a:p>
        </p:txBody>
      </p:sp>
      <p:sp>
        <p:nvSpPr>
          <p:cNvPr id="5" name="タイトル 1">
            <a:extLst>
              <a:ext uri="{FF2B5EF4-FFF2-40B4-BE49-F238E27FC236}">
                <a16:creationId xmlns:a16="http://schemas.microsoft.com/office/drawing/2014/main" id="{2223494B-5776-7256-BAFB-772D4CDC079C}"/>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事業概要</a:t>
            </a:r>
          </a:p>
        </p:txBody>
      </p:sp>
      <p:sp>
        <p:nvSpPr>
          <p:cNvPr id="15" name="字幕 13">
            <a:extLst>
              <a:ext uri="{FF2B5EF4-FFF2-40B4-BE49-F238E27FC236}">
                <a16:creationId xmlns:a16="http://schemas.microsoft.com/office/drawing/2014/main" id="{1F008ACD-B486-E0BB-8334-06D21A697D08}"/>
              </a:ext>
            </a:extLst>
          </p:cNvPr>
          <p:cNvSpPr>
            <a:spLocks noGrp="1"/>
          </p:cNvSpPr>
          <p:nvPr>
            <p:ph type="subTitle" idx="1"/>
          </p:nvPr>
        </p:nvSpPr>
        <p:spPr>
          <a:xfrm>
            <a:off x="460675" y="830046"/>
            <a:ext cx="9781875" cy="241861"/>
          </a:xfrm>
        </p:spPr>
        <p:txBody>
          <a:bodyPr>
            <a:noAutofit/>
          </a:bodyPr>
          <a:lstStyle/>
          <a:p>
            <a:r>
              <a:rPr lang="ja-JP" altLang="en-US" dirty="0">
                <a:latin typeface="+mj-ea"/>
              </a:rPr>
              <a:t>公設庄内青果物地方卸売市場（三川町）の卸売業者2社と長井中央青果(株)で買掛金残高の過半を占める。県内外の市場・産地業者からも仕入れ、品揃えを確保している。</a:t>
            </a:r>
            <a:endParaRPr lang="en-US" altLang="ja-JP" dirty="0"/>
          </a:p>
        </p:txBody>
      </p:sp>
      <p:graphicFrame>
        <p:nvGraphicFramePr>
          <p:cNvPr id="16" name="Table 15"/>
          <p:cNvGraphicFramePr>
            <a:graphicFrameLocks noGrp="1"/>
          </p:cNvGraphicFramePr>
          <p:nvPr/>
        </p:nvGraphicFramePr>
        <p:xfrm>
          <a:off x="310896" y="1481328"/>
          <a:ext cx="10058400" cy="3017520"/>
        </p:xfrm>
        <a:graphic>
          <a:graphicData uri="http://schemas.openxmlformats.org/drawingml/2006/table">
            <a:tbl>
              <a:tblPr firstRow="0" bandRow="0">
                <a:tableStyleId>{5940675A-B579-460E-94D1-54222C63F5DA}</a:tableStyleId>
              </a:tblPr>
              <a:tblGrid>
                <a:gridCol w="274320"/>
                <a:gridCol w="1920240"/>
                <a:gridCol w="960120"/>
                <a:gridCol w="731520"/>
                <a:gridCol w="548640"/>
                <a:gridCol w="731520"/>
                <a:gridCol w="548640"/>
                <a:gridCol w="731520"/>
                <a:gridCol w="548640"/>
                <a:gridCol w="3063240"/>
              </a:tblGrid>
              <a:tr h="301752">
                <a:tc>
                  <a:txBody>
                    <a:bodyPr wrap="square"/>
                    <a:lstStyle/>
                    <a:p>
                      <a:pPr algn="ctr"/>
                      <a:r>
                        <a:rPr sz="800" b="1">
                          <a:solidFill>
                            <a:srgbClr val="FFFFFF"/>
                          </a:solidFill>
                          <a:latin typeface="游ゴシック"/>
                          <a:ea typeface="游ゴシック"/>
                        </a:rPr>
                        <a:t>№</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游ゴシック"/>
                          <a:ea typeface="游ゴシック"/>
                        </a:rPr>
                        <a:t>相手先</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游ゴシック"/>
                          <a:ea typeface="游ゴシック"/>
                        </a:rPr>
                        <a:t>所在地</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游ゴシック"/>
                          <a:ea typeface="游ゴシック"/>
                        </a:rPr>
                        <a:t>2024/3末</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游ゴシック"/>
                          <a:ea typeface="游ゴシック"/>
                        </a:rPr>
                        <a:t>構成比</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游ゴシック"/>
                          <a:ea typeface="游ゴシック"/>
                        </a:rPr>
                        <a:t>2025/3末</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游ゴシック"/>
                          <a:ea typeface="游ゴシック"/>
                        </a:rPr>
                        <a:t>構成比</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游ゴシック"/>
                          <a:ea typeface="游ゴシック"/>
                        </a:rPr>
                        <a:t>2026/3末</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游ゴシック"/>
                          <a:ea typeface="游ゴシック"/>
                        </a:rPr>
                        <a:t>構成比</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游ゴシック"/>
                          <a:ea typeface="游ゴシック"/>
                        </a:rPr>
                        <a:t>業種・備考</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r>
              <a:tr h="301752">
                <a:tc>
                  <a:txBody>
                    <a:bodyPr wrap="square"/>
                    <a:lstStyle/>
                    <a:p>
                      <a:pPr algn="ctr"/>
                      <a:r>
                        <a:rPr sz="800" b="0">
                          <a:solidFill>
                            <a:srgbClr val="1A1A1A"/>
                          </a:solidFill>
                          <a:latin typeface="Arial"/>
                          <a:ea typeface="游ゴシック"/>
                        </a:rPr>
                        <a:t>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丸果庄内青果(株)</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三川町</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6,569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36.2%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5,733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28.7%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12,426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47.2%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青果卸（公設庄内青果物地方卸売市場）</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01752">
                <a:tc>
                  <a:txBody>
                    <a:bodyPr wrap="square"/>
                    <a:lstStyle/>
                    <a:p>
                      <a:pPr algn="ctr"/>
                      <a:r>
                        <a:rPr sz="800" b="0">
                          <a:solidFill>
                            <a:srgbClr val="1A1A1A"/>
                          </a:solidFill>
                          <a:latin typeface="Arial"/>
                          <a:ea typeface="游ゴシック"/>
                        </a:rPr>
                        <a:t>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長井中央青果(株)</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長井市</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1,308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7.2%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2,087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10.5%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7,398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28.1%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青果卸</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01752">
                <a:tc>
                  <a:txBody>
                    <a:bodyPr wrap="square"/>
                    <a:lstStyle/>
                    <a:p>
                      <a:pPr algn="ctr"/>
                      <a:r>
                        <a:rPr sz="800" b="0">
                          <a:solidFill>
                            <a:srgbClr val="1A1A1A"/>
                          </a:solidFill>
                          <a:latin typeface="Arial"/>
                          <a:ea typeface="游ゴシック"/>
                        </a:rPr>
                        <a:t>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(株)庄果</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三川町</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3,611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19.9%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4,496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22.5%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青果卸（公設庄内青果物地方卸売市場）</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01752">
                <a:tc>
                  <a:txBody>
                    <a:bodyPr wrap="square"/>
                    <a:lstStyle/>
                    <a:p>
                      <a:pPr algn="ctr"/>
                      <a:r>
                        <a:rPr sz="800" b="0">
                          <a:solidFill>
                            <a:srgbClr val="1A1A1A"/>
                          </a:solidFill>
                          <a:latin typeface="Arial"/>
                          <a:ea typeface="游ゴシック"/>
                        </a:rPr>
                        <a:t>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(株)マルト直治郎商店</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三川町</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1,229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6.8%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1,954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9.8%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677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2.6%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01752">
                <a:tc>
                  <a:txBody>
                    <a:bodyPr wrap="square"/>
                    <a:lstStyle/>
                    <a:p>
                      <a:pPr algn="ctr"/>
                      <a:r>
                        <a:rPr sz="800" b="0">
                          <a:solidFill>
                            <a:srgbClr val="1A1A1A"/>
                          </a:solidFill>
                          <a:latin typeface="Arial"/>
                          <a:ea typeface="游ゴシック"/>
                        </a:rPr>
                        <a:t>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成田食品(株)</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福島県相馬市</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541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699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615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2.3%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01752">
                <a:tc>
                  <a:txBody>
                    <a:bodyPr wrap="square"/>
                    <a:lstStyle/>
                    <a:p>
                      <a:pPr algn="ctr"/>
                      <a:r>
                        <a:rPr sz="800" b="0">
                          <a:solidFill>
                            <a:srgbClr val="1A1A1A"/>
                          </a:solidFill>
                          <a:latin typeface="Arial"/>
                          <a:ea typeface="游ゴシック"/>
                        </a:rPr>
                        <a:t>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(株)ファーマインド</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東京都千代田区</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707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2.7%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青果流通（バナナ等・推察）</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01752">
                <a:tc>
                  <a:txBody>
                    <a:bodyPr wrap="square"/>
                    <a:lstStyle/>
                    <a:p>
                      <a:pPr algn="ctr"/>
                      <a:r>
                        <a:rPr sz="800" b="0">
                          <a:solidFill>
                            <a:srgbClr val="1A1A1A"/>
                          </a:solidFill>
                          <a:latin typeface="Arial"/>
                          <a:ea typeface="游ゴシック"/>
                        </a:rPr>
                        <a:t>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(株)東根農産センター</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東根市</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548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2.1%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01752">
                <a:tc>
                  <a:txBody>
                    <a:bodyPr wrap="square"/>
                    <a:lstStyle/>
                    <a:p>
                      <a:pPr algn="ctr"/>
                      <a:r>
                        <a:rPr sz="80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その他</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4,870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26.9%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4,986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25.0%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3,979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15.1%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01752">
                <a:tc>
                  <a:txBody>
                    <a:bodyPr wrap="square"/>
                    <a:lstStyle/>
                    <a:p>
                      <a:pPr algn="ctr"/>
                      <a:r>
                        <a:rPr sz="800" b="1">
                          <a:solidFill>
                            <a:srgbClr val="1A1A1A"/>
                          </a:solidFill>
                          <a:latin typeface="游ゴシック"/>
                          <a:ea typeface="游ゴシック"/>
                        </a:rPr>
                        <a:t>　</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1">
                          <a:solidFill>
                            <a:srgbClr val="1A1A1A"/>
                          </a:solidFill>
                          <a:latin typeface="游ゴシック"/>
                          <a:ea typeface="游ゴシック"/>
                        </a:rPr>
                        <a:t>合計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1">
                          <a:solidFill>
                            <a:srgbClr val="1A1A1A"/>
                          </a:solidFill>
                          <a:latin typeface="游ゴシック"/>
                          <a:ea typeface="游ゴシック"/>
                        </a:rPr>
                        <a:t>　</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18,128</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100.0%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19,955</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100.0%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26,349</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100.0%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1">
                          <a:solidFill>
                            <a:srgbClr val="1A1A1A"/>
                          </a:solidFill>
                          <a:latin typeface="游ゴシック"/>
                          <a:ea typeface="游ゴシック"/>
                        </a:rPr>
                        <a:t>　</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bl>
          </a:graphicData>
        </a:graphic>
      </p:graphicFrame>
      <p:sp>
        <p:nvSpPr>
          <p:cNvPr id="17" name="TextBox 16"/>
          <p:cNvSpPr txBox="1"/>
          <p:nvPr/>
        </p:nvSpPr>
        <p:spPr>
          <a:xfrm>
            <a:off x="310896" y="6583680"/>
            <a:ext cx="10058400" cy="411480"/>
          </a:xfrm>
          <a:prstGeom prst="rect">
            <a:avLst/>
          </a:prstGeom>
          <a:noFill/>
        </p:spPr>
        <p:txBody>
          <a:bodyPr wrap="square" lIns="0" rIns="0" tIns="0" bIns="0" anchor="t">
            <a:spAutoFit/>
          </a:bodyPr>
          <a:lstStyle/>
          <a:p>
            <a:pPr algn="l"/>
            <a:r>
              <a:rPr sz="750" b="0">
                <a:solidFill>
                  <a:srgbClr val="5A6670"/>
                </a:solidFill>
                <a:latin typeface="游ゴシック"/>
                <a:ea typeface="游ゴシック"/>
              </a:rPr>
              <a:t>※単位：千円。勘定科目内訳明細書の期末残高（50万円以上の相手先を個別記載）。年間取引高ではないため取引規模の順位とは異なる可能性がある（年間取引高は資料依頼中）。</a:t>
            </a:r>
          </a:p>
          <a:p>
            <a:pPr algn="l"/>
            <a:r>
              <a:rPr sz="750" b="0">
                <a:solidFill>
                  <a:srgbClr val="5A6670"/>
                </a:solidFill>
                <a:latin typeface="游ゴシック"/>
                <a:ea typeface="游ゴシック"/>
              </a:rPr>
              <a:t>※業種は公開情報等からの推察を含む。</a:t>
            </a:r>
          </a:p>
        </p:txBody>
      </p:sp>
    </p:spTree>
    <p:extLst>
      <p:ext uri="{BB962C8B-B14F-4D97-AF65-F5344CB8AC3E}">
        <p14:creationId xmlns:p14="http://schemas.microsoft.com/office/powerpoint/2010/main" val="19629684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E7C0C1-FCD4-88FA-EA3C-20168900DCC8}"/>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AE20CDE1-7008-F0D4-81FD-53AE154BF5EA}"/>
              </a:ext>
            </a:extLst>
          </p:cNvPr>
          <p:cNvSpPr>
            <a:spLocks noGrp="1"/>
          </p:cNvSpPr>
          <p:nvPr>
            <p:ph type="ctrTitle"/>
          </p:nvPr>
        </p:nvSpPr>
        <p:spPr>
          <a:xfrm>
            <a:off x="311150" y="180296"/>
            <a:ext cx="7799917" cy="339267"/>
          </a:xfrm>
        </p:spPr>
        <p:txBody>
          <a:bodyPr>
            <a:normAutofit/>
          </a:bodyPr>
          <a:lstStyle/>
          <a:p>
            <a:r>
              <a:rPr lang="ja-JP" altLang="en-US" dirty="0"/>
              <a:t>月別売上高（2026/3期）</a:t>
            </a:r>
          </a:p>
        </p:txBody>
      </p:sp>
      <p:sp>
        <p:nvSpPr>
          <p:cNvPr id="5" name="タイトル 1">
            <a:extLst>
              <a:ext uri="{FF2B5EF4-FFF2-40B4-BE49-F238E27FC236}">
                <a16:creationId xmlns:a16="http://schemas.microsoft.com/office/drawing/2014/main" id="{6790A563-0096-2902-0624-D66AB2A099B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事業概要</a:t>
            </a:r>
          </a:p>
        </p:txBody>
      </p:sp>
      <p:sp>
        <p:nvSpPr>
          <p:cNvPr id="7" name="字幕 13">
            <a:extLst>
              <a:ext uri="{FF2B5EF4-FFF2-40B4-BE49-F238E27FC236}">
                <a16:creationId xmlns:a16="http://schemas.microsoft.com/office/drawing/2014/main" id="{C28AC2D5-7B01-C5B2-1062-1CE28DB5BD3C}"/>
              </a:ext>
            </a:extLst>
          </p:cNvPr>
          <p:cNvSpPr>
            <a:spLocks noGrp="1"/>
          </p:cNvSpPr>
          <p:nvPr>
            <p:ph type="subTitle" idx="1"/>
          </p:nvPr>
        </p:nvSpPr>
        <p:spPr>
          <a:xfrm>
            <a:off x="460675" y="830046"/>
            <a:ext cx="9781875" cy="241861"/>
          </a:xfrm>
        </p:spPr>
        <p:txBody>
          <a:bodyPr>
            <a:noAutofit/>
          </a:bodyPr>
          <a:lstStyle/>
          <a:p>
            <a:r>
              <a:rPr lang="ja-JP" altLang="en-US" dirty="0">
                <a:latin typeface="+mj-ea"/>
              </a:rPr>
              <a:t>7〜8月に売上が集中（7月146百万円）し、1〜2月は約70百万円と約2倍の季節変動。繁忙期には運転資金が膨らむ</a:t>
            </a:r>
            <a:endParaRPr lang="en-US" altLang="ja-JP" dirty="0"/>
          </a:p>
        </p:txBody>
      </p:sp>
      <p:graphicFrame>
        <p:nvGraphicFramePr>
          <p:cNvPr id="14" name="Chart 13"/>
          <p:cNvGraphicFramePr>
            <a:graphicFrameLocks noGrp="1"/>
          </p:cNvGraphicFramePr>
          <p:nvPr/>
        </p:nvGraphicFramePr>
        <p:xfrm>
          <a:off x="310896" y="1463040"/>
          <a:ext cx="6675120" cy="5303520"/>
        </p:xfrm>
        <a:graphic>
          <a:graphicData uri="http://schemas.openxmlformats.org/drawingml/2006/chart">
            <c:chart xmlns:c="http://schemas.openxmlformats.org/drawingml/2006/chart" r:id="rId4"/>
          </a:graphicData>
        </a:graphic>
      </p:graphicFrame>
      <p:sp>
        <p:nvSpPr>
          <p:cNvPr id="15" name="Rectangle 14"/>
          <p:cNvSpPr/>
          <p:nvPr/>
        </p:nvSpPr>
        <p:spPr>
          <a:xfrm>
            <a:off x="7178040" y="1463040"/>
            <a:ext cx="3154680" cy="27432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l"/>
            <a:r>
              <a:rPr sz="1000" b="1">
                <a:solidFill>
                  <a:srgbClr val="FFFFFF"/>
                </a:solidFill>
                <a:latin typeface="游ゴシック"/>
                <a:ea typeface="游ゴシック"/>
              </a:rPr>
              <a:t>Comment</a:t>
            </a:r>
          </a:p>
        </p:txBody>
      </p:sp>
      <p:sp>
        <p:nvSpPr>
          <p:cNvPr id="16" name="Rectangle 15"/>
          <p:cNvSpPr/>
          <p:nvPr/>
        </p:nvSpPr>
        <p:spPr>
          <a:xfrm>
            <a:off x="7178040" y="1755648"/>
            <a:ext cx="3154680" cy="501091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spcAft>
                <a:spcPts val="200"/>
              </a:spcAft>
            </a:pPr>
            <a:r>
              <a:rPr sz="900" b="0">
                <a:solidFill>
                  <a:srgbClr val="1A1A1A"/>
                </a:solidFill>
                <a:latin typeface="游ゴシック"/>
                <a:ea typeface="游ゴシック"/>
              </a:rPr>
              <a:t>・月平均100百万円に対し、7月は1.47倍、8月は1.39倍。</a:t>
            </a:r>
          </a:p>
          <a:p>
            <a:pPr algn="l">
              <a:spcAft>
                <a:spcPts val="200"/>
              </a:spcAft>
            </a:pPr>
            <a:r>
              <a:rPr sz="900" b="0">
                <a:solidFill>
                  <a:srgbClr val="1A1A1A"/>
                </a:solidFill>
                <a:latin typeface="游ゴシック"/>
                <a:ea typeface="游ゴシック"/>
              </a:rPr>
              <a:t>・だだちゃ豆（7〜9月）・庄内砂丘メロン等の地場産品の出荷最盛期が売上を押し上げていると推察（品目別売上は要確認）。</a:t>
            </a:r>
          </a:p>
          <a:p>
            <a:pPr algn="l">
              <a:spcAft>
                <a:spcPts val="200"/>
              </a:spcAft>
            </a:pPr>
            <a:r>
              <a:rPr sz="900" b="0">
                <a:solidFill>
                  <a:srgbClr val="1A1A1A"/>
                </a:solidFill>
                <a:latin typeface="游ゴシック"/>
                <a:ea typeface="游ゴシック"/>
              </a:rPr>
              <a:t>・2026年7月末の売上債権43.0百万円・在庫36.6百万円は3月末から増加。</a:t>
            </a:r>
          </a:p>
          <a:p>
            <a:pPr algn="l">
              <a:spcAft>
                <a:spcPts val="200"/>
              </a:spcAft>
            </a:pPr>
            <a:r>
              <a:rPr sz="900" b="0">
                <a:solidFill>
                  <a:srgbClr val="1A1A1A"/>
                </a:solidFill>
                <a:latin typeface="游ゴシック"/>
                <a:ea typeface="游ゴシック"/>
              </a:rPr>
              <a:t>・出所：法人事業概況説明書（2026/3期）の月別売上金額。</a:t>
            </a:r>
          </a:p>
        </p:txBody>
      </p:sp>
    </p:spTree>
    <p:extLst>
      <p:ext uri="{BB962C8B-B14F-4D97-AF65-F5344CB8AC3E}">
        <p14:creationId xmlns:p14="http://schemas.microsoft.com/office/powerpoint/2010/main" val="29325859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t>組織、拠点、設備等</a:t>
            </a:r>
            <a:endParaRPr lang="en-US" altLang="ja-JP" dirty="0"/>
          </a:p>
        </p:txBody>
      </p:sp>
    </p:spTree>
    <p:extLst>
      <p:ext uri="{BB962C8B-B14F-4D97-AF65-F5344CB8AC3E}">
        <p14:creationId xmlns:p14="http://schemas.microsoft.com/office/powerpoint/2010/main" val="1797825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DBCD3-5A3B-2BD8-C28A-632388175E8D}"/>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59B21744-4533-BD30-603B-B8A7A98290C9}"/>
              </a:ext>
            </a:extLst>
          </p:cNvPr>
          <p:cNvSpPr>
            <a:spLocks noGrp="1"/>
          </p:cNvSpPr>
          <p:nvPr>
            <p:ph type="ctrTitle"/>
          </p:nvPr>
        </p:nvSpPr>
        <p:spPr>
          <a:xfrm>
            <a:off x="311150" y="180296"/>
            <a:ext cx="7799917" cy="339267"/>
          </a:xfrm>
        </p:spPr>
        <p:txBody>
          <a:bodyPr>
            <a:normAutofit/>
          </a:bodyPr>
          <a:lstStyle/>
          <a:p>
            <a:r>
              <a:rPr lang="ja-JP" altLang="en-US" dirty="0"/>
              <a:t>組織図</a:t>
            </a:r>
          </a:p>
        </p:txBody>
      </p:sp>
      <p:sp>
        <p:nvSpPr>
          <p:cNvPr id="5" name="タイトル 1">
            <a:extLst>
              <a:ext uri="{FF2B5EF4-FFF2-40B4-BE49-F238E27FC236}">
                <a16:creationId xmlns:a16="http://schemas.microsoft.com/office/drawing/2014/main" id="{804C58BE-3C7F-3F33-BB99-084C0822899F}"/>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85" name="字幕 13">
            <a:extLst>
              <a:ext uri="{FF2B5EF4-FFF2-40B4-BE49-F238E27FC236}">
                <a16:creationId xmlns:a16="http://schemas.microsoft.com/office/drawing/2014/main" id="{AE763FA6-9689-E705-5BEC-31A36E71F8CB}"/>
              </a:ext>
            </a:extLst>
          </p:cNvPr>
          <p:cNvSpPr>
            <a:spLocks noGrp="1"/>
          </p:cNvSpPr>
          <p:nvPr>
            <p:ph type="subTitle" idx="1"/>
          </p:nvPr>
        </p:nvSpPr>
        <p:spPr>
          <a:xfrm>
            <a:off x="460675" y="830046"/>
            <a:ext cx="9781875" cy="241861"/>
          </a:xfrm>
        </p:spPr>
        <p:txBody>
          <a:bodyPr>
            <a:noAutofit/>
          </a:bodyPr>
          <a:lstStyle/>
          <a:p>
            <a:r>
              <a:rPr lang="ja-JP" altLang="en-US" dirty="0">
                <a:latin typeface="+mj-ea"/>
              </a:rPr>
              <a:t>8部門・従業員24名の体制。営業（野菜・果実・近郷）とパッケージ部に人員が厚く、セリ人資格者は営業系に配置</a:t>
            </a:r>
            <a:endParaRPr lang="en-US" altLang="ja-JP" dirty="0">
              <a:latin typeface="+mj-ea"/>
            </a:endParaRPr>
          </a:p>
        </p:txBody>
      </p:sp>
      <p:sp>
        <p:nvSpPr>
          <p:cNvPr id="86" name="Rectangle 85"/>
          <p:cNvSpPr/>
          <p:nvPr/>
        </p:nvSpPr>
        <p:spPr>
          <a:xfrm>
            <a:off x="365760" y="1554480"/>
            <a:ext cx="3108960" cy="1234440"/>
          </a:xfrm>
          <a:prstGeom prst="rect">
            <a:avLst/>
          </a:prstGeom>
          <a:solidFill>
            <a:srgbClr val="E3E7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850" b="0">
                <a:solidFill>
                  <a:srgbClr val="1A1A1A"/>
                </a:solidFill>
                <a:latin typeface="游ゴシック"/>
                <a:ea typeface="游ゴシック"/>
              </a:rPr>
              <a:t>【人員構成】（2026年9月1日時点）</a:t>
            </a:r>
          </a:p>
          <a:p>
            <a:pPr algn="l"/>
            <a:r>
              <a:rPr sz="850" b="0">
                <a:solidFill>
                  <a:srgbClr val="1A1A1A"/>
                </a:solidFill>
                <a:latin typeface="游ゴシック"/>
                <a:ea typeface="游ゴシック"/>
              </a:rPr>
              <a:t>取締役3名／正社員17名／嘱託・再雇用・試用3名</a:t>
            </a:r>
          </a:p>
          <a:p>
            <a:pPr algn="l"/>
            <a:r>
              <a:rPr sz="850" b="0">
                <a:solidFill>
                  <a:srgbClr val="1A1A1A"/>
                </a:solidFill>
                <a:latin typeface="游ゴシック"/>
                <a:ea typeface="游ゴシック"/>
              </a:rPr>
              <a:t>パート・アルバイト4名／合計27名</a:t>
            </a:r>
          </a:p>
          <a:p>
            <a:pPr algn="l"/>
            <a:r>
              <a:rPr sz="850" b="0">
                <a:solidFill>
                  <a:srgbClr val="1A1A1A"/>
                </a:solidFill>
                <a:latin typeface="游ゴシック"/>
                <a:ea typeface="游ゴシック"/>
              </a:rPr>
              <a:t>平均年齢50.9歳／平均勤続年数12.7年（従業員）</a:t>
            </a:r>
          </a:p>
        </p:txBody>
      </p:sp>
      <p:sp>
        <p:nvSpPr>
          <p:cNvPr id="87" name="Rectangle 86"/>
          <p:cNvSpPr/>
          <p:nvPr/>
        </p:nvSpPr>
        <p:spPr>
          <a:xfrm>
            <a:off x="4206240" y="1600200"/>
            <a:ext cx="2286000" cy="36576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00" b="1">
                <a:solidFill>
                  <a:srgbClr val="0B3041"/>
                </a:solidFill>
                <a:latin typeface="游ゴシック"/>
                <a:ea typeface="游ゴシック"/>
              </a:rPr>
              <a:t>取締役会（取締役3名）</a:t>
            </a:r>
          </a:p>
        </p:txBody>
      </p:sp>
      <p:sp>
        <p:nvSpPr>
          <p:cNvPr id="88" name="Rectangle 87"/>
          <p:cNvSpPr/>
          <p:nvPr/>
        </p:nvSpPr>
        <p:spPr>
          <a:xfrm>
            <a:off x="7315200" y="1600200"/>
            <a:ext cx="2103120" cy="365760"/>
          </a:xfrm>
          <a:prstGeom prst="rect">
            <a:avLst/>
          </a:prstGeom>
          <a:solidFill>
            <a:srgbClr val="FFFFFF"/>
          </a:solidFill>
          <a:ln w="9525">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0">
                <a:solidFill>
                  <a:srgbClr val="0B3041"/>
                </a:solidFill>
                <a:latin typeface="游ゴシック"/>
                <a:ea typeface="游ゴシック"/>
              </a:rPr>
              <a:t>監査役（会計限定）</a:t>
            </a:r>
          </a:p>
        </p:txBody>
      </p:sp>
      <p:sp>
        <p:nvSpPr>
          <p:cNvPr id="89" name="Rectangle 88"/>
          <p:cNvSpPr/>
          <p:nvPr/>
        </p:nvSpPr>
        <p:spPr>
          <a:xfrm>
            <a:off x="4206240" y="2148840"/>
            <a:ext cx="2286000" cy="45720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a:solidFill>
                  <a:srgbClr val="FFFFFF"/>
                </a:solidFill>
                <a:latin typeface="游ゴシック"/>
                <a:ea typeface="游ゴシック"/>
              </a:rPr>
              <a:t>岡部 寛</a:t>
            </a:r>
          </a:p>
          <a:p>
            <a:pPr algn="ctr"/>
            <a:r>
              <a:rPr sz="950" b="1">
                <a:solidFill>
                  <a:srgbClr val="FFFFFF"/>
                </a:solidFill>
                <a:latin typeface="游ゴシック"/>
                <a:ea typeface="游ゴシック"/>
              </a:rPr>
              <a:t>代表取締役</a:t>
            </a:r>
          </a:p>
        </p:txBody>
      </p:sp>
      <p:sp>
        <p:nvSpPr>
          <p:cNvPr id="90" name="Rectangle 89"/>
          <p:cNvSpPr/>
          <p:nvPr/>
        </p:nvSpPr>
        <p:spPr>
          <a:xfrm>
            <a:off x="6858000" y="2212848"/>
            <a:ext cx="2560320" cy="329184"/>
          </a:xfrm>
          <a:prstGeom prst="rect">
            <a:avLst/>
          </a:prstGeom>
          <a:solidFill>
            <a:srgbClr val="FFFFFF"/>
          </a:solidFill>
          <a:ln w="9525">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800" b="0">
                <a:solidFill>
                  <a:srgbClr val="0B3041"/>
                </a:solidFill>
                <a:latin typeface="游ゴシック"/>
                <a:ea typeface="游ゴシック"/>
              </a:rPr>
              <a:t>取締役部長 岡部 一（担当部門は要確認）</a:t>
            </a:r>
          </a:p>
        </p:txBody>
      </p:sp>
      <p:cxnSp>
        <p:nvCxnSpPr>
          <p:cNvPr id="91" name="Connector 90"/>
          <p:cNvCxnSpPr/>
          <p:nvPr/>
        </p:nvCxnSpPr>
        <p:spPr>
          <a:xfrm>
            <a:off x="5349240" y="1965960"/>
            <a:ext cx="0" cy="182880"/>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5349240" y="2606040"/>
            <a:ext cx="0" cy="320040"/>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6492240" y="1783080"/>
            <a:ext cx="822960" cy="0"/>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952119" y="2926080"/>
            <a:ext cx="8721090" cy="0"/>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952119" y="2926080"/>
            <a:ext cx="0" cy="137160"/>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sp>
        <p:nvSpPr>
          <p:cNvPr id="96" name="Rectangle 95"/>
          <p:cNvSpPr/>
          <p:nvPr/>
        </p:nvSpPr>
        <p:spPr>
          <a:xfrm>
            <a:off x="365760" y="3063240"/>
            <a:ext cx="1172718" cy="4572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850" b="1">
                <a:solidFill>
                  <a:srgbClr val="0B3041"/>
                </a:solidFill>
                <a:latin typeface="游ゴシック"/>
                <a:ea typeface="游ゴシック"/>
              </a:rPr>
              <a:t>野菜営業部</a:t>
            </a:r>
          </a:p>
          <a:p>
            <a:pPr algn="ctr"/>
            <a:r>
              <a:rPr sz="850" b="1">
                <a:solidFill>
                  <a:srgbClr val="0B3041"/>
                </a:solidFill>
                <a:latin typeface="游ゴシック"/>
                <a:ea typeface="游ゴシック"/>
              </a:rPr>
              <a:t>3名</a:t>
            </a:r>
          </a:p>
        </p:txBody>
      </p:sp>
      <p:sp>
        <p:nvSpPr>
          <p:cNvPr id="97" name="Rectangle 96"/>
          <p:cNvSpPr/>
          <p:nvPr/>
        </p:nvSpPr>
        <p:spPr>
          <a:xfrm>
            <a:off x="365760" y="3566160"/>
            <a:ext cx="1172718" cy="2926080"/>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spcAft>
                <a:spcPts val="200"/>
              </a:spcAft>
            </a:pPr>
            <a:r>
              <a:rPr sz="800" b="0">
                <a:solidFill>
                  <a:srgbClr val="1A1A1A"/>
                </a:solidFill>
                <a:latin typeface="游ゴシック"/>
                <a:ea typeface="游ゴシック"/>
              </a:rPr>
              <a:t>No.1 副部長</a:t>
            </a:r>
          </a:p>
          <a:p>
            <a:pPr algn="l">
              <a:spcAft>
                <a:spcPts val="200"/>
              </a:spcAft>
            </a:pPr>
            <a:r>
              <a:rPr sz="800" b="0">
                <a:solidFill>
                  <a:srgbClr val="1A1A1A"/>
                </a:solidFill>
                <a:latin typeface="游ゴシック"/>
                <a:ea typeface="游ゴシック"/>
              </a:rPr>
              <a:t>No.2 副部長 ★</a:t>
            </a:r>
          </a:p>
          <a:p>
            <a:pPr algn="l">
              <a:spcAft>
                <a:spcPts val="200"/>
              </a:spcAft>
            </a:pPr>
            <a:r>
              <a:rPr sz="800" b="0">
                <a:solidFill>
                  <a:srgbClr val="1A1A1A"/>
                </a:solidFill>
                <a:latin typeface="游ゴシック"/>
                <a:ea typeface="游ゴシック"/>
              </a:rPr>
              <a:t>No.7 正社員</a:t>
            </a:r>
          </a:p>
        </p:txBody>
      </p:sp>
      <p:cxnSp>
        <p:nvCxnSpPr>
          <p:cNvPr id="98" name="Connector 97"/>
          <p:cNvCxnSpPr/>
          <p:nvPr/>
        </p:nvCxnSpPr>
        <p:spPr>
          <a:xfrm>
            <a:off x="2197989" y="2926080"/>
            <a:ext cx="0" cy="137160"/>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sp>
        <p:nvSpPr>
          <p:cNvPr id="99" name="Rectangle 98"/>
          <p:cNvSpPr/>
          <p:nvPr/>
        </p:nvSpPr>
        <p:spPr>
          <a:xfrm>
            <a:off x="1611630" y="3063240"/>
            <a:ext cx="1172718" cy="4572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850" b="1">
                <a:solidFill>
                  <a:srgbClr val="0B3041"/>
                </a:solidFill>
                <a:latin typeface="游ゴシック"/>
                <a:ea typeface="游ゴシック"/>
              </a:rPr>
              <a:t>果実営業部</a:t>
            </a:r>
          </a:p>
          <a:p>
            <a:pPr algn="ctr"/>
            <a:r>
              <a:rPr sz="850" b="1">
                <a:solidFill>
                  <a:srgbClr val="0B3041"/>
                </a:solidFill>
                <a:latin typeface="游ゴシック"/>
                <a:ea typeface="游ゴシック"/>
              </a:rPr>
              <a:t>2名</a:t>
            </a:r>
          </a:p>
        </p:txBody>
      </p:sp>
      <p:sp>
        <p:nvSpPr>
          <p:cNvPr id="100" name="Rectangle 99"/>
          <p:cNvSpPr/>
          <p:nvPr/>
        </p:nvSpPr>
        <p:spPr>
          <a:xfrm>
            <a:off x="1611630" y="3566160"/>
            <a:ext cx="1172718" cy="2926080"/>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spcAft>
                <a:spcPts val="200"/>
              </a:spcAft>
            </a:pPr>
            <a:r>
              <a:rPr sz="800" b="0">
                <a:solidFill>
                  <a:srgbClr val="1A1A1A"/>
                </a:solidFill>
                <a:latin typeface="游ゴシック"/>
                <a:ea typeface="游ゴシック"/>
              </a:rPr>
              <a:t>No.8 正社員</a:t>
            </a:r>
          </a:p>
          <a:p>
            <a:pPr algn="l">
              <a:spcAft>
                <a:spcPts val="200"/>
              </a:spcAft>
            </a:pPr>
            <a:r>
              <a:rPr sz="800" b="0">
                <a:solidFill>
                  <a:srgbClr val="1A1A1A"/>
                </a:solidFill>
                <a:latin typeface="游ゴシック"/>
                <a:ea typeface="游ゴシック"/>
              </a:rPr>
              <a:t>No.16 課長</a:t>
            </a:r>
          </a:p>
        </p:txBody>
      </p:sp>
      <p:cxnSp>
        <p:nvCxnSpPr>
          <p:cNvPr id="101" name="Connector 100"/>
          <p:cNvCxnSpPr/>
          <p:nvPr/>
        </p:nvCxnSpPr>
        <p:spPr>
          <a:xfrm>
            <a:off x="3443859" y="2926080"/>
            <a:ext cx="0" cy="137160"/>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sp>
        <p:nvSpPr>
          <p:cNvPr id="102" name="Rectangle 101"/>
          <p:cNvSpPr/>
          <p:nvPr/>
        </p:nvSpPr>
        <p:spPr>
          <a:xfrm>
            <a:off x="2857500" y="3063240"/>
            <a:ext cx="1172718" cy="4572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850" b="1">
                <a:solidFill>
                  <a:srgbClr val="0B3041"/>
                </a:solidFill>
                <a:latin typeface="游ゴシック"/>
                <a:ea typeface="游ゴシック"/>
              </a:rPr>
              <a:t>近郷部</a:t>
            </a:r>
          </a:p>
          <a:p>
            <a:pPr algn="ctr"/>
            <a:r>
              <a:rPr sz="850" b="1">
                <a:solidFill>
                  <a:srgbClr val="0B3041"/>
                </a:solidFill>
                <a:latin typeface="游ゴシック"/>
                <a:ea typeface="游ゴシック"/>
              </a:rPr>
              <a:t>4名</a:t>
            </a:r>
          </a:p>
        </p:txBody>
      </p:sp>
      <p:sp>
        <p:nvSpPr>
          <p:cNvPr id="103" name="Rectangle 102"/>
          <p:cNvSpPr/>
          <p:nvPr/>
        </p:nvSpPr>
        <p:spPr>
          <a:xfrm>
            <a:off x="2857500" y="3566160"/>
            <a:ext cx="1172718" cy="2926080"/>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spcAft>
                <a:spcPts val="200"/>
              </a:spcAft>
            </a:pPr>
            <a:r>
              <a:rPr sz="800" b="0">
                <a:solidFill>
                  <a:srgbClr val="1A1A1A"/>
                </a:solidFill>
                <a:latin typeface="游ゴシック"/>
                <a:ea typeface="游ゴシック"/>
              </a:rPr>
              <a:t>No.3 課長 ★</a:t>
            </a:r>
          </a:p>
          <a:p>
            <a:pPr algn="l">
              <a:spcAft>
                <a:spcPts val="200"/>
              </a:spcAft>
            </a:pPr>
            <a:r>
              <a:rPr sz="800" b="0">
                <a:solidFill>
                  <a:srgbClr val="1A1A1A"/>
                </a:solidFill>
                <a:latin typeface="游ゴシック"/>
                <a:ea typeface="游ゴシック"/>
              </a:rPr>
              <a:t>No.4 正社員</a:t>
            </a:r>
          </a:p>
          <a:p>
            <a:pPr algn="l">
              <a:spcAft>
                <a:spcPts val="200"/>
              </a:spcAft>
            </a:pPr>
            <a:r>
              <a:rPr sz="800" b="0">
                <a:solidFill>
                  <a:srgbClr val="1A1A1A"/>
                </a:solidFill>
                <a:latin typeface="游ゴシック"/>
                <a:ea typeface="游ゴシック"/>
              </a:rPr>
              <a:t>No.5 正社員</a:t>
            </a:r>
          </a:p>
          <a:p>
            <a:pPr algn="l">
              <a:spcAft>
                <a:spcPts val="200"/>
              </a:spcAft>
            </a:pPr>
            <a:r>
              <a:rPr sz="800" b="0">
                <a:solidFill>
                  <a:srgbClr val="1A1A1A"/>
                </a:solidFill>
                <a:latin typeface="游ゴシック"/>
                <a:ea typeface="游ゴシック"/>
              </a:rPr>
              <a:t>No.12 試用期間 ★</a:t>
            </a:r>
          </a:p>
        </p:txBody>
      </p:sp>
      <p:cxnSp>
        <p:nvCxnSpPr>
          <p:cNvPr id="104" name="Connector 103"/>
          <p:cNvCxnSpPr/>
          <p:nvPr/>
        </p:nvCxnSpPr>
        <p:spPr>
          <a:xfrm>
            <a:off x="4689729" y="2926080"/>
            <a:ext cx="0" cy="137160"/>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sp>
        <p:nvSpPr>
          <p:cNvPr id="105" name="Rectangle 104"/>
          <p:cNvSpPr/>
          <p:nvPr/>
        </p:nvSpPr>
        <p:spPr>
          <a:xfrm>
            <a:off x="4103370" y="3063240"/>
            <a:ext cx="1172718" cy="4572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850" b="1">
                <a:solidFill>
                  <a:srgbClr val="0B3041"/>
                </a:solidFill>
                <a:latin typeface="游ゴシック"/>
                <a:ea typeface="游ゴシック"/>
              </a:rPr>
              <a:t>集配部</a:t>
            </a:r>
          </a:p>
          <a:p>
            <a:pPr algn="ctr"/>
            <a:r>
              <a:rPr sz="850" b="1">
                <a:solidFill>
                  <a:srgbClr val="0B3041"/>
                </a:solidFill>
                <a:latin typeface="游ゴシック"/>
                <a:ea typeface="游ゴシック"/>
              </a:rPr>
              <a:t>4名</a:t>
            </a:r>
          </a:p>
        </p:txBody>
      </p:sp>
      <p:sp>
        <p:nvSpPr>
          <p:cNvPr id="106" name="Rectangle 105"/>
          <p:cNvSpPr/>
          <p:nvPr/>
        </p:nvSpPr>
        <p:spPr>
          <a:xfrm>
            <a:off x="4103370" y="3566160"/>
            <a:ext cx="1172718" cy="2926080"/>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spcAft>
                <a:spcPts val="200"/>
              </a:spcAft>
            </a:pPr>
            <a:r>
              <a:rPr sz="800" b="0">
                <a:solidFill>
                  <a:srgbClr val="1A1A1A"/>
                </a:solidFill>
                <a:latin typeface="游ゴシック"/>
                <a:ea typeface="游ゴシック"/>
              </a:rPr>
              <a:t>No.6 正社員</a:t>
            </a:r>
          </a:p>
          <a:p>
            <a:pPr algn="l">
              <a:spcAft>
                <a:spcPts val="200"/>
              </a:spcAft>
            </a:pPr>
            <a:r>
              <a:rPr sz="800" b="0">
                <a:solidFill>
                  <a:srgbClr val="1A1A1A"/>
                </a:solidFill>
                <a:latin typeface="游ゴシック"/>
                <a:ea typeface="游ゴシック"/>
              </a:rPr>
              <a:t>No.9 正社員</a:t>
            </a:r>
          </a:p>
          <a:p>
            <a:pPr algn="l">
              <a:spcAft>
                <a:spcPts val="200"/>
              </a:spcAft>
            </a:pPr>
            <a:r>
              <a:rPr sz="800" b="0">
                <a:solidFill>
                  <a:srgbClr val="1A1A1A"/>
                </a:solidFill>
                <a:latin typeface="游ゴシック"/>
                <a:ea typeface="游ゴシック"/>
              </a:rPr>
              <a:t>No.11 再雇用正社員</a:t>
            </a:r>
          </a:p>
          <a:p>
            <a:pPr algn="l">
              <a:spcAft>
                <a:spcPts val="200"/>
              </a:spcAft>
            </a:pPr>
            <a:r>
              <a:rPr sz="800" b="0">
                <a:solidFill>
                  <a:srgbClr val="1A1A1A"/>
                </a:solidFill>
                <a:latin typeface="游ゴシック"/>
                <a:ea typeface="游ゴシック"/>
              </a:rPr>
              <a:t>No.13 アルバイト</a:t>
            </a:r>
          </a:p>
        </p:txBody>
      </p:sp>
      <p:cxnSp>
        <p:nvCxnSpPr>
          <p:cNvPr id="107" name="Connector 106"/>
          <p:cNvCxnSpPr/>
          <p:nvPr/>
        </p:nvCxnSpPr>
        <p:spPr>
          <a:xfrm>
            <a:off x="5935599" y="2926080"/>
            <a:ext cx="0" cy="137160"/>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sp>
        <p:nvSpPr>
          <p:cNvPr id="108" name="Rectangle 107"/>
          <p:cNvSpPr/>
          <p:nvPr/>
        </p:nvSpPr>
        <p:spPr>
          <a:xfrm>
            <a:off x="5349240" y="3063240"/>
            <a:ext cx="1172718" cy="4572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850" b="1">
                <a:solidFill>
                  <a:srgbClr val="0B3041"/>
                </a:solidFill>
                <a:latin typeface="游ゴシック"/>
                <a:ea typeface="游ゴシック"/>
              </a:rPr>
              <a:t>生花部</a:t>
            </a:r>
          </a:p>
          <a:p>
            <a:pPr algn="ctr"/>
            <a:r>
              <a:rPr sz="850" b="1">
                <a:solidFill>
                  <a:srgbClr val="0B3041"/>
                </a:solidFill>
                <a:latin typeface="游ゴシック"/>
                <a:ea typeface="游ゴシック"/>
              </a:rPr>
              <a:t>1名</a:t>
            </a:r>
          </a:p>
        </p:txBody>
      </p:sp>
      <p:sp>
        <p:nvSpPr>
          <p:cNvPr id="109" name="Rectangle 108"/>
          <p:cNvSpPr/>
          <p:nvPr/>
        </p:nvSpPr>
        <p:spPr>
          <a:xfrm>
            <a:off x="5349240" y="3566160"/>
            <a:ext cx="1172718" cy="2926080"/>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spcAft>
                <a:spcPts val="200"/>
              </a:spcAft>
            </a:pPr>
            <a:r>
              <a:rPr sz="800" b="0">
                <a:solidFill>
                  <a:srgbClr val="1A1A1A"/>
                </a:solidFill>
                <a:latin typeface="游ゴシック"/>
                <a:ea typeface="游ゴシック"/>
              </a:rPr>
              <a:t>No.10 嘱託社員</a:t>
            </a:r>
          </a:p>
        </p:txBody>
      </p:sp>
      <p:cxnSp>
        <p:nvCxnSpPr>
          <p:cNvPr id="110" name="Connector 109"/>
          <p:cNvCxnSpPr/>
          <p:nvPr/>
        </p:nvCxnSpPr>
        <p:spPr>
          <a:xfrm>
            <a:off x="7181469" y="2926080"/>
            <a:ext cx="0" cy="137160"/>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sp>
        <p:nvSpPr>
          <p:cNvPr id="111" name="Rectangle 110"/>
          <p:cNvSpPr/>
          <p:nvPr/>
        </p:nvSpPr>
        <p:spPr>
          <a:xfrm>
            <a:off x="6595110" y="3063240"/>
            <a:ext cx="1172718" cy="4572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850" b="1">
                <a:solidFill>
                  <a:srgbClr val="0B3041"/>
                </a:solidFill>
                <a:latin typeface="游ゴシック"/>
                <a:ea typeface="游ゴシック"/>
              </a:rPr>
              <a:t>パッケージ部</a:t>
            </a:r>
          </a:p>
          <a:p>
            <a:pPr algn="ctr"/>
            <a:r>
              <a:rPr sz="850" b="1">
                <a:solidFill>
                  <a:srgbClr val="0B3041"/>
                </a:solidFill>
                <a:latin typeface="游ゴシック"/>
                <a:ea typeface="游ゴシック"/>
              </a:rPr>
              <a:t>7名</a:t>
            </a:r>
          </a:p>
        </p:txBody>
      </p:sp>
      <p:sp>
        <p:nvSpPr>
          <p:cNvPr id="112" name="Rectangle 111"/>
          <p:cNvSpPr/>
          <p:nvPr/>
        </p:nvSpPr>
        <p:spPr>
          <a:xfrm>
            <a:off x="6595110" y="3566160"/>
            <a:ext cx="1172718" cy="2926080"/>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spcAft>
                <a:spcPts val="200"/>
              </a:spcAft>
            </a:pPr>
            <a:r>
              <a:rPr sz="800" b="0">
                <a:solidFill>
                  <a:srgbClr val="1A1A1A"/>
                </a:solidFill>
                <a:latin typeface="游ゴシック"/>
                <a:ea typeface="游ゴシック"/>
              </a:rPr>
              <a:t>No.18 係長</a:t>
            </a:r>
          </a:p>
          <a:p>
            <a:pPr algn="l">
              <a:spcAft>
                <a:spcPts val="200"/>
              </a:spcAft>
            </a:pPr>
            <a:r>
              <a:rPr sz="800" b="0">
                <a:solidFill>
                  <a:srgbClr val="1A1A1A"/>
                </a:solidFill>
                <a:latin typeface="游ゴシック"/>
                <a:ea typeface="游ゴシック"/>
              </a:rPr>
              <a:t>No.19 正社員</a:t>
            </a:r>
          </a:p>
          <a:p>
            <a:pPr algn="l">
              <a:spcAft>
                <a:spcPts val="200"/>
              </a:spcAft>
            </a:pPr>
            <a:r>
              <a:rPr sz="800" b="0">
                <a:solidFill>
                  <a:srgbClr val="1A1A1A"/>
                </a:solidFill>
                <a:latin typeface="游ゴシック"/>
                <a:ea typeface="游ゴシック"/>
              </a:rPr>
              <a:t>No.20 正社員</a:t>
            </a:r>
          </a:p>
          <a:p>
            <a:pPr algn="l">
              <a:spcAft>
                <a:spcPts val="200"/>
              </a:spcAft>
            </a:pPr>
            <a:r>
              <a:rPr sz="800" b="0">
                <a:solidFill>
                  <a:srgbClr val="1A1A1A"/>
                </a:solidFill>
                <a:latin typeface="游ゴシック"/>
                <a:ea typeface="游ゴシック"/>
              </a:rPr>
              <a:t>No.21 正社員</a:t>
            </a:r>
          </a:p>
          <a:p>
            <a:pPr algn="l">
              <a:spcAft>
                <a:spcPts val="200"/>
              </a:spcAft>
            </a:pPr>
            <a:r>
              <a:rPr sz="800" b="0">
                <a:solidFill>
                  <a:srgbClr val="1A1A1A"/>
                </a:solidFill>
                <a:latin typeface="游ゴシック"/>
                <a:ea typeface="游ゴシック"/>
              </a:rPr>
              <a:t>No.22 パート</a:t>
            </a:r>
          </a:p>
          <a:p>
            <a:pPr algn="l">
              <a:spcAft>
                <a:spcPts val="200"/>
              </a:spcAft>
            </a:pPr>
            <a:r>
              <a:rPr sz="800" b="0">
                <a:solidFill>
                  <a:srgbClr val="1A1A1A"/>
                </a:solidFill>
                <a:latin typeface="游ゴシック"/>
                <a:ea typeface="游ゴシック"/>
              </a:rPr>
              <a:t>No.23 パート</a:t>
            </a:r>
          </a:p>
          <a:p>
            <a:pPr algn="l">
              <a:spcAft>
                <a:spcPts val="200"/>
              </a:spcAft>
            </a:pPr>
            <a:r>
              <a:rPr sz="800" b="0">
                <a:solidFill>
                  <a:srgbClr val="1A1A1A"/>
                </a:solidFill>
                <a:latin typeface="游ゴシック"/>
                <a:ea typeface="游ゴシック"/>
              </a:rPr>
              <a:t>No.24 パート</a:t>
            </a:r>
          </a:p>
        </p:txBody>
      </p:sp>
      <p:cxnSp>
        <p:nvCxnSpPr>
          <p:cNvPr id="113" name="Connector 112"/>
          <p:cNvCxnSpPr/>
          <p:nvPr/>
        </p:nvCxnSpPr>
        <p:spPr>
          <a:xfrm>
            <a:off x="8427339" y="2926080"/>
            <a:ext cx="0" cy="137160"/>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sp>
        <p:nvSpPr>
          <p:cNvPr id="114" name="Rectangle 113"/>
          <p:cNvSpPr/>
          <p:nvPr/>
        </p:nvSpPr>
        <p:spPr>
          <a:xfrm>
            <a:off x="7840980" y="3063240"/>
            <a:ext cx="1172718" cy="4572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850" b="1">
                <a:solidFill>
                  <a:srgbClr val="0B3041"/>
                </a:solidFill>
                <a:latin typeface="游ゴシック"/>
                <a:ea typeface="游ゴシック"/>
              </a:rPr>
              <a:t>資材部</a:t>
            </a:r>
          </a:p>
          <a:p>
            <a:pPr algn="ctr"/>
            <a:r>
              <a:rPr sz="850" b="1">
                <a:solidFill>
                  <a:srgbClr val="0B3041"/>
                </a:solidFill>
                <a:latin typeface="游ゴシック"/>
                <a:ea typeface="游ゴシック"/>
              </a:rPr>
              <a:t>1名</a:t>
            </a:r>
          </a:p>
        </p:txBody>
      </p:sp>
      <p:sp>
        <p:nvSpPr>
          <p:cNvPr id="115" name="Rectangle 114"/>
          <p:cNvSpPr/>
          <p:nvPr/>
        </p:nvSpPr>
        <p:spPr>
          <a:xfrm>
            <a:off x="7840980" y="3566160"/>
            <a:ext cx="1172718" cy="2926080"/>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spcAft>
                <a:spcPts val="200"/>
              </a:spcAft>
            </a:pPr>
            <a:r>
              <a:rPr sz="800" b="0">
                <a:solidFill>
                  <a:srgbClr val="1A1A1A"/>
                </a:solidFill>
                <a:latin typeface="游ゴシック"/>
                <a:ea typeface="游ゴシック"/>
              </a:rPr>
              <a:t>No.15 課長</a:t>
            </a:r>
          </a:p>
        </p:txBody>
      </p:sp>
      <p:cxnSp>
        <p:nvCxnSpPr>
          <p:cNvPr id="116" name="Connector 115"/>
          <p:cNvCxnSpPr/>
          <p:nvPr/>
        </p:nvCxnSpPr>
        <p:spPr>
          <a:xfrm>
            <a:off x="9673209" y="2926080"/>
            <a:ext cx="0" cy="137160"/>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sp>
        <p:nvSpPr>
          <p:cNvPr id="117" name="Rectangle 116"/>
          <p:cNvSpPr/>
          <p:nvPr/>
        </p:nvSpPr>
        <p:spPr>
          <a:xfrm>
            <a:off x="9086850" y="3063240"/>
            <a:ext cx="1172718" cy="4572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850" b="1">
                <a:solidFill>
                  <a:srgbClr val="0B3041"/>
                </a:solidFill>
                <a:latin typeface="游ゴシック"/>
                <a:ea typeface="游ゴシック"/>
              </a:rPr>
              <a:t>総務部・事務</a:t>
            </a:r>
          </a:p>
          <a:p>
            <a:pPr algn="ctr"/>
            <a:r>
              <a:rPr sz="850" b="1">
                <a:solidFill>
                  <a:srgbClr val="0B3041"/>
                </a:solidFill>
                <a:latin typeface="游ゴシック"/>
                <a:ea typeface="游ゴシック"/>
              </a:rPr>
              <a:t>2名</a:t>
            </a:r>
          </a:p>
        </p:txBody>
      </p:sp>
      <p:sp>
        <p:nvSpPr>
          <p:cNvPr id="118" name="Rectangle 117"/>
          <p:cNvSpPr/>
          <p:nvPr/>
        </p:nvSpPr>
        <p:spPr>
          <a:xfrm>
            <a:off x="9086850" y="3566160"/>
            <a:ext cx="1172718" cy="2926080"/>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spcAft>
                <a:spcPts val="200"/>
              </a:spcAft>
            </a:pPr>
            <a:r>
              <a:rPr sz="800" b="0">
                <a:solidFill>
                  <a:srgbClr val="1A1A1A"/>
                </a:solidFill>
                <a:latin typeface="游ゴシック"/>
                <a:ea typeface="游ゴシック"/>
              </a:rPr>
              <a:t>No.14 部長</a:t>
            </a:r>
          </a:p>
          <a:p>
            <a:pPr algn="l">
              <a:spcAft>
                <a:spcPts val="200"/>
              </a:spcAft>
            </a:pPr>
            <a:r>
              <a:rPr sz="800" b="0">
                <a:solidFill>
                  <a:srgbClr val="1A1A1A"/>
                </a:solidFill>
                <a:latin typeface="游ゴシック"/>
                <a:ea typeface="游ゴシック"/>
              </a:rPr>
              <a:t>No.17 正社員</a:t>
            </a:r>
          </a:p>
        </p:txBody>
      </p:sp>
      <p:sp>
        <p:nvSpPr>
          <p:cNvPr id="119" name="TextBox 118"/>
          <p:cNvSpPr txBox="1"/>
          <p:nvPr/>
        </p:nvSpPr>
        <p:spPr>
          <a:xfrm>
            <a:off x="365760" y="6583680"/>
            <a:ext cx="9966960" cy="411480"/>
          </a:xfrm>
          <a:prstGeom prst="rect">
            <a:avLst/>
          </a:prstGeom>
          <a:noFill/>
        </p:spPr>
        <p:txBody>
          <a:bodyPr wrap="square" lIns="0" rIns="0" tIns="0" bIns="0" anchor="t">
            <a:spAutoFit/>
          </a:bodyPr>
          <a:lstStyle/>
          <a:p>
            <a:pPr algn="l"/>
            <a:r>
              <a:rPr sz="750" b="0">
                <a:solidFill>
                  <a:srgbClr val="5A6670"/>
                </a:solidFill>
                <a:latin typeface="游ゴシック"/>
                <a:ea typeface="游ゴシック"/>
              </a:rPr>
              <a:t>※図中のNo.は「従業員」ページの従業員No.と対応。★はセリ人資格保有者。役職のない者は雇用形態を表示。</a:t>
            </a:r>
          </a:p>
          <a:p>
            <a:pPr algn="l"/>
            <a:r>
              <a:rPr sz="750" b="0">
                <a:solidFill>
                  <a:srgbClr val="5A6670"/>
                </a:solidFill>
                <a:latin typeface="游ゴシック"/>
                <a:ea typeface="游ゴシック"/>
              </a:rPr>
              <a:t>※常務取締役（菅原圭吾氏）は2026年5月29日に退任。取締役（非常勤）岡部竹古氏は図示省略。</a:t>
            </a:r>
          </a:p>
        </p:txBody>
      </p:sp>
    </p:spTree>
    <p:extLst>
      <p:ext uri="{BB962C8B-B14F-4D97-AF65-F5344CB8AC3E}">
        <p14:creationId xmlns:p14="http://schemas.microsoft.com/office/powerpoint/2010/main" val="27286124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B11F1-1D51-B82A-B921-6A785A325690}"/>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0FAD2F8E-0153-3144-7799-F8299088775F}"/>
              </a:ext>
            </a:extLst>
          </p:cNvPr>
          <p:cNvSpPr>
            <a:spLocks noGrp="1"/>
          </p:cNvSpPr>
          <p:nvPr>
            <p:ph type="ctrTitle"/>
          </p:nvPr>
        </p:nvSpPr>
        <p:spPr>
          <a:xfrm>
            <a:off x="311150" y="180296"/>
            <a:ext cx="7799917" cy="339267"/>
          </a:xfrm>
        </p:spPr>
        <p:txBody>
          <a:bodyPr>
            <a:normAutofit/>
          </a:bodyPr>
          <a:lstStyle/>
          <a:p>
            <a:r>
              <a:rPr lang="ja-JP" altLang="en-US" dirty="0"/>
              <a:t>株主及び役員</a:t>
            </a:r>
          </a:p>
        </p:txBody>
      </p:sp>
      <p:sp>
        <p:nvSpPr>
          <p:cNvPr id="2" name="正方形/長方形 1">
            <a:extLst>
              <a:ext uri="{FF2B5EF4-FFF2-40B4-BE49-F238E27FC236}">
                <a16:creationId xmlns:a16="http://schemas.microsoft.com/office/drawing/2014/main" id="{F474A0FB-C4FD-5021-0996-014C9ADB8336}"/>
              </a:ext>
            </a:extLst>
          </p:cNvPr>
          <p:cNvSpPr/>
          <p:nvPr/>
        </p:nvSpPr>
        <p:spPr>
          <a:xfrm>
            <a:off x="311151" y="1517736"/>
            <a:ext cx="1479550"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mj-ea"/>
                <a:ea typeface="+mj-ea"/>
              </a:rPr>
              <a:t>株主</a:t>
            </a:r>
          </a:p>
        </p:txBody>
      </p:sp>
      <p:sp>
        <p:nvSpPr>
          <p:cNvPr id="3" name="正方形/長方形 2">
            <a:extLst>
              <a:ext uri="{FF2B5EF4-FFF2-40B4-BE49-F238E27FC236}">
                <a16:creationId xmlns:a16="http://schemas.microsoft.com/office/drawing/2014/main" id="{75AD8D3D-AB28-DAEE-3CFD-D5FBA0A0A9F7}"/>
              </a:ext>
            </a:extLst>
          </p:cNvPr>
          <p:cNvSpPr/>
          <p:nvPr/>
        </p:nvSpPr>
        <p:spPr>
          <a:xfrm>
            <a:off x="311151" y="3889461"/>
            <a:ext cx="1479550"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mj-ea"/>
                <a:ea typeface="+mj-ea"/>
              </a:rPr>
              <a:t>役員</a:t>
            </a:r>
          </a:p>
        </p:txBody>
      </p:sp>
      <p:sp>
        <p:nvSpPr>
          <p:cNvPr id="4" name="タイトル 1">
            <a:extLst>
              <a:ext uri="{FF2B5EF4-FFF2-40B4-BE49-F238E27FC236}">
                <a16:creationId xmlns:a16="http://schemas.microsoft.com/office/drawing/2014/main" id="{7A477B2A-8CB0-33C5-E13F-6A9007ED2C1F}"/>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8" name="字幕 13">
            <a:extLst>
              <a:ext uri="{FF2B5EF4-FFF2-40B4-BE49-F238E27FC236}">
                <a16:creationId xmlns:a16="http://schemas.microsoft.com/office/drawing/2014/main" id="{B2B57451-0F79-4EA4-E5F7-DD3BE659A77B}"/>
              </a:ext>
            </a:extLst>
          </p:cNvPr>
          <p:cNvSpPr>
            <a:spLocks noGrp="1"/>
          </p:cNvSpPr>
          <p:nvPr>
            <p:ph type="subTitle" idx="1"/>
          </p:nvPr>
        </p:nvSpPr>
        <p:spPr>
          <a:xfrm>
            <a:off x="460675" y="830046"/>
            <a:ext cx="9781875" cy="241861"/>
          </a:xfrm>
        </p:spPr>
        <p:txBody>
          <a:bodyPr>
            <a:noAutofit/>
          </a:bodyPr>
          <a:lstStyle/>
          <a:p>
            <a:r>
              <a:rPr lang="ja-JP" altLang="en-US" dirty="0">
                <a:latin typeface="+mj-ea"/>
              </a:rPr>
              <a:t>代表者一族（岡部家4名）で75.8%を保有。親族外株主4名が残り24.3%を保有</a:t>
            </a:r>
            <a:endParaRPr lang="en-US" altLang="ja-JP" dirty="0"/>
          </a:p>
        </p:txBody>
      </p:sp>
      <p:graphicFrame>
        <p:nvGraphicFramePr>
          <p:cNvPr id="14" name="Table 13"/>
          <p:cNvGraphicFramePr>
            <a:graphicFrameLocks noGrp="1"/>
          </p:cNvGraphicFramePr>
          <p:nvPr/>
        </p:nvGraphicFramePr>
        <p:xfrm>
          <a:off x="1920240" y="1517904"/>
          <a:ext cx="8412478" cy="2286000"/>
        </p:xfrm>
        <a:graphic>
          <a:graphicData uri="http://schemas.openxmlformats.org/drawingml/2006/table">
            <a:tbl>
              <a:tblPr firstRow="0" bandRow="0">
                <a:tableStyleId>{5940675A-B579-460E-94D1-54222C63F5DA}</a:tableStyleId>
              </a:tblPr>
              <a:tblGrid>
                <a:gridCol w="386780"/>
                <a:gridCol w="1740513"/>
                <a:gridCol w="3867806"/>
                <a:gridCol w="1257037"/>
                <a:gridCol w="1160342"/>
              </a:tblGrid>
              <a:tr h="228600">
                <a:tc>
                  <a:txBody>
                    <a:bodyPr wrap="square"/>
                    <a:lstStyle/>
                    <a:p>
                      <a:pPr algn="ctr"/>
                      <a:r>
                        <a:rPr sz="850" b="1">
                          <a:solidFill>
                            <a:srgbClr val="FFFFFF"/>
                          </a:solidFill>
                          <a:latin typeface="游ゴシック"/>
                          <a:ea typeface="游ゴシック"/>
                        </a:rPr>
                        <a:t>№</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氏名</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続柄・役職</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保有株式数</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保有割合</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r>
              <a:tr h="228600">
                <a:tc>
                  <a:txBody>
                    <a:bodyPr wrap="square"/>
                    <a:lstStyle/>
                    <a:p>
                      <a:pPr algn="ctr"/>
                      <a:r>
                        <a:rPr sz="850" b="0">
                          <a:solidFill>
                            <a:srgbClr val="1A1A1A"/>
                          </a:solidFill>
                          <a:latin typeface="Arial"/>
                          <a:ea typeface="游ゴシック"/>
                        </a:rPr>
                        <a:t>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岡部 寛</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代表取締役（本人）</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1,510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37.8%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28600">
                <a:tc>
                  <a:txBody>
                    <a:bodyPr wrap="square"/>
                    <a:lstStyle/>
                    <a:p>
                      <a:pPr algn="ctr"/>
                      <a:r>
                        <a:rPr sz="850" b="0">
                          <a:solidFill>
                            <a:srgbClr val="1A1A1A"/>
                          </a:solidFill>
                          <a:latin typeface="Arial"/>
                          <a:ea typeface="游ゴシック"/>
                        </a:rPr>
                        <a:t>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岡部 一</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取締役・代表者の兄弟</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720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18.0%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28600">
                <a:tc>
                  <a:txBody>
                    <a:bodyPr wrap="square"/>
                    <a:lstStyle/>
                    <a:p>
                      <a:pPr algn="ctr"/>
                      <a:r>
                        <a:rPr sz="850" b="0">
                          <a:solidFill>
                            <a:srgbClr val="1A1A1A"/>
                          </a:solidFill>
                          <a:latin typeface="Arial"/>
                          <a:ea typeface="游ゴシック"/>
                        </a:rPr>
                        <a:t>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岡部 和子</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代表者の兄弟</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500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12.5%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28600">
                <a:tc>
                  <a:txBody>
                    <a:bodyPr wrap="square"/>
                    <a:lstStyle/>
                    <a:p>
                      <a:pPr algn="ctr"/>
                      <a:r>
                        <a:rPr sz="850" b="0">
                          <a:solidFill>
                            <a:srgbClr val="1A1A1A"/>
                          </a:solidFill>
                          <a:latin typeface="Arial"/>
                          <a:ea typeface="游ゴシック"/>
                        </a:rPr>
                        <a:t>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梅津 恵一</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360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9.0%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28600">
                <a:tc>
                  <a:txBody>
                    <a:bodyPr wrap="square"/>
                    <a:lstStyle/>
                    <a:p>
                      <a:pPr algn="ctr"/>
                      <a:r>
                        <a:rPr sz="850" b="0">
                          <a:solidFill>
                            <a:srgbClr val="1A1A1A"/>
                          </a:solidFill>
                          <a:latin typeface="Arial"/>
                          <a:ea typeface="游ゴシック"/>
                        </a:rPr>
                        <a:t>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小野寺 則和</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監査役</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350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8.8%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28600">
                <a:tc>
                  <a:txBody>
                    <a:bodyPr wrap="square"/>
                    <a:lstStyle/>
                    <a:p>
                      <a:pPr algn="ctr"/>
                      <a:r>
                        <a:rPr sz="850" b="0">
                          <a:solidFill>
                            <a:srgbClr val="1A1A1A"/>
                          </a:solidFill>
                          <a:latin typeface="Arial"/>
                          <a:ea typeface="游ゴシック"/>
                        </a:rPr>
                        <a:t>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岡部 竹古</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取締役・代表者の配偶者</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300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7.5%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28600">
                <a:tc>
                  <a:txBody>
                    <a:bodyPr wrap="square"/>
                    <a:lstStyle/>
                    <a:p>
                      <a:pPr algn="ctr"/>
                      <a:r>
                        <a:rPr sz="850" b="0">
                          <a:solidFill>
                            <a:srgbClr val="1A1A1A"/>
                          </a:solidFill>
                          <a:latin typeface="Arial"/>
                          <a:ea typeface="游ゴシック"/>
                        </a:rPr>
                        <a:t>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佐藤 令子</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200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5.0%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28600">
                <a:tc>
                  <a:txBody>
                    <a:bodyPr wrap="square"/>
                    <a:lstStyle/>
                    <a:p>
                      <a:pPr algn="ctr"/>
                      <a:r>
                        <a:rPr sz="850" b="0">
                          <a:solidFill>
                            <a:srgbClr val="1A1A1A"/>
                          </a:solidFill>
                          <a:latin typeface="Arial"/>
                          <a:ea typeface="游ゴシック"/>
                        </a:rPr>
                        <a:t>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菅原 圭吾</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元常務取締役（2026年5月退任）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60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28600">
                <a:tc>
                  <a:txBody>
                    <a:bodyPr wrap="square"/>
                    <a:lstStyle/>
                    <a:p>
                      <a:pPr algn="ctr"/>
                      <a:r>
                        <a:rPr sz="850" b="1">
                          <a:solidFill>
                            <a:srgbClr val="1A1A1A"/>
                          </a:solidFill>
                          <a:latin typeface="游ゴシック"/>
                          <a:ea typeface="游ゴシック"/>
                        </a:rPr>
                        <a:t>　</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1">
                          <a:solidFill>
                            <a:srgbClr val="1A1A1A"/>
                          </a:solidFill>
                          <a:latin typeface="游ゴシック"/>
                          <a:ea typeface="游ゴシック"/>
                        </a:rPr>
                        <a:t>合計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1">
                          <a:solidFill>
                            <a:srgbClr val="1A1A1A"/>
                          </a:solidFill>
                          <a:latin typeface="游ゴシック"/>
                          <a:ea typeface="游ゴシック"/>
                        </a:rPr>
                        <a:t>　</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4,000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100.0%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bl>
          </a:graphicData>
        </a:graphic>
      </p:graphicFrame>
      <p:graphicFrame>
        <p:nvGraphicFramePr>
          <p:cNvPr id="15" name="Table 14"/>
          <p:cNvGraphicFramePr>
            <a:graphicFrameLocks noGrp="1"/>
          </p:cNvGraphicFramePr>
          <p:nvPr/>
        </p:nvGraphicFramePr>
        <p:xfrm>
          <a:off x="1920240" y="3886200"/>
          <a:ext cx="8412480" cy="1645920"/>
        </p:xfrm>
        <a:graphic>
          <a:graphicData uri="http://schemas.openxmlformats.org/drawingml/2006/table">
            <a:tbl>
              <a:tblPr firstRow="0" bandRow="0">
                <a:tableStyleId>{5940675A-B579-460E-94D1-54222C63F5DA}</a:tableStyleId>
              </a:tblPr>
              <a:tblGrid>
                <a:gridCol w="365760"/>
                <a:gridCol w="1280160"/>
                <a:gridCol w="1737360"/>
                <a:gridCol w="731520"/>
                <a:gridCol w="1737360"/>
                <a:gridCol w="2560320"/>
              </a:tblGrid>
              <a:tr h="274320">
                <a:tc>
                  <a:txBody>
                    <a:bodyPr wrap="square"/>
                    <a:lstStyle/>
                    <a:p>
                      <a:pPr algn="ctr"/>
                      <a:r>
                        <a:rPr sz="850" b="1">
                          <a:solidFill>
                            <a:srgbClr val="FFFFFF"/>
                          </a:solidFill>
                          <a:latin typeface="游ゴシック"/>
                          <a:ea typeface="游ゴシック"/>
                        </a:rPr>
                        <a:t>№</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氏名</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役職</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常勤</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役員報酬（2026/3期・千円）</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備考</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r>
              <a:tr h="274320">
                <a:tc>
                  <a:txBody>
                    <a:bodyPr wrap="square"/>
                    <a:lstStyle/>
                    <a:p>
                      <a:pPr algn="ctr"/>
                      <a:r>
                        <a:rPr sz="850" b="0">
                          <a:solidFill>
                            <a:srgbClr val="1A1A1A"/>
                          </a:solidFill>
                          <a:latin typeface="Arial"/>
                          <a:ea typeface="游ゴシック"/>
                        </a:rPr>
                        <a:t>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岡部 寛</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代表取締役</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0">
                          <a:solidFill>
                            <a:srgbClr val="1A1A1A"/>
                          </a:solidFill>
                          <a:latin typeface="游ゴシック"/>
                          <a:ea typeface="游ゴシック"/>
                        </a:rPr>
                        <a:t>常勤</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4,320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社長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74320">
                <a:tc>
                  <a:txBody>
                    <a:bodyPr wrap="square"/>
                    <a:lstStyle/>
                    <a:p>
                      <a:pPr algn="ctr"/>
                      <a:r>
                        <a:rPr sz="850" b="0">
                          <a:solidFill>
                            <a:srgbClr val="1A1A1A"/>
                          </a:solidFill>
                          <a:latin typeface="Arial"/>
                          <a:ea typeface="游ゴシック"/>
                        </a:rPr>
                        <a:t>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岡部 一</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取締役</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0">
                          <a:solidFill>
                            <a:srgbClr val="1A1A1A"/>
                          </a:solidFill>
                          <a:latin typeface="游ゴシック"/>
                          <a:ea typeface="游ゴシック"/>
                        </a:rPr>
                        <a:t>常勤</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4,200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部長（代表者の兄弟）</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74320">
                <a:tc>
                  <a:txBody>
                    <a:bodyPr wrap="square"/>
                    <a:lstStyle/>
                    <a:p>
                      <a:pPr algn="ctr"/>
                      <a:r>
                        <a:rPr sz="850" b="0">
                          <a:solidFill>
                            <a:srgbClr val="1A1A1A"/>
                          </a:solidFill>
                          <a:latin typeface="Arial"/>
                          <a:ea typeface="游ゴシック"/>
                        </a:rPr>
                        <a:t>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岡部 竹古</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取締役</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0">
                          <a:solidFill>
                            <a:srgbClr val="1A1A1A"/>
                          </a:solidFill>
                          <a:latin typeface="游ゴシック"/>
                          <a:ea typeface="游ゴシック"/>
                        </a:rPr>
                        <a:t>非常勤</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代表者の配偶者</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74320">
                <a:tc>
                  <a:txBody>
                    <a:bodyPr wrap="square"/>
                    <a:lstStyle/>
                    <a:p>
                      <a:pPr algn="ctr"/>
                      <a:r>
                        <a:rPr sz="850" b="0">
                          <a:solidFill>
                            <a:srgbClr val="1A1A1A"/>
                          </a:solidFill>
                          <a:latin typeface="Arial"/>
                          <a:ea typeface="游ゴシック"/>
                        </a:rPr>
                        <a:t>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小野寺 則和</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監査役</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0">
                          <a:solidFill>
                            <a:srgbClr val="1A1A1A"/>
                          </a:solidFill>
                          <a:latin typeface="游ゴシック"/>
                          <a:ea typeface="游ゴシック"/>
                        </a:rPr>
                        <a:t>非常勤</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会計監査限定</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74320">
                <a:tc>
                  <a:txBody>
                    <a:bodyPr wrap="square"/>
                    <a:lstStyle/>
                    <a:p>
                      <a:pPr algn="ctr"/>
                      <a:r>
                        <a:rPr sz="850" b="0">
                          <a:solidFill>
                            <a:srgbClr val="1A1A1A"/>
                          </a:solidFill>
                          <a:latin typeface="Arial"/>
                          <a:ea typeface="游ゴシック"/>
                        </a:rPr>
                        <a:t>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菅原 圭吾</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（退任）常務取締役</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0">
                          <a:solidFill>
                            <a:srgbClr val="1A1A1A"/>
                          </a:solidFill>
                          <a:latin typeface="游ゴシック"/>
                          <a:ea typeface="游ゴシック"/>
                        </a:rPr>
                        <a:t>常勤</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6,600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2026年5月29日退任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bl>
          </a:graphicData>
        </a:graphic>
      </p:graphicFrame>
      <p:sp>
        <p:nvSpPr>
          <p:cNvPr id="16" name="TextBox 15"/>
          <p:cNvSpPr txBox="1"/>
          <p:nvPr/>
        </p:nvSpPr>
        <p:spPr>
          <a:xfrm>
            <a:off x="310896" y="5669280"/>
            <a:ext cx="10058400" cy="914400"/>
          </a:xfrm>
          <a:prstGeom prst="rect">
            <a:avLst/>
          </a:prstGeom>
          <a:noFill/>
        </p:spPr>
        <p:txBody>
          <a:bodyPr wrap="square" lIns="0" rIns="0" tIns="0" bIns="0" anchor="t">
            <a:spAutoFit/>
          </a:bodyPr>
          <a:lstStyle/>
          <a:p>
            <a:pPr algn="l">
              <a:spcAft>
                <a:spcPts val="200"/>
              </a:spcAft>
            </a:pPr>
            <a:r>
              <a:rPr sz="850" b="0">
                <a:solidFill>
                  <a:srgbClr val="1A1A1A"/>
                </a:solidFill>
                <a:latin typeface="游ゴシック"/>
                <a:ea typeface="游ゴシック"/>
              </a:rPr>
              <a:t>・役員報酬総額は22,200千円（2024/3期・2025/3期）→15,360千円（2026/3期）。代表取締役は10,560千円→4,320千円に減額（理由は要確認）。</a:t>
            </a:r>
          </a:p>
          <a:p>
            <a:pPr algn="l">
              <a:spcAft>
                <a:spcPts val="200"/>
              </a:spcAft>
            </a:pPr>
            <a:r>
              <a:rPr sz="850" b="0">
                <a:solidFill>
                  <a:srgbClr val="1A1A1A"/>
                </a:solidFill>
                <a:latin typeface="游ゴシック"/>
                <a:ea typeface="游ゴシック"/>
              </a:rPr>
              <a:t>・取締役会設置会社・監査役設置会社（監査の範囲を会計に限定）。株式の譲渡には取締役会の承認を要する。</a:t>
            </a:r>
          </a:p>
          <a:p>
            <a:pPr algn="l">
              <a:spcAft>
                <a:spcPts val="200"/>
              </a:spcAft>
            </a:pPr>
            <a:r>
              <a:rPr sz="850" b="0">
                <a:solidFill>
                  <a:srgbClr val="1A1A1A"/>
                </a:solidFill>
                <a:latin typeface="游ゴシック"/>
                <a:ea typeface="游ゴシック"/>
              </a:rPr>
              <a:t>※出所：法人税申告書別表二（2026/3期）、履歴事項全部証明書（2026年9月10日現在）。株主名簿・名義株の有無は要確認。</a:t>
            </a:r>
          </a:p>
        </p:txBody>
      </p:sp>
    </p:spTree>
    <p:extLst>
      <p:ext uri="{BB962C8B-B14F-4D97-AF65-F5344CB8AC3E}">
        <p14:creationId xmlns:p14="http://schemas.microsoft.com/office/powerpoint/2010/main" val="111136594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A5D0D1-0787-475E-2A3A-4107DB8EC8C6}"/>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7057045-99B0-78F1-349A-A7BFEFFF27C9}"/>
              </a:ext>
            </a:extLst>
          </p:cNvPr>
          <p:cNvSpPr>
            <a:spLocks noGrp="1"/>
          </p:cNvSpPr>
          <p:nvPr>
            <p:ph type="ctrTitle"/>
          </p:nvPr>
        </p:nvSpPr>
        <p:spPr>
          <a:xfrm>
            <a:off x="311150" y="180296"/>
            <a:ext cx="7799917" cy="339267"/>
          </a:xfrm>
        </p:spPr>
        <p:txBody>
          <a:bodyPr>
            <a:normAutofit/>
          </a:bodyPr>
          <a:lstStyle/>
          <a:p>
            <a:r>
              <a:rPr lang="ja-JP" altLang="en-US" dirty="0"/>
              <a:t>従業員一覧</a:t>
            </a:r>
          </a:p>
        </p:txBody>
      </p:sp>
      <p:sp>
        <p:nvSpPr>
          <p:cNvPr id="2" name="タイトル 1">
            <a:extLst>
              <a:ext uri="{FF2B5EF4-FFF2-40B4-BE49-F238E27FC236}">
                <a16:creationId xmlns:a16="http://schemas.microsoft.com/office/drawing/2014/main" id="{221C2F7A-197F-87B3-7293-77B559F8B532}"/>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6" name="字幕 13">
            <a:extLst>
              <a:ext uri="{FF2B5EF4-FFF2-40B4-BE49-F238E27FC236}">
                <a16:creationId xmlns:a16="http://schemas.microsoft.com/office/drawing/2014/main" id="{9F39F7D2-779F-1749-1B8E-9FCB51D635CB}"/>
              </a:ext>
            </a:extLst>
          </p:cNvPr>
          <p:cNvSpPr>
            <a:spLocks noGrp="1"/>
          </p:cNvSpPr>
          <p:nvPr>
            <p:ph type="subTitle" idx="1"/>
          </p:nvPr>
        </p:nvSpPr>
        <p:spPr>
          <a:xfrm>
            <a:off x="460675" y="830046"/>
            <a:ext cx="9781875" cy="241861"/>
          </a:xfrm>
        </p:spPr>
        <p:txBody>
          <a:bodyPr>
            <a:noAutofit/>
          </a:bodyPr>
          <a:lstStyle/>
          <a:p>
            <a:r>
              <a:rPr lang="ja-JP" altLang="en-US" dirty="0">
                <a:latin typeface="+mj-ea"/>
              </a:rPr>
              <a:t>従業員24名（平均年齢50.9歳・平均勤続12.7年）。勤続20年以上のベテランが多い一方、60歳以上が8名</a:t>
            </a:r>
            <a:endParaRPr lang="en-US" altLang="ja-JP" dirty="0"/>
          </a:p>
        </p:txBody>
      </p:sp>
      <p:graphicFrame>
        <p:nvGraphicFramePr>
          <p:cNvPr id="14" name="Table 13"/>
          <p:cNvGraphicFramePr>
            <a:graphicFrameLocks noGrp="1"/>
          </p:cNvGraphicFramePr>
          <p:nvPr/>
        </p:nvGraphicFramePr>
        <p:xfrm>
          <a:off x="310896" y="1417320"/>
          <a:ext cx="10058396" cy="5143500"/>
        </p:xfrm>
        <a:graphic>
          <a:graphicData uri="http://schemas.openxmlformats.org/drawingml/2006/table">
            <a:tbl>
              <a:tblPr firstRow="0" bandRow="0">
                <a:tableStyleId>{5940675A-B579-460E-94D1-54222C63F5DA}</a:tableStyleId>
              </a:tblPr>
              <a:tblGrid>
                <a:gridCol w="452062"/>
                <a:gridCol w="1243173"/>
                <a:gridCol w="508570"/>
                <a:gridCol w="565078"/>
                <a:gridCol w="734602"/>
                <a:gridCol w="1243173"/>
                <a:gridCol w="791110"/>
                <a:gridCol w="621586"/>
                <a:gridCol w="734602"/>
                <a:gridCol w="3164440"/>
              </a:tblGrid>
              <a:tr h="205740">
                <a:tc>
                  <a:txBody>
                    <a:bodyPr wrap="square"/>
                    <a:lstStyle/>
                    <a:p>
                      <a:pPr algn="ctr"/>
                      <a:r>
                        <a:rPr sz="750" b="1">
                          <a:solidFill>
                            <a:srgbClr val="FFFFFF"/>
                          </a:solidFill>
                          <a:latin typeface="游ゴシック"/>
                          <a:ea typeface="游ゴシック"/>
                        </a:rPr>
                        <a:t>№</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1">
                          <a:solidFill>
                            <a:srgbClr val="FFFFFF"/>
                          </a:solidFill>
                          <a:latin typeface="游ゴシック"/>
                          <a:ea typeface="游ゴシック"/>
                        </a:rPr>
                        <a:t>雇用形態</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1">
                          <a:solidFill>
                            <a:srgbClr val="FFFFFF"/>
                          </a:solidFill>
                          <a:latin typeface="游ゴシック"/>
                          <a:ea typeface="游ゴシック"/>
                        </a:rPr>
                        <a:t>性別</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1">
                          <a:solidFill>
                            <a:srgbClr val="FFFFFF"/>
                          </a:solidFill>
                          <a:latin typeface="游ゴシック"/>
                          <a:ea typeface="游ゴシック"/>
                        </a:rPr>
                        <a:t>年齢</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1">
                          <a:solidFill>
                            <a:srgbClr val="FFFFFF"/>
                          </a:solidFill>
                          <a:latin typeface="游ゴシック"/>
                          <a:ea typeface="游ゴシック"/>
                        </a:rPr>
                        <a:t>勤続年数</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1">
                          <a:solidFill>
                            <a:srgbClr val="FFFFFF"/>
                          </a:solidFill>
                          <a:latin typeface="游ゴシック"/>
                          <a:ea typeface="游ゴシック"/>
                        </a:rPr>
                        <a:t>部署</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1">
                          <a:solidFill>
                            <a:srgbClr val="FFFFFF"/>
                          </a:solidFill>
                          <a:latin typeface="游ゴシック"/>
                          <a:ea typeface="游ゴシック"/>
                        </a:rPr>
                        <a:t>役職</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1">
                          <a:solidFill>
                            <a:srgbClr val="FFFFFF"/>
                          </a:solidFill>
                          <a:latin typeface="游ゴシック"/>
                          <a:ea typeface="游ゴシック"/>
                        </a:rPr>
                        <a:t>セリ人</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1">
                          <a:solidFill>
                            <a:srgbClr val="FFFFFF"/>
                          </a:solidFill>
                          <a:latin typeface="游ゴシック"/>
                          <a:ea typeface="游ゴシック"/>
                        </a:rPr>
                        <a:t>ﾌｫｰｸﾘﾌﾄ</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1">
                          <a:solidFill>
                            <a:srgbClr val="FFFFFF"/>
                          </a:solidFill>
                          <a:latin typeface="游ゴシック"/>
                          <a:ea typeface="游ゴシック"/>
                        </a:rPr>
                        <a:t>備考</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正社員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47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24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野菜営業部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副部長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正社員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63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野菜営業部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副部長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正社員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32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野菜営業部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16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正社員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女</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49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19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果実営業部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課長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正社員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36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果実営業部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正社員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31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12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近郷部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課長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正社員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42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近郷部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正社員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45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近郷部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12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試用期間</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66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近郷部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正社員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42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14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集配部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2022年4月よりフルタイム</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正社員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63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集配部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11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再雇用正社員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40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集配部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13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アルバイト</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55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集配部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休日のみ配送</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10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嘱託社員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69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生花部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18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正社員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女</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52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パッケージ部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係長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2012年4月よりフルタイム</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19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正社員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女</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65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パッケージ部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2012年4月よりフルタイム／定年後再雇用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21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正社員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女</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65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17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パッケージ部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2012年4月よりフルタイム</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22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パート</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女</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67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14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パッケージ部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4h</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23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パート</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29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パッケージ部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4h</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正社員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女</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55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パッケージ部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24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パート</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女</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59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パッケージ部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4h</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15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正社員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女</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65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47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資材部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課長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定年後再雇用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14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正社員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女</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56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38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総務部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部長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17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正社員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女</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28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事務</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bl>
          </a:graphicData>
        </a:graphic>
      </p:graphicFrame>
      <p:sp>
        <p:nvSpPr>
          <p:cNvPr id="15" name="TextBox 14"/>
          <p:cNvSpPr txBox="1"/>
          <p:nvPr/>
        </p:nvSpPr>
        <p:spPr>
          <a:xfrm>
            <a:off x="310896" y="6583680"/>
            <a:ext cx="10058400" cy="411480"/>
          </a:xfrm>
          <a:prstGeom prst="rect">
            <a:avLst/>
          </a:prstGeom>
          <a:noFill/>
        </p:spPr>
        <p:txBody>
          <a:bodyPr wrap="square" lIns="0" rIns="0" tIns="0" bIns="0" anchor="t">
            <a:spAutoFit/>
          </a:bodyPr>
          <a:lstStyle/>
          <a:p>
            <a:pPr algn="l"/>
            <a:r>
              <a:rPr sz="750" b="0">
                <a:solidFill>
                  <a:srgbClr val="5A6670"/>
                </a:solidFill>
                <a:latin typeface="游ゴシック"/>
                <a:ea typeface="游ゴシック"/>
              </a:rPr>
              <a:t>※職員名簿（2026年9月1日現在）。部署→役職→勤続年数の順に並べ替え。№は名簿の番号（組織図と対応）。役員は含まない。</a:t>
            </a:r>
          </a:p>
          <a:p>
            <a:pPr algn="l"/>
            <a:r>
              <a:rPr sz="750" b="0">
                <a:solidFill>
                  <a:srgbClr val="5A6670"/>
                </a:solidFill>
                <a:latin typeface="游ゴシック"/>
                <a:ea typeface="游ゴシック"/>
              </a:rPr>
              <a:t>※法人事業概況説明書（2026/3期末）では従業員30名（常勤役員3名含む）と記載があり、人数の定義差は要確認。就業規則・退職金規程は要確認（中退共に加入）。</a:t>
            </a:r>
          </a:p>
        </p:txBody>
      </p:sp>
    </p:spTree>
    <p:extLst>
      <p:ext uri="{BB962C8B-B14F-4D97-AF65-F5344CB8AC3E}">
        <p14:creationId xmlns:p14="http://schemas.microsoft.com/office/powerpoint/2010/main" val="4530259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C3BC0-753C-033E-F6BF-1E996308297A}"/>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33F37850-AD52-3D13-0C74-E00196D01FCC}"/>
              </a:ext>
            </a:extLst>
          </p:cNvPr>
          <p:cNvSpPr>
            <a:spLocks noGrp="1"/>
          </p:cNvSpPr>
          <p:nvPr>
            <p:ph type="ctrTitle"/>
          </p:nvPr>
        </p:nvSpPr>
        <p:spPr>
          <a:xfrm>
            <a:off x="311150" y="180296"/>
            <a:ext cx="7799917" cy="339267"/>
          </a:xfrm>
        </p:spPr>
        <p:txBody>
          <a:bodyPr>
            <a:normAutofit/>
          </a:bodyPr>
          <a:lstStyle/>
          <a:p>
            <a:r>
              <a:rPr lang="ja-JP" altLang="en-US" dirty="0"/>
              <a:t>拠点概要（本社・市場）</a:t>
            </a:r>
          </a:p>
        </p:txBody>
      </p:sp>
      <p:sp>
        <p:nvSpPr>
          <p:cNvPr id="2" name="正方形/長方形 1">
            <a:extLst>
              <a:ext uri="{FF2B5EF4-FFF2-40B4-BE49-F238E27FC236}">
                <a16:creationId xmlns:a16="http://schemas.microsoft.com/office/drawing/2014/main" id="{C00DE4F3-8549-4974-DCEF-6F7481D67517}"/>
              </a:ext>
            </a:extLst>
          </p:cNvPr>
          <p:cNvSpPr/>
          <p:nvPr/>
        </p:nvSpPr>
        <p:spPr>
          <a:xfrm>
            <a:off x="311151" y="1517736"/>
            <a:ext cx="1479550"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mj-ea"/>
                <a:ea typeface="+mj-ea"/>
              </a:rPr>
              <a:t>本社</a:t>
            </a:r>
          </a:p>
        </p:txBody>
      </p:sp>
      <p:sp>
        <p:nvSpPr>
          <p:cNvPr id="6" name="タイトル 1">
            <a:extLst>
              <a:ext uri="{FF2B5EF4-FFF2-40B4-BE49-F238E27FC236}">
                <a16:creationId xmlns:a16="http://schemas.microsoft.com/office/drawing/2014/main" id="{C94241A7-8BCE-A268-9079-8C5AF9CFCFBF}"/>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9" name="字幕 13">
            <a:extLst>
              <a:ext uri="{FF2B5EF4-FFF2-40B4-BE49-F238E27FC236}">
                <a16:creationId xmlns:a16="http://schemas.microsoft.com/office/drawing/2014/main" id="{B8D00A9D-DB7C-195B-A6F7-0DBDF4FF7287}"/>
              </a:ext>
            </a:extLst>
          </p:cNvPr>
          <p:cNvSpPr>
            <a:spLocks noGrp="1"/>
          </p:cNvSpPr>
          <p:nvPr>
            <p:ph type="subTitle" idx="1"/>
          </p:nvPr>
        </p:nvSpPr>
        <p:spPr>
          <a:xfrm>
            <a:off x="460675" y="830046"/>
            <a:ext cx="9781875" cy="241861"/>
          </a:xfrm>
        </p:spPr>
        <p:txBody>
          <a:bodyPr>
            <a:noAutofit/>
          </a:bodyPr>
          <a:lstStyle/>
          <a:p>
            <a:r>
              <a:rPr lang="ja-JP" altLang="en-US" dirty="0">
                <a:latin typeface="+mj-ea"/>
              </a:rPr>
              <a:t>本社市場とパッケージ場は隣接する自社保有地（計4,263㎡）。主要建物は1981〜82年築で、改修を重ねて使用</a:t>
            </a:r>
            <a:endParaRPr lang="en-US" altLang="ja-JP" dirty="0"/>
          </a:p>
        </p:txBody>
      </p:sp>
      <p:graphicFrame>
        <p:nvGraphicFramePr>
          <p:cNvPr id="14" name="Table 13"/>
          <p:cNvGraphicFramePr>
            <a:graphicFrameLocks noGrp="1"/>
          </p:cNvGraphicFramePr>
          <p:nvPr/>
        </p:nvGraphicFramePr>
        <p:xfrm>
          <a:off x="310896" y="1965960"/>
          <a:ext cx="10058398" cy="1463040"/>
        </p:xfrm>
        <a:graphic>
          <a:graphicData uri="http://schemas.openxmlformats.org/drawingml/2006/table">
            <a:tbl>
              <a:tblPr firstRow="0" bandRow="0">
                <a:tableStyleId>{5940675A-B579-460E-94D1-54222C63F5DA}</a:tableStyleId>
              </a:tblPr>
              <a:tblGrid>
                <a:gridCol w="1149531"/>
                <a:gridCol w="2682240"/>
                <a:gridCol w="574765"/>
                <a:gridCol w="1053737"/>
                <a:gridCol w="2873828"/>
                <a:gridCol w="1724297"/>
              </a:tblGrid>
              <a:tr h="365760">
                <a:tc>
                  <a:txBody>
                    <a:bodyPr wrap="square"/>
                    <a:lstStyle/>
                    <a:p>
                      <a:pPr algn="ctr"/>
                      <a:r>
                        <a:rPr sz="900" b="1">
                          <a:solidFill>
                            <a:srgbClr val="FFFFFF"/>
                          </a:solidFill>
                          <a:latin typeface="游ゴシック"/>
                          <a:ea typeface="游ゴシック"/>
                        </a:rPr>
                        <a:t>拠点</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900" b="1">
                          <a:solidFill>
                            <a:srgbClr val="FFFFFF"/>
                          </a:solidFill>
                          <a:latin typeface="游ゴシック"/>
                          <a:ea typeface="游ゴシック"/>
                        </a:rPr>
                        <a:t>所在地</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900" b="1">
                          <a:solidFill>
                            <a:srgbClr val="FFFFFF"/>
                          </a:solidFill>
                          <a:latin typeface="游ゴシック"/>
                          <a:ea typeface="游ゴシック"/>
                        </a:rPr>
                        <a:t>形態</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900" b="1">
                          <a:solidFill>
                            <a:srgbClr val="FFFFFF"/>
                          </a:solidFill>
                          <a:latin typeface="游ゴシック"/>
                          <a:ea typeface="游ゴシック"/>
                        </a:rPr>
                        <a:t>土地面積(㎡)</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900" b="1">
                          <a:solidFill>
                            <a:srgbClr val="FFFFFF"/>
                          </a:solidFill>
                          <a:latin typeface="游ゴシック"/>
                          <a:ea typeface="游ゴシック"/>
                        </a:rPr>
                        <a:t>主な建物</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900" b="1">
                          <a:solidFill>
                            <a:srgbClr val="FFFFFF"/>
                          </a:solidFill>
                          <a:latin typeface="游ゴシック"/>
                          <a:ea typeface="游ゴシック"/>
                        </a:rPr>
                        <a:t>用途</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r>
              <a:tr h="365760">
                <a:tc>
                  <a:txBody>
                    <a:bodyPr wrap="square"/>
                    <a:lstStyle/>
                    <a:p>
                      <a:pPr algn="l"/>
                      <a:r>
                        <a:rPr sz="900" b="0">
                          <a:solidFill>
                            <a:srgbClr val="1A1A1A"/>
                          </a:solidFill>
                          <a:latin typeface="游ゴシック"/>
                          <a:ea typeface="游ゴシック"/>
                        </a:rPr>
                        <a:t>本社・市場</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900" b="0">
                          <a:solidFill>
                            <a:srgbClr val="1A1A1A"/>
                          </a:solidFill>
                          <a:latin typeface="游ゴシック"/>
                          <a:ea typeface="游ゴシック"/>
                        </a:rPr>
                        <a:t>鶴岡市宝田一丁目4番20号（地番4-2）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900" b="0">
                          <a:solidFill>
                            <a:srgbClr val="1A1A1A"/>
                          </a:solidFill>
                          <a:latin typeface="游ゴシック"/>
                          <a:ea typeface="游ゴシック"/>
                        </a:rPr>
                        <a:t>所有</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900" b="0">
                          <a:solidFill>
                            <a:srgbClr val="1A1A1A"/>
                          </a:solidFill>
                          <a:latin typeface="Arial"/>
                          <a:ea typeface="游ゴシック"/>
                        </a:rPr>
                        <a:t>3,100.22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900" b="0">
                          <a:solidFill>
                            <a:srgbClr val="1A1A1A"/>
                          </a:solidFill>
                          <a:latin typeface="游ゴシック"/>
                          <a:ea typeface="游ゴシック"/>
                        </a:rPr>
                        <a:t>事務所（管理棟）・市場・倉庫・貯蔵庫</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900" b="0">
                          <a:solidFill>
                            <a:srgbClr val="1A1A1A"/>
                          </a:solidFill>
                          <a:latin typeface="游ゴシック"/>
                          <a:ea typeface="游ゴシック"/>
                        </a:rPr>
                        <a:t>事務所、セリ場、保管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65760">
                <a:tc>
                  <a:txBody>
                    <a:bodyPr wrap="square"/>
                    <a:lstStyle/>
                    <a:p>
                      <a:pPr algn="l"/>
                      <a:r>
                        <a:rPr sz="900" b="0">
                          <a:solidFill>
                            <a:srgbClr val="1A1A1A"/>
                          </a:solidFill>
                          <a:latin typeface="游ゴシック"/>
                          <a:ea typeface="游ゴシック"/>
                        </a:rPr>
                        <a:t>パッケージ場</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900" b="0">
                          <a:solidFill>
                            <a:srgbClr val="1A1A1A"/>
                          </a:solidFill>
                          <a:latin typeface="游ゴシック"/>
                          <a:ea typeface="游ゴシック"/>
                        </a:rPr>
                        <a:t>鶴岡市宝田一丁目5-1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900" b="0">
                          <a:solidFill>
                            <a:srgbClr val="1A1A1A"/>
                          </a:solidFill>
                          <a:latin typeface="游ゴシック"/>
                          <a:ea typeface="游ゴシック"/>
                        </a:rPr>
                        <a:t>所有</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900" b="0">
                          <a:solidFill>
                            <a:srgbClr val="1A1A1A"/>
                          </a:solidFill>
                          <a:latin typeface="Arial"/>
                          <a:ea typeface="游ゴシック"/>
                        </a:rPr>
                        <a:t>900.50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900" b="0">
                          <a:solidFill>
                            <a:srgbClr val="1A1A1A"/>
                          </a:solidFill>
                          <a:latin typeface="游ゴシック"/>
                          <a:ea typeface="游ゴシック"/>
                        </a:rPr>
                        <a:t>事務所兼倉庫（629㎡）・倉庫（139㎡）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900" b="0">
                          <a:solidFill>
                            <a:srgbClr val="1A1A1A"/>
                          </a:solidFill>
                          <a:latin typeface="游ゴシック"/>
                          <a:ea typeface="游ゴシック"/>
                        </a:rPr>
                        <a:t>小分け・包装、保管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65760">
                <a:tc>
                  <a:txBody>
                    <a:bodyPr wrap="square"/>
                    <a:lstStyle/>
                    <a:p>
                      <a:pPr algn="l"/>
                      <a:r>
                        <a:rPr sz="900" b="0">
                          <a:solidFill>
                            <a:srgbClr val="1A1A1A"/>
                          </a:solidFill>
                          <a:latin typeface="游ゴシック"/>
                          <a:ea typeface="游ゴシック"/>
                        </a:rPr>
                        <a:t>倉庫敷地</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900" b="0">
                          <a:solidFill>
                            <a:srgbClr val="1A1A1A"/>
                          </a:solidFill>
                          <a:latin typeface="游ゴシック"/>
                          <a:ea typeface="游ゴシック"/>
                        </a:rPr>
                        <a:t>東田川郡庄内町長沼字宮前304-7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900" b="0">
                          <a:solidFill>
                            <a:srgbClr val="1A1A1A"/>
                          </a:solidFill>
                          <a:latin typeface="游ゴシック"/>
                          <a:ea typeface="游ゴシック"/>
                        </a:rPr>
                        <a:t>所有</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900" b="0">
                          <a:solidFill>
                            <a:srgbClr val="1A1A1A"/>
                          </a:solidFill>
                          <a:latin typeface="Arial"/>
                          <a:ea typeface="游ゴシック"/>
                        </a:rPr>
                        <a:t>261.81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900" b="0">
                          <a:solidFill>
                            <a:srgbClr val="1A1A1A"/>
                          </a:solidFill>
                          <a:latin typeface="游ゴシック"/>
                          <a:ea typeface="游ゴシック"/>
                        </a:rPr>
                        <a:t>建物の課税明細なし（要確認）</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900" b="0">
                          <a:solidFill>
                            <a:srgbClr val="1A1A1A"/>
                          </a:solidFill>
                          <a:latin typeface="游ゴシック"/>
                          <a:ea typeface="游ゴシック"/>
                        </a:rPr>
                        <a:t>倉庫敷地</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bl>
          </a:graphicData>
        </a:graphic>
      </p:graphicFrame>
      <p:sp>
        <p:nvSpPr>
          <p:cNvPr id="15" name="TextBox 14"/>
          <p:cNvSpPr txBox="1"/>
          <p:nvPr/>
        </p:nvSpPr>
        <p:spPr>
          <a:xfrm>
            <a:off x="310896" y="3657600"/>
            <a:ext cx="10058400" cy="1828800"/>
          </a:xfrm>
          <a:prstGeom prst="rect">
            <a:avLst/>
          </a:prstGeom>
          <a:noFill/>
        </p:spPr>
        <p:txBody>
          <a:bodyPr wrap="square" lIns="0" rIns="0" tIns="0" bIns="0" anchor="t">
            <a:spAutoFit/>
          </a:bodyPr>
          <a:lstStyle/>
          <a:p>
            <a:pPr algn="l">
              <a:spcAft>
                <a:spcPts val="600"/>
              </a:spcAft>
            </a:pPr>
            <a:r>
              <a:rPr sz="1000" b="0">
                <a:solidFill>
                  <a:srgbClr val="1A1A1A"/>
                </a:solidFill>
                <a:latin typeface="游ゴシック"/>
                <a:ea typeface="游ゴシック"/>
              </a:rPr>
              <a:t>・営業時間は早朝6時から（終業時刻は要確認）、定休日は水・日・祝日（法人事業概況説明書）。</a:t>
            </a:r>
          </a:p>
          <a:p>
            <a:pPr algn="l">
              <a:spcAft>
                <a:spcPts val="600"/>
              </a:spcAft>
            </a:pPr>
            <a:r>
              <a:rPr sz="1000" b="0">
                <a:solidFill>
                  <a:srgbClr val="1A1A1A"/>
                </a:solidFill>
                <a:latin typeface="游ゴシック"/>
                <a:ea typeface="游ゴシック"/>
              </a:rPr>
              <a:t>・賃借物件なし（地代家賃の計上なし）。車両等はリースを利用（リース料年6,227千円、対象資産は要確認）。</a:t>
            </a:r>
          </a:p>
          <a:p>
            <a:pPr algn="l">
              <a:spcAft>
                <a:spcPts val="600"/>
              </a:spcAft>
            </a:pPr>
            <a:r>
              <a:rPr sz="1000" b="0">
                <a:solidFill>
                  <a:srgbClr val="1A1A1A"/>
                </a:solidFill>
                <a:latin typeface="游ゴシック"/>
                <a:ea typeface="游ゴシック"/>
              </a:rPr>
              <a:t>・屋根・外壁・シャッター・冷蔵庫ユニット等の改修工事を継続的に資産計上（詳細は「保有設備一覧」）。</a:t>
            </a:r>
          </a:p>
          <a:p>
            <a:pPr algn="l">
              <a:spcAft>
                <a:spcPts val="600"/>
              </a:spcAft>
            </a:pPr>
            <a:r>
              <a:rPr sz="1000" b="0">
                <a:solidFill>
                  <a:srgbClr val="1A1A1A"/>
                </a:solidFill>
                <a:latin typeface="游ゴシック"/>
                <a:ea typeface="游ゴシック"/>
              </a:rPr>
              <a:t>・社屋外観・市場内観・周辺地図は売主様より写真受領後に掲載予定。</a:t>
            </a:r>
          </a:p>
        </p:txBody>
      </p:sp>
    </p:spTree>
    <p:extLst>
      <p:ext uri="{BB962C8B-B14F-4D97-AF65-F5344CB8AC3E}">
        <p14:creationId xmlns:p14="http://schemas.microsoft.com/office/powerpoint/2010/main" val="6307501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12D40-6E48-E93D-4FC9-F10D333C1CB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F9793F7-DC5F-E269-D0AF-CEA1591E82A7}"/>
              </a:ext>
            </a:extLst>
          </p:cNvPr>
          <p:cNvSpPr>
            <a:spLocks noGrp="1"/>
          </p:cNvSpPr>
          <p:nvPr>
            <p:ph type="ctrTitle"/>
          </p:nvPr>
        </p:nvSpPr>
        <p:spPr>
          <a:xfrm>
            <a:off x="311150" y="180296"/>
            <a:ext cx="7799917" cy="339267"/>
          </a:xfrm>
        </p:spPr>
        <p:txBody>
          <a:bodyPr>
            <a:normAutofit/>
          </a:bodyPr>
          <a:lstStyle/>
          <a:p>
            <a:r>
              <a:rPr lang="ja-JP" altLang="en-US" dirty="0"/>
              <a:t>不動産概況</a:t>
            </a:r>
          </a:p>
        </p:txBody>
      </p:sp>
      <p:sp>
        <p:nvSpPr>
          <p:cNvPr id="6" name="タイトル 1">
            <a:extLst>
              <a:ext uri="{FF2B5EF4-FFF2-40B4-BE49-F238E27FC236}">
                <a16:creationId xmlns:a16="http://schemas.microsoft.com/office/drawing/2014/main" id="{541F4B75-7B8F-E770-E8BD-648B0D9A1125}"/>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9" name="字幕 13">
            <a:extLst>
              <a:ext uri="{FF2B5EF4-FFF2-40B4-BE49-F238E27FC236}">
                <a16:creationId xmlns:a16="http://schemas.microsoft.com/office/drawing/2014/main" id="{C67BBAB2-F39C-2CF9-AEE1-8D09DEE08EBD}"/>
              </a:ext>
            </a:extLst>
          </p:cNvPr>
          <p:cNvSpPr>
            <a:spLocks noGrp="1"/>
          </p:cNvSpPr>
          <p:nvPr>
            <p:ph type="subTitle" idx="1"/>
          </p:nvPr>
        </p:nvSpPr>
        <p:spPr>
          <a:xfrm>
            <a:off x="460675" y="830046"/>
            <a:ext cx="9781875" cy="241861"/>
          </a:xfrm>
        </p:spPr>
        <p:txBody>
          <a:bodyPr>
            <a:noAutofit/>
          </a:bodyPr>
          <a:lstStyle/>
          <a:p>
            <a:r>
              <a:rPr lang="ja-JP" altLang="en-US" dirty="0">
                <a:latin typeface="+mj-ea"/>
              </a:rPr>
              <a:t>事業用地3拠点（計4,263㎡）と建物7棟をすべて法人で所有し、賃借物件はない。土地の時価（固定資産税評価額÷0.7）は約67,825千円、建物の固定資産税評価額は47,062千円と、事業用資産の裏付けを有する。</a:t>
            </a:r>
            <a:endParaRPr lang="en-US" altLang="ja-JP" dirty="0"/>
          </a:p>
        </p:txBody>
      </p:sp>
      <p:graphicFrame>
        <p:nvGraphicFramePr>
          <p:cNvPr id="14" name="Table 13"/>
          <p:cNvGraphicFramePr>
            <a:graphicFrameLocks noGrp="1"/>
          </p:cNvGraphicFramePr>
          <p:nvPr/>
        </p:nvGraphicFramePr>
        <p:xfrm>
          <a:off x="310896" y="1600200"/>
          <a:ext cx="10058395" cy="1920240"/>
        </p:xfrm>
        <a:graphic>
          <a:graphicData uri="http://schemas.openxmlformats.org/drawingml/2006/table">
            <a:tbl>
              <a:tblPr firstRow="0" bandRow="0">
                <a:tableStyleId>{5940675A-B579-460E-94D1-54222C63F5DA}</a:tableStyleId>
              </a:tblPr>
              <a:tblGrid>
                <a:gridCol w="957942"/>
                <a:gridCol w="2394857"/>
                <a:gridCol w="862148"/>
                <a:gridCol w="862148"/>
                <a:gridCol w="1820091"/>
                <a:gridCol w="862148"/>
                <a:gridCol w="862148"/>
                <a:gridCol w="862148"/>
                <a:gridCol w="574765"/>
              </a:tblGrid>
              <a:tr h="384048">
                <a:tc>
                  <a:txBody>
                    <a:bodyPr wrap="square"/>
                    <a:lstStyle/>
                    <a:p>
                      <a:pPr algn="ctr"/>
                      <a:r>
                        <a:rPr sz="850" b="1">
                          <a:solidFill>
                            <a:srgbClr val="FFFFFF"/>
                          </a:solidFill>
                          <a:latin typeface="游ゴシック"/>
                          <a:ea typeface="游ゴシック"/>
                        </a:rPr>
                        <a:t>拠点</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所在地</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土地面積(㎡)</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土地の所有区分</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建物の所有区分</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土地簿価(千円)</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土地時価(千円)</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建物評価額(千円)</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担保</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r>
              <a:tr h="384048">
                <a:tc>
                  <a:txBody>
                    <a:bodyPr wrap="square"/>
                    <a:lstStyle/>
                    <a:p>
                      <a:pPr algn="l"/>
                      <a:r>
                        <a:rPr sz="850" b="0">
                          <a:solidFill>
                            <a:srgbClr val="1A1A1A"/>
                          </a:solidFill>
                          <a:latin typeface="游ゴシック"/>
                          <a:ea typeface="游ゴシック"/>
                        </a:rPr>
                        <a:t>本社・市場</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鶴岡市宝田一丁目4-2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3,100.22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0">
                          <a:solidFill>
                            <a:srgbClr val="1A1A1A"/>
                          </a:solidFill>
                          <a:latin typeface="游ゴシック"/>
                          <a:ea typeface="游ゴシック"/>
                        </a:rPr>
                        <a:t>法人</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法人（5棟／1,246.20㎡）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70,757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51,230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22,295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0">
                          <a:solidFill>
                            <a:srgbClr val="1A1A1A"/>
                          </a:solidFill>
                          <a:latin typeface="游ゴシック"/>
                          <a:ea typeface="游ゴシック"/>
                        </a:rPr>
                        <a:t>確認中</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84048">
                <a:tc>
                  <a:txBody>
                    <a:bodyPr wrap="square"/>
                    <a:lstStyle/>
                    <a:p>
                      <a:pPr algn="l"/>
                      <a:r>
                        <a:rPr sz="850" b="0">
                          <a:solidFill>
                            <a:srgbClr val="1A1A1A"/>
                          </a:solidFill>
                          <a:latin typeface="游ゴシック"/>
                          <a:ea typeface="游ゴシック"/>
                        </a:rPr>
                        <a:t>パッケージ場</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鶴岡市宝田一丁目5-1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900.50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0">
                          <a:solidFill>
                            <a:srgbClr val="1A1A1A"/>
                          </a:solidFill>
                          <a:latin typeface="游ゴシック"/>
                          <a:ea typeface="游ゴシック"/>
                        </a:rPr>
                        <a:t>法人</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法人（2棟／766.48㎡）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21,380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15,086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24,767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0">
                          <a:solidFill>
                            <a:srgbClr val="1A1A1A"/>
                          </a:solidFill>
                          <a:latin typeface="游ゴシック"/>
                          <a:ea typeface="游ゴシック"/>
                        </a:rPr>
                        <a:t>確認中</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84048">
                <a:tc>
                  <a:txBody>
                    <a:bodyPr wrap="square"/>
                    <a:lstStyle/>
                    <a:p>
                      <a:pPr algn="l"/>
                      <a:r>
                        <a:rPr sz="850" b="0">
                          <a:solidFill>
                            <a:srgbClr val="1A1A1A"/>
                          </a:solidFill>
                          <a:latin typeface="游ゴシック"/>
                          <a:ea typeface="游ゴシック"/>
                        </a:rPr>
                        <a:t>倉庫敷地</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東田川郡庄内町長沼字宮前304-7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261.81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0">
                          <a:solidFill>
                            <a:srgbClr val="1A1A1A"/>
                          </a:solidFill>
                          <a:latin typeface="游ゴシック"/>
                          <a:ea typeface="游ゴシック"/>
                        </a:rPr>
                        <a:t>法人</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建物なし（課税明細なし）</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1,000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1,509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0">
                          <a:solidFill>
                            <a:srgbClr val="1A1A1A"/>
                          </a:solidFill>
                          <a:latin typeface="游ゴシック"/>
                          <a:ea typeface="游ゴシック"/>
                        </a:rPr>
                        <a:t>確認中</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84048">
                <a:tc>
                  <a:txBody>
                    <a:bodyPr wrap="square"/>
                    <a:lstStyle/>
                    <a:p>
                      <a:pPr algn="l"/>
                      <a:r>
                        <a:rPr sz="850" b="1">
                          <a:solidFill>
                            <a:srgbClr val="1A1A1A"/>
                          </a:solidFill>
                          <a:latin typeface="游ゴシック"/>
                          <a:ea typeface="游ゴシック"/>
                        </a:rPr>
                        <a:t>合計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1">
                          <a:solidFill>
                            <a:srgbClr val="1A1A1A"/>
                          </a:solidFill>
                          <a:latin typeface="游ゴシック"/>
                          <a:ea typeface="游ゴシック"/>
                        </a:rPr>
                        <a:t>　</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4,262.53</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1A1A1A"/>
                          </a:solidFill>
                          <a:latin typeface="游ゴシック"/>
                          <a:ea typeface="游ゴシック"/>
                        </a:rPr>
                        <a:t>法人 3拠点</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1">
                          <a:solidFill>
                            <a:srgbClr val="1A1A1A"/>
                          </a:solidFill>
                          <a:latin typeface="游ゴシック"/>
                          <a:ea typeface="游ゴシック"/>
                        </a:rPr>
                        <a:t>法人 7棟</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93,137</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67,825</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47,062</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1A1A1A"/>
                          </a:solidFill>
                          <a:latin typeface="游ゴシック"/>
                          <a:ea typeface="游ゴシック"/>
                        </a:rPr>
                        <a:t>　</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bl>
          </a:graphicData>
        </a:graphic>
      </p:graphicFrame>
      <p:sp>
        <p:nvSpPr>
          <p:cNvPr id="15" name="TextBox 14"/>
          <p:cNvSpPr txBox="1"/>
          <p:nvPr/>
        </p:nvSpPr>
        <p:spPr>
          <a:xfrm>
            <a:off x="310896" y="3657600"/>
            <a:ext cx="10058400" cy="457200"/>
          </a:xfrm>
          <a:prstGeom prst="rect">
            <a:avLst/>
          </a:prstGeom>
          <a:noFill/>
        </p:spPr>
        <p:txBody>
          <a:bodyPr wrap="square" lIns="0" rIns="0" tIns="0" bIns="0" anchor="t">
            <a:spAutoFit/>
          </a:bodyPr>
          <a:lstStyle/>
          <a:p>
            <a:pPr algn="l"/>
            <a:r>
              <a:rPr sz="750" b="0">
                <a:solidFill>
                  <a:srgbClr val="5A6670"/>
                </a:solidFill>
                <a:latin typeface="游ゴシック"/>
                <a:ea typeface="游ゴシック"/>
              </a:rPr>
              <a:t>※面積は登記地積（固定資産税課税明細書）。土地時価＝固定資産税評価額÷0.7。建物の評価額は令和8年度固定資産税評価額。建物面積は登記床面積。</a:t>
            </a:r>
          </a:p>
          <a:p>
            <a:pPr algn="l"/>
            <a:r>
              <a:rPr sz="750" b="0">
                <a:solidFill>
                  <a:srgbClr val="5A6670"/>
                </a:solidFill>
                <a:latin typeface="游ゴシック"/>
                <a:ea typeface="游ゴシック"/>
              </a:rPr>
              <a:t>※担保設定の状況は不動産登記簿謄本（未受領）により確認予定。</a:t>
            </a:r>
          </a:p>
        </p:txBody>
      </p:sp>
      <p:sp>
        <p:nvSpPr>
          <p:cNvPr id="16" name="Rectangle 15"/>
          <p:cNvSpPr/>
          <p:nvPr/>
        </p:nvSpPr>
        <p:spPr>
          <a:xfrm>
            <a:off x="310896" y="4343400"/>
            <a:ext cx="1280160" cy="182880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游ゴシック"/>
                <a:ea typeface="游ゴシック"/>
              </a:rPr>
              <a:t>ポイント</a:t>
            </a:r>
          </a:p>
        </p:txBody>
      </p:sp>
      <p:sp>
        <p:nvSpPr>
          <p:cNvPr id="17" name="Rectangle 16"/>
          <p:cNvSpPr/>
          <p:nvPr/>
        </p:nvSpPr>
        <p:spPr>
          <a:xfrm>
            <a:off x="1645920" y="4343400"/>
            <a:ext cx="8723376" cy="18288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37160" bIns="137160"/>
          <a:lstStyle/>
          <a:p>
            <a:pPr algn="l">
              <a:spcAft>
                <a:spcPts val="400"/>
              </a:spcAft>
            </a:pPr>
            <a:r>
              <a:rPr sz="950" b="0">
                <a:solidFill>
                  <a:srgbClr val="1A1A1A"/>
                </a:solidFill>
                <a:latin typeface="游ゴシック"/>
                <a:ea typeface="游ゴシック"/>
              </a:rPr>
              <a:t>■ 本社・市場とパッケージ場は隣接する一団の土地であり、事業用地はすべて法人所有。地代家賃の負担がなく、拠点の継続性が高い。</a:t>
            </a:r>
          </a:p>
          <a:p>
            <a:pPr algn="l">
              <a:spcAft>
                <a:spcPts val="400"/>
              </a:spcAft>
            </a:pPr>
            <a:r>
              <a:rPr sz="950" b="0">
                <a:solidFill>
                  <a:srgbClr val="1A1A1A"/>
                </a:solidFill>
                <a:latin typeface="游ゴシック"/>
                <a:ea typeface="游ゴシック"/>
              </a:rPr>
              <a:t>■ 土地時価約67.8百万円・建物評価額約47.1百万円の資産を保有。一方、土地の帳簿価額93.1百万円は時価を上回り、時価純資産の減少要因（△25.3百万円）となる。</a:t>
            </a:r>
          </a:p>
          <a:p>
            <a:pPr algn="l">
              <a:spcAft>
                <a:spcPts val="400"/>
              </a:spcAft>
            </a:pPr>
            <a:r>
              <a:rPr sz="950" b="0">
                <a:solidFill>
                  <a:srgbClr val="1A1A1A"/>
                </a:solidFill>
                <a:latin typeface="游ゴシック"/>
                <a:ea typeface="游ゴシック"/>
              </a:rPr>
              <a:t>■ 主要建物は1981〜82年築。屋根・外壁・シャッター・冷蔵庫ユニット等の改修を継続しており、耐震性・今後の更新計画は確認中。</a:t>
            </a:r>
          </a:p>
        </p:txBody>
      </p:sp>
    </p:spTree>
    <p:extLst>
      <p:ext uri="{BB962C8B-B14F-4D97-AF65-F5344CB8AC3E}">
        <p14:creationId xmlns:p14="http://schemas.microsoft.com/office/powerpoint/2010/main" val="370727506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6CA44-E527-07A7-EABE-FD69A9CC275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676FF1C4-EA62-3485-4D28-7C17FD9DDA7D}"/>
              </a:ext>
            </a:extLst>
          </p:cNvPr>
          <p:cNvSpPr>
            <a:spLocks noGrp="1"/>
          </p:cNvSpPr>
          <p:nvPr>
            <p:ph type="ctrTitle"/>
          </p:nvPr>
        </p:nvSpPr>
        <p:spPr>
          <a:xfrm>
            <a:off x="311150" y="180296"/>
            <a:ext cx="7799917" cy="339267"/>
          </a:xfrm>
        </p:spPr>
        <p:txBody>
          <a:bodyPr>
            <a:normAutofit/>
          </a:bodyPr>
          <a:lstStyle/>
          <a:p>
            <a:r>
              <a:rPr lang="ja-JP" altLang="en-US" dirty="0"/>
              <a:t>不動産詳細</a:t>
            </a:r>
          </a:p>
        </p:txBody>
      </p:sp>
      <p:sp>
        <p:nvSpPr>
          <p:cNvPr id="2" name="正方形/長方形 1">
            <a:extLst>
              <a:ext uri="{FF2B5EF4-FFF2-40B4-BE49-F238E27FC236}">
                <a16:creationId xmlns:a16="http://schemas.microsoft.com/office/drawing/2014/main" id="{6E2B06A4-5CE5-00C3-97BF-5F9AFAE677E3}"/>
              </a:ext>
            </a:extLst>
          </p:cNvPr>
          <p:cNvSpPr/>
          <p:nvPr/>
        </p:nvSpPr>
        <p:spPr>
          <a:xfrm>
            <a:off x="311151" y="1517736"/>
            <a:ext cx="1479550"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mj-ea"/>
                <a:ea typeface="+mj-ea"/>
              </a:rPr>
              <a:t>所有</a:t>
            </a:r>
          </a:p>
        </p:txBody>
      </p:sp>
      <p:sp>
        <p:nvSpPr>
          <p:cNvPr id="3" name="正方形/長方形 2">
            <a:extLst>
              <a:ext uri="{FF2B5EF4-FFF2-40B4-BE49-F238E27FC236}">
                <a16:creationId xmlns:a16="http://schemas.microsoft.com/office/drawing/2014/main" id="{75ADC88D-D2D4-EEF0-D14C-0426FECA60C3}"/>
              </a:ext>
            </a:extLst>
          </p:cNvPr>
          <p:cNvSpPr/>
          <p:nvPr/>
        </p:nvSpPr>
        <p:spPr>
          <a:xfrm>
            <a:off x="311150" y="4499061"/>
            <a:ext cx="1479550"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mj-ea"/>
                <a:ea typeface="+mj-ea"/>
              </a:rPr>
              <a:t>賃借</a:t>
            </a:r>
          </a:p>
        </p:txBody>
      </p:sp>
      <p:sp>
        <p:nvSpPr>
          <p:cNvPr id="4" name="タイトル 1">
            <a:extLst>
              <a:ext uri="{FF2B5EF4-FFF2-40B4-BE49-F238E27FC236}">
                <a16:creationId xmlns:a16="http://schemas.microsoft.com/office/drawing/2014/main" id="{DAA41D5B-A131-C808-ADF3-2DAFD20777F6}"/>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8" name="字幕 13">
            <a:extLst>
              <a:ext uri="{FF2B5EF4-FFF2-40B4-BE49-F238E27FC236}">
                <a16:creationId xmlns:a16="http://schemas.microsoft.com/office/drawing/2014/main" id="{A751CA4D-CB14-CD08-826F-75C234B5BA9A}"/>
              </a:ext>
            </a:extLst>
          </p:cNvPr>
          <p:cNvSpPr>
            <a:spLocks noGrp="1"/>
          </p:cNvSpPr>
          <p:nvPr>
            <p:ph type="subTitle" idx="1"/>
          </p:nvPr>
        </p:nvSpPr>
        <p:spPr>
          <a:xfrm>
            <a:off x="460675" y="830046"/>
            <a:ext cx="9781875" cy="241861"/>
          </a:xfrm>
        </p:spPr>
        <p:txBody>
          <a:bodyPr>
            <a:noAutofit/>
          </a:bodyPr>
          <a:lstStyle/>
          <a:p>
            <a:r>
              <a:rPr lang="ja-JP" altLang="en-US" dirty="0">
                <a:latin typeface="+mj-ea"/>
              </a:rPr>
              <a:t>土地3筆・建物7棟を所有（賃借なし）。土地の簿価93.1百万円に対し、固定資産税評価額ベースの時価推計は約68百万円</a:t>
            </a:r>
            <a:endParaRPr lang="en-US" altLang="ja-JP" dirty="0"/>
          </a:p>
        </p:txBody>
      </p:sp>
      <p:graphicFrame>
        <p:nvGraphicFramePr>
          <p:cNvPr id="14" name="Table 13"/>
          <p:cNvGraphicFramePr>
            <a:graphicFrameLocks noGrp="1"/>
          </p:cNvGraphicFramePr>
          <p:nvPr/>
        </p:nvGraphicFramePr>
        <p:xfrm>
          <a:off x="310896" y="1920240"/>
          <a:ext cx="10058400" cy="2962656"/>
        </p:xfrm>
        <a:graphic>
          <a:graphicData uri="http://schemas.openxmlformats.org/drawingml/2006/table">
            <a:tbl>
              <a:tblPr firstRow="0" bandRow="0">
                <a:tableStyleId>{5940675A-B579-460E-94D1-54222C63F5DA}</a:tableStyleId>
              </a:tblPr>
              <a:tblGrid>
                <a:gridCol w="1371600"/>
                <a:gridCol w="2103120"/>
                <a:gridCol w="731520"/>
                <a:gridCol w="1828800"/>
                <a:gridCol w="640080"/>
                <a:gridCol w="914400"/>
                <a:gridCol w="914400"/>
                <a:gridCol w="1554480"/>
              </a:tblGrid>
              <a:tr h="246888">
                <a:tc>
                  <a:txBody>
                    <a:bodyPr wrap="square"/>
                    <a:lstStyle/>
                    <a:p>
                      <a:pPr algn="ctr"/>
                      <a:r>
                        <a:rPr sz="800" b="1">
                          <a:solidFill>
                            <a:srgbClr val="FFFFFF"/>
                          </a:solidFill>
                          <a:latin typeface="游ゴシック"/>
                          <a:ea typeface="游ゴシック"/>
                        </a:rPr>
                        <a:t>区分</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游ゴシック"/>
                          <a:ea typeface="游ゴシック"/>
                        </a:rPr>
                        <a:t>所在地</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游ゴシック"/>
                          <a:ea typeface="游ゴシック"/>
                        </a:rPr>
                        <a:t>面積(㎡)</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游ゴシック"/>
                          <a:ea typeface="游ゴシック"/>
                        </a:rPr>
                        <a:t>地目・構造</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游ゴシック"/>
                          <a:ea typeface="游ゴシック"/>
                        </a:rPr>
                        <a:t>建築年</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游ゴシック"/>
                          <a:ea typeface="游ゴシック"/>
                        </a:rPr>
                        <a:t>期末簿価(千円)</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游ゴシック"/>
                          <a:ea typeface="游ゴシック"/>
                        </a:rPr>
                        <a:t>時価(千円)</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游ゴシック"/>
                          <a:ea typeface="游ゴシック"/>
                        </a:rPr>
                        <a:t>備考</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r>
              <a:tr h="246888">
                <a:tc>
                  <a:txBody>
                    <a:bodyPr wrap="square"/>
                    <a:lstStyle/>
                    <a:p>
                      <a:pPr algn="l"/>
                      <a:r>
                        <a:rPr sz="800" b="0">
                          <a:solidFill>
                            <a:srgbClr val="1A1A1A"/>
                          </a:solidFill>
                          <a:latin typeface="游ゴシック"/>
                          <a:ea typeface="游ゴシック"/>
                        </a:rPr>
                        <a:t>土地</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鶴岡市宝田一丁目4-2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3,100.22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宅地</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70,757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51,230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固定資産税評価額÷0.7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46888">
                <a:tc>
                  <a:txBody>
                    <a:bodyPr wrap="square"/>
                    <a:lstStyle/>
                    <a:p>
                      <a:pPr algn="l"/>
                      <a:r>
                        <a:rPr sz="800" b="0">
                          <a:solidFill>
                            <a:srgbClr val="1A1A1A"/>
                          </a:solidFill>
                          <a:latin typeface="游ゴシック"/>
                          <a:ea typeface="游ゴシック"/>
                        </a:rPr>
                        <a:t>土地</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鶴岡市宝田一丁目5-1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900.50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宅地</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21,380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15,086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固定資産税評価額÷0.7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46888">
                <a:tc>
                  <a:txBody>
                    <a:bodyPr wrap="square"/>
                    <a:lstStyle/>
                    <a:p>
                      <a:pPr algn="l"/>
                      <a:r>
                        <a:rPr sz="800" b="0">
                          <a:solidFill>
                            <a:srgbClr val="1A1A1A"/>
                          </a:solidFill>
                          <a:latin typeface="游ゴシック"/>
                          <a:ea typeface="游ゴシック"/>
                        </a:rPr>
                        <a:t>土地</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東田川郡庄内町長沼字宮前304-7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261.81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宅地</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1,000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1,509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固定資産税評価額÷0.7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46888">
                <a:tc>
                  <a:txBody>
                    <a:bodyPr wrap="square"/>
                    <a:lstStyle/>
                    <a:p>
                      <a:pPr algn="l"/>
                      <a:r>
                        <a:rPr sz="800" b="0">
                          <a:solidFill>
                            <a:srgbClr val="1A1A1A"/>
                          </a:solidFill>
                          <a:latin typeface="游ゴシック"/>
                          <a:ea typeface="游ゴシック"/>
                        </a:rPr>
                        <a:t>建物（事務所）</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宝田一丁目4-2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365.63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鉄骨造 亜鉛メッキ鋼板葺 2階</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0">
                          <a:solidFill>
                            <a:srgbClr val="1A1A1A"/>
                          </a:solidFill>
                          <a:latin typeface="Arial"/>
                          <a:ea typeface="游ゴシック"/>
                        </a:rPr>
                        <a:t>1981年</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11,218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固定資産税評価額</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46888">
                <a:tc>
                  <a:txBody>
                    <a:bodyPr wrap="square"/>
                    <a:lstStyle/>
                    <a:p>
                      <a:pPr algn="l"/>
                      <a:r>
                        <a:rPr sz="800" b="0">
                          <a:solidFill>
                            <a:srgbClr val="1A1A1A"/>
                          </a:solidFill>
                          <a:latin typeface="游ゴシック"/>
                          <a:ea typeface="游ゴシック"/>
                        </a:rPr>
                        <a:t>建物（市場）</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宝田一丁目4-2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320.22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鉄骨造 亜鉛メッキ鋼板葺 1階</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0">
                          <a:solidFill>
                            <a:srgbClr val="1A1A1A"/>
                          </a:solidFill>
                          <a:latin typeface="Arial"/>
                          <a:ea typeface="游ゴシック"/>
                        </a:rPr>
                        <a:t>1981年</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4,713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固定資産税評価額</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46888">
                <a:tc>
                  <a:txBody>
                    <a:bodyPr wrap="square"/>
                    <a:lstStyle/>
                    <a:p>
                      <a:pPr algn="l"/>
                      <a:r>
                        <a:rPr sz="800" b="0">
                          <a:solidFill>
                            <a:srgbClr val="1A1A1A"/>
                          </a:solidFill>
                          <a:latin typeface="游ゴシック"/>
                          <a:ea typeface="游ゴシック"/>
                        </a:rPr>
                        <a:t>建物（倉庫）</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宝田一丁目4-2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327.13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鉄骨造 亜鉛メッキ鋼板葺 1階</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0">
                          <a:solidFill>
                            <a:srgbClr val="1A1A1A"/>
                          </a:solidFill>
                          <a:latin typeface="Arial"/>
                          <a:ea typeface="游ゴシック"/>
                        </a:rPr>
                        <a:t>1981年</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4,561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固定資産税評価額</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46888">
                <a:tc>
                  <a:txBody>
                    <a:bodyPr wrap="square"/>
                    <a:lstStyle/>
                    <a:p>
                      <a:pPr algn="l"/>
                      <a:r>
                        <a:rPr sz="800" b="0">
                          <a:solidFill>
                            <a:srgbClr val="1A1A1A"/>
                          </a:solidFill>
                          <a:latin typeface="游ゴシック"/>
                          <a:ea typeface="游ゴシック"/>
                        </a:rPr>
                        <a:t>建物（倉庫）</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宝田一丁目4-2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198.74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軽量鉄骨造 2階</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0">
                          <a:solidFill>
                            <a:srgbClr val="1A1A1A"/>
                          </a:solidFill>
                          <a:latin typeface="Arial"/>
                          <a:ea typeface="游ゴシック"/>
                        </a:rPr>
                        <a:t>1981年</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1,237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固定資産税評価額</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46888">
                <a:tc>
                  <a:txBody>
                    <a:bodyPr wrap="square"/>
                    <a:lstStyle/>
                    <a:p>
                      <a:pPr algn="l"/>
                      <a:r>
                        <a:rPr sz="800" b="0">
                          <a:solidFill>
                            <a:srgbClr val="1A1A1A"/>
                          </a:solidFill>
                          <a:latin typeface="游ゴシック"/>
                          <a:ea typeface="游ゴシック"/>
                        </a:rPr>
                        <a:t>建物（貯蔵庫）</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宝田一丁目4-2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34.48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軽量鉄骨造 1階</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0">
                          <a:solidFill>
                            <a:srgbClr val="1A1A1A"/>
                          </a:solidFill>
                          <a:latin typeface="Arial"/>
                          <a:ea typeface="游ゴシック"/>
                        </a:rPr>
                        <a:t>1981年</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567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固定資産税評価額</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46888">
                <a:tc>
                  <a:txBody>
                    <a:bodyPr wrap="square"/>
                    <a:lstStyle/>
                    <a:p>
                      <a:pPr algn="l"/>
                      <a:r>
                        <a:rPr sz="800" b="0">
                          <a:solidFill>
                            <a:srgbClr val="1A1A1A"/>
                          </a:solidFill>
                          <a:latin typeface="游ゴシック"/>
                          <a:ea typeface="游ゴシック"/>
                        </a:rPr>
                        <a:t>建物（事務所兼倉庫）</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宝田一丁目5-1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627.40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鉄骨造 亜鉛メッキ鋼板葺 2階</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0">
                          <a:solidFill>
                            <a:srgbClr val="1A1A1A"/>
                          </a:solidFill>
                          <a:latin typeface="Arial"/>
                          <a:ea typeface="游ゴシック"/>
                        </a:rPr>
                        <a:t>1982年</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13,111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固定資産税評価額</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46888">
                <a:tc>
                  <a:txBody>
                    <a:bodyPr wrap="square"/>
                    <a:lstStyle/>
                    <a:p>
                      <a:pPr algn="l"/>
                      <a:r>
                        <a:rPr sz="800" b="0">
                          <a:solidFill>
                            <a:srgbClr val="1A1A1A"/>
                          </a:solidFill>
                          <a:latin typeface="游ゴシック"/>
                          <a:ea typeface="游ゴシック"/>
                        </a:rPr>
                        <a:t>建物（倉庫）</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宝田一丁目5-1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139.08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鉄骨造 亜鉛メッキ鋼板葺 1階</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0">
                          <a:solidFill>
                            <a:srgbClr val="1A1A1A"/>
                          </a:solidFill>
                          <a:latin typeface="Arial"/>
                          <a:ea typeface="游ゴシック"/>
                        </a:rPr>
                        <a:t>2012年</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11,656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固定資産税評価額</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46888">
                <a:tc>
                  <a:txBody>
                    <a:bodyPr wrap="square"/>
                    <a:lstStyle/>
                    <a:p>
                      <a:pPr algn="l"/>
                      <a:r>
                        <a:rPr sz="800" b="1">
                          <a:solidFill>
                            <a:srgbClr val="1A1A1A"/>
                          </a:solidFill>
                          <a:latin typeface="游ゴシック"/>
                          <a:ea typeface="游ゴシック"/>
                        </a:rPr>
                        <a:t>合計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1">
                          <a:solidFill>
                            <a:srgbClr val="1A1A1A"/>
                          </a:solidFill>
                          <a:latin typeface="游ゴシック"/>
                          <a:ea typeface="游ゴシック"/>
                        </a:rPr>
                        <a:t>　</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游ゴシック"/>
                          <a:ea typeface="游ゴシック"/>
                        </a:rPr>
                        <a:t>　</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1">
                          <a:solidFill>
                            <a:srgbClr val="1A1A1A"/>
                          </a:solidFill>
                          <a:latin typeface="游ゴシック"/>
                          <a:ea typeface="游ゴシック"/>
                        </a:rPr>
                        <a:t>　</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1A1A1A"/>
                          </a:solidFill>
                          <a:latin typeface="游ゴシック"/>
                          <a:ea typeface="游ゴシック"/>
                        </a:rPr>
                        <a:t>　</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185,203</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114,887</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1">
                          <a:solidFill>
                            <a:srgbClr val="1A1A1A"/>
                          </a:solidFill>
                          <a:latin typeface="游ゴシック"/>
                          <a:ea typeface="游ゴシック"/>
                        </a:rPr>
                        <a:t>建物簿価は改修工事を含む</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bl>
          </a:graphicData>
        </a:graphic>
      </p:graphicFrame>
      <p:sp>
        <p:nvSpPr>
          <p:cNvPr id="15" name="TextBox 14"/>
          <p:cNvSpPr txBox="1"/>
          <p:nvPr/>
        </p:nvSpPr>
        <p:spPr>
          <a:xfrm>
            <a:off x="310896" y="4892040"/>
            <a:ext cx="10058400" cy="274320"/>
          </a:xfrm>
          <a:prstGeom prst="rect">
            <a:avLst/>
          </a:prstGeom>
          <a:noFill/>
        </p:spPr>
        <p:txBody>
          <a:bodyPr wrap="square" lIns="0" rIns="0" tIns="0" bIns="0" anchor="t">
            <a:spAutoFit/>
          </a:bodyPr>
          <a:lstStyle/>
          <a:p>
            <a:pPr algn="l"/>
            <a:r>
              <a:rPr sz="900" b="0">
                <a:solidFill>
                  <a:srgbClr val="1A1A1A"/>
                </a:solidFill>
                <a:latin typeface="游ゴシック"/>
                <a:ea typeface="游ゴシック"/>
              </a:rPr>
              <a:t>賃借物件はありません。</a:t>
            </a:r>
          </a:p>
        </p:txBody>
      </p:sp>
      <p:sp>
        <p:nvSpPr>
          <p:cNvPr id="16" name="TextBox 15"/>
          <p:cNvSpPr txBox="1"/>
          <p:nvPr/>
        </p:nvSpPr>
        <p:spPr>
          <a:xfrm>
            <a:off x="310896" y="5303520"/>
            <a:ext cx="10058400" cy="914400"/>
          </a:xfrm>
          <a:prstGeom prst="rect">
            <a:avLst/>
          </a:prstGeom>
          <a:noFill/>
        </p:spPr>
        <p:txBody>
          <a:bodyPr wrap="square" lIns="0" rIns="0" tIns="0" bIns="0" anchor="t">
            <a:spAutoFit/>
          </a:bodyPr>
          <a:lstStyle/>
          <a:p>
            <a:pPr algn="l"/>
            <a:r>
              <a:rPr sz="800" b="0">
                <a:solidFill>
                  <a:srgbClr val="5A6670"/>
                </a:solidFill>
                <a:latin typeface="游ゴシック"/>
                <a:ea typeface="游ゴシック"/>
              </a:rPr>
              <a:t>※出所：R8年度固定資産税課税明細書、固定資産（土地・建物）内訳書。建物の簿価は棟別ではなく改修工事を含めた合計で記載。</a:t>
            </a:r>
          </a:p>
          <a:p>
            <a:pPr algn="l"/>
            <a:r>
              <a:rPr sz="800" b="0">
                <a:solidFill>
                  <a:srgbClr val="5A6670"/>
                </a:solidFill>
                <a:latin typeface="游ゴシック"/>
                <a:ea typeface="游ゴシック"/>
              </a:rPr>
              <a:t>※1981年築の建物は新耐震基準（1981年6月施行）の適用有無を建築確認日で要確認。土地の時価は鑑定・路線価で要確認。</a:t>
            </a:r>
          </a:p>
        </p:txBody>
      </p:sp>
    </p:spTree>
    <p:extLst>
      <p:ext uri="{BB962C8B-B14F-4D97-AF65-F5344CB8AC3E}">
        <p14:creationId xmlns:p14="http://schemas.microsoft.com/office/powerpoint/2010/main" val="20041296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83CB5-D66B-9D1A-A660-C02FFA666B7D}"/>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B1EDBB24-67BB-E96E-B74B-D3EB5F75EDA4}"/>
              </a:ext>
            </a:extLst>
          </p:cNvPr>
          <p:cNvSpPr>
            <a:spLocks noGrp="1"/>
          </p:cNvSpPr>
          <p:nvPr>
            <p:ph type="ctrTitle"/>
          </p:nvPr>
        </p:nvSpPr>
        <p:spPr>
          <a:xfrm>
            <a:off x="311150" y="180296"/>
            <a:ext cx="7799917" cy="339267"/>
          </a:xfrm>
        </p:spPr>
        <p:txBody>
          <a:bodyPr>
            <a:normAutofit/>
          </a:bodyPr>
          <a:lstStyle/>
          <a:p>
            <a:r>
              <a:rPr lang="ja-JP" altLang="en-US" dirty="0"/>
              <a:t>保有設備一覧</a:t>
            </a:r>
          </a:p>
        </p:txBody>
      </p:sp>
      <p:sp>
        <p:nvSpPr>
          <p:cNvPr id="4" name="タイトル 1">
            <a:extLst>
              <a:ext uri="{FF2B5EF4-FFF2-40B4-BE49-F238E27FC236}">
                <a16:creationId xmlns:a16="http://schemas.microsoft.com/office/drawing/2014/main" id="{9A038C7C-FDC6-3DA9-FB86-371BEF2D480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7" name="字幕 13">
            <a:extLst>
              <a:ext uri="{FF2B5EF4-FFF2-40B4-BE49-F238E27FC236}">
                <a16:creationId xmlns:a16="http://schemas.microsoft.com/office/drawing/2014/main" id="{AF62B1A2-0C69-2A17-FF69-1256D98EBEC7}"/>
              </a:ext>
            </a:extLst>
          </p:cNvPr>
          <p:cNvSpPr>
            <a:spLocks noGrp="1"/>
          </p:cNvSpPr>
          <p:nvPr>
            <p:ph type="subTitle" idx="1"/>
          </p:nvPr>
        </p:nvSpPr>
        <p:spPr>
          <a:xfrm>
            <a:off x="460675" y="830046"/>
            <a:ext cx="9781875" cy="241861"/>
          </a:xfrm>
        </p:spPr>
        <p:txBody>
          <a:bodyPr>
            <a:noAutofit/>
          </a:bodyPr>
          <a:lstStyle/>
          <a:p>
            <a:r>
              <a:rPr lang="ja-JP" altLang="en-US" dirty="0">
                <a:latin typeface="+mj-ea"/>
              </a:rPr>
              <a:t>機械・車両は償却済み（集配車両はリースと推察）。建物は屋根・外壁・シャッター・冷蔵庫ユニット等の改修を継続して資産計上</a:t>
            </a:r>
            <a:endParaRPr lang="en-US" altLang="ja-JP" dirty="0"/>
          </a:p>
        </p:txBody>
      </p:sp>
      <p:graphicFrame>
        <p:nvGraphicFramePr>
          <p:cNvPr id="14" name="Table 13"/>
          <p:cNvGraphicFramePr>
            <a:graphicFrameLocks noGrp="1"/>
          </p:cNvGraphicFramePr>
          <p:nvPr/>
        </p:nvGraphicFramePr>
        <p:xfrm>
          <a:off x="310896" y="1417320"/>
          <a:ext cx="5760720" cy="5248656"/>
        </p:xfrm>
        <a:graphic>
          <a:graphicData uri="http://schemas.openxmlformats.org/drawingml/2006/table">
            <a:tbl>
              <a:tblPr firstRow="0" bandRow="0">
                <a:tableStyleId>{5940675A-B579-460E-94D1-54222C63F5DA}</a:tableStyleId>
              </a:tblPr>
              <a:tblGrid>
                <a:gridCol w="2286000"/>
                <a:gridCol w="2377440"/>
                <a:gridCol w="1097280"/>
              </a:tblGrid>
              <a:tr h="187452">
                <a:tc>
                  <a:txBody>
                    <a:bodyPr wrap="square"/>
                    <a:lstStyle/>
                    <a:p>
                      <a:pPr algn="ctr"/>
                      <a:r>
                        <a:rPr sz="750" b="1">
                          <a:solidFill>
                            <a:srgbClr val="FFFFFF"/>
                          </a:solidFill>
                          <a:latin typeface="游ゴシック"/>
                          <a:ea typeface="游ゴシック"/>
                        </a:rPr>
                        <a:t>建物内訳（用途）</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1">
                          <a:solidFill>
                            <a:srgbClr val="FFFFFF"/>
                          </a:solidFill>
                          <a:latin typeface="游ゴシック"/>
                          <a:ea typeface="游ゴシック"/>
                        </a:rPr>
                        <a:t>所在・面積</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1">
                          <a:solidFill>
                            <a:srgbClr val="FFFFFF"/>
                          </a:solidFill>
                          <a:latin typeface="游ゴシック"/>
                          <a:ea typeface="游ゴシック"/>
                        </a:rPr>
                        <a:t>簿価(千円)</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管理棟</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宝田一丁目4-20／365.00㎡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20,193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荷捌市場</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宝田一丁目4-20／330.70㎡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5,899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倉庫</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宝田一丁目4-20／320.20㎡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1,166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容器庫</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宝田一丁目4-20／198.70㎡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500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物置</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宝田一丁目4-20／34.40㎡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容器倉庫</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249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シャッター</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シャッター取替</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1,739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改修工事</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2,695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改修工事</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6,000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パッケージ場</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宝田一丁目5-20／629.34㎡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11,751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シャッター更新</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1,078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プレハブ修繕</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1,377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不用材置場</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倉庫</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宝田一丁目5-1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8,917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2階改修</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6,404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1階トイレ改修</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1,170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屋根改修</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3,391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屋根改修</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3,120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屋根改修</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3,737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下屋修理・塗装</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971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パッケージ場外壁</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宝田一丁目5-20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6,815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冷蔵庫ユニット交換工事</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1,002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シャッター</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2,570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資材倉庫外壁改修（2025年5月）</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918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資材倉庫シャッター（2025年5月）</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402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1">
                          <a:solidFill>
                            <a:srgbClr val="1A1A1A"/>
                          </a:solidFill>
                          <a:latin typeface="游ゴシック"/>
                          <a:ea typeface="游ゴシック"/>
                        </a:rPr>
                        <a:t>建物 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1">
                          <a:solidFill>
                            <a:srgbClr val="1A1A1A"/>
                          </a:solidFill>
                          <a:latin typeface="游ゴシック"/>
                          <a:ea typeface="游ゴシック"/>
                        </a:rPr>
                        <a:t>　</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1">
                          <a:solidFill>
                            <a:srgbClr val="1A1A1A"/>
                          </a:solidFill>
                          <a:latin typeface="Arial"/>
                          <a:ea typeface="游ゴシック"/>
                        </a:rPr>
                        <a:t>92,066</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bl>
          </a:graphicData>
        </a:graphic>
      </p:graphicFrame>
      <p:graphicFrame>
        <p:nvGraphicFramePr>
          <p:cNvPr id="15" name="Table 14"/>
          <p:cNvGraphicFramePr>
            <a:graphicFrameLocks noGrp="1"/>
          </p:cNvGraphicFramePr>
          <p:nvPr/>
        </p:nvGraphicFramePr>
        <p:xfrm>
          <a:off x="6263640" y="1417320"/>
          <a:ext cx="4069079" cy="2688336"/>
        </p:xfrm>
        <a:graphic>
          <a:graphicData uri="http://schemas.openxmlformats.org/drawingml/2006/table">
            <a:tbl>
              <a:tblPr firstRow="0" bandRow="0">
                <a:tableStyleId>{5940675A-B579-460E-94D1-54222C63F5DA}</a:tableStyleId>
              </a:tblPr>
              <a:tblGrid>
                <a:gridCol w="1188720"/>
                <a:gridCol w="822959"/>
                <a:gridCol w="2057400"/>
              </a:tblGrid>
              <a:tr h="384048">
                <a:tc>
                  <a:txBody>
                    <a:bodyPr wrap="square"/>
                    <a:lstStyle/>
                    <a:p>
                      <a:pPr algn="ctr"/>
                      <a:r>
                        <a:rPr sz="800" b="1">
                          <a:solidFill>
                            <a:srgbClr val="FFFFFF"/>
                          </a:solidFill>
                          <a:latin typeface="游ゴシック"/>
                          <a:ea typeface="游ゴシック"/>
                        </a:rPr>
                        <a:t>区分</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游ゴシック"/>
                          <a:ea typeface="游ゴシック"/>
                        </a:rPr>
                        <a:t>簿価(千円)</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游ゴシック"/>
                          <a:ea typeface="游ゴシック"/>
                        </a:rPr>
                        <a:t>備考</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r>
              <a:tr h="384048">
                <a:tc>
                  <a:txBody>
                    <a:bodyPr wrap="square"/>
                    <a:lstStyle/>
                    <a:p>
                      <a:pPr algn="l"/>
                      <a:r>
                        <a:rPr sz="800" b="0">
                          <a:solidFill>
                            <a:srgbClr val="1A1A1A"/>
                          </a:solidFill>
                          <a:latin typeface="游ゴシック"/>
                          <a:ea typeface="游ゴシック"/>
                        </a:rPr>
                        <a:t>建物付属設備</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11,400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冷蔵庫ユニット交換・シャッター更新等（内訳書記載の改修工事）</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84048">
                <a:tc>
                  <a:txBody>
                    <a:bodyPr wrap="square"/>
                    <a:lstStyle/>
                    <a:p>
                      <a:pPr algn="l"/>
                      <a:r>
                        <a:rPr sz="800" b="0">
                          <a:solidFill>
                            <a:srgbClr val="1A1A1A"/>
                          </a:solidFill>
                          <a:latin typeface="游ゴシック"/>
                          <a:ea typeface="游ゴシック"/>
                        </a:rPr>
                        <a:t>構築物</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284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84048">
                <a:tc>
                  <a:txBody>
                    <a:bodyPr wrap="square"/>
                    <a:lstStyle/>
                    <a:p>
                      <a:pPr algn="l"/>
                      <a:r>
                        <a:rPr sz="800" b="0">
                          <a:solidFill>
                            <a:srgbClr val="1A1A1A"/>
                          </a:solidFill>
                          <a:latin typeface="游ゴシック"/>
                          <a:ea typeface="游ゴシック"/>
                        </a:rPr>
                        <a:t>機械装置</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備忘価額のみ（償却済）</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84048">
                <a:tc>
                  <a:txBody>
                    <a:bodyPr wrap="square"/>
                    <a:lstStyle/>
                    <a:p>
                      <a:pPr algn="l"/>
                      <a:r>
                        <a:rPr sz="800" b="0">
                          <a:solidFill>
                            <a:srgbClr val="1A1A1A"/>
                          </a:solidFill>
                          <a:latin typeface="游ゴシック"/>
                          <a:ea typeface="游ゴシック"/>
                        </a:rPr>
                        <a:t>車両運搬具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備忘価額のみ。集配車両はリースと推察（要確認）</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84048">
                <a:tc>
                  <a:txBody>
                    <a:bodyPr wrap="square"/>
                    <a:lstStyle/>
                    <a:p>
                      <a:pPr algn="l"/>
                      <a:r>
                        <a:rPr sz="800" b="0">
                          <a:solidFill>
                            <a:srgbClr val="1A1A1A"/>
                          </a:solidFill>
                          <a:latin typeface="游ゴシック"/>
                          <a:ea typeface="游ゴシック"/>
                        </a:rPr>
                        <a:t>工具器具備品</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84048">
                <a:tc>
                  <a:txBody>
                    <a:bodyPr wrap="square"/>
                    <a:lstStyle/>
                    <a:p>
                      <a:pPr algn="l"/>
                      <a:r>
                        <a:rPr sz="800" b="0">
                          <a:solidFill>
                            <a:srgbClr val="1A1A1A"/>
                          </a:solidFill>
                          <a:latin typeface="游ゴシック"/>
                          <a:ea typeface="游ゴシック"/>
                        </a:rPr>
                        <a:t>ソフトウェア</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372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販売管理システム等と推察（要確認）</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bl>
          </a:graphicData>
        </a:graphic>
      </p:graphicFrame>
      <p:sp>
        <p:nvSpPr>
          <p:cNvPr id="16" name="TextBox 15"/>
          <p:cNvSpPr txBox="1"/>
          <p:nvPr/>
        </p:nvSpPr>
        <p:spPr>
          <a:xfrm>
            <a:off x="6263640" y="4297680"/>
            <a:ext cx="4069080" cy="1371600"/>
          </a:xfrm>
          <a:prstGeom prst="rect">
            <a:avLst/>
          </a:prstGeom>
          <a:noFill/>
        </p:spPr>
        <p:txBody>
          <a:bodyPr wrap="square" lIns="0" rIns="0" tIns="0" bIns="0" anchor="t">
            <a:spAutoFit/>
          </a:bodyPr>
          <a:lstStyle/>
          <a:p>
            <a:pPr algn="l">
              <a:spcAft>
                <a:spcPts val="300"/>
              </a:spcAft>
            </a:pPr>
            <a:r>
              <a:rPr sz="800" b="0">
                <a:solidFill>
                  <a:srgbClr val="5A6670"/>
                </a:solidFill>
                <a:latin typeface="游ゴシック"/>
                <a:ea typeface="游ゴシック"/>
              </a:rPr>
              <a:t>※固定資産内訳書（2026/3期末）。固定資産台帳は未受領のため、冷蔵設備・フォークリフト・車両等の明細は受領後に更新。</a:t>
            </a:r>
          </a:p>
          <a:p>
            <a:pPr algn="l">
              <a:spcAft>
                <a:spcPts val="300"/>
              </a:spcAft>
            </a:pPr>
            <a:r>
              <a:rPr sz="800" b="0">
                <a:solidFill>
                  <a:srgbClr val="5A6670"/>
                </a:solidFill>
                <a:latin typeface="游ゴシック"/>
                <a:ea typeface="游ゴシック"/>
              </a:rPr>
              <a:t>※リース契約（車両・冷蔵設備等と推察）の一覧は資料依頼中。</a:t>
            </a:r>
          </a:p>
        </p:txBody>
      </p:sp>
    </p:spTree>
    <p:extLst>
      <p:ext uri="{BB962C8B-B14F-4D97-AF65-F5344CB8AC3E}">
        <p14:creationId xmlns:p14="http://schemas.microsoft.com/office/powerpoint/2010/main" val="9155409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7F8BB-F852-9D0D-47DC-B75AAADC3F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2D80B5D-88ED-D63E-E6F8-E5830356F6CE}"/>
              </a:ext>
            </a:extLst>
          </p:cNvPr>
          <p:cNvSpPr>
            <a:spLocks noGrp="1"/>
          </p:cNvSpPr>
          <p:nvPr>
            <p:ph type="title"/>
          </p:nvPr>
        </p:nvSpPr>
        <p:spPr>
          <a:xfrm>
            <a:off x="989013" y="3656161"/>
            <a:ext cx="9221787" cy="615553"/>
          </a:xfrm>
        </p:spPr>
        <p:txBody>
          <a:bodyPr/>
          <a:lstStyle/>
          <a:p>
            <a:r>
              <a:rPr lang="ja-JP" altLang="en-US" dirty="0"/>
              <a:t>財務情報詳細</a:t>
            </a:r>
            <a:endParaRPr lang="en-US" altLang="ja-JP" dirty="0"/>
          </a:p>
        </p:txBody>
      </p:sp>
    </p:spTree>
    <p:extLst>
      <p:ext uri="{BB962C8B-B14F-4D97-AF65-F5344CB8AC3E}">
        <p14:creationId xmlns:p14="http://schemas.microsoft.com/office/powerpoint/2010/main" val="15844496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B347B-E74F-2AA1-D695-C8F2C57E0D27}"/>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AB158FB-2AD5-0994-A1DD-08907F35E57B}"/>
              </a:ext>
            </a:extLst>
          </p:cNvPr>
          <p:cNvSpPr>
            <a:spLocks noGrp="1"/>
          </p:cNvSpPr>
          <p:nvPr>
            <p:ph type="ctrTitle"/>
          </p:nvPr>
        </p:nvSpPr>
        <p:spPr>
          <a:xfrm>
            <a:off x="311150" y="180296"/>
            <a:ext cx="7799917" cy="339267"/>
          </a:xfrm>
        </p:spPr>
        <p:txBody>
          <a:bodyPr>
            <a:normAutofit/>
          </a:bodyPr>
          <a:lstStyle/>
          <a:p>
            <a:r>
              <a:rPr lang="ja-JP" altLang="en-US" dirty="0"/>
              <a:t>貸借対照表</a:t>
            </a:r>
          </a:p>
        </p:txBody>
      </p:sp>
      <p:sp>
        <p:nvSpPr>
          <p:cNvPr id="5" name="タイトル 1">
            <a:extLst>
              <a:ext uri="{FF2B5EF4-FFF2-40B4-BE49-F238E27FC236}">
                <a16:creationId xmlns:a16="http://schemas.microsoft.com/office/drawing/2014/main" id="{CB37C797-A02B-4ADD-85CA-EEB0AC88114E}"/>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財務情報詳細</a:t>
            </a:r>
          </a:p>
        </p:txBody>
      </p:sp>
      <p:sp>
        <p:nvSpPr>
          <p:cNvPr id="4" name="字幕 13">
            <a:extLst>
              <a:ext uri="{FF2B5EF4-FFF2-40B4-BE49-F238E27FC236}">
                <a16:creationId xmlns:a16="http://schemas.microsoft.com/office/drawing/2014/main" id="{9FB86E35-A8A4-6E80-826F-9FF288E82A13}"/>
              </a:ext>
            </a:extLst>
          </p:cNvPr>
          <p:cNvSpPr>
            <a:spLocks noGrp="1"/>
          </p:cNvSpPr>
          <p:nvPr>
            <p:ph type="subTitle" idx="1"/>
          </p:nvPr>
        </p:nvSpPr>
        <p:spPr>
          <a:xfrm>
            <a:off x="460675" y="830046"/>
            <a:ext cx="9781875" cy="241861"/>
          </a:xfrm>
        </p:spPr>
        <p:txBody>
          <a:bodyPr>
            <a:noAutofit/>
          </a:bodyPr>
          <a:lstStyle/>
          <a:p>
            <a:r>
              <a:rPr lang="ja-JP" altLang="en-US" dirty="0">
                <a:latin typeface="+mj-ea"/>
              </a:rPr>
              <a:t>総資産485百万円のうち現預金211百万円・土地建物185百万円。負債の大半は長期借入金361百万円</a:t>
            </a:r>
            <a:endParaRPr lang="en-US" altLang="ja-JP" dirty="0"/>
          </a:p>
        </p:txBody>
      </p:sp>
      <p:graphicFrame>
        <p:nvGraphicFramePr>
          <p:cNvPr id="14" name="Table 13"/>
          <p:cNvGraphicFramePr>
            <a:graphicFrameLocks noGrp="1"/>
          </p:cNvGraphicFramePr>
          <p:nvPr/>
        </p:nvGraphicFramePr>
        <p:xfrm>
          <a:off x="310896" y="1371600"/>
          <a:ext cx="4983479" cy="4978908"/>
        </p:xfrm>
        <a:graphic>
          <a:graphicData uri="http://schemas.openxmlformats.org/drawingml/2006/table">
            <a:tbl>
              <a:tblPr firstRow="0" bandRow="0">
                <a:tableStyleId>{5940675A-B579-460E-94D1-54222C63F5DA}</a:tableStyleId>
              </a:tblPr>
              <a:tblGrid>
                <a:gridCol w="1789647"/>
                <a:gridCol w="798458"/>
                <a:gridCol w="798458"/>
                <a:gridCol w="798458"/>
                <a:gridCol w="798458"/>
              </a:tblGrid>
              <a:tr h="150876">
                <a:tc>
                  <a:txBody>
                    <a:bodyPr wrap="square"/>
                    <a:lstStyle/>
                    <a:p>
                      <a:pPr algn="ctr"/>
                      <a:r>
                        <a:rPr sz="700" b="1">
                          <a:solidFill>
                            <a:srgbClr val="FFFFFF"/>
                          </a:solidFill>
                          <a:latin typeface="游ゴシック"/>
                          <a:ea typeface="游ゴシック"/>
                        </a:rPr>
                        <a:t>資産の部</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00" b="1">
                          <a:solidFill>
                            <a:srgbClr val="FFFFFF"/>
                          </a:solidFill>
                          <a:latin typeface="游ゴシック"/>
                          <a:ea typeface="游ゴシック"/>
                        </a:rPr>
                        <a:t>2024/3末</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00" b="1">
                          <a:solidFill>
                            <a:srgbClr val="FFFFFF"/>
                          </a:solidFill>
                          <a:latin typeface="游ゴシック"/>
                          <a:ea typeface="游ゴシック"/>
                        </a:rPr>
                        <a:t>2025/3末</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00" b="1">
                          <a:solidFill>
                            <a:srgbClr val="FFFFFF"/>
                          </a:solidFill>
                          <a:latin typeface="游ゴシック"/>
                          <a:ea typeface="游ゴシック"/>
                        </a:rPr>
                        <a:t>2026/3末</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00" b="1">
                          <a:solidFill>
                            <a:srgbClr val="FFFFFF"/>
                          </a:solidFill>
                          <a:latin typeface="游ゴシック"/>
                          <a:ea typeface="游ゴシック"/>
                        </a:rPr>
                        <a:t>2026/7末</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現金及び預金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339,553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259,719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210,887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162,087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売掛金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21,171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21,897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19,609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40,587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資材肥料売掛金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1,352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1,269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1,227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2,365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棚卸資産</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9,860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15,444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14,597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36,648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立替金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未収入金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3,684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3,905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3,011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2,665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前払費用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109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84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101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仮払金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493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仮払税金等</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998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貸倒引当金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△237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△234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△203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△203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1">
                          <a:solidFill>
                            <a:srgbClr val="1A1A1A"/>
                          </a:solidFill>
                          <a:latin typeface="游ゴシック"/>
                          <a:ea typeface="游ゴシック"/>
                        </a:rPr>
                        <a:t>流動資産計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375,589</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303,101</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249,705</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244,251</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建物</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101,162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95,851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92,066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92,066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建物付属設備</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15,417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13,503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11,400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11,400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構築物</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383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333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284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284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機械装置</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134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車両運搬具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5,838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1,282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工具器具備品</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288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153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土地</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93,137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93,137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93,137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93,137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減価償却累計額（期中計上分）</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△2,436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1">
                          <a:solidFill>
                            <a:srgbClr val="1A1A1A"/>
                          </a:solidFill>
                          <a:latin typeface="游ゴシック"/>
                          <a:ea typeface="游ゴシック"/>
                        </a:rPr>
                        <a:t>有形固定資産計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216,357</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204,260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196,906</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194,470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電話加入権</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2,156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2,156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2,156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2,156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ソフトウェア</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715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543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372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372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1">
                          <a:solidFill>
                            <a:srgbClr val="1A1A1A"/>
                          </a:solidFill>
                          <a:latin typeface="游ゴシック"/>
                          <a:ea typeface="游ゴシック"/>
                        </a:rPr>
                        <a:t>無形固定資産計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2,871</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2,699</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2,527</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2,527</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投資有価証券</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3,250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3,250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2,600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1,600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出資金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75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75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75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75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長期前払費用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397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74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74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74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保証金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32,003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33,003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33,303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33,303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事業保険積立金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21,162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20,900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1">
                          <a:solidFill>
                            <a:srgbClr val="1A1A1A"/>
                          </a:solidFill>
                          <a:latin typeface="游ゴシック"/>
                          <a:ea typeface="游ゴシック"/>
                        </a:rPr>
                        <a:t>投資その他の資産計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56,887</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57,302</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36,052</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35,052</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1">
                          <a:solidFill>
                            <a:srgbClr val="1A1A1A"/>
                          </a:solidFill>
                          <a:latin typeface="游ゴシック"/>
                          <a:ea typeface="游ゴシック"/>
                        </a:rPr>
                        <a:t>固定資産計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276,115</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264,261</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235,485</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232,049</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繰延資産</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244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167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1">
                          <a:solidFill>
                            <a:srgbClr val="1A1A1A"/>
                          </a:solidFill>
                          <a:latin typeface="游ゴシック"/>
                          <a:ea typeface="游ゴシック"/>
                        </a:rPr>
                        <a:t>資産の部合計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651,948</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567,529</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485,190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476,300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bl>
          </a:graphicData>
        </a:graphic>
      </p:graphicFrame>
      <p:graphicFrame>
        <p:nvGraphicFramePr>
          <p:cNvPr id="15" name="Table 14"/>
          <p:cNvGraphicFramePr>
            <a:graphicFrameLocks noGrp="1"/>
          </p:cNvGraphicFramePr>
          <p:nvPr/>
        </p:nvGraphicFramePr>
        <p:xfrm>
          <a:off x="5394960" y="1371600"/>
          <a:ext cx="4983479" cy="2564892"/>
        </p:xfrm>
        <a:graphic>
          <a:graphicData uri="http://schemas.openxmlformats.org/drawingml/2006/table">
            <a:tbl>
              <a:tblPr firstRow="0" bandRow="0">
                <a:tableStyleId>{5940675A-B579-460E-94D1-54222C63F5DA}</a:tableStyleId>
              </a:tblPr>
              <a:tblGrid>
                <a:gridCol w="1789647"/>
                <a:gridCol w="798458"/>
                <a:gridCol w="798458"/>
                <a:gridCol w="798458"/>
                <a:gridCol w="798458"/>
              </a:tblGrid>
              <a:tr h="150876">
                <a:tc>
                  <a:txBody>
                    <a:bodyPr wrap="square"/>
                    <a:lstStyle/>
                    <a:p>
                      <a:pPr algn="ctr"/>
                      <a:r>
                        <a:rPr sz="700" b="1">
                          <a:solidFill>
                            <a:srgbClr val="FFFFFF"/>
                          </a:solidFill>
                          <a:latin typeface="游ゴシック"/>
                          <a:ea typeface="游ゴシック"/>
                        </a:rPr>
                        <a:t>負債・純資産の部</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00" b="1">
                          <a:solidFill>
                            <a:srgbClr val="FFFFFF"/>
                          </a:solidFill>
                          <a:latin typeface="游ゴシック"/>
                          <a:ea typeface="游ゴシック"/>
                        </a:rPr>
                        <a:t>2024/3末</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00" b="1">
                          <a:solidFill>
                            <a:srgbClr val="FFFFFF"/>
                          </a:solidFill>
                          <a:latin typeface="游ゴシック"/>
                          <a:ea typeface="游ゴシック"/>
                        </a:rPr>
                        <a:t>2025/3末</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00" b="1">
                          <a:solidFill>
                            <a:srgbClr val="FFFFFF"/>
                          </a:solidFill>
                          <a:latin typeface="游ゴシック"/>
                          <a:ea typeface="游ゴシック"/>
                        </a:rPr>
                        <a:t>2026/3末</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00" b="1">
                          <a:solidFill>
                            <a:srgbClr val="FFFFFF"/>
                          </a:solidFill>
                          <a:latin typeface="游ゴシック"/>
                          <a:ea typeface="游ゴシック"/>
                        </a:rPr>
                        <a:t>2026/7末</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買掛金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18,128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19,955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26,349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32,102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未払金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10,199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7,303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6,630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4,000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仮受金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5,641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預り金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504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558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281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197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未払法人税等</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2,308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1,851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未払消費税</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2,970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1,607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2,168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3,760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1">
                          <a:solidFill>
                            <a:srgbClr val="1A1A1A"/>
                          </a:solidFill>
                          <a:latin typeface="游ゴシック"/>
                          <a:ea typeface="游ゴシック"/>
                        </a:rPr>
                        <a:t>流動負債計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34,109</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29,456</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37,280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45,700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長期借入金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514,690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434,046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361,058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337,862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預り保証金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10,320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10,270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8,980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8,980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1">
                          <a:solidFill>
                            <a:srgbClr val="1A1A1A"/>
                          </a:solidFill>
                          <a:latin typeface="游ゴシック"/>
                          <a:ea typeface="游ゴシック"/>
                        </a:rPr>
                        <a:t>固定負債計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525,010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444,316</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370,038</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346,842</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1">
                          <a:solidFill>
                            <a:srgbClr val="1A1A1A"/>
                          </a:solidFill>
                          <a:latin typeface="游ゴシック"/>
                          <a:ea typeface="游ゴシック"/>
                        </a:rPr>
                        <a:t>負債の部合計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559,119</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473,772</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407,318</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392,542</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資本金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40,000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40,000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40,000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40,000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利益準備金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1,800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2,000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2,080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2,080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繰越利益剰余金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51,028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51,757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35,793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41,677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1">
                          <a:solidFill>
                            <a:srgbClr val="1A1A1A"/>
                          </a:solidFill>
                          <a:latin typeface="游ゴシック"/>
                          <a:ea typeface="游ゴシック"/>
                        </a:rPr>
                        <a:t>純資産の部合計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92,828</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93,757</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77,873</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83,757</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1">
                          <a:solidFill>
                            <a:srgbClr val="1A1A1A"/>
                          </a:solidFill>
                          <a:latin typeface="游ゴシック"/>
                          <a:ea typeface="游ゴシック"/>
                        </a:rPr>
                        <a:t>負債・純資産の部合計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651,948</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567,529</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485,190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476,300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bl>
          </a:graphicData>
        </a:graphic>
      </p:graphicFrame>
      <p:sp>
        <p:nvSpPr>
          <p:cNvPr id="16" name="Rectangle 15"/>
          <p:cNvSpPr/>
          <p:nvPr/>
        </p:nvSpPr>
        <p:spPr>
          <a:xfrm>
            <a:off x="5394960" y="4846320"/>
            <a:ext cx="4983480" cy="27432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l"/>
            <a:r>
              <a:rPr sz="1000" b="1">
                <a:solidFill>
                  <a:srgbClr val="FFFFFF"/>
                </a:solidFill>
                <a:latin typeface="游ゴシック"/>
                <a:ea typeface="游ゴシック"/>
              </a:rPr>
              <a:t>Comment</a:t>
            </a:r>
          </a:p>
        </p:txBody>
      </p:sp>
      <p:sp>
        <p:nvSpPr>
          <p:cNvPr id="17" name="Rectangle 16"/>
          <p:cNvSpPr/>
          <p:nvPr/>
        </p:nvSpPr>
        <p:spPr>
          <a:xfrm>
            <a:off x="5394960" y="5138928"/>
            <a:ext cx="4983480" cy="1810511"/>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spcAft>
                <a:spcPts val="200"/>
              </a:spcAft>
            </a:pPr>
            <a:r>
              <a:rPr sz="800" b="0">
                <a:solidFill>
                  <a:srgbClr val="1A1A1A"/>
                </a:solidFill>
                <a:latin typeface="游ゴシック"/>
                <a:ea typeface="游ゴシック"/>
              </a:rPr>
              <a:t>・2026/7末の買掛金は委託分6,457千円・仕入分25,126千円・資材分519千円の合計。</a:t>
            </a:r>
          </a:p>
          <a:p>
            <a:pPr algn="l">
              <a:spcAft>
                <a:spcPts val="200"/>
              </a:spcAft>
            </a:pPr>
            <a:r>
              <a:rPr sz="800" b="0">
                <a:solidFill>
                  <a:srgbClr val="1A1A1A"/>
                </a:solidFill>
                <a:latin typeface="游ゴシック"/>
                <a:ea typeface="游ゴシック"/>
              </a:rPr>
              <a:t>・事業保険積立金は2026/3期に全額取崩し（前期損益修正損20,900千円）。</a:t>
            </a:r>
          </a:p>
          <a:p>
            <a:pPr algn="l">
              <a:spcAft>
                <a:spcPts val="200"/>
              </a:spcAft>
            </a:pPr>
            <a:r>
              <a:rPr sz="800" b="0">
                <a:solidFill>
                  <a:srgbClr val="1A1A1A"/>
                </a:solidFill>
                <a:latin typeface="游ゴシック"/>
                <a:ea typeface="游ゴシック"/>
              </a:rPr>
              <a:t>・投資有価証券は2026/7末に1,000千円減少（(株)庄果株式の処分と推察・要確認）。</a:t>
            </a:r>
          </a:p>
          <a:p>
            <a:pPr algn="l">
              <a:spcAft>
                <a:spcPts val="200"/>
              </a:spcAft>
            </a:pPr>
            <a:r>
              <a:rPr sz="800" b="0">
                <a:solidFill>
                  <a:srgbClr val="1A1A1A"/>
                </a:solidFill>
                <a:latin typeface="游ゴシック"/>
                <a:ea typeface="游ゴシック"/>
              </a:rPr>
              <a:t>・長期借入金は1年内返済額を区分していない。単位：千円。</a:t>
            </a:r>
          </a:p>
        </p:txBody>
      </p:sp>
    </p:spTree>
    <p:extLst>
      <p:ext uri="{BB962C8B-B14F-4D97-AF65-F5344CB8AC3E}">
        <p14:creationId xmlns:p14="http://schemas.microsoft.com/office/powerpoint/2010/main" val="28778819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D83D88-B54F-0820-A617-759035C5FFC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2C2D39CC-0147-8513-46F0-368EBE22D97C}"/>
              </a:ext>
            </a:extLst>
          </p:cNvPr>
          <p:cNvSpPr>
            <a:spLocks noGrp="1"/>
          </p:cNvSpPr>
          <p:nvPr>
            <p:ph type="ctrTitle"/>
          </p:nvPr>
        </p:nvSpPr>
        <p:spPr>
          <a:xfrm>
            <a:off x="311150" y="180296"/>
            <a:ext cx="7799917" cy="339267"/>
          </a:xfrm>
        </p:spPr>
        <p:txBody>
          <a:bodyPr>
            <a:normAutofit/>
          </a:bodyPr>
          <a:lstStyle/>
          <a:p>
            <a:r>
              <a:rPr lang="ja-JP" altLang="en-US" dirty="0"/>
              <a:t>損益計算書</a:t>
            </a:r>
          </a:p>
        </p:txBody>
      </p:sp>
      <p:sp>
        <p:nvSpPr>
          <p:cNvPr id="5" name="タイトル 1">
            <a:extLst>
              <a:ext uri="{FF2B5EF4-FFF2-40B4-BE49-F238E27FC236}">
                <a16:creationId xmlns:a16="http://schemas.microsoft.com/office/drawing/2014/main" id="{B1382B80-EF7F-718A-0685-302C41A8531B}"/>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財務情報詳細</a:t>
            </a:r>
          </a:p>
        </p:txBody>
      </p:sp>
      <p:sp>
        <p:nvSpPr>
          <p:cNvPr id="4" name="字幕 13">
            <a:extLst>
              <a:ext uri="{FF2B5EF4-FFF2-40B4-BE49-F238E27FC236}">
                <a16:creationId xmlns:a16="http://schemas.microsoft.com/office/drawing/2014/main" id="{C391002A-F61E-39B7-D75D-796D17928C17}"/>
              </a:ext>
            </a:extLst>
          </p:cNvPr>
          <p:cNvSpPr>
            <a:spLocks noGrp="1"/>
          </p:cNvSpPr>
          <p:nvPr>
            <p:ph type="subTitle" idx="1"/>
          </p:nvPr>
        </p:nvSpPr>
        <p:spPr>
          <a:xfrm>
            <a:off x="460675" y="830046"/>
            <a:ext cx="9781875" cy="241861"/>
          </a:xfrm>
        </p:spPr>
        <p:txBody>
          <a:bodyPr>
            <a:noAutofit/>
          </a:bodyPr>
          <a:lstStyle/>
          <a:p>
            <a:r>
              <a:rPr lang="ja-JP" altLang="en-US" dirty="0">
                <a:latin typeface="+mj-ea"/>
              </a:rPr>
              <a:t>売上高は約12億円で推移。2026/3期は営業利益5.9百万円・経常利益8.1百万円、保険積立金の取崩しにより当期純損失15.1百万円</a:t>
            </a:r>
            <a:endParaRPr lang="en-US" altLang="ja-JP" dirty="0"/>
          </a:p>
        </p:txBody>
      </p:sp>
      <p:graphicFrame>
        <p:nvGraphicFramePr>
          <p:cNvPr id="14" name="Table 13"/>
          <p:cNvGraphicFramePr>
            <a:graphicFrameLocks noGrp="1"/>
          </p:cNvGraphicFramePr>
          <p:nvPr/>
        </p:nvGraphicFramePr>
        <p:xfrm>
          <a:off x="310896" y="1371600"/>
          <a:ext cx="6309360" cy="5365692"/>
        </p:xfrm>
        <a:graphic>
          <a:graphicData uri="http://schemas.openxmlformats.org/drawingml/2006/table">
            <a:tbl>
              <a:tblPr firstRow="0" bandRow="0">
                <a:tableStyleId>{5940675A-B579-460E-94D1-54222C63F5DA}</a:tableStyleId>
              </a:tblPr>
              <a:tblGrid>
                <a:gridCol w="1920240"/>
                <a:gridCol w="914400"/>
                <a:gridCol w="914400"/>
                <a:gridCol w="914400"/>
                <a:gridCol w="640080"/>
                <a:gridCol w="1005840"/>
              </a:tblGrid>
              <a:tr h="149047">
                <a:tc>
                  <a:txBody>
                    <a:bodyPr wrap="square"/>
                    <a:lstStyle/>
                    <a:p>
                      <a:pPr algn="ctr"/>
                      <a:r>
                        <a:rPr sz="700" b="1">
                          <a:solidFill>
                            <a:srgbClr val="FFFFFF"/>
                          </a:solidFill>
                          <a:latin typeface="游ゴシック"/>
                          <a:ea typeface="游ゴシック"/>
                        </a:rPr>
                        <a:t>（単位：千円）</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00" b="1">
                          <a:solidFill>
                            <a:srgbClr val="FFFFFF"/>
                          </a:solidFill>
                          <a:latin typeface="Arial"/>
                          <a:ea typeface="游ゴシック"/>
                        </a:rPr>
                        <a:t>2024/3期</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00" b="1">
                          <a:solidFill>
                            <a:srgbClr val="FFFFFF"/>
                          </a:solidFill>
                          <a:latin typeface="Arial"/>
                          <a:ea typeface="游ゴシック"/>
                        </a:rPr>
                        <a:t>2025/3期</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00" b="1">
                          <a:solidFill>
                            <a:srgbClr val="FFFFFF"/>
                          </a:solidFill>
                          <a:latin typeface="Arial"/>
                          <a:ea typeface="游ゴシック"/>
                        </a:rPr>
                        <a:t>2026/3期</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00" b="1">
                          <a:solidFill>
                            <a:srgbClr val="FFFFFF"/>
                          </a:solidFill>
                          <a:latin typeface="游ゴシック"/>
                          <a:ea typeface="游ゴシック"/>
                        </a:rPr>
                        <a:t>売上比</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00" b="1">
                          <a:solidFill>
                            <a:srgbClr val="FFFFFF"/>
                          </a:solidFill>
                          <a:latin typeface="Arial"/>
                          <a:ea typeface="游ゴシック"/>
                        </a:rPr>
                        <a:t>2026/4-7月</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商品売上高</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1,179,974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1,183,309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1,197,530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100.1%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375,961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資材売上高</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10,820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センター費収入</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12,273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委託手数料収入</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12,564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売上割戻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△1,485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△1,361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△1,637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△462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1">
                          <a:solidFill>
                            <a:srgbClr val="1A1A1A"/>
                          </a:solidFill>
                          <a:latin typeface="游ゴシック"/>
                          <a:ea typeface="游ゴシック"/>
                        </a:rPr>
                        <a:t>売上高</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1,178,489</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1,181,947</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1,195,893</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100.0%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411,155</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期首棚卸高</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15,470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9,860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15,444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14,597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当期仕入高</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953,298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976,236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996,035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83.3%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371,992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期末棚卸高</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△9,860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△15,444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△14,597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△36,648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1">
                          <a:solidFill>
                            <a:srgbClr val="1A1A1A"/>
                          </a:solidFill>
                          <a:latin typeface="游ゴシック"/>
                          <a:ea typeface="游ゴシック"/>
                        </a:rPr>
                        <a:t>売上原価</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958,909</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970,652</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996,882</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83.4%</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349,941</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1">
                          <a:solidFill>
                            <a:srgbClr val="1A1A1A"/>
                          </a:solidFill>
                          <a:latin typeface="游ゴシック"/>
                          <a:ea typeface="游ゴシック"/>
                        </a:rPr>
                        <a:t>売上総利益</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219,580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211,296</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199,011</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16.6%</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61,214</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1">
                          <a:solidFill>
                            <a:srgbClr val="1A1A1A"/>
                          </a:solidFill>
                          <a:latin typeface="游ゴシック"/>
                          <a:ea typeface="游ゴシック"/>
                        </a:rPr>
                        <a:t>販売費及び一般管理費</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214,823</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215,718</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193,151</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16.2%</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55,897</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1">
                          <a:solidFill>
                            <a:srgbClr val="1A1A1A"/>
                          </a:solidFill>
                          <a:latin typeface="游ゴシック"/>
                          <a:ea typeface="游ゴシック"/>
                        </a:rPr>
                        <a:t>営業利益</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4,757</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△4,423</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5,860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0.5%</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5,317</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受取利息</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85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267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受取配当金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受取奨励金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2,284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2,407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2,513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653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受取延滞料</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170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147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51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受取運賃・配達収入</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50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雑収入</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8,142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8,067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3,670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976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営業外収益計</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10,628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10,737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6,578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1,761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支払利息</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3,962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4,041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3,896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1,193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出荷奨励金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106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雑損失</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379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営業外費用計</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4,068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4,133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4,370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1,193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1">
                          <a:solidFill>
                            <a:srgbClr val="1A1A1A"/>
                          </a:solidFill>
                          <a:latin typeface="游ゴシック"/>
                          <a:ea typeface="游ゴシック"/>
                        </a:rPr>
                        <a:t>経常利益</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11,317</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2,181</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8,068</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0.7%</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5,885</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固定資産売却益</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1,711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1,609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貸倒引当金戻入</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176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237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234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特別利益計</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1,887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1,846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234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固定資産売却除却損</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202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貸倒引当金繰入</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237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234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203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前期損益修正損</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20,900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特別損失計</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439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234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21,103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1">
                          <a:solidFill>
                            <a:srgbClr val="1A1A1A"/>
                          </a:solidFill>
                          <a:latin typeface="游ゴシック"/>
                          <a:ea typeface="游ゴシック"/>
                        </a:rPr>
                        <a:t>税引前当期純利益</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12,765</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3,793</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△12,801</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△1.1%</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5,885</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法人税等</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3,658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864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2,283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1">
                          <a:solidFill>
                            <a:srgbClr val="1A1A1A"/>
                          </a:solidFill>
                          <a:latin typeface="游ゴシック"/>
                          <a:ea typeface="游ゴシック"/>
                        </a:rPr>
                        <a:t>当期純利益</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9,107</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2,929</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△15,085</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△1.3%</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5,885</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bl>
          </a:graphicData>
        </a:graphic>
      </p:graphicFrame>
      <p:sp>
        <p:nvSpPr>
          <p:cNvPr id="15" name="Rectangle 14"/>
          <p:cNvSpPr/>
          <p:nvPr/>
        </p:nvSpPr>
        <p:spPr>
          <a:xfrm>
            <a:off x="6766560" y="1371600"/>
            <a:ext cx="3611880" cy="27432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l"/>
            <a:r>
              <a:rPr sz="1000" b="1">
                <a:solidFill>
                  <a:srgbClr val="FFFFFF"/>
                </a:solidFill>
                <a:latin typeface="游ゴシック"/>
                <a:ea typeface="游ゴシック"/>
              </a:rPr>
              <a:t>Comment</a:t>
            </a:r>
          </a:p>
        </p:txBody>
      </p:sp>
      <p:sp>
        <p:nvSpPr>
          <p:cNvPr id="16" name="Rectangle 15"/>
          <p:cNvSpPr/>
          <p:nvPr/>
        </p:nvSpPr>
        <p:spPr>
          <a:xfrm>
            <a:off x="6766560" y="1664208"/>
            <a:ext cx="3611880" cy="5285231"/>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spcAft>
                <a:spcPts val="200"/>
              </a:spcAft>
            </a:pPr>
            <a:r>
              <a:rPr sz="850" b="1">
                <a:solidFill>
                  <a:srgbClr val="0889C9"/>
                </a:solidFill>
                <a:latin typeface="游ゴシック"/>
                <a:ea typeface="游ゴシック"/>
              </a:rPr>
              <a:t>≪売上高≫</a:t>
            </a:r>
          </a:p>
          <a:p>
            <a:pPr algn="l">
              <a:spcAft>
                <a:spcPts val="200"/>
              </a:spcAft>
            </a:pPr>
            <a:r>
              <a:rPr sz="850" b="0">
                <a:solidFill>
                  <a:srgbClr val="1A1A1A"/>
                </a:solidFill>
                <a:latin typeface="游ゴシック"/>
                <a:ea typeface="游ゴシック"/>
              </a:rPr>
              <a:t>決算書では「商品売上高」1本で表示。受託販売は2019年10月以降、手数料のみの純額表示。試算表では資材売上・センター費・委託手数料を区分。</a:t>
            </a:r>
          </a:p>
          <a:p>
            <a:pPr algn="l">
              <a:spcAft>
                <a:spcPts val="200"/>
              </a:spcAft>
            </a:pPr>
            <a:r>
              <a:rPr sz="850" b="1">
                <a:solidFill>
                  <a:srgbClr val="0889C9"/>
                </a:solidFill>
                <a:latin typeface="游ゴシック"/>
                <a:ea typeface="游ゴシック"/>
              </a:rPr>
              <a:t>≪売上原価≫</a:t>
            </a:r>
          </a:p>
          <a:p>
            <a:pPr algn="l">
              <a:spcAft>
                <a:spcPts val="200"/>
              </a:spcAft>
            </a:pPr>
            <a:r>
              <a:rPr sz="850" b="0">
                <a:solidFill>
                  <a:srgbClr val="1A1A1A"/>
                </a:solidFill>
                <a:latin typeface="游ゴシック"/>
                <a:ea typeface="游ゴシック"/>
              </a:rPr>
              <a:t>粗利率18.6%→17.9%→16.6%。棚卸資産は最終仕入原価法。</a:t>
            </a:r>
          </a:p>
          <a:p>
            <a:pPr algn="l">
              <a:spcAft>
                <a:spcPts val="200"/>
              </a:spcAft>
            </a:pPr>
            <a:r>
              <a:rPr sz="850" b="1">
                <a:solidFill>
                  <a:srgbClr val="0889C9"/>
                </a:solidFill>
                <a:latin typeface="游ゴシック"/>
                <a:ea typeface="游ゴシック"/>
              </a:rPr>
              <a:t>≪営業外損益≫</a:t>
            </a:r>
          </a:p>
          <a:p>
            <a:pPr algn="l">
              <a:spcAft>
                <a:spcPts val="200"/>
              </a:spcAft>
            </a:pPr>
            <a:r>
              <a:rPr sz="850" b="0">
                <a:solidFill>
                  <a:srgbClr val="1A1A1A"/>
                </a:solidFill>
                <a:latin typeface="游ゴシック"/>
                <a:ea typeface="游ゴシック"/>
              </a:rPr>
              <a:t>受取奨励金（毎期約2.3〜2.5百万円）、雑収入（仲卸業者等からのゴミ処理料・冷蔵庫保管料等）。支払利息は年約4百万円。</a:t>
            </a:r>
          </a:p>
          <a:p>
            <a:pPr algn="l">
              <a:spcAft>
                <a:spcPts val="200"/>
              </a:spcAft>
            </a:pPr>
            <a:r>
              <a:rPr sz="850" b="1">
                <a:solidFill>
                  <a:srgbClr val="0889C9"/>
                </a:solidFill>
                <a:latin typeface="游ゴシック"/>
                <a:ea typeface="游ゴシック"/>
              </a:rPr>
              <a:t>≪特別損益≫</a:t>
            </a:r>
          </a:p>
          <a:p>
            <a:pPr algn="l">
              <a:spcAft>
                <a:spcPts val="200"/>
              </a:spcAft>
            </a:pPr>
            <a:r>
              <a:rPr sz="850" b="0">
                <a:solidFill>
                  <a:srgbClr val="1A1A1A"/>
                </a:solidFill>
                <a:latin typeface="游ゴシック"/>
                <a:ea typeface="游ゴシック"/>
              </a:rPr>
              <a:t>2026/3期の前期損益修正損20,900千円は過年度保険解約訂正額（非経常）。</a:t>
            </a:r>
          </a:p>
          <a:p>
            <a:pPr algn="l">
              <a:spcAft>
                <a:spcPts val="200"/>
              </a:spcAft>
            </a:pPr>
            <a:r>
              <a:rPr sz="850" b="1">
                <a:solidFill>
                  <a:srgbClr val="0889C9"/>
                </a:solidFill>
                <a:latin typeface="游ゴシック"/>
                <a:ea typeface="游ゴシック"/>
              </a:rPr>
              <a:t>≪進行期≫</a:t>
            </a:r>
          </a:p>
          <a:p>
            <a:pPr algn="l">
              <a:spcAft>
                <a:spcPts val="200"/>
              </a:spcAft>
            </a:pPr>
            <a:r>
              <a:rPr sz="850" b="0">
                <a:solidFill>
                  <a:srgbClr val="1A1A1A"/>
                </a:solidFill>
                <a:latin typeface="游ゴシック"/>
                <a:ea typeface="游ゴシック"/>
              </a:rPr>
              <a:t>2026/4-7月は4か月累計（繁忙期を含む）。年換算しない。</a:t>
            </a:r>
          </a:p>
        </p:txBody>
      </p:sp>
    </p:spTree>
    <p:extLst>
      <p:ext uri="{BB962C8B-B14F-4D97-AF65-F5344CB8AC3E}">
        <p14:creationId xmlns:p14="http://schemas.microsoft.com/office/powerpoint/2010/main" val="374094293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11451-02A5-56C7-8AF6-DBDAA7CFCC10}"/>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F326988B-EA79-EED8-C9CB-DD122747A00F}"/>
              </a:ext>
            </a:extLst>
          </p:cNvPr>
          <p:cNvSpPr>
            <a:spLocks noGrp="1"/>
          </p:cNvSpPr>
          <p:nvPr>
            <p:ph type="ctrTitle"/>
          </p:nvPr>
        </p:nvSpPr>
        <p:spPr>
          <a:xfrm>
            <a:off x="311150" y="180296"/>
            <a:ext cx="7799917" cy="339267"/>
          </a:xfrm>
        </p:spPr>
        <p:txBody>
          <a:bodyPr>
            <a:normAutofit/>
          </a:bodyPr>
          <a:lstStyle/>
          <a:p>
            <a:r>
              <a:rPr lang="ja-JP" altLang="en-US" dirty="0"/>
              <a:t>販売費及び一般管理費</a:t>
            </a:r>
          </a:p>
        </p:txBody>
      </p:sp>
      <p:sp>
        <p:nvSpPr>
          <p:cNvPr id="5" name="タイトル 1">
            <a:extLst>
              <a:ext uri="{FF2B5EF4-FFF2-40B4-BE49-F238E27FC236}">
                <a16:creationId xmlns:a16="http://schemas.microsoft.com/office/drawing/2014/main" id="{7691939A-6180-3920-2B7D-F305819429C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財務情報詳細</a:t>
            </a:r>
          </a:p>
        </p:txBody>
      </p:sp>
      <p:sp>
        <p:nvSpPr>
          <p:cNvPr id="4" name="字幕 13">
            <a:extLst>
              <a:ext uri="{FF2B5EF4-FFF2-40B4-BE49-F238E27FC236}">
                <a16:creationId xmlns:a16="http://schemas.microsoft.com/office/drawing/2014/main" id="{7F8A1EE0-ADF4-993B-FF72-FBEC016B826B}"/>
              </a:ext>
            </a:extLst>
          </p:cNvPr>
          <p:cNvSpPr>
            <a:spLocks noGrp="1"/>
          </p:cNvSpPr>
          <p:nvPr>
            <p:ph type="subTitle" idx="1"/>
          </p:nvPr>
        </p:nvSpPr>
        <p:spPr>
          <a:xfrm>
            <a:off x="460675" y="830046"/>
            <a:ext cx="9781875" cy="241861"/>
          </a:xfrm>
        </p:spPr>
        <p:txBody>
          <a:bodyPr>
            <a:noAutofit/>
          </a:bodyPr>
          <a:lstStyle/>
          <a:p>
            <a:r>
              <a:rPr lang="ja-JP" altLang="en-US" dirty="0">
                <a:latin typeface="+mj-ea"/>
              </a:rPr>
              <a:t>販管費は約2億円で、人件費（約105百万円）と運賃・車両関連費（約39百万円）が中心</a:t>
            </a:r>
            <a:endParaRPr lang="en-US" altLang="ja-JP" dirty="0"/>
          </a:p>
        </p:txBody>
      </p:sp>
      <p:graphicFrame>
        <p:nvGraphicFramePr>
          <p:cNvPr id="14" name="Table 13"/>
          <p:cNvGraphicFramePr>
            <a:graphicFrameLocks noGrp="1"/>
          </p:cNvGraphicFramePr>
          <p:nvPr/>
        </p:nvGraphicFramePr>
        <p:xfrm>
          <a:off x="310896" y="1371600"/>
          <a:ext cx="6309360" cy="5486400"/>
        </p:xfrm>
        <a:graphic>
          <a:graphicData uri="http://schemas.openxmlformats.org/drawingml/2006/table">
            <a:tbl>
              <a:tblPr firstRow="0" bandRow="0">
                <a:tableStyleId>{5940675A-B579-460E-94D1-54222C63F5DA}</a:tableStyleId>
              </a:tblPr>
              <a:tblGrid>
                <a:gridCol w="1920240"/>
                <a:gridCol w="914400"/>
                <a:gridCol w="914400"/>
                <a:gridCol w="914400"/>
                <a:gridCol w="640080"/>
                <a:gridCol w="1005840"/>
              </a:tblGrid>
              <a:tr h="182880">
                <a:tc>
                  <a:txBody>
                    <a:bodyPr wrap="square"/>
                    <a:lstStyle/>
                    <a:p>
                      <a:pPr algn="ctr"/>
                      <a:r>
                        <a:rPr sz="700" b="1">
                          <a:solidFill>
                            <a:srgbClr val="FFFFFF"/>
                          </a:solidFill>
                          <a:latin typeface="游ゴシック"/>
                          <a:ea typeface="游ゴシック"/>
                        </a:rPr>
                        <a:t>（単位：千円）</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00" b="1">
                          <a:solidFill>
                            <a:srgbClr val="FFFFFF"/>
                          </a:solidFill>
                          <a:latin typeface="Arial"/>
                          <a:ea typeface="游ゴシック"/>
                        </a:rPr>
                        <a:t>2024/3期</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00" b="1">
                          <a:solidFill>
                            <a:srgbClr val="FFFFFF"/>
                          </a:solidFill>
                          <a:latin typeface="Arial"/>
                          <a:ea typeface="游ゴシック"/>
                        </a:rPr>
                        <a:t>2025/3期</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00" b="1">
                          <a:solidFill>
                            <a:srgbClr val="FFFFFF"/>
                          </a:solidFill>
                          <a:latin typeface="Arial"/>
                          <a:ea typeface="游ゴシック"/>
                        </a:rPr>
                        <a:t>2026/3期</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00" b="1">
                          <a:solidFill>
                            <a:srgbClr val="FFFFFF"/>
                          </a:solidFill>
                          <a:latin typeface="游ゴシック"/>
                          <a:ea typeface="游ゴシック"/>
                        </a:rPr>
                        <a:t>売上比</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00" b="1">
                          <a:solidFill>
                            <a:srgbClr val="FFFFFF"/>
                          </a:solidFill>
                          <a:latin typeface="Arial"/>
                          <a:ea typeface="游ゴシック"/>
                        </a:rPr>
                        <a:t>2026/4-7月</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役員報酬</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22,200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22,200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15,360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4,730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給料手当</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73,148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74,179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71,673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6.0%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19,329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賞与</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6,002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5,692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退職金共済掛金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3,175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3,166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3,026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769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退職金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356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747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法定福利費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15,154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14,913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13,296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3,603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福利厚生費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595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460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広告宣伝費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203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114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89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旅費交通費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212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79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通信費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1,435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1,143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1,192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297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車両関連費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8,475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10,126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9,862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2,955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運賃</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27,547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29,494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28,997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8,100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振込手数料負担金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123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207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215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60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委託手数料</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3,709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3,539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4,075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910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接待交際費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3,475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2,486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1,580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930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水道光熱費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4,424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4,701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4,685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1,496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消耗品費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租税公課</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14,465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12,814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12,177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890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消費税引当金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3,760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支払手数料</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1,546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1,527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1,597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867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諸会費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181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141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138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116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寄付金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71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リース料</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4,712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6,711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6,227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2,046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支払保険料</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2,772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1,431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1,542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195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修繕費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1,170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708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124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207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事務用消耗品費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2,033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1,935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2,336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819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減価償却費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13,664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12,558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8,879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2,436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雑費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4,522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4,393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4,690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1,267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1">
                          <a:solidFill>
                            <a:srgbClr val="1A1A1A"/>
                          </a:solidFill>
                          <a:latin typeface="游ゴシック"/>
                          <a:ea typeface="游ゴシック"/>
                        </a:rPr>
                        <a:t>販売費及び一般管理費 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214,823</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215,718</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193,151</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16.2%</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55,897</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bl>
          </a:graphicData>
        </a:graphic>
      </p:graphicFrame>
      <p:sp>
        <p:nvSpPr>
          <p:cNvPr id="15" name="Rectangle 14"/>
          <p:cNvSpPr/>
          <p:nvPr/>
        </p:nvSpPr>
        <p:spPr>
          <a:xfrm>
            <a:off x="6766560" y="1371600"/>
            <a:ext cx="3611880" cy="27432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l"/>
            <a:r>
              <a:rPr sz="1000" b="1">
                <a:solidFill>
                  <a:srgbClr val="FFFFFF"/>
                </a:solidFill>
                <a:latin typeface="游ゴシック"/>
                <a:ea typeface="游ゴシック"/>
              </a:rPr>
              <a:t>Comment</a:t>
            </a:r>
          </a:p>
        </p:txBody>
      </p:sp>
      <p:sp>
        <p:nvSpPr>
          <p:cNvPr id="16" name="Rectangle 15"/>
          <p:cNvSpPr/>
          <p:nvPr/>
        </p:nvSpPr>
        <p:spPr>
          <a:xfrm>
            <a:off x="6766560" y="1664208"/>
            <a:ext cx="3611880" cy="5285231"/>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spcAft>
                <a:spcPts val="200"/>
              </a:spcAft>
            </a:pPr>
            <a:r>
              <a:rPr sz="850" b="1">
                <a:solidFill>
                  <a:srgbClr val="0889C9"/>
                </a:solidFill>
                <a:latin typeface="游ゴシック"/>
                <a:ea typeface="游ゴシック"/>
              </a:rPr>
              <a:t>≪人件費≫</a:t>
            </a:r>
          </a:p>
          <a:p>
            <a:pPr algn="l">
              <a:spcAft>
                <a:spcPts val="200"/>
              </a:spcAft>
            </a:pPr>
            <a:r>
              <a:rPr sz="850" b="0">
                <a:solidFill>
                  <a:srgbClr val="1A1A1A"/>
                </a:solidFill>
                <a:latin typeface="游ゴシック"/>
                <a:ea typeface="游ゴシック"/>
              </a:rPr>
              <a:t>役員報酬は22,200→15,360千円に減少。2026/3期は賞与の計上なし（要確認）。退職金は中小企業退職金共済で積立。</a:t>
            </a:r>
          </a:p>
          <a:p>
            <a:pPr algn="l">
              <a:spcAft>
                <a:spcPts val="200"/>
              </a:spcAft>
            </a:pPr>
            <a:r>
              <a:rPr sz="850" b="1">
                <a:solidFill>
                  <a:srgbClr val="0889C9"/>
                </a:solidFill>
                <a:latin typeface="游ゴシック"/>
                <a:ea typeface="游ゴシック"/>
              </a:rPr>
              <a:t>≪運賃・車両関連費≫</a:t>
            </a:r>
          </a:p>
          <a:p>
            <a:pPr algn="l">
              <a:spcAft>
                <a:spcPts val="200"/>
              </a:spcAft>
            </a:pPr>
            <a:r>
              <a:rPr sz="850" b="0">
                <a:solidFill>
                  <a:srgbClr val="1A1A1A"/>
                </a:solidFill>
                <a:latin typeface="游ゴシック"/>
                <a:ea typeface="游ゴシック"/>
              </a:rPr>
              <a:t>集配業務に伴う費用。車両は償却済みで、リース（年約6百万円）を利用。</a:t>
            </a:r>
          </a:p>
          <a:p>
            <a:pPr algn="l">
              <a:spcAft>
                <a:spcPts val="200"/>
              </a:spcAft>
            </a:pPr>
            <a:r>
              <a:rPr sz="850" b="1">
                <a:solidFill>
                  <a:srgbClr val="0889C9"/>
                </a:solidFill>
                <a:latin typeface="游ゴシック"/>
                <a:ea typeface="游ゴシック"/>
              </a:rPr>
              <a:t>≪租税公課≫</a:t>
            </a:r>
          </a:p>
          <a:p>
            <a:pPr algn="l">
              <a:spcAft>
                <a:spcPts val="200"/>
              </a:spcAft>
            </a:pPr>
            <a:r>
              <a:rPr sz="850" b="0">
                <a:solidFill>
                  <a:srgbClr val="1A1A1A"/>
                </a:solidFill>
                <a:latin typeface="游ゴシック"/>
                <a:ea typeface="游ゴシック"/>
              </a:rPr>
              <a:t>消費税は税込経理のため、納付消費税相当が租税公課（決算）・消費税引当金（試算表）に含まれる。</a:t>
            </a:r>
          </a:p>
          <a:p>
            <a:pPr algn="l">
              <a:spcAft>
                <a:spcPts val="200"/>
              </a:spcAft>
            </a:pPr>
            <a:r>
              <a:rPr sz="850" b="1">
                <a:solidFill>
                  <a:srgbClr val="0889C9"/>
                </a:solidFill>
                <a:latin typeface="游ゴシック"/>
                <a:ea typeface="游ゴシック"/>
              </a:rPr>
              <a:t>≪減価償却費≫</a:t>
            </a:r>
          </a:p>
          <a:p>
            <a:pPr algn="l">
              <a:spcAft>
                <a:spcPts val="200"/>
              </a:spcAft>
            </a:pPr>
            <a:r>
              <a:rPr sz="850" b="0">
                <a:solidFill>
                  <a:srgbClr val="1A1A1A"/>
                </a:solidFill>
                <a:latin typeface="游ゴシック"/>
                <a:ea typeface="游ゴシック"/>
              </a:rPr>
              <a:t>13,664→8,879千円へ減少（車両等の償却終了）。</a:t>
            </a:r>
          </a:p>
        </p:txBody>
      </p:sp>
    </p:spTree>
    <p:extLst>
      <p:ext uri="{BB962C8B-B14F-4D97-AF65-F5344CB8AC3E}">
        <p14:creationId xmlns:p14="http://schemas.microsoft.com/office/powerpoint/2010/main" val="19093800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6E9481-F171-6C11-CA74-858754CED30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1067C0B-FDBB-DAD1-C4BF-FB866758BEC6}"/>
              </a:ext>
            </a:extLst>
          </p:cNvPr>
          <p:cNvSpPr>
            <a:spLocks noGrp="1"/>
          </p:cNvSpPr>
          <p:nvPr>
            <p:ph type="title"/>
          </p:nvPr>
        </p:nvSpPr>
        <p:spPr>
          <a:xfrm>
            <a:off x="989013" y="3656161"/>
            <a:ext cx="9221787" cy="615553"/>
          </a:xfrm>
        </p:spPr>
        <p:txBody>
          <a:bodyPr/>
          <a:lstStyle/>
          <a:p>
            <a:r>
              <a:rPr lang="en-US" altLang="ja-JP" dirty="0"/>
              <a:t>Appendix</a:t>
            </a:r>
          </a:p>
        </p:txBody>
      </p:sp>
    </p:spTree>
    <p:extLst>
      <p:ext uri="{BB962C8B-B14F-4D97-AF65-F5344CB8AC3E}">
        <p14:creationId xmlns:p14="http://schemas.microsoft.com/office/powerpoint/2010/main" val="34130237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2E3EC-2048-079E-7643-70D2CF76772A}"/>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02E27983-8C8F-AAE9-9CF2-1036574B4BDE}"/>
              </a:ext>
            </a:extLst>
          </p:cNvPr>
          <p:cNvSpPr>
            <a:spLocks noGrp="1"/>
          </p:cNvSpPr>
          <p:nvPr>
            <p:ph type="ctrTitle"/>
          </p:nvPr>
        </p:nvSpPr>
        <p:spPr>
          <a:xfrm>
            <a:off x="311150" y="180296"/>
            <a:ext cx="7799917" cy="339267"/>
          </a:xfrm>
        </p:spPr>
        <p:txBody>
          <a:bodyPr>
            <a:normAutofit/>
          </a:bodyPr>
          <a:lstStyle/>
          <a:p>
            <a:r>
              <a:rPr lang="ja-JP" altLang="en-US" dirty="0"/>
              <a:t>沿革</a:t>
            </a:r>
          </a:p>
        </p:txBody>
      </p:sp>
      <p:sp>
        <p:nvSpPr>
          <p:cNvPr id="5" name="タイトル 1">
            <a:extLst>
              <a:ext uri="{FF2B5EF4-FFF2-40B4-BE49-F238E27FC236}">
                <a16:creationId xmlns:a16="http://schemas.microsoft.com/office/drawing/2014/main" id="{7C6D20B5-6E7B-D773-483A-3D3213A63C3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en-US" altLang="ja-JP" sz="1200" b="1" spc="55" dirty="0">
                <a:solidFill>
                  <a:schemeClr val="bg1"/>
                </a:solidFill>
              </a:rPr>
              <a:t>Appendix</a:t>
            </a:r>
            <a:endParaRPr lang="ja-JP" altLang="en-US" sz="1200" b="1" spc="55" dirty="0">
              <a:solidFill>
                <a:schemeClr val="bg1"/>
              </a:solidFill>
            </a:endParaRPr>
          </a:p>
        </p:txBody>
      </p:sp>
      <p:sp>
        <p:nvSpPr>
          <p:cNvPr id="4" name="字幕 13">
            <a:extLst>
              <a:ext uri="{FF2B5EF4-FFF2-40B4-BE49-F238E27FC236}">
                <a16:creationId xmlns:a16="http://schemas.microsoft.com/office/drawing/2014/main" id="{16508C02-2E69-432A-5CCB-7583CED20D5E}"/>
              </a:ext>
            </a:extLst>
          </p:cNvPr>
          <p:cNvSpPr>
            <a:spLocks noGrp="1"/>
          </p:cNvSpPr>
          <p:nvPr>
            <p:ph type="subTitle" idx="1"/>
          </p:nvPr>
        </p:nvSpPr>
        <p:spPr>
          <a:xfrm>
            <a:off x="460675" y="830046"/>
            <a:ext cx="9781875" cy="241861"/>
          </a:xfrm>
        </p:spPr>
        <p:txBody>
          <a:bodyPr>
            <a:noAutofit/>
          </a:bodyPr>
          <a:lstStyle/>
          <a:p>
            <a:r>
              <a:rPr lang="ja-JP" altLang="en-US" dirty="0">
                <a:latin typeface="+mj-ea"/>
              </a:rPr>
              <a:t>1973年の設立以来、鶴岡市宝田を拠点に青果物卸売を継続。施設改修を重ねながら市場を運営</a:t>
            </a:r>
            <a:endParaRPr lang="en-US" altLang="ja-JP" dirty="0"/>
          </a:p>
        </p:txBody>
      </p:sp>
      <p:graphicFrame>
        <p:nvGraphicFramePr>
          <p:cNvPr id="14" name="Table 13"/>
          <p:cNvGraphicFramePr>
            <a:graphicFrameLocks noGrp="1"/>
          </p:cNvGraphicFramePr>
          <p:nvPr/>
        </p:nvGraphicFramePr>
        <p:xfrm>
          <a:off x="448056" y="1463040"/>
          <a:ext cx="9793223" cy="4626864"/>
        </p:xfrm>
        <a:graphic>
          <a:graphicData uri="http://schemas.openxmlformats.org/drawingml/2006/table">
            <a:tbl>
              <a:tblPr firstRow="0" bandRow="0">
                <a:tableStyleId>{5940675A-B579-460E-94D1-54222C63F5DA}</a:tableStyleId>
              </a:tblPr>
              <a:tblGrid>
                <a:gridCol w="1738983"/>
                <a:gridCol w="8054240"/>
              </a:tblGrid>
              <a:tr h="420624">
                <a:tc>
                  <a:txBody>
                    <a:bodyPr wrap="square"/>
                    <a:lstStyle/>
                    <a:p>
                      <a:pPr algn="ctr"/>
                      <a:r>
                        <a:rPr sz="1000" b="1">
                          <a:solidFill>
                            <a:srgbClr val="FFFFFF"/>
                          </a:solidFill>
                          <a:latin typeface="Arial"/>
                          <a:ea typeface="游ゴシック"/>
                        </a:rPr>
                        <a:t>年月</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1000" b="1">
                          <a:solidFill>
                            <a:srgbClr val="FFFFFF"/>
                          </a:solidFill>
                          <a:latin typeface="游ゴシック"/>
                          <a:ea typeface="游ゴシック"/>
                        </a:rPr>
                        <a:t>内容</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r>
              <a:tr h="420624">
                <a:tc>
                  <a:txBody>
                    <a:bodyPr wrap="square"/>
                    <a:lstStyle/>
                    <a:p>
                      <a:pPr algn="l"/>
                      <a:r>
                        <a:rPr sz="1000" b="0">
                          <a:solidFill>
                            <a:srgbClr val="1A1A1A"/>
                          </a:solidFill>
                          <a:latin typeface="Arial"/>
                          <a:ea typeface="游ゴシック"/>
                        </a:rPr>
                        <a:t>1973年11月</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1000" b="0">
                          <a:solidFill>
                            <a:srgbClr val="1A1A1A"/>
                          </a:solidFill>
                          <a:latin typeface="游ゴシック"/>
                          <a:ea typeface="游ゴシック"/>
                        </a:rPr>
                        <a:t>株式会社鶴岡中央青果を設立</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420624">
                <a:tc>
                  <a:txBody>
                    <a:bodyPr wrap="square"/>
                    <a:lstStyle/>
                    <a:p>
                      <a:pPr algn="l"/>
                      <a:r>
                        <a:rPr sz="1000" b="0">
                          <a:solidFill>
                            <a:srgbClr val="1A1A1A"/>
                          </a:solidFill>
                          <a:latin typeface="游ゴシック"/>
                          <a:ea typeface="游ゴシック"/>
                        </a:rPr>
                        <a:t>1981〜82年</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1000" b="0">
                          <a:solidFill>
                            <a:srgbClr val="1A1A1A"/>
                          </a:solidFill>
                          <a:latin typeface="游ゴシック"/>
                          <a:ea typeface="游ゴシック"/>
                        </a:rPr>
                        <a:t>現本社地（宝田一丁目）に事務所・市場・倉庫・パッケージ場（事務所兼倉庫）を建築</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420624">
                <a:tc>
                  <a:txBody>
                    <a:bodyPr wrap="square"/>
                    <a:lstStyle/>
                    <a:p>
                      <a:pPr algn="l"/>
                      <a:r>
                        <a:rPr sz="1000" b="0">
                          <a:solidFill>
                            <a:srgbClr val="1A1A1A"/>
                          </a:solidFill>
                          <a:latin typeface="Arial"/>
                          <a:ea typeface="游ゴシック"/>
                        </a:rPr>
                        <a:t>1984年11月</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1000" b="0">
                          <a:solidFill>
                            <a:srgbClr val="1A1A1A"/>
                          </a:solidFill>
                          <a:latin typeface="游ゴシック"/>
                          <a:ea typeface="游ゴシック"/>
                        </a:rPr>
                        <a:t>住居表示の実施により本店所在地の表記が「鶴岡市宝田一丁目4番20号」となる</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420624">
                <a:tc>
                  <a:txBody>
                    <a:bodyPr wrap="square"/>
                    <a:lstStyle/>
                    <a:p>
                      <a:pPr algn="l"/>
                      <a:r>
                        <a:rPr sz="1000" b="0">
                          <a:solidFill>
                            <a:srgbClr val="1A1A1A"/>
                          </a:solidFill>
                          <a:latin typeface="游ゴシック"/>
                          <a:ea typeface="游ゴシック"/>
                        </a:rPr>
                        <a:t>1988年10月（要確認）</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1000" b="0">
                          <a:solidFill>
                            <a:srgbClr val="1A1A1A"/>
                          </a:solidFill>
                          <a:latin typeface="游ゴシック"/>
                          <a:ea typeface="游ゴシック"/>
                        </a:rPr>
                        <a:t>山形県資料に地方卸売市場としての開設時期の記載あり（年月は要確認）</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420624">
                <a:tc>
                  <a:txBody>
                    <a:bodyPr wrap="square"/>
                    <a:lstStyle/>
                    <a:p>
                      <a:pPr algn="l"/>
                      <a:r>
                        <a:rPr sz="1000" b="0">
                          <a:solidFill>
                            <a:srgbClr val="1A1A1A"/>
                          </a:solidFill>
                          <a:latin typeface="Arial"/>
                          <a:ea typeface="游ゴシック"/>
                        </a:rPr>
                        <a:t>2006年</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1000" b="0">
                          <a:solidFill>
                            <a:srgbClr val="1A1A1A"/>
                          </a:solidFill>
                          <a:latin typeface="游ゴシック"/>
                          <a:ea typeface="游ゴシック"/>
                        </a:rPr>
                        <a:t>会社法施行に伴い取締役会設置会社・監査役設置会社の登記</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420624">
                <a:tc>
                  <a:txBody>
                    <a:bodyPr wrap="square"/>
                    <a:lstStyle/>
                    <a:p>
                      <a:pPr algn="l"/>
                      <a:r>
                        <a:rPr sz="1000" b="0">
                          <a:solidFill>
                            <a:srgbClr val="1A1A1A"/>
                          </a:solidFill>
                          <a:latin typeface="Arial"/>
                          <a:ea typeface="游ゴシック"/>
                        </a:rPr>
                        <a:t>2012年5月</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1000" b="0">
                          <a:solidFill>
                            <a:srgbClr val="1A1A1A"/>
                          </a:solidFill>
                          <a:latin typeface="游ゴシック"/>
                          <a:ea typeface="游ゴシック"/>
                        </a:rPr>
                        <a:t>定款の目的を変更（現行：青果物の販売及び卸売、倉庫業ほか）</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420624">
                <a:tc>
                  <a:txBody>
                    <a:bodyPr wrap="square"/>
                    <a:lstStyle/>
                    <a:p>
                      <a:pPr algn="l"/>
                      <a:r>
                        <a:rPr sz="1000" b="0">
                          <a:solidFill>
                            <a:srgbClr val="1A1A1A"/>
                          </a:solidFill>
                          <a:latin typeface="Arial"/>
                          <a:ea typeface="游ゴシック"/>
                        </a:rPr>
                        <a:t>2012年</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1000" b="0">
                          <a:solidFill>
                            <a:srgbClr val="1A1A1A"/>
                          </a:solidFill>
                          <a:latin typeface="游ゴシック"/>
                          <a:ea typeface="游ゴシック"/>
                        </a:rPr>
                        <a:t>宝田一丁目5-1に倉庫（鉄骨造139㎡）を新築</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420624">
                <a:tc>
                  <a:txBody>
                    <a:bodyPr wrap="square"/>
                    <a:lstStyle/>
                    <a:p>
                      <a:pPr algn="l"/>
                      <a:r>
                        <a:rPr sz="1000" b="0">
                          <a:solidFill>
                            <a:srgbClr val="1A1A1A"/>
                          </a:solidFill>
                          <a:latin typeface="Arial"/>
                          <a:ea typeface="游ゴシック"/>
                        </a:rPr>
                        <a:t>2019年10月</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1000" b="0">
                          <a:solidFill>
                            <a:srgbClr val="1A1A1A"/>
                          </a:solidFill>
                          <a:latin typeface="游ゴシック"/>
                          <a:ea typeface="游ゴシック"/>
                        </a:rPr>
                        <a:t>受託販売の会計表示を総額から純額（受託手数料のみ）へ変更</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420624">
                <a:tc>
                  <a:txBody>
                    <a:bodyPr wrap="square"/>
                    <a:lstStyle/>
                    <a:p>
                      <a:pPr algn="l"/>
                      <a:r>
                        <a:rPr sz="1000" b="0">
                          <a:solidFill>
                            <a:srgbClr val="1A1A1A"/>
                          </a:solidFill>
                          <a:latin typeface="Arial"/>
                          <a:ea typeface="游ゴシック"/>
                        </a:rPr>
                        <a:t>2025年5月</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1000" b="0">
                          <a:solidFill>
                            <a:srgbClr val="1A1A1A"/>
                          </a:solidFill>
                          <a:latin typeface="游ゴシック"/>
                          <a:ea typeface="游ゴシック"/>
                        </a:rPr>
                        <a:t>資材倉庫の外壁・シャッター改修</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420624">
                <a:tc>
                  <a:txBody>
                    <a:bodyPr wrap="square"/>
                    <a:lstStyle/>
                    <a:p>
                      <a:pPr algn="l"/>
                      <a:r>
                        <a:rPr sz="1000" b="0">
                          <a:solidFill>
                            <a:srgbClr val="1A1A1A"/>
                          </a:solidFill>
                          <a:latin typeface="Arial"/>
                          <a:ea typeface="游ゴシック"/>
                        </a:rPr>
                        <a:t>2026年5月</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1000" b="0">
                          <a:solidFill>
                            <a:srgbClr val="1A1A1A"/>
                          </a:solidFill>
                          <a:latin typeface="游ゴシック"/>
                          <a:ea typeface="游ゴシック"/>
                        </a:rPr>
                        <a:t>役員改選（取締役3名重任、常務取締役退任）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bl>
          </a:graphicData>
        </a:graphic>
      </p:graphicFrame>
      <p:sp>
        <p:nvSpPr>
          <p:cNvPr id="15" name="TextBox 14"/>
          <p:cNvSpPr txBox="1"/>
          <p:nvPr/>
        </p:nvSpPr>
        <p:spPr>
          <a:xfrm>
            <a:off x="448056" y="6400800"/>
            <a:ext cx="9793224" cy="457200"/>
          </a:xfrm>
          <a:prstGeom prst="rect">
            <a:avLst/>
          </a:prstGeom>
          <a:noFill/>
        </p:spPr>
        <p:txBody>
          <a:bodyPr wrap="square" lIns="0" rIns="0" tIns="0" bIns="0" anchor="t">
            <a:spAutoFit/>
          </a:bodyPr>
          <a:lstStyle/>
          <a:p>
            <a:pPr algn="l"/>
            <a:r>
              <a:rPr sz="800" b="0">
                <a:solidFill>
                  <a:srgbClr val="5A6670"/>
                </a:solidFill>
                <a:latin typeface="游ゴシック"/>
                <a:ea typeface="游ゴシック"/>
              </a:rPr>
              <a:t>※出所：履歴事項全部証明書、固定資産税課税明細書、個別注記表、固定資産内訳書、山形県公表資料。創業の経緯・代表者の経歴は売主様へ確認中。</a:t>
            </a:r>
          </a:p>
        </p:txBody>
      </p:sp>
    </p:spTree>
    <p:extLst>
      <p:ext uri="{BB962C8B-B14F-4D97-AF65-F5344CB8AC3E}">
        <p14:creationId xmlns:p14="http://schemas.microsoft.com/office/powerpoint/2010/main" val="3914015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D7509-A147-F771-4D5B-58FD19177FC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7798C8B8-8318-9D2C-71AB-4A0772618FCB}"/>
              </a:ext>
            </a:extLst>
          </p:cNvPr>
          <p:cNvSpPr>
            <a:spLocks noGrp="1"/>
          </p:cNvSpPr>
          <p:nvPr>
            <p:ph type="ctrTitle"/>
          </p:nvPr>
        </p:nvSpPr>
        <p:spPr>
          <a:xfrm>
            <a:off x="311150" y="180296"/>
            <a:ext cx="7799917" cy="339267"/>
          </a:xfrm>
        </p:spPr>
        <p:txBody>
          <a:bodyPr>
            <a:normAutofit/>
          </a:bodyPr>
          <a:lstStyle/>
          <a:p>
            <a:r>
              <a:rPr lang="ja-JP" altLang="en-US" dirty="0"/>
              <a:t>事業概要</a:t>
            </a:r>
          </a:p>
        </p:txBody>
      </p:sp>
      <p:sp>
        <p:nvSpPr>
          <p:cNvPr id="5" name="タイトル 1">
            <a:extLst>
              <a:ext uri="{FF2B5EF4-FFF2-40B4-BE49-F238E27FC236}">
                <a16:creationId xmlns:a16="http://schemas.microsoft.com/office/drawing/2014/main" id="{3612E327-1829-4D56-4AD9-5013C3211CEC}"/>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en-US" altLang="ja-JP" sz="1200" b="1" spc="55" dirty="0">
                <a:solidFill>
                  <a:schemeClr val="bg1"/>
                </a:solidFill>
              </a:rPr>
              <a:t>エグゼクティブサマリー</a:t>
            </a:r>
            <a:endParaRPr lang="ja-JP" altLang="en-US" sz="1200" b="1" spc="55" dirty="0">
              <a:solidFill>
                <a:schemeClr val="bg1"/>
              </a:solidFill>
            </a:endParaRPr>
          </a:p>
        </p:txBody>
      </p:sp>
      <p:sp>
        <p:nvSpPr>
          <p:cNvPr id="4" name="字幕 13">
            <a:extLst>
              <a:ext uri="{FF2B5EF4-FFF2-40B4-BE49-F238E27FC236}">
                <a16:creationId xmlns:a16="http://schemas.microsoft.com/office/drawing/2014/main" id="{96CF066E-37EF-5081-6153-116AC130DDF9}"/>
              </a:ext>
            </a:extLst>
          </p:cNvPr>
          <p:cNvSpPr>
            <a:spLocks noGrp="1"/>
          </p:cNvSpPr>
          <p:nvPr>
            <p:ph type="subTitle" idx="1"/>
          </p:nvPr>
        </p:nvSpPr>
        <p:spPr>
          <a:xfrm>
            <a:off x="460675" y="830046"/>
            <a:ext cx="9781875" cy="241861"/>
          </a:xfrm>
        </p:spPr>
        <p:txBody>
          <a:bodyPr>
            <a:noAutofit/>
          </a:bodyPr>
          <a:lstStyle/>
          <a:p>
            <a:r>
              <a:rPr lang="ja-JP" altLang="en-US" dirty="0">
                <a:latin typeface="+mj-ea"/>
              </a:rPr>
              <a:t>青果物の地方卸売市場を自ら運営する「開設者兼卸売業者」。受託集荷と買付で品揃えを確保し、セリ・相対による卸売から小分け・包装、配送、資材販売まで一貫して担う。</a:t>
            </a:r>
            <a:endParaRPr lang="en-US" altLang="ja-JP" dirty="0"/>
          </a:p>
        </p:txBody>
      </p:sp>
      <p:sp>
        <p:nvSpPr>
          <p:cNvPr id="14" name="TextBox 13"/>
          <p:cNvSpPr txBox="1"/>
          <p:nvPr/>
        </p:nvSpPr>
        <p:spPr>
          <a:xfrm>
            <a:off x="310896" y="1536192"/>
            <a:ext cx="6309360" cy="274320"/>
          </a:xfrm>
          <a:prstGeom prst="rect">
            <a:avLst/>
          </a:prstGeom>
          <a:noFill/>
        </p:spPr>
        <p:txBody>
          <a:bodyPr wrap="square" lIns="0" rIns="0" tIns="0" bIns="0" anchor="t">
            <a:spAutoFit/>
          </a:bodyPr>
          <a:lstStyle/>
          <a:p>
            <a:pPr algn="l"/>
            <a:r>
              <a:rPr sz="1100" b="1">
                <a:solidFill>
                  <a:srgbClr val="0B3041"/>
                </a:solidFill>
                <a:latin typeface="游ゴシック"/>
                <a:ea typeface="游ゴシック"/>
              </a:rPr>
              <a:t>■ 事業フロー</a:t>
            </a:r>
          </a:p>
        </p:txBody>
      </p:sp>
      <p:sp>
        <p:nvSpPr>
          <p:cNvPr id="15" name="Rectangle 14"/>
          <p:cNvSpPr/>
          <p:nvPr/>
        </p:nvSpPr>
        <p:spPr>
          <a:xfrm>
            <a:off x="310896" y="1783080"/>
            <a:ext cx="1371600" cy="347472"/>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a:solidFill>
                  <a:srgbClr val="FFFFFF"/>
                </a:solidFill>
                <a:latin typeface="游ゴシック"/>
                <a:ea typeface="游ゴシック"/>
              </a:rPr>
              <a:t>集荷・仕入</a:t>
            </a:r>
          </a:p>
        </p:txBody>
      </p:sp>
      <p:sp>
        <p:nvSpPr>
          <p:cNvPr id="16" name="Rectangle 15"/>
          <p:cNvSpPr/>
          <p:nvPr/>
        </p:nvSpPr>
        <p:spPr>
          <a:xfrm>
            <a:off x="310896" y="2130552"/>
            <a:ext cx="1371600" cy="960120"/>
          </a:xfrm>
          <a:prstGeom prst="rect">
            <a:avLst/>
          </a:prstGeom>
          <a:solidFill>
            <a:srgbClr val="FFFFFF"/>
          </a:solidFill>
          <a:ln w="9525">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800" b="0">
                <a:solidFill>
                  <a:srgbClr val="1A1A1A"/>
                </a:solidFill>
                <a:latin typeface="游ゴシック"/>
                <a:ea typeface="游ゴシック"/>
              </a:rPr>
              <a:t>近郷の生産者等からの受託</a:t>
            </a:r>
          </a:p>
          <a:p>
            <a:pPr algn="ctr"/>
            <a:r>
              <a:rPr sz="800" b="0">
                <a:solidFill>
                  <a:srgbClr val="1A1A1A"/>
                </a:solidFill>
                <a:latin typeface="游ゴシック"/>
                <a:ea typeface="游ゴシック"/>
              </a:rPr>
              <a:t>県内外の市場・産地からの買付</a:t>
            </a:r>
          </a:p>
        </p:txBody>
      </p:sp>
      <p:cxnSp>
        <p:nvCxnSpPr>
          <p:cNvPr id="17" name="Connector 16"/>
          <p:cNvCxnSpPr/>
          <p:nvPr/>
        </p:nvCxnSpPr>
        <p:spPr>
          <a:xfrm>
            <a:off x="1700784" y="1965960"/>
            <a:ext cx="192023" cy="0"/>
          </a:xfrm>
          <a:prstGeom prst="line">
            <a:avLst/>
          </a:prstGeom>
          <a:ln w="25400">
            <a:solidFill>
              <a:srgbClr val="0889C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1911095" y="1783080"/>
            <a:ext cx="1371600" cy="347472"/>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a:solidFill>
                  <a:srgbClr val="FFFFFF"/>
                </a:solidFill>
                <a:latin typeface="游ゴシック"/>
                <a:ea typeface="游ゴシック"/>
              </a:rPr>
              <a:t>卸売</a:t>
            </a:r>
          </a:p>
        </p:txBody>
      </p:sp>
      <p:sp>
        <p:nvSpPr>
          <p:cNvPr id="19" name="Rectangle 18"/>
          <p:cNvSpPr/>
          <p:nvPr/>
        </p:nvSpPr>
        <p:spPr>
          <a:xfrm>
            <a:off x="1911095" y="2130552"/>
            <a:ext cx="1371600" cy="960120"/>
          </a:xfrm>
          <a:prstGeom prst="rect">
            <a:avLst/>
          </a:prstGeom>
          <a:solidFill>
            <a:srgbClr val="FFFFFF"/>
          </a:solidFill>
          <a:ln w="9525">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800" b="0">
                <a:solidFill>
                  <a:srgbClr val="1A1A1A"/>
                </a:solidFill>
                <a:latin typeface="游ゴシック"/>
                <a:ea typeface="游ゴシック"/>
              </a:rPr>
              <a:t>セリ・相対による販売</a:t>
            </a:r>
          </a:p>
          <a:p>
            <a:pPr algn="ctr"/>
            <a:r>
              <a:rPr sz="800" b="0">
                <a:solidFill>
                  <a:srgbClr val="1A1A1A"/>
                </a:solidFill>
                <a:latin typeface="游ゴシック"/>
                <a:ea typeface="游ゴシック"/>
              </a:rPr>
              <a:t>（仲卸業者・買参人）</a:t>
            </a:r>
          </a:p>
          <a:p>
            <a:pPr algn="ctr"/>
            <a:r>
              <a:rPr sz="800" b="0">
                <a:solidFill>
                  <a:srgbClr val="1A1A1A"/>
                </a:solidFill>
                <a:latin typeface="游ゴシック"/>
                <a:ea typeface="游ゴシック"/>
              </a:rPr>
              <a:t>量販店等への直接販売</a:t>
            </a:r>
          </a:p>
        </p:txBody>
      </p:sp>
      <p:cxnSp>
        <p:nvCxnSpPr>
          <p:cNvPr id="20" name="Connector 19"/>
          <p:cNvCxnSpPr/>
          <p:nvPr/>
        </p:nvCxnSpPr>
        <p:spPr>
          <a:xfrm>
            <a:off x="3300984" y="1965960"/>
            <a:ext cx="192024" cy="0"/>
          </a:xfrm>
          <a:prstGeom prst="line">
            <a:avLst/>
          </a:prstGeom>
          <a:ln w="25400">
            <a:solidFill>
              <a:srgbClr val="0889C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3511296" y="1783080"/>
            <a:ext cx="1371600" cy="347472"/>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a:solidFill>
                  <a:srgbClr val="FFFFFF"/>
                </a:solidFill>
                <a:latin typeface="游ゴシック"/>
                <a:ea typeface="游ゴシック"/>
              </a:rPr>
              <a:t>パッケージ</a:t>
            </a:r>
          </a:p>
        </p:txBody>
      </p:sp>
      <p:sp>
        <p:nvSpPr>
          <p:cNvPr id="22" name="Rectangle 21"/>
          <p:cNvSpPr/>
          <p:nvPr/>
        </p:nvSpPr>
        <p:spPr>
          <a:xfrm>
            <a:off x="3511296" y="2130552"/>
            <a:ext cx="1371600" cy="960120"/>
          </a:xfrm>
          <a:prstGeom prst="rect">
            <a:avLst/>
          </a:prstGeom>
          <a:solidFill>
            <a:srgbClr val="FFFFFF"/>
          </a:solidFill>
          <a:ln w="9525">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800" b="0">
                <a:solidFill>
                  <a:srgbClr val="1A1A1A"/>
                </a:solidFill>
                <a:latin typeface="游ゴシック"/>
                <a:ea typeface="游ゴシック"/>
              </a:rPr>
              <a:t>小分け・包装</a:t>
            </a:r>
          </a:p>
          <a:p>
            <a:pPr algn="ctr"/>
            <a:r>
              <a:rPr sz="800" b="0">
                <a:solidFill>
                  <a:srgbClr val="1A1A1A"/>
                </a:solidFill>
                <a:latin typeface="游ゴシック"/>
                <a:ea typeface="游ゴシック"/>
              </a:rPr>
              <a:t>（パッケージ部7名）</a:t>
            </a:r>
          </a:p>
        </p:txBody>
      </p:sp>
      <p:cxnSp>
        <p:nvCxnSpPr>
          <p:cNvPr id="23" name="Connector 22"/>
          <p:cNvCxnSpPr/>
          <p:nvPr/>
        </p:nvCxnSpPr>
        <p:spPr>
          <a:xfrm>
            <a:off x="4901183" y="1965960"/>
            <a:ext cx="192025" cy="0"/>
          </a:xfrm>
          <a:prstGeom prst="line">
            <a:avLst/>
          </a:prstGeom>
          <a:ln w="25400">
            <a:solidFill>
              <a:srgbClr val="0889C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5111496" y="1783080"/>
            <a:ext cx="1371600" cy="347472"/>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a:solidFill>
                  <a:srgbClr val="FFFFFF"/>
                </a:solidFill>
                <a:latin typeface="游ゴシック"/>
                <a:ea typeface="游ゴシック"/>
              </a:rPr>
              <a:t>配送・センター</a:t>
            </a:r>
          </a:p>
        </p:txBody>
      </p:sp>
      <p:sp>
        <p:nvSpPr>
          <p:cNvPr id="25" name="Rectangle 24"/>
          <p:cNvSpPr/>
          <p:nvPr/>
        </p:nvSpPr>
        <p:spPr>
          <a:xfrm>
            <a:off x="5111496" y="2130552"/>
            <a:ext cx="1371600" cy="960120"/>
          </a:xfrm>
          <a:prstGeom prst="rect">
            <a:avLst/>
          </a:prstGeom>
          <a:solidFill>
            <a:srgbClr val="FFFFFF"/>
          </a:solidFill>
          <a:ln w="9525">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800" b="0">
                <a:solidFill>
                  <a:srgbClr val="1A1A1A"/>
                </a:solidFill>
                <a:latin typeface="游ゴシック"/>
                <a:ea typeface="游ゴシック"/>
              </a:rPr>
              <a:t>集配部による配送</a:t>
            </a:r>
          </a:p>
          <a:p>
            <a:pPr algn="ctr"/>
            <a:r>
              <a:rPr sz="800" b="0">
                <a:solidFill>
                  <a:srgbClr val="1A1A1A"/>
                </a:solidFill>
                <a:latin typeface="游ゴシック"/>
                <a:ea typeface="游ゴシック"/>
              </a:rPr>
              <a:t>量販店向けセンター業務</a:t>
            </a:r>
          </a:p>
          <a:p>
            <a:pPr algn="ctr"/>
            <a:r>
              <a:rPr sz="800" b="0">
                <a:solidFill>
                  <a:srgbClr val="1A1A1A"/>
                </a:solidFill>
                <a:latin typeface="游ゴシック"/>
                <a:ea typeface="游ゴシック"/>
              </a:rPr>
              <a:t>（推察）</a:t>
            </a:r>
          </a:p>
        </p:txBody>
      </p:sp>
      <p:sp>
        <p:nvSpPr>
          <p:cNvPr id="26" name="TextBox 25"/>
          <p:cNvSpPr txBox="1"/>
          <p:nvPr/>
        </p:nvSpPr>
        <p:spPr>
          <a:xfrm>
            <a:off x="310896" y="3246120"/>
            <a:ext cx="6309360" cy="274320"/>
          </a:xfrm>
          <a:prstGeom prst="rect">
            <a:avLst/>
          </a:prstGeom>
          <a:noFill/>
        </p:spPr>
        <p:txBody>
          <a:bodyPr wrap="square" lIns="0" rIns="0" tIns="0" bIns="0" anchor="t">
            <a:spAutoFit/>
          </a:bodyPr>
          <a:lstStyle/>
          <a:p>
            <a:pPr algn="l"/>
            <a:r>
              <a:rPr sz="1100" b="1">
                <a:solidFill>
                  <a:srgbClr val="0B3041"/>
                </a:solidFill>
                <a:latin typeface="游ゴシック"/>
                <a:ea typeface="游ゴシック"/>
              </a:rPr>
              <a:t>■ 主な取扱品目・機能</a:t>
            </a:r>
          </a:p>
        </p:txBody>
      </p:sp>
      <p:sp>
        <p:nvSpPr>
          <p:cNvPr id="27" name="Rectangle 26"/>
          <p:cNvSpPr/>
          <p:nvPr/>
        </p:nvSpPr>
        <p:spPr>
          <a:xfrm>
            <a:off x="310896" y="3566160"/>
            <a:ext cx="3108960" cy="6858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950" b="1">
                <a:solidFill>
                  <a:srgbClr val="0889C9"/>
                </a:solidFill>
                <a:latin typeface="游ゴシック"/>
                <a:ea typeface="游ゴシック"/>
              </a:rPr>
              <a:t>野菜</a:t>
            </a:r>
          </a:p>
          <a:p>
            <a:pPr algn="l"/>
            <a:r>
              <a:rPr sz="850" b="0">
                <a:solidFill>
                  <a:srgbClr val="1A1A1A"/>
                </a:solidFill>
                <a:latin typeface="游ゴシック"/>
                <a:ea typeface="游ゴシック"/>
              </a:rPr>
              <a:t>近郷部・野菜営業部が担当。地場野菜（だだちゃ豆等）を含む</a:t>
            </a:r>
          </a:p>
        </p:txBody>
      </p:sp>
      <p:sp>
        <p:nvSpPr>
          <p:cNvPr id="28" name="Rectangle 27"/>
          <p:cNvSpPr/>
          <p:nvPr/>
        </p:nvSpPr>
        <p:spPr>
          <a:xfrm>
            <a:off x="3511296" y="3566160"/>
            <a:ext cx="3108960" cy="6858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950" b="1">
                <a:solidFill>
                  <a:srgbClr val="0889C9"/>
                </a:solidFill>
                <a:latin typeface="游ゴシック"/>
                <a:ea typeface="游ゴシック"/>
              </a:rPr>
              <a:t>果実</a:t>
            </a:r>
          </a:p>
          <a:p>
            <a:pPr algn="l"/>
            <a:r>
              <a:rPr sz="850" b="0">
                <a:solidFill>
                  <a:srgbClr val="1A1A1A"/>
                </a:solidFill>
                <a:latin typeface="游ゴシック"/>
                <a:ea typeface="游ゴシック"/>
              </a:rPr>
              <a:t>果実営業部が担当。庄内柿・メロン・和梨/洋梨等の地場産品</a:t>
            </a:r>
          </a:p>
        </p:txBody>
      </p:sp>
      <p:sp>
        <p:nvSpPr>
          <p:cNvPr id="29" name="Rectangle 28"/>
          <p:cNvSpPr/>
          <p:nvPr/>
        </p:nvSpPr>
        <p:spPr>
          <a:xfrm>
            <a:off x="310896" y="4343400"/>
            <a:ext cx="3108960" cy="6858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950" b="1">
                <a:solidFill>
                  <a:srgbClr val="0889C9"/>
                </a:solidFill>
                <a:latin typeface="游ゴシック"/>
                <a:ea typeface="游ゴシック"/>
              </a:rPr>
              <a:t>生花</a:t>
            </a:r>
          </a:p>
          <a:p>
            <a:pPr algn="l"/>
            <a:r>
              <a:rPr sz="850" b="0">
                <a:solidFill>
                  <a:srgbClr val="1A1A1A"/>
                </a:solidFill>
                <a:latin typeface="游ゴシック"/>
                <a:ea typeface="游ゴシック"/>
              </a:rPr>
              <a:t>生花部（1名）による取扱い</a:t>
            </a:r>
          </a:p>
        </p:txBody>
      </p:sp>
      <p:sp>
        <p:nvSpPr>
          <p:cNvPr id="30" name="Rectangle 29"/>
          <p:cNvSpPr/>
          <p:nvPr/>
        </p:nvSpPr>
        <p:spPr>
          <a:xfrm>
            <a:off x="3511296" y="4343400"/>
            <a:ext cx="3108960" cy="6858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950" b="1">
                <a:solidFill>
                  <a:srgbClr val="0889C9"/>
                </a:solidFill>
                <a:latin typeface="游ゴシック"/>
                <a:ea typeface="游ゴシック"/>
              </a:rPr>
              <a:t>資材・肥料</a:t>
            </a:r>
          </a:p>
          <a:p>
            <a:pPr algn="l"/>
            <a:r>
              <a:rPr sz="850" b="0">
                <a:solidFill>
                  <a:srgbClr val="1A1A1A"/>
                </a:solidFill>
                <a:latin typeface="游ゴシック"/>
                <a:ea typeface="游ゴシック"/>
              </a:rPr>
              <a:t>資材部によるパック・容器・肥料の販売</a:t>
            </a:r>
          </a:p>
        </p:txBody>
      </p:sp>
      <p:sp>
        <p:nvSpPr>
          <p:cNvPr id="31" name="TextBox 30"/>
          <p:cNvSpPr txBox="1"/>
          <p:nvPr/>
        </p:nvSpPr>
        <p:spPr>
          <a:xfrm>
            <a:off x="310896" y="5166360"/>
            <a:ext cx="6309360" cy="274320"/>
          </a:xfrm>
          <a:prstGeom prst="rect">
            <a:avLst/>
          </a:prstGeom>
          <a:noFill/>
        </p:spPr>
        <p:txBody>
          <a:bodyPr wrap="square" lIns="0" rIns="0" tIns="0" bIns="0" anchor="t">
            <a:spAutoFit/>
          </a:bodyPr>
          <a:lstStyle/>
          <a:p>
            <a:pPr algn="l"/>
            <a:r>
              <a:rPr sz="750" b="0">
                <a:solidFill>
                  <a:srgbClr val="5A6670"/>
                </a:solidFill>
                <a:latin typeface="游ゴシック"/>
                <a:ea typeface="游ゴシック"/>
              </a:rPr>
              <a:t>※取扱品目の構成比は資料依頼中。特産品はWebサイト掲載内容による。</a:t>
            </a:r>
          </a:p>
        </p:txBody>
      </p:sp>
      <p:sp>
        <p:nvSpPr>
          <p:cNvPr id="32" name="Rectangle 31"/>
          <p:cNvSpPr/>
          <p:nvPr/>
        </p:nvSpPr>
        <p:spPr>
          <a:xfrm>
            <a:off x="6812280" y="1536192"/>
            <a:ext cx="3566160" cy="32004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50" b="1">
                <a:solidFill>
                  <a:srgbClr val="FFFFFF"/>
                </a:solidFill>
                <a:latin typeface="游ゴシック"/>
                <a:ea typeface="游ゴシック"/>
              </a:rPr>
              <a:t>主な事業・サービス</a:t>
            </a:r>
          </a:p>
        </p:txBody>
      </p:sp>
      <p:sp>
        <p:nvSpPr>
          <p:cNvPr id="33" name="Rectangle 32"/>
          <p:cNvSpPr/>
          <p:nvPr/>
        </p:nvSpPr>
        <p:spPr>
          <a:xfrm>
            <a:off x="6812280" y="1874519"/>
            <a:ext cx="384048" cy="384048"/>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Arial"/>
                <a:ea typeface="游ゴシック"/>
              </a:rPr>
              <a:t>1</a:t>
            </a:r>
          </a:p>
        </p:txBody>
      </p:sp>
      <p:sp>
        <p:nvSpPr>
          <p:cNvPr id="34" name="TextBox 33"/>
          <p:cNvSpPr txBox="1"/>
          <p:nvPr/>
        </p:nvSpPr>
        <p:spPr>
          <a:xfrm>
            <a:off x="7269480" y="1874519"/>
            <a:ext cx="3108960" cy="777240"/>
          </a:xfrm>
          <a:prstGeom prst="rect">
            <a:avLst/>
          </a:prstGeom>
          <a:noFill/>
        </p:spPr>
        <p:txBody>
          <a:bodyPr wrap="square" lIns="0" rIns="0" tIns="0" bIns="0" anchor="t">
            <a:spAutoFit/>
          </a:bodyPr>
          <a:lstStyle/>
          <a:p>
            <a:pPr algn="l"/>
            <a:r>
              <a:rPr sz="950" b="1">
                <a:solidFill>
                  <a:srgbClr val="0B3041"/>
                </a:solidFill>
                <a:latin typeface="游ゴシック"/>
                <a:ea typeface="游ゴシック"/>
              </a:rPr>
              <a:t>青果物の卸売（買付販売）</a:t>
            </a:r>
          </a:p>
          <a:p>
            <a:pPr algn="l"/>
            <a:r>
              <a:rPr sz="850" b="0">
                <a:solidFill>
                  <a:srgbClr val="1A1A1A"/>
                </a:solidFill>
                <a:latin typeface="游ゴシック"/>
                <a:ea typeface="游ゴシック"/>
              </a:rPr>
              <a:t>野菜・果実を買い付け、仲卸業者・量販店等へ販売</a:t>
            </a:r>
          </a:p>
        </p:txBody>
      </p:sp>
      <p:sp>
        <p:nvSpPr>
          <p:cNvPr id="35" name="Rectangle 34"/>
          <p:cNvSpPr/>
          <p:nvPr/>
        </p:nvSpPr>
        <p:spPr>
          <a:xfrm>
            <a:off x="6812280" y="2724912"/>
            <a:ext cx="384048" cy="384048"/>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Arial"/>
                <a:ea typeface="游ゴシック"/>
              </a:rPr>
              <a:t>2</a:t>
            </a:r>
          </a:p>
        </p:txBody>
      </p:sp>
      <p:sp>
        <p:nvSpPr>
          <p:cNvPr id="36" name="TextBox 35"/>
          <p:cNvSpPr txBox="1"/>
          <p:nvPr/>
        </p:nvSpPr>
        <p:spPr>
          <a:xfrm>
            <a:off x="7269480" y="2724912"/>
            <a:ext cx="3108960" cy="777240"/>
          </a:xfrm>
          <a:prstGeom prst="rect">
            <a:avLst/>
          </a:prstGeom>
          <a:noFill/>
        </p:spPr>
        <p:txBody>
          <a:bodyPr wrap="square" lIns="0" rIns="0" tIns="0" bIns="0" anchor="t">
            <a:spAutoFit/>
          </a:bodyPr>
          <a:lstStyle/>
          <a:p>
            <a:pPr algn="l"/>
            <a:r>
              <a:rPr sz="950" b="1">
                <a:solidFill>
                  <a:srgbClr val="0B3041"/>
                </a:solidFill>
                <a:latin typeface="游ゴシック"/>
                <a:ea typeface="游ゴシック"/>
              </a:rPr>
              <a:t>青果物の卸売（受託販売）</a:t>
            </a:r>
          </a:p>
          <a:p>
            <a:pPr algn="l"/>
            <a:r>
              <a:rPr sz="850" b="0">
                <a:solidFill>
                  <a:srgbClr val="1A1A1A"/>
                </a:solidFill>
                <a:latin typeface="游ゴシック"/>
                <a:ea typeface="游ゴシック"/>
              </a:rPr>
              <a:t>出荷者から委託を受けセリ・相対で販売し、委託手数料を収受</a:t>
            </a:r>
          </a:p>
        </p:txBody>
      </p:sp>
      <p:sp>
        <p:nvSpPr>
          <p:cNvPr id="37" name="Rectangle 36"/>
          <p:cNvSpPr/>
          <p:nvPr/>
        </p:nvSpPr>
        <p:spPr>
          <a:xfrm>
            <a:off x="6812280" y="3575304"/>
            <a:ext cx="384048" cy="384048"/>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Arial"/>
                <a:ea typeface="游ゴシック"/>
              </a:rPr>
              <a:t>3</a:t>
            </a:r>
          </a:p>
        </p:txBody>
      </p:sp>
      <p:sp>
        <p:nvSpPr>
          <p:cNvPr id="38" name="TextBox 37"/>
          <p:cNvSpPr txBox="1"/>
          <p:nvPr/>
        </p:nvSpPr>
        <p:spPr>
          <a:xfrm>
            <a:off x="7269480" y="3575304"/>
            <a:ext cx="3108960" cy="777240"/>
          </a:xfrm>
          <a:prstGeom prst="rect">
            <a:avLst/>
          </a:prstGeom>
          <a:noFill/>
        </p:spPr>
        <p:txBody>
          <a:bodyPr wrap="square" lIns="0" rIns="0" tIns="0" bIns="0" anchor="t">
            <a:spAutoFit/>
          </a:bodyPr>
          <a:lstStyle/>
          <a:p>
            <a:pPr algn="l"/>
            <a:r>
              <a:rPr sz="950" b="1">
                <a:solidFill>
                  <a:srgbClr val="0B3041"/>
                </a:solidFill>
                <a:latin typeface="游ゴシック"/>
                <a:ea typeface="游ゴシック"/>
              </a:rPr>
              <a:t>パッケージ・配送</a:t>
            </a:r>
          </a:p>
          <a:p>
            <a:pPr algn="l"/>
            <a:r>
              <a:rPr sz="850" b="0">
                <a:solidFill>
                  <a:srgbClr val="1A1A1A"/>
                </a:solidFill>
                <a:latin typeface="游ゴシック"/>
                <a:ea typeface="游ゴシック"/>
              </a:rPr>
              <a:t>小分け・包装と集配。量販店向けセンター業務（推察）</a:t>
            </a:r>
          </a:p>
        </p:txBody>
      </p:sp>
      <p:sp>
        <p:nvSpPr>
          <p:cNvPr id="39" name="Rectangle 38"/>
          <p:cNvSpPr/>
          <p:nvPr/>
        </p:nvSpPr>
        <p:spPr>
          <a:xfrm>
            <a:off x="6812280" y="4425696"/>
            <a:ext cx="384048" cy="384048"/>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Arial"/>
                <a:ea typeface="游ゴシック"/>
              </a:rPr>
              <a:t>4</a:t>
            </a:r>
          </a:p>
        </p:txBody>
      </p:sp>
      <p:sp>
        <p:nvSpPr>
          <p:cNvPr id="40" name="TextBox 39"/>
          <p:cNvSpPr txBox="1"/>
          <p:nvPr/>
        </p:nvSpPr>
        <p:spPr>
          <a:xfrm>
            <a:off x="7269480" y="4425696"/>
            <a:ext cx="3108960" cy="777240"/>
          </a:xfrm>
          <a:prstGeom prst="rect">
            <a:avLst/>
          </a:prstGeom>
          <a:noFill/>
        </p:spPr>
        <p:txBody>
          <a:bodyPr wrap="square" lIns="0" rIns="0" tIns="0" bIns="0" anchor="t">
            <a:spAutoFit/>
          </a:bodyPr>
          <a:lstStyle/>
          <a:p>
            <a:pPr algn="l"/>
            <a:r>
              <a:rPr sz="950" b="1">
                <a:solidFill>
                  <a:srgbClr val="0B3041"/>
                </a:solidFill>
                <a:latin typeface="游ゴシック"/>
                <a:ea typeface="游ゴシック"/>
              </a:rPr>
              <a:t>資材・肥料販売</a:t>
            </a:r>
          </a:p>
          <a:p>
            <a:pPr algn="l"/>
            <a:r>
              <a:rPr sz="850" b="0">
                <a:solidFill>
                  <a:srgbClr val="1A1A1A"/>
                </a:solidFill>
                <a:latin typeface="游ゴシック"/>
                <a:ea typeface="游ゴシック"/>
              </a:rPr>
              <a:t>包装資材・肥料を生産者等へ販売</a:t>
            </a:r>
          </a:p>
        </p:txBody>
      </p:sp>
      <p:sp>
        <p:nvSpPr>
          <p:cNvPr id="41" name="Rectangle 40"/>
          <p:cNvSpPr/>
          <p:nvPr/>
        </p:nvSpPr>
        <p:spPr>
          <a:xfrm>
            <a:off x="310896" y="5532120"/>
            <a:ext cx="10058400" cy="105156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10896" y="5532120"/>
            <a:ext cx="1097280" cy="105156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游ゴシック"/>
                <a:ea typeface="游ゴシック"/>
              </a:rPr>
              <a:t>強み</a:t>
            </a:r>
          </a:p>
        </p:txBody>
      </p:sp>
      <p:sp>
        <p:nvSpPr>
          <p:cNvPr id="43" name="TextBox 42"/>
          <p:cNvSpPr txBox="1"/>
          <p:nvPr/>
        </p:nvSpPr>
        <p:spPr>
          <a:xfrm>
            <a:off x="1554480" y="5650992"/>
            <a:ext cx="4343400" cy="365760"/>
          </a:xfrm>
          <a:prstGeom prst="rect">
            <a:avLst/>
          </a:prstGeom>
          <a:noFill/>
        </p:spPr>
        <p:txBody>
          <a:bodyPr wrap="square" lIns="0" rIns="0" tIns="0" bIns="0" anchor="ctr">
            <a:spAutoFit/>
          </a:bodyPr>
          <a:lstStyle/>
          <a:p>
            <a:pPr algn="l"/>
            <a:r>
              <a:rPr sz="1000" b="1">
                <a:solidFill>
                  <a:srgbClr val="0889C9"/>
                </a:solidFill>
                <a:latin typeface="游ゴシック"/>
                <a:ea typeface="游ゴシック"/>
              </a:rPr>
              <a:t>✓ </a:t>
            </a:r>
            <a:r>
              <a:rPr sz="900" b="1">
                <a:solidFill>
                  <a:srgbClr val="1A1A1A"/>
                </a:solidFill>
                <a:latin typeface="游ゴシック"/>
                <a:ea typeface="游ゴシック"/>
              </a:rPr>
              <a:t>卸売市場機能（集荷・セリ・分荷）を自社で保有</a:t>
            </a:r>
          </a:p>
        </p:txBody>
      </p:sp>
      <p:sp>
        <p:nvSpPr>
          <p:cNvPr id="44" name="TextBox 43"/>
          <p:cNvSpPr txBox="1"/>
          <p:nvPr/>
        </p:nvSpPr>
        <p:spPr>
          <a:xfrm>
            <a:off x="5989320" y="5650992"/>
            <a:ext cx="4343400" cy="365760"/>
          </a:xfrm>
          <a:prstGeom prst="rect">
            <a:avLst/>
          </a:prstGeom>
          <a:noFill/>
        </p:spPr>
        <p:txBody>
          <a:bodyPr wrap="square" lIns="0" rIns="0" tIns="0" bIns="0" anchor="ctr">
            <a:spAutoFit/>
          </a:bodyPr>
          <a:lstStyle/>
          <a:p>
            <a:pPr algn="l"/>
            <a:r>
              <a:rPr sz="1000" b="1">
                <a:solidFill>
                  <a:srgbClr val="0889C9"/>
                </a:solidFill>
                <a:latin typeface="游ゴシック"/>
                <a:ea typeface="游ゴシック"/>
              </a:rPr>
              <a:t>✓ </a:t>
            </a:r>
            <a:r>
              <a:rPr sz="900" b="1">
                <a:solidFill>
                  <a:srgbClr val="1A1A1A"/>
                </a:solidFill>
                <a:latin typeface="游ゴシック"/>
                <a:ea typeface="游ゴシック"/>
              </a:rPr>
              <a:t>市場用地・施設を自社で保有し地代負担なし</a:t>
            </a:r>
          </a:p>
        </p:txBody>
      </p:sp>
      <p:sp>
        <p:nvSpPr>
          <p:cNvPr id="45" name="TextBox 44"/>
          <p:cNvSpPr txBox="1"/>
          <p:nvPr/>
        </p:nvSpPr>
        <p:spPr>
          <a:xfrm>
            <a:off x="1554480" y="6080759"/>
            <a:ext cx="4343400" cy="365760"/>
          </a:xfrm>
          <a:prstGeom prst="rect">
            <a:avLst/>
          </a:prstGeom>
          <a:noFill/>
        </p:spPr>
        <p:txBody>
          <a:bodyPr wrap="square" lIns="0" rIns="0" tIns="0" bIns="0" anchor="ctr">
            <a:spAutoFit/>
          </a:bodyPr>
          <a:lstStyle/>
          <a:p>
            <a:pPr algn="l"/>
            <a:r>
              <a:rPr sz="1000" b="1">
                <a:solidFill>
                  <a:srgbClr val="0889C9"/>
                </a:solidFill>
                <a:latin typeface="游ゴシック"/>
                <a:ea typeface="游ゴシック"/>
              </a:rPr>
              <a:t>✓ </a:t>
            </a:r>
            <a:r>
              <a:rPr sz="900" b="1">
                <a:solidFill>
                  <a:srgbClr val="1A1A1A"/>
                </a:solidFill>
                <a:latin typeface="游ゴシック"/>
                <a:ea typeface="游ゴシック"/>
              </a:rPr>
              <a:t>量販店・生協・学校給食・近隣市場への分散した販路</a:t>
            </a:r>
          </a:p>
        </p:txBody>
      </p:sp>
      <p:sp>
        <p:nvSpPr>
          <p:cNvPr id="46" name="TextBox 45"/>
          <p:cNvSpPr txBox="1"/>
          <p:nvPr/>
        </p:nvSpPr>
        <p:spPr>
          <a:xfrm>
            <a:off x="5989320" y="6080759"/>
            <a:ext cx="4343400" cy="365760"/>
          </a:xfrm>
          <a:prstGeom prst="rect">
            <a:avLst/>
          </a:prstGeom>
          <a:noFill/>
        </p:spPr>
        <p:txBody>
          <a:bodyPr wrap="square" lIns="0" rIns="0" tIns="0" bIns="0" anchor="ctr">
            <a:spAutoFit/>
          </a:bodyPr>
          <a:lstStyle/>
          <a:p>
            <a:pPr algn="l"/>
            <a:r>
              <a:rPr sz="1000" b="1">
                <a:solidFill>
                  <a:srgbClr val="0889C9"/>
                </a:solidFill>
                <a:latin typeface="游ゴシック"/>
                <a:ea typeface="游ゴシック"/>
              </a:rPr>
              <a:t>✓ </a:t>
            </a:r>
            <a:r>
              <a:rPr sz="900" b="1">
                <a:solidFill>
                  <a:srgbClr val="1A1A1A"/>
                </a:solidFill>
                <a:latin typeface="游ゴシック"/>
                <a:ea typeface="游ゴシック"/>
              </a:rPr>
              <a:t>セリ人資格者3名を含む長期勤続の人材</a:t>
            </a:r>
          </a:p>
        </p:txBody>
      </p:sp>
    </p:spTree>
    <p:extLst>
      <p:ext uri="{BB962C8B-B14F-4D97-AF65-F5344CB8AC3E}">
        <p14:creationId xmlns:p14="http://schemas.microsoft.com/office/powerpoint/2010/main" val="148289730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75621-FF75-0C7B-591E-C5EBD950595B}"/>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7E874B4C-2D5E-166C-B8B9-0164D0AAEFB9}"/>
              </a:ext>
            </a:extLst>
          </p:cNvPr>
          <p:cNvSpPr>
            <a:spLocks noGrp="1"/>
          </p:cNvSpPr>
          <p:nvPr>
            <p:ph type="ctrTitle"/>
          </p:nvPr>
        </p:nvSpPr>
        <p:spPr>
          <a:xfrm>
            <a:off x="311150" y="180296"/>
            <a:ext cx="7799917" cy="339267"/>
          </a:xfrm>
        </p:spPr>
        <p:txBody>
          <a:bodyPr>
            <a:normAutofit/>
          </a:bodyPr>
          <a:lstStyle/>
          <a:p>
            <a:r>
              <a:rPr lang="ja-JP" altLang="en-US" dirty="0"/>
              <a:t>その他補足情報</a:t>
            </a:r>
          </a:p>
        </p:txBody>
      </p:sp>
      <p:sp>
        <p:nvSpPr>
          <p:cNvPr id="5" name="タイトル 1">
            <a:extLst>
              <a:ext uri="{FF2B5EF4-FFF2-40B4-BE49-F238E27FC236}">
                <a16:creationId xmlns:a16="http://schemas.microsoft.com/office/drawing/2014/main" id="{8B300F08-EE1D-F462-B949-D3B040FD027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en-US" altLang="ja-JP" sz="1200" b="1" spc="55" dirty="0">
                <a:solidFill>
                  <a:schemeClr val="bg1"/>
                </a:solidFill>
              </a:rPr>
              <a:t>Appendix</a:t>
            </a:r>
            <a:endParaRPr lang="ja-JP" altLang="en-US" sz="1200" b="1" spc="55" dirty="0">
              <a:solidFill>
                <a:schemeClr val="bg1"/>
              </a:solidFill>
            </a:endParaRPr>
          </a:p>
        </p:txBody>
      </p:sp>
      <p:sp>
        <p:nvSpPr>
          <p:cNvPr id="4" name="字幕 13">
            <a:extLst>
              <a:ext uri="{FF2B5EF4-FFF2-40B4-BE49-F238E27FC236}">
                <a16:creationId xmlns:a16="http://schemas.microsoft.com/office/drawing/2014/main" id="{FCA9575B-1240-BC5B-38CA-16FCB838E8D8}"/>
              </a:ext>
            </a:extLst>
          </p:cNvPr>
          <p:cNvSpPr>
            <a:spLocks noGrp="1"/>
          </p:cNvSpPr>
          <p:nvPr>
            <p:ph type="subTitle" idx="1"/>
          </p:nvPr>
        </p:nvSpPr>
        <p:spPr>
          <a:xfrm>
            <a:off x="460675" y="830046"/>
            <a:ext cx="9781875" cy="241861"/>
          </a:xfrm>
        </p:spPr>
        <p:txBody>
          <a:bodyPr>
            <a:noAutofit/>
          </a:bodyPr>
          <a:lstStyle/>
          <a:p>
            <a:r>
              <a:rPr lang="ja-JP" altLang="en-US" dirty="0">
                <a:latin typeface="+mj-ea"/>
              </a:rPr>
              <a:t>許認可・加入団体・取引金融機関等の補足情報。地方卸売市場としての位置づけ（卸売市場法上の認定状況）は事業継続の前提となるため、売主様に確認中。</a:t>
            </a:r>
            <a:endParaRPr lang="en-US" altLang="ja-JP" dirty="0"/>
          </a:p>
        </p:txBody>
      </p:sp>
      <p:graphicFrame>
        <p:nvGraphicFramePr>
          <p:cNvPr id="14" name="Table 13"/>
          <p:cNvGraphicFramePr>
            <a:graphicFrameLocks noGrp="1"/>
          </p:cNvGraphicFramePr>
          <p:nvPr/>
        </p:nvGraphicFramePr>
        <p:xfrm>
          <a:off x="448056" y="1508760"/>
          <a:ext cx="9793223" cy="4279392"/>
        </p:xfrm>
        <a:graphic>
          <a:graphicData uri="http://schemas.openxmlformats.org/drawingml/2006/table">
            <a:tbl>
              <a:tblPr firstRow="0" bandRow="0">
                <a:tableStyleId>{5940675A-B579-460E-94D1-54222C63F5DA}</a:tableStyleId>
              </a:tblPr>
              <a:tblGrid>
                <a:gridCol w="1647458"/>
                <a:gridCol w="8145765"/>
              </a:tblGrid>
              <a:tr h="475488">
                <a:tc>
                  <a:txBody>
                    <a:bodyPr wrap="square"/>
                    <a:lstStyle/>
                    <a:p>
                      <a:pPr algn="ctr"/>
                      <a:r>
                        <a:rPr sz="900" b="1">
                          <a:solidFill>
                            <a:srgbClr val="FFFFFF"/>
                          </a:solidFill>
                          <a:latin typeface="游ゴシック"/>
                          <a:ea typeface="游ゴシック"/>
                        </a:rPr>
                        <a:t>項目</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900" b="1">
                          <a:solidFill>
                            <a:srgbClr val="FFFFFF"/>
                          </a:solidFill>
                          <a:latin typeface="游ゴシック"/>
                          <a:ea typeface="游ゴシック"/>
                        </a:rPr>
                        <a:t>内容</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r>
              <a:tr h="475488">
                <a:tc>
                  <a:txBody>
                    <a:bodyPr wrap="square"/>
                    <a:lstStyle/>
                    <a:p>
                      <a:pPr algn="l"/>
                      <a:r>
                        <a:rPr sz="900" b="0">
                          <a:solidFill>
                            <a:srgbClr val="1A1A1A"/>
                          </a:solidFill>
                          <a:latin typeface="游ゴシック"/>
                          <a:ea typeface="游ゴシック"/>
                        </a:rPr>
                        <a:t>許認可</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900" b="0">
                          <a:solidFill>
                            <a:srgbClr val="1A1A1A"/>
                          </a:solidFill>
                          <a:latin typeface="游ゴシック"/>
                          <a:ea typeface="游ゴシック"/>
                        </a:rPr>
                        <a:t>・地方卸売市場（卸売市場法）：山形県の地方卸売市場一覧に掲載（認定の時期・条件は確認中）
・倉庫業：定款目的に記載（登録の有無は確認中）</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475488">
                <a:tc>
                  <a:txBody>
                    <a:bodyPr wrap="square"/>
                    <a:lstStyle/>
                    <a:p>
                      <a:pPr algn="l"/>
                      <a:r>
                        <a:rPr sz="900" b="0">
                          <a:solidFill>
                            <a:srgbClr val="1A1A1A"/>
                          </a:solidFill>
                          <a:latin typeface="游ゴシック"/>
                          <a:ea typeface="游ゴシック"/>
                        </a:rPr>
                        <a:t>市場関係</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900" b="0">
                          <a:solidFill>
                            <a:srgbClr val="1A1A1A"/>
                          </a:solidFill>
                          <a:latin typeface="游ゴシック"/>
                          <a:ea typeface="游ゴシック"/>
                        </a:rPr>
                        <a:t>・庄内青果物卸売精算(有)に保証金31,993千円を差入（市場取引の代金精算に係るものと推察）
・仲卸業者・買参人等から預り保証金8,980千円を受入</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475488">
                <a:tc>
                  <a:txBody>
                    <a:bodyPr wrap="square"/>
                    <a:lstStyle/>
                    <a:p>
                      <a:pPr algn="l"/>
                      <a:r>
                        <a:rPr sz="900" b="0">
                          <a:solidFill>
                            <a:srgbClr val="1A1A1A"/>
                          </a:solidFill>
                          <a:latin typeface="游ゴシック"/>
                          <a:ea typeface="游ゴシック"/>
                        </a:rPr>
                        <a:t>加入団体・出資先</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900" b="0">
                          <a:solidFill>
                            <a:srgbClr val="1A1A1A"/>
                          </a:solidFill>
                          <a:latin typeface="游ゴシック"/>
                          <a:ea typeface="游ゴシック"/>
                        </a:rPr>
                        <a:t>・山形県中小商工業協同組合、商工会議所、鶴岡信用金庫（出資金）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475488">
                <a:tc>
                  <a:txBody>
                    <a:bodyPr wrap="square"/>
                    <a:lstStyle/>
                    <a:p>
                      <a:pPr algn="l"/>
                      <a:r>
                        <a:rPr sz="900" b="0">
                          <a:solidFill>
                            <a:srgbClr val="1A1A1A"/>
                          </a:solidFill>
                          <a:latin typeface="游ゴシック"/>
                          <a:ea typeface="游ゴシック"/>
                        </a:rPr>
                        <a:t>取引金融機関</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900" b="0">
                          <a:solidFill>
                            <a:srgbClr val="1A1A1A"/>
                          </a:solidFill>
                          <a:latin typeface="游ゴシック"/>
                          <a:ea typeface="游ゴシック"/>
                        </a:rPr>
                        <a:t>・鶴岡信用金庫、山形銀行、荘内銀行、日本政策金融公庫（借入残高は「財務ハイライト（B/S）」参照）</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475488">
                <a:tc>
                  <a:txBody>
                    <a:bodyPr wrap="square"/>
                    <a:lstStyle/>
                    <a:p>
                      <a:pPr algn="l"/>
                      <a:r>
                        <a:rPr sz="900" b="0">
                          <a:solidFill>
                            <a:srgbClr val="1A1A1A"/>
                          </a:solidFill>
                          <a:latin typeface="游ゴシック"/>
                          <a:ea typeface="游ゴシック"/>
                        </a:rPr>
                        <a:t>主な仕入先</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900" b="0">
                          <a:solidFill>
                            <a:srgbClr val="1A1A1A"/>
                          </a:solidFill>
                          <a:latin typeface="游ゴシック"/>
                          <a:ea typeface="游ゴシック"/>
                        </a:rPr>
                        <a:t>・丸果庄内青果(株)、(株)庄果（公設庄内青果物地方卸売市場）、長井中央青果(株)、(株)マルト直治郎商店 ほか</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475488">
                <a:tc>
                  <a:txBody>
                    <a:bodyPr wrap="square"/>
                    <a:lstStyle/>
                    <a:p>
                      <a:pPr algn="l"/>
                      <a:r>
                        <a:rPr sz="900" b="0">
                          <a:solidFill>
                            <a:srgbClr val="1A1A1A"/>
                          </a:solidFill>
                          <a:latin typeface="游ゴシック"/>
                          <a:ea typeface="游ゴシック"/>
                        </a:rPr>
                        <a:t>営業時間・定休日</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900" b="0">
                          <a:solidFill>
                            <a:srgbClr val="1A1A1A"/>
                          </a:solidFill>
                          <a:latin typeface="游ゴシック"/>
                          <a:ea typeface="游ゴシック"/>
                        </a:rPr>
                        <a:t>・早朝6時から（終業時刻は確認中）／水・日・祝日</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475488">
                <a:tc>
                  <a:txBody>
                    <a:bodyPr wrap="square"/>
                    <a:lstStyle/>
                    <a:p>
                      <a:pPr algn="l"/>
                      <a:r>
                        <a:rPr sz="900" b="0">
                          <a:solidFill>
                            <a:srgbClr val="1A1A1A"/>
                          </a:solidFill>
                          <a:latin typeface="游ゴシック"/>
                          <a:ea typeface="游ゴシック"/>
                        </a:rPr>
                        <a:t>株式</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900" b="0">
                          <a:solidFill>
                            <a:srgbClr val="1A1A1A"/>
                          </a:solidFill>
                          <a:latin typeface="游ゴシック"/>
                          <a:ea typeface="游ゴシック"/>
                        </a:rPr>
                        <a:t>・株式の譲渡制限あり（取締役会の承認）。発行済株式4,000株（株主8名）</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475488">
                <a:tc>
                  <a:txBody>
                    <a:bodyPr wrap="square"/>
                    <a:lstStyle/>
                    <a:p>
                      <a:pPr algn="l"/>
                      <a:r>
                        <a:rPr sz="900" b="0">
                          <a:solidFill>
                            <a:srgbClr val="1A1A1A"/>
                          </a:solidFill>
                          <a:latin typeface="游ゴシック"/>
                          <a:ea typeface="游ゴシック"/>
                        </a:rPr>
                        <a:t>Webサイト</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900" b="0">
                          <a:solidFill>
                            <a:srgbClr val="1A1A1A"/>
                          </a:solidFill>
                          <a:latin typeface="游ゴシック"/>
                          <a:ea typeface="游ゴシック"/>
                        </a:rPr>
                        <a:t>・http://www.turu-chu.co.jp/（だだちゃ豆・庄内柿等の特産品、安全への取組みを掲載）</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bl>
          </a:graphicData>
        </a:graphic>
      </p:graphicFrame>
    </p:spTree>
    <p:extLst>
      <p:ext uri="{BB962C8B-B14F-4D97-AF65-F5344CB8AC3E}">
        <p14:creationId xmlns:p14="http://schemas.microsoft.com/office/powerpoint/2010/main" val="8056887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正方形/長方形 12">
            <a:extLst>
              <a:ext uri="{FF2B5EF4-FFF2-40B4-BE49-F238E27FC236}">
                <a16:creationId xmlns:a16="http://schemas.microsoft.com/office/drawing/2014/main" id="{89F2FC56-6ADD-9704-B514-62FD74DE3ED5}"/>
              </a:ext>
            </a:extLst>
          </p:cNvPr>
          <p:cNvSpPr/>
          <p:nvPr/>
        </p:nvSpPr>
        <p:spPr>
          <a:xfrm>
            <a:off x="449263" y="1362266"/>
            <a:ext cx="3816000" cy="366383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360000" rIns="180000" bIns="0" rtlCol="0" anchor="t"/>
          <a:lstStyle/>
          <a:p>
            <a:pPr algn="ctr">
              <a:buClr>
                <a:schemeClr val="tx2"/>
              </a:buClr>
              <a:buSzPct val="80000"/>
            </a:pPr>
            <a:endParaRPr kumimoji="1" lang="zh-TW" altLang="en-US" sz="2000" b="1" spc="110" dirty="0">
              <a:solidFill>
                <a:schemeClr val="tx2"/>
              </a:solidFill>
              <a:latin typeface="+mj-ea"/>
              <a:ea typeface="+mj-ea"/>
            </a:endParaRPr>
          </a:p>
        </p:txBody>
      </p:sp>
      <p:sp>
        <p:nvSpPr>
          <p:cNvPr id="34" name="正方形/長方形 33">
            <a:extLst>
              <a:ext uri="{FF2B5EF4-FFF2-40B4-BE49-F238E27FC236}">
                <a16:creationId xmlns:a16="http://schemas.microsoft.com/office/drawing/2014/main" id="{F2057333-40C8-2D4A-60A4-202E9B7B444C}"/>
              </a:ext>
            </a:extLst>
          </p:cNvPr>
          <p:cNvSpPr/>
          <p:nvPr/>
        </p:nvSpPr>
        <p:spPr>
          <a:xfrm>
            <a:off x="4522064" y="1362266"/>
            <a:ext cx="5724000" cy="572432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0" rtlCol="0" anchor="t"/>
          <a:lstStyle/>
          <a:p>
            <a:pPr algn="ctr">
              <a:buClr>
                <a:schemeClr val="tx2"/>
              </a:buClr>
              <a:buSzPct val="80000"/>
            </a:pPr>
            <a:r>
              <a:rPr kumimoji="1" lang="ja-JP" altLang="en-US" sz="1800" b="1" spc="110" dirty="0">
                <a:solidFill>
                  <a:schemeClr val="tx1"/>
                </a:solidFill>
                <a:latin typeface="+mj-ea"/>
                <a:ea typeface="+mj-ea"/>
              </a:rPr>
              <a:t>成功報酬</a:t>
            </a:r>
            <a:r>
              <a:rPr kumimoji="1" lang="en-US" altLang="ja-JP" sz="1800" spc="110" baseline="30000" dirty="0">
                <a:solidFill>
                  <a:schemeClr val="tx1"/>
                </a:solidFill>
                <a:latin typeface="+mj-ea"/>
                <a:ea typeface="+mj-ea"/>
              </a:rPr>
              <a:t>※2</a:t>
            </a:r>
            <a:r>
              <a:rPr kumimoji="1" lang="ja-JP" altLang="en-US" sz="1800" b="1" spc="110" dirty="0">
                <a:solidFill>
                  <a:schemeClr val="tx1"/>
                </a:solidFill>
                <a:latin typeface="+mj-ea"/>
                <a:ea typeface="+mj-ea"/>
              </a:rPr>
              <a:t>の算定方法</a:t>
            </a:r>
          </a:p>
        </p:txBody>
      </p:sp>
      <p:sp>
        <p:nvSpPr>
          <p:cNvPr id="6" name="字幕 5">
            <a:extLst>
              <a:ext uri="{FF2B5EF4-FFF2-40B4-BE49-F238E27FC236}">
                <a16:creationId xmlns:a16="http://schemas.microsoft.com/office/drawing/2014/main" id="{8B635CAA-C777-BCBD-D6CB-D6FE9099ED6B}"/>
              </a:ext>
            </a:extLst>
          </p:cNvPr>
          <p:cNvSpPr>
            <a:spLocks noGrp="1"/>
          </p:cNvSpPr>
          <p:nvPr>
            <p:ph type="subTitle" idx="1"/>
          </p:nvPr>
        </p:nvSpPr>
        <p:spPr>
          <a:xfrm>
            <a:off x="460675" y="830046"/>
            <a:ext cx="9781875" cy="241861"/>
          </a:xfrm>
        </p:spPr>
        <p:txBody>
          <a:bodyPr/>
          <a:lstStyle/>
          <a:p>
            <a:r>
              <a:rPr lang="ja-JP" altLang="en-US" dirty="0"/>
              <a:t>時価総資産</a:t>
            </a:r>
            <a:r>
              <a:rPr lang="en-US" altLang="ja-JP" dirty="0"/>
              <a:t>(</a:t>
            </a:r>
            <a:r>
              <a:rPr lang="ja-JP" altLang="en-US" dirty="0"/>
              <a:t>営業権含む</a:t>
            </a:r>
            <a:r>
              <a:rPr lang="en-US" altLang="ja-JP" dirty="0"/>
              <a:t>)</a:t>
            </a:r>
            <a:r>
              <a:rPr lang="ja-JP" altLang="en-US" dirty="0"/>
              <a:t>を基準とした報酬体系であり、独占交渉権獲得の段階まで費用は発生しません</a:t>
            </a:r>
            <a:endParaRPr lang="en-US" altLang="ja-JP" dirty="0"/>
          </a:p>
        </p:txBody>
      </p:sp>
      <p:sp>
        <p:nvSpPr>
          <p:cNvPr id="2" name="タイトル 1">
            <a:extLst>
              <a:ext uri="{FF2B5EF4-FFF2-40B4-BE49-F238E27FC236}">
                <a16:creationId xmlns:a16="http://schemas.microsoft.com/office/drawing/2014/main" id="{D080ECA5-1EC6-E0DA-1045-7623DC8B0517}"/>
              </a:ext>
            </a:extLst>
          </p:cNvPr>
          <p:cNvSpPr>
            <a:spLocks noGrp="1"/>
          </p:cNvSpPr>
          <p:nvPr>
            <p:ph type="ctrTitle"/>
          </p:nvPr>
        </p:nvSpPr>
        <p:spPr/>
        <p:txBody>
          <a:bodyPr/>
          <a:lstStyle/>
          <a:p>
            <a:r>
              <a:rPr lang="ja-JP" altLang="en-US" dirty="0"/>
              <a:t>報酬体系</a:t>
            </a:r>
          </a:p>
        </p:txBody>
      </p:sp>
      <p:sp>
        <p:nvSpPr>
          <p:cNvPr id="7" name="タイトル 1">
            <a:extLst>
              <a:ext uri="{FF2B5EF4-FFF2-40B4-BE49-F238E27FC236}">
                <a16:creationId xmlns:a16="http://schemas.microsoft.com/office/drawing/2014/main" id="{0DF55F9A-C4D7-02A8-F804-D2CAF9784F10}"/>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t>　</a:t>
            </a:r>
            <a:r>
              <a:rPr lang="en-US" altLang="ja-JP" dirty="0"/>
              <a:t>Appendix</a:t>
            </a:r>
            <a:endParaRPr lang="ja-JP" altLang="en-US" dirty="0"/>
          </a:p>
        </p:txBody>
      </p:sp>
      <p:cxnSp>
        <p:nvCxnSpPr>
          <p:cNvPr id="15" name="直線コネクタ 14">
            <a:extLst>
              <a:ext uri="{FF2B5EF4-FFF2-40B4-BE49-F238E27FC236}">
                <a16:creationId xmlns:a16="http://schemas.microsoft.com/office/drawing/2014/main" id="{CB8BC532-89AB-609B-2D65-2652067D6567}"/>
              </a:ext>
            </a:extLst>
          </p:cNvPr>
          <p:cNvCxnSpPr>
            <a:cxnSpLocks/>
          </p:cNvCxnSpPr>
          <p:nvPr/>
        </p:nvCxnSpPr>
        <p:spPr>
          <a:xfrm>
            <a:off x="449263" y="1362267"/>
            <a:ext cx="3816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8" name="正方形/長方形 17">
            <a:extLst>
              <a:ext uri="{FF2B5EF4-FFF2-40B4-BE49-F238E27FC236}">
                <a16:creationId xmlns:a16="http://schemas.microsoft.com/office/drawing/2014/main" id="{6E720941-89DA-5B24-F4D1-711BB1F814EF}"/>
              </a:ext>
            </a:extLst>
          </p:cNvPr>
          <p:cNvSpPr>
            <a:spLocks/>
          </p:cNvSpPr>
          <p:nvPr/>
        </p:nvSpPr>
        <p:spPr>
          <a:xfrm>
            <a:off x="768087" y="2452713"/>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zh-TW" altLang="en-US" sz="1600" b="1" spc="110" dirty="0">
                <a:solidFill>
                  <a:schemeClr val="tx2"/>
                </a:solidFill>
                <a:latin typeface="+mj-ea"/>
                <a:ea typeface="+mj-ea"/>
              </a:rPr>
              <a:t>着手金</a:t>
            </a:r>
            <a:endParaRPr kumimoji="1" lang="zh-TW" altLang="en-US" sz="1600" spc="110" baseline="30000" dirty="0">
              <a:solidFill>
                <a:schemeClr val="tx2"/>
              </a:solidFill>
              <a:latin typeface="+mj-ea"/>
              <a:ea typeface="+mj-ea"/>
            </a:endParaRPr>
          </a:p>
        </p:txBody>
      </p:sp>
      <p:sp>
        <p:nvSpPr>
          <p:cNvPr id="20" name="正方形/長方形 19">
            <a:extLst>
              <a:ext uri="{FF2B5EF4-FFF2-40B4-BE49-F238E27FC236}">
                <a16:creationId xmlns:a16="http://schemas.microsoft.com/office/drawing/2014/main" id="{C770662D-0186-159D-6B20-6AADFFE9CBBA}"/>
              </a:ext>
            </a:extLst>
          </p:cNvPr>
          <p:cNvSpPr>
            <a:spLocks/>
          </p:cNvSpPr>
          <p:nvPr/>
        </p:nvSpPr>
        <p:spPr>
          <a:xfrm>
            <a:off x="768087" y="3965025"/>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ja-JP" altLang="en-US" sz="1600" b="1" spc="110" dirty="0">
                <a:solidFill>
                  <a:schemeClr val="tx2"/>
                </a:solidFill>
                <a:latin typeface="+mj-ea"/>
                <a:ea typeface="+mj-ea"/>
              </a:rPr>
              <a:t>リテイナーフィー</a:t>
            </a:r>
            <a:endParaRPr kumimoji="1" lang="zh-TW" altLang="en-US" sz="1600" spc="110" baseline="30000" dirty="0">
              <a:solidFill>
                <a:schemeClr val="tx2"/>
              </a:solidFill>
              <a:latin typeface="+mj-ea"/>
              <a:ea typeface="+mj-ea"/>
            </a:endParaRPr>
          </a:p>
        </p:txBody>
      </p:sp>
      <p:sp>
        <p:nvSpPr>
          <p:cNvPr id="21" name="正方形/長方形 20">
            <a:extLst>
              <a:ext uri="{FF2B5EF4-FFF2-40B4-BE49-F238E27FC236}">
                <a16:creationId xmlns:a16="http://schemas.microsoft.com/office/drawing/2014/main" id="{E00098F5-AD27-787B-FFFF-9D575BB76654}"/>
              </a:ext>
            </a:extLst>
          </p:cNvPr>
          <p:cNvSpPr>
            <a:spLocks/>
          </p:cNvSpPr>
          <p:nvPr/>
        </p:nvSpPr>
        <p:spPr>
          <a:xfrm>
            <a:off x="768087" y="3208869"/>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ja-JP" altLang="en-US" sz="1600" b="1" spc="110" dirty="0">
                <a:solidFill>
                  <a:schemeClr val="tx2"/>
                </a:solidFill>
                <a:latin typeface="+mj-ea"/>
                <a:ea typeface="+mj-ea"/>
              </a:rPr>
              <a:t>情報提供料</a:t>
            </a:r>
            <a:endParaRPr kumimoji="1" lang="zh-TW" altLang="en-US" sz="1600" b="1" spc="110" dirty="0">
              <a:solidFill>
                <a:schemeClr val="tx2"/>
              </a:solidFill>
              <a:latin typeface="+mj-ea"/>
              <a:ea typeface="+mj-ea"/>
            </a:endParaRPr>
          </a:p>
        </p:txBody>
      </p:sp>
      <p:sp>
        <p:nvSpPr>
          <p:cNvPr id="24" name="テキスト ボックス 23">
            <a:extLst>
              <a:ext uri="{FF2B5EF4-FFF2-40B4-BE49-F238E27FC236}">
                <a16:creationId xmlns:a16="http://schemas.microsoft.com/office/drawing/2014/main" id="{732BB496-90B0-3CEC-6685-2DABCCD36309}"/>
              </a:ext>
            </a:extLst>
          </p:cNvPr>
          <p:cNvSpPr txBox="1"/>
          <p:nvPr/>
        </p:nvSpPr>
        <p:spPr>
          <a:xfrm>
            <a:off x="3604575" y="3422948"/>
            <a:ext cx="428323" cy="278731"/>
          </a:xfrm>
          <a:prstGeom prst="rect">
            <a:avLst/>
          </a:prstGeom>
          <a:noFill/>
        </p:spPr>
        <p:txBody>
          <a:bodyPr wrap="none" lIns="0" tIns="0" rIns="0" bIns="0" rtlCol="0">
            <a:spAutoFit/>
          </a:bodyPr>
          <a:lstStyle/>
          <a:p>
            <a:pPr algn="ctr">
              <a:lnSpc>
                <a:spcPct val="120000"/>
              </a:lnSpc>
              <a:buClr>
                <a:schemeClr val="tx2"/>
              </a:buClr>
              <a:buSzPct val="80000"/>
            </a:pPr>
            <a:r>
              <a:rPr lang="ja-JP" altLang="en-US" sz="1600" b="1" spc="70" dirty="0">
                <a:latin typeface="+mj-ea"/>
                <a:ea typeface="+mj-ea"/>
              </a:rPr>
              <a:t>無料</a:t>
            </a:r>
          </a:p>
        </p:txBody>
      </p:sp>
      <p:sp>
        <p:nvSpPr>
          <p:cNvPr id="30" name="右大かっこ 29">
            <a:extLst>
              <a:ext uri="{FF2B5EF4-FFF2-40B4-BE49-F238E27FC236}">
                <a16:creationId xmlns:a16="http://schemas.microsoft.com/office/drawing/2014/main" id="{3B1D8EBE-EC59-B246-AF6C-841872564D9C}"/>
              </a:ext>
            </a:extLst>
          </p:cNvPr>
          <p:cNvSpPr/>
          <p:nvPr/>
        </p:nvSpPr>
        <p:spPr>
          <a:xfrm>
            <a:off x="3324087" y="2479728"/>
            <a:ext cx="174824" cy="2097297"/>
          </a:xfrm>
          <a:prstGeom prst="rightBracket">
            <a:avLst>
              <a:gd name="adj" fmla="val 0"/>
            </a:avLst>
          </a:prstGeom>
          <a:ln w="12700">
            <a:solidFill>
              <a:schemeClr val="tx2"/>
            </a:solidFill>
            <a:prstDash val="sysDot"/>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36" name="正方形/長方形 35">
            <a:extLst>
              <a:ext uri="{FF2B5EF4-FFF2-40B4-BE49-F238E27FC236}">
                <a16:creationId xmlns:a16="http://schemas.microsoft.com/office/drawing/2014/main" id="{9AE04EFA-8A89-729B-C209-CDC92D8F408B}"/>
              </a:ext>
            </a:extLst>
          </p:cNvPr>
          <p:cNvSpPr/>
          <p:nvPr/>
        </p:nvSpPr>
        <p:spPr>
          <a:xfrm>
            <a:off x="4766690" y="6067960"/>
            <a:ext cx="4411464" cy="942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b">
            <a:spAutoFit/>
          </a:bodyPr>
          <a:lstStyle/>
          <a:p>
            <a:pPr>
              <a:lnSpc>
                <a:spcPct val="110000"/>
              </a:lnSpc>
            </a:pPr>
            <a:r>
              <a:rPr lang="en-US" altLang="ja-JP" sz="800" dirty="0">
                <a:solidFill>
                  <a:schemeClr val="tx1"/>
                </a:solidFill>
                <a:latin typeface="+mn-ea"/>
              </a:rPr>
              <a:t>※2</a:t>
            </a:r>
            <a:r>
              <a:rPr lang="ja-JP" altLang="en-US" sz="800" dirty="0">
                <a:solidFill>
                  <a:schemeClr val="tx1"/>
                </a:solidFill>
                <a:latin typeface="+mn-ea"/>
              </a:rPr>
              <a:t>　以下の項目については上記報酬には含まれておりません。</a:t>
            </a:r>
          </a:p>
          <a:p>
            <a:pPr>
              <a:lnSpc>
                <a:spcPct val="110000"/>
              </a:lnSpc>
            </a:pPr>
            <a:r>
              <a:rPr lang="ja-JP" altLang="en-US" sz="800" dirty="0">
                <a:solidFill>
                  <a:schemeClr val="tx1"/>
                </a:solidFill>
                <a:latin typeface="+mn-ea"/>
              </a:rPr>
              <a:t>　　・買収監査、特殊な市場調査や技術評価、経営計画作成のための費用</a:t>
            </a:r>
          </a:p>
          <a:p>
            <a:pPr>
              <a:lnSpc>
                <a:spcPct val="110000"/>
              </a:lnSpc>
            </a:pPr>
            <a:r>
              <a:rPr lang="ja-JP" altLang="en-US" sz="800" dirty="0">
                <a:solidFill>
                  <a:schemeClr val="tx1"/>
                </a:solidFill>
                <a:latin typeface="+mn-ea"/>
              </a:rPr>
              <a:t>　　・登記費用および公認会計士、税理士、弁護士、不動産鑑定士等の専門家費用の実費</a:t>
            </a:r>
          </a:p>
          <a:p>
            <a:pPr>
              <a:lnSpc>
                <a:spcPct val="110000"/>
              </a:lnSpc>
            </a:pPr>
            <a:r>
              <a:rPr lang="ja-JP" altLang="en-US" sz="800" dirty="0">
                <a:solidFill>
                  <a:schemeClr val="tx1"/>
                </a:solidFill>
                <a:latin typeface="+mn-ea"/>
              </a:rPr>
              <a:t>　　・譲渡企業の海外事業所等訪問時の通訳費、当社および貴社関係者の交通費、宿泊費、日当</a:t>
            </a:r>
            <a:endParaRPr lang="en-US" altLang="ja-JP" sz="800" dirty="0">
              <a:solidFill>
                <a:schemeClr val="tx1"/>
              </a:solidFill>
              <a:latin typeface="+mn-ea"/>
            </a:endParaRPr>
          </a:p>
          <a:p>
            <a:pPr>
              <a:lnSpc>
                <a:spcPct val="110000"/>
              </a:lnSpc>
            </a:pPr>
            <a:r>
              <a:rPr lang="ja-JP" altLang="en-US" sz="800" dirty="0">
                <a:solidFill>
                  <a:schemeClr val="tx1"/>
                </a:solidFill>
                <a:latin typeface="+mn-ea"/>
              </a:rPr>
              <a:t>　　以下の場合、上記の各種報酬について別途ご相談いたします。</a:t>
            </a:r>
          </a:p>
          <a:p>
            <a:pPr>
              <a:lnSpc>
                <a:spcPct val="110000"/>
              </a:lnSpc>
            </a:pPr>
            <a:r>
              <a:rPr lang="ja-JP" altLang="en-US" sz="800" dirty="0">
                <a:solidFill>
                  <a:schemeClr val="tx1"/>
                </a:solidFill>
                <a:latin typeface="+mn-ea"/>
              </a:rPr>
              <a:t>　　・譲渡企業が関係会社を保有する場合や事業所を複数持つ場合</a:t>
            </a:r>
          </a:p>
          <a:p>
            <a:pPr>
              <a:lnSpc>
                <a:spcPct val="110000"/>
              </a:lnSpc>
            </a:pPr>
            <a:r>
              <a:rPr lang="ja-JP" altLang="en-US" sz="800" dirty="0">
                <a:solidFill>
                  <a:schemeClr val="tx1"/>
                </a:solidFill>
                <a:latin typeface="+mn-ea"/>
              </a:rPr>
              <a:t>　　・譲渡企業が海外に関係会社・事業所・工場を保有する場合</a:t>
            </a:r>
          </a:p>
        </p:txBody>
      </p:sp>
      <p:sp>
        <p:nvSpPr>
          <p:cNvPr id="37" name="正方形/長方形 36">
            <a:extLst>
              <a:ext uri="{FF2B5EF4-FFF2-40B4-BE49-F238E27FC236}">
                <a16:creationId xmlns:a16="http://schemas.microsoft.com/office/drawing/2014/main" id="{F22E4C30-8FC3-B869-53BD-9D8860037344}"/>
              </a:ext>
            </a:extLst>
          </p:cNvPr>
          <p:cNvSpPr/>
          <p:nvPr/>
        </p:nvSpPr>
        <p:spPr>
          <a:xfrm>
            <a:off x="683263" y="1669542"/>
            <a:ext cx="3348000" cy="468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zh-TW" altLang="en-US" sz="1800" b="1" spc="70" dirty="0">
                <a:solidFill>
                  <a:schemeClr val="bg1"/>
                </a:solidFill>
                <a:latin typeface="+mj-ea"/>
                <a:ea typeface="+mj-ea"/>
              </a:rPr>
              <a:t>料金体系｜成功報酬型</a:t>
            </a:r>
          </a:p>
        </p:txBody>
      </p:sp>
      <p:sp>
        <p:nvSpPr>
          <p:cNvPr id="38" name="正方形/長方形 37">
            <a:extLst>
              <a:ext uri="{FF2B5EF4-FFF2-40B4-BE49-F238E27FC236}">
                <a16:creationId xmlns:a16="http://schemas.microsoft.com/office/drawing/2014/main" id="{A662A524-58DF-E539-7CF9-2CCAAD4E7CAF}"/>
              </a:ext>
            </a:extLst>
          </p:cNvPr>
          <p:cNvSpPr>
            <a:spLocks/>
          </p:cNvSpPr>
          <p:nvPr/>
        </p:nvSpPr>
        <p:spPr>
          <a:xfrm>
            <a:off x="4752550" y="1974789"/>
            <a:ext cx="5256000" cy="3051315"/>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en-US" altLang="ja-JP" sz="1543" b="1">
                <a:solidFill>
                  <a:schemeClr val="tx2"/>
                </a:solidFill>
                <a:ea typeface="+mj-ea"/>
              </a:rPr>
              <a:t>1. M</a:t>
            </a:r>
            <a:r>
              <a:rPr kumimoji="1" lang="ja-JP" altLang="en-US" sz="1543" b="1">
                <a:solidFill>
                  <a:schemeClr val="tx2"/>
                </a:solidFill>
                <a:ea typeface="+mj-ea"/>
              </a:rPr>
              <a:t>＆</a:t>
            </a:r>
            <a:r>
              <a:rPr kumimoji="1" lang="en-US" altLang="ja-JP" sz="1543" b="1">
                <a:solidFill>
                  <a:schemeClr val="tx2"/>
                </a:solidFill>
                <a:ea typeface="+mj-ea"/>
              </a:rPr>
              <a:t>A</a:t>
            </a:r>
            <a:r>
              <a:rPr kumimoji="1" lang="ja-JP" altLang="en-US" sz="1543" b="1">
                <a:solidFill>
                  <a:schemeClr val="tx2"/>
                </a:solidFill>
                <a:ea typeface="+mj-ea"/>
              </a:rPr>
              <a:t>（株式・事業譲渡）の場合</a:t>
            </a:r>
            <a:endParaRPr kumimoji="1" lang="ja-JP" altLang="en-US" sz="1543" b="1" dirty="0">
              <a:solidFill>
                <a:schemeClr val="tx2"/>
              </a:solidFill>
              <a:ea typeface="+mj-ea"/>
            </a:endParaRPr>
          </a:p>
        </p:txBody>
      </p:sp>
      <p:sp>
        <p:nvSpPr>
          <p:cNvPr id="39" name="正方形/長方形 38">
            <a:extLst>
              <a:ext uri="{FF2B5EF4-FFF2-40B4-BE49-F238E27FC236}">
                <a16:creationId xmlns:a16="http://schemas.microsoft.com/office/drawing/2014/main" id="{3005CCDB-36FD-4152-9A26-F18CB327D833}"/>
              </a:ext>
            </a:extLst>
          </p:cNvPr>
          <p:cNvSpPr>
            <a:spLocks/>
          </p:cNvSpPr>
          <p:nvPr/>
        </p:nvSpPr>
        <p:spPr>
          <a:xfrm>
            <a:off x="4752550" y="5145149"/>
            <a:ext cx="5256000" cy="855016"/>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en-US" altLang="ja-JP" sz="1543" b="1" dirty="0">
                <a:solidFill>
                  <a:schemeClr val="tx2"/>
                </a:solidFill>
                <a:ea typeface="+mj-ea"/>
              </a:rPr>
              <a:t>2. </a:t>
            </a:r>
            <a:r>
              <a:rPr kumimoji="1" lang="ja-JP" altLang="en-US" sz="1543" b="1" dirty="0">
                <a:solidFill>
                  <a:schemeClr val="tx2"/>
                </a:solidFill>
                <a:ea typeface="+mj-ea"/>
              </a:rPr>
              <a:t>合併・会社分割・業務提携などの場合</a:t>
            </a:r>
          </a:p>
        </p:txBody>
      </p:sp>
      <p:sp>
        <p:nvSpPr>
          <p:cNvPr id="43" name="正方形/長方形 42">
            <a:extLst>
              <a:ext uri="{FF2B5EF4-FFF2-40B4-BE49-F238E27FC236}">
                <a16:creationId xmlns:a16="http://schemas.microsoft.com/office/drawing/2014/main" id="{45F9569B-84C3-F6AA-8270-6F2A0C5A48FE}"/>
              </a:ext>
            </a:extLst>
          </p:cNvPr>
          <p:cNvSpPr/>
          <p:nvPr/>
        </p:nvSpPr>
        <p:spPr>
          <a:xfrm>
            <a:off x="4968550" y="5594330"/>
            <a:ext cx="4824000" cy="286791"/>
          </a:xfrm>
          <a:prstGeom prst="rect">
            <a:avLst/>
          </a:prstGeom>
          <a:solidFill>
            <a:schemeClr val="bg1"/>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r>
              <a:rPr kumimoji="1" lang="ja-JP" altLang="en-US" sz="1600" b="1" spc="30" dirty="0">
                <a:solidFill>
                  <a:schemeClr val="tx1"/>
                </a:solidFill>
                <a:latin typeface="+mj-ea"/>
                <a:ea typeface="+mj-ea"/>
              </a:rPr>
              <a:t>形態、規模に応じてお見積り</a:t>
            </a:r>
          </a:p>
        </p:txBody>
      </p:sp>
      <p:sp>
        <p:nvSpPr>
          <p:cNvPr id="44" name="テキスト ボックス 43">
            <a:extLst>
              <a:ext uri="{FF2B5EF4-FFF2-40B4-BE49-F238E27FC236}">
                <a16:creationId xmlns:a16="http://schemas.microsoft.com/office/drawing/2014/main" id="{1E78D870-E1BA-6FCD-62FA-37BB1F2E0B3D}"/>
              </a:ext>
            </a:extLst>
          </p:cNvPr>
          <p:cNvSpPr txBox="1"/>
          <p:nvPr/>
        </p:nvSpPr>
        <p:spPr>
          <a:xfrm>
            <a:off x="4968550" y="4554047"/>
            <a:ext cx="3546805" cy="191399"/>
          </a:xfrm>
          <a:prstGeom prst="rect">
            <a:avLst/>
          </a:prstGeom>
          <a:noFill/>
        </p:spPr>
        <p:txBody>
          <a:bodyPr wrap="none" lIns="0" tIns="0" rIns="0" bIns="0" rtlCol="0">
            <a:spAutoFit/>
          </a:bodyPr>
          <a:lstStyle/>
          <a:p>
            <a:pPr>
              <a:lnSpc>
                <a:spcPct val="120000"/>
              </a:lnSpc>
              <a:buClr>
                <a:schemeClr val="tx2"/>
              </a:buClr>
              <a:buSzPct val="80000"/>
            </a:pPr>
            <a:r>
              <a:rPr lang="ja-JP" altLang="en-US" sz="1100" spc="70" dirty="0">
                <a:latin typeface="+mn-ea"/>
              </a:rPr>
              <a:t>成功報酬の最低額は</a:t>
            </a:r>
            <a:r>
              <a:rPr lang="en-US" altLang="ja-JP" sz="1100" spc="70" dirty="0">
                <a:latin typeface="+mn-ea"/>
              </a:rPr>
              <a:t>1,500</a:t>
            </a:r>
            <a:r>
              <a:rPr lang="ja-JP" altLang="en-US" sz="1100" spc="70" dirty="0">
                <a:latin typeface="+mn-ea"/>
              </a:rPr>
              <a:t>万円を設定しております。</a:t>
            </a:r>
          </a:p>
        </p:txBody>
      </p:sp>
      <p:graphicFrame>
        <p:nvGraphicFramePr>
          <p:cNvPr id="45" name="表 44">
            <a:extLst>
              <a:ext uri="{FF2B5EF4-FFF2-40B4-BE49-F238E27FC236}">
                <a16:creationId xmlns:a16="http://schemas.microsoft.com/office/drawing/2014/main" id="{43BEAE47-9189-F306-0E9E-F73105167DC7}"/>
              </a:ext>
            </a:extLst>
          </p:cNvPr>
          <p:cNvGraphicFramePr>
            <a:graphicFrameLocks noGrp="1"/>
          </p:cNvGraphicFramePr>
          <p:nvPr/>
        </p:nvGraphicFramePr>
        <p:xfrm>
          <a:off x="4968550" y="2395845"/>
          <a:ext cx="4824000" cy="2448000"/>
        </p:xfrm>
        <a:graphic>
          <a:graphicData uri="http://schemas.openxmlformats.org/drawingml/2006/table">
            <a:tbl>
              <a:tblPr firstRow="1" bandRow="1">
                <a:tableStyleId>{F2DE63D5-997A-4646-A377-4702673A728D}</a:tableStyleId>
              </a:tblPr>
              <a:tblGrid>
                <a:gridCol w="2952000">
                  <a:extLst>
                    <a:ext uri="{9D8B030D-6E8A-4147-A177-3AD203B41FA5}">
                      <a16:colId xmlns:a16="http://schemas.microsoft.com/office/drawing/2014/main" val="4012313631"/>
                    </a:ext>
                  </a:extLst>
                </a:gridCol>
                <a:gridCol w="1872000">
                  <a:extLst>
                    <a:ext uri="{9D8B030D-6E8A-4147-A177-3AD203B41FA5}">
                      <a16:colId xmlns:a16="http://schemas.microsoft.com/office/drawing/2014/main" val="1332805218"/>
                    </a:ext>
                  </a:extLst>
                </a:gridCol>
              </a:tblGrid>
              <a:tr h="396000">
                <a:tc>
                  <a:txBody>
                    <a:bodyPr/>
                    <a:lstStyle/>
                    <a:p>
                      <a:pPr marL="0" marR="0" lvl="0" indent="0" algn="ctr" defTabSz="914400" rtl="0" eaLnBrk="1" fontAlgn="auto" latinLnBrk="0" hangingPunct="1">
                        <a:lnSpc>
                          <a:spcPct val="110000"/>
                        </a:lnSpc>
                        <a:spcBef>
                          <a:spcPts val="0"/>
                        </a:spcBef>
                        <a:spcAft>
                          <a:spcPts val="0"/>
                        </a:spcAft>
                        <a:buClrTx/>
                        <a:buSzTx/>
                        <a:buFontTx/>
                        <a:buNone/>
                        <a:tabLst/>
                        <a:defRPr/>
                      </a:pPr>
                      <a:r>
                        <a:rPr kumimoji="1" lang="ja-JP" altLang="en-US" sz="1100" b="1" i="0" u="none" strike="noStrike" kern="1200" cap="none" spc="50" normalizeH="0" baseline="0" noProof="0" dirty="0">
                          <a:ln>
                            <a:noFill/>
                          </a:ln>
                          <a:solidFill>
                            <a:schemeClr val="bg1"/>
                          </a:solidFill>
                          <a:effectLst/>
                          <a:uLnTx/>
                          <a:uFillTx/>
                          <a:latin typeface="+mj-ea"/>
                          <a:ea typeface="+mj-ea"/>
                        </a:rPr>
                        <a:t>譲渡企業の時価総資産額</a:t>
                      </a:r>
                      <a:endParaRPr kumimoji="1" lang="en-US" altLang="ja-JP" sz="1100" b="1" i="0" u="none" strike="noStrike" kern="1200" cap="none" spc="50" normalizeH="0" baseline="0" noProof="0" dirty="0">
                        <a:ln>
                          <a:noFill/>
                        </a:ln>
                        <a:solidFill>
                          <a:schemeClr val="bg1"/>
                        </a:solidFill>
                        <a:effectLst/>
                        <a:uLnTx/>
                        <a:uFillTx/>
                        <a:latin typeface="+mj-ea"/>
                        <a:ea typeface="+mj-ea"/>
                      </a:endParaRPr>
                    </a:p>
                    <a:p>
                      <a:pPr marL="0" marR="0" lvl="0" indent="0" algn="ctr" defTabSz="914400" rtl="0" eaLnBrk="1" fontAlgn="auto" latinLnBrk="0" hangingPunct="1">
                        <a:lnSpc>
                          <a:spcPct val="110000"/>
                        </a:lnSpc>
                        <a:spcBef>
                          <a:spcPts val="0"/>
                        </a:spcBef>
                        <a:spcAft>
                          <a:spcPts val="0"/>
                        </a:spcAft>
                        <a:buClrTx/>
                        <a:buSzTx/>
                        <a:buFontTx/>
                        <a:buNone/>
                        <a:tabLst/>
                        <a:defRPr/>
                      </a:pPr>
                      <a:r>
                        <a:rPr kumimoji="1" lang="ja-JP" altLang="en-US" sz="800" b="1" i="0" u="none" strike="noStrike" kern="1200" cap="none" spc="50" normalizeH="0" baseline="0" noProof="0" dirty="0">
                          <a:ln>
                            <a:noFill/>
                          </a:ln>
                          <a:solidFill>
                            <a:schemeClr val="bg1"/>
                          </a:solidFill>
                          <a:effectLst/>
                          <a:uLnTx/>
                          <a:uFillTx/>
                          <a:latin typeface="+mj-ea"/>
                          <a:ea typeface="+mj-ea"/>
                        </a:rPr>
                        <a:t>（営業権を含む）</a:t>
                      </a:r>
                    </a:p>
                  </a:txBody>
                  <a:tcPr marL="0" marR="0" marT="0" marB="0" anchor="ctr" anchorCtr="1">
                    <a:lnL w="3175"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nSpc>
                          <a:spcPct val="110000"/>
                        </a:lnSpc>
                      </a:pPr>
                      <a:r>
                        <a:rPr kumimoji="1" lang="ja-JP" altLang="en-US" sz="1100" b="1" spc="50" baseline="0" dirty="0">
                          <a:latin typeface="+mj-ea"/>
                          <a:ea typeface="+mj-ea"/>
                        </a:rPr>
                        <a:t>手数料率</a:t>
                      </a:r>
                    </a:p>
                  </a:txBody>
                  <a:tcPr marL="0" marR="0" marT="0" marB="0" anchor="ctr" anchorCtr="1">
                    <a:lnL w="12700" cap="flat" cmpd="sng" algn="ctr">
                      <a:solidFill>
                        <a:schemeClr val="bg1"/>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3552892255"/>
                  </a:ext>
                </a:extLst>
              </a:tr>
              <a:tr h="342000">
                <a:tc>
                  <a:txBody>
                    <a:bodyPr/>
                    <a:lstStyle/>
                    <a:p>
                      <a:pPr algn="l">
                        <a:lnSpc>
                          <a:spcPct val="110000"/>
                        </a:lnSpc>
                      </a:pPr>
                      <a:r>
                        <a:rPr kumimoji="1" lang="en-US" altLang="ja-JP" sz="1200" b="1" spc="50" baseline="0" dirty="0">
                          <a:latin typeface="+mj-lt"/>
                          <a:ea typeface="+mj-ea"/>
                        </a:rPr>
                        <a:t>2</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accent2">
                          <a:lumMod val="10000"/>
                        </a:schemeClr>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2,000</a:t>
                      </a:r>
                      <a:r>
                        <a:rPr kumimoji="1" lang="ja-JP" altLang="en-US" sz="1100" b="1" spc="50" baseline="0" dirty="0">
                          <a:solidFill>
                            <a:schemeClr val="tx1"/>
                          </a:solidFill>
                          <a:latin typeface="+mn-lt"/>
                          <a:ea typeface="+mn-ea"/>
                        </a:rPr>
                        <a:t>万円</a:t>
                      </a:r>
                      <a:endParaRPr kumimoji="1" lang="ja-JP" altLang="en-US" sz="1100" b="0" spc="50" baseline="0" dirty="0">
                        <a:solidFill>
                          <a:schemeClr val="tx1"/>
                        </a:solidFill>
                        <a:latin typeface="+mn-lt"/>
                        <a:ea typeface="+mn-ea"/>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accent2">
                          <a:lumMod val="1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1334838"/>
                  </a:ext>
                </a:extLst>
              </a:tr>
              <a:tr h="342000">
                <a:tc>
                  <a:txBody>
                    <a:bodyPr/>
                    <a:lstStyle/>
                    <a:p>
                      <a:pPr marL="0" marR="0" lvl="0" indent="0" algn="l" defTabSz="1007943" rtl="0" eaLnBrk="1" fontAlgn="auto" latinLnBrk="0" hangingPunct="1">
                        <a:lnSpc>
                          <a:spcPct val="110000"/>
                        </a:lnSpc>
                        <a:spcBef>
                          <a:spcPts val="0"/>
                        </a:spcBef>
                        <a:spcAft>
                          <a:spcPts val="0"/>
                        </a:spcAft>
                        <a:buClrTx/>
                        <a:buSzTx/>
                        <a:buFontTx/>
                        <a:buNone/>
                        <a:tabLst/>
                        <a:defRPr/>
                      </a:pPr>
                      <a:r>
                        <a:rPr kumimoji="1" lang="en-US" altLang="ja-JP" sz="1200" b="1" kern="1200" spc="50" baseline="0" dirty="0">
                          <a:solidFill>
                            <a:schemeClr val="tx1"/>
                          </a:solidFill>
                          <a:latin typeface="+mn-lt"/>
                          <a:ea typeface="+mn-ea"/>
                          <a:cs typeface="+mn-cs"/>
                        </a:rPr>
                        <a:t>2</a:t>
                      </a:r>
                      <a:r>
                        <a:rPr kumimoji="1" lang="ja-JP" altLang="en-US" sz="1200" b="1" kern="1200" spc="50" baseline="0" dirty="0">
                          <a:solidFill>
                            <a:schemeClr val="tx1"/>
                          </a:solidFill>
                          <a:latin typeface="+mn-lt"/>
                          <a:ea typeface="+mn-ea"/>
                          <a:cs typeface="+mn-cs"/>
                        </a:rPr>
                        <a:t>億円超　</a:t>
                      </a:r>
                      <a:r>
                        <a:rPr kumimoji="1" lang="en-US" altLang="ja-JP" sz="1200" b="1" kern="1200" spc="50" baseline="0" dirty="0">
                          <a:solidFill>
                            <a:schemeClr val="tx1"/>
                          </a:solidFill>
                          <a:latin typeface="+mn-lt"/>
                          <a:ea typeface="+mn-ea"/>
                          <a:cs typeface="+mn-cs"/>
                        </a:rPr>
                        <a:t>5</a:t>
                      </a:r>
                      <a:r>
                        <a:rPr kumimoji="1" lang="ja-JP" altLang="en-US" sz="1200" b="1" kern="1200" spc="50" baseline="0" dirty="0">
                          <a:solidFill>
                            <a:schemeClr val="tx1"/>
                          </a:solidFill>
                          <a:latin typeface="+mn-lt"/>
                          <a:ea typeface="+mn-ea"/>
                          <a:cs typeface="+mn-cs"/>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accent2">
                          <a:lumMod val="10000"/>
                        </a:schemeClr>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nSpc>
                          <a:spcPct val="110000"/>
                        </a:lnSpc>
                      </a:pPr>
                      <a:r>
                        <a:rPr kumimoji="1" lang="en-US" altLang="ja-JP" sz="1800" b="1" spc="50" baseline="0" dirty="0">
                          <a:solidFill>
                            <a:schemeClr val="tx1"/>
                          </a:solidFill>
                          <a:latin typeface="+mn-lt"/>
                          <a:ea typeface="+mn-ea"/>
                        </a:rPr>
                        <a:t>5</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accent2">
                          <a:lumMod val="10000"/>
                        </a:schemeClr>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0064655"/>
                  </a:ext>
                </a:extLst>
              </a:tr>
              <a:tr h="342000">
                <a:tc>
                  <a:txBody>
                    <a:bodyPr/>
                    <a:lstStyle/>
                    <a:p>
                      <a:pPr algn="l">
                        <a:lnSpc>
                          <a:spcPct val="110000"/>
                        </a:lnSpc>
                      </a:pPr>
                      <a:r>
                        <a:rPr kumimoji="1" lang="en-US" altLang="ja-JP" sz="1200" b="1" spc="50" baseline="0" dirty="0">
                          <a:latin typeface="+mj-lt"/>
                          <a:ea typeface="+mj-ea"/>
                        </a:rPr>
                        <a:t>5</a:t>
                      </a:r>
                      <a:r>
                        <a:rPr kumimoji="1" lang="ja-JP" altLang="en-US" sz="1200" b="1" spc="50" baseline="0" dirty="0">
                          <a:latin typeface="+mj-lt"/>
                          <a:ea typeface="+mj-ea"/>
                        </a:rPr>
                        <a:t>億円超　</a:t>
                      </a:r>
                      <a:r>
                        <a:rPr kumimoji="1" lang="en-US" altLang="ja-JP" sz="1200" b="1" spc="50" baseline="0" dirty="0">
                          <a:latin typeface="+mj-lt"/>
                          <a:ea typeface="+mj-ea"/>
                        </a:rPr>
                        <a:t>10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4</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45221436"/>
                  </a:ext>
                </a:extLst>
              </a:tr>
              <a:tr h="342000">
                <a:tc>
                  <a:txBody>
                    <a:bodyPr/>
                    <a:lstStyle/>
                    <a:p>
                      <a:pPr algn="l">
                        <a:lnSpc>
                          <a:spcPct val="110000"/>
                        </a:lnSpc>
                      </a:pPr>
                      <a:r>
                        <a:rPr kumimoji="1" lang="en-US" altLang="ja-JP" sz="1200" b="1" spc="50" baseline="0" dirty="0">
                          <a:latin typeface="+mj-lt"/>
                          <a:ea typeface="+mj-ea"/>
                        </a:rPr>
                        <a:t>10</a:t>
                      </a:r>
                      <a:r>
                        <a:rPr kumimoji="1" lang="ja-JP" altLang="en-US" sz="1200" b="1" spc="50" baseline="0" dirty="0">
                          <a:latin typeface="+mj-lt"/>
                          <a:ea typeface="+mj-ea"/>
                        </a:rPr>
                        <a:t>億円超　</a:t>
                      </a:r>
                      <a:r>
                        <a:rPr kumimoji="1" lang="en-US" altLang="ja-JP" sz="1200" b="1" spc="50" baseline="0" dirty="0">
                          <a:latin typeface="+mj-lt"/>
                          <a:ea typeface="+mj-ea"/>
                        </a:rPr>
                        <a:t>50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3</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54929017"/>
                  </a:ext>
                </a:extLst>
              </a:tr>
              <a:tr h="342000">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200" b="1" spc="50" baseline="0" dirty="0">
                          <a:latin typeface="+mj-lt"/>
                          <a:ea typeface="+mj-ea"/>
                        </a:rPr>
                        <a:t>50</a:t>
                      </a:r>
                      <a:r>
                        <a:rPr kumimoji="1" lang="ja-JP" altLang="en-US" sz="1200" b="1" spc="50" baseline="0" dirty="0">
                          <a:latin typeface="+mj-lt"/>
                          <a:ea typeface="+mj-ea"/>
                        </a:rPr>
                        <a:t>億円超　</a:t>
                      </a:r>
                      <a:r>
                        <a:rPr kumimoji="1" lang="en-US" altLang="ja-JP" sz="1200" b="1" spc="50" baseline="0" dirty="0">
                          <a:latin typeface="+mj-lt"/>
                          <a:ea typeface="+mj-ea"/>
                        </a:rPr>
                        <a:t>100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2</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96813135"/>
                  </a:ext>
                </a:extLst>
              </a:tr>
              <a:tr h="342000">
                <a:tc>
                  <a:txBody>
                    <a:bodyPr/>
                    <a:lstStyle/>
                    <a:p>
                      <a:pPr algn="l">
                        <a:lnSpc>
                          <a:spcPct val="110000"/>
                        </a:lnSpc>
                      </a:pPr>
                      <a:r>
                        <a:rPr kumimoji="1" lang="en-US" altLang="ja-JP" sz="1200" b="1" spc="50" baseline="0" dirty="0">
                          <a:latin typeface="+mj-lt"/>
                          <a:ea typeface="+mj-ea"/>
                        </a:rPr>
                        <a:t>100</a:t>
                      </a:r>
                      <a:r>
                        <a:rPr kumimoji="1" lang="ja-JP" altLang="en-US" sz="1200" b="1" spc="50" baseline="0" dirty="0">
                          <a:latin typeface="+mj-lt"/>
                          <a:ea typeface="+mj-ea"/>
                        </a:rPr>
                        <a:t>億円超の部分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1</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0759054"/>
                  </a:ext>
                </a:extLst>
              </a:tr>
            </a:tbl>
          </a:graphicData>
        </a:graphic>
      </p:graphicFrame>
      <p:sp>
        <p:nvSpPr>
          <p:cNvPr id="3" name="テキスト ボックス 2">
            <a:extLst>
              <a:ext uri="{FF2B5EF4-FFF2-40B4-BE49-F238E27FC236}">
                <a16:creationId xmlns:a16="http://schemas.microsoft.com/office/drawing/2014/main" id="{08F1693B-FFF1-ED80-7351-7BBDED97C92F}"/>
              </a:ext>
            </a:extLst>
          </p:cNvPr>
          <p:cNvSpPr txBox="1"/>
          <p:nvPr/>
        </p:nvSpPr>
        <p:spPr>
          <a:xfrm>
            <a:off x="8985126" y="2145278"/>
            <a:ext cx="788036" cy="209545"/>
          </a:xfrm>
          <a:prstGeom prst="rect">
            <a:avLst/>
          </a:prstGeom>
          <a:noFill/>
        </p:spPr>
        <p:txBody>
          <a:bodyPr wrap="none" lIns="0" tIns="0" rIns="0" bIns="0" rtlCol="0">
            <a:spAutoFit/>
          </a:bodyPr>
          <a:lstStyle/>
          <a:p>
            <a:pPr algn="ctr">
              <a:lnSpc>
                <a:spcPct val="120000"/>
              </a:lnSpc>
              <a:buClr>
                <a:schemeClr val="tx2"/>
              </a:buClr>
              <a:buSzPct val="80000"/>
            </a:pPr>
            <a:r>
              <a:rPr lang="en-US" altLang="ja-JP" sz="1200" spc="70" dirty="0">
                <a:latin typeface="+mj-ea"/>
                <a:ea typeface="+mj-ea"/>
              </a:rPr>
              <a:t>(</a:t>
            </a:r>
            <a:r>
              <a:rPr lang="ja-JP" altLang="en-US" sz="1200" spc="70" dirty="0">
                <a:latin typeface="+mj-ea"/>
                <a:ea typeface="+mj-ea"/>
              </a:rPr>
              <a:t>消費税別</a:t>
            </a:r>
            <a:r>
              <a:rPr lang="en-US" altLang="ja-JP" sz="1200" spc="70" dirty="0">
                <a:latin typeface="+mj-ea"/>
                <a:ea typeface="+mj-ea"/>
              </a:rPr>
              <a:t>)</a:t>
            </a:r>
            <a:endParaRPr lang="ja-JP" altLang="en-US" sz="1200" spc="70" dirty="0">
              <a:latin typeface="+mj-ea"/>
              <a:ea typeface="+mj-ea"/>
            </a:endParaRPr>
          </a:p>
        </p:txBody>
      </p:sp>
      <p:sp>
        <p:nvSpPr>
          <p:cNvPr id="4" name="正方形/長方形 3">
            <a:extLst>
              <a:ext uri="{FF2B5EF4-FFF2-40B4-BE49-F238E27FC236}">
                <a16:creationId xmlns:a16="http://schemas.microsoft.com/office/drawing/2014/main" id="{021EBBB3-E8D6-A883-4081-72409664F3A2}"/>
              </a:ext>
            </a:extLst>
          </p:cNvPr>
          <p:cNvSpPr/>
          <p:nvPr/>
        </p:nvSpPr>
        <p:spPr>
          <a:xfrm>
            <a:off x="449264" y="5224403"/>
            <a:ext cx="3816000" cy="186218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0" rtlCol="0" anchor="t"/>
          <a:lstStyle/>
          <a:p>
            <a:pPr algn="ctr">
              <a:buClr>
                <a:schemeClr val="tx2"/>
              </a:buClr>
              <a:buSzPct val="80000"/>
            </a:pPr>
            <a:r>
              <a:rPr kumimoji="1" lang="ja-JP" altLang="en-US" sz="1800" b="1" spc="110" dirty="0">
                <a:solidFill>
                  <a:schemeClr val="tx1"/>
                </a:solidFill>
                <a:latin typeface="+mj-ea"/>
                <a:ea typeface="+mj-ea"/>
              </a:rPr>
              <a:t>中間報酬</a:t>
            </a:r>
            <a:r>
              <a:rPr kumimoji="1" lang="en-US" altLang="ja-JP" sz="1800" spc="110" baseline="30000" dirty="0">
                <a:solidFill>
                  <a:schemeClr val="tx1"/>
                </a:solidFill>
                <a:latin typeface="+mj-ea"/>
                <a:ea typeface="+mj-ea"/>
              </a:rPr>
              <a:t>※1</a:t>
            </a:r>
            <a:r>
              <a:rPr kumimoji="1" lang="ja-JP" altLang="en-US" sz="1800" b="1" spc="110" dirty="0">
                <a:solidFill>
                  <a:schemeClr val="tx1"/>
                </a:solidFill>
                <a:latin typeface="+mj-ea"/>
                <a:ea typeface="+mj-ea"/>
              </a:rPr>
              <a:t>の算定方法</a:t>
            </a:r>
          </a:p>
        </p:txBody>
      </p:sp>
      <p:sp>
        <p:nvSpPr>
          <p:cNvPr id="5" name="正方形/長方形 4">
            <a:extLst>
              <a:ext uri="{FF2B5EF4-FFF2-40B4-BE49-F238E27FC236}">
                <a16:creationId xmlns:a16="http://schemas.microsoft.com/office/drawing/2014/main" id="{0A844F69-2E35-9611-A4E1-15256E6FA8E2}"/>
              </a:ext>
            </a:extLst>
          </p:cNvPr>
          <p:cNvSpPr/>
          <p:nvPr/>
        </p:nvSpPr>
        <p:spPr>
          <a:xfrm>
            <a:off x="615951" y="5812442"/>
            <a:ext cx="3482623" cy="916330"/>
          </a:xfrm>
          <a:prstGeom prst="rect">
            <a:avLst/>
          </a:prstGeom>
          <a:solidFill>
            <a:schemeClr val="bg1"/>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r>
              <a:rPr kumimoji="1" lang="ja-JP" altLang="en-US" sz="1600" b="1" spc="30" dirty="0">
                <a:solidFill>
                  <a:schemeClr val="tx1"/>
                </a:solidFill>
                <a:latin typeface="+mj-ea"/>
                <a:ea typeface="+mj-ea"/>
              </a:rPr>
              <a:t>成功報酬の</a:t>
            </a:r>
            <a:r>
              <a:rPr kumimoji="1" lang="en-US" altLang="ja-JP" sz="1600" b="1" spc="30" dirty="0">
                <a:solidFill>
                  <a:schemeClr val="tx1"/>
                </a:solidFill>
                <a:latin typeface="+mj-ea"/>
                <a:ea typeface="+mj-ea"/>
              </a:rPr>
              <a:t>10</a:t>
            </a:r>
            <a:r>
              <a:rPr kumimoji="1" lang="ja-JP" altLang="en-US" sz="1600" b="1" spc="30" dirty="0">
                <a:solidFill>
                  <a:schemeClr val="tx1"/>
                </a:solidFill>
                <a:latin typeface="+mj-ea"/>
                <a:ea typeface="+mj-ea"/>
              </a:rPr>
              <a:t>％</a:t>
            </a:r>
            <a:endParaRPr kumimoji="1" lang="en-US" altLang="ja-JP" sz="1600" b="1" spc="30" dirty="0">
              <a:solidFill>
                <a:schemeClr val="tx1"/>
              </a:solidFill>
              <a:latin typeface="+mj-ea"/>
              <a:ea typeface="+mj-ea"/>
            </a:endParaRPr>
          </a:p>
          <a:p>
            <a:pPr algn="ctr">
              <a:lnSpc>
                <a:spcPct val="120000"/>
              </a:lnSpc>
            </a:pPr>
            <a:r>
              <a:rPr kumimoji="1" lang="ja-JP" altLang="en-US" sz="1200" b="1" spc="30" dirty="0">
                <a:solidFill>
                  <a:schemeClr val="tx1"/>
                </a:solidFill>
                <a:latin typeface="+mj-ea"/>
                <a:ea typeface="+mj-ea"/>
              </a:rPr>
              <a:t>（但し最低額は</a:t>
            </a:r>
            <a:r>
              <a:rPr kumimoji="1" lang="en-US" altLang="ja-JP" sz="1200" b="1" spc="30" dirty="0">
                <a:solidFill>
                  <a:schemeClr val="tx1"/>
                </a:solidFill>
                <a:latin typeface="+mj-ea"/>
                <a:ea typeface="+mj-ea"/>
              </a:rPr>
              <a:t>300</a:t>
            </a:r>
            <a:r>
              <a:rPr kumimoji="1" lang="ja-JP" altLang="en-US" sz="1200" b="1" spc="30" dirty="0">
                <a:solidFill>
                  <a:schemeClr val="tx1"/>
                </a:solidFill>
                <a:latin typeface="+mj-ea"/>
                <a:ea typeface="+mj-ea"/>
              </a:rPr>
              <a:t>万円とします）</a:t>
            </a:r>
          </a:p>
        </p:txBody>
      </p:sp>
      <p:sp>
        <p:nvSpPr>
          <p:cNvPr id="8" name="正方形/長方形 7">
            <a:extLst>
              <a:ext uri="{FF2B5EF4-FFF2-40B4-BE49-F238E27FC236}">
                <a16:creationId xmlns:a16="http://schemas.microsoft.com/office/drawing/2014/main" id="{6EED8059-D8E2-0DAF-A350-928100484E14}"/>
              </a:ext>
            </a:extLst>
          </p:cNvPr>
          <p:cNvSpPr/>
          <p:nvPr/>
        </p:nvSpPr>
        <p:spPr>
          <a:xfrm>
            <a:off x="615951" y="6812925"/>
            <a:ext cx="3135474" cy="1299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b">
            <a:spAutoFit/>
          </a:bodyPr>
          <a:lstStyle/>
          <a:p>
            <a:pPr>
              <a:lnSpc>
                <a:spcPct val="110000"/>
              </a:lnSpc>
            </a:pPr>
            <a:r>
              <a:rPr lang="en-US" altLang="ja-JP" sz="800" dirty="0">
                <a:solidFill>
                  <a:schemeClr val="tx1"/>
                </a:solidFill>
                <a:latin typeface="+mn-ea"/>
              </a:rPr>
              <a:t>※1</a:t>
            </a:r>
            <a:r>
              <a:rPr lang="ja-JP" altLang="en-US" sz="800" dirty="0">
                <a:solidFill>
                  <a:schemeClr val="tx1"/>
                </a:solidFill>
                <a:latin typeface="+mn-ea"/>
              </a:rPr>
              <a:t>　中間報酬は成約した場合、成功報酬に含め、充当いたします。</a:t>
            </a:r>
          </a:p>
        </p:txBody>
      </p:sp>
    </p:spTree>
    <p:extLst>
      <p:ext uri="{BB962C8B-B14F-4D97-AF65-F5344CB8AC3E}">
        <p14:creationId xmlns:p14="http://schemas.microsoft.com/office/powerpoint/2010/main" val="25774995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図 16" descr="背景パターン&#10;&#10;AI 生成コンテンツは誤りを含む可能性があります。">
            <a:extLst>
              <a:ext uri="{FF2B5EF4-FFF2-40B4-BE49-F238E27FC236}">
                <a16:creationId xmlns:a16="http://schemas.microsoft.com/office/drawing/2014/main" id="{38E11F1F-6089-6877-97F2-46DAB0493C33}"/>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8" name="テキスト ボックス 7">
            <a:extLst>
              <a:ext uri="{FF2B5EF4-FFF2-40B4-BE49-F238E27FC236}">
                <a16:creationId xmlns:a16="http://schemas.microsoft.com/office/drawing/2014/main" id="{9DC24A9B-5E33-B3B6-B79B-2D6D5E5AF179}"/>
              </a:ext>
            </a:extLst>
          </p:cNvPr>
          <p:cNvSpPr txBox="1"/>
          <p:nvPr/>
        </p:nvSpPr>
        <p:spPr>
          <a:xfrm>
            <a:off x="2626785" y="4635223"/>
            <a:ext cx="5604098" cy="276999"/>
          </a:xfrm>
          <a:prstGeom prst="rect">
            <a:avLst/>
          </a:prstGeom>
          <a:noFill/>
        </p:spPr>
        <p:txBody>
          <a:bodyPr wrap="none" lIns="0" tIns="0" rIns="0" bIns="0" rtlCol="0">
            <a:spAutoFit/>
          </a:bodyPr>
          <a:lstStyle/>
          <a:p>
            <a:pPr algn="ctr"/>
            <a:r>
              <a:rPr lang="ja-JP" altLang="en-US" b="1" spc="100" dirty="0">
                <a:latin typeface="+mj-ea"/>
                <a:ea typeface="+mj-ea"/>
              </a:rPr>
              <a:t>企業価値の最大化を通じて、経済に正しい循環を。</a:t>
            </a:r>
          </a:p>
        </p:txBody>
      </p:sp>
      <p:pic>
        <p:nvPicPr>
          <p:cNvPr id="4" name="グラフィックス 3">
            <a:extLst>
              <a:ext uri="{FF2B5EF4-FFF2-40B4-BE49-F238E27FC236}">
                <a16:creationId xmlns:a16="http://schemas.microsoft.com/office/drawing/2014/main" id="{549C4F39-0611-3D63-A333-95F8642EF8D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518588" y="3080873"/>
            <a:ext cx="5502236" cy="1090632"/>
          </a:xfrm>
          <a:prstGeom prst="rect">
            <a:avLst/>
          </a:prstGeom>
        </p:spPr>
      </p:pic>
    </p:spTree>
    <p:extLst>
      <p:ext uri="{BB962C8B-B14F-4D97-AF65-F5344CB8AC3E}">
        <p14:creationId xmlns:p14="http://schemas.microsoft.com/office/powerpoint/2010/main" val="3135229745"/>
      </p:ext>
    </p:extLst>
  </p:cSld>
  <p:clrMapOvr>
    <a:masterClrMapping/>
  </p:clrMapOvr>
</p:sld>
</file>

<file path=ppt/theme/theme1.xml><?xml version="1.0" encoding="utf-8"?>
<a:theme xmlns:a="http://schemas.openxmlformats.org/drawingml/2006/main" name="SL_2026">
  <a:themeElements>
    <a:clrScheme name="M&amp;A">
      <a:dk1>
        <a:srgbClr val="000000"/>
      </a:dk1>
      <a:lt1>
        <a:srgbClr val="FFFFFF"/>
      </a:lt1>
      <a:dk2>
        <a:srgbClr val="0B3041"/>
      </a:dk2>
      <a:lt2>
        <a:srgbClr val="E3E7E9"/>
      </a:lt2>
      <a:accent1>
        <a:srgbClr val="727F88"/>
      </a:accent1>
      <a:accent2>
        <a:srgbClr val="E1F3FB"/>
      </a:accent2>
      <a:accent3>
        <a:srgbClr val="54CCB3"/>
      </a:accent3>
      <a:accent4>
        <a:srgbClr val="0889C9"/>
      </a:accent4>
      <a:accent5>
        <a:srgbClr val="FFFFFF"/>
      </a:accent5>
      <a:accent6>
        <a:srgbClr val="FFFFFF"/>
      </a:accent6>
      <a:hlink>
        <a:srgbClr val="FFFFFF"/>
      </a:hlink>
      <a:folHlink>
        <a:srgbClr val="FFFFFF"/>
      </a:folHlink>
    </a:clrScheme>
    <a:fontScheme name="游ゴシック&amp;Arial">
      <a:majorFont>
        <a:latin typeface="Arial"/>
        <a:ea typeface="游ゴシック"/>
        <a:cs typeface=""/>
      </a:majorFont>
      <a:minorFont>
        <a:latin typeface="Arial"/>
        <a:ea typeface="游ゴシック Medium"/>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7717</TotalTime>
  <Words>3079</Words>
  <Application>Microsoft Office PowerPoint</Application>
  <PresentationFormat>ユーザー設定</PresentationFormat>
  <Paragraphs>384</Paragraphs>
  <Slides>36</Slides>
  <Notes>30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36</vt:i4>
      </vt:variant>
    </vt:vector>
  </HeadingPairs>
  <TitlesOfParts>
    <vt:vector size="40" baseType="lpstr">
      <vt:lpstr>游ゴシック</vt:lpstr>
      <vt:lpstr>Arial</vt:lpstr>
      <vt:lpstr>Wingdings</vt:lpstr>
      <vt:lpstr>SL_2026</vt:lpstr>
      <vt:lpstr>企業概要書 &lt;●●業/●●地区&gt;　</vt:lpstr>
      <vt:lpstr>はじめに</vt:lpstr>
      <vt:lpstr>PowerPoint プレゼンテーション</vt:lpstr>
      <vt:lpstr>エグゼクティブサマリー</vt:lpstr>
      <vt:lpstr>基本情報</vt:lpstr>
      <vt:lpstr>財務ハイライト（P/L）</vt:lpstr>
      <vt:lpstr>財務ハイライト（B/S）</vt:lpstr>
      <vt:lpstr>譲渡希望条件</vt:lpstr>
      <vt:lpstr>事業概要</vt:lpstr>
      <vt:lpstr>事業内容</vt:lpstr>
      <vt:lpstr>サービス概要、製品一例、工事実績、など</vt:lpstr>
      <vt:lpstr>特徴、強み、成長性等</vt:lpstr>
      <vt:lpstr>●●別売上高</vt:lpstr>
      <vt:lpstr>仕入先別取引高</vt:lpstr>
      <vt:lpstr>外注費</vt:lpstr>
      <vt:lpstr>組織、拠点、設備等</vt:lpstr>
      <vt:lpstr>組織図</vt:lpstr>
      <vt:lpstr>株主及び役員</vt:lpstr>
      <vt:lpstr>従業員</vt:lpstr>
      <vt:lpstr>拠点概要（本社）</vt:lpstr>
      <vt:lpstr>拠点概要（●●工場）</vt:lpstr>
      <vt:lpstr>不動産詳細</vt:lpstr>
      <vt:lpstr>保有設備一覧</vt:lpstr>
      <vt:lpstr>財務情報詳細</vt:lpstr>
      <vt:lpstr>貸借対照表</vt:lpstr>
      <vt:lpstr>損益計算書</vt:lpstr>
      <vt:lpstr>製造原価報告書</vt:lpstr>
      <vt:lpstr>販売費及び一般管理費</vt:lpstr>
      <vt:lpstr>Appendix</vt:lpstr>
      <vt:lpstr>沿革</vt:lpstr>
      <vt:lpstr>代表者経歴</vt:lpstr>
      <vt:lpstr>事業計画</vt:lpstr>
      <vt:lpstr>今期予算</vt:lpstr>
      <vt:lpstr>その他補足情報</vt:lpstr>
      <vt:lpstr>報酬体系</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宮本 健</dc:creator>
  <cp:lastModifiedBy>越智 真也</cp:lastModifiedBy>
  <cp:revision>176</cp:revision>
  <cp:lastPrinted>2025-10-23T01:12:16Z</cp:lastPrinted>
  <dcterms:created xsi:type="dcterms:W3CDTF">2022-11-09T11:25:01Z</dcterms:created>
  <dcterms:modified xsi:type="dcterms:W3CDTF">2026-02-10T11:59:22Z</dcterms:modified>
</cp:coreProperties>
</file>