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99" r:id="rId33"/>
    <p:sldId id="774" r:id="rId7"/>
    <p:sldId id="775" r:id="rId8"/>
    <p:sldId id="266" r:id="rId9"/>
    <p:sldId id="772" r:id="rId10"/>
    <p:sldId id="776" r:id="rId11"/>
    <p:sldId id="798" r:id="rId12"/>
    <p:sldId id="796" r:id="rId13"/>
    <p:sldId id="792" r:id="rId14"/>
    <p:sldId id="779" r:id="rId15"/>
    <p:sldId id="797" r:id="rId16"/>
    <p:sldId id="771" r:id="rId17"/>
    <p:sldId id="780" r:id="rId18"/>
    <p:sldId id="789" r:id="rId19"/>
    <p:sldId id="781" r:id="rId20"/>
    <p:sldId id="790" r:id="rId21"/>
    <p:sldId id="793" r:id="rId22"/>
    <p:sldId id="791" r:id="rId23"/>
    <p:sldId id="795" r:id="rId24"/>
    <p:sldId id="773" r:id="rId25"/>
    <p:sldId id="784" r:id="rId26"/>
    <p:sldId id="785" r:id="rId27"/>
    <p:sldId id="787" r:id="rId29"/>
    <p:sldId id="782" r:id="rId30"/>
    <p:sldId id="783" r:id="rId31"/>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3" Type="http://schemas.openxmlformats.org/officeDocument/2006/relationships/slide" Target="slides/slide32.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月別売上高（百万円）</a:t>
            </a:r>
          </a:p>
        </c:rich>
      </c:tx>
      <c:layout/>
      <c:overlay val="0"/>
    </c:title>
    <c:autoTitleDeleted val="0"/>
    <c:plotArea>
      <c:barChart>
        <c:barDir val="col"/>
        <c:grouping val="clustered"/>
        <c:ser>
          <c:idx val="0"/>
          <c:order val="0"/>
          <c:tx>
            <c:strRef>
              <c:f>Sheet1!$B$1</c:f>
              <c:strCache>
                <c:ptCount val="1"/>
                <c:pt idx="0">
                  <c:v>売上高</c:v>
                </c:pt>
              </c:strCache>
            </c:strRef>
          </c:tx>
          <c:spPr>
            <a:solidFill>
              <a:srgbClr val="0B3041"/>
            </a:solidFill>
          </c:spPr>
          <c:invertIfNegative val="0"/>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88</c:v>
                </c:pt>
                <c:pt idx="1">
                  <c:v>102</c:v>
                </c:pt>
                <c:pt idx="2">
                  <c:v>84</c:v>
                </c:pt>
                <c:pt idx="3">
                  <c:v>146</c:v>
                </c:pt>
                <c:pt idx="4">
                  <c:v>138</c:v>
                </c:pt>
                <c:pt idx="5">
                  <c:v>110</c:v>
                </c:pt>
                <c:pt idx="6">
                  <c:v>106</c:v>
                </c:pt>
                <c:pt idx="7">
                  <c:v>101</c:v>
                </c:pt>
                <c:pt idx="8">
                  <c:v>98</c:v>
                </c:pt>
                <c:pt idx="9">
                  <c:v>70</c:v>
                </c:pt>
                <c:pt idx="10">
                  <c:v>69</c:v>
                </c:pt>
                <c:pt idx="11">
                  <c:v>84</c:v>
                </c:pt>
              </c:numCache>
            </c:numRef>
          </c:val>
        </c:ser>
        <c:dLbls>
          <c:numFmt formatCode="#,##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683D-5DAD-A120-6033-B5D7A3A10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98E89A-CF82-A78D-98DD-04A02EFED8B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5B7C49F-E7C2-17E6-0809-6FDB7372C5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C2036E6-B3B5-956E-AF2B-34A9EF32DC49}"/>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8520950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emf"/><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&lt;青果卸売業／東北&gt;</a:t>
            </a:r>
            <a:r>
              <a:rPr lang="ja-JP" altLang="en-US" sz="2400" dirty="0"/>
              <a:t/>
            </a:r>
            <a:r>
              <a:rPr lang="en-US" altLang="ja-JP" sz="2400" dirty="0"/>
              <a:t/>
            </a:r>
            <a:r>
              <a:rPr lang="ja-JP" altLang="en-US" sz="2400" dirty="0"/>
              <a:t/>
            </a:r>
            <a:r>
              <a:rPr lang="en-US" altLang="ja-JP" sz="2400" dirty="0"/>
              <a:t/>
            </a:r>
            <a:r>
              <a:rPr lang="ja-JP" altLang="en-US" dirty="0"/>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tagaito_keisuke@ma-sg.co.jp</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設立。鶴岡市宝田で青果物の地方卸売市場を自ら運営し、集荷から卸売、小分け・包装、配送までを一貫して担う。売上高は約12億円で安定推移し、市場用地・施設を自社で保有する庄内地区の青果流通拠点。</a:t>
            </a: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0896" y="1481328"/>
            <a:ext cx="5861304" cy="35661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表（会社概要!B4:C17）"/>
          <p:cNvGraphicFramePr>
            <a:graphicFrameLocks noGrp="1"/>
          </p:cNvGraphicFramePr>
          <p:nvPr/>
        </p:nvGraphicFramePr>
        <p:xfrm>
          <a:off x="310896" y="1883664"/>
          <a:ext cx="5861303" cy="4089400"/>
        </p:xfrm>
        <a:graphic>
          <a:graphicData uri="http://schemas.openxmlformats.org/drawingml/2006/table">
            <a:tbl>
              <a:tblPr firstRow="0" bandRow="0">
                <a:tableStyleId>{2D5ABB26-0587-4C30-8999-92F81FD0307C}</a:tableStyleId>
              </a:tblPr>
              <a:tblGrid>
                <a:gridCol w="1325784"/>
                <a:gridCol w="4535519"/>
              </a:tblGrid>
              <a:tr h="215900">
                <a:tc>
                  <a:txBody>
                    <a:bodyPr/>
                    <a:lstStyle/>
                    <a:p>
                      <a:pPr algn="l" fontAlgn="ctr"/>
                      <a:r>
                        <a:rPr lang="ja-JP" altLang="en-US" sz="1000" b="1" i="0" dirty="0">
                          <a:solidFill>
                            <a:srgbClr val="FFFFFF"/>
                          </a:solidFill>
                          <a:latin typeface="游ゴシック"/>
                          <a:ea typeface="游ゴシック"/>
                        </a:rPr>
                        <a:t>項目</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l" fontAlgn="ctr"/>
                      <a:r>
                        <a:rPr lang="ja-JP" altLang="en-US" sz="1000" b="1" i="0" dirty="0">
                          <a:solidFill>
                            <a:srgbClr val="FFFFFF"/>
                          </a:solidFill>
                          <a:latin typeface="游ゴシック"/>
                          <a:ea typeface="游ゴシック"/>
                        </a:rPr>
                        <a:t>内容</a:t>
                      </a:r>
                      <a:endParaRPr lang="ja-JP" altLang="en-US" sz="10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1050" b="0" i="0" dirty="0">
                          <a:solidFill>
                            <a:srgbClr val="000000"/>
                          </a:solidFill>
                          <a:latin typeface="游ゴシック"/>
                          <a:ea typeface="游ゴシック"/>
                        </a:rPr>
                        <a:t>会社名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株式会社鶴岡中央青果（http://www.turu-chu.co.jp/）</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本社所在地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拠点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① 本社・市場：山形県鶴岡市宝田一丁目4番20号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② パッケージ場：山形県鶴岡市宝田一丁目5-1</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③ 倉庫敷地：山形県東田川郡庄内町長沼字宮前304-7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設立</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1973年（昭和48年）11月22日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40,000千円</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代表者</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株主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岡部 寛（1,510株／37.8%）ほか7名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代表者一族4名で75.8%を保有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571500">
                <a:tc>
                  <a:txBody>
                    <a:bodyPr/>
                    <a:lstStyle/>
                    <a:p>
                      <a:pPr algn="l" fontAlgn="ctr"/>
                      <a:r>
                        <a:rPr lang="ja-JP" altLang="en-US" sz="1050" b="0" i="0" dirty="0">
                          <a:solidFill>
                            <a:srgbClr val="000000"/>
                          </a:solidFill>
                          <a:latin typeface="游ゴシック"/>
                          <a:ea typeface="游ゴシック"/>
                        </a:rPr>
                        <a:t>事業内容</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・青果物（野菜・果実）の卸売（地方卸売市場の開設・運営）</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・パッケージ（小分け・包装）、集配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・包装資材・肥料の販売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93700">
                <a:tc>
                  <a:txBody>
                    <a:bodyPr/>
                    <a:lstStyle/>
                    <a:p>
                      <a:pPr algn="l" fontAlgn="ctr"/>
                      <a:r>
                        <a:rPr lang="ja-JP" altLang="en-US" sz="1050" b="0" i="0" dirty="0">
                          <a:solidFill>
                            <a:srgbClr val="000000"/>
                          </a:solidFill>
                          <a:latin typeface="游ゴシック"/>
                          <a:ea typeface="游ゴシック"/>
                        </a:rPr>
                        <a:t>従業員数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24名（正社員17名、嘱託・再雇用・試用3名、パート・アルバイト4名）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※2026年9月1日時点。別途、常勤役員2名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許認可等</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地方卸売市場（卸売市場法）※認定の時期・条件は要確認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1,195,893千円（2026年3月期）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調整後EBITDA</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14,549千円（過去3期平均）</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1050" b="0" i="0" dirty="0">
                          <a:solidFill>
                            <a:srgbClr val="000000"/>
                          </a:solidFill>
                          <a:latin typeface="游ゴシック"/>
                          <a:ea typeface="游ゴシック"/>
                        </a:rPr>
                        <a:t>譲渡理由</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6" name="正方形/長方形 7">
            <a:extLst>
              <a:ext uri="{FF2B5EF4-FFF2-40B4-BE49-F238E27FC236}">
                <a16:creationId xmlns:a16="http://schemas.microsoft.com/office/drawing/2014/main" id="{CBD334A9-999C-ACD4-9DD2-EF961CBA0926}"/>
              </a:ext>
            </a:extLst>
          </p:cNvPr>
          <p:cNvSpPr/>
          <p:nvPr/>
        </p:nvSpPr>
        <p:spPr>
          <a:xfrm>
            <a:off x="6355080" y="1481328"/>
            <a:ext cx="4023360" cy="458317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本件のポイント</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6355080" y="2011680"/>
            <a:ext cx="4023360" cy="4007103"/>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≪地域の青果流通インフラ≫</a:t>
            </a:r>
          </a:p>
          <a:p>
            <a:pPr>
              <a:spcAft>
                <a:spcPts val="300"/>
              </a:spcAft>
            </a:pPr>
            <a:r>
              <a:rPr lang="ja-JP" altLang="en-US" sz="900" b="0" dirty="0">
                <a:solidFill>
                  <a:sysClr val="windowText" lastClr="000000"/>
                </a:solidFill>
                <a:latin typeface="游ゴシック"/>
                <a:ea typeface="游ゴシック"/>
              </a:rPr>
              <a:t>・地方卸売市場の開設者兼卸売業者として、集荷・セリ・分荷の市場機能を自社で担う。セリ人資格者3名が在籍。</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≪安定した売上規模と分散した販路≫</a:t>
            </a:r>
          </a:p>
          <a:p>
            <a:pPr>
              <a:spcAft>
                <a:spcPts val="300"/>
              </a:spcAft>
            </a:pPr>
            <a:r>
              <a:rPr lang="ja-JP" altLang="en-US" sz="900" b="0" dirty="0">
                <a:solidFill>
                  <a:sysClr val="windowText" lastClr="000000"/>
                </a:solidFill>
                <a:latin typeface="游ゴシック"/>
                <a:ea typeface="游ゴシック"/>
              </a:rPr>
              <a:t>・売上高は1,178→1,182→1,196百万円で安定。量販店・生協・学校給食・近隣市場・仲卸業者へ販売。</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≪事業用不動産を自社保有≫</a:t>
            </a:r>
          </a:p>
          <a:p>
            <a:pPr>
              <a:spcAft>
                <a:spcPts val="300"/>
              </a:spcAft>
            </a:pPr>
            <a:r>
              <a:rPr lang="ja-JP" altLang="en-US" sz="900" b="0" dirty="0">
                <a:solidFill>
                  <a:sysClr val="windowText" lastClr="000000"/>
                </a:solidFill>
                <a:latin typeface="游ゴシック"/>
                <a:ea typeface="游ゴシック"/>
              </a:rPr>
              <a:t>・本社市場とパッケージ場は隣接する自社保有地（計4,263㎡）。賃借物件はなく地代負担がない。</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≪付加価値機能≫</a:t>
            </a:r>
          </a:p>
          <a:p>
            <a:pPr>
              <a:spcAft>
                <a:spcPts val="300"/>
              </a:spcAft>
            </a:pPr>
            <a:r>
              <a:rPr lang="ja-JP" altLang="en-US" sz="900" b="0" dirty="0">
                <a:solidFill>
                  <a:sysClr val="windowText" lastClr="000000"/>
                </a:solidFill>
                <a:latin typeface="游ゴシック"/>
                <a:ea typeface="游ゴシック"/>
              </a:rPr>
              <a:t>・パッケージ部による小分け・包装、集配、包装資材・肥料の販売を併営。</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≪確認中の論点≫</a:t>
            </a:r>
          </a:p>
          <a:p>
            <a:pPr>
              <a:spcAft>
                <a:spcPts val="300"/>
              </a:spcAft>
            </a:pPr>
            <a:r>
              <a:rPr lang="ja-JP" altLang="en-US" sz="900" b="0" dirty="0">
                <a:solidFill>
                  <a:sysClr val="windowText" lastClr="000000"/>
                </a:solidFill>
                <a:latin typeface="游ゴシック"/>
                <a:ea typeface="游ゴシック"/>
              </a:rPr>
              <a:t>・粗利率の低下（18.6%→16.6%）、長期借入金361百万円、主要建物は1981〜82年築。</a:t>
            </a:r>
          </a:p>
          <a:p>
            <a:pPr>
              <a:spcAft>
                <a:spcPts val="300"/>
              </a:spcAft>
            </a:pPr>
            <a:r>
              <a:rPr lang="ja-JP" altLang="en-US" sz="900" b="0" dirty="0">
                <a:solidFill>
                  <a:sysClr val="windowText" lastClr="000000"/>
                </a:solidFill>
                <a:latin typeface="游ゴシック"/>
                <a:ea typeface="游ゴシック"/>
              </a:rPr>
              <a:t>・社屋・市場の写真は売主様より受領後に掲載予定。</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売上高は約12億円で安定。粗利率の低下を役員報酬・賞与・償却費の減少で補い、2026/3期は営業黒字へ回復。正常収益力を示す調整後EBITDAは3期平均14,549千円。</a:t>
            </a: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5166360"/>
            <a:ext cx="3922776" cy="1828800"/>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463040"/>
            <a:ext cx="3922776" cy="36118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93392"/>
            <a:ext cx="3913632" cy="301752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・1,178,489→1,181,947→1,195,893千円と約12億円で安定。7〜8月が繁忙期（月別売上ページ参照）。</a:t>
            </a:r>
          </a:p>
          <a:p>
            <a:pPr>
              <a:spcAft>
                <a:spcPts val="300"/>
              </a:spcAft>
            </a:pPr>
            <a:r>
              <a:rPr lang="ja-JP" altLang="en-US" sz="1000" b="1" dirty="0">
                <a:solidFill>
                  <a:sysClr val="windowText" lastClr="000000"/>
                </a:solidFill>
                <a:latin typeface="游ゴシック"/>
                <a:ea typeface="游ゴシック"/>
              </a:rPr>
              <a:t>≪売上総利益≫</a:t>
            </a:r>
          </a:p>
          <a:p>
            <a:pPr>
              <a:spcAft>
                <a:spcPts val="300"/>
              </a:spcAft>
            </a:pPr>
            <a:r>
              <a:rPr lang="ja-JP" altLang="en-US" sz="900" b="0" dirty="0">
                <a:solidFill>
                  <a:sysClr val="windowText" lastClr="000000"/>
                </a:solidFill>
                <a:latin typeface="游ゴシック"/>
                <a:ea typeface="游ゴシック"/>
              </a:rPr>
              <a:t>・粗利率は18.6%→17.9%→16.6%と低下。2期で仕入高が+4.5%と売上高（+1.5%）を上回った（要因は要確認）。</a:t>
            </a:r>
          </a:p>
          <a:p>
            <a:pPr>
              <a:spcAft>
                <a:spcPts val="300"/>
              </a:spcAft>
            </a:pPr>
            <a:r>
              <a:rPr lang="ja-JP" altLang="en-US" sz="1000" b="1" dirty="0">
                <a:solidFill>
                  <a:sysClr val="windowText" lastClr="000000"/>
                </a:solidFill>
                <a:latin typeface="游ゴシック"/>
                <a:ea typeface="游ゴシック"/>
              </a:rPr>
              <a:t>≪営業利益≫</a:t>
            </a:r>
          </a:p>
          <a:p>
            <a:pPr>
              <a:spcAft>
                <a:spcPts val="300"/>
              </a:spcAft>
            </a:pPr>
            <a:r>
              <a:rPr lang="ja-JP" altLang="en-US" sz="900" b="0" dirty="0">
                <a:solidFill>
                  <a:sysClr val="windowText" lastClr="000000"/>
                </a:solidFill>
                <a:latin typeface="游ゴシック"/>
                <a:ea typeface="游ゴシック"/>
              </a:rPr>
              <a:t>・2025/3期は粗利減少で営業赤字。2026/3期は役員報酬・賞与・償却費の減少で5,860千円へ回復。</a:t>
            </a:r>
          </a:p>
          <a:p>
            <a:pPr>
              <a:spcAft>
                <a:spcPts val="300"/>
              </a:spcAft>
            </a:pPr>
            <a:r>
              <a:rPr lang="ja-JP" altLang="en-US" sz="1000" b="1" dirty="0">
                <a:solidFill>
                  <a:sysClr val="windowText" lastClr="000000"/>
                </a:solidFill>
                <a:latin typeface="游ゴシック"/>
                <a:ea typeface="游ゴシック"/>
              </a:rPr>
              <a:t>≪経常利益・当期純利益≫</a:t>
            </a:r>
          </a:p>
          <a:p>
            <a:pPr>
              <a:spcAft>
                <a:spcPts val="300"/>
              </a:spcAft>
            </a:pPr>
            <a:r>
              <a:rPr lang="ja-JP" altLang="en-US" sz="900" b="0" dirty="0">
                <a:solidFill>
                  <a:sysClr val="windowText" lastClr="000000"/>
                </a:solidFill>
                <a:latin typeface="游ゴシック"/>
                <a:ea typeface="游ゴシック"/>
              </a:rPr>
              <a:t>・受取奨励金等で経常黒字を確保。2026/3期の純損失は保険積立金取崩し（前期損益修正損20,900千円）による。</a:t>
            </a:r>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・2026年4〜7月の売上高は411,155千円（前年同期比98.1%）。</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4808" y="5239512"/>
            <a:ext cx="3913632" cy="16916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【調整項目】</a:t>
            </a:r>
          </a:p>
          <a:p>
            <a:pPr>
              <a:spcAft>
                <a:spcPts val="100"/>
              </a:spcAft>
            </a:pPr>
            <a:r>
              <a:rPr lang="ja-JP" altLang="en-US" sz="900" b="1" dirty="0">
                <a:solidFill>
                  <a:sysClr val="windowText" lastClr="000000"/>
                </a:solidFill>
                <a:latin typeface="游ゴシック"/>
                <a:ea typeface="游ゴシック"/>
              </a:rPr>
              <a:t>≪役員報酬・社会保険料≫</a:t>
            </a:r>
          </a:p>
          <a:p>
            <a:pPr>
              <a:spcAft>
                <a:spcPts val="100"/>
              </a:spcAft>
            </a:pPr>
            <a:r>
              <a:rPr lang="ja-JP" altLang="en-US" sz="850" b="0" dirty="0">
                <a:solidFill>
                  <a:sysClr val="windowText" lastClr="000000"/>
                </a:solidFill>
                <a:latin typeface="游ゴシック"/>
                <a:ea typeface="游ゴシック"/>
              </a:rPr>
              <a:t>・代表者・配偶者の報酬を新体制の役員報酬（年8,000千円と仮定）に置換</a:t>
            </a:r>
          </a:p>
          <a:p>
            <a:pPr>
              <a:spcAft>
                <a:spcPts val="100"/>
              </a:spcAft>
            </a:pPr>
            <a:r>
              <a:rPr lang="ja-JP" altLang="en-US" sz="900" b="1" dirty="0">
                <a:solidFill>
                  <a:sysClr val="windowText" lastClr="000000"/>
                </a:solidFill>
                <a:latin typeface="游ゴシック"/>
                <a:ea typeface="游ゴシック"/>
              </a:rPr>
              <a:t>≪賞与≫</a:t>
            </a:r>
          </a:p>
          <a:p>
            <a:pPr>
              <a:spcAft>
                <a:spcPts val="100"/>
              </a:spcAft>
            </a:pPr>
            <a:r>
              <a:rPr lang="ja-JP" altLang="en-US" sz="850" b="0" dirty="0">
                <a:solidFill>
                  <a:sysClr val="windowText" lastClr="000000"/>
                </a:solidFill>
                <a:latin typeface="游ゴシック"/>
                <a:ea typeface="游ゴシック"/>
              </a:rPr>
              <a:t>・2026/3期は計上なし。支給再開を前提に前2期平均を控除（仮説）</a:t>
            </a:r>
          </a:p>
          <a:p>
            <a:pPr>
              <a:spcAft>
                <a:spcPts val="100"/>
              </a:spcAft>
            </a:pPr>
            <a:r>
              <a:rPr lang="ja-JP" altLang="en-US" sz="900" b="1" dirty="0">
                <a:solidFill>
                  <a:sysClr val="windowText" lastClr="000000"/>
                </a:solidFill>
                <a:latin typeface="游ゴシック"/>
                <a:ea typeface="游ゴシック"/>
              </a:rPr>
              <a:t>≪受取奨励金・寄付金≫</a:t>
            </a:r>
          </a:p>
          <a:p>
            <a:pPr>
              <a:spcAft>
                <a:spcPts val="100"/>
              </a:spcAft>
            </a:pPr>
            <a:r>
              <a:rPr lang="ja-JP" altLang="en-US" sz="850" b="0" dirty="0">
                <a:solidFill>
                  <a:sysClr val="windowText" lastClr="000000"/>
                </a:solidFill>
                <a:latin typeface="游ゴシック"/>
                <a:ea typeface="游ゴシック"/>
              </a:rPr>
              <a:t>・経常的な受取奨励金を加算、譲渡後に発生しない寄付金を加算</a:t>
            </a:r>
          </a:p>
        </p:txBody>
      </p:sp>
      <p:graphicFrame>
        <p:nvGraphicFramePr>
          <p:cNvPr id="17" name="表（PLハイライト!B4:F25）"/>
          <p:cNvGraphicFramePr>
            <a:graphicFrameLocks noGrp="1"/>
          </p:cNvGraphicFramePr>
          <p:nvPr/>
        </p:nvGraphicFramePr>
        <p:xfrm>
          <a:off x="310896" y="1463040"/>
          <a:ext cx="6053324" cy="4546600"/>
        </p:xfrm>
        <a:graphic>
          <a:graphicData uri="http://schemas.openxmlformats.org/drawingml/2006/table">
            <a:tbl>
              <a:tblPr firstRow="0" bandRow="0">
                <a:tableStyleId>{2D5ABB26-0587-4C30-8999-92F81FD0307C}</a:tableStyleId>
              </a:tblPr>
              <a:tblGrid>
                <a:gridCol w="1664624"/>
                <a:gridCol w="1097175"/>
                <a:gridCol w="1097175"/>
                <a:gridCol w="1097175"/>
                <a:gridCol w="109717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2024年3月期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2025年3月期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1,178,489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1,181,947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1,195,893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411,155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前期比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100.3%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98.1%</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売上総利益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219,580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211,296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199,011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61,214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18.6%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17.9%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16.6%</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14.9%</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営業利益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4,757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△4,423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0.5%</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経常利益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11,317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8,068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1.0%</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税引後当期純利益</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9,107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2,929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△15,085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5,885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noFill/>
                    </a:lnB>
                    <a:noFill/>
                  </a:tcPr>
                </a:tc>
              </a:tr>
              <a:tr h="177800">
                <a:tc>
                  <a:txBody>
                    <a:bodyPr/>
                    <a:lstStyle/>
                    <a:p>
                      <a:pPr algn="r" fontAlgn="ctr"/>
                      <a:r>
                        <a:rPr lang="ja-JP" altLang="en-US" sz="700" b="0" i="1" dirty="0">
                          <a:solidFill>
                            <a:srgbClr val="000000"/>
                          </a:solidFill>
                          <a:latin typeface="游ゴシック"/>
                          <a:ea typeface="游ゴシック"/>
                        </a:rPr>
                        <a:t>利益率</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0.2%</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0" i="0" dirty="0">
                          <a:solidFill>
                            <a:srgbClr val="000000"/>
                          </a:solidFill>
                          <a:latin typeface="游ゴシック"/>
                          <a:ea typeface="游ゴシック"/>
                        </a:rPr>
                        <a:t>減価償却費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13,664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a:txBody>
                    <a:bodyPr/>
                    <a:lstStyle/>
                    <a:p>
                      <a:pPr algn="l" fontAlgn="ctr"/>
                      <a:r>
                        <a:rPr lang="ja-JP" altLang="en-US" sz="1050" b="1" i="0" dirty="0">
                          <a:solidFill>
                            <a:srgbClr val="000000"/>
                          </a:solidFill>
                          <a:latin typeface="游ゴシック"/>
                          <a:ea typeface="游ゴシック"/>
                        </a:rPr>
                        <a:t>調整項目 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5,274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5,468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△8,389</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　①役員報酬の正常化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3,082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△4,094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②賞与の正常化</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△6,724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③受取奨励金（純額）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2,179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2,315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2,418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　④寄付金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01600">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66700">
                <a:tc>
                  <a:txBody>
                    <a:bodyPr/>
                    <a:lstStyle/>
                    <a:p>
                      <a:pPr algn="l" fontAlgn="ctr"/>
                      <a:r>
                        <a:rPr lang="ja-JP" altLang="en-US" sz="1050" b="1" i="0" dirty="0">
                          <a:solidFill>
                            <a:srgbClr val="000000"/>
                          </a:solidFill>
                          <a:latin typeface="游ゴシック"/>
                          <a:ea typeface="游ゴシック"/>
                        </a:rPr>
                        <a:t>調整後EBITDA</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23,694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13,602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6,350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8" name="TextBox 17"/>
          <p:cNvSpPr txBox="1"/>
          <p:nvPr/>
        </p:nvSpPr>
        <p:spPr>
          <a:xfrm>
            <a:off x="310896" y="6119368"/>
            <a:ext cx="6053328"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※EBITDA＝営業利益＋減価償却費。調整後EBITDAの3期平均は14,549千円、直近2期平均は9,976千円。</a:t>
            </a:r>
          </a:p>
          <a:p>
            <a:pPr algn="l"/>
            <a:r>
              <a:rPr sz="800" b="0">
                <a:solidFill>
                  <a:srgbClr val="000000"/>
                </a:solidFill>
                <a:latin typeface="游ゴシック"/>
                <a:ea typeface="游ゴシック"/>
              </a:rPr>
              <a:t>※2026年4〜7月は試算表（4か月累計）。前期比は前年同期（4〜7月）比。</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552" y="4956048"/>
            <a:ext cx="4791456" cy="2039112"/>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市場用地等の土地93,137千円・建物等の事業用資産と現預金210,887千円を有する一方、長期借入金361,058千円を負う。土地の時価評価等を反映した時価純資産は55,318千円と試算。</a:t>
            </a: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552" y="1463040"/>
            <a:ext cx="4791456"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9552" y="1993392"/>
            <a:ext cx="4791456" cy="283464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≪現金及び預金≫</a:t>
            </a:r>
          </a:p>
          <a:p>
            <a:pPr>
              <a:spcAft>
                <a:spcPts val="300"/>
              </a:spcAft>
            </a:pPr>
            <a:r>
              <a:rPr lang="ja-JP" altLang="en-US" sz="900" b="0" dirty="0">
                <a:solidFill>
                  <a:sysClr val="windowText" lastClr="000000"/>
                </a:solidFill>
                <a:latin typeface="游ゴシック"/>
                <a:ea typeface="游ゴシック"/>
              </a:rPr>
              <a:t>・210,887千円：鶴岡信用金庫84,940千円、山形銀行63,122千円、荘内銀行59,634千円ほか。</a:t>
            </a:r>
          </a:p>
          <a:p>
            <a:pPr>
              <a:spcAft>
                <a:spcPts val="300"/>
              </a:spcAft>
            </a:pPr>
            <a:r>
              <a:rPr lang="ja-JP" altLang="en-US" sz="1000" b="1" dirty="0">
                <a:solidFill>
                  <a:sysClr val="windowText" lastClr="000000"/>
                </a:solidFill>
                <a:latin typeface="游ゴシック"/>
                <a:ea typeface="游ゴシック"/>
              </a:rPr>
              <a:t>≪売上債権・棚卸資産≫</a:t>
            </a:r>
          </a:p>
          <a:p>
            <a:pPr>
              <a:spcAft>
                <a:spcPts val="300"/>
              </a:spcAft>
            </a:pPr>
            <a:r>
              <a:rPr lang="ja-JP" altLang="en-US" sz="900" b="0" dirty="0">
                <a:solidFill>
                  <a:sysClr val="windowText" lastClr="000000"/>
                </a:solidFill>
                <a:latin typeface="游ゴシック"/>
                <a:ea typeface="游ゴシック"/>
              </a:rPr>
              <a:t>・売上債権20,836千円は(株)主婦の店7,194千円が最大。棚卸資産14,597千円は商品・資材（パック・容器）・地物。</a:t>
            </a:r>
          </a:p>
          <a:p>
            <a:pPr>
              <a:spcAft>
                <a:spcPts val="300"/>
              </a:spcAft>
            </a:pPr>
            <a:r>
              <a:rPr lang="ja-JP" altLang="en-US" sz="1000" b="1" dirty="0">
                <a:solidFill>
                  <a:sysClr val="windowText" lastClr="000000"/>
                </a:solidFill>
                <a:latin typeface="游ゴシック"/>
                <a:ea typeface="游ゴシック"/>
              </a:rPr>
              <a:t>≪固定資産≫</a:t>
            </a:r>
          </a:p>
          <a:p>
            <a:pPr>
              <a:spcAft>
                <a:spcPts val="300"/>
              </a:spcAft>
            </a:pPr>
            <a:r>
              <a:rPr lang="ja-JP" altLang="en-US" sz="900" b="0" dirty="0">
                <a:solidFill>
                  <a:sysClr val="windowText" lastClr="000000"/>
                </a:solidFill>
                <a:latin typeface="游ゴシック"/>
                <a:ea typeface="游ゴシック"/>
              </a:rPr>
              <a:t>・土地93,137千円：本社・市場70,757千円、パッケージ場21,380千円、倉庫敷地1,000千円。</a:t>
            </a:r>
          </a:p>
          <a:p>
            <a:pPr>
              <a:spcAft>
                <a:spcPts val="300"/>
              </a:spcAft>
            </a:pPr>
            <a:r>
              <a:rPr lang="ja-JP" altLang="en-US" sz="900" b="0" dirty="0">
                <a:solidFill>
                  <a:sysClr val="windowText" lastClr="000000"/>
                </a:solidFill>
                <a:latin typeface="游ゴシック"/>
                <a:ea typeface="游ゴシック"/>
              </a:rPr>
              <a:t>・保証金33,303千円：庄内青果物卸売精算(有)31,993千円が大半。</a:t>
            </a:r>
          </a:p>
          <a:p>
            <a:pPr>
              <a:spcAft>
                <a:spcPts val="300"/>
              </a:spcAft>
            </a:pPr>
            <a:r>
              <a:rPr lang="ja-JP" altLang="en-US" sz="1000" b="1" dirty="0">
                <a:solidFill>
                  <a:sysClr val="windowText" lastClr="000000"/>
                </a:solidFill>
                <a:latin typeface="游ゴシック"/>
                <a:ea typeface="游ゴシック"/>
              </a:rPr>
              <a:t>≪負債≫</a:t>
            </a:r>
          </a:p>
          <a:p>
            <a:pPr>
              <a:spcAft>
                <a:spcPts val="300"/>
              </a:spcAft>
            </a:pPr>
            <a:r>
              <a:rPr lang="ja-JP" altLang="en-US" sz="900" b="0" dirty="0">
                <a:solidFill>
                  <a:sysClr val="windowText" lastClr="000000"/>
                </a:solidFill>
                <a:latin typeface="游ゴシック"/>
                <a:ea typeface="游ゴシック"/>
              </a:rPr>
              <a:t>・長期借入金361,058千円：鶴岡信用金庫182,840千円、山形銀行70,250千円、日本政策金融公庫107,968千円。1年内返済額の区分なし。</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9552" y="5029200"/>
            <a:ext cx="4791456" cy="19202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【時価修正】</a:t>
            </a:r>
          </a:p>
          <a:p>
            <a:pPr>
              <a:spcAft>
                <a:spcPts val="100"/>
              </a:spcAft>
            </a:pPr>
            <a:r>
              <a:rPr lang="ja-JP" altLang="en-US" sz="900" b="1" dirty="0">
                <a:solidFill>
                  <a:sysClr val="windowText" lastClr="000000"/>
                </a:solidFill>
                <a:latin typeface="游ゴシック"/>
                <a:ea typeface="游ゴシック"/>
              </a:rPr>
              <a:t>≪土地≫</a:t>
            </a:r>
          </a:p>
          <a:p>
            <a:pPr>
              <a:spcAft>
                <a:spcPts val="100"/>
              </a:spcAft>
            </a:pPr>
            <a:r>
              <a:rPr lang="ja-JP" altLang="en-US" sz="850" b="0" dirty="0">
                <a:solidFill>
                  <a:sysClr val="windowText" lastClr="000000"/>
                </a:solidFill>
                <a:latin typeface="游ゴシック"/>
                <a:ea typeface="游ゴシック"/>
              </a:rPr>
              <a:t>・固定資産税評価額÷0.7で時価評価（△25,312千円）</a:t>
            </a:r>
          </a:p>
          <a:p>
            <a:pPr>
              <a:spcAft>
                <a:spcPts val="100"/>
              </a:spcAft>
            </a:pPr>
            <a:r>
              <a:rPr lang="ja-JP" altLang="en-US" sz="900" b="1" dirty="0">
                <a:solidFill>
                  <a:sysClr val="windowText" lastClr="000000"/>
                </a:solidFill>
                <a:latin typeface="游ゴシック"/>
                <a:ea typeface="游ゴシック"/>
              </a:rPr>
              <a:t>≪投資有価証券≫</a:t>
            </a:r>
          </a:p>
          <a:p>
            <a:pPr>
              <a:spcAft>
                <a:spcPts val="100"/>
              </a:spcAft>
            </a:pPr>
            <a:r>
              <a:rPr lang="ja-JP" altLang="en-US" sz="850" b="0" dirty="0">
                <a:solidFill>
                  <a:sysClr val="windowText" lastClr="000000"/>
                </a:solidFill>
                <a:latin typeface="游ゴシック"/>
                <a:ea typeface="游ゴシック"/>
              </a:rPr>
              <a:t>・上場株式を時価評価（+7,242千円）</a:t>
            </a:r>
          </a:p>
          <a:p>
            <a:pPr>
              <a:spcAft>
                <a:spcPts val="100"/>
              </a:spcAft>
            </a:pPr>
            <a:r>
              <a:rPr lang="ja-JP" altLang="en-US" sz="900" b="1" dirty="0">
                <a:solidFill>
                  <a:sysClr val="windowText" lastClr="000000"/>
                </a:solidFill>
                <a:latin typeface="游ゴシック"/>
                <a:ea typeface="游ゴシック"/>
              </a:rPr>
              <a:t>≪貸倒引当金・電話加入権≫</a:t>
            </a:r>
          </a:p>
          <a:p>
            <a:pPr>
              <a:spcAft>
                <a:spcPts val="100"/>
              </a:spcAft>
            </a:pPr>
            <a:r>
              <a:rPr lang="ja-JP" altLang="en-US" sz="850" b="0" dirty="0">
                <a:solidFill>
                  <a:sysClr val="windowText" lastClr="000000"/>
                </a:solidFill>
                <a:latin typeface="游ゴシック"/>
                <a:ea typeface="游ゴシック"/>
              </a:rPr>
              <a:t>・引当金戻入（+203千円）、電話加入権を減額（△2,156千円）</a:t>
            </a:r>
          </a:p>
          <a:p>
            <a:pPr>
              <a:spcAft>
                <a:spcPts val="100"/>
              </a:spcAft>
            </a:pPr>
            <a:r>
              <a:rPr lang="ja-JP" altLang="en-US" sz="900" b="1" dirty="0">
                <a:solidFill>
                  <a:sysClr val="windowText" lastClr="000000"/>
                </a:solidFill>
                <a:latin typeface="游ゴシック"/>
                <a:ea typeface="游ゴシック"/>
              </a:rPr>
              <a:t>≪税効果≫</a:t>
            </a:r>
          </a:p>
          <a:p>
            <a:pPr>
              <a:spcAft>
                <a:spcPts val="100"/>
              </a:spcAft>
            </a:pPr>
            <a:r>
              <a:rPr lang="ja-JP" altLang="en-US" sz="850" b="0" dirty="0">
                <a:solidFill>
                  <a:sysClr val="windowText" lastClr="000000"/>
                </a:solidFill>
                <a:latin typeface="游ゴシック"/>
                <a:ea typeface="游ゴシック"/>
              </a:rPr>
              <a:t>・評価差額に係る繰延税金負債（△2,531千円）</a:t>
            </a:r>
          </a:p>
          <a:p>
            <a:pPr>
              <a:spcAft>
                <a:spcPts val="100"/>
              </a:spcAft>
            </a:pPr>
            <a:r>
              <a:rPr lang="ja-JP" altLang="en-US" sz="900" b="1" dirty="0">
                <a:solidFill>
                  <a:sysClr val="windowText" lastClr="000000"/>
                </a:solidFill>
                <a:latin typeface="游ゴシック"/>
                <a:ea typeface="游ゴシック"/>
              </a:rPr>
              <a:t>✓ 簿価純資産77,873千円 → 時価純資産55,318千円</a:t>
            </a:r>
          </a:p>
        </p:txBody>
      </p:sp>
      <p:graphicFrame>
        <p:nvGraphicFramePr>
          <p:cNvPr id="14" name="表（BSハイライト!B4:F19）"/>
          <p:cNvGraphicFramePr>
            <a:graphicFrameLocks noGrp="1"/>
          </p:cNvGraphicFramePr>
          <p:nvPr/>
        </p:nvGraphicFramePr>
        <p:xfrm>
          <a:off x="338328" y="1463040"/>
          <a:ext cx="5001765" cy="4521200"/>
        </p:xfrm>
        <a:graphic>
          <a:graphicData uri="http://schemas.openxmlformats.org/drawingml/2006/table">
            <a:tbl>
              <a:tblPr firstRow="0" bandRow="0">
                <a:tableStyleId>{2D5ABB26-0587-4C30-8999-92F81FD0307C}</a:tableStyleId>
              </a:tblPr>
              <a:tblGrid>
                <a:gridCol w="1399233"/>
                <a:gridCol w="932473"/>
                <a:gridCol w="338353"/>
                <a:gridCol w="1399233"/>
                <a:gridCol w="93247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41300">
                <a:tc gridSpan="5">
                  <a:txBody>
                    <a:bodyPr/>
                    <a:lstStyle/>
                    <a:p>
                      <a:pPr algn="ctr" fontAlgn="ctr"/>
                      <a:r>
                        <a:rPr lang="ja-JP" altLang="en-US" sz="1000" b="0" i="0" dirty="0">
                          <a:solidFill>
                            <a:srgbClr val="FFFFFF"/>
                          </a:solidFill>
                          <a:latin typeface="游ゴシック"/>
                          <a:ea typeface="游ゴシック"/>
                        </a:rPr>
                        <a:t>2026年3月期末</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11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292100">
                <a:tc>
                  <a:txBody>
                    <a:bodyPr/>
                    <a:lstStyle/>
                    <a:p>
                      <a:pPr algn="l" fontAlgn="ctr"/>
                      <a:r>
                        <a:rPr lang="ja-JP" altLang="en-US" sz="1050" b="0" i="0" dirty="0">
                          <a:solidFill>
                            <a:srgbClr val="000000"/>
                          </a:solidFill>
                          <a:latin typeface="游ゴシック"/>
                          <a:ea typeface="游ゴシック"/>
                        </a:rPr>
                        <a:t>流動資産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249,705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流動負債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37,280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現金及び預金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210,887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買掛金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26,349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売上債権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20,836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6,630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棚卸資産</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14,597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未払法人税等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1,851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3,385</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2,449</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固定資産</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235,485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固定負債</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370,038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建物等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103,750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長期借入金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361,058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土地</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93,137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預り保証金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8,980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電話加入権等（無形）</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2,527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投資有価証券</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407,318</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0" i="0" dirty="0">
                          <a:solidFill>
                            <a:srgbClr val="000000"/>
                          </a:solidFill>
                          <a:latin typeface="游ゴシック"/>
                          <a:ea typeface="游ゴシック"/>
                        </a:rPr>
                        <a:t>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33,303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資本金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40,000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r>
                        <a:rPr lang="ja-JP" altLang="en-US" sz="1050" b="0" i="0" dirty="0">
                          <a:solidFill>
                            <a:srgbClr val="000000"/>
                          </a:solidFill>
                          <a:latin typeface="游ゴシック"/>
                          <a:ea typeface="游ゴシック"/>
                        </a:rPr>
                        <a:t>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168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利益剰余金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37,873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92100">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77,873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r h="292100">
                <a:tc>
                  <a:txBody>
                    <a:bodyPr/>
                    <a:lstStyle/>
                    <a:p>
                      <a:pPr algn="l" fontAlgn="ctr"/>
                      <a:r>
                        <a:rPr lang="ja-JP" altLang="en-US" sz="1050" b="1" i="0" dirty="0">
                          <a:solidFill>
                            <a:srgbClr val="000000"/>
                          </a:solidFill>
                          <a:latin typeface="游ゴシック"/>
                          <a:ea typeface="游ゴシック"/>
                        </a:rPr>
                        <a:t>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負債・純資産合計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solidFill>
                        <a:srgbClr val="0B3041"/>
                      </a:solidFill>
                    </a:lnT>
                    <a:lnB w="6350">
                      <a:solidFill>
                        <a:srgbClr val="0B3041"/>
                      </a:solidFill>
                    </a:lnB>
                    <a:solidFill>
                      <a:srgbClr val="E3E7E9"/>
                    </a:solidFill>
                  </a:tcPr>
                </a:tc>
              </a:tr>
            </a:tbl>
          </a:graphicData>
        </a:graphic>
      </p:graphicFrame>
      <p:sp>
        <p:nvSpPr>
          <p:cNvPr id="15" name="TextBox 14"/>
          <p:cNvSpPr txBox="1"/>
          <p:nvPr/>
        </p:nvSpPr>
        <p:spPr>
          <a:xfrm>
            <a:off x="338328" y="6039104"/>
            <a:ext cx="5001768"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※2026年3月期末。3期推移は「財務情報詳細｜貸借対照表」に記載。</a:t>
            </a: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1800" b="1" spc="50" dirty="0">
                <a:solidFill>
                  <a:schemeClr val="dk1"/>
                </a:solidFill>
                <a:latin typeface="+mj-ea"/>
                <a:ea typeface="+mj-ea"/>
              </a:rPr>
              <a:t>株式100％譲渡を想定（要確認）</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sz="1800"/>
              <a:t>売主様と協議中（要確認）</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27548"/>
            <a:ext cx="7074659" cy="70275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sz="1400"/>
              <a:t>従業員の継続雇用・連帯保証の解除（想定・要確認）</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400"/>
              <a:t>代表者の継続関与の期間・役職（要確認）</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sz="1800"/>
              <a:t>要確認</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ctr"/>
          <a:lstStyle/>
          <a:p>
            <a:pPr algn="ctr"/>
            <a:r>
              <a:rPr kumimoji="1" lang="ja-JP" altLang="en-US" sz="1000" b="1" spc="100" dirty="0">
                <a:solidFill>
                  <a:schemeClr val="tx1"/>
                </a:solidFill>
                <a:latin typeface="+mj-ea"/>
                <a:ea typeface="+mj-ea"/>
              </a:rPr>
              <a:t>主要外注先：なし（集配は自社の集配部が担当）</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公設庄内市場の卸売業者等からの仕入と近郷の出荷者からの集荷を、自社市場でのセリ・相対と直接販売により、地元量販店・生協・学校給食・近隣市場へ供給。</a:t>
            </a:r>
          </a:p>
        </p:txBody>
      </p:sp>
      <p:sp>
        <p:nvSpPr>
          <p:cNvPr id="36" name="TextBox 35"/>
          <p:cNvSpPr txBox="1"/>
          <p:nvPr/>
        </p:nvSpPr>
        <p:spPr>
          <a:xfrm>
            <a:off x="50292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丸果庄内青果(株)</a:t>
            </a:r>
          </a:p>
          <a:p>
            <a:pPr algn="l">
              <a:spcAft>
                <a:spcPts val="300"/>
              </a:spcAft>
            </a:pPr>
            <a:r>
              <a:rPr sz="900" b="0">
                <a:solidFill>
                  <a:srgbClr val="000000"/>
                </a:solidFill>
                <a:latin typeface="游ゴシック"/>
                <a:ea typeface="游ゴシック"/>
              </a:rPr>
              <a:t>■ (株)庄果</a:t>
            </a:r>
          </a:p>
          <a:p>
            <a:pPr algn="l">
              <a:spcAft>
                <a:spcPts val="300"/>
              </a:spcAft>
            </a:pPr>
            <a:r>
              <a:rPr sz="900" b="0">
                <a:solidFill>
                  <a:srgbClr val="000000"/>
                </a:solidFill>
                <a:latin typeface="游ゴシック"/>
                <a:ea typeface="游ゴシック"/>
              </a:rPr>
              <a:t>　（公設庄内青果物地方卸売市場：三川町）</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(株)マルト直治郎商店</a:t>
            </a:r>
          </a:p>
          <a:p>
            <a:pPr algn="l">
              <a:spcAft>
                <a:spcPts val="300"/>
              </a:spcAft>
            </a:pPr>
            <a:r>
              <a:rPr sz="900" b="0">
                <a:solidFill>
                  <a:srgbClr val="000000"/>
                </a:solidFill>
                <a:latin typeface="游ゴシック"/>
                <a:ea typeface="游ゴシック"/>
              </a:rPr>
              <a:t>■ 成田食品(株)（福島県）</a:t>
            </a:r>
          </a:p>
          <a:p>
            <a:pPr algn="l">
              <a:spcAft>
                <a:spcPts val="300"/>
              </a:spcAft>
            </a:pPr>
            <a:r>
              <a:rPr sz="900" b="0">
                <a:solidFill>
                  <a:srgbClr val="000000"/>
                </a:solidFill>
                <a:latin typeface="游ゴシック"/>
                <a:ea typeface="游ゴシック"/>
              </a:rPr>
              <a:t>■ (株)ファーマインド（東京都）</a:t>
            </a:r>
          </a:p>
          <a:p>
            <a:pPr algn="l">
              <a:spcAft>
                <a:spcPts val="300"/>
              </a:spcAft>
            </a:pPr>
            <a:r>
              <a:rPr sz="900" b="0">
                <a:solidFill>
                  <a:srgbClr val="000000"/>
                </a:solidFill>
                <a:latin typeface="游ゴシック"/>
                <a:ea typeface="游ゴシック"/>
              </a:rPr>
              <a:t>■ (株)東根農産センター</a:t>
            </a:r>
          </a:p>
          <a:p>
            <a:pPr algn="l">
              <a:spcAft>
                <a:spcPts val="300"/>
              </a:spcAft>
            </a:pPr>
            <a:r>
              <a:rPr sz="900" b="0">
                <a:solidFill>
                  <a:srgbClr val="000000"/>
                </a:solidFill>
                <a:latin typeface="游ゴシック"/>
                <a:ea typeface="游ゴシック"/>
              </a:rPr>
              <a:t>■ 近郷の生産者等（委託出荷）※推察</a:t>
            </a:r>
          </a:p>
        </p:txBody>
      </p:sp>
      <p:sp>
        <p:nvSpPr>
          <p:cNvPr id="37" name="TextBox 36"/>
          <p:cNvSpPr txBox="1"/>
          <p:nvPr/>
        </p:nvSpPr>
        <p:spPr>
          <a:xfrm>
            <a:off x="813816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(株)主婦の店（量販店）</a:t>
            </a:r>
          </a:p>
          <a:p>
            <a:pPr algn="l">
              <a:spcAft>
                <a:spcPts val="300"/>
              </a:spcAft>
            </a:pPr>
            <a:r>
              <a:rPr sz="900" b="0">
                <a:solidFill>
                  <a:srgbClr val="000000"/>
                </a:solidFill>
                <a:latin typeface="游ゴシック"/>
                <a:ea typeface="游ゴシック"/>
              </a:rPr>
              <a:t>■ 生活協同組合共立社</a:t>
            </a:r>
          </a:p>
          <a:p>
            <a:pPr algn="l">
              <a:spcAft>
                <a:spcPts val="300"/>
              </a:spcAft>
            </a:pPr>
            <a:r>
              <a:rPr sz="900" b="0">
                <a:solidFill>
                  <a:srgbClr val="000000"/>
                </a:solidFill>
                <a:latin typeface="游ゴシック"/>
                <a:ea typeface="游ゴシック"/>
              </a:rPr>
              <a:t>■ 生協連合会アイチョイス</a:t>
            </a:r>
          </a:p>
          <a:p>
            <a:pPr algn="l">
              <a:spcAft>
                <a:spcPts val="300"/>
              </a:spcAft>
            </a:pPr>
            <a:r>
              <a:rPr sz="900" b="0">
                <a:solidFill>
                  <a:srgbClr val="000000"/>
                </a:solidFill>
                <a:latin typeface="游ゴシック"/>
                <a:ea typeface="游ゴシック"/>
              </a:rPr>
              <a:t>■ 小島商店</a:t>
            </a:r>
          </a:p>
          <a:p>
            <a:pPr algn="l">
              <a:spcAft>
                <a:spcPts val="300"/>
              </a:spcAft>
            </a:pPr>
            <a:r>
              <a:rPr sz="900" b="0">
                <a:solidFill>
                  <a:srgbClr val="000000"/>
                </a:solidFill>
                <a:latin typeface="游ゴシック"/>
                <a:ea typeface="游ゴシック"/>
              </a:rPr>
              <a:t>■ 給食センター</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元青果</a:t>
            </a:r>
          </a:p>
          <a:p>
            <a:pPr algn="l">
              <a:spcAft>
                <a:spcPts val="300"/>
              </a:spcAft>
            </a:pPr>
            <a:r>
              <a:rPr sz="900" b="0">
                <a:solidFill>
                  <a:srgbClr val="000000"/>
                </a:solidFill>
                <a:latin typeface="游ゴシック"/>
                <a:ea typeface="游ゴシック"/>
              </a:rPr>
              <a:t>■ 市場の仲卸業者・買参人</a:t>
            </a:r>
          </a:p>
        </p:txBody>
      </p:sp>
      <p:sp>
        <p:nvSpPr>
          <p:cNvPr id="38" name="Rectangle 37"/>
          <p:cNvSpPr/>
          <p:nvPr/>
        </p:nvSpPr>
        <p:spPr>
          <a:xfrm>
            <a:off x="3154680" y="2084831"/>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青果卸売事業（買付販売）</a:t>
            </a:r>
          </a:p>
          <a:p>
            <a:pPr algn="l"/>
            <a:r>
              <a:rPr sz="900" b="0">
                <a:solidFill>
                  <a:srgbClr val="000000"/>
                </a:solidFill>
                <a:latin typeface="游ゴシック"/>
                <a:ea typeface="游ゴシック"/>
              </a:rPr>
              <a:t>野菜・果実を買い付けて販売（総額計上）</a:t>
            </a:r>
          </a:p>
        </p:txBody>
      </p:sp>
      <p:sp>
        <p:nvSpPr>
          <p:cNvPr id="39" name="Rectangle 38"/>
          <p:cNvSpPr/>
          <p:nvPr/>
        </p:nvSpPr>
        <p:spPr>
          <a:xfrm>
            <a:off x="3154680" y="2926079"/>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青果卸売事業（受託販売）</a:t>
            </a:r>
          </a:p>
          <a:p>
            <a:pPr algn="l"/>
            <a:r>
              <a:rPr sz="900" b="0">
                <a:solidFill>
                  <a:srgbClr val="000000"/>
                </a:solidFill>
                <a:latin typeface="游ゴシック"/>
                <a:ea typeface="游ゴシック"/>
              </a:rPr>
              <a:t>出荷者から委託を受けセリ・相対で販売（手数料のみ純額計上）</a:t>
            </a:r>
          </a:p>
        </p:txBody>
      </p:sp>
      <p:sp>
        <p:nvSpPr>
          <p:cNvPr id="40" name="Rectangle 39"/>
          <p:cNvSpPr/>
          <p:nvPr/>
        </p:nvSpPr>
        <p:spPr>
          <a:xfrm>
            <a:off x="3154680" y="3767328"/>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関連サービス</a:t>
            </a:r>
          </a:p>
          <a:p>
            <a:pPr algn="l"/>
            <a:r>
              <a:rPr sz="900" b="0">
                <a:solidFill>
                  <a:srgbClr val="000000"/>
                </a:solidFill>
                <a:latin typeface="游ゴシック"/>
                <a:ea typeface="游ゴシック"/>
              </a:rPr>
              <a:t>パッケージ（小分け・包装）・集配・センター業務（推察）</a:t>
            </a:r>
          </a:p>
        </p:txBody>
      </p:sp>
      <p:sp>
        <p:nvSpPr>
          <p:cNvPr id="41" name="Rectangle 40"/>
          <p:cNvSpPr/>
          <p:nvPr/>
        </p:nvSpPr>
        <p:spPr>
          <a:xfrm>
            <a:off x="3154680" y="4608576"/>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資材・肥料販売</a:t>
            </a:r>
          </a:p>
          <a:p>
            <a:pPr algn="l"/>
            <a:r>
              <a:rPr sz="900" b="0">
                <a:solidFill>
                  <a:srgbClr val="000000"/>
                </a:solidFill>
                <a:latin typeface="游ゴシック"/>
                <a:ea typeface="游ゴシック"/>
              </a:rPr>
              <a:t>包装資材・肥料を生産者等へ販売</a:t>
            </a:r>
          </a:p>
        </p:txBody>
      </p:sp>
      <p:sp>
        <p:nvSpPr>
          <p:cNvPr id="42" name="TextBox 41"/>
          <p:cNvSpPr txBox="1"/>
          <p:nvPr/>
        </p:nvSpPr>
        <p:spPr>
          <a:xfrm>
            <a:off x="8138160" y="5989320"/>
            <a:ext cx="2057400" cy="658368"/>
          </a:xfrm>
          <a:prstGeom prst="rect">
            <a:avLst/>
          </a:prstGeom>
          <a:noFill/>
        </p:spPr>
        <p:txBody>
          <a:bodyPr wrap="square" lIns="0" rIns="0" tIns="0" bIns="0" anchor="t">
            <a:spAutoFit/>
          </a:bodyPr>
          <a:lstStyle/>
          <a:p>
            <a:pPr algn="l"/>
            <a:r>
              <a:rPr sz="750" b="0">
                <a:solidFill>
                  <a:srgbClr val="000000"/>
                </a:solidFill>
                <a:latin typeface="游ゴシック"/>
                <a:ea typeface="游ゴシック"/>
              </a:rPr>
              <a:t>※期末売掛金・買掛金</a:t>
            </a:r>
          </a:p>
          <a:p>
            <a:pPr algn="l"/>
            <a:r>
              <a:rPr sz="750" b="0">
                <a:solidFill>
                  <a:srgbClr val="000000"/>
                </a:solidFill>
                <a:latin typeface="游ゴシック"/>
                <a:ea typeface="游ゴシック"/>
              </a:rPr>
              <a:t>　残高の上位先。取引の</a:t>
            </a:r>
          </a:p>
          <a:p>
            <a:pPr algn="l"/>
            <a:r>
              <a:rPr sz="750" b="0">
                <a:solidFill>
                  <a:srgbClr val="000000"/>
                </a:solidFill>
                <a:latin typeface="游ゴシック"/>
                <a:ea typeface="游ゴシック"/>
              </a:rPr>
              <a:t>　実態（買付・受託の別、</a:t>
            </a:r>
          </a:p>
          <a:p>
            <a:pPr algn="l"/>
            <a:r>
              <a:rPr sz="750" b="0">
                <a:solidFill>
                  <a:srgbClr val="000000"/>
                </a:solidFill>
                <a:latin typeface="游ゴシック"/>
                <a:ea typeface="游ゴシック"/>
              </a:rPr>
              <a:t>　取扱品目）は要確認。</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事業の仕組みと収益源</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Rectangle 3"/>
          <p:cNvSpPr/>
          <p:nvPr/>
        </p:nvSpPr>
        <p:spPr>
          <a:xfrm>
            <a:off x="448056" y="178308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出荷者・仕入先</a:t>
            </a:r>
          </a:p>
        </p:txBody>
      </p:sp>
      <p:sp>
        <p:nvSpPr>
          <p:cNvPr id="5" name="Rectangle 4"/>
          <p:cNvSpPr/>
          <p:nvPr/>
        </p:nvSpPr>
        <p:spPr>
          <a:xfrm>
            <a:off x="448056" y="205740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生産者・農協（近郷）</a:t>
            </a:r>
          </a:p>
          <a:p>
            <a:pPr algn="ctr"/>
            <a:r>
              <a:rPr sz="900" b="0">
                <a:solidFill>
                  <a:srgbClr val="000000"/>
                </a:solidFill>
                <a:latin typeface="游ゴシック"/>
                <a:ea typeface="游ゴシック"/>
              </a:rPr>
              <a:t>他市場の卸売業者</a:t>
            </a:r>
          </a:p>
          <a:p>
            <a:pPr algn="ctr"/>
            <a:r>
              <a:rPr sz="900" b="0">
                <a:solidFill>
                  <a:srgbClr val="000000"/>
                </a:solidFill>
                <a:latin typeface="游ゴシック"/>
                <a:ea typeface="游ゴシック"/>
              </a:rPr>
              <a:t>産地業者 等</a:t>
            </a:r>
          </a:p>
        </p:txBody>
      </p:sp>
      <p:sp>
        <p:nvSpPr>
          <p:cNvPr id="6" name="Rectangle 5"/>
          <p:cNvSpPr/>
          <p:nvPr/>
        </p:nvSpPr>
        <p:spPr>
          <a:xfrm>
            <a:off x="3063240" y="1554480"/>
            <a:ext cx="28346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株式会社鶴岡中央青果</a:t>
            </a:r>
          </a:p>
        </p:txBody>
      </p:sp>
      <p:sp>
        <p:nvSpPr>
          <p:cNvPr id="7" name="Rectangle 6"/>
          <p:cNvSpPr/>
          <p:nvPr/>
        </p:nvSpPr>
        <p:spPr>
          <a:xfrm>
            <a:off x="3063240" y="1828800"/>
            <a:ext cx="2834640" cy="11887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地方卸売市場の開設者兼卸売業者</a:t>
            </a:r>
          </a:p>
          <a:p>
            <a:pPr algn="ctr"/>
            <a:r>
              <a:rPr sz="900" b="0">
                <a:solidFill>
                  <a:srgbClr val="000000"/>
                </a:solidFill>
                <a:latin typeface="游ゴシック"/>
                <a:ea typeface="游ゴシック"/>
              </a:rPr>
              <a:t>（鶴岡市宝田）</a:t>
            </a:r>
          </a:p>
        </p:txBody>
      </p:sp>
      <p:sp>
        <p:nvSpPr>
          <p:cNvPr id="8" name="Rectangle 7"/>
          <p:cNvSpPr/>
          <p:nvPr/>
        </p:nvSpPr>
        <p:spPr>
          <a:xfrm>
            <a:off x="6446520" y="141732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仲卸業者・買参人</a:t>
            </a:r>
          </a:p>
        </p:txBody>
      </p:sp>
      <p:sp>
        <p:nvSpPr>
          <p:cNvPr id="9" name="Rectangle 8"/>
          <p:cNvSpPr/>
          <p:nvPr/>
        </p:nvSpPr>
        <p:spPr>
          <a:xfrm>
            <a:off x="6446520" y="169164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市場内でセリ・相対により購入</a:t>
            </a:r>
          </a:p>
        </p:txBody>
      </p:sp>
      <p:sp>
        <p:nvSpPr>
          <p:cNvPr id="10" name="Rectangle 9"/>
          <p:cNvSpPr/>
          <p:nvPr/>
        </p:nvSpPr>
        <p:spPr>
          <a:xfrm>
            <a:off x="6446520" y="251460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量販店・生協・給食 等</a:t>
            </a:r>
          </a:p>
        </p:txBody>
      </p:sp>
      <p:sp>
        <p:nvSpPr>
          <p:cNvPr id="11" name="Rectangle 10"/>
          <p:cNvSpPr/>
          <p:nvPr/>
        </p:nvSpPr>
        <p:spPr>
          <a:xfrm>
            <a:off x="6446520" y="278892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当社から直接販売</a:t>
            </a:r>
          </a:p>
        </p:txBody>
      </p:sp>
      <p:cxnSp>
        <p:nvCxnSpPr>
          <p:cNvPr id="12" name="Connector 11"/>
          <p:cNvCxnSpPr/>
          <p:nvPr/>
        </p:nvCxnSpPr>
        <p:spPr>
          <a:xfrm>
            <a:off x="2596896" y="2286000"/>
            <a:ext cx="4206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43600" y="1874519"/>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2926080"/>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732520" y="1417320"/>
            <a:ext cx="1600200" cy="1874519"/>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850" b="1">
                <a:solidFill>
                  <a:srgbClr val="000000"/>
                </a:solidFill>
                <a:latin typeface="游ゴシック"/>
                <a:ea typeface="游ゴシック"/>
              </a:rPr>
              <a:t>部門構成</a:t>
            </a:r>
          </a:p>
          <a:p>
            <a:pPr algn="l"/>
            <a:r>
              <a:rPr sz="850" b="0">
                <a:solidFill>
                  <a:srgbClr val="000000"/>
                </a:solidFill>
                <a:latin typeface="游ゴシック"/>
                <a:ea typeface="游ゴシック"/>
              </a:rPr>
              <a:t>野菜営業部／果実営業部／近郷部／集配部／パッケージ部／生花部／資材部／総務部</a:t>
            </a:r>
          </a:p>
        </p:txBody>
      </p:sp>
      <p:graphicFrame>
        <p:nvGraphicFramePr>
          <p:cNvPr id="16" name="表（売上構成!B4:E11）"/>
          <p:cNvGraphicFramePr>
            <a:graphicFrameLocks noGrp="1"/>
          </p:cNvGraphicFramePr>
          <p:nvPr/>
        </p:nvGraphicFramePr>
        <p:xfrm>
          <a:off x="448056" y="3611880"/>
          <a:ext cx="9793222" cy="1993900"/>
        </p:xfrm>
        <a:graphic>
          <a:graphicData uri="http://schemas.openxmlformats.org/drawingml/2006/table">
            <a:tbl>
              <a:tblPr firstRow="0" bandRow="0">
                <a:tableStyleId>{2D5ABB26-0587-4C30-8999-92F81FD0307C}</a:tableStyleId>
              </a:tblPr>
              <a:tblGrid>
                <a:gridCol w="1738742"/>
                <a:gridCol w="1052702"/>
                <a:gridCol w="732372"/>
                <a:gridCol w="626940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収益区分</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（2026年4〜7月）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金額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構成比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商品売上高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375,961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91.4%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青果物の販売（買付販売は総額、受託販売は2019年10月以降手数料のみの純額で計上）</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委託手数料収入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12,564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受託販売の手数料（純額計上）</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センター費収入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12,273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(株)主婦の店等からのセンター費（物流センター業務の受託と推察。要確認）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資材売上高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10,820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包装資材・肥料等の販売</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0" i="0" dirty="0">
                          <a:solidFill>
                            <a:srgbClr val="000000"/>
                          </a:solidFill>
                          <a:latin typeface="游ゴシック"/>
                          <a:ea typeface="游ゴシック"/>
                        </a:rPr>
                        <a:t>売上割戻</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△462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△0.1%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1" i="0" dirty="0">
                          <a:solidFill>
                            <a:srgbClr val="000000"/>
                          </a:solidFill>
                          <a:latin typeface="游ゴシック"/>
                          <a:ea typeface="游ゴシック"/>
                        </a:rPr>
                        <a:t>売上高 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411,155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7" name="TextBox 16"/>
          <p:cNvSpPr txBox="1"/>
          <p:nvPr/>
        </p:nvSpPr>
        <p:spPr>
          <a:xfrm>
            <a:off x="448056" y="5697220"/>
            <a:ext cx="9793224"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※決算書では売上高を「商品売上高」1本で表示しているため、収益源別の内訳は試算表（2026年4〜7月）で代替。年度別内訳は要確認。</a:t>
            </a:r>
          </a:p>
          <a:p>
            <a:pPr algn="l"/>
            <a:r>
              <a:rPr sz="800" b="0">
                <a:solidFill>
                  <a:srgbClr val="000000"/>
                </a:solidFill>
                <a:latin typeface="游ゴシック"/>
                <a:ea typeface="游ゴシック"/>
              </a:rPr>
              <a:t>※上記のほか、仲卸業者・買参人からのゴミ処理料・冷蔵庫保管料、受取奨励金（完納奨励金等）を営業外収益に計上。卸売市場法上の認定状況、仲卸業者数・買参人数は要確認。</a:t>
            </a:r>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市場機能を一社で保有（開設者兼卸売業者）</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集荷・セリ・分荷の市場機能を自社で担い、地域の青果流通インフラとして機能。セリ人資格者3名、販路は量販店・生協・学校給食・近隣市場・仲卸業者に分散。</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自社保有の市場用地・施設と地域特産品の取扱い</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本社市場（3,100㎡）とパッケージ場（901㎡）が隣接し地代負担なし。Webサイトでだだちゃ豆・庄内柿・メロン・和梨/洋梨等の特産品を紹介（取扱実績は要確認）。</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（仮説）集荷力・物流拠点を活かした収益改善</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粗利率は18.6%→16.6%と低下しており、仕入価格の転嫁や品目構成の見直し、量販店向けセンター業務・パッケージの拡大に改善余地があると想定。主要棟は1981〜82年築で更新投資の見積りが必要。</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
        <p:nvSpPr>
          <p:cNvPr id="32" name="TextBox 31"/>
          <p:cNvSpPr txBox="1"/>
          <p:nvPr/>
        </p:nvSpPr>
        <p:spPr>
          <a:xfrm>
            <a:off x="448056" y="6784848"/>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※「仮説」は資料から推定した論点であり、売主様への確認前の内容です。</a:t>
            </a: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主要得意先の3期推移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(株)主婦の店を筆頭に、地元量販店・生協・学校給食・近隣市場へ販売。売掛金残高の上位先は3期を通じて概ね同じ顔ぶれであり、長期・安定的な取引関係にある。</a:t>
            </a:r>
          </a:p>
        </p:txBody>
      </p:sp>
      <p:graphicFrame>
        <p:nvGraphicFramePr>
          <p:cNvPr id="14" name="表（取引先!B4:L19）"/>
          <p:cNvGraphicFramePr>
            <a:graphicFrameLocks noGrp="1"/>
          </p:cNvGraphicFramePr>
          <p:nvPr/>
        </p:nvGraphicFramePr>
        <p:xfrm>
          <a:off x="310896" y="1481328"/>
          <a:ext cx="10058391" cy="41275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得意先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(株)主婦の店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食品スーパー（推察）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7,625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7,194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小島商店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青果小売（推察）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3,566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1,610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2,482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青果卸（長井中央青果地方卸売市場）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3,039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4,185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1,785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生活協同組合共立社</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1,110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2,034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1,932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給食センター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鶴岡市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学校給食（推察）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793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1,121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元青果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公設庄内青果物地方卸売市場内事業者（推察）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1,019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746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生活協同組合連合会アイチョイス</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名古屋市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生協連合会</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8</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(株)みどりの里</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愛知県豊田市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503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9</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(有)新庄丸果青果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新庄市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10</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(株)やま高商店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仙台市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862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みどり水産</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2,291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4,958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22,524</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23,166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20,836</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5745987"/>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主要仕入先の3期推移</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公設庄内青果物地方卸売市場（三川町）の卸売業者2社と長井中央青果(株)で買掛金残高の過半を占める。県内外の市場・産地業者からも仕入れ、品揃えを確保している。</a:t>
            </a:r>
          </a:p>
        </p:txBody>
      </p:sp>
      <p:graphicFrame>
        <p:nvGraphicFramePr>
          <p:cNvPr id="16" name="表（仕入先!B4:L15）"/>
          <p:cNvGraphicFramePr>
            <a:graphicFrameLocks noGrp="1"/>
          </p:cNvGraphicFramePr>
          <p:nvPr/>
        </p:nvGraphicFramePr>
        <p:xfrm>
          <a:off x="310896" y="1481328"/>
          <a:ext cx="10058391" cy="3009900"/>
        </p:xfrm>
        <a:graphic>
          <a:graphicData uri="http://schemas.openxmlformats.org/drawingml/2006/table">
            <a:tbl>
              <a:tblPr firstRow="0" bandRow="0">
                <a:tableStyleId>{2D5ABB26-0587-4C30-8999-92F81FD0307C}</a:tableStyleId>
              </a:tblPr>
              <a:tblGrid>
                <a:gridCol w="300284"/>
                <a:gridCol w="1925576"/>
                <a:gridCol w="939305"/>
                <a:gridCol w="2066668"/>
                <a:gridCol w="732462"/>
                <a:gridCol w="563289"/>
                <a:gridCol w="732462"/>
                <a:gridCol w="563289"/>
                <a:gridCol w="732462"/>
                <a:gridCol w="563289"/>
                <a:gridCol w="93930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rowSpan="2">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仕入先</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本社所在地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00" b="0" i="0" dirty="0">
                          <a:solidFill>
                            <a:srgbClr val="FFFFFF"/>
                          </a:solidFill>
                          <a:latin typeface="游ゴシック"/>
                          <a:ea typeface="游ゴシック"/>
                        </a:rPr>
                        <a:t>業種等</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00" b="0" i="0" dirty="0">
                          <a:solidFill>
                            <a:srgbClr val="FFFFFF"/>
                          </a:solidFill>
                          <a:latin typeface="游ゴシック"/>
                          <a:ea typeface="游ゴシック"/>
                        </a:rPr>
                        <a:t>2024年3月期末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2025年3月期末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00" b="0" i="0" dirty="0">
                          <a:solidFill>
                            <a:srgbClr val="FFFFFF"/>
                          </a:solidFill>
                          <a:latin typeface="游ゴシック"/>
                          <a:ea typeface="游ゴシック"/>
                        </a:rPr>
                        <a:t>2026年3月期末</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00" b="0" i="0" dirty="0">
                          <a:solidFill>
                            <a:srgbClr val="FFFFFF"/>
                          </a:solidFill>
                          <a:latin typeface="游ゴシック"/>
                          <a:ea typeface="游ゴシック"/>
                        </a:rPr>
                        <a:t>備考</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残高</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構成比</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丸果庄内青果(株)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6,569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5,733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12,426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長井中央青果(株)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長井市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1,308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7.2%</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2,087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10.5%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7,398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28.1%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(株)庄果</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青果卸（公設庄内青果物地方卸売市場）</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3,611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4,496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22.5%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(株)マルト直治郎商店</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三川町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1,229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1,954</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9.8%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677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成田食品(株)</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福島県相馬市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699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615</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2.3%</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(株)ファーマインド</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東京都千代田区</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青果流通（バナナ等・推察）</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707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2.7%</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(株)東根農産センター</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東根市</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548</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79400">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00" b="0" i="0" dirty="0">
                          <a:solidFill>
                            <a:srgbClr val="000000"/>
                          </a:solidFill>
                          <a:latin typeface="游ゴシック"/>
                          <a:ea typeface="游ゴシック"/>
                        </a:rPr>
                        <a:t>その他</a:t>
                      </a: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4,870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26.9%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4,986</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25.0%</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3,979</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00" b="0" i="0" dirty="0">
                          <a:solidFill>
                            <a:srgbClr val="000000"/>
                          </a:solidFill>
                          <a:latin typeface="Arial"/>
                          <a:ea typeface="游ゴシック Medium"/>
                        </a:rPr>
                        <a:t>15.1%</a:t>
                      </a:r>
                      <a:endParaRPr lang="ja-JP" altLang="en-US" sz="9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03200">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900" b="1" i="0" dirty="0">
                          <a:solidFill>
                            <a:srgbClr val="000000"/>
                          </a:solidFill>
                          <a:latin typeface="游ゴシック"/>
                          <a:ea typeface="游ゴシック"/>
                        </a:rPr>
                        <a:t>合計</a:t>
                      </a: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18,128</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19,955</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26,349</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00" b="1" i="0" dirty="0">
                          <a:solidFill>
                            <a:srgbClr val="000000"/>
                          </a:solidFill>
                          <a:latin typeface="Arial"/>
                          <a:ea typeface="游ゴシック Medium"/>
                        </a:rPr>
                        <a:t>100.0%</a:t>
                      </a:r>
                      <a:endParaRPr lang="ja-JP" altLang="en-US" sz="9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7" name="TextBox 16"/>
          <p:cNvSpPr txBox="1"/>
          <p:nvPr/>
        </p:nvSpPr>
        <p:spPr>
          <a:xfrm>
            <a:off x="310896" y="46283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※勘定科目内訳明細書の期末残高（50万円以上の相手先を個別記載）。年間取引高ではないため取引規模の順位とは異なる可能性がある（年間取引高は資料依頼中）。</a:t>
            </a:r>
          </a:p>
          <a:p>
            <a:pPr algn="l"/>
            <a:r>
              <a:rPr sz="800" b="0">
                <a:solidFill>
                  <a:srgbClr val="000000"/>
                </a:solidFill>
                <a:latin typeface="游ゴシック"/>
                <a:ea typeface="游ゴシック"/>
              </a:rPr>
              <a:t>※業種等は公開情報等からの推察を含む。</a:t>
            </a:r>
          </a:p>
        </p:txBody>
      </p:sp>
    </p:spTree>
    <p:extLst>
      <p:ext uri="{BB962C8B-B14F-4D97-AF65-F5344CB8AC3E}">
        <p14:creationId xmlns:p14="http://schemas.microsoft.com/office/powerpoint/2010/main" val="196296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月別売上高（2026/3期）</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7〜8月に売上が集中（7月146百万円）し、1〜2月は約70百万円と約2倍の季節変動がある。繁忙期には売上債権・在庫が膨らむ。</a:t>
            </a:r>
          </a:p>
        </p:txBody>
      </p:sp>
      <p:graphicFrame>
        <p:nvGraphicFramePr>
          <p:cNvPr id="14" name="Chart 13"/>
          <p:cNvGraphicFramePr>
            <a:graphicFrameLocks noGrp="1"/>
          </p:cNvGraphicFramePr>
          <p:nvPr/>
        </p:nvGraphicFramePr>
        <p:xfrm>
          <a:off x="310896" y="1417320"/>
          <a:ext cx="6675120" cy="3429000"/>
        </p:xfrm>
        <a:graphic>
          <a:graphicData uri="http://schemas.openxmlformats.org/drawingml/2006/chart">
            <c:chart xmlns:c="http://schemas.openxmlformats.org/drawingml/2006/chart" r:id="rId4"/>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7178040" y="1417320"/>
            <a:ext cx="3154680"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7178040" y="1874519"/>
            <a:ext cx="3154680" cy="292608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≪季節性≫</a:t>
            </a:r>
          </a:p>
          <a:p>
            <a:pPr>
              <a:spcAft>
                <a:spcPts val="300"/>
              </a:spcAft>
            </a:pPr>
            <a:r>
              <a:rPr lang="ja-JP" altLang="en-US" sz="900" b="0" dirty="0">
                <a:solidFill>
                  <a:sysClr val="windowText" lastClr="000000"/>
                </a:solidFill>
                <a:latin typeface="游ゴシック"/>
                <a:ea typeface="游ゴシック"/>
              </a:rPr>
              <a:t>・月平均100百万円に対し、7月は1.47倍、8月は1.39倍。</a:t>
            </a:r>
          </a:p>
          <a:p>
            <a:pPr>
              <a:spcAft>
                <a:spcPts val="300"/>
              </a:spcAft>
            </a:pPr>
            <a:r>
              <a:rPr lang="ja-JP" altLang="en-US" sz="900" b="0" dirty="0">
                <a:solidFill>
                  <a:sysClr val="windowText" lastClr="000000"/>
                </a:solidFill>
                <a:latin typeface="游ゴシック"/>
                <a:ea typeface="游ゴシック"/>
              </a:rPr>
              <a:t>・だだちゃ豆（7〜9月）・庄内砂丘メロン等の地場産品の出荷最盛期と推察（品目別売上は要確認）。</a:t>
            </a:r>
          </a:p>
          <a:p>
            <a:pPr>
              <a:spcAft>
                <a:spcPts val="300"/>
              </a:spcAft>
            </a:pPr>
            <a:r>
              <a:rPr lang="ja-JP" altLang="en-US" sz="1000" b="1" dirty="0">
                <a:solidFill>
                  <a:sysClr val="windowText" lastClr="000000"/>
                </a:solidFill>
                <a:latin typeface="游ゴシック"/>
                <a:ea typeface="游ゴシック"/>
              </a:rPr>
              <a:t>≪運転資金≫</a:t>
            </a:r>
          </a:p>
          <a:p>
            <a:pPr>
              <a:spcAft>
                <a:spcPts val="300"/>
              </a:spcAft>
            </a:pPr>
            <a:r>
              <a:rPr lang="ja-JP" altLang="en-US" sz="900" b="0" dirty="0">
                <a:solidFill>
                  <a:sysClr val="windowText" lastClr="000000"/>
                </a:solidFill>
                <a:latin typeface="游ゴシック"/>
                <a:ea typeface="游ゴシック"/>
              </a:rPr>
              <a:t>・2026年7月末の売上債権43.0百万円・在庫36.6百万円は3月末から増加。</a:t>
            </a:r>
          </a:p>
        </p:txBody>
      </p:sp>
      <p:graphicFrame>
        <p:nvGraphicFramePr>
          <p:cNvPr id="17" name="表（月別売上!B4:O8）"/>
          <p:cNvGraphicFramePr>
            <a:graphicFrameLocks noGrp="1"/>
          </p:cNvGraphicFramePr>
          <p:nvPr/>
        </p:nvGraphicFramePr>
        <p:xfrm>
          <a:off x="310896" y="5029200"/>
          <a:ext cx="10021817" cy="1079500"/>
        </p:xfrm>
        <a:graphic>
          <a:graphicData uri="http://schemas.openxmlformats.org/drawingml/2006/table">
            <a:tbl>
              <a:tblPr firstRow="0" bandRow="0">
                <a:tableStyleId>{2D5ABB26-0587-4C30-8999-92F81FD0307C}</a:tableStyleId>
              </a:tblPr>
              <a:tblGrid>
                <a:gridCol w="978977"/>
                <a:gridCol w="680570"/>
                <a:gridCol w="680570"/>
                <a:gridCol w="680570"/>
                <a:gridCol w="680570"/>
                <a:gridCol w="680570"/>
                <a:gridCol w="680570"/>
                <a:gridCol w="680570"/>
                <a:gridCol w="680570"/>
                <a:gridCol w="680570"/>
                <a:gridCol w="680570"/>
                <a:gridCol w="680570"/>
                <a:gridCol w="680570"/>
                <a:gridCol w="87600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286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4月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5月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6月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8月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9月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10月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3月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合計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87,736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101,698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83,794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146,060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138,177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110,175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106,499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100,617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98,058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69,520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69,339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84,221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1,195,894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仕入高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76,904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86,235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74,095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139,243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96,826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85,074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84,386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85,425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82,345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56,698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58,088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996,035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77800">
                <a:tc>
                  <a:txBody>
                    <a:bodyPr/>
                    <a:lstStyle/>
                    <a:p>
                      <a:pPr algn="r" fontAlgn="ctr"/>
                      <a:r>
                        <a:rPr lang="ja-JP" altLang="en-US" sz="700" b="0" i="1" dirty="0">
                          <a:solidFill>
                            <a:srgbClr val="000000"/>
                          </a:solidFill>
                          <a:latin typeface="游ゴシック"/>
                          <a:ea typeface="游ゴシック"/>
                        </a:rPr>
                        <a:t>月平均比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1.02倍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0.84倍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1.39倍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1.11倍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0.98倍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0.85倍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8" name="TextBox 17"/>
          <p:cNvSpPr txBox="1"/>
          <p:nvPr/>
        </p:nvSpPr>
        <p:spPr>
          <a:xfrm>
            <a:off x="310896" y="6163563"/>
            <a:ext cx="100218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※出所：法人事業概況説明書（2026/3期）の月別売上・仕入金額。</a:t>
            </a:r>
          </a:p>
        </p:txBody>
      </p:sp>
    </p:spTree>
    <p:extLst>
      <p:ext uri="{BB962C8B-B14F-4D97-AF65-F5344CB8AC3E}">
        <p14:creationId xmlns:p14="http://schemas.microsoft.com/office/powerpoint/2010/main" val="293258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30" name="長方形 17">
            <a:extLst>
              <a:ext uri="{FF2B5EF4-FFF2-40B4-BE49-F238E27FC236}">
                <a16:creationId xmlns:a16="http://schemas.microsoft.com/office/drawing/2014/main" id="{3E64D33C-2E81-EC32-F689-91E2661ACA25}"/>
              </a:ext>
            </a:extLst>
          </p:cNvPr>
          <p:cNvSpPr/>
          <p:nvPr/>
        </p:nvSpPr>
        <p:spPr>
          <a:xfrm>
            <a:off x="4434840" y="2240280"/>
            <a:ext cx="182880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代表取締役</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1000" dirty="0">
                <a:solidFill>
                  <a:schemeClr val="tx1"/>
                </a:solidFill>
                <a:latin typeface="+mn-ea"/>
              </a:rPr>
              <a:t>岡部 寛</a:t>
            </a:r>
          </a:p>
        </p:txBody>
      </p:sp>
      <p:sp>
        <p:nvSpPr>
          <p:cNvPr id="72" name="長方形 17">
            <a:extLst>
              <a:ext uri="{FF2B5EF4-FFF2-40B4-BE49-F238E27FC236}">
                <a16:creationId xmlns:a16="http://schemas.microsoft.com/office/drawing/2014/main" id="{F94861D8-1583-D60F-AE0B-65736108294A}"/>
              </a:ext>
            </a:extLst>
          </p:cNvPr>
          <p:cNvSpPr/>
          <p:nvPr/>
        </p:nvSpPr>
        <p:spPr>
          <a:xfrm>
            <a:off x="4434840" y="1508760"/>
            <a:ext cx="182880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取締役会</a:t>
            </a:r>
          </a:p>
          <a:p>
            <a:pPr algn="ctr" defTabSz="350844">
              <a:lnSpc>
                <a:spcPct val="90000"/>
              </a:lnSpc>
              <a:spcBef>
                <a:spcPct val="0"/>
              </a:spcBef>
              <a:spcAft>
                <a:spcPct val="35000"/>
              </a:spcAft>
            </a:pPr>
            <a:r>
              <a:rPr lang="ja-JP" altLang="en-US" sz="900" dirty="0">
                <a:solidFill>
                  <a:schemeClr val="tx1"/>
                </a:solidFill>
                <a:latin typeface="+mn-ea"/>
              </a:rPr>
              <a:t>取締役3名</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65760" y="1463040"/>
            <a:ext cx="2651760" cy="1188720"/>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buClrTx/>
            </a:pPr>
            <a:r>
              <a:rPr lang="en-US" altLang="ja-JP" sz="1000" dirty="0"/>
              <a:t>【人員構成】（2026年9月1日時点）</a:t>
            </a:r>
          </a:p>
          <a:p>
            <a:pPr>
              <a:buClrTx/>
            </a:pPr>
            <a:r>
              <a:rPr lang="en-US" altLang="ja-JP" sz="1000" dirty="0"/>
              <a:t>　取締役：3名</a:t>
            </a:r>
          </a:p>
          <a:p>
            <a:pPr>
              <a:buClrTx/>
            </a:pPr>
            <a:r>
              <a:rPr lang="en-US" altLang="ja-JP" sz="1000" dirty="0"/>
              <a:t>　正社員：17名</a:t>
            </a:r>
          </a:p>
          <a:p>
            <a:pPr>
              <a:buClrTx/>
            </a:pPr>
            <a:r>
              <a:rPr lang="en-US" altLang="ja-JP" sz="1000" dirty="0"/>
              <a:t>　嘱託・再雇用・試用：3名</a:t>
            </a:r>
          </a:p>
          <a:p>
            <a:pPr>
              <a:buClrTx/>
            </a:pPr>
            <a:r>
              <a:rPr lang="en-US" altLang="ja-JP" sz="1000" dirty="0"/>
              <a:t>　パート・アルバイト：4名</a:t>
            </a:r>
          </a:p>
          <a:p>
            <a:pPr>
              <a:buClrTx/>
            </a:pPr>
            <a:r>
              <a:rPr lang="en-US" altLang="ja-JP" sz="1000" dirty="0"/>
              <a:t>　平均年齢50.9歳／平均勤続12.7年</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8部門・従業員24名の体制。営業（野菜・果実・近郷）とパッケージ部に人員が厚く、セリ人資格者は営業系に配置。</a:t>
            </a:r>
          </a:p>
        </p:txBody>
      </p:sp>
      <p:sp>
        <p:nvSpPr>
          <p:cNvPr id="86" name="長方形 17">
            <a:extLst>
              <a:ext uri="{FF2B5EF4-FFF2-40B4-BE49-F238E27FC236}">
                <a16:creationId xmlns:a16="http://schemas.microsoft.com/office/drawing/2014/main" id="{F94861D8-1583-D60F-AE0B-65736108294A}"/>
              </a:ext>
            </a:extLst>
          </p:cNvPr>
          <p:cNvSpPr/>
          <p:nvPr/>
        </p:nvSpPr>
        <p:spPr>
          <a:xfrm>
            <a:off x="7498079" y="1508760"/>
            <a:ext cx="201168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監査役</a:t>
            </a:r>
          </a:p>
          <a:p>
            <a:pPr algn="ctr" defTabSz="350844">
              <a:lnSpc>
                <a:spcPct val="90000"/>
              </a:lnSpc>
              <a:spcBef>
                <a:spcPct val="0"/>
              </a:spcBef>
              <a:spcAft>
                <a:spcPct val="35000"/>
              </a:spcAft>
            </a:pPr>
            <a:r>
              <a:rPr lang="ja-JP" altLang="en-US" sz="900" dirty="0">
                <a:solidFill>
                  <a:schemeClr val="tx1"/>
                </a:solidFill>
                <a:latin typeface="+mn-ea"/>
              </a:rPr>
              <a:t>会計監査に限定</a:t>
            </a:r>
          </a:p>
        </p:txBody>
      </p:sp>
      <p:sp>
        <p:nvSpPr>
          <p:cNvPr id="87" name="長方形 17">
            <a:extLst>
              <a:ext uri="{FF2B5EF4-FFF2-40B4-BE49-F238E27FC236}">
                <a16:creationId xmlns:a16="http://schemas.microsoft.com/office/drawing/2014/main" id="{3E64D33C-2E81-EC32-F689-91E2661ACA25}"/>
              </a:ext>
            </a:extLst>
          </p:cNvPr>
          <p:cNvSpPr/>
          <p:nvPr/>
        </p:nvSpPr>
        <p:spPr>
          <a:xfrm>
            <a:off x="7498079" y="2240280"/>
            <a:ext cx="201168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取締役部長</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1"/>
                </a:solidFill>
                <a:latin typeface="+mn-ea"/>
              </a:rPr>
              <a:t>岡部 一（担当は要確認）</a:t>
            </a:r>
          </a:p>
        </p:txBody>
      </p:sp>
      <p:cxnSp>
        <p:nvCxnSpPr>
          <p:cNvPr id="88" name="Connector 87"/>
          <p:cNvCxnSpPr/>
          <p:nvPr/>
        </p:nvCxnSpPr>
        <p:spPr>
          <a:xfrm>
            <a:off x="5349240" y="2011680"/>
            <a:ext cx="0" cy="22860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63640" y="1755648"/>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63640" y="2514600"/>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349240" y="2788920"/>
            <a:ext cx="0" cy="27432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48690" y="3063240"/>
            <a:ext cx="8801100"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486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4" name="長方形 143">
            <a:extLst>
              <a:ext uri="{FF2B5EF4-FFF2-40B4-BE49-F238E27FC236}">
                <a16:creationId xmlns:a16="http://schemas.microsoft.com/office/drawing/2014/main" id="{BCEB2967-C83B-DBEC-B8EA-880A804DB347}"/>
              </a:ext>
            </a:extLst>
          </p:cNvPr>
          <p:cNvSpPr/>
          <p:nvPr/>
        </p:nvSpPr>
        <p:spPr>
          <a:xfrm>
            <a:off x="3657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野菜営業部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3名</a:t>
            </a:r>
          </a:p>
        </p:txBody>
      </p:sp>
      <p:sp>
        <p:nvSpPr>
          <p:cNvPr id="95" name="長方形 179">
            <a:extLst>
              <a:ext uri="{FF2B5EF4-FFF2-40B4-BE49-F238E27FC236}">
                <a16:creationId xmlns:a16="http://schemas.microsoft.com/office/drawing/2014/main" id="{C344BD57-39A2-E7B7-1F68-D52B956AE252}"/>
              </a:ext>
            </a:extLst>
          </p:cNvPr>
          <p:cNvSpPr/>
          <p:nvPr/>
        </p:nvSpPr>
        <p:spPr>
          <a:xfrm>
            <a:off x="365760" y="3840480"/>
            <a:ext cx="1165860" cy="7772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No.2 副部長★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 副部長</a:t>
            </a:r>
          </a:p>
          <a:p>
            <a:pPr algn="ctr" defTabSz="350844">
              <a:lnSpc>
                <a:spcPct val="90000"/>
              </a:lnSpc>
              <a:spcBef>
                <a:spcPct val="0"/>
              </a:spcBef>
              <a:spcAft>
                <a:spcPct val="35000"/>
              </a:spcAft>
            </a:pPr>
            <a:r>
              <a:rPr lang="ja-JP" altLang="en-US" sz="800" b="1" dirty="0">
                <a:solidFill>
                  <a:schemeClr val="tx1"/>
                </a:solidFill>
                <a:latin typeface="+mn-ea"/>
              </a:rPr>
              <a:t>No.7 正社員</a:t>
            </a:r>
          </a:p>
        </p:txBody>
      </p:sp>
      <p:cxnSp>
        <p:nvCxnSpPr>
          <p:cNvPr id="96" name="Connector 95"/>
          <p:cNvCxnSpPr/>
          <p:nvPr/>
        </p:nvCxnSpPr>
        <p:spPr>
          <a:xfrm>
            <a:off x="22059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7" name="長方形 143">
            <a:extLst>
              <a:ext uri="{FF2B5EF4-FFF2-40B4-BE49-F238E27FC236}">
                <a16:creationId xmlns:a16="http://schemas.microsoft.com/office/drawing/2014/main" id="{BCEB2967-C83B-DBEC-B8EA-880A804DB347}"/>
              </a:ext>
            </a:extLst>
          </p:cNvPr>
          <p:cNvSpPr/>
          <p:nvPr/>
        </p:nvSpPr>
        <p:spPr>
          <a:xfrm>
            <a:off x="16230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果実営業部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98" name="長方形 179">
            <a:extLst>
              <a:ext uri="{FF2B5EF4-FFF2-40B4-BE49-F238E27FC236}">
                <a16:creationId xmlns:a16="http://schemas.microsoft.com/office/drawing/2014/main" id="{C344BD57-39A2-E7B7-1F68-D52B956AE252}"/>
              </a:ext>
            </a:extLst>
          </p:cNvPr>
          <p:cNvSpPr/>
          <p:nvPr/>
        </p:nvSpPr>
        <p:spPr>
          <a:xfrm>
            <a:off x="16230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No.16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No.8 正社員</a:t>
            </a:r>
          </a:p>
        </p:txBody>
      </p:sp>
      <p:cxnSp>
        <p:nvCxnSpPr>
          <p:cNvPr id="99" name="Connector 98"/>
          <p:cNvCxnSpPr/>
          <p:nvPr/>
        </p:nvCxnSpPr>
        <p:spPr>
          <a:xfrm>
            <a:off x="34632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0" name="長方形 143">
            <a:extLst>
              <a:ext uri="{FF2B5EF4-FFF2-40B4-BE49-F238E27FC236}">
                <a16:creationId xmlns:a16="http://schemas.microsoft.com/office/drawing/2014/main" id="{BCEB2967-C83B-DBEC-B8EA-880A804DB347}"/>
              </a:ext>
            </a:extLst>
          </p:cNvPr>
          <p:cNvSpPr/>
          <p:nvPr/>
        </p:nvSpPr>
        <p:spPr>
          <a:xfrm>
            <a:off x="28803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近郷部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1" name="長方形 179">
            <a:extLst>
              <a:ext uri="{FF2B5EF4-FFF2-40B4-BE49-F238E27FC236}">
                <a16:creationId xmlns:a16="http://schemas.microsoft.com/office/drawing/2014/main" id="{C344BD57-39A2-E7B7-1F68-D52B956AE252}"/>
              </a:ext>
            </a:extLst>
          </p:cNvPr>
          <p:cNvSpPr/>
          <p:nvPr/>
        </p:nvSpPr>
        <p:spPr>
          <a:xfrm>
            <a:off x="28803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No.3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No.4 正社員</a:t>
            </a:r>
          </a:p>
          <a:p>
            <a:pPr algn="ctr" defTabSz="350844">
              <a:lnSpc>
                <a:spcPct val="90000"/>
              </a:lnSpc>
              <a:spcBef>
                <a:spcPct val="0"/>
              </a:spcBef>
              <a:spcAft>
                <a:spcPct val="35000"/>
              </a:spcAft>
            </a:pPr>
            <a:r>
              <a:rPr lang="ja-JP" altLang="en-US" sz="800" b="1" dirty="0">
                <a:solidFill>
                  <a:schemeClr val="tx1"/>
                </a:solidFill>
                <a:latin typeface="+mn-ea"/>
              </a:rPr>
              <a:t>No.5 正社員</a:t>
            </a:r>
          </a:p>
          <a:p>
            <a:pPr algn="ctr" defTabSz="350844">
              <a:lnSpc>
                <a:spcPct val="90000"/>
              </a:lnSpc>
              <a:spcBef>
                <a:spcPct val="0"/>
              </a:spcBef>
              <a:spcAft>
                <a:spcPct val="35000"/>
              </a:spcAft>
            </a:pPr>
            <a:r>
              <a:rPr lang="ja-JP" altLang="en-US" sz="800" b="1" dirty="0">
                <a:solidFill>
                  <a:schemeClr val="tx1"/>
                </a:solidFill>
                <a:latin typeface="+mn-ea"/>
              </a:rPr>
              <a:t>No.12 試用期間★</a:t>
            </a:r>
          </a:p>
        </p:txBody>
      </p:sp>
      <p:cxnSp>
        <p:nvCxnSpPr>
          <p:cNvPr id="102" name="Connector 101"/>
          <p:cNvCxnSpPr/>
          <p:nvPr/>
        </p:nvCxnSpPr>
        <p:spPr>
          <a:xfrm>
            <a:off x="47205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3" name="長方形 143">
            <a:extLst>
              <a:ext uri="{FF2B5EF4-FFF2-40B4-BE49-F238E27FC236}">
                <a16:creationId xmlns:a16="http://schemas.microsoft.com/office/drawing/2014/main" id="{BCEB2967-C83B-DBEC-B8EA-880A804DB347}"/>
              </a:ext>
            </a:extLst>
          </p:cNvPr>
          <p:cNvSpPr/>
          <p:nvPr/>
        </p:nvSpPr>
        <p:spPr>
          <a:xfrm>
            <a:off x="41376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集配部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4" name="長方形 179">
            <a:extLst>
              <a:ext uri="{FF2B5EF4-FFF2-40B4-BE49-F238E27FC236}">
                <a16:creationId xmlns:a16="http://schemas.microsoft.com/office/drawing/2014/main" id="{C344BD57-39A2-E7B7-1F68-D52B956AE252}"/>
              </a:ext>
            </a:extLst>
          </p:cNvPr>
          <p:cNvSpPr/>
          <p:nvPr/>
        </p:nvSpPr>
        <p:spPr>
          <a:xfrm>
            <a:off x="41376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No.9 正社員</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No.6 正社員</a:t>
            </a:r>
          </a:p>
          <a:p>
            <a:pPr algn="ctr" defTabSz="350844">
              <a:lnSpc>
                <a:spcPct val="90000"/>
              </a:lnSpc>
              <a:spcBef>
                <a:spcPct val="0"/>
              </a:spcBef>
              <a:spcAft>
                <a:spcPct val="35000"/>
              </a:spcAft>
            </a:pPr>
            <a:r>
              <a:rPr lang="ja-JP" altLang="en-US" sz="800" b="1" dirty="0">
                <a:solidFill>
                  <a:schemeClr val="tx1"/>
                </a:solidFill>
                <a:latin typeface="+mn-ea"/>
              </a:rPr>
              <a:t>No.11 再雇用正社員</a:t>
            </a:r>
          </a:p>
          <a:p>
            <a:pPr algn="ctr" defTabSz="350844">
              <a:lnSpc>
                <a:spcPct val="90000"/>
              </a:lnSpc>
              <a:spcBef>
                <a:spcPct val="0"/>
              </a:spcBef>
              <a:spcAft>
                <a:spcPct val="35000"/>
              </a:spcAft>
            </a:pPr>
            <a:r>
              <a:rPr lang="ja-JP" altLang="en-US" sz="800" b="1" dirty="0">
                <a:solidFill>
                  <a:schemeClr val="tx1"/>
                </a:solidFill>
                <a:latin typeface="+mn-ea"/>
              </a:rPr>
              <a:t>No.13 アルバイト</a:t>
            </a:r>
          </a:p>
        </p:txBody>
      </p:sp>
      <p:cxnSp>
        <p:nvCxnSpPr>
          <p:cNvPr id="105" name="Connector 104"/>
          <p:cNvCxnSpPr/>
          <p:nvPr/>
        </p:nvCxnSpPr>
        <p:spPr>
          <a:xfrm>
            <a:off x="59778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6" name="長方形 143">
            <a:extLst>
              <a:ext uri="{FF2B5EF4-FFF2-40B4-BE49-F238E27FC236}">
                <a16:creationId xmlns:a16="http://schemas.microsoft.com/office/drawing/2014/main" id="{BCEB2967-C83B-DBEC-B8EA-880A804DB347}"/>
              </a:ext>
            </a:extLst>
          </p:cNvPr>
          <p:cNvSpPr/>
          <p:nvPr/>
        </p:nvSpPr>
        <p:spPr>
          <a:xfrm>
            <a:off x="53949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生花部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07" name="長方形 179">
            <a:extLst>
              <a:ext uri="{FF2B5EF4-FFF2-40B4-BE49-F238E27FC236}">
                <a16:creationId xmlns:a16="http://schemas.microsoft.com/office/drawing/2014/main" id="{C344BD57-39A2-E7B7-1F68-D52B956AE252}"/>
              </a:ext>
            </a:extLst>
          </p:cNvPr>
          <p:cNvSpPr/>
          <p:nvPr/>
        </p:nvSpPr>
        <p:spPr>
          <a:xfrm>
            <a:off x="53949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No.10 嘱託社員</a:t>
            </a:r>
            <a:endParaRPr lang="en-US" altLang="ja-JP" sz="800" b="1" dirty="0">
              <a:solidFill>
                <a:schemeClr val="tx1"/>
              </a:solidFill>
              <a:latin typeface="+mn-ea"/>
            </a:endParaRPr>
          </a:p>
        </p:txBody>
      </p:sp>
      <p:cxnSp>
        <p:nvCxnSpPr>
          <p:cNvPr id="108" name="Connector 107"/>
          <p:cNvCxnSpPr/>
          <p:nvPr/>
        </p:nvCxnSpPr>
        <p:spPr>
          <a:xfrm>
            <a:off x="72351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9" name="長方形 143">
            <a:extLst>
              <a:ext uri="{FF2B5EF4-FFF2-40B4-BE49-F238E27FC236}">
                <a16:creationId xmlns:a16="http://schemas.microsoft.com/office/drawing/2014/main" id="{BCEB2967-C83B-DBEC-B8EA-880A804DB347}"/>
              </a:ext>
            </a:extLst>
          </p:cNvPr>
          <p:cNvSpPr/>
          <p:nvPr/>
        </p:nvSpPr>
        <p:spPr>
          <a:xfrm>
            <a:off x="66522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パッケージ部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7名</a:t>
            </a:r>
          </a:p>
        </p:txBody>
      </p:sp>
      <p:sp>
        <p:nvSpPr>
          <p:cNvPr id="110" name="長方形 179">
            <a:extLst>
              <a:ext uri="{FF2B5EF4-FFF2-40B4-BE49-F238E27FC236}">
                <a16:creationId xmlns:a16="http://schemas.microsoft.com/office/drawing/2014/main" id="{C344BD57-39A2-E7B7-1F68-D52B956AE252}"/>
              </a:ext>
            </a:extLst>
          </p:cNvPr>
          <p:cNvSpPr/>
          <p:nvPr/>
        </p:nvSpPr>
        <p:spPr>
          <a:xfrm>
            <a:off x="6652260" y="3840480"/>
            <a:ext cx="1165860" cy="15087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No.18 係長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No.19 正社員</a:t>
            </a:r>
          </a:p>
          <a:p>
            <a:pPr algn="ctr" defTabSz="350844">
              <a:lnSpc>
                <a:spcPct val="90000"/>
              </a:lnSpc>
              <a:spcBef>
                <a:spcPct val="0"/>
              </a:spcBef>
              <a:spcAft>
                <a:spcPct val="35000"/>
              </a:spcAft>
            </a:pPr>
            <a:r>
              <a:rPr lang="ja-JP" altLang="en-US" sz="800" b="1" dirty="0">
                <a:solidFill>
                  <a:schemeClr val="tx1"/>
                </a:solidFill>
                <a:latin typeface="+mn-ea"/>
              </a:rPr>
              <a:t>No.21 正社員</a:t>
            </a:r>
          </a:p>
          <a:p>
            <a:pPr algn="ctr" defTabSz="350844">
              <a:lnSpc>
                <a:spcPct val="90000"/>
              </a:lnSpc>
              <a:spcBef>
                <a:spcPct val="0"/>
              </a:spcBef>
              <a:spcAft>
                <a:spcPct val="35000"/>
              </a:spcAft>
            </a:pPr>
            <a:r>
              <a:rPr lang="ja-JP" altLang="en-US" sz="800" b="1" dirty="0">
                <a:solidFill>
                  <a:schemeClr val="tx1"/>
                </a:solidFill>
                <a:latin typeface="+mn-ea"/>
              </a:rPr>
              <a:t>No.22 パート</a:t>
            </a:r>
          </a:p>
          <a:p>
            <a:pPr algn="ctr" defTabSz="350844">
              <a:lnSpc>
                <a:spcPct val="90000"/>
              </a:lnSpc>
              <a:spcBef>
                <a:spcPct val="0"/>
              </a:spcBef>
              <a:spcAft>
                <a:spcPct val="35000"/>
              </a:spcAft>
            </a:pPr>
            <a:r>
              <a:rPr lang="ja-JP" altLang="en-US" sz="800" b="1" dirty="0">
                <a:solidFill>
                  <a:schemeClr val="tx1"/>
                </a:solidFill>
                <a:latin typeface="+mn-ea"/>
              </a:rPr>
              <a:t>No.23 パート</a:t>
            </a:r>
          </a:p>
          <a:p>
            <a:pPr algn="ctr" defTabSz="350844">
              <a:lnSpc>
                <a:spcPct val="90000"/>
              </a:lnSpc>
              <a:spcBef>
                <a:spcPct val="0"/>
              </a:spcBef>
              <a:spcAft>
                <a:spcPct val="35000"/>
              </a:spcAft>
            </a:pPr>
            <a:r>
              <a:rPr lang="ja-JP" altLang="en-US" sz="800" b="1" dirty="0">
                <a:solidFill>
                  <a:schemeClr val="tx1"/>
                </a:solidFill>
                <a:latin typeface="+mn-ea"/>
              </a:rPr>
              <a:t>No.20 正社員</a:t>
            </a:r>
          </a:p>
          <a:p>
            <a:pPr algn="ctr" defTabSz="350844">
              <a:lnSpc>
                <a:spcPct val="90000"/>
              </a:lnSpc>
              <a:spcBef>
                <a:spcPct val="0"/>
              </a:spcBef>
              <a:spcAft>
                <a:spcPct val="35000"/>
              </a:spcAft>
            </a:pPr>
            <a:r>
              <a:rPr lang="ja-JP" altLang="en-US" sz="800" b="1" dirty="0">
                <a:solidFill>
                  <a:schemeClr val="tx1"/>
                </a:solidFill>
                <a:latin typeface="+mn-ea"/>
              </a:rPr>
              <a:t>No.24 パート</a:t>
            </a:r>
          </a:p>
        </p:txBody>
      </p:sp>
      <p:cxnSp>
        <p:nvCxnSpPr>
          <p:cNvPr id="111" name="Connector 110"/>
          <p:cNvCxnSpPr/>
          <p:nvPr/>
        </p:nvCxnSpPr>
        <p:spPr>
          <a:xfrm>
            <a:off x="84924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2" name="長方形 143">
            <a:extLst>
              <a:ext uri="{FF2B5EF4-FFF2-40B4-BE49-F238E27FC236}">
                <a16:creationId xmlns:a16="http://schemas.microsoft.com/office/drawing/2014/main" id="{BCEB2967-C83B-DBEC-B8EA-880A804DB347}"/>
              </a:ext>
            </a:extLst>
          </p:cNvPr>
          <p:cNvSpPr/>
          <p:nvPr/>
        </p:nvSpPr>
        <p:spPr>
          <a:xfrm>
            <a:off x="79095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資材部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13" name="長方形 179">
            <a:extLst>
              <a:ext uri="{FF2B5EF4-FFF2-40B4-BE49-F238E27FC236}">
                <a16:creationId xmlns:a16="http://schemas.microsoft.com/office/drawing/2014/main" id="{C344BD57-39A2-E7B7-1F68-D52B956AE252}"/>
              </a:ext>
            </a:extLst>
          </p:cNvPr>
          <p:cNvSpPr/>
          <p:nvPr/>
        </p:nvSpPr>
        <p:spPr>
          <a:xfrm>
            <a:off x="79095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No.15 課長</a:t>
            </a:r>
            <a:endParaRPr lang="en-US" altLang="ja-JP" sz="800" b="1" dirty="0">
              <a:solidFill>
                <a:schemeClr val="tx1"/>
              </a:solidFill>
              <a:latin typeface="+mn-ea"/>
            </a:endParaRPr>
          </a:p>
        </p:txBody>
      </p:sp>
      <p:cxnSp>
        <p:nvCxnSpPr>
          <p:cNvPr id="114" name="Connector 113"/>
          <p:cNvCxnSpPr/>
          <p:nvPr/>
        </p:nvCxnSpPr>
        <p:spPr>
          <a:xfrm>
            <a:off x="97497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5" name="長方形 143">
            <a:extLst>
              <a:ext uri="{FF2B5EF4-FFF2-40B4-BE49-F238E27FC236}">
                <a16:creationId xmlns:a16="http://schemas.microsoft.com/office/drawing/2014/main" id="{BCEB2967-C83B-DBEC-B8EA-880A804DB347}"/>
              </a:ext>
            </a:extLst>
          </p:cNvPr>
          <p:cNvSpPr/>
          <p:nvPr/>
        </p:nvSpPr>
        <p:spPr>
          <a:xfrm>
            <a:off x="91668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総務部・事務</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116" name="長方形 179">
            <a:extLst>
              <a:ext uri="{FF2B5EF4-FFF2-40B4-BE49-F238E27FC236}">
                <a16:creationId xmlns:a16="http://schemas.microsoft.com/office/drawing/2014/main" id="{C344BD57-39A2-E7B7-1F68-D52B956AE252}"/>
              </a:ext>
            </a:extLst>
          </p:cNvPr>
          <p:cNvSpPr/>
          <p:nvPr/>
        </p:nvSpPr>
        <p:spPr>
          <a:xfrm>
            <a:off x="91668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No.14 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No.17 正社員</a:t>
            </a:r>
          </a:p>
        </p:txBody>
      </p:sp>
      <p:sp>
        <p:nvSpPr>
          <p:cNvPr id="117" name="TextBox 116"/>
          <p:cNvSpPr txBox="1"/>
          <p:nvPr/>
        </p:nvSpPr>
        <p:spPr>
          <a:xfrm>
            <a:off x="365760" y="6629400"/>
            <a:ext cx="996696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※図中のNo.は「従業員一覧」ページの№と対応。★はセリ人資格保有者。役職のない者は雇用形態を表示。</a:t>
            </a:r>
          </a:p>
          <a:p>
            <a:pPr algn="l"/>
            <a:r>
              <a:rPr sz="800" b="0">
                <a:solidFill>
                  <a:srgbClr val="000000"/>
                </a:solidFill>
                <a:latin typeface="游ゴシック"/>
                <a:ea typeface="游ゴシック"/>
              </a:rPr>
              <a:t>※常務取締役は2026年5月29日に退任。取締役（非常勤）1名は図示省略。</a:t>
            </a:r>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0896" y="442772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代表者一族（4名）で発行済株式の75.8%を保有。親族外株主4名が残り24.3%を保有する。</a:t>
            </a:r>
          </a:p>
        </p:txBody>
      </p:sp>
      <p:graphicFrame>
        <p:nvGraphicFramePr>
          <p:cNvPr id="14" name="表（株主!B4:H14）"/>
          <p:cNvGraphicFramePr>
            <a:graphicFrameLocks noGrp="1"/>
          </p:cNvGraphicFramePr>
          <p:nvPr/>
        </p:nvGraphicFramePr>
        <p:xfrm>
          <a:off x="777240" y="1828800"/>
          <a:ext cx="8778236" cy="2489200"/>
        </p:xfrm>
        <a:graphic>
          <a:graphicData uri="http://schemas.openxmlformats.org/drawingml/2006/table">
            <a:tbl>
              <a:tblPr firstRow="0" bandRow="0">
                <a:tableStyleId>{2D5ABB26-0587-4C30-8999-92F81FD0307C}</a:tableStyleId>
              </a:tblPr>
              <a:tblGrid>
                <a:gridCol w="323686"/>
                <a:gridCol w="1247393"/>
                <a:gridCol w="2171099"/>
                <a:gridCol w="1155089"/>
                <a:gridCol w="1016298"/>
                <a:gridCol w="923994"/>
                <a:gridCol w="194067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役職・続柄</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保有株式数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保有割合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1,510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37.8%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和子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代表者の兄弟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梅津 恵一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6</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取締役・代表者の配偶者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7</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佐藤 令子</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8</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元常務取締役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gridSpan="2">
                  <a:txBody>
                    <a:bodyPr/>
                    <a:lstStyle/>
                    <a:p>
                      <a:pPr algn="ctr"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hMerge="1">
                  <a:txBody>
                    <a:bodyPr/>
                    <a:lstStyle/>
                    <a:p>
                      <a:pPr algn="l" fontAlgn="ctr"/>
                      <a:endParaRPr lang="ja-JP" altLang="en-US" sz="1020"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取締役!B4:I11）"/>
          <p:cNvGraphicFramePr>
            <a:graphicFrameLocks noGrp="1"/>
          </p:cNvGraphicFramePr>
          <p:nvPr/>
        </p:nvGraphicFramePr>
        <p:xfrm>
          <a:off x="777240" y="4793488"/>
          <a:ext cx="8778236" cy="1841500"/>
        </p:xfrm>
        <a:graphic>
          <a:graphicData uri="http://schemas.openxmlformats.org/drawingml/2006/table">
            <a:tbl>
              <a:tblPr firstRow="0" bandRow="0">
                <a:tableStyleId>{2D5ABB26-0587-4C30-8999-92F81FD0307C}</a:tableStyleId>
              </a:tblPr>
              <a:tblGrid>
                <a:gridCol w="315397"/>
                <a:gridCol w="1125509"/>
                <a:gridCol w="1170150"/>
                <a:gridCol w="900332"/>
                <a:gridCol w="720453"/>
                <a:gridCol w="1215448"/>
                <a:gridCol w="1530564"/>
                <a:gridCol w="180038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355600">
                <a:tc>
                  <a:txBody>
                    <a:bodyPr/>
                    <a:lstStyle/>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氏名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役職</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代表者</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との関係</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常勤／</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非常勤</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役員報酬</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(2026年3月期)</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業務範囲</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ctr" fontAlgn="ctr"/>
                      <a:r>
                        <a:rPr lang="ja-JP" altLang="en-US" sz="1050" b="0" i="0" dirty="0">
                          <a:solidFill>
                            <a:srgbClr val="000000"/>
                          </a:solidFill>
                          <a:latin typeface="游ゴシック"/>
                          <a:ea typeface="游ゴシック"/>
                        </a:rPr>
                        <a:t>1</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寛</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代表取締役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本人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4,320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経営全般</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2</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一</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兄弟</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4,200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3</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岡部 竹古</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配偶者</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4</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小野寺 則和</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監査役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非常勤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会計監査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ctr" fontAlgn="ctr"/>
                      <a:r>
                        <a:rPr lang="ja-JP" altLang="en-US" sz="1050" b="0" i="0" dirty="0">
                          <a:solidFill>
                            <a:srgbClr val="000000"/>
                          </a:solidFill>
                          <a:latin typeface="游ゴシック"/>
                          <a:ea typeface="游ゴシック"/>
                        </a:rPr>
                        <a:t>5</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50" b="0" i="0" dirty="0">
                          <a:solidFill>
                            <a:srgbClr val="000000"/>
                          </a:solidFill>
                          <a:latin typeface="游ゴシック"/>
                          <a:ea typeface="游ゴシック"/>
                        </a:rPr>
                        <a:t>菅原 圭吾</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常務取締役</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常勤</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6,600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2026年5月29日退任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15,360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2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310896" y="6708140"/>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※役員報酬総額は22,200千円（2024/3期・2025/3期）→15,360千円（2026/3期）。代表取締役は10,560千円→4,320千円に減額（理由は要確認）。</a:t>
            </a:r>
          </a:p>
          <a:p>
            <a:pPr algn="l"/>
            <a:r>
              <a:rPr sz="800" b="0">
                <a:solidFill>
                  <a:srgbClr val="000000"/>
                </a:solidFill>
                <a:latin typeface="游ゴシック"/>
                <a:ea typeface="游ゴシック"/>
              </a:rPr>
              <a:t>※出所：法人税申告書別表二（2026/3期）、履歴事項全部証明書（2026年9月10日現在）。株主名簿・名義株の有無は要確認。</a:t>
            </a:r>
          </a:p>
        </p:txBody>
      </p:sp>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従業員24名（平均年齢50.9歳・平均勤続12.7年）。勤続20年以上のベテランが多い一方、60歳以上が8名在籍。</a:t>
            </a:r>
          </a:p>
        </p:txBody>
      </p:sp>
      <p:graphicFrame>
        <p:nvGraphicFramePr>
          <p:cNvPr id="14" name="表（従業員!B4:J29）"/>
          <p:cNvGraphicFramePr>
            <a:graphicFrameLocks noGrp="1"/>
          </p:cNvGraphicFramePr>
          <p:nvPr/>
        </p:nvGraphicFramePr>
        <p:xfrm>
          <a:off x="310896" y="1371600"/>
          <a:ext cx="10058395" cy="4914900"/>
        </p:xfrm>
        <a:graphic>
          <a:graphicData uri="http://schemas.openxmlformats.org/drawingml/2006/table">
            <a:tbl>
              <a:tblPr firstRow="0" bandRow="0">
                <a:tableStyleId>{2D5ABB26-0587-4C30-8999-92F81FD0307C}</a:tableStyleId>
              </a:tblPr>
              <a:tblGrid>
                <a:gridCol w="330849"/>
                <a:gridCol w="944441"/>
                <a:gridCol w="425195"/>
                <a:gridCol w="566369"/>
                <a:gridCol w="708232"/>
                <a:gridCol w="1038787"/>
                <a:gridCol w="755749"/>
                <a:gridCol w="1511204"/>
                <a:gridCol w="3777569"/>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2026年9月1日現在</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04800">
                <a:tc>
                  <a:txBody>
                    <a:bodyPr/>
                    <a:lstStyle/>
                    <a:p>
                      <a:pPr algn="ctr" fontAlgn="ctr"/>
                      <a:r>
                        <a:rPr lang="ja-JP" altLang="en-US" sz="850" b="0" i="0" dirty="0">
                          <a:solidFill>
                            <a:srgbClr val="FFFFFF"/>
                          </a:solidFill>
                          <a:latin typeface="游ゴシック"/>
                          <a:ea typeface="游ゴシック"/>
                        </a:rPr>
                        <a:t>№</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雇用形態</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性別</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年齢</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（歳）</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勤続年数</a:t>
                      </a:r>
                      <a:endParaRPr lang="ja-JP" altLang="en-US" sz="850" b="0" i="0" dirty="0">
                        <a:solidFill>
                          <a:srgbClr val="FFFFFF"/>
                        </a:solidFill>
                        <a:latin typeface="游ゴシック"/>
                        <a:ea typeface="游ゴシック"/>
                      </a:endParaRPr>
                    </a:p>
                    <a:p>
                      <a:pPr algn="ctr" fontAlgn="ctr"/>
                      <a:r>
                        <a:rPr lang="ja-JP" altLang="en-US" sz="850" b="0" i="0" dirty="0">
                          <a:solidFill>
                            <a:srgbClr val="FFFFFF"/>
                          </a:solidFill>
                          <a:latin typeface="游ゴシック"/>
                          <a:ea typeface="游ゴシック"/>
                        </a:rPr>
                        <a:t>（年）</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部署</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役職</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取得資格</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50" b="0" i="0" dirty="0">
                          <a:solidFill>
                            <a:srgbClr val="FFFFFF"/>
                          </a:solidFill>
                          <a:latin typeface="游ゴシック"/>
                          <a:ea typeface="游ゴシック"/>
                        </a:rPr>
                        <a:t>備考</a:t>
                      </a:r>
                      <a:endParaRPr lang="ja-JP" altLang="en-US" sz="8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84150">
                <a:tc>
                  <a:txBody>
                    <a:bodyPr/>
                    <a:lstStyle/>
                    <a:p>
                      <a:pPr algn="ctr" fontAlgn="ctr"/>
                      <a:r>
                        <a:rPr lang="ja-JP" altLang="en-US" sz="850" b="0" i="0" dirty="0">
                          <a:solidFill>
                            <a:srgbClr val="000000"/>
                          </a:solidFill>
                          <a:latin typeface="游ゴシック"/>
                          <a:ea typeface="游ゴシック"/>
                        </a:rPr>
                        <a:t>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副部長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野菜営業部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果実営業部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31</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試用期間</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近郷部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セリ人</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2022年4月よりフルタイム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6</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再雇用正社員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アルバイト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集配部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休日のみ配送</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嘱託社員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生花部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フォークリフト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18</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52</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係長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19</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20</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21</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2012年4月よりフルタイム</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22</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14</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23</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20</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24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パート</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59</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パッケージ部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4h</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15</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65</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47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資材部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課長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定年後再雇用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14</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56</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38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総務部</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部長</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84150">
                <a:tc>
                  <a:txBody>
                    <a:bodyPr/>
                    <a:lstStyle/>
                    <a:p>
                      <a:pPr algn="ctr" fontAlgn="ctr"/>
                      <a:r>
                        <a:rPr lang="ja-JP" altLang="en-US" sz="850" b="0" i="0" dirty="0">
                          <a:solidFill>
                            <a:srgbClr val="000000"/>
                          </a:solidFill>
                          <a:latin typeface="游ゴシック"/>
                          <a:ea typeface="游ゴシック"/>
                        </a:rPr>
                        <a:t>17</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50" b="0" i="0" dirty="0">
                          <a:solidFill>
                            <a:srgbClr val="000000"/>
                          </a:solidFill>
                          <a:latin typeface="游ゴシック"/>
                          <a:ea typeface="游ゴシック"/>
                        </a:rPr>
                        <a:t>正社員</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50" b="0" i="0" dirty="0">
                          <a:solidFill>
                            <a:srgbClr val="000000"/>
                          </a:solidFill>
                          <a:latin typeface="游ゴシック"/>
                          <a:ea typeface="游ゴシック"/>
                        </a:rPr>
                        <a:t>女</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28</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50" b="0" i="0" dirty="0">
                          <a:solidFill>
                            <a:srgbClr val="000000"/>
                          </a:solidFill>
                          <a:latin typeface="Arial"/>
                          <a:ea typeface="游ゴシック Medium"/>
                        </a:rPr>
                        <a:t>7</a:t>
                      </a:r>
                      <a:endParaRPr lang="ja-JP" altLang="en-US" sz="8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50" b="0" i="0" dirty="0">
                          <a:solidFill>
                            <a:srgbClr val="000000"/>
                          </a:solidFill>
                          <a:latin typeface="游ゴシック"/>
                          <a:ea typeface="游ゴシック"/>
                        </a:rPr>
                        <a:t>事務</a:t>
                      </a: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310896" y="6341364"/>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※職員名簿（2026年9月1日現在）。部署→役職→勤続年数の順。役員は含まない。定年（60歳／65歳）・就業規則・退職金規程は要確認（中退共に加入）。</a:t>
            </a:r>
          </a:p>
          <a:p>
            <a:pPr algn="l"/>
            <a:r>
              <a:rPr sz="800" b="0">
                <a:solidFill>
                  <a:srgbClr val="000000"/>
                </a:solidFill>
                <a:latin typeface="游ゴシック"/>
                <a:ea typeface="游ゴシック"/>
              </a:rPr>
              <a:t>※法人事業概況説明書（2026/3期末）では従業員30名（常勤役員3名含む）と記載があり、人数の定義差は要確認。</a:t>
            </a:r>
          </a:p>
        </p:txBody>
      </p:sp>
    </p:spTree>
    <p:extLst>
      <p:ext uri="{BB962C8B-B14F-4D97-AF65-F5344CB8AC3E}">
        <p14:creationId xmlns:p14="http://schemas.microsoft.com/office/powerpoint/2010/main" val="45302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拠点概要（本社・市場）</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拠点</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本社市場とパッケージ場は隣接する自社保有地（計4,001㎡）。主要建物は1981〜82年築で、改修を重ねて使用している。</a:t>
            </a:r>
          </a:p>
        </p:txBody>
      </p:sp>
      <p:graphicFrame>
        <p:nvGraphicFramePr>
          <p:cNvPr id="14" name="表（拠点(本社等)!B5:G9）"/>
          <p:cNvGraphicFramePr>
            <a:graphicFrameLocks noGrp="1"/>
          </p:cNvGraphicFramePr>
          <p:nvPr/>
        </p:nvGraphicFramePr>
        <p:xfrm>
          <a:off x="310896" y="1874519"/>
          <a:ext cx="10058398" cy="1879600"/>
        </p:xfrm>
        <a:graphic>
          <a:graphicData uri="http://schemas.openxmlformats.org/drawingml/2006/table">
            <a:tbl>
              <a:tblPr firstRow="0" bandRow="0">
                <a:tableStyleId>{2D5ABB26-0587-4C30-8999-92F81FD0307C}</a:tableStyleId>
              </a:tblPr>
              <a:tblGrid>
                <a:gridCol w="1175121"/>
                <a:gridCol w="2585052"/>
                <a:gridCol w="704916"/>
                <a:gridCol w="940019"/>
                <a:gridCol w="2820155"/>
                <a:gridCol w="1833135"/>
              </a:tblGrid>
              <a:tr h="355600">
                <a:tc>
                  <a:txBody>
                    <a:bodyPr/>
                    <a:lstStyle/>
                    <a:p>
                      <a:pPr algn="ctr" fontAlgn="ctr"/>
                      <a:r>
                        <a:rPr lang="ja-JP" altLang="en-US" sz="1000" b="0" i="0" dirty="0">
                          <a:solidFill>
                            <a:srgbClr val="FFFFFF"/>
                          </a:solidFill>
                          <a:latin typeface="游ゴシック"/>
                          <a:ea typeface="游ゴシック"/>
                        </a:rPr>
                        <a:t>拠点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所在地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所有区分</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土地面積</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主な建物</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用途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山形県鶴岡市宝田一丁目4番20号</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（地番：宝田一丁目4-2）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事務所（管理棟）・市場・倉庫・容器庫・貯蔵庫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事務、セリ・相対取引、保管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事務所兼倉庫（パッケージ場）・倉庫</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小分け・包装、保管</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建物の課税明細なし（要確認）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倉庫敷地（利用状況は要確認）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賃借物件</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なし（地代家賃の計上なし）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310896" y="4074160"/>
            <a:ext cx="10058400" cy="23774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拠点の状況</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310896" y="4577080"/>
            <a:ext cx="10058400" cy="1828799"/>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≪営業時間・定休日≫</a:t>
            </a:r>
          </a:p>
          <a:p>
            <a:pPr>
              <a:spcAft>
                <a:spcPts val="300"/>
              </a:spcAft>
            </a:pPr>
            <a:r>
              <a:rPr lang="ja-JP" altLang="en-US" sz="900" b="0" dirty="0">
                <a:solidFill>
                  <a:sysClr val="windowText" lastClr="000000"/>
                </a:solidFill>
                <a:latin typeface="游ゴシック"/>
                <a:ea typeface="游ゴシック"/>
              </a:rPr>
              <a:t>・早朝6時から（終業時刻は要確認）。定休日は水・日・祝日（法人事業概況説明書）。</a:t>
            </a:r>
          </a:p>
          <a:p>
            <a:pPr>
              <a:spcAft>
                <a:spcPts val="300"/>
              </a:spcAft>
            </a:pPr>
            <a:r>
              <a:rPr lang="ja-JP" altLang="en-US" sz="1000" b="1" dirty="0">
                <a:solidFill>
                  <a:sysClr val="windowText" lastClr="000000"/>
                </a:solidFill>
                <a:latin typeface="游ゴシック"/>
                <a:ea typeface="游ゴシック"/>
              </a:rPr>
              <a:t>≪施設の状況≫</a:t>
            </a:r>
          </a:p>
          <a:p>
            <a:pPr>
              <a:spcAft>
                <a:spcPts val="300"/>
              </a:spcAft>
            </a:pPr>
            <a:r>
              <a:rPr lang="ja-JP" altLang="en-US" sz="900" b="0" dirty="0">
                <a:solidFill>
                  <a:sysClr val="windowText" lastClr="000000"/>
                </a:solidFill>
                <a:latin typeface="游ゴシック"/>
                <a:ea typeface="游ゴシック"/>
              </a:rPr>
              <a:t>・屋根・外壁・シャッター・冷蔵庫ユニット等の改修工事を継続的に資産計上（詳細は「保有設備一覧」）。車両等はリースを利用（リース料年6,227千円、対象資産は要確認）。</a:t>
            </a:r>
          </a:p>
          <a:p>
            <a:pPr>
              <a:spcAft>
                <a:spcPts val="300"/>
              </a:spcAft>
            </a:pPr>
            <a:r>
              <a:rPr lang="ja-JP" altLang="en-US" sz="1000" b="1" dirty="0">
                <a:solidFill>
                  <a:sysClr val="windowText" lastClr="000000"/>
                </a:solidFill>
                <a:latin typeface="游ゴシック"/>
                <a:ea typeface="游ゴシック"/>
              </a:rPr>
              <a:t>≪写真≫</a:t>
            </a:r>
          </a:p>
          <a:p>
            <a:pPr>
              <a:spcAft>
                <a:spcPts val="300"/>
              </a:spcAft>
            </a:pPr>
            <a:r>
              <a:rPr lang="ja-JP" altLang="en-US" sz="900" b="0" dirty="0">
                <a:solidFill>
                  <a:sysClr val="windowText" lastClr="000000"/>
                </a:solidFill>
                <a:latin typeface="游ゴシック"/>
                <a:ea typeface="游ゴシック"/>
              </a:rPr>
              <a:t>・社屋外観・市場内観・周辺地図は売主様より写真を受領後に掲載予定。</a:t>
            </a:r>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不動産概況</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事業用地3拠点（計4,263㎡）と建物7棟をすべて法人で所有し、賃借物件はない。土地の時価（固定資産税評価額÷0.7）は約67,825千円。</a:t>
            </a:r>
          </a:p>
        </p:txBody>
      </p:sp>
      <p:graphicFrame>
        <p:nvGraphicFramePr>
          <p:cNvPr id="14" name="表（不動産概況!B4:J9）"/>
          <p:cNvGraphicFramePr>
            <a:graphicFrameLocks noGrp="1"/>
          </p:cNvGraphicFramePr>
          <p:nvPr/>
        </p:nvGraphicFramePr>
        <p:xfrm>
          <a:off x="310896" y="1463040"/>
          <a:ext cx="10058395" cy="2019300"/>
        </p:xfrm>
        <a:graphic>
          <a:graphicData uri="http://schemas.openxmlformats.org/drawingml/2006/table">
            <a:tbl>
              <a:tblPr firstRow="0" bandRow="0">
                <a:tableStyleId>{2D5ABB26-0587-4C30-8999-92F81FD0307C}</a:tableStyleId>
              </a:tblPr>
              <a:tblGrid>
                <a:gridCol w="982807"/>
                <a:gridCol w="2292827"/>
                <a:gridCol w="888649"/>
                <a:gridCol w="795174"/>
                <a:gridCol w="1824768"/>
                <a:gridCol w="888649"/>
                <a:gridCol w="888649"/>
                <a:gridCol w="888649"/>
                <a:gridCol w="608223"/>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拠点</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土地の</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建物の所有区分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土地時価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建物固定資産税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担保</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810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法人（5棟／延床1,246.20㎡）</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51,230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22,295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法人（2棟／延床766.48㎡）</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21,380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24,767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81000">
                <a:tc>
                  <a:txBody>
                    <a:bodyPr/>
                    <a:lstStyle/>
                    <a:p>
                      <a:pPr algn="l" fontAlgn="ctr"/>
                      <a:r>
                        <a:rPr lang="ja-JP" altLang="en-US" sz="1050" b="0" i="0" dirty="0">
                          <a:solidFill>
                            <a:srgbClr val="000000"/>
                          </a:solidFill>
                          <a:latin typeface="游ゴシック"/>
                          <a:ea typeface="游ゴシック"/>
                        </a:rPr>
                        <a:t>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建物なし（課税明細なし。要確認）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4,262.53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法人 7棟</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93,137</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67,825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47,062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359206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※面積は登記地積（固定資産税課税明細書）。土地時価＝固定資産税評価額÷0.7（推計）。建物評価額は令和8年度固定資産税評価額。</a:t>
            </a:r>
          </a:p>
          <a:p>
            <a:pPr algn="l"/>
            <a:r>
              <a:rPr sz="800" b="0">
                <a:solidFill>
                  <a:srgbClr val="000000"/>
                </a:solidFill>
                <a:latin typeface="游ゴシック"/>
                <a:ea typeface="游ゴシック"/>
              </a:rPr>
              <a:t>※担保設定の状況は不動産登記簿謄本（未受領）により確認予定。</a:t>
            </a:r>
          </a:p>
        </p:txBody>
      </p:sp>
      <p:sp>
        <p:nvSpPr>
          <p:cNvPr id="16" name="Rectangle 15"/>
          <p:cNvSpPr/>
          <p:nvPr/>
        </p:nvSpPr>
        <p:spPr>
          <a:xfrm>
            <a:off x="310896" y="4480560"/>
            <a:ext cx="1280160" cy="17373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7" name="Rectangle 16"/>
          <p:cNvSpPr/>
          <p:nvPr/>
        </p:nvSpPr>
        <p:spPr>
          <a:xfrm>
            <a:off x="1645920" y="4480560"/>
            <a:ext cx="8723376" cy="17373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000" b="0">
                <a:solidFill>
                  <a:srgbClr val="000000"/>
                </a:solidFill>
                <a:latin typeface="游ゴシック"/>
                <a:ea typeface="游ゴシック"/>
              </a:rPr>
              <a:t>■ 本社・市場とパッケージ場は隣接する一団の土地であり、事業用地はすべて法人所有。地代家賃の負担がなく、拠点の継続性が高い。</a:t>
            </a:r>
          </a:p>
          <a:p>
            <a:pPr algn="l">
              <a:spcAft>
                <a:spcPts val="400"/>
              </a:spcAft>
            </a:pPr>
            <a:r>
              <a:rPr sz="1000" b="0">
                <a:solidFill>
                  <a:srgbClr val="000000"/>
                </a:solidFill>
                <a:latin typeface="游ゴシック"/>
                <a:ea typeface="游ゴシック"/>
              </a:rPr>
              <a:t>■ 土地時価約67.8百万円・建物評価額約47.1百万円の資産を保有。一方、土地の帳簿価額93.1百万円は時価推計を上回り、時価純資産の減少要因（△25.3百万円）となる。</a:t>
            </a:r>
          </a:p>
          <a:p>
            <a:pPr algn="l">
              <a:spcAft>
                <a:spcPts val="400"/>
              </a:spcAft>
            </a:pPr>
            <a:r>
              <a:rPr sz="1000" b="0">
                <a:solidFill>
                  <a:srgbClr val="000000"/>
                </a:solidFill>
                <a:latin typeface="游ゴシック"/>
                <a:ea typeface="游ゴシック"/>
              </a:rPr>
              <a:t>■ 主要建物は1981〜82年築。改修を継続しており、耐震性・今後の更新計画は要確認。</a:t>
            </a:r>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0896" y="519226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土地3筆・建物7棟を所有。土地の簿価93.1百万円に対し、固定資産税評価額ベースの時価推計は約68百万円。</a:t>
            </a:r>
          </a:p>
        </p:txBody>
      </p:sp>
      <p:graphicFrame>
        <p:nvGraphicFramePr>
          <p:cNvPr id="14" name="表（不動産詳細!B4:I17）"/>
          <p:cNvGraphicFramePr>
            <a:graphicFrameLocks noGrp="1"/>
          </p:cNvGraphicFramePr>
          <p:nvPr/>
        </p:nvGraphicFramePr>
        <p:xfrm>
          <a:off x="310896" y="1847088"/>
          <a:ext cx="10058395" cy="3162300"/>
        </p:xfrm>
        <a:graphic>
          <a:graphicData uri="http://schemas.openxmlformats.org/drawingml/2006/table">
            <a:tbl>
              <a:tblPr firstRow="0" bandRow="0">
                <a:tableStyleId>{2D5ABB26-0587-4C30-8999-92F81FD0307C}</a:tableStyleId>
              </a:tblPr>
              <a:tblGrid>
                <a:gridCol w="1221909"/>
                <a:gridCol w="2209073"/>
                <a:gridCol w="846238"/>
                <a:gridCol w="2209073"/>
                <a:gridCol w="987457"/>
                <a:gridCol w="892854"/>
                <a:gridCol w="892854"/>
                <a:gridCol w="798937"/>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900" b="0" i="0" dirty="0">
                          <a:solidFill>
                            <a:srgbClr val="FFFFFF"/>
                          </a:solidFill>
                          <a:latin typeface="游ゴシック"/>
                          <a:ea typeface="游ゴシック"/>
                        </a:rPr>
                        <a:t>区分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所在地</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面積</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地目・構造</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建築年</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期末簿価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固定資産税</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評価額(千円)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0" i="0" dirty="0">
                          <a:solidFill>
                            <a:srgbClr val="FFFFFF"/>
                          </a:solidFill>
                          <a:latin typeface="游ゴシック"/>
                          <a:ea typeface="游ゴシック"/>
                        </a:rPr>
                        <a:t>時価</a:t>
                      </a:r>
                      <a:endParaRPr lang="ja-JP" altLang="en-US" sz="900" b="0" i="0" dirty="0">
                        <a:solidFill>
                          <a:srgbClr val="FFFFFF"/>
                        </a:solidFill>
                        <a:latin typeface="游ゴシック"/>
                        <a:ea typeface="游ゴシック"/>
                      </a:endParaRPr>
                    </a:p>
                    <a:p>
                      <a:pPr algn="ctr" fontAlgn="ctr"/>
                      <a:r>
                        <a:rPr lang="ja-JP" altLang="en-US" sz="900" b="0" i="0" dirty="0">
                          <a:solidFill>
                            <a:srgbClr val="FFFFFF"/>
                          </a:solidFill>
                          <a:latin typeface="游ゴシック"/>
                          <a:ea typeface="游ゴシック"/>
                        </a:rPr>
                        <a:t>(千円)</a:t>
                      </a:r>
                      <a:endParaRPr lang="ja-JP" altLang="en-US" sz="9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3,100.22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宅地（市場・事務所・倉庫）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70,757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35,861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51,230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900.50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宅地（パッケージ場・倉庫）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21,380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15,086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土地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東田川郡庄内町長沼字宮前304-7</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261.81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宅地（倉庫敷地）</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1,000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1,056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1,509</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土地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4,262.53</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93,137</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47,478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67,825</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15900">
                <a:tc>
                  <a:txBody>
                    <a:bodyPr/>
                    <a:lstStyle/>
                    <a:p>
                      <a:pPr algn="l" fontAlgn="ctr"/>
                      <a:r>
                        <a:rPr lang="ja-JP" altLang="en-US" sz="950" b="0" i="0" dirty="0">
                          <a:solidFill>
                            <a:srgbClr val="000000"/>
                          </a:solidFill>
                          <a:latin typeface="游ゴシック"/>
                          <a:ea typeface="游ゴシック"/>
                        </a:rPr>
                        <a:t>事務所</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365.63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11,218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市場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320.22</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327.13</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4,561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198.74</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1,237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貯蔵庫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鶴岡市宝田一丁目4-2</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34.48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軽量鉄骨造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1981年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567</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事務所兼倉庫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627.40</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2階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1982年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13,111</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0" i="0" dirty="0">
                          <a:solidFill>
                            <a:srgbClr val="000000"/>
                          </a:solidFill>
                          <a:latin typeface="游ゴシック"/>
                          <a:ea typeface="游ゴシック"/>
                        </a:rPr>
                        <a:t>倉庫</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50" b="0" i="0" dirty="0">
                          <a:solidFill>
                            <a:srgbClr val="000000"/>
                          </a:solidFill>
                          <a:latin typeface="游ゴシック"/>
                          <a:ea typeface="游ゴシック"/>
                        </a:rPr>
                        <a:t>鶴岡市宝田一丁目5-1</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139.08</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50" b="0" i="0" dirty="0">
                          <a:solidFill>
                            <a:srgbClr val="000000"/>
                          </a:solidFill>
                          <a:latin typeface="游ゴシック"/>
                          <a:ea typeface="游ゴシック"/>
                        </a:rPr>
                        <a:t>鉄骨造 亜鉛メッキ鋼板葺 1階</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50" b="0" i="0" dirty="0">
                          <a:solidFill>
                            <a:srgbClr val="000000"/>
                          </a:solidFill>
                          <a:latin typeface="游ゴシック"/>
                          <a:ea typeface="游ゴシック"/>
                        </a:rPr>
                        <a:t>2012年</a:t>
                      </a:r>
                      <a:endParaRPr lang="ja-JP" altLang="en-US" sz="9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11,656</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50" b="0" i="0" dirty="0">
                          <a:solidFill>
                            <a:srgbClr val="000000"/>
                          </a:solidFill>
                          <a:latin typeface="Arial"/>
                          <a:ea typeface="游ゴシック Medium"/>
                        </a:rPr>
                        <a:t>－</a:t>
                      </a:r>
                      <a:endParaRPr lang="ja-JP" altLang="en-US" sz="9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50" b="1" i="0" dirty="0">
                          <a:solidFill>
                            <a:srgbClr val="000000"/>
                          </a:solidFill>
                          <a:latin typeface="游ゴシック"/>
                          <a:ea typeface="游ゴシック"/>
                        </a:rPr>
                        <a:t>建物 計</a:t>
                      </a: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2,012.68</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92,066</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47,062</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50" b="1" i="0" dirty="0">
                          <a:solidFill>
                            <a:srgbClr val="000000"/>
                          </a:solidFill>
                          <a:latin typeface="Arial"/>
                          <a:ea typeface="游ゴシック Medium"/>
                        </a:rPr>
                        <a:t>－</a:t>
                      </a:r>
                      <a:endParaRPr lang="ja-JP" altLang="en-US" sz="9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1965960" y="5192268"/>
            <a:ext cx="8229600" cy="356616"/>
          </a:xfrm>
          <a:prstGeom prst="rect">
            <a:avLst/>
          </a:prstGeom>
          <a:noFill/>
        </p:spPr>
        <p:txBody>
          <a:bodyPr wrap="square" lIns="0" rIns="0" tIns="0" bIns="0" anchor="ctr">
            <a:spAutoFit/>
          </a:bodyPr>
          <a:lstStyle/>
          <a:p>
            <a:pPr algn="l"/>
            <a:r>
              <a:rPr sz="1050" b="0">
                <a:solidFill>
                  <a:srgbClr val="000000"/>
                </a:solidFill>
                <a:latin typeface="游ゴシック"/>
                <a:ea typeface="游ゴシック"/>
              </a:rPr>
              <a:t>賃借物件はありません（地代家賃の計上なし）。</a:t>
            </a:r>
          </a:p>
        </p:txBody>
      </p:sp>
      <p:sp>
        <p:nvSpPr>
          <p:cNvPr id="16" name="TextBox 15"/>
          <p:cNvSpPr txBox="1"/>
          <p:nvPr/>
        </p:nvSpPr>
        <p:spPr>
          <a:xfrm>
            <a:off x="310896" y="56951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※建物の簿価は棟別ではなく改修工事を含めた合計（BS建物）。棟別の帳簿内訳は「保有設備一覧」に記載。</a:t>
            </a:r>
          </a:p>
          <a:p>
            <a:pPr algn="l"/>
            <a:r>
              <a:rPr sz="800" b="0">
                <a:solidFill>
                  <a:srgbClr val="000000"/>
                </a:solidFill>
                <a:latin typeface="游ゴシック"/>
                <a:ea typeface="游ゴシック"/>
              </a:rPr>
              <a:t>※1981年築の建物は新耐震基準（1981年6月施行）の適用有無を建築確認日で要確認。土地の時価は鑑定・路線価で要確認。</a:t>
            </a:r>
          </a:p>
        </p:txBody>
      </p:sp>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機械・車両は償却済み（集配車両はリースと推察）。建物は屋根・外壁・シャッター・冷蔵庫ユニット等の改修を継続して資産計上。</a:t>
            </a:r>
          </a:p>
        </p:txBody>
      </p:sp>
      <p:graphicFrame>
        <p:nvGraphicFramePr>
          <p:cNvPr id="14" name="表（設備!B4:E32）"/>
          <p:cNvGraphicFramePr>
            <a:graphicFrameLocks noGrp="1"/>
          </p:cNvGraphicFramePr>
          <p:nvPr/>
        </p:nvGraphicFramePr>
        <p:xfrm>
          <a:off x="310896" y="1371600"/>
          <a:ext cx="5394958" cy="4838700"/>
        </p:xfrm>
        <a:graphic>
          <a:graphicData uri="http://schemas.openxmlformats.org/drawingml/2006/table">
            <a:tbl>
              <a:tblPr firstRow="0" bandRow="0">
                <a:tableStyleId>{2D5ABB26-0587-4C30-8999-92F81FD0307C}</a:tableStyleId>
              </a:tblPr>
              <a:tblGrid>
                <a:gridCol w="1948284"/>
                <a:gridCol w="1598610"/>
                <a:gridCol w="848998"/>
                <a:gridCol w="999066"/>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建物内訳（用途）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所在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面積(㎡)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65100">
                <a:tc>
                  <a:txBody>
                    <a:bodyPr/>
                    <a:lstStyle/>
                    <a:p>
                      <a:pPr algn="l" fontAlgn="ctr"/>
                      <a:r>
                        <a:rPr lang="ja-JP" altLang="en-US" sz="800" b="0" i="0" dirty="0">
                          <a:solidFill>
                            <a:srgbClr val="000000"/>
                          </a:solidFill>
                          <a:latin typeface="游ゴシック"/>
                          <a:ea typeface="游ゴシック"/>
                        </a:rPr>
                        <a:t>管理棟</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20,193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荷捌市場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5,899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320.20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198.70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物置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34.40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容器倉庫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シャッター取替</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改修工事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629.34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シャッター更新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プレハブ修繕</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不用材置場</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倉庫</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宝田一丁目5-1</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2階改修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6,404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1階トイレ改修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3,391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屋根改修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下屋修理・塗装</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パッケージ場外壁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宝田一丁目5-20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6,815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冷蔵庫ユニット交換工事</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シャッター</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資材倉庫外壁改修（2025年5月）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0" i="0" dirty="0">
                          <a:solidFill>
                            <a:srgbClr val="000000"/>
                          </a:solidFill>
                          <a:latin typeface="游ゴシック"/>
                          <a:ea typeface="游ゴシック"/>
                        </a:rPr>
                        <a:t>資材倉庫シャッター（2025年5月）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800" b="0" i="0" dirty="0">
                          <a:solidFill>
                            <a:srgbClr val="000000"/>
                          </a:solidFill>
                          <a:latin typeface="游ゴシック"/>
                          <a:ea typeface="游ゴシック"/>
                        </a:rPr>
                        <a:t>宝田一丁目4-20</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8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65100">
                <a:tc>
                  <a:txBody>
                    <a:bodyPr/>
                    <a:lstStyle/>
                    <a:p>
                      <a:pPr algn="l" fontAlgn="ctr"/>
                      <a:r>
                        <a:rPr lang="ja-JP" altLang="en-US" sz="800" b="1" i="0" dirty="0">
                          <a:solidFill>
                            <a:srgbClr val="000000"/>
                          </a:solidFill>
                          <a:latin typeface="游ゴシック"/>
                          <a:ea typeface="游ゴシック"/>
                        </a:rPr>
                        <a:t>建物 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78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endParaRPr lang="ja-JP" altLang="en-US" sz="78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92,066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graphicFrame>
        <p:nvGraphicFramePr>
          <p:cNvPr id="15" name="表（設備!G36:I45）"/>
          <p:cNvGraphicFramePr>
            <a:graphicFrameLocks noGrp="1"/>
          </p:cNvGraphicFramePr>
          <p:nvPr/>
        </p:nvGraphicFramePr>
        <p:xfrm>
          <a:off x="5989320" y="1371600"/>
          <a:ext cx="4389118" cy="2832100"/>
        </p:xfrm>
        <a:graphic>
          <a:graphicData uri="http://schemas.openxmlformats.org/drawingml/2006/table">
            <a:tbl>
              <a:tblPr firstRow="0" bandRow="0">
                <a:tableStyleId>{2D5ABB26-0587-4C30-8999-92F81FD0307C}</a:tableStyleId>
              </a:tblPr>
              <a:tblGrid>
                <a:gridCol w="1282026"/>
                <a:gridCol w="936782"/>
                <a:gridCol w="217031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90500">
                <a:tc>
                  <a:txBody>
                    <a:bodyPr/>
                    <a:lstStyle/>
                    <a:p>
                      <a:pPr algn="ctr" fontAlgn="ctr"/>
                      <a:r>
                        <a:rPr lang="ja-JP" altLang="en-US" sz="800" b="0" i="0" dirty="0">
                          <a:solidFill>
                            <a:srgbClr val="FFFFFF"/>
                          </a:solidFill>
                          <a:latin typeface="游ゴシック"/>
                          <a:ea typeface="游ゴシック"/>
                        </a:rPr>
                        <a:t>区分</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簿価(2026/3末)</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備考</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17500">
                <a:tc>
                  <a:txBody>
                    <a:bodyPr/>
                    <a:lstStyle/>
                    <a:p>
                      <a:pPr algn="l" fontAlgn="ctr"/>
                      <a:r>
                        <a:rPr lang="ja-JP" altLang="en-US" sz="800" b="0" i="0" dirty="0">
                          <a:solidFill>
                            <a:srgbClr val="000000"/>
                          </a:solidFill>
                          <a:latin typeface="游ゴシック"/>
                          <a:ea typeface="游ゴシック"/>
                        </a:rPr>
                        <a:t>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左表の内訳のとおり。改修工事を資産計上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冷蔵庫ユニット・シャッター等（内訳は台帳で要確認）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備忘価額のみ（償却済）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備忘価額のみ。集配車両はリースと推察（要確認）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17500">
                <a:tc>
                  <a:txBody>
                    <a:bodyPr/>
                    <a:lstStyle/>
                    <a:p>
                      <a:pPr algn="l" fontAlgn="ctr"/>
                      <a:r>
                        <a:rPr lang="ja-JP" altLang="en-US" sz="800" b="0" i="0" dirty="0">
                          <a:solidFill>
                            <a:srgbClr val="000000"/>
                          </a:solidFill>
                          <a:latin typeface="游ゴシック"/>
                          <a:ea typeface="游ゴシック"/>
                        </a:rPr>
                        <a:t>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00" b="0" i="0" dirty="0">
                          <a:solidFill>
                            <a:srgbClr val="000000"/>
                          </a:solidFill>
                          <a:latin typeface="游ゴシック"/>
                          <a:ea typeface="游ゴシック"/>
                        </a:rPr>
                        <a:t>販売管理システム等と推察（要確認）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28600">
                <a:tc>
                  <a:txBody>
                    <a:bodyPr/>
                    <a:lstStyle/>
                    <a:p>
                      <a:pPr algn="l" fontAlgn="ctr"/>
                      <a:r>
                        <a:rPr lang="ja-JP" altLang="en-US" sz="800" b="1" i="0" dirty="0">
                          <a:solidFill>
                            <a:srgbClr val="000000"/>
                          </a:solidFill>
                          <a:latin typeface="游ゴシック"/>
                          <a:ea typeface="游ゴシック"/>
                        </a:rPr>
                        <a:t>合計</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104,140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6" name="TextBox 15"/>
          <p:cNvSpPr txBox="1"/>
          <p:nvPr/>
        </p:nvSpPr>
        <p:spPr>
          <a:xfrm>
            <a:off x="5989320" y="4295140"/>
            <a:ext cx="4389120" cy="493776"/>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※固定資産内訳書（2026/3期末）。固定資産台帳は未受領</a:t>
            </a:r>
          </a:p>
          <a:p>
            <a:pPr algn="l"/>
            <a:r>
              <a:rPr sz="800" b="0">
                <a:solidFill>
                  <a:srgbClr val="000000"/>
                </a:solidFill>
                <a:latin typeface="游ゴシック"/>
                <a:ea typeface="游ゴシック"/>
              </a:rPr>
              <a:t>　のため、冷蔵設備・フォークリフト・車両等の明細は</a:t>
            </a:r>
          </a:p>
          <a:p>
            <a:pPr algn="l"/>
            <a:r>
              <a:rPr sz="800" b="0">
                <a:solidFill>
                  <a:srgbClr val="000000"/>
                </a:solidFill>
                <a:latin typeface="游ゴシック"/>
                <a:ea typeface="游ゴシック"/>
              </a:rPr>
              <a:t>　受領後に追加。リース契約の一覧は資料依頼中。</a:t>
            </a: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直近3期の貸借対照表。借入金の返済により総資産は652百万円→485百万円へ圧縮。市場用地等の事業用資産を自社で保有している。</a:t>
            </a:r>
          </a:p>
        </p:txBody>
      </p:sp>
      <p:graphicFrame>
        <p:nvGraphicFramePr>
          <p:cNvPr id="14" name="表（貸借対照表!B4:E37）"/>
          <p:cNvGraphicFramePr>
            <a:graphicFrameLocks noGrp="1"/>
          </p:cNvGraphicFramePr>
          <p:nvPr/>
        </p:nvGraphicFramePr>
        <p:xfrm>
          <a:off x="310896" y="1325880"/>
          <a:ext cx="4956047" cy="5090130"/>
        </p:xfrm>
        <a:graphic>
          <a:graphicData uri="http://schemas.openxmlformats.org/drawingml/2006/table">
            <a:tbl>
              <a:tblPr firstRow="0" bandRow="0">
                <a:tableStyleId>{2D5ABB26-0587-4C30-8999-92F81FD0307C}</a:tableStyleId>
              </a:tblPr>
              <a:tblGrid>
                <a:gridCol w="2147984"/>
                <a:gridCol w="936021"/>
                <a:gridCol w="936021"/>
                <a:gridCol w="936021"/>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r>
              <a:tr h="160020">
                <a:tc gridSpan="4">
                  <a:txBody>
                    <a:bodyPr/>
                    <a:lstStyle/>
                    <a:p>
                      <a:pPr algn="ctr" fontAlgn="ctr"/>
                      <a:r>
                        <a:rPr lang="ja-JP" altLang="en-US" sz="800" b="0" i="0" dirty="0">
                          <a:solidFill>
                            <a:srgbClr val="FFFFFF"/>
                          </a:solidFill>
                          <a:latin typeface="游ゴシック"/>
                          <a:ea typeface="游ゴシック"/>
                        </a:rPr>
                        <a:t>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375,589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303,101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249,705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現金及び預金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339,553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259,719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210,887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21,897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資材肥料売掛金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1,269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棚卸資産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立替金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未収入金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3,905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仮払税金等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276,115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264,261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235,485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［有形固定資産］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216,357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204,260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196,906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建物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92,066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建物付属設備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13,503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構築物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機械装置</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車両運搬具</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5,838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工具器具備品</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288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土地</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93,137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［無形固定資産］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2,871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2,699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電話加入権</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ソフトウェア</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［投資その他の資産］</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56,887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57,302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36,052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60020">
                <a:tc>
                  <a:txBody>
                    <a:bodyPr/>
                    <a:lstStyle/>
                    <a:p>
                      <a:pPr algn="l" fontAlgn="ctr"/>
                      <a:r>
                        <a:rPr lang="ja-JP" altLang="en-US" sz="800" b="0" i="0" dirty="0">
                          <a:solidFill>
                            <a:srgbClr val="000000"/>
                          </a:solidFill>
                          <a:latin typeface="游ゴシック"/>
                          <a:ea typeface="游ゴシック"/>
                        </a:rPr>
                        <a:t>　投資有価証券</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3,250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出資金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長期前払費用</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32,003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33,003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33,303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事業保険積立金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21,162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【繰延資産】</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244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5" name="表（貸借対照表!G5:J16）"/>
          <p:cNvGraphicFramePr>
            <a:graphicFrameLocks noGrp="1"/>
          </p:cNvGraphicFramePr>
          <p:nvPr/>
        </p:nvGraphicFramePr>
        <p:xfrm>
          <a:off x="5376672" y="1516380"/>
          <a:ext cx="4956047" cy="1793230"/>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負債の部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000000"/>
                          </a:solidFill>
                          <a:latin typeface="游ゴシック"/>
                          <a:ea typeface="游ゴシック"/>
                        </a:rPr>
                        <a:t>【流動負債】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34,109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29,456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37,280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買掛金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19,955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26,349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10,199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7,303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6,630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1,851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未払消費税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2,970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【固定負債】</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525,010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444,316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370,038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長期借入金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434,046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361,058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預り保証金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10,320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10,270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負債合計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559,119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473,772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407,318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graphicFrame>
        <p:nvGraphicFramePr>
          <p:cNvPr id="16" name="表（貸借対照表!G31:J37）"/>
          <p:cNvGraphicFramePr>
            <a:graphicFrameLocks noGrp="1"/>
          </p:cNvGraphicFramePr>
          <p:nvPr/>
        </p:nvGraphicFramePr>
        <p:xfrm>
          <a:off x="5376672" y="5372099"/>
          <a:ext cx="4956047" cy="1043934"/>
        </p:xfrm>
        <a:graphic>
          <a:graphicData uri="http://schemas.openxmlformats.org/drawingml/2006/table">
            <a:tbl>
              <a:tblPr firstRow="0" bandRow="0">
                <a:tableStyleId>{2D5ABB26-0587-4C30-8999-92F81FD0307C}</a:tableStyleId>
              </a:tblPr>
              <a:tblGrid>
                <a:gridCol w="2147984"/>
                <a:gridCol w="936021"/>
                <a:gridCol w="936021"/>
                <a:gridCol w="936021"/>
              </a:tblGrid>
              <a:tr h="160020">
                <a:tc gridSpan="4">
                  <a:txBody>
                    <a:bodyPr/>
                    <a:lstStyle/>
                    <a:p>
                      <a:pPr algn="ctr" fontAlgn="ctr"/>
                      <a:r>
                        <a:rPr lang="ja-JP" altLang="en-US" sz="800" b="0" i="0" dirty="0">
                          <a:solidFill>
                            <a:srgbClr val="FFFFFF"/>
                          </a:solidFill>
                          <a:latin typeface="游ゴシック"/>
                          <a:ea typeface="游ゴシック"/>
                        </a:rPr>
                        <a:t>純資産の部</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6350">
                      <a:noFill/>
                    </a:lnR>
                    <a:lnT w="6350">
                      <a:noFill/>
                    </a:lnT>
                    <a:lnB w="6350">
                      <a:solidFill>
                        <a:srgbClr val="A6A6A6"/>
                      </a:solidFill>
                    </a:lnB>
                    <a:no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【資本金】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40,000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【利益剰余金】</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52,828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53,757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37,873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利益準備金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繰越利益剰余金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51,028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51,757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35,793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92,828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93,757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77,873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1" i="0" dirty="0">
                          <a:solidFill>
                            <a:srgbClr val="FFFFFF"/>
                          </a:solidFill>
                          <a:latin typeface="游ゴシック"/>
                          <a:ea typeface="游ゴシック"/>
                        </a:rPr>
                        <a:t>負債・純資産合計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651,948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567,529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485,190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売上高は約12億円で推移。2026/3期は営業利益5.9百万円・経常利益8.1百万円、保険積立金の取崩しにより当期純損失15.1百万円。</a:t>
            </a:r>
          </a:p>
        </p:txBody>
      </p:sp>
      <p:sp>
        <p:nvSpPr>
          <p:cNvPr id="2" name="正方形/長方形 1">
            <a:extLst>
              <a:ext uri="{FF2B5EF4-FFF2-40B4-BE49-F238E27FC236}">
                <a16:creationId xmlns:a16="http://schemas.microsoft.com/office/drawing/2014/main" id="{BF27BA7A-9153-58C5-3140-5975C57507B3}"/>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≪売上高≫</a:t>
            </a:r>
          </a:p>
          <a:p>
            <a:pPr>
              <a:spcAft>
                <a:spcPts val="300"/>
              </a:spcAft>
            </a:pPr>
            <a:r>
              <a:rPr lang="ja-JP" altLang="en-US" sz="900" b="0" dirty="0">
                <a:solidFill>
                  <a:sysClr val="windowText" lastClr="000000"/>
                </a:solidFill>
                <a:latin typeface="游ゴシック"/>
                <a:ea typeface="游ゴシック"/>
              </a:rPr>
              <a:t>・決算書では「商品売上高」1本で表示。受託販売は2019年10月以降、手数料のみの純額表示。</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≪売上原価≫</a:t>
            </a:r>
          </a:p>
          <a:p>
            <a:pPr>
              <a:spcAft>
                <a:spcPts val="300"/>
              </a:spcAft>
            </a:pPr>
            <a:r>
              <a:rPr lang="ja-JP" altLang="en-US" sz="900" b="0" dirty="0">
                <a:solidFill>
                  <a:sysClr val="windowText" lastClr="000000"/>
                </a:solidFill>
                <a:latin typeface="游ゴシック"/>
                <a:ea typeface="游ゴシック"/>
              </a:rPr>
              <a:t>・粗利率は18.6%→17.9%→16.6%。棚卸資産は最終仕入原価法で評価。</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≪営業外損益≫</a:t>
            </a:r>
          </a:p>
          <a:p>
            <a:pPr>
              <a:spcAft>
                <a:spcPts val="300"/>
              </a:spcAft>
            </a:pPr>
            <a:r>
              <a:rPr lang="ja-JP" altLang="en-US" sz="900" b="0" dirty="0">
                <a:solidFill>
                  <a:sysClr val="windowText" lastClr="000000"/>
                </a:solidFill>
                <a:latin typeface="游ゴシック"/>
                <a:ea typeface="游ゴシック"/>
              </a:rPr>
              <a:t>・受取奨励金（毎期約2.3〜2.5百万円）、雑収入（仲卸業者等からのゴミ処理料・冷蔵庫保管料等）を計上。支払利息は年約4百万円。</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≪特別損益≫</a:t>
            </a:r>
          </a:p>
          <a:p>
            <a:pPr>
              <a:spcAft>
                <a:spcPts val="300"/>
              </a:spcAft>
            </a:pPr>
            <a:r>
              <a:rPr lang="ja-JP" altLang="en-US" sz="900" b="0" dirty="0">
                <a:solidFill>
                  <a:sysClr val="windowText" lastClr="000000"/>
                </a:solidFill>
                <a:latin typeface="游ゴシック"/>
                <a:ea typeface="游ゴシック"/>
              </a:rPr>
              <a:t>・2026/3期の前期損益修正損20,900千円は過年度の保険解約に係る訂正額（非経常）。</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≪進行期≫</a:t>
            </a:r>
          </a:p>
          <a:p>
            <a:pPr>
              <a:spcAft>
                <a:spcPts val="300"/>
              </a:spcAft>
            </a:pPr>
            <a:r>
              <a:rPr lang="ja-JP" altLang="en-US" sz="900" b="0" dirty="0">
                <a:solidFill>
                  <a:sysClr val="windowText" lastClr="000000"/>
                </a:solidFill>
                <a:latin typeface="游ゴシック"/>
                <a:ea typeface="游ゴシック"/>
              </a:rPr>
              <a:t>・2026年4〜7月（4か月累計）の売上高は411,155千円、営業利益は5,317千円（試算表）。繁忙期を含むため年換算しない。</a:t>
            </a:r>
          </a:p>
        </p:txBody>
      </p:sp>
      <p:graphicFrame>
        <p:nvGraphicFramePr>
          <p:cNvPr id="14" name="表（損益計算書!B4:H37）"/>
          <p:cNvGraphicFramePr>
            <a:graphicFrameLocks noGrp="1"/>
          </p:cNvGraphicFramePr>
          <p:nvPr/>
        </p:nvGraphicFramePr>
        <p:xfrm>
          <a:off x="310896" y="1325880"/>
          <a:ext cx="5989316" cy="5077429"/>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商品売上高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1,179,974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1,183,309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1,197,530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売上割戻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△1,361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売上高</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1,178,489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1,181,947</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1,195,893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100.0%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期首棚卸高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当期仕入高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953,298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976,236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996,035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期末棚卸高</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△9,860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△15,444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000000"/>
                          </a:solidFill>
                          <a:latin typeface="游ゴシック"/>
                          <a:ea typeface="游ゴシック"/>
                        </a:rPr>
                        <a:t>売上原価</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958,909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81.4%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970,652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82.1%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996,882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83.4%</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売上総利益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219,580</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211,296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17.9%</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199,011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16.6%</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000000"/>
                          </a:solidFill>
                          <a:latin typeface="游ゴシック"/>
                          <a:ea typeface="游ゴシック"/>
                        </a:rPr>
                        <a:t>販売費及び一般管理費</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214,823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215,718</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18.3%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193,151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16.2%</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1" i="0" dirty="0">
                          <a:solidFill>
                            <a:srgbClr val="FFFFFF"/>
                          </a:solidFill>
                          <a:latin typeface="游ゴシック"/>
                          <a:ea typeface="游ゴシック"/>
                        </a:rPr>
                        <a:t>営業利益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4,757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△4,423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△0.4%</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5,860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受取利息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受取配当金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2,284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受取延滞料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雑収入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8,142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8,067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3,670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営業外収益計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10,628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10,737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6,578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支払利息</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3,962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3,896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出荷奨励金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雑損失</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営業外費用計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4,068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4,133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FFFFFF"/>
                          </a:solidFill>
                          <a:latin typeface="游ゴシック"/>
                          <a:ea typeface="游ゴシック"/>
                        </a:rPr>
                        <a:t>経常利益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11,317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1.0%</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2,181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8,068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固定資産売却益</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1,609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貸倒引当金戻入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176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特別利益計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1,887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0" i="0" dirty="0">
                          <a:solidFill>
                            <a:srgbClr val="000000"/>
                          </a:solidFill>
                          <a:latin typeface="游ゴシック"/>
                          <a:ea typeface="游ゴシック"/>
                        </a:rPr>
                        <a:t>　固定資産売却除却損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貸倒引当金繰入</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237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前期損益修正損</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特別損失計</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439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234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21,103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c>
                  <a:txBody>
                    <a:bodyPr/>
                    <a:lstStyle/>
                    <a:p>
                      <a:pPr algn="r" fontAlgn="ctr"/>
                      <a:r>
                        <a:rPr lang="ja-JP" altLang="en-US" sz="800" b="0" i="0" dirty="0">
                          <a:solidFill>
                            <a:srgbClr val="000000"/>
                          </a:solidFill>
                          <a:latin typeface="Arial"/>
                          <a:ea typeface="游ゴシック Medium"/>
                        </a:rPr>
                        <a:t>1.8%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0B3041"/>
                      </a:solidFill>
                    </a:lnB>
                    <a:noFill/>
                  </a:tcPr>
                </a:tc>
              </a:tr>
              <a:tr h="147319">
                <a:tc>
                  <a:txBody>
                    <a:bodyPr/>
                    <a:lstStyle/>
                    <a:p>
                      <a:pPr algn="l" fontAlgn="ctr"/>
                      <a:r>
                        <a:rPr lang="ja-JP" altLang="en-US" sz="800" b="1" i="0" dirty="0">
                          <a:solidFill>
                            <a:srgbClr val="000000"/>
                          </a:solidFill>
                          <a:latin typeface="游ゴシック"/>
                          <a:ea typeface="游ゴシック"/>
                        </a:rPr>
                        <a:t>税引前当期純利益</a:t>
                      </a:r>
                      <a:endParaRPr lang="ja-JP" altLang="en-US" sz="80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12,765</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3,793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0.3%</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△12,801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800" b="1" i="0" dirty="0">
                          <a:solidFill>
                            <a:srgbClr val="000000"/>
                          </a:solidFill>
                          <a:latin typeface="Arial"/>
                          <a:ea typeface="游ゴシック Medium"/>
                        </a:rPr>
                        <a:t>△1.1%</a:t>
                      </a:r>
                      <a:endParaRPr lang="ja-JP" altLang="en-US" sz="80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47319">
                <a:tc>
                  <a:txBody>
                    <a:bodyPr/>
                    <a:lstStyle/>
                    <a:p>
                      <a:pPr algn="l" fontAlgn="ctr"/>
                      <a:r>
                        <a:rPr lang="ja-JP" altLang="en-US" sz="800" b="0" i="0" dirty="0">
                          <a:solidFill>
                            <a:srgbClr val="000000"/>
                          </a:solidFill>
                          <a:latin typeface="游ゴシック"/>
                          <a:ea typeface="游ゴシック"/>
                        </a:rPr>
                        <a:t>　法人税等</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2,283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当期純利益</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9,107</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2,929</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0.2%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△15,085</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販管費は約2億円で、人件費（約105百万円）と運賃・車両関連費（約39百万円）が中心。</a:t>
            </a:r>
          </a:p>
        </p:txBody>
      </p:sp>
      <p:sp>
        <p:nvSpPr>
          <p:cNvPr id="2" name="正方形/長方形 1">
            <a:extLst>
              <a:ext uri="{FF2B5EF4-FFF2-40B4-BE49-F238E27FC236}">
                <a16:creationId xmlns:a16="http://schemas.microsoft.com/office/drawing/2014/main" id="{CBEBB478-5E89-4238-4A34-967912E35C60}"/>
              </a:ext>
            </a:extLst>
          </p:cNvPr>
          <p:cNvSpPr/>
          <p:nvPr/>
        </p:nvSpPr>
        <p:spPr>
          <a:xfrm>
            <a:off x="6455664" y="1371600"/>
            <a:ext cx="3922776"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6455664" y="1920240"/>
            <a:ext cx="3895344" cy="493776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≪人件費≫</a:t>
            </a:r>
          </a:p>
          <a:p>
            <a:pPr>
              <a:spcAft>
                <a:spcPts val="300"/>
              </a:spcAft>
            </a:pPr>
            <a:r>
              <a:rPr lang="ja-JP" altLang="en-US" sz="900" b="0" dirty="0">
                <a:solidFill>
                  <a:sysClr val="windowText" lastClr="000000"/>
                </a:solidFill>
                <a:latin typeface="游ゴシック"/>
                <a:ea typeface="游ゴシック"/>
              </a:rPr>
              <a:t>・役員報酬は22,200→15,360千円に減少。2026/3期は賞与の計上なし（要確認）。退職金は中小企業退職金共済で積立。</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≪運賃・車両関連費≫</a:t>
            </a:r>
          </a:p>
          <a:p>
            <a:pPr>
              <a:spcAft>
                <a:spcPts val="300"/>
              </a:spcAft>
            </a:pPr>
            <a:r>
              <a:rPr lang="ja-JP" altLang="en-US" sz="900" b="0" dirty="0">
                <a:solidFill>
                  <a:sysClr val="windowText" lastClr="000000"/>
                </a:solidFill>
                <a:latin typeface="游ゴシック"/>
                <a:ea typeface="游ゴシック"/>
              </a:rPr>
              <a:t>・集配業務に伴う費用。車両は償却済みで、リース（年約6百万円）を利用。</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≪租税公課≫</a:t>
            </a:r>
          </a:p>
          <a:p>
            <a:pPr>
              <a:spcAft>
                <a:spcPts val="300"/>
              </a:spcAft>
            </a:pPr>
            <a:r>
              <a:rPr lang="ja-JP" altLang="en-US" sz="900" b="0" dirty="0">
                <a:solidFill>
                  <a:sysClr val="windowText" lastClr="000000"/>
                </a:solidFill>
                <a:latin typeface="游ゴシック"/>
                <a:ea typeface="游ゴシック"/>
              </a:rPr>
              <a:t>・消費税は税込経理のため、納付消費税相当が租税公課に含まれる。</a:t>
            </a:r>
          </a:p>
          <a:p>
            <a:pPr>
              <a:spcAft>
                <a:spcPts val="300"/>
              </a:spcAft>
            </a:pPr>
            <a:endParaRPr lang="ja-JP" sz="450"/>
          </a:p>
          <a:p>
            <a:pPr>
              <a:spcAft>
                <a:spcPts val="300"/>
              </a:spcAft>
            </a:pPr>
            <a:r>
              <a:rPr lang="ja-JP" altLang="en-US" sz="1000" b="1" dirty="0">
                <a:solidFill>
                  <a:sysClr val="windowText" lastClr="000000"/>
                </a:solidFill>
                <a:latin typeface="游ゴシック"/>
                <a:ea typeface="游ゴシック"/>
              </a:rPr>
              <a:t>≪減価償却費≫</a:t>
            </a:r>
          </a:p>
          <a:p>
            <a:pPr>
              <a:spcAft>
                <a:spcPts val="300"/>
              </a:spcAft>
            </a:pPr>
            <a:r>
              <a:rPr lang="ja-JP" altLang="en-US" sz="900" b="0" dirty="0">
                <a:solidFill>
                  <a:sysClr val="windowText" lastClr="000000"/>
                </a:solidFill>
                <a:latin typeface="游ゴシック"/>
                <a:ea typeface="游ゴシック"/>
              </a:rPr>
              <a:t>・13,664→8,879千円へ減少（車両等の償却終了）。</a:t>
            </a:r>
          </a:p>
        </p:txBody>
      </p:sp>
      <p:graphicFrame>
        <p:nvGraphicFramePr>
          <p:cNvPr id="14" name="表（販管費!B4:H34）"/>
          <p:cNvGraphicFramePr>
            <a:graphicFrameLocks noGrp="1"/>
          </p:cNvGraphicFramePr>
          <p:nvPr/>
        </p:nvGraphicFramePr>
        <p:xfrm>
          <a:off x="310896" y="1325880"/>
          <a:ext cx="5989316" cy="4635472"/>
        </p:xfrm>
        <a:graphic>
          <a:graphicData uri="http://schemas.openxmlformats.org/drawingml/2006/table">
            <a:tbl>
              <a:tblPr firstRow="0" bandRow="0">
                <a:tableStyleId>{2D5ABB26-0587-4C30-8999-92F81FD0307C}</a:tableStyleId>
              </a:tblPr>
              <a:tblGrid>
                <a:gridCol w="1769498"/>
                <a:gridCol w="819741"/>
                <a:gridCol w="586865"/>
                <a:gridCol w="819741"/>
                <a:gridCol w="586865"/>
                <a:gridCol w="819741"/>
                <a:gridCol w="586865"/>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00" b="0" i="0" dirty="0">
                          <a:solidFill>
                            <a:srgbClr val="000000"/>
                          </a:solidFill>
                          <a:latin typeface="游ゴシック"/>
                          <a:ea typeface="游ゴシック"/>
                        </a:rPr>
                        <a:t>(単位：千円)</a:t>
                      </a:r>
                      <a:endParaRPr lang="ja-JP" altLang="en-US" sz="8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60020">
                <a:tc rowSpan="2">
                  <a:txBody>
                    <a:bodyPr/>
                    <a:lstStyle/>
                    <a:p>
                      <a:pPr algn="ctr" fontAlgn="ctr"/>
                      <a:r>
                        <a:rPr lang="ja-JP" altLang="en-US" sz="800" b="0" i="0" dirty="0">
                          <a:solidFill>
                            <a:srgbClr val="FFFFFF"/>
                          </a:solidFill>
                          <a:latin typeface="游ゴシック"/>
                          <a:ea typeface="游ゴシック"/>
                        </a:rPr>
                        <a:t>科目</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800" b="0" i="0" dirty="0">
                          <a:solidFill>
                            <a:srgbClr val="FFFFFF"/>
                          </a:solidFill>
                          <a:latin typeface="游ゴシック"/>
                          <a:ea typeface="游ゴシック"/>
                        </a:rPr>
                        <a:t>2024年3月期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2025年3月期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800" b="0" i="0" dirty="0">
                          <a:solidFill>
                            <a:srgbClr val="FFFFFF"/>
                          </a:solidFill>
                          <a:latin typeface="游ゴシック"/>
                          <a:ea typeface="游ゴシック"/>
                        </a:rPr>
                        <a:t>2026年3月期</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r>
              <a:tr h="160020">
                <a:tc vMerge="1">
                  <a:txBody>
                    <a:bodyPr/>
                    <a:lstStyle/>
                    <a:p>
                      <a:pPr algn="l" fontAlgn="ctr"/>
                      <a:endParaRPr lang="ja-JP" altLang="en-US" sz="756" b="0" i="0" dirty="0">
                        <a:solidFill>
                          <a:srgbClr val="000000"/>
                        </a:solidFill>
                        <a:latin typeface="Calibri"/>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帳簿価額</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00" b="0" i="0" dirty="0">
                          <a:solidFill>
                            <a:srgbClr val="FFFFFF"/>
                          </a:solidFill>
                          <a:latin typeface="游ゴシック"/>
                          <a:ea typeface="游ゴシック"/>
                        </a:rPr>
                        <a:t>売上高比</a:t>
                      </a:r>
                      <a:endParaRPr lang="ja-JP" altLang="en-US" sz="8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47319">
                <a:tc>
                  <a:txBody>
                    <a:bodyPr/>
                    <a:lstStyle/>
                    <a:p>
                      <a:pPr algn="l" fontAlgn="ctr"/>
                      <a:r>
                        <a:rPr lang="ja-JP" altLang="en-US" sz="800" b="0" i="0" dirty="0">
                          <a:solidFill>
                            <a:srgbClr val="000000"/>
                          </a:solidFill>
                          <a:latin typeface="游ゴシック"/>
                          <a:ea typeface="游ゴシック"/>
                        </a:rPr>
                        <a:t>　役員報酬</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22,200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15,360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給料手当</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73,148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74,179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71,673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賞与</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6,002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5,693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退職金共済掛金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3,175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3,166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3,026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退職金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法定福利費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15,154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14,913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13,296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福利厚生費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595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広告宣伝費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旅費交通費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通信費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1,143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1,192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車両関連費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8,475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10,126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9,862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運賃</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27,547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29,494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28,997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振込手数料負担金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123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215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委託手数料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3,709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3,539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4,075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接待交際費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3,475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2,486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1,580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水道光熱費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4,424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4,701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4,685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95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租税公課</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14,465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12,814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12,177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支払手数料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1,546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1,597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諸会費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181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138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寄付金</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リース料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4,712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6,711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6,227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支払保険料</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2,772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1,431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1,542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修繕費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1,170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708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事務用消耗品費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2,033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1,935</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2,336</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減価償却費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13,664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12,558</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1.1%</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8,879</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0.7%</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0" i="0" dirty="0">
                          <a:solidFill>
                            <a:srgbClr val="000000"/>
                          </a:solidFill>
                          <a:latin typeface="游ゴシック"/>
                          <a:ea typeface="游ゴシック"/>
                        </a:rPr>
                        <a:t>　雑費</a:t>
                      </a:r>
                      <a:endParaRPr lang="ja-JP" altLang="en-US" sz="8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800" b="0" i="0" dirty="0">
                          <a:solidFill>
                            <a:srgbClr val="000000"/>
                          </a:solidFill>
                          <a:latin typeface="Arial"/>
                          <a:ea typeface="游ゴシック Medium"/>
                        </a:rPr>
                        <a:t>4,522</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4,393</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4,690</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00" b="0" i="0" dirty="0">
                          <a:solidFill>
                            <a:srgbClr val="000000"/>
                          </a:solidFill>
                          <a:latin typeface="Arial"/>
                          <a:ea typeface="游ゴシック Medium"/>
                        </a:rPr>
                        <a:t>0.4%</a:t>
                      </a:r>
                      <a:endParaRPr lang="ja-JP" altLang="en-US" sz="80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147319">
                <a:tc>
                  <a:txBody>
                    <a:bodyPr/>
                    <a:lstStyle/>
                    <a:p>
                      <a:pPr algn="l" fontAlgn="ctr"/>
                      <a:r>
                        <a:rPr lang="ja-JP" altLang="en-US" sz="800" b="1" i="0" dirty="0">
                          <a:solidFill>
                            <a:srgbClr val="FFFFFF"/>
                          </a:solidFill>
                          <a:latin typeface="游ゴシック"/>
                          <a:ea typeface="游ゴシック"/>
                        </a:rPr>
                        <a:t>販売費及び一般管理費 計</a:t>
                      </a:r>
                      <a:endParaRPr lang="ja-JP" altLang="en-US" sz="8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214,823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215,718</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18.3%</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193,151</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r" fontAlgn="ctr"/>
                      <a:r>
                        <a:rPr lang="ja-JP" altLang="en-US" sz="800" b="1" i="0" dirty="0">
                          <a:solidFill>
                            <a:srgbClr val="FFFFFF"/>
                          </a:solidFill>
                          <a:latin typeface="Arial"/>
                          <a:ea typeface="游ゴシック Medium"/>
                        </a:rPr>
                        <a:t>16.2%</a:t>
                      </a:r>
                      <a:endParaRPr lang="ja-JP" altLang="en-US" sz="800" b="1" i="0" dirty="0">
                        <a:solidFill>
                          <a:srgbClr val="FFFFFF"/>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bl>
          </a:graphicData>
        </a:graphic>
      </p:graphicFrame>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1973年の設立以来、鶴岡市宝田を拠点に青果物卸売を継続。施設の改修を重ねながら市場を運営している。</a:t>
            </a:r>
          </a:p>
        </p:txBody>
      </p:sp>
      <p:graphicFrame>
        <p:nvGraphicFramePr>
          <p:cNvPr id="14" name="表（沿革!B4:C13）"/>
          <p:cNvGraphicFramePr>
            <a:graphicFrameLocks noGrp="1"/>
          </p:cNvGraphicFramePr>
          <p:nvPr/>
        </p:nvGraphicFramePr>
        <p:xfrm>
          <a:off x="448056" y="1463040"/>
          <a:ext cx="9793223" cy="3340100"/>
        </p:xfrm>
        <a:graphic>
          <a:graphicData uri="http://schemas.openxmlformats.org/drawingml/2006/table">
            <a:tbl>
              <a:tblPr firstRow="0" bandRow="0">
                <a:tableStyleId>{2D5ABB26-0587-4C30-8999-92F81FD0307C}</a:tableStyleId>
              </a:tblPr>
              <a:tblGrid>
                <a:gridCol w="1784772"/>
                <a:gridCol w="8008451"/>
              </a:tblGrid>
              <a:tr h="254000">
                <a:tc>
                  <a:txBody>
                    <a:bodyPr/>
                    <a:lstStyle/>
                    <a:p>
                      <a:pPr algn="ctr" fontAlgn="ctr"/>
                      <a:r>
                        <a:rPr lang="ja-JP" altLang="en-US" sz="1000" b="0" i="0" dirty="0">
                          <a:solidFill>
                            <a:srgbClr val="FFFFFF"/>
                          </a:solidFill>
                          <a:latin typeface="游ゴシック"/>
                          <a:ea typeface="游ゴシック"/>
                        </a:rPr>
                        <a:t>年月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主な出来事</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42900">
                <a:tc>
                  <a:txBody>
                    <a:bodyPr/>
                    <a:lstStyle/>
                    <a:p>
                      <a:pPr algn="l" fontAlgn="ctr"/>
                      <a:r>
                        <a:rPr lang="ja-JP" altLang="en-US" sz="1050" b="0" i="0" dirty="0">
                          <a:solidFill>
                            <a:srgbClr val="000000"/>
                          </a:solidFill>
                          <a:latin typeface="游ゴシック"/>
                          <a:ea typeface="游ゴシック"/>
                        </a:rPr>
                        <a:t>1973年11月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株式会社鶴岡中央青果を設立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1981〜82年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現本社地（宝田一丁目）に事務所・市場・倉庫・パッケージ場（事務所兼倉庫）を建築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1984年11月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住居表示の実施により本店所在地の表記が「鶴岡市宝田一丁目4番20号」となる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地方卸売市場としての開設・認定（山形県資料に記載あり。年月は要確認）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2006年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会社法施行に伴い取締役会設置会社・監査役設置会社の登記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定款の目的を変更（現行：青果物の販売及び卸売、倉庫業ほか）。宝田一丁目5-1に倉庫（鉄骨造139㎡）を新築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2019年10月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受託販売の会計表示を総額から純額（受託手数料のみ）へ変更</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2025年5月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資材倉庫の外壁・シャッターを改修</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役員改選（取締役3名重任、常務取締役退任）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448056" y="4894580"/>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※出所：履歴事項全部証明書、固定資産税課税明細書、個別注記表、固定資産内訳書、山形県公表資料。創業の経緯・代表者の経歴は売主様へ確認中。</a:t>
            </a:r>
          </a:p>
        </p:txBody>
      </p:sp>
    </p:spTree>
    <p:extLst>
      <p:ext uri="{BB962C8B-B14F-4D97-AF65-F5344CB8AC3E}">
        <p14:creationId xmlns:p14="http://schemas.microsoft.com/office/powerpoint/2010/main" val="3914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7509-A147-F771-4D5B-58FD19177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98C8B8-8318-9D2C-71AB-4A0772618FCB}"/>
              </a:ext>
            </a:extLst>
          </p:cNvPr>
          <p:cNvSpPr>
            <a:spLocks noGrp="1"/>
          </p:cNvSpPr>
          <p:nvPr>
            <p:ph type="ctrTitle"/>
          </p:nvPr>
        </p:nvSpPr>
        <p:spPr>
          <a:xfrm>
            <a:off x="311150" y="180296"/>
            <a:ext cx="7799917" cy="339267"/>
          </a:xfrm>
        </p:spPr>
        <p:txBody>
          <a:bodyPr>
            <a:normAutofit/>
          </a:bodyPr>
          <a:lstStyle/>
          <a:p>
            <a:r>
              <a:rPr lang="ja-JP" altLang="en-US" dirty="0"/>
              <a:t>事業概要</a:t>
            </a:r>
          </a:p>
        </p:txBody>
      </p:sp>
      <p:sp>
        <p:nvSpPr>
          <p:cNvPr id="5" name="タイトル 1">
            <a:extLst>
              <a:ext uri="{FF2B5EF4-FFF2-40B4-BE49-F238E27FC236}">
                <a16:creationId xmlns:a16="http://schemas.microsoft.com/office/drawing/2014/main" id="{3612E327-1829-4D56-4AD9-5013C3211CE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エグゼクティブサマリー</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96CF066E-37EF-5081-6153-116AC130DDF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青果物の地方卸売市場を自ら運営する「開設者兼卸売業者」。受託集荷と買付で品揃えを確保し、セリ・相対による卸売から小分け・包装、配送、資材販売まで一貫して担う。</a:t>
            </a:r>
          </a:p>
        </p:txBody>
      </p:sp>
      <p:sp>
        <p:nvSpPr>
          <p:cNvPr id="14" name="TextBox 13"/>
          <p:cNvSpPr txBox="1"/>
          <p:nvPr/>
        </p:nvSpPr>
        <p:spPr>
          <a:xfrm>
            <a:off x="310896" y="1536192"/>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事業フロー</a:t>
            </a:r>
          </a:p>
        </p:txBody>
      </p:sp>
      <p:sp>
        <p:nvSpPr>
          <p:cNvPr id="15" name="Rectangle 14"/>
          <p:cNvSpPr/>
          <p:nvPr/>
        </p:nvSpPr>
        <p:spPr>
          <a:xfrm>
            <a:off x="3108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集荷・仕入</a:t>
            </a:r>
          </a:p>
        </p:txBody>
      </p:sp>
      <p:sp>
        <p:nvSpPr>
          <p:cNvPr id="16" name="Rectangle 15"/>
          <p:cNvSpPr/>
          <p:nvPr/>
        </p:nvSpPr>
        <p:spPr>
          <a:xfrm>
            <a:off x="3108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近郷の生産者等からの受託</a:t>
            </a:r>
          </a:p>
          <a:p>
            <a:pPr algn="ctr"/>
            <a:r>
              <a:rPr sz="850" b="0">
                <a:solidFill>
                  <a:srgbClr val="000000"/>
                </a:solidFill>
                <a:latin typeface="游ゴシック"/>
                <a:ea typeface="游ゴシック"/>
              </a:rPr>
              <a:t>県内外の市場・産地からの買付</a:t>
            </a:r>
          </a:p>
        </p:txBody>
      </p:sp>
      <p:cxnSp>
        <p:nvCxnSpPr>
          <p:cNvPr id="17" name="Connector 16"/>
          <p:cNvCxnSpPr/>
          <p:nvPr/>
        </p:nvCxnSpPr>
        <p:spPr>
          <a:xfrm>
            <a:off x="1700784" y="1975104"/>
            <a:ext cx="192023"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911095"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卸売</a:t>
            </a:r>
          </a:p>
        </p:txBody>
      </p:sp>
      <p:sp>
        <p:nvSpPr>
          <p:cNvPr id="19" name="Rectangle 18"/>
          <p:cNvSpPr/>
          <p:nvPr/>
        </p:nvSpPr>
        <p:spPr>
          <a:xfrm>
            <a:off x="1911095"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セリ・相対による販売</a:t>
            </a:r>
          </a:p>
          <a:p>
            <a:pPr algn="ctr"/>
            <a:r>
              <a:rPr sz="850" b="0">
                <a:solidFill>
                  <a:srgbClr val="000000"/>
                </a:solidFill>
                <a:latin typeface="游ゴシック"/>
                <a:ea typeface="游ゴシック"/>
              </a:rPr>
              <a:t>（仲卸業者・買参人）</a:t>
            </a:r>
          </a:p>
          <a:p>
            <a:pPr algn="ctr"/>
            <a:r>
              <a:rPr sz="850" b="0">
                <a:solidFill>
                  <a:srgbClr val="000000"/>
                </a:solidFill>
                <a:latin typeface="游ゴシック"/>
                <a:ea typeface="游ゴシック"/>
              </a:rPr>
              <a:t>量販店等への直接販売</a:t>
            </a:r>
          </a:p>
        </p:txBody>
      </p:sp>
      <p:cxnSp>
        <p:nvCxnSpPr>
          <p:cNvPr id="20" name="Connector 19"/>
          <p:cNvCxnSpPr/>
          <p:nvPr/>
        </p:nvCxnSpPr>
        <p:spPr>
          <a:xfrm>
            <a:off x="3300984" y="1975104"/>
            <a:ext cx="1920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5112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パッケージ</a:t>
            </a:r>
          </a:p>
        </p:txBody>
      </p:sp>
      <p:sp>
        <p:nvSpPr>
          <p:cNvPr id="22" name="Rectangle 21"/>
          <p:cNvSpPr/>
          <p:nvPr/>
        </p:nvSpPr>
        <p:spPr>
          <a:xfrm>
            <a:off x="35112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小分け・包装</a:t>
            </a:r>
          </a:p>
          <a:p>
            <a:pPr algn="ctr"/>
            <a:r>
              <a:rPr sz="850" b="0">
                <a:solidFill>
                  <a:srgbClr val="000000"/>
                </a:solidFill>
                <a:latin typeface="游ゴシック"/>
                <a:ea typeface="游ゴシック"/>
              </a:rPr>
              <a:t>（パッケージ部7名）</a:t>
            </a:r>
          </a:p>
        </p:txBody>
      </p:sp>
      <p:cxnSp>
        <p:nvCxnSpPr>
          <p:cNvPr id="23" name="Connector 22"/>
          <p:cNvCxnSpPr/>
          <p:nvPr/>
        </p:nvCxnSpPr>
        <p:spPr>
          <a:xfrm>
            <a:off x="4901183" y="1975104"/>
            <a:ext cx="192025"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114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配送・センター</a:t>
            </a:r>
          </a:p>
        </p:txBody>
      </p:sp>
      <p:sp>
        <p:nvSpPr>
          <p:cNvPr id="25" name="Rectangle 24"/>
          <p:cNvSpPr/>
          <p:nvPr/>
        </p:nvSpPr>
        <p:spPr>
          <a:xfrm>
            <a:off x="51114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集配部による配送</a:t>
            </a:r>
          </a:p>
          <a:p>
            <a:pPr algn="ctr"/>
            <a:r>
              <a:rPr sz="850" b="0">
                <a:solidFill>
                  <a:srgbClr val="000000"/>
                </a:solidFill>
                <a:latin typeface="游ゴシック"/>
                <a:ea typeface="游ゴシック"/>
              </a:rPr>
              <a:t>量販店向けセンター業務</a:t>
            </a:r>
          </a:p>
          <a:p>
            <a:pPr algn="ctr"/>
            <a:r>
              <a:rPr sz="850" b="0">
                <a:solidFill>
                  <a:srgbClr val="000000"/>
                </a:solidFill>
                <a:latin typeface="游ゴシック"/>
                <a:ea typeface="游ゴシック"/>
              </a:rPr>
              <a:t>（推察）</a:t>
            </a:r>
          </a:p>
        </p:txBody>
      </p:sp>
      <p:sp>
        <p:nvSpPr>
          <p:cNvPr id="26" name="TextBox 25"/>
          <p:cNvSpPr txBox="1"/>
          <p:nvPr/>
        </p:nvSpPr>
        <p:spPr>
          <a:xfrm>
            <a:off x="310896" y="3246120"/>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主な取扱品目・機能</a:t>
            </a:r>
          </a:p>
        </p:txBody>
      </p:sp>
      <p:sp>
        <p:nvSpPr>
          <p:cNvPr id="27" name="Rectangle 26"/>
          <p:cNvSpPr/>
          <p:nvPr/>
        </p:nvSpPr>
        <p:spPr>
          <a:xfrm>
            <a:off x="3108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野菜</a:t>
            </a:r>
          </a:p>
          <a:p>
            <a:pPr algn="l"/>
            <a:r>
              <a:rPr sz="900" b="0">
                <a:solidFill>
                  <a:srgbClr val="000000"/>
                </a:solidFill>
                <a:latin typeface="游ゴシック"/>
                <a:ea typeface="游ゴシック"/>
              </a:rPr>
              <a:t>近郷部・野菜営業部が担当。地場野菜（だだちゃ豆等）を含む</a:t>
            </a:r>
          </a:p>
        </p:txBody>
      </p:sp>
      <p:sp>
        <p:nvSpPr>
          <p:cNvPr id="28" name="Rectangle 27"/>
          <p:cNvSpPr/>
          <p:nvPr/>
        </p:nvSpPr>
        <p:spPr>
          <a:xfrm>
            <a:off x="35112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果実</a:t>
            </a:r>
          </a:p>
          <a:p>
            <a:pPr algn="l"/>
            <a:r>
              <a:rPr sz="900" b="0">
                <a:solidFill>
                  <a:srgbClr val="000000"/>
                </a:solidFill>
                <a:latin typeface="游ゴシック"/>
                <a:ea typeface="游ゴシック"/>
              </a:rPr>
              <a:t>果実営業部が担当。庄内柿・メロン・和梨/洋梨等の地場産品</a:t>
            </a:r>
          </a:p>
        </p:txBody>
      </p:sp>
      <p:sp>
        <p:nvSpPr>
          <p:cNvPr id="29" name="Rectangle 28"/>
          <p:cNvSpPr/>
          <p:nvPr/>
        </p:nvSpPr>
        <p:spPr>
          <a:xfrm>
            <a:off x="3108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生花</a:t>
            </a:r>
          </a:p>
          <a:p>
            <a:pPr algn="l"/>
            <a:r>
              <a:rPr sz="900" b="0">
                <a:solidFill>
                  <a:srgbClr val="000000"/>
                </a:solidFill>
                <a:latin typeface="游ゴシック"/>
                <a:ea typeface="游ゴシック"/>
              </a:rPr>
              <a:t>生花部（1名）による取扱い</a:t>
            </a:r>
          </a:p>
        </p:txBody>
      </p:sp>
      <p:sp>
        <p:nvSpPr>
          <p:cNvPr id="30" name="Rectangle 29"/>
          <p:cNvSpPr/>
          <p:nvPr/>
        </p:nvSpPr>
        <p:spPr>
          <a:xfrm>
            <a:off x="35112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資材・肥料</a:t>
            </a:r>
          </a:p>
          <a:p>
            <a:pPr algn="l"/>
            <a:r>
              <a:rPr sz="900" b="0">
                <a:solidFill>
                  <a:srgbClr val="000000"/>
                </a:solidFill>
                <a:latin typeface="游ゴシック"/>
                <a:ea typeface="游ゴシック"/>
              </a:rPr>
              <a:t>資材部によるパック・容器・肥料の販売</a:t>
            </a:r>
          </a:p>
        </p:txBody>
      </p:sp>
      <p:sp>
        <p:nvSpPr>
          <p:cNvPr id="31" name="TextBox 30"/>
          <p:cNvSpPr txBox="1"/>
          <p:nvPr/>
        </p:nvSpPr>
        <p:spPr>
          <a:xfrm>
            <a:off x="310896" y="5166360"/>
            <a:ext cx="630936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※取扱品目の構成比は資料依頼中。特産品はWebサイト掲載内容による。</a:t>
            </a:r>
          </a:p>
        </p:txBody>
      </p:sp>
      <p:sp>
        <p:nvSpPr>
          <p:cNvPr id="32" name="Rectangle 31"/>
          <p:cNvSpPr/>
          <p:nvPr/>
        </p:nvSpPr>
        <p:spPr>
          <a:xfrm>
            <a:off x="6812280" y="1536192"/>
            <a:ext cx="3566160" cy="320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FFFFFF"/>
                </a:solidFill>
                <a:latin typeface="游ゴシック"/>
                <a:ea typeface="游ゴシック"/>
              </a:rPr>
              <a:t>主な事業・サービス</a:t>
            </a:r>
          </a:p>
        </p:txBody>
      </p:sp>
      <p:sp>
        <p:nvSpPr>
          <p:cNvPr id="33" name="Rectangle 32"/>
          <p:cNvSpPr/>
          <p:nvPr/>
        </p:nvSpPr>
        <p:spPr>
          <a:xfrm>
            <a:off x="6812280" y="1938528"/>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1</a:t>
            </a:r>
          </a:p>
        </p:txBody>
      </p:sp>
      <p:sp>
        <p:nvSpPr>
          <p:cNvPr id="34" name="TextBox 33"/>
          <p:cNvSpPr txBox="1"/>
          <p:nvPr/>
        </p:nvSpPr>
        <p:spPr>
          <a:xfrm>
            <a:off x="7269480" y="1938528"/>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青果物の卸売（買付販売）</a:t>
            </a:r>
          </a:p>
          <a:p>
            <a:pPr algn="l"/>
            <a:r>
              <a:rPr sz="900" b="0">
                <a:solidFill>
                  <a:srgbClr val="000000"/>
                </a:solidFill>
                <a:latin typeface="游ゴシック"/>
                <a:ea typeface="游ゴシック"/>
              </a:rPr>
              <a:t>野菜・果実を買い付け、仲卸業者・量販店等へ販売</a:t>
            </a:r>
          </a:p>
        </p:txBody>
      </p:sp>
      <p:sp>
        <p:nvSpPr>
          <p:cNvPr id="35" name="Rectangle 34"/>
          <p:cNvSpPr/>
          <p:nvPr/>
        </p:nvSpPr>
        <p:spPr>
          <a:xfrm>
            <a:off x="6812280" y="2788920"/>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2</a:t>
            </a:r>
          </a:p>
        </p:txBody>
      </p:sp>
      <p:sp>
        <p:nvSpPr>
          <p:cNvPr id="36" name="TextBox 35"/>
          <p:cNvSpPr txBox="1"/>
          <p:nvPr/>
        </p:nvSpPr>
        <p:spPr>
          <a:xfrm>
            <a:off x="7269480" y="2788920"/>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青果物の卸売（受託販売）</a:t>
            </a:r>
          </a:p>
          <a:p>
            <a:pPr algn="l"/>
            <a:r>
              <a:rPr sz="900" b="0">
                <a:solidFill>
                  <a:srgbClr val="000000"/>
                </a:solidFill>
                <a:latin typeface="游ゴシック"/>
                <a:ea typeface="游ゴシック"/>
              </a:rPr>
              <a:t>出荷者から委託を受けセリ・相対で販売し、委託手数料を収受</a:t>
            </a:r>
          </a:p>
        </p:txBody>
      </p:sp>
      <p:sp>
        <p:nvSpPr>
          <p:cNvPr id="37" name="Rectangle 36"/>
          <p:cNvSpPr/>
          <p:nvPr/>
        </p:nvSpPr>
        <p:spPr>
          <a:xfrm>
            <a:off x="6812280" y="3639312"/>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3</a:t>
            </a:r>
          </a:p>
        </p:txBody>
      </p:sp>
      <p:sp>
        <p:nvSpPr>
          <p:cNvPr id="38" name="TextBox 37"/>
          <p:cNvSpPr txBox="1"/>
          <p:nvPr/>
        </p:nvSpPr>
        <p:spPr>
          <a:xfrm>
            <a:off x="7269480" y="3639312"/>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パッケージ・配送</a:t>
            </a:r>
          </a:p>
          <a:p>
            <a:pPr algn="l"/>
            <a:r>
              <a:rPr sz="900" b="0">
                <a:solidFill>
                  <a:srgbClr val="000000"/>
                </a:solidFill>
                <a:latin typeface="游ゴシック"/>
                <a:ea typeface="游ゴシック"/>
              </a:rPr>
              <a:t>小分け・包装と集配。量販店向けセンター業務（推察）</a:t>
            </a:r>
          </a:p>
        </p:txBody>
      </p:sp>
      <p:sp>
        <p:nvSpPr>
          <p:cNvPr id="39" name="Rectangle 38"/>
          <p:cNvSpPr/>
          <p:nvPr/>
        </p:nvSpPr>
        <p:spPr>
          <a:xfrm>
            <a:off x="6812280" y="4489704"/>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4</a:t>
            </a:r>
          </a:p>
        </p:txBody>
      </p:sp>
      <p:sp>
        <p:nvSpPr>
          <p:cNvPr id="40" name="TextBox 39"/>
          <p:cNvSpPr txBox="1"/>
          <p:nvPr/>
        </p:nvSpPr>
        <p:spPr>
          <a:xfrm>
            <a:off x="7269480" y="4489704"/>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資材・肥料販売</a:t>
            </a:r>
          </a:p>
          <a:p>
            <a:pPr algn="l"/>
            <a:r>
              <a:rPr sz="900" b="0">
                <a:solidFill>
                  <a:srgbClr val="000000"/>
                </a:solidFill>
                <a:latin typeface="游ゴシック"/>
                <a:ea typeface="游ゴシック"/>
              </a:rPr>
              <a:t>包装資材・肥料を生産者等へ販売</a:t>
            </a:r>
          </a:p>
        </p:txBody>
      </p:sp>
      <p:sp>
        <p:nvSpPr>
          <p:cNvPr id="41" name="Rectangle 40"/>
          <p:cNvSpPr/>
          <p:nvPr/>
        </p:nvSpPr>
        <p:spPr>
          <a:xfrm>
            <a:off x="310896" y="5532120"/>
            <a:ext cx="10058400" cy="10515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5532120"/>
            <a:ext cx="1097280" cy="10515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強み</a:t>
            </a:r>
          </a:p>
        </p:txBody>
      </p:sp>
      <p:sp>
        <p:nvSpPr>
          <p:cNvPr id="43" name="TextBox 42"/>
          <p:cNvSpPr txBox="1"/>
          <p:nvPr/>
        </p:nvSpPr>
        <p:spPr>
          <a:xfrm>
            <a:off x="155448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卸売市場機能（集荷・セリ・分荷）を自社で保有</a:t>
            </a:r>
          </a:p>
        </p:txBody>
      </p:sp>
      <p:sp>
        <p:nvSpPr>
          <p:cNvPr id="44" name="TextBox 43"/>
          <p:cNvSpPr txBox="1"/>
          <p:nvPr/>
        </p:nvSpPr>
        <p:spPr>
          <a:xfrm>
            <a:off x="598932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市場用地・施設を自社で保有し地代負担なし</a:t>
            </a:r>
          </a:p>
        </p:txBody>
      </p:sp>
      <p:sp>
        <p:nvSpPr>
          <p:cNvPr id="45" name="TextBox 44"/>
          <p:cNvSpPr txBox="1"/>
          <p:nvPr/>
        </p:nvSpPr>
        <p:spPr>
          <a:xfrm>
            <a:off x="155448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量販店・生協・学校給食・近隣市場への分散した販路</a:t>
            </a:r>
          </a:p>
        </p:txBody>
      </p:sp>
      <p:sp>
        <p:nvSpPr>
          <p:cNvPr id="46" name="TextBox 45"/>
          <p:cNvSpPr txBox="1"/>
          <p:nvPr/>
        </p:nvSpPr>
        <p:spPr>
          <a:xfrm>
            <a:off x="598932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セリ人資格者3名を含む長期勤続の人材</a:t>
            </a:r>
          </a:p>
        </p:txBody>
      </p:sp>
    </p:spTree>
    <p:extLst>
      <p:ext uri="{BB962C8B-B14F-4D97-AF65-F5344CB8AC3E}">
        <p14:creationId xmlns:p14="http://schemas.microsoft.com/office/powerpoint/2010/main" val="1482897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許認可・加入団体・取引金融機関等の補足情報。地方卸売市場としての位置づけ（卸売市場法上の認定状況）は事業継続の前提となるため、売主様に確認中。</a:t>
            </a:r>
          </a:p>
        </p:txBody>
      </p:sp>
      <p:graphicFrame>
        <p:nvGraphicFramePr>
          <p:cNvPr id="14" name="表（その他補足!B4:C12）"/>
          <p:cNvGraphicFramePr>
            <a:graphicFrameLocks noGrp="1"/>
          </p:cNvGraphicFramePr>
          <p:nvPr/>
        </p:nvGraphicFramePr>
        <p:xfrm>
          <a:off x="448056" y="1508760"/>
          <a:ext cx="9793223" cy="3149600"/>
        </p:xfrm>
        <a:graphic>
          <a:graphicData uri="http://schemas.openxmlformats.org/drawingml/2006/table">
            <a:tbl>
              <a:tblPr firstRow="0" bandRow="0">
                <a:tableStyleId>{2D5ABB26-0587-4C30-8999-92F81FD0307C}</a:tableStyleId>
              </a:tblPr>
              <a:tblGrid>
                <a:gridCol w="1647411"/>
                <a:gridCol w="8145812"/>
              </a:tblGrid>
              <a:tr h="254000">
                <a:tc>
                  <a:txBody>
                    <a:bodyPr/>
                    <a:lstStyle/>
                    <a:p>
                      <a:pPr algn="ctr" fontAlgn="ctr"/>
                      <a:r>
                        <a:rPr lang="ja-JP" altLang="en-US" sz="1000" b="0" i="0" dirty="0">
                          <a:solidFill>
                            <a:srgbClr val="FFFFFF"/>
                          </a:solidFill>
                          <a:latin typeface="游ゴシック"/>
                          <a:ea typeface="游ゴシック"/>
                        </a:rPr>
                        <a:t>項目</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457200">
                <a:tc>
                  <a:txBody>
                    <a:bodyPr/>
                    <a:lstStyle/>
                    <a:p>
                      <a:pPr algn="l" fontAlgn="ctr"/>
                      <a:r>
                        <a:rPr lang="ja-JP" altLang="en-US" sz="1050" b="0" i="0" dirty="0">
                          <a:solidFill>
                            <a:srgbClr val="000000"/>
                          </a:solidFill>
                          <a:latin typeface="游ゴシック"/>
                          <a:ea typeface="游ゴシック"/>
                        </a:rPr>
                        <a:t>許認可</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・地方卸売市場（卸売市場法）：山形県の地方卸売市場一覧に掲載（認定の時期・条件は要確認）</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・倉庫業：定款目的に記載（登録の有無は要確認）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市場関係</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・庄内青果物卸売精算(有)に保証金31,993千円を差入（市場取引の代金精算に係るものと推察）</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・仲卸業者・買参人等から預り保証金8,980千円を受入（相手先は要確認）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加入団体・出資先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・山形県中小商工業協同組合、商工会議所、鶴岡信用金庫（出資金）</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取引金融機関</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・鶴岡信用金庫、山形銀行、荘内銀行、日本政策金融公庫（借入残高は「財務ハイライト（B/S）」参照）</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主な仕入先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・丸果庄内青果(株)、(株)庄果（公設庄内青果物地方卸売市場）、長井中央青果(株)、(株)マルト直治郎商店 ほか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営業時間・定休日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・早朝6時から（終業時刻は要確認）／水・日・祝日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機関設計・株式</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・取締役会設置会社／監査役設置会社（監査の範囲を会計に限定）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・株式の譲渡制限あり（取締役会の承認）。発行済株式4,000株（株主8名）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Webサイト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・http://www.turu-chu.co.jp/（だだちゃ豆・庄内柿等の特産品、安全への取組みを掲載。検索結果の要約であり本文は要確認）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