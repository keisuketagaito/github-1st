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7.svg" ContentType="image/svg+xml"/>
  <Override PartName="/ppt/media/image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38"/>
  </p:notesMasterIdLst>
  <p:sldIdLst>
    <p:sldId id="770" r:id="rId2"/>
    <p:sldId id="269" r:id="rId3"/>
    <p:sldId id="693" r:id="rId4"/>
    <p:sldId id="749" r:id="rId5"/>
    <p:sldId id="748" r:id="rId6"/>
    <p:sldId id="799" r:id="rId33"/>
    <p:sldId id="774" r:id="rId7"/>
    <p:sldId id="775" r:id="rId8"/>
    <p:sldId id="266" r:id="rId9"/>
    <p:sldId id="772" r:id="rId10"/>
    <p:sldId id="776" r:id="rId11"/>
    <p:sldId id="798" r:id="rId12"/>
    <p:sldId id="800" r:id="rId34"/>
    <p:sldId id="796" r:id="rId13"/>
    <p:sldId id="792" r:id="rId14"/>
    <p:sldId id="779" r:id="rId15"/>
    <p:sldId id="797" r:id="rId16"/>
    <p:sldId id="771" r:id="rId17"/>
    <p:sldId id="780" r:id="rId18"/>
    <p:sldId id="789" r:id="rId19"/>
    <p:sldId id="781" r:id="rId20"/>
    <p:sldId id="790" r:id="rId21"/>
    <p:sldId id="793" r:id="rId22"/>
    <p:sldId id="791" r:id="rId23"/>
    <p:sldId id="795" r:id="rId24"/>
    <p:sldId id="773" r:id="rId25"/>
    <p:sldId id="784" r:id="rId26"/>
    <p:sldId id="785" r:id="rId27"/>
    <p:sldId id="787" r:id="rId29"/>
    <p:sldId id="782" r:id="rId30"/>
    <p:sldId id="783" r:id="rId31"/>
    <p:sldId id="788" r:id="rId35"/>
    <p:sldId id="801" r:id="rId36"/>
    <p:sldId id="277" r:id="rId37"/>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774"/>
            <p14:sldId id="775"/>
            <p14:sldId id="266"/>
            <p14:sldId id="772"/>
            <p14:sldId id="776"/>
            <p14:sldId id="798"/>
            <p14:sldId id="796"/>
            <p14:sldId id="792"/>
            <p14:sldId id="779"/>
            <p14:sldId id="797"/>
            <p14:sldId id="771"/>
            <p14:sldId id="780"/>
            <p14:sldId id="789"/>
            <p14:sldId id="781"/>
            <p14:sldId id="790"/>
            <p14:sldId id="793"/>
            <p14:sldId id="791"/>
            <p14:sldId id="795"/>
            <p14:sldId id="773"/>
            <p14:sldId id="784"/>
            <p14:sldId id="785"/>
            <p14:sldId id="786"/>
            <p14:sldId id="787"/>
            <p14:sldId id="782"/>
            <p14:sldId id="783"/>
            <p14:sldId id="794"/>
            <p14:sldId id="799"/>
            <p14:sldId id="800"/>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7" d="100"/>
          <a:sy n="87" d="100"/>
        </p:scale>
        <p:origin x="907" y="5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42" Type="http://customschemas.google.com/relationships/presentationmetadata" Target="meta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a:solidFill>
                  <a:srgbClr val="0B3041"/>
                </a:solidFill>
                <a:latin typeface="游ゴシック"/>
                <a:ea typeface="游ゴシック"/>
              </a:rPr>
              <a:t>月別売上高（百万円）</a:t>
            </a:r>
          </a:p>
        </c:rich>
      </c:tx>
      <c:layout/>
      <c:overlay val="0"/>
    </c:title>
    <c:autoTitleDeleted val="0"/>
    <c:plotArea>
      <c:barChart>
        <c:barDir val="col"/>
        <c:grouping val="clustered"/>
        <c:ser>
          <c:idx val="0"/>
          <c:order val="0"/>
          <c:tx>
            <c:strRef>
              <c:f>Sheet1!$B$1</c:f>
              <c:strCache>
                <c:ptCount val="1"/>
                <c:pt idx="0">
                  <c:v>売上高</c:v>
                </c:pt>
              </c:strCache>
            </c:strRef>
          </c:tx>
          <c:spPr>
            <a:solidFill>
              <a:srgbClr val="0B3041"/>
            </a:solidFill>
          </c:spPr>
          <c:invertIfNegative val="0"/>
          <c:cat>
            <c:strRef>
              <c:f>Sheet1!$A$2:$A$13</c:f>
              <c:strCache>
                <c:ptCount val="12"/>
                <c:pt idx="0">
                  <c:v>4月</c:v>
                </c:pt>
                <c:pt idx="1">
                  <c:v>5月</c:v>
                </c:pt>
                <c:pt idx="2">
                  <c:v>6月</c:v>
                </c:pt>
                <c:pt idx="3">
                  <c:v>7月</c:v>
                </c:pt>
                <c:pt idx="4">
                  <c:v>8月</c:v>
                </c:pt>
                <c:pt idx="5">
                  <c:v>9月</c:v>
                </c:pt>
                <c:pt idx="6">
                  <c:v>10月</c:v>
                </c:pt>
                <c:pt idx="7">
                  <c:v>11月</c:v>
                </c:pt>
                <c:pt idx="8">
                  <c:v>12月</c:v>
                </c:pt>
                <c:pt idx="9">
                  <c:v>1月</c:v>
                </c:pt>
                <c:pt idx="10">
                  <c:v>2月</c:v>
                </c:pt>
                <c:pt idx="11">
                  <c:v>3月</c:v>
                </c:pt>
              </c:strCache>
            </c:strRef>
          </c:cat>
          <c:val>
            <c:numRef>
              <c:f>Sheet1!$B$2:$B$13</c:f>
              <c:numCache>
                <c:formatCode>General</c:formatCode>
                <c:ptCount val="12"/>
                <c:pt idx="0">
                  <c:v>88</c:v>
                </c:pt>
                <c:pt idx="1">
                  <c:v>102</c:v>
                </c:pt>
                <c:pt idx="2">
                  <c:v>84</c:v>
                </c:pt>
                <c:pt idx="3">
                  <c:v>146</c:v>
                </c:pt>
                <c:pt idx="4">
                  <c:v>138</c:v>
                </c:pt>
                <c:pt idx="5">
                  <c:v>110</c:v>
                </c:pt>
                <c:pt idx="6">
                  <c:v>106</c:v>
                </c:pt>
                <c:pt idx="7">
                  <c:v>101</c:v>
                </c:pt>
                <c:pt idx="8">
                  <c:v>98</c:v>
                </c:pt>
                <c:pt idx="9">
                  <c:v>70</c:v>
                </c:pt>
                <c:pt idx="10">
                  <c:v>69</c:v>
                </c:pt>
                <c:pt idx="11">
                  <c:v>84</c:v>
                </c:pt>
              </c:numCache>
            </c:numRef>
          </c:val>
        </c:ser>
        <c:dLbls>
          <c:numFmt formatCode="#,##0" sourceLinked="0"/>
          <c:txPr>
            <a:bodyPr/>
            <a:lstStyle/>
            <a:p>
              <a:pPr>
                <a:defRPr sz="800">
                  <a:solidFill>
                    <a:srgbClr val="333333"/>
                  </a:solidFill>
                  <a:latin typeface="Arial"/>
                </a:defRPr>
              </a:pPr>
            </a:p>
          </c:txPr>
          <c:dLblPos val="outEnd"/>
          <c:showLegendKey val="0"/>
          <c:showVal val="1"/>
          <c:showCatName val="0"/>
          <c:showSerName val="0"/>
          <c:showPercent val="0"/>
          <c:showBubbleSize val="0"/>
          <c:showLeaderLines val="1"/>
        </c:dLbls>
        <c:gapWidth val="60"/>
        <c:overlap val="-8"/>
        <c:axId val="-2068027336"/>
        <c:axId val="-2113994440"/>
      </c:barChart>
      <c:catAx>
        <c:axId val="-2068027336"/>
        <c:scaling>
          <c:orientation val="minMax"/>
        </c:scaling>
        <c:delete val="0"/>
        <c:axPos val="b"/>
        <c:majorTickMark val="out"/>
        <c:minorTickMark val="none"/>
        <c:tickLblPos val="low"/>
        <c:spPr>
          <a:ln>
            <a:solidFill>
              <a:srgbClr val="5A6670"/>
            </a:solidFill>
          </a:ln>
        </c:spPr>
        <c:txPr>
          <a:bodyPr/>
          <a:lstStyle/>
          <a:p>
            <a:pPr>
              <a:defRPr sz="800">
                <a:latin typeface="游ゴシック"/>
              </a:defRPr>
            </a:pPr>
          </a:p>
        </c:txPr>
        <c:crossAx val="-2113994440"/>
        <c:crosses val="autoZero"/>
        <c:auto val="1"/>
        <c:lblAlgn val="ctr"/>
        <c:lblOffset val="100"/>
        <c:noMultiLvlLbl val="0"/>
      </c:catAx>
      <c:valAx>
        <c:axId val="-2113994440"/>
        <c:scaling/>
        <c:delete val="0"/>
        <c:axPos val="l"/>
        <c:majorGridlines>
          <c:spPr>
            <a:ln>
              <a:solidFill>
                <a:srgbClr val="E3E7E9"/>
              </a:solidFill>
            </a:ln>
          </c:spPr>
        </c:majorGridlines>
        <c:numFmt formatCode="#,##0" sourceLinked="0"/>
        <c:majorTickMark val="out"/>
        <c:minorTickMark val="none"/>
        <c:tickLblPos val="nextTo"/>
        <c:spPr>
          <a:ln>
            <a:noFill/>
          </a:ln>
        </c:spPr>
        <c:txPr>
          <a:bodyPr/>
          <a:lstStyle/>
          <a:p>
            <a:pPr>
              <a:defRPr sz="800">
                <a:solidFill>
                  <a:srgbClr val="5A6670"/>
                </a:solidFill>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9</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10</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11</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12</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13</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592E-568B-2BA5-2B19-12B81CE778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A7352E-A782-2B96-F549-A44B4533D5C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F54036B-FC89-BE57-BD1D-9528CDD969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1950A32-E8C7-5909-50B6-CF7BE228A3D0}"/>
              </a:ext>
            </a:extLst>
          </p:cNvPr>
          <p:cNvSpPr>
            <a:spLocks noGrp="1"/>
          </p:cNvSpPr>
          <p:nvPr>
            <p:ph type="sldNum" sz="quarter" idx="5"/>
          </p:nvPr>
        </p:nvSpPr>
        <p:spPr/>
        <p:txBody>
          <a:bodyPr/>
          <a:lstStyle/>
          <a:p>
            <a:fld id="{30FF3BCC-1A43-4D25-8467-E40EF431E2F1}" type="slidenum">
              <a:rPr kumimoji="1" lang="ja-JP" altLang="en-US" smtClean="0"/>
              <a:t>14</a:t>
            </a:fld>
            <a:endParaRPr kumimoji="1" lang="ja-JP" altLang="en-US"/>
          </a:p>
        </p:txBody>
      </p:sp>
    </p:spTree>
    <p:extLst>
      <p:ext uri="{BB962C8B-B14F-4D97-AF65-F5344CB8AC3E}">
        <p14:creationId xmlns:p14="http://schemas.microsoft.com/office/powerpoint/2010/main" val="1617841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16</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17</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18</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19</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142-7613-2F88-6DDF-0AA0B95CE3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A89B74-D534-CC5D-3603-B157866C912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C5E7B25-D992-5558-9CAA-3A2BB05B7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540B3A9-5359-D1DF-207E-4945C3794197}"/>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407185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6726-F92E-C8AC-70BE-109958028C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B818D-78DD-0444-71FA-AF55300919C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C10619B-E5D8-2E73-006F-A5FD1904CBC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8095705-0959-428A-F57F-B098A8BDB7DB}"/>
              </a:ext>
            </a:extLst>
          </p:cNvPr>
          <p:cNvSpPr>
            <a:spLocks noGrp="1"/>
          </p:cNvSpPr>
          <p:nvPr>
            <p:ph type="sldNum" sz="quarter" idx="5"/>
          </p:nvPr>
        </p:nvSpPr>
        <p:spPr/>
        <p:txBody>
          <a:bodyPr/>
          <a:lstStyle/>
          <a:p>
            <a:fld id="{30FF3BCC-1A43-4D25-8467-E40EF431E2F1}" type="slidenum">
              <a:rPr kumimoji="1" lang="ja-JP" altLang="en-US" smtClean="0"/>
              <a:t>21</a:t>
            </a:fld>
            <a:endParaRPr kumimoji="1" lang="ja-JP" altLang="en-US"/>
          </a:p>
        </p:txBody>
      </p:sp>
    </p:spTree>
    <p:extLst>
      <p:ext uri="{BB962C8B-B14F-4D97-AF65-F5344CB8AC3E}">
        <p14:creationId xmlns:p14="http://schemas.microsoft.com/office/powerpoint/2010/main" val="2149132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25</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F683D-5DAD-A120-6033-B5D7A3A10F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98E89A-CF82-A78D-98DD-04A02EFED8B9}"/>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5B7C49F-E7C2-17E6-0809-6FDB7372C5D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4C2036E6-B3B5-956E-AF2B-34A9EF32DC49}"/>
              </a:ext>
            </a:extLst>
          </p:cNvPr>
          <p:cNvSpPr>
            <a:spLocks noGrp="1"/>
          </p:cNvSpPr>
          <p:nvPr>
            <p:ph type="sldNum" sz="quarter" idx="5"/>
          </p:nvPr>
        </p:nvSpPr>
        <p:spPr/>
        <p:txBody>
          <a:bodyPr/>
          <a:lstStyle/>
          <a:p>
            <a:fld id="{30FF3BCC-1A43-4D25-8467-E40EF431E2F1}" type="slidenum">
              <a:rPr kumimoji="1" lang="ja-JP" altLang="en-US" smtClean="0"/>
              <a:t>31</a:t>
            </a:fld>
            <a:endParaRPr kumimoji="1" lang="ja-JP" altLang="en-US"/>
          </a:p>
        </p:txBody>
      </p:sp>
    </p:spTree>
    <p:extLst>
      <p:ext uri="{BB962C8B-B14F-4D97-AF65-F5344CB8AC3E}">
        <p14:creationId xmlns:p14="http://schemas.microsoft.com/office/powerpoint/2010/main" val="2852095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C24FB-19A2-172A-74F4-CB5E1A03BB0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274906-680C-CCA8-6ED5-B65D3F03778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17A1201A-F7B1-9EBF-6AF8-700AAAA309E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92A0E97-1BCC-5386-BCB7-C636C2D0D234}"/>
              </a:ext>
            </a:extLst>
          </p:cNvPr>
          <p:cNvSpPr>
            <a:spLocks noGrp="1"/>
          </p:cNvSpPr>
          <p:nvPr>
            <p:ph type="sldNum" sz="quarter" idx="5"/>
          </p:nvPr>
        </p:nvSpPr>
        <p:spPr/>
        <p:txBody>
          <a:bodyPr/>
          <a:lstStyle/>
          <a:p>
            <a:fld id="{30FF3BCC-1A43-4D25-8467-E40EF431E2F1}" type="slidenum">
              <a:rPr kumimoji="1" lang="ja-JP" altLang="en-US" smtClean="0"/>
              <a:t>32</a:t>
            </a:fld>
            <a:endParaRPr kumimoji="1" lang="ja-JP" altLang="en-US"/>
          </a:p>
        </p:txBody>
      </p:sp>
    </p:spTree>
    <p:extLst>
      <p:ext uri="{BB962C8B-B14F-4D97-AF65-F5344CB8AC3E}">
        <p14:creationId xmlns:p14="http://schemas.microsoft.com/office/powerpoint/2010/main" val="22792448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CDCC-4499-9CC9-1F39-99083A511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DCC5A-4CF0-CE33-9793-735FCC81AE4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6E4A811-4C57-E7FA-999B-3B2346969CF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5D9E0B5-62CD-B7FC-7619-BDD324DA7A35}"/>
              </a:ext>
            </a:extLst>
          </p:cNvPr>
          <p:cNvSpPr>
            <a:spLocks noGrp="1"/>
          </p:cNvSpPr>
          <p:nvPr>
            <p:ph type="sldNum" sz="quarter" idx="5"/>
          </p:nvPr>
        </p:nvSpPr>
        <p:spPr/>
        <p:txBody>
          <a:bodyPr/>
          <a:lstStyle/>
          <a:p>
            <a:fld id="{30FF3BCC-1A43-4D25-8467-E40EF431E2F1}" type="slidenum">
              <a:rPr kumimoji="1" lang="ja-JP" altLang="en-US" smtClean="0"/>
              <a:t>33</a:t>
            </a:fld>
            <a:endParaRPr kumimoji="1" lang="ja-JP" altLang="en-US"/>
          </a:p>
        </p:txBody>
      </p:sp>
    </p:spTree>
    <p:extLst>
      <p:ext uri="{BB962C8B-B14F-4D97-AF65-F5344CB8AC3E}">
        <p14:creationId xmlns:p14="http://schemas.microsoft.com/office/powerpoint/2010/main" val="2164062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34</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3.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5.emf"/><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6.emf"/><Relationship Id="rId4" Type="http://schemas.openxmlformats.org/officeDocument/2006/relationships/image" Target="../media/image17.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8.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0.png"/><Relationship Id="rId5" Type="http://schemas.microsoft.com/office/2007/relationships/hdphoto" Target="../media/hdphoto1.wdp"/><Relationship Id="rId6" Type="http://schemas.openxmlformats.org/officeDocument/2006/relationships/image" Target="../media/image21.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2.emf"/><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jpeg"/><Relationship Id="rId3" Type="http://schemas.openxmlformats.org/officeDocument/2006/relationships/image" Target="../media/image8.png"/><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a:lstStyle/>
          <a:p>
            <a:r>
              <a:rPr lang="ja-JP" altLang="en-US" dirty="0"/>
              <a:t>企業概要書 </a:t>
            </a:r>
            <a:r>
              <a:rPr lang="en-US" altLang="ja-JP" sz="2400" dirty="0"/>
              <a:t>&lt;青果卸売業／東北&gt;</a:t>
            </a:r>
            <a:r>
              <a:rPr lang="ja-JP" altLang="en-US" sz="2400" dirty="0"/>
              <a:t/>
            </a:r>
            <a:r>
              <a:rPr lang="en-US" altLang="ja-JP" sz="2400" dirty="0"/>
              <a:t/>
            </a:r>
            <a:r>
              <a:rPr lang="ja-JP" altLang="en-US" sz="2400" dirty="0"/>
              <a:t/>
            </a:r>
            <a:r>
              <a:rPr lang="en-US" altLang="ja-JP" sz="2400" dirty="0"/>
              <a:t/>
            </a:r>
            <a:r>
              <a:rPr lang="ja-JP" altLang="en-US" dirty="0"/>
              <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3713220567"/>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r>
                        <a:rPr lang="en-US" altLang="ja-JP" sz="1200" b="1" u="none" strike="noStrike" cap="none" spc="30" baseline="0" dirty="0">
                          <a:latin typeface="+mj-ea"/>
                          <a:ea typeface="+mj-ea"/>
                        </a:rPr>
                        <a:t/>
                      </a:r>
                      <a:r>
                        <a:rPr lang="ja-JP" alt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r>
                        <a:rPr lang="ja-JP" altLang="en-US" sz="1200" b="1" u="none" strike="noStrike" cap="none" spc="30" baseline="0" dirty="0">
                          <a:latin typeface="+mj-ea"/>
                          <a:ea typeface="+mj-ea"/>
                        </a:rPr>
                        <a:t/>
                      </a:r>
                      <a:r>
                        <a:rPr lang="en-US" sz="1200" b="1" u="none" strike="noStrike" cap="none" spc="30" baseline="0" dirty="0">
                          <a:latin typeface="+mj-ea"/>
                          <a:ea typeface="+mj-ea"/>
                        </a:rPr>
                        <a:t/>
                      </a:r>
                      <a:r>
                        <a:rPr lang="ja-JP" altLang="en-US" sz="1200" b="1" u="none" strike="noStrike" cap="none" spc="30" baseline="0" dirty="0">
                          <a:latin typeface="+mj-ea"/>
                          <a:ea typeface="+mj-ea"/>
                        </a:rPr>
                        <a:t/>
                      </a:r>
                      <a:r>
                        <a:rPr lang="en-US" sz="1200" b="1" u="none" strike="noStrike" cap="none" spc="30" baseline="0" dirty="0">
                          <a:latin typeface="+mj-ea"/>
                          <a:ea typeface="+mj-ea"/>
                        </a:rPr>
                        <a:t/>
                      </a:r>
                      <a:r>
                        <a:rPr lang="ja-JP" alt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tagaito_keisuke@ma-sg.co.jp</a:t>
                      </a:r>
                      <a:r>
                        <a:rPr lang="en-US" sz="1200" b="1" u="none" strike="noStrike" cap="none" spc="30" baseline="0" dirty="0">
                          <a:latin typeface="+mj-ea"/>
                          <a:ea typeface="+mj-ea"/>
                        </a:rPr>
                        <a:t/>
                      </a:r>
                      <a:r>
                        <a:rPr lang="ja-JP" altLang="en-US" sz="1200" b="1" u="none" strike="noStrike" cap="none" spc="30" baseline="0" dirty="0">
                          <a:latin typeface="+mj-ea"/>
                          <a:ea typeface="+mj-ea"/>
                        </a:rPr>
                        <a:t/>
                      </a:r>
                      <a:r>
                        <a:rPr 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1973年設立。鶴岡市内で唯一の青果物地方卸売市場を自ら運営し、集荷から卸売、小分け・包装、配送までを一貫して担う。売上高は約12億円で安定推移し、市場用地・施設を自社で保有する庄内地区の青果流通拠点。</a:t>
            </a:r>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0896" y="1481328"/>
            <a:ext cx="5861304" cy="35661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graphicFrame>
        <p:nvGraphicFramePr>
          <p:cNvPr id="15" name="表（会社概要!B4:C17）"/>
          <p:cNvGraphicFramePr>
            <a:graphicFrameLocks noGrp="1"/>
          </p:cNvGraphicFramePr>
          <p:nvPr/>
        </p:nvGraphicFramePr>
        <p:xfrm>
          <a:off x="310896" y="1883664"/>
          <a:ext cx="5861303" cy="4089400"/>
        </p:xfrm>
        <a:graphic>
          <a:graphicData uri="http://schemas.openxmlformats.org/drawingml/2006/table">
            <a:tbl>
              <a:tblPr firstRow="0" bandRow="0">
                <a:tableStyleId>{2D5ABB26-0587-4C30-8999-92F81FD0307C}</a:tableStyleId>
              </a:tblPr>
              <a:tblGrid>
                <a:gridCol w="1325784"/>
                <a:gridCol w="4535519"/>
              </a:tblGrid>
              <a:tr h="215900">
                <a:tc>
                  <a:txBody>
                    <a:bodyPr/>
                    <a:lstStyle/>
                    <a:p>
                      <a:pPr algn="l" fontAlgn="ctr"/>
                      <a:r>
                        <a:rPr lang="ja-JP" altLang="en-US" sz="1000" b="1" i="0" dirty="0">
                          <a:solidFill>
                            <a:srgbClr val="FFFFFF"/>
                          </a:solidFill>
                          <a:latin typeface="游ゴシック"/>
                          <a:ea typeface="游ゴシック"/>
                        </a:rPr>
                        <a:t>項目</a:t>
                      </a:r>
                      <a:endParaRPr lang="ja-JP" altLang="en-US" sz="10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l" fontAlgn="ctr"/>
                      <a:r>
                        <a:rPr lang="ja-JP" altLang="en-US" sz="1000" b="1" i="0" dirty="0">
                          <a:solidFill>
                            <a:srgbClr val="FFFFFF"/>
                          </a:solidFill>
                          <a:latin typeface="游ゴシック"/>
                          <a:ea typeface="游ゴシック"/>
                        </a:rPr>
                        <a:t>内容</a:t>
                      </a:r>
                      <a:endParaRPr lang="ja-JP" altLang="en-US" sz="10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15900">
                <a:tc>
                  <a:txBody>
                    <a:bodyPr/>
                    <a:lstStyle/>
                    <a:p>
                      <a:pPr algn="l" fontAlgn="ctr"/>
                      <a:r>
                        <a:rPr lang="ja-JP" altLang="en-US" sz="1050" b="0" i="0" dirty="0">
                          <a:solidFill>
                            <a:srgbClr val="000000"/>
                          </a:solidFill>
                          <a:latin typeface="游ゴシック"/>
                          <a:ea typeface="游ゴシック"/>
                        </a:rPr>
                        <a:t>会社名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株式会社鶴岡中央青果（http://www.turu-chu.co.jp/）</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本社所在地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山形県鶴岡市宝田一丁目4番20号</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571500">
                <a:tc>
                  <a:txBody>
                    <a:bodyPr/>
                    <a:lstStyle/>
                    <a:p>
                      <a:pPr algn="l" fontAlgn="ctr"/>
                      <a:r>
                        <a:rPr lang="ja-JP" altLang="en-US" sz="1050" b="0" i="0" dirty="0">
                          <a:solidFill>
                            <a:srgbClr val="000000"/>
                          </a:solidFill>
                          <a:latin typeface="游ゴシック"/>
                          <a:ea typeface="游ゴシック"/>
                        </a:rPr>
                        <a:t>拠点</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① 本社・市場：山形県鶴岡市宝田一丁目4番20号</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② パッケージ場：山形県鶴岡市宝田一丁目5-1</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③ 旧倉庫敷地（駐車場）：山形県東田川郡庄内町長沼字宮前304-7</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設立</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1973年（昭和48年）11月22日</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資本金</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40,000千円</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代表者</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岡部 寛</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93700">
                <a:tc>
                  <a:txBody>
                    <a:bodyPr/>
                    <a:lstStyle/>
                    <a:p>
                      <a:pPr algn="l" fontAlgn="ctr"/>
                      <a:r>
                        <a:rPr lang="ja-JP" altLang="en-US" sz="1050" b="0" i="0" dirty="0">
                          <a:solidFill>
                            <a:srgbClr val="000000"/>
                          </a:solidFill>
                          <a:latin typeface="游ゴシック"/>
                          <a:ea typeface="游ゴシック"/>
                        </a:rPr>
                        <a:t>株主</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岡部 寛（1,510株／37.8%）ほか7名</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代表者一族4名で75.8%を保有</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571500">
                <a:tc>
                  <a:txBody>
                    <a:bodyPr/>
                    <a:lstStyle/>
                    <a:p>
                      <a:pPr algn="l" fontAlgn="ctr"/>
                      <a:r>
                        <a:rPr lang="ja-JP" altLang="en-US" sz="1050" b="0" i="0" dirty="0">
                          <a:solidFill>
                            <a:srgbClr val="000000"/>
                          </a:solidFill>
                          <a:latin typeface="游ゴシック"/>
                          <a:ea typeface="游ゴシック"/>
                        </a:rPr>
                        <a:t>事業内容</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・青果物（野菜・果実）の卸売（地方卸売市場の開設・運営、買付販売・受託販売）</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・パッケージ（小分け・包装）、配送（量販店の配送受託を含む）</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・包装資材の販売</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93700">
                <a:tc>
                  <a:txBody>
                    <a:bodyPr/>
                    <a:lstStyle/>
                    <a:p>
                      <a:pPr algn="l" fontAlgn="ctr"/>
                      <a:r>
                        <a:rPr lang="ja-JP" altLang="en-US" sz="1050" b="0" i="0" dirty="0">
                          <a:solidFill>
                            <a:srgbClr val="000000"/>
                          </a:solidFill>
                          <a:latin typeface="游ゴシック"/>
                          <a:ea typeface="游ゴシック"/>
                        </a:rPr>
                        <a:t>従業員数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24名（正社員17名、嘱託・再雇用・試用3名、パート・アルバイト4名）</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※2026年9月1日時点。別途、常勤役員2名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許認可等</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地方卸売市場（卸売市場法）※認定の時期・条件は要確認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1,195,893千円（2026年3月期）</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調整後EBITDA</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14,549千円（過去3期平均）</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譲渡理由</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代表者の引退に伴う事業承継（従業員の雇用維持を最重視）</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6" name="正方形/長方形 7">
            <a:extLst>
              <a:ext uri="{FF2B5EF4-FFF2-40B4-BE49-F238E27FC236}">
                <a16:creationId xmlns:a16="http://schemas.microsoft.com/office/drawing/2014/main" id="{CBD334A9-999C-ACD4-9DD2-EF961CBA0926}"/>
              </a:ext>
            </a:extLst>
          </p:cNvPr>
          <p:cNvSpPr/>
          <p:nvPr/>
        </p:nvSpPr>
        <p:spPr>
          <a:xfrm>
            <a:off x="6355080" y="1481328"/>
            <a:ext cx="4023360" cy="4583175"/>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本件のポイント</a:t>
            </a:r>
            <a:endParaRPr kumimoji="1" lang="ja-JP" altLang="en-US" sz="1600" b="1" dirty="0">
              <a:solidFill>
                <a:schemeClr val="tx2"/>
              </a:solidFill>
              <a:latin typeface="+mj-lt"/>
              <a:ea typeface="+mj-ea"/>
            </a:endParaRPr>
          </a:p>
        </p:txBody>
      </p:sp>
      <p:sp>
        <p:nvSpPr>
          <p:cNvPr id="17" name="テキスト ボックス 8">
            <a:extLst>
              <a:ext uri="{FF2B5EF4-FFF2-40B4-BE49-F238E27FC236}">
                <a16:creationId xmlns:a16="http://schemas.microsoft.com/office/drawing/2014/main" id="{E5084622-1D6B-783F-80DE-6D9A498C7C12}"/>
              </a:ext>
            </a:extLst>
          </p:cNvPr>
          <p:cNvSpPr txBox="1"/>
          <p:nvPr/>
        </p:nvSpPr>
        <p:spPr>
          <a:xfrm>
            <a:off x="6355080" y="2011680"/>
            <a:ext cx="4023360" cy="4007103"/>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≪鶴岡市内唯一の青果市場≫</a:t>
            </a:r>
          </a:p>
          <a:p>
            <a:pPr>
              <a:spcAft>
                <a:spcPts val="300"/>
              </a:spcAft>
            </a:pPr>
            <a:r>
              <a:rPr lang="ja-JP" altLang="en-US" sz="900" b="0" dirty="0">
                <a:solidFill>
                  <a:sysClr val="windowText" lastClr="000000"/>
                </a:solidFill>
                <a:latin typeface="游ゴシック"/>
                <a:ea typeface="游ゴシック"/>
              </a:rPr>
              <a:t>・市内の青果市場は当社のみ（以前は2社、1社が解散）。開設者兼卸売業者として集荷・セリ・分荷を担い、セリ人資格者3名が在籍。</a:t>
            </a:r>
          </a:p>
          <a:p>
            <a:pPr>
              <a:spcAft>
                <a:spcPts val="300"/>
              </a:spcAft>
            </a:pPr>
            <a:r>
              <a:rPr lang="ja-JP" altLang="en-US" sz="1000" b="1" dirty="0">
                <a:solidFill>
                  <a:sysClr val="windowText" lastClr="000000"/>
                </a:solidFill>
                <a:latin typeface="游ゴシック"/>
                <a:ea typeface="游ゴシック"/>
              </a:rPr>
              <a:t>≪農家の持込を全量受け入れる集荷力≫</a:t>
            </a:r>
          </a:p>
          <a:p>
            <a:pPr>
              <a:spcAft>
                <a:spcPts val="300"/>
              </a:spcAft>
            </a:pPr>
            <a:r>
              <a:rPr lang="ja-JP" altLang="en-US" sz="900" b="0" dirty="0">
                <a:solidFill>
                  <a:sysClr val="windowText" lastClr="000000"/>
                </a:solidFill>
                <a:latin typeface="游ゴシック"/>
                <a:ea typeface="游ゴシック"/>
              </a:rPr>
              <a:t>・農家からの持込は数量が多くても原則すべて受け入れる。地元優先で販売し、過剰分は豊洲市場・他県へ出荷。</a:t>
            </a:r>
          </a:p>
          <a:p>
            <a:pPr>
              <a:spcAft>
                <a:spcPts val="300"/>
              </a:spcAft>
            </a:pPr>
            <a:r>
              <a:rPr lang="ja-JP" altLang="en-US" sz="1000" b="1" dirty="0">
                <a:solidFill>
                  <a:sysClr val="windowText" lastClr="000000"/>
                </a:solidFill>
                <a:latin typeface="游ゴシック"/>
                <a:ea typeface="游ゴシック"/>
              </a:rPr>
              <a:t>≪安定した売上規模と分散した販路≫</a:t>
            </a:r>
          </a:p>
          <a:p>
            <a:pPr>
              <a:spcAft>
                <a:spcPts val="300"/>
              </a:spcAft>
            </a:pPr>
            <a:r>
              <a:rPr lang="ja-JP" altLang="en-US" sz="900" b="0" dirty="0">
                <a:solidFill>
                  <a:sysClr val="windowText" lastClr="000000"/>
                </a:solidFill>
                <a:latin typeface="游ゴシック"/>
                <a:ea typeface="游ゴシック"/>
              </a:rPr>
              <a:t>・売上高は1,178→1,182→1,196百万円で安定。量販店・生協・学校給食・近隣市場・仲卸業者へ販売。</a:t>
            </a:r>
          </a:p>
          <a:p>
            <a:pPr>
              <a:spcAft>
                <a:spcPts val="300"/>
              </a:spcAft>
            </a:pPr>
            <a:r>
              <a:rPr lang="ja-JP" altLang="en-US" sz="1000" b="1" dirty="0">
                <a:solidFill>
                  <a:sysClr val="windowText" lastClr="000000"/>
                </a:solidFill>
                <a:latin typeface="游ゴシック"/>
                <a:ea typeface="游ゴシック"/>
              </a:rPr>
              <a:t>≪事業用不動産を自社保有≫</a:t>
            </a:r>
          </a:p>
          <a:p>
            <a:pPr>
              <a:spcAft>
                <a:spcPts val="300"/>
              </a:spcAft>
            </a:pPr>
            <a:r>
              <a:rPr lang="ja-JP" altLang="en-US" sz="900" b="0" dirty="0">
                <a:solidFill>
                  <a:sysClr val="windowText" lastClr="000000"/>
                </a:solidFill>
                <a:latin typeface="游ゴシック"/>
                <a:ea typeface="游ゴシック"/>
              </a:rPr>
              <a:t>・本社市場とパッケージ場は隣接する自社保有地。賃借物件はなく地代負担がない。</a:t>
            </a:r>
          </a:p>
          <a:p>
            <a:pPr>
              <a:spcAft>
                <a:spcPts val="300"/>
              </a:spcAft>
            </a:pPr>
            <a:r>
              <a:rPr lang="ja-JP" altLang="en-US" sz="1000" b="1" dirty="0">
                <a:solidFill>
                  <a:sysClr val="windowText" lastClr="000000"/>
                </a:solidFill>
                <a:latin typeface="游ゴシック"/>
                <a:ea typeface="游ゴシック"/>
              </a:rPr>
              <a:t>≪買手とのシナジー≫</a:t>
            </a:r>
          </a:p>
          <a:p>
            <a:pPr>
              <a:spcAft>
                <a:spcPts val="300"/>
              </a:spcAft>
            </a:pPr>
            <a:r>
              <a:rPr lang="ja-JP" altLang="en-US" sz="900" b="0" dirty="0">
                <a:solidFill>
                  <a:sysClr val="windowText" lastClr="000000"/>
                </a:solidFill>
                <a:latin typeface="游ゴシック"/>
                <a:ea typeface="游ゴシック"/>
              </a:rPr>
              <a:t>・余剰青果物を継続的に引き取れる販売網を持つ買手であれば、過剰入荷分の出口拡大と仕入先の開拓による成長が見込める。</a:t>
            </a:r>
          </a:p>
          <a:p>
            <a:pPr>
              <a:spcAft>
                <a:spcPts val="300"/>
              </a:spcAft>
            </a:pPr>
            <a:r>
              <a:rPr lang="ja-JP" altLang="en-US" sz="1000" b="1" dirty="0">
                <a:solidFill>
                  <a:sysClr val="windowText" lastClr="000000"/>
                </a:solidFill>
                <a:latin typeface="游ゴシック"/>
                <a:ea typeface="游ゴシック"/>
              </a:rPr>
              <a:t>≪確認中の論点≫</a:t>
            </a:r>
          </a:p>
          <a:p>
            <a:pPr>
              <a:spcAft>
                <a:spcPts val="300"/>
              </a:spcAft>
            </a:pPr>
            <a:r>
              <a:rPr lang="ja-JP" altLang="en-US" sz="900" b="0" dirty="0">
                <a:solidFill>
                  <a:sysClr val="windowText" lastClr="000000"/>
                </a:solidFill>
                <a:latin typeface="游ゴシック"/>
                <a:ea typeface="游ゴシック"/>
              </a:rPr>
              <a:t>・粗利率の低下（18.6%→16.6%）、長期借入金361百万円、不動産の時価。写真は受領後に掲載予定。</a:t>
            </a:r>
          </a:p>
        </p:txBody>
      </p:sp>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P/L</a:t>
            </a:r>
            <a:r>
              <a:rPr lang="ja-JP" altLang="en-US" dirty="0"/>
              <a:t>）</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売上高は約12億円で安定。粗利率の低下を役員報酬・賞与・償却費の減少で補い、2026/3期は営業黒字へ回復。正常収益力を示す調整後EBITDAは3期平均14,549千円。</a:t>
            </a: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5166360"/>
            <a:ext cx="3922776" cy="1828800"/>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mn-ea"/>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463040"/>
            <a:ext cx="3922776" cy="361188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1993392"/>
            <a:ext cx="3913632" cy="301752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≪売上高≫</a:t>
            </a:r>
          </a:p>
          <a:p>
            <a:pPr>
              <a:spcAft>
                <a:spcPts val="300"/>
              </a:spcAft>
            </a:pPr>
            <a:r>
              <a:rPr lang="ja-JP" altLang="en-US" sz="900" b="0" dirty="0">
                <a:solidFill>
                  <a:sysClr val="windowText" lastClr="000000"/>
                </a:solidFill>
                <a:latin typeface="游ゴシック"/>
                <a:ea typeface="游ゴシック"/>
              </a:rPr>
              <a:t>・1,178,489→1,181,947→1,195,893千円と約12億円で安定。繁忙期は7〜12月、閑散期は1〜5月。</a:t>
            </a:r>
          </a:p>
          <a:p>
            <a:pPr>
              <a:spcAft>
                <a:spcPts val="300"/>
              </a:spcAft>
            </a:pPr>
            <a:r>
              <a:rPr lang="ja-JP" altLang="en-US" sz="1000" b="1" dirty="0">
                <a:solidFill>
                  <a:sysClr val="windowText" lastClr="000000"/>
                </a:solidFill>
                <a:latin typeface="游ゴシック"/>
                <a:ea typeface="游ゴシック"/>
              </a:rPr>
              <a:t>≪売上総利益≫</a:t>
            </a:r>
          </a:p>
          <a:p>
            <a:pPr>
              <a:spcAft>
                <a:spcPts val="300"/>
              </a:spcAft>
            </a:pPr>
            <a:r>
              <a:rPr lang="ja-JP" altLang="en-US" sz="900" b="0" dirty="0">
                <a:solidFill>
                  <a:sysClr val="windowText" lastClr="000000"/>
                </a:solidFill>
                <a:latin typeface="游ゴシック"/>
                <a:ea typeface="游ゴシック"/>
              </a:rPr>
              <a:t>・粗利率は18.6%→17.9%→16.6%と低下。2期で仕入高が+4.5%と売上高（+1.5%）を上回った（要因は要確認）。</a:t>
            </a:r>
          </a:p>
          <a:p>
            <a:pPr>
              <a:spcAft>
                <a:spcPts val="300"/>
              </a:spcAft>
            </a:pPr>
            <a:r>
              <a:rPr lang="ja-JP" altLang="en-US" sz="1000" b="1" dirty="0">
                <a:solidFill>
                  <a:sysClr val="windowText" lastClr="000000"/>
                </a:solidFill>
                <a:latin typeface="游ゴシック"/>
                <a:ea typeface="游ゴシック"/>
              </a:rPr>
              <a:t>≪営業利益≫</a:t>
            </a:r>
          </a:p>
          <a:p>
            <a:pPr>
              <a:spcAft>
                <a:spcPts val="300"/>
              </a:spcAft>
            </a:pPr>
            <a:r>
              <a:rPr lang="ja-JP" altLang="en-US" sz="900" b="0" dirty="0">
                <a:solidFill>
                  <a:sysClr val="windowText" lastClr="000000"/>
                </a:solidFill>
                <a:latin typeface="游ゴシック"/>
                <a:ea typeface="游ゴシック"/>
              </a:rPr>
              <a:t>・2025/3期は粗利減少で営業赤字。2026/3期は役員報酬・賞与・償却費の減少で5,860千円へ回復。</a:t>
            </a:r>
          </a:p>
          <a:p>
            <a:pPr>
              <a:spcAft>
                <a:spcPts val="300"/>
              </a:spcAft>
            </a:pPr>
            <a:r>
              <a:rPr lang="ja-JP" altLang="en-US" sz="1000" b="1" dirty="0">
                <a:solidFill>
                  <a:sysClr val="windowText" lastClr="000000"/>
                </a:solidFill>
                <a:latin typeface="游ゴシック"/>
                <a:ea typeface="游ゴシック"/>
              </a:rPr>
              <a:t>≪経常利益・当期純利益≫</a:t>
            </a:r>
          </a:p>
          <a:p>
            <a:pPr>
              <a:spcAft>
                <a:spcPts val="300"/>
              </a:spcAft>
            </a:pPr>
            <a:r>
              <a:rPr lang="ja-JP" altLang="en-US" sz="900" b="0" dirty="0">
                <a:solidFill>
                  <a:sysClr val="windowText" lastClr="000000"/>
                </a:solidFill>
                <a:latin typeface="游ゴシック"/>
                <a:ea typeface="游ゴシック"/>
              </a:rPr>
              <a:t>・受取奨励金等で経常黒字を確保。2026/3期の純損失は保険積立金取崩し（前期損益修正損20,900千円）による。</a:t>
            </a:r>
          </a:p>
          <a:p>
            <a:pPr>
              <a:spcAft>
                <a:spcPts val="300"/>
              </a:spcAft>
            </a:pPr>
            <a:r>
              <a:rPr lang="ja-JP" altLang="en-US" sz="1000" b="1" dirty="0">
                <a:solidFill>
                  <a:sysClr val="windowText" lastClr="000000"/>
                </a:solidFill>
                <a:latin typeface="游ゴシック"/>
                <a:ea typeface="游ゴシック"/>
              </a:rPr>
              <a:t>≪進行期≫</a:t>
            </a:r>
          </a:p>
          <a:p>
            <a:pPr>
              <a:spcAft>
                <a:spcPts val="300"/>
              </a:spcAft>
            </a:pPr>
            <a:r>
              <a:rPr lang="ja-JP" altLang="en-US" sz="900" b="0" dirty="0">
                <a:solidFill>
                  <a:sysClr val="windowText" lastClr="000000"/>
                </a:solidFill>
                <a:latin typeface="游ゴシック"/>
                <a:ea typeface="游ゴシック"/>
              </a:rPr>
              <a:t>・2026年4〜7月の売上高は411,155千円（前年同期比98.1%）。足元は人件費の削減により利益体質が改善。代表者によれば9月時点の試算表で約2,000万円の利益（試算表は依頼中・要確認）。</a:t>
            </a:r>
          </a:p>
        </p:txBody>
      </p:sp>
      <p:sp>
        <p:nvSpPr>
          <p:cNvPr id="10" name="テキスト ボックス 9">
            <a:extLst>
              <a:ext uri="{FF2B5EF4-FFF2-40B4-BE49-F238E27FC236}">
                <a16:creationId xmlns:a16="http://schemas.microsoft.com/office/drawing/2014/main" id="{9CE926BB-0658-93C0-4CB2-D9073D01110E}"/>
              </a:ext>
            </a:extLst>
          </p:cNvPr>
          <p:cNvSpPr txBox="1"/>
          <p:nvPr/>
        </p:nvSpPr>
        <p:spPr>
          <a:xfrm>
            <a:off x="6464808" y="5239512"/>
            <a:ext cx="3913632" cy="1691640"/>
          </a:xfrm>
          <a:prstGeom prst="rect">
            <a:avLst/>
          </a:prstGeom>
          <a:noFill/>
        </p:spPr>
        <p:txBody>
          <a:bodyPr wrap="square" lIns="288000" tIns="0" rIns="252000" bIns="0" rtlCol="0">
            <a:spAutoFit/>
          </a:bodyPr>
          <a:lstStyle/>
          <a:p>
            <a:pPr>
              <a:spcAft>
                <a:spcPts val="100"/>
              </a:spcAft>
            </a:pPr>
            <a:r>
              <a:rPr lang="ja-JP" altLang="en-US" sz="900" b="1" dirty="0">
                <a:solidFill>
                  <a:sysClr val="windowText" lastClr="000000"/>
                </a:solidFill>
                <a:latin typeface="游ゴシック"/>
                <a:ea typeface="游ゴシック"/>
              </a:rPr>
              <a:t>【調整項目】</a:t>
            </a:r>
          </a:p>
          <a:p>
            <a:pPr>
              <a:spcAft>
                <a:spcPts val="100"/>
              </a:spcAft>
            </a:pPr>
            <a:r>
              <a:rPr lang="ja-JP" altLang="en-US" sz="900" b="1" dirty="0">
                <a:solidFill>
                  <a:sysClr val="windowText" lastClr="000000"/>
                </a:solidFill>
                <a:latin typeface="游ゴシック"/>
                <a:ea typeface="游ゴシック"/>
              </a:rPr>
              <a:t>≪役員報酬・社会保険料≫</a:t>
            </a:r>
          </a:p>
          <a:p>
            <a:pPr>
              <a:spcAft>
                <a:spcPts val="100"/>
              </a:spcAft>
            </a:pPr>
            <a:r>
              <a:rPr lang="ja-JP" altLang="en-US" sz="850" b="0" dirty="0">
                <a:solidFill>
                  <a:sysClr val="windowText" lastClr="000000"/>
                </a:solidFill>
                <a:latin typeface="游ゴシック"/>
                <a:ea typeface="游ゴシック"/>
              </a:rPr>
              <a:t>・代表者・配偶者の報酬を新体制の役員報酬（年8,000千円と仮定）に置換</a:t>
            </a:r>
          </a:p>
          <a:p>
            <a:pPr>
              <a:spcAft>
                <a:spcPts val="100"/>
              </a:spcAft>
            </a:pPr>
            <a:r>
              <a:rPr lang="ja-JP" altLang="en-US" sz="900" b="1" dirty="0">
                <a:solidFill>
                  <a:sysClr val="windowText" lastClr="000000"/>
                </a:solidFill>
                <a:latin typeface="游ゴシック"/>
                <a:ea typeface="游ゴシック"/>
              </a:rPr>
              <a:t>≪賞与≫</a:t>
            </a:r>
          </a:p>
          <a:p>
            <a:pPr>
              <a:spcAft>
                <a:spcPts val="100"/>
              </a:spcAft>
            </a:pPr>
            <a:r>
              <a:rPr lang="ja-JP" altLang="en-US" sz="850" b="0" dirty="0">
                <a:solidFill>
                  <a:sysClr val="windowText" lastClr="000000"/>
                </a:solidFill>
                <a:latin typeface="游ゴシック"/>
                <a:ea typeface="游ゴシック"/>
              </a:rPr>
              <a:t>・賞与規定はなく業績に応じて支給。2026/3期は支給なし。継続支給を前提に前2期平均を控除（保守的に想定）</a:t>
            </a:r>
          </a:p>
          <a:p>
            <a:pPr>
              <a:spcAft>
                <a:spcPts val="100"/>
              </a:spcAft>
            </a:pPr>
            <a:r>
              <a:rPr lang="ja-JP" altLang="en-US" sz="900" b="1" dirty="0">
                <a:solidFill>
                  <a:sysClr val="windowText" lastClr="000000"/>
                </a:solidFill>
                <a:latin typeface="游ゴシック"/>
                <a:ea typeface="游ゴシック"/>
              </a:rPr>
              <a:t>≪受取奨励金・寄付金≫</a:t>
            </a:r>
          </a:p>
          <a:p>
            <a:pPr>
              <a:spcAft>
                <a:spcPts val="100"/>
              </a:spcAft>
            </a:pPr>
            <a:r>
              <a:rPr lang="ja-JP" altLang="en-US" sz="850" b="0" dirty="0">
                <a:solidFill>
                  <a:sysClr val="windowText" lastClr="000000"/>
                </a:solidFill>
                <a:latin typeface="游ゴシック"/>
                <a:ea typeface="游ゴシック"/>
              </a:rPr>
              <a:t>・経常的な受取奨励金を加算、譲渡後に発生しない寄付金を加算</a:t>
            </a:r>
          </a:p>
        </p:txBody>
      </p:sp>
      <p:graphicFrame>
        <p:nvGraphicFramePr>
          <p:cNvPr id="17" name="表（PLハイライト!B4:F25）"/>
          <p:cNvGraphicFramePr>
            <a:graphicFrameLocks noGrp="1"/>
          </p:cNvGraphicFramePr>
          <p:nvPr/>
        </p:nvGraphicFramePr>
        <p:xfrm>
          <a:off x="310896" y="1463040"/>
          <a:ext cx="6053324" cy="4546600"/>
        </p:xfrm>
        <a:graphic>
          <a:graphicData uri="http://schemas.openxmlformats.org/drawingml/2006/table">
            <a:tbl>
              <a:tblPr firstRow="0" bandRow="0">
                <a:tableStyleId>{2D5ABB26-0587-4C30-8999-92F81FD0307C}</a:tableStyleId>
              </a:tblPr>
              <a:tblGrid>
                <a:gridCol w="1664624"/>
                <a:gridCol w="1097175"/>
                <a:gridCol w="1097175"/>
                <a:gridCol w="1097175"/>
                <a:gridCol w="109717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41300">
                <a:tc>
                  <a:txBody>
                    <a:bodyPr/>
                    <a:lstStyle/>
                    <a:p>
                      <a:pPr algn="ctr" fontAlgn="ct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2024年3月期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2025年3月期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2026年3月期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2026年4〜7月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41300">
                <a:tc>
                  <a:txBody>
                    <a:bodyPr/>
                    <a:lstStyle/>
                    <a:p>
                      <a:pPr algn="l" fontAlgn="ctr"/>
                      <a:r>
                        <a:rPr lang="ja-JP" altLang="en-US" sz="1050" b="0" i="0" dirty="0">
                          <a:solidFill>
                            <a:srgbClr val="000000"/>
                          </a:solidFill>
                          <a:latin typeface="游ゴシック"/>
                          <a:ea typeface="游ゴシック"/>
                        </a:rPr>
                        <a:t>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1,178,489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1,181,947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1,195,893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411,155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前期比</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100.3%</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101.2%</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98.1%</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売上総利益</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219,580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211,296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199,011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61,214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利益率</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18.6%</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17.9%</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16.6%</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14.9%</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営業利益</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4,757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△4,423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5,860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5,317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利益率</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0.4%</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△0.4%</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0.5%</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1.3%</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経常利益</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11,317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2,181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8,068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5,885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利益率</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1.0%</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0.2%</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0.7%</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税引後当期純利益</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9,107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2,929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△15,085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5,885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利益率</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0.8%</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0.2%</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△1.3%</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01600">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41300">
                <a:tc>
                  <a:txBody>
                    <a:bodyPr/>
                    <a:lstStyle/>
                    <a:p>
                      <a:pPr algn="l" fontAlgn="ctr"/>
                      <a:r>
                        <a:rPr lang="ja-JP" altLang="en-US" sz="1050" b="0" i="0" dirty="0">
                          <a:solidFill>
                            <a:srgbClr val="000000"/>
                          </a:solidFill>
                          <a:latin typeface="游ゴシック"/>
                          <a:ea typeface="游ゴシック"/>
                        </a:rPr>
                        <a:t>減価償却費</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13,664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12,558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8,879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2,436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01600">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41300">
                <a:tc>
                  <a:txBody>
                    <a:bodyPr/>
                    <a:lstStyle/>
                    <a:p>
                      <a:pPr algn="l" fontAlgn="ctr"/>
                      <a:r>
                        <a:rPr lang="ja-JP" altLang="en-US" sz="1050" b="1" i="0" dirty="0">
                          <a:solidFill>
                            <a:srgbClr val="000000"/>
                          </a:solidFill>
                          <a:latin typeface="游ゴシック"/>
                          <a:ea typeface="游ゴシック"/>
                        </a:rPr>
                        <a:t>調整項目 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5,274</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5,468</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△8,389</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241300">
                <a:tc>
                  <a:txBody>
                    <a:bodyPr/>
                    <a:lstStyle/>
                    <a:p>
                      <a:pPr algn="l" fontAlgn="ctr"/>
                      <a:r>
                        <a:rPr lang="ja-JP" altLang="en-US" sz="1050" b="0" i="0" dirty="0">
                          <a:solidFill>
                            <a:srgbClr val="000000"/>
                          </a:solidFill>
                          <a:latin typeface="游ゴシック"/>
                          <a:ea typeface="游ゴシック"/>
                        </a:rPr>
                        <a:t>　①役員報酬の正常化</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3,082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3,082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△4,094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　②賞与の正常化</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△6,724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　③受取奨励金（純額）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2,179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2,315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2,418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　④寄付金</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01600">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66700">
                <a:tc>
                  <a:txBody>
                    <a:bodyPr/>
                    <a:lstStyle/>
                    <a:p>
                      <a:pPr algn="l" fontAlgn="ctr"/>
                      <a:r>
                        <a:rPr lang="ja-JP" altLang="en-US" sz="1050" b="1" i="0" dirty="0">
                          <a:solidFill>
                            <a:srgbClr val="000000"/>
                          </a:solidFill>
                          <a:latin typeface="游ゴシック"/>
                          <a:ea typeface="游ゴシック"/>
                        </a:rPr>
                        <a:t>調整後EBITDA</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23,694</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13,602</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6,350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bl>
          </a:graphicData>
        </a:graphic>
      </p:graphicFrame>
      <p:sp>
        <p:nvSpPr>
          <p:cNvPr id="18" name="TextBox 17"/>
          <p:cNvSpPr txBox="1"/>
          <p:nvPr/>
        </p:nvSpPr>
        <p:spPr>
          <a:xfrm>
            <a:off x="310896" y="6119368"/>
            <a:ext cx="6053328"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※EBITDA＝営業利益＋減価償却費。調整後EBITDAの3期平均は14,549千円、直近2期平均は9,976千円。</a:t>
            </a:r>
          </a:p>
          <a:p>
            <a:pPr algn="l"/>
            <a:r>
              <a:rPr sz="800" b="0">
                <a:solidFill>
                  <a:srgbClr val="000000"/>
                </a:solidFill>
                <a:latin typeface="游ゴシック"/>
                <a:ea typeface="游ゴシック"/>
              </a:rPr>
              <a:t>※2026年4〜7月は試算表（4か月累計）。前期比は前年同期（4〜7月）比。</a:t>
            </a:r>
          </a:p>
        </p:txBody>
      </p:sp>
    </p:spTree>
    <p:extLst>
      <p:ext uri="{BB962C8B-B14F-4D97-AF65-F5344CB8AC3E}">
        <p14:creationId xmlns:p14="http://schemas.microsoft.com/office/powerpoint/2010/main" val="3016589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B/S</a:t>
            </a:r>
            <a:r>
              <a:rPr lang="ja-JP" altLang="en-US" dirty="0"/>
              <a:t>）</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正方形/長方形 5">
            <a:extLst>
              <a:ext uri="{FF2B5EF4-FFF2-40B4-BE49-F238E27FC236}">
                <a16:creationId xmlns:a16="http://schemas.microsoft.com/office/drawing/2014/main" id="{63937474-FD16-D668-CAE8-2B82EF0CD424}"/>
              </a:ext>
            </a:extLst>
          </p:cNvPr>
          <p:cNvSpPr/>
          <p:nvPr/>
        </p:nvSpPr>
        <p:spPr>
          <a:xfrm>
            <a:off x="5559552" y="4956048"/>
            <a:ext cx="4791456" cy="2039112"/>
          </a:xfrm>
          <a:prstGeom prst="rect">
            <a:avLst/>
          </a:prstGeom>
          <a:solidFill>
            <a:schemeClr val="accent2"/>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Wingdings" panose="05000000000000000000" pitchFamily="2" charset="2"/>
              <a:buChar char="ü"/>
            </a:pPr>
            <a:endParaRPr kumimoji="1" lang="en-US" altLang="ja-JP" sz="1200" b="1" dirty="0">
              <a:solidFill>
                <a:schemeClr val="tx1"/>
              </a:solidFill>
              <a:latin typeface="+mn-ea"/>
            </a:endParaRP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市場用地等の土地93,137千円・建物等の事業用資産と現預金210,887千円を有する一方、長期借入金361,058千円を負う。土地の時価評価等を反映した時価純資産は55,318千円と試算。</a:t>
            </a:r>
          </a:p>
        </p:txBody>
      </p:sp>
      <p:sp>
        <p:nvSpPr>
          <p:cNvPr id="2" name="正方形/長方形 1">
            <a:extLst>
              <a:ext uri="{FF2B5EF4-FFF2-40B4-BE49-F238E27FC236}">
                <a16:creationId xmlns:a16="http://schemas.microsoft.com/office/drawing/2014/main" id="{612EABB3-CE7D-61AA-49A7-0C5A39CB2F7F}"/>
              </a:ext>
            </a:extLst>
          </p:cNvPr>
          <p:cNvSpPr/>
          <p:nvPr/>
        </p:nvSpPr>
        <p:spPr>
          <a:xfrm>
            <a:off x="5559552" y="1463040"/>
            <a:ext cx="4791456" cy="3429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07A18A00-4497-FBE7-D232-D583ED28CEE8}"/>
              </a:ext>
            </a:extLst>
          </p:cNvPr>
          <p:cNvSpPr txBox="1"/>
          <p:nvPr/>
        </p:nvSpPr>
        <p:spPr>
          <a:xfrm>
            <a:off x="5559552" y="1993392"/>
            <a:ext cx="4791456" cy="283464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≪現金及び預金≫</a:t>
            </a:r>
          </a:p>
          <a:p>
            <a:pPr>
              <a:spcAft>
                <a:spcPts val="300"/>
              </a:spcAft>
            </a:pPr>
            <a:r>
              <a:rPr lang="ja-JP" altLang="en-US" sz="900" b="0" dirty="0">
                <a:solidFill>
                  <a:sysClr val="windowText" lastClr="000000"/>
                </a:solidFill>
                <a:latin typeface="游ゴシック"/>
                <a:ea typeface="游ゴシック"/>
              </a:rPr>
              <a:t>・210,887千円：鶴岡信用金庫84,940千円、山形銀行63,122千円、荘内銀行59,634千円ほか。</a:t>
            </a:r>
          </a:p>
          <a:p>
            <a:pPr>
              <a:spcAft>
                <a:spcPts val="300"/>
              </a:spcAft>
            </a:pPr>
            <a:r>
              <a:rPr lang="ja-JP" altLang="en-US" sz="1000" b="1" dirty="0">
                <a:solidFill>
                  <a:sysClr val="windowText" lastClr="000000"/>
                </a:solidFill>
                <a:latin typeface="游ゴシック"/>
                <a:ea typeface="游ゴシック"/>
              </a:rPr>
              <a:t>≪売上債権・棚卸資産≫</a:t>
            </a:r>
          </a:p>
          <a:p>
            <a:pPr>
              <a:spcAft>
                <a:spcPts val="300"/>
              </a:spcAft>
            </a:pPr>
            <a:r>
              <a:rPr lang="ja-JP" altLang="en-US" sz="900" b="0" dirty="0">
                <a:solidFill>
                  <a:sysClr val="windowText" lastClr="000000"/>
                </a:solidFill>
                <a:latin typeface="游ゴシック"/>
                <a:ea typeface="游ゴシック"/>
              </a:rPr>
              <a:t>・売上債権20,836千円は(株)主婦の店7,194千円が最大。棚卸資産14,597千円は商品・資材・地物で、廃棄を要する滞留在庫はないとのこと。</a:t>
            </a:r>
          </a:p>
          <a:p>
            <a:pPr>
              <a:spcAft>
                <a:spcPts val="300"/>
              </a:spcAft>
            </a:pPr>
            <a:r>
              <a:rPr lang="ja-JP" altLang="en-US" sz="1000" b="1" dirty="0">
                <a:solidFill>
                  <a:sysClr val="windowText" lastClr="000000"/>
                </a:solidFill>
                <a:latin typeface="游ゴシック"/>
                <a:ea typeface="游ゴシック"/>
              </a:rPr>
              <a:t>≪固定資産≫</a:t>
            </a:r>
          </a:p>
          <a:p>
            <a:pPr>
              <a:spcAft>
                <a:spcPts val="300"/>
              </a:spcAft>
            </a:pPr>
            <a:r>
              <a:rPr lang="ja-JP" altLang="en-US" sz="900" b="0" dirty="0">
                <a:solidFill>
                  <a:sysClr val="windowText" lastClr="000000"/>
                </a:solidFill>
                <a:latin typeface="游ゴシック"/>
                <a:ea typeface="游ゴシック"/>
              </a:rPr>
              <a:t>・土地93,137千円：本社・市場70,757千円、パッケージ場21,380千円、旧倉庫敷地（駐車場）1,000千円。</a:t>
            </a:r>
          </a:p>
          <a:p>
            <a:pPr>
              <a:spcAft>
                <a:spcPts val="300"/>
              </a:spcAft>
            </a:pPr>
            <a:r>
              <a:rPr lang="ja-JP" altLang="en-US" sz="900" b="0" dirty="0">
                <a:solidFill>
                  <a:sysClr val="windowText" lastClr="000000"/>
                </a:solidFill>
                <a:latin typeface="游ゴシック"/>
                <a:ea typeface="游ゴシック"/>
              </a:rPr>
              <a:t>・保証金33,303千円：仕入代金のデポジット（約10日分）で、取引終了時に返金される。庄内青果物卸売精算(有)31,993千円が大半。</a:t>
            </a:r>
          </a:p>
          <a:p>
            <a:pPr>
              <a:spcAft>
                <a:spcPts val="300"/>
              </a:spcAft>
            </a:pPr>
            <a:r>
              <a:rPr lang="ja-JP" altLang="en-US" sz="1000" b="1" dirty="0">
                <a:solidFill>
                  <a:sysClr val="windowText" lastClr="000000"/>
                </a:solidFill>
                <a:latin typeface="游ゴシック"/>
                <a:ea typeface="游ゴシック"/>
              </a:rPr>
              <a:t>≪負債≫</a:t>
            </a:r>
          </a:p>
          <a:p>
            <a:pPr>
              <a:spcAft>
                <a:spcPts val="300"/>
              </a:spcAft>
            </a:pPr>
            <a:r>
              <a:rPr lang="ja-JP" altLang="en-US" sz="900" b="0" dirty="0">
                <a:solidFill>
                  <a:sysClr val="windowText" lastClr="000000"/>
                </a:solidFill>
                <a:latin typeface="游ゴシック"/>
                <a:ea typeface="游ゴシック"/>
              </a:rPr>
              <a:t>・長期借入金361,058千円：鶴岡信用金庫182,840千円、山形銀行70,250千円、日本政策金融公庫107,968千円。1年内返済額の区分なし。</a:t>
            </a:r>
          </a:p>
        </p:txBody>
      </p:sp>
      <p:sp>
        <p:nvSpPr>
          <p:cNvPr id="8" name="テキスト ボックス 7">
            <a:extLst>
              <a:ext uri="{FF2B5EF4-FFF2-40B4-BE49-F238E27FC236}">
                <a16:creationId xmlns:a16="http://schemas.microsoft.com/office/drawing/2014/main" id="{632197B6-9950-6937-E8F9-2140ACC03ACD}"/>
              </a:ext>
            </a:extLst>
          </p:cNvPr>
          <p:cNvSpPr txBox="1"/>
          <p:nvPr/>
        </p:nvSpPr>
        <p:spPr>
          <a:xfrm>
            <a:off x="5559552" y="5029200"/>
            <a:ext cx="4791456" cy="1920240"/>
          </a:xfrm>
          <a:prstGeom prst="rect">
            <a:avLst/>
          </a:prstGeom>
          <a:noFill/>
        </p:spPr>
        <p:txBody>
          <a:bodyPr wrap="square" lIns="288000" tIns="0" rIns="252000" bIns="0" rtlCol="0">
            <a:spAutoFit/>
          </a:bodyPr>
          <a:lstStyle/>
          <a:p>
            <a:pPr>
              <a:spcAft>
                <a:spcPts val="100"/>
              </a:spcAft>
            </a:pPr>
            <a:r>
              <a:rPr lang="ja-JP" altLang="en-US" sz="900" b="1" dirty="0">
                <a:solidFill>
                  <a:sysClr val="windowText" lastClr="000000"/>
                </a:solidFill>
                <a:latin typeface="游ゴシック"/>
                <a:ea typeface="游ゴシック"/>
              </a:rPr>
              <a:t>【時価修正】</a:t>
            </a:r>
          </a:p>
          <a:p>
            <a:pPr>
              <a:spcAft>
                <a:spcPts val="100"/>
              </a:spcAft>
            </a:pPr>
            <a:r>
              <a:rPr lang="ja-JP" altLang="en-US" sz="900" b="1" dirty="0">
                <a:solidFill>
                  <a:sysClr val="windowText" lastClr="000000"/>
                </a:solidFill>
                <a:latin typeface="游ゴシック"/>
                <a:ea typeface="游ゴシック"/>
              </a:rPr>
              <a:t>≪土地≫</a:t>
            </a:r>
          </a:p>
          <a:p>
            <a:pPr>
              <a:spcAft>
                <a:spcPts val="100"/>
              </a:spcAft>
            </a:pPr>
            <a:r>
              <a:rPr lang="ja-JP" altLang="en-US" sz="850" b="0" dirty="0">
                <a:solidFill>
                  <a:sysClr val="windowText" lastClr="000000"/>
                </a:solidFill>
                <a:latin typeface="游ゴシック"/>
                <a:ea typeface="游ゴシック"/>
              </a:rPr>
              <a:t>・固定資産税評価額÷0.7で時価評価（△25,312千円）。時価は確認中</a:t>
            </a:r>
          </a:p>
          <a:p>
            <a:pPr>
              <a:spcAft>
                <a:spcPts val="100"/>
              </a:spcAft>
            </a:pPr>
            <a:r>
              <a:rPr lang="ja-JP" altLang="en-US" sz="900" b="1" dirty="0">
                <a:solidFill>
                  <a:sysClr val="windowText" lastClr="000000"/>
                </a:solidFill>
                <a:latin typeface="游ゴシック"/>
                <a:ea typeface="游ゴシック"/>
              </a:rPr>
              <a:t>≪投資有価証券≫</a:t>
            </a:r>
          </a:p>
          <a:p>
            <a:pPr>
              <a:spcAft>
                <a:spcPts val="100"/>
              </a:spcAft>
            </a:pPr>
            <a:r>
              <a:rPr lang="ja-JP" altLang="en-US" sz="850" b="0" dirty="0">
                <a:solidFill>
                  <a:sysClr val="windowText" lastClr="000000"/>
                </a:solidFill>
                <a:latin typeface="游ゴシック"/>
                <a:ea typeface="游ゴシック"/>
              </a:rPr>
              <a:t>・上場株式を時価評価（+7,242千円）</a:t>
            </a:r>
          </a:p>
          <a:p>
            <a:pPr>
              <a:spcAft>
                <a:spcPts val="100"/>
              </a:spcAft>
            </a:pPr>
            <a:r>
              <a:rPr lang="ja-JP" altLang="en-US" sz="900" b="1" dirty="0">
                <a:solidFill>
                  <a:sysClr val="windowText" lastClr="000000"/>
                </a:solidFill>
                <a:latin typeface="游ゴシック"/>
                <a:ea typeface="游ゴシック"/>
              </a:rPr>
              <a:t>≪貸倒引当金・電話加入権≫</a:t>
            </a:r>
          </a:p>
          <a:p>
            <a:pPr>
              <a:spcAft>
                <a:spcPts val="100"/>
              </a:spcAft>
            </a:pPr>
            <a:r>
              <a:rPr lang="ja-JP" altLang="en-US" sz="850" b="0" dirty="0">
                <a:solidFill>
                  <a:sysClr val="windowText" lastClr="000000"/>
                </a:solidFill>
                <a:latin typeface="游ゴシック"/>
                <a:ea typeface="游ゴシック"/>
              </a:rPr>
              <a:t>・引当金戻入（+203千円）、電話加入権を減額（△2,156千円）</a:t>
            </a:r>
          </a:p>
          <a:p>
            <a:pPr>
              <a:spcAft>
                <a:spcPts val="100"/>
              </a:spcAft>
            </a:pPr>
            <a:r>
              <a:rPr lang="ja-JP" altLang="en-US" sz="900" b="1" dirty="0">
                <a:solidFill>
                  <a:sysClr val="windowText" lastClr="000000"/>
                </a:solidFill>
                <a:latin typeface="游ゴシック"/>
                <a:ea typeface="游ゴシック"/>
              </a:rPr>
              <a:t>≪税効果≫</a:t>
            </a:r>
          </a:p>
          <a:p>
            <a:pPr>
              <a:spcAft>
                <a:spcPts val="100"/>
              </a:spcAft>
            </a:pPr>
            <a:r>
              <a:rPr lang="ja-JP" altLang="en-US" sz="850" b="0" dirty="0">
                <a:solidFill>
                  <a:sysClr val="windowText" lastClr="000000"/>
                </a:solidFill>
                <a:latin typeface="游ゴシック"/>
                <a:ea typeface="游ゴシック"/>
              </a:rPr>
              <a:t>・評価差額に係る繰延税金負債（△2,531千円）</a:t>
            </a:r>
          </a:p>
          <a:p>
            <a:pPr>
              <a:spcAft>
                <a:spcPts val="100"/>
              </a:spcAft>
            </a:pPr>
            <a:r>
              <a:rPr lang="ja-JP" altLang="en-US" sz="900" b="1" dirty="0">
                <a:solidFill>
                  <a:sysClr val="windowText" lastClr="000000"/>
                </a:solidFill>
                <a:latin typeface="游ゴシック"/>
                <a:ea typeface="游ゴシック"/>
              </a:rPr>
              <a:t>✓ 簿価純資産77,873千円 → 時価純資産55,318千円</a:t>
            </a:r>
          </a:p>
        </p:txBody>
      </p:sp>
      <p:graphicFrame>
        <p:nvGraphicFramePr>
          <p:cNvPr id="14" name="表（BSハイライト!B4:F19）"/>
          <p:cNvGraphicFramePr>
            <a:graphicFrameLocks noGrp="1"/>
          </p:cNvGraphicFramePr>
          <p:nvPr/>
        </p:nvGraphicFramePr>
        <p:xfrm>
          <a:off x="338328" y="1463040"/>
          <a:ext cx="5001765" cy="4521200"/>
        </p:xfrm>
        <a:graphic>
          <a:graphicData uri="http://schemas.openxmlformats.org/drawingml/2006/table">
            <a:tbl>
              <a:tblPr firstRow="0" bandRow="0">
                <a:tableStyleId>{2D5ABB26-0587-4C30-8999-92F81FD0307C}</a:tableStyleId>
              </a:tblPr>
              <a:tblGrid>
                <a:gridCol w="1399233"/>
                <a:gridCol w="932473"/>
                <a:gridCol w="338353"/>
                <a:gridCol w="1399233"/>
                <a:gridCol w="932473"/>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41300">
                <a:tc gridSpan="5">
                  <a:txBody>
                    <a:bodyPr/>
                    <a:lstStyle/>
                    <a:p>
                      <a:pPr algn="ctr" fontAlgn="ctr"/>
                      <a:r>
                        <a:rPr lang="ja-JP" altLang="en-US" sz="1000" b="0" i="0" dirty="0">
                          <a:solidFill>
                            <a:srgbClr val="FFFFFF"/>
                          </a:solidFill>
                          <a:latin typeface="游ゴシック"/>
                          <a:ea typeface="游ゴシック"/>
                        </a:rPr>
                        <a:t>2026年3月期末</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1100"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1100"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1100"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11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292100">
                <a:tc>
                  <a:txBody>
                    <a:bodyPr/>
                    <a:lstStyle/>
                    <a:p>
                      <a:pPr algn="l" fontAlgn="ctr"/>
                      <a:r>
                        <a:rPr lang="ja-JP" altLang="en-US" sz="1050" b="0" i="0" dirty="0">
                          <a:solidFill>
                            <a:srgbClr val="000000"/>
                          </a:solidFill>
                          <a:latin typeface="游ゴシック"/>
                          <a:ea typeface="游ゴシック"/>
                        </a:rPr>
                        <a:t>流動資産</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249,705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流動負債</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37,280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r h="292100">
                <a:tc>
                  <a:txBody>
                    <a:bodyPr/>
                    <a:lstStyle/>
                    <a:p>
                      <a:pPr algn="l" fontAlgn="ctr"/>
                      <a:r>
                        <a:rPr lang="ja-JP" altLang="en-US" sz="1050" b="0" i="0" dirty="0">
                          <a:solidFill>
                            <a:srgbClr val="000000"/>
                          </a:solidFill>
                          <a:latin typeface="游ゴシック"/>
                          <a:ea typeface="游ゴシック"/>
                        </a:rPr>
                        <a:t>現金及び預金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210,887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買掛金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26,349</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売上債権</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20,836</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未払金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6,630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棚卸資産</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14,597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未払法人税等</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1,851</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その他</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3,385</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その他</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2,449</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固定資産</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235,485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固定負債</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370,038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r h="292100">
                <a:tc>
                  <a:txBody>
                    <a:bodyPr/>
                    <a:lstStyle/>
                    <a:p>
                      <a:pPr algn="l" fontAlgn="ctr"/>
                      <a:r>
                        <a:rPr lang="ja-JP" altLang="en-US" sz="1050" b="0" i="0" dirty="0">
                          <a:solidFill>
                            <a:srgbClr val="000000"/>
                          </a:solidFill>
                          <a:latin typeface="游ゴシック"/>
                          <a:ea typeface="游ゴシック"/>
                        </a:rPr>
                        <a:t>建物等</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103,750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長期借入金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361,058</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土地</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93,137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預り保証金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8,980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電話加入権等（無形）</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2,527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投資有価証券</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2,600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1" i="0" dirty="0">
                          <a:solidFill>
                            <a:srgbClr val="000000"/>
                          </a:solidFill>
                          <a:latin typeface="游ゴシック"/>
                          <a:ea typeface="游ゴシック"/>
                        </a:rPr>
                        <a:t>負債合計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407,318</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r h="292100">
                <a:tc>
                  <a:txBody>
                    <a:bodyPr/>
                    <a:lstStyle/>
                    <a:p>
                      <a:pPr algn="l" fontAlgn="ctr"/>
                      <a:r>
                        <a:rPr lang="ja-JP" altLang="en-US" sz="1050" b="0" i="0" dirty="0">
                          <a:solidFill>
                            <a:srgbClr val="000000"/>
                          </a:solidFill>
                          <a:latin typeface="游ゴシック"/>
                          <a:ea typeface="游ゴシック"/>
                        </a:rPr>
                        <a:t>保証金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33,303</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資本金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40,000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その他</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168</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利益剰余金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37,873</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1" i="0" dirty="0">
                          <a:solidFill>
                            <a:srgbClr val="000000"/>
                          </a:solidFill>
                          <a:latin typeface="游ゴシック"/>
                          <a:ea typeface="游ゴシック"/>
                        </a:rPr>
                        <a:t>純資産合計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77,873</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r h="292100">
                <a:tc>
                  <a:txBody>
                    <a:bodyPr/>
                    <a:lstStyle/>
                    <a:p>
                      <a:pPr algn="l" fontAlgn="ctr"/>
                      <a:r>
                        <a:rPr lang="ja-JP" altLang="en-US" sz="1050" b="1" i="0" dirty="0">
                          <a:solidFill>
                            <a:srgbClr val="000000"/>
                          </a:solidFill>
                          <a:latin typeface="游ゴシック"/>
                          <a:ea typeface="游ゴシック"/>
                        </a:rPr>
                        <a:t>資産合計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485,190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1" i="0" dirty="0">
                          <a:solidFill>
                            <a:srgbClr val="000000"/>
                          </a:solidFill>
                          <a:latin typeface="游ゴシック"/>
                          <a:ea typeface="游ゴシック"/>
                        </a:rPr>
                        <a:t>負債・純資産合計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485,190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bl>
          </a:graphicData>
        </a:graphic>
      </p:graphicFrame>
      <p:sp>
        <p:nvSpPr>
          <p:cNvPr id="15" name="TextBox 14"/>
          <p:cNvSpPr txBox="1"/>
          <p:nvPr/>
        </p:nvSpPr>
        <p:spPr>
          <a:xfrm>
            <a:off x="338328" y="6039104"/>
            <a:ext cx="5001768"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※2026年3月期末。3期推移は「財務情報詳細｜貸借対照表」に記載。</a:t>
            </a:r>
          </a:p>
        </p:txBody>
      </p:sp>
    </p:spTree>
    <p:extLst>
      <p:ext uri="{BB962C8B-B14F-4D97-AF65-F5344CB8AC3E}">
        <p14:creationId xmlns:p14="http://schemas.microsoft.com/office/powerpoint/2010/main" val="403033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lang="ja-JP" altLang="en-US" sz="1600" b="1" spc="50" dirty="0">
                <a:solidFill>
                  <a:schemeClr val="dk1"/>
                </a:solidFill>
                <a:latin typeface="+mj-ea"/>
                <a:ea typeface="+mj-ea"/>
              </a:rPr>
              <a:t>株式100％譲渡（他株主からも譲渡の同意を取得可能）</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en-US" altLang="ja-JP" spc="50" dirty="0" sz="1800"/>
              <a:t>売主様と協議中（要確認）</a:t>
            </a: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4680" y="4224528"/>
            <a:ext cx="7077456" cy="1097280"/>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pc="50" dirty="0" sz="1200"/>
              <a:t>従業員の雇用維持（最も重視）</a:t>
            </a:r>
            <a:endParaRPr lang="en-US" altLang="ja-JP" spc="50" dirty="0"/>
          </a:p>
          <a:p>
            <a:pPr marL="324000" indent="-324000" algn="l">
              <a:spcAft>
                <a:spcPts val="200"/>
              </a:spcAft>
              <a:buClr>
                <a:schemeClr val="tx2"/>
              </a:buClr>
              <a:buFont typeface="游ゴシック" panose="020B0400000000000000" pitchFamily="50" charset="-128"/>
              <a:buChar char="▪"/>
            </a:pPr>
            <a:r>
              <a:rPr lang="ja-JP" altLang="en-US" spc="50" dirty="0" sz="1200"/>
              <a:t>代表者は譲渡後、顧問として関与可能（業務量を半分程度とし、顧問料は月額18万円程度を想定。引継ぎ期間は要確認）</a:t>
            </a:r>
            <a:endParaRPr lang="en-US" altLang="ja-JP" spc="50" dirty="0"/>
          </a:p>
          <a:p>
            <a:pPr marL="324000" indent="-324000" algn="l">
              <a:spcAft>
                <a:spcPts val="200"/>
              </a:spcAft>
              <a:buClr>
                <a:schemeClr val="tx2"/>
              </a:buClr>
              <a:buFont typeface="游ゴシック" panose="020B0400000000000000" pitchFamily="50" charset="-128"/>
              <a:buChar char="▪"/>
            </a:pPr>
            <a:r>
              <a:rPr lang="ja-JP" altLang="en-US" spc="50" dirty="0" sz="1200"/>
              <a:t>取締役（代表者の弟）は残留予定。その他の役員は譲渡時に退任予定</a:t>
            </a:r>
            <a:endParaRPr lang="en-US" altLang="ja-JP"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62504"/>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r>
              <a:rPr lang="ja-JP" altLang="en-US" spc="50" dirty="0" sz="1800"/>
              <a:t>代表者の引退に伴う事業承継</a:t>
            </a: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spTree>
    <p:extLst>
      <p:ext uri="{BB962C8B-B14F-4D97-AF65-F5344CB8AC3E}">
        <p14:creationId xmlns:p14="http://schemas.microsoft.com/office/powerpoint/2010/main" val="4085199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chemeClr val="tx1"/>
                </a:solidFill>
                <a:latin typeface="+mj-ea"/>
                <a:ea typeface="+mj-ea"/>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2"/>
                </a:solidFill>
                <a:latin typeface="+mj-ea"/>
                <a:ea typeface="+mj-ea"/>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t>事業内容</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ctr"/>
          <a:lstStyle/>
          <a:p>
            <a:pPr algn="ctr"/>
            <a:r>
              <a:rPr kumimoji="1" lang="ja-JP" altLang="en-US" sz="1000" b="1" spc="100" dirty="0">
                <a:solidFill>
                  <a:schemeClr val="tx1"/>
                </a:solidFill>
                <a:latin typeface="+mj-ea"/>
                <a:ea typeface="+mj-ea"/>
              </a:rPr>
              <a:t>物流：自社配送（東京向け出荷・一部の地元スーパー向け配送のみ外部運送会社を利用）</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近郷農家の持込・当社集荷と県内外の市場からの仕入で品揃えを確保し、セリ・相対と直接販売で地元へ供給。地元で捌き切れない過剰分は豊洲市場・他県へ販売している。</a:t>
            </a:r>
          </a:p>
        </p:txBody>
      </p:sp>
      <p:sp>
        <p:nvSpPr>
          <p:cNvPr id="36" name="TextBox 35"/>
          <p:cNvSpPr txBox="1"/>
          <p:nvPr/>
        </p:nvSpPr>
        <p:spPr>
          <a:xfrm>
            <a:off x="502920" y="2011680"/>
            <a:ext cx="2057400" cy="4114800"/>
          </a:xfrm>
          <a:prstGeom prst="rect">
            <a:avLst/>
          </a:prstGeom>
          <a:noFill/>
        </p:spPr>
        <p:txBody>
          <a:bodyPr wrap="square" lIns="0" rIns="0" tIns="0" bIns="0" anchor="t">
            <a:spAutoFit/>
          </a:bodyPr>
          <a:lstStyle/>
          <a:p>
            <a:pPr algn="l">
              <a:spcAft>
                <a:spcPts val="300"/>
              </a:spcAft>
            </a:pPr>
            <a:r>
              <a:rPr sz="900" b="0">
                <a:solidFill>
                  <a:srgbClr val="000000"/>
                </a:solidFill>
                <a:latin typeface="游ゴシック"/>
                <a:ea typeface="游ゴシック"/>
              </a:rPr>
              <a:t>■ 近郷の農家（持込30〜40%・残りは当社集荷）</a:t>
            </a:r>
          </a:p>
          <a:p>
            <a:pPr algn="l">
              <a:spcAft>
                <a:spcPts val="300"/>
              </a:spcAft>
            </a:pPr>
            <a:r>
              <a:rPr sz="900" b="0">
                <a:solidFill>
                  <a:srgbClr val="000000"/>
                </a:solidFill>
                <a:latin typeface="游ゴシック"/>
                <a:ea typeface="游ゴシック"/>
              </a:rPr>
              <a:t>■ 丸果庄内青果(株)</a:t>
            </a:r>
          </a:p>
          <a:p>
            <a:pPr algn="l">
              <a:spcAft>
                <a:spcPts val="300"/>
              </a:spcAft>
            </a:pPr>
            <a:r>
              <a:rPr sz="900" b="0">
                <a:solidFill>
                  <a:srgbClr val="000000"/>
                </a:solidFill>
                <a:latin typeface="游ゴシック"/>
                <a:ea typeface="游ゴシック"/>
              </a:rPr>
              <a:t>■ (株)庄果</a:t>
            </a:r>
          </a:p>
          <a:p>
            <a:pPr algn="l">
              <a:spcAft>
                <a:spcPts val="300"/>
              </a:spcAft>
            </a:pPr>
            <a:r>
              <a:rPr sz="900" b="0">
                <a:solidFill>
                  <a:srgbClr val="000000"/>
                </a:solidFill>
                <a:latin typeface="游ゴシック"/>
                <a:ea typeface="游ゴシック"/>
              </a:rPr>
              <a:t>　（公設庄内青果物地方卸売市場：三川町）</a:t>
            </a:r>
          </a:p>
          <a:p>
            <a:pPr algn="l">
              <a:spcAft>
                <a:spcPts val="300"/>
              </a:spcAft>
            </a:pPr>
            <a:r>
              <a:rPr sz="900" b="0">
                <a:solidFill>
                  <a:srgbClr val="000000"/>
                </a:solidFill>
                <a:latin typeface="游ゴシック"/>
                <a:ea typeface="游ゴシック"/>
              </a:rPr>
              <a:t>■ 長井中央青果(株)</a:t>
            </a:r>
          </a:p>
          <a:p>
            <a:pPr algn="l">
              <a:spcAft>
                <a:spcPts val="300"/>
              </a:spcAft>
            </a:pPr>
            <a:r>
              <a:rPr sz="900" b="0">
                <a:solidFill>
                  <a:srgbClr val="000000"/>
                </a:solidFill>
                <a:latin typeface="游ゴシック"/>
                <a:ea typeface="游ゴシック"/>
              </a:rPr>
              <a:t>■ (株)マルト直治郎商店</a:t>
            </a:r>
          </a:p>
          <a:p>
            <a:pPr algn="l">
              <a:spcAft>
                <a:spcPts val="300"/>
              </a:spcAft>
            </a:pPr>
            <a:r>
              <a:rPr sz="900" b="0">
                <a:solidFill>
                  <a:srgbClr val="000000"/>
                </a:solidFill>
                <a:latin typeface="游ゴシック"/>
                <a:ea typeface="游ゴシック"/>
              </a:rPr>
              <a:t>■ 成田食品(株)（福島県）</a:t>
            </a:r>
          </a:p>
          <a:p>
            <a:pPr algn="l">
              <a:spcAft>
                <a:spcPts val="300"/>
              </a:spcAft>
            </a:pPr>
            <a:r>
              <a:rPr sz="900" b="0">
                <a:solidFill>
                  <a:srgbClr val="000000"/>
                </a:solidFill>
                <a:latin typeface="游ゴシック"/>
                <a:ea typeface="游ゴシック"/>
              </a:rPr>
              <a:t>■ (株)ファーマインド（東京都）</a:t>
            </a:r>
          </a:p>
          <a:p>
            <a:pPr algn="l">
              <a:spcAft>
                <a:spcPts val="300"/>
              </a:spcAft>
            </a:pPr>
            <a:r>
              <a:rPr sz="900" b="0">
                <a:solidFill>
                  <a:srgbClr val="000000"/>
                </a:solidFill>
                <a:latin typeface="游ゴシック"/>
                <a:ea typeface="游ゴシック"/>
              </a:rPr>
              <a:t>■ (株)東根農産センター</a:t>
            </a:r>
          </a:p>
          <a:p>
            <a:pPr algn="l">
              <a:spcAft>
                <a:spcPts val="300"/>
              </a:spcAft>
            </a:pPr>
            <a:r>
              <a:rPr sz="900" b="0">
                <a:solidFill>
                  <a:srgbClr val="000000"/>
                </a:solidFill>
                <a:latin typeface="游ゴシック"/>
                <a:ea typeface="游ゴシック"/>
              </a:rPr>
              <a:t>■ 関東の仲卸業者（12月〜正月）</a:t>
            </a:r>
          </a:p>
        </p:txBody>
      </p:sp>
      <p:sp>
        <p:nvSpPr>
          <p:cNvPr id="37" name="TextBox 36"/>
          <p:cNvSpPr txBox="1"/>
          <p:nvPr/>
        </p:nvSpPr>
        <p:spPr>
          <a:xfrm>
            <a:off x="8138160" y="2011680"/>
            <a:ext cx="2057400" cy="4114800"/>
          </a:xfrm>
          <a:prstGeom prst="rect">
            <a:avLst/>
          </a:prstGeom>
          <a:noFill/>
        </p:spPr>
        <p:txBody>
          <a:bodyPr wrap="square" lIns="0" rIns="0" tIns="0" bIns="0" anchor="t">
            <a:spAutoFit/>
          </a:bodyPr>
          <a:lstStyle/>
          <a:p>
            <a:pPr algn="l">
              <a:spcAft>
                <a:spcPts val="300"/>
              </a:spcAft>
            </a:pPr>
            <a:r>
              <a:rPr sz="900" b="0">
                <a:solidFill>
                  <a:srgbClr val="000000"/>
                </a:solidFill>
                <a:latin typeface="游ゴシック"/>
                <a:ea typeface="游ゴシック"/>
              </a:rPr>
              <a:t>■ (株)主婦の店（量販店）</a:t>
            </a:r>
          </a:p>
          <a:p>
            <a:pPr algn="l">
              <a:spcAft>
                <a:spcPts val="300"/>
              </a:spcAft>
            </a:pPr>
            <a:r>
              <a:rPr sz="900" b="0">
                <a:solidFill>
                  <a:srgbClr val="000000"/>
                </a:solidFill>
                <a:latin typeface="游ゴシック"/>
                <a:ea typeface="游ゴシック"/>
              </a:rPr>
              <a:t>■ 生活協同組合共立社</a:t>
            </a:r>
          </a:p>
          <a:p>
            <a:pPr algn="l">
              <a:spcAft>
                <a:spcPts val="300"/>
              </a:spcAft>
            </a:pPr>
            <a:r>
              <a:rPr sz="900" b="0">
                <a:solidFill>
                  <a:srgbClr val="000000"/>
                </a:solidFill>
                <a:latin typeface="游ゴシック"/>
                <a:ea typeface="游ゴシック"/>
              </a:rPr>
              <a:t>■ 生協連合会アイチョイス</a:t>
            </a:r>
          </a:p>
          <a:p>
            <a:pPr algn="l">
              <a:spcAft>
                <a:spcPts val="300"/>
              </a:spcAft>
            </a:pPr>
            <a:r>
              <a:rPr sz="900" b="0">
                <a:solidFill>
                  <a:srgbClr val="000000"/>
                </a:solidFill>
                <a:latin typeface="游ゴシック"/>
                <a:ea typeface="游ゴシック"/>
              </a:rPr>
              <a:t>■ 小島商店</a:t>
            </a:r>
          </a:p>
          <a:p>
            <a:pPr algn="l">
              <a:spcAft>
                <a:spcPts val="300"/>
              </a:spcAft>
            </a:pPr>
            <a:r>
              <a:rPr sz="900" b="0">
                <a:solidFill>
                  <a:srgbClr val="000000"/>
                </a:solidFill>
                <a:latin typeface="游ゴシック"/>
                <a:ea typeface="游ゴシック"/>
              </a:rPr>
              <a:t>■ 給食センター</a:t>
            </a:r>
          </a:p>
          <a:p>
            <a:pPr algn="l">
              <a:spcAft>
                <a:spcPts val="300"/>
              </a:spcAft>
            </a:pPr>
            <a:r>
              <a:rPr sz="900" b="0">
                <a:solidFill>
                  <a:srgbClr val="000000"/>
                </a:solidFill>
                <a:latin typeface="游ゴシック"/>
                <a:ea typeface="游ゴシック"/>
              </a:rPr>
              <a:t>■ 長井中央青果(株)</a:t>
            </a:r>
          </a:p>
          <a:p>
            <a:pPr algn="l">
              <a:spcAft>
                <a:spcPts val="300"/>
              </a:spcAft>
            </a:pPr>
            <a:r>
              <a:rPr sz="900" b="0">
                <a:solidFill>
                  <a:srgbClr val="000000"/>
                </a:solidFill>
                <a:latin typeface="游ゴシック"/>
                <a:ea typeface="游ゴシック"/>
              </a:rPr>
              <a:t>■ 元青果</a:t>
            </a:r>
          </a:p>
          <a:p>
            <a:pPr algn="l">
              <a:spcAft>
                <a:spcPts val="300"/>
              </a:spcAft>
            </a:pPr>
            <a:r>
              <a:rPr sz="900" b="0">
                <a:solidFill>
                  <a:srgbClr val="000000"/>
                </a:solidFill>
                <a:latin typeface="游ゴシック"/>
                <a:ea typeface="游ゴシック"/>
              </a:rPr>
              <a:t>■ 市場の仲卸業者・買参人</a:t>
            </a:r>
          </a:p>
          <a:p>
            <a:pPr algn="l">
              <a:spcAft>
                <a:spcPts val="300"/>
              </a:spcAft>
            </a:pPr>
            <a:r>
              <a:rPr sz="900" b="0">
                <a:solidFill>
                  <a:srgbClr val="000000"/>
                </a:solidFill>
                <a:latin typeface="游ゴシック"/>
                <a:ea typeface="游ゴシック"/>
              </a:rPr>
              <a:t>■ 豊洲市場・県外市場（過剰分）</a:t>
            </a:r>
          </a:p>
          <a:p>
            <a:pPr algn="l">
              <a:spcAft>
                <a:spcPts val="300"/>
              </a:spcAft>
            </a:pPr>
            <a:r>
              <a:rPr sz="900" b="0">
                <a:solidFill>
                  <a:srgbClr val="000000"/>
                </a:solidFill>
                <a:latin typeface="游ゴシック"/>
                <a:ea typeface="游ゴシック"/>
              </a:rPr>
              <a:t>■ ゲームセンター（景品用）</a:t>
            </a:r>
          </a:p>
        </p:txBody>
      </p:sp>
      <p:sp>
        <p:nvSpPr>
          <p:cNvPr id="38" name="Rectangle 37"/>
          <p:cNvSpPr/>
          <p:nvPr/>
        </p:nvSpPr>
        <p:spPr>
          <a:xfrm>
            <a:off x="3154680" y="2084831"/>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青果卸売事業（買付販売）</a:t>
            </a:r>
          </a:p>
          <a:p>
            <a:pPr algn="l"/>
            <a:r>
              <a:rPr sz="900" b="0">
                <a:solidFill>
                  <a:srgbClr val="000000"/>
                </a:solidFill>
                <a:latin typeface="游ゴシック"/>
                <a:ea typeface="游ゴシック"/>
              </a:rPr>
              <a:t>野菜・果実を買い付けて販売（総額計上）</a:t>
            </a:r>
          </a:p>
        </p:txBody>
      </p:sp>
      <p:sp>
        <p:nvSpPr>
          <p:cNvPr id="39" name="Rectangle 38"/>
          <p:cNvSpPr/>
          <p:nvPr/>
        </p:nvSpPr>
        <p:spPr>
          <a:xfrm>
            <a:off x="3154680" y="2926079"/>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青果卸売事業（受託販売）</a:t>
            </a:r>
          </a:p>
          <a:p>
            <a:pPr algn="l"/>
            <a:r>
              <a:rPr sz="900" b="0">
                <a:solidFill>
                  <a:srgbClr val="000000"/>
                </a:solidFill>
                <a:latin typeface="游ゴシック"/>
                <a:ea typeface="游ゴシック"/>
              </a:rPr>
              <a:t>生産者の商品を預かり販売し、販売額の8.5%を手数料として収受（純額計上）</a:t>
            </a:r>
          </a:p>
        </p:txBody>
      </p:sp>
      <p:sp>
        <p:nvSpPr>
          <p:cNvPr id="40" name="Rectangle 39"/>
          <p:cNvSpPr/>
          <p:nvPr/>
        </p:nvSpPr>
        <p:spPr>
          <a:xfrm>
            <a:off x="3154680" y="3767328"/>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関連サービス</a:t>
            </a:r>
          </a:p>
          <a:p>
            <a:pPr algn="l"/>
            <a:r>
              <a:rPr sz="900" b="0">
                <a:solidFill>
                  <a:srgbClr val="000000"/>
                </a:solidFill>
                <a:latin typeface="游ゴシック"/>
                <a:ea typeface="游ゴシック"/>
              </a:rPr>
              <a:t>小分け・包装、自社配送、(株)主婦の店の配送受託（配送額の約10%をセンター費として収受）</a:t>
            </a:r>
          </a:p>
        </p:txBody>
      </p:sp>
      <p:sp>
        <p:nvSpPr>
          <p:cNvPr id="41" name="Rectangle 40"/>
          <p:cNvSpPr/>
          <p:nvPr/>
        </p:nvSpPr>
        <p:spPr>
          <a:xfrm>
            <a:off x="3154680" y="4608576"/>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資材販売</a:t>
            </a:r>
          </a:p>
          <a:p>
            <a:pPr algn="l"/>
            <a:r>
              <a:rPr sz="900" b="0">
                <a:solidFill>
                  <a:srgbClr val="000000"/>
                </a:solidFill>
                <a:latin typeface="游ゴシック"/>
                <a:ea typeface="游ゴシック"/>
              </a:rPr>
              <a:t>包装資材の販売（仕入資材の約8割は自社利用。肥料はほぼ取扱いなし）</a:t>
            </a:r>
          </a:p>
        </p:txBody>
      </p:sp>
      <p:sp>
        <p:nvSpPr>
          <p:cNvPr id="42" name="TextBox 41"/>
          <p:cNvSpPr txBox="1"/>
          <p:nvPr/>
        </p:nvSpPr>
        <p:spPr>
          <a:xfrm>
            <a:off x="8138160" y="6126480"/>
            <a:ext cx="2057400" cy="329184"/>
          </a:xfrm>
          <a:prstGeom prst="rect">
            <a:avLst/>
          </a:prstGeom>
          <a:noFill/>
        </p:spPr>
        <p:txBody>
          <a:bodyPr wrap="square" lIns="0" rIns="0" tIns="0" bIns="0" anchor="t">
            <a:spAutoFit/>
          </a:bodyPr>
          <a:lstStyle/>
          <a:p>
            <a:pPr algn="l"/>
            <a:r>
              <a:rPr sz="750" b="0">
                <a:solidFill>
                  <a:srgbClr val="000000"/>
                </a:solidFill>
                <a:latin typeface="游ゴシック"/>
                <a:ea typeface="游ゴシック"/>
              </a:rPr>
              <a:t>※社名は期末残高の上位先。</a:t>
            </a:r>
          </a:p>
          <a:p>
            <a:pPr algn="l"/>
            <a:r>
              <a:rPr sz="750" b="0">
                <a:solidFill>
                  <a:srgbClr val="000000"/>
                </a:solidFill>
                <a:latin typeface="游ゴシック"/>
                <a:ea typeface="游ゴシック"/>
              </a:rPr>
              <a:t>　取引規模は要確認。</a:t>
            </a:r>
          </a:p>
        </p:txBody>
      </p:sp>
    </p:spTree>
    <p:extLst>
      <p:ext uri="{BB962C8B-B14F-4D97-AF65-F5344CB8AC3E}">
        <p14:creationId xmlns:p14="http://schemas.microsoft.com/office/powerpoint/2010/main" val="538383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lang="ja-JP" altLang="en-US" dirty="0"/>
              <a:t>事業の仕組みと収益源</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4" name="Rectangle 3"/>
          <p:cNvSpPr/>
          <p:nvPr/>
        </p:nvSpPr>
        <p:spPr>
          <a:xfrm>
            <a:off x="448056" y="178308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出荷者・仕入先</a:t>
            </a:r>
          </a:p>
        </p:txBody>
      </p:sp>
      <p:sp>
        <p:nvSpPr>
          <p:cNvPr id="5" name="Rectangle 4"/>
          <p:cNvSpPr/>
          <p:nvPr/>
        </p:nvSpPr>
        <p:spPr>
          <a:xfrm>
            <a:off x="448056" y="2057400"/>
            <a:ext cx="2103120" cy="731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近郷農家（持込・当社集荷）</a:t>
            </a:r>
          </a:p>
          <a:p>
            <a:pPr algn="ctr"/>
            <a:r>
              <a:rPr sz="900" b="0">
                <a:solidFill>
                  <a:srgbClr val="000000"/>
                </a:solidFill>
                <a:latin typeface="游ゴシック"/>
                <a:ea typeface="游ゴシック"/>
              </a:rPr>
              <a:t>他市場の卸売業者</a:t>
            </a:r>
          </a:p>
          <a:p>
            <a:pPr algn="ctr"/>
            <a:r>
              <a:rPr sz="900" b="0">
                <a:solidFill>
                  <a:srgbClr val="000000"/>
                </a:solidFill>
                <a:latin typeface="游ゴシック"/>
                <a:ea typeface="游ゴシック"/>
              </a:rPr>
              <a:t>関東の仲卸 等</a:t>
            </a:r>
          </a:p>
        </p:txBody>
      </p:sp>
      <p:sp>
        <p:nvSpPr>
          <p:cNvPr id="6" name="Rectangle 5"/>
          <p:cNvSpPr/>
          <p:nvPr/>
        </p:nvSpPr>
        <p:spPr>
          <a:xfrm>
            <a:off x="3063240" y="1554480"/>
            <a:ext cx="283464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株式会社鶴岡中央青果</a:t>
            </a:r>
          </a:p>
        </p:txBody>
      </p:sp>
      <p:sp>
        <p:nvSpPr>
          <p:cNvPr id="7" name="Rectangle 6"/>
          <p:cNvSpPr/>
          <p:nvPr/>
        </p:nvSpPr>
        <p:spPr>
          <a:xfrm>
            <a:off x="3063240" y="1828800"/>
            <a:ext cx="2834640" cy="11887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地方卸売市場の開設者兼卸売業者</a:t>
            </a:r>
          </a:p>
          <a:p>
            <a:pPr algn="ctr"/>
            <a:r>
              <a:rPr sz="900" b="0">
                <a:solidFill>
                  <a:srgbClr val="000000"/>
                </a:solidFill>
                <a:latin typeface="游ゴシック"/>
                <a:ea typeface="游ゴシック"/>
              </a:rPr>
              <a:t>（鶴岡市宝田）</a:t>
            </a:r>
          </a:p>
        </p:txBody>
      </p:sp>
      <p:sp>
        <p:nvSpPr>
          <p:cNvPr id="8" name="Rectangle 7"/>
          <p:cNvSpPr/>
          <p:nvPr/>
        </p:nvSpPr>
        <p:spPr>
          <a:xfrm>
            <a:off x="6446520" y="141732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仲卸業者・買参人</a:t>
            </a:r>
          </a:p>
        </p:txBody>
      </p:sp>
      <p:sp>
        <p:nvSpPr>
          <p:cNvPr id="9" name="Rectangle 8"/>
          <p:cNvSpPr/>
          <p:nvPr/>
        </p:nvSpPr>
        <p:spPr>
          <a:xfrm>
            <a:off x="6446520" y="1691640"/>
            <a:ext cx="2103120" cy="731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市場内でセリ・相対により購入</a:t>
            </a:r>
          </a:p>
        </p:txBody>
      </p:sp>
      <p:sp>
        <p:nvSpPr>
          <p:cNvPr id="10" name="Rectangle 9"/>
          <p:cNvSpPr/>
          <p:nvPr/>
        </p:nvSpPr>
        <p:spPr>
          <a:xfrm>
            <a:off x="6446520" y="251460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量販店・生協・給食 等</a:t>
            </a:r>
          </a:p>
        </p:txBody>
      </p:sp>
      <p:sp>
        <p:nvSpPr>
          <p:cNvPr id="11" name="Rectangle 10"/>
          <p:cNvSpPr/>
          <p:nvPr/>
        </p:nvSpPr>
        <p:spPr>
          <a:xfrm>
            <a:off x="6446520" y="2788920"/>
            <a:ext cx="2103120" cy="731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当社から直接販売</a:t>
            </a:r>
          </a:p>
          <a:p>
            <a:pPr algn="ctr"/>
            <a:r>
              <a:rPr sz="900" b="0">
                <a:solidFill>
                  <a:srgbClr val="000000"/>
                </a:solidFill>
                <a:latin typeface="游ゴシック"/>
                <a:ea typeface="游ゴシック"/>
              </a:rPr>
              <a:t>過剰分は豊洲・他県へ</a:t>
            </a:r>
          </a:p>
        </p:txBody>
      </p:sp>
      <p:cxnSp>
        <p:nvCxnSpPr>
          <p:cNvPr id="12" name="Connector 11"/>
          <p:cNvCxnSpPr/>
          <p:nvPr/>
        </p:nvCxnSpPr>
        <p:spPr>
          <a:xfrm>
            <a:off x="2596896" y="2286000"/>
            <a:ext cx="420624"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943600" y="1874519"/>
            <a:ext cx="457200"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2926080"/>
            <a:ext cx="457200"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8732520" y="1417320"/>
            <a:ext cx="1600200" cy="1874519"/>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850" b="1">
                <a:solidFill>
                  <a:srgbClr val="000000"/>
                </a:solidFill>
                <a:latin typeface="游ゴシック"/>
                <a:ea typeface="游ゴシック"/>
              </a:rPr>
              <a:t>部門構成</a:t>
            </a:r>
          </a:p>
          <a:p>
            <a:pPr algn="l"/>
            <a:r>
              <a:rPr sz="850" b="0">
                <a:solidFill>
                  <a:srgbClr val="000000"/>
                </a:solidFill>
                <a:latin typeface="游ゴシック"/>
                <a:ea typeface="游ゴシック"/>
              </a:rPr>
              <a:t>野菜営業部／果実営業部／近郷部／集配部／パッケージ部／生花部／資材部／総務部</a:t>
            </a:r>
          </a:p>
        </p:txBody>
      </p:sp>
      <p:graphicFrame>
        <p:nvGraphicFramePr>
          <p:cNvPr id="16" name="表（売上構成!B4:E11）"/>
          <p:cNvGraphicFramePr>
            <a:graphicFrameLocks noGrp="1"/>
          </p:cNvGraphicFramePr>
          <p:nvPr/>
        </p:nvGraphicFramePr>
        <p:xfrm>
          <a:off x="448056" y="3611880"/>
          <a:ext cx="9793222" cy="1993900"/>
        </p:xfrm>
        <a:graphic>
          <a:graphicData uri="http://schemas.openxmlformats.org/drawingml/2006/table">
            <a:tbl>
              <a:tblPr firstRow="0" bandRow="0">
                <a:tableStyleId>{2D5ABB26-0587-4C30-8999-92F81FD0307C}</a:tableStyleId>
              </a:tblPr>
              <a:tblGrid>
                <a:gridCol w="1738742"/>
                <a:gridCol w="1052702"/>
                <a:gridCol w="732372"/>
                <a:gridCol w="6269406"/>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r>
              <a:tr h="355600">
                <a:tc>
                  <a:txBody>
                    <a:bodyPr/>
                    <a:lstStyle/>
                    <a:p>
                      <a:pPr algn="ctr" fontAlgn="ctr"/>
                      <a:r>
                        <a:rPr lang="ja-JP" altLang="en-US" sz="1000" b="0" i="0" dirty="0">
                          <a:solidFill>
                            <a:srgbClr val="FFFFFF"/>
                          </a:solidFill>
                          <a:latin typeface="游ゴシック"/>
                          <a:ea typeface="游ゴシック"/>
                        </a:rPr>
                        <a:t>収益区分</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（2026年4〜7月）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金額</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構成比</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内容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41300">
                <a:tc>
                  <a:txBody>
                    <a:bodyPr/>
                    <a:lstStyle/>
                    <a:p>
                      <a:pPr algn="l" fontAlgn="ctr"/>
                      <a:r>
                        <a:rPr lang="ja-JP" altLang="en-US" sz="1050" b="0" i="0" dirty="0">
                          <a:solidFill>
                            <a:srgbClr val="000000"/>
                          </a:solidFill>
                          <a:latin typeface="游ゴシック"/>
                          <a:ea typeface="游ゴシック"/>
                        </a:rPr>
                        <a:t>商品売上高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375,961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91.4%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青果物の販売（買付販売は総額、受託販売は2019年10月以降手数料のみの純額で計上）</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委託手数料収入</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12,564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受託販売の手数料。生産者の商品を預かり、販売後に販売額の8.5%を収受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センター費収入</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12,273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(株)主婦の店の仕入商品の配送受託。配送額の約10%（1日約10万円）を収受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資材売上高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10,820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包装資材の販売（仕入資材の約8割は自社利用。肥料はほぼ取扱いなし）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売上割戻</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△462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△0.1%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完納奨励金：期限内に代金を支払った八百屋等へ支給（市場の商慣習）</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1" i="0" dirty="0">
                          <a:solidFill>
                            <a:srgbClr val="000000"/>
                          </a:solidFill>
                          <a:latin typeface="游ゴシック"/>
                          <a:ea typeface="游ゴシック"/>
                        </a:rPr>
                        <a:t>売上高 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411,155</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100.0%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7" name="TextBox 16"/>
          <p:cNvSpPr txBox="1"/>
          <p:nvPr/>
        </p:nvSpPr>
        <p:spPr>
          <a:xfrm>
            <a:off x="448056" y="5697220"/>
            <a:ext cx="9793224" cy="493776"/>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※決算書では売上高を「商品売上高」1本で表示しているため、収益源別の内訳は試算表（2026年4〜7月）で代替。年度別内訳は要確認。</a:t>
            </a:r>
          </a:p>
          <a:p>
            <a:pPr algn="l"/>
            <a:r>
              <a:rPr sz="800" b="0">
                <a:solidFill>
                  <a:srgbClr val="000000"/>
                </a:solidFill>
                <a:latin typeface="游ゴシック"/>
                <a:ea typeface="游ゴシック"/>
              </a:rPr>
              <a:t>※手数料率8.5%から逆算した受託販売の取扱高は4か月で約148百万円（推計）。センター費は試算表で月約3.1百万円であり、代表者談の「1日約10万円」と概ね整合。</a:t>
            </a:r>
          </a:p>
          <a:p>
            <a:pPr algn="l"/>
            <a:r>
              <a:rPr sz="800" b="0">
                <a:solidFill>
                  <a:srgbClr val="000000"/>
                </a:solidFill>
                <a:latin typeface="游ゴシック"/>
                <a:ea typeface="游ゴシック"/>
              </a:rPr>
              <a:t>※上記のほか、仲卸業者・買参人からのゴミ処理料・冷蔵庫保管料、受取奨励金を営業外収益に計上。卸売市場法上の認定状況、仲卸業者数・買参人数は要確認。</a:t>
            </a:r>
          </a:p>
        </p:txBody>
      </p:sp>
    </p:spTree>
    <p:extLst>
      <p:ext uri="{BB962C8B-B14F-4D97-AF65-F5344CB8AC3E}">
        <p14:creationId xmlns:p14="http://schemas.microsoft.com/office/powerpoint/2010/main" val="2527513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554265"/>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鶴岡市内唯一の青果市場（開設者兼卸売業者）</a:t>
            </a:r>
            <a:endParaRPr lang="en-US" altLang="ja-JP" sz="1600" b="1" spc="30" dirty="0">
              <a:solidFill>
                <a:schemeClr val="tx2"/>
              </a:solidFill>
              <a:latin typeface="+mj-ea"/>
              <a:ea typeface="+mj-ea"/>
            </a:endParaRPr>
          </a:p>
          <a:p>
            <a:pPr>
              <a:lnSpc>
                <a:spcPct val="120000"/>
              </a:lnSpc>
              <a:spcAft>
                <a:spcPts val="600"/>
              </a:spcAft>
            </a:pPr>
            <a:r>
              <a:rPr lang="ja-JP" altLang="en-US" sz="1600" b="1" spc="30" dirty="0">
                <a:solidFill>
                  <a:schemeClr val="tx2"/>
                </a:solidFill>
                <a:latin typeface="+mj-ea"/>
                <a:ea typeface="+mj-ea"/>
              </a:rPr>
              <a:t>市内の青果市場は当社のみ（以前は2社、1社が解散）。集荷・セリ・分荷の市場機能を自社で担う地域の青果流通インフラ。近隣には三川町の公設市場がある。</a:t>
            </a:r>
            <a:endParaRPr lang="en-US" altLang="ja-JP" sz="1600" b="1" spc="30" dirty="0">
              <a:solidFill>
                <a:schemeClr val="tx2"/>
              </a:solidFill>
              <a:latin typeface="+mj-ea"/>
              <a:ea typeface="+mj-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特徴、強み、成長性等</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135"/>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農家の持込を全量受け入れる集荷力と地元密着の販路</a:t>
            </a:r>
            <a:endParaRPr lang="en-US" altLang="ja-JP" sz="1600" b="1" spc="30" dirty="0">
              <a:solidFill>
                <a:schemeClr val="tx2"/>
              </a:solidFill>
              <a:latin typeface="+mj-ea"/>
              <a:ea typeface="+mj-ea"/>
            </a:endParaRPr>
          </a:p>
          <a:p>
            <a:pPr>
              <a:lnSpc>
                <a:spcPct val="120000"/>
              </a:lnSpc>
              <a:spcAft>
                <a:spcPts val="600"/>
              </a:spcAft>
            </a:pPr>
            <a:r>
              <a:rPr lang="ja-JP" altLang="en-US" sz="1600" b="1" spc="30" dirty="0">
                <a:solidFill>
                  <a:schemeClr val="tx2"/>
                </a:solidFill>
                <a:latin typeface="+mj-ea"/>
                <a:ea typeface="+mj-ea"/>
              </a:rPr>
              <a:t>農家からの持込は数量が多くても原則すべて受け入れる。地元優先で販売し、過剰分は豊洲市場・他県へ出荷。市場用地・施設は自社保有で地代負担なし。</a:t>
            </a:r>
            <a:endParaRPr lang="en-US" altLang="ja-JP" sz="1600" b="1" spc="30" dirty="0">
              <a:solidFill>
                <a:schemeClr val="tx2"/>
              </a:solidFill>
              <a:latin typeface="+mj-ea"/>
              <a:ea typeface="+mj-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863"/>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販路を持つ買手とのシナジー、仕入先の開拓余地</a:t>
            </a:r>
            <a:endParaRPr lang="en-US" altLang="ja-JP" sz="1600" b="1" spc="30" dirty="0">
              <a:solidFill>
                <a:schemeClr val="tx2"/>
              </a:solidFill>
              <a:latin typeface="+mj-ea"/>
              <a:ea typeface="+mj-ea"/>
            </a:endParaRPr>
          </a:p>
          <a:p>
            <a:pPr>
              <a:lnSpc>
                <a:spcPct val="120000"/>
              </a:lnSpc>
              <a:spcAft>
                <a:spcPts val="600"/>
              </a:spcAft>
            </a:pPr>
            <a:r>
              <a:rPr lang="ja-JP" altLang="en-US" sz="1600" b="1" spc="30" dirty="0">
                <a:solidFill>
                  <a:schemeClr val="tx2"/>
                </a:solidFill>
                <a:latin typeface="+mj-ea"/>
                <a:ea typeface="+mj-ea"/>
              </a:rPr>
              <a:t>過剰入荷時の販売先確保が課題であり、余剰青果物を継続的に引き取れる販売網との統合で出口を拡大できる。山形・秋田の大型市場へ出荷する大規模農家の開拓余地もある。</a:t>
            </a:r>
            <a:endParaRPr lang="en-US" altLang="ja-JP" sz="1600" b="1" spc="30" dirty="0">
              <a:solidFill>
                <a:schemeClr val="tx2"/>
              </a:solidFill>
              <a:latin typeface="+mj-ea"/>
              <a:ea typeface="+mj-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
        <p:nvSpPr>
          <p:cNvPr id="32" name="TextBox 31"/>
          <p:cNvSpPr txBox="1"/>
          <p:nvPr/>
        </p:nvSpPr>
        <p:spPr>
          <a:xfrm>
            <a:off x="448056" y="6784848"/>
            <a:ext cx="9793224"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※代表者ヒアリング（第2回面談）による。成長性は今後の取組みを前提とした想定であり、実績ではない。</a:t>
            </a:r>
          </a:p>
        </p:txBody>
      </p:sp>
    </p:spTree>
    <p:extLst>
      <p:ext uri="{BB962C8B-B14F-4D97-AF65-F5344CB8AC3E}">
        <p14:creationId xmlns:p14="http://schemas.microsoft.com/office/powerpoint/2010/main" val="2721084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t>主要得意先の3期推移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(株)主婦の店を筆頭に、地元量販店・生協・学校給食・近隣市場へ販売。売掛金残高の上位先は3期を通じて概ね同じ顔ぶれであり、長期・安定的な取引関係にある。</a:t>
            </a:r>
          </a:p>
        </p:txBody>
      </p:sp>
      <p:graphicFrame>
        <p:nvGraphicFramePr>
          <p:cNvPr id="14" name="表（取引先!B4:L19）"/>
          <p:cNvGraphicFramePr>
            <a:graphicFrameLocks noGrp="1"/>
          </p:cNvGraphicFramePr>
          <p:nvPr/>
        </p:nvGraphicFramePr>
        <p:xfrm>
          <a:off x="310896" y="1481328"/>
          <a:ext cx="10058391" cy="4127500"/>
        </p:xfrm>
        <a:graphic>
          <a:graphicData uri="http://schemas.openxmlformats.org/drawingml/2006/table">
            <a:tbl>
              <a:tblPr firstRow="0" bandRow="0">
                <a:tableStyleId>{2D5ABB26-0587-4C30-8999-92F81FD0307C}</a:tableStyleId>
              </a:tblPr>
              <a:tblGrid>
                <a:gridCol w="300284"/>
                <a:gridCol w="1925576"/>
                <a:gridCol w="939305"/>
                <a:gridCol w="2066668"/>
                <a:gridCol w="732462"/>
                <a:gridCol w="563289"/>
                <a:gridCol w="732462"/>
                <a:gridCol w="563289"/>
                <a:gridCol w="732462"/>
                <a:gridCol w="563289"/>
                <a:gridCol w="93930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90500">
                <a:tc rowSpan="2">
                  <a:txBody>
                    <a:bodyPr/>
                    <a:lstStyle/>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得意先</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本社所在地</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業種等</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900" b="0" i="0" dirty="0">
                          <a:solidFill>
                            <a:srgbClr val="FFFFFF"/>
                          </a:solidFill>
                          <a:latin typeface="游ゴシック"/>
                          <a:ea typeface="游ゴシック"/>
                        </a:rPr>
                        <a:t>2024年3月期末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00" b="0" i="0" dirty="0">
                          <a:solidFill>
                            <a:srgbClr val="FFFFFF"/>
                          </a:solidFill>
                          <a:latin typeface="游ゴシック"/>
                          <a:ea typeface="游ゴシック"/>
                        </a:rPr>
                        <a:t>2025年3月期末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00" b="0" i="0" dirty="0">
                          <a:solidFill>
                            <a:srgbClr val="FFFFFF"/>
                          </a:solidFill>
                          <a:latin typeface="游ゴシック"/>
                          <a:ea typeface="游ゴシック"/>
                        </a:rPr>
                        <a:t>2026年3月期末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rowSpan="2">
                  <a:txBody>
                    <a:bodyPr/>
                    <a:lstStyle/>
                    <a:p>
                      <a:pPr algn="ctr" fontAlgn="ctr"/>
                      <a:r>
                        <a:rPr lang="ja-JP" altLang="en-US" sz="900" b="0" i="0" dirty="0">
                          <a:solidFill>
                            <a:srgbClr val="FFFFFF"/>
                          </a:solidFill>
                          <a:latin typeface="游ゴシック"/>
                          <a:ea typeface="游ゴシック"/>
                        </a:rPr>
                        <a:t>備考</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90500">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1</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(株)主婦の店</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鶴岡市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食品スーパー（推察）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7,625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33.9%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7,465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32.2%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7,194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34.5%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2</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小島商店</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鶴岡市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青果小売（推察）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3,566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15.8%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1,610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2,482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11.9%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3</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長井中央青果(株)</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長井市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青果卸（長井中央青果地方卸売市場）</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3,039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13.5%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4,185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18.1%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1,785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4</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生活協同組合共立社</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鶴岡市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生協</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1,110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2,034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1,932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9.3%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5</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給食センター</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鶴岡市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学校給食（推察）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793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1,307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1,121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6</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元青果</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三川町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公設庄内青果物地方卸売市場内事業者（推察）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1,051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1,019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746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7</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生活協同組合連合会アイチョイス</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名古屋市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生協連合会</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751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1,033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618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8</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(株)みどりの里</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愛知県豊田市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503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886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9</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(有)新庄丸果青果</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新庄市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825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706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10</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(株)やま高商店</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仙台市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862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11</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みどり水産</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630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その他</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2,398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2,291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9.9%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4,958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23.8%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03200">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900" b="1" i="0" dirty="0">
                          <a:solidFill>
                            <a:srgbClr val="000000"/>
                          </a:solidFill>
                          <a:latin typeface="游ゴシック"/>
                          <a:ea typeface="游ゴシック"/>
                        </a:rPr>
                        <a:t>合計</a:t>
                      </a: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22,524</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23,166</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20,836</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5" name="TextBox 14"/>
          <p:cNvSpPr txBox="1"/>
          <p:nvPr/>
        </p:nvSpPr>
        <p:spPr>
          <a:xfrm>
            <a:off x="310896" y="5745987"/>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※勘定科目内訳明細書の期末残高（50万円以上の相手先を個別記載）。年間取引高ではないため取引規模の順位とは異なる可能性がある（年間取引高は資料依頼中）。</a:t>
            </a:r>
          </a:p>
          <a:p>
            <a:pPr algn="l"/>
            <a:r>
              <a:rPr sz="800" b="0">
                <a:solidFill>
                  <a:srgbClr val="000000"/>
                </a:solidFill>
                <a:latin typeface="游ゴシック"/>
                <a:ea typeface="游ゴシック"/>
              </a:rPr>
              <a:t>※業種等は公開情報等からの推察を含む。</a:t>
            </a:r>
          </a:p>
        </p:txBody>
      </p:sp>
    </p:spTree>
    <p:extLst>
      <p:ext uri="{BB962C8B-B14F-4D97-AF65-F5344CB8AC3E}">
        <p14:creationId xmlns:p14="http://schemas.microsoft.com/office/powerpoint/2010/main" val="588634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C27F0F89-0B1D-9CEC-826A-DEB17C9DB0B7}"/>
              </a:ext>
            </a:extLst>
          </p:cNvPr>
          <p:cNvSpPr>
            <a:spLocks noGrp="1"/>
          </p:cNvSpPr>
          <p:nvPr>
            <p:ph type="ctrTitle"/>
          </p:nvPr>
        </p:nvSpPr>
        <p:spPr>
          <a:xfrm>
            <a:off x="311150" y="180296"/>
            <a:ext cx="7799917" cy="339267"/>
          </a:xfrm>
        </p:spPr>
        <p:txBody>
          <a:bodyPr>
            <a:normAutofit/>
          </a:bodyPr>
          <a:lstStyle/>
          <a:p>
            <a:r>
              <a:rPr lang="ja-JP" altLang="en-US" dirty="0"/>
              <a:t>主要仕入先の3期推移</a:t>
            </a:r>
          </a:p>
        </p:txBody>
      </p:sp>
      <p:sp>
        <p:nvSpPr>
          <p:cNvPr id="5" name="タイトル 1">
            <a:extLst>
              <a:ext uri="{FF2B5EF4-FFF2-40B4-BE49-F238E27FC236}">
                <a16:creationId xmlns:a16="http://schemas.microsoft.com/office/drawing/2014/main" id="{2223494B-5776-7256-BAFB-772D4CDC079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5" name="字幕 13">
            <a:extLst>
              <a:ext uri="{FF2B5EF4-FFF2-40B4-BE49-F238E27FC236}">
                <a16:creationId xmlns:a16="http://schemas.microsoft.com/office/drawing/2014/main" id="{1F008ACD-B486-E0BB-8334-06D21A697D0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公設庄内青果物地方卸売市場（三川町）の卸売業者2社と長井中央青果(株)で買掛金残高の過半を占める。県内外の市場・産地業者からも仕入れ、品揃えを確保している。</a:t>
            </a:r>
          </a:p>
        </p:txBody>
      </p:sp>
      <p:graphicFrame>
        <p:nvGraphicFramePr>
          <p:cNvPr id="16" name="表（仕入先!B4:L15）"/>
          <p:cNvGraphicFramePr>
            <a:graphicFrameLocks noGrp="1"/>
          </p:cNvGraphicFramePr>
          <p:nvPr/>
        </p:nvGraphicFramePr>
        <p:xfrm>
          <a:off x="310896" y="1481328"/>
          <a:ext cx="10058391" cy="3009900"/>
        </p:xfrm>
        <a:graphic>
          <a:graphicData uri="http://schemas.openxmlformats.org/drawingml/2006/table">
            <a:tbl>
              <a:tblPr firstRow="0" bandRow="0">
                <a:tableStyleId>{2D5ABB26-0587-4C30-8999-92F81FD0307C}</a:tableStyleId>
              </a:tblPr>
              <a:tblGrid>
                <a:gridCol w="300284"/>
                <a:gridCol w="1925576"/>
                <a:gridCol w="939305"/>
                <a:gridCol w="2066668"/>
                <a:gridCol w="732462"/>
                <a:gridCol w="563289"/>
                <a:gridCol w="732462"/>
                <a:gridCol w="563289"/>
                <a:gridCol w="732462"/>
                <a:gridCol w="563289"/>
                <a:gridCol w="93930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90500">
                <a:tc rowSpan="2">
                  <a:txBody>
                    <a:bodyPr/>
                    <a:lstStyle/>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仕入先</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本社所在地</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業種等</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900" b="0" i="0" dirty="0">
                          <a:solidFill>
                            <a:srgbClr val="FFFFFF"/>
                          </a:solidFill>
                          <a:latin typeface="游ゴシック"/>
                          <a:ea typeface="游ゴシック"/>
                        </a:rPr>
                        <a:t>2024年3月期末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00" b="0" i="0" dirty="0">
                          <a:solidFill>
                            <a:srgbClr val="FFFFFF"/>
                          </a:solidFill>
                          <a:latin typeface="游ゴシック"/>
                          <a:ea typeface="游ゴシック"/>
                        </a:rPr>
                        <a:t>2025年3月期末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00" b="0" i="0" dirty="0">
                          <a:solidFill>
                            <a:srgbClr val="FFFFFF"/>
                          </a:solidFill>
                          <a:latin typeface="游ゴシック"/>
                          <a:ea typeface="游ゴシック"/>
                        </a:rPr>
                        <a:t>2026年3月期末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rowSpan="2">
                  <a:txBody>
                    <a:bodyPr/>
                    <a:lstStyle/>
                    <a:p>
                      <a:pPr algn="ctr" fontAlgn="ctr"/>
                      <a:r>
                        <a:rPr lang="ja-JP" altLang="en-US" sz="900" b="0" i="0" dirty="0">
                          <a:solidFill>
                            <a:srgbClr val="FFFFFF"/>
                          </a:solidFill>
                          <a:latin typeface="游ゴシック"/>
                          <a:ea typeface="游ゴシック"/>
                        </a:rPr>
                        <a:t>備考</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90500">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1</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丸果庄内青果(株)</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三川町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青果卸（公設庄内青果物地方卸売市場）</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6,569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36.2%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5,733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28.7%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12,426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47.2%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2</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長井中央青果(株)</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長井市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1,308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2,087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7,398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28.1%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3</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(株)庄果</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三川町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青果卸（公設庄内青果物地方卸売市場）</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3,611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19.9%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4,496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22.5%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4</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(株)マルト直治郎商店</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三川町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1,229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1,954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9.8%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677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5</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成田食品(株)</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福島県相馬市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541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699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615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6</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(株)ファーマインド</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東京都千代田区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青果流通（バナナ等・推察）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707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7</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(株)東根農産センター</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東根市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548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その他</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4,870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26.9%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4,986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25.0%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3,979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15.1%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03200">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900" b="1" i="0" dirty="0">
                          <a:solidFill>
                            <a:srgbClr val="000000"/>
                          </a:solidFill>
                          <a:latin typeface="游ゴシック"/>
                          <a:ea typeface="游ゴシック"/>
                        </a:rPr>
                        <a:t>合計</a:t>
                      </a: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18,128</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19,955</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26,349</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7" name="TextBox 16"/>
          <p:cNvSpPr txBox="1"/>
          <p:nvPr/>
        </p:nvSpPr>
        <p:spPr>
          <a:xfrm>
            <a:off x="310896" y="4628388"/>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※勘定科目内訳明細書の期末残高（50万円以上の相手先を個別記載）。年間取引高ではないため取引規模の順位とは異なる可能性がある（年間取引高は資料依頼中）。</a:t>
            </a:r>
          </a:p>
          <a:p>
            <a:pPr algn="l"/>
            <a:r>
              <a:rPr sz="800" b="0">
                <a:solidFill>
                  <a:srgbClr val="000000"/>
                </a:solidFill>
                <a:latin typeface="游ゴシック"/>
                <a:ea typeface="游ゴシック"/>
              </a:rPr>
              <a:t>※業種等は公開情報等からの推察を含む。</a:t>
            </a:r>
          </a:p>
        </p:txBody>
      </p:sp>
    </p:spTree>
    <p:extLst>
      <p:ext uri="{BB962C8B-B14F-4D97-AF65-F5344CB8AC3E}">
        <p14:creationId xmlns:p14="http://schemas.microsoft.com/office/powerpoint/2010/main" val="1962968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C0C1-FCD4-88FA-EA3C-20168900DCC8}"/>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lang="ja-JP" altLang="en-US" dirty="0"/>
              <a:t>月別売上高（2026/3期）</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繁忙期は7〜12月、閑散期は1〜5月。2026/3期は7月の146百万円がピークで、1〜2月の約70百万円とは約2倍の差がある。</a:t>
            </a:r>
          </a:p>
        </p:txBody>
      </p:sp>
      <p:graphicFrame>
        <p:nvGraphicFramePr>
          <p:cNvPr id="14" name="Chart 13"/>
          <p:cNvGraphicFramePr>
            <a:graphicFrameLocks noGrp="1"/>
          </p:cNvGraphicFramePr>
          <p:nvPr/>
        </p:nvGraphicFramePr>
        <p:xfrm>
          <a:off x="310896" y="1417320"/>
          <a:ext cx="6675120" cy="3429000"/>
        </p:xfrm>
        <a:graphic>
          <a:graphicData uri="http://schemas.openxmlformats.org/drawingml/2006/chart">
            <c:chart xmlns:c="http://schemas.openxmlformats.org/drawingml/2006/chart" r:id="rId4"/>
          </a:graphicData>
        </a:graphic>
      </p:graphicFrame>
      <p:sp>
        <p:nvSpPr>
          <p:cNvPr id="15" name="正方形/長方形 7">
            <a:extLst>
              <a:ext uri="{FF2B5EF4-FFF2-40B4-BE49-F238E27FC236}">
                <a16:creationId xmlns:a16="http://schemas.microsoft.com/office/drawing/2014/main" id="{CBD334A9-999C-ACD4-9DD2-EF961CBA0926}"/>
              </a:ext>
            </a:extLst>
          </p:cNvPr>
          <p:cNvSpPr/>
          <p:nvPr/>
        </p:nvSpPr>
        <p:spPr>
          <a:xfrm>
            <a:off x="7178040" y="1417320"/>
            <a:ext cx="3154680" cy="3429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16" name="テキスト ボックス 8">
            <a:extLst>
              <a:ext uri="{FF2B5EF4-FFF2-40B4-BE49-F238E27FC236}">
                <a16:creationId xmlns:a16="http://schemas.microsoft.com/office/drawing/2014/main" id="{E5084622-1D6B-783F-80DE-6D9A498C7C12}"/>
              </a:ext>
            </a:extLst>
          </p:cNvPr>
          <p:cNvSpPr txBox="1"/>
          <p:nvPr/>
        </p:nvSpPr>
        <p:spPr>
          <a:xfrm>
            <a:off x="7178040" y="1874519"/>
            <a:ext cx="3154680" cy="292608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≪季節性≫</a:t>
            </a:r>
          </a:p>
          <a:p>
            <a:pPr>
              <a:spcAft>
                <a:spcPts val="300"/>
              </a:spcAft>
            </a:pPr>
            <a:r>
              <a:rPr lang="ja-JP" altLang="en-US" sz="900" b="0" dirty="0">
                <a:solidFill>
                  <a:sysClr val="windowText" lastClr="000000"/>
                </a:solidFill>
                <a:latin typeface="游ゴシック"/>
                <a:ea typeface="游ゴシック"/>
              </a:rPr>
              <a:t>・月平均100百万円に対し、7月は1.47倍、8月は1.39倍。</a:t>
            </a:r>
          </a:p>
          <a:p>
            <a:pPr>
              <a:spcAft>
                <a:spcPts val="300"/>
              </a:spcAft>
            </a:pPr>
            <a:r>
              <a:rPr lang="ja-JP" altLang="en-US" sz="1000" b="1" dirty="0">
                <a:solidFill>
                  <a:sysClr val="windowText" lastClr="000000"/>
                </a:solidFill>
                <a:latin typeface="游ゴシック"/>
                <a:ea typeface="游ゴシック"/>
              </a:rPr>
              <a:t>≪主な地元産品≫</a:t>
            </a:r>
          </a:p>
          <a:p>
            <a:pPr>
              <a:spcAft>
                <a:spcPts val="300"/>
              </a:spcAft>
            </a:pPr>
            <a:r>
              <a:rPr lang="ja-JP" altLang="en-US" sz="900" b="0" dirty="0">
                <a:solidFill>
                  <a:sysClr val="windowText" lastClr="000000"/>
                </a:solidFill>
                <a:latin typeface="游ゴシック"/>
                <a:ea typeface="游ゴシック"/>
              </a:rPr>
              <a:t>・庄内柿、和梨、さくらんぼ、メロン、シャインマスカット等。果物は概ね11月頃まで。12月〜正月は関東の仲卸からも仕入れて需要に対応。</a:t>
            </a:r>
          </a:p>
          <a:p>
            <a:pPr>
              <a:spcAft>
                <a:spcPts val="300"/>
              </a:spcAft>
            </a:pPr>
            <a:r>
              <a:rPr lang="ja-JP" altLang="en-US" sz="1000" b="1" dirty="0">
                <a:solidFill>
                  <a:sysClr val="windowText" lastClr="000000"/>
                </a:solidFill>
                <a:latin typeface="游ゴシック"/>
                <a:ea typeface="游ゴシック"/>
              </a:rPr>
              <a:t>≪運転資金≫</a:t>
            </a:r>
          </a:p>
          <a:p>
            <a:pPr>
              <a:spcAft>
                <a:spcPts val="300"/>
              </a:spcAft>
            </a:pPr>
            <a:r>
              <a:rPr lang="ja-JP" altLang="en-US" sz="900" b="0" dirty="0">
                <a:solidFill>
                  <a:sysClr val="windowText" lastClr="000000"/>
                </a:solidFill>
                <a:latin typeface="游ゴシック"/>
                <a:ea typeface="游ゴシック"/>
              </a:rPr>
              <a:t>・2026年7月末の売上債権43.0百万円・在庫36.6百万円は3月末から増加。</a:t>
            </a:r>
          </a:p>
        </p:txBody>
      </p:sp>
      <p:graphicFrame>
        <p:nvGraphicFramePr>
          <p:cNvPr id="17" name="表（月別売上!B4:O8）"/>
          <p:cNvGraphicFramePr>
            <a:graphicFrameLocks noGrp="1"/>
          </p:cNvGraphicFramePr>
          <p:nvPr/>
        </p:nvGraphicFramePr>
        <p:xfrm>
          <a:off x="310896" y="5029200"/>
          <a:ext cx="10021817" cy="1079500"/>
        </p:xfrm>
        <a:graphic>
          <a:graphicData uri="http://schemas.openxmlformats.org/drawingml/2006/table">
            <a:tbl>
              <a:tblPr firstRow="0" bandRow="0">
                <a:tableStyleId>{2D5ABB26-0587-4C30-8999-92F81FD0307C}</a:tableStyleId>
              </a:tblPr>
              <a:tblGrid>
                <a:gridCol w="978977"/>
                <a:gridCol w="680570"/>
                <a:gridCol w="680570"/>
                <a:gridCol w="680570"/>
                <a:gridCol w="680570"/>
                <a:gridCol w="680570"/>
                <a:gridCol w="680570"/>
                <a:gridCol w="680570"/>
                <a:gridCol w="680570"/>
                <a:gridCol w="680570"/>
                <a:gridCol w="680570"/>
                <a:gridCol w="680570"/>
                <a:gridCol w="680570"/>
                <a:gridCol w="876000"/>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28600">
                <a:tc>
                  <a:txBody>
                    <a:bodyPr/>
                    <a:lstStyle/>
                    <a:p>
                      <a:pPr algn="ctr" fontAlgn="ct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4月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5月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6月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7月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8月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9月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10月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11月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12月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3月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合計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41300">
                <a:tc>
                  <a:txBody>
                    <a:bodyPr/>
                    <a:lstStyle/>
                    <a:p>
                      <a:pPr algn="l" fontAlgn="ctr"/>
                      <a:r>
                        <a:rPr lang="ja-JP" altLang="en-US" sz="1050" b="0" i="0" dirty="0">
                          <a:solidFill>
                            <a:srgbClr val="000000"/>
                          </a:solidFill>
                          <a:latin typeface="游ゴシック"/>
                          <a:ea typeface="游ゴシック"/>
                        </a:rPr>
                        <a:t>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87,736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101,698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83,794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146,060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138,177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110,175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106,499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100,617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98,058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69,520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69,339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84,221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1" i="0" dirty="0">
                          <a:solidFill>
                            <a:srgbClr val="000000"/>
                          </a:solidFill>
                          <a:latin typeface="Arial"/>
                          <a:ea typeface="游ゴシック Medium"/>
                        </a:rPr>
                        <a:t>1,195,894</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241300">
                <a:tc>
                  <a:txBody>
                    <a:bodyPr/>
                    <a:lstStyle/>
                    <a:p>
                      <a:pPr algn="l" fontAlgn="ctr"/>
                      <a:r>
                        <a:rPr lang="ja-JP" altLang="en-US" sz="1050" b="0" i="0" dirty="0">
                          <a:solidFill>
                            <a:srgbClr val="000000"/>
                          </a:solidFill>
                          <a:latin typeface="游ゴシック"/>
                          <a:ea typeface="游ゴシック"/>
                        </a:rPr>
                        <a:t>仕入高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76,904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86,235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74,095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139,243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96,826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85,074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84,386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85,425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82,345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56,698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58,088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70,716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1" i="0" dirty="0">
                          <a:solidFill>
                            <a:srgbClr val="000000"/>
                          </a:solidFill>
                          <a:latin typeface="Arial"/>
                          <a:ea typeface="游ゴシック Medium"/>
                        </a:rPr>
                        <a:t>996,035</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77800">
                <a:tc>
                  <a:txBody>
                    <a:bodyPr/>
                    <a:lstStyle/>
                    <a:p>
                      <a:pPr algn="r" fontAlgn="ctr"/>
                      <a:r>
                        <a:rPr lang="ja-JP" altLang="en-US" sz="700" b="0" i="1" dirty="0">
                          <a:solidFill>
                            <a:srgbClr val="000000"/>
                          </a:solidFill>
                          <a:latin typeface="游ゴシック"/>
                          <a:ea typeface="游ゴシック"/>
                        </a:rPr>
                        <a:t>月平均比</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0.88倍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1.02倍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0.84倍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1.47倍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1.39倍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1.11倍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1.07倍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1.01倍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0.98倍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0.70倍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0.70倍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0.85倍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8" name="TextBox 17"/>
          <p:cNvSpPr txBox="1"/>
          <p:nvPr/>
        </p:nvSpPr>
        <p:spPr>
          <a:xfrm>
            <a:off x="310896" y="6163563"/>
            <a:ext cx="10021824"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※出所：法人事業概況説明書（2026/3期）の月別売上・仕入金額。</a:t>
            </a:r>
          </a:p>
        </p:txBody>
      </p:sp>
    </p:spTree>
    <p:extLst>
      <p:ext uri="{BB962C8B-B14F-4D97-AF65-F5344CB8AC3E}">
        <p14:creationId xmlns:p14="http://schemas.microsoft.com/office/powerpoint/2010/main" val="2932585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spTree>
    <p:extLst>
      <p:ext uri="{BB962C8B-B14F-4D97-AF65-F5344CB8AC3E}">
        <p14:creationId xmlns:p14="http://schemas.microsoft.com/office/powerpoint/2010/main" val="179782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30" name="長方形 17">
            <a:extLst>
              <a:ext uri="{FF2B5EF4-FFF2-40B4-BE49-F238E27FC236}">
                <a16:creationId xmlns:a16="http://schemas.microsoft.com/office/drawing/2014/main" id="{3E64D33C-2E81-EC32-F689-91E2661ACA25}"/>
              </a:ext>
            </a:extLst>
          </p:cNvPr>
          <p:cNvSpPr/>
          <p:nvPr/>
        </p:nvSpPr>
        <p:spPr>
          <a:xfrm>
            <a:off x="4434840" y="2240280"/>
            <a:ext cx="1828800" cy="54864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b="1" dirty="0">
                <a:solidFill>
                  <a:schemeClr val="tx1"/>
                </a:solidFill>
                <a:latin typeface="+mn-ea"/>
              </a:rPr>
              <a:t>代表取締役</a:t>
            </a:r>
            <a:endParaRPr lang="en-US" altLang="ja-JP" sz="1100" b="1" dirty="0">
              <a:solidFill>
                <a:schemeClr val="tx1"/>
              </a:solidFill>
              <a:latin typeface="+mn-ea"/>
            </a:endParaRPr>
          </a:p>
          <a:p>
            <a:pPr algn="ctr" defTabSz="350844">
              <a:lnSpc>
                <a:spcPct val="90000"/>
              </a:lnSpc>
              <a:spcBef>
                <a:spcPct val="0"/>
              </a:spcBef>
              <a:spcAft>
                <a:spcPct val="35000"/>
              </a:spcAft>
            </a:pPr>
            <a:r>
              <a:rPr lang="ja-JP" altLang="en-US" sz="1000" dirty="0">
                <a:solidFill>
                  <a:schemeClr val="tx1"/>
                </a:solidFill>
                <a:latin typeface="+mn-ea"/>
              </a:rPr>
              <a:t>岡部 寛</a:t>
            </a:r>
          </a:p>
        </p:txBody>
      </p:sp>
      <p:sp>
        <p:nvSpPr>
          <p:cNvPr id="72" name="長方形 17">
            <a:extLst>
              <a:ext uri="{FF2B5EF4-FFF2-40B4-BE49-F238E27FC236}">
                <a16:creationId xmlns:a16="http://schemas.microsoft.com/office/drawing/2014/main" id="{F94861D8-1583-D60F-AE0B-65736108294A}"/>
              </a:ext>
            </a:extLst>
          </p:cNvPr>
          <p:cNvSpPr/>
          <p:nvPr/>
        </p:nvSpPr>
        <p:spPr>
          <a:xfrm>
            <a:off x="4434840" y="1508760"/>
            <a:ext cx="182880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dirty="0">
                <a:solidFill>
                  <a:schemeClr val="tx1"/>
                </a:solidFill>
                <a:latin typeface="+mn-ea"/>
              </a:rPr>
              <a:t>取締役会</a:t>
            </a:r>
          </a:p>
          <a:p>
            <a:pPr algn="ctr" defTabSz="350844">
              <a:lnSpc>
                <a:spcPct val="90000"/>
              </a:lnSpc>
              <a:spcBef>
                <a:spcPct val="0"/>
              </a:spcBef>
              <a:spcAft>
                <a:spcPct val="35000"/>
              </a:spcAft>
            </a:pPr>
            <a:r>
              <a:rPr lang="ja-JP" altLang="en-US" sz="900" dirty="0">
                <a:solidFill>
                  <a:schemeClr val="tx1"/>
                </a:solidFill>
                <a:latin typeface="+mn-ea"/>
              </a:rPr>
              <a:t>取締役3名</a:t>
            </a:r>
          </a:p>
        </p:txBody>
      </p:sp>
      <p:sp>
        <p:nvSpPr>
          <p:cNvPr id="82" name="字幕 13">
            <a:extLst>
              <a:ext uri="{FF2B5EF4-FFF2-40B4-BE49-F238E27FC236}">
                <a16:creationId xmlns:a16="http://schemas.microsoft.com/office/drawing/2014/main" id="{A3493DA6-7810-69DF-5543-B8DAEAC7277F}"/>
              </a:ext>
            </a:extLst>
          </p:cNvPr>
          <p:cNvSpPr txBox="1">
            <a:spLocks/>
          </p:cNvSpPr>
          <p:nvPr/>
        </p:nvSpPr>
        <p:spPr>
          <a:xfrm>
            <a:off x="365760" y="1463040"/>
            <a:ext cx="2651760" cy="1188720"/>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buClrTx/>
            </a:pPr>
            <a:r>
              <a:rPr lang="en-US" altLang="ja-JP" sz="1000" dirty="0"/>
              <a:t>【人員構成】（2026年9月1日時点）</a:t>
            </a:r>
          </a:p>
          <a:p>
            <a:pPr>
              <a:buClrTx/>
            </a:pPr>
            <a:r>
              <a:rPr lang="en-US" altLang="ja-JP" sz="1000" dirty="0"/>
              <a:t>　取締役：3名</a:t>
            </a:r>
          </a:p>
          <a:p>
            <a:pPr>
              <a:buClrTx/>
            </a:pPr>
            <a:r>
              <a:rPr lang="en-US" altLang="ja-JP" sz="1000" dirty="0"/>
              <a:t>　正社員：17名</a:t>
            </a:r>
          </a:p>
          <a:p>
            <a:pPr>
              <a:buClrTx/>
            </a:pPr>
            <a:r>
              <a:rPr lang="en-US" altLang="ja-JP" sz="1000" dirty="0"/>
              <a:t>　嘱託・再雇用・試用：3名</a:t>
            </a:r>
          </a:p>
          <a:p>
            <a:pPr>
              <a:buClrTx/>
            </a:pPr>
            <a:r>
              <a:rPr lang="en-US" altLang="ja-JP" sz="1000" dirty="0"/>
              <a:t>　パート・アルバイト：4名</a:t>
            </a:r>
          </a:p>
          <a:p>
            <a:pPr>
              <a:buClrTx/>
            </a:pPr>
            <a:r>
              <a:rPr lang="en-US" altLang="ja-JP" sz="1000" dirty="0"/>
              <a:t>　平均年齢50.9歳／平均勤続12.7年</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8部門・従業員24名の体制。営業（野菜・果実・近郷）とパッケージ部に人員が厚く、セリ人資格者は営業系に配置。</a:t>
            </a:r>
          </a:p>
        </p:txBody>
      </p:sp>
      <p:sp>
        <p:nvSpPr>
          <p:cNvPr id="86" name="長方形 17">
            <a:extLst>
              <a:ext uri="{FF2B5EF4-FFF2-40B4-BE49-F238E27FC236}">
                <a16:creationId xmlns:a16="http://schemas.microsoft.com/office/drawing/2014/main" id="{F94861D8-1583-D60F-AE0B-65736108294A}"/>
              </a:ext>
            </a:extLst>
          </p:cNvPr>
          <p:cNvSpPr/>
          <p:nvPr/>
        </p:nvSpPr>
        <p:spPr>
          <a:xfrm>
            <a:off x="7498079" y="1508760"/>
            <a:ext cx="201168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dirty="0">
                <a:solidFill>
                  <a:schemeClr val="tx1"/>
                </a:solidFill>
                <a:latin typeface="+mn-ea"/>
              </a:rPr>
              <a:t>監査役</a:t>
            </a:r>
          </a:p>
          <a:p>
            <a:pPr algn="ctr" defTabSz="350844">
              <a:lnSpc>
                <a:spcPct val="90000"/>
              </a:lnSpc>
              <a:spcBef>
                <a:spcPct val="0"/>
              </a:spcBef>
              <a:spcAft>
                <a:spcPct val="35000"/>
              </a:spcAft>
            </a:pPr>
            <a:r>
              <a:rPr lang="ja-JP" altLang="en-US" sz="900" dirty="0">
                <a:solidFill>
                  <a:schemeClr val="tx1"/>
                </a:solidFill>
                <a:latin typeface="+mn-ea"/>
              </a:rPr>
              <a:t>会計監査に限定</a:t>
            </a:r>
          </a:p>
        </p:txBody>
      </p:sp>
      <p:sp>
        <p:nvSpPr>
          <p:cNvPr id="87" name="長方形 17">
            <a:extLst>
              <a:ext uri="{FF2B5EF4-FFF2-40B4-BE49-F238E27FC236}">
                <a16:creationId xmlns:a16="http://schemas.microsoft.com/office/drawing/2014/main" id="{3E64D33C-2E81-EC32-F689-91E2661ACA25}"/>
              </a:ext>
            </a:extLst>
          </p:cNvPr>
          <p:cNvSpPr/>
          <p:nvPr/>
        </p:nvSpPr>
        <p:spPr>
          <a:xfrm>
            <a:off x="7498079" y="2240280"/>
            <a:ext cx="2011680" cy="54864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b="1" dirty="0">
                <a:solidFill>
                  <a:schemeClr val="tx1"/>
                </a:solidFill>
                <a:latin typeface="+mn-ea"/>
              </a:rPr>
              <a:t>取締役部長</a:t>
            </a:r>
            <a:endParaRPr lang="en-US" altLang="ja-JP" sz="11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1"/>
                </a:solidFill>
                <a:latin typeface="+mn-ea"/>
              </a:rPr>
              <a:t>岡部 一（担当は要確認）</a:t>
            </a:r>
          </a:p>
        </p:txBody>
      </p:sp>
      <p:cxnSp>
        <p:nvCxnSpPr>
          <p:cNvPr id="88" name="Connector 87"/>
          <p:cNvCxnSpPr/>
          <p:nvPr/>
        </p:nvCxnSpPr>
        <p:spPr>
          <a:xfrm>
            <a:off x="5349240" y="2011680"/>
            <a:ext cx="0" cy="22860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263640" y="1755648"/>
            <a:ext cx="1234439"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263640" y="2514600"/>
            <a:ext cx="1234439"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349240" y="2788920"/>
            <a:ext cx="0" cy="27432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948690" y="3063240"/>
            <a:ext cx="8801100"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9486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94" name="長方形 143">
            <a:extLst>
              <a:ext uri="{FF2B5EF4-FFF2-40B4-BE49-F238E27FC236}">
                <a16:creationId xmlns:a16="http://schemas.microsoft.com/office/drawing/2014/main" id="{BCEB2967-C83B-DBEC-B8EA-880A804DB347}"/>
              </a:ext>
            </a:extLst>
          </p:cNvPr>
          <p:cNvSpPr/>
          <p:nvPr/>
        </p:nvSpPr>
        <p:spPr>
          <a:xfrm>
            <a:off x="3657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野菜営業部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3名</a:t>
            </a:r>
          </a:p>
        </p:txBody>
      </p:sp>
      <p:sp>
        <p:nvSpPr>
          <p:cNvPr id="95" name="長方形 179">
            <a:extLst>
              <a:ext uri="{FF2B5EF4-FFF2-40B4-BE49-F238E27FC236}">
                <a16:creationId xmlns:a16="http://schemas.microsoft.com/office/drawing/2014/main" id="{C344BD57-39A2-E7B7-1F68-D52B956AE252}"/>
              </a:ext>
            </a:extLst>
          </p:cNvPr>
          <p:cNvSpPr/>
          <p:nvPr/>
        </p:nvSpPr>
        <p:spPr>
          <a:xfrm>
            <a:off x="365760" y="3840480"/>
            <a:ext cx="1165860" cy="77724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No.2 副部長★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No.1 副部長</a:t>
            </a:r>
          </a:p>
          <a:p>
            <a:pPr algn="ctr" defTabSz="350844">
              <a:lnSpc>
                <a:spcPct val="90000"/>
              </a:lnSpc>
              <a:spcBef>
                <a:spcPct val="0"/>
              </a:spcBef>
              <a:spcAft>
                <a:spcPct val="35000"/>
              </a:spcAft>
            </a:pPr>
            <a:r>
              <a:rPr lang="ja-JP" altLang="en-US" sz="800" b="1" dirty="0">
                <a:solidFill>
                  <a:schemeClr val="tx1"/>
                </a:solidFill>
                <a:latin typeface="+mn-ea"/>
              </a:rPr>
              <a:t>No.7 正社員</a:t>
            </a:r>
          </a:p>
        </p:txBody>
      </p:sp>
      <p:cxnSp>
        <p:nvCxnSpPr>
          <p:cNvPr id="96" name="Connector 95"/>
          <p:cNvCxnSpPr/>
          <p:nvPr/>
        </p:nvCxnSpPr>
        <p:spPr>
          <a:xfrm>
            <a:off x="22059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97" name="長方形 143">
            <a:extLst>
              <a:ext uri="{FF2B5EF4-FFF2-40B4-BE49-F238E27FC236}">
                <a16:creationId xmlns:a16="http://schemas.microsoft.com/office/drawing/2014/main" id="{BCEB2967-C83B-DBEC-B8EA-880A804DB347}"/>
              </a:ext>
            </a:extLst>
          </p:cNvPr>
          <p:cNvSpPr/>
          <p:nvPr/>
        </p:nvSpPr>
        <p:spPr>
          <a:xfrm>
            <a:off x="16230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果実営業部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2名</a:t>
            </a:r>
          </a:p>
        </p:txBody>
      </p:sp>
      <p:sp>
        <p:nvSpPr>
          <p:cNvPr id="98" name="長方形 179">
            <a:extLst>
              <a:ext uri="{FF2B5EF4-FFF2-40B4-BE49-F238E27FC236}">
                <a16:creationId xmlns:a16="http://schemas.microsoft.com/office/drawing/2014/main" id="{C344BD57-39A2-E7B7-1F68-D52B956AE252}"/>
              </a:ext>
            </a:extLst>
          </p:cNvPr>
          <p:cNvSpPr/>
          <p:nvPr/>
        </p:nvSpPr>
        <p:spPr>
          <a:xfrm>
            <a:off x="1623060" y="3840480"/>
            <a:ext cx="1165860" cy="59436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No.16 課長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No.8 正社員</a:t>
            </a:r>
          </a:p>
        </p:txBody>
      </p:sp>
      <p:cxnSp>
        <p:nvCxnSpPr>
          <p:cNvPr id="99" name="Connector 98"/>
          <p:cNvCxnSpPr/>
          <p:nvPr/>
        </p:nvCxnSpPr>
        <p:spPr>
          <a:xfrm>
            <a:off x="34632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0" name="長方形 143">
            <a:extLst>
              <a:ext uri="{FF2B5EF4-FFF2-40B4-BE49-F238E27FC236}">
                <a16:creationId xmlns:a16="http://schemas.microsoft.com/office/drawing/2014/main" id="{BCEB2967-C83B-DBEC-B8EA-880A804DB347}"/>
              </a:ext>
            </a:extLst>
          </p:cNvPr>
          <p:cNvSpPr/>
          <p:nvPr/>
        </p:nvSpPr>
        <p:spPr>
          <a:xfrm>
            <a:off x="28803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近郷部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4名</a:t>
            </a:r>
          </a:p>
        </p:txBody>
      </p:sp>
      <p:sp>
        <p:nvSpPr>
          <p:cNvPr id="101" name="長方形 179">
            <a:extLst>
              <a:ext uri="{FF2B5EF4-FFF2-40B4-BE49-F238E27FC236}">
                <a16:creationId xmlns:a16="http://schemas.microsoft.com/office/drawing/2014/main" id="{C344BD57-39A2-E7B7-1F68-D52B956AE252}"/>
              </a:ext>
            </a:extLst>
          </p:cNvPr>
          <p:cNvSpPr/>
          <p:nvPr/>
        </p:nvSpPr>
        <p:spPr>
          <a:xfrm>
            <a:off x="2880360" y="3840480"/>
            <a:ext cx="1165860" cy="9601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No.3 課長★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No.4 正社員</a:t>
            </a:r>
          </a:p>
          <a:p>
            <a:pPr algn="ctr" defTabSz="350844">
              <a:lnSpc>
                <a:spcPct val="90000"/>
              </a:lnSpc>
              <a:spcBef>
                <a:spcPct val="0"/>
              </a:spcBef>
              <a:spcAft>
                <a:spcPct val="35000"/>
              </a:spcAft>
            </a:pPr>
            <a:r>
              <a:rPr lang="ja-JP" altLang="en-US" sz="800" b="1" dirty="0">
                <a:solidFill>
                  <a:schemeClr val="tx1"/>
                </a:solidFill>
                <a:latin typeface="+mn-ea"/>
              </a:rPr>
              <a:t>No.5 正社員</a:t>
            </a:r>
          </a:p>
          <a:p>
            <a:pPr algn="ctr" defTabSz="350844">
              <a:lnSpc>
                <a:spcPct val="90000"/>
              </a:lnSpc>
              <a:spcBef>
                <a:spcPct val="0"/>
              </a:spcBef>
              <a:spcAft>
                <a:spcPct val="35000"/>
              </a:spcAft>
            </a:pPr>
            <a:r>
              <a:rPr lang="ja-JP" altLang="en-US" sz="800" b="1" dirty="0">
                <a:solidFill>
                  <a:schemeClr val="tx1"/>
                </a:solidFill>
                <a:latin typeface="+mn-ea"/>
              </a:rPr>
              <a:t>No.12 試用期間★</a:t>
            </a:r>
          </a:p>
        </p:txBody>
      </p:sp>
      <p:cxnSp>
        <p:nvCxnSpPr>
          <p:cNvPr id="102" name="Connector 101"/>
          <p:cNvCxnSpPr/>
          <p:nvPr/>
        </p:nvCxnSpPr>
        <p:spPr>
          <a:xfrm>
            <a:off x="47205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3" name="長方形 143">
            <a:extLst>
              <a:ext uri="{FF2B5EF4-FFF2-40B4-BE49-F238E27FC236}">
                <a16:creationId xmlns:a16="http://schemas.microsoft.com/office/drawing/2014/main" id="{BCEB2967-C83B-DBEC-B8EA-880A804DB347}"/>
              </a:ext>
            </a:extLst>
          </p:cNvPr>
          <p:cNvSpPr/>
          <p:nvPr/>
        </p:nvSpPr>
        <p:spPr>
          <a:xfrm>
            <a:off x="41376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集配部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4名</a:t>
            </a:r>
          </a:p>
        </p:txBody>
      </p:sp>
      <p:sp>
        <p:nvSpPr>
          <p:cNvPr id="104" name="長方形 179">
            <a:extLst>
              <a:ext uri="{FF2B5EF4-FFF2-40B4-BE49-F238E27FC236}">
                <a16:creationId xmlns:a16="http://schemas.microsoft.com/office/drawing/2014/main" id="{C344BD57-39A2-E7B7-1F68-D52B956AE252}"/>
              </a:ext>
            </a:extLst>
          </p:cNvPr>
          <p:cNvSpPr/>
          <p:nvPr/>
        </p:nvSpPr>
        <p:spPr>
          <a:xfrm>
            <a:off x="4137660" y="3840480"/>
            <a:ext cx="1165860" cy="9601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No.9 正社員</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No.6 正社員</a:t>
            </a:r>
          </a:p>
          <a:p>
            <a:pPr algn="ctr" defTabSz="350844">
              <a:lnSpc>
                <a:spcPct val="90000"/>
              </a:lnSpc>
              <a:spcBef>
                <a:spcPct val="0"/>
              </a:spcBef>
              <a:spcAft>
                <a:spcPct val="35000"/>
              </a:spcAft>
            </a:pPr>
            <a:r>
              <a:rPr lang="ja-JP" altLang="en-US" sz="800" b="1" dirty="0">
                <a:solidFill>
                  <a:schemeClr val="tx1"/>
                </a:solidFill>
                <a:latin typeface="+mn-ea"/>
              </a:rPr>
              <a:t>No.11 再雇用正社員</a:t>
            </a:r>
          </a:p>
          <a:p>
            <a:pPr algn="ctr" defTabSz="350844">
              <a:lnSpc>
                <a:spcPct val="90000"/>
              </a:lnSpc>
              <a:spcBef>
                <a:spcPct val="0"/>
              </a:spcBef>
              <a:spcAft>
                <a:spcPct val="35000"/>
              </a:spcAft>
            </a:pPr>
            <a:r>
              <a:rPr lang="ja-JP" altLang="en-US" sz="800" b="1" dirty="0">
                <a:solidFill>
                  <a:schemeClr val="tx1"/>
                </a:solidFill>
                <a:latin typeface="+mn-ea"/>
              </a:rPr>
              <a:t>No.13 アルバイト</a:t>
            </a:r>
          </a:p>
        </p:txBody>
      </p:sp>
      <p:cxnSp>
        <p:nvCxnSpPr>
          <p:cNvPr id="105" name="Connector 104"/>
          <p:cNvCxnSpPr/>
          <p:nvPr/>
        </p:nvCxnSpPr>
        <p:spPr>
          <a:xfrm>
            <a:off x="59778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6" name="長方形 143">
            <a:extLst>
              <a:ext uri="{FF2B5EF4-FFF2-40B4-BE49-F238E27FC236}">
                <a16:creationId xmlns:a16="http://schemas.microsoft.com/office/drawing/2014/main" id="{BCEB2967-C83B-DBEC-B8EA-880A804DB347}"/>
              </a:ext>
            </a:extLst>
          </p:cNvPr>
          <p:cNvSpPr/>
          <p:nvPr/>
        </p:nvSpPr>
        <p:spPr>
          <a:xfrm>
            <a:off x="53949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生花部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1名</a:t>
            </a:r>
          </a:p>
        </p:txBody>
      </p:sp>
      <p:sp>
        <p:nvSpPr>
          <p:cNvPr id="107" name="長方形 179">
            <a:extLst>
              <a:ext uri="{FF2B5EF4-FFF2-40B4-BE49-F238E27FC236}">
                <a16:creationId xmlns:a16="http://schemas.microsoft.com/office/drawing/2014/main" id="{C344BD57-39A2-E7B7-1F68-D52B956AE252}"/>
              </a:ext>
            </a:extLst>
          </p:cNvPr>
          <p:cNvSpPr/>
          <p:nvPr/>
        </p:nvSpPr>
        <p:spPr>
          <a:xfrm>
            <a:off x="5394960" y="3840480"/>
            <a:ext cx="1165860" cy="41148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No.10 嘱託社員</a:t>
            </a:r>
            <a:endParaRPr lang="en-US" altLang="ja-JP" sz="800" b="1" dirty="0">
              <a:solidFill>
                <a:schemeClr val="tx1"/>
              </a:solidFill>
              <a:latin typeface="+mn-ea"/>
            </a:endParaRPr>
          </a:p>
        </p:txBody>
      </p:sp>
      <p:cxnSp>
        <p:nvCxnSpPr>
          <p:cNvPr id="108" name="Connector 107"/>
          <p:cNvCxnSpPr/>
          <p:nvPr/>
        </p:nvCxnSpPr>
        <p:spPr>
          <a:xfrm>
            <a:off x="72351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9" name="長方形 143">
            <a:extLst>
              <a:ext uri="{FF2B5EF4-FFF2-40B4-BE49-F238E27FC236}">
                <a16:creationId xmlns:a16="http://schemas.microsoft.com/office/drawing/2014/main" id="{BCEB2967-C83B-DBEC-B8EA-880A804DB347}"/>
              </a:ext>
            </a:extLst>
          </p:cNvPr>
          <p:cNvSpPr/>
          <p:nvPr/>
        </p:nvSpPr>
        <p:spPr>
          <a:xfrm>
            <a:off x="66522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パッケージ部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7名</a:t>
            </a:r>
          </a:p>
        </p:txBody>
      </p:sp>
      <p:sp>
        <p:nvSpPr>
          <p:cNvPr id="110" name="長方形 179">
            <a:extLst>
              <a:ext uri="{FF2B5EF4-FFF2-40B4-BE49-F238E27FC236}">
                <a16:creationId xmlns:a16="http://schemas.microsoft.com/office/drawing/2014/main" id="{C344BD57-39A2-E7B7-1F68-D52B956AE252}"/>
              </a:ext>
            </a:extLst>
          </p:cNvPr>
          <p:cNvSpPr/>
          <p:nvPr/>
        </p:nvSpPr>
        <p:spPr>
          <a:xfrm>
            <a:off x="6652260" y="3840480"/>
            <a:ext cx="1165860" cy="150876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No.18 係長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No.19 正社員</a:t>
            </a:r>
          </a:p>
          <a:p>
            <a:pPr algn="ctr" defTabSz="350844">
              <a:lnSpc>
                <a:spcPct val="90000"/>
              </a:lnSpc>
              <a:spcBef>
                <a:spcPct val="0"/>
              </a:spcBef>
              <a:spcAft>
                <a:spcPct val="35000"/>
              </a:spcAft>
            </a:pPr>
            <a:r>
              <a:rPr lang="ja-JP" altLang="en-US" sz="800" b="1" dirty="0">
                <a:solidFill>
                  <a:schemeClr val="tx1"/>
                </a:solidFill>
                <a:latin typeface="+mn-ea"/>
              </a:rPr>
              <a:t>No.21 正社員</a:t>
            </a:r>
          </a:p>
          <a:p>
            <a:pPr algn="ctr" defTabSz="350844">
              <a:lnSpc>
                <a:spcPct val="90000"/>
              </a:lnSpc>
              <a:spcBef>
                <a:spcPct val="0"/>
              </a:spcBef>
              <a:spcAft>
                <a:spcPct val="35000"/>
              </a:spcAft>
            </a:pPr>
            <a:r>
              <a:rPr lang="ja-JP" altLang="en-US" sz="800" b="1" dirty="0">
                <a:solidFill>
                  <a:schemeClr val="tx1"/>
                </a:solidFill>
                <a:latin typeface="+mn-ea"/>
              </a:rPr>
              <a:t>No.22 パート</a:t>
            </a:r>
          </a:p>
          <a:p>
            <a:pPr algn="ctr" defTabSz="350844">
              <a:lnSpc>
                <a:spcPct val="90000"/>
              </a:lnSpc>
              <a:spcBef>
                <a:spcPct val="0"/>
              </a:spcBef>
              <a:spcAft>
                <a:spcPct val="35000"/>
              </a:spcAft>
            </a:pPr>
            <a:r>
              <a:rPr lang="ja-JP" altLang="en-US" sz="800" b="1" dirty="0">
                <a:solidFill>
                  <a:schemeClr val="tx1"/>
                </a:solidFill>
                <a:latin typeface="+mn-ea"/>
              </a:rPr>
              <a:t>No.23 パート</a:t>
            </a:r>
          </a:p>
          <a:p>
            <a:pPr algn="ctr" defTabSz="350844">
              <a:lnSpc>
                <a:spcPct val="90000"/>
              </a:lnSpc>
              <a:spcBef>
                <a:spcPct val="0"/>
              </a:spcBef>
              <a:spcAft>
                <a:spcPct val="35000"/>
              </a:spcAft>
            </a:pPr>
            <a:r>
              <a:rPr lang="ja-JP" altLang="en-US" sz="800" b="1" dirty="0">
                <a:solidFill>
                  <a:schemeClr val="tx1"/>
                </a:solidFill>
                <a:latin typeface="+mn-ea"/>
              </a:rPr>
              <a:t>No.20 正社員</a:t>
            </a:r>
          </a:p>
          <a:p>
            <a:pPr algn="ctr" defTabSz="350844">
              <a:lnSpc>
                <a:spcPct val="90000"/>
              </a:lnSpc>
              <a:spcBef>
                <a:spcPct val="0"/>
              </a:spcBef>
              <a:spcAft>
                <a:spcPct val="35000"/>
              </a:spcAft>
            </a:pPr>
            <a:r>
              <a:rPr lang="ja-JP" altLang="en-US" sz="800" b="1" dirty="0">
                <a:solidFill>
                  <a:schemeClr val="tx1"/>
                </a:solidFill>
                <a:latin typeface="+mn-ea"/>
              </a:rPr>
              <a:t>No.24 パート</a:t>
            </a:r>
          </a:p>
        </p:txBody>
      </p:sp>
      <p:cxnSp>
        <p:nvCxnSpPr>
          <p:cNvPr id="111" name="Connector 110"/>
          <p:cNvCxnSpPr/>
          <p:nvPr/>
        </p:nvCxnSpPr>
        <p:spPr>
          <a:xfrm>
            <a:off x="84924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12" name="長方形 143">
            <a:extLst>
              <a:ext uri="{FF2B5EF4-FFF2-40B4-BE49-F238E27FC236}">
                <a16:creationId xmlns:a16="http://schemas.microsoft.com/office/drawing/2014/main" id="{BCEB2967-C83B-DBEC-B8EA-880A804DB347}"/>
              </a:ext>
            </a:extLst>
          </p:cNvPr>
          <p:cNvSpPr/>
          <p:nvPr/>
        </p:nvSpPr>
        <p:spPr>
          <a:xfrm>
            <a:off x="79095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資材部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1名</a:t>
            </a:r>
          </a:p>
        </p:txBody>
      </p:sp>
      <p:sp>
        <p:nvSpPr>
          <p:cNvPr id="113" name="長方形 179">
            <a:extLst>
              <a:ext uri="{FF2B5EF4-FFF2-40B4-BE49-F238E27FC236}">
                <a16:creationId xmlns:a16="http://schemas.microsoft.com/office/drawing/2014/main" id="{C344BD57-39A2-E7B7-1F68-D52B956AE252}"/>
              </a:ext>
            </a:extLst>
          </p:cNvPr>
          <p:cNvSpPr/>
          <p:nvPr/>
        </p:nvSpPr>
        <p:spPr>
          <a:xfrm>
            <a:off x="7909560" y="3840480"/>
            <a:ext cx="1165860" cy="41148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No.15 課長</a:t>
            </a:r>
            <a:endParaRPr lang="en-US" altLang="ja-JP" sz="800" b="1" dirty="0">
              <a:solidFill>
                <a:schemeClr val="tx1"/>
              </a:solidFill>
              <a:latin typeface="+mn-ea"/>
            </a:endParaRPr>
          </a:p>
        </p:txBody>
      </p:sp>
      <p:cxnSp>
        <p:nvCxnSpPr>
          <p:cNvPr id="114" name="Connector 113"/>
          <p:cNvCxnSpPr/>
          <p:nvPr/>
        </p:nvCxnSpPr>
        <p:spPr>
          <a:xfrm>
            <a:off x="97497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15" name="長方形 143">
            <a:extLst>
              <a:ext uri="{FF2B5EF4-FFF2-40B4-BE49-F238E27FC236}">
                <a16:creationId xmlns:a16="http://schemas.microsoft.com/office/drawing/2014/main" id="{BCEB2967-C83B-DBEC-B8EA-880A804DB347}"/>
              </a:ext>
            </a:extLst>
          </p:cNvPr>
          <p:cNvSpPr/>
          <p:nvPr/>
        </p:nvSpPr>
        <p:spPr>
          <a:xfrm>
            <a:off x="91668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総務部・事務</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2名</a:t>
            </a:r>
          </a:p>
        </p:txBody>
      </p:sp>
      <p:sp>
        <p:nvSpPr>
          <p:cNvPr id="116" name="長方形 179">
            <a:extLst>
              <a:ext uri="{FF2B5EF4-FFF2-40B4-BE49-F238E27FC236}">
                <a16:creationId xmlns:a16="http://schemas.microsoft.com/office/drawing/2014/main" id="{C344BD57-39A2-E7B7-1F68-D52B956AE252}"/>
              </a:ext>
            </a:extLst>
          </p:cNvPr>
          <p:cNvSpPr/>
          <p:nvPr/>
        </p:nvSpPr>
        <p:spPr>
          <a:xfrm>
            <a:off x="9166860" y="3840480"/>
            <a:ext cx="1165860" cy="59436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No.14 部長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No.17 正社員</a:t>
            </a:r>
          </a:p>
        </p:txBody>
      </p:sp>
      <p:sp>
        <p:nvSpPr>
          <p:cNvPr id="117" name="TextBox 116"/>
          <p:cNvSpPr txBox="1"/>
          <p:nvPr/>
        </p:nvSpPr>
        <p:spPr>
          <a:xfrm>
            <a:off x="365760" y="6629400"/>
            <a:ext cx="996696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※図中のNo.は「従業員一覧」ページの№と対応。★はセリ人資格保有者。役職のない者は雇用形態を表示。</a:t>
            </a:r>
          </a:p>
          <a:p>
            <a:pPr algn="l"/>
            <a:r>
              <a:rPr sz="800" b="0">
                <a:solidFill>
                  <a:srgbClr val="000000"/>
                </a:solidFill>
                <a:latin typeface="游ゴシック"/>
                <a:ea typeface="游ゴシック"/>
              </a:rPr>
              <a:t>※常務取締役は2026年5月29日に退任。取締役（非常勤）1名は図示省略。在庫管理は野菜・果物に分け、それぞれ2〜3名で担当。</a:t>
            </a:r>
          </a:p>
        </p:txBody>
      </p:sp>
    </p:spTree>
    <p:extLst>
      <p:ext uri="{BB962C8B-B14F-4D97-AF65-F5344CB8AC3E}">
        <p14:creationId xmlns:p14="http://schemas.microsoft.com/office/powerpoint/2010/main" val="2728612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0896" y="146304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0896" y="4427728"/>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4" name="タイトル 1">
            <a:extLst>
              <a:ext uri="{FF2B5EF4-FFF2-40B4-BE49-F238E27FC236}">
                <a16:creationId xmlns:a16="http://schemas.microsoft.com/office/drawing/2014/main" id="{7A477B2A-8CB0-33C5-E13F-6A9007ED2C1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B2B57451-0F79-4EA4-E5F7-DD3BE659A77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代表者一族（4名）で発行済株式の75.8%を保有。親族外株主からも株式譲渡の同意を取得可能。譲渡後は取締役（代表者の弟）のみ残留予定。</a:t>
            </a:r>
          </a:p>
        </p:txBody>
      </p:sp>
      <p:graphicFrame>
        <p:nvGraphicFramePr>
          <p:cNvPr id="14" name="表（株主!B4:H14）"/>
          <p:cNvGraphicFramePr>
            <a:graphicFrameLocks noGrp="1"/>
          </p:cNvGraphicFramePr>
          <p:nvPr/>
        </p:nvGraphicFramePr>
        <p:xfrm>
          <a:off x="777240" y="1828800"/>
          <a:ext cx="8778236" cy="2489200"/>
        </p:xfrm>
        <a:graphic>
          <a:graphicData uri="http://schemas.openxmlformats.org/drawingml/2006/table">
            <a:tbl>
              <a:tblPr firstRow="0" bandRow="0">
                <a:tableStyleId>{2D5ABB26-0587-4C30-8999-92F81FD0307C}</a:tableStyleId>
              </a:tblPr>
              <a:tblGrid>
                <a:gridCol w="323686"/>
                <a:gridCol w="1247393"/>
                <a:gridCol w="2171099"/>
                <a:gridCol w="1155089"/>
                <a:gridCol w="1016298"/>
                <a:gridCol w="923994"/>
                <a:gridCol w="1940677"/>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r>
              <a:tr h="355600">
                <a:tc>
                  <a:txBody>
                    <a:bodyPr/>
                    <a:lstStyle/>
                    <a:p>
                      <a:pPr algn="ctr" fontAlgn="ctr"/>
                      <a:r>
                        <a:rPr lang="ja-JP" altLang="en-US" sz="1000" b="0" i="0" dirty="0">
                          <a:solidFill>
                            <a:srgbClr val="FFFFFF"/>
                          </a:solidFill>
                          <a:latin typeface="游ゴシック"/>
                          <a:ea typeface="游ゴシック"/>
                        </a:rPr>
                        <a:t>№</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氏名</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役職・続柄</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役員報酬</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(2026年3月期)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保有株式数</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保有割合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備考</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15900">
                <a:tc>
                  <a:txBody>
                    <a:bodyPr/>
                    <a:lstStyle/>
                    <a:p>
                      <a:pPr algn="ctr" fontAlgn="ctr"/>
                      <a:r>
                        <a:rPr lang="ja-JP" altLang="en-US" sz="1050" b="0" i="0" dirty="0">
                          <a:solidFill>
                            <a:srgbClr val="000000"/>
                          </a:solidFill>
                          <a:latin typeface="游ゴシック"/>
                          <a:ea typeface="游ゴシック"/>
                        </a:rPr>
                        <a:t>1</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寛</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代表取締役（本人）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4,320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1,510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37.8%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2</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一</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取締役・代表者の兄弟</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4,200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3</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和子</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代表者の兄弟</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4</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梅津 恵一</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5</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小野寺 則和</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監査役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6</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竹古</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取締役・代表者の配偶者</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7</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佐藤 令子</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8</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菅原 圭吾</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元常務取締役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6,600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2026年5月29日退任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gridSpan="2">
                  <a:txBody>
                    <a:bodyPr/>
                    <a:lstStyle/>
                    <a:p>
                      <a:pPr algn="ctr" fontAlgn="ctr"/>
                      <a:r>
                        <a:rPr lang="ja-JP" altLang="en-US" sz="1050" b="1" i="0" dirty="0">
                          <a:solidFill>
                            <a:srgbClr val="000000"/>
                          </a:solidFill>
                          <a:latin typeface="游ゴシック"/>
                          <a:ea typeface="游ゴシック"/>
                        </a:rPr>
                        <a:t>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hMerge="1">
                  <a:txBody>
                    <a:bodyPr/>
                    <a:lstStyle/>
                    <a:p>
                      <a:pPr algn="l" fontAlgn="ctr"/>
                      <a:endParaRPr lang="ja-JP" altLang="en-US" sz="102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a:txBody>
                    <a:bodyPr/>
                    <a:lstStyle/>
                    <a:p>
                      <a:pPr algn="r" fontAlgn="ctr"/>
                      <a:r>
                        <a:rPr lang="ja-JP" altLang="en-US" sz="1050" b="1" i="0" dirty="0">
                          <a:solidFill>
                            <a:srgbClr val="000000"/>
                          </a:solidFill>
                          <a:latin typeface="Arial"/>
                          <a:ea typeface="游ゴシック Medium"/>
                        </a:rPr>
                        <a:t>15,360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4,000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100.0%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graphicFrame>
        <p:nvGraphicFramePr>
          <p:cNvPr id="15" name="表（取締役!B4:I11）"/>
          <p:cNvGraphicFramePr>
            <a:graphicFrameLocks noGrp="1"/>
          </p:cNvGraphicFramePr>
          <p:nvPr/>
        </p:nvGraphicFramePr>
        <p:xfrm>
          <a:off x="777240" y="4793488"/>
          <a:ext cx="8778236" cy="1841500"/>
        </p:xfrm>
        <a:graphic>
          <a:graphicData uri="http://schemas.openxmlformats.org/drawingml/2006/table">
            <a:tbl>
              <a:tblPr firstRow="0" bandRow="0">
                <a:tableStyleId>{2D5ABB26-0587-4C30-8999-92F81FD0307C}</a:tableStyleId>
              </a:tblPr>
              <a:tblGrid>
                <a:gridCol w="315397"/>
                <a:gridCol w="1125509"/>
                <a:gridCol w="1170150"/>
                <a:gridCol w="900332"/>
                <a:gridCol w="720453"/>
                <a:gridCol w="1215448"/>
                <a:gridCol w="1530564"/>
                <a:gridCol w="1800383"/>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r>
              <a:tr h="355600">
                <a:tc>
                  <a:txBody>
                    <a:bodyPr/>
                    <a:lstStyle/>
                    <a:p>
                      <a:pPr algn="ctr" fontAlgn="ctr"/>
                      <a:r>
                        <a:rPr lang="ja-JP" altLang="en-US" sz="1000" b="0" i="0" dirty="0">
                          <a:solidFill>
                            <a:srgbClr val="FFFFFF"/>
                          </a:solidFill>
                          <a:latin typeface="游ゴシック"/>
                          <a:ea typeface="游ゴシック"/>
                        </a:rPr>
                        <a:t>№</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氏名</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役職</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代表者</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との関係</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常勤／</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非常勤</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役員報酬</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(2026年3月期)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業務範囲</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備考</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15900">
                <a:tc>
                  <a:txBody>
                    <a:bodyPr/>
                    <a:lstStyle/>
                    <a:p>
                      <a:pPr algn="ctr" fontAlgn="ctr"/>
                      <a:r>
                        <a:rPr lang="ja-JP" altLang="en-US" sz="1050" b="0" i="0" dirty="0">
                          <a:solidFill>
                            <a:srgbClr val="000000"/>
                          </a:solidFill>
                          <a:latin typeface="游ゴシック"/>
                          <a:ea typeface="游ゴシック"/>
                        </a:rPr>
                        <a:t>1</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寛</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代表取締役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本人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4,320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経営全般</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譲渡後は顧問就任可</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2</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一</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兄弟</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4,200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譲渡後も残留予定</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3</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竹古</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配偶者</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非常勤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譲渡時に退任予定</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4</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小野寺 則和</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監査役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非常勤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会計監査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譲渡時に退任予定</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5</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菅原 圭吾</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常務取締役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6,600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2026年5月29日退任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1050" b="1" i="0" dirty="0">
                          <a:solidFill>
                            <a:srgbClr val="000000"/>
                          </a:solidFill>
                          <a:latin typeface="游ゴシック"/>
                          <a:ea typeface="游ゴシック"/>
                        </a:rPr>
                        <a:t>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15,360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6" name="TextBox 15"/>
          <p:cNvSpPr txBox="1"/>
          <p:nvPr/>
        </p:nvSpPr>
        <p:spPr>
          <a:xfrm>
            <a:off x="310896" y="6708140"/>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※役員報酬総額は22,200千円（2024/3期・2025/3期）→15,360千円（2026/3期）。代表取締役は10,560千円→4,320千円に減額（理由は要確認）。</a:t>
            </a:r>
          </a:p>
          <a:p>
            <a:pPr algn="l"/>
            <a:r>
              <a:rPr sz="800" b="0">
                <a:solidFill>
                  <a:srgbClr val="000000"/>
                </a:solidFill>
                <a:latin typeface="游ゴシック"/>
                <a:ea typeface="游ゴシック"/>
              </a:rPr>
              <a:t>※出所：法人税申告書別表二（2026/3期）、履歴事項全部証明書（2026年9月10日現在）。株主名簿・名義株の有無は要確認。</a:t>
            </a:r>
          </a:p>
        </p:txBody>
      </p:sp>
    </p:spTree>
    <p:extLst>
      <p:ext uri="{BB962C8B-B14F-4D97-AF65-F5344CB8AC3E}">
        <p14:creationId xmlns:p14="http://schemas.microsoft.com/office/powerpoint/2010/main" val="1111365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従業員一覧</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従業員24名（平均年齢50.9歳・平均勤続12.7年）。勤続20年以上のベテランが多い一方、60歳以上が8名在籍。</a:t>
            </a:r>
          </a:p>
        </p:txBody>
      </p:sp>
      <p:graphicFrame>
        <p:nvGraphicFramePr>
          <p:cNvPr id="14" name="表（従業員!B4:J29）"/>
          <p:cNvGraphicFramePr>
            <a:graphicFrameLocks noGrp="1"/>
          </p:cNvGraphicFramePr>
          <p:nvPr/>
        </p:nvGraphicFramePr>
        <p:xfrm>
          <a:off x="310896" y="1371600"/>
          <a:ext cx="10058395" cy="4914900"/>
        </p:xfrm>
        <a:graphic>
          <a:graphicData uri="http://schemas.openxmlformats.org/drawingml/2006/table">
            <a:tbl>
              <a:tblPr firstRow="0" bandRow="0">
                <a:tableStyleId>{2D5ABB26-0587-4C30-8999-92F81FD0307C}</a:tableStyleId>
              </a:tblPr>
              <a:tblGrid>
                <a:gridCol w="330849"/>
                <a:gridCol w="944441"/>
                <a:gridCol w="425195"/>
                <a:gridCol w="566369"/>
                <a:gridCol w="708232"/>
                <a:gridCol w="1038787"/>
                <a:gridCol w="755749"/>
                <a:gridCol w="1511204"/>
                <a:gridCol w="3777569"/>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2026年9月1日現在</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304800">
                <a:tc>
                  <a:txBody>
                    <a:bodyPr/>
                    <a:lstStyle/>
                    <a:p>
                      <a:pPr algn="ctr" fontAlgn="ctr"/>
                      <a:r>
                        <a:rPr lang="ja-JP" altLang="en-US" sz="850" b="0" i="0" dirty="0">
                          <a:solidFill>
                            <a:srgbClr val="FFFFFF"/>
                          </a:solidFill>
                          <a:latin typeface="游ゴシック"/>
                          <a:ea typeface="游ゴシック"/>
                        </a:rPr>
                        <a:t>№</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雇用形態</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性別</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年齢</a:t>
                      </a:r>
                      <a:endParaRPr lang="ja-JP" altLang="en-US" sz="850" b="0" i="0" dirty="0">
                        <a:solidFill>
                          <a:srgbClr val="FFFFFF"/>
                        </a:solidFill>
                        <a:latin typeface="游ゴシック"/>
                        <a:ea typeface="游ゴシック"/>
                      </a:endParaRPr>
                    </a:p>
                    <a:p>
                      <a:pPr algn="ctr" fontAlgn="ctr"/>
                      <a:r>
                        <a:rPr lang="ja-JP" altLang="en-US" sz="850" b="0" i="0" dirty="0">
                          <a:solidFill>
                            <a:srgbClr val="FFFFFF"/>
                          </a:solidFill>
                          <a:latin typeface="游ゴシック"/>
                          <a:ea typeface="游ゴシック"/>
                        </a:rPr>
                        <a:t>（歳）</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勤続年数</a:t>
                      </a:r>
                      <a:endParaRPr lang="ja-JP" altLang="en-US" sz="850" b="0" i="0" dirty="0">
                        <a:solidFill>
                          <a:srgbClr val="FFFFFF"/>
                        </a:solidFill>
                        <a:latin typeface="游ゴシック"/>
                        <a:ea typeface="游ゴシック"/>
                      </a:endParaRPr>
                    </a:p>
                    <a:p>
                      <a:pPr algn="ctr" fontAlgn="ctr"/>
                      <a:r>
                        <a:rPr lang="ja-JP" altLang="en-US" sz="850" b="0" i="0" dirty="0">
                          <a:solidFill>
                            <a:srgbClr val="FFFFFF"/>
                          </a:solidFill>
                          <a:latin typeface="游ゴシック"/>
                          <a:ea typeface="游ゴシック"/>
                        </a:rPr>
                        <a:t>（年）</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部署</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役職</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取得資格</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備考</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84150">
                <a:tc>
                  <a:txBody>
                    <a:bodyPr/>
                    <a:lstStyle/>
                    <a:p>
                      <a:pPr algn="ctr" fontAlgn="ctr"/>
                      <a:r>
                        <a:rPr lang="ja-JP" altLang="en-US" sz="850" b="0" i="0" dirty="0">
                          <a:solidFill>
                            <a:srgbClr val="000000"/>
                          </a:solidFill>
                          <a:latin typeface="游ゴシック"/>
                          <a:ea typeface="游ゴシック"/>
                        </a:rPr>
                        <a:t>2</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24</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野菜営業部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副部長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セリ人・フォークリフト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63</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野菜営業部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副部長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7</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野菜営業部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16</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果実営業部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課長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8</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果実営業部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3</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31</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近郷部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課長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セリ人・フォークリフト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4</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近郷部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5</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近郷部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12</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試用期間</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近郷部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セリ人</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9</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14</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集配部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2022年4月よりフルタイム</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6</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63</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集配部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11</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再雇用正社員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集配部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13</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アルバイト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集配部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休日のみ配送</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10</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嘱託社員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生花部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18</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係長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2012年4月よりフルタイム</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19</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2012年4月よりフルタイム／定年後再雇用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21</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2012年4月よりフルタイム</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22</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パート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14</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4h</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23</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パート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8</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4h</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20</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24</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パート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4h</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15</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資材部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課長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定年後再雇用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14</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38</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総務部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部長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17</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28</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事務</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5" name="TextBox 14"/>
          <p:cNvSpPr txBox="1"/>
          <p:nvPr/>
        </p:nvSpPr>
        <p:spPr>
          <a:xfrm>
            <a:off x="310896" y="6341364"/>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職員名簿（2026年9月1日現在）。部署→役職→勤続年数の順。役員は含まない。賞与規定はなく業績に応じて支給。退職金規程あり（中退共・商工会議所経由の保険で簿外積立。会社の追加負担は基本的にないとの認識）。</a:t>
            </a:r>
          </a:p>
          <a:p>
            <a:pPr algn="l"/>
            <a:r>
              <a:rPr sz="800" b="0">
                <a:solidFill>
                  <a:srgbClr val="000000"/>
                </a:solidFill>
                <a:latin typeface="游ゴシック"/>
                <a:ea typeface="游ゴシック"/>
              </a:rPr>
              <a:t>※法人事業概況説明書（2026/3期末）では従業員30名（常勤役員3名含む）と記載があり、人数の定義差は要確認。就業規則・定年（60歳／65歳）は要確認。</a:t>
            </a:r>
          </a:p>
        </p:txBody>
      </p:sp>
    </p:spTree>
    <p:extLst>
      <p:ext uri="{BB962C8B-B14F-4D97-AF65-F5344CB8AC3E}">
        <p14:creationId xmlns:p14="http://schemas.microsoft.com/office/powerpoint/2010/main" val="453025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拠点概要（本社・市場）</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0896" y="146304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拠点</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本社市場とパッケージ場は隣接する自社保有地（計4,001㎡）。主要建物は1981〜82年築で、改修を重ねて使用している。</a:t>
            </a:r>
          </a:p>
        </p:txBody>
      </p:sp>
      <p:graphicFrame>
        <p:nvGraphicFramePr>
          <p:cNvPr id="14" name="表（拠点(本社等)!B5:G9）"/>
          <p:cNvGraphicFramePr>
            <a:graphicFrameLocks noGrp="1"/>
          </p:cNvGraphicFramePr>
          <p:nvPr/>
        </p:nvGraphicFramePr>
        <p:xfrm>
          <a:off x="310896" y="1874519"/>
          <a:ext cx="10058398" cy="1879600"/>
        </p:xfrm>
        <a:graphic>
          <a:graphicData uri="http://schemas.openxmlformats.org/drawingml/2006/table">
            <a:tbl>
              <a:tblPr firstRow="0" bandRow="0">
                <a:tableStyleId>{2D5ABB26-0587-4C30-8999-92F81FD0307C}</a:tableStyleId>
              </a:tblPr>
              <a:tblGrid>
                <a:gridCol w="1175121"/>
                <a:gridCol w="2585052"/>
                <a:gridCol w="704916"/>
                <a:gridCol w="940019"/>
                <a:gridCol w="2820155"/>
                <a:gridCol w="1833135"/>
              </a:tblGrid>
              <a:tr h="355600">
                <a:tc>
                  <a:txBody>
                    <a:bodyPr/>
                    <a:lstStyle/>
                    <a:p>
                      <a:pPr algn="ctr" fontAlgn="ctr"/>
                      <a:r>
                        <a:rPr lang="ja-JP" altLang="en-US" sz="1000" b="0" i="0" dirty="0">
                          <a:solidFill>
                            <a:srgbClr val="FFFFFF"/>
                          </a:solidFill>
                          <a:latin typeface="游ゴシック"/>
                          <a:ea typeface="游ゴシック"/>
                        </a:rPr>
                        <a:t>拠点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所在地</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所有区分</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土地面積</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主な建物</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用途</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81000">
                <a:tc>
                  <a:txBody>
                    <a:bodyPr/>
                    <a:lstStyle/>
                    <a:p>
                      <a:pPr algn="l" fontAlgn="ctr"/>
                      <a:r>
                        <a:rPr lang="ja-JP" altLang="en-US" sz="1050" b="0" i="0" dirty="0">
                          <a:solidFill>
                            <a:srgbClr val="000000"/>
                          </a:solidFill>
                          <a:latin typeface="游ゴシック"/>
                          <a:ea typeface="游ゴシック"/>
                        </a:rPr>
                        <a:t>本社・市場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山形県鶴岡市宝田一丁目4番20号</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（地番：宝田一丁目4-2）</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3,100.22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事務所（管理棟）・市場・倉庫・容器庫・貯蔵庫</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事務、セリ・相対取引、保管</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パッケージ場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山形県鶴岡市宝田一丁目5-1</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900.50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事務所兼倉庫（パッケージ場）・倉庫</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小分け・包装、保管</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旧倉庫敷地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山形県東田川郡庄内町長沼字宮前304-7</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261.81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なし（倉庫は老朽化により解体済み）</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駐車場（車1台分を賃貸）</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賃借物件</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なし（地代家賃の計上なし）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5" name="正方形/長方形 7">
            <a:extLst>
              <a:ext uri="{FF2B5EF4-FFF2-40B4-BE49-F238E27FC236}">
                <a16:creationId xmlns:a16="http://schemas.microsoft.com/office/drawing/2014/main" id="{CBD334A9-999C-ACD4-9DD2-EF961CBA0926}"/>
              </a:ext>
            </a:extLst>
          </p:cNvPr>
          <p:cNvSpPr/>
          <p:nvPr/>
        </p:nvSpPr>
        <p:spPr>
          <a:xfrm>
            <a:off x="310896" y="4074160"/>
            <a:ext cx="10058400" cy="237744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拠点の状況</a:t>
            </a:r>
            <a:endParaRPr kumimoji="1" lang="ja-JP" altLang="en-US" sz="1600" b="1" dirty="0">
              <a:solidFill>
                <a:schemeClr val="tx2"/>
              </a:solidFill>
              <a:latin typeface="+mj-lt"/>
              <a:ea typeface="+mj-ea"/>
            </a:endParaRPr>
          </a:p>
        </p:txBody>
      </p:sp>
      <p:sp>
        <p:nvSpPr>
          <p:cNvPr id="16" name="テキスト ボックス 8">
            <a:extLst>
              <a:ext uri="{FF2B5EF4-FFF2-40B4-BE49-F238E27FC236}">
                <a16:creationId xmlns:a16="http://schemas.microsoft.com/office/drawing/2014/main" id="{E5084622-1D6B-783F-80DE-6D9A498C7C12}"/>
              </a:ext>
            </a:extLst>
          </p:cNvPr>
          <p:cNvSpPr txBox="1"/>
          <p:nvPr/>
        </p:nvSpPr>
        <p:spPr>
          <a:xfrm>
            <a:off x="310896" y="4577080"/>
            <a:ext cx="10058400" cy="1828799"/>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≪営業時間・定休日≫</a:t>
            </a:r>
          </a:p>
          <a:p>
            <a:pPr>
              <a:spcAft>
                <a:spcPts val="300"/>
              </a:spcAft>
            </a:pPr>
            <a:r>
              <a:rPr lang="ja-JP" altLang="en-US" sz="900" b="0" dirty="0">
                <a:solidFill>
                  <a:sysClr val="windowText" lastClr="000000"/>
                </a:solidFill>
                <a:latin typeface="游ゴシック"/>
                <a:ea typeface="游ゴシック"/>
              </a:rPr>
              <a:t>・早朝6時から（終業時刻は要確認）。定休日は水・日・祝日（法人事業概況説明書）。</a:t>
            </a:r>
          </a:p>
          <a:p>
            <a:pPr>
              <a:spcAft>
                <a:spcPts val="300"/>
              </a:spcAft>
            </a:pPr>
            <a:r>
              <a:rPr lang="ja-JP" altLang="en-US" sz="1000" b="1" dirty="0">
                <a:solidFill>
                  <a:sysClr val="windowText" lastClr="000000"/>
                </a:solidFill>
                <a:latin typeface="游ゴシック"/>
                <a:ea typeface="游ゴシック"/>
              </a:rPr>
              <a:t>≪物流≫</a:t>
            </a:r>
          </a:p>
          <a:p>
            <a:pPr>
              <a:spcAft>
                <a:spcPts val="300"/>
              </a:spcAft>
            </a:pPr>
            <a:r>
              <a:rPr lang="ja-JP" altLang="en-US" sz="900" b="0" dirty="0">
                <a:solidFill>
                  <a:sysClr val="windowText" lastClr="000000"/>
                </a:solidFill>
                <a:latin typeface="游ゴシック"/>
                <a:ea typeface="游ゴシック"/>
              </a:rPr>
              <a:t>・配送は基本的に自社対応。東京向け出荷と一部の地元スーパー向け配送のみ外部運送会社を利用。</a:t>
            </a:r>
          </a:p>
          <a:p>
            <a:pPr>
              <a:spcAft>
                <a:spcPts val="300"/>
              </a:spcAft>
            </a:pPr>
            <a:r>
              <a:rPr lang="ja-JP" altLang="en-US" sz="1000" b="1" dirty="0">
                <a:solidFill>
                  <a:sysClr val="windowText" lastClr="000000"/>
                </a:solidFill>
                <a:latin typeface="游ゴシック"/>
                <a:ea typeface="游ゴシック"/>
              </a:rPr>
              <a:t>≪施設の状況≫</a:t>
            </a:r>
          </a:p>
          <a:p>
            <a:pPr>
              <a:spcAft>
                <a:spcPts val="300"/>
              </a:spcAft>
            </a:pPr>
            <a:r>
              <a:rPr lang="ja-JP" altLang="en-US" sz="900" b="0" dirty="0">
                <a:solidFill>
                  <a:sysClr val="windowText" lastClr="000000"/>
                </a:solidFill>
                <a:latin typeface="游ゴシック"/>
                <a:ea typeface="游ゴシック"/>
              </a:rPr>
              <a:t>・屋根・外壁・シャッター・冷蔵庫ユニット等の改修工事を継続的に資産計上（詳細は「保有設備一覧」）。車両等はリースを利用（リース料年6,227千円、対象資産は要確認）。</a:t>
            </a:r>
          </a:p>
          <a:p>
            <a:pPr>
              <a:spcAft>
                <a:spcPts val="300"/>
              </a:spcAft>
            </a:pPr>
            <a:r>
              <a:rPr lang="ja-JP" altLang="en-US" sz="1000" b="1" dirty="0">
                <a:solidFill>
                  <a:sysClr val="windowText" lastClr="000000"/>
                </a:solidFill>
                <a:latin typeface="游ゴシック"/>
                <a:ea typeface="游ゴシック"/>
              </a:rPr>
              <a:t>≪写真≫</a:t>
            </a:r>
          </a:p>
          <a:p>
            <a:pPr>
              <a:spcAft>
                <a:spcPts val="300"/>
              </a:spcAft>
            </a:pPr>
            <a:r>
              <a:rPr lang="ja-JP" altLang="en-US" sz="900" b="0" dirty="0">
                <a:solidFill>
                  <a:sysClr val="windowText" lastClr="000000"/>
                </a:solidFill>
                <a:latin typeface="游ゴシック"/>
                <a:ea typeface="游ゴシック"/>
              </a:rPr>
              <a:t>・社屋外観・市場内観・周辺地図は売主様より写真を受領後に掲載予定。</a:t>
            </a:r>
          </a:p>
        </p:txBody>
      </p:sp>
    </p:spTree>
    <p:extLst>
      <p:ext uri="{BB962C8B-B14F-4D97-AF65-F5344CB8AC3E}">
        <p14:creationId xmlns:p14="http://schemas.microsoft.com/office/powerpoint/2010/main" val="630750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t>不動産概況</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本社・市場、パッケージ場、旧倉庫敷地（駐車場）の土地3筆（計4,263㎡）と建物7棟をすべて法人で所有し、賃借物件はない。土地の時価は約67,825千円と推計（確認中）。</a:t>
            </a:r>
          </a:p>
        </p:txBody>
      </p:sp>
      <p:graphicFrame>
        <p:nvGraphicFramePr>
          <p:cNvPr id="14" name="表（不動産概況!B4:J9）"/>
          <p:cNvGraphicFramePr>
            <a:graphicFrameLocks noGrp="1"/>
          </p:cNvGraphicFramePr>
          <p:nvPr/>
        </p:nvGraphicFramePr>
        <p:xfrm>
          <a:off x="310896" y="1463040"/>
          <a:ext cx="10058395" cy="2019300"/>
        </p:xfrm>
        <a:graphic>
          <a:graphicData uri="http://schemas.openxmlformats.org/drawingml/2006/table">
            <a:tbl>
              <a:tblPr firstRow="0" bandRow="0">
                <a:tableStyleId>{2D5ABB26-0587-4C30-8999-92F81FD0307C}</a:tableStyleId>
              </a:tblPr>
              <a:tblGrid>
                <a:gridCol w="982807"/>
                <a:gridCol w="2292827"/>
                <a:gridCol w="888649"/>
                <a:gridCol w="795174"/>
                <a:gridCol w="1824768"/>
                <a:gridCol w="888649"/>
                <a:gridCol w="888649"/>
                <a:gridCol w="888649"/>
                <a:gridCol w="608223"/>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381000">
                <a:tc>
                  <a:txBody>
                    <a:bodyPr/>
                    <a:lstStyle/>
                    <a:p>
                      <a:pPr algn="ctr" fontAlgn="ctr"/>
                      <a:r>
                        <a:rPr lang="ja-JP" altLang="en-US" sz="900" b="0" i="0" dirty="0">
                          <a:solidFill>
                            <a:srgbClr val="FFFFFF"/>
                          </a:solidFill>
                          <a:latin typeface="游ゴシック"/>
                          <a:ea typeface="游ゴシック"/>
                        </a:rPr>
                        <a:t>拠点</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所在地</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土地面積</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土地の</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所有区分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建物の所有区分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土地簿価</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土地時価</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建物固定資産税</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評価額(千円)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担保</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81000">
                <a:tc>
                  <a:txBody>
                    <a:bodyPr/>
                    <a:lstStyle/>
                    <a:p>
                      <a:pPr algn="l" fontAlgn="ctr"/>
                      <a:r>
                        <a:rPr lang="ja-JP" altLang="en-US" sz="1050" b="0" i="0" dirty="0">
                          <a:solidFill>
                            <a:srgbClr val="000000"/>
                          </a:solidFill>
                          <a:latin typeface="游ゴシック"/>
                          <a:ea typeface="游ゴシック"/>
                        </a:rPr>
                        <a:t>本社・市場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鶴岡市宝田一丁目4-2</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3,100.22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法人（5棟／延床1,246.20㎡）</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70,757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51,230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22,295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パッケージ場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鶴岡市宝田一丁目5-1</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900.50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法人（2棟／延床766.48㎡）</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21,380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15,086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24,767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旧倉庫敷地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東田川郡庄内町長沼字宮前304-7</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261.81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建物なし（老朽化により解体済み）</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1,509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1" i="0" dirty="0">
                          <a:solidFill>
                            <a:srgbClr val="000000"/>
                          </a:solidFill>
                          <a:latin typeface="游ゴシック"/>
                          <a:ea typeface="游ゴシック"/>
                        </a:rPr>
                        <a:t>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4,262.53</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1050" b="1" i="0" dirty="0">
                          <a:solidFill>
                            <a:srgbClr val="000000"/>
                          </a:solidFill>
                          <a:latin typeface="游ゴシック"/>
                          <a:ea typeface="游ゴシック"/>
                        </a:rPr>
                        <a:t>法人 7棟</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93,137</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67,825</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47,062</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5" name="TextBox 14"/>
          <p:cNvSpPr txBox="1"/>
          <p:nvPr/>
        </p:nvSpPr>
        <p:spPr>
          <a:xfrm>
            <a:off x="310896" y="3592068"/>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※面積は登記地積（固定資産税課税明細書）。土地時価＝固定資産税評価額÷0.7（推計）。建物評価額は令和8年度固定資産税評価額。</a:t>
            </a:r>
          </a:p>
          <a:p>
            <a:pPr algn="l"/>
            <a:r>
              <a:rPr sz="800" b="0">
                <a:solidFill>
                  <a:srgbClr val="000000"/>
                </a:solidFill>
                <a:latin typeface="游ゴシック"/>
                <a:ea typeface="游ゴシック"/>
              </a:rPr>
              <a:t>※旧倉庫敷地は建築不可の土地（代表者談）。倉庫は老朽化により解体済みで、現在は駐車場（車1台分）として賃貸。担保設定の状況は登記簿謄本（未受領）で確認予定。</a:t>
            </a:r>
          </a:p>
        </p:txBody>
      </p:sp>
      <p:sp>
        <p:nvSpPr>
          <p:cNvPr id="16" name="Rectangle 15"/>
          <p:cNvSpPr/>
          <p:nvPr/>
        </p:nvSpPr>
        <p:spPr>
          <a:xfrm>
            <a:off x="310896" y="4480560"/>
            <a:ext cx="1280160" cy="173736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游ゴシック"/>
                <a:ea typeface="游ゴシック"/>
              </a:rPr>
              <a:t>ポイント</a:t>
            </a:r>
          </a:p>
        </p:txBody>
      </p:sp>
      <p:sp>
        <p:nvSpPr>
          <p:cNvPr id="17" name="Rectangle 16"/>
          <p:cNvSpPr/>
          <p:nvPr/>
        </p:nvSpPr>
        <p:spPr>
          <a:xfrm>
            <a:off x="1645920" y="4480560"/>
            <a:ext cx="8723376" cy="17373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000" b="0">
                <a:solidFill>
                  <a:srgbClr val="000000"/>
                </a:solidFill>
                <a:latin typeface="游ゴシック"/>
                <a:ea typeface="游ゴシック"/>
              </a:rPr>
              <a:t>■ 本社・市場とパッケージ場は隣接する一団の土地であり、事業用地はすべて法人所有。地代家賃の負担がなく、拠点の継続性が高い。</a:t>
            </a:r>
          </a:p>
          <a:p>
            <a:pPr algn="l">
              <a:spcAft>
                <a:spcPts val="400"/>
              </a:spcAft>
            </a:pPr>
            <a:r>
              <a:rPr sz="1000" b="0">
                <a:solidFill>
                  <a:srgbClr val="000000"/>
                </a:solidFill>
                <a:latin typeface="游ゴシック"/>
                <a:ea typeface="游ゴシック"/>
              </a:rPr>
              <a:t>■ 土地時価約67.8百万円・建物評価額約47.1百万円の資産を保有。一方、土地の帳簿価額93.1百万円は時価推計を上回り、時価純資産の減少要因（△25.3百万円）となる。</a:t>
            </a:r>
          </a:p>
          <a:p>
            <a:pPr algn="l">
              <a:spcAft>
                <a:spcPts val="400"/>
              </a:spcAft>
            </a:pPr>
            <a:r>
              <a:rPr sz="1000" b="0">
                <a:solidFill>
                  <a:srgbClr val="000000"/>
                </a:solidFill>
                <a:latin typeface="游ゴシック"/>
                <a:ea typeface="游ゴシック"/>
              </a:rPr>
              <a:t>■ 主要建物は1981〜82年築。改修を継続しており、耐震性・今後の更新計画は要確認。土地・建物の時価は路線価・査定等で確認中。</a:t>
            </a:r>
          </a:p>
        </p:txBody>
      </p:sp>
    </p:spTree>
    <p:extLst>
      <p:ext uri="{BB962C8B-B14F-4D97-AF65-F5344CB8AC3E}">
        <p14:creationId xmlns:p14="http://schemas.microsoft.com/office/powerpoint/2010/main" val="3707275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6CA44-E527-07A7-EABE-FD69A9CC275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76FF1C4-EA62-3485-4D28-7C17FD9DDA7D}"/>
              </a:ext>
            </a:extLst>
          </p:cNvPr>
          <p:cNvSpPr>
            <a:spLocks noGrp="1"/>
          </p:cNvSpPr>
          <p:nvPr>
            <p:ph type="ctrTitle"/>
          </p:nvPr>
        </p:nvSpPr>
        <p:spPr>
          <a:xfrm>
            <a:off x="311150" y="180296"/>
            <a:ext cx="7799917" cy="339267"/>
          </a:xfrm>
        </p:spPr>
        <p:txBody>
          <a:bodyPr>
            <a:normAutofit/>
          </a:bodyPr>
          <a:lstStyle/>
          <a:p>
            <a:r>
              <a:rPr lang="ja-JP" altLang="en-US" dirty="0"/>
              <a:t>不動産詳細</a:t>
            </a:r>
          </a:p>
        </p:txBody>
      </p:sp>
      <p:sp>
        <p:nvSpPr>
          <p:cNvPr id="2" name="正方形/長方形 1">
            <a:extLst>
              <a:ext uri="{FF2B5EF4-FFF2-40B4-BE49-F238E27FC236}">
                <a16:creationId xmlns:a16="http://schemas.microsoft.com/office/drawing/2014/main" id="{6E2B06A4-5CE5-00C3-97BF-5F9AFAE677E3}"/>
              </a:ext>
            </a:extLst>
          </p:cNvPr>
          <p:cNvSpPr/>
          <p:nvPr/>
        </p:nvSpPr>
        <p:spPr>
          <a:xfrm>
            <a:off x="310896" y="146304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所有</a:t>
            </a:r>
          </a:p>
        </p:txBody>
      </p:sp>
      <p:sp>
        <p:nvSpPr>
          <p:cNvPr id="3" name="正方形/長方形 2">
            <a:extLst>
              <a:ext uri="{FF2B5EF4-FFF2-40B4-BE49-F238E27FC236}">
                <a16:creationId xmlns:a16="http://schemas.microsoft.com/office/drawing/2014/main" id="{75ADC88D-D2D4-EEF0-D14C-0426FECA60C3}"/>
              </a:ext>
            </a:extLst>
          </p:cNvPr>
          <p:cNvSpPr/>
          <p:nvPr/>
        </p:nvSpPr>
        <p:spPr>
          <a:xfrm>
            <a:off x="310896" y="5192268"/>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賃借</a:t>
            </a:r>
          </a:p>
        </p:txBody>
      </p:sp>
      <p:sp>
        <p:nvSpPr>
          <p:cNvPr id="4" name="タイトル 1">
            <a:extLst>
              <a:ext uri="{FF2B5EF4-FFF2-40B4-BE49-F238E27FC236}">
                <a16:creationId xmlns:a16="http://schemas.microsoft.com/office/drawing/2014/main" id="{DAA41D5B-A131-C808-ADF3-2DAFD20777F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A751CA4D-CB14-CD08-826F-75C234B5BA9A}"/>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土地3筆・建物7棟を所有。土地の簿価93.1百万円に対し、固定資産税評価額ベースの時価推計は約68百万円。</a:t>
            </a:r>
          </a:p>
        </p:txBody>
      </p:sp>
      <p:graphicFrame>
        <p:nvGraphicFramePr>
          <p:cNvPr id="14" name="表（不動産詳細!B4:I17）"/>
          <p:cNvGraphicFramePr>
            <a:graphicFrameLocks noGrp="1"/>
          </p:cNvGraphicFramePr>
          <p:nvPr/>
        </p:nvGraphicFramePr>
        <p:xfrm>
          <a:off x="310896" y="1847088"/>
          <a:ext cx="10058395" cy="3162300"/>
        </p:xfrm>
        <a:graphic>
          <a:graphicData uri="http://schemas.openxmlformats.org/drawingml/2006/table">
            <a:tbl>
              <a:tblPr firstRow="0" bandRow="0">
                <a:tableStyleId>{2D5ABB26-0587-4C30-8999-92F81FD0307C}</a:tableStyleId>
              </a:tblPr>
              <a:tblGrid>
                <a:gridCol w="1221909"/>
                <a:gridCol w="2209073"/>
                <a:gridCol w="846238"/>
                <a:gridCol w="2209073"/>
                <a:gridCol w="987457"/>
                <a:gridCol w="892854"/>
                <a:gridCol w="892854"/>
                <a:gridCol w="798937"/>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381000">
                <a:tc>
                  <a:txBody>
                    <a:bodyPr/>
                    <a:lstStyle/>
                    <a:p>
                      <a:pPr algn="ctr" fontAlgn="ctr"/>
                      <a:r>
                        <a:rPr lang="ja-JP" altLang="en-US" sz="900" b="0" i="0" dirty="0">
                          <a:solidFill>
                            <a:srgbClr val="FFFFFF"/>
                          </a:solidFill>
                          <a:latin typeface="游ゴシック"/>
                          <a:ea typeface="游ゴシック"/>
                        </a:rPr>
                        <a:t>区分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所在地</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面積</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地目・構造</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建築年</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期末簿価</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固定資産税</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評価額(千円)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時価</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15900">
                <a:tc>
                  <a:txBody>
                    <a:bodyPr/>
                    <a:lstStyle/>
                    <a:p>
                      <a:pPr algn="l" fontAlgn="ctr"/>
                      <a:r>
                        <a:rPr lang="ja-JP" altLang="en-US" sz="950" b="0" i="0" dirty="0">
                          <a:solidFill>
                            <a:srgbClr val="000000"/>
                          </a:solidFill>
                          <a:latin typeface="游ゴシック"/>
                          <a:ea typeface="游ゴシック"/>
                        </a:rPr>
                        <a:t>土地</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3,100.22</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宅地（市場・事務所・倉庫）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70,757</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35,861</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51,230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土地</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鶴岡市宝田一丁目5-1</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900.50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宅地（パッケージ場・倉庫）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21,380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10,560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15,086</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土地</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東田川郡庄内町長沼字宮前304-7</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261.81</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宅地（駐車場・旧倉庫敷地）</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1,000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1,056</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1,509</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1" i="0" dirty="0">
                          <a:solidFill>
                            <a:srgbClr val="000000"/>
                          </a:solidFill>
                          <a:latin typeface="游ゴシック"/>
                          <a:ea typeface="游ゴシック"/>
                        </a:rPr>
                        <a:t>土地 計</a:t>
                      </a: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4,262.53</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93,137</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47,478</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67,825</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215900">
                <a:tc>
                  <a:txBody>
                    <a:bodyPr/>
                    <a:lstStyle/>
                    <a:p>
                      <a:pPr algn="l" fontAlgn="ctr"/>
                      <a:r>
                        <a:rPr lang="ja-JP" altLang="en-US" sz="950" b="0" i="0" dirty="0">
                          <a:solidFill>
                            <a:srgbClr val="000000"/>
                          </a:solidFill>
                          <a:latin typeface="游ゴシック"/>
                          <a:ea typeface="游ゴシック"/>
                        </a:rPr>
                        <a:t>事務所</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365.63</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2階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11,218</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市場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320.22</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1階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4,713</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327.13</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1階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4,561</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198.74</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軽量鉄骨造 2階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1,237</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貯蔵庫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34.48</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軽量鉄骨造 1階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567</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事務所兼倉庫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鶴岡市宝田一丁目5-1</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627.40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2階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1982年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13,111</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鶴岡市宝田一丁目5-1</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139.08</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1階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2012年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11,656</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1" i="0" dirty="0">
                          <a:solidFill>
                            <a:srgbClr val="000000"/>
                          </a:solidFill>
                          <a:latin typeface="游ゴシック"/>
                          <a:ea typeface="游ゴシック"/>
                        </a:rPr>
                        <a:t>建物 計</a:t>
                      </a: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2,012.68</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92,066</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47,062</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5" name="TextBox 14"/>
          <p:cNvSpPr txBox="1"/>
          <p:nvPr/>
        </p:nvSpPr>
        <p:spPr>
          <a:xfrm>
            <a:off x="1965960" y="5192268"/>
            <a:ext cx="8229600" cy="356616"/>
          </a:xfrm>
          <a:prstGeom prst="rect">
            <a:avLst/>
          </a:prstGeom>
          <a:noFill/>
        </p:spPr>
        <p:txBody>
          <a:bodyPr wrap="square" lIns="0" rIns="0" tIns="0" bIns="0" anchor="ctr">
            <a:spAutoFit/>
          </a:bodyPr>
          <a:lstStyle/>
          <a:p>
            <a:pPr algn="l"/>
            <a:r>
              <a:rPr sz="1050" b="0">
                <a:solidFill>
                  <a:srgbClr val="000000"/>
                </a:solidFill>
                <a:latin typeface="游ゴシック"/>
                <a:ea typeface="游ゴシック"/>
              </a:rPr>
              <a:t>賃借物件はありません（地代家賃の計上なし）。</a:t>
            </a:r>
          </a:p>
        </p:txBody>
      </p:sp>
      <p:sp>
        <p:nvSpPr>
          <p:cNvPr id="16" name="TextBox 15"/>
          <p:cNvSpPr txBox="1"/>
          <p:nvPr/>
        </p:nvSpPr>
        <p:spPr>
          <a:xfrm>
            <a:off x="310896" y="5695188"/>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※建物の簿価は棟別ではなく改修工事を含めた合計（BS建物）。棟別の帳簿内訳は「保有設備一覧」に記載。庄内町長沼の土地は建築不可（代表者談）。</a:t>
            </a:r>
          </a:p>
          <a:p>
            <a:pPr algn="l"/>
            <a:r>
              <a:rPr sz="800" b="0">
                <a:solidFill>
                  <a:srgbClr val="000000"/>
                </a:solidFill>
                <a:latin typeface="游ゴシック"/>
                <a:ea typeface="游ゴシック"/>
              </a:rPr>
              <a:t>※1981年築の建物は新耐震基準（1981年6月施行）の適用有無を建築確認日で要確認。土地の時価は鑑定・路線価で要確認。</a:t>
            </a:r>
          </a:p>
        </p:txBody>
      </p:sp>
    </p:spTree>
    <p:extLst>
      <p:ext uri="{BB962C8B-B14F-4D97-AF65-F5344CB8AC3E}">
        <p14:creationId xmlns:p14="http://schemas.microsoft.com/office/powerpoint/2010/main" val="2004129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保有設備一覧</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機械・車両は償却済み（集配車両はリースと推察）。建物は屋根・外壁・シャッター・冷蔵庫ユニット等の改修を継続して資産計上。</a:t>
            </a:r>
          </a:p>
        </p:txBody>
      </p:sp>
      <p:graphicFrame>
        <p:nvGraphicFramePr>
          <p:cNvPr id="14" name="表（設備!B4:E32）"/>
          <p:cNvGraphicFramePr>
            <a:graphicFrameLocks noGrp="1"/>
          </p:cNvGraphicFramePr>
          <p:nvPr/>
        </p:nvGraphicFramePr>
        <p:xfrm>
          <a:off x="310896" y="1371600"/>
          <a:ext cx="5394958" cy="4838700"/>
        </p:xfrm>
        <a:graphic>
          <a:graphicData uri="http://schemas.openxmlformats.org/drawingml/2006/table">
            <a:tbl>
              <a:tblPr firstRow="0" bandRow="0">
                <a:tableStyleId>{2D5ABB26-0587-4C30-8999-92F81FD0307C}</a:tableStyleId>
              </a:tblPr>
              <a:tblGrid>
                <a:gridCol w="1948284"/>
                <a:gridCol w="1598610"/>
                <a:gridCol w="848998"/>
                <a:gridCol w="999066"/>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00" b="0" i="0" dirty="0">
                          <a:solidFill>
                            <a:srgbClr val="000000"/>
                          </a:solidFill>
                          <a:latin typeface="游ゴシック"/>
                          <a:ea typeface="游ゴシック"/>
                        </a:rPr>
                        <a:t>(単位：千円)</a:t>
                      </a:r>
                      <a:endParaRPr lang="ja-JP" altLang="en-US" sz="8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90500">
                <a:tc>
                  <a:txBody>
                    <a:bodyPr/>
                    <a:lstStyle/>
                    <a:p>
                      <a:pPr algn="ctr" fontAlgn="ctr"/>
                      <a:r>
                        <a:rPr lang="ja-JP" altLang="en-US" sz="800" b="0" i="0" dirty="0">
                          <a:solidFill>
                            <a:srgbClr val="FFFFFF"/>
                          </a:solidFill>
                          <a:latin typeface="游ゴシック"/>
                          <a:ea typeface="游ゴシック"/>
                        </a:rPr>
                        <a:t>建物内訳（用途）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所在</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面積(㎡)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簿価</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65100">
                <a:tc>
                  <a:txBody>
                    <a:bodyPr/>
                    <a:lstStyle/>
                    <a:p>
                      <a:pPr algn="l" fontAlgn="ctr"/>
                      <a:r>
                        <a:rPr lang="ja-JP" altLang="en-US" sz="800" b="0" i="0" dirty="0">
                          <a:solidFill>
                            <a:srgbClr val="000000"/>
                          </a:solidFill>
                          <a:latin typeface="游ゴシック"/>
                          <a:ea typeface="游ゴシック"/>
                        </a:rPr>
                        <a:t>管理棟</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365.00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20,193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荷捌市場</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330.70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5,899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倉庫</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320.20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1,166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容器庫</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198.70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物置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34.40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容器倉庫</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249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シャッター</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シャッター取替</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1,739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改修工事</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2,695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改修工事</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6,000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パッケージ場</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宝田一丁目5-20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629.34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11,751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シャッター更新</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1,078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プレハブ修繕</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1,377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不用材置場</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倉庫</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宝田一丁目5-1</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8,917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2階改修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6,404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1階トイレ改修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屋根改修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3,391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屋根改修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3,120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屋根改修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3,737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下屋修理・塗装</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971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パッケージ場外壁</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宝田一丁目5-20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6,815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冷蔵庫ユニット交換工事</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シャッター</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2,570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資材倉庫外壁改修（2025年5月）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918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資材倉庫シャッター（2025年5月）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1" i="0" dirty="0">
                          <a:solidFill>
                            <a:srgbClr val="000000"/>
                          </a:solidFill>
                          <a:latin typeface="游ゴシック"/>
                          <a:ea typeface="游ゴシック"/>
                        </a:rPr>
                        <a:t>建物 計</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78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endParaRPr lang="ja-JP" altLang="en-US" sz="78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92,066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graphicFrame>
        <p:nvGraphicFramePr>
          <p:cNvPr id="15" name="表（設備!G36:I45）"/>
          <p:cNvGraphicFramePr>
            <a:graphicFrameLocks noGrp="1"/>
          </p:cNvGraphicFramePr>
          <p:nvPr/>
        </p:nvGraphicFramePr>
        <p:xfrm>
          <a:off x="5989320" y="1371600"/>
          <a:ext cx="4389118" cy="2832100"/>
        </p:xfrm>
        <a:graphic>
          <a:graphicData uri="http://schemas.openxmlformats.org/drawingml/2006/table">
            <a:tbl>
              <a:tblPr firstRow="0" bandRow="0">
                <a:tableStyleId>{2D5ABB26-0587-4C30-8999-92F81FD0307C}</a:tableStyleId>
              </a:tblPr>
              <a:tblGrid>
                <a:gridCol w="1282026"/>
                <a:gridCol w="936782"/>
                <a:gridCol w="2170310"/>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00" b="0" i="0" dirty="0">
                          <a:solidFill>
                            <a:srgbClr val="000000"/>
                          </a:solidFill>
                          <a:latin typeface="游ゴシック"/>
                          <a:ea typeface="游ゴシック"/>
                        </a:rPr>
                        <a:t>(単位：千円)</a:t>
                      </a:r>
                      <a:endParaRPr lang="ja-JP" altLang="en-US" sz="8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90500">
                <a:tc>
                  <a:txBody>
                    <a:bodyPr/>
                    <a:lstStyle/>
                    <a:p>
                      <a:pPr algn="ctr" fontAlgn="ctr"/>
                      <a:r>
                        <a:rPr lang="ja-JP" altLang="en-US" sz="800" b="0" i="0" dirty="0">
                          <a:solidFill>
                            <a:srgbClr val="FFFFFF"/>
                          </a:solidFill>
                          <a:latin typeface="游ゴシック"/>
                          <a:ea typeface="游ゴシック"/>
                        </a:rPr>
                        <a:t>区分</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簿価(2026/3末)</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備考</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17500">
                <a:tc>
                  <a:txBody>
                    <a:bodyPr/>
                    <a:lstStyle/>
                    <a:p>
                      <a:pPr algn="l" fontAlgn="ctr"/>
                      <a:r>
                        <a:rPr lang="ja-JP" altLang="en-US" sz="800" b="0" i="0" dirty="0">
                          <a:solidFill>
                            <a:srgbClr val="000000"/>
                          </a:solidFill>
                          <a:latin typeface="游ゴシック"/>
                          <a:ea typeface="游ゴシック"/>
                        </a:rPr>
                        <a:t>建物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92,066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左表の内訳のとおり。改修工事を資産計上</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建物付属設備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11,400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冷蔵庫ユニット・シャッター等（内訳は台帳で要確認）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構築物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機械装置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備忘価額のみ（償却済）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車両運搬具</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備忘価額のみ。集配車両はリースと推察（要確認）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工具器具備品</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ソフトウェア</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372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販売管理システム等と推察（要確認）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28600">
                <a:tc>
                  <a:txBody>
                    <a:bodyPr/>
                    <a:lstStyle/>
                    <a:p>
                      <a:pPr algn="l" fontAlgn="ctr"/>
                      <a:r>
                        <a:rPr lang="ja-JP" altLang="en-US" sz="800" b="1" i="0" dirty="0">
                          <a:solidFill>
                            <a:srgbClr val="000000"/>
                          </a:solidFill>
                          <a:latin typeface="游ゴシック"/>
                          <a:ea typeface="游ゴシック"/>
                        </a:rPr>
                        <a:t>合計</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104,140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6" name="TextBox 15"/>
          <p:cNvSpPr txBox="1"/>
          <p:nvPr/>
        </p:nvSpPr>
        <p:spPr>
          <a:xfrm>
            <a:off x="5989320" y="4295140"/>
            <a:ext cx="4389120" cy="493776"/>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※固定資産内訳書（2026/3期末）。固定資産台帳は未受領</a:t>
            </a:r>
          </a:p>
          <a:p>
            <a:pPr algn="l"/>
            <a:r>
              <a:rPr sz="800" b="0">
                <a:solidFill>
                  <a:srgbClr val="000000"/>
                </a:solidFill>
                <a:latin typeface="游ゴシック"/>
                <a:ea typeface="游ゴシック"/>
              </a:rPr>
              <a:t>　のため、冷蔵設備・フォークリフト・車両等の明細は</a:t>
            </a:r>
          </a:p>
          <a:p>
            <a:pPr algn="l"/>
            <a:r>
              <a:rPr sz="800" b="0">
                <a:solidFill>
                  <a:srgbClr val="000000"/>
                </a:solidFill>
                <a:latin typeface="游ゴシック"/>
                <a:ea typeface="游ゴシック"/>
              </a:rPr>
              <a:t>　受領後に追加。リース契約の一覧は資料依頼中。</a:t>
            </a:r>
          </a:p>
        </p:txBody>
      </p:sp>
    </p:spTree>
    <p:extLst>
      <p:ext uri="{BB962C8B-B14F-4D97-AF65-F5344CB8AC3E}">
        <p14:creationId xmlns:p14="http://schemas.microsoft.com/office/powerpoint/2010/main" val="915540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spTree>
    <p:extLst>
      <p:ext uri="{BB962C8B-B14F-4D97-AF65-F5344CB8AC3E}">
        <p14:creationId xmlns:p14="http://schemas.microsoft.com/office/powerpoint/2010/main" val="1584449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直近3期の貸借対照表。借入金の返済により総資産は652百万円→485百万円へ圧縮。市場用地等の事業用資産を自社で保有している。</a:t>
            </a:r>
          </a:p>
        </p:txBody>
      </p:sp>
      <p:graphicFrame>
        <p:nvGraphicFramePr>
          <p:cNvPr id="14" name="表（貸借対照表!B4:E37）"/>
          <p:cNvGraphicFramePr>
            <a:graphicFrameLocks noGrp="1"/>
          </p:cNvGraphicFramePr>
          <p:nvPr/>
        </p:nvGraphicFramePr>
        <p:xfrm>
          <a:off x="310896" y="1325880"/>
          <a:ext cx="4956047" cy="5090130"/>
        </p:xfrm>
        <a:graphic>
          <a:graphicData uri="http://schemas.openxmlformats.org/drawingml/2006/table">
            <a:tbl>
              <a:tblPr firstRow="0" bandRow="0">
                <a:tableStyleId>{2D5ABB26-0587-4C30-8999-92F81FD0307C}</a:tableStyleId>
              </a:tblPr>
              <a:tblGrid>
                <a:gridCol w="2147984"/>
                <a:gridCol w="936021"/>
                <a:gridCol w="936021"/>
                <a:gridCol w="936021"/>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r>
              <a:tr h="160020">
                <a:tc gridSpan="4">
                  <a:txBody>
                    <a:bodyPr/>
                    <a:lstStyle/>
                    <a:p>
                      <a:pPr algn="ctr" fontAlgn="ctr"/>
                      <a:r>
                        <a:rPr lang="ja-JP" altLang="en-US" sz="800" b="0" i="0" dirty="0">
                          <a:solidFill>
                            <a:srgbClr val="FFFFFF"/>
                          </a:solidFill>
                          <a:latin typeface="游ゴシック"/>
                          <a:ea typeface="游ゴシック"/>
                        </a:rPr>
                        <a:t>資産の部</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60020">
                <a:tc>
                  <a:txBody>
                    <a:bodyPr/>
                    <a:lstStyle/>
                    <a:p>
                      <a:pPr algn="ctr" fontAlgn="ctr"/>
                      <a:r>
                        <a:rPr lang="ja-JP" altLang="en-US" sz="800" b="0" i="0" dirty="0">
                          <a:solidFill>
                            <a:srgbClr val="FFFFFF"/>
                          </a:solidFill>
                          <a:latin typeface="游ゴシック"/>
                          <a:ea typeface="游ゴシック"/>
                        </a:rPr>
                        <a:t>科目</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2024年3月期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2025年3月期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2026年3月期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1" i="0" dirty="0">
                          <a:solidFill>
                            <a:srgbClr val="000000"/>
                          </a:solidFill>
                          <a:latin typeface="游ゴシック"/>
                          <a:ea typeface="游ゴシック"/>
                        </a:rPr>
                        <a:t>【流動資産】</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375,589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303,101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249,705</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現金及び預金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339,553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259,719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210,887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売掛金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21,171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21,897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19,609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資材肥料売掛金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1,352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1,269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1,227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棚卸資産</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9,860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15,444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14,597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立替金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未収入金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3,684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3,905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3,011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前払費用</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仮払金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仮払税金等</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998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貸倒引当金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【固定資産】</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276,115</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264,261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235,485</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［有形固定資産］</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216,357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204,260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196,906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0" i="0" dirty="0">
                          <a:solidFill>
                            <a:srgbClr val="000000"/>
                          </a:solidFill>
                          <a:latin typeface="游ゴシック"/>
                          <a:ea typeface="游ゴシック"/>
                        </a:rPr>
                        <a:t>　建物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101,162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95,851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92,066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建物付属設備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15,417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13,503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11,400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構築物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383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機械装置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車両運搬具</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5,838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1,282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工具器具備品</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288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土地</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93,137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93,137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93,137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［無形固定資産］</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2,871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2,699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2,527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0" i="0" dirty="0">
                          <a:solidFill>
                            <a:srgbClr val="000000"/>
                          </a:solidFill>
                          <a:latin typeface="游ゴシック"/>
                          <a:ea typeface="游ゴシック"/>
                        </a:rPr>
                        <a:t>　電話加入権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2,156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2,156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2,156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ソフトウェア</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715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543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372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［投資その他の資産］</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56,887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57,302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36,052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60020">
                <a:tc>
                  <a:txBody>
                    <a:bodyPr/>
                    <a:lstStyle/>
                    <a:p>
                      <a:pPr algn="l" fontAlgn="ctr"/>
                      <a:r>
                        <a:rPr lang="ja-JP" altLang="en-US" sz="800" b="0" i="0" dirty="0">
                          <a:solidFill>
                            <a:srgbClr val="000000"/>
                          </a:solidFill>
                          <a:latin typeface="游ゴシック"/>
                          <a:ea typeface="游ゴシック"/>
                        </a:rPr>
                        <a:t>　投資有価証券</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3,250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3,250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2,600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出資金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長期前払費用</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保証金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32,003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33,003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33,303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事業保険積立金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21,162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20,900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【繰延資産】</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244</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167</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FFFFFF"/>
                          </a:solidFill>
                          <a:latin typeface="游ゴシック"/>
                          <a:ea typeface="游ゴシック"/>
                        </a:rPr>
                        <a:t>資産合計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651,948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567,529</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485,190</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graphicFrame>
        <p:nvGraphicFramePr>
          <p:cNvPr id="15" name="表（貸借対照表!G5:J16）"/>
          <p:cNvGraphicFramePr>
            <a:graphicFrameLocks noGrp="1"/>
          </p:cNvGraphicFramePr>
          <p:nvPr/>
        </p:nvGraphicFramePr>
        <p:xfrm>
          <a:off x="5376672" y="1516380"/>
          <a:ext cx="4956047" cy="1793230"/>
        </p:xfrm>
        <a:graphic>
          <a:graphicData uri="http://schemas.openxmlformats.org/drawingml/2006/table">
            <a:tbl>
              <a:tblPr firstRow="0" bandRow="0">
                <a:tableStyleId>{2D5ABB26-0587-4C30-8999-92F81FD0307C}</a:tableStyleId>
              </a:tblPr>
              <a:tblGrid>
                <a:gridCol w="2147984"/>
                <a:gridCol w="936021"/>
                <a:gridCol w="936021"/>
                <a:gridCol w="936021"/>
              </a:tblGrid>
              <a:tr h="160020">
                <a:tc gridSpan="4">
                  <a:txBody>
                    <a:bodyPr/>
                    <a:lstStyle/>
                    <a:p>
                      <a:pPr algn="ctr" fontAlgn="ctr"/>
                      <a:r>
                        <a:rPr lang="ja-JP" altLang="en-US" sz="800" b="0" i="0" dirty="0">
                          <a:solidFill>
                            <a:srgbClr val="FFFFFF"/>
                          </a:solidFill>
                          <a:latin typeface="游ゴシック"/>
                          <a:ea typeface="游ゴシック"/>
                        </a:rPr>
                        <a:t>負債の部</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60020">
                <a:tc>
                  <a:txBody>
                    <a:bodyPr/>
                    <a:lstStyle/>
                    <a:p>
                      <a:pPr algn="ctr" fontAlgn="ctr"/>
                      <a:r>
                        <a:rPr lang="ja-JP" altLang="en-US" sz="800" b="0" i="0" dirty="0">
                          <a:solidFill>
                            <a:srgbClr val="FFFFFF"/>
                          </a:solidFill>
                          <a:latin typeface="游ゴシック"/>
                          <a:ea typeface="游ゴシック"/>
                        </a:rPr>
                        <a:t>科目</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2024年3月期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2025年3月期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2026年3月期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1" i="0" dirty="0">
                          <a:solidFill>
                            <a:srgbClr val="000000"/>
                          </a:solidFill>
                          <a:latin typeface="游ゴシック"/>
                          <a:ea typeface="游ゴシック"/>
                        </a:rPr>
                        <a:t>【流動負債】</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34,109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29,456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37,280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買掛金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18,128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19,955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26,349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未払金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10,199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7,303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6,630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預り金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558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281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未払法人税等</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2,308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1,851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未払消費税</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2,970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1,607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2,168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【固定負債】</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525,010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444,316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370,038</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長期借入金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514,690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434,046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361,058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預り保証金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10,320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10,270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8,980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FFFFFF"/>
                          </a:solidFill>
                          <a:latin typeface="游ゴシック"/>
                          <a:ea typeface="游ゴシック"/>
                        </a:rPr>
                        <a:t>負債合計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559,119</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473,772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407,318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graphicFrame>
        <p:nvGraphicFramePr>
          <p:cNvPr id="16" name="表（貸借対照表!G31:J37）"/>
          <p:cNvGraphicFramePr>
            <a:graphicFrameLocks noGrp="1"/>
          </p:cNvGraphicFramePr>
          <p:nvPr/>
        </p:nvGraphicFramePr>
        <p:xfrm>
          <a:off x="5376672" y="5372099"/>
          <a:ext cx="4956047" cy="1043934"/>
        </p:xfrm>
        <a:graphic>
          <a:graphicData uri="http://schemas.openxmlformats.org/drawingml/2006/table">
            <a:tbl>
              <a:tblPr firstRow="0" bandRow="0">
                <a:tableStyleId>{2D5ABB26-0587-4C30-8999-92F81FD0307C}</a:tableStyleId>
              </a:tblPr>
              <a:tblGrid>
                <a:gridCol w="2147984"/>
                <a:gridCol w="936021"/>
                <a:gridCol w="936021"/>
                <a:gridCol w="936021"/>
              </a:tblGrid>
              <a:tr h="160020">
                <a:tc gridSpan="4">
                  <a:txBody>
                    <a:bodyPr/>
                    <a:lstStyle/>
                    <a:p>
                      <a:pPr algn="ctr" fontAlgn="ctr"/>
                      <a:r>
                        <a:rPr lang="ja-JP" altLang="en-US" sz="800" b="0" i="0" dirty="0">
                          <a:solidFill>
                            <a:srgbClr val="FFFFFF"/>
                          </a:solidFill>
                          <a:latin typeface="游ゴシック"/>
                          <a:ea typeface="游ゴシック"/>
                        </a:rPr>
                        <a:t>純資産の部</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【資本金】</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40,000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40,000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40,000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000000"/>
                          </a:solidFill>
                          <a:latin typeface="游ゴシック"/>
                          <a:ea typeface="游ゴシック"/>
                        </a:rPr>
                        <a:t>【利益剰余金】</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52,828</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53,757</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37,873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利益準備金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1,800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2,080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繰越利益剰余金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51,028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51,757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35,793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FFFFFF"/>
                          </a:solidFill>
                          <a:latin typeface="游ゴシック"/>
                          <a:ea typeface="游ゴシック"/>
                        </a:rPr>
                        <a:t>純資産合計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92,828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93,757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77,873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1" i="0" dirty="0">
                          <a:solidFill>
                            <a:srgbClr val="FFFFFF"/>
                          </a:solidFill>
                          <a:latin typeface="游ゴシック"/>
                          <a:ea typeface="游ゴシック"/>
                        </a:rPr>
                        <a:t>負債・純資産合計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651,948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567,529</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485,190</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spTree>
    <p:extLst>
      <p:ext uri="{BB962C8B-B14F-4D97-AF65-F5344CB8AC3E}">
        <p14:creationId xmlns:p14="http://schemas.microsoft.com/office/powerpoint/2010/main" val="2877881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売上高は約12億円で推移。2026/3期は営業利益5.9百万円・経常利益8.1百万円、保険積立金の取崩しにより当期純損失15.1百万円。</a:t>
            </a:r>
          </a:p>
        </p:txBody>
      </p:sp>
      <p:sp>
        <p:nvSpPr>
          <p:cNvPr id="2" name="正方形/長方形 1">
            <a:extLst>
              <a:ext uri="{FF2B5EF4-FFF2-40B4-BE49-F238E27FC236}">
                <a16:creationId xmlns:a16="http://schemas.microsoft.com/office/drawing/2014/main" id="{BF27BA7A-9153-58C5-3140-5975C57507B3}"/>
              </a:ext>
            </a:extLst>
          </p:cNvPr>
          <p:cNvSpPr/>
          <p:nvPr/>
        </p:nvSpPr>
        <p:spPr>
          <a:xfrm>
            <a:off x="6455664" y="1371600"/>
            <a:ext cx="3922776" cy="557784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6" name="テキスト ボックス 5">
            <a:extLst>
              <a:ext uri="{FF2B5EF4-FFF2-40B4-BE49-F238E27FC236}">
                <a16:creationId xmlns:a16="http://schemas.microsoft.com/office/drawing/2014/main" id="{A007D27D-8826-CDC6-2389-3E385CB817A8}"/>
              </a:ext>
            </a:extLst>
          </p:cNvPr>
          <p:cNvSpPr txBox="1"/>
          <p:nvPr/>
        </p:nvSpPr>
        <p:spPr>
          <a:xfrm>
            <a:off x="6455664" y="1920240"/>
            <a:ext cx="3895344" cy="493776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≪売上高≫</a:t>
            </a:r>
          </a:p>
          <a:p>
            <a:pPr>
              <a:spcAft>
                <a:spcPts val="300"/>
              </a:spcAft>
            </a:pPr>
            <a:r>
              <a:rPr lang="ja-JP" altLang="en-US" sz="900" b="0" dirty="0">
                <a:solidFill>
                  <a:sysClr val="windowText" lastClr="000000"/>
                </a:solidFill>
                <a:latin typeface="游ゴシック"/>
                <a:ea typeface="游ゴシック"/>
              </a:rPr>
              <a:t>・決算書では「商品売上高」1本で表示。受託販売は2019年10月以降、手数料（8.5%）のみの純額表示。売上割戻は期限内に代金を支払った八百屋等への「完納奨励金」（市場の商慣習）。</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≪売上原価≫</a:t>
            </a:r>
          </a:p>
          <a:p>
            <a:pPr>
              <a:spcAft>
                <a:spcPts val="300"/>
              </a:spcAft>
            </a:pPr>
            <a:r>
              <a:rPr lang="ja-JP" altLang="en-US" sz="900" b="0" dirty="0">
                <a:solidFill>
                  <a:sysClr val="windowText" lastClr="000000"/>
                </a:solidFill>
                <a:latin typeface="游ゴシック"/>
                <a:ea typeface="游ゴシック"/>
              </a:rPr>
              <a:t>・粗利率は18.6%→17.9%→16.6%。棚卸資産は最終仕入原価法で評価。</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≪営業外損益≫</a:t>
            </a:r>
          </a:p>
          <a:p>
            <a:pPr>
              <a:spcAft>
                <a:spcPts val="300"/>
              </a:spcAft>
            </a:pPr>
            <a:r>
              <a:rPr lang="ja-JP" altLang="en-US" sz="900" b="0" dirty="0">
                <a:solidFill>
                  <a:sysClr val="windowText" lastClr="000000"/>
                </a:solidFill>
                <a:latin typeface="游ゴシック"/>
                <a:ea typeface="游ゴシック"/>
              </a:rPr>
              <a:t>・受取奨励金（毎期約2.3〜2.5百万円）、雑収入（仲卸業者等からのゴミ処理料・冷蔵庫保管料等）を計上。支払利息は年約4百万円。</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≪特別損益≫</a:t>
            </a:r>
          </a:p>
          <a:p>
            <a:pPr>
              <a:spcAft>
                <a:spcPts val="300"/>
              </a:spcAft>
            </a:pPr>
            <a:r>
              <a:rPr lang="ja-JP" altLang="en-US" sz="900" b="0" dirty="0">
                <a:solidFill>
                  <a:sysClr val="windowText" lastClr="000000"/>
                </a:solidFill>
                <a:latin typeface="游ゴシック"/>
                <a:ea typeface="游ゴシック"/>
              </a:rPr>
              <a:t>・2026/3期の前期損益修正損20,900千円は過年度の保険解約に係る訂正額（非経常）。</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≪進行期≫</a:t>
            </a:r>
          </a:p>
          <a:p>
            <a:pPr>
              <a:spcAft>
                <a:spcPts val="300"/>
              </a:spcAft>
            </a:pPr>
            <a:r>
              <a:rPr lang="ja-JP" altLang="en-US" sz="900" b="0" dirty="0">
                <a:solidFill>
                  <a:sysClr val="windowText" lastClr="000000"/>
                </a:solidFill>
                <a:latin typeface="游ゴシック"/>
                <a:ea typeface="游ゴシック"/>
              </a:rPr>
              <a:t>・2026年4〜7月（4か月累計）の売上高は411,155千円、営業利益は5,317千円（試算表）。繁忙期を含むため年換算しない。代表者によれば9月時点で約2,000万円の利益（要確認）。</a:t>
            </a:r>
          </a:p>
        </p:txBody>
      </p:sp>
      <p:graphicFrame>
        <p:nvGraphicFramePr>
          <p:cNvPr id="14" name="表（損益計算書!B4:H37）"/>
          <p:cNvGraphicFramePr>
            <a:graphicFrameLocks noGrp="1"/>
          </p:cNvGraphicFramePr>
          <p:nvPr/>
        </p:nvGraphicFramePr>
        <p:xfrm>
          <a:off x="310896" y="1325880"/>
          <a:ext cx="5989316" cy="5077429"/>
        </p:xfrm>
        <a:graphic>
          <a:graphicData uri="http://schemas.openxmlformats.org/drawingml/2006/table">
            <a:tbl>
              <a:tblPr firstRow="0" bandRow="0">
                <a:tableStyleId>{2D5ABB26-0587-4C30-8999-92F81FD0307C}</a:tableStyleId>
              </a:tblPr>
              <a:tblGrid>
                <a:gridCol w="1769498"/>
                <a:gridCol w="819741"/>
                <a:gridCol w="586865"/>
                <a:gridCol w="819741"/>
                <a:gridCol w="586865"/>
                <a:gridCol w="819741"/>
                <a:gridCol w="58686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00" b="0" i="0" dirty="0">
                          <a:solidFill>
                            <a:srgbClr val="000000"/>
                          </a:solidFill>
                          <a:latin typeface="游ゴシック"/>
                          <a:ea typeface="游ゴシック"/>
                        </a:rPr>
                        <a:t>(単位：千円)</a:t>
                      </a:r>
                      <a:endParaRPr lang="ja-JP" altLang="en-US" sz="8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60020">
                <a:tc rowSpan="2">
                  <a:txBody>
                    <a:bodyPr/>
                    <a:lstStyle/>
                    <a:p>
                      <a:pPr algn="ctr" fontAlgn="ctr"/>
                      <a:r>
                        <a:rPr lang="ja-JP" altLang="en-US" sz="800" b="0" i="0" dirty="0">
                          <a:solidFill>
                            <a:srgbClr val="FFFFFF"/>
                          </a:solidFill>
                          <a:latin typeface="游ゴシック"/>
                          <a:ea typeface="游ゴシック"/>
                        </a:rPr>
                        <a:t>科目</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800" b="0" i="0" dirty="0">
                          <a:solidFill>
                            <a:srgbClr val="FFFFFF"/>
                          </a:solidFill>
                          <a:latin typeface="游ゴシック"/>
                          <a:ea typeface="游ゴシック"/>
                        </a:rPr>
                        <a:t>2024年3月期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800" b="0" i="0" dirty="0">
                          <a:solidFill>
                            <a:srgbClr val="FFFFFF"/>
                          </a:solidFill>
                          <a:latin typeface="游ゴシック"/>
                          <a:ea typeface="游ゴシック"/>
                        </a:rPr>
                        <a:t>2025年3月期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800" b="0" i="0" dirty="0">
                          <a:solidFill>
                            <a:srgbClr val="FFFFFF"/>
                          </a:solidFill>
                          <a:latin typeface="游ゴシック"/>
                          <a:ea typeface="游ゴシック"/>
                        </a:rPr>
                        <a:t>2026年3月期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60020">
                <a:tc v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0" i="0" dirty="0">
                          <a:solidFill>
                            <a:srgbClr val="000000"/>
                          </a:solidFill>
                          <a:latin typeface="游ゴシック"/>
                          <a:ea typeface="游ゴシック"/>
                        </a:rPr>
                        <a:t>　商品売上高</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1,179,974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1,183,309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1,197,530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売上割戻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△1,485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△1,361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△1,637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売上高</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1,178,489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1,181,947</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1,195,893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期首棚卸高</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15,470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9,860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15,444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当期仕入高</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953,298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976,236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82.6%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996,035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83.3%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期末棚卸高</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△9,860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△15,444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△14,597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売上原価</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958,909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81.4%</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970,652</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82.1%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996,882</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83.4%</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000000"/>
                          </a:solidFill>
                          <a:latin typeface="游ゴシック"/>
                          <a:ea typeface="游ゴシック"/>
                        </a:rPr>
                        <a:t>売上総利益</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219,580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18.6%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211,296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17.9%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199,011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16.6%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000000"/>
                          </a:solidFill>
                          <a:latin typeface="游ゴシック"/>
                          <a:ea typeface="游ゴシック"/>
                        </a:rPr>
                        <a:t>販売費及び一般管理費</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214,823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18.2%</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215,718</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18.3%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193,151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16.2%</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FFFFFF"/>
                          </a:solidFill>
                          <a:latin typeface="游ゴシック"/>
                          <a:ea typeface="游ゴシック"/>
                        </a:rPr>
                        <a:t>営業利益</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4,757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0.4%</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△4,423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△0.4%</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5,860</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0.5%</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0" i="0" dirty="0">
                          <a:solidFill>
                            <a:srgbClr val="000000"/>
                          </a:solidFill>
                          <a:latin typeface="游ゴシック"/>
                          <a:ea typeface="游ゴシック"/>
                        </a:rPr>
                        <a:t>　受取利息</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267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受取配当金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受取奨励金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2,284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2,407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2,513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受取延滞料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雑収入</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8,142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8,067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3,670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営業外収益計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10,628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10,737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6,578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0" i="0" dirty="0">
                          <a:solidFill>
                            <a:srgbClr val="000000"/>
                          </a:solidFill>
                          <a:latin typeface="游ゴシック"/>
                          <a:ea typeface="游ゴシック"/>
                        </a:rPr>
                        <a:t>　支払利息</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3,962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4,041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3,896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出荷奨励金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雑損失</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379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営業外費用計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4,068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4,133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4,370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1" i="0" dirty="0">
                          <a:solidFill>
                            <a:srgbClr val="FFFFFF"/>
                          </a:solidFill>
                          <a:latin typeface="游ゴシック"/>
                          <a:ea typeface="游ゴシック"/>
                        </a:rPr>
                        <a:t>経常利益</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11,317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1.0%</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2,181</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8,068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0" i="0" dirty="0">
                          <a:solidFill>
                            <a:srgbClr val="000000"/>
                          </a:solidFill>
                          <a:latin typeface="游ゴシック"/>
                          <a:ea typeface="游ゴシック"/>
                        </a:rPr>
                        <a:t>　固定資産売却益</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1,711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1,609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貸倒引当金戻入</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176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特別利益計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1,887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1,846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0" i="0" dirty="0">
                          <a:solidFill>
                            <a:srgbClr val="000000"/>
                          </a:solidFill>
                          <a:latin typeface="游ゴシック"/>
                          <a:ea typeface="游ゴシック"/>
                        </a:rPr>
                        <a:t>　固定資産売却除却損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貸倒引当金繰入</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前期損益修正損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20,900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特別損失計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439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21,103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1" i="0" dirty="0">
                          <a:solidFill>
                            <a:srgbClr val="000000"/>
                          </a:solidFill>
                          <a:latin typeface="游ゴシック"/>
                          <a:ea typeface="游ゴシック"/>
                        </a:rPr>
                        <a:t>税引前当期純利益</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12,765</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3,793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0.3%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△12,801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法人税等</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3,658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864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2,283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FFFFFF"/>
                          </a:solidFill>
                          <a:latin typeface="游ゴシック"/>
                          <a:ea typeface="游ゴシック"/>
                        </a:rPr>
                        <a:t>当期純利益</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9,107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2,929</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△15,085</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spTree>
    <p:extLst>
      <p:ext uri="{BB962C8B-B14F-4D97-AF65-F5344CB8AC3E}">
        <p14:creationId xmlns:p14="http://schemas.microsoft.com/office/powerpoint/2010/main" val="3740942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販管費は約2億円で、人件費（約105百万円）と運賃・車両関連費（約39百万円）が中心。</a:t>
            </a:r>
          </a:p>
        </p:txBody>
      </p:sp>
      <p:sp>
        <p:nvSpPr>
          <p:cNvPr id="2" name="正方形/長方形 1">
            <a:extLst>
              <a:ext uri="{FF2B5EF4-FFF2-40B4-BE49-F238E27FC236}">
                <a16:creationId xmlns:a16="http://schemas.microsoft.com/office/drawing/2014/main" id="{CBEBB478-5E89-4238-4A34-967912E35C60}"/>
              </a:ext>
            </a:extLst>
          </p:cNvPr>
          <p:cNvSpPr/>
          <p:nvPr/>
        </p:nvSpPr>
        <p:spPr>
          <a:xfrm>
            <a:off x="6455664" y="1371600"/>
            <a:ext cx="3922776" cy="557784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3" name="テキスト ボックス 2">
            <a:extLst>
              <a:ext uri="{FF2B5EF4-FFF2-40B4-BE49-F238E27FC236}">
                <a16:creationId xmlns:a16="http://schemas.microsoft.com/office/drawing/2014/main" id="{6BA87817-38E4-3F47-34EB-C9702B87B984}"/>
              </a:ext>
            </a:extLst>
          </p:cNvPr>
          <p:cNvSpPr txBox="1"/>
          <p:nvPr/>
        </p:nvSpPr>
        <p:spPr>
          <a:xfrm>
            <a:off x="6455664" y="1920240"/>
            <a:ext cx="3895344" cy="493776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≪人件費≫</a:t>
            </a:r>
          </a:p>
          <a:p>
            <a:pPr>
              <a:spcAft>
                <a:spcPts val="300"/>
              </a:spcAft>
            </a:pPr>
            <a:r>
              <a:rPr lang="ja-JP" altLang="en-US" sz="900" b="0" dirty="0">
                <a:solidFill>
                  <a:sysClr val="windowText" lastClr="000000"/>
                </a:solidFill>
                <a:latin typeface="游ゴシック"/>
                <a:ea typeface="游ゴシック"/>
              </a:rPr>
              <a:t>・役員報酬は22,200→15,360千円に減少。賞与規定はなく業績に応じて支給（2026/3期は支給なし）。足元は人件費を削減。</a:t>
            </a:r>
          </a:p>
          <a:p>
            <a:pPr>
              <a:spcAft>
                <a:spcPts val="300"/>
              </a:spcAft>
            </a:pPr>
            <a:r>
              <a:rPr lang="ja-JP" altLang="en-US" sz="900" b="0" dirty="0">
                <a:solidFill>
                  <a:sysClr val="windowText" lastClr="000000"/>
                </a:solidFill>
                <a:latin typeface="游ゴシック"/>
                <a:ea typeface="游ゴシック"/>
              </a:rPr>
              <a:t>・退職金は中退共・商工会議所経由の保険で簿外積立。</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≪運賃・車両関連費≫</a:t>
            </a:r>
          </a:p>
          <a:p>
            <a:pPr>
              <a:spcAft>
                <a:spcPts val="300"/>
              </a:spcAft>
            </a:pPr>
            <a:r>
              <a:rPr lang="ja-JP" altLang="en-US" sz="900" b="0" dirty="0">
                <a:solidFill>
                  <a:sysClr val="windowText" lastClr="000000"/>
                </a:solidFill>
                <a:latin typeface="游ゴシック"/>
                <a:ea typeface="游ゴシック"/>
              </a:rPr>
              <a:t>・自社配送に伴う費用（東京向け出荷等の一部のみ外部運送）。車両は償却済みで、リース（年約6百万円）を利用。</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≪租税公課≫</a:t>
            </a:r>
          </a:p>
          <a:p>
            <a:pPr>
              <a:spcAft>
                <a:spcPts val="300"/>
              </a:spcAft>
            </a:pPr>
            <a:r>
              <a:rPr lang="ja-JP" altLang="en-US" sz="900" b="0" dirty="0">
                <a:solidFill>
                  <a:sysClr val="windowText" lastClr="000000"/>
                </a:solidFill>
                <a:latin typeface="游ゴシック"/>
                <a:ea typeface="游ゴシック"/>
              </a:rPr>
              <a:t>・消費税は税込経理のため、納付消費税相当が租税公課に含まれる。</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≪減価償却費≫</a:t>
            </a:r>
          </a:p>
          <a:p>
            <a:pPr>
              <a:spcAft>
                <a:spcPts val="300"/>
              </a:spcAft>
            </a:pPr>
            <a:r>
              <a:rPr lang="ja-JP" altLang="en-US" sz="900" b="0" dirty="0">
                <a:solidFill>
                  <a:sysClr val="windowText" lastClr="000000"/>
                </a:solidFill>
                <a:latin typeface="游ゴシック"/>
                <a:ea typeface="游ゴシック"/>
              </a:rPr>
              <a:t>・13,664→8,879千円へ減少（車両等の償却終了）。</a:t>
            </a:r>
          </a:p>
        </p:txBody>
      </p:sp>
      <p:graphicFrame>
        <p:nvGraphicFramePr>
          <p:cNvPr id="14" name="表（販管費!B4:H34）"/>
          <p:cNvGraphicFramePr>
            <a:graphicFrameLocks noGrp="1"/>
          </p:cNvGraphicFramePr>
          <p:nvPr/>
        </p:nvGraphicFramePr>
        <p:xfrm>
          <a:off x="310896" y="1325880"/>
          <a:ext cx="5989316" cy="4635472"/>
        </p:xfrm>
        <a:graphic>
          <a:graphicData uri="http://schemas.openxmlformats.org/drawingml/2006/table">
            <a:tbl>
              <a:tblPr firstRow="0" bandRow="0">
                <a:tableStyleId>{2D5ABB26-0587-4C30-8999-92F81FD0307C}</a:tableStyleId>
              </a:tblPr>
              <a:tblGrid>
                <a:gridCol w="1769498"/>
                <a:gridCol w="819741"/>
                <a:gridCol w="586865"/>
                <a:gridCol w="819741"/>
                <a:gridCol w="586865"/>
                <a:gridCol w="819741"/>
                <a:gridCol w="58686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00" b="0" i="0" dirty="0">
                          <a:solidFill>
                            <a:srgbClr val="000000"/>
                          </a:solidFill>
                          <a:latin typeface="游ゴシック"/>
                          <a:ea typeface="游ゴシック"/>
                        </a:rPr>
                        <a:t>(単位：千円)</a:t>
                      </a:r>
                      <a:endParaRPr lang="ja-JP" altLang="en-US" sz="8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60020">
                <a:tc rowSpan="2">
                  <a:txBody>
                    <a:bodyPr/>
                    <a:lstStyle/>
                    <a:p>
                      <a:pPr algn="ctr" fontAlgn="ctr"/>
                      <a:r>
                        <a:rPr lang="ja-JP" altLang="en-US" sz="800" b="0" i="0" dirty="0">
                          <a:solidFill>
                            <a:srgbClr val="FFFFFF"/>
                          </a:solidFill>
                          <a:latin typeface="游ゴシック"/>
                          <a:ea typeface="游ゴシック"/>
                        </a:rPr>
                        <a:t>科目</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800" b="0" i="0" dirty="0">
                          <a:solidFill>
                            <a:srgbClr val="FFFFFF"/>
                          </a:solidFill>
                          <a:latin typeface="游ゴシック"/>
                          <a:ea typeface="游ゴシック"/>
                        </a:rPr>
                        <a:t>2024年3月期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800" b="0" i="0" dirty="0">
                          <a:solidFill>
                            <a:srgbClr val="FFFFFF"/>
                          </a:solidFill>
                          <a:latin typeface="游ゴシック"/>
                          <a:ea typeface="游ゴシック"/>
                        </a:rPr>
                        <a:t>2025年3月期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800" b="0" i="0" dirty="0">
                          <a:solidFill>
                            <a:srgbClr val="FFFFFF"/>
                          </a:solidFill>
                          <a:latin typeface="游ゴシック"/>
                          <a:ea typeface="游ゴシック"/>
                        </a:rPr>
                        <a:t>2026年3月期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60020">
                <a:tc v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0" i="0" dirty="0">
                          <a:solidFill>
                            <a:srgbClr val="000000"/>
                          </a:solidFill>
                          <a:latin typeface="游ゴシック"/>
                          <a:ea typeface="游ゴシック"/>
                        </a:rPr>
                        <a:t>　役員報酬</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22,200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22,200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15,360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給料手当</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73,148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74,179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71,673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賞与</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6,002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5,693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退職金共済掛金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3,175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3,166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3,026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退職金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356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747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法定福利費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15,154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14,913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13,296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福利厚生費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595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広告宣伝費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旅費交通費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45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通信費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1,435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1,143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1,192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車両関連費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8,475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10,126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9,862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運賃</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27,547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29,494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28,997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振込手数料負担金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123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委託手数料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3,709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3,539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4,075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接待交際費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3,475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2,486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1,580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水道光熱費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4,424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4,701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4,685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消耗品費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租税公課</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14,465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12,814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12,177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支払手数料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1,546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1,527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諸会費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181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寄付金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リース料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4,712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6,711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6,227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支払保険料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2,772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1,431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1,542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修繕費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1,170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事務用消耗品費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2,033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1,935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2,336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減価償却費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13,664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12,558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8,879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雑費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4,522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4,393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4,690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FFFFFF"/>
                          </a:solidFill>
                          <a:latin typeface="游ゴシック"/>
                          <a:ea typeface="游ゴシック"/>
                        </a:rPr>
                        <a:t>販売費及び一般管理費 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214,823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18.2%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215,718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18.3%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193,151</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16.2%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spTree>
    <p:extLst>
      <p:ext uri="{BB962C8B-B14F-4D97-AF65-F5344CB8AC3E}">
        <p14:creationId xmlns:p14="http://schemas.microsoft.com/office/powerpoint/2010/main" val="1909380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spTree>
    <p:extLst>
      <p:ext uri="{BB962C8B-B14F-4D97-AF65-F5344CB8AC3E}">
        <p14:creationId xmlns:p14="http://schemas.microsoft.com/office/powerpoint/2010/main" val="3413023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1973年の設立以来、鶴岡市宝田を拠点に青果物卸売を継続。施設の改修を重ねながら市場を運営している。</a:t>
            </a:r>
          </a:p>
        </p:txBody>
      </p:sp>
      <p:graphicFrame>
        <p:nvGraphicFramePr>
          <p:cNvPr id="14" name="表（沿革!B4:C15）"/>
          <p:cNvGraphicFramePr>
            <a:graphicFrameLocks noGrp="1"/>
          </p:cNvGraphicFramePr>
          <p:nvPr/>
        </p:nvGraphicFramePr>
        <p:xfrm>
          <a:off x="448056" y="1463040"/>
          <a:ext cx="9793223" cy="4025900"/>
        </p:xfrm>
        <a:graphic>
          <a:graphicData uri="http://schemas.openxmlformats.org/drawingml/2006/table">
            <a:tbl>
              <a:tblPr firstRow="0" bandRow="0">
                <a:tableStyleId>{2D5ABB26-0587-4C30-8999-92F81FD0307C}</a:tableStyleId>
              </a:tblPr>
              <a:tblGrid>
                <a:gridCol w="1784772"/>
                <a:gridCol w="8008451"/>
              </a:tblGrid>
              <a:tr h="254000">
                <a:tc>
                  <a:txBody>
                    <a:bodyPr/>
                    <a:lstStyle/>
                    <a:p>
                      <a:pPr algn="ctr" fontAlgn="ctr"/>
                      <a:r>
                        <a:rPr lang="ja-JP" altLang="en-US" sz="1000" b="0" i="0" dirty="0">
                          <a:solidFill>
                            <a:srgbClr val="FFFFFF"/>
                          </a:solidFill>
                          <a:latin typeface="游ゴシック"/>
                          <a:ea typeface="游ゴシック"/>
                        </a:rPr>
                        <a:t>年月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主な出来事</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42900">
                <a:tc>
                  <a:txBody>
                    <a:bodyPr/>
                    <a:lstStyle/>
                    <a:p>
                      <a:pPr algn="l" fontAlgn="ctr"/>
                      <a:r>
                        <a:rPr lang="ja-JP" altLang="en-US" sz="1050" b="0" i="0" dirty="0">
                          <a:solidFill>
                            <a:srgbClr val="000000"/>
                          </a:solidFill>
                          <a:latin typeface="游ゴシック"/>
                          <a:ea typeface="游ゴシック"/>
                        </a:rPr>
                        <a:t>1973年11月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株式会社鶴岡中央青果を設立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1981〜82年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現本社地（宝田一丁目）に事務所・市場・倉庫・パッケージ場（事務所兼倉庫）を建築</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1984年11月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住居表示の実施により本店所在地の表記が「鶴岡市宝田一丁目4番20号」となる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要確認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地方卸売市場としての開設・認定（山形県資料に記載あり。年月は要確認）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2006年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会社法施行に伴い取締役会設置会社・監査役設置会社の登記</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2012年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定款の目的を変更（現行：青果物の販売及び卸売、倉庫業ほか）。宝田一丁目5-1に倉庫（鉄骨造139㎡）を新築</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2019年10月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受託販売の会計表示を総額から純額（受託手数料のみ）へ変更</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2025年5月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資材倉庫の外壁・シャッターを改修</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2026年5月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役員改選（取締役3名重任、常務取締役退任）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時期要確認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鶴岡市内のもう1社の青果市場が解散し、市内で唯一の青果市場となる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時期要確認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庄内町長沼の倉庫を老朽化により解体（跡地は駐車場として賃貸）</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5" name="TextBox 14"/>
          <p:cNvSpPr txBox="1"/>
          <p:nvPr/>
        </p:nvSpPr>
        <p:spPr>
          <a:xfrm>
            <a:off x="448056" y="5580380"/>
            <a:ext cx="9793224"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※出所：履歴事項全部証明書、固定資産税課税明細書、個別注記表、固定資産内訳書、山形県公表資料。創業の経緯・代表者の経歴は売主様へ確認中。</a:t>
            </a:r>
          </a:p>
        </p:txBody>
      </p:sp>
    </p:spTree>
    <p:extLst>
      <p:ext uri="{BB962C8B-B14F-4D97-AF65-F5344CB8AC3E}">
        <p14:creationId xmlns:p14="http://schemas.microsoft.com/office/powerpoint/2010/main" val="391401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7509-A147-F771-4D5B-58FD19177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98C8B8-8318-9D2C-71AB-4A0772618FCB}"/>
              </a:ext>
            </a:extLst>
          </p:cNvPr>
          <p:cNvSpPr>
            <a:spLocks noGrp="1"/>
          </p:cNvSpPr>
          <p:nvPr>
            <p:ph type="ctrTitle"/>
          </p:nvPr>
        </p:nvSpPr>
        <p:spPr>
          <a:xfrm>
            <a:off x="311150" y="180296"/>
            <a:ext cx="7799917" cy="339267"/>
          </a:xfrm>
        </p:spPr>
        <p:txBody>
          <a:bodyPr>
            <a:normAutofit/>
          </a:bodyPr>
          <a:lstStyle/>
          <a:p>
            <a:r>
              <a:rPr lang="ja-JP" altLang="en-US" dirty="0"/>
              <a:t>事業概要</a:t>
            </a:r>
          </a:p>
        </p:txBody>
      </p:sp>
      <p:sp>
        <p:nvSpPr>
          <p:cNvPr id="5" name="タイトル 1">
            <a:extLst>
              <a:ext uri="{FF2B5EF4-FFF2-40B4-BE49-F238E27FC236}">
                <a16:creationId xmlns:a16="http://schemas.microsoft.com/office/drawing/2014/main" id="{3612E327-1829-4D56-4AD9-5013C3211CE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エグゼクティブサマリー</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96CF066E-37EF-5081-6153-116AC130DDF9}"/>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鶴岡市内唯一の青果物地方卸売市場を自ら運営する「開設者兼卸売業者」。農家の持込を原則全量受け入れる集荷力を持ち、セリ・相対による卸売から小分け・包装、配送まで一貫して担う。</a:t>
            </a:r>
          </a:p>
        </p:txBody>
      </p:sp>
      <p:sp>
        <p:nvSpPr>
          <p:cNvPr id="14" name="TextBox 13"/>
          <p:cNvSpPr txBox="1"/>
          <p:nvPr/>
        </p:nvSpPr>
        <p:spPr>
          <a:xfrm>
            <a:off x="310896" y="1536192"/>
            <a:ext cx="6309360" cy="274320"/>
          </a:xfrm>
          <a:prstGeom prst="rect">
            <a:avLst/>
          </a:prstGeom>
          <a:noFill/>
        </p:spPr>
        <p:txBody>
          <a:bodyPr wrap="square" lIns="0" rIns="0" tIns="0" bIns="0" anchor="t">
            <a:spAutoFit/>
          </a:bodyPr>
          <a:lstStyle/>
          <a:p>
            <a:pPr algn="l"/>
            <a:r>
              <a:rPr sz="1100" b="1">
                <a:solidFill>
                  <a:srgbClr val="0B3041"/>
                </a:solidFill>
                <a:latin typeface="游ゴシック"/>
                <a:ea typeface="游ゴシック"/>
              </a:rPr>
              <a:t>■ 事業フロー</a:t>
            </a:r>
          </a:p>
        </p:txBody>
      </p:sp>
      <p:sp>
        <p:nvSpPr>
          <p:cNvPr id="15" name="Rectangle 14"/>
          <p:cNvSpPr/>
          <p:nvPr/>
        </p:nvSpPr>
        <p:spPr>
          <a:xfrm>
            <a:off x="310896"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集荷・仕入</a:t>
            </a:r>
          </a:p>
        </p:txBody>
      </p:sp>
      <p:sp>
        <p:nvSpPr>
          <p:cNvPr id="16" name="Rectangle 15"/>
          <p:cNvSpPr/>
          <p:nvPr/>
        </p:nvSpPr>
        <p:spPr>
          <a:xfrm>
            <a:off x="310896"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農家の持込（30〜40%）</a:t>
            </a:r>
          </a:p>
          <a:p>
            <a:pPr algn="ctr"/>
            <a:r>
              <a:rPr sz="850" b="0">
                <a:solidFill>
                  <a:srgbClr val="000000"/>
                </a:solidFill>
                <a:latin typeface="游ゴシック"/>
                <a:ea typeface="游ゴシック"/>
              </a:rPr>
              <a:t>当社による集荷（残り）</a:t>
            </a:r>
          </a:p>
          <a:p>
            <a:pPr algn="ctr"/>
            <a:r>
              <a:rPr sz="850" b="0">
                <a:solidFill>
                  <a:srgbClr val="000000"/>
                </a:solidFill>
                <a:latin typeface="游ゴシック"/>
                <a:ea typeface="游ゴシック"/>
              </a:rPr>
              <a:t>県内外の市場からの仕入</a:t>
            </a:r>
          </a:p>
        </p:txBody>
      </p:sp>
      <p:cxnSp>
        <p:nvCxnSpPr>
          <p:cNvPr id="17" name="Connector 16"/>
          <p:cNvCxnSpPr/>
          <p:nvPr/>
        </p:nvCxnSpPr>
        <p:spPr>
          <a:xfrm>
            <a:off x="1700784" y="1975104"/>
            <a:ext cx="192023"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911095"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卸売</a:t>
            </a:r>
          </a:p>
        </p:txBody>
      </p:sp>
      <p:sp>
        <p:nvSpPr>
          <p:cNvPr id="19" name="Rectangle 18"/>
          <p:cNvSpPr/>
          <p:nvPr/>
        </p:nvSpPr>
        <p:spPr>
          <a:xfrm>
            <a:off x="1911095"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セリ・相対による販売</a:t>
            </a:r>
          </a:p>
          <a:p>
            <a:pPr algn="ctr"/>
            <a:r>
              <a:rPr sz="850" b="0">
                <a:solidFill>
                  <a:srgbClr val="000000"/>
                </a:solidFill>
                <a:latin typeface="游ゴシック"/>
                <a:ea typeface="游ゴシック"/>
              </a:rPr>
              <a:t>（仲卸業者・買参人）</a:t>
            </a:r>
          </a:p>
          <a:p>
            <a:pPr algn="ctr"/>
            <a:r>
              <a:rPr sz="850" b="0">
                <a:solidFill>
                  <a:srgbClr val="000000"/>
                </a:solidFill>
                <a:latin typeface="游ゴシック"/>
                <a:ea typeface="游ゴシック"/>
              </a:rPr>
              <a:t>量販店等への直接販売</a:t>
            </a:r>
          </a:p>
        </p:txBody>
      </p:sp>
      <p:cxnSp>
        <p:nvCxnSpPr>
          <p:cNvPr id="20" name="Connector 19"/>
          <p:cNvCxnSpPr/>
          <p:nvPr/>
        </p:nvCxnSpPr>
        <p:spPr>
          <a:xfrm>
            <a:off x="3300984" y="1975104"/>
            <a:ext cx="192024"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511296"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パッケージ</a:t>
            </a:r>
          </a:p>
        </p:txBody>
      </p:sp>
      <p:sp>
        <p:nvSpPr>
          <p:cNvPr id="22" name="Rectangle 21"/>
          <p:cNvSpPr/>
          <p:nvPr/>
        </p:nvSpPr>
        <p:spPr>
          <a:xfrm>
            <a:off x="3511296"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小分け・包装</a:t>
            </a:r>
          </a:p>
          <a:p>
            <a:pPr algn="ctr"/>
            <a:r>
              <a:rPr sz="850" b="0">
                <a:solidFill>
                  <a:srgbClr val="000000"/>
                </a:solidFill>
                <a:latin typeface="游ゴシック"/>
                <a:ea typeface="游ゴシック"/>
              </a:rPr>
              <a:t>（パッケージ部7名）</a:t>
            </a:r>
          </a:p>
        </p:txBody>
      </p:sp>
      <p:cxnSp>
        <p:nvCxnSpPr>
          <p:cNvPr id="23" name="Connector 22"/>
          <p:cNvCxnSpPr/>
          <p:nvPr/>
        </p:nvCxnSpPr>
        <p:spPr>
          <a:xfrm>
            <a:off x="4901183" y="1975104"/>
            <a:ext cx="192025"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111496"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配送・センター</a:t>
            </a:r>
          </a:p>
        </p:txBody>
      </p:sp>
      <p:sp>
        <p:nvSpPr>
          <p:cNvPr id="25" name="Rectangle 24"/>
          <p:cNvSpPr/>
          <p:nvPr/>
        </p:nvSpPr>
        <p:spPr>
          <a:xfrm>
            <a:off x="5111496"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集配部による自社配送</a:t>
            </a:r>
          </a:p>
          <a:p>
            <a:pPr algn="ctr"/>
            <a:r>
              <a:rPr sz="850" b="0">
                <a:solidFill>
                  <a:srgbClr val="000000"/>
                </a:solidFill>
                <a:latin typeface="游ゴシック"/>
                <a:ea typeface="游ゴシック"/>
              </a:rPr>
              <a:t>主婦の店の配送受託</a:t>
            </a:r>
          </a:p>
          <a:p>
            <a:pPr algn="ctr"/>
            <a:r>
              <a:rPr sz="850" b="0">
                <a:solidFill>
                  <a:srgbClr val="000000"/>
                </a:solidFill>
                <a:latin typeface="游ゴシック"/>
                <a:ea typeface="游ゴシック"/>
              </a:rPr>
              <a:t>（センター費）</a:t>
            </a:r>
          </a:p>
        </p:txBody>
      </p:sp>
      <p:sp>
        <p:nvSpPr>
          <p:cNvPr id="26" name="TextBox 25"/>
          <p:cNvSpPr txBox="1"/>
          <p:nvPr/>
        </p:nvSpPr>
        <p:spPr>
          <a:xfrm>
            <a:off x="310896" y="3246120"/>
            <a:ext cx="6309360" cy="274320"/>
          </a:xfrm>
          <a:prstGeom prst="rect">
            <a:avLst/>
          </a:prstGeom>
          <a:noFill/>
        </p:spPr>
        <p:txBody>
          <a:bodyPr wrap="square" lIns="0" rIns="0" tIns="0" bIns="0" anchor="t">
            <a:spAutoFit/>
          </a:bodyPr>
          <a:lstStyle/>
          <a:p>
            <a:pPr algn="l"/>
            <a:r>
              <a:rPr sz="1100" b="1">
                <a:solidFill>
                  <a:srgbClr val="0B3041"/>
                </a:solidFill>
                <a:latin typeface="游ゴシック"/>
                <a:ea typeface="游ゴシック"/>
              </a:rPr>
              <a:t>■ 主な取扱品目・機能</a:t>
            </a:r>
          </a:p>
        </p:txBody>
      </p:sp>
      <p:sp>
        <p:nvSpPr>
          <p:cNvPr id="27" name="Rectangle 26"/>
          <p:cNvSpPr/>
          <p:nvPr/>
        </p:nvSpPr>
        <p:spPr>
          <a:xfrm>
            <a:off x="310896" y="356616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野菜</a:t>
            </a:r>
          </a:p>
          <a:p>
            <a:pPr algn="l"/>
            <a:r>
              <a:rPr sz="900" b="0">
                <a:solidFill>
                  <a:srgbClr val="000000"/>
                </a:solidFill>
                <a:latin typeface="游ゴシック"/>
                <a:ea typeface="游ゴシック"/>
              </a:rPr>
              <a:t>近郷部・野菜営業部が担当。地場野菜（だだちゃ豆等）を含む</a:t>
            </a:r>
          </a:p>
        </p:txBody>
      </p:sp>
      <p:sp>
        <p:nvSpPr>
          <p:cNvPr id="28" name="Rectangle 27"/>
          <p:cNvSpPr/>
          <p:nvPr/>
        </p:nvSpPr>
        <p:spPr>
          <a:xfrm>
            <a:off x="3511296" y="356616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果実</a:t>
            </a:r>
          </a:p>
          <a:p>
            <a:pPr algn="l"/>
            <a:r>
              <a:rPr sz="900" b="0">
                <a:solidFill>
                  <a:srgbClr val="000000"/>
                </a:solidFill>
                <a:latin typeface="游ゴシック"/>
                <a:ea typeface="游ゴシック"/>
              </a:rPr>
              <a:t>果実営業部が担当。庄内柿・和梨・さくらんぼ・メロン・シャインマスカット等</a:t>
            </a:r>
          </a:p>
        </p:txBody>
      </p:sp>
      <p:sp>
        <p:nvSpPr>
          <p:cNvPr id="29" name="Rectangle 28"/>
          <p:cNvSpPr/>
          <p:nvPr/>
        </p:nvSpPr>
        <p:spPr>
          <a:xfrm>
            <a:off x="310896" y="434340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生花</a:t>
            </a:r>
          </a:p>
          <a:p>
            <a:pPr algn="l"/>
            <a:r>
              <a:rPr sz="900" b="0">
                <a:solidFill>
                  <a:srgbClr val="000000"/>
                </a:solidFill>
                <a:latin typeface="游ゴシック"/>
                <a:ea typeface="游ゴシック"/>
              </a:rPr>
              <a:t>生花部（1名）による取扱い</a:t>
            </a:r>
          </a:p>
        </p:txBody>
      </p:sp>
      <p:sp>
        <p:nvSpPr>
          <p:cNvPr id="30" name="Rectangle 29"/>
          <p:cNvSpPr/>
          <p:nvPr/>
        </p:nvSpPr>
        <p:spPr>
          <a:xfrm>
            <a:off x="3511296" y="434340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資材</a:t>
            </a:r>
          </a:p>
          <a:p>
            <a:pPr algn="l"/>
            <a:r>
              <a:rPr sz="900" b="0">
                <a:solidFill>
                  <a:srgbClr val="000000"/>
                </a:solidFill>
                <a:latin typeface="游ゴシック"/>
                <a:ea typeface="游ゴシック"/>
              </a:rPr>
              <a:t>資材部が担当。パック・容器等（約8割は自社利用。肥料はほぼ取扱いなし）</a:t>
            </a:r>
          </a:p>
        </p:txBody>
      </p:sp>
      <p:sp>
        <p:nvSpPr>
          <p:cNvPr id="31" name="TextBox 30"/>
          <p:cNvSpPr txBox="1"/>
          <p:nvPr/>
        </p:nvSpPr>
        <p:spPr>
          <a:xfrm>
            <a:off x="310896" y="5166360"/>
            <a:ext cx="6309360"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※取扱品目の構成比は資料依頼中。入荷構成・手数料率等は代表者ヒアリングによる。</a:t>
            </a:r>
          </a:p>
        </p:txBody>
      </p:sp>
      <p:sp>
        <p:nvSpPr>
          <p:cNvPr id="32" name="Rectangle 31"/>
          <p:cNvSpPr/>
          <p:nvPr/>
        </p:nvSpPr>
        <p:spPr>
          <a:xfrm>
            <a:off x="6812280" y="1536192"/>
            <a:ext cx="3566160" cy="32004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FFFFFF"/>
                </a:solidFill>
                <a:latin typeface="游ゴシック"/>
                <a:ea typeface="游ゴシック"/>
              </a:rPr>
              <a:t>主な事業・サービス</a:t>
            </a:r>
          </a:p>
        </p:txBody>
      </p:sp>
      <p:sp>
        <p:nvSpPr>
          <p:cNvPr id="33" name="Rectangle 32"/>
          <p:cNvSpPr/>
          <p:nvPr/>
        </p:nvSpPr>
        <p:spPr>
          <a:xfrm>
            <a:off x="6812280" y="1938528"/>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1</a:t>
            </a:r>
          </a:p>
        </p:txBody>
      </p:sp>
      <p:sp>
        <p:nvSpPr>
          <p:cNvPr id="34" name="TextBox 33"/>
          <p:cNvSpPr txBox="1"/>
          <p:nvPr/>
        </p:nvSpPr>
        <p:spPr>
          <a:xfrm>
            <a:off x="7269480" y="1938528"/>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青果物の卸売（買付販売）</a:t>
            </a:r>
          </a:p>
          <a:p>
            <a:pPr algn="l"/>
            <a:r>
              <a:rPr sz="900" b="0">
                <a:solidFill>
                  <a:srgbClr val="000000"/>
                </a:solidFill>
                <a:latin typeface="游ゴシック"/>
                <a:ea typeface="游ゴシック"/>
              </a:rPr>
              <a:t>野菜・果実を買い付け、仲卸業者・量販店等へ販売</a:t>
            </a:r>
          </a:p>
        </p:txBody>
      </p:sp>
      <p:sp>
        <p:nvSpPr>
          <p:cNvPr id="35" name="Rectangle 34"/>
          <p:cNvSpPr/>
          <p:nvPr/>
        </p:nvSpPr>
        <p:spPr>
          <a:xfrm>
            <a:off x="6812280" y="2788920"/>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2</a:t>
            </a:r>
          </a:p>
        </p:txBody>
      </p:sp>
      <p:sp>
        <p:nvSpPr>
          <p:cNvPr id="36" name="TextBox 35"/>
          <p:cNvSpPr txBox="1"/>
          <p:nvPr/>
        </p:nvSpPr>
        <p:spPr>
          <a:xfrm>
            <a:off x="7269480" y="2788920"/>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青果物の卸売（受託販売）</a:t>
            </a:r>
          </a:p>
          <a:p>
            <a:pPr algn="l"/>
            <a:r>
              <a:rPr sz="900" b="0">
                <a:solidFill>
                  <a:srgbClr val="000000"/>
                </a:solidFill>
                <a:latin typeface="游ゴシック"/>
                <a:ea typeface="游ゴシック"/>
              </a:rPr>
              <a:t>生産者の商品を預かり販売し、販売額の8.5%を手数料として収受</a:t>
            </a:r>
          </a:p>
        </p:txBody>
      </p:sp>
      <p:sp>
        <p:nvSpPr>
          <p:cNvPr id="37" name="Rectangle 36"/>
          <p:cNvSpPr/>
          <p:nvPr/>
        </p:nvSpPr>
        <p:spPr>
          <a:xfrm>
            <a:off x="6812280" y="3639312"/>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3</a:t>
            </a:r>
          </a:p>
        </p:txBody>
      </p:sp>
      <p:sp>
        <p:nvSpPr>
          <p:cNvPr id="38" name="TextBox 37"/>
          <p:cNvSpPr txBox="1"/>
          <p:nvPr/>
        </p:nvSpPr>
        <p:spPr>
          <a:xfrm>
            <a:off x="7269480" y="3639312"/>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パッケージ・配送</a:t>
            </a:r>
          </a:p>
          <a:p>
            <a:pPr algn="l"/>
            <a:r>
              <a:rPr sz="900" b="0">
                <a:solidFill>
                  <a:srgbClr val="000000"/>
                </a:solidFill>
                <a:latin typeface="游ゴシック"/>
                <a:ea typeface="游ゴシック"/>
              </a:rPr>
              <a:t>小分け・包装と自社配送。主婦の店の配送受託（配送額の約10%をセンター費として収受）</a:t>
            </a:r>
          </a:p>
        </p:txBody>
      </p:sp>
      <p:sp>
        <p:nvSpPr>
          <p:cNvPr id="39" name="Rectangle 38"/>
          <p:cNvSpPr/>
          <p:nvPr/>
        </p:nvSpPr>
        <p:spPr>
          <a:xfrm>
            <a:off x="6812280" y="4489704"/>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4</a:t>
            </a:r>
          </a:p>
        </p:txBody>
      </p:sp>
      <p:sp>
        <p:nvSpPr>
          <p:cNvPr id="40" name="TextBox 39"/>
          <p:cNvSpPr txBox="1"/>
          <p:nvPr/>
        </p:nvSpPr>
        <p:spPr>
          <a:xfrm>
            <a:off x="7269480" y="4489704"/>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資材販売</a:t>
            </a:r>
          </a:p>
          <a:p>
            <a:pPr algn="l"/>
            <a:r>
              <a:rPr sz="900" b="0">
                <a:solidFill>
                  <a:srgbClr val="000000"/>
                </a:solidFill>
                <a:latin typeface="游ゴシック"/>
                <a:ea typeface="游ゴシック"/>
              </a:rPr>
              <a:t>包装資材を生産者等へ販売（肥料はほぼ取扱いなし）</a:t>
            </a:r>
          </a:p>
        </p:txBody>
      </p:sp>
      <p:sp>
        <p:nvSpPr>
          <p:cNvPr id="41" name="Rectangle 40"/>
          <p:cNvSpPr/>
          <p:nvPr/>
        </p:nvSpPr>
        <p:spPr>
          <a:xfrm>
            <a:off x="310896" y="5532120"/>
            <a:ext cx="10058400" cy="10515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 y="5532120"/>
            <a:ext cx="1097280" cy="105156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游ゴシック"/>
                <a:ea typeface="游ゴシック"/>
              </a:rPr>
              <a:t>強み</a:t>
            </a:r>
          </a:p>
        </p:txBody>
      </p:sp>
      <p:sp>
        <p:nvSpPr>
          <p:cNvPr id="43" name="TextBox 42"/>
          <p:cNvSpPr txBox="1"/>
          <p:nvPr/>
        </p:nvSpPr>
        <p:spPr>
          <a:xfrm>
            <a:off x="1554480" y="5650992"/>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鶴岡市内唯一の青果市場（開設者兼卸売業者）</a:t>
            </a:r>
          </a:p>
        </p:txBody>
      </p:sp>
      <p:sp>
        <p:nvSpPr>
          <p:cNvPr id="44" name="TextBox 43"/>
          <p:cNvSpPr txBox="1"/>
          <p:nvPr/>
        </p:nvSpPr>
        <p:spPr>
          <a:xfrm>
            <a:off x="5989320" y="5650992"/>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農家の持込を原則全量受け入れる集荷力</a:t>
            </a:r>
          </a:p>
        </p:txBody>
      </p:sp>
      <p:sp>
        <p:nvSpPr>
          <p:cNvPr id="45" name="TextBox 44"/>
          <p:cNvSpPr txBox="1"/>
          <p:nvPr/>
        </p:nvSpPr>
        <p:spPr>
          <a:xfrm>
            <a:off x="1554480" y="6080759"/>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地元優先の分散した販路（過剰分は豊洲・他県へ）</a:t>
            </a:r>
          </a:p>
        </p:txBody>
      </p:sp>
      <p:sp>
        <p:nvSpPr>
          <p:cNvPr id="46" name="TextBox 45"/>
          <p:cNvSpPr txBox="1"/>
          <p:nvPr/>
        </p:nvSpPr>
        <p:spPr>
          <a:xfrm>
            <a:off x="5989320" y="6080759"/>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自社保有の市場施設とセリ人資格者3名</a:t>
            </a:r>
          </a:p>
        </p:txBody>
      </p:sp>
    </p:spTree>
    <p:extLst>
      <p:ext uri="{BB962C8B-B14F-4D97-AF65-F5344CB8AC3E}">
        <p14:creationId xmlns:p14="http://schemas.microsoft.com/office/powerpoint/2010/main" val="14828973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E5D56-7D5E-B85F-B7B1-659520F1133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E6BC784-35A2-FA39-F6DC-45D9CB3301D2}"/>
              </a:ext>
            </a:extLst>
          </p:cNvPr>
          <p:cNvSpPr>
            <a:spLocks noGrp="1"/>
          </p:cNvSpPr>
          <p:nvPr>
            <p:ph type="ctrTitle"/>
          </p:nvPr>
        </p:nvSpPr>
        <p:spPr>
          <a:xfrm>
            <a:off x="311150" y="180296"/>
            <a:ext cx="7799917" cy="339267"/>
          </a:xfrm>
        </p:spPr>
        <p:txBody>
          <a:bodyPr>
            <a:normAutofit/>
          </a:bodyPr>
          <a:lstStyle/>
          <a:p>
            <a:r>
              <a:rPr lang="ja-JP" altLang="en-US" dirty="0"/>
              <a:t>仕入・販売の仕組み</a:t>
            </a:r>
          </a:p>
        </p:txBody>
      </p:sp>
      <p:sp>
        <p:nvSpPr>
          <p:cNvPr id="5" name="タイトル 1">
            <a:extLst>
              <a:ext uri="{FF2B5EF4-FFF2-40B4-BE49-F238E27FC236}">
                <a16:creationId xmlns:a16="http://schemas.microsoft.com/office/drawing/2014/main" id="{8DAB018D-EC63-CB47-E5A5-25D667E4D34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事業概要</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8D56502D-3750-7017-6E60-6BF9CD0674B6}"/>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農家の持込を原則全量受け入れ、地元優先で販売し、過剰分は豊洲市場・他県へ出荷する。仕入価格は販売見積からの逆算と東京市場等の相場を併用して決めている。</a:t>
            </a:r>
          </a:p>
        </p:txBody>
      </p:sp>
      <p:sp>
        <p:nvSpPr>
          <p:cNvPr id="14" name="正方形/長方形 7">
            <a:extLst>
              <a:ext uri="{FF2B5EF4-FFF2-40B4-BE49-F238E27FC236}">
                <a16:creationId xmlns:a16="http://schemas.microsoft.com/office/drawing/2014/main" id="{CBD334A9-999C-ACD4-9DD2-EF961CBA0926}"/>
              </a:ext>
            </a:extLst>
          </p:cNvPr>
          <p:cNvSpPr/>
          <p:nvPr/>
        </p:nvSpPr>
        <p:spPr>
          <a:xfrm>
            <a:off x="310896" y="1463040"/>
            <a:ext cx="4937760" cy="338328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仕入（集荷）</a:t>
            </a:r>
            <a:endParaRPr kumimoji="1" lang="ja-JP" altLang="en-US" sz="1600" b="1" dirty="0">
              <a:solidFill>
                <a:schemeClr val="tx2"/>
              </a:solidFill>
              <a:latin typeface="+mj-lt"/>
              <a:ea typeface="+mj-ea"/>
            </a:endParaRPr>
          </a:p>
        </p:txBody>
      </p:sp>
      <p:sp>
        <p:nvSpPr>
          <p:cNvPr id="15" name="テキスト ボックス 8">
            <a:extLst>
              <a:ext uri="{FF2B5EF4-FFF2-40B4-BE49-F238E27FC236}">
                <a16:creationId xmlns:a16="http://schemas.microsoft.com/office/drawing/2014/main" id="{E5084622-1D6B-783F-80DE-6D9A498C7C12}"/>
              </a:ext>
            </a:extLst>
          </p:cNvPr>
          <p:cNvSpPr txBox="1"/>
          <p:nvPr/>
        </p:nvSpPr>
        <p:spPr>
          <a:xfrm>
            <a:off x="310896" y="1993392"/>
            <a:ext cx="4937760" cy="2807208"/>
          </a:xfrm>
          <a:prstGeom prst="rect">
            <a:avLst/>
          </a:prstGeom>
          <a:noFill/>
        </p:spPr>
        <p:txBody>
          <a:bodyPr wrap="square" lIns="288000" tIns="0" rIns="252000" bIns="0" rtlCol="0">
            <a:spAutoFit/>
          </a:bodyPr>
          <a:lstStyle/>
          <a:p>
            <a:pPr>
              <a:spcAft>
                <a:spcPts val="500"/>
              </a:spcAft>
            </a:pPr>
            <a:r>
              <a:rPr lang="ja-JP" altLang="en-US" sz="1050" b="1" dirty="0">
                <a:solidFill>
                  <a:sysClr val="windowText" lastClr="000000"/>
                </a:solidFill>
                <a:latin typeface="游ゴシック"/>
                <a:ea typeface="游ゴシック"/>
              </a:rPr>
              <a:t>≪集荷の方法≫</a:t>
            </a:r>
          </a:p>
          <a:p>
            <a:pPr>
              <a:spcAft>
                <a:spcPts val="500"/>
              </a:spcAft>
            </a:pPr>
            <a:r>
              <a:rPr lang="ja-JP" altLang="en-US" sz="1000" b="0" dirty="0">
                <a:solidFill>
                  <a:sysClr val="windowText" lastClr="000000"/>
                </a:solidFill>
                <a:latin typeface="游ゴシック"/>
                <a:ea typeface="游ゴシック"/>
              </a:rPr>
              <a:t>・入荷の30〜40%は農家の持込、残りは当社が集荷。農家からの持込は数量が多くても原則すべて受け入れる。</a:t>
            </a:r>
          </a:p>
          <a:p>
            <a:pPr>
              <a:spcAft>
                <a:spcPts val="500"/>
              </a:spcAft>
            </a:pPr>
            <a:r>
              <a:rPr lang="ja-JP" altLang="en-US" sz="1050" b="1" dirty="0">
                <a:solidFill>
                  <a:sysClr val="windowText" lastClr="000000"/>
                </a:solidFill>
                <a:latin typeface="游ゴシック"/>
                <a:ea typeface="游ゴシック"/>
              </a:rPr>
              <a:t>≪仕入価格の決め方≫</a:t>
            </a:r>
          </a:p>
          <a:p>
            <a:pPr>
              <a:spcAft>
                <a:spcPts val="500"/>
              </a:spcAft>
            </a:pPr>
            <a:r>
              <a:rPr lang="ja-JP" altLang="en-US" sz="1000" b="0" dirty="0">
                <a:solidFill>
                  <a:sysClr val="windowText" lastClr="000000"/>
                </a:solidFill>
                <a:latin typeface="游ゴシック"/>
                <a:ea typeface="游ゴシック"/>
              </a:rPr>
              <a:t>・スーパーへの販売見積から逆算する場合と、東京市場等の相場を参考にする場合がある。相場は変動が大きく、日々・時間単位で確認している。</a:t>
            </a:r>
          </a:p>
          <a:p>
            <a:pPr>
              <a:spcAft>
                <a:spcPts val="500"/>
              </a:spcAft>
            </a:pPr>
            <a:r>
              <a:rPr lang="ja-JP" altLang="en-US" sz="1050" b="1" dirty="0">
                <a:solidFill>
                  <a:sysClr val="windowText" lastClr="000000"/>
                </a:solidFill>
                <a:latin typeface="游ゴシック"/>
                <a:ea typeface="游ゴシック"/>
              </a:rPr>
              <a:t>≪取引単位≫</a:t>
            </a:r>
          </a:p>
          <a:p>
            <a:pPr>
              <a:spcAft>
                <a:spcPts val="500"/>
              </a:spcAft>
            </a:pPr>
            <a:r>
              <a:rPr lang="ja-JP" altLang="en-US" sz="1000" b="0" dirty="0">
                <a:solidFill>
                  <a:sysClr val="windowText" lastClr="000000"/>
                </a:solidFill>
                <a:latin typeface="游ゴシック"/>
                <a:ea typeface="游ゴシック"/>
              </a:rPr>
              <a:t>・品目により箱単位のほか、ピーマン等は袋単位で取り扱う。</a:t>
            </a:r>
          </a:p>
          <a:p>
            <a:pPr>
              <a:spcAft>
                <a:spcPts val="500"/>
              </a:spcAft>
            </a:pPr>
            <a:r>
              <a:rPr lang="ja-JP" altLang="en-US" sz="1050" b="1" dirty="0">
                <a:solidFill>
                  <a:sysClr val="windowText" lastClr="000000"/>
                </a:solidFill>
                <a:latin typeface="游ゴシック"/>
                <a:ea typeface="游ゴシック"/>
              </a:rPr>
              <a:t>≪需要期の補完≫</a:t>
            </a:r>
          </a:p>
          <a:p>
            <a:pPr>
              <a:spcAft>
                <a:spcPts val="500"/>
              </a:spcAft>
            </a:pPr>
            <a:r>
              <a:rPr lang="ja-JP" altLang="en-US" sz="1000" b="0" dirty="0">
                <a:solidFill>
                  <a:sysClr val="windowText" lastClr="000000"/>
                </a:solidFill>
                <a:latin typeface="游ゴシック"/>
                <a:ea typeface="游ゴシック"/>
              </a:rPr>
              <a:t>・12月〜正月は需要増に対応するため、関東の仲卸業者から仕入れることもある。</a:t>
            </a:r>
          </a:p>
        </p:txBody>
      </p:sp>
      <p:sp>
        <p:nvSpPr>
          <p:cNvPr id="16" name="正方形/長方形 7">
            <a:extLst>
              <a:ext uri="{FF2B5EF4-FFF2-40B4-BE49-F238E27FC236}">
                <a16:creationId xmlns:a16="http://schemas.microsoft.com/office/drawing/2014/main" id="{CBD334A9-999C-ACD4-9DD2-EF961CBA0926}"/>
              </a:ext>
            </a:extLst>
          </p:cNvPr>
          <p:cNvSpPr/>
          <p:nvPr/>
        </p:nvSpPr>
        <p:spPr>
          <a:xfrm>
            <a:off x="5440680" y="1463040"/>
            <a:ext cx="4937760" cy="338328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販売</a:t>
            </a:r>
            <a:endParaRPr kumimoji="1" lang="ja-JP" altLang="en-US" sz="1600" b="1" dirty="0">
              <a:solidFill>
                <a:schemeClr val="tx2"/>
              </a:solidFill>
              <a:latin typeface="+mj-lt"/>
              <a:ea typeface="+mj-ea"/>
            </a:endParaRPr>
          </a:p>
        </p:txBody>
      </p:sp>
      <p:sp>
        <p:nvSpPr>
          <p:cNvPr id="17" name="テキスト ボックス 8">
            <a:extLst>
              <a:ext uri="{FF2B5EF4-FFF2-40B4-BE49-F238E27FC236}">
                <a16:creationId xmlns:a16="http://schemas.microsoft.com/office/drawing/2014/main" id="{E5084622-1D6B-783F-80DE-6D9A498C7C12}"/>
              </a:ext>
            </a:extLst>
          </p:cNvPr>
          <p:cNvSpPr txBox="1"/>
          <p:nvPr/>
        </p:nvSpPr>
        <p:spPr>
          <a:xfrm>
            <a:off x="5440680" y="1993392"/>
            <a:ext cx="4937760" cy="2807208"/>
          </a:xfrm>
          <a:prstGeom prst="rect">
            <a:avLst/>
          </a:prstGeom>
          <a:noFill/>
        </p:spPr>
        <p:txBody>
          <a:bodyPr wrap="square" lIns="288000" tIns="0" rIns="252000" bIns="0" rtlCol="0">
            <a:spAutoFit/>
          </a:bodyPr>
          <a:lstStyle/>
          <a:p>
            <a:pPr>
              <a:spcAft>
                <a:spcPts val="500"/>
              </a:spcAft>
            </a:pPr>
            <a:r>
              <a:rPr lang="ja-JP" altLang="en-US" sz="1050" b="1" dirty="0">
                <a:solidFill>
                  <a:sysClr val="windowText" lastClr="000000"/>
                </a:solidFill>
                <a:latin typeface="游ゴシック"/>
                <a:ea typeface="游ゴシック"/>
              </a:rPr>
              <a:t>≪地元優先の販売≫</a:t>
            </a:r>
          </a:p>
          <a:p>
            <a:pPr>
              <a:spcAft>
                <a:spcPts val="500"/>
              </a:spcAft>
            </a:pPr>
            <a:r>
              <a:rPr lang="ja-JP" altLang="en-US" sz="1000" b="0" dirty="0">
                <a:solidFill>
                  <a:sysClr val="windowText" lastClr="000000"/>
                </a:solidFill>
                <a:latin typeface="游ゴシック"/>
                <a:ea typeface="游ゴシック"/>
              </a:rPr>
              <a:t>・可能な限り地元で販売。生鮮品のため、地元で捌き切れない過剰分は豊洲市場や他県へ販売する。</a:t>
            </a:r>
          </a:p>
          <a:p>
            <a:pPr>
              <a:spcAft>
                <a:spcPts val="500"/>
              </a:spcAft>
            </a:pPr>
            <a:r>
              <a:rPr lang="ja-JP" altLang="en-US" sz="1050" b="1" dirty="0">
                <a:solidFill>
                  <a:sysClr val="windowText" lastClr="000000"/>
                </a:solidFill>
                <a:latin typeface="游ゴシック"/>
                <a:ea typeface="游ゴシック"/>
              </a:rPr>
              <a:t>≪主な販売先≫</a:t>
            </a:r>
          </a:p>
          <a:p>
            <a:pPr>
              <a:spcAft>
                <a:spcPts val="500"/>
              </a:spcAft>
            </a:pPr>
            <a:r>
              <a:rPr lang="ja-JP" altLang="en-US" sz="1000" b="0" dirty="0">
                <a:solidFill>
                  <a:sysClr val="windowText" lastClr="000000"/>
                </a:solidFill>
                <a:latin typeface="游ゴシック"/>
                <a:ea typeface="游ゴシック"/>
              </a:rPr>
              <a:t>・スーパー・生協等。生協へは鶴岡市内4店舗・酒田市内2店舗と物流拠点へ毎日納品。ゲームセンターの景品向けに野菜・果物を卸す取引もある。</a:t>
            </a:r>
          </a:p>
          <a:p>
            <a:pPr>
              <a:spcAft>
                <a:spcPts val="500"/>
              </a:spcAft>
            </a:pPr>
            <a:r>
              <a:rPr lang="ja-JP" altLang="en-US" sz="1050" b="1" dirty="0">
                <a:solidFill>
                  <a:sysClr val="windowText" lastClr="000000"/>
                </a:solidFill>
                <a:latin typeface="游ゴシック"/>
                <a:ea typeface="游ゴシック"/>
              </a:rPr>
              <a:t>≪配送受託（センター費）≫</a:t>
            </a:r>
          </a:p>
          <a:p>
            <a:pPr>
              <a:spcAft>
                <a:spcPts val="500"/>
              </a:spcAft>
            </a:pPr>
            <a:r>
              <a:rPr lang="ja-JP" altLang="en-US" sz="1000" b="0" dirty="0">
                <a:solidFill>
                  <a:sysClr val="windowText" lastClr="000000"/>
                </a:solidFill>
                <a:latin typeface="游ゴシック"/>
                <a:ea typeface="游ゴシック"/>
              </a:rPr>
              <a:t>・(株)主婦の店へは自社商品の納品に加え、先方仕入商品の配送も受託し、配送額の約10%（1日約10万円）をセンター費として受領。</a:t>
            </a:r>
          </a:p>
          <a:p>
            <a:pPr>
              <a:spcAft>
                <a:spcPts val="500"/>
              </a:spcAft>
            </a:pPr>
            <a:r>
              <a:rPr lang="ja-JP" altLang="en-US" sz="1050" b="1" dirty="0">
                <a:solidFill>
                  <a:sysClr val="windowText" lastClr="000000"/>
                </a:solidFill>
                <a:latin typeface="游ゴシック"/>
                <a:ea typeface="游ゴシック"/>
              </a:rPr>
              <a:t>≪受託販売≫</a:t>
            </a:r>
          </a:p>
          <a:p>
            <a:pPr>
              <a:spcAft>
                <a:spcPts val="500"/>
              </a:spcAft>
            </a:pPr>
            <a:r>
              <a:rPr lang="ja-JP" altLang="en-US" sz="1000" b="0" dirty="0">
                <a:solidFill>
                  <a:sysClr val="windowText" lastClr="000000"/>
                </a:solidFill>
                <a:latin typeface="游ゴシック"/>
                <a:ea typeface="游ゴシック"/>
              </a:rPr>
              <a:t>・生産者の商品を預かって販売し、販売後に8.5%の手数料を受領（市場で一般的な水準）。</a:t>
            </a:r>
          </a:p>
        </p:txBody>
      </p:sp>
      <p:sp>
        <p:nvSpPr>
          <p:cNvPr id="18" name="Rectangle 17"/>
          <p:cNvSpPr/>
          <p:nvPr/>
        </p:nvSpPr>
        <p:spPr>
          <a:xfrm>
            <a:off x="310896" y="5029200"/>
            <a:ext cx="1280160" cy="155448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游ゴシック"/>
                <a:ea typeface="游ゴシック"/>
              </a:rPr>
              <a:t>ポイント</a:t>
            </a:r>
          </a:p>
        </p:txBody>
      </p:sp>
      <p:sp>
        <p:nvSpPr>
          <p:cNvPr id="19" name="Rectangle 18"/>
          <p:cNvSpPr/>
          <p:nvPr/>
        </p:nvSpPr>
        <p:spPr>
          <a:xfrm>
            <a:off x="1645920" y="5029200"/>
            <a:ext cx="8732520" cy="155448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400"/>
              </a:spcAft>
            </a:pPr>
            <a:r>
              <a:rPr sz="1000" b="0">
                <a:solidFill>
                  <a:srgbClr val="000000"/>
                </a:solidFill>
                <a:latin typeface="游ゴシック"/>
                <a:ea typeface="游ゴシック"/>
              </a:rPr>
              <a:t>■ 持込品を原則全量受け入れる集荷力が強みである一方、過剰入荷時の販売先確保が経営上の課題。余剰青果物を継続的に引き取れる販路を持つ買手とのシナジーが大きい。</a:t>
            </a:r>
          </a:p>
          <a:p>
            <a:pPr algn="l">
              <a:spcAft>
                <a:spcPts val="400"/>
              </a:spcAft>
            </a:pPr>
            <a:r>
              <a:rPr sz="1000" b="0">
                <a:solidFill>
                  <a:srgbClr val="000000"/>
                </a:solidFill>
                <a:latin typeface="游ゴシック"/>
                <a:ea typeface="游ゴシック"/>
              </a:rPr>
              <a:t>■ 山形・秋田の大型市場へ出荷している大規模農家など、仕入先の新規開拓余地がある（現状は農家への積極的な営業を行えていない）。</a:t>
            </a:r>
          </a:p>
          <a:p>
            <a:pPr algn="l">
              <a:spcAft>
                <a:spcPts val="400"/>
              </a:spcAft>
            </a:pPr>
            <a:r>
              <a:rPr sz="1000" b="0">
                <a:solidFill>
                  <a:srgbClr val="000000"/>
                </a:solidFill>
                <a:latin typeface="游ゴシック"/>
                <a:ea typeface="游ゴシック"/>
              </a:rPr>
              <a:t>■ 在庫は野菜・果物に分けて各2〜3名で管理。廃棄を要する滞留在庫はなく、帳簿は概ね実態に即しているとのこと。</a:t>
            </a:r>
          </a:p>
        </p:txBody>
      </p:sp>
      <p:sp>
        <p:nvSpPr>
          <p:cNvPr id="20" name="TextBox 19"/>
          <p:cNvSpPr txBox="1"/>
          <p:nvPr/>
        </p:nvSpPr>
        <p:spPr>
          <a:xfrm>
            <a:off x="310896" y="6720840"/>
            <a:ext cx="10058400"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※第2回面談（代表者）でのヒアリング内容。過剰分の販売実績・取引条件の裏付け資料は依頼中。</a:t>
            </a:r>
          </a:p>
        </p:txBody>
      </p:sp>
    </p:spTree>
    <p:extLst>
      <p:ext uri="{BB962C8B-B14F-4D97-AF65-F5344CB8AC3E}">
        <p14:creationId xmlns:p14="http://schemas.microsoft.com/office/powerpoint/2010/main" val="1764594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5621-FF75-0C7B-591E-C5EBD950595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lang="ja-JP" altLang="en-US" dirty="0"/>
              <a:t>その他補足情報</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許認可・競合環境・取引慣行・人事制度等の補足情報。地方卸売市場としての位置づけ（卸売市場法上の認定状況）は事業継続の前提となるため、売主様に確認中。</a:t>
            </a:r>
          </a:p>
        </p:txBody>
      </p:sp>
      <p:graphicFrame>
        <p:nvGraphicFramePr>
          <p:cNvPr id="14" name="表（その他補足!B4:C15）"/>
          <p:cNvGraphicFramePr>
            <a:graphicFrameLocks noGrp="1"/>
          </p:cNvGraphicFramePr>
          <p:nvPr/>
        </p:nvGraphicFramePr>
        <p:xfrm>
          <a:off x="448056" y="1508760"/>
          <a:ext cx="9793223" cy="4673600"/>
        </p:xfrm>
        <a:graphic>
          <a:graphicData uri="http://schemas.openxmlformats.org/drawingml/2006/table">
            <a:tbl>
              <a:tblPr firstRow="0" bandRow="0">
                <a:tableStyleId>{2D5ABB26-0587-4C30-8999-92F81FD0307C}</a:tableStyleId>
              </a:tblPr>
              <a:tblGrid>
                <a:gridCol w="1647411"/>
                <a:gridCol w="8145812"/>
              </a:tblGrid>
              <a:tr h="254000">
                <a:tc>
                  <a:txBody>
                    <a:bodyPr/>
                    <a:lstStyle/>
                    <a:p>
                      <a:pPr algn="ctr" fontAlgn="ctr"/>
                      <a:r>
                        <a:rPr lang="ja-JP" altLang="en-US" sz="1000" b="0" i="0" dirty="0">
                          <a:solidFill>
                            <a:srgbClr val="FFFFFF"/>
                          </a:solidFill>
                          <a:latin typeface="游ゴシック"/>
                          <a:ea typeface="游ゴシック"/>
                        </a:rPr>
                        <a:t>項目</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内容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457200">
                <a:tc>
                  <a:txBody>
                    <a:bodyPr/>
                    <a:lstStyle/>
                    <a:p>
                      <a:pPr algn="l" fontAlgn="ctr"/>
                      <a:r>
                        <a:rPr lang="ja-JP" altLang="en-US" sz="1050" b="0" i="0" dirty="0">
                          <a:solidFill>
                            <a:srgbClr val="000000"/>
                          </a:solidFill>
                          <a:latin typeface="游ゴシック"/>
                          <a:ea typeface="游ゴシック"/>
                        </a:rPr>
                        <a:t>許認可</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・地方卸売市場（卸売市場法）：山形県の地方卸売市場一覧に掲載（認定の時期・条件は要確認）</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・倉庫業：定款目的に記載（登録の有無は要確認）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競合環境</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・鶴岡市内の青果市場は当社のみ（以前は2社が競合、1社が解散）</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・近隣に公設庄内青果物地方卸売市場（三川町）。山形市の市場から鶴岡地区へ供給されるケースもある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市場関係</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・保証金33,303千円は仕入代金のデポジット（約10日分）で、取引終了時に返金される</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・仲卸業者・買参人等から預り保証金8,980千円を受入（相手先は要確認）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手数料・商慣習</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・受託販売手数料は8.5%（市場で一般的な水準。県への届出等で変更可能だが据置）</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・売上割戻は期限内に代金を支払った八百屋等への完納奨励金（市場業界の商慣習）</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賞与・退職金</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・賞与規定はなく、業績に応じて支給</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・退職金規程あり。中退共・商工会議所経由の保険で簿外積立（会社の追加負担は基本的にないとの認識）</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加入団体・出資先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・山形県中小商工業協同組合、商工会議所、鶴岡信用金庫（出資金）</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取引金融機関</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・鶴岡信用金庫、山形銀行、荘内銀行、日本政策金融公庫（借入残高は「財務ハイライト（B/S）」参照）</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仕入先・物流</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・丸果庄内青果(株)、(株)庄果（公設庄内青果物地方卸売市場）、長井中央青果(株)、(株)マルト直治郎商店 ほか</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・配送は自社対応（東京向け出荷・一部の地元スーパー向け配送のみ外部運送会社を利用）</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営業時間・定休日</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・早朝6時から（終業時刻は要確認）／水・日・祝日</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機関設計・株式</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・取締役会設置会社／監査役設置会社（監査の範囲を会計に限定）</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・株式の譲渡制限あり（取締役会の承認）。発行済株式4,000株（株主8名）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Webサイト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・http://www.turu-chu.co.jp/（だだちゃ豆・庄内柿等の特産品、安全への取組みを掲載。検索結果の要約であり本文は要確認）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Tree>
    <p:extLst>
      <p:ext uri="{BB962C8B-B14F-4D97-AF65-F5344CB8AC3E}">
        <p14:creationId xmlns:p14="http://schemas.microsoft.com/office/powerpoint/2010/main" val="805688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7717</TotalTime>
  <Words>3079</Words>
  <Application>Microsoft Office PowerPoint</Application>
  <PresentationFormat>ユーザー設定</PresentationFormat>
  <Paragraphs>384</Paragraphs>
  <Slides>36</Slides>
  <Notes>30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36</vt:i4>
      </vt:variant>
    </vt:vector>
  </HeadingPairs>
  <TitlesOfParts>
    <vt:vector size="40" baseType="lpstr">
      <vt:lpstr>游ゴシック</vt:lpstr>
      <vt:lpstr>Arial</vt:lpstr>
      <vt:lpstr>Wingdings</vt:lpstr>
      <vt:lpstr>SL_2026</vt:lpstr>
      <vt:lpstr>企業概要書 &lt;●●業/●●地区&gt;　</vt:lpstr>
      <vt:lpstr>はじめに</vt:lpstr>
      <vt:lpstr>PowerPoint プレゼンテーション</vt:lpstr>
      <vt:lpstr>エグゼクティブサマリー</vt:lpstr>
      <vt:lpstr>基本情報</vt:lpstr>
      <vt:lpstr>財務ハイライト（P/L）</vt:lpstr>
      <vt:lpstr>財務ハイライト（B/S）</vt:lpstr>
      <vt:lpstr>譲渡希望条件</vt:lpstr>
      <vt:lpstr>事業概要</vt:lpstr>
      <vt:lpstr>事業内容</vt:lpstr>
      <vt:lpstr>サービス概要、製品一例、工事実績、など</vt:lpstr>
      <vt:lpstr>特徴、強み、成長性等</vt:lpstr>
      <vt:lpstr>●●別売上高</vt:lpstr>
      <vt:lpstr>仕入先別取引高</vt:lpstr>
      <vt:lpstr>外注費</vt:lpstr>
      <vt:lpstr>組織、拠点、設備等</vt:lpstr>
      <vt:lpstr>組織図</vt:lpstr>
      <vt:lpstr>株主及び役員</vt:lpstr>
      <vt:lpstr>従業員</vt:lpstr>
      <vt:lpstr>拠点概要（本社）</vt:lpstr>
      <vt:lpstr>拠点概要（●●工場）</vt:lpstr>
      <vt:lpstr>不動産詳細</vt:lpstr>
      <vt:lpstr>保有設備一覧</vt:lpstr>
      <vt:lpstr>財務情報詳細</vt:lpstr>
      <vt:lpstr>貸借対照表</vt:lpstr>
      <vt:lpstr>損益計算書</vt:lpstr>
      <vt:lpstr>製造原価報告書</vt:lpstr>
      <vt:lpstr>販売費及び一般管理費</vt:lpstr>
      <vt:lpstr>Appendix</vt:lpstr>
      <vt:lpstr>沿革</vt:lpstr>
      <vt:lpstr>代表者経歴</vt:lpstr>
      <vt:lpstr>事業計画</vt:lpstr>
      <vt:lpstr>今期予算</vt:lpstr>
      <vt:lpstr>その他補足情報</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越智 真也</cp:lastModifiedBy>
  <cp:revision>176</cp:revision>
  <cp:lastPrinted>2025-10-23T01:12:16Z</cp:lastPrinted>
  <dcterms:created xsi:type="dcterms:W3CDTF">2022-11-09T11:25:01Z</dcterms:created>
  <dcterms:modified xsi:type="dcterms:W3CDTF">2026-02-10T11:59:22Z</dcterms:modified>
</cp:coreProperties>
</file>