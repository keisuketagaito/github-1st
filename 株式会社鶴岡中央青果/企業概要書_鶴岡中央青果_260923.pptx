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0B3041"/>
                </a:solidFill>
                <a:latin typeface="游ゴシック"/>
                <a:ea typeface="游ゴシック"/>
              </a:rPr>
              <a:t>営業利益・調整後EBITDA（百万円）</a:t>
            </a:r>
          </a:p>
        </c:rich>
      </c:tx>
      <c:layout/>
      <c:overlay val="0"/>
    </c:title>
    <c:autoTitleDeleted val="0"/>
    <c:plotArea>
      <c:barChart>
        <c:barDir val="col"/>
        <c:grouping val="clustered"/>
        <c:ser>
          <c:idx val="0"/>
          <c:order val="0"/>
          <c:tx>
            <c:strRef>
              <c:f>Sheet1!$B$1</c:f>
              <c:strCache>
                <c:ptCount val="1"/>
                <c:pt idx="0">
                  <c:v>営業利益</c:v>
                </c:pt>
              </c:strCache>
            </c:strRef>
          </c:tx>
          <c:spPr>
            <a:solidFill>
              <a:srgbClr val="0889C9"/>
            </a:solidFill>
          </c:spPr>
          <c:invertIfNegative val="0"/>
          <c:cat>
            <c:strRef>
              <c:f>Sheet1!$A$2:$A$4</c:f>
              <c:strCache>
                <c:ptCount val="3"/>
                <c:pt idx="0">
                  <c:v>2024/3期</c:v>
                </c:pt>
                <c:pt idx="1">
                  <c:v>2025/3期</c:v>
                </c:pt>
                <c:pt idx="2">
                  <c:v>2026/3期</c:v>
                </c:pt>
              </c:strCache>
            </c:strRef>
          </c:cat>
          <c:val>
            <c:numRef>
              <c:f>Sheet1!$B$2:$B$4</c:f>
              <c:numCache>
                <c:formatCode>General</c:formatCode>
                <c:ptCount val="3"/>
                <c:pt idx="0">
                  <c:v>4.8</c:v>
                </c:pt>
                <c:pt idx="1">
                  <c:v>-4.4</c:v>
                </c:pt>
                <c:pt idx="2">
                  <c:v>5.9</c:v>
                </c:pt>
              </c:numCache>
            </c:numRef>
          </c:val>
        </c:ser>
        <c:ser>
          <c:idx val="1"/>
          <c:order val="1"/>
          <c:tx>
            <c:strRef>
              <c:f>Sheet1!$C$1</c:f>
              <c:strCache>
                <c:ptCount val="1"/>
                <c:pt idx="0">
                  <c:v>調整後EBITDA</c:v>
                </c:pt>
              </c:strCache>
            </c:strRef>
          </c:tx>
          <c:spPr>
            <a:solidFill>
              <a:srgbClr val="E08A2E"/>
            </a:solidFill>
          </c:spPr>
          <c:invertIfNegative val="0"/>
          <c:cat>
            <c:strRef>
              <c:f>Sheet1!$A$2:$A$4</c:f>
              <c:strCache>
                <c:ptCount val="3"/>
                <c:pt idx="0">
                  <c:v>2024/3期</c:v>
                </c:pt>
                <c:pt idx="1">
                  <c:v>2025/3期</c:v>
                </c:pt>
                <c:pt idx="2">
                  <c:v>2026/3期</c:v>
                </c:pt>
              </c:strCache>
            </c:strRef>
          </c:cat>
          <c:val>
            <c:numRef>
              <c:f>Sheet1!$C$2:$C$4</c:f>
              <c:numCache>
                <c:formatCode>General</c:formatCode>
                <c:ptCount val="3"/>
                <c:pt idx="0">
                  <c:v>23.3</c:v>
                </c:pt>
                <c:pt idx="1">
                  <c:v>13.1</c:v>
                </c:pt>
                <c:pt idx="2">
                  <c:v>7.8</c:v>
                </c:pt>
              </c:numCache>
            </c:numRef>
          </c:val>
        </c:ser>
        <c:dLbls>
          <c:numFmt formatCode="#,##0.0" sourceLinked="0"/>
          <c:txPr>
            <a:bodyPr/>
            <a:lstStyle/>
            <a:p>
              <a:pPr>
                <a:defRPr sz="800">
                  <a:solidFill>
                    <a:srgbClr val="333333"/>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out"/>
        <c:minorTickMark val="none"/>
        <c:tickLblPos val="low"/>
        <c:spPr>
          <a:ln>
            <a:solidFill>
              <a:srgbClr val="5A6670"/>
            </a:solidFill>
          </a:ln>
        </c:spPr>
        <c:txPr>
          <a:bodyPr/>
          <a:lstStyle/>
          <a:p>
            <a:pPr>
              <a:defRPr sz="800">
                <a:latin typeface="游ゴシック"/>
              </a:defRPr>
            </a:pPr>
          </a:p>
        </c:tx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0" sourceLinked="0"/>
        <c:majorTickMark val="out"/>
        <c:minorTickMark val="none"/>
        <c:tickLblPos val="nextTo"/>
        <c:spPr>
          <a:ln>
            <a:noFill/>
          </a:ln>
        </c:spPr>
        <c:txPr>
          <a:bodyPr/>
          <a:lstStyle/>
          <a:p>
            <a:pPr>
              <a:defRPr sz="800">
                <a:solidFill>
                  <a:srgbClr val="5A6670"/>
                </a:solidFill>
                <a:latin typeface="Arial"/>
              </a:defRPr>
            </a:pPr>
          </a:p>
        </c:txPr>
        <c:crossAx val="-2068027336"/>
        <c:crosses val="autoZero"/>
      </c:valAx>
    </c:plotArea>
    <c:legend>
      <c:legendPos val="t"/>
      <c:overlay val="0"/>
      <c:txPr>
        <a:bodyPr/>
        <a:lstStyle/>
        <a:p>
          <a:pPr>
            <a:defRPr sz="800">
              <a:latin typeface="游ゴシック"/>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0B3041"/>
                </a:solidFill>
                <a:latin typeface="游ゴシック"/>
                <a:ea typeface="游ゴシック"/>
              </a:rPr>
              <a:t>月別売上高（百万円）</a:t>
            </a:r>
          </a:p>
        </c:rich>
      </c:tx>
      <c:layout/>
      <c:overlay val="0"/>
    </c:title>
    <c:autoTitleDeleted val="0"/>
    <c:plotArea>
      <c:barChart>
        <c:barDir val="col"/>
        <c:grouping val="clustered"/>
        <c:ser>
          <c:idx val="0"/>
          <c:order val="0"/>
          <c:tx>
            <c:strRef>
              <c:f>Sheet1!$B$1</c:f>
              <c:strCache>
                <c:ptCount val="1"/>
                <c:pt idx="0">
                  <c:v>売上高</c:v>
                </c:pt>
              </c:strCache>
            </c:strRef>
          </c:tx>
          <c:spPr>
            <a:solidFill>
              <a:srgbClr val="0889C9"/>
            </a:solidFill>
          </c:spPr>
          <c:invertIfNegative val="0"/>
          <c:cat>
            <c:strRef>
              <c:f>Sheet1!$A$2:$A$13</c:f>
              <c:strCache>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Cache>
            </c:strRef>
          </c:cat>
          <c:val>
            <c:numRef>
              <c:f>Sheet1!$B$2:$B$13</c:f>
              <c:numCache>
                <c:formatCode>General</c:formatCode>
                <c:ptCount val="12"/>
                <c:pt idx="0">
                  <c:v>88.0</c:v>
                </c:pt>
                <c:pt idx="1">
                  <c:v>102.0</c:v>
                </c:pt>
                <c:pt idx="2">
                  <c:v>84.0</c:v>
                </c:pt>
                <c:pt idx="3">
                  <c:v>146.0</c:v>
                </c:pt>
                <c:pt idx="4">
                  <c:v>138.0</c:v>
                </c:pt>
                <c:pt idx="5">
                  <c:v>110.0</c:v>
                </c:pt>
                <c:pt idx="6">
                  <c:v>106.0</c:v>
                </c:pt>
                <c:pt idx="7">
                  <c:v>101.0</c:v>
                </c:pt>
                <c:pt idx="8">
                  <c:v>98.0</c:v>
                </c:pt>
                <c:pt idx="9">
                  <c:v>70.0</c:v>
                </c:pt>
                <c:pt idx="10">
                  <c:v>69.0</c:v>
                </c:pt>
                <c:pt idx="11">
                  <c:v>84.0</c:v>
                </c:pt>
              </c:numCache>
            </c:numRef>
          </c:val>
        </c:ser>
        <c:dLbls>
          <c:numFmt formatCode="#,##0" sourceLinked="0"/>
          <c:txPr>
            <a:bodyPr/>
            <a:lstStyle/>
            <a:p>
              <a:pPr>
                <a:defRPr sz="800">
                  <a:solidFill>
                    <a:srgbClr val="333333"/>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out"/>
        <c:minorTickMark val="none"/>
        <c:tickLblPos val="low"/>
        <c:spPr>
          <a:ln>
            <a:solidFill>
              <a:srgbClr val="5A6670"/>
            </a:solidFill>
          </a:ln>
        </c:spPr>
        <c:txPr>
          <a:bodyPr/>
          <a:lstStyle/>
          <a:p>
            <a:pPr>
              <a:defRPr sz="800">
                <a:latin typeface="游ゴシック"/>
              </a:defRPr>
            </a:pPr>
          </a:p>
        </c:tx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 sourceLinked="0"/>
        <c:majorTickMark val="out"/>
        <c:minorTickMark val="none"/>
        <c:tickLblPos val="nextTo"/>
        <c:spPr>
          <a:ln>
            <a:noFill/>
          </a:ln>
        </c:spPr>
        <c:txPr>
          <a:bodyPr/>
          <a:lstStyle/>
          <a:p>
            <a:pPr>
              <a:defRPr sz="800">
                <a:solidFill>
                  <a:srgbClr val="5A6670"/>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73152" cy="756208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8229600" cy="365760"/>
          </a:xfrm>
          <a:prstGeom prst="rect">
            <a:avLst/>
          </a:prstGeom>
          <a:noFill/>
        </p:spPr>
        <p:txBody>
          <a:bodyPr wrap="square" lIns="0" rIns="0" tIns="0" bIns="0" anchor="t">
            <a:spAutoFit/>
          </a:bodyPr>
          <a:lstStyle/>
          <a:p>
            <a:pPr algn="l"/>
            <a:r>
              <a:rPr sz="1100" b="0">
                <a:solidFill>
                  <a:srgbClr val="5A6670"/>
                </a:solidFill>
                <a:latin typeface="Arial"/>
                <a:ea typeface="游ゴシック"/>
              </a:rPr>
              <a:t>Strictly Private &amp; Confidential</a:t>
            </a:r>
          </a:p>
        </p:txBody>
      </p:sp>
      <p:sp>
        <p:nvSpPr>
          <p:cNvPr id="6" name="TextBox 5"/>
          <p:cNvSpPr txBox="1"/>
          <p:nvPr/>
        </p:nvSpPr>
        <p:spPr>
          <a:xfrm>
            <a:off x="1097280" y="2377440"/>
            <a:ext cx="8686800" cy="822960"/>
          </a:xfrm>
          <a:prstGeom prst="rect">
            <a:avLst/>
          </a:prstGeom>
          <a:noFill/>
        </p:spPr>
        <p:txBody>
          <a:bodyPr wrap="square" lIns="0" rIns="0" tIns="0" bIns="0" anchor="t">
            <a:spAutoFit/>
          </a:bodyPr>
          <a:lstStyle/>
          <a:p>
            <a:pPr algn="l"/>
            <a:r>
              <a:rPr sz="3600" b="1">
                <a:solidFill>
                  <a:srgbClr val="0B3041"/>
                </a:solidFill>
                <a:latin typeface="游ゴシック"/>
                <a:ea typeface="游ゴシック"/>
              </a:rPr>
              <a:t>企業概要書</a:t>
            </a:r>
          </a:p>
        </p:txBody>
      </p:sp>
      <p:sp>
        <p:nvSpPr>
          <p:cNvPr id="7" name="TextBox 6"/>
          <p:cNvSpPr txBox="1"/>
          <p:nvPr/>
        </p:nvSpPr>
        <p:spPr>
          <a:xfrm>
            <a:off x="1097280" y="3200400"/>
            <a:ext cx="8686800" cy="548640"/>
          </a:xfrm>
          <a:prstGeom prst="rect">
            <a:avLst/>
          </a:prstGeom>
          <a:noFill/>
        </p:spPr>
        <p:txBody>
          <a:bodyPr wrap="square" lIns="0" rIns="0" tIns="0" bIns="0" anchor="t">
            <a:spAutoFit/>
          </a:bodyPr>
          <a:lstStyle/>
          <a:p>
            <a:pPr algn="l"/>
            <a:r>
              <a:rPr sz="2200" b="1">
                <a:solidFill>
                  <a:srgbClr val="0889C9"/>
                </a:solidFill>
                <a:latin typeface="游ゴシック"/>
                <a:ea typeface="游ゴシック"/>
              </a:rPr>
              <a:t>株式会社鶴岡中央青果</a:t>
            </a:r>
          </a:p>
        </p:txBody>
      </p:sp>
      <p:sp>
        <p:nvSpPr>
          <p:cNvPr id="8" name="Rectangle 7"/>
          <p:cNvSpPr/>
          <p:nvPr/>
        </p:nvSpPr>
        <p:spPr>
          <a:xfrm>
            <a:off x="1097280" y="3931920"/>
            <a:ext cx="3840480"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114800"/>
            <a:ext cx="8229600" cy="822960"/>
          </a:xfrm>
          <a:prstGeom prst="rect">
            <a:avLst/>
          </a:prstGeom>
          <a:noFill/>
        </p:spPr>
        <p:txBody>
          <a:bodyPr wrap="square" lIns="0" rIns="0" tIns="0" bIns="0" anchor="t">
            <a:spAutoFit/>
          </a:bodyPr>
          <a:lstStyle/>
          <a:p>
            <a:pPr algn="l">
              <a:spcAft>
                <a:spcPts val="400"/>
              </a:spcAft>
            </a:pPr>
            <a:r>
              <a:rPr sz="1200" b="0">
                <a:solidFill>
                  <a:srgbClr val="5A6670"/>
                </a:solidFill>
                <a:latin typeface="Arial"/>
                <a:ea typeface="游ゴシック"/>
              </a:rPr>
              <a:t>2026年9月</a:t>
            </a:r>
          </a:p>
          <a:p>
            <a:pPr algn="l">
              <a:spcAft>
                <a:spcPts val="400"/>
              </a:spcAft>
            </a:pPr>
            <a:r>
              <a:rPr sz="1200" b="0">
                <a:solidFill>
                  <a:srgbClr val="5A6670"/>
                </a:solidFill>
                <a:latin typeface="游ゴシック"/>
                <a:ea typeface="游ゴシック"/>
              </a:rPr>
              <a:t>ドラフト（売主様確認前・社内検討用）</a:t>
            </a:r>
          </a:p>
        </p:txBody>
      </p:sp>
      <p:sp>
        <p:nvSpPr>
          <p:cNvPr id="10" name="TextBox 9"/>
          <p:cNvSpPr txBox="1"/>
          <p:nvPr/>
        </p:nvSpPr>
        <p:spPr>
          <a:xfrm>
            <a:off x="1097280" y="6217920"/>
            <a:ext cx="8229600" cy="365760"/>
          </a:xfrm>
          <a:prstGeom prst="rect">
            <a:avLst/>
          </a:prstGeom>
          <a:noFill/>
        </p:spPr>
        <p:txBody>
          <a:bodyPr wrap="square" lIns="0" rIns="0" tIns="0" bIns="0" anchor="t">
            <a:spAutoFit/>
          </a:bodyPr>
          <a:lstStyle/>
          <a:p>
            <a:pPr algn="l"/>
            <a:r>
              <a:rPr sz="1200" b="1">
                <a:solidFill>
                  <a:srgbClr val="0B3041"/>
                </a:solidFill>
                <a:latin typeface="游ゴシック"/>
                <a:ea typeface="游ゴシック"/>
              </a:rPr>
              <a:t>［アドバイザー名］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はじめに</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7" name="TextBox 6"/>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a:t>
            </a:r>
          </a:p>
        </p:txBody>
      </p:sp>
      <p:sp>
        <p:nvSpPr>
          <p:cNvPr id="8" name="TextBox 7"/>
          <p:cNvSpPr txBox="1"/>
          <p:nvPr/>
        </p:nvSpPr>
        <p:spPr>
          <a:xfrm>
            <a:off x="731520" y="1234440"/>
            <a:ext cx="9235440" cy="4206240"/>
          </a:xfrm>
          <a:prstGeom prst="rect">
            <a:avLst/>
          </a:prstGeom>
          <a:noFill/>
        </p:spPr>
        <p:txBody>
          <a:bodyPr wrap="square" lIns="0" rIns="0" tIns="0" bIns="0" anchor="t">
            <a:spAutoFit/>
          </a:bodyPr>
          <a:lstStyle/>
          <a:p>
            <a:pPr algn="l">
              <a:spcAft>
                <a:spcPts val="1000"/>
              </a:spcAft>
            </a:pPr>
            <a:r>
              <a:rPr sz="1100" b="0">
                <a:solidFill>
                  <a:srgbClr val="1A1A1A"/>
                </a:solidFill>
                <a:latin typeface="游ゴシック"/>
                <a:ea typeface="游ゴシック"/>
              </a:rPr>
              <a:t>1. 本資料は、株式会社鶴岡中央青果（以下「対象会社」）の株式譲渡等に関する検討のため、秘密保持契約を締結した候補先に限り提供するものです。本資料の複製・第三者への開示・本件検討以外の目的での使用はご遠慮ください。</a:t>
            </a:r>
          </a:p>
          <a:p>
            <a:pPr algn="l">
              <a:spcAft>
                <a:spcPts val="1000"/>
              </a:spcAft>
            </a:pPr>
            <a:r>
              <a:rPr sz="1100" b="0">
                <a:solidFill>
                  <a:srgbClr val="1A1A1A"/>
                </a:solidFill>
                <a:latin typeface="游ゴシック"/>
                <a:ea typeface="游ゴシック"/>
              </a:rPr>
              <a:t>2. 本資料は、対象会社から提供を受けた決算書（2024年3月期〜2026年3月期）、試算表（2026年7月）、登記事項証明書、従業員名簿、固定資産税課税明細書および公開情報に基づき作成しています。記載内容について、当社は独自の監査・検証を行っておらず、その正確性・完全性を保証するものではありません。</a:t>
            </a:r>
          </a:p>
          <a:p>
            <a:pPr algn="l">
              <a:spcAft>
                <a:spcPts val="1000"/>
              </a:spcAft>
            </a:pPr>
            <a:r>
              <a:rPr sz="1100" b="0">
                <a:solidFill>
                  <a:srgbClr val="1A1A1A"/>
                </a:solidFill>
                <a:latin typeface="游ゴシック"/>
                <a:ea typeface="游ゴシック"/>
              </a:rPr>
              <a:t>3. 記載のうち、「推察」「想定」「（仮説）」と付した事項は、資料から合理的に推定した内容であり、事実として確認されたものではありません。また「要確認」と付した事項は、現在対象会社へ確認中の事項です。</a:t>
            </a:r>
          </a:p>
          <a:p>
            <a:pPr algn="l">
              <a:spcAft>
                <a:spcPts val="1000"/>
              </a:spcAft>
            </a:pPr>
            <a:r>
              <a:rPr sz="1100" b="0">
                <a:solidFill>
                  <a:srgbClr val="1A1A1A"/>
                </a:solidFill>
                <a:latin typeface="游ゴシック"/>
                <a:ea typeface="游ゴシック"/>
              </a:rPr>
              <a:t>4. 調整後EBITDA等の分析数値は本資料作成時点の仮定に基づく参考値であり、最終的な評価・条件は、デュー・ディリジェンスおよび当事者間の協議により決定されます。</a:t>
            </a:r>
          </a:p>
          <a:p>
            <a:pPr algn="l">
              <a:spcAft>
                <a:spcPts val="1000"/>
              </a:spcAft>
            </a:pPr>
            <a:r>
              <a:rPr sz="1100" b="0">
                <a:solidFill>
                  <a:srgbClr val="1A1A1A"/>
                </a:solidFill>
                <a:latin typeface="游ゴシック"/>
                <a:ea typeface="游ゴシック"/>
              </a:rPr>
              <a:t>5. 本件に関するお問い合わせは、対象会社・その役職員・取引先等へ直接行わず、必ず下記照会先までご連絡ください。</a:t>
            </a:r>
          </a:p>
        </p:txBody>
      </p:sp>
      <p:sp>
        <p:nvSpPr>
          <p:cNvPr id="9" name="Rectangle 8"/>
          <p:cNvSpPr/>
          <p:nvPr/>
        </p:nvSpPr>
        <p:spPr>
          <a:xfrm>
            <a:off x="731520" y="5486400"/>
            <a:ext cx="9235440" cy="100584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100" b="1">
                <a:solidFill>
                  <a:srgbClr val="0B3041"/>
                </a:solidFill>
                <a:latin typeface="游ゴシック"/>
                <a:ea typeface="游ゴシック"/>
              </a:rPr>
              <a:t>【照会先】</a:t>
            </a:r>
          </a:p>
          <a:p>
            <a:pPr algn="l"/>
            <a:r>
              <a:rPr sz="1100" b="0">
                <a:solidFill>
                  <a:srgbClr val="1A1A1A"/>
                </a:solidFill>
                <a:latin typeface="游ゴシック"/>
                <a:ea typeface="游ゴシック"/>
              </a:rPr>
              <a:t>［アドバイザー名］　［部署・担当者名］　TEL：［　　　］　E-mail：［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目次</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7" name="TextBox 6"/>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3</a:t>
            </a:r>
          </a:p>
        </p:txBody>
      </p:sp>
      <p:sp>
        <p:nvSpPr>
          <p:cNvPr id="8" name="TextBox 7"/>
          <p:cNvSpPr txBox="1"/>
          <p:nvPr/>
        </p:nvSpPr>
        <p:spPr>
          <a:xfrm>
            <a:off x="914400" y="1371600"/>
            <a:ext cx="822960" cy="640080"/>
          </a:xfrm>
          <a:prstGeom prst="rect">
            <a:avLst/>
          </a:prstGeom>
          <a:noFill/>
        </p:spPr>
        <p:txBody>
          <a:bodyPr wrap="square" lIns="0" rIns="0" tIns="0" bIns="0" anchor="t">
            <a:spAutoFit/>
          </a:bodyPr>
          <a:lstStyle/>
          <a:p>
            <a:pPr algn="l"/>
            <a:r>
              <a:rPr sz="2600" b="1">
                <a:solidFill>
                  <a:srgbClr val="0889C9"/>
                </a:solidFill>
                <a:latin typeface="Arial"/>
                <a:ea typeface="游ゴシック"/>
              </a:rPr>
              <a:t>01</a:t>
            </a:r>
          </a:p>
        </p:txBody>
      </p:sp>
      <p:sp>
        <p:nvSpPr>
          <p:cNvPr id="9" name="TextBox 8"/>
          <p:cNvSpPr txBox="1"/>
          <p:nvPr/>
        </p:nvSpPr>
        <p:spPr>
          <a:xfrm>
            <a:off x="1828800" y="1389888"/>
            <a:ext cx="7772400" cy="365760"/>
          </a:xfrm>
          <a:prstGeom prst="rect">
            <a:avLst/>
          </a:prstGeom>
          <a:noFill/>
        </p:spPr>
        <p:txBody>
          <a:bodyPr wrap="square" lIns="0" rIns="0" tIns="0" bIns="0" anchor="t">
            <a:spAutoFit/>
          </a:bodyPr>
          <a:lstStyle/>
          <a:p>
            <a:pPr algn="l"/>
            <a:r>
              <a:rPr sz="1600" b="1">
                <a:solidFill>
                  <a:srgbClr val="0B3041"/>
                </a:solidFill>
                <a:latin typeface="游ゴシック"/>
                <a:ea typeface="游ゴシック"/>
              </a:rPr>
              <a:t>エグゼクティブサマリー</a:t>
            </a:r>
          </a:p>
        </p:txBody>
      </p:sp>
      <p:sp>
        <p:nvSpPr>
          <p:cNvPr id="10" name="TextBox 9"/>
          <p:cNvSpPr txBox="1"/>
          <p:nvPr/>
        </p:nvSpPr>
        <p:spPr>
          <a:xfrm>
            <a:off x="1828800" y="1783080"/>
            <a:ext cx="7772400" cy="320040"/>
          </a:xfrm>
          <a:prstGeom prst="rect">
            <a:avLst/>
          </a:prstGeom>
          <a:noFill/>
        </p:spPr>
        <p:txBody>
          <a:bodyPr wrap="square" lIns="0" rIns="0" tIns="0" bIns="0" anchor="t">
            <a:spAutoFit/>
          </a:bodyPr>
          <a:lstStyle/>
          <a:p>
            <a:pPr algn="l"/>
            <a:r>
              <a:rPr sz="1000" b="0">
                <a:solidFill>
                  <a:srgbClr val="5A6670"/>
                </a:solidFill>
                <a:latin typeface="游ゴシック"/>
                <a:ea typeface="游ゴシック"/>
              </a:rPr>
              <a:t>基本情報／財務ハイライト（P/L・B/S）／譲渡希望条件</a:t>
            </a:r>
          </a:p>
        </p:txBody>
      </p:sp>
      <p:sp>
        <p:nvSpPr>
          <p:cNvPr id="11" name="Rectangle 10"/>
          <p:cNvSpPr/>
          <p:nvPr/>
        </p:nvSpPr>
        <p:spPr>
          <a:xfrm>
            <a:off x="1828800" y="2194560"/>
            <a:ext cx="7863840"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95728"/>
            <a:ext cx="822960" cy="640080"/>
          </a:xfrm>
          <a:prstGeom prst="rect">
            <a:avLst/>
          </a:prstGeom>
          <a:noFill/>
        </p:spPr>
        <p:txBody>
          <a:bodyPr wrap="square" lIns="0" rIns="0" tIns="0" bIns="0" anchor="t">
            <a:spAutoFit/>
          </a:bodyPr>
          <a:lstStyle/>
          <a:p>
            <a:pPr algn="l"/>
            <a:r>
              <a:rPr sz="2600" b="1">
                <a:solidFill>
                  <a:srgbClr val="0889C9"/>
                </a:solidFill>
                <a:latin typeface="Arial"/>
                <a:ea typeface="游ゴシック"/>
              </a:rPr>
              <a:t>02</a:t>
            </a:r>
          </a:p>
        </p:txBody>
      </p:sp>
      <p:sp>
        <p:nvSpPr>
          <p:cNvPr id="13" name="TextBox 12"/>
          <p:cNvSpPr txBox="1"/>
          <p:nvPr/>
        </p:nvSpPr>
        <p:spPr>
          <a:xfrm>
            <a:off x="1828800" y="2414016"/>
            <a:ext cx="7772400" cy="365760"/>
          </a:xfrm>
          <a:prstGeom prst="rect">
            <a:avLst/>
          </a:prstGeom>
          <a:noFill/>
        </p:spPr>
        <p:txBody>
          <a:bodyPr wrap="square" lIns="0" rIns="0" tIns="0" bIns="0" anchor="t">
            <a:spAutoFit/>
          </a:bodyPr>
          <a:lstStyle/>
          <a:p>
            <a:pPr algn="l"/>
            <a:r>
              <a:rPr sz="1600" b="1">
                <a:solidFill>
                  <a:srgbClr val="0B3041"/>
                </a:solidFill>
                <a:latin typeface="游ゴシック"/>
                <a:ea typeface="游ゴシック"/>
              </a:rPr>
              <a:t>事業概要</a:t>
            </a:r>
          </a:p>
        </p:txBody>
      </p:sp>
      <p:sp>
        <p:nvSpPr>
          <p:cNvPr id="14" name="TextBox 13"/>
          <p:cNvSpPr txBox="1"/>
          <p:nvPr/>
        </p:nvSpPr>
        <p:spPr>
          <a:xfrm>
            <a:off x="1828800" y="2807208"/>
            <a:ext cx="7772400" cy="320040"/>
          </a:xfrm>
          <a:prstGeom prst="rect">
            <a:avLst/>
          </a:prstGeom>
          <a:noFill/>
        </p:spPr>
        <p:txBody>
          <a:bodyPr wrap="square" lIns="0" rIns="0" tIns="0" bIns="0" anchor="t">
            <a:spAutoFit/>
          </a:bodyPr>
          <a:lstStyle/>
          <a:p>
            <a:pPr algn="l"/>
            <a:r>
              <a:rPr sz="1000" b="0">
                <a:solidFill>
                  <a:srgbClr val="5A6670"/>
                </a:solidFill>
                <a:latin typeface="游ゴシック"/>
                <a:ea typeface="游ゴシック"/>
              </a:rPr>
              <a:t>事業の仕組みと収益源／商流／季節性／特徴・強みと課題／主要販売先・仕入先</a:t>
            </a:r>
          </a:p>
        </p:txBody>
      </p:sp>
      <p:sp>
        <p:nvSpPr>
          <p:cNvPr id="15" name="Rectangle 14"/>
          <p:cNvSpPr/>
          <p:nvPr/>
        </p:nvSpPr>
        <p:spPr>
          <a:xfrm>
            <a:off x="1828800" y="3218688"/>
            <a:ext cx="7863840"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19856"/>
            <a:ext cx="822960" cy="640080"/>
          </a:xfrm>
          <a:prstGeom prst="rect">
            <a:avLst/>
          </a:prstGeom>
          <a:noFill/>
        </p:spPr>
        <p:txBody>
          <a:bodyPr wrap="square" lIns="0" rIns="0" tIns="0" bIns="0" anchor="t">
            <a:spAutoFit/>
          </a:bodyPr>
          <a:lstStyle/>
          <a:p>
            <a:pPr algn="l"/>
            <a:r>
              <a:rPr sz="2600" b="1">
                <a:solidFill>
                  <a:srgbClr val="0889C9"/>
                </a:solidFill>
                <a:latin typeface="Arial"/>
                <a:ea typeface="游ゴシック"/>
              </a:rPr>
              <a:t>03</a:t>
            </a:r>
          </a:p>
        </p:txBody>
      </p:sp>
      <p:sp>
        <p:nvSpPr>
          <p:cNvPr id="17" name="TextBox 16"/>
          <p:cNvSpPr txBox="1"/>
          <p:nvPr/>
        </p:nvSpPr>
        <p:spPr>
          <a:xfrm>
            <a:off x="1828800" y="3438144"/>
            <a:ext cx="7772400" cy="365760"/>
          </a:xfrm>
          <a:prstGeom prst="rect">
            <a:avLst/>
          </a:prstGeom>
          <a:noFill/>
        </p:spPr>
        <p:txBody>
          <a:bodyPr wrap="square" lIns="0" rIns="0" tIns="0" bIns="0" anchor="t">
            <a:spAutoFit/>
          </a:bodyPr>
          <a:lstStyle/>
          <a:p>
            <a:pPr algn="l"/>
            <a:r>
              <a:rPr sz="1600" b="1">
                <a:solidFill>
                  <a:srgbClr val="0B3041"/>
                </a:solidFill>
                <a:latin typeface="游ゴシック"/>
                <a:ea typeface="游ゴシック"/>
              </a:rPr>
              <a:t>組織、拠点、設備等</a:t>
            </a:r>
          </a:p>
        </p:txBody>
      </p:sp>
      <p:sp>
        <p:nvSpPr>
          <p:cNvPr id="18" name="TextBox 17"/>
          <p:cNvSpPr txBox="1"/>
          <p:nvPr/>
        </p:nvSpPr>
        <p:spPr>
          <a:xfrm>
            <a:off x="1828800" y="3831336"/>
            <a:ext cx="7772400" cy="320040"/>
          </a:xfrm>
          <a:prstGeom prst="rect">
            <a:avLst/>
          </a:prstGeom>
          <a:noFill/>
        </p:spPr>
        <p:txBody>
          <a:bodyPr wrap="square" lIns="0" rIns="0" tIns="0" bIns="0" anchor="t">
            <a:spAutoFit/>
          </a:bodyPr>
          <a:lstStyle/>
          <a:p>
            <a:pPr algn="l"/>
            <a:r>
              <a:rPr sz="1000" b="0">
                <a:solidFill>
                  <a:srgbClr val="5A6670"/>
                </a:solidFill>
                <a:latin typeface="游ゴシック"/>
                <a:ea typeface="游ゴシック"/>
              </a:rPr>
              <a:t>組織図／株主及び役員／従業員／拠点・不動産</a:t>
            </a:r>
          </a:p>
        </p:txBody>
      </p:sp>
      <p:sp>
        <p:nvSpPr>
          <p:cNvPr id="19" name="Rectangle 18"/>
          <p:cNvSpPr/>
          <p:nvPr/>
        </p:nvSpPr>
        <p:spPr>
          <a:xfrm>
            <a:off x="1828800" y="4242816"/>
            <a:ext cx="7863840"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43984"/>
            <a:ext cx="822960" cy="640080"/>
          </a:xfrm>
          <a:prstGeom prst="rect">
            <a:avLst/>
          </a:prstGeom>
          <a:noFill/>
        </p:spPr>
        <p:txBody>
          <a:bodyPr wrap="square" lIns="0" rIns="0" tIns="0" bIns="0" anchor="t">
            <a:spAutoFit/>
          </a:bodyPr>
          <a:lstStyle/>
          <a:p>
            <a:pPr algn="l"/>
            <a:r>
              <a:rPr sz="2600" b="1">
                <a:solidFill>
                  <a:srgbClr val="0889C9"/>
                </a:solidFill>
                <a:latin typeface="Arial"/>
                <a:ea typeface="游ゴシック"/>
              </a:rPr>
              <a:t>04</a:t>
            </a:r>
          </a:p>
        </p:txBody>
      </p:sp>
      <p:sp>
        <p:nvSpPr>
          <p:cNvPr id="21" name="TextBox 20"/>
          <p:cNvSpPr txBox="1"/>
          <p:nvPr/>
        </p:nvSpPr>
        <p:spPr>
          <a:xfrm>
            <a:off x="1828800" y="4462272"/>
            <a:ext cx="7772400" cy="365760"/>
          </a:xfrm>
          <a:prstGeom prst="rect">
            <a:avLst/>
          </a:prstGeom>
          <a:noFill/>
        </p:spPr>
        <p:txBody>
          <a:bodyPr wrap="square" lIns="0" rIns="0" tIns="0" bIns="0" anchor="t">
            <a:spAutoFit/>
          </a:bodyPr>
          <a:lstStyle/>
          <a:p>
            <a:pPr algn="l"/>
            <a:r>
              <a:rPr sz="1600" b="1">
                <a:solidFill>
                  <a:srgbClr val="0B3041"/>
                </a:solidFill>
                <a:latin typeface="游ゴシック"/>
                <a:ea typeface="游ゴシック"/>
              </a:rPr>
              <a:t>財務情報詳細</a:t>
            </a:r>
          </a:p>
        </p:txBody>
      </p:sp>
      <p:sp>
        <p:nvSpPr>
          <p:cNvPr id="22" name="TextBox 21"/>
          <p:cNvSpPr txBox="1"/>
          <p:nvPr/>
        </p:nvSpPr>
        <p:spPr>
          <a:xfrm>
            <a:off x="1828800" y="4855464"/>
            <a:ext cx="7772400" cy="320040"/>
          </a:xfrm>
          <a:prstGeom prst="rect">
            <a:avLst/>
          </a:prstGeom>
          <a:noFill/>
        </p:spPr>
        <p:txBody>
          <a:bodyPr wrap="square" lIns="0" rIns="0" tIns="0" bIns="0" anchor="t">
            <a:spAutoFit/>
          </a:bodyPr>
          <a:lstStyle/>
          <a:p>
            <a:pPr algn="l"/>
            <a:r>
              <a:rPr sz="1000" b="0">
                <a:solidFill>
                  <a:srgbClr val="5A6670"/>
                </a:solidFill>
                <a:latin typeface="游ゴシック"/>
                <a:ea typeface="游ゴシック"/>
              </a:rPr>
              <a:t>貸借対照表／損益計算書／販売費及び一般管理費／進行期業績</a:t>
            </a:r>
          </a:p>
        </p:txBody>
      </p:sp>
      <p:sp>
        <p:nvSpPr>
          <p:cNvPr id="23" name="Rectangle 22"/>
          <p:cNvSpPr/>
          <p:nvPr/>
        </p:nvSpPr>
        <p:spPr>
          <a:xfrm>
            <a:off x="1828800" y="5266944"/>
            <a:ext cx="7863840"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468112"/>
            <a:ext cx="822960" cy="640080"/>
          </a:xfrm>
          <a:prstGeom prst="rect">
            <a:avLst/>
          </a:prstGeom>
          <a:noFill/>
        </p:spPr>
        <p:txBody>
          <a:bodyPr wrap="square" lIns="0" rIns="0" tIns="0" bIns="0" anchor="t">
            <a:spAutoFit/>
          </a:bodyPr>
          <a:lstStyle/>
          <a:p>
            <a:pPr algn="l"/>
            <a:r>
              <a:rPr sz="2600" b="1">
                <a:solidFill>
                  <a:srgbClr val="0889C9"/>
                </a:solidFill>
                <a:latin typeface="Arial"/>
                <a:ea typeface="游ゴシック"/>
              </a:rPr>
              <a:t>05</a:t>
            </a:r>
          </a:p>
        </p:txBody>
      </p:sp>
      <p:sp>
        <p:nvSpPr>
          <p:cNvPr id="25" name="TextBox 24"/>
          <p:cNvSpPr txBox="1"/>
          <p:nvPr/>
        </p:nvSpPr>
        <p:spPr>
          <a:xfrm>
            <a:off x="1828800" y="5486400"/>
            <a:ext cx="7772400" cy="365760"/>
          </a:xfrm>
          <a:prstGeom prst="rect">
            <a:avLst/>
          </a:prstGeom>
          <a:noFill/>
        </p:spPr>
        <p:txBody>
          <a:bodyPr wrap="square" lIns="0" rIns="0" tIns="0" bIns="0" anchor="t">
            <a:spAutoFit/>
          </a:bodyPr>
          <a:lstStyle/>
          <a:p>
            <a:pPr algn="l"/>
            <a:r>
              <a:rPr sz="1600" b="1">
                <a:solidFill>
                  <a:srgbClr val="0B3041"/>
                </a:solidFill>
                <a:latin typeface="游ゴシック"/>
                <a:ea typeface="游ゴシック"/>
              </a:rPr>
              <a:t>Appendix</a:t>
            </a:r>
          </a:p>
        </p:txBody>
      </p:sp>
      <p:sp>
        <p:nvSpPr>
          <p:cNvPr id="26" name="TextBox 25"/>
          <p:cNvSpPr txBox="1"/>
          <p:nvPr/>
        </p:nvSpPr>
        <p:spPr>
          <a:xfrm>
            <a:off x="1828800" y="5879592"/>
            <a:ext cx="7772400" cy="320040"/>
          </a:xfrm>
          <a:prstGeom prst="rect">
            <a:avLst/>
          </a:prstGeom>
          <a:noFill/>
        </p:spPr>
        <p:txBody>
          <a:bodyPr wrap="square" lIns="0" rIns="0" tIns="0" bIns="0" anchor="t">
            <a:spAutoFit/>
          </a:bodyPr>
          <a:lstStyle/>
          <a:p>
            <a:pPr algn="l"/>
            <a:r>
              <a:rPr sz="1000" b="0">
                <a:solidFill>
                  <a:srgbClr val="5A6670"/>
                </a:solidFill>
                <a:latin typeface="游ゴシック"/>
                <a:ea typeface="游ゴシック"/>
              </a:rPr>
              <a:t>沿革</a:t>
            </a:r>
          </a:p>
        </p:txBody>
      </p:sp>
      <p:sp>
        <p:nvSpPr>
          <p:cNvPr id="27" name="Rectangle 26"/>
          <p:cNvSpPr/>
          <p:nvPr/>
        </p:nvSpPr>
        <p:spPr>
          <a:xfrm>
            <a:off x="1828800" y="6291072"/>
            <a:ext cx="7863840"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73152" cy="10972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063240"/>
            <a:ext cx="7315200" cy="548640"/>
          </a:xfrm>
          <a:prstGeom prst="rect">
            <a:avLst/>
          </a:prstGeom>
          <a:noFill/>
        </p:spPr>
        <p:txBody>
          <a:bodyPr wrap="square" lIns="0" rIns="0" tIns="0" bIns="0" anchor="t">
            <a:spAutoFit/>
          </a:bodyPr>
          <a:lstStyle/>
          <a:p>
            <a:pPr algn="l"/>
            <a:r>
              <a:rPr sz="2800" b="1">
                <a:solidFill>
                  <a:srgbClr val="0889C9"/>
                </a:solidFill>
                <a:latin typeface="Arial"/>
                <a:ea typeface="游ゴシック"/>
              </a:rPr>
              <a:t>01</a:t>
            </a:r>
          </a:p>
        </p:txBody>
      </p:sp>
      <p:sp>
        <p:nvSpPr>
          <p:cNvPr id="5" name="TextBox 4"/>
          <p:cNvSpPr txBox="1"/>
          <p:nvPr/>
        </p:nvSpPr>
        <p:spPr>
          <a:xfrm>
            <a:off x="1051560" y="3611880"/>
            <a:ext cx="8229600" cy="640080"/>
          </a:xfrm>
          <a:prstGeom prst="rect">
            <a:avLst/>
          </a:prstGeom>
          <a:noFill/>
        </p:spPr>
        <p:txBody>
          <a:bodyPr wrap="square" lIns="0" rIns="0" tIns="0" bIns="0" anchor="t">
            <a:spAutoFit/>
          </a:bodyPr>
          <a:lstStyle/>
          <a:p>
            <a:pPr algn="l"/>
            <a:r>
              <a:rPr sz="2800" b="1">
                <a:solidFill>
                  <a:srgbClr val="FFFFFF"/>
                </a:solidFill>
                <a:latin typeface="游ゴシック"/>
                <a:ea typeface="游ゴシック"/>
              </a:rPr>
              <a:t>エグゼクティブサマリー</a:t>
            </a:r>
          </a:p>
        </p:txBody>
      </p:sp>
      <p:sp>
        <p:nvSpPr>
          <p:cNvPr id="6" name="TextBox 5"/>
          <p:cNvSpPr txBox="1"/>
          <p:nvPr/>
        </p:nvSpPr>
        <p:spPr>
          <a:xfrm>
            <a:off x="1051560" y="4434840"/>
            <a:ext cx="8229600" cy="1828800"/>
          </a:xfrm>
          <a:prstGeom prst="rect">
            <a:avLst/>
          </a:prstGeom>
          <a:noFill/>
        </p:spPr>
        <p:txBody>
          <a:bodyPr wrap="square" lIns="0" rIns="0" tIns="0" bIns="0" anchor="t">
            <a:spAutoFit/>
          </a:bodyPr>
          <a:lstStyle/>
          <a:p>
            <a:pPr algn="l">
              <a:spcAft>
                <a:spcPts val="400"/>
              </a:spcAft>
            </a:pPr>
            <a:r>
              <a:rPr sz="1200" b="0">
                <a:solidFill>
                  <a:srgbClr val="C8D6DE"/>
                </a:solidFill>
                <a:latin typeface="游ゴシック"/>
                <a:ea typeface="游ゴシック"/>
              </a:rPr>
              <a:t>・基本情報</a:t>
            </a:r>
          </a:p>
          <a:p>
            <a:pPr algn="l">
              <a:spcAft>
                <a:spcPts val="400"/>
              </a:spcAft>
            </a:pPr>
            <a:r>
              <a:rPr sz="1200" b="0">
                <a:solidFill>
                  <a:srgbClr val="C8D6DE"/>
                </a:solidFill>
                <a:latin typeface="游ゴシック"/>
                <a:ea typeface="游ゴシック"/>
              </a:rPr>
              <a:t>・財務ハイライト（P/L）</a:t>
            </a:r>
          </a:p>
          <a:p>
            <a:pPr algn="l">
              <a:spcAft>
                <a:spcPts val="400"/>
              </a:spcAft>
            </a:pPr>
            <a:r>
              <a:rPr sz="1200" b="0">
                <a:solidFill>
                  <a:srgbClr val="C8D6DE"/>
                </a:solidFill>
                <a:latin typeface="游ゴシック"/>
                <a:ea typeface="游ゴシック"/>
              </a:rPr>
              <a:t>・財務ハイライト（B/S）</a:t>
            </a:r>
          </a:p>
          <a:p>
            <a:pPr algn="l">
              <a:spcAft>
                <a:spcPts val="400"/>
              </a:spcAft>
            </a:pPr>
            <a:r>
              <a:rPr sz="1200" b="0">
                <a:solidFill>
                  <a:srgbClr val="C8D6DE"/>
                </a:solidFill>
                <a:latin typeface="游ゴシック"/>
                <a:ea typeface="游ゴシック"/>
              </a:rPr>
              <a:t>・譲渡希望条件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基本情報</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エグゼクティブサマリー</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鶴岡市で1973年から青果物の卸売を営み、自ら地方卸売市場を運営。年商約12億円を3期安定して維持し、市場用地・施設を自社で保有</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5</a:t>
            </a:r>
          </a:p>
        </p:txBody>
      </p:sp>
      <p:graphicFrame>
        <p:nvGraphicFramePr>
          <p:cNvPr id="9" name="Table 8"/>
          <p:cNvGraphicFramePr>
            <a:graphicFrameLocks noGrp="1"/>
          </p:cNvGraphicFramePr>
          <p:nvPr/>
        </p:nvGraphicFramePr>
        <p:xfrm>
          <a:off x="411480" y="1463040"/>
          <a:ext cx="5989320" cy="4279392"/>
        </p:xfrm>
        <a:graphic>
          <a:graphicData uri="http://schemas.openxmlformats.org/drawingml/2006/table">
            <a:tbl>
              <a:tblPr firstRow="0" bandRow="0">
                <a:tableStyleId>{5940675A-B579-460E-94D1-54222C63F5DA}</a:tableStyleId>
              </a:tblPr>
              <a:tblGrid>
                <a:gridCol w="1371600"/>
                <a:gridCol w="4617720"/>
              </a:tblGrid>
              <a:tr h="329184">
                <a:tc>
                  <a:txBody>
                    <a:bodyPr wrap="square"/>
                    <a:lstStyle/>
                    <a:p>
                      <a:pPr algn="ctr"/>
                      <a:r>
                        <a:rPr sz="850" b="1">
                          <a:solidFill>
                            <a:srgbClr val="FFFFFF"/>
                          </a:solidFill>
                          <a:latin typeface="游ゴシック"/>
                          <a:ea typeface="游ゴシック"/>
                        </a:rPr>
                        <a:t>項目</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内容</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商号</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株式会社鶴岡中央青果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本店所在地</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山形県鶴岡市宝田一丁目4番20号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設立</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1973年（昭和48年）11月22日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代表者</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代表取締役　岡部 寛</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資本金</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40,000千円</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発行済株式総数</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4,000株（発行可能株式総数5,000株、譲渡制限あり：取締役会の承認）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事業内容</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青果物（野菜・果実）の卸売（鶴岡市宝田における地方卸売市場の開設・運営および卸売業）、包装資材・肥料等の販売、パッケージ（小分け・包装）業務、倉庫業</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機関設計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取締役会設置会社／監査役設置会社（監査の範囲を会計に限定）</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従業員数</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職員名簿24名（うち正社員等17名・嘱託/再雇用/試用3名・パート3名・アルバイト1名）＋常勤役員2名（2026年9月1日現在）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決算期</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Arial"/>
                          <a:ea typeface="游ゴシック"/>
                        </a:rPr>
                        <a:t>3月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営業時間／定休日</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早朝6時〜（終業時刻は要確認）／水・日・祝日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850" b="0">
                          <a:solidFill>
                            <a:srgbClr val="1A1A1A"/>
                          </a:solidFill>
                          <a:latin typeface="游ゴシック"/>
                          <a:ea typeface="游ゴシック"/>
                        </a:rPr>
                        <a:t>主要取引金融機関</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鶴岡信用金庫、山形銀行、荘内銀行、日本政策金融公庫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Rectangle 9"/>
          <p:cNvSpPr/>
          <p:nvPr/>
        </p:nvSpPr>
        <p:spPr>
          <a:xfrm>
            <a:off x="6583680" y="1463040"/>
            <a:ext cx="3694176" cy="2926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100" b="1">
                <a:solidFill>
                  <a:srgbClr val="FFFFFF"/>
                </a:solidFill>
                <a:latin typeface="游ゴシック"/>
                <a:ea typeface="游ゴシック"/>
              </a:rPr>
              <a:t>本件のポイント</a:t>
            </a:r>
          </a:p>
        </p:txBody>
      </p:sp>
      <p:sp>
        <p:nvSpPr>
          <p:cNvPr id="11" name="Rectangle 10"/>
          <p:cNvSpPr/>
          <p:nvPr/>
        </p:nvSpPr>
        <p:spPr>
          <a:xfrm>
            <a:off x="6583680" y="1847088"/>
            <a:ext cx="3694176" cy="9326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地域の青果流通インフラ</a:t>
            </a:r>
          </a:p>
          <a:p>
            <a:pPr algn="l"/>
            <a:r>
              <a:rPr sz="900" b="0">
                <a:solidFill>
                  <a:srgbClr val="1A1A1A"/>
                </a:solidFill>
                <a:latin typeface="游ゴシック"/>
                <a:ea typeface="游ゴシック"/>
              </a:rPr>
              <a:t>開設者兼卸売業者として鶴岡市宝田で青果市場を運営（山形県の地方卸売市場一覧に掲載）。セリ人資格者3名が在籍</a:t>
            </a:r>
          </a:p>
        </p:txBody>
      </p:sp>
      <p:sp>
        <p:nvSpPr>
          <p:cNvPr id="12" name="Rectangle 11"/>
          <p:cNvSpPr/>
          <p:nvPr/>
        </p:nvSpPr>
        <p:spPr>
          <a:xfrm>
            <a:off x="6583680" y="2834640"/>
            <a:ext cx="3694176" cy="9326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安定した売上規模</a:t>
            </a:r>
          </a:p>
          <a:p>
            <a:pPr algn="l"/>
            <a:r>
              <a:rPr sz="900" b="0">
                <a:solidFill>
                  <a:srgbClr val="1A1A1A"/>
                </a:solidFill>
                <a:latin typeface="游ゴシック"/>
                <a:ea typeface="游ゴシック"/>
              </a:rPr>
              <a:t>売上高は1,178→1,182→1,196百万円と横ばい〜微増。量販店・生協・学校給食・近隣市場へ分散販売</a:t>
            </a:r>
          </a:p>
        </p:txBody>
      </p:sp>
      <p:sp>
        <p:nvSpPr>
          <p:cNvPr id="13" name="Rectangle 12"/>
          <p:cNvSpPr/>
          <p:nvPr/>
        </p:nvSpPr>
        <p:spPr>
          <a:xfrm>
            <a:off x="6583680" y="3822191"/>
            <a:ext cx="3694176" cy="9326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事業用不動産を自社保有</a:t>
            </a:r>
          </a:p>
          <a:p>
            <a:pPr algn="l"/>
            <a:r>
              <a:rPr sz="900" b="0">
                <a:solidFill>
                  <a:srgbClr val="1A1A1A"/>
                </a:solidFill>
                <a:latin typeface="游ゴシック"/>
                <a:ea typeface="游ゴシック"/>
              </a:rPr>
              <a:t>本社市場・パッケージ場等の土地4,263㎡、建物延床2,013㎡を保有（賃借物件なし）</a:t>
            </a:r>
          </a:p>
        </p:txBody>
      </p:sp>
      <p:sp>
        <p:nvSpPr>
          <p:cNvPr id="14" name="Rectangle 13"/>
          <p:cNvSpPr/>
          <p:nvPr/>
        </p:nvSpPr>
        <p:spPr>
          <a:xfrm>
            <a:off x="6583680" y="4809744"/>
            <a:ext cx="3694176" cy="9326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付加価値機能</a:t>
            </a:r>
          </a:p>
          <a:p>
            <a:pPr algn="l"/>
            <a:r>
              <a:rPr sz="900" b="0">
                <a:solidFill>
                  <a:srgbClr val="1A1A1A"/>
                </a:solidFill>
                <a:latin typeface="游ゴシック"/>
                <a:ea typeface="游ゴシック"/>
              </a:rPr>
              <a:t>パッケージ部（小分け・包装）、集配部、資材・肥料販売を併営し、量販店向けセンター業務の受託も推察される</a:t>
            </a:r>
          </a:p>
        </p:txBody>
      </p:sp>
      <p:sp>
        <p:nvSpPr>
          <p:cNvPr id="15" name="Rectangle 14"/>
          <p:cNvSpPr/>
          <p:nvPr/>
        </p:nvSpPr>
        <p:spPr>
          <a:xfrm>
            <a:off x="6583680" y="5797296"/>
            <a:ext cx="3694176" cy="9326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課題（要確認）</a:t>
            </a:r>
          </a:p>
          <a:p>
            <a:pPr algn="l"/>
            <a:r>
              <a:rPr sz="900" b="0">
                <a:solidFill>
                  <a:srgbClr val="1A1A1A"/>
                </a:solidFill>
                <a:latin typeface="游ゴシック"/>
                <a:ea typeface="游ゴシック"/>
              </a:rPr>
              <a:t>粗利率の低下（18.6%→16.6%）、借入金361百万円、主要施設の築年数（1981〜82年築）</a:t>
            </a:r>
          </a:p>
        </p:txBody>
      </p:sp>
      <p:sp>
        <p:nvSpPr>
          <p:cNvPr id="16" name="TextBox 15"/>
          <p:cNvSpPr txBox="1"/>
          <p:nvPr/>
        </p:nvSpPr>
        <p:spPr>
          <a:xfrm>
            <a:off x="411480" y="6784848"/>
            <a:ext cx="9866376" cy="41148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出所：履歴事項全部証明書（2026年9月10日現在）、決算書、職員名簿（2026年9月1日現在）。営業時間は法人事業概況説明書の記載（開店6時・閉店5時）による。Webサイト（turu-chu.co.jp）の存在を確認しているが、内容は要確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財務ハイライト（P/L）</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エグゼクティブサマリー</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売上高は約12億円で安定。粗利率の低下を役員報酬・賞与・償却費の減少で補い、2026/3期は営業黒字へ回復。調整後EBITDAは3期平均14,719千円</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6</a:t>
            </a:r>
          </a:p>
        </p:txBody>
      </p:sp>
      <p:graphicFrame>
        <p:nvGraphicFramePr>
          <p:cNvPr id="9" name="Table 8"/>
          <p:cNvGraphicFramePr>
            <a:graphicFrameLocks noGrp="1"/>
          </p:cNvGraphicFramePr>
          <p:nvPr/>
        </p:nvGraphicFramePr>
        <p:xfrm>
          <a:off x="411480" y="1463040"/>
          <a:ext cx="5120639" cy="3008376"/>
        </p:xfrm>
        <a:graphic>
          <a:graphicData uri="http://schemas.openxmlformats.org/drawingml/2006/table">
            <a:tbl>
              <a:tblPr firstRow="0" bandRow="0">
                <a:tableStyleId>{5940675A-B579-460E-94D1-54222C63F5DA}</a:tableStyleId>
              </a:tblPr>
              <a:tblGrid>
                <a:gridCol w="1762843"/>
                <a:gridCol w="839449"/>
                <a:gridCol w="839449"/>
                <a:gridCol w="839449"/>
                <a:gridCol w="839449"/>
              </a:tblGrid>
              <a:tr h="214884">
                <a:tc>
                  <a:txBody>
                    <a:bodyPr wrap="square"/>
                    <a:lstStyle/>
                    <a:p>
                      <a:pPr algn="ctr"/>
                      <a:r>
                        <a:rPr sz="8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3期平均</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1">
                          <a:solidFill>
                            <a:srgbClr val="1A1A1A"/>
                          </a:solidFill>
                          <a:latin typeface="游ゴシック"/>
                          <a:ea typeface="游ゴシック"/>
                        </a:rPr>
                        <a:t>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1,178,489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1,181,947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1,195,893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1,185,443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売上総利益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219,580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211,296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199,011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209,962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　売上総利益率</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販売費及び一般管理費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214,823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215,718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193,151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207,898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1">
                          <a:solidFill>
                            <a:srgbClr val="1A1A1A"/>
                          </a:solidFill>
                          <a:latin typeface="游ゴシック"/>
                          <a:ea typeface="游ゴシック"/>
                        </a:rPr>
                        <a:t>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4,757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△4,423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5,860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2,065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11,700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EBITDA</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18,420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8,135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14,739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13,765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　①役員報酬の正常化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　②賞与の正常化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△5,847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　③受取奨励金（純額）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2,315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2,418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2,304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1">
                          <a:solidFill>
                            <a:srgbClr val="1A1A1A"/>
                          </a:solidFill>
                          <a:latin typeface="游ゴシック"/>
                          <a:ea typeface="游ゴシック"/>
                        </a:rPr>
                        <a:t>調整後EBITDA</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23,279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13,129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7,750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14,719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経常利益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11,317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8,068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7,189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4884">
                <a:tc>
                  <a:txBody>
                    <a:bodyPr wrap="square"/>
                    <a:lstStyle/>
                    <a:p>
                      <a:pPr algn="l"/>
                      <a:r>
                        <a:rPr sz="850" b="0">
                          <a:solidFill>
                            <a:srgbClr val="1A1A1A"/>
                          </a:solidFill>
                          <a:latin typeface="游ゴシック"/>
                          <a:ea typeface="游ゴシック"/>
                        </a:rPr>
                        <a:t>当期純利益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9,107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2,929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△15,085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△1,016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0" name="Chart 9"/>
          <p:cNvGraphicFramePr>
            <a:graphicFrameLocks noGrp="1"/>
          </p:cNvGraphicFramePr>
          <p:nvPr/>
        </p:nvGraphicFramePr>
        <p:xfrm>
          <a:off x="411480" y="4526280"/>
          <a:ext cx="5120640" cy="2194560"/>
        </p:xfrm>
        <a:graphic>
          <a:graphicData uri="http://schemas.openxmlformats.org/drawingml/2006/chart">
            <c:chart xmlns:c="http://schemas.openxmlformats.org/drawingml/2006/chart" r:id="rId2"/>
          </a:graphicData>
        </a:graphic>
      </p:graphicFrame>
      <p:sp>
        <p:nvSpPr>
          <p:cNvPr id="11" name="Rectangle 10"/>
          <p:cNvSpPr/>
          <p:nvPr/>
        </p:nvSpPr>
        <p:spPr>
          <a:xfrm>
            <a:off x="5715000" y="1463040"/>
            <a:ext cx="4562856"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2" name="Rectangle 11"/>
          <p:cNvSpPr/>
          <p:nvPr/>
        </p:nvSpPr>
        <p:spPr>
          <a:xfrm>
            <a:off x="5715000" y="1755648"/>
            <a:ext cx="4562856" cy="269748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850" b="1">
                <a:solidFill>
                  <a:srgbClr val="0889C9"/>
                </a:solidFill>
                <a:latin typeface="游ゴシック"/>
                <a:ea typeface="游ゴシック"/>
              </a:rPr>
              <a:t>≪売上高≫</a:t>
            </a:r>
          </a:p>
          <a:p>
            <a:pPr algn="l"/>
            <a:r>
              <a:rPr sz="850" b="0">
                <a:solidFill>
                  <a:srgbClr val="1A1A1A"/>
                </a:solidFill>
                <a:latin typeface="游ゴシック"/>
                <a:ea typeface="游ゴシック"/>
              </a:rPr>
              <a:t>1,178.5→1,181.9→1,195.9百万円（2期で+1.5%）。月次では7・8月にピーク（7月146百万円）。販売先別の増減要因は要確認。</a:t>
            </a:r>
          </a:p>
          <a:p>
            <a:pPr algn="l"/>
            <a:r>
              <a:rPr sz="850" b="1">
                <a:solidFill>
                  <a:srgbClr val="0889C9"/>
                </a:solidFill>
                <a:latin typeface="游ゴシック"/>
                <a:ea typeface="游ゴシック"/>
              </a:rPr>
              <a:t>≪売上総利益≫</a:t>
            </a:r>
          </a:p>
          <a:p>
            <a:pPr algn="l"/>
            <a:r>
              <a:rPr sz="850" b="0">
                <a:solidFill>
                  <a:srgbClr val="1A1A1A"/>
                </a:solidFill>
                <a:latin typeface="游ゴシック"/>
                <a:ea typeface="游ゴシック"/>
              </a:rPr>
              <a:t>粗利率は18.6%→17.9%→16.6%と低下。2期で仕入高が+4.5%と売上高の伸びを上回った。買付販売比率の上昇や仕入価格の上昇が要因と推察（要確認）。</a:t>
            </a:r>
          </a:p>
          <a:p>
            <a:pPr algn="l"/>
            <a:r>
              <a:rPr sz="850" b="1">
                <a:solidFill>
                  <a:srgbClr val="0889C9"/>
                </a:solidFill>
                <a:latin typeface="游ゴシック"/>
                <a:ea typeface="游ゴシック"/>
              </a:rPr>
              <a:t>≪営業利益≫</a:t>
            </a:r>
          </a:p>
          <a:p>
            <a:pPr algn="l"/>
            <a:r>
              <a:rPr sz="850" b="0">
                <a:solidFill>
                  <a:srgbClr val="1A1A1A"/>
                </a:solidFill>
                <a:latin typeface="游ゴシック"/>
                <a:ea typeface="游ゴシック"/>
              </a:rPr>
              <a:t>2025/3期は△4,423千円の赤字。2026/3期は売上総利益が12,285千円減少したものの、役員報酬6,840千円・賞与5,692千円・減価償却費3,679千円の減少により5,860千円の黒字。</a:t>
            </a:r>
          </a:p>
          <a:p>
            <a:pPr algn="l"/>
            <a:r>
              <a:rPr sz="850" b="1">
                <a:solidFill>
                  <a:srgbClr val="0889C9"/>
                </a:solidFill>
                <a:latin typeface="游ゴシック"/>
                <a:ea typeface="游ゴシック"/>
              </a:rPr>
              <a:t>≪見通し≫</a:t>
            </a:r>
          </a:p>
          <a:p>
            <a:pPr algn="l"/>
            <a:r>
              <a:rPr sz="850" b="0">
                <a:solidFill>
                  <a:srgbClr val="1A1A1A"/>
                </a:solidFill>
                <a:latin typeface="游ゴシック"/>
                <a:ea typeface="游ゴシック"/>
              </a:rPr>
              <a:t>2026年4〜7月累計の売上高411.2百万円（前年同期比△1.9%）、営業利益5.3百万円。繁忙期を含むため年換算はしない。</a:t>
            </a:r>
          </a:p>
        </p:txBody>
      </p:sp>
      <p:sp>
        <p:nvSpPr>
          <p:cNvPr id="13" name="Rectangle 12"/>
          <p:cNvSpPr/>
          <p:nvPr/>
        </p:nvSpPr>
        <p:spPr>
          <a:xfrm>
            <a:off x="5715000" y="4526280"/>
            <a:ext cx="4562856"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【調整項目】</a:t>
            </a:r>
          </a:p>
        </p:txBody>
      </p:sp>
      <p:sp>
        <p:nvSpPr>
          <p:cNvPr id="14" name="Rectangle 13"/>
          <p:cNvSpPr/>
          <p:nvPr/>
        </p:nvSpPr>
        <p:spPr>
          <a:xfrm>
            <a:off x="5715000" y="4818888"/>
            <a:ext cx="4562856" cy="190195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300"/>
              </a:spcAft>
            </a:pPr>
            <a:r>
              <a:rPr sz="850" b="1">
                <a:solidFill>
                  <a:srgbClr val="0889C9"/>
                </a:solidFill>
                <a:latin typeface="游ゴシック"/>
                <a:ea typeface="游ゴシック"/>
              </a:rPr>
              <a:t>≪役員報酬≫</a:t>
            </a:r>
            <a:r>
              <a:rPr sz="850" b="0">
                <a:solidFill>
                  <a:srgbClr val="1A1A1A"/>
                </a:solidFill>
                <a:latin typeface="游ゴシック"/>
                <a:ea typeface="游ゴシック"/>
              </a:rPr>
              <a:t> 代表者・配偶者の報酬（10,680／10,680／4,440千円）を後任経営者の想定報酬8,000千円に置換（仮定）</a:t>
            </a:r>
          </a:p>
          <a:p>
            <a:pPr algn="l">
              <a:spcAft>
                <a:spcPts val="300"/>
              </a:spcAft>
            </a:pPr>
            <a:r>
              <a:rPr sz="850" b="1">
                <a:solidFill>
                  <a:srgbClr val="0889C9"/>
                </a:solidFill>
                <a:latin typeface="游ゴシック"/>
                <a:ea typeface="游ゴシック"/>
              </a:rPr>
              <a:t>≪賞与≫</a:t>
            </a:r>
            <a:r>
              <a:rPr sz="850" b="0">
                <a:solidFill>
                  <a:srgbClr val="1A1A1A"/>
                </a:solidFill>
                <a:latin typeface="游ゴシック"/>
                <a:ea typeface="游ゴシック"/>
              </a:rPr>
              <a:t> 2026/3期は賞与の計上なし。前2期平均5,847千円を控除（仮説：支給再開を前提。要確認）</a:t>
            </a:r>
          </a:p>
          <a:p>
            <a:pPr algn="l">
              <a:spcAft>
                <a:spcPts val="300"/>
              </a:spcAft>
            </a:pPr>
            <a:r>
              <a:rPr sz="850" b="1">
                <a:solidFill>
                  <a:srgbClr val="0889C9"/>
                </a:solidFill>
                <a:latin typeface="游ゴシック"/>
                <a:ea typeface="游ゴシック"/>
              </a:rPr>
              <a:t>≪営業外≫</a:t>
            </a:r>
            <a:r>
              <a:rPr sz="850" b="0">
                <a:solidFill>
                  <a:srgbClr val="1A1A1A"/>
                </a:solidFill>
                <a:latin typeface="游ゴシック"/>
                <a:ea typeface="游ゴシック"/>
              </a:rPr>
              <a:t> 毎期経常的に発生する受取奨励金（純額）を事業収益として加算</a:t>
            </a:r>
          </a:p>
          <a:p>
            <a:pPr algn="l">
              <a:spcAft>
                <a:spcPts val="300"/>
              </a:spcAft>
            </a:pPr>
            <a:r>
              <a:rPr sz="850" b="1">
                <a:solidFill>
                  <a:srgbClr val="0B3041"/>
                </a:solidFill>
                <a:latin typeface="游ゴシック"/>
                <a:ea typeface="游ゴシック"/>
              </a:rPr>
              <a:t>✓ 調整後EBITDA（過去3期平均）は14,719千円（直近2期平均10,440千円）</a:t>
            </a:r>
          </a:p>
        </p:txBody>
      </p:sp>
      <p:sp>
        <p:nvSpPr>
          <p:cNvPr id="15" name="TextBox 14"/>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※2026/3期の当期純損失は、前期損益修正損20,900千円（過年度保険解約訂正額：事業保険積立金の取崩し）による。非経常損失として調整後EBITDAには影響しない。</a:t>
            </a:r>
          </a:p>
          <a:p>
            <a:pPr algn="l"/>
            <a:r>
              <a:rPr sz="700" b="0">
                <a:solidFill>
                  <a:srgbClr val="5A6670"/>
                </a:solidFill>
                <a:latin typeface="游ゴシック"/>
                <a:ea typeface="游ゴシック"/>
              </a:rPr>
              <a:t>※常務取締役（2026年5月退任、年6,600千円）の後任要否は未確定のため調整対象外。受託販売は2019年10月以降、手数料のみの純額表示。千円未満の端数処理により合計が一致しない場合があります。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財務ハイライト（B/S）</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エグゼクティブサマリー</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借入金を3期で154百万円返済し、ネットデットは150百万円。土地・建物は自社保有だが、土地の簿価は固定資産税評価額を大きく上回る</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7</a:t>
            </a:r>
          </a:p>
        </p:txBody>
      </p:sp>
      <p:graphicFrame>
        <p:nvGraphicFramePr>
          <p:cNvPr id="9" name="Table 8"/>
          <p:cNvGraphicFramePr>
            <a:graphicFrameLocks noGrp="1"/>
          </p:cNvGraphicFramePr>
          <p:nvPr/>
        </p:nvGraphicFramePr>
        <p:xfrm>
          <a:off x="411480" y="1463040"/>
          <a:ext cx="5760715" cy="3886200"/>
        </p:xfrm>
        <a:graphic>
          <a:graphicData uri="http://schemas.openxmlformats.org/drawingml/2006/table">
            <a:tbl>
              <a:tblPr firstRow="0" bandRow="0">
                <a:tableStyleId>{5940675A-B579-460E-94D1-54222C63F5DA}</a:tableStyleId>
              </a:tblPr>
              <a:tblGrid>
                <a:gridCol w="2285999"/>
                <a:gridCol w="868679"/>
                <a:gridCol w="868679"/>
                <a:gridCol w="868679"/>
                <a:gridCol w="868679"/>
              </a:tblGrid>
              <a:tr h="228600">
                <a:tc>
                  <a:txBody>
                    <a:bodyPr wrap="square"/>
                    <a:lstStyle/>
                    <a:p>
                      <a:pPr algn="ctr"/>
                      <a:r>
                        <a:rPr sz="8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2026/7末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339,553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259,719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162,087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売上債権（売掛金・資材肥料売掛金）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22,524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23,166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20,836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42,952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棚卸資産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36,648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1">
                          <a:solidFill>
                            <a:srgbClr val="1A1A1A"/>
                          </a:solidFill>
                          <a:latin typeface="游ゴシック"/>
                          <a:ea typeface="游ゴシック"/>
                        </a:rPr>
                        <a:t>流動資産計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375,589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303,101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249,705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244,251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建物・附属設備・構築物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116,961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109,688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103,750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103,750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32,003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33,003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事業保険積立金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1">
                          <a:solidFill>
                            <a:srgbClr val="1A1A1A"/>
                          </a:solidFill>
                          <a:latin typeface="游ゴシック"/>
                          <a:ea typeface="游ゴシック"/>
                        </a:rPr>
                        <a:t>資産合計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476,300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仕入債務（買掛金）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18,128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19,955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32,102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有利子負債（借入金）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514,690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434,046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337,862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預り保証金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10,270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負債合計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559,119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473,772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407,318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392,542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1">
                          <a:solidFill>
                            <a:srgbClr val="1A1A1A"/>
                          </a:solidFill>
                          <a:latin typeface="游ゴシック"/>
                          <a:ea typeface="游ゴシック"/>
                        </a:rPr>
                        <a:t>純資産</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92,828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93,757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77,873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83,757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0">
                          <a:solidFill>
                            <a:srgbClr val="1A1A1A"/>
                          </a:solidFill>
                          <a:latin typeface="游ゴシック"/>
                          <a:ea typeface="游ゴシック"/>
                        </a:rPr>
                        <a:t>自己資本比率</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50" b="1">
                          <a:solidFill>
                            <a:srgbClr val="1A1A1A"/>
                          </a:solidFill>
                          <a:latin typeface="游ゴシック"/>
                          <a:ea typeface="游ゴシック"/>
                        </a:rPr>
                        <a:t>ネットデット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175,137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174,327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150,171</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175,775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0" name="Table 9"/>
          <p:cNvGraphicFramePr>
            <a:graphicFrameLocks noGrp="1"/>
          </p:cNvGraphicFramePr>
          <p:nvPr/>
        </p:nvGraphicFramePr>
        <p:xfrm>
          <a:off x="411480" y="5440680"/>
          <a:ext cx="5760720" cy="1280160"/>
        </p:xfrm>
        <a:graphic>
          <a:graphicData uri="http://schemas.openxmlformats.org/drawingml/2006/table">
            <a:tbl>
              <a:tblPr firstRow="0" bandRow="0">
                <a:tableStyleId>{5940675A-B579-460E-94D1-54222C63F5DA}</a:tableStyleId>
              </a:tblPr>
              <a:tblGrid>
                <a:gridCol w="3931920"/>
                <a:gridCol w="1828800"/>
              </a:tblGrid>
              <a:tr h="182880">
                <a:tc>
                  <a:txBody>
                    <a:bodyPr wrap="square"/>
                    <a:lstStyle/>
                    <a:p>
                      <a:pPr algn="ctr"/>
                      <a:r>
                        <a:rPr sz="800" b="1">
                          <a:solidFill>
                            <a:srgbClr val="FFFFFF"/>
                          </a:solidFill>
                          <a:latin typeface="游ゴシック"/>
                          <a:ea typeface="游ゴシック"/>
                        </a:rPr>
                        <a:t>借入先（2026/3末）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残高（千円）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800" b="0">
                          <a:solidFill>
                            <a:srgbClr val="1A1A1A"/>
                          </a:solidFill>
                          <a:latin typeface="游ゴシック"/>
                          <a:ea typeface="游ゴシック"/>
                        </a:rPr>
                        <a:t>鶴岡信用金庫 本店営業部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182,840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800" b="0">
                          <a:solidFill>
                            <a:srgbClr val="1A1A1A"/>
                          </a:solidFill>
                          <a:latin typeface="游ゴシック"/>
                          <a:ea typeface="游ゴシック"/>
                        </a:rPr>
                        <a:t>山形銀行 鶴岡支店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70,250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800" b="0">
                          <a:solidFill>
                            <a:srgbClr val="1A1A1A"/>
                          </a:solidFill>
                          <a:latin typeface="游ゴシック"/>
                          <a:ea typeface="游ゴシック"/>
                        </a:rPr>
                        <a:t>日本政策金融公庫 山形支店（1）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60,730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800" b="0">
                          <a:solidFill>
                            <a:srgbClr val="1A1A1A"/>
                          </a:solidFill>
                          <a:latin typeface="游ゴシック"/>
                          <a:ea typeface="游ゴシック"/>
                        </a:rPr>
                        <a:t>日本政策金融公庫 山形支店（2）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39,380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800" b="0">
                          <a:solidFill>
                            <a:srgbClr val="1A1A1A"/>
                          </a:solidFill>
                          <a:latin typeface="游ゴシック"/>
                          <a:ea typeface="游ゴシック"/>
                        </a:rPr>
                        <a:t>日本政策金融公庫 山形支店（3）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7,858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361,058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Rectangle 10"/>
          <p:cNvSpPr/>
          <p:nvPr/>
        </p:nvSpPr>
        <p:spPr>
          <a:xfrm>
            <a:off x="6355080" y="1463040"/>
            <a:ext cx="3922776"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2" name="Rectangle 11"/>
          <p:cNvSpPr/>
          <p:nvPr/>
        </p:nvSpPr>
        <p:spPr>
          <a:xfrm>
            <a:off x="6355080" y="1755648"/>
            <a:ext cx="3922776" cy="496519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1">
                <a:solidFill>
                  <a:srgbClr val="0889C9"/>
                </a:solidFill>
                <a:latin typeface="游ゴシック"/>
                <a:ea typeface="游ゴシック"/>
              </a:rPr>
              <a:t>≪資金・借入≫</a:t>
            </a:r>
          </a:p>
          <a:p>
            <a:pPr algn="l">
              <a:spcAft>
                <a:spcPts val="200"/>
              </a:spcAft>
            </a:pPr>
            <a:r>
              <a:rPr sz="850" b="0">
                <a:solidFill>
                  <a:srgbClr val="1A1A1A"/>
                </a:solidFill>
                <a:latin typeface="游ゴシック"/>
                <a:ea typeface="游ゴシック"/>
              </a:rPr>
              <a:t>現預金は339.6→210.9百万円に減少した一方、借入金は514.7→361.1百万円へ減少。手元資金を借入返済に充当したとみられる（推察）。ネットデットは175.1→150.2百万円。</a:t>
            </a:r>
          </a:p>
          <a:p>
            <a:pPr algn="l">
              <a:spcAft>
                <a:spcPts val="200"/>
              </a:spcAft>
            </a:pPr>
            <a:r>
              <a:rPr sz="850" b="1">
                <a:solidFill>
                  <a:srgbClr val="0889C9"/>
                </a:solidFill>
                <a:latin typeface="游ゴシック"/>
                <a:ea typeface="游ゴシック"/>
              </a:rPr>
              <a:t>≪季節性≫</a:t>
            </a:r>
          </a:p>
          <a:p>
            <a:pPr algn="l">
              <a:spcAft>
                <a:spcPts val="200"/>
              </a:spcAft>
            </a:pPr>
            <a:r>
              <a:rPr sz="850" b="0">
                <a:solidFill>
                  <a:srgbClr val="1A1A1A"/>
                </a:solidFill>
                <a:latin typeface="游ゴシック"/>
                <a:ea typeface="游ゴシック"/>
              </a:rPr>
              <a:t>2026年7月末は繁忙期の売上債権43.0百万円・在庫36.6百万円に資金が滞留し、ネットデットは175.8百万円。</a:t>
            </a:r>
          </a:p>
          <a:p>
            <a:pPr algn="l">
              <a:spcAft>
                <a:spcPts val="200"/>
              </a:spcAft>
            </a:pPr>
            <a:r>
              <a:rPr sz="850" b="1">
                <a:solidFill>
                  <a:srgbClr val="0889C9"/>
                </a:solidFill>
                <a:latin typeface="游ゴシック"/>
                <a:ea typeface="游ゴシック"/>
              </a:rPr>
              <a:t>≪純資産≫</a:t>
            </a:r>
          </a:p>
          <a:p>
            <a:pPr algn="l">
              <a:spcAft>
                <a:spcPts val="200"/>
              </a:spcAft>
            </a:pPr>
            <a:r>
              <a:rPr sz="850" b="0">
                <a:solidFill>
                  <a:srgbClr val="1A1A1A"/>
                </a:solidFill>
                <a:latin typeface="游ゴシック"/>
                <a:ea typeface="游ゴシック"/>
              </a:rPr>
              <a:t>純資産77.9百万円（自己資本比率16.0%）。2026/3期は事業保険積立金の取崩し（前期損益修正損20.9百万円）により減少。</a:t>
            </a:r>
          </a:p>
          <a:p>
            <a:pPr algn="l">
              <a:spcAft>
                <a:spcPts val="200"/>
              </a:spcAft>
            </a:pPr>
            <a:r>
              <a:rPr sz="850" b="1">
                <a:solidFill>
                  <a:srgbClr val="0889C9"/>
                </a:solidFill>
                <a:latin typeface="游ゴシック"/>
                <a:ea typeface="游ゴシック"/>
              </a:rPr>
              <a:t>≪不動産≫</a:t>
            </a:r>
          </a:p>
          <a:p>
            <a:pPr algn="l">
              <a:spcAft>
                <a:spcPts val="200"/>
              </a:spcAft>
            </a:pPr>
            <a:r>
              <a:rPr sz="850" b="0">
                <a:solidFill>
                  <a:srgbClr val="1A1A1A"/>
                </a:solidFill>
                <a:latin typeface="游ゴシック"/>
                <a:ea typeface="游ゴシック"/>
              </a:rPr>
              <a:t>土地簿価93.1百万円に対し固定資産税評価額は47.5百万円（R8年度）。評価額÷0.7による時価推計は約68百万円であり、含み損の可能性がある（推察・要確認）。</a:t>
            </a:r>
          </a:p>
          <a:p>
            <a:pPr algn="l">
              <a:spcAft>
                <a:spcPts val="200"/>
              </a:spcAft>
            </a:pPr>
            <a:r>
              <a:rPr sz="850" b="1">
                <a:solidFill>
                  <a:srgbClr val="0889C9"/>
                </a:solidFill>
                <a:latin typeface="游ゴシック"/>
                <a:ea typeface="游ゴシック"/>
              </a:rPr>
              <a:t>≪保証金≫</a:t>
            </a:r>
          </a:p>
          <a:p>
            <a:pPr algn="l">
              <a:spcAft>
                <a:spcPts val="200"/>
              </a:spcAft>
            </a:pPr>
            <a:r>
              <a:rPr sz="850" b="0">
                <a:solidFill>
                  <a:srgbClr val="1A1A1A"/>
                </a:solidFill>
                <a:latin typeface="游ゴシック"/>
                <a:ea typeface="游ゴシック"/>
              </a:rPr>
              <a:t>保証金33.3百万円の大半（32.0百万円）は庄内青果物卸売精算(有)宛。性質・返還条件は要確認。</a:t>
            </a:r>
          </a:p>
        </p:txBody>
      </p:sp>
      <p:sp>
        <p:nvSpPr>
          <p:cNvPr id="13" name="TextBox 12"/>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※借入金は全額「長期借入金」として表示され、1年内返済予定額の区分なし。金利・返済条件・担保・代表者保証は要確認。預り保証金はネットデットに含めていない（債務類似項目として別途検討）。</a:t>
            </a:r>
          </a:p>
          <a:p>
            <a:pPr algn="l"/>
            <a:r>
              <a:rPr sz="700" b="0">
                <a:solidFill>
                  <a:srgbClr val="5A6670"/>
                </a:solidFill>
                <a:latin typeface="游ゴシック"/>
                <a:ea typeface="游ゴシック"/>
              </a:rPr>
              <a:t>※2026/7末は試算表（減価償却は月割計上）。千円未満の端数処理により合計が一致しない場合があります。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譲渡希望条件</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エグゼクティブサマリー</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譲渡条件は売主様と協議中。下記は現時点の想定であり、確定後に更新する</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8</a:t>
            </a:r>
          </a:p>
        </p:txBody>
      </p:sp>
      <p:sp>
        <p:nvSpPr>
          <p:cNvPr id="9" name="Rectangle 8"/>
          <p:cNvSpPr/>
          <p:nvPr/>
        </p:nvSpPr>
        <p:spPr>
          <a:xfrm>
            <a:off x="411480" y="1508760"/>
            <a:ext cx="914400" cy="91440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508760"/>
            <a:ext cx="914400" cy="914400"/>
          </a:xfrm>
          <a:prstGeom prst="rect">
            <a:avLst/>
          </a:prstGeom>
          <a:noFill/>
        </p:spPr>
        <p:txBody>
          <a:bodyPr wrap="square" lIns="0" rIns="0" tIns="0" bIns="0" anchor="ctr">
            <a:spAutoFit/>
          </a:bodyPr>
          <a:lstStyle/>
          <a:p>
            <a:pPr algn="ctr"/>
            <a:r>
              <a:rPr sz="1000" b="1">
                <a:solidFill>
                  <a:srgbClr val="FFFFFF"/>
                </a:solidFill>
                <a:latin typeface="游ゴシック"/>
                <a:ea typeface="游ゴシック"/>
              </a:rPr>
              <a:t>条件1</a:t>
            </a:r>
          </a:p>
          <a:p>
            <a:pPr algn="ctr"/>
            <a:r>
              <a:rPr sz="1000" b="1">
                <a:solidFill>
                  <a:srgbClr val="FFFFFF"/>
                </a:solidFill>
                <a:latin typeface="游ゴシック"/>
                <a:ea typeface="游ゴシック"/>
              </a:rPr>
              <a:t>スキーム</a:t>
            </a:r>
          </a:p>
        </p:txBody>
      </p:sp>
      <p:sp>
        <p:nvSpPr>
          <p:cNvPr id="11" name="Rectangle 10"/>
          <p:cNvSpPr/>
          <p:nvPr/>
        </p:nvSpPr>
        <p:spPr>
          <a:xfrm>
            <a:off x="1417320" y="1508760"/>
            <a:ext cx="8860536"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200" b="0">
                <a:solidFill>
                  <a:srgbClr val="1A1A1A"/>
                </a:solidFill>
                <a:latin typeface="游ゴシック"/>
                <a:ea typeface="游ゴシック"/>
              </a:rPr>
              <a:t>株式譲渡（発行済株式4,000株の100%）を想定（要確認）。親族外株主4名（970株・24.3%）を含む全株主の譲渡同意の取得方針は要確認。</a:t>
            </a:r>
          </a:p>
        </p:txBody>
      </p:sp>
      <p:sp>
        <p:nvSpPr>
          <p:cNvPr id="12" name="Rectangle 11"/>
          <p:cNvSpPr/>
          <p:nvPr/>
        </p:nvSpPr>
        <p:spPr>
          <a:xfrm>
            <a:off x="411480" y="2532888"/>
            <a:ext cx="914400" cy="91440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532888"/>
            <a:ext cx="914400" cy="914400"/>
          </a:xfrm>
          <a:prstGeom prst="rect">
            <a:avLst/>
          </a:prstGeom>
          <a:noFill/>
        </p:spPr>
        <p:txBody>
          <a:bodyPr wrap="square" lIns="0" rIns="0" tIns="0" bIns="0" anchor="ctr">
            <a:spAutoFit/>
          </a:bodyPr>
          <a:lstStyle/>
          <a:p>
            <a:pPr algn="ctr"/>
            <a:r>
              <a:rPr sz="1000" b="1">
                <a:solidFill>
                  <a:srgbClr val="FFFFFF"/>
                </a:solidFill>
                <a:latin typeface="游ゴシック"/>
                <a:ea typeface="游ゴシック"/>
              </a:rPr>
              <a:t>条件2</a:t>
            </a:r>
          </a:p>
          <a:p>
            <a:pPr algn="ctr"/>
            <a:r>
              <a:rPr sz="1000" b="1">
                <a:solidFill>
                  <a:srgbClr val="FFFFFF"/>
                </a:solidFill>
                <a:latin typeface="游ゴシック"/>
                <a:ea typeface="游ゴシック"/>
              </a:rPr>
              <a:t>希望価格</a:t>
            </a:r>
          </a:p>
        </p:txBody>
      </p:sp>
      <p:sp>
        <p:nvSpPr>
          <p:cNvPr id="14" name="Rectangle 13"/>
          <p:cNvSpPr/>
          <p:nvPr/>
        </p:nvSpPr>
        <p:spPr>
          <a:xfrm>
            <a:off x="1417320" y="2532888"/>
            <a:ext cx="8860536"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200" b="0">
                <a:solidFill>
                  <a:srgbClr val="1A1A1A"/>
                </a:solidFill>
                <a:latin typeface="游ゴシック"/>
                <a:ea typeface="游ゴシック"/>
              </a:rPr>
              <a:t>売主様と協議中（要確認）。</a:t>
            </a:r>
          </a:p>
        </p:txBody>
      </p:sp>
      <p:sp>
        <p:nvSpPr>
          <p:cNvPr id="15" name="Rectangle 14"/>
          <p:cNvSpPr/>
          <p:nvPr/>
        </p:nvSpPr>
        <p:spPr>
          <a:xfrm>
            <a:off x="411480" y="3557016"/>
            <a:ext cx="914400" cy="91440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3557016"/>
            <a:ext cx="914400" cy="914400"/>
          </a:xfrm>
          <a:prstGeom prst="rect">
            <a:avLst/>
          </a:prstGeom>
          <a:noFill/>
        </p:spPr>
        <p:txBody>
          <a:bodyPr wrap="square" lIns="0" rIns="0" tIns="0" bIns="0" anchor="ctr">
            <a:spAutoFit/>
          </a:bodyPr>
          <a:lstStyle/>
          <a:p>
            <a:pPr algn="ctr"/>
            <a:r>
              <a:rPr sz="1000" b="1">
                <a:solidFill>
                  <a:srgbClr val="FFFFFF"/>
                </a:solidFill>
                <a:latin typeface="游ゴシック"/>
                <a:ea typeface="游ゴシック"/>
              </a:rPr>
              <a:t>条件3</a:t>
            </a:r>
          </a:p>
          <a:p>
            <a:pPr algn="ctr"/>
            <a:r>
              <a:rPr sz="1000" b="1">
                <a:solidFill>
                  <a:srgbClr val="FFFFFF"/>
                </a:solidFill>
                <a:latin typeface="游ゴシック"/>
                <a:ea typeface="游ゴシック"/>
              </a:rPr>
              <a:t>付帯条件</a:t>
            </a:r>
          </a:p>
        </p:txBody>
      </p:sp>
      <p:sp>
        <p:nvSpPr>
          <p:cNvPr id="17" name="Rectangle 16"/>
          <p:cNvSpPr/>
          <p:nvPr/>
        </p:nvSpPr>
        <p:spPr>
          <a:xfrm>
            <a:off x="1417320" y="3557016"/>
            <a:ext cx="8860536"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200" b="0">
                <a:solidFill>
                  <a:srgbClr val="1A1A1A"/>
                </a:solidFill>
                <a:latin typeface="游ゴシック"/>
                <a:ea typeface="游ゴシック"/>
              </a:rPr>
              <a:t>従業員の雇用維持、取引先・出荷者との関係維持を想定（要確認）。金融機関借入に係る代表者保証の解除・差入担保の扱いは要確認。</a:t>
            </a:r>
          </a:p>
        </p:txBody>
      </p:sp>
      <p:sp>
        <p:nvSpPr>
          <p:cNvPr id="18" name="Rectangle 17"/>
          <p:cNvSpPr/>
          <p:nvPr/>
        </p:nvSpPr>
        <p:spPr>
          <a:xfrm>
            <a:off x="411480" y="4581144"/>
            <a:ext cx="914400"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4581144"/>
            <a:ext cx="914400" cy="914400"/>
          </a:xfrm>
          <a:prstGeom prst="rect">
            <a:avLst/>
          </a:prstGeom>
          <a:noFill/>
        </p:spPr>
        <p:txBody>
          <a:bodyPr wrap="square" lIns="0" rIns="0" tIns="0" bIns="0" anchor="ctr">
            <a:spAutoFit/>
          </a:bodyPr>
          <a:lstStyle/>
          <a:p>
            <a:pPr algn="ctr"/>
            <a:r>
              <a:rPr sz="1000" b="1">
                <a:solidFill>
                  <a:srgbClr val="FFFFFF"/>
                </a:solidFill>
                <a:latin typeface="游ゴシック"/>
                <a:ea typeface="游ゴシック"/>
              </a:rPr>
              <a:t>代表者の</a:t>
            </a:r>
          </a:p>
          <a:p>
            <a:pPr algn="ctr"/>
            <a:r>
              <a:rPr sz="1000" b="1">
                <a:solidFill>
                  <a:srgbClr val="FFFFFF"/>
                </a:solidFill>
                <a:latin typeface="游ゴシック"/>
                <a:ea typeface="游ゴシック"/>
              </a:rPr>
              <a:t>継続関与</a:t>
            </a:r>
          </a:p>
        </p:txBody>
      </p:sp>
      <p:sp>
        <p:nvSpPr>
          <p:cNvPr id="20" name="Rectangle 19"/>
          <p:cNvSpPr/>
          <p:nvPr/>
        </p:nvSpPr>
        <p:spPr>
          <a:xfrm>
            <a:off x="1417320" y="4581144"/>
            <a:ext cx="8860536"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200" b="0">
                <a:solidFill>
                  <a:srgbClr val="1A1A1A"/>
                </a:solidFill>
                <a:latin typeface="游ゴシック"/>
                <a:ea typeface="游ゴシック"/>
              </a:rPr>
              <a:t>代表取締役の譲渡後の関与（期間・役職・報酬）は要確認。セリ・仕入の引継ぎ体制と併せて確認する。</a:t>
            </a:r>
          </a:p>
        </p:txBody>
      </p:sp>
      <p:sp>
        <p:nvSpPr>
          <p:cNvPr id="21" name="Rectangle 20"/>
          <p:cNvSpPr/>
          <p:nvPr/>
        </p:nvSpPr>
        <p:spPr>
          <a:xfrm>
            <a:off x="411480" y="5605272"/>
            <a:ext cx="914400" cy="91440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5605272"/>
            <a:ext cx="914400" cy="914400"/>
          </a:xfrm>
          <a:prstGeom prst="rect">
            <a:avLst/>
          </a:prstGeom>
          <a:noFill/>
        </p:spPr>
        <p:txBody>
          <a:bodyPr wrap="square" lIns="0" rIns="0" tIns="0" bIns="0" anchor="ctr">
            <a:spAutoFit/>
          </a:bodyPr>
          <a:lstStyle/>
          <a:p>
            <a:pPr algn="ctr"/>
            <a:r>
              <a:rPr sz="1000" b="1">
                <a:solidFill>
                  <a:srgbClr val="FFFFFF"/>
                </a:solidFill>
                <a:latin typeface="游ゴシック"/>
                <a:ea typeface="游ゴシック"/>
              </a:rPr>
              <a:t>その他</a:t>
            </a:r>
          </a:p>
          <a:p>
            <a:pPr algn="ctr"/>
            <a:r>
              <a:rPr sz="1000" b="1">
                <a:solidFill>
                  <a:srgbClr val="FFFFFF"/>
                </a:solidFill>
                <a:latin typeface="游ゴシック"/>
                <a:ea typeface="游ゴシック"/>
              </a:rPr>
              <a:t>譲渡理由</a:t>
            </a:r>
          </a:p>
        </p:txBody>
      </p:sp>
      <p:sp>
        <p:nvSpPr>
          <p:cNvPr id="23" name="Rectangle 22"/>
          <p:cNvSpPr/>
          <p:nvPr/>
        </p:nvSpPr>
        <p:spPr>
          <a:xfrm>
            <a:off x="1417320" y="5605272"/>
            <a:ext cx="8860536"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200" b="0">
                <a:solidFill>
                  <a:srgbClr val="1A1A1A"/>
                </a:solidFill>
                <a:latin typeface="游ゴシック"/>
                <a:ea typeface="游ゴシック"/>
              </a:rPr>
              <a:t>要確認。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73152" cy="10972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063240"/>
            <a:ext cx="7315200" cy="548640"/>
          </a:xfrm>
          <a:prstGeom prst="rect">
            <a:avLst/>
          </a:prstGeom>
          <a:noFill/>
        </p:spPr>
        <p:txBody>
          <a:bodyPr wrap="square" lIns="0" rIns="0" tIns="0" bIns="0" anchor="t">
            <a:spAutoFit/>
          </a:bodyPr>
          <a:lstStyle/>
          <a:p>
            <a:pPr algn="l"/>
            <a:r>
              <a:rPr sz="2800" b="1">
                <a:solidFill>
                  <a:srgbClr val="0889C9"/>
                </a:solidFill>
                <a:latin typeface="Arial"/>
                <a:ea typeface="游ゴシック"/>
              </a:rPr>
              <a:t>02</a:t>
            </a:r>
          </a:p>
        </p:txBody>
      </p:sp>
      <p:sp>
        <p:nvSpPr>
          <p:cNvPr id="5" name="TextBox 4"/>
          <p:cNvSpPr txBox="1"/>
          <p:nvPr/>
        </p:nvSpPr>
        <p:spPr>
          <a:xfrm>
            <a:off x="1051560" y="3611880"/>
            <a:ext cx="8229600" cy="640080"/>
          </a:xfrm>
          <a:prstGeom prst="rect">
            <a:avLst/>
          </a:prstGeom>
          <a:noFill/>
        </p:spPr>
        <p:txBody>
          <a:bodyPr wrap="square" lIns="0" rIns="0" tIns="0" bIns="0" anchor="t">
            <a:spAutoFit/>
          </a:bodyPr>
          <a:lstStyle/>
          <a:p>
            <a:pPr algn="l"/>
            <a:r>
              <a:rPr sz="2800" b="1">
                <a:solidFill>
                  <a:srgbClr val="FFFFFF"/>
                </a:solidFill>
                <a:latin typeface="游ゴシック"/>
                <a:ea typeface="游ゴシック"/>
              </a:rPr>
              <a:t>事業概要</a:t>
            </a:r>
          </a:p>
        </p:txBody>
      </p:sp>
      <p:sp>
        <p:nvSpPr>
          <p:cNvPr id="6" name="TextBox 5"/>
          <p:cNvSpPr txBox="1"/>
          <p:nvPr/>
        </p:nvSpPr>
        <p:spPr>
          <a:xfrm>
            <a:off x="1051560" y="4434840"/>
            <a:ext cx="8229600" cy="1828800"/>
          </a:xfrm>
          <a:prstGeom prst="rect">
            <a:avLst/>
          </a:prstGeom>
          <a:noFill/>
        </p:spPr>
        <p:txBody>
          <a:bodyPr wrap="square" lIns="0" rIns="0" tIns="0" bIns="0" anchor="t">
            <a:spAutoFit/>
          </a:bodyPr>
          <a:lstStyle/>
          <a:p>
            <a:pPr algn="l">
              <a:spcAft>
                <a:spcPts val="400"/>
              </a:spcAft>
            </a:pPr>
            <a:r>
              <a:rPr sz="1200" b="0">
                <a:solidFill>
                  <a:srgbClr val="C8D6DE"/>
                </a:solidFill>
                <a:latin typeface="游ゴシック"/>
                <a:ea typeface="游ゴシック"/>
              </a:rPr>
              <a:t>・事業の仕組みと収益源</a:t>
            </a:r>
          </a:p>
          <a:p>
            <a:pPr algn="l">
              <a:spcAft>
                <a:spcPts val="400"/>
              </a:spcAft>
            </a:pPr>
            <a:r>
              <a:rPr sz="1200" b="0">
                <a:solidFill>
                  <a:srgbClr val="C8D6DE"/>
                </a:solidFill>
                <a:latin typeface="游ゴシック"/>
                <a:ea typeface="游ゴシック"/>
              </a:rPr>
              <a:t>・商流</a:t>
            </a:r>
          </a:p>
          <a:p>
            <a:pPr algn="l">
              <a:spcAft>
                <a:spcPts val="400"/>
              </a:spcAft>
            </a:pPr>
            <a:r>
              <a:rPr sz="1200" b="0">
                <a:solidFill>
                  <a:srgbClr val="C8D6DE"/>
                </a:solidFill>
                <a:latin typeface="游ゴシック"/>
                <a:ea typeface="游ゴシック"/>
              </a:rPr>
              <a:t>・売上の季節性</a:t>
            </a:r>
          </a:p>
          <a:p>
            <a:pPr algn="l">
              <a:spcAft>
                <a:spcPts val="400"/>
              </a:spcAft>
            </a:pPr>
            <a:r>
              <a:rPr sz="1200" b="0">
                <a:solidFill>
                  <a:srgbClr val="C8D6DE"/>
                </a:solidFill>
                <a:latin typeface="游ゴシック"/>
                <a:ea typeface="游ゴシック"/>
              </a:rPr>
              <a:t>・特徴・強みと課題</a:t>
            </a:r>
          </a:p>
          <a:p>
            <a:pPr algn="l">
              <a:spcAft>
                <a:spcPts val="400"/>
              </a:spcAft>
            </a:pPr>
            <a:r>
              <a:rPr sz="1200" b="0">
                <a:solidFill>
                  <a:srgbClr val="C8D6DE"/>
                </a:solidFill>
                <a:latin typeface="游ゴシック"/>
                <a:ea typeface="游ゴシック"/>
              </a:rPr>
              <a:t>・主要販売先・主要仕入先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事業の仕組みと収益源</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事業概要</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市場の開設者と卸売業者を一社で兼ね、買付・受託の卸売に加え、センター費・資材販売・パッケージ等の周辺機能で収益を補完する構造（推察を含む）</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10</a:t>
            </a:r>
          </a:p>
        </p:txBody>
      </p:sp>
      <p:sp>
        <p:nvSpPr>
          <p:cNvPr id="9" name="Rectangle 8"/>
          <p:cNvSpPr/>
          <p:nvPr/>
        </p:nvSpPr>
        <p:spPr>
          <a:xfrm>
            <a:off x="411480" y="192024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出荷者・仕入先</a:t>
            </a:r>
          </a:p>
        </p:txBody>
      </p:sp>
      <p:sp>
        <p:nvSpPr>
          <p:cNvPr id="10" name="Rectangle 9"/>
          <p:cNvSpPr/>
          <p:nvPr/>
        </p:nvSpPr>
        <p:spPr>
          <a:xfrm>
            <a:off x="411480" y="2194560"/>
            <a:ext cx="2103120" cy="77724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1A1A1A"/>
                </a:solidFill>
                <a:latin typeface="游ゴシック"/>
                <a:ea typeface="游ゴシック"/>
              </a:rPr>
              <a:t>生産者・農協（近郷）
他市場の卸売業者
産地業者 等</a:t>
            </a:r>
          </a:p>
        </p:txBody>
      </p:sp>
      <p:sp>
        <p:nvSpPr>
          <p:cNvPr id="11" name="Rectangle 10"/>
          <p:cNvSpPr/>
          <p:nvPr/>
        </p:nvSpPr>
        <p:spPr>
          <a:xfrm>
            <a:off x="3063240" y="1645920"/>
            <a:ext cx="28346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株式会社鶴岡中央青果</a:t>
            </a:r>
          </a:p>
        </p:txBody>
      </p:sp>
      <p:sp>
        <p:nvSpPr>
          <p:cNvPr id="12" name="Rectangle 11"/>
          <p:cNvSpPr/>
          <p:nvPr/>
        </p:nvSpPr>
        <p:spPr>
          <a:xfrm>
            <a:off x="3063240" y="1920240"/>
            <a:ext cx="2834640" cy="12801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1A1A1A"/>
                </a:solidFill>
                <a:latin typeface="游ゴシック"/>
                <a:ea typeface="游ゴシック"/>
              </a:rPr>
              <a:t>地方卸売市場の開設者兼卸売業者
（鶴岡市宝田）</a:t>
            </a:r>
          </a:p>
        </p:txBody>
      </p:sp>
      <p:sp>
        <p:nvSpPr>
          <p:cNvPr id="13" name="Rectangle 12"/>
          <p:cNvSpPr/>
          <p:nvPr/>
        </p:nvSpPr>
        <p:spPr>
          <a:xfrm>
            <a:off x="6446520" y="1508760"/>
            <a:ext cx="19202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仲卸業者・買参人</a:t>
            </a:r>
          </a:p>
        </p:txBody>
      </p:sp>
      <p:sp>
        <p:nvSpPr>
          <p:cNvPr id="14" name="Rectangle 13"/>
          <p:cNvSpPr/>
          <p:nvPr/>
        </p:nvSpPr>
        <p:spPr>
          <a:xfrm>
            <a:off x="6446520" y="1783080"/>
            <a:ext cx="1920240" cy="77724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1A1A1A"/>
                </a:solidFill>
                <a:latin typeface="游ゴシック"/>
                <a:ea typeface="游ゴシック"/>
              </a:rPr>
              <a:t>市場内でセリ・相対により購入</a:t>
            </a:r>
          </a:p>
        </p:txBody>
      </p:sp>
      <p:sp>
        <p:nvSpPr>
          <p:cNvPr id="15" name="Rectangle 14"/>
          <p:cNvSpPr/>
          <p:nvPr/>
        </p:nvSpPr>
        <p:spPr>
          <a:xfrm>
            <a:off x="6446520" y="2697480"/>
            <a:ext cx="19202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量販店・生協・給食 等</a:t>
            </a:r>
          </a:p>
        </p:txBody>
      </p:sp>
      <p:sp>
        <p:nvSpPr>
          <p:cNvPr id="16" name="Rectangle 15"/>
          <p:cNvSpPr/>
          <p:nvPr/>
        </p:nvSpPr>
        <p:spPr>
          <a:xfrm>
            <a:off x="6446520" y="2971800"/>
            <a:ext cx="1920240" cy="77724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1A1A1A"/>
                </a:solidFill>
                <a:latin typeface="游ゴシック"/>
                <a:ea typeface="游ゴシック"/>
              </a:rPr>
              <a:t>当社から直接販売</a:t>
            </a:r>
          </a:p>
        </p:txBody>
      </p:sp>
      <p:cxnSp>
        <p:nvCxnSpPr>
          <p:cNvPr id="17" name="Connector 16"/>
          <p:cNvCxnSpPr/>
          <p:nvPr/>
        </p:nvCxnSpPr>
        <p:spPr>
          <a:xfrm>
            <a:off x="2560320" y="2423160"/>
            <a:ext cx="457200" cy="0"/>
          </a:xfrm>
          <a:prstGeom prst="line">
            <a:avLst/>
          </a:prstGeom>
          <a:ln w="25400">
            <a:solidFill>
              <a:srgbClr val="0889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87168" y="2103120"/>
            <a:ext cx="640080" cy="274320"/>
          </a:xfrm>
          <a:prstGeom prst="rect">
            <a:avLst/>
          </a:prstGeom>
          <a:noFill/>
        </p:spPr>
        <p:txBody>
          <a:bodyPr wrap="square" lIns="0" rIns="0" tIns="0" bIns="0" anchor="t">
            <a:spAutoFit/>
          </a:bodyPr>
          <a:lstStyle/>
          <a:p>
            <a:pPr algn="ctr"/>
            <a:r>
              <a:rPr sz="750" b="0">
                <a:solidFill>
                  <a:srgbClr val="5A6670"/>
                </a:solidFill>
                <a:latin typeface="游ゴシック"/>
                <a:ea typeface="游ゴシック"/>
              </a:rPr>
              <a:t>出荷・販売</a:t>
            </a:r>
          </a:p>
        </p:txBody>
      </p:sp>
      <p:cxnSp>
        <p:nvCxnSpPr>
          <p:cNvPr id="19" name="Connector 18"/>
          <p:cNvCxnSpPr/>
          <p:nvPr/>
        </p:nvCxnSpPr>
        <p:spPr>
          <a:xfrm>
            <a:off x="5943600" y="2011680"/>
            <a:ext cx="457200" cy="0"/>
          </a:xfrm>
          <a:prstGeom prst="line">
            <a:avLst/>
          </a:prstGeom>
          <a:ln w="25400">
            <a:solidFill>
              <a:srgbClr val="0889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43600" y="3108960"/>
            <a:ext cx="457200" cy="0"/>
          </a:xfrm>
          <a:prstGeom prst="line">
            <a:avLst/>
          </a:prstGeom>
          <a:ln w="25400">
            <a:solidFill>
              <a:srgbClr val="0889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870448" y="1719072"/>
            <a:ext cx="640080" cy="274320"/>
          </a:xfrm>
          <a:prstGeom prst="rect">
            <a:avLst/>
          </a:prstGeom>
          <a:noFill/>
        </p:spPr>
        <p:txBody>
          <a:bodyPr wrap="square" lIns="0" rIns="0" tIns="0" bIns="0" anchor="t">
            <a:spAutoFit/>
          </a:bodyPr>
          <a:lstStyle/>
          <a:p>
            <a:pPr algn="ctr"/>
            <a:r>
              <a:rPr sz="750" b="0">
                <a:solidFill>
                  <a:srgbClr val="5A6670"/>
                </a:solidFill>
                <a:latin typeface="游ゴシック"/>
                <a:ea typeface="游ゴシック"/>
              </a:rPr>
              <a:t>セリ・相対</a:t>
            </a:r>
          </a:p>
        </p:txBody>
      </p:sp>
      <p:sp>
        <p:nvSpPr>
          <p:cNvPr id="22" name="TextBox 21"/>
          <p:cNvSpPr txBox="1"/>
          <p:nvPr/>
        </p:nvSpPr>
        <p:spPr>
          <a:xfrm>
            <a:off x="5870448" y="2816352"/>
            <a:ext cx="640080" cy="274320"/>
          </a:xfrm>
          <a:prstGeom prst="rect">
            <a:avLst/>
          </a:prstGeom>
          <a:noFill/>
        </p:spPr>
        <p:txBody>
          <a:bodyPr wrap="square" lIns="0" rIns="0" tIns="0" bIns="0" anchor="t">
            <a:spAutoFit/>
          </a:bodyPr>
          <a:lstStyle/>
          <a:p>
            <a:pPr algn="ctr"/>
            <a:r>
              <a:rPr sz="750" b="0">
                <a:solidFill>
                  <a:srgbClr val="5A6670"/>
                </a:solidFill>
                <a:latin typeface="游ゴシック"/>
                <a:ea typeface="游ゴシック"/>
              </a:rPr>
              <a:t>直接販売</a:t>
            </a:r>
          </a:p>
        </p:txBody>
      </p:sp>
      <p:sp>
        <p:nvSpPr>
          <p:cNvPr id="23" name="TextBox 22"/>
          <p:cNvSpPr txBox="1"/>
          <p:nvPr/>
        </p:nvSpPr>
        <p:spPr>
          <a:xfrm>
            <a:off x="3063240" y="3291840"/>
            <a:ext cx="2834640" cy="640080"/>
          </a:xfrm>
          <a:prstGeom prst="rect">
            <a:avLst/>
          </a:prstGeom>
          <a:noFill/>
        </p:spPr>
        <p:txBody>
          <a:bodyPr wrap="square" lIns="0" rIns="0" tIns="0" bIns="0" anchor="t">
            <a:spAutoFit/>
          </a:bodyPr>
          <a:lstStyle/>
          <a:p>
            <a:pPr algn="ctr"/>
            <a:r>
              <a:rPr sz="800" b="0">
                <a:solidFill>
                  <a:srgbClr val="0B3041"/>
                </a:solidFill>
                <a:latin typeface="游ゴシック"/>
                <a:ea typeface="游ゴシック"/>
              </a:rPr>
              <a:t>部門：野菜営業部／果実営業部／近郷部／</a:t>
            </a:r>
          </a:p>
          <a:p>
            <a:pPr algn="ctr"/>
            <a:r>
              <a:rPr sz="800" b="0">
                <a:solidFill>
                  <a:srgbClr val="0B3041"/>
                </a:solidFill>
                <a:latin typeface="游ゴシック"/>
                <a:ea typeface="游ゴシック"/>
              </a:rPr>
              <a:t>集配部／パッケージ部／生花部／資材部／総務部</a:t>
            </a:r>
          </a:p>
        </p:txBody>
      </p:sp>
      <p:graphicFrame>
        <p:nvGraphicFramePr>
          <p:cNvPr id="24" name="Table 23"/>
          <p:cNvGraphicFramePr>
            <a:graphicFrameLocks noGrp="1"/>
          </p:cNvGraphicFramePr>
          <p:nvPr/>
        </p:nvGraphicFramePr>
        <p:xfrm>
          <a:off x="411480" y="4160520"/>
          <a:ext cx="9866374" cy="1920240"/>
        </p:xfrm>
        <a:graphic>
          <a:graphicData uri="http://schemas.openxmlformats.org/drawingml/2006/table">
            <a:tbl>
              <a:tblPr firstRow="0" bandRow="0">
                <a:tableStyleId>{5940675A-B579-460E-94D1-54222C63F5DA}</a:tableStyleId>
              </a:tblPr>
              <a:tblGrid>
                <a:gridCol w="2041319"/>
                <a:gridCol w="1247472"/>
                <a:gridCol w="907252"/>
                <a:gridCol w="5670331"/>
              </a:tblGrid>
              <a:tr h="274320">
                <a:tc>
                  <a:txBody>
                    <a:bodyPr wrap="square"/>
                    <a:lstStyle/>
                    <a:p>
                      <a:pPr algn="ctr"/>
                      <a:r>
                        <a:rPr sz="850" b="1">
                          <a:solidFill>
                            <a:srgbClr val="FFFFFF"/>
                          </a:solidFill>
                          <a:latin typeface="游ゴシック"/>
                          <a:ea typeface="游ゴシック"/>
                        </a:rPr>
                        <a:t>収益源（2026年4〜7月）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金額（千円）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構成比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内容</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商品売上高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375,961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青果物の販売（買付販売。総額計上）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委託手数料収入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12,564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受託販売の手数料（純額計上）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センター費収入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12,273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(株)主婦の店等からのセンター費（物流センター業務の受託と推察）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資材売上高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10,820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包装資材・肥料等の販売</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売上割戻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1">
                          <a:solidFill>
                            <a:srgbClr val="1A1A1A"/>
                          </a:solidFill>
                          <a:latin typeface="游ゴシック"/>
                          <a:ea typeface="游ゴシック"/>
                        </a:rPr>
                        <a:t>売上高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411,155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5" name="TextBox 24"/>
          <p:cNvSpPr txBox="1"/>
          <p:nvPr/>
        </p:nvSpPr>
        <p:spPr>
          <a:xfrm>
            <a:off x="411480" y="6172200"/>
            <a:ext cx="9866376" cy="502920"/>
          </a:xfrm>
          <a:prstGeom prst="rect">
            <a:avLst/>
          </a:prstGeom>
          <a:noFill/>
        </p:spPr>
        <p:txBody>
          <a:bodyPr wrap="square" lIns="0" rIns="0" tIns="0" bIns="0" anchor="t">
            <a:spAutoFit/>
          </a:bodyPr>
          <a:lstStyle/>
          <a:p>
            <a:pPr algn="l"/>
            <a:r>
              <a:rPr sz="850" b="0">
                <a:solidFill>
                  <a:srgbClr val="1A1A1A"/>
                </a:solidFill>
                <a:latin typeface="游ゴシック"/>
                <a:ea typeface="游ゴシック"/>
              </a:rPr>
              <a:t>上記のほか、仲卸業者・買参人からのゴミ処理料・冷蔵庫保管料、受取奨励金（出荷先市場からの完納奨励金等）、延滞料を営業外収益に計上。</a:t>
            </a:r>
          </a:p>
        </p:txBody>
      </p:sp>
      <p:sp>
        <p:nvSpPr>
          <p:cNvPr id="26" name="TextBox 25"/>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※決算書では売上高を「商品売上高」1本で表示しているため、年度別の収益源内訳は試算表（2026年4〜7月）で代替。年度別内訳は要確認。</a:t>
            </a:r>
          </a:p>
          <a:p>
            <a:pPr algn="l"/>
            <a:r>
              <a:rPr sz="700" b="0">
                <a:solidFill>
                  <a:srgbClr val="5A6670"/>
                </a:solidFill>
                <a:latin typeface="游ゴシック"/>
                <a:ea typeface="游ゴシック"/>
              </a:rPr>
              <a:t>※市場の法的位置づけ（卸売市場法に基づく認定の有無・時期）、仲卸業者数・買参人数は要確認。山形県「地方卸売市場の概要」に当社が掲載されていることを確認。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商流</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事業概要</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公設庄内市場の卸売業者等からの仕入と近郷の出荷者からの集荷を、地元量販店・生協・給食および近隣市場へ供給</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11</a:t>
            </a:r>
          </a:p>
        </p:txBody>
      </p:sp>
      <p:sp>
        <p:nvSpPr>
          <p:cNvPr id="9" name="Rectangle 8"/>
          <p:cNvSpPr/>
          <p:nvPr/>
        </p:nvSpPr>
        <p:spPr>
          <a:xfrm>
            <a:off x="3566160" y="1828800"/>
            <a:ext cx="3566160" cy="2926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游ゴシック"/>
                <a:ea typeface="游ゴシック"/>
              </a:rPr>
              <a:t>株式会社鶴岡中央青果</a:t>
            </a:r>
          </a:p>
        </p:txBody>
      </p:sp>
      <p:sp>
        <p:nvSpPr>
          <p:cNvPr id="10" name="Rectangle 9"/>
          <p:cNvSpPr/>
          <p:nvPr/>
        </p:nvSpPr>
        <p:spPr>
          <a:xfrm>
            <a:off x="3566160" y="2194560"/>
            <a:ext cx="3566160" cy="5029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a:solidFill>
                  <a:srgbClr val="0B3041"/>
                </a:solidFill>
                <a:latin typeface="游ゴシック"/>
                <a:ea typeface="游ゴシック"/>
              </a:rPr>
              <a:t>青果卸売（買付販売）</a:t>
            </a:r>
          </a:p>
          <a:p>
            <a:pPr algn="ctr"/>
            <a:r>
              <a:rPr sz="850" b="0">
                <a:solidFill>
                  <a:srgbClr val="5A6670"/>
                </a:solidFill>
                <a:latin typeface="游ゴシック"/>
                <a:ea typeface="游ゴシック"/>
              </a:rPr>
              <a:t>商品売上高（総額）</a:t>
            </a:r>
          </a:p>
        </p:txBody>
      </p:sp>
      <p:sp>
        <p:nvSpPr>
          <p:cNvPr id="11" name="Rectangle 10"/>
          <p:cNvSpPr/>
          <p:nvPr/>
        </p:nvSpPr>
        <p:spPr>
          <a:xfrm>
            <a:off x="3566160" y="2761488"/>
            <a:ext cx="3566160" cy="5029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a:solidFill>
                  <a:srgbClr val="0B3041"/>
                </a:solidFill>
                <a:latin typeface="游ゴシック"/>
                <a:ea typeface="游ゴシック"/>
              </a:rPr>
              <a:t>青果卸売（受託販売）</a:t>
            </a:r>
          </a:p>
          <a:p>
            <a:pPr algn="ctr"/>
            <a:r>
              <a:rPr sz="850" b="0">
                <a:solidFill>
                  <a:srgbClr val="5A6670"/>
                </a:solidFill>
                <a:latin typeface="游ゴシック"/>
                <a:ea typeface="游ゴシック"/>
              </a:rPr>
              <a:t>委託手数料（純額）</a:t>
            </a:r>
          </a:p>
        </p:txBody>
      </p:sp>
      <p:sp>
        <p:nvSpPr>
          <p:cNvPr id="12" name="Rectangle 11"/>
          <p:cNvSpPr/>
          <p:nvPr/>
        </p:nvSpPr>
        <p:spPr>
          <a:xfrm>
            <a:off x="3566160" y="3328415"/>
            <a:ext cx="3566160" cy="5029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a:solidFill>
                  <a:srgbClr val="0B3041"/>
                </a:solidFill>
                <a:latin typeface="游ゴシック"/>
                <a:ea typeface="游ゴシック"/>
              </a:rPr>
              <a:t>パッケージ・集配</a:t>
            </a:r>
          </a:p>
          <a:p>
            <a:pPr algn="ctr"/>
            <a:r>
              <a:rPr sz="850" b="0">
                <a:solidFill>
                  <a:srgbClr val="5A6670"/>
                </a:solidFill>
                <a:latin typeface="游ゴシック"/>
                <a:ea typeface="游ゴシック"/>
              </a:rPr>
              <a:t>小分け・包装・配送</a:t>
            </a:r>
          </a:p>
        </p:txBody>
      </p:sp>
      <p:sp>
        <p:nvSpPr>
          <p:cNvPr id="13" name="Rectangle 12"/>
          <p:cNvSpPr/>
          <p:nvPr/>
        </p:nvSpPr>
        <p:spPr>
          <a:xfrm>
            <a:off x="3566160" y="3895344"/>
            <a:ext cx="3566160" cy="5029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950" b="1">
                <a:solidFill>
                  <a:srgbClr val="0B3041"/>
                </a:solidFill>
                <a:latin typeface="游ゴシック"/>
                <a:ea typeface="游ゴシック"/>
              </a:rPr>
              <a:t>資材・肥料販売</a:t>
            </a:r>
          </a:p>
          <a:p>
            <a:pPr algn="ctr"/>
            <a:r>
              <a:rPr sz="850" b="0">
                <a:solidFill>
                  <a:srgbClr val="5A6670"/>
                </a:solidFill>
                <a:latin typeface="游ゴシック"/>
                <a:ea typeface="游ゴシック"/>
              </a:rPr>
              <a:t>資材売上高</a:t>
            </a:r>
          </a:p>
        </p:txBody>
      </p:sp>
      <p:sp>
        <p:nvSpPr>
          <p:cNvPr id="14" name="Rectangle 13"/>
          <p:cNvSpPr/>
          <p:nvPr/>
        </p:nvSpPr>
        <p:spPr>
          <a:xfrm>
            <a:off x="411480" y="1828800"/>
            <a:ext cx="2560320"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主要仕入先・出荷者</a:t>
            </a:r>
          </a:p>
        </p:txBody>
      </p:sp>
      <p:sp>
        <p:nvSpPr>
          <p:cNvPr id="15" name="Rectangle 14"/>
          <p:cNvSpPr/>
          <p:nvPr/>
        </p:nvSpPr>
        <p:spPr>
          <a:xfrm>
            <a:off x="411480" y="2157984"/>
            <a:ext cx="2560320" cy="224028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0">
                <a:solidFill>
                  <a:srgbClr val="1A1A1A"/>
                </a:solidFill>
                <a:latin typeface="游ゴシック"/>
                <a:ea typeface="游ゴシック"/>
              </a:rPr>
              <a:t>丸果庄内青果(株)（三川町）</a:t>
            </a:r>
          </a:p>
          <a:p>
            <a:pPr algn="l">
              <a:spcAft>
                <a:spcPts val="200"/>
              </a:spcAft>
            </a:pPr>
            <a:r>
              <a:rPr sz="850" b="0">
                <a:solidFill>
                  <a:srgbClr val="1A1A1A"/>
                </a:solidFill>
                <a:latin typeface="游ゴシック"/>
                <a:ea typeface="游ゴシック"/>
              </a:rPr>
              <a:t>(株)庄果（三川町）</a:t>
            </a:r>
          </a:p>
          <a:p>
            <a:pPr algn="l">
              <a:spcAft>
                <a:spcPts val="200"/>
              </a:spcAft>
            </a:pPr>
            <a:r>
              <a:rPr sz="850" b="0">
                <a:solidFill>
                  <a:srgbClr val="1A1A1A"/>
                </a:solidFill>
                <a:latin typeface="游ゴシック"/>
                <a:ea typeface="游ゴシック"/>
              </a:rPr>
              <a:t>長井中央青果(株)（長井市）</a:t>
            </a:r>
          </a:p>
          <a:p>
            <a:pPr algn="l">
              <a:spcAft>
                <a:spcPts val="200"/>
              </a:spcAft>
            </a:pPr>
            <a:r>
              <a:rPr sz="850" b="0">
                <a:solidFill>
                  <a:srgbClr val="1A1A1A"/>
                </a:solidFill>
                <a:latin typeface="游ゴシック"/>
                <a:ea typeface="游ゴシック"/>
              </a:rPr>
              <a:t>(株)マルト直治郎商店（三川町）</a:t>
            </a:r>
          </a:p>
          <a:p>
            <a:pPr algn="l">
              <a:spcAft>
                <a:spcPts val="200"/>
              </a:spcAft>
            </a:pPr>
            <a:r>
              <a:rPr sz="850" b="0">
                <a:solidFill>
                  <a:srgbClr val="1A1A1A"/>
                </a:solidFill>
                <a:latin typeface="游ゴシック"/>
                <a:ea typeface="游ゴシック"/>
              </a:rPr>
              <a:t>成田食品(株)（福島県相馬市）</a:t>
            </a:r>
          </a:p>
          <a:p>
            <a:pPr algn="l">
              <a:spcAft>
                <a:spcPts val="200"/>
              </a:spcAft>
            </a:pPr>
            <a:r>
              <a:rPr sz="850" b="0">
                <a:solidFill>
                  <a:srgbClr val="1A1A1A"/>
                </a:solidFill>
                <a:latin typeface="游ゴシック"/>
                <a:ea typeface="游ゴシック"/>
              </a:rPr>
              <a:t>(株)ファーマインド（東京都）</a:t>
            </a:r>
          </a:p>
          <a:p>
            <a:pPr algn="l">
              <a:spcAft>
                <a:spcPts val="200"/>
              </a:spcAft>
            </a:pPr>
            <a:r>
              <a:rPr sz="850" b="0">
                <a:solidFill>
                  <a:srgbClr val="1A1A1A"/>
                </a:solidFill>
                <a:latin typeface="游ゴシック"/>
                <a:ea typeface="游ゴシック"/>
              </a:rPr>
              <a:t>(株)東根農産センター（東根市）</a:t>
            </a:r>
          </a:p>
          <a:p>
            <a:pPr algn="l">
              <a:spcAft>
                <a:spcPts val="200"/>
              </a:spcAft>
            </a:pPr>
            <a:r>
              <a:rPr sz="850" b="0">
                <a:solidFill>
                  <a:srgbClr val="1A1A1A"/>
                </a:solidFill>
                <a:latin typeface="游ゴシック"/>
                <a:ea typeface="游ゴシック"/>
              </a:rPr>
              <a:t>近郷の生産者等（委託出荷）※推察</a:t>
            </a:r>
          </a:p>
        </p:txBody>
      </p:sp>
      <p:sp>
        <p:nvSpPr>
          <p:cNvPr id="16" name="Rectangle 15"/>
          <p:cNvSpPr/>
          <p:nvPr/>
        </p:nvSpPr>
        <p:spPr>
          <a:xfrm>
            <a:off x="7717536" y="1828800"/>
            <a:ext cx="2560320"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主要販売先</a:t>
            </a:r>
          </a:p>
        </p:txBody>
      </p:sp>
      <p:sp>
        <p:nvSpPr>
          <p:cNvPr id="17" name="Rectangle 16"/>
          <p:cNvSpPr/>
          <p:nvPr/>
        </p:nvSpPr>
        <p:spPr>
          <a:xfrm>
            <a:off x="7717536" y="2157984"/>
            <a:ext cx="2560320" cy="224028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0">
                <a:solidFill>
                  <a:srgbClr val="1A1A1A"/>
                </a:solidFill>
                <a:latin typeface="游ゴシック"/>
                <a:ea typeface="游ゴシック"/>
              </a:rPr>
              <a:t>(株)主婦の店（鶴岡市・量販店）</a:t>
            </a:r>
          </a:p>
          <a:p>
            <a:pPr algn="l">
              <a:spcAft>
                <a:spcPts val="200"/>
              </a:spcAft>
            </a:pPr>
            <a:r>
              <a:rPr sz="850" b="0">
                <a:solidFill>
                  <a:srgbClr val="1A1A1A"/>
                </a:solidFill>
                <a:latin typeface="游ゴシック"/>
                <a:ea typeface="游ゴシック"/>
              </a:rPr>
              <a:t>生活協同組合共立社（鶴岡市）</a:t>
            </a:r>
          </a:p>
          <a:p>
            <a:pPr algn="l">
              <a:spcAft>
                <a:spcPts val="200"/>
              </a:spcAft>
            </a:pPr>
            <a:r>
              <a:rPr sz="850" b="0">
                <a:solidFill>
                  <a:srgbClr val="1A1A1A"/>
                </a:solidFill>
                <a:latin typeface="游ゴシック"/>
                <a:ea typeface="游ゴシック"/>
              </a:rPr>
              <a:t>生協連合会アイチョイス（名古屋市）</a:t>
            </a:r>
          </a:p>
          <a:p>
            <a:pPr algn="l">
              <a:spcAft>
                <a:spcPts val="200"/>
              </a:spcAft>
            </a:pPr>
            <a:r>
              <a:rPr sz="850" b="0">
                <a:solidFill>
                  <a:srgbClr val="1A1A1A"/>
                </a:solidFill>
                <a:latin typeface="游ゴシック"/>
                <a:ea typeface="游ゴシック"/>
              </a:rPr>
              <a:t>小島商店（鶴岡市）</a:t>
            </a:r>
          </a:p>
          <a:p>
            <a:pPr algn="l">
              <a:spcAft>
                <a:spcPts val="200"/>
              </a:spcAft>
            </a:pPr>
            <a:r>
              <a:rPr sz="850" b="0">
                <a:solidFill>
                  <a:srgbClr val="1A1A1A"/>
                </a:solidFill>
                <a:latin typeface="游ゴシック"/>
                <a:ea typeface="游ゴシック"/>
              </a:rPr>
              <a:t>給食センター（鶴岡市）</a:t>
            </a:r>
          </a:p>
          <a:p>
            <a:pPr algn="l">
              <a:spcAft>
                <a:spcPts val="200"/>
              </a:spcAft>
            </a:pPr>
            <a:r>
              <a:rPr sz="850" b="0">
                <a:solidFill>
                  <a:srgbClr val="1A1A1A"/>
                </a:solidFill>
                <a:latin typeface="游ゴシック"/>
                <a:ea typeface="游ゴシック"/>
              </a:rPr>
              <a:t>長井中央青果(株)（長井市）</a:t>
            </a:r>
          </a:p>
          <a:p>
            <a:pPr algn="l">
              <a:spcAft>
                <a:spcPts val="200"/>
              </a:spcAft>
            </a:pPr>
            <a:r>
              <a:rPr sz="850" b="0">
                <a:solidFill>
                  <a:srgbClr val="1A1A1A"/>
                </a:solidFill>
                <a:latin typeface="游ゴシック"/>
                <a:ea typeface="游ゴシック"/>
              </a:rPr>
              <a:t>元青果（三川町）</a:t>
            </a:r>
          </a:p>
          <a:p>
            <a:pPr algn="l">
              <a:spcAft>
                <a:spcPts val="200"/>
              </a:spcAft>
            </a:pPr>
            <a:r>
              <a:rPr sz="850" b="0">
                <a:solidFill>
                  <a:srgbClr val="1A1A1A"/>
                </a:solidFill>
                <a:latin typeface="游ゴシック"/>
                <a:ea typeface="游ゴシック"/>
              </a:rPr>
              <a:t>市場の仲卸業者・買参人</a:t>
            </a:r>
          </a:p>
        </p:txBody>
      </p:sp>
      <p:cxnSp>
        <p:nvCxnSpPr>
          <p:cNvPr id="18" name="Connector 17"/>
          <p:cNvCxnSpPr/>
          <p:nvPr/>
        </p:nvCxnSpPr>
        <p:spPr>
          <a:xfrm>
            <a:off x="3017520" y="2926080"/>
            <a:ext cx="502920" cy="0"/>
          </a:xfrm>
          <a:prstGeom prst="line">
            <a:avLst/>
          </a:prstGeom>
          <a:ln w="25400">
            <a:solidFill>
              <a:srgbClr val="0889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178040" y="2926080"/>
            <a:ext cx="502920" cy="0"/>
          </a:xfrm>
          <a:prstGeom prst="line">
            <a:avLst/>
          </a:prstGeom>
          <a:ln w="25400">
            <a:solidFill>
              <a:srgbClr val="0889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606040"/>
            <a:ext cx="685800" cy="274320"/>
          </a:xfrm>
          <a:prstGeom prst="rect">
            <a:avLst/>
          </a:prstGeom>
          <a:noFill/>
        </p:spPr>
        <p:txBody>
          <a:bodyPr wrap="square" lIns="0" rIns="0" tIns="0" bIns="0" anchor="t">
            <a:spAutoFit/>
          </a:bodyPr>
          <a:lstStyle/>
          <a:p>
            <a:pPr algn="ctr"/>
            <a:r>
              <a:rPr sz="750" b="0">
                <a:solidFill>
                  <a:srgbClr val="5A6670"/>
                </a:solidFill>
                <a:latin typeface="游ゴシック"/>
                <a:ea typeface="游ゴシック"/>
              </a:rPr>
              <a:t>仕入・委託</a:t>
            </a:r>
          </a:p>
        </p:txBody>
      </p:sp>
      <p:sp>
        <p:nvSpPr>
          <p:cNvPr id="21" name="TextBox 20"/>
          <p:cNvSpPr txBox="1"/>
          <p:nvPr/>
        </p:nvSpPr>
        <p:spPr>
          <a:xfrm>
            <a:off x="7086600" y="2606040"/>
            <a:ext cx="685800" cy="274320"/>
          </a:xfrm>
          <a:prstGeom prst="rect">
            <a:avLst/>
          </a:prstGeom>
          <a:noFill/>
        </p:spPr>
        <p:txBody>
          <a:bodyPr wrap="square" lIns="0" rIns="0" tIns="0" bIns="0" anchor="t">
            <a:spAutoFit/>
          </a:bodyPr>
          <a:lstStyle/>
          <a:p>
            <a:pPr algn="ctr"/>
            <a:r>
              <a:rPr sz="750" b="0">
                <a:solidFill>
                  <a:srgbClr val="5A6670"/>
                </a:solidFill>
                <a:latin typeface="游ゴシック"/>
                <a:ea typeface="游ゴシック"/>
              </a:rPr>
              <a:t>販売・納品</a:t>
            </a:r>
          </a:p>
        </p:txBody>
      </p:sp>
      <p:sp>
        <p:nvSpPr>
          <p:cNvPr id="22" name="Rectangle 21"/>
          <p:cNvSpPr/>
          <p:nvPr/>
        </p:nvSpPr>
        <p:spPr>
          <a:xfrm>
            <a:off x="411480" y="4754880"/>
            <a:ext cx="9866376" cy="274320"/>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754880"/>
            <a:ext cx="9601200" cy="274320"/>
          </a:xfrm>
          <a:prstGeom prst="rect">
            <a:avLst/>
          </a:prstGeom>
          <a:noFill/>
        </p:spPr>
        <p:txBody>
          <a:bodyPr wrap="square" lIns="0" rIns="0" tIns="0" bIns="0" anchor="ctr">
            <a:spAutoFit/>
          </a:bodyPr>
          <a:lstStyle/>
          <a:p>
            <a:pPr algn="l"/>
            <a:r>
              <a:rPr sz="1000" b="1">
                <a:solidFill>
                  <a:srgbClr val="FFFFFF"/>
                </a:solidFill>
                <a:latin typeface="游ゴシック"/>
                <a:ea typeface="游ゴシック"/>
              </a:rPr>
              <a:t>現時点の仮説｜要ヒアリング</a:t>
            </a:r>
          </a:p>
        </p:txBody>
      </p:sp>
      <p:sp>
        <p:nvSpPr>
          <p:cNvPr id="24" name="Rectangle 23"/>
          <p:cNvSpPr/>
          <p:nvPr/>
        </p:nvSpPr>
        <p:spPr>
          <a:xfrm>
            <a:off x="411480" y="5074920"/>
            <a:ext cx="9866376" cy="1645920"/>
          </a:xfrm>
          <a:prstGeom prst="rect">
            <a:avLst/>
          </a:prstGeom>
          <a:solidFill>
            <a:srgbClr val="FFFFFF"/>
          </a:solidFill>
          <a:ln w="952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300"/>
              </a:spcAft>
            </a:pPr>
            <a:r>
              <a:rPr sz="850" b="0">
                <a:solidFill>
                  <a:srgbClr val="1A1A1A"/>
                </a:solidFill>
                <a:latin typeface="游ゴシック"/>
                <a:ea typeface="游ゴシック"/>
              </a:rPr>
              <a:t>・買付販売と受託販売の比率：決算上は区分なし。2026年4〜7月の委託手数料収入12.6百万円に対し、商品仕入高（委託）は36円のみで、受託販売は純額処理（手数料のみ）と整合。受託取扱高（総額）は要確認。</a:t>
            </a:r>
          </a:p>
          <a:p>
            <a:pPr algn="l">
              <a:spcAft>
                <a:spcPts val="300"/>
              </a:spcAft>
            </a:pPr>
            <a:r>
              <a:rPr sz="850" b="0">
                <a:solidFill>
                  <a:srgbClr val="1A1A1A"/>
                </a:solidFill>
                <a:latin typeface="游ゴシック"/>
                <a:ea typeface="游ゴシック"/>
              </a:rPr>
              <a:t>・センター費：(株)主婦の店鶴岡店・(株)マルト直治郎商店に対する未収入金の摘要が「センター費」。2026年4〜7月で12.3百万円（売上高比3.0%）。量販店の物流センター業務の受託と推察。</a:t>
            </a:r>
          </a:p>
          <a:p>
            <a:pPr algn="l">
              <a:spcAft>
                <a:spcPts val="300"/>
              </a:spcAft>
            </a:pPr>
            <a:r>
              <a:rPr sz="850" b="0">
                <a:solidFill>
                  <a:srgbClr val="1A1A1A"/>
                </a:solidFill>
                <a:latin typeface="游ゴシック"/>
                <a:ea typeface="游ゴシック"/>
              </a:rPr>
              <a:t>・長井中央青果(株)は販売先・仕入先の双方に計上（市場間の転送取引と推察）。丸果庄内青果(株)・(株)庄果は公設庄内青果物地方卸売市場（三川町）の入場業者と推察。</a:t>
            </a:r>
          </a:p>
        </p:txBody>
      </p:sp>
      <p:sp>
        <p:nvSpPr>
          <p:cNvPr id="25" name="TextBox 24"/>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※取引先は勘定科目内訳明細書（売掛金・買掛金、期末残高50万円以上）による。所在地・業態は公開情報からの推察を含む。年間取引高は資料依頼中。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売上高の季節性（2026/3期 月別）</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事業概要</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7〜8月に売上が集中（7月146百万円）し、1〜2月は約70百万円と約2倍の季節変動。繁忙期には運転資金が膨らむ</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12</a:t>
            </a:r>
          </a:p>
        </p:txBody>
      </p:sp>
      <p:graphicFrame>
        <p:nvGraphicFramePr>
          <p:cNvPr id="9" name="Chart 8"/>
          <p:cNvGraphicFramePr>
            <a:graphicFrameLocks noGrp="1"/>
          </p:cNvGraphicFramePr>
          <p:nvPr/>
        </p:nvGraphicFramePr>
        <p:xfrm>
          <a:off x="411480" y="1463040"/>
          <a:ext cx="6675120" cy="5120640"/>
        </p:xfrm>
        <a:graphic>
          <a:graphicData uri="http://schemas.openxmlformats.org/drawingml/2006/chart">
            <c:chart xmlns:c="http://schemas.openxmlformats.org/drawingml/2006/chart" r:id="rId2"/>
          </a:graphicData>
        </a:graphic>
      </p:graphicFrame>
      <p:sp>
        <p:nvSpPr>
          <p:cNvPr id="10" name="Rectangle 9"/>
          <p:cNvSpPr/>
          <p:nvPr/>
        </p:nvSpPr>
        <p:spPr>
          <a:xfrm>
            <a:off x="7269480" y="1463040"/>
            <a:ext cx="3008376"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1" name="Rectangle 10"/>
          <p:cNvSpPr/>
          <p:nvPr/>
        </p:nvSpPr>
        <p:spPr>
          <a:xfrm>
            <a:off x="7269480" y="1755648"/>
            <a:ext cx="3008376" cy="482803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600"/>
              </a:spcAft>
            </a:pPr>
            <a:r>
              <a:rPr sz="900" b="0">
                <a:solidFill>
                  <a:srgbClr val="1A1A1A"/>
                </a:solidFill>
                <a:latin typeface="游ゴシック"/>
                <a:ea typeface="游ゴシック"/>
              </a:rPr>
              <a:t>・月平均100百万円に対し、7月は1.47倍、8月は1.39倍。</a:t>
            </a:r>
          </a:p>
          <a:p>
            <a:pPr algn="l">
              <a:spcAft>
                <a:spcPts val="600"/>
              </a:spcAft>
            </a:pPr>
            <a:r>
              <a:rPr sz="900" b="0">
                <a:solidFill>
                  <a:srgbClr val="1A1A1A"/>
                </a:solidFill>
                <a:latin typeface="游ゴシック"/>
                <a:ea typeface="游ゴシック"/>
              </a:rPr>
              <a:t>・当社Webサイトではだだちゃ豆（7〜9月）・庄内砂丘メロン等の地域特産品を紹介しており、夏季の地場産品の出荷最盛期が売上を押し上げていると推察（品目別売上は要確認）。</a:t>
            </a:r>
          </a:p>
          <a:p>
            <a:pPr algn="l">
              <a:spcAft>
                <a:spcPts val="600"/>
              </a:spcAft>
            </a:pPr>
            <a:r>
              <a:rPr sz="900" b="0">
                <a:solidFill>
                  <a:srgbClr val="1A1A1A"/>
                </a:solidFill>
                <a:latin typeface="游ゴシック"/>
                <a:ea typeface="游ゴシック"/>
              </a:rPr>
              <a:t>・2026年7月末は売上債権43.0百万円・在庫36.6百万円と、3月末（20.8百万円・14.6百万円）から増加。</a:t>
            </a:r>
          </a:p>
          <a:p>
            <a:pPr algn="l">
              <a:spcAft>
                <a:spcPts val="600"/>
              </a:spcAft>
            </a:pPr>
            <a:r>
              <a:rPr sz="900" b="0">
                <a:solidFill>
                  <a:srgbClr val="1A1A1A"/>
                </a:solidFill>
                <a:latin typeface="游ゴシック"/>
                <a:ea typeface="游ゴシック"/>
              </a:rPr>
              <a:t>・人件費は月7百万円前後で平準（3月は9.8百万円：決算期の計上要因は要確認）。</a:t>
            </a:r>
          </a:p>
        </p:txBody>
      </p:sp>
      <p:sp>
        <p:nvSpPr>
          <p:cNvPr id="12" name="TextBox 11"/>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※出所：法人事業概況説明書（2026/3期）の月別売上金額。千円単位の記載を百万円に換算。</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特徴・強みと課題</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事業概要</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市場機能・自社不動産・地域特産品の取扱いが事業基盤。一方で粗利率・設備更新・人員の高齢化が今後の論点</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13</a:t>
            </a:r>
          </a:p>
        </p:txBody>
      </p:sp>
      <p:sp>
        <p:nvSpPr>
          <p:cNvPr id="9" name="Rectangle 8"/>
          <p:cNvSpPr/>
          <p:nvPr/>
        </p:nvSpPr>
        <p:spPr>
          <a:xfrm>
            <a:off x="411480" y="1463040"/>
            <a:ext cx="4846320" cy="2926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100" b="1">
                <a:solidFill>
                  <a:srgbClr val="FFFFFF"/>
                </a:solidFill>
                <a:latin typeface="游ゴシック"/>
                <a:ea typeface="游ゴシック"/>
              </a:rPr>
              <a:t>特徴・強み</a:t>
            </a:r>
          </a:p>
        </p:txBody>
      </p:sp>
      <p:sp>
        <p:nvSpPr>
          <p:cNvPr id="10" name="Rectangle 9"/>
          <p:cNvSpPr/>
          <p:nvPr/>
        </p:nvSpPr>
        <p:spPr>
          <a:xfrm>
            <a:off x="411480" y="1810512"/>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1. 市場機能を一社で保有</a:t>
            </a:r>
          </a:p>
          <a:p>
            <a:pPr algn="l"/>
            <a:r>
              <a:rPr sz="900" b="0">
                <a:solidFill>
                  <a:srgbClr val="1A1A1A"/>
                </a:solidFill>
                <a:latin typeface="游ゴシック"/>
                <a:ea typeface="游ゴシック"/>
              </a:rPr>
              <a:t>開設者兼卸売業者として、集荷・セリ・分荷の市場機能を自社で担う。セリ人資格者3名（No.2・3・12）が在籍。</a:t>
            </a:r>
          </a:p>
        </p:txBody>
      </p:sp>
      <p:sp>
        <p:nvSpPr>
          <p:cNvPr id="11" name="Rectangle 10"/>
          <p:cNvSpPr/>
          <p:nvPr/>
        </p:nvSpPr>
        <p:spPr>
          <a:xfrm>
            <a:off x="411480" y="2779776"/>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2. 事業用不動産の自社保有</a:t>
            </a:r>
          </a:p>
          <a:p>
            <a:pPr algn="l"/>
            <a:r>
              <a:rPr sz="900" b="0">
                <a:solidFill>
                  <a:srgbClr val="1A1A1A"/>
                </a:solidFill>
                <a:latin typeface="游ゴシック"/>
                <a:ea typeface="游ゴシック"/>
              </a:rPr>
              <a:t>本社市場（宝田一丁目4-2：3,100㎡）とパッケージ場（同5-1：901㎡）が隣接。地代家賃の負担なし。</a:t>
            </a:r>
          </a:p>
        </p:txBody>
      </p:sp>
      <p:sp>
        <p:nvSpPr>
          <p:cNvPr id="12" name="Rectangle 11"/>
          <p:cNvSpPr/>
          <p:nvPr/>
        </p:nvSpPr>
        <p:spPr>
          <a:xfrm>
            <a:off x="411480" y="3749039"/>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3. 地域特産品の取扱い</a:t>
            </a:r>
          </a:p>
          <a:p>
            <a:pPr algn="l"/>
            <a:r>
              <a:rPr sz="900" b="0">
                <a:solidFill>
                  <a:srgbClr val="1A1A1A"/>
                </a:solidFill>
                <a:latin typeface="游ゴシック"/>
                <a:ea typeface="游ゴシック"/>
              </a:rPr>
              <a:t>だだちゃ豆・庄内柿・メロン・和梨/洋梨等を当社Webサイトで紹介（特別栽培の取組みを含む。取扱実績は要確認）。</a:t>
            </a:r>
          </a:p>
        </p:txBody>
      </p:sp>
      <p:sp>
        <p:nvSpPr>
          <p:cNvPr id="13" name="Rectangle 12"/>
          <p:cNvSpPr/>
          <p:nvPr/>
        </p:nvSpPr>
        <p:spPr>
          <a:xfrm>
            <a:off x="411480" y="4718304"/>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4. 分散した販売チャネル</a:t>
            </a:r>
          </a:p>
          <a:p>
            <a:pPr algn="l"/>
            <a:r>
              <a:rPr sz="900" b="0">
                <a:solidFill>
                  <a:srgbClr val="1A1A1A"/>
                </a:solidFill>
                <a:latin typeface="游ゴシック"/>
                <a:ea typeface="游ゴシック"/>
              </a:rPr>
              <a:t>地元量販店・生協（県内外）・学校給食・近隣市場・仲卸業者と、販路が特定先に偏りすぎない（年間取引高で要確認）。</a:t>
            </a:r>
          </a:p>
        </p:txBody>
      </p:sp>
      <p:sp>
        <p:nvSpPr>
          <p:cNvPr id="14" name="Rectangle 13"/>
          <p:cNvSpPr/>
          <p:nvPr/>
        </p:nvSpPr>
        <p:spPr>
          <a:xfrm>
            <a:off x="411480" y="5687568"/>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889C9"/>
                </a:solidFill>
                <a:latin typeface="游ゴシック"/>
                <a:ea typeface="游ゴシック"/>
              </a:rPr>
              <a:t>5. 付加価値機能</a:t>
            </a:r>
          </a:p>
          <a:p>
            <a:pPr algn="l"/>
            <a:r>
              <a:rPr sz="900" b="0">
                <a:solidFill>
                  <a:srgbClr val="1A1A1A"/>
                </a:solidFill>
                <a:latin typeface="游ゴシック"/>
                <a:ea typeface="游ゴシック"/>
              </a:rPr>
              <a:t>パッケージ部（7名）による小分け・包装、集配部による配送、量販店向けセンター業務（推察）を併営。</a:t>
            </a:r>
          </a:p>
        </p:txBody>
      </p:sp>
      <p:sp>
        <p:nvSpPr>
          <p:cNvPr id="15" name="Rectangle 14"/>
          <p:cNvSpPr/>
          <p:nvPr/>
        </p:nvSpPr>
        <p:spPr>
          <a:xfrm>
            <a:off x="5431536" y="1463040"/>
            <a:ext cx="4846320" cy="292608"/>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100" b="1">
                <a:solidFill>
                  <a:srgbClr val="FFFFFF"/>
                </a:solidFill>
                <a:latin typeface="游ゴシック"/>
                <a:ea typeface="游ゴシック"/>
              </a:rPr>
              <a:t>課題・買手にとっての論点（仮説）</a:t>
            </a:r>
          </a:p>
        </p:txBody>
      </p:sp>
      <p:sp>
        <p:nvSpPr>
          <p:cNvPr id="16" name="Rectangle 15"/>
          <p:cNvSpPr/>
          <p:nvPr/>
        </p:nvSpPr>
        <p:spPr>
          <a:xfrm>
            <a:off x="5431536" y="1810512"/>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E08A2E"/>
                </a:solidFill>
                <a:latin typeface="游ゴシック"/>
                <a:ea typeface="游ゴシック"/>
              </a:rPr>
              <a:t>粗利率の低下</a:t>
            </a:r>
          </a:p>
          <a:p>
            <a:pPr algn="l"/>
            <a:r>
              <a:rPr sz="900" b="0">
                <a:solidFill>
                  <a:srgbClr val="1A1A1A"/>
                </a:solidFill>
                <a:latin typeface="游ゴシック"/>
                <a:ea typeface="游ゴシック"/>
              </a:rPr>
              <a:t>売上総利益率は18.6%→16.6%へ低下。仕入価格の転嫁・取扱品目構成の見直し余地（仮説）。</a:t>
            </a:r>
          </a:p>
        </p:txBody>
      </p:sp>
      <p:sp>
        <p:nvSpPr>
          <p:cNvPr id="17" name="Rectangle 16"/>
          <p:cNvSpPr/>
          <p:nvPr/>
        </p:nvSpPr>
        <p:spPr>
          <a:xfrm>
            <a:off x="5431536" y="2779776"/>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E08A2E"/>
                </a:solidFill>
                <a:latin typeface="游ゴシック"/>
                <a:ea typeface="游ゴシック"/>
              </a:rPr>
              <a:t>設備の老朽化</a:t>
            </a:r>
          </a:p>
          <a:p>
            <a:pPr algn="l"/>
            <a:r>
              <a:rPr sz="900" b="0">
                <a:solidFill>
                  <a:srgbClr val="1A1A1A"/>
                </a:solidFill>
                <a:latin typeface="游ゴシック"/>
                <a:ea typeface="游ゴシック"/>
              </a:rPr>
              <a:t>主要棟は1981〜82年築。屋根・シャッター・冷蔵庫ユニット等の改修を継続しており、将来の更新投資の見積りが必要（要確認）。</a:t>
            </a:r>
          </a:p>
        </p:txBody>
      </p:sp>
      <p:sp>
        <p:nvSpPr>
          <p:cNvPr id="18" name="Rectangle 17"/>
          <p:cNvSpPr/>
          <p:nvPr/>
        </p:nvSpPr>
        <p:spPr>
          <a:xfrm>
            <a:off x="5431536" y="3749039"/>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E08A2E"/>
                </a:solidFill>
                <a:latin typeface="游ゴシック"/>
                <a:ea typeface="游ゴシック"/>
              </a:rPr>
              <a:t>財務レバレッジ</a:t>
            </a:r>
          </a:p>
          <a:p>
            <a:pPr algn="l"/>
            <a:r>
              <a:rPr sz="900" b="0">
                <a:solidFill>
                  <a:srgbClr val="1A1A1A"/>
                </a:solidFill>
                <a:latin typeface="游ゴシック"/>
                <a:ea typeface="游ゴシック"/>
              </a:rPr>
              <a:t>借入金361百万円・自己資本比率16.0%。金利上昇局面での支払利息負担（年約3.9百万円）。</a:t>
            </a:r>
          </a:p>
        </p:txBody>
      </p:sp>
      <p:sp>
        <p:nvSpPr>
          <p:cNvPr id="19" name="Rectangle 18"/>
          <p:cNvSpPr/>
          <p:nvPr/>
        </p:nvSpPr>
        <p:spPr>
          <a:xfrm>
            <a:off x="5431536" y="4718304"/>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E08A2E"/>
                </a:solidFill>
                <a:latin typeface="游ゴシック"/>
                <a:ea typeface="游ゴシック"/>
              </a:rPr>
              <a:t>人員構成と承継</a:t>
            </a:r>
          </a:p>
          <a:p>
            <a:pPr algn="l"/>
            <a:r>
              <a:rPr sz="900" b="0">
                <a:solidFill>
                  <a:srgbClr val="1A1A1A"/>
                </a:solidFill>
                <a:latin typeface="游ゴシック"/>
                <a:ea typeface="游ゴシック"/>
              </a:rPr>
              <a:t>従業員24名の平均年齢50.9歳、60歳以上8名。セリ・仕入を担うキーパーソンの引継ぎが論点。</a:t>
            </a:r>
          </a:p>
        </p:txBody>
      </p:sp>
      <p:sp>
        <p:nvSpPr>
          <p:cNvPr id="20" name="Rectangle 19"/>
          <p:cNvSpPr/>
          <p:nvPr/>
        </p:nvSpPr>
        <p:spPr>
          <a:xfrm>
            <a:off x="5431536" y="5687568"/>
            <a:ext cx="4846320" cy="9144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E08A2E"/>
                </a:solidFill>
                <a:latin typeface="游ゴシック"/>
                <a:ea typeface="游ゴシック"/>
              </a:rPr>
              <a:t>シナジー仮説</a:t>
            </a:r>
          </a:p>
          <a:p>
            <a:pPr algn="l"/>
            <a:r>
              <a:rPr sz="900" b="0">
                <a:solidFill>
                  <a:srgbClr val="1A1A1A"/>
                </a:solidFill>
                <a:latin typeface="游ゴシック"/>
                <a:ea typeface="游ゴシック"/>
              </a:rPr>
              <a:t>青果卸・食品スーパー・食品物流会社等にとって、庄内地区の集荷力・市場機能・物流拠点の獲得（仮説）。</a:t>
            </a:r>
          </a:p>
        </p:txBody>
      </p:sp>
      <p:sp>
        <p:nvSpPr>
          <p:cNvPr id="21" name="TextBox 20"/>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※Webサイトの記載内容は検索結果の要約による（本文は未閲覧）。「仮説」は資料から推定した論点であり、売主様への確認前の内容です。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主要販売先（期末残高ベース）</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事業概要</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(株)主婦の店を筆頭に、地元量販店・生協・学校給食・近隣市場へ販売。売掛金残高上位先の顔ぶれは3期で安定</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14</a:t>
            </a:r>
          </a:p>
        </p:txBody>
      </p:sp>
      <p:graphicFrame>
        <p:nvGraphicFramePr>
          <p:cNvPr id="9" name="Table 8"/>
          <p:cNvGraphicFramePr>
            <a:graphicFrameLocks noGrp="1"/>
          </p:cNvGraphicFramePr>
          <p:nvPr/>
        </p:nvGraphicFramePr>
        <p:xfrm>
          <a:off x="411480" y="1508760"/>
          <a:ext cx="9866373" cy="4608576"/>
        </p:xfrm>
        <a:graphic>
          <a:graphicData uri="http://schemas.openxmlformats.org/drawingml/2006/table">
            <a:tbl>
              <a:tblPr firstRow="0" bandRow="0">
                <a:tableStyleId>{5940675A-B579-460E-94D1-54222C63F5DA}</a:tableStyleId>
              </a:tblPr>
              <a:tblGrid>
                <a:gridCol w="2101172"/>
                <a:gridCol w="913553"/>
                <a:gridCol w="913553"/>
                <a:gridCol w="913553"/>
                <a:gridCol w="822198"/>
                <a:gridCol w="1278974"/>
                <a:gridCol w="2923370"/>
              </a:tblGrid>
              <a:tr h="329184">
                <a:tc>
                  <a:txBody>
                    <a:bodyPr wrap="square"/>
                    <a:lstStyle/>
                    <a:p>
                      <a:pPr algn="ctr"/>
                      <a:r>
                        <a:rPr sz="900" b="1">
                          <a:solidFill>
                            <a:srgbClr val="FFFFFF"/>
                          </a:solidFill>
                          <a:latin typeface="游ゴシック"/>
                          <a:ea typeface="游ゴシック"/>
                        </a:rPr>
                        <a:t>相手先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構成比
(2026/3末)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所在地</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業態・備考</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(株)主婦の店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7,625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7,465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7,194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34.5%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鶴岡市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食品スーパー（推察）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小島商店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3,566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1,610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2,482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鶴岡市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青果小売（推察）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長井中央青果(株)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4,185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1,785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長井市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青果卸（長井中央青果地方卸売市場）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生活協同組合共立社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1,110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1,932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鶴岡市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生協</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給食センター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1,307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1,121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鶴岡市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学校給食（推察）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元青果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1,051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1,019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三川町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公設庄内青果物地方卸売市場内事業者（推察）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生活協同組合連合会アイチョイス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1,033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名古屋市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生協連合会</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(株)みどりの里</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愛知県豊田市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(有)新庄丸果青果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新庄市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青果卸（推察）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(株)やま高商店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仙台市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みどり水産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その他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2,398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2,291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4,958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22,524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23,166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20,836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TextBox 9"/>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※単位：千円。勘定科目内訳明細書の期末残高（50万円以上の相手先を個別記載）。年間取引高ではないため、取引規模の順位とは異なる可能性があります（年間取引高は資料依頼中）。</a:t>
            </a:r>
          </a:p>
          <a:p>
            <a:pPr algn="l"/>
            <a:r>
              <a:rPr sz="700" b="0">
                <a:solidFill>
                  <a:srgbClr val="5A6670"/>
                </a:solidFill>
                <a:latin typeface="游ゴシック"/>
                <a:ea typeface="游ゴシック"/>
              </a:rPr>
              <a:t>※業態は公開情報等からの推察を含みます。売掛金には資材肥料売掛金を含む。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主要仕入先（期末残高ベース）</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事業概要</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公設庄内青果物地方卸売市場（三川町）の卸売業者を中心に、県内外の市場・産地業者から仕入</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15</a:t>
            </a:r>
          </a:p>
        </p:txBody>
      </p:sp>
      <p:graphicFrame>
        <p:nvGraphicFramePr>
          <p:cNvPr id="9" name="Table 8"/>
          <p:cNvGraphicFramePr>
            <a:graphicFrameLocks noGrp="1"/>
          </p:cNvGraphicFramePr>
          <p:nvPr/>
        </p:nvGraphicFramePr>
        <p:xfrm>
          <a:off x="411480" y="1508760"/>
          <a:ext cx="9866373" cy="3291840"/>
        </p:xfrm>
        <a:graphic>
          <a:graphicData uri="http://schemas.openxmlformats.org/drawingml/2006/table">
            <a:tbl>
              <a:tblPr firstRow="0" bandRow="0">
                <a:tableStyleId>{5940675A-B579-460E-94D1-54222C63F5DA}</a:tableStyleId>
              </a:tblPr>
              <a:tblGrid>
                <a:gridCol w="2101172"/>
                <a:gridCol w="913553"/>
                <a:gridCol w="913553"/>
                <a:gridCol w="913553"/>
                <a:gridCol w="822198"/>
                <a:gridCol w="1278974"/>
                <a:gridCol w="2923370"/>
              </a:tblGrid>
              <a:tr h="329184">
                <a:tc>
                  <a:txBody>
                    <a:bodyPr wrap="square"/>
                    <a:lstStyle/>
                    <a:p>
                      <a:pPr algn="ctr"/>
                      <a:r>
                        <a:rPr sz="900" b="1">
                          <a:solidFill>
                            <a:srgbClr val="FFFFFF"/>
                          </a:solidFill>
                          <a:latin typeface="游ゴシック"/>
                          <a:ea typeface="游ゴシック"/>
                        </a:rPr>
                        <a:t>相手先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構成比
(2026/3末)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所在地</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業態・備考</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丸果庄内青果(株)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6,569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5,733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12,426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三川町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青果卸（公設庄内青果物地方卸売市場）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長井中央青果(株)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1,308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7,398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長井市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青果卸</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(株)庄果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3,611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4,496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三川町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青果卸（公設庄内青果物地方卸売市場）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(株)マルト直治郎商店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1,229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1,954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677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三川町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成田食品(株)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699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福島県相馬市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(株)ファーマインド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東京都千代田区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青果流通（バナナ等・推察）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(株)東根農産センター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東根市</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その他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4,870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4,986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3,979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18,128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19,955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26,349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TextBox 9"/>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※単位：千円。勘定科目内訳明細書の期末残高（50万円以上の相手先を個別記載）。年間取引高ではないため、取引規模の順位とは異なる可能性があります（年間取引高は資料依頼中）。</a:t>
            </a:r>
          </a:p>
          <a:p>
            <a:pPr algn="l"/>
            <a:r>
              <a:rPr sz="700" b="0">
                <a:solidFill>
                  <a:srgbClr val="5A6670"/>
                </a:solidFill>
                <a:latin typeface="游ゴシック"/>
                <a:ea typeface="游ゴシック"/>
              </a:rPr>
              <a:t>※業態は公開情報等からの推察を含みます。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73152" cy="10972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063240"/>
            <a:ext cx="7315200" cy="548640"/>
          </a:xfrm>
          <a:prstGeom prst="rect">
            <a:avLst/>
          </a:prstGeom>
          <a:noFill/>
        </p:spPr>
        <p:txBody>
          <a:bodyPr wrap="square" lIns="0" rIns="0" tIns="0" bIns="0" anchor="t">
            <a:spAutoFit/>
          </a:bodyPr>
          <a:lstStyle/>
          <a:p>
            <a:pPr algn="l"/>
            <a:r>
              <a:rPr sz="2800" b="1">
                <a:solidFill>
                  <a:srgbClr val="0889C9"/>
                </a:solidFill>
                <a:latin typeface="Arial"/>
                <a:ea typeface="游ゴシック"/>
              </a:rPr>
              <a:t>03</a:t>
            </a:r>
          </a:p>
        </p:txBody>
      </p:sp>
      <p:sp>
        <p:nvSpPr>
          <p:cNvPr id="5" name="TextBox 4"/>
          <p:cNvSpPr txBox="1"/>
          <p:nvPr/>
        </p:nvSpPr>
        <p:spPr>
          <a:xfrm>
            <a:off x="1051560" y="3611880"/>
            <a:ext cx="8229600" cy="640080"/>
          </a:xfrm>
          <a:prstGeom prst="rect">
            <a:avLst/>
          </a:prstGeom>
          <a:noFill/>
        </p:spPr>
        <p:txBody>
          <a:bodyPr wrap="square" lIns="0" rIns="0" tIns="0" bIns="0" anchor="t">
            <a:spAutoFit/>
          </a:bodyPr>
          <a:lstStyle/>
          <a:p>
            <a:pPr algn="l"/>
            <a:r>
              <a:rPr sz="2800" b="1">
                <a:solidFill>
                  <a:srgbClr val="FFFFFF"/>
                </a:solidFill>
                <a:latin typeface="游ゴシック"/>
                <a:ea typeface="游ゴシック"/>
              </a:rPr>
              <a:t>組織、拠点、設備等</a:t>
            </a:r>
          </a:p>
        </p:txBody>
      </p:sp>
      <p:sp>
        <p:nvSpPr>
          <p:cNvPr id="6" name="TextBox 5"/>
          <p:cNvSpPr txBox="1"/>
          <p:nvPr/>
        </p:nvSpPr>
        <p:spPr>
          <a:xfrm>
            <a:off x="1051560" y="4434840"/>
            <a:ext cx="8229600" cy="1828800"/>
          </a:xfrm>
          <a:prstGeom prst="rect">
            <a:avLst/>
          </a:prstGeom>
          <a:noFill/>
        </p:spPr>
        <p:txBody>
          <a:bodyPr wrap="square" lIns="0" rIns="0" tIns="0" bIns="0" anchor="t">
            <a:spAutoFit/>
          </a:bodyPr>
          <a:lstStyle/>
          <a:p>
            <a:pPr algn="l">
              <a:spcAft>
                <a:spcPts val="400"/>
              </a:spcAft>
            </a:pPr>
            <a:r>
              <a:rPr sz="1200" b="0">
                <a:solidFill>
                  <a:srgbClr val="C8D6DE"/>
                </a:solidFill>
                <a:latin typeface="游ゴシック"/>
                <a:ea typeface="游ゴシック"/>
              </a:rPr>
              <a:t>・組織図</a:t>
            </a:r>
          </a:p>
          <a:p>
            <a:pPr algn="l">
              <a:spcAft>
                <a:spcPts val="400"/>
              </a:spcAft>
            </a:pPr>
            <a:r>
              <a:rPr sz="1200" b="0">
                <a:solidFill>
                  <a:srgbClr val="C8D6DE"/>
                </a:solidFill>
                <a:latin typeface="游ゴシック"/>
                <a:ea typeface="游ゴシック"/>
              </a:rPr>
              <a:t>・株主及び役員</a:t>
            </a:r>
          </a:p>
          <a:p>
            <a:pPr algn="l">
              <a:spcAft>
                <a:spcPts val="400"/>
              </a:spcAft>
            </a:pPr>
            <a:r>
              <a:rPr sz="1200" b="0">
                <a:solidFill>
                  <a:srgbClr val="C8D6DE"/>
                </a:solidFill>
                <a:latin typeface="游ゴシック"/>
                <a:ea typeface="游ゴシック"/>
              </a:rPr>
              <a:t>・従業員</a:t>
            </a:r>
          </a:p>
          <a:p>
            <a:pPr algn="l">
              <a:spcAft>
                <a:spcPts val="400"/>
              </a:spcAft>
            </a:pPr>
            <a:r>
              <a:rPr sz="1200" b="0">
                <a:solidFill>
                  <a:srgbClr val="C8D6DE"/>
                </a:solidFill>
                <a:latin typeface="游ゴシック"/>
                <a:ea typeface="游ゴシック"/>
              </a:rPr>
              <a:t>・拠点・不動産</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組織図</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組織、拠点、設備等</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8部門・従業員24名の体制。営業（野菜・果実・近郷）とパッケージ部に人員が厚く、セリ人資格者は営業系に配置</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17</a:t>
            </a:r>
          </a:p>
        </p:txBody>
      </p:sp>
      <p:sp>
        <p:nvSpPr>
          <p:cNvPr id="9" name="Rectangle 8"/>
          <p:cNvSpPr/>
          <p:nvPr/>
        </p:nvSpPr>
        <p:spPr>
          <a:xfrm>
            <a:off x="4206240" y="1508760"/>
            <a:ext cx="2286000" cy="3657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0B3041"/>
                </a:solidFill>
                <a:latin typeface="游ゴシック"/>
                <a:ea typeface="游ゴシック"/>
              </a:rPr>
              <a:t>株主総会</a:t>
            </a:r>
          </a:p>
        </p:txBody>
      </p:sp>
      <p:sp>
        <p:nvSpPr>
          <p:cNvPr id="10" name="Rectangle 9"/>
          <p:cNvSpPr/>
          <p:nvPr/>
        </p:nvSpPr>
        <p:spPr>
          <a:xfrm>
            <a:off x="4206240" y="2011680"/>
            <a:ext cx="2286000" cy="3657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0B3041"/>
                </a:solidFill>
                <a:latin typeface="游ゴシック"/>
                <a:ea typeface="游ゴシック"/>
              </a:rPr>
              <a:t>取締役会（取締役3名）</a:t>
            </a:r>
          </a:p>
        </p:txBody>
      </p:sp>
      <p:sp>
        <p:nvSpPr>
          <p:cNvPr id="11" name="Rectangle 10"/>
          <p:cNvSpPr/>
          <p:nvPr/>
        </p:nvSpPr>
        <p:spPr>
          <a:xfrm>
            <a:off x="7315200" y="2011680"/>
            <a:ext cx="2011680" cy="36576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0">
                <a:solidFill>
                  <a:srgbClr val="0B3041"/>
                </a:solidFill>
                <a:latin typeface="游ゴシック"/>
                <a:ea typeface="游ゴシック"/>
              </a:rPr>
              <a:t>監査役（会計限定）</a:t>
            </a:r>
          </a:p>
        </p:txBody>
      </p:sp>
      <p:sp>
        <p:nvSpPr>
          <p:cNvPr id="12" name="Rectangle 11"/>
          <p:cNvSpPr/>
          <p:nvPr/>
        </p:nvSpPr>
        <p:spPr>
          <a:xfrm>
            <a:off x="4206240" y="2514600"/>
            <a:ext cx="2286000" cy="41148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游ゴシック"/>
                <a:ea typeface="游ゴシック"/>
              </a:rPr>
              <a:t>代表取締役社長</a:t>
            </a:r>
          </a:p>
          <a:p>
            <a:pPr algn="ctr"/>
            <a:r>
              <a:rPr sz="950" b="1">
                <a:solidFill>
                  <a:srgbClr val="FFFFFF"/>
                </a:solidFill>
                <a:latin typeface="游ゴシック"/>
                <a:ea typeface="游ゴシック"/>
              </a:rPr>
              <a:t>岡部 寛</a:t>
            </a:r>
          </a:p>
        </p:txBody>
      </p:sp>
      <p:sp>
        <p:nvSpPr>
          <p:cNvPr id="13" name="Rectangle 12"/>
          <p:cNvSpPr/>
          <p:nvPr/>
        </p:nvSpPr>
        <p:spPr>
          <a:xfrm>
            <a:off x="6858000" y="2560320"/>
            <a:ext cx="2468880" cy="329184"/>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0">
                <a:solidFill>
                  <a:srgbClr val="0B3041"/>
                </a:solidFill>
                <a:latin typeface="游ゴシック"/>
                <a:ea typeface="游ゴシック"/>
              </a:rPr>
              <a:t>取締役部長 岡部 一（担当部門は要確認）</a:t>
            </a:r>
          </a:p>
        </p:txBody>
      </p:sp>
      <p:cxnSp>
        <p:nvCxnSpPr>
          <p:cNvPr id="14" name="Connector 13"/>
          <p:cNvCxnSpPr/>
          <p:nvPr/>
        </p:nvCxnSpPr>
        <p:spPr>
          <a:xfrm>
            <a:off x="5349240" y="1874519"/>
            <a:ext cx="0" cy="137161"/>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49240" y="237744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349240" y="2926080"/>
            <a:ext cx="0" cy="32004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92240" y="2194560"/>
            <a:ext cx="822960" cy="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91552" y="3246120"/>
            <a:ext cx="8633079" cy="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91552"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11480"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野菜営業部</a:t>
            </a:r>
          </a:p>
          <a:p>
            <a:pPr algn="ctr"/>
            <a:r>
              <a:rPr sz="850" b="1">
                <a:solidFill>
                  <a:srgbClr val="FFFFFF"/>
                </a:solidFill>
                <a:latin typeface="游ゴシック"/>
                <a:ea typeface="游ゴシック"/>
              </a:rPr>
              <a:t>3名</a:t>
            </a:r>
          </a:p>
        </p:txBody>
      </p:sp>
      <p:sp>
        <p:nvSpPr>
          <p:cNvPr id="21" name="Rectangle 20"/>
          <p:cNvSpPr/>
          <p:nvPr/>
        </p:nvSpPr>
        <p:spPr>
          <a:xfrm>
            <a:off x="411480"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No.1 副部長</a:t>
            </a:r>
          </a:p>
          <a:p>
            <a:pPr algn="l">
              <a:spcAft>
                <a:spcPts val="200"/>
              </a:spcAft>
            </a:pPr>
            <a:r>
              <a:rPr sz="800" b="0">
                <a:solidFill>
                  <a:srgbClr val="1A1A1A"/>
                </a:solidFill>
                <a:latin typeface="游ゴシック"/>
                <a:ea typeface="游ゴシック"/>
              </a:rPr>
              <a:t>No.2 副部長 ★</a:t>
            </a:r>
          </a:p>
          <a:p>
            <a:pPr algn="l">
              <a:spcAft>
                <a:spcPts val="200"/>
              </a:spcAft>
            </a:pPr>
            <a:r>
              <a:rPr sz="800" b="0">
                <a:solidFill>
                  <a:srgbClr val="1A1A1A"/>
                </a:solidFill>
                <a:latin typeface="游ゴシック"/>
                <a:ea typeface="游ゴシック"/>
              </a:rPr>
              <a:t>No.7 正社員</a:t>
            </a:r>
          </a:p>
        </p:txBody>
      </p:sp>
      <p:cxnSp>
        <p:nvCxnSpPr>
          <p:cNvPr id="22" name="Connector 21"/>
          <p:cNvCxnSpPr/>
          <p:nvPr/>
        </p:nvCxnSpPr>
        <p:spPr>
          <a:xfrm>
            <a:off x="2224849"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644776"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果実営業部</a:t>
            </a:r>
          </a:p>
          <a:p>
            <a:pPr algn="ctr"/>
            <a:r>
              <a:rPr sz="850" b="1">
                <a:solidFill>
                  <a:srgbClr val="FFFFFF"/>
                </a:solidFill>
                <a:latin typeface="游ゴシック"/>
                <a:ea typeface="游ゴシック"/>
              </a:rPr>
              <a:t>2名</a:t>
            </a:r>
          </a:p>
        </p:txBody>
      </p:sp>
      <p:sp>
        <p:nvSpPr>
          <p:cNvPr id="24" name="Rectangle 23"/>
          <p:cNvSpPr/>
          <p:nvPr/>
        </p:nvSpPr>
        <p:spPr>
          <a:xfrm>
            <a:off x="1644776"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No.8 正社員</a:t>
            </a:r>
          </a:p>
          <a:p>
            <a:pPr algn="l">
              <a:spcAft>
                <a:spcPts val="200"/>
              </a:spcAft>
            </a:pPr>
            <a:r>
              <a:rPr sz="800" b="0">
                <a:solidFill>
                  <a:srgbClr val="1A1A1A"/>
                </a:solidFill>
                <a:latin typeface="游ゴシック"/>
                <a:ea typeface="游ゴシック"/>
              </a:rPr>
              <a:t>No.16 課長</a:t>
            </a:r>
          </a:p>
        </p:txBody>
      </p:sp>
      <p:cxnSp>
        <p:nvCxnSpPr>
          <p:cNvPr id="25" name="Connector 24"/>
          <p:cNvCxnSpPr/>
          <p:nvPr/>
        </p:nvCxnSpPr>
        <p:spPr>
          <a:xfrm>
            <a:off x="3458146"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2878074"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近郷部</a:t>
            </a:r>
          </a:p>
          <a:p>
            <a:pPr algn="ctr"/>
            <a:r>
              <a:rPr sz="850" b="1">
                <a:solidFill>
                  <a:srgbClr val="FFFFFF"/>
                </a:solidFill>
                <a:latin typeface="游ゴシック"/>
                <a:ea typeface="游ゴシック"/>
              </a:rPr>
              <a:t>4名</a:t>
            </a:r>
          </a:p>
        </p:txBody>
      </p:sp>
      <p:sp>
        <p:nvSpPr>
          <p:cNvPr id="27" name="Rectangle 26"/>
          <p:cNvSpPr/>
          <p:nvPr/>
        </p:nvSpPr>
        <p:spPr>
          <a:xfrm>
            <a:off x="2878074"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No.3 課長 ★</a:t>
            </a:r>
          </a:p>
          <a:p>
            <a:pPr algn="l">
              <a:spcAft>
                <a:spcPts val="200"/>
              </a:spcAft>
            </a:pPr>
            <a:r>
              <a:rPr sz="800" b="0">
                <a:solidFill>
                  <a:srgbClr val="1A1A1A"/>
                </a:solidFill>
                <a:latin typeface="游ゴシック"/>
                <a:ea typeface="游ゴシック"/>
              </a:rPr>
              <a:t>No.4 正社員</a:t>
            </a:r>
          </a:p>
          <a:p>
            <a:pPr algn="l">
              <a:spcAft>
                <a:spcPts val="200"/>
              </a:spcAft>
            </a:pPr>
            <a:r>
              <a:rPr sz="800" b="0">
                <a:solidFill>
                  <a:srgbClr val="1A1A1A"/>
                </a:solidFill>
                <a:latin typeface="游ゴシック"/>
                <a:ea typeface="游ゴシック"/>
              </a:rPr>
              <a:t>No.5 正社員</a:t>
            </a:r>
          </a:p>
          <a:p>
            <a:pPr algn="l">
              <a:spcAft>
                <a:spcPts val="200"/>
              </a:spcAft>
            </a:pPr>
            <a:r>
              <a:rPr sz="800" b="0">
                <a:solidFill>
                  <a:srgbClr val="1A1A1A"/>
                </a:solidFill>
                <a:latin typeface="游ゴシック"/>
                <a:ea typeface="游ゴシック"/>
              </a:rPr>
              <a:t>No.12 試用期間 ★</a:t>
            </a:r>
          </a:p>
        </p:txBody>
      </p:sp>
      <p:cxnSp>
        <p:nvCxnSpPr>
          <p:cNvPr id="28" name="Connector 27"/>
          <p:cNvCxnSpPr/>
          <p:nvPr/>
        </p:nvCxnSpPr>
        <p:spPr>
          <a:xfrm>
            <a:off x="4691443"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111371"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集配部</a:t>
            </a:r>
          </a:p>
          <a:p>
            <a:pPr algn="ctr"/>
            <a:r>
              <a:rPr sz="850" b="1">
                <a:solidFill>
                  <a:srgbClr val="FFFFFF"/>
                </a:solidFill>
                <a:latin typeface="游ゴシック"/>
                <a:ea typeface="游ゴシック"/>
              </a:rPr>
              <a:t>4名</a:t>
            </a:r>
          </a:p>
        </p:txBody>
      </p:sp>
      <p:sp>
        <p:nvSpPr>
          <p:cNvPr id="30" name="Rectangle 29"/>
          <p:cNvSpPr/>
          <p:nvPr/>
        </p:nvSpPr>
        <p:spPr>
          <a:xfrm>
            <a:off x="4111371"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No.6 正社員</a:t>
            </a:r>
          </a:p>
          <a:p>
            <a:pPr algn="l">
              <a:spcAft>
                <a:spcPts val="200"/>
              </a:spcAft>
            </a:pPr>
            <a:r>
              <a:rPr sz="800" b="0">
                <a:solidFill>
                  <a:srgbClr val="1A1A1A"/>
                </a:solidFill>
                <a:latin typeface="游ゴシック"/>
                <a:ea typeface="游ゴシック"/>
              </a:rPr>
              <a:t>No.9 正社員</a:t>
            </a:r>
          </a:p>
          <a:p>
            <a:pPr algn="l">
              <a:spcAft>
                <a:spcPts val="200"/>
              </a:spcAft>
            </a:pPr>
            <a:r>
              <a:rPr sz="800" b="0">
                <a:solidFill>
                  <a:srgbClr val="1A1A1A"/>
                </a:solidFill>
                <a:latin typeface="游ゴシック"/>
                <a:ea typeface="游ゴシック"/>
              </a:rPr>
              <a:t>No.11 再雇用正社員</a:t>
            </a:r>
          </a:p>
          <a:p>
            <a:pPr algn="l">
              <a:spcAft>
                <a:spcPts val="200"/>
              </a:spcAft>
            </a:pPr>
            <a:r>
              <a:rPr sz="800" b="0">
                <a:solidFill>
                  <a:srgbClr val="1A1A1A"/>
                </a:solidFill>
                <a:latin typeface="游ゴシック"/>
                <a:ea typeface="游ゴシック"/>
              </a:rPr>
              <a:t>No.13 アルバイト</a:t>
            </a:r>
          </a:p>
        </p:txBody>
      </p:sp>
      <p:cxnSp>
        <p:nvCxnSpPr>
          <p:cNvPr id="31" name="Connector 30"/>
          <p:cNvCxnSpPr/>
          <p:nvPr/>
        </p:nvCxnSpPr>
        <p:spPr>
          <a:xfrm>
            <a:off x="5924740"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344668"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生花部</a:t>
            </a:r>
          </a:p>
          <a:p>
            <a:pPr algn="ctr"/>
            <a:r>
              <a:rPr sz="850" b="1">
                <a:solidFill>
                  <a:srgbClr val="FFFFFF"/>
                </a:solidFill>
                <a:latin typeface="游ゴシック"/>
                <a:ea typeface="游ゴシック"/>
              </a:rPr>
              <a:t>1名</a:t>
            </a:r>
          </a:p>
        </p:txBody>
      </p:sp>
      <p:sp>
        <p:nvSpPr>
          <p:cNvPr id="33" name="Rectangle 32"/>
          <p:cNvSpPr/>
          <p:nvPr/>
        </p:nvSpPr>
        <p:spPr>
          <a:xfrm>
            <a:off x="5344668"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No.10 嘱託社員</a:t>
            </a:r>
          </a:p>
        </p:txBody>
      </p:sp>
      <p:cxnSp>
        <p:nvCxnSpPr>
          <p:cNvPr id="34" name="Connector 33"/>
          <p:cNvCxnSpPr/>
          <p:nvPr/>
        </p:nvCxnSpPr>
        <p:spPr>
          <a:xfrm>
            <a:off x="7158037"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77965"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パッケージ部</a:t>
            </a:r>
          </a:p>
          <a:p>
            <a:pPr algn="ctr"/>
            <a:r>
              <a:rPr sz="850" b="1">
                <a:solidFill>
                  <a:srgbClr val="FFFFFF"/>
                </a:solidFill>
                <a:latin typeface="游ゴシック"/>
                <a:ea typeface="游ゴシック"/>
              </a:rPr>
              <a:t>7名</a:t>
            </a:r>
          </a:p>
        </p:txBody>
      </p:sp>
      <p:sp>
        <p:nvSpPr>
          <p:cNvPr id="36" name="Rectangle 35"/>
          <p:cNvSpPr/>
          <p:nvPr/>
        </p:nvSpPr>
        <p:spPr>
          <a:xfrm>
            <a:off x="6577965"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No.18 係長</a:t>
            </a:r>
          </a:p>
          <a:p>
            <a:pPr algn="l">
              <a:spcAft>
                <a:spcPts val="200"/>
              </a:spcAft>
            </a:pPr>
            <a:r>
              <a:rPr sz="800" b="0">
                <a:solidFill>
                  <a:srgbClr val="1A1A1A"/>
                </a:solidFill>
                <a:latin typeface="游ゴシック"/>
                <a:ea typeface="游ゴシック"/>
              </a:rPr>
              <a:t>No.19 正社員</a:t>
            </a:r>
          </a:p>
          <a:p>
            <a:pPr algn="l">
              <a:spcAft>
                <a:spcPts val="200"/>
              </a:spcAft>
            </a:pPr>
            <a:r>
              <a:rPr sz="800" b="0">
                <a:solidFill>
                  <a:srgbClr val="1A1A1A"/>
                </a:solidFill>
                <a:latin typeface="游ゴシック"/>
                <a:ea typeface="游ゴシック"/>
              </a:rPr>
              <a:t>No.20 正社員</a:t>
            </a:r>
          </a:p>
          <a:p>
            <a:pPr algn="l">
              <a:spcAft>
                <a:spcPts val="200"/>
              </a:spcAft>
            </a:pPr>
            <a:r>
              <a:rPr sz="800" b="0">
                <a:solidFill>
                  <a:srgbClr val="1A1A1A"/>
                </a:solidFill>
                <a:latin typeface="游ゴシック"/>
                <a:ea typeface="游ゴシック"/>
              </a:rPr>
              <a:t>No.21 正社員</a:t>
            </a:r>
          </a:p>
          <a:p>
            <a:pPr algn="l">
              <a:spcAft>
                <a:spcPts val="200"/>
              </a:spcAft>
            </a:pPr>
            <a:r>
              <a:rPr sz="800" b="0">
                <a:solidFill>
                  <a:srgbClr val="1A1A1A"/>
                </a:solidFill>
                <a:latin typeface="游ゴシック"/>
                <a:ea typeface="游ゴシック"/>
              </a:rPr>
              <a:t>No.22 パート</a:t>
            </a:r>
          </a:p>
          <a:p>
            <a:pPr algn="l">
              <a:spcAft>
                <a:spcPts val="200"/>
              </a:spcAft>
            </a:pPr>
            <a:r>
              <a:rPr sz="800" b="0">
                <a:solidFill>
                  <a:srgbClr val="1A1A1A"/>
                </a:solidFill>
                <a:latin typeface="游ゴシック"/>
                <a:ea typeface="游ゴシック"/>
              </a:rPr>
              <a:t>No.23 パート</a:t>
            </a:r>
          </a:p>
          <a:p>
            <a:pPr algn="l">
              <a:spcAft>
                <a:spcPts val="200"/>
              </a:spcAft>
            </a:pPr>
            <a:r>
              <a:rPr sz="800" b="0">
                <a:solidFill>
                  <a:srgbClr val="1A1A1A"/>
                </a:solidFill>
                <a:latin typeface="游ゴシック"/>
                <a:ea typeface="游ゴシック"/>
              </a:rPr>
              <a:t>No.24 パート</a:t>
            </a:r>
          </a:p>
        </p:txBody>
      </p:sp>
      <p:cxnSp>
        <p:nvCxnSpPr>
          <p:cNvPr id="37" name="Connector 36"/>
          <p:cNvCxnSpPr/>
          <p:nvPr/>
        </p:nvCxnSpPr>
        <p:spPr>
          <a:xfrm>
            <a:off x="8391334"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811261"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資材部</a:t>
            </a:r>
          </a:p>
          <a:p>
            <a:pPr algn="ctr"/>
            <a:r>
              <a:rPr sz="850" b="1">
                <a:solidFill>
                  <a:srgbClr val="FFFFFF"/>
                </a:solidFill>
                <a:latin typeface="游ゴシック"/>
                <a:ea typeface="游ゴシック"/>
              </a:rPr>
              <a:t>1名</a:t>
            </a:r>
          </a:p>
        </p:txBody>
      </p:sp>
      <p:sp>
        <p:nvSpPr>
          <p:cNvPr id="39" name="Rectangle 38"/>
          <p:cNvSpPr/>
          <p:nvPr/>
        </p:nvSpPr>
        <p:spPr>
          <a:xfrm>
            <a:off x="7811261"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No.15 課長</a:t>
            </a:r>
          </a:p>
        </p:txBody>
      </p:sp>
      <p:cxnSp>
        <p:nvCxnSpPr>
          <p:cNvPr id="40" name="Connector 39"/>
          <p:cNvCxnSpPr/>
          <p:nvPr/>
        </p:nvCxnSpPr>
        <p:spPr>
          <a:xfrm>
            <a:off x="9624631" y="324612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044559" y="3383280"/>
            <a:ext cx="1160144" cy="4572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游ゴシック"/>
                <a:ea typeface="游ゴシック"/>
              </a:rPr>
              <a:t>総務部・事務</a:t>
            </a:r>
          </a:p>
          <a:p>
            <a:pPr algn="ctr"/>
            <a:r>
              <a:rPr sz="850" b="1">
                <a:solidFill>
                  <a:srgbClr val="FFFFFF"/>
                </a:solidFill>
                <a:latin typeface="游ゴシック"/>
                <a:ea typeface="游ゴシック"/>
              </a:rPr>
              <a:t>2名</a:t>
            </a:r>
          </a:p>
        </p:txBody>
      </p:sp>
      <p:sp>
        <p:nvSpPr>
          <p:cNvPr id="42" name="Rectangle 41"/>
          <p:cNvSpPr/>
          <p:nvPr/>
        </p:nvSpPr>
        <p:spPr>
          <a:xfrm>
            <a:off x="9044559" y="3886200"/>
            <a:ext cx="1160144" cy="274320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spcAft>
                <a:spcPts val="200"/>
              </a:spcAft>
            </a:pPr>
            <a:r>
              <a:rPr sz="800" b="0">
                <a:solidFill>
                  <a:srgbClr val="1A1A1A"/>
                </a:solidFill>
                <a:latin typeface="游ゴシック"/>
                <a:ea typeface="游ゴシック"/>
              </a:rPr>
              <a:t>No.14 部長</a:t>
            </a:r>
          </a:p>
          <a:p>
            <a:pPr algn="l">
              <a:spcAft>
                <a:spcPts val="200"/>
              </a:spcAft>
            </a:pPr>
            <a:r>
              <a:rPr sz="800" b="0">
                <a:solidFill>
                  <a:srgbClr val="1A1A1A"/>
                </a:solidFill>
                <a:latin typeface="游ゴシック"/>
                <a:ea typeface="游ゴシック"/>
              </a:rPr>
              <a:t>No.17 正社員</a:t>
            </a:r>
          </a:p>
        </p:txBody>
      </p:sp>
      <p:sp>
        <p:nvSpPr>
          <p:cNvPr id="43" name="TextBox 42"/>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※図中のNo.は「従業員」ページの従業員No.と対応。★はセリ人資格保有者。役職のない者は雇用形態を表示。</a:t>
            </a:r>
          </a:p>
          <a:p>
            <a:pPr algn="l"/>
            <a:r>
              <a:rPr sz="700" b="0">
                <a:solidFill>
                  <a:srgbClr val="5A6670"/>
                </a:solidFill>
                <a:latin typeface="游ゴシック"/>
                <a:ea typeface="游ゴシック"/>
              </a:rPr>
              <a:t>※部門構成は職員名簿の「担当部署」による。常務取締役（菅原圭吾氏）は2026年5月29日に退任。取締役（非常勤）岡部竹古氏は図示省略。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株主及び役員</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組織、拠点、設備等</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代表者一族（岡部家4名）で75.8%を保有。親族外株主4名が残り24.3%を保有</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18</a:t>
            </a:r>
          </a:p>
        </p:txBody>
      </p:sp>
      <p:graphicFrame>
        <p:nvGraphicFramePr>
          <p:cNvPr id="9" name="Table 8"/>
          <p:cNvGraphicFramePr>
            <a:graphicFrameLocks noGrp="1"/>
          </p:cNvGraphicFramePr>
          <p:nvPr/>
        </p:nvGraphicFramePr>
        <p:xfrm>
          <a:off x="411480" y="1508760"/>
          <a:ext cx="4846320" cy="3108960"/>
        </p:xfrm>
        <a:graphic>
          <a:graphicData uri="http://schemas.openxmlformats.org/drawingml/2006/table">
            <a:tbl>
              <a:tblPr firstRow="0" bandRow="0">
                <a:tableStyleId>{5940675A-B579-460E-94D1-54222C63F5DA}</a:tableStyleId>
              </a:tblPr>
              <a:tblGrid>
                <a:gridCol w="1188720"/>
                <a:gridCol w="2194560"/>
                <a:gridCol w="731520"/>
                <a:gridCol w="731520"/>
              </a:tblGrid>
              <a:tr h="310896">
                <a:tc>
                  <a:txBody>
                    <a:bodyPr wrap="square"/>
                    <a:lstStyle/>
                    <a:p>
                      <a:pPr algn="ctr"/>
                      <a:r>
                        <a:rPr sz="900" b="1">
                          <a:solidFill>
                            <a:srgbClr val="FFFFFF"/>
                          </a:solidFill>
                          <a:latin typeface="游ゴシック"/>
                          <a:ea typeface="游ゴシック"/>
                        </a:rPr>
                        <a:t>株主名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続柄・役職</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株式数</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持株比率</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岡部 寛</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代表取締役（本人）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1,510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37.8%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岡部 一</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取締役・代表者の兄弟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岡部 和子</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代表者の兄弟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梅津 恵一</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小野寺 則和</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監査役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岡部 竹古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取締役・代表者の配偶者</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佐藤 令子</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0">
                          <a:solidFill>
                            <a:srgbClr val="1A1A1A"/>
                          </a:solidFill>
                          <a:latin typeface="游ゴシック"/>
                          <a:ea typeface="游ゴシック"/>
                        </a:rPr>
                        <a:t>菅原 圭吾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元常務取締役（2026年5月退任）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10896">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4,000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0" name="Table 9"/>
          <p:cNvGraphicFramePr>
            <a:graphicFrameLocks noGrp="1"/>
          </p:cNvGraphicFramePr>
          <p:nvPr/>
        </p:nvGraphicFramePr>
        <p:xfrm>
          <a:off x="5431536" y="1508760"/>
          <a:ext cx="4846315" cy="2304288"/>
        </p:xfrm>
        <a:graphic>
          <a:graphicData uri="http://schemas.openxmlformats.org/drawingml/2006/table">
            <a:tbl>
              <a:tblPr firstRow="0" bandRow="0">
                <a:tableStyleId>{5940675A-B579-460E-94D1-54222C63F5DA}</a:tableStyleId>
              </a:tblPr>
              <a:tblGrid>
                <a:gridCol w="1142999"/>
                <a:gridCol w="868679"/>
                <a:gridCol w="548639"/>
                <a:gridCol w="1463039"/>
                <a:gridCol w="822959"/>
              </a:tblGrid>
              <a:tr h="384048">
                <a:tc>
                  <a:txBody>
                    <a:bodyPr wrap="square"/>
                    <a:lstStyle/>
                    <a:p>
                      <a:pPr algn="ctr"/>
                      <a:r>
                        <a:rPr sz="850" b="1">
                          <a:solidFill>
                            <a:srgbClr val="FFFFFF"/>
                          </a:solidFill>
                          <a:latin typeface="游ゴシック"/>
                          <a:ea typeface="游ゴシック"/>
                        </a:rPr>
                        <a:t>役職</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氏名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常勤</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備考</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報酬(2026/3期)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850" b="0">
                          <a:solidFill>
                            <a:srgbClr val="1A1A1A"/>
                          </a:solidFill>
                          <a:latin typeface="游ゴシック"/>
                          <a:ea typeface="游ゴシック"/>
                        </a:rPr>
                        <a:t>代表取締役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岡部 寛</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常勤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社長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850" b="0">
                          <a:solidFill>
                            <a:srgbClr val="1A1A1A"/>
                          </a:solidFill>
                          <a:latin typeface="游ゴシック"/>
                          <a:ea typeface="游ゴシック"/>
                        </a:rPr>
                        <a:t>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岡部 一</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常勤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部長（代表者の兄弟）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850" b="0">
                          <a:solidFill>
                            <a:srgbClr val="1A1A1A"/>
                          </a:solidFill>
                          <a:latin typeface="游ゴシック"/>
                          <a:ea typeface="游ゴシック"/>
                        </a:rPr>
                        <a:t>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岡部 竹古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非常勤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代表者の配偶者</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850" b="0">
                          <a:solidFill>
                            <a:srgbClr val="1A1A1A"/>
                          </a:solidFill>
                          <a:latin typeface="游ゴシック"/>
                          <a:ea typeface="游ゴシック"/>
                        </a:rPr>
                        <a:t>監査役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小野寺 則和</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非常勤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会計監査限定</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850" b="0">
                          <a:solidFill>
                            <a:srgbClr val="1A1A1A"/>
                          </a:solidFill>
                          <a:latin typeface="游ゴシック"/>
                          <a:ea typeface="游ゴシック"/>
                        </a:rPr>
                        <a:t>（退任）常務取締役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菅原 圭吾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常勤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2026年5月29日退任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TextBox 10"/>
          <p:cNvSpPr txBox="1"/>
          <p:nvPr/>
        </p:nvSpPr>
        <p:spPr>
          <a:xfrm>
            <a:off x="5431536" y="4023360"/>
            <a:ext cx="4846320" cy="146304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・役員報酬総額は22,200千円（2024/3期・2025/3期）から15,360千円（2026/3期）へ減少。代表取締役は10,560千円→4,320千円。減額の理由は要確認。</a:t>
            </a:r>
          </a:p>
          <a:p>
            <a:pPr algn="l">
              <a:spcAft>
                <a:spcPts val="400"/>
              </a:spcAft>
            </a:pPr>
            <a:r>
              <a:rPr sz="900" b="0">
                <a:solidFill>
                  <a:srgbClr val="1A1A1A"/>
                </a:solidFill>
                <a:latin typeface="游ゴシック"/>
                <a:ea typeface="游ゴシック"/>
              </a:rPr>
              <a:t>・取締役会設置会社・監査役設置会社（監査の範囲を会計に限定）。株式の譲渡には取締役会の承認を要する。</a:t>
            </a:r>
          </a:p>
        </p:txBody>
      </p:sp>
      <p:sp>
        <p:nvSpPr>
          <p:cNvPr id="12" name="TextBox 11"/>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※株主：法人税申告書別表二（2026/3期）。役員：履歴事項全部証明書（2026年9月10日現在）、勘定科目内訳明細書（役員給与等）。報酬の単位は千円。</a:t>
            </a:r>
          </a:p>
          <a:p>
            <a:pPr algn="l"/>
            <a:r>
              <a:rPr sz="700" b="0">
                <a:solidFill>
                  <a:srgbClr val="5A6670"/>
                </a:solidFill>
                <a:latin typeface="游ゴシック"/>
                <a:ea typeface="游ゴシック"/>
              </a:rPr>
              <a:t>※株主名簿・名義株の有無・親族外株主の取得経緯は要確認。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従業員</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組織、拠点、設備等</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従業員24名（平均年齢50.9歳・平均勤続12.7年）。勤続20年以上が多い一方、60歳以上が8名</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19</a:t>
            </a:r>
          </a:p>
        </p:txBody>
      </p:sp>
      <p:graphicFrame>
        <p:nvGraphicFramePr>
          <p:cNvPr id="9" name="Table 8"/>
          <p:cNvGraphicFramePr>
            <a:graphicFrameLocks noGrp="1"/>
          </p:cNvGraphicFramePr>
          <p:nvPr/>
        </p:nvGraphicFramePr>
        <p:xfrm>
          <a:off x="411480" y="1417320"/>
          <a:ext cx="9866372" cy="5212075"/>
        </p:xfrm>
        <a:graphic>
          <a:graphicData uri="http://schemas.openxmlformats.org/drawingml/2006/table">
            <a:tbl>
              <a:tblPr firstRow="0" bandRow="0">
                <a:tableStyleId>{5940675A-B579-460E-94D1-54222C63F5DA}</a:tableStyleId>
              </a:tblPr>
              <a:tblGrid>
                <a:gridCol w="398641"/>
                <a:gridCol w="1096264"/>
                <a:gridCol w="697622"/>
                <a:gridCol w="996603"/>
                <a:gridCol w="448471"/>
                <a:gridCol w="448471"/>
                <a:gridCol w="597962"/>
                <a:gridCol w="548132"/>
                <a:gridCol w="896943"/>
                <a:gridCol w="548132"/>
                <a:gridCol w="597962"/>
                <a:gridCol w="2591169"/>
              </a:tblGrid>
              <a:tr h="208483">
                <a:tc>
                  <a:txBody>
                    <a:bodyPr wrap="square"/>
                    <a:lstStyle/>
                    <a:p>
                      <a:pPr algn="ctr"/>
                      <a:r>
                        <a:rPr sz="750" b="1">
                          <a:solidFill>
                            <a:srgbClr val="FFFFFF"/>
                          </a:solidFill>
                          <a:latin typeface="游ゴシック"/>
                          <a:ea typeface="游ゴシック"/>
                        </a:rPr>
                        <a:t>No.</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部署</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役職</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雇用形態</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性別</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年齢</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入社年</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勤続</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所定</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セリ人</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ﾌｫｰｸﾘﾌﾄ</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備考</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野菜営業部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副部長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野菜営業部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副部長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24年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近郷部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課長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12年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近郷部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7年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近郷部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7年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集配部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野菜営業部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32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果実営業部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集配部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14年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2022年4月よりフルタイム</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生花部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嘱託社員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集配部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再雇用正社員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3年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近郷部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試用期間</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集配部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アルバイト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0年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休日のみ配送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総務部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部長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1988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38年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資材部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課長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1979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47年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定年後再雇用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果実営業部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課長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19年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事務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7年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係長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52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2012年4月よりフルタイム</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2012年4月よりフルタイム／定年後再雇用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5年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正社員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17年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8h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2012年4月よりフルタイム</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パート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14年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4h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パート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8年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4h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08483">
                <a:tc>
                  <a:txBody>
                    <a:bodyPr wrap="square"/>
                    <a:lstStyle/>
                    <a:p>
                      <a:pPr algn="ctr"/>
                      <a:r>
                        <a:rPr sz="750" b="0">
                          <a:solidFill>
                            <a:srgbClr val="1A1A1A"/>
                          </a:solidFill>
                          <a:latin typeface="Arial"/>
                          <a:ea typeface="游ゴシック"/>
                        </a:rPr>
                        <a:t>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パッケージ部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パート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女</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59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2023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Arial"/>
                          <a:ea typeface="游ゴシック"/>
                        </a:rPr>
                        <a:t>3年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4h</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TextBox 9"/>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※職員名簿（2026年9月1日現在）。年齢・勤続年数は名簿記載値。氏名・住所等の個人情報は記載していません。役員は含みません。</a:t>
            </a:r>
          </a:p>
          <a:p>
            <a:pPr algn="l"/>
            <a:r>
              <a:rPr sz="700" b="0">
                <a:solidFill>
                  <a:srgbClr val="5A6670"/>
                </a:solidFill>
                <a:latin typeface="游ゴシック"/>
                <a:ea typeface="游ゴシック"/>
              </a:rPr>
              <a:t>※法人事業概況説明書（2026/3期末）では従業員30名（常勤役員3名を含む）、山形県資料では40名と記載があり、人数の定義差は要確認。就業規則・退職金規程は要確認（退職金共済に加入）。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拠点・不動産</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組織、拠点、設備等</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本社市場とパッケージ場は隣接する自社保有地（計4,263㎡）。主要建物は1981〜82年築で、2012年に倉庫を増設</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20</a:t>
            </a:r>
          </a:p>
        </p:txBody>
      </p:sp>
      <p:graphicFrame>
        <p:nvGraphicFramePr>
          <p:cNvPr id="9" name="Table 8"/>
          <p:cNvGraphicFramePr>
            <a:graphicFrameLocks noGrp="1"/>
          </p:cNvGraphicFramePr>
          <p:nvPr/>
        </p:nvGraphicFramePr>
        <p:xfrm>
          <a:off x="411480" y="1463040"/>
          <a:ext cx="9866373" cy="1371600"/>
        </p:xfrm>
        <a:graphic>
          <a:graphicData uri="http://schemas.openxmlformats.org/drawingml/2006/table">
            <a:tbl>
              <a:tblPr firstRow="0" bandRow="0">
                <a:tableStyleId>{5940675A-B579-460E-94D1-54222C63F5DA}</a:tableStyleId>
              </a:tblPr>
              <a:tblGrid>
                <a:gridCol w="3115697"/>
                <a:gridCol w="726996"/>
                <a:gridCol w="2077131"/>
                <a:gridCol w="1038565"/>
                <a:gridCol w="1453992"/>
                <a:gridCol w="1453992"/>
              </a:tblGrid>
              <a:tr h="274320">
                <a:tc>
                  <a:txBody>
                    <a:bodyPr wrap="square"/>
                    <a:lstStyle/>
                    <a:p>
                      <a:pPr algn="ctr"/>
                      <a:r>
                        <a:rPr sz="850" b="1">
                          <a:solidFill>
                            <a:srgbClr val="FFFFFF"/>
                          </a:solidFill>
                          <a:latin typeface="游ゴシック"/>
                          <a:ea typeface="游ゴシック"/>
                        </a:rPr>
                        <a:t>所在（土地）</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地目</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用途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地積(㎡)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固定資産税評価額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簿価(2026/3末)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鶴岡市宝田一丁目4-2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宅地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市場・事務所・倉庫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3,100.22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35,861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70,757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鶴岡市宝田一丁目5-1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宅地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パッケージ場・倉庫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900.50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21,380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東田川郡庄内町長沼字宮前304-7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宅地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倉庫敷地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1">
                          <a:solidFill>
                            <a:srgbClr val="1A1A1A"/>
                          </a:solidFill>
                          <a:latin typeface="游ゴシック"/>
                          <a:ea typeface="游ゴシック"/>
                        </a:rPr>
                        <a:t>土地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4,262.53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47,478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93,137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0" name="Table 9"/>
          <p:cNvGraphicFramePr>
            <a:graphicFrameLocks noGrp="1"/>
          </p:cNvGraphicFramePr>
          <p:nvPr/>
        </p:nvGraphicFramePr>
        <p:xfrm>
          <a:off x="411480" y="3063240"/>
          <a:ext cx="9866372" cy="2468880"/>
        </p:xfrm>
        <a:graphic>
          <a:graphicData uri="http://schemas.openxmlformats.org/drawingml/2006/table">
            <a:tbl>
              <a:tblPr firstRow="0" bandRow="0">
                <a:tableStyleId>{5940675A-B579-460E-94D1-54222C63F5DA}</a:tableStyleId>
              </a:tblPr>
              <a:tblGrid>
                <a:gridCol w="1610836"/>
                <a:gridCol w="1308804"/>
                <a:gridCol w="2315578"/>
                <a:gridCol w="604063"/>
                <a:gridCol w="1006773"/>
                <a:gridCol w="1610836"/>
                <a:gridCol w="1409482"/>
              </a:tblGrid>
              <a:tr h="274320">
                <a:tc>
                  <a:txBody>
                    <a:bodyPr wrap="square"/>
                    <a:lstStyle/>
                    <a:p>
                      <a:pPr algn="ctr"/>
                      <a:r>
                        <a:rPr sz="850" b="1">
                          <a:solidFill>
                            <a:srgbClr val="FFFFFF"/>
                          </a:solidFill>
                          <a:latin typeface="游ゴシック"/>
                          <a:ea typeface="游ゴシック"/>
                        </a:rPr>
                        <a:t>所在（建物）</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種類</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構造</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階数</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床面積(㎡)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建築年</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固定資産税評価額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事務所</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鉄骨造 亜鉛メッキ鋼板葺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2階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365.63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1981年（昭和56年）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11,218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市場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鉄骨造 亜鉛メッキ鋼板葺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320.22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1981年（昭和56年）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4,713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倉庫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鉄骨造 亜鉛メッキ鋼板葺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327.13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1981年（昭和56年）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4,561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倉庫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軽量鉄骨造</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2階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198.74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1981年（昭和56年）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貯蔵庫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軽量鉄骨造</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34.48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1981年（昭和56年）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事務所兼倉庫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鉄骨造 亜鉛メッキ鋼板葺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2階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627.40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1982年（昭和57年）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13,111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0">
                          <a:solidFill>
                            <a:srgbClr val="1A1A1A"/>
                          </a:solidFill>
                          <a:latin typeface="游ゴシック"/>
                          <a:ea typeface="游ゴシック"/>
                        </a:rPr>
                        <a:t>宝田一丁目5-1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倉庫</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鉄骨造 亜鉛メッキ鋼板葺</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1階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139.08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0">
                          <a:solidFill>
                            <a:srgbClr val="1A1A1A"/>
                          </a:solidFill>
                          <a:latin typeface="游ゴシック"/>
                          <a:ea typeface="游ゴシック"/>
                        </a:rPr>
                        <a:t>2012年（平成24年）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11,656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50" b="1">
                          <a:solidFill>
                            <a:srgbClr val="1A1A1A"/>
                          </a:solidFill>
                          <a:latin typeface="游ゴシック"/>
                          <a:ea typeface="游ゴシック"/>
                        </a:rPr>
                        <a:t>建物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2,012.68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47,062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TextBox 10"/>
          <p:cNvSpPr txBox="1"/>
          <p:nvPr/>
        </p:nvSpPr>
        <p:spPr>
          <a:xfrm>
            <a:off x="411480" y="5669280"/>
            <a:ext cx="9866376" cy="1005840"/>
          </a:xfrm>
          <a:prstGeom prst="rect">
            <a:avLst/>
          </a:prstGeom>
          <a:noFill/>
        </p:spPr>
        <p:txBody>
          <a:bodyPr wrap="square" lIns="0" rIns="0" tIns="0" bIns="0" anchor="t">
            <a:spAutoFit/>
          </a:bodyPr>
          <a:lstStyle/>
          <a:p>
            <a:pPr algn="l">
              <a:spcAft>
                <a:spcPts val="300"/>
              </a:spcAft>
            </a:pPr>
            <a:r>
              <a:rPr sz="900" b="0">
                <a:solidFill>
                  <a:srgbClr val="1A1A1A"/>
                </a:solidFill>
                <a:latin typeface="游ゴシック"/>
                <a:ea typeface="游ゴシック"/>
              </a:rPr>
              <a:t>・本社：山形県鶴岡市宝田一丁目4番20号。賃借物件なし（地代家賃の計上なし）。リース料年6,227千円（2026/3期。対象資産は要確認）。</a:t>
            </a:r>
          </a:p>
          <a:p>
            <a:pPr algn="l">
              <a:spcAft>
                <a:spcPts val="300"/>
              </a:spcAft>
            </a:pPr>
            <a:r>
              <a:rPr sz="900" b="0">
                <a:solidFill>
                  <a:srgbClr val="1A1A1A"/>
                </a:solidFill>
                <a:latin typeface="游ゴシック"/>
                <a:ea typeface="游ゴシック"/>
              </a:rPr>
              <a:t>・土地の簿価93.1百万円に対し固定資産税評価額47.5百万円。建物簿価（附属設備含む）は103.5百万円で、屋根・外壁・シャッター・冷蔵庫ユニット等の改修工事を資産計上。</a:t>
            </a:r>
          </a:p>
          <a:p>
            <a:pPr algn="l">
              <a:spcAft>
                <a:spcPts val="300"/>
              </a:spcAft>
            </a:pPr>
            <a:r>
              <a:rPr sz="900" b="0">
                <a:solidFill>
                  <a:srgbClr val="1A1A1A"/>
                </a:solidFill>
                <a:latin typeface="游ゴシック"/>
                <a:ea typeface="游ゴシック"/>
              </a:rPr>
              <a:t>・庄内町長沼の土地（倉庫敷地）に建物の課税明細はなく、利用状況は要確認。</a:t>
            </a:r>
          </a:p>
        </p:txBody>
      </p:sp>
      <p:sp>
        <p:nvSpPr>
          <p:cNvPr id="12" name="TextBox 11"/>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※単位：千円（面積を除く）。出所：R8年度固定資産税・都市計画税課税明細書、固定資産（土地・建物）内訳書。地積・床面積は登記値。</a:t>
            </a:r>
          </a:p>
          <a:p>
            <a:pPr algn="l"/>
            <a:r>
              <a:rPr sz="700" b="0">
                <a:solidFill>
                  <a:srgbClr val="5A6670"/>
                </a:solidFill>
                <a:latin typeface="游ゴシック"/>
                <a:ea typeface="游ゴシック"/>
              </a:rPr>
              <a:t>※1981年築の建物は新耐震基準（1981年6月施行）の適用有無が建築確認日により異なるため要確認。</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73152" cy="10972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063240"/>
            <a:ext cx="7315200" cy="548640"/>
          </a:xfrm>
          <a:prstGeom prst="rect">
            <a:avLst/>
          </a:prstGeom>
          <a:noFill/>
        </p:spPr>
        <p:txBody>
          <a:bodyPr wrap="square" lIns="0" rIns="0" tIns="0" bIns="0" anchor="t">
            <a:spAutoFit/>
          </a:bodyPr>
          <a:lstStyle/>
          <a:p>
            <a:pPr algn="l"/>
            <a:r>
              <a:rPr sz="2800" b="1">
                <a:solidFill>
                  <a:srgbClr val="0889C9"/>
                </a:solidFill>
                <a:latin typeface="Arial"/>
                <a:ea typeface="游ゴシック"/>
              </a:rPr>
              <a:t>04</a:t>
            </a:r>
          </a:p>
        </p:txBody>
      </p:sp>
      <p:sp>
        <p:nvSpPr>
          <p:cNvPr id="5" name="TextBox 4"/>
          <p:cNvSpPr txBox="1"/>
          <p:nvPr/>
        </p:nvSpPr>
        <p:spPr>
          <a:xfrm>
            <a:off x="1051560" y="3611880"/>
            <a:ext cx="8229600" cy="640080"/>
          </a:xfrm>
          <a:prstGeom prst="rect">
            <a:avLst/>
          </a:prstGeom>
          <a:noFill/>
        </p:spPr>
        <p:txBody>
          <a:bodyPr wrap="square" lIns="0" rIns="0" tIns="0" bIns="0" anchor="t">
            <a:spAutoFit/>
          </a:bodyPr>
          <a:lstStyle/>
          <a:p>
            <a:pPr algn="l"/>
            <a:r>
              <a:rPr sz="2800" b="1">
                <a:solidFill>
                  <a:srgbClr val="FFFFFF"/>
                </a:solidFill>
                <a:latin typeface="游ゴシック"/>
                <a:ea typeface="游ゴシック"/>
              </a:rPr>
              <a:t>財務情報詳細</a:t>
            </a:r>
          </a:p>
        </p:txBody>
      </p:sp>
      <p:sp>
        <p:nvSpPr>
          <p:cNvPr id="6" name="TextBox 5"/>
          <p:cNvSpPr txBox="1"/>
          <p:nvPr/>
        </p:nvSpPr>
        <p:spPr>
          <a:xfrm>
            <a:off x="1051560" y="4434840"/>
            <a:ext cx="8229600" cy="1828800"/>
          </a:xfrm>
          <a:prstGeom prst="rect">
            <a:avLst/>
          </a:prstGeom>
          <a:noFill/>
        </p:spPr>
        <p:txBody>
          <a:bodyPr wrap="square" lIns="0" rIns="0" tIns="0" bIns="0" anchor="t">
            <a:spAutoFit/>
          </a:bodyPr>
          <a:lstStyle/>
          <a:p>
            <a:pPr algn="l">
              <a:spcAft>
                <a:spcPts val="400"/>
              </a:spcAft>
            </a:pPr>
            <a:r>
              <a:rPr sz="1200" b="0">
                <a:solidFill>
                  <a:srgbClr val="C8D6DE"/>
                </a:solidFill>
                <a:latin typeface="游ゴシック"/>
                <a:ea typeface="游ゴシック"/>
              </a:rPr>
              <a:t>・貸借対照表</a:t>
            </a:r>
          </a:p>
          <a:p>
            <a:pPr algn="l">
              <a:spcAft>
                <a:spcPts val="400"/>
              </a:spcAft>
            </a:pPr>
            <a:r>
              <a:rPr sz="1200" b="0">
                <a:solidFill>
                  <a:srgbClr val="C8D6DE"/>
                </a:solidFill>
                <a:latin typeface="游ゴシック"/>
                <a:ea typeface="游ゴシック"/>
              </a:rPr>
              <a:t>・損益計算書</a:t>
            </a:r>
          </a:p>
          <a:p>
            <a:pPr algn="l">
              <a:spcAft>
                <a:spcPts val="400"/>
              </a:spcAft>
            </a:pPr>
            <a:r>
              <a:rPr sz="1200" b="0">
                <a:solidFill>
                  <a:srgbClr val="C8D6DE"/>
                </a:solidFill>
                <a:latin typeface="游ゴシック"/>
                <a:ea typeface="游ゴシック"/>
              </a:rPr>
              <a:t>・販売費及び一般管理費</a:t>
            </a:r>
          </a:p>
          <a:p>
            <a:pPr algn="l">
              <a:spcAft>
                <a:spcPts val="400"/>
              </a:spcAft>
            </a:pPr>
            <a:r>
              <a:rPr sz="1200" b="0">
                <a:solidFill>
                  <a:srgbClr val="C8D6DE"/>
                </a:solidFill>
                <a:latin typeface="游ゴシック"/>
                <a:ea typeface="游ゴシック"/>
              </a:rPr>
              <a:t>・進行期業績（2026年4〜7月）</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貸借対照表</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財務情報詳細</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7" name="TextBox 6"/>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22</a:t>
            </a:r>
          </a:p>
        </p:txBody>
      </p:sp>
      <p:graphicFrame>
        <p:nvGraphicFramePr>
          <p:cNvPr id="8" name="Table 7"/>
          <p:cNvGraphicFramePr>
            <a:graphicFrameLocks noGrp="1"/>
          </p:cNvGraphicFramePr>
          <p:nvPr/>
        </p:nvGraphicFramePr>
        <p:xfrm>
          <a:off x="411480" y="960120"/>
          <a:ext cx="4846319" cy="5683903"/>
        </p:xfrm>
        <a:graphic>
          <a:graphicData uri="http://schemas.openxmlformats.org/drawingml/2006/table">
            <a:tbl>
              <a:tblPr firstRow="0" bandRow="0">
                <a:tableStyleId>{5940675A-B579-460E-94D1-54222C63F5DA}</a:tableStyleId>
              </a:tblPr>
              <a:tblGrid>
                <a:gridCol w="1737359"/>
                <a:gridCol w="777240"/>
                <a:gridCol w="777240"/>
                <a:gridCol w="777240"/>
                <a:gridCol w="777240"/>
              </a:tblGrid>
              <a:tr h="153619">
                <a:tc>
                  <a:txBody>
                    <a:bodyPr wrap="square"/>
                    <a:lstStyle/>
                    <a:p>
                      <a:pPr algn="ctr"/>
                      <a:r>
                        <a:rPr sz="700" b="1">
                          <a:solidFill>
                            <a:srgbClr val="FFFFFF"/>
                          </a:solidFill>
                          <a:latin typeface="游ゴシック"/>
                          <a:ea typeface="游ゴシック"/>
                        </a:rPr>
                        <a:t>資産の部</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2026/7末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【流動資産】</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339,553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259,719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162,087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21,171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21,897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40,587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資材肥料売掛金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1,352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1,269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2,365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棚卸資産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36,648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立替金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未収入金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3,684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3,905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2,665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仮払金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仮払税金等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流動資産計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375,589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303,101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249,705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244,251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【有形固定資産】</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101,162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95,851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15,417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13,503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5,838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1,282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減価償却累計額（期中計上分）</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△2,436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有形固定資産計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216,357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204,260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196,906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194,470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【無形固定資産】</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無形固定資産計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2,871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2,699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2,527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2,527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【投資その他の資産】</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投資有価証券</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出資金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長期前払費用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32,003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33,003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事業保険積立金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投資その他の資産計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56,887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57,302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36,052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35,052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276,115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264,261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235,485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232,049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繰延資産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476,300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9" name="Table 8"/>
          <p:cNvGraphicFramePr>
            <a:graphicFrameLocks noGrp="1"/>
          </p:cNvGraphicFramePr>
          <p:nvPr/>
        </p:nvGraphicFramePr>
        <p:xfrm>
          <a:off x="5431536" y="960120"/>
          <a:ext cx="4846319" cy="3072380"/>
        </p:xfrm>
        <a:graphic>
          <a:graphicData uri="http://schemas.openxmlformats.org/drawingml/2006/table">
            <a:tbl>
              <a:tblPr firstRow="0" bandRow="0">
                <a:tableStyleId>{5940675A-B579-460E-94D1-54222C63F5DA}</a:tableStyleId>
              </a:tblPr>
              <a:tblGrid>
                <a:gridCol w="1737359"/>
                <a:gridCol w="777240"/>
                <a:gridCol w="777240"/>
                <a:gridCol w="777240"/>
                <a:gridCol w="777240"/>
              </a:tblGrid>
              <a:tr h="153619">
                <a:tc>
                  <a:txBody>
                    <a:bodyPr wrap="square"/>
                    <a:lstStyle/>
                    <a:p>
                      <a:pPr algn="ctr"/>
                      <a:r>
                        <a:rPr sz="700" b="1">
                          <a:solidFill>
                            <a:srgbClr val="FFFFFF"/>
                          </a:solidFill>
                          <a:latin typeface="游ゴシック"/>
                          <a:ea typeface="游ゴシック"/>
                        </a:rPr>
                        <a:t>負債・純資産の部</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00" b="1">
                          <a:solidFill>
                            <a:srgbClr val="FFFFFF"/>
                          </a:solidFill>
                          <a:latin typeface="游ゴシック"/>
                          <a:ea typeface="游ゴシック"/>
                        </a:rPr>
                        <a:t>2026/7末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【流動負債】</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買掛金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18,128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19,955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32,102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未払金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10,199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7,303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仮受金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5,641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預り金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2,308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未払消費税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2,970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1,607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3,760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流動負債計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34,109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29,456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37,280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45,700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【固定負債】</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514,690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434,046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337,862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預り保証金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10,320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10,270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固定負債計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525,010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444,316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370,038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346,842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負債の部合計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559,119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473,772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407,318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392,542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【純資産】</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資本金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利益準備金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1,800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2,080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2,080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0">
                          <a:solidFill>
                            <a:srgbClr val="1A1A1A"/>
                          </a:solidFill>
                          <a:latin typeface="游ゴシック"/>
                          <a:ea typeface="游ゴシック"/>
                        </a:rPr>
                        <a:t>繰越利益剰余金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51,028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51,757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35,793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0">
                          <a:solidFill>
                            <a:srgbClr val="1A1A1A"/>
                          </a:solidFill>
                          <a:latin typeface="Arial"/>
                          <a:ea typeface="游ゴシック"/>
                        </a:rPr>
                        <a:t>41,677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純資産の部合計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92,828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93,757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77,873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83,757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3619">
                <a:tc>
                  <a:txBody>
                    <a:bodyPr wrap="square"/>
                    <a:lstStyle/>
                    <a:p>
                      <a:pPr algn="l"/>
                      <a:r>
                        <a:rPr sz="700" b="1">
                          <a:solidFill>
                            <a:srgbClr val="1A1A1A"/>
                          </a:solidFill>
                          <a:latin typeface="游ゴシック"/>
                          <a:ea typeface="游ゴシック"/>
                        </a:rPr>
                        <a:t>負債・純資産の部合計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00" b="1">
                          <a:solidFill>
                            <a:srgbClr val="1A1A1A"/>
                          </a:solidFill>
                          <a:latin typeface="Arial"/>
                          <a:ea typeface="游ゴシック"/>
                        </a:rPr>
                        <a:t>476,300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TextBox 9"/>
          <p:cNvSpPr txBox="1"/>
          <p:nvPr/>
        </p:nvSpPr>
        <p:spPr>
          <a:xfrm>
            <a:off x="5431536" y="4983480"/>
            <a:ext cx="4846320" cy="1645920"/>
          </a:xfrm>
          <a:prstGeom prst="rect">
            <a:avLst/>
          </a:prstGeom>
          <a:noFill/>
        </p:spPr>
        <p:txBody>
          <a:bodyPr wrap="square" lIns="0" rIns="0" tIns="0" bIns="0" anchor="t">
            <a:spAutoFit/>
          </a:bodyPr>
          <a:lstStyle/>
          <a:p>
            <a:pPr algn="l">
              <a:spcAft>
                <a:spcPts val="200"/>
              </a:spcAft>
            </a:pPr>
            <a:r>
              <a:rPr sz="800" b="0">
                <a:solidFill>
                  <a:srgbClr val="1A1A1A"/>
                </a:solidFill>
                <a:latin typeface="游ゴシック"/>
                <a:ea typeface="游ゴシック"/>
              </a:rPr>
              <a:t>・2026/7末の買掛金は委託分6,457千円・仕入分25,126千円・資材分519千円の合計。</a:t>
            </a:r>
          </a:p>
          <a:p>
            <a:pPr algn="l">
              <a:spcAft>
                <a:spcPts val="200"/>
              </a:spcAft>
            </a:pPr>
            <a:r>
              <a:rPr sz="800" b="0">
                <a:solidFill>
                  <a:srgbClr val="1A1A1A"/>
                </a:solidFill>
                <a:latin typeface="游ゴシック"/>
                <a:ea typeface="游ゴシック"/>
              </a:rPr>
              <a:t>・事業保険積立金は2026/3期に全額取崩し（前期損益修正損）。</a:t>
            </a:r>
          </a:p>
          <a:p>
            <a:pPr algn="l">
              <a:spcAft>
                <a:spcPts val="200"/>
              </a:spcAft>
            </a:pPr>
            <a:r>
              <a:rPr sz="800" b="0">
                <a:solidFill>
                  <a:srgbClr val="1A1A1A"/>
                </a:solidFill>
                <a:latin typeface="游ゴシック"/>
                <a:ea typeface="游ゴシック"/>
              </a:rPr>
              <a:t>・投資有価証券は2026/7末に1,000千円減少（(株)庄果株式1,000千円の処分と推察・要確認）。</a:t>
            </a:r>
          </a:p>
          <a:p>
            <a:pPr algn="l">
              <a:spcAft>
                <a:spcPts val="200"/>
              </a:spcAft>
            </a:pPr>
            <a:r>
              <a:rPr sz="800" b="0">
                <a:solidFill>
                  <a:srgbClr val="1A1A1A"/>
                </a:solidFill>
                <a:latin typeface="游ゴシック"/>
                <a:ea typeface="游ゴシック"/>
              </a:rPr>
              <a:t>・減価償却累計額（期中計上分）は試算表の月割償却額。</a:t>
            </a:r>
          </a:p>
        </p:txBody>
      </p:sp>
      <p:sp>
        <p:nvSpPr>
          <p:cNvPr id="11" name="TextBox 10"/>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※単位：千円。出所：決算報告書、試算表（2026年7月）。千円未満の端数処理により合計が一致しない場合があります。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損益計算書</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財務情報詳細</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7" name="TextBox 6"/>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23</a:t>
            </a:r>
          </a:p>
        </p:txBody>
      </p:sp>
      <p:graphicFrame>
        <p:nvGraphicFramePr>
          <p:cNvPr id="8" name="Table 7"/>
          <p:cNvGraphicFramePr>
            <a:graphicFrameLocks noGrp="1"/>
          </p:cNvGraphicFramePr>
          <p:nvPr/>
        </p:nvGraphicFramePr>
        <p:xfrm>
          <a:off x="411480" y="960120"/>
          <a:ext cx="9866371" cy="5661936"/>
        </p:xfrm>
        <a:graphic>
          <a:graphicData uri="http://schemas.openxmlformats.org/drawingml/2006/table">
            <a:tbl>
              <a:tblPr firstRow="0" bandRow="0">
                <a:tableStyleId>{5940675A-B579-460E-94D1-54222C63F5DA}</a:tableStyleId>
              </a:tblPr>
              <a:tblGrid>
                <a:gridCol w="2493699"/>
                <a:gridCol w="1138427"/>
                <a:gridCol w="704741"/>
                <a:gridCol w="1138427"/>
                <a:gridCol w="704741"/>
                <a:gridCol w="1138427"/>
                <a:gridCol w="704741"/>
                <a:gridCol w="1138427"/>
                <a:gridCol w="704741"/>
              </a:tblGrid>
              <a:tr h="157276">
                <a:tc>
                  <a:txBody>
                    <a:bodyPr wrap="square"/>
                    <a:lstStyle/>
                    <a:p>
                      <a:pPr algn="ctr"/>
                      <a:r>
                        <a:rPr sz="7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2026/4-7月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商品売上高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1,179,974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1,183,309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1,197,530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375,961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資材売上高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10,820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センター費収入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12,273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委託手数料収入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12,564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売上割戻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売上高</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1,178,489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1,181,947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1,195,893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411,155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期首棚卸高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当期仕入高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953,298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976,236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996,035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371,992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期末棚卸高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△36,648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売上原価</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958,909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970,652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82.1%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996,882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83.4%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349,941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売上総利益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219,580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211,296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17.9%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199,011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61,214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14.9%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販売費及び一般管理費</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214,823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215,718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193,151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55,897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13.6%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営業利益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△4,423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5,860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5,317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受取利息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受取配当金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受取奨励金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2,513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受取延滞料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受取運賃・配達収入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雑収入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8,142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8,067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営業外収益計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10,628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10,737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6,578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支払利息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3,896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出荷奨励金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雑損失</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営業外費用計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4,133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経常利益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11,317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2,181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8,068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5,885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固定資産売却益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貸倒引当金戻入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特別利益計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固定資産売却除却損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貸倒引当金繰入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前期損益修正損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特別損失計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税引前当期純利益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12,765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3,793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△12,801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5,885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0">
                          <a:solidFill>
                            <a:srgbClr val="1A1A1A"/>
                          </a:solidFill>
                          <a:latin typeface="游ゴシック"/>
                          <a:ea typeface="游ゴシック"/>
                        </a:rPr>
                        <a:t>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57276">
                <a:tc>
                  <a:txBody>
                    <a:bodyPr wrap="square"/>
                    <a:lstStyle/>
                    <a:p>
                      <a:pPr algn="l"/>
                      <a:r>
                        <a:rPr sz="750" b="1">
                          <a:solidFill>
                            <a:srgbClr val="1A1A1A"/>
                          </a:solidFill>
                          <a:latin typeface="游ゴシック"/>
                          <a:ea typeface="游ゴシック"/>
                        </a:rPr>
                        <a:t>当期純利益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9,107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2,929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△15,085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5,885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9" name="TextBox 8"/>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※決算書では売上高を「商品売上高」1本で表示（資材売上・センター費・委託手数料の区分は試算表のみ）。受託販売は手数料のみの純額表示。</a:t>
            </a:r>
          </a:p>
          <a:p>
            <a:pPr algn="l"/>
            <a:r>
              <a:rPr sz="700" b="0">
                <a:solidFill>
                  <a:srgbClr val="5A6670"/>
                </a:solidFill>
                <a:latin typeface="游ゴシック"/>
                <a:ea typeface="游ゴシック"/>
              </a:rPr>
              <a:t>※2026/4-7月は4か月累計（繁忙期を含む）。前期損益修正損は過年度保険解約訂正額。</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販売費及び一般管理費</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財務情報詳細</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7" name="TextBox 6"/>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24</a:t>
            </a:r>
          </a:p>
        </p:txBody>
      </p:sp>
      <p:graphicFrame>
        <p:nvGraphicFramePr>
          <p:cNvPr id="8" name="Table 7"/>
          <p:cNvGraphicFramePr>
            <a:graphicFrameLocks noGrp="1"/>
          </p:cNvGraphicFramePr>
          <p:nvPr/>
        </p:nvGraphicFramePr>
        <p:xfrm>
          <a:off x="411480" y="960120"/>
          <a:ext cx="9866371" cy="5486400"/>
        </p:xfrm>
        <a:graphic>
          <a:graphicData uri="http://schemas.openxmlformats.org/drawingml/2006/table">
            <a:tbl>
              <a:tblPr firstRow="0" bandRow="0">
                <a:tableStyleId>{5940675A-B579-460E-94D1-54222C63F5DA}</a:tableStyleId>
              </a:tblPr>
              <a:tblGrid>
                <a:gridCol w="2493699"/>
                <a:gridCol w="1138427"/>
                <a:gridCol w="704741"/>
                <a:gridCol w="1138427"/>
                <a:gridCol w="704741"/>
                <a:gridCol w="1138427"/>
                <a:gridCol w="704741"/>
                <a:gridCol w="1138427"/>
                <a:gridCol w="704741"/>
              </a:tblGrid>
              <a:tr h="182880">
                <a:tc>
                  <a:txBody>
                    <a:bodyPr wrap="square"/>
                    <a:lstStyle/>
                    <a:p>
                      <a:pPr algn="ctr"/>
                      <a:r>
                        <a:rPr sz="7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2026/4-7月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役員報酬</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15,360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給料手当</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73,148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71,673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19,329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賞与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6,002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5,692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退職金共済掛金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退職金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法定福利費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15,154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14,913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13,296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福利厚生費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広告宣伝費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旅費交通費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通信費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車両関連費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8,475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運賃</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27,547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29,494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28,997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8,100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振込手数料負担金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委託手数料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接待交際費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3,475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水道光熱費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4,424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消耗品費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租税公課</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14,465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12,814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12,177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消費税引当金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支払手数料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諸会費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寄付金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リース料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6,711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支払保険料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2,772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修繕費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事務用消耗品費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0">
                          <a:solidFill>
                            <a:srgbClr val="1A1A1A"/>
                          </a:solidFill>
                          <a:latin typeface="游ゴシック"/>
                          <a:ea typeface="游ゴシック"/>
                        </a:rPr>
                        <a:t>雑費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4,522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82880">
                <a:tc>
                  <a:txBody>
                    <a:bodyPr wrap="square"/>
                    <a:lstStyle/>
                    <a:p>
                      <a:pPr algn="l"/>
                      <a:r>
                        <a:rPr sz="750" b="1">
                          <a:solidFill>
                            <a:srgbClr val="1A1A1A"/>
                          </a:solidFill>
                          <a:latin typeface="游ゴシック"/>
                          <a:ea typeface="游ゴシック"/>
                        </a:rPr>
                        <a:t>販売費及び一般管理費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214,823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215,718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193,151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55,897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13.6%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9" name="TextBox 8"/>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※消費税等は税込経理のため、納付消費税相当は租税公課（決算）／消費税引当金（試算表）に含まれる。2026/3期は賞与の計上なし（要確認）。</a:t>
            </a:r>
          </a:p>
          <a:p>
            <a:pPr algn="l"/>
            <a:r>
              <a:rPr sz="700" b="0">
                <a:solidFill>
                  <a:srgbClr val="5A6670"/>
                </a:solidFill>
                <a:latin typeface="游ゴシック"/>
                <a:ea typeface="游ゴシック"/>
              </a:rPr>
              <a:t>※運賃・車両関連費は集配業務に伴う費用。リース料の対象資産は要確認。</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進行期業績（2026年4〜7月）</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財務情報詳細</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4〜7月累計の売上高は411.2百万円（前年同期比△1.9%）、営業利益5.3百万円。繁忙期を含むため通期は8月以降の推移で判断</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25</a:t>
            </a:r>
          </a:p>
        </p:txBody>
      </p:sp>
      <p:graphicFrame>
        <p:nvGraphicFramePr>
          <p:cNvPr id="9" name="Table 8"/>
          <p:cNvGraphicFramePr>
            <a:graphicFrameLocks noGrp="1"/>
          </p:cNvGraphicFramePr>
          <p:nvPr/>
        </p:nvGraphicFramePr>
        <p:xfrm>
          <a:off x="411480" y="1508760"/>
          <a:ext cx="5120638" cy="2926080"/>
        </p:xfrm>
        <a:graphic>
          <a:graphicData uri="http://schemas.openxmlformats.org/drawingml/2006/table">
            <a:tbl>
              <a:tblPr firstRow="0" bandRow="0">
                <a:tableStyleId>{5940675A-B579-460E-94D1-54222C63F5DA}</a:tableStyleId>
              </a:tblPr>
              <a:tblGrid>
                <a:gridCol w="2705243"/>
                <a:gridCol w="1449237"/>
                <a:gridCol w="966158"/>
              </a:tblGrid>
              <a:tr h="365760">
                <a:tc>
                  <a:txBody>
                    <a:bodyPr wrap="square"/>
                    <a:lstStyle/>
                    <a:p>
                      <a:pPr algn="ctr"/>
                      <a:r>
                        <a:rPr sz="9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50" b="1">
                          <a:solidFill>
                            <a:srgbClr val="FFFFFF"/>
                          </a:solidFill>
                          <a:latin typeface="游ゴシック"/>
                          <a:ea typeface="游ゴシック"/>
                        </a:rPr>
                        <a:t>2026年4〜7月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1">
                          <a:solidFill>
                            <a:srgbClr val="1A1A1A"/>
                          </a:solidFill>
                          <a:latin typeface="游ゴシック"/>
                          <a:ea typeface="游ゴシック"/>
                        </a:rPr>
                        <a:t>売上高</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411,155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100.0%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0">
                          <a:solidFill>
                            <a:srgbClr val="1A1A1A"/>
                          </a:solidFill>
                          <a:latin typeface="游ゴシック"/>
                          <a:ea typeface="游ゴシック"/>
                        </a:rPr>
                        <a:t>売上総利益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61,214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14.9%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0">
                          <a:solidFill>
                            <a:srgbClr val="1A1A1A"/>
                          </a:solidFill>
                          <a:latin typeface="游ゴシック"/>
                          <a:ea typeface="游ゴシック"/>
                        </a:rPr>
                        <a:t>販売費及び一般管理費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55,897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13.6%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0">
                          <a:solidFill>
                            <a:srgbClr val="1A1A1A"/>
                          </a:solidFill>
                          <a:latin typeface="游ゴシック"/>
                          <a:ea typeface="游ゴシック"/>
                        </a:rPr>
                        <a:t>　うち減価償却費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2,436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1">
                          <a:solidFill>
                            <a:srgbClr val="1A1A1A"/>
                          </a:solidFill>
                          <a:latin typeface="游ゴシック"/>
                          <a:ea typeface="游ゴシック"/>
                        </a:rPr>
                        <a:t>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5,317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1.3%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0">
                          <a:solidFill>
                            <a:srgbClr val="1A1A1A"/>
                          </a:solidFill>
                          <a:latin typeface="游ゴシック"/>
                          <a:ea typeface="游ゴシック"/>
                        </a:rPr>
                        <a:t>経常利益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5,885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950" b="0">
                          <a:solidFill>
                            <a:srgbClr val="1A1A1A"/>
                          </a:solidFill>
                          <a:latin typeface="游ゴシック"/>
                          <a:ea typeface="游ゴシック"/>
                        </a:rPr>
                        <a:t>（参考）前年同期（2025年4〜7月）売上高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419,288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Rectangle 9"/>
          <p:cNvSpPr/>
          <p:nvPr/>
        </p:nvSpPr>
        <p:spPr>
          <a:xfrm>
            <a:off x="5715000" y="1508760"/>
            <a:ext cx="4562856"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1" name="Rectangle 10"/>
          <p:cNvSpPr/>
          <p:nvPr/>
        </p:nvSpPr>
        <p:spPr>
          <a:xfrm>
            <a:off x="5715000" y="1801368"/>
            <a:ext cx="4562856" cy="3017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500"/>
              </a:spcAft>
            </a:pPr>
            <a:r>
              <a:rPr sz="900" b="0">
                <a:solidFill>
                  <a:srgbClr val="1A1A1A"/>
                </a:solidFill>
                <a:latin typeface="游ゴシック"/>
                <a:ea typeface="游ゴシック"/>
              </a:rPr>
              <a:t>・売上総利益率は14.9%（2026/3期通期16.6%）。期末棚卸高を月次で実地棚卸しているか（最終仕入原価法）により変動し得るため要確認。</a:t>
            </a:r>
          </a:p>
          <a:p>
            <a:pPr algn="l">
              <a:spcAft>
                <a:spcPts val="500"/>
              </a:spcAft>
            </a:pPr>
            <a:r>
              <a:rPr sz="900" b="0">
                <a:solidFill>
                  <a:srgbClr val="1A1A1A"/>
                </a:solidFill>
                <a:latin typeface="游ゴシック"/>
                <a:ea typeface="游ゴシック"/>
              </a:rPr>
              <a:t>・販管費には消費税引当金3,760千円、減価償却費（月割）2,436千円を含む。賞与引当は計上なし。</a:t>
            </a:r>
          </a:p>
          <a:p>
            <a:pPr algn="l">
              <a:spcAft>
                <a:spcPts val="500"/>
              </a:spcAft>
            </a:pPr>
            <a:r>
              <a:rPr sz="900" b="0">
                <a:solidFill>
                  <a:srgbClr val="1A1A1A"/>
                </a:solidFill>
                <a:latin typeface="游ゴシック"/>
                <a:ea typeface="游ゴシック"/>
              </a:rPr>
              <a:t>・前年同期比較は法人事業概況説明書の月別売上（決算ベース）との比較であり、試算表の区分（資材売上・センター費等）とは完全には一致しない可能性がある。</a:t>
            </a:r>
          </a:p>
          <a:p>
            <a:pPr algn="l">
              <a:spcAft>
                <a:spcPts val="500"/>
              </a:spcAft>
            </a:pPr>
            <a:r>
              <a:rPr sz="900" b="0">
                <a:solidFill>
                  <a:srgbClr val="1A1A1A"/>
                </a:solidFill>
                <a:latin typeface="游ゴシック"/>
                <a:ea typeface="游ゴシック"/>
              </a:rPr>
              <a:t>・8月以降の月次試算表・受注状況を追加入手予定（資料依頼中）。</a:t>
            </a:r>
          </a:p>
        </p:txBody>
      </p:sp>
      <p:sp>
        <p:nvSpPr>
          <p:cNvPr id="12" name="TextBox 11"/>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※出所：試算表（2026年7月分）、法人事業概況説明書（2026/3期）。</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73152" cy="10972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063240"/>
            <a:ext cx="7315200" cy="548640"/>
          </a:xfrm>
          <a:prstGeom prst="rect">
            <a:avLst/>
          </a:prstGeom>
          <a:noFill/>
        </p:spPr>
        <p:txBody>
          <a:bodyPr wrap="square" lIns="0" rIns="0" tIns="0" bIns="0" anchor="t">
            <a:spAutoFit/>
          </a:bodyPr>
          <a:lstStyle/>
          <a:p>
            <a:pPr algn="l"/>
            <a:r>
              <a:rPr sz="2800" b="1">
                <a:solidFill>
                  <a:srgbClr val="0889C9"/>
                </a:solidFill>
                <a:latin typeface="Arial"/>
                <a:ea typeface="游ゴシック"/>
              </a:rPr>
              <a:t>05</a:t>
            </a:r>
          </a:p>
        </p:txBody>
      </p:sp>
      <p:sp>
        <p:nvSpPr>
          <p:cNvPr id="5" name="TextBox 4"/>
          <p:cNvSpPr txBox="1"/>
          <p:nvPr/>
        </p:nvSpPr>
        <p:spPr>
          <a:xfrm>
            <a:off x="1051560" y="3611880"/>
            <a:ext cx="8229600" cy="640080"/>
          </a:xfrm>
          <a:prstGeom prst="rect">
            <a:avLst/>
          </a:prstGeom>
          <a:noFill/>
        </p:spPr>
        <p:txBody>
          <a:bodyPr wrap="square" lIns="0" rIns="0" tIns="0" bIns="0" anchor="t">
            <a:spAutoFit/>
          </a:bodyPr>
          <a:lstStyle/>
          <a:p>
            <a:pPr algn="l"/>
            <a:r>
              <a:rPr sz="2800" b="1">
                <a:solidFill>
                  <a:srgbClr val="FFFFFF"/>
                </a:solidFill>
                <a:latin typeface="游ゴシック"/>
                <a:ea typeface="游ゴシック"/>
              </a:rPr>
              <a:t>Appendix</a:t>
            </a:r>
          </a:p>
        </p:txBody>
      </p:sp>
      <p:sp>
        <p:nvSpPr>
          <p:cNvPr id="6" name="TextBox 5"/>
          <p:cNvSpPr txBox="1"/>
          <p:nvPr/>
        </p:nvSpPr>
        <p:spPr>
          <a:xfrm>
            <a:off x="1051560" y="4434840"/>
            <a:ext cx="8229600" cy="1828800"/>
          </a:xfrm>
          <a:prstGeom prst="rect">
            <a:avLst/>
          </a:prstGeom>
          <a:noFill/>
        </p:spPr>
        <p:txBody>
          <a:bodyPr wrap="square" lIns="0" rIns="0" tIns="0" bIns="0" anchor="t">
            <a:spAutoFit/>
          </a:bodyPr>
          <a:lstStyle/>
          <a:p>
            <a:pPr algn="l">
              <a:spcAft>
                <a:spcPts val="400"/>
              </a:spcAft>
            </a:pPr>
            <a:r>
              <a:rPr sz="1200" b="0">
                <a:solidFill>
                  <a:srgbClr val="C8D6DE"/>
                </a:solidFill>
                <a:latin typeface="游ゴシック"/>
                <a:ea typeface="游ゴシック"/>
              </a:rPr>
              <a:t>・沿革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680960" cy="457200"/>
          </a:xfrm>
          <a:prstGeom prst="rect">
            <a:avLst/>
          </a:prstGeom>
          <a:noFill/>
        </p:spPr>
        <p:txBody>
          <a:bodyPr wrap="square" lIns="0" rIns="0" tIns="0" bIns="0" anchor="b">
            <a:spAutoFit/>
          </a:bodyPr>
          <a:lstStyle/>
          <a:p>
            <a:pPr algn="l"/>
            <a:r>
              <a:rPr sz="2000" b="1">
                <a:solidFill>
                  <a:srgbClr val="0B3041"/>
                </a:solidFill>
                <a:latin typeface="游ゴシック"/>
                <a:ea typeface="游ゴシック"/>
              </a:rPr>
              <a:t>沿革</a:t>
            </a:r>
          </a:p>
        </p:txBody>
      </p:sp>
      <p:sp>
        <p:nvSpPr>
          <p:cNvPr id="3" name="TextBox 2"/>
          <p:cNvSpPr txBox="1"/>
          <p:nvPr/>
        </p:nvSpPr>
        <p:spPr>
          <a:xfrm>
            <a:off x="8138160" y="384048"/>
            <a:ext cx="2148840" cy="274320"/>
          </a:xfrm>
          <a:prstGeom prst="rect">
            <a:avLst/>
          </a:prstGeom>
          <a:noFill/>
        </p:spPr>
        <p:txBody>
          <a:bodyPr wrap="square" lIns="0" rIns="0" tIns="0" bIns="0" anchor="b">
            <a:spAutoFit/>
          </a:bodyPr>
          <a:lstStyle/>
          <a:p>
            <a:pPr algn="r"/>
            <a:r>
              <a:rPr sz="900" b="0">
                <a:solidFill>
                  <a:srgbClr val="5A6670"/>
                </a:solidFill>
                <a:latin typeface="游ゴシック"/>
                <a:ea typeface="游ゴシック"/>
              </a:rPr>
              <a:t>Appendix</a:t>
            </a:r>
          </a:p>
        </p:txBody>
      </p:sp>
      <p:sp>
        <p:nvSpPr>
          <p:cNvPr id="4" name="Rectangle 3"/>
          <p:cNvSpPr/>
          <p:nvPr/>
        </p:nvSpPr>
        <p:spPr>
          <a:xfrm>
            <a:off x="411480" y="786384"/>
            <a:ext cx="9866376" cy="274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86968"/>
            <a:ext cx="9866376" cy="502920"/>
          </a:xfrm>
          <a:prstGeom prst="rect">
            <a:avLst/>
          </a:prstGeom>
          <a:noFill/>
        </p:spPr>
        <p:txBody>
          <a:bodyPr wrap="square" lIns="0" rIns="0" tIns="0" bIns="0" anchor="t">
            <a:spAutoFit/>
          </a:bodyPr>
          <a:lstStyle/>
          <a:p>
            <a:pPr algn="l"/>
            <a:r>
              <a:rPr sz="1200" b="1">
                <a:solidFill>
                  <a:srgbClr val="0889C9"/>
                </a:solidFill>
                <a:latin typeface="游ゴシック"/>
                <a:ea typeface="游ゴシック"/>
              </a:rPr>
              <a:t>1973年の設立以来、鶴岡市宝田を拠点に青果物卸売を継続。施設改修を重ねながら市場を運営</a:t>
            </a:r>
          </a:p>
        </p:txBody>
      </p:sp>
      <p:sp>
        <p:nvSpPr>
          <p:cNvPr id="6" name="Rectangle 5"/>
          <p:cNvSpPr/>
          <p:nvPr/>
        </p:nvSpPr>
        <p:spPr>
          <a:xfrm>
            <a:off x="411480" y="7223760"/>
            <a:ext cx="9866376" cy="9144"/>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251192"/>
            <a:ext cx="4572000" cy="201168"/>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Strictly Private &amp; Confidential ／ ドラフト（売主様確認前）</a:t>
            </a:r>
          </a:p>
        </p:txBody>
      </p:sp>
      <p:sp>
        <p:nvSpPr>
          <p:cNvPr id="8" name="TextBox 7"/>
          <p:cNvSpPr txBox="1"/>
          <p:nvPr/>
        </p:nvSpPr>
        <p:spPr>
          <a:xfrm>
            <a:off x="9363456" y="7251192"/>
            <a:ext cx="914400" cy="201168"/>
          </a:xfrm>
          <a:prstGeom prst="rect">
            <a:avLst/>
          </a:prstGeom>
          <a:noFill/>
        </p:spPr>
        <p:txBody>
          <a:bodyPr wrap="square" lIns="0" rIns="0" tIns="0" bIns="0" anchor="t">
            <a:spAutoFit/>
          </a:bodyPr>
          <a:lstStyle/>
          <a:p>
            <a:pPr algn="r"/>
            <a:r>
              <a:rPr sz="800" b="0">
                <a:solidFill>
                  <a:srgbClr val="5A6670"/>
                </a:solidFill>
                <a:latin typeface="Arial"/>
                <a:ea typeface="游ゴシック"/>
              </a:rPr>
              <a:t>27</a:t>
            </a:r>
          </a:p>
        </p:txBody>
      </p:sp>
      <p:graphicFrame>
        <p:nvGraphicFramePr>
          <p:cNvPr id="9" name="Table 8"/>
          <p:cNvGraphicFramePr>
            <a:graphicFrameLocks noGrp="1"/>
          </p:cNvGraphicFramePr>
          <p:nvPr/>
        </p:nvGraphicFramePr>
        <p:xfrm>
          <a:off x="411480" y="1508760"/>
          <a:ext cx="9866375" cy="4626864"/>
        </p:xfrm>
        <a:graphic>
          <a:graphicData uri="http://schemas.openxmlformats.org/drawingml/2006/table">
            <a:tbl>
              <a:tblPr firstRow="0" bandRow="0">
                <a:tableStyleId>{5940675A-B579-460E-94D1-54222C63F5DA}</a:tableStyleId>
              </a:tblPr>
              <a:tblGrid>
                <a:gridCol w="1644396"/>
                <a:gridCol w="8221979"/>
              </a:tblGrid>
              <a:tr h="420624">
                <a:tc>
                  <a:txBody>
                    <a:bodyPr wrap="square"/>
                    <a:lstStyle/>
                    <a:p>
                      <a:pPr algn="ctr"/>
                      <a:r>
                        <a:rPr sz="1000" b="1">
                          <a:solidFill>
                            <a:srgbClr val="FFFFFF"/>
                          </a:solidFill>
                          <a:latin typeface="Arial"/>
                          <a:ea typeface="游ゴシック"/>
                        </a:rPr>
                        <a:t>年月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游ゴシック"/>
                          <a:ea typeface="游ゴシック"/>
                        </a:rPr>
                        <a:t>内容</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1973年11月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株式会社鶴岡中央青果を設立（資本金は現在40,000千円）</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游ゴシック"/>
                          <a:ea typeface="游ゴシック"/>
                        </a:rPr>
                        <a:t>1981〜82年</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現本社地（宝田一丁目）に事務所・市場・倉庫・パッケージ場（事務所兼倉庫）を建築（固定資産税課税明細書の建築年）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1984年11月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住居表示の実施により本店所在地の表記が「鶴岡市宝田一丁目4番20号」となる</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游ゴシック"/>
                          <a:ea typeface="游ゴシック"/>
                        </a:rPr>
                        <a:t>1988年10月（要確認）</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山形県資料に地方卸売市場としての開設時期の記載あり（年月の読み取りは要確認）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2006年</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会社法施行に伴い取締役会設置会社・監査役設置会社の登記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2012年5月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定款の目的を変更（現行：青果物の販売及び卸売、倉庫業ほか）</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2012年</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宝田一丁目5-1に倉庫（鉄骨造139㎡）を新築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2019年10月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受託販売の会計表示を総額から純額（受託手数料のみ）へ変更</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2025年5月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資材倉庫の外壁・シャッター改修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420624">
                <a:tc>
                  <a:txBody>
                    <a:bodyPr wrap="square"/>
                    <a:lstStyle/>
                    <a:p>
                      <a:pPr algn="l"/>
                      <a:r>
                        <a:rPr sz="1000" b="0">
                          <a:solidFill>
                            <a:srgbClr val="1A1A1A"/>
                          </a:solidFill>
                          <a:latin typeface="Arial"/>
                          <a:ea typeface="游ゴシック"/>
                        </a:rPr>
                        <a:t>2026年5月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1000" b="0">
                          <a:solidFill>
                            <a:srgbClr val="1A1A1A"/>
                          </a:solidFill>
                          <a:latin typeface="游ゴシック"/>
                          <a:ea typeface="游ゴシック"/>
                        </a:rPr>
                        <a:t>役員改選（取締役3名重任、常務取締役退任）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TextBox 9"/>
          <p:cNvSpPr txBox="1"/>
          <p:nvPr/>
        </p:nvSpPr>
        <p:spPr>
          <a:xfrm>
            <a:off x="411480" y="6784848"/>
            <a:ext cx="9866376" cy="41148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※出所：履歴事項全部証明書、固定資産税課税明細書、個別注記表、固定資産内訳書、山形県公表資料。創業の経緯・代表者の経歴は売主様へ確認中（要確認）。</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91840"/>
            <a:ext cx="10689336" cy="548640"/>
          </a:xfrm>
          <a:prstGeom prst="rect">
            <a:avLst/>
          </a:prstGeom>
          <a:noFill/>
        </p:spPr>
        <p:txBody>
          <a:bodyPr wrap="square" lIns="0" rIns="0" tIns="0" bIns="0" anchor="t">
            <a:spAutoFit/>
          </a:bodyPr>
          <a:lstStyle/>
          <a:p>
            <a:pPr algn="ctr"/>
            <a:r>
              <a:rPr sz="2000" b="1">
                <a:solidFill>
                  <a:srgbClr val="FFFFFF"/>
                </a:solidFill>
                <a:latin typeface="游ゴシック"/>
                <a:ea typeface="游ゴシック"/>
              </a:rPr>
              <a:t>［アドバイザー名］</a:t>
            </a:r>
          </a:p>
        </p:txBody>
      </p:sp>
      <p:sp>
        <p:nvSpPr>
          <p:cNvPr id="4" name="TextBox 3"/>
          <p:cNvSpPr txBox="1"/>
          <p:nvPr/>
        </p:nvSpPr>
        <p:spPr>
          <a:xfrm>
            <a:off x="0" y="3931920"/>
            <a:ext cx="10689336" cy="365760"/>
          </a:xfrm>
          <a:prstGeom prst="rect">
            <a:avLst/>
          </a:prstGeom>
          <a:noFill/>
        </p:spPr>
        <p:txBody>
          <a:bodyPr wrap="square" lIns="0" rIns="0" tIns="0" bIns="0" anchor="t">
            <a:spAutoFit/>
          </a:bodyPr>
          <a:lstStyle/>
          <a:p>
            <a:pPr algn="ctr"/>
            <a:r>
              <a:rPr sz="1000" b="0">
                <a:solidFill>
                  <a:srgbClr val="C8D6DE"/>
                </a:solidFill>
                <a:latin typeface="Arial"/>
                <a:ea typeface="游ゴシック"/>
              </a:rPr>
              <a:t>Strictly Private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