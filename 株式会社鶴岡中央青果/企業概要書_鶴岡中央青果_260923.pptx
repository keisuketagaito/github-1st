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media/image7.svg" ContentType="image/svg+xml"/>
  <Override PartName="/ppt/media/image9.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53" r:id="rId1"/>
  </p:sldMasterIdLst>
  <p:notesMasterIdLst>
    <p:notesMasterId r:id="rId38"/>
  </p:notesMasterIdLst>
  <p:sldIdLst>
    <p:sldId id="770" r:id="rId2"/>
    <p:sldId id="269" r:id="rId3"/>
    <p:sldId id="693" r:id="rId4"/>
    <p:sldId id="749" r:id="rId5"/>
    <p:sldId id="748" r:id="rId6"/>
    <p:sldId id="774" r:id="rId7"/>
    <p:sldId id="775" r:id="rId8"/>
    <p:sldId id="266" r:id="rId9"/>
    <p:sldId id="772" r:id="rId10"/>
    <p:sldId id="776" r:id="rId11"/>
    <p:sldId id="798" r:id="rId12"/>
    <p:sldId id="796" r:id="rId13"/>
    <p:sldId id="792" r:id="rId14"/>
    <p:sldId id="779" r:id="rId15"/>
    <p:sldId id="797" r:id="rId16"/>
    <p:sldId id="771" r:id="rId17"/>
    <p:sldId id="780" r:id="rId18"/>
    <p:sldId id="789" r:id="rId19"/>
    <p:sldId id="781" r:id="rId20"/>
    <p:sldId id="790" r:id="rId21"/>
    <p:sldId id="791" r:id="rId23"/>
    <p:sldId id="795" r:id="rId24"/>
    <p:sldId id="773" r:id="rId25"/>
    <p:sldId id="784" r:id="rId26"/>
    <p:sldId id="785" r:id="rId27"/>
    <p:sldId id="787" r:id="rId29"/>
    <p:sldId id="782" r:id="rId30"/>
    <p:sldId id="783" r:id="rId31"/>
    <p:sldId id="788" r:id="rId35"/>
    <p:sldId id="801" r:id="rId36"/>
    <p:sldId id="277" r:id="rId37"/>
  </p:sldIdLst>
  <p:sldSz cx="10691813" cy="7559675"/>
  <p:notesSz cx="9939338" cy="1436846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F15EE332-85E8-464E-BD9B-6722D42356EC}">
          <p14:sldIdLst>
            <p14:sldId id="770"/>
            <p14:sldId id="269"/>
            <p14:sldId id="693"/>
            <p14:sldId id="749"/>
            <p14:sldId id="748"/>
            <p14:sldId id="774"/>
            <p14:sldId id="775"/>
            <p14:sldId id="266"/>
            <p14:sldId id="772"/>
            <p14:sldId id="776"/>
            <p14:sldId id="798"/>
            <p14:sldId id="796"/>
            <p14:sldId id="792"/>
            <p14:sldId id="779"/>
            <p14:sldId id="797"/>
            <p14:sldId id="771"/>
            <p14:sldId id="780"/>
            <p14:sldId id="789"/>
            <p14:sldId id="781"/>
            <p14:sldId id="790"/>
            <p14:sldId id="793"/>
            <p14:sldId id="791"/>
            <p14:sldId id="795"/>
            <p14:sldId id="773"/>
            <p14:sldId id="784"/>
            <p14:sldId id="785"/>
            <p14:sldId id="786"/>
            <p14:sldId id="787"/>
            <p14:sldId id="782"/>
            <p14:sldId id="783"/>
            <p14:sldId id="794"/>
            <p14:sldId id="799"/>
            <p14:sldId id="800"/>
            <p14:sldId id="788"/>
            <p14:sldId id="801"/>
            <p14:sldId id="277"/>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4526" userDrawn="1">
          <p15:clr>
            <a:srgbClr val="A4A3A4"/>
          </p15:clr>
        </p15:guide>
        <p15:guide id="2" pos="3131" userDrawn="1">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2" roundtripDataSignature="AMtx7miHo5eoGHrZPWeT5AyeZZ6LkEE/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89C9"/>
    <a:srgbClr val="006AB1"/>
    <a:srgbClr val="0B3041"/>
    <a:srgbClr val="54CCB3"/>
    <a:srgbClr val="E1F2FB"/>
    <a:srgbClr val="E3E7E9"/>
    <a:srgbClr val="727F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E9FEF8D-0F9E-4D7E-9A0F-5DDE6A6739AB}">
  <a:tblStyle styleId="{2E9FEF8D-0F9E-4D7E-9A0F-5DDE6A6739AB}" styleName="Table_0">
    <a:wholeTbl>
      <a:tcTxStyle b="off" i="off">
        <a:font>
          <a:latin typeface="游ゴシック"/>
          <a:ea typeface="游ゴシック"/>
          <a:cs typeface="游ゴシック"/>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9EFF7"/>
          </a:solidFill>
        </a:fill>
      </a:tcStyle>
    </a:wholeTbl>
    <a:band1H>
      <a:tcTxStyle/>
      <a:tcStyle>
        <a:tcBdr/>
        <a:fill>
          <a:solidFill>
            <a:srgbClr val="D0DEEF"/>
          </a:solidFill>
        </a:fill>
      </a:tcStyle>
    </a:band1H>
    <a:band2H>
      <a:tcTxStyle/>
      <a:tcStyle>
        <a:tcBdr/>
      </a:tcStyle>
    </a:band2H>
    <a:band1V>
      <a:tcTxStyle/>
      <a:tcStyle>
        <a:tcBdr/>
        <a:fill>
          <a:solidFill>
            <a:srgbClr val="D0DEEF"/>
          </a:solidFill>
        </a:fill>
      </a:tcStyle>
    </a:band1V>
    <a:band2V>
      <a:tcTxStyle/>
      <a:tcStyle>
        <a:tcBdr/>
      </a:tcStyle>
    </a:band2V>
    <a:lastCol>
      <a:tcTxStyle b="on" i="off">
        <a:font>
          <a:latin typeface="游ゴシック"/>
          <a:ea typeface="游ゴシック"/>
          <a:cs typeface="游ゴシック"/>
        </a:font>
        <a:schemeClr val="lt1"/>
      </a:tcTxStyle>
      <a:tcStyle>
        <a:tcBdr/>
        <a:fill>
          <a:solidFill>
            <a:schemeClr val="accent5"/>
          </a:solidFill>
        </a:fill>
      </a:tcStyle>
    </a:lastCol>
    <a:firstCol>
      <a:tcTxStyle b="on" i="off">
        <a:font>
          <a:latin typeface="游ゴシック"/>
          <a:ea typeface="游ゴシック"/>
          <a:cs typeface="游ゴシック"/>
        </a:font>
        <a:schemeClr val="lt1"/>
      </a:tcTxStyle>
      <a:tcStyle>
        <a:tcBdr/>
        <a:fill>
          <a:solidFill>
            <a:schemeClr val="accent5"/>
          </a:solidFill>
        </a:fill>
      </a:tcStyle>
    </a:firstCol>
    <a:lastRow>
      <a:tcTxStyle b="on" i="off">
        <a:font>
          <a:latin typeface="游ゴシック"/>
          <a:ea typeface="游ゴシック"/>
          <a:cs typeface="游ゴシック"/>
        </a:font>
        <a:schemeClr val="lt1"/>
      </a:tcTxStyle>
      <a:tcStyle>
        <a:tcBdr>
          <a:top>
            <a:ln w="38100" cap="flat" cmpd="sng">
              <a:solidFill>
                <a:schemeClr val="lt1"/>
              </a:solidFill>
              <a:prstDash val="solid"/>
              <a:round/>
              <a:headEnd type="none" w="sm" len="sm"/>
              <a:tailEnd type="none" w="sm" len="sm"/>
            </a:ln>
          </a:top>
        </a:tcBdr>
        <a:fill>
          <a:solidFill>
            <a:schemeClr val="accent5"/>
          </a:solidFill>
        </a:fill>
      </a:tcStyle>
    </a:lastRow>
    <a:seCell>
      <a:tcTxStyle/>
      <a:tcStyle>
        <a:tcBdr/>
      </a:tcStyle>
    </a:seCell>
    <a:swCell>
      <a:tcTxStyle/>
      <a:tcStyle>
        <a:tcBdr/>
      </a:tcStyle>
    </a:swCell>
    <a:firstRow>
      <a:tcTxStyle b="on" i="off">
        <a:font>
          <a:latin typeface="游ゴシック"/>
          <a:ea typeface="游ゴシック"/>
          <a:cs typeface="游ゴシック"/>
        </a:font>
        <a:schemeClr val="lt1"/>
      </a:tcTxStyle>
      <a:tcStyle>
        <a:tcBdr>
          <a:bottom>
            <a:ln w="38100" cap="flat" cmpd="sng">
              <a:solidFill>
                <a:schemeClr val="lt1"/>
              </a:solidFill>
              <a:prstDash val="solid"/>
              <a:round/>
              <a:headEnd type="none" w="sm" len="sm"/>
              <a:tailEnd type="none" w="sm" len="sm"/>
            </a:ln>
          </a:bottom>
        </a:tcBdr>
        <a:fill>
          <a:solidFill>
            <a:schemeClr val="accent5"/>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p:cViewPr varScale="1">
        <p:scale>
          <a:sx n="87" d="100"/>
          <a:sy n="87" d="100"/>
        </p:scale>
        <p:origin x="907" y="58"/>
      </p:cViewPr>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00" d="100"/>
          <a:sy n="100" d="100"/>
        </p:scale>
        <p:origin x="0" y="0"/>
      </p:cViewPr>
      <p:guideLst>
        <p:guide orient="horz" pos="4526"/>
        <p:guide pos="3131"/>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42" Type="http://customschemas.google.com/relationships/presentationmetadata" Target="meta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1">
                <a:solidFill>
                  <a:srgbClr val="0B3041"/>
                </a:solidFill>
                <a:latin typeface="游ゴシック"/>
                <a:ea typeface="游ゴシック"/>
              </a:rPr>
              <a:t>営業利益・調整後EBITDA（百万円）</a:t>
            </a:r>
          </a:p>
        </c:rich>
      </c:tx>
      <c:layout/>
      <c:overlay val="0"/>
    </c:title>
    <c:autoTitleDeleted val="0"/>
    <c:plotArea>
      <c:barChart>
        <c:barDir val="col"/>
        <c:grouping val="clustered"/>
        <c:ser>
          <c:idx val="0"/>
          <c:order val="0"/>
          <c:tx>
            <c:strRef>
              <c:f>Sheet1!$B$1</c:f>
              <c:strCache>
                <c:ptCount val="1"/>
                <c:pt idx="0">
                  <c:v>営業利益</c:v>
                </c:pt>
              </c:strCache>
            </c:strRef>
          </c:tx>
          <c:spPr>
            <a:solidFill>
              <a:srgbClr val="0889C9"/>
            </a:solidFill>
          </c:spPr>
          <c:invertIfNegative val="0"/>
          <c:cat>
            <c:strRef>
              <c:f>Sheet1!$A$2:$A$4</c:f>
              <c:strCache>
                <c:ptCount val="3"/>
                <c:pt idx="0">
                  <c:v>2024/3期</c:v>
                </c:pt>
                <c:pt idx="1">
                  <c:v>2025/3期</c:v>
                </c:pt>
                <c:pt idx="2">
                  <c:v>2026/3期</c:v>
                </c:pt>
              </c:strCache>
            </c:strRef>
          </c:cat>
          <c:val>
            <c:numRef>
              <c:f>Sheet1!$B$2:$B$4</c:f>
              <c:numCache>
                <c:formatCode>General</c:formatCode>
                <c:ptCount val="3"/>
                <c:pt idx="0">
                  <c:v>4.8</c:v>
                </c:pt>
                <c:pt idx="1">
                  <c:v>-4.4</c:v>
                </c:pt>
                <c:pt idx="2">
                  <c:v>5.9</c:v>
                </c:pt>
              </c:numCache>
            </c:numRef>
          </c:val>
        </c:ser>
        <c:ser>
          <c:idx val="1"/>
          <c:order val="1"/>
          <c:tx>
            <c:strRef>
              <c:f>Sheet1!$C$1</c:f>
              <c:strCache>
                <c:ptCount val="1"/>
                <c:pt idx="0">
                  <c:v>調整後EBITDA</c:v>
                </c:pt>
              </c:strCache>
            </c:strRef>
          </c:tx>
          <c:spPr>
            <a:solidFill>
              <a:srgbClr val="E08A2E"/>
            </a:solidFill>
          </c:spPr>
          <c:invertIfNegative val="0"/>
          <c:cat>
            <c:strRef>
              <c:f>Sheet1!$A$2:$A$4</c:f>
              <c:strCache>
                <c:ptCount val="3"/>
                <c:pt idx="0">
                  <c:v>2024/3期</c:v>
                </c:pt>
                <c:pt idx="1">
                  <c:v>2025/3期</c:v>
                </c:pt>
                <c:pt idx="2">
                  <c:v>2026/3期</c:v>
                </c:pt>
              </c:strCache>
            </c:strRef>
          </c:cat>
          <c:val>
            <c:numRef>
              <c:f>Sheet1!$C$2:$C$4</c:f>
              <c:numCache>
                <c:formatCode>General</c:formatCode>
                <c:ptCount val="3"/>
                <c:pt idx="0">
                  <c:v>23.7</c:v>
                </c:pt>
                <c:pt idx="1">
                  <c:v>13.6</c:v>
                </c:pt>
                <c:pt idx="2">
                  <c:v>6.3</c:v>
                </c:pt>
              </c:numCache>
            </c:numRef>
          </c:val>
        </c:ser>
        <c:dLbls>
          <c:numFmt formatCode="#,##0.0" sourceLinked="0"/>
          <c:txPr>
            <a:bodyPr/>
            <a:lstStyle/>
            <a:p>
              <a:pPr>
                <a:defRPr sz="800">
                  <a:solidFill>
                    <a:srgbClr val="333333"/>
                  </a:solidFill>
                  <a:latin typeface="Arial"/>
                </a:defRPr>
              </a:pPr>
            </a:p>
          </c:txPr>
          <c:dLblPos val="outEnd"/>
          <c:showLegendKey val="0"/>
          <c:showVal val="1"/>
          <c:showCatName val="0"/>
          <c:showSerName val="0"/>
          <c:showPercent val="0"/>
          <c:showBubbleSize val="0"/>
          <c:showLeaderLines val="1"/>
        </c:dLbls>
        <c:gapWidth val="60"/>
        <c:overlap val="-8"/>
        <c:axId val="-2068027336"/>
        <c:axId val="-2113994440"/>
      </c:barChart>
      <c:catAx>
        <c:axId val="-2068027336"/>
        <c:scaling>
          <c:orientation val="minMax"/>
        </c:scaling>
        <c:delete val="0"/>
        <c:axPos val="b"/>
        <c:majorTickMark val="out"/>
        <c:minorTickMark val="none"/>
        <c:tickLblPos val="low"/>
        <c:spPr>
          <a:ln>
            <a:solidFill>
              <a:srgbClr val="5A6670"/>
            </a:solidFill>
          </a:ln>
        </c:spPr>
        <c:txPr>
          <a:bodyPr/>
          <a:lstStyle/>
          <a:p>
            <a:pPr>
              <a:defRPr sz="800">
                <a:latin typeface="游ゴシック"/>
              </a:defRPr>
            </a:pPr>
          </a:p>
        </c:txPr>
        <c:crossAx val="-2113994440"/>
        <c:crosses val="autoZero"/>
        <c:auto val="1"/>
        <c:lblAlgn val="ctr"/>
        <c:lblOffset val="100"/>
        <c:noMultiLvlLbl val="0"/>
      </c:catAx>
      <c:valAx>
        <c:axId val="-2113994440"/>
        <c:scaling/>
        <c:delete val="0"/>
        <c:axPos val="l"/>
        <c:majorGridlines>
          <c:spPr>
            <a:ln>
              <a:solidFill>
                <a:srgbClr val="E3E7E9"/>
              </a:solidFill>
            </a:ln>
          </c:spPr>
        </c:majorGridlines>
        <c:numFmt formatCode="#,##0.0" sourceLinked="0"/>
        <c:majorTickMark val="out"/>
        <c:minorTickMark val="none"/>
        <c:tickLblPos val="nextTo"/>
        <c:spPr>
          <a:ln>
            <a:noFill/>
          </a:ln>
        </c:spPr>
        <c:txPr>
          <a:bodyPr/>
          <a:lstStyle/>
          <a:p>
            <a:pPr>
              <a:defRPr sz="800">
                <a:solidFill>
                  <a:srgbClr val="5A6670"/>
                </a:solidFill>
                <a:latin typeface="Arial"/>
              </a:defRPr>
            </a:pPr>
          </a:p>
        </c:txPr>
        <c:crossAx val="-2068027336"/>
        <c:crosses val="autoZero"/>
      </c:valAx>
    </c:plotArea>
    <c:legend>
      <c:legendPos val="t"/>
      <c:overlay val="0"/>
      <c:txPr>
        <a:bodyPr/>
        <a:lstStyle/>
        <a:p>
          <a:pPr>
            <a:defRPr sz="800">
              <a:latin typeface="游ゴシック"/>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1">
                <a:solidFill>
                  <a:srgbClr val="0B3041"/>
                </a:solidFill>
                <a:latin typeface="游ゴシック"/>
                <a:ea typeface="游ゴシック"/>
              </a:rPr>
              <a:t>月別売上高（百万円）</a:t>
            </a:r>
          </a:p>
        </c:rich>
      </c:tx>
      <c:layout/>
      <c:overlay val="0"/>
    </c:title>
    <c:autoTitleDeleted val="0"/>
    <c:plotArea>
      <c:barChart>
        <c:barDir val="col"/>
        <c:grouping val="clustered"/>
        <c:ser>
          <c:idx val="0"/>
          <c:order val="0"/>
          <c:tx>
            <c:strRef>
              <c:f>Sheet1!$B$1</c:f>
              <c:strCache>
                <c:ptCount val="1"/>
                <c:pt idx="0">
                  <c:v>売上高</c:v>
                </c:pt>
              </c:strCache>
            </c:strRef>
          </c:tx>
          <c:spPr>
            <a:solidFill>
              <a:srgbClr val="0889C9"/>
            </a:solidFill>
          </c:spPr>
          <c:invertIfNegative val="0"/>
          <c:cat>
            <c:strRef>
              <c:f>Sheet1!$A$2:$A$13</c:f>
              <c:strCache>
                <c:ptCount val="12"/>
                <c:pt idx="0">
                  <c:v>4月</c:v>
                </c:pt>
                <c:pt idx="1">
                  <c:v>5月</c:v>
                </c:pt>
                <c:pt idx="2">
                  <c:v>6月</c:v>
                </c:pt>
                <c:pt idx="3">
                  <c:v>7月</c:v>
                </c:pt>
                <c:pt idx="4">
                  <c:v>8月</c:v>
                </c:pt>
                <c:pt idx="5">
                  <c:v>9月</c:v>
                </c:pt>
                <c:pt idx="6">
                  <c:v>10月</c:v>
                </c:pt>
                <c:pt idx="7">
                  <c:v>11月</c:v>
                </c:pt>
                <c:pt idx="8">
                  <c:v>12月</c:v>
                </c:pt>
                <c:pt idx="9">
                  <c:v>1月</c:v>
                </c:pt>
                <c:pt idx="10">
                  <c:v>2月</c:v>
                </c:pt>
                <c:pt idx="11">
                  <c:v>3月</c:v>
                </c:pt>
              </c:strCache>
            </c:strRef>
          </c:cat>
          <c:val>
            <c:numRef>
              <c:f>Sheet1!$B$2:$B$13</c:f>
              <c:numCache>
                <c:formatCode>General</c:formatCode>
                <c:ptCount val="12"/>
                <c:pt idx="0">
                  <c:v>88</c:v>
                </c:pt>
                <c:pt idx="1">
                  <c:v>102</c:v>
                </c:pt>
                <c:pt idx="2">
                  <c:v>84</c:v>
                </c:pt>
                <c:pt idx="3">
                  <c:v>146</c:v>
                </c:pt>
                <c:pt idx="4">
                  <c:v>138</c:v>
                </c:pt>
                <c:pt idx="5">
                  <c:v>110</c:v>
                </c:pt>
                <c:pt idx="6">
                  <c:v>106</c:v>
                </c:pt>
                <c:pt idx="7">
                  <c:v>101</c:v>
                </c:pt>
                <c:pt idx="8">
                  <c:v>98</c:v>
                </c:pt>
                <c:pt idx="9">
                  <c:v>70</c:v>
                </c:pt>
                <c:pt idx="10">
                  <c:v>69</c:v>
                </c:pt>
                <c:pt idx="11">
                  <c:v>84</c:v>
                </c:pt>
              </c:numCache>
            </c:numRef>
          </c:val>
        </c:ser>
        <c:dLbls>
          <c:numFmt formatCode="#,##0" sourceLinked="0"/>
          <c:txPr>
            <a:bodyPr/>
            <a:lstStyle/>
            <a:p>
              <a:pPr>
                <a:defRPr sz="800">
                  <a:solidFill>
                    <a:srgbClr val="333333"/>
                  </a:solidFill>
                  <a:latin typeface="Arial"/>
                </a:defRPr>
              </a:pPr>
            </a:p>
          </c:txPr>
          <c:dLblPos val="outEnd"/>
          <c:showLegendKey val="0"/>
          <c:showVal val="1"/>
          <c:showCatName val="0"/>
          <c:showSerName val="0"/>
          <c:showPercent val="0"/>
          <c:showBubbleSize val="0"/>
          <c:showLeaderLines val="1"/>
        </c:dLbls>
        <c:gapWidth val="60"/>
        <c:overlap val="-8"/>
        <c:axId val="-2068027336"/>
        <c:axId val="-2113994440"/>
      </c:barChart>
      <c:catAx>
        <c:axId val="-2068027336"/>
        <c:scaling>
          <c:orientation val="minMax"/>
        </c:scaling>
        <c:delete val="0"/>
        <c:axPos val="b"/>
        <c:majorTickMark val="out"/>
        <c:minorTickMark val="none"/>
        <c:tickLblPos val="low"/>
        <c:spPr>
          <a:ln>
            <a:solidFill>
              <a:srgbClr val="5A6670"/>
            </a:solidFill>
          </a:ln>
        </c:spPr>
        <c:txPr>
          <a:bodyPr/>
          <a:lstStyle/>
          <a:p>
            <a:pPr>
              <a:defRPr sz="800">
                <a:latin typeface="游ゴシック"/>
              </a:defRPr>
            </a:pPr>
          </a:p>
        </c:txPr>
        <c:crossAx val="-2113994440"/>
        <c:crosses val="autoZero"/>
        <c:auto val="1"/>
        <c:lblAlgn val="ctr"/>
        <c:lblOffset val="100"/>
        <c:noMultiLvlLbl val="0"/>
      </c:catAx>
      <c:valAx>
        <c:axId val="-2113994440"/>
        <c:scaling/>
        <c:delete val="0"/>
        <c:axPos val="l"/>
        <c:majorGridlines>
          <c:spPr>
            <a:ln>
              <a:solidFill>
                <a:srgbClr val="E3E7E9"/>
              </a:solidFill>
            </a:ln>
          </c:spPr>
        </c:majorGridlines>
        <c:numFmt formatCode="#,##0" sourceLinked="0"/>
        <c:majorTickMark val="out"/>
        <c:minorTickMark val="none"/>
        <c:tickLblPos val="nextTo"/>
        <c:spPr>
          <a:ln>
            <a:noFill/>
          </a:ln>
        </c:spPr>
        <c:txPr>
          <a:bodyPr/>
          <a:lstStyle/>
          <a:p>
            <a:pPr>
              <a:defRPr sz="800">
                <a:solidFill>
                  <a:srgbClr val="5A6670"/>
                </a:solidFill>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5" y="4"/>
            <a:ext cx="4306676" cy="719872"/>
          </a:xfrm>
          <a:prstGeom prst="rect">
            <a:avLst/>
          </a:prstGeom>
          <a:noFill/>
          <a:ln>
            <a:noFill/>
          </a:ln>
        </p:spPr>
        <p:txBody>
          <a:bodyPr spcFirstLastPara="1" wrap="square" lIns="128134" tIns="64050" rIns="128134" bIns="64050" anchor="t"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5630444" y="4"/>
            <a:ext cx="4306675" cy="719872"/>
          </a:xfrm>
          <a:prstGeom prst="rect">
            <a:avLst/>
          </a:prstGeom>
          <a:noFill/>
          <a:ln>
            <a:noFill/>
          </a:ln>
        </p:spPr>
        <p:txBody>
          <a:bodyPr spcFirstLastPara="1" wrap="square" lIns="128134" tIns="64050" rIns="128134" bIns="64050" anchor="t" anchorCtr="0">
            <a:noAutofit/>
          </a:bodyPr>
          <a:lstStyle>
            <a:lvl1pPr marR="0" lvl="0" algn="r"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5" y="13648596"/>
            <a:ext cx="4306676" cy="719872"/>
          </a:xfrm>
          <a:prstGeom prst="rect">
            <a:avLst/>
          </a:prstGeom>
          <a:noFill/>
          <a:ln>
            <a:noFill/>
          </a:ln>
        </p:spPr>
        <p:txBody>
          <a:bodyPr spcFirstLastPara="1" wrap="square" lIns="128134" tIns="64050" rIns="128134" bIns="64050" anchor="b"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sz="1700" smtClean="0">
                <a:solidFill>
                  <a:schemeClr val="dk1"/>
                </a:solidFill>
              </a:rPr>
              <a:pPr algn="r"/>
              <a:t>‹#›</a:t>
            </a:fld>
            <a:endParaRPr lang="en-US" sz="170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72A68-D8F2-B22E-7BFA-83527B7462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8067325-FBD2-0A2C-AAB1-F7B579EB568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CC41CC2-90D7-5CB1-F482-54299D366ABB}"/>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6D654142-6A85-EA5B-5409-B0B81E07C5DC}"/>
              </a:ext>
            </a:extLst>
          </p:cNvPr>
          <p:cNvSpPr>
            <a:spLocks noGrp="1"/>
          </p:cNvSpPr>
          <p:nvPr>
            <p:ph type="sldNum" sz="quarter" idx="5"/>
          </p:nvPr>
        </p:nvSpPr>
        <p:spPr/>
        <p:txBody>
          <a:bodyPr/>
          <a:lstStyle/>
          <a:p>
            <a:fld id="{30FF3BCC-1A43-4D25-8467-E40EF431E2F1}" type="slidenum">
              <a:rPr kumimoji="1" lang="ja-JP" altLang="en-US" smtClean="0"/>
              <a:t>0</a:t>
            </a:fld>
            <a:endParaRPr kumimoji="1" lang="ja-JP" altLang="en-US"/>
          </a:p>
        </p:txBody>
      </p:sp>
    </p:spTree>
    <p:extLst>
      <p:ext uri="{BB962C8B-B14F-4D97-AF65-F5344CB8AC3E}">
        <p14:creationId xmlns:p14="http://schemas.microsoft.com/office/powerpoint/2010/main" val="23596415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notes"/>
          <p:cNvSpPr>
            <a:spLocks noGrp="1" noRot="1" noChangeAspect="1"/>
          </p:cNvSpPr>
          <p:nvPr>
            <p:ph type="sldImg" idx="2"/>
          </p:nvPr>
        </p:nvSpPr>
        <p:spPr>
          <a:xfrm>
            <a:off x="1038225" y="1244600"/>
            <a:ext cx="4745038"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2:notes"/>
          <p:cNvSpPr txBox="1">
            <a:spLocks noGrp="1"/>
          </p:cNvSpPr>
          <p:nvPr>
            <p:ph type="body" idx="1"/>
          </p:nvPr>
        </p:nvSpPr>
        <p:spPr>
          <a:xfrm>
            <a:off x="682755" y="4787722"/>
            <a:ext cx="5455939" cy="3915961"/>
          </a:xfrm>
          <a:prstGeom prst="rect">
            <a:avLst/>
          </a:prstGeom>
          <a:noFill/>
          <a:ln>
            <a:noFill/>
          </a:ln>
        </p:spPr>
        <p:txBody>
          <a:bodyPr spcFirstLastPara="1" wrap="square" lIns="88335" tIns="44169" rIns="88335" bIns="44169" anchor="t" anchorCtr="0">
            <a:noAutofit/>
          </a:bodyPr>
          <a:lstStyle/>
          <a:p>
            <a:endParaRPr dirty="0"/>
          </a:p>
        </p:txBody>
      </p:sp>
      <p:sp>
        <p:nvSpPr>
          <p:cNvPr id="257" name="Google Shape;257;p2:notes"/>
          <p:cNvSpPr txBox="1">
            <a:spLocks noGrp="1"/>
          </p:cNvSpPr>
          <p:nvPr>
            <p:ph type="sldNum" idx="12"/>
          </p:nvPr>
        </p:nvSpPr>
        <p:spPr>
          <a:xfrm>
            <a:off x="3863353" y="9448918"/>
            <a:ext cx="2955046" cy="498368"/>
          </a:xfrm>
          <a:prstGeom prst="rect">
            <a:avLst/>
          </a:prstGeom>
          <a:noFill/>
          <a:ln>
            <a:noFill/>
          </a:ln>
        </p:spPr>
        <p:txBody>
          <a:bodyPr spcFirstLastPara="1" wrap="square" lIns="88335" tIns="44169" rIns="88335" bIns="44169" anchor="b" anchorCtr="0">
            <a:noAutofit/>
          </a:bodyPr>
          <a:lstStyle/>
          <a:p>
            <a:pPr algn="r"/>
            <a:fld id="{00000000-1234-1234-1234-123412341234}" type="slidenum">
              <a:rPr lang="en-US" altLang="ja-JP"/>
              <a:pPr algn="r"/>
              <a:t>2</a:t>
            </a:fld>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p:cNvSpPr>
            <a:spLocks noGrp="1"/>
          </p:cNvSpPr>
          <p:nvPr>
            <p:ph type="sldNum" sz="quarter" idx="5"/>
          </p:nvPr>
        </p:nvSpPr>
        <p:spPr/>
        <p:txBody>
          <a:bodyPr/>
          <a:lstStyle/>
          <a:p>
            <a:fld id="{30FF3BCC-1A43-4D25-8467-E40EF431E2F1}" type="slidenum">
              <a:rPr kumimoji="1" lang="ja-JP" altLang="en-US" smtClean="0"/>
              <a:t>4</a:t>
            </a:fld>
            <a:endParaRPr kumimoji="1" lang="ja-JP" altLang="en-US"/>
          </a:p>
        </p:txBody>
      </p:sp>
    </p:spTree>
    <p:extLst>
      <p:ext uri="{BB962C8B-B14F-4D97-AF65-F5344CB8AC3E}">
        <p14:creationId xmlns:p14="http://schemas.microsoft.com/office/powerpoint/2010/main" val="38172004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D25C8-440A-2828-878D-418A0792F61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7C3FEA-F9FD-B7DB-149F-6EC1DBA8826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A5BB81D-E86C-9959-31EE-7B30A06B6D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0211B70-4BC5-9F81-584A-69CFC82BF433}"/>
              </a:ext>
            </a:extLst>
          </p:cNvPr>
          <p:cNvSpPr>
            <a:spLocks noGrp="1"/>
          </p:cNvSpPr>
          <p:nvPr>
            <p:ph type="sldNum" sz="quarter" idx="5"/>
          </p:nvPr>
        </p:nvSpPr>
        <p:spPr/>
        <p:txBody>
          <a:bodyPr/>
          <a:lstStyle/>
          <a:p>
            <a:fld id="{30FF3BCC-1A43-4D25-8467-E40EF431E2F1}" type="slidenum">
              <a:rPr kumimoji="1" lang="ja-JP" altLang="en-US" smtClean="0"/>
              <a:t>5</a:t>
            </a:fld>
            <a:endParaRPr kumimoji="1" lang="ja-JP" altLang="en-US"/>
          </a:p>
        </p:txBody>
      </p:sp>
    </p:spTree>
    <p:extLst>
      <p:ext uri="{BB962C8B-B14F-4D97-AF65-F5344CB8AC3E}">
        <p14:creationId xmlns:p14="http://schemas.microsoft.com/office/powerpoint/2010/main" val="7747491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ED554-B8EF-4A9F-7D23-DA7BEB5393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1CEDC1-16A4-E7E3-6D33-36595C1E076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07542380-129E-8965-7EF1-2B0D19ED3CF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20D6D73-0F3C-EDF6-E562-BBF922D0AE83}"/>
              </a:ext>
            </a:extLst>
          </p:cNvPr>
          <p:cNvSpPr>
            <a:spLocks noGrp="1"/>
          </p:cNvSpPr>
          <p:nvPr>
            <p:ph type="sldNum" sz="quarter" idx="5"/>
          </p:nvPr>
        </p:nvSpPr>
        <p:spPr/>
        <p:txBody>
          <a:bodyPr/>
          <a:lstStyle/>
          <a:p>
            <a:fld id="{30FF3BCC-1A43-4D25-8467-E40EF431E2F1}" type="slidenum">
              <a:rPr kumimoji="1" lang="ja-JP" altLang="en-US" smtClean="0"/>
              <a:t>6</a:t>
            </a:fld>
            <a:endParaRPr kumimoji="1" lang="ja-JP" altLang="en-US"/>
          </a:p>
        </p:txBody>
      </p:sp>
    </p:spTree>
    <p:extLst>
      <p:ext uri="{BB962C8B-B14F-4D97-AF65-F5344CB8AC3E}">
        <p14:creationId xmlns:p14="http://schemas.microsoft.com/office/powerpoint/2010/main" val="1899608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1:notes"/>
          <p:cNvSpPr>
            <a:spLocks noGrp="1" noRot="1" noChangeAspect="1"/>
          </p:cNvSpPr>
          <p:nvPr>
            <p:ph type="sldImg" idx="2"/>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7" name="Google Shape;267;p11:notes"/>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p>
            <a:pPr marL="0" indent="0"/>
            <a:endParaRPr/>
          </a:p>
        </p:txBody>
      </p:sp>
      <p:sp>
        <p:nvSpPr>
          <p:cNvPr id="268" name="Google Shape;268;p11:notes"/>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a:pPr algn="r"/>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255F2-72AB-FF31-01FE-A6493B0F50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81C757-4FDD-ACE7-CF68-5819651248C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5EE625D-8D2D-C468-280D-551D9E317BF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DF0B3B1-489B-7B8F-FCE9-8191D341F15C}"/>
              </a:ext>
            </a:extLst>
          </p:cNvPr>
          <p:cNvSpPr>
            <a:spLocks noGrp="1"/>
          </p:cNvSpPr>
          <p:nvPr>
            <p:ph type="sldNum" sz="quarter" idx="5"/>
          </p:nvPr>
        </p:nvSpPr>
        <p:spPr/>
        <p:txBody>
          <a:bodyPr/>
          <a:lstStyle/>
          <a:p>
            <a:fld id="{CAF5A409-FE33-4202-B69D-8515A6FDCE7E}" type="slidenum">
              <a:rPr kumimoji="1" lang="ja-JP" altLang="en-US" smtClean="0"/>
              <a:t>9</a:t>
            </a:fld>
            <a:endParaRPr kumimoji="1" lang="ja-JP" altLang="en-US"/>
          </a:p>
        </p:txBody>
      </p:sp>
    </p:spTree>
    <p:extLst>
      <p:ext uri="{BB962C8B-B14F-4D97-AF65-F5344CB8AC3E}">
        <p14:creationId xmlns:p14="http://schemas.microsoft.com/office/powerpoint/2010/main" val="180661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F2053-256C-05EB-FF6B-3E836DA88FD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BE281C-3A22-F726-BA35-A4756E55EBE3}"/>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DB7B9342-8F57-66B0-B807-2488575A5459}"/>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00245A20-27B3-F697-2291-87BE1C3A1772}"/>
              </a:ext>
            </a:extLst>
          </p:cNvPr>
          <p:cNvSpPr>
            <a:spLocks noGrp="1"/>
          </p:cNvSpPr>
          <p:nvPr>
            <p:ph type="sldNum" sz="quarter" idx="5"/>
          </p:nvPr>
        </p:nvSpPr>
        <p:spPr/>
        <p:txBody>
          <a:bodyPr/>
          <a:lstStyle/>
          <a:p>
            <a:fld id="{CCD08276-B047-45AB-869B-6FEE4FD0AA7E}" type="slidenum">
              <a:rPr kumimoji="1" lang="ja-JP" altLang="en-US" smtClean="0"/>
              <a:t>10</a:t>
            </a:fld>
            <a:endParaRPr kumimoji="1" lang="ja-JP" altLang="en-US"/>
          </a:p>
        </p:txBody>
      </p:sp>
    </p:spTree>
    <p:extLst>
      <p:ext uri="{BB962C8B-B14F-4D97-AF65-F5344CB8AC3E}">
        <p14:creationId xmlns:p14="http://schemas.microsoft.com/office/powerpoint/2010/main" val="41460065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11</a:t>
            </a:fld>
            <a:endParaRPr kumimoji="1" lang="ja-JP" altLang="en-US"/>
          </a:p>
        </p:txBody>
      </p:sp>
    </p:spTree>
    <p:extLst>
      <p:ext uri="{BB962C8B-B14F-4D97-AF65-F5344CB8AC3E}">
        <p14:creationId xmlns:p14="http://schemas.microsoft.com/office/powerpoint/2010/main" val="37467525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C040D-60A3-F058-65D5-629296F9C77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F3EA90-DD81-CBB9-EF73-27816BB83DE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B54EE8A0-BFED-396D-4CAA-82A6D5708D4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1534188-0443-756D-A5E2-5F3AA4D2F28B}"/>
              </a:ext>
            </a:extLst>
          </p:cNvPr>
          <p:cNvSpPr>
            <a:spLocks noGrp="1"/>
          </p:cNvSpPr>
          <p:nvPr>
            <p:ph type="sldNum" sz="quarter" idx="5"/>
          </p:nvPr>
        </p:nvSpPr>
        <p:spPr/>
        <p:txBody>
          <a:bodyPr/>
          <a:lstStyle/>
          <a:p>
            <a:fld id="{30FF3BCC-1A43-4D25-8467-E40EF431E2F1}" type="slidenum">
              <a:rPr kumimoji="1" lang="ja-JP" altLang="en-US" smtClean="0"/>
              <a:t>12</a:t>
            </a:fld>
            <a:endParaRPr kumimoji="1" lang="ja-JP" altLang="en-US"/>
          </a:p>
        </p:txBody>
      </p:sp>
    </p:spTree>
    <p:extLst>
      <p:ext uri="{BB962C8B-B14F-4D97-AF65-F5344CB8AC3E}">
        <p14:creationId xmlns:p14="http://schemas.microsoft.com/office/powerpoint/2010/main" val="19973134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CA458-621A-F6CD-BCBF-9D132A609BE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5834A7-AD91-AB56-B63B-5F4E423CE6A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642B7059-7F90-A560-40B9-33E684841AB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291A80AB-D339-06B2-3E95-24ED9AB082F7}"/>
              </a:ext>
            </a:extLst>
          </p:cNvPr>
          <p:cNvSpPr>
            <a:spLocks noGrp="1"/>
          </p:cNvSpPr>
          <p:nvPr>
            <p:ph type="sldNum" sz="quarter" idx="5"/>
          </p:nvPr>
        </p:nvSpPr>
        <p:spPr/>
        <p:txBody>
          <a:bodyPr/>
          <a:lstStyle/>
          <a:p>
            <a:fld id="{30FF3BCC-1A43-4D25-8467-E40EF431E2F1}" type="slidenum">
              <a:rPr kumimoji="1" lang="ja-JP" altLang="en-US" smtClean="0"/>
              <a:t>13</a:t>
            </a:fld>
            <a:endParaRPr kumimoji="1" lang="ja-JP" altLang="en-US"/>
          </a:p>
        </p:txBody>
      </p:sp>
    </p:spTree>
    <p:extLst>
      <p:ext uri="{BB962C8B-B14F-4D97-AF65-F5344CB8AC3E}">
        <p14:creationId xmlns:p14="http://schemas.microsoft.com/office/powerpoint/2010/main" val="16268806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A592E-568B-2BA5-2B19-12B81CE778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7A7352E-A782-2B96-F549-A44B4533D5C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EF54036B-FC89-BE57-BD1D-9528CDD969D8}"/>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71950A32-E8C7-5909-50B6-CF7BE228A3D0}"/>
              </a:ext>
            </a:extLst>
          </p:cNvPr>
          <p:cNvSpPr>
            <a:spLocks noGrp="1"/>
          </p:cNvSpPr>
          <p:nvPr>
            <p:ph type="sldNum" sz="quarter" idx="5"/>
          </p:nvPr>
        </p:nvSpPr>
        <p:spPr/>
        <p:txBody>
          <a:bodyPr/>
          <a:lstStyle/>
          <a:p>
            <a:fld id="{30FF3BCC-1A43-4D25-8467-E40EF431E2F1}" type="slidenum">
              <a:rPr kumimoji="1" lang="ja-JP" altLang="en-US" smtClean="0"/>
              <a:t>14</a:t>
            </a:fld>
            <a:endParaRPr kumimoji="1" lang="ja-JP" altLang="en-US"/>
          </a:p>
        </p:txBody>
      </p:sp>
    </p:spTree>
    <p:extLst>
      <p:ext uri="{BB962C8B-B14F-4D97-AF65-F5344CB8AC3E}">
        <p14:creationId xmlns:p14="http://schemas.microsoft.com/office/powerpoint/2010/main" val="16178411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60B1B-8967-EB16-F654-95E71A21670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6F3223C-6CB5-B48E-4B27-2931302D029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33B0F29-3AAB-5E14-B4D9-A017F82CA42C}"/>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E8F4B38-0355-E574-CF5F-76C145B0E13C}"/>
              </a:ext>
            </a:extLst>
          </p:cNvPr>
          <p:cNvSpPr>
            <a:spLocks noGrp="1"/>
          </p:cNvSpPr>
          <p:nvPr>
            <p:ph type="sldNum" sz="quarter" idx="5"/>
          </p:nvPr>
        </p:nvSpPr>
        <p:spPr/>
        <p:txBody>
          <a:bodyPr/>
          <a:lstStyle/>
          <a:p>
            <a:fld id="{30FF3BCC-1A43-4D25-8467-E40EF431E2F1}" type="slidenum">
              <a:rPr kumimoji="1" lang="ja-JP" altLang="en-US" smtClean="0"/>
              <a:t>16</a:t>
            </a:fld>
            <a:endParaRPr kumimoji="1" lang="ja-JP" altLang="en-US"/>
          </a:p>
        </p:txBody>
      </p:sp>
    </p:spTree>
    <p:extLst>
      <p:ext uri="{BB962C8B-B14F-4D97-AF65-F5344CB8AC3E}">
        <p14:creationId xmlns:p14="http://schemas.microsoft.com/office/powerpoint/2010/main" val="40946642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FA8DC-3B5A-8CE0-C236-C6578FA6AB0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576820E-69EC-DFBB-76F4-BBF2BC15D6D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41A58E-CABA-7A79-2BAA-194DDE6D06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A0865AC2-C5B9-11C1-D7AC-9B470F32EF53}"/>
              </a:ext>
            </a:extLst>
          </p:cNvPr>
          <p:cNvSpPr>
            <a:spLocks noGrp="1"/>
          </p:cNvSpPr>
          <p:nvPr>
            <p:ph type="sldNum" sz="quarter" idx="5"/>
          </p:nvPr>
        </p:nvSpPr>
        <p:spPr/>
        <p:txBody>
          <a:bodyPr/>
          <a:lstStyle/>
          <a:p>
            <a:fld id="{30FF3BCC-1A43-4D25-8467-E40EF431E2F1}" type="slidenum">
              <a:rPr kumimoji="1" lang="ja-JP" altLang="en-US" smtClean="0"/>
              <a:t>17</a:t>
            </a:fld>
            <a:endParaRPr kumimoji="1" lang="ja-JP" altLang="en-US"/>
          </a:p>
        </p:txBody>
      </p:sp>
    </p:spTree>
    <p:extLst>
      <p:ext uri="{BB962C8B-B14F-4D97-AF65-F5344CB8AC3E}">
        <p14:creationId xmlns:p14="http://schemas.microsoft.com/office/powerpoint/2010/main" val="20264455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2E725-D7D8-17E1-4745-D0791B9111B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6A1D65-57DD-D413-2249-F85A5B42102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982E84-E980-EAEA-3AF3-155A001191D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35F2FC0-9ABA-38FB-BDED-E00320A10C78}"/>
              </a:ext>
            </a:extLst>
          </p:cNvPr>
          <p:cNvSpPr>
            <a:spLocks noGrp="1"/>
          </p:cNvSpPr>
          <p:nvPr>
            <p:ph type="sldNum" sz="quarter" idx="5"/>
          </p:nvPr>
        </p:nvSpPr>
        <p:spPr/>
        <p:txBody>
          <a:bodyPr/>
          <a:lstStyle/>
          <a:p>
            <a:fld id="{30FF3BCC-1A43-4D25-8467-E40EF431E2F1}" type="slidenum">
              <a:rPr kumimoji="1" lang="ja-JP" altLang="en-US" smtClean="0"/>
              <a:t>18</a:t>
            </a:fld>
            <a:endParaRPr kumimoji="1" lang="ja-JP" altLang="en-US"/>
          </a:p>
        </p:txBody>
      </p:sp>
    </p:spTree>
    <p:extLst>
      <p:ext uri="{BB962C8B-B14F-4D97-AF65-F5344CB8AC3E}">
        <p14:creationId xmlns:p14="http://schemas.microsoft.com/office/powerpoint/2010/main" val="17411098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C7B85-83C3-9DDE-4335-158CC42969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57E6BA9-F36D-604F-3499-7C87D66ABC5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45EFA15-1CDA-B8D1-0BAC-253999A0B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F28CD9B-652E-87FA-D240-FE835F6686E1}"/>
              </a:ext>
            </a:extLst>
          </p:cNvPr>
          <p:cNvSpPr>
            <a:spLocks noGrp="1"/>
          </p:cNvSpPr>
          <p:nvPr>
            <p:ph type="sldNum" sz="quarter" idx="5"/>
          </p:nvPr>
        </p:nvSpPr>
        <p:spPr/>
        <p:txBody>
          <a:bodyPr/>
          <a:lstStyle/>
          <a:p>
            <a:fld id="{30FF3BCC-1A43-4D25-8467-E40EF431E2F1}" type="slidenum">
              <a:rPr kumimoji="1" lang="ja-JP" altLang="en-US" smtClean="0"/>
              <a:t>19</a:t>
            </a:fld>
            <a:endParaRPr kumimoji="1" lang="ja-JP" altLang="en-US"/>
          </a:p>
        </p:txBody>
      </p:sp>
    </p:spTree>
    <p:extLst>
      <p:ext uri="{BB962C8B-B14F-4D97-AF65-F5344CB8AC3E}">
        <p14:creationId xmlns:p14="http://schemas.microsoft.com/office/powerpoint/2010/main" val="5849257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576726-F92E-C8AC-70BE-109958028C7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B818D-78DD-0444-71FA-AF55300919C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C10619B-E5D8-2E73-006F-A5FD1904CBC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8095705-0959-428A-F57F-B098A8BDB7DB}"/>
              </a:ext>
            </a:extLst>
          </p:cNvPr>
          <p:cNvSpPr>
            <a:spLocks noGrp="1"/>
          </p:cNvSpPr>
          <p:nvPr>
            <p:ph type="sldNum" sz="quarter" idx="5"/>
          </p:nvPr>
        </p:nvSpPr>
        <p:spPr/>
        <p:txBody>
          <a:bodyPr/>
          <a:lstStyle/>
          <a:p>
            <a:fld id="{30FF3BCC-1A43-4D25-8467-E40EF431E2F1}" type="slidenum">
              <a:rPr kumimoji="1" lang="ja-JP" altLang="en-US" smtClean="0"/>
              <a:t>21</a:t>
            </a:fld>
            <a:endParaRPr kumimoji="1" lang="ja-JP" altLang="en-US"/>
          </a:p>
        </p:txBody>
      </p:sp>
    </p:spTree>
    <p:extLst>
      <p:ext uri="{BB962C8B-B14F-4D97-AF65-F5344CB8AC3E}">
        <p14:creationId xmlns:p14="http://schemas.microsoft.com/office/powerpoint/2010/main" val="21491322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93F79-295E-F06B-7AB6-52A5A3EA393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26F7EE7-AB24-EA55-7ACE-47505BF35BA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BDE5B4E-F52E-8016-E763-B450F1D89C7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6271926-BBCD-B1D8-D398-CE016D9998E8}"/>
              </a:ext>
            </a:extLst>
          </p:cNvPr>
          <p:cNvSpPr>
            <a:spLocks noGrp="1"/>
          </p:cNvSpPr>
          <p:nvPr>
            <p:ph type="sldNum" sz="quarter" idx="5"/>
          </p:nvPr>
        </p:nvSpPr>
        <p:spPr/>
        <p:txBody>
          <a:bodyPr/>
          <a:lstStyle/>
          <a:p>
            <a:fld id="{30FF3BCC-1A43-4D25-8467-E40EF431E2F1}" type="slidenum">
              <a:rPr kumimoji="1" lang="ja-JP" altLang="en-US" smtClean="0"/>
              <a:t>22</a:t>
            </a:fld>
            <a:endParaRPr kumimoji="1" lang="ja-JP" altLang="en-US"/>
          </a:p>
        </p:txBody>
      </p:sp>
    </p:spTree>
    <p:extLst>
      <p:ext uri="{BB962C8B-B14F-4D97-AF65-F5344CB8AC3E}">
        <p14:creationId xmlns:p14="http://schemas.microsoft.com/office/powerpoint/2010/main" val="33173544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8BDAB-B0BC-D005-A2A7-951EBC89B4C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52DC877-776A-449C-A43E-AEB3CE94D63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030C70C-7CA3-B8C1-0D62-4A544C5F87B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6B92F43-F674-D334-F90F-5304787C5E7D}"/>
              </a:ext>
            </a:extLst>
          </p:cNvPr>
          <p:cNvSpPr>
            <a:spLocks noGrp="1"/>
          </p:cNvSpPr>
          <p:nvPr>
            <p:ph type="sldNum" sz="quarter" idx="5"/>
          </p:nvPr>
        </p:nvSpPr>
        <p:spPr/>
        <p:txBody>
          <a:bodyPr/>
          <a:lstStyle/>
          <a:p>
            <a:fld id="{30FF3BCC-1A43-4D25-8467-E40EF431E2F1}" type="slidenum">
              <a:rPr kumimoji="1" lang="ja-JP" altLang="en-US" smtClean="0"/>
              <a:t>24</a:t>
            </a:fld>
            <a:endParaRPr kumimoji="1" lang="ja-JP" altLang="en-US"/>
          </a:p>
        </p:txBody>
      </p:sp>
    </p:spTree>
    <p:extLst>
      <p:ext uri="{BB962C8B-B14F-4D97-AF65-F5344CB8AC3E}">
        <p14:creationId xmlns:p14="http://schemas.microsoft.com/office/powerpoint/2010/main" val="2065989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4A82-F556-35B1-B856-FE50804449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EC3BDB4-265E-5E67-CFEA-208DBEE091A4}"/>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BF07348-0B3E-EDA2-CC24-8961BB8EE4D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395BC13-068C-8F1D-24E2-48104E91BC41}"/>
              </a:ext>
            </a:extLst>
          </p:cNvPr>
          <p:cNvSpPr>
            <a:spLocks noGrp="1"/>
          </p:cNvSpPr>
          <p:nvPr>
            <p:ph type="sldNum" sz="quarter" idx="5"/>
          </p:nvPr>
        </p:nvSpPr>
        <p:spPr/>
        <p:txBody>
          <a:bodyPr/>
          <a:lstStyle/>
          <a:p>
            <a:fld id="{30FF3BCC-1A43-4D25-8467-E40EF431E2F1}" type="slidenum">
              <a:rPr kumimoji="1" lang="ja-JP" altLang="en-US" smtClean="0"/>
              <a:t>25</a:t>
            </a:fld>
            <a:endParaRPr kumimoji="1" lang="ja-JP" altLang="en-US"/>
          </a:p>
        </p:txBody>
      </p:sp>
    </p:spTree>
    <p:extLst>
      <p:ext uri="{BB962C8B-B14F-4D97-AF65-F5344CB8AC3E}">
        <p14:creationId xmlns:p14="http://schemas.microsoft.com/office/powerpoint/2010/main" val="2945788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D6D02-57FD-62EB-BC56-6E300F505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138501E-F5AF-0224-79A6-DBE6F9F7E093}"/>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0C518C7-436D-8B71-5734-02D19443C6B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4216A50-996C-4CF3-5119-58EFABB781F5}"/>
              </a:ext>
            </a:extLst>
          </p:cNvPr>
          <p:cNvSpPr>
            <a:spLocks noGrp="1"/>
          </p:cNvSpPr>
          <p:nvPr>
            <p:ph type="sldNum" sz="quarter" idx="5"/>
          </p:nvPr>
        </p:nvSpPr>
        <p:spPr/>
        <p:txBody>
          <a:bodyPr/>
          <a:lstStyle/>
          <a:p>
            <a:fld id="{30FF3BCC-1A43-4D25-8467-E40EF431E2F1}" type="slidenum">
              <a:rPr kumimoji="1" lang="ja-JP" altLang="en-US" smtClean="0"/>
              <a:t>27</a:t>
            </a:fld>
            <a:endParaRPr kumimoji="1" lang="ja-JP" altLang="en-US"/>
          </a:p>
        </p:txBody>
      </p:sp>
    </p:spTree>
    <p:extLst>
      <p:ext uri="{BB962C8B-B14F-4D97-AF65-F5344CB8AC3E}">
        <p14:creationId xmlns:p14="http://schemas.microsoft.com/office/powerpoint/2010/main" val="28985307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FF017-472F-0872-A57B-F89F02E4AE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7AC265-7FBA-5DC7-99A1-03FC2F6AC04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7597C32-1DAD-46CB-92D2-4B18BA8A302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3D7D21C-CA67-AD27-2D15-37084604B145}"/>
              </a:ext>
            </a:extLst>
          </p:cNvPr>
          <p:cNvSpPr>
            <a:spLocks noGrp="1"/>
          </p:cNvSpPr>
          <p:nvPr>
            <p:ph type="sldNum" sz="quarter" idx="5"/>
          </p:nvPr>
        </p:nvSpPr>
        <p:spPr/>
        <p:txBody>
          <a:bodyPr/>
          <a:lstStyle/>
          <a:p>
            <a:fld id="{30FF3BCC-1A43-4D25-8467-E40EF431E2F1}" type="slidenum">
              <a:rPr kumimoji="1" lang="ja-JP" altLang="en-US" smtClean="0"/>
              <a:t>29</a:t>
            </a:fld>
            <a:endParaRPr kumimoji="1" lang="ja-JP" altLang="en-US"/>
          </a:p>
        </p:txBody>
      </p:sp>
    </p:spTree>
    <p:extLst>
      <p:ext uri="{BB962C8B-B14F-4D97-AF65-F5344CB8AC3E}">
        <p14:creationId xmlns:p14="http://schemas.microsoft.com/office/powerpoint/2010/main" val="8899097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DCC-4499-9CC9-1F39-99083A511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3DCC5A-4CF0-CE33-9793-735FCC81AE4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6E4A811-4C57-E7FA-999B-3B2346969CF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5D9E0B5-62CD-B7FC-7619-BDD324DA7A35}"/>
              </a:ext>
            </a:extLst>
          </p:cNvPr>
          <p:cNvSpPr>
            <a:spLocks noGrp="1"/>
          </p:cNvSpPr>
          <p:nvPr>
            <p:ph type="sldNum" sz="quarter" idx="5"/>
          </p:nvPr>
        </p:nvSpPr>
        <p:spPr/>
        <p:txBody>
          <a:bodyPr/>
          <a:lstStyle/>
          <a:p>
            <a:fld id="{30FF3BCC-1A43-4D25-8467-E40EF431E2F1}" type="slidenum">
              <a:rPr kumimoji="1" lang="ja-JP" altLang="en-US" smtClean="0"/>
              <a:t>33</a:t>
            </a:fld>
            <a:endParaRPr kumimoji="1" lang="ja-JP" altLang="en-US"/>
          </a:p>
        </p:txBody>
      </p:sp>
    </p:spTree>
    <p:extLst>
      <p:ext uri="{BB962C8B-B14F-4D97-AF65-F5344CB8AC3E}">
        <p14:creationId xmlns:p14="http://schemas.microsoft.com/office/powerpoint/2010/main" val="216406258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p:cNvSpPr>
            <a:spLocks noGrp="1"/>
          </p:cNvSpPr>
          <p:nvPr>
            <p:ph type="sldNum" sz="quarter" idx="5"/>
          </p:nvPr>
        </p:nvSpPr>
        <p:spPr/>
        <p:txBody>
          <a:bodyPr/>
          <a:lstStyle/>
          <a:p>
            <a:fld id="{CAF5A409-FE33-4202-B69D-8515A6FDCE7E}" type="slidenum">
              <a:rPr kumimoji="1" lang="ja-JP" altLang="en-US" smtClean="0"/>
              <a:t>34</a:t>
            </a:fld>
            <a:endParaRPr kumimoji="1" lang="ja-JP" altLang="en-US"/>
          </a:p>
        </p:txBody>
      </p:sp>
    </p:spTree>
    <p:extLst>
      <p:ext uri="{BB962C8B-B14F-4D97-AF65-F5344CB8AC3E}">
        <p14:creationId xmlns:p14="http://schemas.microsoft.com/office/powerpoint/2010/main" val="39096212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974122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0359687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602349"/>
            <a:chOff x="887069" y="3420377"/>
            <a:chExt cx="3420000" cy="602349"/>
          </a:xfrm>
        </p:grpSpPr>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ja-JP" altLang="en-US" sz="3200" b="1" dirty="0">
                  <a:latin typeface="+mj-lt"/>
                </a:rPr>
                <a:t>目次</a:t>
              </a: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80144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1880950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27557559"/>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2111189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F2DA376-A25F-9107-DBD3-FB81DA50B980}"/>
              </a:ext>
            </a:extLst>
          </p:cNvPr>
          <p:cNvSpPr txBox="1"/>
          <p:nvPr userDrawn="1"/>
        </p:nvSpPr>
        <p:spPr>
          <a:xfrm rot="19728456" flipH="1">
            <a:off x="1740861" y="3487450"/>
            <a:ext cx="7210090" cy="584775"/>
          </a:xfrm>
          <a:prstGeom prst="rect">
            <a:avLst/>
          </a:prstGeom>
          <a:noFill/>
        </p:spPr>
        <p:txBody>
          <a:bodyPr wrap="square" rtlCol="0">
            <a:spAutoFit/>
          </a:bodyPr>
          <a:lstStyle/>
          <a:p>
            <a:r>
              <a:rPr kumimoji="1" lang="ja-JP" altLang="en-US" sz="3200" dirty="0">
                <a:solidFill>
                  <a:schemeClr val="bg1">
                    <a:lumMod val="85000"/>
                  </a:schemeClr>
                </a:solidFill>
                <a:latin typeface="+mj-ea"/>
                <a:ea typeface="+mj-ea"/>
              </a:rPr>
              <a:t>株式会社●●ホールディングス 御中</a:t>
            </a:r>
          </a:p>
        </p:txBody>
      </p:sp>
    </p:spTree>
    <p:extLst>
      <p:ext uri="{BB962C8B-B14F-4D97-AF65-F5344CB8AC3E}">
        <p14:creationId xmlns:p14="http://schemas.microsoft.com/office/powerpoint/2010/main" val="1858542152"/>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10.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11.emf"/><Relationship Id="rId4"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2.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3.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4.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5.emf"/><Relationship Id="rId4" Type="http://schemas.openxmlformats.org/officeDocument/2006/relationships/chart" Target="../charts/char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6.emf"/><Relationship Id="rId4" Type="http://schemas.openxmlformats.org/officeDocument/2006/relationships/image" Target="../media/image17.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18.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0.png"/><Relationship Id="rId5" Type="http://schemas.microsoft.com/office/2007/relationships/hdphoto" Target="../media/hdphoto1.wdp"/><Relationship Id="rId6" Type="http://schemas.openxmlformats.org/officeDocument/2006/relationships/image" Target="../media/image21.e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2.emf"/><Relationship Id="rId4" Type="http://schemas.openxmlformats.org/officeDocument/2006/relationships/image" Target="../media/image23.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jpeg"/><Relationship Id="rId3" Type="http://schemas.openxmlformats.org/officeDocument/2006/relationships/image" Target="../media/image8.png"/><Relationship Id="rId4" Type="http://schemas.openxmlformats.org/officeDocument/2006/relationships/image" Target="../media/image9.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6EF2-E355-DFA0-0FDA-00C6AAD69C4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0EAAA34-63BD-2868-6F6F-9550B61A0EE2}"/>
              </a:ext>
            </a:extLst>
          </p:cNvPr>
          <p:cNvSpPr>
            <a:spLocks noGrp="1"/>
          </p:cNvSpPr>
          <p:nvPr>
            <p:ph type="title"/>
          </p:nvPr>
        </p:nvSpPr>
        <p:spPr/>
        <p:txBody>
          <a:bodyPr/>
          <a:lstStyle/>
          <a:p>
            <a:r>
              <a:rPr lang="ja-JP" altLang="en-US" dirty="0"/>
              <a:t>企業概要書 </a:t>
            </a:r>
            <a:r>
              <a:rPr lang="en-US" altLang="ja-JP" sz="2400" dirty="0"/>
              <a:t>&lt;青果物卸売業/庄内地区&gt;</a:t>
            </a:r>
            <a:r>
              <a:rPr lang="ja-JP" altLang="en-US" sz="2400" dirty="0"/>
              <a:t/>
            </a:r>
            <a:r>
              <a:rPr lang="en-US" altLang="ja-JP" sz="2400" dirty="0"/>
              <a:t/>
            </a:r>
            <a:r>
              <a:rPr lang="ja-JP" altLang="en-US" sz="2400" dirty="0"/>
              <a:t/>
            </a:r>
            <a:r>
              <a:rPr lang="en-US" altLang="ja-JP" sz="2400" dirty="0"/>
              <a:t/>
            </a:r>
            <a:r>
              <a:rPr lang="ja-JP" altLang="en-US" dirty="0"/>
              <a:t/>
            </a:r>
          </a:p>
        </p:txBody>
      </p:sp>
      <p:cxnSp>
        <p:nvCxnSpPr>
          <p:cNvPr id="11" name="直線コネクタ 10">
            <a:extLst>
              <a:ext uri="{FF2B5EF4-FFF2-40B4-BE49-F238E27FC236}">
                <a16:creationId xmlns:a16="http://schemas.microsoft.com/office/drawing/2014/main" id="{B552F00F-DAC8-72B9-D861-43E1B7EF96E4}"/>
              </a:ext>
            </a:extLst>
          </p:cNvPr>
          <p:cNvCxnSpPr>
            <a:cxnSpLocks/>
          </p:cNvCxnSpPr>
          <p:nvPr/>
        </p:nvCxnSpPr>
        <p:spPr>
          <a:xfrm>
            <a:off x="885526" y="4272782"/>
            <a:ext cx="6767299"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タイトル 2">
            <a:extLst>
              <a:ext uri="{FF2B5EF4-FFF2-40B4-BE49-F238E27FC236}">
                <a16:creationId xmlns:a16="http://schemas.microsoft.com/office/drawing/2014/main" id="{483B0F4A-40C8-4F5B-4490-660AE728BBA5}"/>
              </a:ext>
            </a:extLst>
          </p:cNvPr>
          <p:cNvSpPr txBox="1">
            <a:spLocks/>
          </p:cNvSpPr>
          <p:nvPr/>
        </p:nvSpPr>
        <p:spPr>
          <a:xfrm>
            <a:off x="941798" y="4043874"/>
            <a:ext cx="9221787" cy="738664"/>
          </a:xfrm>
          <a:prstGeom prst="rect">
            <a:avLst/>
          </a:prstGeom>
          <a:noFill/>
        </p:spPr>
        <p:txBody>
          <a:bodyPr wrap="square" lIns="0" tIns="0" rIns="0" bIns="0" rtlCol="0" anchor="ctr">
            <a:spAutoFit/>
          </a:bodyPr>
          <a:lstStyle>
            <a:lvl1pPr algn="l" defTabSz="1007943" rtl="0" eaLnBrk="1" latinLnBrk="0" hangingPunct="1">
              <a:lnSpc>
                <a:spcPct val="100000"/>
              </a:lnSpc>
              <a:spcBef>
                <a:spcPct val="0"/>
              </a:spcBef>
              <a:buNone/>
              <a:defRPr kumimoji="1" lang="ja-JP" altLang="en-US" sz="4800" b="1" kern="1200" spc="200">
                <a:solidFill>
                  <a:schemeClr val="tx1"/>
                </a:solidFill>
                <a:latin typeface="+mj-lt"/>
                <a:ea typeface="+mj-ea"/>
                <a:cs typeface="+mn-cs"/>
              </a:defRPr>
            </a:lvl1pPr>
          </a:lstStyle>
          <a:p>
            <a:pPr>
              <a:buClrTx/>
              <a:buFontTx/>
            </a:pPr>
            <a:r>
              <a:rPr lang="en-US" altLang="ja-JP" sz="1800" dirty="0"/>
              <a:t>Information</a:t>
            </a:r>
            <a:r>
              <a:rPr lang="ja-JP" altLang="en-US" sz="1800" dirty="0"/>
              <a:t> </a:t>
            </a:r>
            <a:r>
              <a:rPr lang="en-US" altLang="ja-JP" sz="1800" dirty="0"/>
              <a:t>Memorandum</a:t>
            </a:r>
            <a:r>
              <a:rPr lang="zh-TW" altLang="en-US" dirty="0"/>
              <a:t>　</a:t>
            </a:r>
          </a:p>
        </p:txBody>
      </p:sp>
    </p:spTree>
    <p:extLst>
      <p:ext uri="{BB962C8B-B14F-4D97-AF65-F5344CB8AC3E}">
        <p14:creationId xmlns:p14="http://schemas.microsoft.com/office/powerpoint/2010/main" val="43368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t>本件のご照会先</a:t>
            </a: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3713220567"/>
              </p:ext>
            </p:extLst>
          </p:nvPr>
        </p:nvGraphicFramePr>
        <p:xfrm>
          <a:off x="449264" y="6120538"/>
          <a:ext cx="9793287"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1">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株式会社M&amp;A承継機構</a:t>
                      </a:r>
                      <a:r>
                        <a:rPr lang="en-US" altLang="ja-JP" sz="1200" b="1" u="none" strike="noStrike" cap="none" spc="30" baseline="0" dirty="0">
                          <a:latin typeface="+mj-ea"/>
                          <a:ea typeface="+mj-ea"/>
                        </a:rPr>
                        <a:t/>
                      </a:r>
                      <a:r>
                        <a:rPr lang="ja-JP" altLang="en-US" sz="1200" b="1" u="none" strike="noStrike" cap="none" spc="30" baseline="0" dirty="0">
                          <a:latin typeface="+mj-ea"/>
                          <a:ea typeface="+mj-ea"/>
                        </a:rPr>
                        <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（担当者名）</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（電話番号）</a:t>
                      </a:r>
                      <a:r>
                        <a:rPr lang="ja-JP" altLang="en-US" sz="1200" b="1" u="none" strike="noStrike" cap="none" spc="30" baseline="0" dirty="0">
                          <a:latin typeface="+mj-ea"/>
                          <a:ea typeface="+mj-ea"/>
                        </a:rPr>
                        <a:t/>
                      </a:r>
                      <a:r>
                        <a:rPr lang="en-US" sz="1200" b="1" u="none" strike="noStrike" cap="none" spc="30" baseline="0" dirty="0">
                          <a:latin typeface="+mj-ea"/>
                          <a:ea typeface="+mj-ea"/>
                        </a:rPr>
                        <a:t/>
                      </a:r>
                      <a:r>
                        <a:rPr lang="ja-JP" altLang="en-US" sz="1200" b="1" u="none" strike="noStrike" cap="none" spc="30" baseline="0" dirty="0">
                          <a:latin typeface="+mj-ea"/>
                          <a:ea typeface="+mj-ea"/>
                        </a:rPr>
                        <a:t/>
                      </a:r>
                      <a:r>
                        <a:rPr lang="en-US" sz="1200" b="1" u="none" strike="noStrike" cap="none" spc="30" baseline="0" dirty="0">
                          <a:latin typeface="+mj-ea"/>
                          <a:ea typeface="+mj-ea"/>
                        </a:rPr>
                        <a:t/>
                      </a:r>
                      <a:r>
                        <a:rPr lang="ja-JP" altLang="en-US" sz="1200" b="1" u="none" strike="noStrike" cap="none" spc="30" baseline="0" dirty="0">
                          <a:latin typeface="+mj-ea"/>
                          <a:ea typeface="+mj-ea"/>
                        </a:rPr>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（E-mailアドレス）</a:t>
                      </a:r>
                      <a:r>
                        <a:rPr lang="en-US" sz="1200" b="1" u="none" strike="noStrike" cap="none" spc="30" baseline="0" dirty="0">
                          <a:latin typeface="+mj-ea"/>
                          <a:ea typeface="+mj-ea"/>
                        </a:rPr>
                        <a:t/>
                      </a:r>
                      <a:r>
                        <a:rPr lang="ja-JP" altLang="en-US" sz="1200" b="1" u="none" strike="noStrike" cap="none" spc="30" baseline="0" dirty="0">
                          <a:latin typeface="+mj-ea"/>
                          <a:ea typeface="+mj-ea"/>
                        </a:rPr>
                        <a:t/>
                      </a:r>
                      <a:r>
                        <a:rPr lang="en-US" sz="1200" b="1" u="none" strike="noStrike" cap="none" spc="30" baseline="0" dirty="0">
                          <a:latin typeface="+mj-ea"/>
                          <a:ea typeface="+mj-ea"/>
                        </a:rPr>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p:txBody>
          <a:bodyPr>
            <a:normAutofit/>
          </a:bodyPr>
          <a:lstStyle/>
          <a:p>
            <a:r>
              <a:rPr lang="ja-JP" altLang="en-US" dirty="0"/>
              <a:t>はじめに</a:t>
            </a:r>
          </a:p>
        </p:txBody>
      </p: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重要なご留意事項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4012958"/>
          </a:xfrm>
          <a:prstGeom prst="rect">
            <a:avLst/>
          </a:prstGeom>
          <a:noFill/>
        </p:spPr>
        <p:txBody>
          <a:bodyPr wrap="square" lIns="0" tIns="0" rIns="0" bIns="0" rtlCol="0">
            <a:spAutoFit/>
          </a:bodyPr>
          <a:lstStyle>
            <a:defPPr marR="0" lvl="0" algn="l" rtl="0">
              <a:lnSpc>
                <a:spcPct val="100000"/>
              </a:lnSpc>
              <a:spcBef>
                <a:spcPts val="0"/>
              </a:spcBef>
              <a:spcAft>
                <a:spcPts val="0"/>
              </a:spcAft>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pPr>
              <a:spcAft>
                <a:spcPts val="1800"/>
              </a:spcAft>
            </a:pPr>
            <a:r>
              <a:rPr lang="ja-JP" altLang="en-US" dirty="0">
                <a:ea typeface="+mn-ea"/>
              </a:rPr>
              <a:t>当該企業概要書（以下、「本概要書」といいます）は、株式会社</a:t>
            </a:r>
            <a:r>
              <a:rPr lang="en-US" altLang="ja-JP" dirty="0">
                <a:ea typeface="+mn-ea"/>
              </a:rPr>
              <a:t>M&amp;A</a:t>
            </a:r>
            <a:r>
              <a:rPr lang="ja-JP" altLang="en-US" dirty="0">
                <a:ea typeface="+mn-ea"/>
              </a:rPr>
              <a:t>承継機構（以下「弊社」といいます）が、対象会社の発行済株式の取得もしくは事業その他資産の譲受（以下「本取引」といいます）に関する仲介者として、対象会社から提供された情報に基づき、対象会社に関する情報を貴社に提供するために作成したものです。</a:t>
            </a:r>
          </a:p>
          <a:p>
            <a:pPr>
              <a:spcAft>
                <a:spcPts val="1800"/>
              </a:spcAft>
            </a:pPr>
            <a:r>
              <a:rPr lang="ja-JP" altLang="en-US" dirty="0">
                <a:ea typeface="+mn-ea"/>
              </a:rPr>
              <a:t>本概要書の存在及び記載されている情報並びに本概要書に関する全ての連絡・協議は貴社と弊社間で締結している秘密保持契約書（以下「秘密保持契約書」といいます）に定めのある秘密情報に該当致します。</a:t>
            </a:r>
          </a:p>
          <a:p>
            <a:pPr>
              <a:spcAft>
                <a:spcPts val="1800"/>
              </a:spcAft>
            </a:pPr>
            <a:r>
              <a:rPr lang="ja-JP" altLang="en-US" dirty="0">
                <a:ea typeface="+mn-ea"/>
              </a:rPr>
              <a:t>本概要書は、貴社が本取引を行うことを検討するための情報を提供することのみを目的として作成されておりますが、貴社が必要と考える全ての情報を網羅しているとは限りません。また、対象会社並びに弊社取締役、執行役員、監査役及び従業員（以下総称して「情報提供者」といいます）は、本概要書に記載されているいかなる情報及び意見に関しても、明示、黙示にかかわらず、その正確性及び完全性について表明または保証するものではありません。</a:t>
            </a:r>
          </a:p>
          <a:p>
            <a:pPr>
              <a:spcAft>
                <a:spcPts val="1800"/>
              </a:spcAft>
            </a:pPr>
            <a:r>
              <a:rPr lang="ja-JP" altLang="en-US" dirty="0">
                <a:ea typeface="+mn-ea"/>
              </a:rPr>
              <a:t>本概要書は必ずしも対象会社の現況をあらわしているものではなく、本概要書に記載されている日付または本概要書に記載されている情報の日付から、対象会社の状態が変化していないことを表明するものではありません。</a:t>
            </a:r>
          </a:p>
          <a:p>
            <a:pPr>
              <a:spcAft>
                <a:spcPts val="1800"/>
              </a:spcAft>
            </a:pPr>
            <a:r>
              <a:rPr lang="ja-JP" altLang="en-US" dirty="0">
                <a:ea typeface="+mn-ea"/>
              </a:rPr>
              <a:t>いかなる場合でも、本取引に関して、対象会社の役職員（元役職員を含む）及び取引先に対して、貴社及び貴社のアドバイザー等本取引に関与する者が直接、間接を問わずコンタクトをとることを禁止させていただくと共に、全てのご連絡は必ず弊社を介していただきますようお願い申し上げます。</a:t>
            </a:r>
          </a:p>
        </p:txBody>
      </p: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
          <p:cNvSpPr txBox="1"/>
          <p:nvPr/>
        </p:nvSpPr>
        <p:spPr>
          <a:xfrm>
            <a:off x="6191813" y="2339371"/>
            <a:ext cx="4500000" cy="3570208"/>
          </a:xfrm>
          <a:prstGeom prst="rect">
            <a:avLst/>
          </a:prstGeom>
          <a:noFill/>
          <a:ln>
            <a:noFill/>
          </a:ln>
        </p:spPr>
        <p:txBody>
          <a:bodyPr spcFirstLastPara="1" wrap="square" lIns="0" tIns="0" rIns="0" bIns="0" anchor="t" anchorCtr="0">
            <a:spAutoFit/>
          </a:bodyPr>
          <a:lstStyle/>
          <a:p>
            <a:pPr>
              <a:lnSpc>
                <a:spcPct val="110000"/>
              </a:lnSpc>
              <a:spcAft>
                <a:spcPts val="2400"/>
              </a:spcAft>
              <a:buClr>
                <a:schemeClr val="dk1"/>
              </a:buClr>
              <a:buSzPts val="1400"/>
            </a:pPr>
            <a:r>
              <a:rPr lang="ja-JP" altLang="en-US" sz="2400" b="1" spc="70" dirty="0">
                <a:latin typeface="+mj-lt"/>
                <a:ea typeface="+mj-ea"/>
              </a:rPr>
              <a:t>エグゼクティブサマリー</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事業概要</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組織、拠点、設備等</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財務情報</a:t>
            </a:r>
            <a:endParaRPr lang="en-US" altLang="ja-JP" sz="2400" b="1" spc="70" dirty="0">
              <a:latin typeface="+mj-lt"/>
              <a:ea typeface="+mj-ea"/>
            </a:endParaRPr>
          </a:p>
          <a:p>
            <a:pPr>
              <a:lnSpc>
                <a:spcPct val="110000"/>
              </a:lnSpc>
              <a:spcAft>
                <a:spcPts val="2400"/>
              </a:spcAft>
              <a:buClr>
                <a:schemeClr val="dk1"/>
              </a:buClr>
              <a:buSzPts val="1400"/>
            </a:pPr>
            <a:r>
              <a:rPr lang="en-US" altLang="ja-JP" sz="2400" b="1" spc="70" dirty="0">
                <a:latin typeface="+mj-lt"/>
                <a:ea typeface="+mj-ea"/>
              </a:rPr>
              <a:t>Appendix</a:t>
            </a:r>
          </a:p>
        </p:txBody>
      </p:sp>
      <p:sp>
        <p:nvSpPr>
          <p:cNvPr id="6" name="正方形/長方形 5">
            <a:extLst>
              <a:ext uri="{FF2B5EF4-FFF2-40B4-BE49-F238E27FC236}">
                <a16:creationId xmlns:a16="http://schemas.microsoft.com/office/drawing/2014/main" id="{7237316E-451C-1CCC-A702-B2048F3BE5F0}"/>
              </a:ext>
            </a:extLst>
          </p:cNvPr>
          <p:cNvSpPr/>
          <p:nvPr/>
        </p:nvSpPr>
        <p:spPr>
          <a:xfrm>
            <a:off x="5624542" y="23535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1</a:t>
            </a:r>
            <a:endParaRPr kumimoji="1" lang="ja-JP" altLang="en-US" b="1" dirty="0">
              <a:latin typeface="+mj-lt"/>
            </a:endParaRPr>
          </a:p>
        </p:txBody>
      </p:sp>
      <p:sp>
        <p:nvSpPr>
          <p:cNvPr id="9" name="正方形/長方形 8">
            <a:extLst>
              <a:ext uri="{FF2B5EF4-FFF2-40B4-BE49-F238E27FC236}">
                <a16:creationId xmlns:a16="http://schemas.microsoft.com/office/drawing/2014/main" id="{DDB8E843-D87E-F66B-3884-439FB909A0A7}"/>
              </a:ext>
            </a:extLst>
          </p:cNvPr>
          <p:cNvSpPr/>
          <p:nvPr/>
        </p:nvSpPr>
        <p:spPr>
          <a:xfrm>
            <a:off x="5624542" y="306063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2</a:t>
            </a:r>
            <a:endParaRPr kumimoji="1" lang="ja-JP" altLang="en-US" b="1" dirty="0">
              <a:latin typeface="+mj-lt"/>
            </a:endParaRPr>
          </a:p>
        </p:txBody>
      </p:sp>
      <p:sp>
        <p:nvSpPr>
          <p:cNvPr id="10" name="正方形/長方形 9">
            <a:extLst>
              <a:ext uri="{FF2B5EF4-FFF2-40B4-BE49-F238E27FC236}">
                <a16:creationId xmlns:a16="http://schemas.microsoft.com/office/drawing/2014/main" id="{FF90FB9F-20F8-D38F-B8AF-4A631E224A11}"/>
              </a:ext>
            </a:extLst>
          </p:cNvPr>
          <p:cNvSpPr/>
          <p:nvPr/>
        </p:nvSpPr>
        <p:spPr>
          <a:xfrm>
            <a:off x="5624542" y="376770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3</a:t>
            </a:r>
            <a:endParaRPr kumimoji="1" lang="ja-JP" altLang="en-US" b="1" dirty="0">
              <a:latin typeface="+mj-lt"/>
            </a:endParaRPr>
          </a:p>
        </p:txBody>
      </p:sp>
      <p:sp>
        <p:nvSpPr>
          <p:cNvPr id="11" name="正方形/長方形 10">
            <a:extLst>
              <a:ext uri="{FF2B5EF4-FFF2-40B4-BE49-F238E27FC236}">
                <a16:creationId xmlns:a16="http://schemas.microsoft.com/office/drawing/2014/main" id="{A76F0F70-F53A-8481-50DF-B7EEDD0BEE06}"/>
              </a:ext>
            </a:extLst>
          </p:cNvPr>
          <p:cNvSpPr/>
          <p:nvPr/>
        </p:nvSpPr>
        <p:spPr>
          <a:xfrm>
            <a:off x="5624542" y="447478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4</a:t>
            </a:r>
            <a:endParaRPr kumimoji="1" lang="ja-JP" altLang="en-US" b="1" dirty="0">
              <a:latin typeface="+mj-lt"/>
            </a:endParaRPr>
          </a:p>
        </p:txBody>
      </p:sp>
      <p:sp>
        <p:nvSpPr>
          <p:cNvPr id="3" name="正方形/長方形 2">
            <a:extLst>
              <a:ext uri="{FF2B5EF4-FFF2-40B4-BE49-F238E27FC236}">
                <a16:creationId xmlns:a16="http://schemas.microsoft.com/office/drawing/2014/main" id="{DE430CD6-B78A-5CFE-3B87-B7F6C2A9CBEA}"/>
              </a:ext>
            </a:extLst>
          </p:cNvPr>
          <p:cNvSpPr/>
          <p:nvPr/>
        </p:nvSpPr>
        <p:spPr>
          <a:xfrm>
            <a:off x="5624542" y="51818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5</a:t>
            </a:r>
            <a:endParaRPr kumimoji="1" lang="ja-JP" altLang="en-US" b="1"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エグゼクティブサマリー</a:t>
            </a:r>
            <a:endParaRPr lang="en-US" altLang="ja-JP" dirty="0"/>
          </a:p>
        </p:txBody>
      </p:sp>
    </p:spTree>
    <p:extLst>
      <p:ext uri="{BB962C8B-B14F-4D97-AF65-F5344CB8AC3E}">
        <p14:creationId xmlns:p14="http://schemas.microsoft.com/office/powerpoint/2010/main" val="54040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字幕 13">
            <a:extLst>
              <a:ext uri="{FF2B5EF4-FFF2-40B4-BE49-F238E27FC236}">
                <a16:creationId xmlns:a16="http://schemas.microsoft.com/office/drawing/2014/main" id="{79A14348-475C-CD64-9408-407529B44C13}"/>
              </a:ext>
            </a:extLst>
          </p:cNvPr>
          <p:cNvSpPr>
            <a:spLocks noGrp="1"/>
          </p:cNvSpPr>
          <p:nvPr>
            <p:ph type="subTitle" idx="1"/>
          </p:nvPr>
        </p:nvSpPr>
        <p:spPr>
          <a:xfrm>
            <a:off x="460675" y="830046"/>
            <a:ext cx="9781875" cy="241861"/>
          </a:xfrm>
        </p:spPr>
        <p:txBody>
          <a:bodyPr>
            <a:noAutofit/>
          </a:bodyPr>
          <a:lstStyle/>
          <a:p>
            <a:r>
              <a:rPr lang="ja-JP" altLang="en-US" dirty="0">
                <a:latin typeface="+mj-ea"/>
              </a:rPr>
              <a:t>鶴岡市で1973年から青果物の卸売を営み、自ら地方卸売市場を運営。年商約12億円を3期安定して維持し、市場用地・施設を自社で保有</a:t>
            </a:r>
            <a:endParaRPr lang="en-US" altLang="ja-JP" dirty="0"/>
          </a:p>
        </p:txBody>
      </p:sp>
      <p:sp>
        <p:nvSpPr>
          <p:cNvPr id="13" name="タイトル 12">
            <a:extLst>
              <a:ext uri="{FF2B5EF4-FFF2-40B4-BE49-F238E27FC236}">
                <a16:creationId xmlns:a16="http://schemas.microsoft.com/office/drawing/2014/main" id="{85E2D3B1-D668-47BF-7D76-2F8709456651}"/>
              </a:ext>
            </a:extLst>
          </p:cNvPr>
          <p:cNvSpPr>
            <a:spLocks noGrp="1"/>
          </p:cNvSpPr>
          <p:nvPr>
            <p:ph type="ctrTitle"/>
          </p:nvPr>
        </p:nvSpPr>
        <p:spPr>
          <a:xfrm>
            <a:off x="311150" y="180296"/>
            <a:ext cx="7799917" cy="339267"/>
          </a:xfrm>
        </p:spPr>
        <p:txBody>
          <a:bodyPr>
            <a:normAutofit/>
          </a:bodyPr>
          <a:lstStyle/>
          <a:p>
            <a:r>
              <a:rPr lang="ja-JP" altLang="en-US" dirty="0"/>
              <a:t>基本情報</a:t>
            </a:r>
          </a:p>
        </p:txBody>
      </p:sp>
      <p:sp>
        <p:nvSpPr>
          <p:cNvPr id="5" name="タイトル 1">
            <a:extLst>
              <a:ext uri="{FF2B5EF4-FFF2-40B4-BE49-F238E27FC236}">
                <a16:creationId xmlns:a16="http://schemas.microsoft.com/office/drawing/2014/main" id="{4F103961-B26C-39D9-FB80-02B45E98D11A}"/>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エグゼクティブサマリー</a:t>
            </a:r>
          </a:p>
        </p:txBody>
      </p:sp>
      <p:sp>
        <p:nvSpPr>
          <p:cNvPr id="2" name="正方形/長方形 1">
            <a:extLst>
              <a:ext uri="{FF2B5EF4-FFF2-40B4-BE49-F238E27FC236}">
                <a16:creationId xmlns:a16="http://schemas.microsoft.com/office/drawing/2014/main" id="{A0EF9F9A-5414-64EC-48C3-D1A342DF89A8}"/>
              </a:ext>
            </a:extLst>
          </p:cNvPr>
          <p:cNvSpPr/>
          <p:nvPr/>
        </p:nvSpPr>
        <p:spPr>
          <a:xfrm>
            <a:off x="311150" y="1517736"/>
            <a:ext cx="5857066"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会社概要</a:t>
            </a:r>
          </a:p>
        </p:txBody>
      </p:sp>
      <p:graphicFrame>
        <p:nvGraphicFramePr>
          <p:cNvPr id="15" name="Table 14"/>
          <p:cNvGraphicFramePr>
            <a:graphicFrameLocks noGrp="1"/>
          </p:cNvGraphicFramePr>
          <p:nvPr/>
        </p:nvGraphicFramePr>
        <p:xfrm>
          <a:off x="310896" y="1874519"/>
          <a:ext cx="5861304" cy="4736592"/>
        </p:xfrm>
        <a:graphic>
          <a:graphicData uri="http://schemas.openxmlformats.org/drawingml/2006/table">
            <a:tbl>
              <a:tblPr firstRow="0" bandRow="0">
                <a:tableStyleId>{5940675A-B579-460E-94D1-54222C63F5DA}</a:tableStyleId>
              </a:tblPr>
              <a:tblGrid>
                <a:gridCol w="1234440"/>
                <a:gridCol w="4626864"/>
              </a:tblGrid>
              <a:tr h="338328">
                <a:tc>
                  <a:txBody>
                    <a:bodyPr wrap="square"/>
                    <a:lstStyle/>
                    <a:p>
                      <a:pPr algn="ctr"/>
                      <a:r>
                        <a:rPr sz="850" b="1">
                          <a:solidFill>
                            <a:srgbClr val="FFFFFF"/>
                          </a:solidFill>
                          <a:latin typeface="游ゴシック"/>
                          <a:ea typeface="游ゴシック"/>
                        </a:rPr>
                        <a:t>項目</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内容</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会社名</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株式会社鶴岡中央青果（http://www.turu-chu.co.jp/）</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本社所在地</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山形県鶴岡市宝田一丁目4番20号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その他拠点</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パッケージ場・倉庫（鶴岡市宝田一丁目5-1）、倉庫敷地（庄内町長沼）</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設立</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1973年（昭和48年）11月22日</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資本金</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40,000千円</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代表者</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岡部 寛（代表取締役）</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株主</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岡部家4名で75.8%（代表者37.8%）、親族外4名で24.3%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事業内容</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青果物の地方卸売市場の開設・運営および卸売、パッケージ（小分け・包装）、資材・肥料販売</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従業員数</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24名（2026年9月1日現在。役員除く）</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許認可等</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地方卸売市場（卸売市場法）の認定状況は要確認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売上高</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1,195,893千円（2026年3月期）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調整後EBITDA</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14,549千円（過去3期平均）</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38328">
                <a:tc>
                  <a:txBody>
                    <a:bodyPr wrap="square"/>
                    <a:lstStyle/>
                    <a:p>
                      <a:pPr algn="l"/>
                      <a:r>
                        <a:rPr sz="850" b="0">
                          <a:solidFill>
                            <a:srgbClr val="1A1A1A"/>
                          </a:solidFill>
                          <a:latin typeface="游ゴシック"/>
                          <a:ea typeface="游ゴシック"/>
                        </a:rPr>
                        <a:t>譲渡理由</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要確認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6" name="Rectangle 15"/>
          <p:cNvSpPr/>
          <p:nvPr/>
        </p:nvSpPr>
        <p:spPr>
          <a:xfrm>
            <a:off x="6355080" y="1517904"/>
            <a:ext cx="402336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100" b="1">
                <a:solidFill>
                  <a:srgbClr val="FFFFFF"/>
                </a:solidFill>
                <a:latin typeface="游ゴシック"/>
                <a:ea typeface="游ゴシック"/>
              </a:rPr>
              <a:t>本件のポイント</a:t>
            </a:r>
          </a:p>
        </p:txBody>
      </p:sp>
      <p:sp>
        <p:nvSpPr>
          <p:cNvPr id="17" name="Rectangle 16"/>
          <p:cNvSpPr/>
          <p:nvPr/>
        </p:nvSpPr>
        <p:spPr>
          <a:xfrm>
            <a:off x="6355080" y="1938528"/>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889C9"/>
                </a:solidFill>
                <a:latin typeface="游ゴシック"/>
                <a:ea typeface="游ゴシック"/>
              </a:rPr>
              <a:t>地域の青果流通インフラ</a:t>
            </a:r>
          </a:p>
          <a:p>
            <a:pPr algn="l"/>
            <a:r>
              <a:rPr sz="900" b="0">
                <a:solidFill>
                  <a:srgbClr val="1A1A1A"/>
                </a:solidFill>
                <a:latin typeface="游ゴシック"/>
                <a:ea typeface="游ゴシック"/>
              </a:rPr>
              <a:t>開設者兼卸売業者として鶴岡市宝田で青果市場を運営。セリ人資格者3名が在籍</a:t>
            </a:r>
          </a:p>
        </p:txBody>
      </p:sp>
      <p:sp>
        <p:nvSpPr>
          <p:cNvPr id="18" name="Rectangle 17"/>
          <p:cNvSpPr/>
          <p:nvPr/>
        </p:nvSpPr>
        <p:spPr>
          <a:xfrm>
            <a:off x="6355080" y="2889504"/>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889C9"/>
                </a:solidFill>
                <a:latin typeface="游ゴシック"/>
                <a:ea typeface="游ゴシック"/>
              </a:rPr>
              <a:t>安定した売上規模</a:t>
            </a:r>
          </a:p>
          <a:p>
            <a:pPr algn="l"/>
            <a:r>
              <a:rPr sz="900" b="0">
                <a:solidFill>
                  <a:srgbClr val="1A1A1A"/>
                </a:solidFill>
                <a:latin typeface="游ゴシック"/>
                <a:ea typeface="游ゴシック"/>
              </a:rPr>
              <a:t>売上高は1,178→1,182→1,196百万円。量販店・生協・学校給食・近隣市場へ分散販売</a:t>
            </a:r>
          </a:p>
        </p:txBody>
      </p:sp>
      <p:sp>
        <p:nvSpPr>
          <p:cNvPr id="19" name="Rectangle 18"/>
          <p:cNvSpPr/>
          <p:nvPr/>
        </p:nvSpPr>
        <p:spPr>
          <a:xfrm>
            <a:off x="6355080" y="3840480"/>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889C9"/>
                </a:solidFill>
                <a:latin typeface="游ゴシック"/>
                <a:ea typeface="游ゴシック"/>
              </a:rPr>
              <a:t>事業用不動産を自社保有</a:t>
            </a:r>
          </a:p>
          <a:p>
            <a:pPr algn="l"/>
            <a:r>
              <a:rPr sz="900" b="0">
                <a:solidFill>
                  <a:srgbClr val="1A1A1A"/>
                </a:solidFill>
                <a:latin typeface="游ゴシック"/>
                <a:ea typeface="游ゴシック"/>
              </a:rPr>
              <a:t>本社市場・パッケージ場等の土地4,263㎡、建物延床2,013㎡を保有（賃借なし）</a:t>
            </a:r>
          </a:p>
        </p:txBody>
      </p:sp>
      <p:sp>
        <p:nvSpPr>
          <p:cNvPr id="20" name="Rectangle 19"/>
          <p:cNvSpPr/>
          <p:nvPr/>
        </p:nvSpPr>
        <p:spPr>
          <a:xfrm>
            <a:off x="6355080" y="4791456"/>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889C9"/>
                </a:solidFill>
                <a:latin typeface="游ゴシック"/>
                <a:ea typeface="游ゴシック"/>
              </a:rPr>
              <a:t>付加価値機能</a:t>
            </a:r>
          </a:p>
          <a:p>
            <a:pPr algn="l"/>
            <a:r>
              <a:rPr sz="900" b="0">
                <a:solidFill>
                  <a:srgbClr val="1A1A1A"/>
                </a:solidFill>
                <a:latin typeface="游ゴシック"/>
                <a:ea typeface="游ゴシック"/>
              </a:rPr>
              <a:t>パッケージ部による小分け・包装、集配、資材・肥料販売を併営</a:t>
            </a:r>
          </a:p>
        </p:txBody>
      </p:sp>
      <p:sp>
        <p:nvSpPr>
          <p:cNvPr id="21" name="Rectangle 20"/>
          <p:cNvSpPr/>
          <p:nvPr/>
        </p:nvSpPr>
        <p:spPr>
          <a:xfrm>
            <a:off x="6355080" y="5742432"/>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889C9"/>
                </a:solidFill>
                <a:latin typeface="游ゴシック"/>
                <a:ea typeface="游ゴシック"/>
              </a:rPr>
              <a:t>論点（要確認）</a:t>
            </a:r>
          </a:p>
          <a:p>
            <a:pPr algn="l"/>
            <a:r>
              <a:rPr sz="900" b="0">
                <a:solidFill>
                  <a:srgbClr val="1A1A1A"/>
                </a:solidFill>
                <a:latin typeface="游ゴシック"/>
                <a:ea typeface="游ゴシック"/>
              </a:rPr>
              <a:t>粗利率の低下（18.6%→16.6%）、借入金361百万円、主要施設は1981〜82年築</a:t>
            </a:r>
          </a:p>
        </p:txBody>
      </p:sp>
      <p:sp>
        <p:nvSpPr>
          <p:cNvPr id="22" name="TextBox 21"/>
          <p:cNvSpPr txBox="1"/>
          <p:nvPr/>
        </p:nvSpPr>
        <p:spPr>
          <a:xfrm>
            <a:off x="310896" y="6629400"/>
            <a:ext cx="5943600" cy="320040"/>
          </a:xfrm>
          <a:prstGeom prst="rect">
            <a:avLst/>
          </a:prstGeom>
          <a:noFill/>
        </p:spPr>
        <p:txBody>
          <a:bodyPr wrap="square" lIns="0" rIns="0" tIns="0" bIns="0" anchor="t">
            <a:spAutoFit/>
          </a:bodyPr>
          <a:lstStyle/>
          <a:p>
            <a:pPr algn="l"/>
            <a:r>
              <a:rPr sz="750" b="0">
                <a:solidFill>
                  <a:srgbClr val="5A6670"/>
                </a:solidFill>
                <a:latin typeface="游ゴシック"/>
                <a:ea typeface="游ゴシック"/>
              </a:rPr>
              <a:t>※社屋・市場の写真、ロゴは売主様より受領後に掲載予定。</a:t>
            </a:r>
          </a:p>
        </p:txBody>
      </p:sp>
    </p:spTree>
    <p:extLst>
      <p:ext uri="{BB962C8B-B14F-4D97-AF65-F5344CB8AC3E}">
        <p14:creationId xmlns:p14="http://schemas.microsoft.com/office/powerpoint/2010/main" val="28193464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EF9F-B9BD-9E7E-BA2C-5A4B51173A7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80A147-C248-92F8-8F3F-25BD76E0BC3B}"/>
              </a:ext>
            </a:extLst>
          </p:cNvPr>
          <p:cNvSpPr>
            <a:spLocks noGrp="1"/>
          </p:cNvSpPr>
          <p:nvPr>
            <p:ph type="ctrTitle"/>
          </p:nvPr>
        </p:nvSpPr>
        <p:spPr>
          <a:xfrm>
            <a:off x="311150" y="180296"/>
            <a:ext cx="7799917" cy="339267"/>
          </a:xfrm>
        </p:spPr>
        <p:txBody>
          <a:bodyPr>
            <a:normAutofit/>
          </a:bodyPr>
          <a:lstStyle/>
          <a:p>
            <a:r>
              <a:rPr lang="ja-JP" altLang="en-US" dirty="0"/>
              <a:t>財務ハイライト（P/L）</a:t>
            </a:r>
          </a:p>
        </p:txBody>
      </p:sp>
      <p:sp>
        <p:nvSpPr>
          <p:cNvPr id="5" name="タイトル 1">
            <a:extLst>
              <a:ext uri="{FF2B5EF4-FFF2-40B4-BE49-F238E27FC236}">
                <a16:creationId xmlns:a16="http://schemas.microsoft.com/office/drawing/2014/main" id="{BE8912DE-7392-DA52-DCED-61F45ED11AC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エグゼクティブサマリー</a:t>
            </a:r>
          </a:p>
        </p:txBody>
      </p:sp>
      <p:sp>
        <p:nvSpPr>
          <p:cNvPr id="16" name="字幕 13">
            <a:extLst>
              <a:ext uri="{FF2B5EF4-FFF2-40B4-BE49-F238E27FC236}">
                <a16:creationId xmlns:a16="http://schemas.microsoft.com/office/drawing/2014/main" id="{7A1881B5-EF3F-935A-CE45-EAB497D19AED}"/>
              </a:ext>
            </a:extLst>
          </p:cNvPr>
          <p:cNvSpPr>
            <a:spLocks noGrp="1"/>
          </p:cNvSpPr>
          <p:nvPr>
            <p:ph type="subTitle" idx="1"/>
          </p:nvPr>
        </p:nvSpPr>
        <p:spPr>
          <a:xfrm>
            <a:off x="460675" y="830046"/>
            <a:ext cx="9781875" cy="241861"/>
          </a:xfrm>
        </p:spPr>
        <p:txBody>
          <a:bodyPr>
            <a:noAutofit/>
          </a:bodyPr>
          <a:lstStyle/>
          <a:p>
            <a:r>
              <a:rPr lang="ja-JP" altLang="en-US" dirty="0">
                <a:latin typeface="+mj-ea"/>
              </a:rPr>
              <a:t>売上高は約12億円で安定。粗利率の低下を役員報酬・賞与・償却費の減少で補い、2026/3期は営業黒字へ回復。調整後EBITDAは3期平均14,549千円</a:t>
            </a:r>
            <a:endParaRPr lang="en-US" altLang="ja-JP" dirty="0">
              <a:latin typeface="+mj-ea"/>
            </a:endParaRPr>
          </a:p>
        </p:txBody>
      </p:sp>
      <p:sp>
        <p:nvSpPr>
          <p:cNvPr id="2" name="正方形/長方形 1">
            <a:extLst>
              <a:ext uri="{FF2B5EF4-FFF2-40B4-BE49-F238E27FC236}">
                <a16:creationId xmlns:a16="http://schemas.microsoft.com/office/drawing/2014/main" id="{22D7A017-71F2-4035-677D-AF49C1C280D6}"/>
              </a:ext>
            </a:extLst>
          </p:cNvPr>
          <p:cNvSpPr/>
          <p:nvPr/>
        </p:nvSpPr>
        <p:spPr>
          <a:xfrm>
            <a:off x="6455664" y="4604592"/>
            <a:ext cx="3924999" cy="2539157"/>
          </a:xfrm>
          <a:prstGeom prst="rect">
            <a:avLst/>
          </a:prstGeom>
          <a:solidFill>
            <a:schemeClr val="accent2"/>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endParaRPr kumimoji="1" lang="en-US" altLang="ja-JP" sz="1200" b="1" dirty="0">
              <a:solidFill>
                <a:schemeClr val="tx1"/>
              </a:solidFill>
              <a:latin typeface="+mn-ea"/>
            </a:endParaRPr>
          </a:p>
        </p:txBody>
      </p:sp>
      <p:sp>
        <p:nvSpPr>
          <p:cNvPr id="8" name="正方形/長方形 7">
            <a:extLst>
              <a:ext uri="{FF2B5EF4-FFF2-40B4-BE49-F238E27FC236}">
                <a16:creationId xmlns:a16="http://schemas.microsoft.com/office/drawing/2014/main" id="{CBD334A9-999C-ACD4-9DD2-EF961CBA0926}"/>
              </a:ext>
            </a:extLst>
          </p:cNvPr>
          <p:cNvSpPr/>
          <p:nvPr/>
        </p:nvSpPr>
        <p:spPr>
          <a:xfrm>
            <a:off x="6455664" y="1382390"/>
            <a:ext cx="3924999" cy="3106739"/>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17" name="Table 16"/>
          <p:cNvGraphicFramePr>
            <a:graphicFrameLocks noGrp="1"/>
          </p:cNvGraphicFramePr>
          <p:nvPr/>
        </p:nvGraphicFramePr>
        <p:xfrm>
          <a:off x="310896" y="1408176"/>
          <a:ext cx="6044182" cy="3223260"/>
        </p:xfrm>
        <a:graphic>
          <a:graphicData uri="http://schemas.openxmlformats.org/drawingml/2006/table">
            <a:tbl>
              <a:tblPr firstRow="0" bandRow="0">
                <a:tableStyleId>{5940675A-B579-460E-94D1-54222C63F5DA}</a:tableStyleId>
              </a:tblPr>
              <a:tblGrid>
                <a:gridCol w="2110667"/>
                <a:gridCol w="959394"/>
                <a:gridCol w="959394"/>
                <a:gridCol w="959394"/>
                <a:gridCol w="1055333"/>
              </a:tblGrid>
              <a:tr h="214884">
                <a:tc>
                  <a:txBody>
                    <a:bodyPr wrap="square"/>
                    <a:lstStyle/>
                    <a:p>
                      <a:pPr algn="ctr"/>
                      <a:r>
                        <a:rPr sz="850" b="1">
                          <a:solidFill>
                            <a:srgbClr val="FFFFFF"/>
                          </a:solidFill>
                          <a:latin typeface="游ゴシック"/>
                          <a:ea typeface="游ゴシック"/>
                        </a:rPr>
                        <a:t>（単位：千円）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Arial"/>
                          <a:ea typeface="游ゴシック"/>
                        </a:rPr>
                        <a:t>2024/3期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Arial"/>
                          <a:ea typeface="游ゴシック"/>
                        </a:rPr>
                        <a:t>2025/3期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Arial"/>
                          <a:ea typeface="游ゴシック"/>
                        </a:rPr>
                        <a:t>2026/3期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Arial"/>
                          <a:ea typeface="游ゴシック"/>
                        </a:rPr>
                        <a:t>2026/4-7月</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1">
                          <a:solidFill>
                            <a:srgbClr val="1A1A1A"/>
                          </a:solidFill>
                          <a:latin typeface="游ゴシック"/>
                          <a:ea typeface="游ゴシック"/>
                        </a:rPr>
                        <a:t>売上高</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1,178,489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1,181,947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1,195,893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411,155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売上総利益</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219,580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211,296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199,011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61,214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　売上総利益率</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18.6%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17.9%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16.6%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14.9%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販売費及び一般管理費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214,823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215,718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193,151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55,897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1">
                          <a:solidFill>
                            <a:srgbClr val="1A1A1A"/>
                          </a:solidFill>
                          <a:latin typeface="游ゴシック"/>
                          <a:ea typeface="游ゴシック"/>
                        </a:rPr>
                        <a:t>営業利益</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4,757</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△4,423</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5,860</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5,317</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減価償却費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13,664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12,558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8,879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2,436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EBITDA</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18,420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8,135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14,739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7,753</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　①役員報酬の正常化</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3,082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3,082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△4,094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　②賞与の正常化</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△6,724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　③受取奨励金（純額）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2,179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2,315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2,418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　④寄付金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71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1">
                          <a:solidFill>
                            <a:srgbClr val="1A1A1A"/>
                          </a:solidFill>
                          <a:latin typeface="游ゴシック"/>
                          <a:ea typeface="游ゴシック"/>
                        </a:rPr>
                        <a:t>調整後EBITDA</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23,694</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13,602</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6,350</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経常利益</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11,317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2,181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8,068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5,885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14884">
                <a:tc>
                  <a:txBody>
                    <a:bodyPr wrap="square"/>
                    <a:lstStyle/>
                    <a:p>
                      <a:pPr algn="l"/>
                      <a:r>
                        <a:rPr sz="850" b="0">
                          <a:solidFill>
                            <a:srgbClr val="1A1A1A"/>
                          </a:solidFill>
                          <a:latin typeface="游ゴシック"/>
                          <a:ea typeface="游ゴシック"/>
                        </a:rPr>
                        <a:t>当期純利益</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9,107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2,929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△15,085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graphicFrame>
        <p:nvGraphicFramePr>
          <p:cNvPr id="18" name="Chart 17"/>
          <p:cNvGraphicFramePr>
            <a:graphicFrameLocks noGrp="1"/>
          </p:cNvGraphicFramePr>
          <p:nvPr/>
        </p:nvGraphicFramePr>
        <p:xfrm>
          <a:off x="310896" y="4754880"/>
          <a:ext cx="6044184" cy="2194560"/>
        </p:xfrm>
        <a:graphic>
          <a:graphicData uri="http://schemas.openxmlformats.org/drawingml/2006/chart">
            <c:chart xmlns:c="http://schemas.openxmlformats.org/drawingml/2006/chart" r:id="rId4"/>
          </a:graphicData>
        </a:graphic>
      </p:graphicFrame>
      <p:sp>
        <p:nvSpPr>
          <p:cNvPr id="19" name="TextBox 18"/>
          <p:cNvSpPr txBox="1"/>
          <p:nvPr/>
        </p:nvSpPr>
        <p:spPr>
          <a:xfrm>
            <a:off x="6492240" y="1783080"/>
            <a:ext cx="3840480" cy="2651760"/>
          </a:xfrm>
          <a:prstGeom prst="rect">
            <a:avLst/>
          </a:prstGeom>
          <a:noFill/>
        </p:spPr>
        <p:txBody>
          <a:bodyPr wrap="square" lIns="0" rIns="0" tIns="0" bIns="0" anchor="t">
            <a:spAutoFit/>
          </a:bodyPr>
          <a:lstStyle/>
          <a:p>
            <a:pPr algn="l">
              <a:spcAft>
                <a:spcPts val="100"/>
              </a:spcAft>
            </a:pPr>
            <a:r>
              <a:rPr sz="800" b="1">
                <a:solidFill>
                  <a:srgbClr val="0889C9"/>
                </a:solidFill>
                <a:latin typeface="游ゴシック"/>
                <a:ea typeface="游ゴシック"/>
              </a:rPr>
              <a:t>≪売上高≫</a:t>
            </a:r>
          </a:p>
          <a:p>
            <a:pPr algn="l">
              <a:spcAft>
                <a:spcPts val="100"/>
              </a:spcAft>
            </a:pPr>
            <a:r>
              <a:rPr sz="800" b="0">
                <a:solidFill>
                  <a:srgbClr val="1A1A1A"/>
                </a:solidFill>
                <a:latin typeface="游ゴシック"/>
                <a:ea typeface="游ゴシック"/>
              </a:rPr>
              <a:t>1,178.5→1,181.9→1,195.9百万円（2期で+1.5%）。7・8月がピーク（7月146百万円）。</a:t>
            </a:r>
          </a:p>
          <a:p>
            <a:pPr algn="l">
              <a:spcAft>
                <a:spcPts val="100"/>
              </a:spcAft>
            </a:pPr>
            <a:r>
              <a:rPr sz="800" b="1">
                <a:solidFill>
                  <a:srgbClr val="0889C9"/>
                </a:solidFill>
                <a:latin typeface="游ゴシック"/>
                <a:ea typeface="游ゴシック"/>
              </a:rPr>
              <a:t>≪原価≫</a:t>
            </a:r>
          </a:p>
          <a:p>
            <a:pPr algn="l">
              <a:spcAft>
                <a:spcPts val="100"/>
              </a:spcAft>
            </a:pPr>
            <a:r>
              <a:rPr sz="800" b="0">
                <a:solidFill>
                  <a:srgbClr val="1A1A1A"/>
                </a:solidFill>
                <a:latin typeface="游ゴシック"/>
                <a:ea typeface="游ゴシック"/>
              </a:rPr>
              <a:t>粗利率は18.6%→16.6%へ低下。2期で仕入高+4.5%が売上の伸びを上回った。要因は要確認。</a:t>
            </a:r>
          </a:p>
          <a:p>
            <a:pPr algn="l">
              <a:spcAft>
                <a:spcPts val="100"/>
              </a:spcAft>
            </a:pPr>
            <a:r>
              <a:rPr sz="800" b="1">
                <a:solidFill>
                  <a:srgbClr val="0889C9"/>
                </a:solidFill>
                <a:latin typeface="游ゴシック"/>
                <a:ea typeface="游ゴシック"/>
              </a:rPr>
              <a:t>≪営業利益≫</a:t>
            </a:r>
          </a:p>
          <a:p>
            <a:pPr algn="l">
              <a:spcAft>
                <a:spcPts val="100"/>
              </a:spcAft>
            </a:pPr>
            <a:r>
              <a:rPr sz="800" b="0">
                <a:solidFill>
                  <a:srgbClr val="1A1A1A"/>
                </a:solidFill>
                <a:latin typeface="游ゴシック"/>
                <a:ea typeface="游ゴシック"/>
              </a:rPr>
              <a:t>2025/3期は△4,423千円の赤字。2026/3期は役員報酬6,840千円・賞与5,692千円・減価償却費3,679千円の減少により5,860千円の黒字。</a:t>
            </a:r>
          </a:p>
          <a:p>
            <a:pPr algn="l">
              <a:spcAft>
                <a:spcPts val="100"/>
              </a:spcAft>
            </a:pPr>
            <a:r>
              <a:rPr sz="800" b="1">
                <a:solidFill>
                  <a:srgbClr val="0889C9"/>
                </a:solidFill>
                <a:latin typeface="游ゴシック"/>
                <a:ea typeface="游ゴシック"/>
              </a:rPr>
              <a:t>≪見通し≫</a:t>
            </a:r>
          </a:p>
          <a:p>
            <a:pPr algn="l">
              <a:spcAft>
                <a:spcPts val="100"/>
              </a:spcAft>
            </a:pPr>
            <a:r>
              <a:rPr sz="800" b="0">
                <a:solidFill>
                  <a:srgbClr val="1A1A1A"/>
                </a:solidFill>
                <a:latin typeface="游ゴシック"/>
                <a:ea typeface="游ゴシック"/>
              </a:rPr>
              <a:t>進行期（4〜7月）は売上高411.2百万円（前年同期比△1.9%）、営業利益5.3百万円。繁忙期を含むため年換算しない。</a:t>
            </a:r>
          </a:p>
        </p:txBody>
      </p:sp>
      <p:sp>
        <p:nvSpPr>
          <p:cNvPr id="20" name="TextBox 19"/>
          <p:cNvSpPr txBox="1"/>
          <p:nvPr/>
        </p:nvSpPr>
        <p:spPr>
          <a:xfrm>
            <a:off x="6492240" y="4892040"/>
            <a:ext cx="3840480" cy="2103120"/>
          </a:xfrm>
          <a:prstGeom prst="rect">
            <a:avLst/>
          </a:prstGeom>
          <a:noFill/>
        </p:spPr>
        <p:txBody>
          <a:bodyPr wrap="square" lIns="0" rIns="0" tIns="0" bIns="0" anchor="t">
            <a:spAutoFit/>
          </a:bodyPr>
          <a:lstStyle/>
          <a:p>
            <a:pPr algn="l">
              <a:spcAft>
                <a:spcPts val="200"/>
              </a:spcAft>
            </a:pPr>
            <a:r>
              <a:rPr sz="800" b="1">
                <a:solidFill>
                  <a:srgbClr val="0B3041"/>
                </a:solidFill>
                <a:latin typeface="游ゴシック"/>
                <a:ea typeface="游ゴシック"/>
              </a:rPr>
              <a:t>【調整項目】</a:t>
            </a:r>
          </a:p>
          <a:p>
            <a:pPr algn="l">
              <a:spcAft>
                <a:spcPts val="200"/>
              </a:spcAft>
            </a:pPr>
            <a:r>
              <a:rPr sz="800" b="1">
                <a:solidFill>
                  <a:srgbClr val="0889C9"/>
                </a:solidFill>
                <a:latin typeface="游ゴシック"/>
                <a:ea typeface="游ゴシック"/>
              </a:rPr>
              <a:t>≪役員報酬・社会保険料≫</a:t>
            </a:r>
            <a:r>
              <a:rPr sz="800" b="0">
                <a:solidFill>
                  <a:srgbClr val="1A1A1A"/>
                </a:solidFill>
                <a:latin typeface="游ゴシック"/>
                <a:ea typeface="游ゴシック"/>
              </a:rPr>
              <a:t> 代表者・配偶者の報酬を新体制の役員報酬8,000千円（仮定）に置換、社保15%連動</a:t>
            </a:r>
          </a:p>
          <a:p>
            <a:pPr algn="l">
              <a:spcAft>
                <a:spcPts val="200"/>
              </a:spcAft>
            </a:pPr>
            <a:r>
              <a:rPr sz="800" b="1">
                <a:solidFill>
                  <a:srgbClr val="0889C9"/>
                </a:solidFill>
                <a:latin typeface="游ゴシック"/>
                <a:ea typeface="游ゴシック"/>
              </a:rPr>
              <a:t>≪賞与≫</a:t>
            </a:r>
            <a:r>
              <a:rPr sz="800" b="0">
                <a:solidFill>
                  <a:srgbClr val="1A1A1A"/>
                </a:solidFill>
                <a:latin typeface="游ゴシック"/>
                <a:ea typeface="游ゴシック"/>
              </a:rPr>
              <a:t> 2026/3期は計上なし。前2期平均を社保込で控除（仮説・要確認）</a:t>
            </a:r>
          </a:p>
          <a:p>
            <a:pPr algn="l">
              <a:spcAft>
                <a:spcPts val="200"/>
              </a:spcAft>
            </a:pPr>
            <a:r>
              <a:rPr sz="800" b="1">
                <a:solidFill>
                  <a:srgbClr val="0889C9"/>
                </a:solidFill>
                <a:latin typeface="游ゴシック"/>
                <a:ea typeface="游ゴシック"/>
              </a:rPr>
              <a:t>≪営業外・寄付金≫</a:t>
            </a:r>
            <a:r>
              <a:rPr sz="800" b="0">
                <a:solidFill>
                  <a:srgbClr val="1A1A1A"/>
                </a:solidFill>
                <a:latin typeface="游ゴシック"/>
                <a:ea typeface="游ゴシック"/>
              </a:rPr>
              <a:t> 経常的な受取奨励金（純額）を加算、寄付金を加算</a:t>
            </a:r>
          </a:p>
          <a:p>
            <a:pPr algn="l">
              <a:spcAft>
                <a:spcPts val="200"/>
              </a:spcAft>
            </a:pPr>
            <a:r>
              <a:rPr sz="800" b="1">
                <a:solidFill>
                  <a:srgbClr val="0B3041"/>
                </a:solidFill>
                <a:latin typeface="游ゴシック"/>
                <a:ea typeface="游ゴシック"/>
              </a:rPr>
              <a:t>✓ 調整後EBITDA（過去3期平均）は14,549千円（直近2期平均9,976千円）</a:t>
            </a:r>
          </a:p>
        </p:txBody>
      </p:sp>
    </p:spTree>
    <p:extLst>
      <p:ext uri="{BB962C8B-B14F-4D97-AF65-F5344CB8AC3E}">
        <p14:creationId xmlns:p14="http://schemas.microsoft.com/office/powerpoint/2010/main" val="3016589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25D46-8BE9-D21F-8F78-292CE6E9B929}"/>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AA39DD4-3E77-6023-715D-76F64D8C46A7}"/>
              </a:ext>
            </a:extLst>
          </p:cNvPr>
          <p:cNvSpPr>
            <a:spLocks noGrp="1"/>
          </p:cNvSpPr>
          <p:nvPr>
            <p:ph type="ctrTitle"/>
          </p:nvPr>
        </p:nvSpPr>
        <p:spPr>
          <a:xfrm>
            <a:off x="311150" y="180296"/>
            <a:ext cx="7799917" cy="339267"/>
          </a:xfrm>
        </p:spPr>
        <p:txBody>
          <a:bodyPr>
            <a:normAutofit/>
          </a:bodyPr>
          <a:lstStyle/>
          <a:p>
            <a:r>
              <a:rPr lang="ja-JP" altLang="en-US" dirty="0"/>
              <a:t>財務ハイライト（B/S）</a:t>
            </a:r>
          </a:p>
        </p:txBody>
      </p:sp>
      <p:sp>
        <p:nvSpPr>
          <p:cNvPr id="5" name="タイトル 1">
            <a:extLst>
              <a:ext uri="{FF2B5EF4-FFF2-40B4-BE49-F238E27FC236}">
                <a16:creationId xmlns:a16="http://schemas.microsoft.com/office/drawing/2014/main" id="{393BEF8A-36B7-CC08-2D29-C971912378C9}"/>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エグゼクティブサマリー</a:t>
            </a:r>
          </a:p>
        </p:txBody>
      </p:sp>
      <p:sp>
        <p:nvSpPr>
          <p:cNvPr id="6" name="正方形/長方形 5">
            <a:extLst>
              <a:ext uri="{FF2B5EF4-FFF2-40B4-BE49-F238E27FC236}">
                <a16:creationId xmlns:a16="http://schemas.microsoft.com/office/drawing/2014/main" id="{63937474-FD16-D668-CAE8-2B82EF0CD424}"/>
              </a:ext>
            </a:extLst>
          </p:cNvPr>
          <p:cNvSpPr/>
          <p:nvPr/>
        </p:nvSpPr>
        <p:spPr>
          <a:xfrm>
            <a:off x="5559668" y="4003252"/>
            <a:ext cx="4790832" cy="3140498"/>
          </a:xfrm>
          <a:prstGeom prst="rect">
            <a:avLst/>
          </a:prstGeom>
          <a:solidFill>
            <a:schemeClr val="accent2"/>
          </a:solidFill>
          <a:ln w="28575">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71450" indent="-171450">
              <a:lnSpc>
                <a:spcPct val="150000"/>
              </a:lnSpc>
              <a:buFont typeface="Wingdings" panose="05000000000000000000" pitchFamily="2" charset="2"/>
              <a:buChar char="ü"/>
            </a:pPr>
            <a:endParaRPr kumimoji="1" lang="en-US" altLang="ja-JP" sz="1200" b="1" dirty="0">
              <a:solidFill>
                <a:schemeClr val="tx1"/>
              </a:solidFill>
              <a:latin typeface="+mn-ea"/>
            </a:endParaRPr>
          </a:p>
        </p:txBody>
      </p:sp>
      <p:sp>
        <p:nvSpPr>
          <p:cNvPr id="11" name="字幕 13">
            <a:extLst>
              <a:ext uri="{FF2B5EF4-FFF2-40B4-BE49-F238E27FC236}">
                <a16:creationId xmlns:a16="http://schemas.microsoft.com/office/drawing/2014/main" id="{4BDEA35E-AAC5-A70B-357F-0FB600B4A83F}"/>
              </a:ext>
            </a:extLst>
          </p:cNvPr>
          <p:cNvSpPr>
            <a:spLocks noGrp="1"/>
          </p:cNvSpPr>
          <p:nvPr>
            <p:ph type="subTitle" idx="1"/>
          </p:nvPr>
        </p:nvSpPr>
        <p:spPr>
          <a:xfrm>
            <a:off x="460675" y="830046"/>
            <a:ext cx="9781875" cy="241861"/>
          </a:xfrm>
        </p:spPr>
        <p:txBody>
          <a:bodyPr>
            <a:noAutofit/>
          </a:bodyPr>
          <a:lstStyle/>
          <a:p>
            <a:r>
              <a:rPr lang="ja-JP" altLang="en-US" dirty="0">
                <a:latin typeface="+mj-ea"/>
              </a:rPr>
              <a:t>借入金を3期で154百万円返済し、ネットデットは150百万円。土地は含み損の可能性があり、想定時価純資産は55百万円</a:t>
            </a:r>
            <a:endParaRPr lang="en-US" altLang="ja-JP" dirty="0"/>
          </a:p>
        </p:txBody>
      </p:sp>
      <p:sp>
        <p:nvSpPr>
          <p:cNvPr id="2" name="正方形/長方形 1">
            <a:extLst>
              <a:ext uri="{FF2B5EF4-FFF2-40B4-BE49-F238E27FC236}">
                <a16:creationId xmlns:a16="http://schemas.microsoft.com/office/drawing/2014/main" id="{612EABB3-CE7D-61AA-49A7-0C5A39CB2F7F}"/>
              </a:ext>
            </a:extLst>
          </p:cNvPr>
          <p:cNvSpPr/>
          <p:nvPr/>
        </p:nvSpPr>
        <p:spPr>
          <a:xfrm>
            <a:off x="5559668" y="1382390"/>
            <a:ext cx="4790832" cy="250106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14" name="Table 13"/>
          <p:cNvGraphicFramePr>
            <a:graphicFrameLocks noGrp="1"/>
          </p:cNvGraphicFramePr>
          <p:nvPr/>
        </p:nvGraphicFramePr>
        <p:xfrm>
          <a:off x="338328" y="1380744"/>
          <a:ext cx="5074918" cy="4663440"/>
        </p:xfrm>
        <a:graphic>
          <a:graphicData uri="http://schemas.openxmlformats.org/drawingml/2006/table">
            <a:tbl>
              <a:tblPr firstRow="0" bandRow="0">
                <a:tableStyleId>{5940675A-B579-460E-94D1-54222C63F5DA}</a:tableStyleId>
              </a:tblPr>
              <a:tblGrid>
                <a:gridCol w="1993718"/>
                <a:gridCol w="770300"/>
                <a:gridCol w="770300"/>
                <a:gridCol w="770300"/>
                <a:gridCol w="770300"/>
              </a:tblGrid>
              <a:tr h="274320">
                <a:tc>
                  <a:txBody>
                    <a:bodyPr wrap="square"/>
                    <a:lstStyle/>
                    <a:p>
                      <a:pPr algn="ctr"/>
                      <a:r>
                        <a:rPr sz="800" b="1">
                          <a:solidFill>
                            <a:srgbClr val="FFFFFF"/>
                          </a:solidFill>
                          <a:latin typeface="游ゴシック"/>
                          <a:ea typeface="游ゴシック"/>
                        </a:rPr>
                        <a:t>（単位：千円）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Arial"/>
                          <a:ea typeface="游ゴシック"/>
                        </a:rPr>
                        <a:t>2024/3期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Arial"/>
                          <a:ea typeface="游ゴシック"/>
                        </a:rPr>
                        <a:t>2025/3期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Arial"/>
                          <a:ea typeface="游ゴシック"/>
                        </a:rPr>
                        <a:t>2026/3期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2026/7末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00" b="0">
                          <a:solidFill>
                            <a:srgbClr val="1A1A1A"/>
                          </a:solidFill>
                          <a:latin typeface="游ゴシック"/>
                          <a:ea typeface="游ゴシック"/>
                        </a:rPr>
                        <a:t>現金及び預金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339,553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259,719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210,887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162,087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00" b="0">
                          <a:solidFill>
                            <a:srgbClr val="1A1A1A"/>
                          </a:solidFill>
                          <a:latin typeface="游ゴシック"/>
                          <a:ea typeface="游ゴシック"/>
                        </a:rPr>
                        <a:t>売上債権（売掛金・資材肥料売掛金）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22,524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23,166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20,836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42,952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00" b="0">
                          <a:solidFill>
                            <a:srgbClr val="1A1A1A"/>
                          </a:solidFill>
                          <a:latin typeface="游ゴシック"/>
                          <a:ea typeface="游ゴシック"/>
                        </a:rPr>
                        <a:t>棚卸資産</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9,860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15,444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14,597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36,648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00" b="1">
                          <a:solidFill>
                            <a:srgbClr val="1A1A1A"/>
                          </a:solidFill>
                          <a:latin typeface="游ゴシック"/>
                          <a:ea typeface="游ゴシック"/>
                        </a:rPr>
                        <a:t>流動資産計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375,589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303,101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249,705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244,251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00" b="0">
                          <a:solidFill>
                            <a:srgbClr val="1A1A1A"/>
                          </a:solidFill>
                          <a:latin typeface="游ゴシック"/>
                          <a:ea typeface="游ゴシック"/>
                        </a:rPr>
                        <a:t>建物・附属設備・構築物</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116,961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109,688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103,750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103,750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00" b="0">
                          <a:solidFill>
                            <a:srgbClr val="1A1A1A"/>
                          </a:solidFill>
                          <a:latin typeface="游ゴシック"/>
                          <a:ea typeface="游ゴシック"/>
                        </a:rPr>
                        <a:t>土地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93,137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93,137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93,137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93,137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00" b="0">
                          <a:solidFill>
                            <a:srgbClr val="1A1A1A"/>
                          </a:solidFill>
                          <a:latin typeface="游ゴシック"/>
                          <a:ea typeface="游ゴシック"/>
                        </a:rPr>
                        <a:t>保証金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32,003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33,003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33,303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33,303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00" b="0">
                          <a:solidFill>
                            <a:srgbClr val="1A1A1A"/>
                          </a:solidFill>
                          <a:latin typeface="游ゴシック"/>
                          <a:ea typeface="游ゴシック"/>
                        </a:rPr>
                        <a:t>事業保険積立金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21,162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20,900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00" b="1">
                          <a:solidFill>
                            <a:srgbClr val="1A1A1A"/>
                          </a:solidFill>
                          <a:latin typeface="游ゴシック"/>
                          <a:ea typeface="游ゴシック"/>
                        </a:rPr>
                        <a:t>資産合計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651,948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567,529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485,190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476,300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00" b="0">
                          <a:solidFill>
                            <a:srgbClr val="1A1A1A"/>
                          </a:solidFill>
                          <a:latin typeface="游ゴシック"/>
                          <a:ea typeface="游ゴシック"/>
                        </a:rPr>
                        <a:t>仕入債務（買掛金）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18,128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19,955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26,349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32,102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00" b="0">
                          <a:solidFill>
                            <a:srgbClr val="1A1A1A"/>
                          </a:solidFill>
                          <a:latin typeface="游ゴシック"/>
                          <a:ea typeface="游ゴシック"/>
                        </a:rPr>
                        <a:t>有利子負債（借入金）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514,690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434,046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361,058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337,862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00" b="0">
                          <a:solidFill>
                            <a:srgbClr val="1A1A1A"/>
                          </a:solidFill>
                          <a:latin typeface="游ゴシック"/>
                          <a:ea typeface="游ゴシック"/>
                        </a:rPr>
                        <a:t>預り保証金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10,320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10,270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8,980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8,980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00" b="0">
                          <a:solidFill>
                            <a:srgbClr val="1A1A1A"/>
                          </a:solidFill>
                          <a:latin typeface="游ゴシック"/>
                          <a:ea typeface="游ゴシック"/>
                        </a:rPr>
                        <a:t>負債合計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559,119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473,772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407,318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392,542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00" b="1">
                          <a:solidFill>
                            <a:srgbClr val="1A1A1A"/>
                          </a:solidFill>
                          <a:latin typeface="游ゴシック"/>
                          <a:ea typeface="游ゴシック"/>
                        </a:rPr>
                        <a:t>純資産</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92,828</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93,757</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77,873</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83,757</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00" b="0">
                          <a:solidFill>
                            <a:srgbClr val="1A1A1A"/>
                          </a:solidFill>
                          <a:latin typeface="游ゴシック"/>
                          <a:ea typeface="游ゴシック"/>
                        </a:rPr>
                        <a:t>自己資本比率</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16.5%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17.6%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00" b="1">
                          <a:solidFill>
                            <a:srgbClr val="1A1A1A"/>
                          </a:solidFill>
                          <a:latin typeface="游ゴシック"/>
                          <a:ea typeface="游ゴシック"/>
                        </a:rPr>
                        <a:t>ネットデット</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175,137</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174,327</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150,171</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175,775</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5" name="TextBox 14"/>
          <p:cNvSpPr txBox="1"/>
          <p:nvPr/>
        </p:nvSpPr>
        <p:spPr>
          <a:xfrm>
            <a:off x="5623560" y="1828800"/>
            <a:ext cx="4663440" cy="2011680"/>
          </a:xfrm>
          <a:prstGeom prst="rect">
            <a:avLst/>
          </a:prstGeom>
          <a:noFill/>
        </p:spPr>
        <p:txBody>
          <a:bodyPr wrap="square" lIns="0" rIns="0" tIns="0" bIns="0" anchor="t">
            <a:spAutoFit/>
          </a:bodyPr>
          <a:lstStyle/>
          <a:p>
            <a:pPr algn="l">
              <a:spcAft>
                <a:spcPts val="100"/>
              </a:spcAft>
            </a:pPr>
            <a:r>
              <a:rPr sz="800" b="1">
                <a:solidFill>
                  <a:srgbClr val="0889C9"/>
                </a:solidFill>
                <a:latin typeface="游ゴシック"/>
                <a:ea typeface="游ゴシック"/>
              </a:rPr>
              <a:t>≪借入金≫</a:t>
            </a:r>
          </a:p>
          <a:p>
            <a:pPr algn="l">
              <a:spcAft>
                <a:spcPts val="100"/>
              </a:spcAft>
            </a:pPr>
            <a:r>
              <a:rPr sz="800" b="0">
                <a:solidFill>
                  <a:srgbClr val="1A1A1A"/>
                </a:solidFill>
                <a:latin typeface="游ゴシック"/>
                <a:ea typeface="游ゴシック"/>
              </a:rPr>
              <a:t>借入金は514.7→361.1百万円へ減少（鶴岡信金・山形銀行・日本公庫）。手元資金を返済に充当したとみられる（推察）。金利・担保・代表者保証は要確認。</a:t>
            </a:r>
          </a:p>
          <a:p>
            <a:pPr algn="l">
              <a:spcAft>
                <a:spcPts val="100"/>
              </a:spcAft>
            </a:pPr>
            <a:r>
              <a:rPr sz="800" b="1">
                <a:solidFill>
                  <a:srgbClr val="0889C9"/>
                </a:solidFill>
                <a:latin typeface="游ゴシック"/>
                <a:ea typeface="游ゴシック"/>
              </a:rPr>
              <a:t>≪季節性≫</a:t>
            </a:r>
          </a:p>
          <a:p>
            <a:pPr algn="l">
              <a:spcAft>
                <a:spcPts val="100"/>
              </a:spcAft>
            </a:pPr>
            <a:r>
              <a:rPr sz="800" b="0">
                <a:solidFill>
                  <a:srgbClr val="1A1A1A"/>
                </a:solidFill>
                <a:latin typeface="游ゴシック"/>
                <a:ea typeface="游ゴシック"/>
              </a:rPr>
              <a:t>7月末は繁忙期の売上債権・在庫の増加によりネットデットが175.8百万円に拡大。</a:t>
            </a:r>
          </a:p>
          <a:p>
            <a:pPr algn="l">
              <a:spcAft>
                <a:spcPts val="100"/>
              </a:spcAft>
            </a:pPr>
            <a:r>
              <a:rPr sz="800" b="1">
                <a:solidFill>
                  <a:srgbClr val="0889C9"/>
                </a:solidFill>
                <a:latin typeface="游ゴシック"/>
                <a:ea typeface="游ゴシック"/>
              </a:rPr>
              <a:t>≪純資産≫</a:t>
            </a:r>
          </a:p>
          <a:p>
            <a:pPr algn="l">
              <a:spcAft>
                <a:spcPts val="100"/>
              </a:spcAft>
            </a:pPr>
            <a:r>
              <a:rPr sz="800" b="0">
                <a:solidFill>
                  <a:srgbClr val="1A1A1A"/>
                </a:solidFill>
                <a:latin typeface="游ゴシック"/>
                <a:ea typeface="游ゴシック"/>
              </a:rPr>
              <a:t>純資産77.9百万円（自己資本比率16.0%）。2026/3期に事業保険積立金20.9百万円を取崩し（前期損益修正損）。</a:t>
            </a:r>
          </a:p>
        </p:txBody>
      </p:sp>
      <p:sp>
        <p:nvSpPr>
          <p:cNvPr id="16" name="TextBox 15"/>
          <p:cNvSpPr txBox="1"/>
          <p:nvPr/>
        </p:nvSpPr>
        <p:spPr>
          <a:xfrm>
            <a:off x="5623560" y="4160520"/>
            <a:ext cx="4663440" cy="2834640"/>
          </a:xfrm>
          <a:prstGeom prst="rect">
            <a:avLst/>
          </a:prstGeom>
          <a:noFill/>
        </p:spPr>
        <p:txBody>
          <a:bodyPr wrap="square" lIns="0" rIns="0" tIns="0" bIns="0" anchor="t">
            <a:spAutoFit/>
          </a:bodyPr>
          <a:lstStyle/>
          <a:p>
            <a:pPr algn="l">
              <a:spcAft>
                <a:spcPts val="100"/>
              </a:spcAft>
            </a:pPr>
            <a:r>
              <a:rPr sz="800" b="1">
                <a:solidFill>
                  <a:srgbClr val="0B3041"/>
                </a:solidFill>
                <a:latin typeface="游ゴシック"/>
                <a:ea typeface="游ゴシック"/>
              </a:rPr>
              <a:t>【時価修正】（評価基準日：2026年3月末）</a:t>
            </a:r>
          </a:p>
          <a:p>
            <a:pPr algn="l">
              <a:spcAft>
                <a:spcPts val="100"/>
              </a:spcAft>
            </a:pPr>
            <a:r>
              <a:rPr sz="800" b="1">
                <a:solidFill>
                  <a:srgbClr val="0889C9"/>
                </a:solidFill>
                <a:latin typeface="游ゴシック"/>
                <a:ea typeface="游ゴシック"/>
              </a:rPr>
              <a:t>≪土地≫</a:t>
            </a:r>
          </a:p>
          <a:p>
            <a:pPr algn="l">
              <a:spcAft>
                <a:spcPts val="100"/>
              </a:spcAft>
            </a:pPr>
            <a:r>
              <a:rPr sz="800" b="0">
                <a:solidFill>
                  <a:srgbClr val="1A1A1A"/>
                </a:solidFill>
                <a:latin typeface="游ゴシック"/>
                <a:ea typeface="游ゴシック"/>
              </a:rPr>
              <a:t>固定資産税評価額÷0.7で時価推計：△25,312千円（要確認）</a:t>
            </a:r>
          </a:p>
          <a:p>
            <a:pPr algn="l">
              <a:spcAft>
                <a:spcPts val="100"/>
              </a:spcAft>
            </a:pPr>
            <a:r>
              <a:rPr sz="800" b="1">
                <a:solidFill>
                  <a:srgbClr val="0889C9"/>
                </a:solidFill>
                <a:latin typeface="游ゴシック"/>
                <a:ea typeface="游ゴシック"/>
              </a:rPr>
              <a:t>≪投資有価証券≫</a:t>
            </a:r>
          </a:p>
          <a:p>
            <a:pPr algn="l">
              <a:spcAft>
                <a:spcPts val="100"/>
              </a:spcAft>
            </a:pPr>
            <a:r>
              <a:rPr sz="800" b="0">
                <a:solidFill>
                  <a:srgbClr val="1A1A1A"/>
                </a:solidFill>
                <a:latin typeface="游ゴシック"/>
                <a:ea typeface="游ゴシック"/>
              </a:rPr>
              <a:t>フィデアHD株式を時価評価：+7,242千円</a:t>
            </a:r>
          </a:p>
          <a:p>
            <a:pPr algn="l">
              <a:spcAft>
                <a:spcPts val="100"/>
              </a:spcAft>
            </a:pPr>
            <a:r>
              <a:rPr sz="800" b="1">
                <a:solidFill>
                  <a:srgbClr val="0889C9"/>
                </a:solidFill>
                <a:latin typeface="游ゴシック"/>
                <a:ea typeface="游ゴシック"/>
              </a:rPr>
              <a:t>≪貸倒引当金・電話加入権≫</a:t>
            </a:r>
          </a:p>
          <a:p>
            <a:pPr algn="l">
              <a:spcAft>
                <a:spcPts val="100"/>
              </a:spcAft>
            </a:pPr>
            <a:r>
              <a:rPr sz="800" b="0">
                <a:solidFill>
                  <a:srgbClr val="1A1A1A"/>
                </a:solidFill>
                <a:latin typeface="游ゴシック"/>
                <a:ea typeface="游ゴシック"/>
              </a:rPr>
              <a:t>引当金を戻入（+203千円）、電話加入権はゼロ評価（△2,156千円）。税効果△2,531千円</a:t>
            </a:r>
          </a:p>
          <a:p>
            <a:pPr algn="l">
              <a:spcAft>
                <a:spcPts val="100"/>
              </a:spcAft>
            </a:pPr>
            <a:r>
              <a:rPr sz="900" b="1">
                <a:solidFill>
                  <a:srgbClr val="0B3041"/>
                </a:solidFill>
                <a:latin typeface="游ゴシック"/>
                <a:ea typeface="游ゴシック"/>
              </a:rPr>
              <a:t>✓ 想定時価純資産　55,318千円</a:t>
            </a:r>
          </a:p>
          <a:p>
            <a:pPr algn="l">
              <a:spcAft>
                <a:spcPts val="100"/>
              </a:spcAft>
            </a:pPr>
            <a:r>
              <a:rPr sz="900" b="1">
                <a:solidFill>
                  <a:srgbClr val="0B3041"/>
                </a:solidFill>
                <a:latin typeface="游ゴシック"/>
                <a:ea typeface="游ゴシック"/>
              </a:rPr>
              <a:t>✓ 想定ネットキャッシュ　△143,580千円</a:t>
            </a:r>
          </a:p>
        </p:txBody>
      </p:sp>
    </p:spTree>
    <p:extLst>
      <p:ext uri="{BB962C8B-B14F-4D97-AF65-F5344CB8AC3E}">
        <p14:creationId xmlns:p14="http://schemas.microsoft.com/office/powerpoint/2010/main" val="40303346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7" name="タイトル 6">
            <a:extLst>
              <a:ext uri="{FF2B5EF4-FFF2-40B4-BE49-F238E27FC236}">
                <a16:creationId xmlns:a16="http://schemas.microsoft.com/office/drawing/2014/main" id="{5297D612-8E56-9402-459F-FE068C2C5D1A}"/>
              </a:ext>
            </a:extLst>
          </p:cNvPr>
          <p:cNvSpPr>
            <a:spLocks noGrp="1"/>
          </p:cNvSpPr>
          <p:nvPr>
            <p:ph type="ctrTitle"/>
          </p:nvPr>
        </p:nvSpPr>
        <p:spPr>
          <a:xfrm>
            <a:off x="341313" y="180296"/>
            <a:ext cx="7799917" cy="339267"/>
          </a:xfrm>
        </p:spPr>
        <p:txBody>
          <a:bodyPr/>
          <a:lstStyle/>
          <a:p>
            <a:r>
              <a:rPr lang="zh-CN" altLang="en-US" dirty="0"/>
              <a:t>譲渡希望条件</a:t>
            </a:r>
          </a:p>
        </p:txBody>
      </p:sp>
      <p:sp>
        <p:nvSpPr>
          <p:cNvPr id="9" name="タイトル 1">
            <a:extLst>
              <a:ext uri="{FF2B5EF4-FFF2-40B4-BE49-F238E27FC236}">
                <a16:creationId xmlns:a16="http://schemas.microsoft.com/office/drawing/2014/main" id="{203C135E-3923-6D8E-447A-FF4DC0536B9B}"/>
              </a:ext>
            </a:extLst>
          </p:cNvPr>
          <p:cNvSpPr txBox="1">
            <a:spLocks/>
          </p:cNvSpPr>
          <p:nvPr/>
        </p:nvSpPr>
        <p:spPr>
          <a:xfrm>
            <a:off x="8366333" y="252154"/>
            <a:ext cx="1984167" cy="184666"/>
          </a:xfrm>
          <a:prstGeom prst="rect">
            <a:avLst/>
          </a:prstGeom>
        </p:spPr>
        <p:txBody>
          <a:bodyPr vert="horz" lIns="0" tIns="0" rIns="0" bIns="0" rtlCol="0" anchor="ctr">
            <a:spAutoFit/>
          </a:bodyPr>
          <a:lstStyle>
            <a:defPPr marR="0" lvl="0" algn="l" rtl="0">
              <a:lnSpc>
                <a:spcPct val="100000"/>
              </a:lnSpc>
              <a:spcBef>
                <a:spcPts val="0"/>
              </a:spcBef>
              <a:spcAft>
                <a:spcPts val="0"/>
              </a:spcAft>
              <a:defRPr/>
            </a:defPPr>
            <a:lvl1pPr algn="r" defTabSz="914400" eaLnBrk="1" latinLnBrk="0" hangingPunct="1">
              <a:spcBef>
                <a:spcPct val="0"/>
              </a:spcBef>
              <a:buClr>
                <a:schemeClr val="bg1"/>
              </a:buClr>
              <a:buNone/>
              <a:defRPr kumimoji="1" sz="1200" b="1" kern="1200" spc="55">
                <a:solidFill>
                  <a:schemeClr val="bg1"/>
                </a:solidFill>
                <a:latin typeface="+mj-lt"/>
                <a:ea typeface="+mj-ea"/>
                <a:cs typeface="+mj-cs"/>
              </a:defRPr>
            </a:lvl1pPr>
          </a:lstStyle>
          <a:p>
            <a:r>
              <a:rPr lang="ja-JP" altLang="en-US" spc="0" dirty="0"/>
              <a:t>　エグゼクティブサマリー</a:t>
            </a:r>
          </a:p>
        </p:txBody>
      </p:sp>
      <p:sp>
        <p:nvSpPr>
          <p:cNvPr id="18" name="正方形/長方形 17">
            <a:extLst>
              <a:ext uri="{FF2B5EF4-FFF2-40B4-BE49-F238E27FC236}">
                <a16:creationId xmlns:a16="http://schemas.microsoft.com/office/drawing/2014/main" id="{77AE94F8-D910-3328-173F-F4A99716CFE7}"/>
              </a:ext>
            </a:extLst>
          </p:cNvPr>
          <p:cNvSpPr/>
          <p:nvPr/>
        </p:nvSpPr>
        <p:spPr>
          <a:xfrm>
            <a:off x="449262" y="1225957"/>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2" name="直線コネクタ 21">
            <a:extLst>
              <a:ext uri="{FF2B5EF4-FFF2-40B4-BE49-F238E27FC236}">
                <a16:creationId xmlns:a16="http://schemas.microsoft.com/office/drawing/2014/main" id="{1928CBFA-2EBE-A608-C5BF-40E5AFFAF1AD}"/>
              </a:ext>
            </a:extLst>
          </p:cNvPr>
          <p:cNvCxnSpPr>
            <a:cxnSpLocks/>
          </p:cNvCxnSpPr>
          <p:nvPr/>
        </p:nvCxnSpPr>
        <p:spPr>
          <a:xfrm>
            <a:off x="3133558" y="1349963"/>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FFFB131C-8535-2A88-A3C8-FF60589D2A11}"/>
              </a:ext>
            </a:extLst>
          </p:cNvPr>
          <p:cNvSpPr txBox="1"/>
          <p:nvPr/>
        </p:nvSpPr>
        <p:spPr>
          <a:xfrm>
            <a:off x="3151380" y="1703936"/>
            <a:ext cx="7074659" cy="338554"/>
          </a:xfrm>
          <a:prstGeom prst="rect">
            <a:avLst/>
          </a:prstGeom>
          <a:noFill/>
        </p:spPr>
        <p:txBody>
          <a:bodyPr wrap="square" lIns="1440000" tIns="0" rIns="0" bIns="0" rtlCol="0" anchor="ctr">
            <a:spAutoFit/>
          </a:bodyPr>
          <a:lstStyle/>
          <a:p>
            <a:r>
              <a:rPr lang="ja-JP" altLang="en-US" sz="1800" b="1" spc="50" dirty="0">
                <a:solidFill>
                  <a:schemeClr val="dk1"/>
                </a:solidFill>
                <a:latin typeface="+mj-ea"/>
                <a:ea typeface="+mj-ea"/>
              </a:rPr>
              <a:t>株式100％譲渡を想定（要確認）</a:t>
            </a:r>
          </a:p>
        </p:txBody>
      </p:sp>
      <p:sp>
        <p:nvSpPr>
          <p:cNvPr id="23" name="正方形/長方形 22">
            <a:extLst>
              <a:ext uri="{FF2B5EF4-FFF2-40B4-BE49-F238E27FC236}">
                <a16:creationId xmlns:a16="http://schemas.microsoft.com/office/drawing/2014/main" id="{A4BC3D1B-6519-3EC6-F8C8-D12E5886EBA8}"/>
              </a:ext>
            </a:extLst>
          </p:cNvPr>
          <p:cNvSpPr/>
          <p:nvPr/>
        </p:nvSpPr>
        <p:spPr>
          <a:xfrm>
            <a:off x="908477" y="1467627"/>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1</a:t>
            </a:r>
          </a:p>
        </p:txBody>
      </p:sp>
      <p:sp>
        <p:nvSpPr>
          <p:cNvPr id="46" name="正方形/長方形 45">
            <a:extLst>
              <a:ext uri="{FF2B5EF4-FFF2-40B4-BE49-F238E27FC236}">
                <a16:creationId xmlns:a16="http://schemas.microsoft.com/office/drawing/2014/main" id="{538DA60A-A0C2-2AC4-6AFA-6E9A0A840E2F}"/>
              </a:ext>
            </a:extLst>
          </p:cNvPr>
          <p:cNvSpPr/>
          <p:nvPr/>
        </p:nvSpPr>
        <p:spPr>
          <a:xfrm>
            <a:off x="908477" y="1905968"/>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スキーム</a:t>
            </a:r>
            <a:endParaRPr lang="en-US" altLang="ja-JP" sz="1800" b="1" spc="70" dirty="0">
              <a:solidFill>
                <a:schemeClr val="tx2"/>
              </a:solidFill>
              <a:latin typeface="+mj-ea"/>
              <a:ea typeface="+mj-ea"/>
            </a:endParaRPr>
          </a:p>
        </p:txBody>
      </p:sp>
      <p:sp>
        <p:nvSpPr>
          <p:cNvPr id="47" name="二等辺三角形 46">
            <a:extLst>
              <a:ext uri="{FF2B5EF4-FFF2-40B4-BE49-F238E27FC236}">
                <a16:creationId xmlns:a16="http://schemas.microsoft.com/office/drawing/2014/main" id="{E30A0C32-ED58-E579-307E-2A50184F7621}"/>
              </a:ext>
            </a:extLst>
          </p:cNvPr>
          <p:cNvSpPr/>
          <p:nvPr/>
        </p:nvSpPr>
        <p:spPr>
          <a:xfrm rot="5400000">
            <a:off x="3953282" y="1731194"/>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54" name="正方形/長方形 53">
            <a:extLst>
              <a:ext uri="{FF2B5EF4-FFF2-40B4-BE49-F238E27FC236}">
                <a16:creationId xmlns:a16="http://schemas.microsoft.com/office/drawing/2014/main" id="{CF75FB02-E0C4-B24A-D8DD-19550648E691}"/>
              </a:ext>
            </a:extLst>
          </p:cNvPr>
          <p:cNvSpPr/>
          <p:nvPr/>
        </p:nvSpPr>
        <p:spPr>
          <a:xfrm>
            <a:off x="449262" y="2678813"/>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55" name="直線コネクタ 54">
            <a:extLst>
              <a:ext uri="{FF2B5EF4-FFF2-40B4-BE49-F238E27FC236}">
                <a16:creationId xmlns:a16="http://schemas.microsoft.com/office/drawing/2014/main" id="{031A2A35-DDED-EC21-CA05-09DA68DA2C0D}"/>
              </a:ext>
            </a:extLst>
          </p:cNvPr>
          <p:cNvCxnSpPr>
            <a:cxnSpLocks/>
          </p:cNvCxnSpPr>
          <p:nvPr/>
        </p:nvCxnSpPr>
        <p:spPr>
          <a:xfrm>
            <a:off x="3133558" y="2802819"/>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56" name="テキスト ボックス 55">
            <a:extLst>
              <a:ext uri="{FF2B5EF4-FFF2-40B4-BE49-F238E27FC236}">
                <a16:creationId xmlns:a16="http://schemas.microsoft.com/office/drawing/2014/main" id="{4F61C06A-72C7-F15D-8706-7F1E6F179BF5}"/>
              </a:ext>
            </a:extLst>
          </p:cNvPr>
          <p:cNvSpPr txBox="1"/>
          <p:nvPr/>
        </p:nvSpPr>
        <p:spPr>
          <a:xfrm>
            <a:off x="3151380" y="3156792"/>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algn="l"/>
            <a:r>
              <a:rPr lang="en-US" altLang="ja-JP" spc="50" dirty="0" sz="1800"/>
              <a:t>売主様と協議中（要確認）</a:t>
            </a:r>
          </a:p>
        </p:txBody>
      </p:sp>
      <p:sp>
        <p:nvSpPr>
          <p:cNvPr id="59" name="正方形/長方形 58">
            <a:extLst>
              <a:ext uri="{FF2B5EF4-FFF2-40B4-BE49-F238E27FC236}">
                <a16:creationId xmlns:a16="http://schemas.microsoft.com/office/drawing/2014/main" id="{CFFDBAD3-865C-CB13-2F89-BB6495428292}"/>
              </a:ext>
            </a:extLst>
          </p:cNvPr>
          <p:cNvSpPr/>
          <p:nvPr/>
        </p:nvSpPr>
        <p:spPr>
          <a:xfrm>
            <a:off x="908477" y="2920483"/>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2</a:t>
            </a:r>
          </a:p>
        </p:txBody>
      </p:sp>
      <p:sp>
        <p:nvSpPr>
          <p:cNvPr id="60" name="正方形/長方形 59">
            <a:extLst>
              <a:ext uri="{FF2B5EF4-FFF2-40B4-BE49-F238E27FC236}">
                <a16:creationId xmlns:a16="http://schemas.microsoft.com/office/drawing/2014/main" id="{C0C6D277-3738-13CF-070E-BA308BBE1973}"/>
              </a:ext>
            </a:extLst>
          </p:cNvPr>
          <p:cNvSpPr/>
          <p:nvPr/>
        </p:nvSpPr>
        <p:spPr>
          <a:xfrm>
            <a:off x="908477" y="3358824"/>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希望価格</a:t>
            </a:r>
          </a:p>
        </p:txBody>
      </p:sp>
      <p:sp>
        <p:nvSpPr>
          <p:cNvPr id="58" name="二等辺三角形 57">
            <a:extLst>
              <a:ext uri="{FF2B5EF4-FFF2-40B4-BE49-F238E27FC236}">
                <a16:creationId xmlns:a16="http://schemas.microsoft.com/office/drawing/2014/main" id="{C23C8717-6A45-2543-9780-94DF43068F77}"/>
              </a:ext>
            </a:extLst>
          </p:cNvPr>
          <p:cNvSpPr/>
          <p:nvPr/>
        </p:nvSpPr>
        <p:spPr>
          <a:xfrm rot="5400000">
            <a:off x="3953282" y="3184050"/>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62" name="正方形/長方形 61">
            <a:extLst>
              <a:ext uri="{FF2B5EF4-FFF2-40B4-BE49-F238E27FC236}">
                <a16:creationId xmlns:a16="http://schemas.microsoft.com/office/drawing/2014/main" id="{7140BAFD-DDE9-DDDD-13AE-F82ADD82CD40}"/>
              </a:ext>
            </a:extLst>
          </p:cNvPr>
          <p:cNvSpPr/>
          <p:nvPr/>
        </p:nvSpPr>
        <p:spPr>
          <a:xfrm>
            <a:off x="449262" y="4131669"/>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63" name="直線コネクタ 62">
            <a:extLst>
              <a:ext uri="{FF2B5EF4-FFF2-40B4-BE49-F238E27FC236}">
                <a16:creationId xmlns:a16="http://schemas.microsoft.com/office/drawing/2014/main" id="{364A6865-94EE-F5C9-85ED-D69680FD951A}"/>
              </a:ext>
            </a:extLst>
          </p:cNvPr>
          <p:cNvCxnSpPr>
            <a:cxnSpLocks/>
          </p:cNvCxnSpPr>
          <p:nvPr/>
        </p:nvCxnSpPr>
        <p:spPr>
          <a:xfrm>
            <a:off x="3133558" y="4255675"/>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56" name="テキスト ボックス 255">
            <a:extLst>
              <a:ext uri="{FF2B5EF4-FFF2-40B4-BE49-F238E27FC236}">
                <a16:creationId xmlns:a16="http://schemas.microsoft.com/office/drawing/2014/main" id="{B6D90125-A2A7-8289-0B44-6FD810A06C6F}"/>
              </a:ext>
            </a:extLst>
          </p:cNvPr>
          <p:cNvSpPr txBox="1"/>
          <p:nvPr/>
        </p:nvSpPr>
        <p:spPr>
          <a:xfrm>
            <a:off x="3151380" y="4427548"/>
            <a:ext cx="7074659" cy="702756"/>
          </a:xfrm>
          <a:prstGeom prst="rect">
            <a:avLst/>
          </a:prstGeom>
          <a:noFill/>
        </p:spPr>
        <p:txBody>
          <a:bodyPr wrap="square" lIns="1368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marL="324000" indent="-324000" algn="l">
              <a:spcAft>
                <a:spcPts val="200"/>
              </a:spcAft>
              <a:buClr>
                <a:schemeClr val="tx2"/>
              </a:buClr>
              <a:buFont typeface="游ゴシック" panose="020B0400000000000000" pitchFamily="50" charset="-128"/>
              <a:buChar char="▪"/>
            </a:pPr>
            <a:r>
              <a:rPr lang="ja-JP" altLang="en-US" spc="50" dirty="0" sz="1400"/>
              <a:t>従業員の継続雇用・連帯保証の解除（想定・要確認）</a:t>
            </a:r>
            <a:endParaRPr lang="en-US" altLang="ja-JP" spc="50" dirty="0"/>
          </a:p>
          <a:p>
            <a:pPr marL="324000" indent="-324000" algn="l">
              <a:spcAft>
                <a:spcPts val="200"/>
              </a:spcAft>
              <a:buClr>
                <a:schemeClr val="tx2"/>
              </a:buClr>
              <a:buFont typeface="游ゴシック" panose="020B0400000000000000" pitchFamily="50" charset="-128"/>
              <a:buChar char="▪"/>
            </a:pPr>
            <a:r>
              <a:rPr lang="ja-JP" altLang="en-US" spc="50" dirty="0" sz="1400"/>
              <a:t>代表者の継続関与の期間・役職（要確認）</a:t>
            </a:r>
            <a:endParaRPr lang="en-US" altLang="ja-JP" spc="50" dirty="0"/>
          </a:p>
        </p:txBody>
      </p:sp>
      <p:sp>
        <p:nvSpPr>
          <p:cNvPr id="259" name="正方形/長方形 258">
            <a:extLst>
              <a:ext uri="{FF2B5EF4-FFF2-40B4-BE49-F238E27FC236}">
                <a16:creationId xmlns:a16="http://schemas.microsoft.com/office/drawing/2014/main" id="{11BED845-77D7-96E2-7088-05671252A4BC}"/>
              </a:ext>
            </a:extLst>
          </p:cNvPr>
          <p:cNvSpPr/>
          <p:nvPr/>
        </p:nvSpPr>
        <p:spPr>
          <a:xfrm>
            <a:off x="908477" y="4373339"/>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3</a:t>
            </a:r>
          </a:p>
        </p:txBody>
      </p:sp>
      <p:sp>
        <p:nvSpPr>
          <p:cNvPr id="260" name="正方形/長方形 259">
            <a:extLst>
              <a:ext uri="{FF2B5EF4-FFF2-40B4-BE49-F238E27FC236}">
                <a16:creationId xmlns:a16="http://schemas.microsoft.com/office/drawing/2014/main" id="{6B9DA270-CEE2-C021-D23B-6674C7B58B8F}"/>
              </a:ext>
            </a:extLst>
          </p:cNvPr>
          <p:cNvSpPr/>
          <p:nvPr/>
        </p:nvSpPr>
        <p:spPr>
          <a:xfrm>
            <a:off x="908477" y="4811680"/>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付帯条件</a:t>
            </a:r>
          </a:p>
        </p:txBody>
      </p:sp>
      <p:sp>
        <p:nvSpPr>
          <p:cNvPr id="258" name="二等辺三角形 257">
            <a:extLst>
              <a:ext uri="{FF2B5EF4-FFF2-40B4-BE49-F238E27FC236}">
                <a16:creationId xmlns:a16="http://schemas.microsoft.com/office/drawing/2014/main" id="{ED431A8E-E118-9737-A89C-BA75554554F2}"/>
              </a:ext>
            </a:extLst>
          </p:cNvPr>
          <p:cNvSpPr/>
          <p:nvPr/>
        </p:nvSpPr>
        <p:spPr>
          <a:xfrm rot="5400000">
            <a:off x="3953282" y="463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2" name="正方形/長方形 261">
            <a:extLst>
              <a:ext uri="{FF2B5EF4-FFF2-40B4-BE49-F238E27FC236}">
                <a16:creationId xmlns:a16="http://schemas.microsoft.com/office/drawing/2014/main" id="{0DA87416-6EB3-2B9D-5D99-EBF7AD989A1A}"/>
              </a:ext>
            </a:extLst>
          </p:cNvPr>
          <p:cNvSpPr/>
          <p:nvPr/>
        </p:nvSpPr>
        <p:spPr>
          <a:xfrm>
            <a:off x="449262" y="5584525"/>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63" name="直線コネクタ 262">
            <a:extLst>
              <a:ext uri="{FF2B5EF4-FFF2-40B4-BE49-F238E27FC236}">
                <a16:creationId xmlns:a16="http://schemas.microsoft.com/office/drawing/2014/main" id="{348C7A7D-E8C0-8FBA-0152-B09944A67B14}"/>
              </a:ext>
            </a:extLst>
          </p:cNvPr>
          <p:cNvCxnSpPr>
            <a:cxnSpLocks/>
          </p:cNvCxnSpPr>
          <p:nvPr/>
        </p:nvCxnSpPr>
        <p:spPr>
          <a:xfrm>
            <a:off x="3133558" y="5708531"/>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64" name="テキスト ボックス 263">
            <a:extLst>
              <a:ext uri="{FF2B5EF4-FFF2-40B4-BE49-F238E27FC236}">
                <a16:creationId xmlns:a16="http://schemas.microsoft.com/office/drawing/2014/main" id="{37AEE9E9-0B13-7FD4-A3CA-A47C7839F11C}"/>
              </a:ext>
            </a:extLst>
          </p:cNvPr>
          <p:cNvSpPr txBox="1"/>
          <p:nvPr/>
        </p:nvSpPr>
        <p:spPr>
          <a:xfrm>
            <a:off x="3151380" y="6062504"/>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defRPr sz="2200" b="1">
                <a:solidFill>
                  <a:schemeClr val="dk1"/>
                </a:solidFill>
                <a:latin typeface="+mj-ea"/>
                <a:ea typeface="+mj-ea"/>
              </a:defRPr>
            </a:lvl1pPr>
          </a:lstStyle>
          <a:p>
            <a:r>
              <a:rPr lang="ja-JP" altLang="en-US" spc="50" dirty="0" sz="1800"/>
              <a:t>要確認</a:t>
            </a:r>
          </a:p>
        </p:txBody>
      </p:sp>
      <p:sp>
        <p:nvSpPr>
          <p:cNvPr id="267" name="正方形/長方形 266">
            <a:extLst>
              <a:ext uri="{FF2B5EF4-FFF2-40B4-BE49-F238E27FC236}">
                <a16:creationId xmlns:a16="http://schemas.microsoft.com/office/drawing/2014/main" id="{5C906CE1-F422-F0CF-35F9-FA21CDF60987}"/>
              </a:ext>
            </a:extLst>
          </p:cNvPr>
          <p:cNvSpPr/>
          <p:nvPr/>
        </p:nvSpPr>
        <p:spPr>
          <a:xfrm>
            <a:off x="908477" y="5826195"/>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その他</a:t>
            </a:r>
            <a:endParaRPr lang="en-US" altLang="ja-JP" b="1" spc="70" dirty="0">
              <a:solidFill>
                <a:schemeClr val="bg1"/>
              </a:solidFill>
              <a:latin typeface="+mj-ea"/>
              <a:ea typeface="+mj-ea"/>
            </a:endParaRPr>
          </a:p>
        </p:txBody>
      </p:sp>
      <p:sp>
        <p:nvSpPr>
          <p:cNvPr id="268" name="正方形/長方形 267">
            <a:extLst>
              <a:ext uri="{FF2B5EF4-FFF2-40B4-BE49-F238E27FC236}">
                <a16:creationId xmlns:a16="http://schemas.microsoft.com/office/drawing/2014/main" id="{46529E79-2433-FBD9-6238-E748A585579E}"/>
              </a:ext>
            </a:extLst>
          </p:cNvPr>
          <p:cNvSpPr/>
          <p:nvPr/>
        </p:nvSpPr>
        <p:spPr>
          <a:xfrm>
            <a:off x="908477" y="6264536"/>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譲渡理由</a:t>
            </a:r>
          </a:p>
        </p:txBody>
      </p:sp>
      <p:sp>
        <p:nvSpPr>
          <p:cNvPr id="266" name="二等辺三角形 265">
            <a:extLst>
              <a:ext uri="{FF2B5EF4-FFF2-40B4-BE49-F238E27FC236}">
                <a16:creationId xmlns:a16="http://schemas.microsoft.com/office/drawing/2014/main" id="{94757AC3-62D5-3E6F-15D0-8CC989986978}"/>
              </a:ext>
            </a:extLst>
          </p:cNvPr>
          <p:cNvSpPr/>
          <p:nvPr/>
        </p:nvSpPr>
        <p:spPr>
          <a:xfrm rot="5400000">
            <a:off x="3953282" y="6089762"/>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事業概要</a:t>
            </a:r>
            <a:endParaRPr lang="en-US" altLang="ja-JP" dirty="0"/>
          </a:p>
        </p:txBody>
      </p:sp>
    </p:spTree>
    <p:extLst>
      <p:ext uri="{BB962C8B-B14F-4D97-AF65-F5344CB8AC3E}">
        <p14:creationId xmlns:p14="http://schemas.microsoft.com/office/powerpoint/2010/main" val="4085199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DAF01-C12B-9043-B114-455CAA33D0F7}"/>
            </a:ext>
          </a:extLst>
        </p:cNvPr>
        <p:cNvGrpSpPr/>
        <p:nvPr/>
      </p:nvGrpSpPr>
      <p:grpSpPr>
        <a:xfrm>
          <a:off x="0" y="0"/>
          <a:ext cx="0" cy="0"/>
          <a:chOff x="0" y="0"/>
          <a:chExt cx="0" cy="0"/>
        </a:xfrm>
      </p:grpSpPr>
      <p:sp>
        <p:nvSpPr>
          <p:cNvPr id="5" name="正方形/長方形 4">
            <a:extLst>
              <a:ext uri="{FF2B5EF4-FFF2-40B4-BE49-F238E27FC236}">
                <a16:creationId xmlns:a16="http://schemas.microsoft.com/office/drawing/2014/main" id="{E743677C-E154-B684-80CF-3F2817127171}"/>
              </a:ext>
            </a:extLst>
          </p:cNvPr>
          <p:cNvSpPr/>
          <p:nvPr/>
        </p:nvSpPr>
        <p:spPr>
          <a:xfrm>
            <a:off x="449262" y="1481694"/>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chemeClr val="tx1"/>
                </a:solidFill>
                <a:latin typeface="+mj-ea"/>
                <a:ea typeface="+mj-ea"/>
              </a:rPr>
              <a:t>主要仕入先</a:t>
            </a:r>
          </a:p>
        </p:txBody>
      </p:sp>
      <p:sp>
        <p:nvSpPr>
          <p:cNvPr id="17" name="正方形/長方形 16">
            <a:extLst>
              <a:ext uri="{FF2B5EF4-FFF2-40B4-BE49-F238E27FC236}">
                <a16:creationId xmlns:a16="http://schemas.microsoft.com/office/drawing/2014/main" id="{6FD21BE9-2FB9-6DA0-CBB4-78D9B31143EA}"/>
              </a:ext>
            </a:extLst>
          </p:cNvPr>
          <p:cNvSpPr/>
          <p:nvPr/>
        </p:nvSpPr>
        <p:spPr>
          <a:xfrm>
            <a:off x="8082550" y="1463675"/>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a:solidFill>
                  <a:schemeClr val="tx1"/>
                </a:solidFill>
                <a:latin typeface="+mj-ea"/>
                <a:ea typeface="+mj-ea"/>
              </a:rPr>
              <a:t>主要販売先</a:t>
            </a:r>
          </a:p>
        </p:txBody>
      </p:sp>
      <p:sp>
        <p:nvSpPr>
          <p:cNvPr id="21" name="正方形/長方形 20">
            <a:extLst>
              <a:ext uri="{FF2B5EF4-FFF2-40B4-BE49-F238E27FC236}">
                <a16:creationId xmlns:a16="http://schemas.microsoft.com/office/drawing/2014/main" id="{95D20CE9-562D-5FB0-80DD-F3BD3CE1D49C}"/>
              </a:ext>
            </a:extLst>
          </p:cNvPr>
          <p:cNvSpPr/>
          <p:nvPr/>
        </p:nvSpPr>
        <p:spPr>
          <a:xfrm>
            <a:off x="2933906" y="1487165"/>
            <a:ext cx="4824000" cy="4016481"/>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chemeClr val="tx2"/>
                </a:solidFill>
                <a:latin typeface="+mj-ea"/>
                <a:ea typeface="+mj-ea"/>
              </a:rPr>
              <a:t>対象会社</a:t>
            </a:r>
          </a:p>
        </p:txBody>
      </p:sp>
      <p:cxnSp>
        <p:nvCxnSpPr>
          <p:cNvPr id="24" name="直線コネクタ 23">
            <a:extLst>
              <a:ext uri="{FF2B5EF4-FFF2-40B4-BE49-F238E27FC236}">
                <a16:creationId xmlns:a16="http://schemas.microsoft.com/office/drawing/2014/main" id="{F5D312B4-FD5F-5D39-501F-FA5FF893E938}"/>
              </a:ext>
            </a:extLst>
          </p:cNvPr>
          <p:cNvCxnSpPr>
            <a:cxnSpLocks/>
          </p:cNvCxnSpPr>
          <p:nvPr/>
        </p:nvCxnSpPr>
        <p:spPr>
          <a:xfrm>
            <a:off x="2933907" y="1467042"/>
            <a:ext cx="482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4" name="タイトル 3">
            <a:extLst>
              <a:ext uri="{FF2B5EF4-FFF2-40B4-BE49-F238E27FC236}">
                <a16:creationId xmlns:a16="http://schemas.microsoft.com/office/drawing/2014/main" id="{E91DD8E0-55E1-1614-7417-2E76D253FEAD}"/>
              </a:ext>
            </a:extLst>
          </p:cNvPr>
          <p:cNvSpPr>
            <a:spLocks noGrp="1"/>
          </p:cNvSpPr>
          <p:nvPr>
            <p:ph type="ctrTitle"/>
          </p:nvPr>
        </p:nvSpPr>
        <p:spPr/>
        <p:txBody>
          <a:bodyPr/>
          <a:lstStyle/>
          <a:p>
            <a:r>
              <a:rPr lang="ja-JP" altLang="en-US" dirty="0"/>
              <a:t>事業内容</a:t>
            </a:r>
          </a:p>
        </p:txBody>
      </p:sp>
      <p:sp>
        <p:nvSpPr>
          <p:cNvPr id="20" name="タイトル 1">
            <a:extLst>
              <a:ext uri="{FF2B5EF4-FFF2-40B4-BE49-F238E27FC236}">
                <a16:creationId xmlns:a16="http://schemas.microsoft.com/office/drawing/2014/main" id="{96C927CB-5A9B-C47E-368A-3579B2595C1E}"/>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t>事業概要</a:t>
            </a:r>
          </a:p>
        </p:txBody>
      </p:sp>
      <p:cxnSp>
        <p:nvCxnSpPr>
          <p:cNvPr id="16" name="直線コネクタ 15">
            <a:extLst>
              <a:ext uri="{FF2B5EF4-FFF2-40B4-BE49-F238E27FC236}">
                <a16:creationId xmlns:a16="http://schemas.microsoft.com/office/drawing/2014/main" id="{FD5050F0-3C11-BC61-1EAA-56B714331E84}"/>
              </a:ext>
            </a:extLst>
          </p:cNvPr>
          <p:cNvCxnSpPr>
            <a:cxnSpLocks/>
          </p:cNvCxnSpPr>
          <p:nvPr/>
        </p:nvCxnSpPr>
        <p:spPr>
          <a:xfrm>
            <a:off x="449263"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9" name="直線コネクタ 18">
            <a:extLst>
              <a:ext uri="{FF2B5EF4-FFF2-40B4-BE49-F238E27FC236}">
                <a16:creationId xmlns:a16="http://schemas.microsoft.com/office/drawing/2014/main" id="{4E6E5648-22F1-DE1E-6020-D47989377CA9}"/>
              </a:ext>
            </a:extLst>
          </p:cNvPr>
          <p:cNvCxnSpPr>
            <a:cxnSpLocks/>
          </p:cNvCxnSpPr>
          <p:nvPr/>
        </p:nvCxnSpPr>
        <p:spPr>
          <a:xfrm>
            <a:off x="8082550"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3" name="二等辺三角形 2">
            <a:extLst>
              <a:ext uri="{FF2B5EF4-FFF2-40B4-BE49-F238E27FC236}">
                <a16:creationId xmlns:a16="http://schemas.microsoft.com/office/drawing/2014/main" id="{B557BBBE-1218-1342-7E2D-CD72F7B39D2F}"/>
              </a:ext>
            </a:extLst>
          </p:cNvPr>
          <p:cNvSpPr/>
          <p:nvPr/>
        </p:nvSpPr>
        <p:spPr>
          <a:xfrm rot="5400000">
            <a:off x="7612581"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9" name="二等辺三角形 8">
            <a:extLst>
              <a:ext uri="{FF2B5EF4-FFF2-40B4-BE49-F238E27FC236}">
                <a16:creationId xmlns:a16="http://schemas.microsoft.com/office/drawing/2014/main" id="{91745C76-6270-D9EC-0862-A4072EDFED90}"/>
              </a:ext>
            </a:extLst>
          </p:cNvPr>
          <p:cNvSpPr/>
          <p:nvPr/>
        </p:nvSpPr>
        <p:spPr>
          <a:xfrm rot="5400000">
            <a:off x="2470990"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12" name="正方形/長方形 11">
            <a:extLst>
              <a:ext uri="{FF2B5EF4-FFF2-40B4-BE49-F238E27FC236}">
                <a16:creationId xmlns:a16="http://schemas.microsoft.com/office/drawing/2014/main" id="{29C58FFC-1A01-A8F0-166D-D51C0B6A2C66}"/>
              </a:ext>
            </a:extLst>
          </p:cNvPr>
          <p:cNvSpPr/>
          <p:nvPr/>
        </p:nvSpPr>
        <p:spPr>
          <a:xfrm>
            <a:off x="2933906" y="5890769"/>
            <a:ext cx="4824000" cy="103282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000" b="1" spc="100" dirty="0">
                <a:solidFill>
                  <a:schemeClr val="tx1"/>
                </a:solidFill>
                <a:latin typeface="+mj-ea"/>
                <a:ea typeface="+mj-ea"/>
              </a:rPr>
              <a:t>現時点の仮説（要ヒアリング）</a:t>
            </a:r>
          </a:p>
        </p:txBody>
      </p:sp>
      <p:cxnSp>
        <p:nvCxnSpPr>
          <p:cNvPr id="14" name="直線コネクタ 13">
            <a:extLst>
              <a:ext uri="{FF2B5EF4-FFF2-40B4-BE49-F238E27FC236}">
                <a16:creationId xmlns:a16="http://schemas.microsoft.com/office/drawing/2014/main" id="{0FD3DDF0-DCBD-CE14-F158-968514C4BE62}"/>
              </a:ext>
            </a:extLst>
          </p:cNvPr>
          <p:cNvCxnSpPr>
            <a:cxnSpLocks/>
          </p:cNvCxnSpPr>
          <p:nvPr/>
        </p:nvCxnSpPr>
        <p:spPr>
          <a:xfrm>
            <a:off x="2933906" y="5890769"/>
            <a:ext cx="4862558"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35" name="字幕 13">
            <a:extLst>
              <a:ext uri="{FF2B5EF4-FFF2-40B4-BE49-F238E27FC236}">
                <a16:creationId xmlns:a16="http://schemas.microsoft.com/office/drawing/2014/main" id="{999986B5-FEED-86D6-9A2B-D6BEF4A1BD44}"/>
              </a:ext>
            </a:extLst>
          </p:cNvPr>
          <p:cNvSpPr>
            <a:spLocks noGrp="1"/>
          </p:cNvSpPr>
          <p:nvPr>
            <p:ph type="subTitle" idx="1"/>
          </p:nvPr>
        </p:nvSpPr>
        <p:spPr>
          <a:xfrm>
            <a:off x="460675" y="830046"/>
            <a:ext cx="9781875" cy="241861"/>
          </a:xfrm>
        </p:spPr>
        <p:txBody>
          <a:bodyPr>
            <a:noAutofit/>
          </a:bodyPr>
          <a:lstStyle/>
          <a:p>
            <a:r>
              <a:rPr lang="ja-JP" altLang="en-US" dirty="0">
                <a:latin typeface="+mj-ea"/>
              </a:rPr>
              <a:t>公設庄内市場の卸売業者等からの仕入と近郷の出荷者からの集荷を、地元量販店・生協・給食および近隣市場へ供給</a:t>
            </a:r>
            <a:endParaRPr lang="en-US" altLang="ja-JP" dirty="0"/>
          </a:p>
        </p:txBody>
      </p:sp>
      <p:sp>
        <p:nvSpPr>
          <p:cNvPr id="36" name="TextBox 35"/>
          <p:cNvSpPr txBox="1"/>
          <p:nvPr/>
        </p:nvSpPr>
        <p:spPr>
          <a:xfrm>
            <a:off x="502920" y="2148840"/>
            <a:ext cx="2057400" cy="4572000"/>
          </a:xfrm>
          <a:prstGeom prst="rect">
            <a:avLst/>
          </a:prstGeom>
          <a:noFill/>
        </p:spPr>
        <p:txBody>
          <a:bodyPr wrap="square" lIns="0" rIns="0" tIns="0" bIns="0" anchor="t">
            <a:spAutoFit/>
          </a:bodyPr>
          <a:lstStyle/>
          <a:p>
            <a:pPr algn="l">
              <a:spcAft>
                <a:spcPts val="300"/>
              </a:spcAft>
            </a:pPr>
            <a:r>
              <a:rPr sz="850" b="0">
                <a:solidFill>
                  <a:srgbClr val="1A1A1A"/>
                </a:solidFill>
                <a:latin typeface="游ゴシック"/>
                <a:ea typeface="游ゴシック"/>
              </a:rPr>
              <a:t>■ 丸果庄内青果(株)</a:t>
            </a:r>
          </a:p>
          <a:p>
            <a:pPr algn="l">
              <a:spcAft>
                <a:spcPts val="300"/>
              </a:spcAft>
            </a:pPr>
            <a:r>
              <a:rPr sz="850" b="0">
                <a:solidFill>
                  <a:srgbClr val="1A1A1A"/>
                </a:solidFill>
                <a:latin typeface="游ゴシック"/>
                <a:ea typeface="游ゴシック"/>
              </a:rPr>
              <a:t>■ (株)庄果</a:t>
            </a:r>
          </a:p>
          <a:p>
            <a:pPr algn="l">
              <a:spcAft>
                <a:spcPts val="300"/>
              </a:spcAft>
            </a:pPr>
            <a:r>
              <a:rPr sz="850" b="0">
                <a:solidFill>
                  <a:srgbClr val="1A1A1A"/>
                </a:solidFill>
                <a:latin typeface="游ゴシック"/>
                <a:ea typeface="游ゴシック"/>
              </a:rPr>
              <a:t>　（公設庄内市場の卸：三川町）</a:t>
            </a:r>
          </a:p>
          <a:p>
            <a:pPr algn="l">
              <a:spcAft>
                <a:spcPts val="300"/>
              </a:spcAft>
            </a:pPr>
            <a:r>
              <a:rPr sz="850" b="0">
                <a:solidFill>
                  <a:srgbClr val="1A1A1A"/>
                </a:solidFill>
                <a:latin typeface="游ゴシック"/>
                <a:ea typeface="游ゴシック"/>
              </a:rPr>
              <a:t>■ 長井中央青果(株)</a:t>
            </a:r>
          </a:p>
          <a:p>
            <a:pPr algn="l">
              <a:spcAft>
                <a:spcPts val="300"/>
              </a:spcAft>
            </a:pPr>
            <a:r>
              <a:rPr sz="850" b="0">
                <a:solidFill>
                  <a:srgbClr val="1A1A1A"/>
                </a:solidFill>
                <a:latin typeface="游ゴシック"/>
                <a:ea typeface="游ゴシック"/>
              </a:rPr>
              <a:t>■ (株)マルト直治郎商店</a:t>
            </a:r>
          </a:p>
          <a:p>
            <a:pPr algn="l">
              <a:spcAft>
                <a:spcPts val="300"/>
              </a:spcAft>
            </a:pPr>
            <a:r>
              <a:rPr sz="850" b="0">
                <a:solidFill>
                  <a:srgbClr val="1A1A1A"/>
                </a:solidFill>
                <a:latin typeface="游ゴシック"/>
                <a:ea typeface="游ゴシック"/>
              </a:rPr>
              <a:t>■ 成田食品(株)（福島県）</a:t>
            </a:r>
          </a:p>
          <a:p>
            <a:pPr algn="l">
              <a:spcAft>
                <a:spcPts val="300"/>
              </a:spcAft>
            </a:pPr>
            <a:r>
              <a:rPr sz="850" b="0">
                <a:solidFill>
                  <a:srgbClr val="1A1A1A"/>
                </a:solidFill>
                <a:latin typeface="游ゴシック"/>
                <a:ea typeface="游ゴシック"/>
              </a:rPr>
              <a:t>■ (株)ファーマインド（東京都）</a:t>
            </a:r>
          </a:p>
          <a:p>
            <a:pPr algn="l">
              <a:spcAft>
                <a:spcPts val="300"/>
              </a:spcAft>
            </a:pPr>
            <a:r>
              <a:rPr sz="850" b="0">
                <a:solidFill>
                  <a:srgbClr val="1A1A1A"/>
                </a:solidFill>
                <a:latin typeface="游ゴシック"/>
                <a:ea typeface="游ゴシック"/>
              </a:rPr>
              <a:t>■ (株)東根農産センター</a:t>
            </a:r>
          </a:p>
          <a:p>
            <a:pPr algn="l">
              <a:spcAft>
                <a:spcPts val="300"/>
              </a:spcAft>
            </a:pPr>
            <a:r>
              <a:rPr sz="850" b="0">
                <a:solidFill>
                  <a:srgbClr val="1A1A1A"/>
                </a:solidFill>
                <a:latin typeface="游ゴシック"/>
                <a:ea typeface="游ゴシック"/>
              </a:rPr>
              <a:t>■ 近郷の生産者等（委託出荷）※推察</a:t>
            </a:r>
          </a:p>
        </p:txBody>
      </p:sp>
      <p:sp>
        <p:nvSpPr>
          <p:cNvPr id="37" name="TextBox 36"/>
          <p:cNvSpPr txBox="1"/>
          <p:nvPr/>
        </p:nvSpPr>
        <p:spPr>
          <a:xfrm>
            <a:off x="8138160" y="2148840"/>
            <a:ext cx="2057400" cy="4572000"/>
          </a:xfrm>
          <a:prstGeom prst="rect">
            <a:avLst/>
          </a:prstGeom>
          <a:noFill/>
        </p:spPr>
        <p:txBody>
          <a:bodyPr wrap="square" lIns="0" rIns="0" tIns="0" bIns="0" anchor="t">
            <a:spAutoFit/>
          </a:bodyPr>
          <a:lstStyle/>
          <a:p>
            <a:pPr algn="l">
              <a:spcAft>
                <a:spcPts val="300"/>
              </a:spcAft>
            </a:pPr>
            <a:r>
              <a:rPr sz="850" b="0">
                <a:solidFill>
                  <a:srgbClr val="1A1A1A"/>
                </a:solidFill>
                <a:latin typeface="游ゴシック"/>
                <a:ea typeface="游ゴシック"/>
              </a:rPr>
              <a:t>■ (株)主婦の店（量販店）</a:t>
            </a:r>
          </a:p>
          <a:p>
            <a:pPr algn="l">
              <a:spcAft>
                <a:spcPts val="300"/>
              </a:spcAft>
            </a:pPr>
            <a:r>
              <a:rPr sz="850" b="0">
                <a:solidFill>
                  <a:srgbClr val="1A1A1A"/>
                </a:solidFill>
                <a:latin typeface="游ゴシック"/>
                <a:ea typeface="游ゴシック"/>
              </a:rPr>
              <a:t>■ 生活協同組合共立社</a:t>
            </a:r>
          </a:p>
          <a:p>
            <a:pPr algn="l">
              <a:spcAft>
                <a:spcPts val="300"/>
              </a:spcAft>
            </a:pPr>
            <a:r>
              <a:rPr sz="850" b="0">
                <a:solidFill>
                  <a:srgbClr val="1A1A1A"/>
                </a:solidFill>
                <a:latin typeface="游ゴシック"/>
                <a:ea typeface="游ゴシック"/>
              </a:rPr>
              <a:t>■ 生協連合会アイチョイス</a:t>
            </a:r>
          </a:p>
          <a:p>
            <a:pPr algn="l">
              <a:spcAft>
                <a:spcPts val="300"/>
              </a:spcAft>
            </a:pPr>
            <a:r>
              <a:rPr sz="850" b="0">
                <a:solidFill>
                  <a:srgbClr val="1A1A1A"/>
                </a:solidFill>
                <a:latin typeface="游ゴシック"/>
                <a:ea typeface="游ゴシック"/>
              </a:rPr>
              <a:t>■ 小島商店</a:t>
            </a:r>
          </a:p>
          <a:p>
            <a:pPr algn="l">
              <a:spcAft>
                <a:spcPts val="300"/>
              </a:spcAft>
            </a:pPr>
            <a:r>
              <a:rPr sz="850" b="0">
                <a:solidFill>
                  <a:srgbClr val="1A1A1A"/>
                </a:solidFill>
                <a:latin typeface="游ゴシック"/>
                <a:ea typeface="游ゴシック"/>
              </a:rPr>
              <a:t>■ 給食センター</a:t>
            </a:r>
          </a:p>
          <a:p>
            <a:pPr algn="l">
              <a:spcAft>
                <a:spcPts val="300"/>
              </a:spcAft>
            </a:pPr>
            <a:r>
              <a:rPr sz="850" b="0">
                <a:solidFill>
                  <a:srgbClr val="1A1A1A"/>
                </a:solidFill>
                <a:latin typeface="游ゴシック"/>
                <a:ea typeface="游ゴシック"/>
              </a:rPr>
              <a:t>■ 長井中央青果(株)</a:t>
            </a:r>
          </a:p>
          <a:p>
            <a:pPr algn="l">
              <a:spcAft>
                <a:spcPts val="300"/>
              </a:spcAft>
            </a:pPr>
            <a:r>
              <a:rPr sz="850" b="0">
                <a:solidFill>
                  <a:srgbClr val="1A1A1A"/>
                </a:solidFill>
                <a:latin typeface="游ゴシック"/>
                <a:ea typeface="游ゴシック"/>
              </a:rPr>
              <a:t>■ 元青果</a:t>
            </a:r>
          </a:p>
          <a:p>
            <a:pPr algn="l">
              <a:spcAft>
                <a:spcPts val="300"/>
              </a:spcAft>
            </a:pPr>
            <a:r>
              <a:rPr sz="850" b="0">
                <a:solidFill>
                  <a:srgbClr val="1A1A1A"/>
                </a:solidFill>
                <a:latin typeface="游ゴシック"/>
                <a:ea typeface="游ゴシック"/>
              </a:rPr>
              <a:t>■ 市場の仲卸業者・買参人</a:t>
            </a:r>
          </a:p>
        </p:txBody>
      </p:sp>
      <p:sp>
        <p:nvSpPr>
          <p:cNvPr id="38" name="Rectangle 37"/>
          <p:cNvSpPr/>
          <p:nvPr/>
        </p:nvSpPr>
        <p:spPr>
          <a:xfrm>
            <a:off x="3154680" y="2011680"/>
            <a:ext cx="4343400" cy="75895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B3041"/>
                </a:solidFill>
                <a:latin typeface="游ゴシック"/>
                <a:ea typeface="游ゴシック"/>
              </a:rPr>
              <a:t>青果卸売事業（買付販売）</a:t>
            </a:r>
          </a:p>
          <a:p>
            <a:pPr algn="l"/>
            <a:r>
              <a:rPr sz="850" b="0">
                <a:solidFill>
                  <a:srgbClr val="1A1A1A"/>
                </a:solidFill>
                <a:latin typeface="游ゴシック"/>
                <a:ea typeface="游ゴシック"/>
              </a:rPr>
              <a:t>野菜・果実を買い付けて販売（総額計上）</a:t>
            </a:r>
          </a:p>
          <a:p>
            <a:pPr algn="l"/>
            <a:r>
              <a:rPr sz="850" b="0">
                <a:solidFill>
                  <a:srgbClr val="0889C9"/>
                </a:solidFill>
                <a:latin typeface="游ゴシック"/>
                <a:ea typeface="游ゴシック"/>
              </a:rPr>
              <a:t>収益：商品売上高</a:t>
            </a:r>
          </a:p>
        </p:txBody>
      </p:sp>
      <p:sp>
        <p:nvSpPr>
          <p:cNvPr id="39" name="Rectangle 38"/>
          <p:cNvSpPr/>
          <p:nvPr/>
        </p:nvSpPr>
        <p:spPr>
          <a:xfrm>
            <a:off x="3154680" y="2862072"/>
            <a:ext cx="4343400" cy="75895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B3041"/>
                </a:solidFill>
                <a:latin typeface="游ゴシック"/>
                <a:ea typeface="游ゴシック"/>
              </a:rPr>
              <a:t>青果卸売事業（受託販売）</a:t>
            </a:r>
          </a:p>
          <a:p>
            <a:pPr algn="l"/>
            <a:r>
              <a:rPr sz="850" b="0">
                <a:solidFill>
                  <a:srgbClr val="1A1A1A"/>
                </a:solidFill>
                <a:latin typeface="游ゴシック"/>
                <a:ea typeface="游ゴシック"/>
              </a:rPr>
              <a:t>出荷者から委託を受けセリ・相対で販売</a:t>
            </a:r>
          </a:p>
          <a:p>
            <a:pPr algn="l"/>
            <a:r>
              <a:rPr sz="850" b="0">
                <a:solidFill>
                  <a:srgbClr val="0889C9"/>
                </a:solidFill>
                <a:latin typeface="游ゴシック"/>
                <a:ea typeface="游ゴシック"/>
              </a:rPr>
              <a:t>収益：委託手数料（純額）</a:t>
            </a:r>
          </a:p>
        </p:txBody>
      </p:sp>
      <p:sp>
        <p:nvSpPr>
          <p:cNvPr id="40" name="Rectangle 39"/>
          <p:cNvSpPr/>
          <p:nvPr/>
        </p:nvSpPr>
        <p:spPr>
          <a:xfrm>
            <a:off x="3154680" y="3712464"/>
            <a:ext cx="4343400" cy="75895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B3041"/>
                </a:solidFill>
                <a:latin typeface="游ゴシック"/>
                <a:ea typeface="游ゴシック"/>
              </a:rPr>
              <a:t>関連サービス</a:t>
            </a:r>
          </a:p>
          <a:p>
            <a:pPr algn="l"/>
            <a:r>
              <a:rPr sz="850" b="0">
                <a:solidFill>
                  <a:srgbClr val="1A1A1A"/>
                </a:solidFill>
                <a:latin typeface="游ゴシック"/>
                <a:ea typeface="游ゴシック"/>
              </a:rPr>
              <a:t>パッケージ（小分け・包装）・集配・センター業務（推察）</a:t>
            </a:r>
          </a:p>
          <a:p>
            <a:pPr algn="l"/>
            <a:r>
              <a:rPr sz="850" b="0">
                <a:solidFill>
                  <a:srgbClr val="0889C9"/>
                </a:solidFill>
                <a:latin typeface="游ゴシック"/>
                <a:ea typeface="游ゴシック"/>
              </a:rPr>
              <a:t>収益：センター費</a:t>
            </a:r>
          </a:p>
        </p:txBody>
      </p:sp>
      <p:sp>
        <p:nvSpPr>
          <p:cNvPr id="41" name="Rectangle 40"/>
          <p:cNvSpPr/>
          <p:nvPr/>
        </p:nvSpPr>
        <p:spPr>
          <a:xfrm>
            <a:off x="3154680" y="4562856"/>
            <a:ext cx="4343400" cy="75895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B3041"/>
                </a:solidFill>
                <a:latin typeface="游ゴシック"/>
                <a:ea typeface="游ゴシック"/>
              </a:rPr>
              <a:t>資材・肥料販売</a:t>
            </a:r>
          </a:p>
          <a:p>
            <a:pPr algn="l"/>
            <a:r>
              <a:rPr sz="850" b="0">
                <a:solidFill>
                  <a:srgbClr val="1A1A1A"/>
                </a:solidFill>
                <a:latin typeface="游ゴシック"/>
                <a:ea typeface="游ゴシック"/>
              </a:rPr>
              <a:t>包装資材・肥料の販売</a:t>
            </a:r>
          </a:p>
          <a:p>
            <a:pPr algn="l"/>
            <a:r>
              <a:rPr sz="850" b="0">
                <a:solidFill>
                  <a:srgbClr val="0889C9"/>
                </a:solidFill>
                <a:latin typeface="游ゴシック"/>
                <a:ea typeface="游ゴシック"/>
              </a:rPr>
              <a:t>収益：資材売上高</a:t>
            </a:r>
          </a:p>
        </p:txBody>
      </p:sp>
      <p:sp>
        <p:nvSpPr>
          <p:cNvPr id="42" name="TextBox 41"/>
          <p:cNvSpPr txBox="1"/>
          <p:nvPr/>
        </p:nvSpPr>
        <p:spPr>
          <a:xfrm>
            <a:off x="3017520" y="6263640"/>
            <a:ext cx="4663440" cy="640080"/>
          </a:xfrm>
          <a:prstGeom prst="rect">
            <a:avLst/>
          </a:prstGeom>
          <a:noFill/>
        </p:spPr>
        <p:txBody>
          <a:bodyPr wrap="square" lIns="0" rIns="0" tIns="0" bIns="0" anchor="t">
            <a:spAutoFit/>
          </a:bodyPr>
          <a:lstStyle/>
          <a:p>
            <a:pPr algn="l">
              <a:spcAft>
                <a:spcPts val="100"/>
              </a:spcAft>
            </a:pPr>
            <a:r>
              <a:rPr sz="750" b="0">
                <a:solidFill>
                  <a:srgbClr val="1A1A1A"/>
                </a:solidFill>
                <a:latin typeface="游ゴシック"/>
                <a:ea typeface="游ゴシック"/>
              </a:rPr>
              <a:t>・受託販売は手数料のみの純額計上（2026年4〜7月の委託手数料収入12.6百万円）。取扱総額は要確認</a:t>
            </a:r>
          </a:p>
          <a:p>
            <a:pPr algn="l">
              <a:spcAft>
                <a:spcPts val="100"/>
              </a:spcAft>
            </a:pPr>
            <a:r>
              <a:rPr sz="750" b="0">
                <a:solidFill>
                  <a:srgbClr val="1A1A1A"/>
                </a:solidFill>
                <a:latin typeface="游ゴシック"/>
                <a:ea typeface="游ゴシック"/>
              </a:rPr>
              <a:t>・センター費12.3百万円（4〜7月）は主婦の店等の物流センター業務の受託と推察</a:t>
            </a:r>
          </a:p>
        </p:txBody>
      </p:sp>
    </p:spTree>
    <p:extLst>
      <p:ext uri="{BB962C8B-B14F-4D97-AF65-F5344CB8AC3E}">
        <p14:creationId xmlns:p14="http://schemas.microsoft.com/office/powerpoint/2010/main" val="5383831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0B1C5-D3FA-B80D-FCF0-3C49EF8E798D}"/>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C98E073B-FCE4-F6FA-66A7-29E757285F77}"/>
              </a:ext>
            </a:extLst>
          </p:cNvPr>
          <p:cNvSpPr>
            <a:spLocks noGrp="1"/>
          </p:cNvSpPr>
          <p:nvPr>
            <p:ph type="ctrTitle"/>
          </p:nvPr>
        </p:nvSpPr>
        <p:spPr/>
        <p:txBody>
          <a:bodyPr/>
          <a:lstStyle/>
          <a:p>
            <a:r>
              <a:rPr lang="ja-JP" altLang="en-US" dirty="0"/>
              <a:t>事業の仕組みと収益源</a:t>
            </a:r>
          </a:p>
        </p:txBody>
      </p:sp>
      <p:sp>
        <p:nvSpPr>
          <p:cNvPr id="2" name="タイトル 1">
            <a:extLst>
              <a:ext uri="{FF2B5EF4-FFF2-40B4-BE49-F238E27FC236}">
                <a16:creationId xmlns:a16="http://schemas.microsoft.com/office/drawing/2014/main" id="{1F33762E-23F4-8C5B-C467-2E3E3671C9B0}"/>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spc="0" dirty="0"/>
              <a:t>事業概要</a:t>
            </a:r>
          </a:p>
        </p:txBody>
      </p:sp>
      <p:sp>
        <p:nvSpPr>
          <p:cNvPr id="4" name="TextBox 3"/>
          <p:cNvSpPr txBox="1"/>
          <p:nvPr/>
        </p:nvSpPr>
        <p:spPr>
          <a:xfrm>
            <a:off x="457200" y="832104"/>
            <a:ext cx="9784080" cy="411480"/>
          </a:xfrm>
          <a:prstGeom prst="rect">
            <a:avLst/>
          </a:prstGeom>
          <a:noFill/>
        </p:spPr>
        <p:txBody>
          <a:bodyPr wrap="square" lIns="0" rIns="0" tIns="0" bIns="0" anchor="t">
            <a:spAutoFit/>
          </a:bodyPr>
          <a:lstStyle/>
          <a:p>
            <a:pPr algn="l"/>
            <a:r>
              <a:rPr sz="1100" b="1">
                <a:solidFill>
                  <a:srgbClr val="0B3041"/>
                </a:solidFill>
                <a:latin typeface="游ゴシック"/>
                <a:ea typeface="游ゴシック"/>
              </a:rPr>
              <a:t>市場の開設者と卸売業者を一社で兼ね、買付・受託の卸売に加え、センター費・資材販売・パッケージ等で収益を補完する構造（推察を含む）</a:t>
            </a:r>
          </a:p>
        </p:txBody>
      </p:sp>
      <p:sp>
        <p:nvSpPr>
          <p:cNvPr id="5" name="Rectangle 4"/>
          <p:cNvSpPr/>
          <p:nvPr/>
        </p:nvSpPr>
        <p:spPr>
          <a:xfrm>
            <a:off x="448056" y="1828800"/>
            <a:ext cx="210312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00" b="1">
                <a:solidFill>
                  <a:srgbClr val="FFFFFF"/>
                </a:solidFill>
                <a:latin typeface="游ゴシック"/>
                <a:ea typeface="游ゴシック"/>
              </a:rPr>
              <a:t>出荷者・仕入先</a:t>
            </a:r>
          </a:p>
        </p:txBody>
      </p:sp>
      <p:sp>
        <p:nvSpPr>
          <p:cNvPr id="6" name="Rectangle 5"/>
          <p:cNvSpPr/>
          <p:nvPr/>
        </p:nvSpPr>
        <p:spPr>
          <a:xfrm>
            <a:off x="448056" y="2103120"/>
            <a:ext cx="2103120" cy="77724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900" b="0">
                <a:solidFill>
                  <a:srgbClr val="1A1A1A"/>
                </a:solidFill>
                <a:latin typeface="游ゴシック"/>
                <a:ea typeface="游ゴシック"/>
              </a:rPr>
              <a:t>生産者・農協（近郷）
他市場の卸売業者
産地業者 等</a:t>
            </a:r>
          </a:p>
        </p:txBody>
      </p:sp>
      <p:sp>
        <p:nvSpPr>
          <p:cNvPr id="7" name="Rectangle 6"/>
          <p:cNvSpPr/>
          <p:nvPr/>
        </p:nvSpPr>
        <p:spPr>
          <a:xfrm>
            <a:off x="3063240" y="1554480"/>
            <a:ext cx="283464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00" b="1">
                <a:solidFill>
                  <a:srgbClr val="FFFFFF"/>
                </a:solidFill>
                <a:latin typeface="游ゴシック"/>
                <a:ea typeface="游ゴシック"/>
              </a:rPr>
              <a:t>株式会社鶴岡中央青果</a:t>
            </a:r>
          </a:p>
        </p:txBody>
      </p:sp>
      <p:sp>
        <p:nvSpPr>
          <p:cNvPr id="8" name="Rectangle 7"/>
          <p:cNvSpPr/>
          <p:nvPr/>
        </p:nvSpPr>
        <p:spPr>
          <a:xfrm>
            <a:off x="3063240" y="1828800"/>
            <a:ext cx="2834640" cy="128016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900" b="0">
                <a:solidFill>
                  <a:srgbClr val="1A1A1A"/>
                </a:solidFill>
                <a:latin typeface="游ゴシック"/>
                <a:ea typeface="游ゴシック"/>
              </a:rPr>
              <a:t>地方卸売市場の開設者兼卸売業者
（鶴岡市宝田）</a:t>
            </a:r>
          </a:p>
        </p:txBody>
      </p:sp>
      <p:sp>
        <p:nvSpPr>
          <p:cNvPr id="9" name="Rectangle 8"/>
          <p:cNvSpPr/>
          <p:nvPr/>
        </p:nvSpPr>
        <p:spPr>
          <a:xfrm>
            <a:off x="6446520" y="1417320"/>
            <a:ext cx="210312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00" b="1">
                <a:solidFill>
                  <a:srgbClr val="FFFFFF"/>
                </a:solidFill>
                <a:latin typeface="游ゴシック"/>
                <a:ea typeface="游ゴシック"/>
              </a:rPr>
              <a:t>仲卸業者・買参人</a:t>
            </a:r>
          </a:p>
        </p:txBody>
      </p:sp>
      <p:sp>
        <p:nvSpPr>
          <p:cNvPr id="10" name="Rectangle 9"/>
          <p:cNvSpPr/>
          <p:nvPr/>
        </p:nvSpPr>
        <p:spPr>
          <a:xfrm>
            <a:off x="6446520" y="1691640"/>
            <a:ext cx="2103120" cy="77724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900" b="0">
                <a:solidFill>
                  <a:srgbClr val="1A1A1A"/>
                </a:solidFill>
                <a:latin typeface="游ゴシック"/>
                <a:ea typeface="游ゴシック"/>
              </a:rPr>
              <a:t>市場内でセリ・相対により購入</a:t>
            </a:r>
          </a:p>
        </p:txBody>
      </p:sp>
      <p:sp>
        <p:nvSpPr>
          <p:cNvPr id="11" name="Rectangle 10"/>
          <p:cNvSpPr/>
          <p:nvPr/>
        </p:nvSpPr>
        <p:spPr>
          <a:xfrm>
            <a:off x="6446520" y="2606040"/>
            <a:ext cx="210312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00" b="1">
                <a:solidFill>
                  <a:srgbClr val="FFFFFF"/>
                </a:solidFill>
                <a:latin typeface="游ゴシック"/>
                <a:ea typeface="游ゴシック"/>
              </a:rPr>
              <a:t>量販店・生協・給食 等</a:t>
            </a:r>
          </a:p>
        </p:txBody>
      </p:sp>
      <p:sp>
        <p:nvSpPr>
          <p:cNvPr id="12" name="Rectangle 11"/>
          <p:cNvSpPr/>
          <p:nvPr/>
        </p:nvSpPr>
        <p:spPr>
          <a:xfrm>
            <a:off x="6446520" y="2880360"/>
            <a:ext cx="2103120" cy="77724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900" b="0">
                <a:solidFill>
                  <a:srgbClr val="1A1A1A"/>
                </a:solidFill>
                <a:latin typeface="游ゴシック"/>
                <a:ea typeface="游ゴシック"/>
              </a:rPr>
              <a:t>当社から直接販売</a:t>
            </a:r>
          </a:p>
        </p:txBody>
      </p:sp>
      <p:cxnSp>
        <p:nvCxnSpPr>
          <p:cNvPr id="13" name="Connector 12"/>
          <p:cNvCxnSpPr/>
          <p:nvPr/>
        </p:nvCxnSpPr>
        <p:spPr>
          <a:xfrm>
            <a:off x="2596896" y="2331720"/>
            <a:ext cx="420624" cy="0"/>
          </a:xfrm>
          <a:prstGeom prst="line">
            <a:avLst/>
          </a:prstGeom>
          <a:ln w="25400">
            <a:solidFill>
              <a:srgbClr val="0889C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943600" y="1920240"/>
            <a:ext cx="457200" cy="0"/>
          </a:xfrm>
          <a:prstGeom prst="line">
            <a:avLst/>
          </a:prstGeom>
          <a:ln w="25400">
            <a:solidFill>
              <a:srgbClr val="0889C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943600" y="3017520"/>
            <a:ext cx="457200" cy="0"/>
          </a:xfrm>
          <a:prstGeom prst="line">
            <a:avLst/>
          </a:prstGeom>
          <a:ln w="25400">
            <a:solidFill>
              <a:srgbClr val="0889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8732520" y="1417320"/>
            <a:ext cx="1600200" cy="196596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800" b="0">
                <a:solidFill>
                  <a:srgbClr val="1A1A1A"/>
                </a:solidFill>
                <a:latin typeface="游ゴシック"/>
                <a:ea typeface="游ゴシック"/>
              </a:rPr>
              <a:t>部門構成</a:t>
            </a:r>
          </a:p>
          <a:p>
            <a:pPr algn="l"/>
            <a:r>
              <a:rPr sz="800" b="0">
                <a:solidFill>
                  <a:srgbClr val="1A1A1A"/>
                </a:solidFill>
                <a:latin typeface="游ゴシック"/>
                <a:ea typeface="游ゴシック"/>
              </a:rPr>
              <a:t>野菜営業部／果実営業部／近郷部／集配部／パッケージ部／生花部／資材部／総務部</a:t>
            </a:r>
          </a:p>
        </p:txBody>
      </p:sp>
      <p:graphicFrame>
        <p:nvGraphicFramePr>
          <p:cNvPr id="17" name="Table 16"/>
          <p:cNvGraphicFramePr>
            <a:graphicFrameLocks noGrp="1"/>
          </p:cNvGraphicFramePr>
          <p:nvPr/>
        </p:nvGraphicFramePr>
        <p:xfrm>
          <a:off x="448056" y="4023360"/>
          <a:ext cx="9793222" cy="1920240"/>
        </p:xfrm>
        <a:graphic>
          <a:graphicData uri="http://schemas.openxmlformats.org/drawingml/2006/table">
            <a:tbl>
              <a:tblPr firstRow="0" bandRow="0">
                <a:tableStyleId>{5940675A-B579-460E-94D1-54222C63F5DA}</a:tableStyleId>
              </a:tblPr>
              <a:tblGrid>
                <a:gridCol w="2026184"/>
                <a:gridCol w="1238223"/>
                <a:gridCol w="900526"/>
                <a:gridCol w="5628289"/>
              </a:tblGrid>
              <a:tr h="274320">
                <a:tc>
                  <a:txBody>
                    <a:bodyPr wrap="square"/>
                    <a:lstStyle/>
                    <a:p>
                      <a:pPr algn="ctr"/>
                      <a:r>
                        <a:rPr sz="850" b="1">
                          <a:solidFill>
                            <a:srgbClr val="FFFFFF"/>
                          </a:solidFill>
                          <a:latin typeface="游ゴシック"/>
                          <a:ea typeface="游ゴシック"/>
                        </a:rPr>
                        <a:t>収益源（2026年4〜7月）</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金額（千円）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構成比</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内容</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50" b="0">
                          <a:solidFill>
                            <a:srgbClr val="1A1A1A"/>
                          </a:solidFill>
                          <a:latin typeface="游ゴシック"/>
                          <a:ea typeface="游ゴシック"/>
                        </a:rPr>
                        <a:t>商品売上高</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375,961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91.4%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青果物の販売（買付販売。総額計上）</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50" b="0">
                          <a:solidFill>
                            <a:srgbClr val="1A1A1A"/>
                          </a:solidFill>
                          <a:latin typeface="游ゴシック"/>
                          <a:ea typeface="游ゴシック"/>
                        </a:rPr>
                        <a:t>委託手数料収入</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12,564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受託販売の手数料（純額計上）</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50" b="0">
                          <a:solidFill>
                            <a:srgbClr val="1A1A1A"/>
                          </a:solidFill>
                          <a:latin typeface="游ゴシック"/>
                          <a:ea typeface="游ゴシック"/>
                        </a:rPr>
                        <a:t>センター費収入</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12,273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(株)主婦の店等からのセンター費（物流センター業務の受託と推察）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50" b="0">
                          <a:solidFill>
                            <a:srgbClr val="1A1A1A"/>
                          </a:solidFill>
                          <a:latin typeface="游ゴシック"/>
                          <a:ea typeface="游ゴシック"/>
                        </a:rPr>
                        <a:t>資材売上高</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10,820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包装資材・肥料等の販売</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50" b="0">
                          <a:solidFill>
                            <a:srgbClr val="1A1A1A"/>
                          </a:solidFill>
                          <a:latin typeface="游ゴシック"/>
                          <a:ea typeface="游ゴシック"/>
                        </a:rPr>
                        <a:t>売上割戻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△462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l"/>
                      <a:r>
                        <a:rPr sz="850" b="1">
                          <a:solidFill>
                            <a:srgbClr val="1A1A1A"/>
                          </a:solidFill>
                          <a:latin typeface="游ゴシック"/>
                          <a:ea typeface="游ゴシック"/>
                        </a:rPr>
                        <a:t>売上高 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411,155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100.0%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8" name="TextBox 17"/>
          <p:cNvSpPr txBox="1"/>
          <p:nvPr/>
        </p:nvSpPr>
        <p:spPr>
          <a:xfrm>
            <a:off x="448056" y="6035040"/>
            <a:ext cx="9793224" cy="822960"/>
          </a:xfrm>
          <a:prstGeom prst="rect">
            <a:avLst/>
          </a:prstGeom>
          <a:noFill/>
        </p:spPr>
        <p:txBody>
          <a:bodyPr wrap="square" lIns="0" rIns="0" tIns="0" bIns="0" anchor="t">
            <a:spAutoFit/>
          </a:bodyPr>
          <a:lstStyle/>
          <a:p>
            <a:pPr algn="l"/>
            <a:r>
              <a:rPr sz="750" b="0">
                <a:solidFill>
                  <a:srgbClr val="5A6670"/>
                </a:solidFill>
                <a:latin typeface="游ゴシック"/>
                <a:ea typeface="游ゴシック"/>
              </a:rPr>
              <a:t>※決算書では売上高を「商品売上高」1本で表示しているため、年度別の収益源内訳は試算表（2026年4〜7月）で代替。年度別内訳は要確認。</a:t>
            </a:r>
          </a:p>
          <a:p>
            <a:pPr algn="l"/>
            <a:r>
              <a:rPr sz="750" b="0">
                <a:solidFill>
                  <a:srgbClr val="5A6670"/>
                </a:solidFill>
                <a:latin typeface="游ゴシック"/>
                <a:ea typeface="游ゴシック"/>
              </a:rPr>
              <a:t>※上記のほか、仲卸業者・買参人からのゴミ処理料・冷蔵庫保管料、受取奨励金（完納奨励金等）を営業外収益に計上。卸売市場法上の認定状況、仲卸業者数・買参人数は要確認。</a:t>
            </a:r>
          </a:p>
        </p:txBody>
      </p:sp>
    </p:spTree>
    <p:extLst>
      <p:ext uri="{BB962C8B-B14F-4D97-AF65-F5344CB8AC3E}">
        <p14:creationId xmlns:p14="http://schemas.microsoft.com/office/powerpoint/2010/main" val="25275136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C40E5E72-4BCD-E861-A1A2-154E947EEC6C}"/>
              </a:ext>
            </a:extLst>
          </p:cNvPr>
          <p:cNvSpPr/>
          <p:nvPr/>
        </p:nvSpPr>
        <p:spPr>
          <a:xfrm>
            <a:off x="449262" y="112768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14" name="テキスト ボックス 13">
            <a:extLst>
              <a:ext uri="{FF2B5EF4-FFF2-40B4-BE49-F238E27FC236}">
                <a16:creationId xmlns:a16="http://schemas.microsoft.com/office/drawing/2014/main" id="{E4EAC5C5-4B19-168C-44C3-D63B9FCB0292}"/>
              </a:ext>
            </a:extLst>
          </p:cNvPr>
          <p:cNvSpPr txBox="1"/>
          <p:nvPr/>
        </p:nvSpPr>
        <p:spPr>
          <a:xfrm>
            <a:off x="2114550" y="1554265"/>
            <a:ext cx="7768831" cy="802848"/>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chemeClr val="tx2"/>
                </a:solidFill>
                <a:latin typeface="+mj-ea"/>
                <a:ea typeface="+mj-ea"/>
              </a:rPr>
              <a:t>市場機能を一社で保有（開設者兼卸売業者）</a:t>
            </a:r>
            <a:endParaRPr lang="en-US" altLang="ja-JP" sz="1600" b="1" spc="30" dirty="0">
              <a:solidFill>
                <a:schemeClr val="tx2"/>
              </a:solidFill>
              <a:latin typeface="+mj-ea"/>
              <a:ea typeface="+mj-ea"/>
            </a:endParaRPr>
          </a:p>
          <a:p>
            <a:pPr>
              <a:lnSpc>
                <a:spcPct val="120000"/>
              </a:lnSpc>
              <a:spcAft>
                <a:spcPts val="600"/>
              </a:spcAft>
            </a:pPr>
            <a:r>
              <a:rPr lang="ja-JP" altLang="en-US" sz="1600" b="1" spc="30" dirty="0">
                <a:solidFill>
                  <a:schemeClr val="tx2"/>
                </a:solidFill>
                <a:latin typeface="+mj-ea"/>
                <a:ea typeface="+mj-ea"/>
              </a:rPr>
              <a:t>集荷・セリ・分荷の市場機能を自社で担い、地域の青果流通インフラとして機能。セリ人資格者3名、販路は量販店・生協・学校給食・近隣市場・仲卸業者に分散。</a:t>
            </a:r>
            <a:endParaRPr lang="en-US" altLang="ja-JP" sz="1600" b="1" spc="30" dirty="0">
              <a:solidFill>
                <a:schemeClr val="tx2"/>
              </a:solidFill>
              <a:latin typeface="+mj-ea"/>
              <a:ea typeface="+mj-ea"/>
            </a:endParaRPr>
          </a:p>
        </p:txBody>
      </p:sp>
      <p:sp>
        <p:nvSpPr>
          <p:cNvPr id="3" name="タイトル 2">
            <a:extLst>
              <a:ext uri="{FF2B5EF4-FFF2-40B4-BE49-F238E27FC236}">
                <a16:creationId xmlns:a16="http://schemas.microsoft.com/office/drawing/2014/main" id="{3DD08FDB-DE43-2BEC-7657-AFC65253B448}"/>
              </a:ext>
            </a:extLst>
          </p:cNvPr>
          <p:cNvSpPr>
            <a:spLocks noGrp="1"/>
          </p:cNvSpPr>
          <p:nvPr>
            <p:ph type="ctrTitle"/>
          </p:nvPr>
        </p:nvSpPr>
        <p:spPr/>
        <p:txBody>
          <a:bodyPr/>
          <a:lstStyle/>
          <a:p>
            <a:r>
              <a:rPr lang="ja-JP" altLang="en-US" dirty="0"/>
              <a:t>特徴、強み、成長性等</a:t>
            </a:r>
          </a:p>
        </p:txBody>
      </p:sp>
      <p:sp>
        <p:nvSpPr>
          <p:cNvPr id="2" name="タイトル 1">
            <a:extLst>
              <a:ext uri="{FF2B5EF4-FFF2-40B4-BE49-F238E27FC236}">
                <a16:creationId xmlns:a16="http://schemas.microsoft.com/office/drawing/2014/main" id="{0A4FF749-E8A2-9754-A990-0C08664F52BF}"/>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spc="0" dirty="0"/>
              <a:t>事業概要</a:t>
            </a:r>
          </a:p>
        </p:txBody>
      </p:sp>
      <p:cxnSp>
        <p:nvCxnSpPr>
          <p:cNvPr id="4" name="直線コネクタ 3">
            <a:extLst>
              <a:ext uri="{FF2B5EF4-FFF2-40B4-BE49-F238E27FC236}">
                <a16:creationId xmlns:a16="http://schemas.microsoft.com/office/drawing/2014/main" id="{15777771-F922-A7C4-D3CB-74B58B03FF57}"/>
              </a:ext>
            </a:extLst>
          </p:cNvPr>
          <p:cNvCxnSpPr>
            <a:cxnSpLocks/>
          </p:cNvCxnSpPr>
          <p:nvPr/>
        </p:nvCxnSpPr>
        <p:spPr>
          <a:xfrm>
            <a:off x="449263" y="112311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2" name="正方形/長方形 11">
            <a:extLst>
              <a:ext uri="{FF2B5EF4-FFF2-40B4-BE49-F238E27FC236}">
                <a16:creationId xmlns:a16="http://schemas.microsoft.com/office/drawing/2014/main" id="{4D234CEC-3A04-0F25-446A-5400388CA526}"/>
              </a:ext>
            </a:extLst>
          </p:cNvPr>
          <p:cNvSpPr/>
          <p:nvPr/>
        </p:nvSpPr>
        <p:spPr>
          <a:xfrm>
            <a:off x="647115" y="146968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特徴</a:t>
            </a:r>
            <a:endParaRPr lang="en-US" altLang="ja-JP" b="1" spc="70" dirty="0">
              <a:solidFill>
                <a:schemeClr val="bg1"/>
              </a:solidFill>
              <a:latin typeface="+mj-ea"/>
              <a:ea typeface="+mj-ea"/>
            </a:endParaRPr>
          </a:p>
        </p:txBody>
      </p:sp>
      <p:sp>
        <p:nvSpPr>
          <p:cNvPr id="18" name="正方形/長方形 17">
            <a:extLst>
              <a:ext uri="{FF2B5EF4-FFF2-40B4-BE49-F238E27FC236}">
                <a16:creationId xmlns:a16="http://schemas.microsoft.com/office/drawing/2014/main" id="{0C864657-FFF0-FA13-5524-DC1F4F22D1C8}"/>
              </a:ext>
            </a:extLst>
          </p:cNvPr>
          <p:cNvSpPr/>
          <p:nvPr/>
        </p:nvSpPr>
        <p:spPr>
          <a:xfrm>
            <a:off x="449262" y="312455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0" name="テキスト ボックス 19">
            <a:extLst>
              <a:ext uri="{FF2B5EF4-FFF2-40B4-BE49-F238E27FC236}">
                <a16:creationId xmlns:a16="http://schemas.microsoft.com/office/drawing/2014/main" id="{48644844-8906-9AF0-5D0D-98648174194F}"/>
              </a:ext>
            </a:extLst>
          </p:cNvPr>
          <p:cNvSpPr txBox="1"/>
          <p:nvPr/>
        </p:nvSpPr>
        <p:spPr>
          <a:xfrm>
            <a:off x="2114550" y="3551135"/>
            <a:ext cx="7768831" cy="802848"/>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chemeClr val="tx2"/>
                </a:solidFill>
                <a:latin typeface="+mj-ea"/>
                <a:ea typeface="+mj-ea"/>
              </a:rPr>
              <a:t>自社保有の市場用地・施設と地域特産品の取扱い</a:t>
            </a:r>
            <a:endParaRPr lang="en-US" altLang="ja-JP" sz="1600" b="1" spc="30" dirty="0">
              <a:solidFill>
                <a:schemeClr val="tx2"/>
              </a:solidFill>
              <a:latin typeface="+mj-ea"/>
              <a:ea typeface="+mj-ea"/>
            </a:endParaRPr>
          </a:p>
          <a:p>
            <a:pPr>
              <a:lnSpc>
                <a:spcPct val="120000"/>
              </a:lnSpc>
              <a:spcAft>
                <a:spcPts val="600"/>
              </a:spcAft>
            </a:pPr>
            <a:r>
              <a:rPr lang="ja-JP" altLang="en-US" sz="1600" b="1" spc="30" dirty="0">
                <a:solidFill>
                  <a:schemeClr val="tx2"/>
                </a:solidFill>
                <a:latin typeface="+mj-ea"/>
                <a:ea typeface="+mj-ea"/>
              </a:rPr>
              <a:t>本社市場（3,100㎡）とパッケージ場（901㎡）が隣接し地代負担なし。Webサイトでだだちゃ豆・庄内柿・メロン・和梨/洋梨等の特産品を紹介（取扱実績は要確認）。</a:t>
            </a:r>
            <a:endParaRPr lang="en-US" altLang="ja-JP" sz="1600" b="1" spc="30" dirty="0">
              <a:solidFill>
                <a:schemeClr val="tx2"/>
              </a:solidFill>
              <a:latin typeface="+mj-ea"/>
              <a:ea typeface="+mj-ea"/>
            </a:endParaRPr>
          </a:p>
        </p:txBody>
      </p:sp>
      <p:cxnSp>
        <p:nvCxnSpPr>
          <p:cNvPr id="21" name="直線コネクタ 20">
            <a:extLst>
              <a:ext uri="{FF2B5EF4-FFF2-40B4-BE49-F238E27FC236}">
                <a16:creationId xmlns:a16="http://schemas.microsoft.com/office/drawing/2014/main" id="{3CCDB214-2D0E-0EEE-88F8-7201AB775BEA}"/>
              </a:ext>
            </a:extLst>
          </p:cNvPr>
          <p:cNvCxnSpPr>
            <a:cxnSpLocks/>
          </p:cNvCxnSpPr>
          <p:nvPr/>
        </p:nvCxnSpPr>
        <p:spPr>
          <a:xfrm>
            <a:off x="449263" y="311998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7" name="正方形/長方形 26">
            <a:extLst>
              <a:ext uri="{FF2B5EF4-FFF2-40B4-BE49-F238E27FC236}">
                <a16:creationId xmlns:a16="http://schemas.microsoft.com/office/drawing/2014/main" id="{8C7E43AC-FD21-D8FF-812C-F486F11E9CD0}"/>
              </a:ext>
            </a:extLst>
          </p:cNvPr>
          <p:cNvSpPr/>
          <p:nvPr/>
        </p:nvSpPr>
        <p:spPr>
          <a:xfrm>
            <a:off x="647115" y="346655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強み</a:t>
            </a:r>
            <a:endParaRPr lang="en-US" altLang="ja-JP" b="1" spc="70" dirty="0">
              <a:solidFill>
                <a:schemeClr val="bg1"/>
              </a:solidFill>
              <a:latin typeface="+mj-ea"/>
              <a:ea typeface="+mj-ea"/>
            </a:endParaRPr>
          </a:p>
        </p:txBody>
      </p:sp>
      <p:sp>
        <p:nvSpPr>
          <p:cNvPr id="28" name="正方形/長方形 27">
            <a:extLst>
              <a:ext uri="{FF2B5EF4-FFF2-40B4-BE49-F238E27FC236}">
                <a16:creationId xmlns:a16="http://schemas.microsoft.com/office/drawing/2014/main" id="{0BB6E073-4046-E1C0-AB4F-403D39FF250A}"/>
              </a:ext>
            </a:extLst>
          </p:cNvPr>
          <p:cNvSpPr/>
          <p:nvPr/>
        </p:nvSpPr>
        <p:spPr>
          <a:xfrm>
            <a:off x="449262" y="5112286"/>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9" name="テキスト ボックス 28">
            <a:extLst>
              <a:ext uri="{FF2B5EF4-FFF2-40B4-BE49-F238E27FC236}">
                <a16:creationId xmlns:a16="http://schemas.microsoft.com/office/drawing/2014/main" id="{91275261-EC0D-E601-4242-EE2F20F981A2}"/>
              </a:ext>
            </a:extLst>
          </p:cNvPr>
          <p:cNvSpPr txBox="1"/>
          <p:nvPr/>
        </p:nvSpPr>
        <p:spPr>
          <a:xfrm>
            <a:off x="2114550" y="5538863"/>
            <a:ext cx="7768831" cy="802848"/>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chemeClr val="tx2"/>
                </a:solidFill>
                <a:latin typeface="+mj-ea"/>
                <a:ea typeface="+mj-ea"/>
              </a:rPr>
              <a:t>（仮説）集荷力・物流拠点を活かした収益改善</a:t>
            </a:r>
            <a:endParaRPr lang="en-US" altLang="ja-JP" sz="1600" b="1" spc="30" dirty="0">
              <a:solidFill>
                <a:schemeClr val="tx2"/>
              </a:solidFill>
              <a:latin typeface="+mj-ea"/>
              <a:ea typeface="+mj-ea"/>
            </a:endParaRPr>
          </a:p>
          <a:p>
            <a:pPr>
              <a:lnSpc>
                <a:spcPct val="120000"/>
              </a:lnSpc>
              <a:spcAft>
                <a:spcPts val="600"/>
              </a:spcAft>
            </a:pPr>
            <a:r>
              <a:rPr lang="ja-JP" altLang="en-US" sz="1600" b="1" spc="30" dirty="0">
                <a:solidFill>
                  <a:schemeClr val="tx2"/>
                </a:solidFill>
                <a:latin typeface="+mj-ea"/>
                <a:ea typeface="+mj-ea"/>
              </a:rPr>
              <a:t>粗利率は18.6%→16.6%と低下しており、仕入価格の転嫁や品目構成の見直し、量販店向けセンター業務・パッケージの拡大に改善余地があると想定。主要棟は1981〜82年築で更新投資の見積りが必要。</a:t>
            </a:r>
            <a:endParaRPr lang="en-US" altLang="ja-JP" sz="1600" b="1" spc="30" dirty="0">
              <a:solidFill>
                <a:schemeClr val="tx2"/>
              </a:solidFill>
              <a:latin typeface="+mj-ea"/>
              <a:ea typeface="+mj-ea"/>
            </a:endParaRPr>
          </a:p>
        </p:txBody>
      </p:sp>
      <p:cxnSp>
        <p:nvCxnSpPr>
          <p:cNvPr id="30" name="直線コネクタ 29">
            <a:extLst>
              <a:ext uri="{FF2B5EF4-FFF2-40B4-BE49-F238E27FC236}">
                <a16:creationId xmlns:a16="http://schemas.microsoft.com/office/drawing/2014/main" id="{9E59F759-029D-ACD7-2E8B-82D0E894FB13}"/>
              </a:ext>
            </a:extLst>
          </p:cNvPr>
          <p:cNvCxnSpPr>
            <a:cxnSpLocks/>
          </p:cNvCxnSpPr>
          <p:nvPr/>
        </p:nvCxnSpPr>
        <p:spPr>
          <a:xfrm>
            <a:off x="449263" y="5107715"/>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31" name="正方形/長方形 30">
            <a:extLst>
              <a:ext uri="{FF2B5EF4-FFF2-40B4-BE49-F238E27FC236}">
                <a16:creationId xmlns:a16="http://schemas.microsoft.com/office/drawing/2014/main" id="{9F97658D-62E2-B46F-7C6B-A887412B79A8}"/>
              </a:ext>
            </a:extLst>
          </p:cNvPr>
          <p:cNvSpPr/>
          <p:nvPr/>
        </p:nvSpPr>
        <p:spPr>
          <a:xfrm>
            <a:off x="647115" y="5454286"/>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成長性</a:t>
            </a:r>
            <a:endParaRPr lang="en-US" altLang="ja-JP" b="1" spc="70" dirty="0">
              <a:solidFill>
                <a:schemeClr val="bg1"/>
              </a:solidFill>
              <a:latin typeface="+mj-ea"/>
              <a:ea typeface="+mj-ea"/>
            </a:endParaRPr>
          </a:p>
        </p:txBody>
      </p:sp>
      <p:sp>
        <p:nvSpPr>
          <p:cNvPr id="32" name="TextBox 31"/>
          <p:cNvSpPr txBox="1"/>
          <p:nvPr/>
        </p:nvSpPr>
        <p:spPr>
          <a:xfrm>
            <a:off x="448056" y="6784848"/>
            <a:ext cx="9793224" cy="228600"/>
          </a:xfrm>
          <a:prstGeom prst="rect">
            <a:avLst/>
          </a:prstGeom>
          <a:noFill/>
        </p:spPr>
        <p:txBody>
          <a:bodyPr wrap="square" lIns="0" rIns="0" tIns="0" bIns="0" anchor="t">
            <a:spAutoFit/>
          </a:bodyPr>
          <a:lstStyle/>
          <a:p>
            <a:pPr algn="l"/>
            <a:r>
              <a:rPr sz="750" b="0">
                <a:solidFill>
                  <a:srgbClr val="5A6670"/>
                </a:solidFill>
                <a:latin typeface="游ゴシック"/>
                <a:ea typeface="游ゴシック"/>
              </a:rPr>
              <a:t>※「仮説」は資料から推定した論点であり、売主様への確認前の内容です。</a:t>
            </a:r>
          </a:p>
        </p:txBody>
      </p:sp>
    </p:spTree>
    <p:extLst>
      <p:ext uri="{BB962C8B-B14F-4D97-AF65-F5344CB8AC3E}">
        <p14:creationId xmlns:p14="http://schemas.microsoft.com/office/powerpoint/2010/main" val="27210844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F8F80-D630-2549-01F8-FD24A474441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t>主要販売先（期末売掛金残高）</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mj-ea"/>
              </a:rPr>
              <a:t>(株)主婦の店を筆頭に、地元量販店・生協・学校給食・近隣市場へ販売。売掛金残高上位先の顔ぶれは3期で安定</a:t>
            </a:r>
            <a:endParaRPr lang="en-US" altLang="ja-JP" dirty="0"/>
          </a:p>
        </p:txBody>
      </p:sp>
      <p:graphicFrame>
        <p:nvGraphicFramePr>
          <p:cNvPr id="14" name="Table 13"/>
          <p:cNvGraphicFramePr>
            <a:graphicFrameLocks noGrp="1"/>
          </p:cNvGraphicFramePr>
          <p:nvPr/>
        </p:nvGraphicFramePr>
        <p:xfrm>
          <a:off x="310896" y="1463040"/>
          <a:ext cx="10058394" cy="4352544"/>
        </p:xfrm>
        <a:graphic>
          <a:graphicData uri="http://schemas.openxmlformats.org/drawingml/2006/table">
            <a:tbl>
              <a:tblPr firstRow="0" bandRow="0">
                <a:tableStyleId>{5940675A-B579-460E-94D1-54222C63F5DA}</a:tableStyleId>
              </a:tblPr>
              <a:tblGrid>
                <a:gridCol w="327482"/>
                <a:gridCol w="2152029"/>
                <a:gridCol w="888881"/>
                <a:gridCol w="888881"/>
                <a:gridCol w="888881"/>
                <a:gridCol w="701748"/>
                <a:gridCol w="1216364"/>
                <a:gridCol w="2994128"/>
              </a:tblGrid>
              <a:tr h="310896">
                <a:tc>
                  <a:txBody>
                    <a:bodyPr wrap="square"/>
                    <a:lstStyle/>
                    <a:p>
                      <a:pPr algn="ctr"/>
                      <a:r>
                        <a:rPr sz="850" b="1">
                          <a:solidFill>
                            <a:srgbClr val="FFFFFF"/>
                          </a:solidFill>
                          <a:latin typeface="游ゴシック"/>
                          <a:ea typeface="游ゴシック"/>
                        </a:rPr>
                        <a:t>№</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相手先</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2024/3末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2025/3末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2026/3末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構成比</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所在地</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業態・備考</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0">
                          <a:solidFill>
                            <a:srgbClr val="1A1A1A"/>
                          </a:solidFill>
                          <a:latin typeface="Arial"/>
                          <a:ea typeface="游ゴシック"/>
                        </a:rPr>
                        <a:t>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(株)主婦の店</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7,625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7,465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7,194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34.5%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鶴岡市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食品スーパー（推察）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0">
                          <a:solidFill>
                            <a:srgbClr val="1A1A1A"/>
                          </a:solidFill>
                          <a:latin typeface="Arial"/>
                          <a:ea typeface="游ゴシック"/>
                        </a:rPr>
                        <a:t>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小島商店</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3,566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1,610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2,482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11.9%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鶴岡市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青果小売（推察）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0">
                          <a:solidFill>
                            <a:srgbClr val="1A1A1A"/>
                          </a:solidFill>
                          <a:latin typeface="Arial"/>
                          <a:ea typeface="游ゴシック"/>
                        </a:rPr>
                        <a:t>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長井中央青果(株)</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3,039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4,185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1,785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8.6%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長井市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青果卸（長井中央青果地方卸売市場）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0">
                          <a:solidFill>
                            <a:srgbClr val="1A1A1A"/>
                          </a:solidFill>
                          <a:latin typeface="Arial"/>
                          <a:ea typeface="游ゴシック"/>
                        </a:rPr>
                        <a:t>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生活協同組合共立社</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1,110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2,034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1,932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9.3%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鶴岡市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生協</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0">
                          <a:solidFill>
                            <a:srgbClr val="1A1A1A"/>
                          </a:solidFill>
                          <a:latin typeface="Arial"/>
                          <a:ea typeface="游ゴシック"/>
                        </a:rPr>
                        <a:t>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給食センター</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793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1,307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1,121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5.4%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鶴岡市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学校給食（推察）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0">
                          <a:solidFill>
                            <a:srgbClr val="1A1A1A"/>
                          </a:solidFill>
                          <a:latin typeface="Arial"/>
                          <a:ea typeface="游ゴシック"/>
                        </a:rPr>
                        <a:t>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元青果</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1,051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1,019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746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三川町</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公設庄内青果物地方卸売市場内事業者（推察）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0">
                          <a:solidFill>
                            <a:srgbClr val="1A1A1A"/>
                          </a:solidFill>
                          <a:latin typeface="Arial"/>
                          <a:ea typeface="游ゴシック"/>
                        </a:rPr>
                        <a:t>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生活協同組合連合会アイチョイス</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751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1,033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618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名古屋市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生協連合会</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0">
                          <a:solidFill>
                            <a:srgbClr val="1A1A1A"/>
                          </a:solidFill>
                          <a:latin typeface="Arial"/>
                          <a:ea typeface="游ゴシック"/>
                        </a:rPr>
                        <a:t>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(株)みどりの里</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503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886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愛知県豊田市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0">
                          <a:solidFill>
                            <a:srgbClr val="1A1A1A"/>
                          </a:solidFill>
                          <a:latin typeface="Arial"/>
                          <a:ea typeface="游ゴシック"/>
                        </a:rPr>
                        <a:t>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(有)新庄丸果青果</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825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706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新庄市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青果卸（推察）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0">
                          <a:solidFill>
                            <a:srgbClr val="1A1A1A"/>
                          </a:solidFill>
                          <a:latin typeface="Arial"/>
                          <a:ea typeface="游ゴシック"/>
                        </a:rPr>
                        <a:t>10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(株)やま高商店</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862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仙台市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0">
                          <a:solidFill>
                            <a:srgbClr val="1A1A1A"/>
                          </a:solidFill>
                          <a:latin typeface="Arial"/>
                          <a:ea typeface="游ゴシック"/>
                        </a:rPr>
                        <a:t>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みどり水産</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630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その他</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2,398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2,291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4,958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23.8%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1">
                          <a:solidFill>
                            <a:srgbClr val="1A1A1A"/>
                          </a:solidFill>
                          <a:latin typeface="游ゴシック"/>
                          <a:ea typeface="游ゴシック"/>
                        </a:rPr>
                        <a:t>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22,524</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23,166</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20,836</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100.0%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5" name="TextBox 14"/>
          <p:cNvSpPr txBox="1"/>
          <p:nvPr/>
        </p:nvSpPr>
        <p:spPr>
          <a:xfrm>
            <a:off x="310896" y="6583680"/>
            <a:ext cx="10058400" cy="411480"/>
          </a:xfrm>
          <a:prstGeom prst="rect">
            <a:avLst/>
          </a:prstGeom>
          <a:noFill/>
        </p:spPr>
        <p:txBody>
          <a:bodyPr wrap="square" lIns="0" rIns="0" tIns="0" bIns="0" anchor="t">
            <a:spAutoFit/>
          </a:bodyPr>
          <a:lstStyle/>
          <a:p>
            <a:pPr algn="l"/>
            <a:r>
              <a:rPr sz="750" b="0">
                <a:solidFill>
                  <a:srgbClr val="5A6670"/>
                </a:solidFill>
                <a:latin typeface="游ゴシック"/>
                <a:ea typeface="游ゴシック"/>
              </a:rPr>
              <a:t>※単位：千円。勘定科目内訳明細書の期末残高（50万円以上の相手先を個別記載）。年間取引高ではないため取引規模の順位とは異なる可能性がある（年間取引高は資料依頼中）。</a:t>
            </a:r>
          </a:p>
          <a:p>
            <a:pPr algn="l"/>
            <a:r>
              <a:rPr sz="750" b="0">
                <a:solidFill>
                  <a:srgbClr val="5A6670"/>
                </a:solidFill>
                <a:latin typeface="游ゴシック"/>
                <a:ea typeface="游ゴシック"/>
              </a:rPr>
              <a:t>※業態は公開情報等からの推察を含む。</a:t>
            </a:r>
          </a:p>
        </p:txBody>
      </p:sp>
    </p:spTree>
    <p:extLst>
      <p:ext uri="{BB962C8B-B14F-4D97-AF65-F5344CB8AC3E}">
        <p14:creationId xmlns:p14="http://schemas.microsoft.com/office/powerpoint/2010/main" val="5886346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B8376-2868-4693-0731-367BA549897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C27F0F89-0B1D-9CEC-826A-DEB17C9DB0B7}"/>
              </a:ext>
            </a:extLst>
          </p:cNvPr>
          <p:cNvSpPr>
            <a:spLocks noGrp="1"/>
          </p:cNvSpPr>
          <p:nvPr>
            <p:ph type="ctrTitle"/>
          </p:nvPr>
        </p:nvSpPr>
        <p:spPr>
          <a:xfrm>
            <a:off x="311150" y="180296"/>
            <a:ext cx="7799917" cy="339267"/>
          </a:xfrm>
        </p:spPr>
        <p:txBody>
          <a:bodyPr>
            <a:normAutofit/>
          </a:bodyPr>
          <a:lstStyle/>
          <a:p>
            <a:r>
              <a:rPr lang="ja-JP" altLang="en-US" dirty="0"/>
              <a:t>主要仕入先（期末買掛金残高）</a:t>
            </a:r>
          </a:p>
        </p:txBody>
      </p:sp>
      <p:sp>
        <p:nvSpPr>
          <p:cNvPr id="5" name="タイトル 1">
            <a:extLst>
              <a:ext uri="{FF2B5EF4-FFF2-40B4-BE49-F238E27FC236}">
                <a16:creationId xmlns:a16="http://schemas.microsoft.com/office/drawing/2014/main" id="{2223494B-5776-7256-BAFB-772D4CDC079C}"/>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事業概要</a:t>
            </a:r>
          </a:p>
        </p:txBody>
      </p:sp>
      <p:sp>
        <p:nvSpPr>
          <p:cNvPr id="15" name="字幕 13">
            <a:extLst>
              <a:ext uri="{FF2B5EF4-FFF2-40B4-BE49-F238E27FC236}">
                <a16:creationId xmlns:a16="http://schemas.microsoft.com/office/drawing/2014/main" id="{1F008ACD-B486-E0BB-8334-06D21A697D08}"/>
              </a:ext>
            </a:extLst>
          </p:cNvPr>
          <p:cNvSpPr>
            <a:spLocks noGrp="1"/>
          </p:cNvSpPr>
          <p:nvPr>
            <p:ph type="subTitle" idx="1"/>
          </p:nvPr>
        </p:nvSpPr>
        <p:spPr>
          <a:xfrm>
            <a:off x="460675" y="830046"/>
            <a:ext cx="9781875" cy="241861"/>
          </a:xfrm>
        </p:spPr>
        <p:txBody>
          <a:bodyPr>
            <a:noAutofit/>
          </a:bodyPr>
          <a:lstStyle/>
          <a:p>
            <a:r>
              <a:rPr lang="ja-JP" altLang="en-US" dirty="0">
                <a:latin typeface="+mj-ea"/>
              </a:rPr>
              <a:t>公設庄内青果物地方卸売市場（三川町）の卸売業者を中心に、県内外の市場・産地業者から仕入</a:t>
            </a:r>
            <a:endParaRPr lang="en-US" altLang="ja-JP" dirty="0"/>
          </a:p>
        </p:txBody>
      </p:sp>
      <p:graphicFrame>
        <p:nvGraphicFramePr>
          <p:cNvPr id="16" name="Table 15"/>
          <p:cNvGraphicFramePr>
            <a:graphicFrameLocks noGrp="1"/>
          </p:cNvGraphicFramePr>
          <p:nvPr/>
        </p:nvGraphicFramePr>
        <p:xfrm>
          <a:off x="310896" y="1463040"/>
          <a:ext cx="10058394" cy="3108960"/>
        </p:xfrm>
        <a:graphic>
          <a:graphicData uri="http://schemas.openxmlformats.org/drawingml/2006/table">
            <a:tbl>
              <a:tblPr firstRow="0" bandRow="0">
                <a:tableStyleId>{5940675A-B579-460E-94D1-54222C63F5DA}</a:tableStyleId>
              </a:tblPr>
              <a:tblGrid>
                <a:gridCol w="327482"/>
                <a:gridCol w="2152029"/>
                <a:gridCol w="888881"/>
                <a:gridCol w="888881"/>
                <a:gridCol w="888881"/>
                <a:gridCol w="701748"/>
                <a:gridCol w="1216364"/>
                <a:gridCol w="2994128"/>
              </a:tblGrid>
              <a:tr h="310896">
                <a:tc>
                  <a:txBody>
                    <a:bodyPr wrap="square"/>
                    <a:lstStyle/>
                    <a:p>
                      <a:pPr algn="ctr"/>
                      <a:r>
                        <a:rPr sz="850" b="1">
                          <a:solidFill>
                            <a:srgbClr val="FFFFFF"/>
                          </a:solidFill>
                          <a:latin typeface="游ゴシック"/>
                          <a:ea typeface="游ゴシック"/>
                        </a:rPr>
                        <a:t>№</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相手先</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2024/3末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2025/3末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2026/3末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構成比</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所在地</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業態・備考</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0">
                          <a:solidFill>
                            <a:srgbClr val="1A1A1A"/>
                          </a:solidFill>
                          <a:latin typeface="Arial"/>
                          <a:ea typeface="游ゴシック"/>
                        </a:rPr>
                        <a:t>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丸果庄内青果(株)</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6,569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5,733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12,426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47.2%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三川町</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青果卸（公設庄内青果物地方卸売市場）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0">
                          <a:solidFill>
                            <a:srgbClr val="1A1A1A"/>
                          </a:solidFill>
                          <a:latin typeface="Arial"/>
                          <a:ea typeface="游ゴシック"/>
                        </a:rPr>
                        <a:t>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長井中央青果(株)</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1,308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2,087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7,398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28.1%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長井市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青果卸</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0">
                          <a:solidFill>
                            <a:srgbClr val="1A1A1A"/>
                          </a:solidFill>
                          <a:latin typeface="Arial"/>
                          <a:ea typeface="游ゴシック"/>
                        </a:rPr>
                        <a:t>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(株)庄果</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3,611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4,496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三川町</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青果卸（公設庄内青果物地方卸売市場）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0">
                          <a:solidFill>
                            <a:srgbClr val="1A1A1A"/>
                          </a:solidFill>
                          <a:latin typeface="Arial"/>
                          <a:ea typeface="游ゴシック"/>
                        </a:rPr>
                        <a:t>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(株)マルト直治郎商店</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1,229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1,954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677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三川町</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0">
                          <a:solidFill>
                            <a:srgbClr val="1A1A1A"/>
                          </a:solidFill>
                          <a:latin typeface="Arial"/>
                          <a:ea typeface="游ゴシック"/>
                        </a:rPr>
                        <a:t>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成田食品(株)</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541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699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615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福島県相馬市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0">
                          <a:solidFill>
                            <a:srgbClr val="1A1A1A"/>
                          </a:solidFill>
                          <a:latin typeface="Arial"/>
                          <a:ea typeface="游ゴシック"/>
                        </a:rPr>
                        <a:t>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(株)ファーマインド</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707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東京都千代田区</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青果流通（バナナ等・推察）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0">
                          <a:solidFill>
                            <a:srgbClr val="1A1A1A"/>
                          </a:solidFill>
                          <a:latin typeface="Arial"/>
                          <a:ea typeface="游ゴシック"/>
                        </a:rPr>
                        <a:t>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(株)東根農産センター</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548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東根市</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その他</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4,870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4,986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3,979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10896">
                <a:tc>
                  <a:txBody>
                    <a:bodyPr wrap="square"/>
                    <a:lstStyle/>
                    <a:p>
                      <a:pPr algn="ctr"/>
                      <a:r>
                        <a:rPr sz="85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1">
                          <a:solidFill>
                            <a:srgbClr val="1A1A1A"/>
                          </a:solidFill>
                          <a:latin typeface="游ゴシック"/>
                          <a:ea typeface="游ゴシック"/>
                        </a:rPr>
                        <a:t>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18,128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19,955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26,349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100.0%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7" name="TextBox 16"/>
          <p:cNvSpPr txBox="1"/>
          <p:nvPr/>
        </p:nvSpPr>
        <p:spPr>
          <a:xfrm>
            <a:off x="310896" y="6583680"/>
            <a:ext cx="10058400" cy="411480"/>
          </a:xfrm>
          <a:prstGeom prst="rect">
            <a:avLst/>
          </a:prstGeom>
          <a:noFill/>
        </p:spPr>
        <p:txBody>
          <a:bodyPr wrap="square" lIns="0" rIns="0" tIns="0" bIns="0" anchor="t">
            <a:spAutoFit/>
          </a:bodyPr>
          <a:lstStyle/>
          <a:p>
            <a:pPr algn="l"/>
            <a:r>
              <a:rPr sz="750" b="0">
                <a:solidFill>
                  <a:srgbClr val="5A6670"/>
                </a:solidFill>
                <a:latin typeface="游ゴシック"/>
                <a:ea typeface="游ゴシック"/>
              </a:rPr>
              <a:t>※単位：千円。勘定科目内訳明細書の期末残高（50万円以上の相手先を個別記載）。年間取引高ではないため取引規模の順位とは異なる可能性がある（年間取引高は資料依頼中）。</a:t>
            </a:r>
          </a:p>
          <a:p>
            <a:pPr algn="l"/>
            <a:r>
              <a:rPr sz="750" b="0">
                <a:solidFill>
                  <a:srgbClr val="5A6670"/>
                </a:solidFill>
                <a:latin typeface="游ゴシック"/>
                <a:ea typeface="游ゴシック"/>
              </a:rPr>
              <a:t>※業態は公開情報等からの推察を含む。</a:t>
            </a:r>
          </a:p>
        </p:txBody>
      </p:sp>
    </p:spTree>
    <p:extLst>
      <p:ext uri="{BB962C8B-B14F-4D97-AF65-F5344CB8AC3E}">
        <p14:creationId xmlns:p14="http://schemas.microsoft.com/office/powerpoint/2010/main" val="19629684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7C0C1-FCD4-88FA-EA3C-20168900DCC8}"/>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AE20CDE1-7008-F0D4-81FD-53AE154BF5EA}"/>
              </a:ext>
            </a:extLst>
          </p:cNvPr>
          <p:cNvSpPr>
            <a:spLocks noGrp="1"/>
          </p:cNvSpPr>
          <p:nvPr>
            <p:ph type="ctrTitle"/>
          </p:nvPr>
        </p:nvSpPr>
        <p:spPr>
          <a:xfrm>
            <a:off x="311150" y="180296"/>
            <a:ext cx="7799917" cy="339267"/>
          </a:xfrm>
        </p:spPr>
        <p:txBody>
          <a:bodyPr>
            <a:normAutofit/>
          </a:bodyPr>
          <a:lstStyle/>
          <a:p>
            <a:r>
              <a:rPr lang="ja-JP" altLang="en-US" dirty="0"/>
              <a:t>月別売上高（2026/3期）</a:t>
            </a:r>
          </a:p>
        </p:txBody>
      </p:sp>
      <p:sp>
        <p:nvSpPr>
          <p:cNvPr id="5" name="タイトル 1">
            <a:extLst>
              <a:ext uri="{FF2B5EF4-FFF2-40B4-BE49-F238E27FC236}">
                <a16:creationId xmlns:a16="http://schemas.microsoft.com/office/drawing/2014/main" id="{6790A563-0096-2902-0624-D66AB2A099B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事業概要</a:t>
            </a:r>
          </a:p>
        </p:txBody>
      </p:sp>
      <p:sp>
        <p:nvSpPr>
          <p:cNvPr id="7" name="字幕 13">
            <a:extLst>
              <a:ext uri="{FF2B5EF4-FFF2-40B4-BE49-F238E27FC236}">
                <a16:creationId xmlns:a16="http://schemas.microsoft.com/office/drawing/2014/main" id="{C28AC2D5-7B01-C5B2-1062-1CE28DB5BD3C}"/>
              </a:ext>
            </a:extLst>
          </p:cNvPr>
          <p:cNvSpPr>
            <a:spLocks noGrp="1"/>
          </p:cNvSpPr>
          <p:nvPr>
            <p:ph type="subTitle" idx="1"/>
          </p:nvPr>
        </p:nvSpPr>
        <p:spPr>
          <a:xfrm>
            <a:off x="460675" y="830046"/>
            <a:ext cx="9781875" cy="241861"/>
          </a:xfrm>
        </p:spPr>
        <p:txBody>
          <a:bodyPr>
            <a:noAutofit/>
          </a:bodyPr>
          <a:lstStyle/>
          <a:p>
            <a:r>
              <a:rPr lang="ja-JP" altLang="en-US" dirty="0">
                <a:latin typeface="+mj-ea"/>
              </a:rPr>
              <a:t>7〜8月に売上が集中（7月146百万円）し、1〜2月は約70百万円と約2倍の季節変動。繁忙期には運転資金が膨らむ</a:t>
            </a:r>
            <a:endParaRPr lang="en-US" altLang="ja-JP" dirty="0"/>
          </a:p>
        </p:txBody>
      </p:sp>
      <p:graphicFrame>
        <p:nvGraphicFramePr>
          <p:cNvPr id="14" name="Chart 13"/>
          <p:cNvGraphicFramePr>
            <a:graphicFrameLocks noGrp="1"/>
          </p:cNvGraphicFramePr>
          <p:nvPr/>
        </p:nvGraphicFramePr>
        <p:xfrm>
          <a:off x="310896" y="1463040"/>
          <a:ext cx="6675120" cy="5303520"/>
        </p:xfrm>
        <a:graphic>
          <a:graphicData uri="http://schemas.openxmlformats.org/drawingml/2006/chart">
            <c:chart xmlns:c="http://schemas.openxmlformats.org/drawingml/2006/chart" r:id="rId4"/>
          </a:graphicData>
        </a:graphic>
      </p:graphicFrame>
      <p:sp>
        <p:nvSpPr>
          <p:cNvPr id="15" name="Rectangle 14"/>
          <p:cNvSpPr/>
          <p:nvPr/>
        </p:nvSpPr>
        <p:spPr>
          <a:xfrm>
            <a:off x="7178040" y="1463040"/>
            <a:ext cx="315468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000" b="1">
                <a:solidFill>
                  <a:srgbClr val="FFFFFF"/>
                </a:solidFill>
                <a:latin typeface="游ゴシック"/>
                <a:ea typeface="游ゴシック"/>
              </a:rPr>
              <a:t>Comment</a:t>
            </a:r>
          </a:p>
        </p:txBody>
      </p:sp>
      <p:sp>
        <p:nvSpPr>
          <p:cNvPr id="16" name="Rectangle 15"/>
          <p:cNvSpPr/>
          <p:nvPr/>
        </p:nvSpPr>
        <p:spPr>
          <a:xfrm>
            <a:off x="7178040" y="1755648"/>
            <a:ext cx="3154680" cy="50109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spcAft>
                <a:spcPts val="200"/>
              </a:spcAft>
            </a:pPr>
            <a:r>
              <a:rPr sz="900" b="0">
                <a:solidFill>
                  <a:srgbClr val="1A1A1A"/>
                </a:solidFill>
                <a:latin typeface="游ゴシック"/>
                <a:ea typeface="游ゴシック"/>
              </a:rPr>
              <a:t>・月平均100百万円に対し、7月は1.47倍、8月は1.39倍。</a:t>
            </a:r>
          </a:p>
          <a:p>
            <a:pPr algn="l">
              <a:spcAft>
                <a:spcPts val="200"/>
              </a:spcAft>
            </a:pPr>
            <a:r>
              <a:rPr sz="900" b="0">
                <a:solidFill>
                  <a:srgbClr val="1A1A1A"/>
                </a:solidFill>
                <a:latin typeface="游ゴシック"/>
                <a:ea typeface="游ゴシック"/>
              </a:rPr>
              <a:t>・だだちゃ豆（7〜9月）・庄内砂丘メロン等の地場産品の出荷最盛期が売上を押し上げていると推察（品目別売上は要確認）。</a:t>
            </a:r>
          </a:p>
          <a:p>
            <a:pPr algn="l">
              <a:spcAft>
                <a:spcPts val="200"/>
              </a:spcAft>
            </a:pPr>
            <a:r>
              <a:rPr sz="900" b="0">
                <a:solidFill>
                  <a:srgbClr val="1A1A1A"/>
                </a:solidFill>
                <a:latin typeface="游ゴシック"/>
                <a:ea typeface="游ゴシック"/>
              </a:rPr>
              <a:t>・2026年7月末の売上債権43.0百万円・在庫36.6百万円は3月末から増加。</a:t>
            </a:r>
          </a:p>
          <a:p>
            <a:pPr algn="l">
              <a:spcAft>
                <a:spcPts val="200"/>
              </a:spcAft>
            </a:pPr>
            <a:r>
              <a:rPr sz="900" b="0">
                <a:solidFill>
                  <a:srgbClr val="1A1A1A"/>
                </a:solidFill>
                <a:latin typeface="游ゴシック"/>
                <a:ea typeface="游ゴシック"/>
              </a:rPr>
              <a:t>・出所：法人事業概況説明書（2026/3期）の月別売上金額。</a:t>
            </a:r>
          </a:p>
        </p:txBody>
      </p:sp>
    </p:spTree>
    <p:extLst>
      <p:ext uri="{BB962C8B-B14F-4D97-AF65-F5344CB8AC3E}">
        <p14:creationId xmlns:p14="http://schemas.microsoft.com/office/powerpoint/2010/main" val="29325859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組織、拠点、設備等</a:t>
            </a:r>
            <a:endParaRPr lang="en-US" altLang="ja-JP" dirty="0"/>
          </a:p>
        </p:txBody>
      </p:sp>
    </p:spTree>
    <p:extLst>
      <p:ext uri="{BB962C8B-B14F-4D97-AF65-F5344CB8AC3E}">
        <p14:creationId xmlns:p14="http://schemas.microsoft.com/office/powerpoint/2010/main" val="1797825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DBCD3-5A3B-2BD8-C28A-632388175E8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59B21744-4533-BD30-603B-B8A7A98290C9}"/>
              </a:ext>
            </a:extLst>
          </p:cNvPr>
          <p:cNvSpPr>
            <a:spLocks noGrp="1"/>
          </p:cNvSpPr>
          <p:nvPr>
            <p:ph type="ctrTitle"/>
          </p:nvPr>
        </p:nvSpPr>
        <p:spPr>
          <a:xfrm>
            <a:off x="311150" y="180296"/>
            <a:ext cx="7799917" cy="339267"/>
          </a:xfrm>
        </p:spPr>
        <p:txBody>
          <a:bodyPr>
            <a:normAutofit/>
          </a:bodyPr>
          <a:lstStyle/>
          <a:p>
            <a:r>
              <a:rPr lang="ja-JP" altLang="en-US" dirty="0"/>
              <a:t>組織図</a:t>
            </a:r>
          </a:p>
        </p:txBody>
      </p:sp>
      <p:sp>
        <p:nvSpPr>
          <p:cNvPr id="5" name="タイトル 1">
            <a:extLst>
              <a:ext uri="{FF2B5EF4-FFF2-40B4-BE49-F238E27FC236}">
                <a16:creationId xmlns:a16="http://schemas.microsoft.com/office/drawing/2014/main" id="{804C58BE-3C7F-3F33-BB99-084C0822899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85" name="字幕 13">
            <a:extLst>
              <a:ext uri="{FF2B5EF4-FFF2-40B4-BE49-F238E27FC236}">
                <a16:creationId xmlns:a16="http://schemas.microsoft.com/office/drawing/2014/main" id="{AE763FA6-9689-E705-5BEC-31A36E71F8CB}"/>
              </a:ext>
            </a:extLst>
          </p:cNvPr>
          <p:cNvSpPr>
            <a:spLocks noGrp="1"/>
          </p:cNvSpPr>
          <p:nvPr>
            <p:ph type="subTitle" idx="1"/>
          </p:nvPr>
        </p:nvSpPr>
        <p:spPr>
          <a:xfrm>
            <a:off x="460675" y="830046"/>
            <a:ext cx="9781875" cy="241861"/>
          </a:xfrm>
        </p:spPr>
        <p:txBody>
          <a:bodyPr>
            <a:noAutofit/>
          </a:bodyPr>
          <a:lstStyle/>
          <a:p>
            <a:r>
              <a:rPr lang="ja-JP" altLang="en-US" dirty="0">
                <a:latin typeface="+mj-ea"/>
              </a:rPr>
              <a:t>8部門・従業員24名の体制。営業（野菜・果実・近郷）とパッケージ部に人員が厚く、セリ人資格者は営業系に配置</a:t>
            </a:r>
            <a:endParaRPr lang="en-US" altLang="ja-JP" dirty="0">
              <a:latin typeface="+mj-ea"/>
            </a:endParaRPr>
          </a:p>
        </p:txBody>
      </p:sp>
      <p:sp>
        <p:nvSpPr>
          <p:cNvPr id="86" name="Rectangle 85"/>
          <p:cNvSpPr/>
          <p:nvPr/>
        </p:nvSpPr>
        <p:spPr>
          <a:xfrm>
            <a:off x="365760" y="1554480"/>
            <a:ext cx="3017520" cy="1097280"/>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850" b="0">
                <a:solidFill>
                  <a:srgbClr val="1A1A1A"/>
                </a:solidFill>
                <a:latin typeface="游ゴシック"/>
                <a:ea typeface="游ゴシック"/>
              </a:rPr>
              <a:t>【人員構成】</a:t>
            </a:r>
          </a:p>
          <a:p>
            <a:pPr algn="l"/>
            <a:r>
              <a:rPr sz="850" b="0">
                <a:solidFill>
                  <a:srgbClr val="1A1A1A"/>
                </a:solidFill>
                <a:latin typeface="游ゴシック"/>
                <a:ea typeface="游ゴシック"/>
              </a:rPr>
              <a:t>取締役3名／正社員17名／嘱託・再雇用・試用3名</a:t>
            </a:r>
          </a:p>
          <a:p>
            <a:pPr algn="l"/>
            <a:r>
              <a:rPr sz="850" b="0">
                <a:solidFill>
                  <a:srgbClr val="1A1A1A"/>
                </a:solidFill>
                <a:latin typeface="游ゴシック"/>
                <a:ea typeface="游ゴシック"/>
              </a:rPr>
              <a:t>パート・アルバイト4名／合計27名</a:t>
            </a:r>
          </a:p>
        </p:txBody>
      </p:sp>
      <p:sp>
        <p:nvSpPr>
          <p:cNvPr id="87" name="Rectangle 86"/>
          <p:cNvSpPr/>
          <p:nvPr/>
        </p:nvSpPr>
        <p:spPr>
          <a:xfrm>
            <a:off x="4206240" y="1600200"/>
            <a:ext cx="2286000" cy="36576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a:solidFill>
                  <a:srgbClr val="0B3041"/>
                </a:solidFill>
                <a:latin typeface="游ゴシック"/>
                <a:ea typeface="游ゴシック"/>
              </a:rPr>
              <a:t>取締役会（取締役3名）</a:t>
            </a:r>
          </a:p>
        </p:txBody>
      </p:sp>
      <p:sp>
        <p:nvSpPr>
          <p:cNvPr id="88" name="Rectangle 87"/>
          <p:cNvSpPr/>
          <p:nvPr/>
        </p:nvSpPr>
        <p:spPr>
          <a:xfrm>
            <a:off x="7315200" y="1600200"/>
            <a:ext cx="2103120" cy="365760"/>
          </a:xfrm>
          <a:prstGeom prst="rect">
            <a:avLst/>
          </a:prstGeom>
          <a:solidFill>
            <a:srgbClr val="FFFFFF"/>
          </a:solid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0">
                <a:solidFill>
                  <a:srgbClr val="0B3041"/>
                </a:solidFill>
                <a:latin typeface="游ゴシック"/>
                <a:ea typeface="游ゴシック"/>
              </a:rPr>
              <a:t>監査役（会計限定）</a:t>
            </a:r>
          </a:p>
        </p:txBody>
      </p:sp>
      <p:sp>
        <p:nvSpPr>
          <p:cNvPr id="89" name="Rectangle 88"/>
          <p:cNvSpPr/>
          <p:nvPr/>
        </p:nvSpPr>
        <p:spPr>
          <a:xfrm>
            <a:off x="4206240" y="2148840"/>
            <a:ext cx="2286000" cy="45720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游ゴシック"/>
                <a:ea typeface="游ゴシック"/>
              </a:rPr>
              <a:t>岡部 寛</a:t>
            </a:r>
          </a:p>
          <a:p>
            <a:pPr algn="ctr"/>
            <a:r>
              <a:rPr sz="950" b="1">
                <a:solidFill>
                  <a:srgbClr val="FFFFFF"/>
                </a:solidFill>
                <a:latin typeface="游ゴシック"/>
                <a:ea typeface="游ゴシック"/>
              </a:rPr>
              <a:t>代表取締役</a:t>
            </a:r>
          </a:p>
        </p:txBody>
      </p:sp>
      <p:sp>
        <p:nvSpPr>
          <p:cNvPr id="90" name="Rectangle 89"/>
          <p:cNvSpPr/>
          <p:nvPr/>
        </p:nvSpPr>
        <p:spPr>
          <a:xfrm>
            <a:off x="6858000" y="2212848"/>
            <a:ext cx="2560320" cy="329184"/>
          </a:xfrm>
          <a:prstGeom prst="rect">
            <a:avLst/>
          </a:prstGeom>
          <a:solidFill>
            <a:srgbClr val="FFFFFF"/>
          </a:solid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00" b="0">
                <a:solidFill>
                  <a:srgbClr val="0B3041"/>
                </a:solidFill>
                <a:latin typeface="游ゴシック"/>
                <a:ea typeface="游ゴシック"/>
              </a:rPr>
              <a:t>取締役部長 岡部 一（担当部門は要確認）</a:t>
            </a:r>
          </a:p>
        </p:txBody>
      </p:sp>
      <p:cxnSp>
        <p:nvCxnSpPr>
          <p:cNvPr id="91" name="Connector 90"/>
          <p:cNvCxnSpPr/>
          <p:nvPr/>
        </p:nvCxnSpPr>
        <p:spPr>
          <a:xfrm>
            <a:off x="5349240" y="1965960"/>
            <a:ext cx="0" cy="18288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5349240" y="2606040"/>
            <a:ext cx="0" cy="32004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1783080"/>
            <a:ext cx="822960" cy="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952119" y="2926080"/>
            <a:ext cx="8721090" cy="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952119" y="2926080"/>
            <a:ext cx="0" cy="13716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96" name="Rectangle 95"/>
          <p:cNvSpPr/>
          <p:nvPr/>
        </p:nvSpPr>
        <p:spPr>
          <a:xfrm>
            <a:off x="365760" y="3063240"/>
            <a:ext cx="1172718" cy="457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0B3041"/>
                </a:solidFill>
                <a:latin typeface="游ゴシック"/>
                <a:ea typeface="游ゴシック"/>
              </a:rPr>
              <a:t>野菜営業部</a:t>
            </a:r>
          </a:p>
          <a:p>
            <a:pPr algn="ctr"/>
            <a:r>
              <a:rPr sz="850" b="1">
                <a:solidFill>
                  <a:srgbClr val="0B3041"/>
                </a:solidFill>
                <a:latin typeface="游ゴシック"/>
                <a:ea typeface="游ゴシック"/>
              </a:rPr>
              <a:t>3名</a:t>
            </a:r>
          </a:p>
        </p:txBody>
      </p:sp>
      <p:sp>
        <p:nvSpPr>
          <p:cNvPr id="97" name="Rectangle 96"/>
          <p:cNvSpPr/>
          <p:nvPr/>
        </p:nvSpPr>
        <p:spPr>
          <a:xfrm>
            <a:off x="365760" y="3566160"/>
            <a:ext cx="1172718" cy="292608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200"/>
              </a:spcAft>
            </a:pPr>
            <a:r>
              <a:rPr sz="800" b="0">
                <a:solidFill>
                  <a:srgbClr val="1A1A1A"/>
                </a:solidFill>
                <a:latin typeface="游ゴシック"/>
                <a:ea typeface="游ゴシック"/>
              </a:rPr>
              <a:t>No.1 副部長</a:t>
            </a:r>
          </a:p>
          <a:p>
            <a:pPr algn="l">
              <a:spcAft>
                <a:spcPts val="200"/>
              </a:spcAft>
            </a:pPr>
            <a:r>
              <a:rPr sz="800" b="0">
                <a:solidFill>
                  <a:srgbClr val="1A1A1A"/>
                </a:solidFill>
                <a:latin typeface="游ゴシック"/>
                <a:ea typeface="游ゴシック"/>
              </a:rPr>
              <a:t>No.2 副部長 ★</a:t>
            </a:r>
          </a:p>
          <a:p>
            <a:pPr algn="l">
              <a:spcAft>
                <a:spcPts val="200"/>
              </a:spcAft>
            </a:pPr>
            <a:r>
              <a:rPr sz="800" b="0">
                <a:solidFill>
                  <a:srgbClr val="1A1A1A"/>
                </a:solidFill>
                <a:latin typeface="游ゴシック"/>
                <a:ea typeface="游ゴシック"/>
              </a:rPr>
              <a:t>No.7 正社員</a:t>
            </a:r>
          </a:p>
        </p:txBody>
      </p:sp>
      <p:cxnSp>
        <p:nvCxnSpPr>
          <p:cNvPr id="98" name="Connector 97"/>
          <p:cNvCxnSpPr/>
          <p:nvPr/>
        </p:nvCxnSpPr>
        <p:spPr>
          <a:xfrm>
            <a:off x="2197989" y="2926080"/>
            <a:ext cx="0" cy="13716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1611630" y="3063240"/>
            <a:ext cx="1172718" cy="457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0B3041"/>
                </a:solidFill>
                <a:latin typeface="游ゴシック"/>
                <a:ea typeface="游ゴシック"/>
              </a:rPr>
              <a:t>果実営業部</a:t>
            </a:r>
          </a:p>
          <a:p>
            <a:pPr algn="ctr"/>
            <a:r>
              <a:rPr sz="850" b="1">
                <a:solidFill>
                  <a:srgbClr val="0B3041"/>
                </a:solidFill>
                <a:latin typeface="游ゴシック"/>
                <a:ea typeface="游ゴシック"/>
              </a:rPr>
              <a:t>2名</a:t>
            </a:r>
          </a:p>
        </p:txBody>
      </p:sp>
      <p:sp>
        <p:nvSpPr>
          <p:cNvPr id="100" name="Rectangle 99"/>
          <p:cNvSpPr/>
          <p:nvPr/>
        </p:nvSpPr>
        <p:spPr>
          <a:xfrm>
            <a:off x="1611630" y="3566160"/>
            <a:ext cx="1172718" cy="292608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200"/>
              </a:spcAft>
            </a:pPr>
            <a:r>
              <a:rPr sz="800" b="0">
                <a:solidFill>
                  <a:srgbClr val="1A1A1A"/>
                </a:solidFill>
                <a:latin typeface="游ゴシック"/>
                <a:ea typeface="游ゴシック"/>
              </a:rPr>
              <a:t>No.8 正社員</a:t>
            </a:r>
          </a:p>
          <a:p>
            <a:pPr algn="l">
              <a:spcAft>
                <a:spcPts val="200"/>
              </a:spcAft>
            </a:pPr>
            <a:r>
              <a:rPr sz="800" b="0">
                <a:solidFill>
                  <a:srgbClr val="1A1A1A"/>
                </a:solidFill>
                <a:latin typeface="游ゴシック"/>
                <a:ea typeface="游ゴシック"/>
              </a:rPr>
              <a:t>No.16 課長</a:t>
            </a:r>
          </a:p>
        </p:txBody>
      </p:sp>
      <p:cxnSp>
        <p:nvCxnSpPr>
          <p:cNvPr id="101" name="Connector 100"/>
          <p:cNvCxnSpPr/>
          <p:nvPr/>
        </p:nvCxnSpPr>
        <p:spPr>
          <a:xfrm>
            <a:off x="3443859" y="2926080"/>
            <a:ext cx="0" cy="13716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102" name="Rectangle 101"/>
          <p:cNvSpPr/>
          <p:nvPr/>
        </p:nvSpPr>
        <p:spPr>
          <a:xfrm>
            <a:off x="2857500" y="3063240"/>
            <a:ext cx="1172718" cy="457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0B3041"/>
                </a:solidFill>
                <a:latin typeface="游ゴシック"/>
                <a:ea typeface="游ゴシック"/>
              </a:rPr>
              <a:t>近郷部</a:t>
            </a:r>
          </a:p>
          <a:p>
            <a:pPr algn="ctr"/>
            <a:r>
              <a:rPr sz="850" b="1">
                <a:solidFill>
                  <a:srgbClr val="0B3041"/>
                </a:solidFill>
                <a:latin typeface="游ゴシック"/>
                <a:ea typeface="游ゴシック"/>
              </a:rPr>
              <a:t>4名</a:t>
            </a:r>
          </a:p>
        </p:txBody>
      </p:sp>
      <p:sp>
        <p:nvSpPr>
          <p:cNvPr id="103" name="Rectangle 102"/>
          <p:cNvSpPr/>
          <p:nvPr/>
        </p:nvSpPr>
        <p:spPr>
          <a:xfrm>
            <a:off x="2857500" y="3566160"/>
            <a:ext cx="1172718" cy="292608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200"/>
              </a:spcAft>
            </a:pPr>
            <a:r>
              <a:rPr sz="800" b="0">
                <a:solidFill>
                  <a:srgbClr val="1A1A1A"/>
                </a:solidFill>
                <a:latin typeface="游ゴシック"/>
                <a:ea typeface="游ゴシック"/>
              </a:rPr>
              <a:t>No.3 課長 ★</a:t>
            </a:r>
          </a:p>
          <a:p>
            <a:pPr algn="l">
              <a:spcAft>
                <a:spcPts val="200"/>
              </a:spcAft>
            </a:pPr>
            <a:r>
              <a:rPr sz="800" b="0">
                <a:solidFill>
                  <a:srgbClr val="1A1A1A"/>
                </a:solidFill>
                <a:latin typeface="游ゴシック"/>
                <a:ea typeface="游ゴシック"/>
              </a:rPr>
              <a:t>No.4 正社員</a:t>
            </a:r>
          </a:p>
          <a:p>
            <a:pPr algn="l">
              <a:spcAft>
                <a:spcPts val="200"/>
              </a:spcAft>
            </a:pPr>
            <a:r>
              <a:rPr sz="800" b="0">
                <a:solidFill>
                  <a:srgbClr val="1A1A1A"/>
                </a:solidFill>
                <a:latin typeface="游ゴシック"/>
                <a:ea typeface="游ゴシック"/>
              </a:rPr>
              <a:t>No.5 正社員</a:t>
            </a:r>
          </a:p>
          <a:p>
            <a:pPr algn="l">
              <a:spcAft>
                <a:spcPts val="200"/>
              </a:spcAft>
            </a:pPr>
            <a:r>
              <a:rPr sz="800" b="0">
                <a:solidFill>
                  <a:srgbClr val="1A1A1A"/>
                </a:solidFill>
                <a:latin typeface="游ゴシック"/>
                <a:ea typeface="游ゴシック"/>
              </a:rPr>
              <a:t>No.12 試用期間 ★</a:t>
            </a:r>
          </a:p>
        </p:txBody>
      </p:sp>
      <p:cxnSp>
        <p:nvCxnSpPr>
          <p:cNvPr id="104" name="Connector 103"/>
          <p:cNvCxnSpPr/>
          <p:nvPr/>
        </p:nvCxnSpPr>
        <p:spPr>
          <a:xfrm>
            <a:off x="4689729" y="2926080"/>
            <a:ext cx="0" cy="13716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105" name="Rectangle 104"/>
          <p:cNvSpPr/>
          <p:nvPr/>
        </p:nvSpPr>
        <p:spPr>
          <a:xfrm>
            <a:off x="4103370" y="3063240"/>
            <a:ext cx="1172718" cy="457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0B3041"/>
                </a:solidFill>
                <a:latin typeface="游ゴシック"/>
                <a:ea typeface="游ゴシック"/>
              </a:rPr>
              <a:t>集配部</a:t>
            </a:r>
          </a:p>
          <a:p>
            <a:pPr algn="ctr"/>
            <a:r>
              <a:rPr sz="850" b="1">
                <a:solidFill>
                  <a:srgbClr val="0B3041"/>
                </a:solidFill>
                <a:latin typeface="游ゴシック"/>
                <a:ea typeface="游ゴシック"/>
              </a:rPr>
              <a:t>4名</a:t>
            </a:r>
          </a:p>
        </p:txBody>
      </p:sp>
      <p:sp>
        <p:nvSpPr>
          <p:cNvPr id="106" name="Rectangle 105"/>
          <p:cNvSpPr/>
          <p:nvPr/>
        </p:nvSpPr>
        <p:spPr>
          <a:xfrm>
            <a:off x="4103370" y="3566160"/>
            <a:ext cx="1172718" cy="292608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200"/>
              </a:spcAft>
            </a:pPr>
            <a:r>
              <a:rPr sz="800" b="0">
                <a:solidFill>
                  <a:srgbClr val="1A1A1A"/>
                </a:solidFill>
                <a:latin typeface="游ゴシック"/>
                <a:ea typeface="游ゴシック"/>
              </a:rPr>
              <a:t>No.6 正社員</a:t>
            </a:r>
          </a:p>
          <a:p>
            <a:pPr algn="l">
              <a:spcAft>
                <a:spcPts val="200"/>
              </a:spcAft>
            </a:pPr>
            <a:r>
              <a:rPr sz="800" b="0">
                <a:solidFill>
                  <a:srgbClr val="1A1A1A"/>
                </a:solidFill>
                <a:latin typeface="游ゴシック"/>
                <a:ea typeface="游ゴシック"/>
              </a:rPr>
              <a:t>No.9 正社員</a:t>
            </a:r>
          </a:p>
          <a:p>
            <a:pPr algn="l">
              <a:spcAft>
                <a:spcPts val="200"/>
              </a:spcAft>
            </a:pPr>
            <a:r>
              <a:rPr sz="800" b="0">
                <a:solidFill>
                  <a:srgbClr val="1A1A1A"/>
                </a:solidFill>
                <a:latin typeface="游ゴシック"/>
                <a:ea typeface="游ゴシック"/>
              </a:rPr>
              <a:t>No.11 再雇用正社員</a:t>
            </a:r>
          </a:p>
          <a:p>
            <a:pPr algn="l">
              <a:spcAft>
                <a:spcPts val="200"/>
              </a:spcAft>
            </a:pPr>
            <a:r>
              <a:rPr sz="800" b="0">
                <a:solidFill>
                  <a:srgbClr val="1A1A1A"/>
                </a:solidFill>
                <a:latin typeface="游ゴシック"/>
                <a:ea typeface="游ゴシック"/>
              </a:rPr>
              <a:t>No.13 アルバイト</a:t>
            </a:r>
          </a:p>
        </p:txBody>
      </p:sp>
      <p:cxnSp>
        <p:nvCxnSpPr>
          <p:cNvPr id="107" name="Connector 106"/>
          <p:cNvCxnSpPr/>
          <p:nvPr/>
        </p:nvCxnSpPr>
        <p:spPr>
          <a:xfrm>
            <a:off x="5935599" y="2926080"/>
            <a:ext cx="0" cy="13716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5349240" y="3063240"/>
            <a:ext cx="1172718" cy="457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0B3041"/>
                </a:solidFill>
                <a:latin typeface="游ゴシック"/>
                <a:ea typeface="游ゴシック"/>
              </a:rPr>
              <a:t>生花部</a:t>
            </a:r>
          </a:p>
          <a:p>
            <a:pPr algn="ctr"/>
            <a:r>
              <a:rPr sz="850" b="1">
                <a:solidFill>
                  <a:srgbClr val="0B3041"/>
                </a:solidFill>
                <a:latin typeface="游ゴシック"/>
                <a:ea typeface="游ゴシック"/>
              </a:rPr>
              <a:t>1名</a:t>
            </a:r>
          </a:p>
        </p:txBody>
      </p:sp>
      <p:sp>
        <p:nvSpPr>
          <p:cNvPr id="109" name="Rectangle 108"/>
          <p:cNvSpPr/>
          <p:nvPr/>
        </p:nvSpPr>
        <p:spPr>
          <a:xfrm>
            <a:off x="5349240" y="3566160"/>
            <a:ext cx="1172718" cy="292608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200"/>
              </a:spcAft>
            </a:pPr>
            <a:r>
              <a:rPr sz="800" b="0">
                <a:solidFill>
                  <a:srgbClr val="1A1A1A"/>
                </a:solidFill>
                <a:latin typeface="游ゴシック"/>
                <a:ea typeface="游ゴシック"/>
              </a:rPr>
              <a:t>No.10 嘱託社員</a:t>
            </a:r>
          </a:p>
        </p:txBody>
      </p:sp>
      <p:cxnSp>
        <p:nvCxnSpPr>
          <p:cNvPr id="110" name="Connector 109"/>
          <p:cNvCxnSpPr/>
          <p:nvPr/>
        </p:nvCxnSpPr>
        <p:spPr>
          <a:xfrm>
            <a:off x="7181469" y="2926080"/>
            <a:ext cx="0" cy="13716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111" name="Rectangle 110"/>
          <p:cNvSpPr/>
          <p:nvPr/>
        </p:nvSpPr>
        <p:spPr>
          <a:xfrm>
            <a:off x="6595110" y="3063240"/>
            <a:ext cx="1172718" cy="457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0B3041"/>
                </a:solidFill>
                <a:latin typeface="游ゴシック"/>
                <a:ea typeface="游ゴシック"/>
              </a:rPr>
              <a:t>パッケージ部</a:t>
            </a:r>
          </a:p>
          <a:p>
            <a:pPr algn="ctr"/>
            <a:r>
              <a:rPr sz="850" b="1">
                <a:solidFill>
                  <a:srgbClr val="0B3041"/>
                </a:solidFill>
                <a:latin typeface="游ゴシック"/>
                <a:ea typeface="游ゴシック"/>
              </a:rPr>
              <a:t>7名</a:t>
            </a:r>
          </a:p>
        </p:txBody>
      </p:sp>
      <p:sp>
        <p:nvSpPr>
          <p:cNvPr id="112" name="Rectangle 111"/>
          <p:cNvSpPr/>
          <p:nvPr/>
        </p:nvSpPr>
        <p:spPr>
          <a:xfrm>
            <a:off x="6595110" y="3566160"/>
            <a:ext cx="1172718" cy="292608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200"/>
              </a:spcAft>
            </a:pPr>
            <a:r>
              <a:rPr sz="800" b="0">
                <a:solidFill>
                  <a:srgbClr val="1A1A1A"/>
                </a:solidFill>
                <a:latin typeface="游ゴシック"/>
                <a:ea typeface="游ゴシック"/>
              </a:rPr>
              <a:t>No.18 係長</a:t>
            </a:r>
          </a:p>
          <a:p>
            <a:pPr algn="l">
              <a:spcAft>
                <a:spcPts val="200"/>
              </a:spcAft>
            </a:pPr>
            <a:r>
              <a:rPr sz="800" b="0">
                <a:solidFill>
                  <a:srgbClr val="1A1A1A"/>
                </a:solidFill>
                <a:latin typeface="游ゴシック"/>
                <a:ea typeface="游ゴシック"/>
              </a:rPr>
              <a:t>No.19 正社員</a:t>
            </a:r>
          </a:p>
          <a:p>
            <a:pPr algn="l">
              <a:spcAft>
                <a:spcPts val="200"/>
              </a:spcAft>
            </a:pPr>
            <a:r>
              <a:rPr sz="800" b="0">
                <a:solidFill>
                  <a:srgbClr val="1A1A1A"/>
                </a:solidFill>
                <a:latin typeface="游ゴシック"/>
                <a:ea typeface="游ゴシック"/>
              </a:rPr>
              <a:t>No.20 正社員</a:t>
            </a:r>
          </a:p>
          <a:p>
            <a:pPr algn="l">
              <a:spcAft>
                <a:spcPts val="200"/>
              </a:spcAft>
            </a:pPr>
            <a:r>
              <a:rPr sz="800" b="0">
                <a:solidFill>
                  <a:srgbClr val="1A1A1A"/>
                </a:solidFill>
                <a:latin typeface="游ゴシック"/>
                <a:ea typeface="游ゴシック"/>
              </a:rPr>
              <a:t>No.21 正社員</a:t>
            </a:r>
          </a:p>
          <a:p>
            <a:pPr algn="l">
              <a:spcAft>
                <a:spcPts val="200"/>
              </a:spcAft>
            </a:pPr>
            <a:r>
              <a:rPr sz="800" b="0">
                <a:solidFill>
                  <a:srgbClr val="1A1A1A"/>
                </a:solidFill>
                <a:latin typeface="游ゴシック"/>
                <a:ea typeface="游ゴシック"/>
              </a:rPr>
              <a:t>No.22 パート</a:t>
            </a:r>
          </a:p>
          <a:p>
            <a:pPr algn="l">
              <a:spcAft>
                <a:spcPts val="200"/>
              </a:spcAft>
            </a:pPr>
            <a:r>
              <a:rPr sz="800" b="0">
                <a:solidFill>
                  <a:srgbClr val="1A1A1A"/>
                </a:solidFill>
                <a:latin typeface="游ゴシック"/>
                <a:ea typeface="游ゴシック"/>
              </a:rPr>
              <a:t>No.23 パート</a:t>
            </a:r>
          </a:p>
          <a:p>
            <a:pPr algn="l">
              <a:spcAft>
                <a:spcPts val="200"/>
              </a:spcAft>
            </a:pPr>
            <a:r>
              <a:rPr sz="800" b="0">
                <a:solidFill>
                  <a:srgbClr val="1A1A1A"/>
                </a:solidFill>
                <a:latin typeface="游ゴシック"/>
                <a:ea typeface="游ゴシック"/>
              </a:rPr>
              <a:t>No.24 パート</a:t>
            </a:r>
          </a:p>
        </p:txBody>
      </p:sp>
      <p:cxnSp>
        <p:nvCxnSpPr>
          <p:cNvPr id="113" name="Connector 112"/>
          <p:cNvCxnSpPr/>
          <p:nvPr/>
        </p:nvCxnSpPr>
        <p:spPr>
          <a:xfrm>
            <a:off x="8427339" y="2926080"/>
            <a:ext cx="0" cy="13716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114" name="Rectangle 113"/>
          <p:cNvSpPr/>
          <p:nvPr/>
        </p:nvSpPr>
        <p:spPr>
          <a:xfrm>
            <a:off x="7840980" y="3063240"/>
            <a:ext cx="1172718" cy="457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0B3041"/>
                </a:solidFill>
                <a:latin typeface="游ゴシック"/>
                <a:ea typeface="游ゴシック"/>
              </a:rPr>
              <a:t>資材部</a:t>
            </a:r>
          </a:p>
          <a:p>
            <a:pPr algn="ctr"/>
            <a:r>
              <a:rPr sz="850" b="1">
                <a:solidFill>
                  <a:srgbClr val="0B3041"/>
                </a:solidFill>
                <a:latin typeface="游ゴシック"/>
                <a:ea typeface="游ゴシック"/>
              </a:rPr>
              <a:t>1名</a:t>
            </a:r>
          </a:p>
        </p:txBody>
      </p:sp>
      <p:sp>
        <p:nvSpPr>
          <p:cNvPr id="115" name="Rectangle 114"/>
          <p:cNvSpPr/>
          <p:nvPr/>
        </p:nvSpPr>
        <p:spPr>
          <a:xfrm>
            <a:off x="7840980" y="3566160"/>
            <a:ext cx="1172718" cy="292608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200"/>
              </a:spcAft>
            </a:pPr>
            <a:r>
              <a:rPr sz="800" b="0">
                <a:solidFill>
                  <a:srgbClr val="1A1A1A"/>
                </a:solidFill>
                <a:latin typeface="游ゴシック"/>
                <a:ea typeface="游ゴシック"/>
              </a:rPr>
              <a:t>No.15 課長</a:t>
            </a:r>
          </a:p>
        </p:txBody>
      </p:sp>
      <p:cxnSp>
        <p:nvCxnSpPr>
          <p:cNvPr id="116" name="Connector 115"/>
          <p:cNvCxnSpPr/>
          <p:nvPr/>
        </p:nvCxnSpPr>
        <p:spPr>
          <a:xfrm>
            <a:off x="9673209" y="2926080"/>
            <a:ext cx="0" cy="13716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117" name="Rectangle 116"/>
          <p:cNvSpPr/>
          <p:nvPr/>
        </p:nvSpPr>
        <p:spPr>
          <a:xfrm>
            <a:off x="9086850" y="3063240"/>
            <a:ext cx="1172718" cy="457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0B3041"/>
                </a:solidFill>
                <a:latin typeface="游ゴシック"/>
                <a:ea typeface="游ゴシック"/>
              </a:rPr>
              <a:t>総務部・事務</a:t>
            </a:r>
          </a:p>
          <a:p>
            <a:pPr algn="ctr"/>
            <a:r>
              <a:rPr sz="850" b="1">
                <a:solidFill>
                  <a:srgbClr val="0B3041"/>
                </a:solidFill>
                <a:latin typeface="游ゴシック"/>
                <a:ea typeface="游ゴシック"/>
              </a:rPr>
              <a:t>2名</a:t>
            </a:r>
          </a:p>
        </p:txBody>
      </p:sp>
      <p:sp>
        <p:nvSpPr>
          <p:cNvPr id="118" name="Rectangle 117"/>
          <p:cNvSpPr/>
          <p:nvPr/>
        </p:nvSpPr>
        <p:spPr>
          <a:xfrm>
            <a:off x="9086850" y="3566160"/>
            <a:ext cx="1172718" cy="292608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200"/>
              </a:spcAft>
            </a:pPr>
            <a:r>
              <a:rPr sz="800" b="0">
                <a:solidFill>
                  <a:srgbClr val="1A1A1A"/>
                </a:solidFill>
                <a:latin typeface="游ゴシック"/>
                <a:ea typeface="游ゴシック"/>
              </a:rPr>
              <a:t>No.14 部長</a:t>
            </a:r>
          </a:p>
          <a:p>
            <a:pPr algn="l">
              <a:spcAft>
                <a:spcPts val="200"/>
              </a:spcAft>
            </a:pPr>
            <a:r>
              <a:rPr sz="800" b="0">
                <a:solidFill>
                  <a:srgbClr val="1A1A1A"/>
                </a:solidFill>
                <a:latin typeface="游ゴシック"/>
                <a:ea typeface="游ゴシック"/>
              </a:rPr>
              <a:t>No.17 正社員</a:t>
            </a:r>
          </a:p>
        </p:txBody>
      </p:sp>
      <p:sp>
        <p:nvSpPr>
          <p:cNvPr id="119" name="TextBox 118"/>
          <p:cNvSpPr txBox="1"/>
          <p:nvPr/>
        </p:nvSpPr>
        <p:spPr>
          <a:xfrm>
            <a:off x="365760" y="6583680"/>
            <a:ext cx="9966960" cy="411480"/>
          </a:xfrm>
          <a:prstGeom prst="rect">
            <a:avLst/>
          </a:prstGeom>
          <a:noFill/>
        </p:spPr>
        <p:txBody>
          <a:bodyPr wrap="square" lIns="0" rIns="0" tIns="0" bIns="0" anchor="t">
            <a:spAutoFit/>
          </a:bodyPr>
          <a:lstStyle/>
          <a:p>
            <a:pPr algn="l"/>
            <a:r>
              <a:rPr sz="750" b="0">
                <a:solidFill>
                  <a:srgbClr val="5A6670"/>
                </a:solidFill>
                <a:latin typeface="游ゴシック"/>
                <a:ea typeface="游ゴシック"/>
              </a:rPr>
              <a:t>※図中のNo.は「従業員」ページの従業員No.と対応。★はセリ人資格保有者。役職のない者は雇用形態を表示。</a:t>
            </a:r>
          </a:p>
          <a:p>
            <a:pPr algn="l"/>
            <a:r>
              <a:rPr sz="750" b="0">
                <a:solidFill>
                  <a:srgbClr val="5A6670"/>
                </a:solidFill>
                <a:latin typeface="游ゴシック"/>
                <a:ea typeface="游ゴシック"/>
              </a:rPr>
              <a:t>※常務取締役（菅原圭吾氏）は2026年5月29日に退任。取締役（非常勤）岡部竹古氏は図示省略。</a:t>
            </a:r>
          </a:p>
        </p:txBody>
      </p:sp>
    </p:spTree>
    <p:extLst>
      <p:ext uri="{BB962C8B-B14F-4D97-AF65-F5344CB8AC3E}">
        <p14:creationId xmlns:p14="http://schemas.microsoft.com/office/powerpoint/2010/main" val="27286124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B11F1-1D51-B82A-B921-6A785A32569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FAD2F8E-0153-3144-7799-F8299088775F}"/>
              </a:ext>
            </a:extLst>
          </p:cNvPr>
          <p:cNvSpPr>
            <a:spLocks noGrp="1"/>
          </p:cNvSpPr>
          <p:nvPr>
            <p:ph type="ctrTitle"/>
          </p:nvPr>
        </p:nvSpPr>
        <p:spPr>
          <a:xfrm>
            <a:off x="311150" y="180296"/>
            <a:ext cx="7799917" cy="339267"/>
          </a:xfrm>
        </p:spPr>
        <p:txBody>
          <a:bodyPr>
            <a:normAutofit/>
          </a:bodyPr>
          <a:lstStyle/>
          <a:p>
            <a:r>
              <a:rPr lang="ja-JP" altLang="en-US" dirty="0"/>
              <a:t>株主及び役員</a:t>
            </a:r>
          </a:p>
        </p:txBody>
      </p:sp>
      <p:sp>
        <p:nvSpPr>
          <p:cNvPr id="2" name="正方形/長方形 1">
            <a:extLst>
              <a:ext uri="{FF2B5EF4-FFF2-40B4-BE49-F238E27FC236}">
                <a16:creationId xmlns:a16="http://schemas.microsoft.com/office/drawing/2014/main" id="{F474A0FB-C4FD-5021-0996-014C9ADB8336}"/>
              </a:ext>
            </a:extLst>
          </p:cNvPr>
          <p:cNvSpPr/>
          <p:nvPr/>
        </p:nvSpPr>
        <p:spPr>
          <a:xfrm>
            <a:off x="311151" y="1517736"/>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株主</a:t>
            </a:r>
          </a:p>
        </p:txBody>
      </p:sp>
      <p:sp>
        <p:nvSpPr>
          <p:cNvPr id="3" name="正方形/長方形 2">
            <a:extLst>
              <a:ext uri="{FF2B5EF4-FFF2-40B4-BE49-F238E27FC236}">
                <a16:creationId xmlns:a16="http://schemas.microsoft.com/office/drawing/2014/main" id="{75AD8D3D-AB28-DAEE-3CFD-D5FBA0A0A9F7}"/>
              </a:ext>
            </a:extLst>
          </p:cNvPr>
          <p:cNvSpPr/>
          <p:nvPr/>
        </p:nvSpPr>
        <p:spPr>
          <a:xfrm>
            <a:off x="311151" y="3889461"/>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役員</a:t>
            </a:r>
          </a:p>
        </p:txBody>
      </p:sp>
      <p:sp>
        <p:nvSpPr>
          <p:cNvPr id="4" name="タイトル 1">
            <a:extLst>
              <a:ext uri="{FF2B5EF4-FFF2-40B4-BE49-F238E27FC236}">
                <a16:creationId xmlns:a16="http://schemas.microsoft.com/office/drawing/2014/main" id="{7A477B2A-8CB0-33C5-E13F-6A9007ED2C1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8" name="字幕 13">
            <a:extLst>
              <a:ext uri="{FF2B5EF4-FFF2-40B4-BE49-F238E27FC236}">
                <a16:creationId xmlns:a16="http://schemas.microsoft.com/office/drawing/2014/main" id="{B2B57451-0F79-4EA4-E5F7-DD3BE659A77B}"/>
              </a:ext>
            </a:extLst>
          </p:cNvPr>
          <p:cNvSpPr>
            <a:spLocks noGrp="1"/>
          </p:cNvSpPr>
          <p:nvPr>
            <p:ph type="subTitle" idx="1"/>
          </p:nvPr>
        </p:nvSpPr>
        <p:spPr>
          <a:xfrm>
            <a:off x="460675" y="830046"/>
            <a:ext cx="9781875" cy="241861"/>
          </a:xfrm>
        </p:spPr>
        <p:txBody>
          <a:bodyPr>
            <a:noAutofit/>
          </a:bodyPr>
          <a:lstStyle/>
          <a:p>
            <a:r>
              <a:rPr lang="ja-JP" altLang="en-US" dirty="0">
                <a:latin typeface="+mj-ea"/>
              </a:rPr>
              <a:t>代表者一族（岡部家4名）で75.8%を保有。親族外株主4名が残り24.3%を保有</a:t>
            </a:r>
            <a:endParaRPr lang="en-US" altLang="ja-JP" dirty="0"/>
          </a:p>
        </p:txBody>
      </p:sp>
      <p:graphicFrame>
        <p:nvGraphicFramePr>
          <p:cNvPr id="14" name="Table 13"/>
          <p:cNvGraphicFramePr>
            <a:graphicFrameLocks noGrp="1"/>
          </p:cNvGraphicFramePr>
          <p:nvPr/>
        </p:nvGraphicFramePr>
        <p:xfrm>
          <a:off x="1920240" y="1517904"/>
          <a:ext cx="8412478" cy="2286000"/>
        </p:xfrm>
        <a:graphic>
          <a:graphicData uri="http://schemas.openxmlformats.org/drawingml/2006/table">
            <a:tbl>
              <a:tblPr firstRow="0" bandRow="0">
                <a:tableStyleId>{5940675A-B579-460E-94D1-54222C63F5DA}</a:tableStyleId>
              </a:tblPr>
              <a:tblGrid>
                <a:gridCol w="386780"/>
                <a:gridCol w="1740513"/>
                <a:gridCol w="3867806"/>
                <a:gridCol w="1257037"/>
                <a:gridCol w="1160342"/>
              </a:tblGrid>
              <a:tr h="228600">
                <a:tc>
                  <a:txBody>
                    <a:bodyPr wrap="square"/>
                    <a:lstStyle/>
                    <a:p>
                      <a:pPr algn="ctr"/>
                      <a:r>
                        <a:rPr sz="850" b="1">
                          <a:solidFill>
                            <a:srgbClr val="FFFFFF"/>
                          </a:solidFill>
                          <a:latin typeface="游ゴシック"/>
                          <a:ea typeface="游ゴシック"/>
                        </a:rPr>
                        <a:t>№</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氏名</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続柄・役職</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保有株式数</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保有割合</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228600">
                <a:tc>
                  <a:txBody>
                    <a:bodyPr wrap="square"/>
                    <a:lstStyle/>
                    <a:p>
                      <a:pPr algn="ctr"/>
                      <a:r>
                        <a:rPr sz="850" b="0">
                          <a:solidFill>
                            <a:srgbClr val="1A1A1A"/>
                          </a:solidFill>
                          <a:latin typeface="Arial"/>
                          <a:ea typeface="游ゴシック"/>
                        </a:rPr>
                        <a:t>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岡部 寛</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代表取締役（本人）</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1,510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37.8%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28600">
                <a:tc>
                  <a:txBody>
                    <a:bodyPr wrap="square"/>
                    <a:lstStyle/>
                    <a:p>
                      <a:pPr algn="ctr"/>
                      <a:r>
                        <a:rPr sz="850" b="0">
                          <a:solidFill>
                            <a:srgbClr val="1A1A1A"/>
                          </a:solidFill>
                          <a:latin typeface="Arial"/>
                          <a:ea typeface="游ゴシック"/>
                        </a:rPr>
                        <a:t>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岡部 一</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取締役・代表者の兄弟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720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18.0%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28600">
                <a:tc>
                  <a:txBody>
                    <a:bodyPr wrap="square"/>
                    <a:lstStyle/>
                    <a:p>
                      <a:pPr algn="ctr"/>
                      <a:r>
                        <a:rPr sz="850" b="0">
                          <a:solidFill>
                            <a:srgbClr val="1A1A1A"/>
                          </a:solidFill>
                          <a:latin typeface="Arial"/>
                          <a:ea typeface="游ゴシック"/>
                        </a:rPr>
                        <a:t>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岡部 和子</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代表者の兄弟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500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12.5%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28600">
                <a:tc>
                  <a:txBody>
                    <a:bodyPr wrap="square"/>
                    <a:lstStyle/>
                    <a:p>
                      <a:pPr algn="ctr"/>
                      <a:r>
                        <a:rPr sz="850" b="0">
                          <a:solidFill>
                            <a:srgbClr val="1A1A1A"/>
                          </a:solidFill>
                          <a:latin typeface="Arial"/>
                          <a:ea typeface="游ゴシック"/>
                        </a:rPr>
                        <a:t>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梅津 恵一</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9.0%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28600">
                <a:tc>
                  <a:txBody>
                    <a:bodyPr wrap="square"/>
                    <a:lstStyle/>
                    <a:p>
                      <a:pPr algn="ctr"/>
                      <a:r>
                        <a:rPr sz="850" b="0">
                          <a:solidFill>
                            <a:srgbClr val="1A1A1A"/>
                          </a:solidFill>
                          <a:latin typeface="Arial"/>
                          <a:ea typeface="游ゴシック"/>
                        </a:rPr>
                        <a:t>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小野寺 則和</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監査役</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350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8.8%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28600">
                <a:tc>
                  <a:txBody>
                    <a:bodyPr wrap="square"/>
                    <a:lstStyle/>
                    <a:p>
                      <a:pPr algn="ctr"/>
                      <a:r>
                        <a:rPr sz="850" b="0">
                          <a:solidFill>
                            <a:srgbClr val="1A1A1A"/>
                          </a:solidFill>
                          <a:latin typeface="Arial"/>
                          <a:ea typeface="游ゴシック"/>
                        </a:rPr>
                        <a:t>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岡部 竹古</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取締役・代表者の配偶者</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300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7.5%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28600">
                <a:tc>
                  <a:txBody>
                    <a:bodyPr wrap="square"/>
                    <a:lstStyle/>
                    <a:p>
                      <a:pPr algn="ctr"/>
                      <a:r>
                        <a:rPr sz="850" b="0">
                          <a:solidFill>
                            <a:srgbClr val="1A1A1A"/>
                          </a:solidFill>
                          <a:latin typeface="Arial"/>
                          <a:ea typeface="游ゴシック"/>
                        </a:rPr>
                        <a:t>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佐藤 令子</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200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5.0%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28600">
                <a:tc>
                  <a:txBody>
                    <a:bodyPr wrap="square"/>
                    <a:lstStyle/>
                    <a:p>
                      <a:pPr algn="ctr"/>
                      <a:r>
                        <a:rPr sz="850" b="0">
                          <a:solidFill>
                            <a:srgbClr val="1A1A1A"/>
                          </a:solidFill>
                          <a:latin typeface="Arial"/>
                          <a:ea typeface="游ゴシック"/>
                        </a:rPr>
                        <a:t>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菅原 圭吾</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元常務取締役（2026年5月退任）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28600">
                <a:tc>
                  <a:txBody>
                    <a:bodyPr wrap="square"/>
                    <a:lstStyle/>
                    <a:p>
                      <a:pPr algn="ctr"/>
                      <a:r>
                        <a:rPr sz="85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1">
                          <a:solidFill>
                            <a:srgbClr val="1A1A1A"/>
                          </a:solidFill>
                          <a:latin typeface="游ゴシック"/>
                          <a:ea typeface="游ゴシック"/>
                        </a:rPr>
                        <a:t>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4,000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1">
                          <a:solidFill>
                            <a:srgbClr val="1A1A1A"/>
                          </a:solidFill>
                          <a:latin typeface="Arial"/>
                          <a:ea typeface="游ゴシック"/>
                        </a:rPr>
                        <a:t>100.0%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graphicFrame>
        <p:nvGraphicFramePr>
          <p:cNvPr id="15" name="Table 14"/>
          <p:cNvGraphicFramePr>
            <a:graphicFrameLocks noGrp="1"/>
          </p:cNvGraphicFramePr>
          <p:nvPr/>
        </p:nvGraphicFramePr>
        <p:xfrm>
          <a:off x="1920240" y="3886200"/>
          <a:ext cx="8412480" cy="1645920"/>
        </p:xfrm>
        <a:graphic>
          <a:graphicData uri="http://schemas.openxmlformats.org/drawingml/2006/table">
            <a:tbl>
              <a:tblPr firstRow="0" bandRow="0">
                <a:tableStyleId>{5940675A-B579-460E-94D1-54222C63F5DA}</a:tableStyleId>
              </a:tblPr>
              <a:tblGrid>
                <a:gridCol w="365760"/>
                <a:gridCol w="1280160"/>
                <a:gridCol w="1737360"/>
                <a:gridCol w="731520"/>
                <a:gridCol w="1737360"/>
                <a:gridCol w="2560320"/>
              </a:tblGrid>
              <a:tr h="274320">
                <a:tc>
                  <a:txBody>
                    <a:bodyPr wrap="square"/>
                    <a:lstStyle/>
                    <a:p>
                      <a:pPr algn="ctr"/>
                      <a:r>
                        <a:rPr sz="850" b="1">
                          <a:solidFill>
                            <a:srgbClr val="FFFFFF"/>
                          </a:solidFill>
                          <a:latin typeface="游ゴシック"/>
                          <a:ea typeface="游ゴシック"/>
                        </a:rPr>
                        <a:t>№</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氏名</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役職</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常勤</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役員報酬（2026/3期・千円）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1">
                          <a:solidFill>
                            <a:srgbClr val="FFFFFF"/>
                          </a:solidFill>
                          <a:latin typeface="游ゴシック"/>
                          <a:ea typeface="游ゴシック"/>
                        </a:rPr>
                        <a:t>備考</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ctr"/>
                      <a:r>
                        <a:rPr sz="850" b="0">
                          <a:solidFill>
                            <a:srgbClr val="1A1A1A"/>
                          </a:solidFill>
                          <a:latin typeface="Arial"/>
                          <a:ea typeface="游ゴシック"/>
                        </a:rPr>
                        <a:t>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岡部 寛</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代表取締役</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0">
                          <a:solidFill>
                            <a:srgbClr val="1A1A1A"/>
                          </a:solidFill>
                          <a:latin typeface="游ゴシック"/>
                          <a:ea typeface="游ゴシック"/>
                        </a:rPr>
                        <a:t>常勤</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4,320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社長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ctr"/>
                      <a:r>
                        <a:rPr sz="850" b="0">
                          <a:solidFill>
                            <a:srgbClr val="1A1A1A"/>
                          </a:solidFill>
                          <a:latin typeface="Arial"/>
                          <a:ea typeface="游ゴシック"/>
                        </a:rPr>
                        <a:t>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岡部 一</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取締役</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0">
                          <a:solidFill>
                            <a:srgbClr val="1A1A1A"/>
                          </a:solidFill>
                          <a:latin typeface="游ゴシック"/>
                          <a:ea typeface="游ゴシック"/>
                        </a:rPr>
                        <a:t>常勤</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4,200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部長（代表者の兄弟）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ctr"/>
                      <a:r>
                        <a:rPr sz="850" b="0">
                          <a:solidFill>
                            <a:srgbClr val="1A1A1A"/>
                          </a:solidFill>
                          <a:latin typeface="Arial"/>
                          <a:ea typeface="游ゴシック"/>
                        </a:rPr>
                        <a:t>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岡部 竹古</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取締役</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0">
                          <a:solidFill>
                            <a:srgbClr val="1A1A1A"/>
                          </a:solidFill>
                          <a:latin typeface="游ゴシック"/>
                          <a:ea typeface="游ゴシック"/>
                        </a:rPr>
                        <a:t>非常勤</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代表者の配偶者</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ctr"/>
                      <a:r>
                        <a:rPr sz="850" b="0">
                          <a:solidFill>
                            <a:srgbClr val="1A1A1A"/>
                          </a:solidFill>
                          <a:latin typeface="Arial"/>
                          <a:ea typeface="游ゴシック"/>
                        </a:rPr>
                        <a:t>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小野寺 則和</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監査役</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0">
                          <a:solidFill>
                            <a:srgbClr val="1A1A1A"/>
                          </a:solidFill>
                          <a:latin typeface="游ゴシック"/>
                          <a:ea typeface="游ゴシック"/>
                        </a:rPr>
                        <a:t>非常勤</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120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会計監査限定</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74320">
                <a:tc>
                  <a:txBody>
                    <a:bodyPr wrap="square"/>
                    <a:lstStyle/>
                    <a:p>
                      <a:pPr algn="ctr"/>
                      <a:r>
                        <a:rPr sz="850" b="0">
                          <a:solidFill>
                            <a:srgbClr val="1A1A1A"/>
                          </a:solidFill>
                          <a:latin typeface="Arial"/>
                          <a:ea typeface="游ゴシック"/>
                        </a:rPr>
                        <a:t>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菅原 圭吾</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（退任）常務取締役</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50" b="0">
                          <a:solidFill>
                            <a:srgbClr val="1A1A1A"/>
                          </a:solidFill>
                          <a:latin typeface="游ゴシック"/>
                          <a:ea typeface="游ゴシック"/>
                        </a:rPr>
                        <a:t>常勤</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50" b="0">
                          <a:solidFill>
                            <a:srgbClr val="1A1A1A"/>
                          </a:solidFill>
                          <a:latin typeface="Arial"/>
                          <a:ea typeface="游ゴシック"/>
                        </a:rPr>
                        <a:t>6,600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50" b="0">
                          <a:solidFill>
                            <a:srgbClr val="1A1A1A"/>
                          </a:solidFill>
                          <a:latin typeface="游ゴシック"/>
                          <a:ea typeface="游ゴシック"/>
                        </a:rPr>
                        <a:t>2026年5月29日退任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6" name="TextBox 15"/>
          <p:cNvSpPr txBox="1"/>
          <p:nvPr/>
        </p:nvSpPr>
        <p:spPr>
          <a:xfrm>
            <a:off x="310896" y="5669280"/>
            <a:ext cx="10058400" cy="914400"/>
          </a:xfrm>
          <a:prstGeom prst="rect">
            <a:avLst/>
          </a:prstGeom>
          <a:noFill/>
        </p:spPr>
        <p:txBody>
          <a:bodyPr wrap="square" lIns="0" rIns="0" tIns="0" bIns="0" anchor="t">
            <a:spAutoFit/>
          </a:bodyPr>
          <a:lstStyle/>
          <a:p>
            <a:pPr algn="l">
              <a:spcAft>
                <a:spcPts val="200"/>
              </a:spcAft>
            </a:pPr>
            <a:r>
              <a:rPr sz="850" b="0">
                <a:solidFill>
                  <a:srgbClr val="1A1A1A"/>
                </a:solidFill>
                <a:latin typeface="游ゴシック"/>
                <a:ea typeface="游ゴシック"/>
              </a:rPr>
              <a:t>・役員報酬総額は22,200千円（2024/3期・2025/3期）→15,360千円（2026/3期）。代表取締役は10,560千円→4,320千円に減額（理由は要確認）。</a:t>
            </a:r>
          </a:p>
          <a:p>
            <a:pPr algn="l">
              <a:spcAft>
                <a:spcPts val="200"/>
              </a:spcAft>
            </a:pPr>
            <a:r>
              <a:rPr sz="850" b="0">
                <a:solidFill>
                  <a:srgbClr val="1A1A1A"/>
                </a:solidFill>
                <a:latin typeface="游ゴシック"/>
                <a:ea typeface="游ゴシック"/>
              </a:rPr>
              <a:t>・取締役会設置会社・監査役設置会社（監査の範囲を会計に限定）。株式の譲渡には取締役会の承認を要する。</a:t>
            </a:r>
          </a:p>
          <a:p>
            <a:pPr algn="l">
              <a:spcAft>
                <a:spcPts val="200"/>
              </a:spcAft>
            </a:pPr>
            <a:r>
              <a:rPr sz="850" b="0">
                <a:solidFill>
                  <a:srgbClr val="1A1A1A"/>
                </a:solidFill>
                <a:latin typeface="游ゴシック"/>
                <a:ea typeface="游ゴシック"/>
              </a:rPr>
              <a:t>※出所：法人税申告書別表二（2026/3期）、履歴事項全部証明書（2026年9月10日現在）。株主名簿・名義株の有無は要確認。</a:t>
            </a:r>
          </a:p>
        </p:txBody>
      </p:sp>
    </p:spTree>
    <p:extLst>
      <p:ext uri="{BB962C8B-B14F-4D97-AF65-F5344CB8AC3E}">
        <p14:creationId xmlns:p14="http://schemas.microsoft.com/office/powerpoint/2010/main" val="11113659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5D0D1-0787-475E-2A3A-4107DB8EC8C6}"/>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7057045-99B0-78F1-349A-A7BFEFFF27C9}"/>
              </a:ext>
            </a:extLst>
          </p:cNvPr>
          <p:cNvSpPr>
            <a:spLocks noGrp="1"/>
          </p:cNvSpPr>
          <p:nvPr>
            <p:ph type="ctrTitle"/>
          </p:nvPr>
        </p:nvSpPr>
        <p:spPr>
          <a:xfrm>
            <a:off x="311150" y="180296"/>
            <a:ext cx="7799917" cy="339267"/>
          </a:xfrm>
        </p:spPr>
        <p:txBody>
          <a:bodyPr>
            <a:normAutofit/>
          </a:bodyPr>
          <a:lstStyle/>
          <a:p>
            <a:r>
              <a:rPr lang="ja-JP" altLang="en-US" dirty="0"/>
              <a:t>従業員</a:t>
            </a:r>
          </a:p>
        </p:txBody>
      </p:sp>
      <p:sp>
        <p:nvSpPr>
          <p:cNvPr id="2" name="タイトル 1">
            <a:extLst>
              <a:ext uri="{FF2B5EF4-FFF2-40B4-BE49-F238E27FC236}">
                <a16:creationId xmlns:a16="http://schemas.microsoft.com/office/drawing/2014/main" id="{221C2F7A-197F-87B3-7293-77B559F8B532}"/>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6" name="字幕 13">
            <a:extLst>
              <a:ext uri="{FF2B5EF4-FFF2-40B4-BE49-F238E27FC236}">
                <a16:creationId xmlns:a16="http://schemas.microsoft.com/office/drawing/2014/main" id="{9F39F7D2-779F-1749-1B8E-9FCB51D635CB}"/>
              </a:ext>
            </a:extLst>
          </p:cNvPr>
          <p:cNvSpPr>
            <a:spLocks noGrp="1"/>
          </p:cNvSpPr>
          <p:nvPr>
            <p:ph type="subTitle" idx="1"/>
          </p:nvPr>
        </p:nvSpPr>
        <p:spPr>
          <a:xfrm>
            <a:off x="460675" y="830046"/>
            <a:ext cx="9781875" cy="241861"/>
          </a:xfrm>
        </p:spPr>
        <p:txBody>
          <a:bodyPr>
            <a:noAutofit/>
          </a:bodyPr>
          <a:lstStyle/>
          <a:p>
            <a:r>
              <a:rPr lang="ja-JP" altLang="en-US" dirty="0">
                <a:latin typeface="+mj-ea"/>
              </a:rPr>
              <a:t>従業員24名（平均年齢50.9歳・平均勤続12.7年）。勤続20年以上のベテランが多い一方、60歳以上が8名</a:t>
            </a:r>
            <a:endParaRPr lang="en-US" altLang="ja-JP" dirty="0"/>
          </a:p>
        </p:txBody>
      </p:sp>
      <p:graphicFrame>
        <p:nvGraphicFramePr>
          <p:cNvPr id="14" name="Table 13"/>
          <p:cNvGraphicFramePr>
            <a:graphicFrameLocks noGrp="1"/>
          </p:cNvGraphicFramePr>
          <p:nvPr/>
        </p:nvGraphicFramePr>
        <p:xfrm>
          <a:off x="310896" y="1417320"/>
          <a:ext cx="10058396" cy="5143500"/>
        </p:xfrm>
        <a:graphic>
          <a:graphicData uri="http://schemas.openxmlformats.org/drawingml/2006/table">
            <a:tbl>
              <a:tblPr firstRow="0" bandRow="0">
                <a:tableStyleId>{5940675A-B579-460E-94D1-54222C63F5DA}</a:tableStyleId>
              </a:tblPr>
              <a:tblGrid>
                <a:gridCol w="452062"/>
                <a:gridCol w="1243173"/>
                <a:gridCol w="508570"/>
                <a:gridCol w="565078"/>
                <a:gridCol w="734602"/>
                <a:gridCol w="1243173"/>
                <a:gridCol w="791110"/>
                <a:gridCol w="621586"/>
                <a:gridCol w="734602"/>
                <a:gridCol w="3164440"/>
              </a:tblGrid>
              <a:tr h="205740">
                <a:tc>
                  <a:txBody>
                    <a:bodyPr wrap="square"/>
                    <a:lstStyle/>
                    <a:p>
                      <a:pPr algn="ctr"/>
                      <a:r>
                        <a:rPr sz="750" b="1">
                          <a:solidFill>
                            <a:srgbClr val="FFFFFF"/>
                          </a:solidFill>
                          <a:latin typeface="游ゴシック"/>
                          <a:ea typeface="游ゴシック"/>
                        </a:rPr>
                        <a:t>№</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雇用形態</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性別</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年齢</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勤続年数</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部署</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役職</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セリ人</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ﾌｫｰｸﾘﾌﾄ</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備考</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47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24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野菜営業部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副部長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63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野菜営業部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副部長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32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野菜営業部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女</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49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19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果実営業部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課長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36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果実営業部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31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12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近郷部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課長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近郷部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45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近郷部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試用期間</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66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近郷部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14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集配部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2022年4月よりフルタイム</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63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集配部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再雇用正社員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40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集配部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アルバイト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55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集配部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休日のみ配送</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嘱託社員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69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生花部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女</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52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パッケージ部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係長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2012年4月よりフルタイム</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女</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65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パッケージ部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2012年4月よりフルタイム／定年後再雇用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21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女</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65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17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パッケージ部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2012年4月よりフルタイム</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22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パート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女</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67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14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パッケージ部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4h</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23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パート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29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パッケージ部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4h</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女</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55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パッケージ部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24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パート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女</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59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パッケージ部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4h</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女</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65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47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資材部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課長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定年後再雇用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女</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56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38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総務部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部長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05740">
                <a:tc>
                  <a:txBody>
                    <a:bodyPr wrap="square"/>
                    <a:lstStyle/>
                    <a:p>
                      <a:pPr algn="ctr"/>
                      <a:r>
                        <a:rPr sz="750" b="0">
                          <a:solidFill>
                            <a:srgbClr val="1A1A1A"/>
                          </a:solidFill>
                          <a:latin typeface="Arial"/>
                          <a:ea typeface="游ゴシック"/>
                        </a:rPr>
                        <a:t>17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正社員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女</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28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Arial"/>
                          <a:ea typeface="游ゴシック"/>
                        </a:rPr>
                        <a:t>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事務</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5" name="TextBox 14"/>
          <p:cNvSpPr txBox="1"/>
          <p:nvPr/>
        </p:nvSpPr>
        <p:spPr>
          <a:xfrm>
            <a:off x="310896" y="6583680"/>
            <a:ext cx="10058400" cy="411480"/>
          </a:xfrm>
          <a:prstGeom prst="rect">
            <a:avLst/>
          </a:prstGeom>
          <a:noFill/>
        </p:spPr>
        <p:txBody>
          <a:bodyPr wrap="square" lIns="0" rIns="0" tIns="0" bIns="0" anchor="t">
            <a:spAutoFit/>
          </a:bodyPr>
          <a:lstStyle/>
          <a:p>
            <a:pPr algn="l"/>
            <a:r>
              <a:rPr sz="750" b="0">
                <a:solidFill>
                  <a:srgbClr val="5A6670"/>
                </a:solidFill>
                <a:latin typeface="游ゴシック"/>
                <a:ea typeface="游ゴシック"/>
              </a:rPr>
              <a:t>※職員名簿（2026年9月1日現在）。部署→役職→勤続年数の順に並べ替え。№は名簿の番号（組織図と対応）。役員は含まない。</a:t>
            </a:r>
          </a:p>
          <a:p>
            <a:pPr algn="l"/>
            <a:r>
              <a:rPr sz="750" b="0">
                <a:solidFill>
                  <a:srgbClr val="5A6670"/>
                </a:solidFill>
                <a:latin typeface="游ゴシック"/>
                <a:ea typeface="游ゴシック"/>
              </a:rPr>
              <a:t>※法人事業概況説明書（2026/3期末）では従業員30名（常勤役員3名含む）と記載があり、人数の定義差は要確認。就業規則・退職金規程は要確認（中退共に加入）。</a:t>
            </a:r>
          </a:p>
        </p:txBody>
      </p:sp>
    </p:spTree>
    <p:extLst>
      <p:ext uri="{BB962C8B-B14F-4D97-AF65-F5344CB8AC3E}">
        <p14:creationId xmlns:p14="http://schemas.microsoft.com/office/powerpoint/2010/main" val="453025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BC0-753C-033E-F6BF-1E996308297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33F37850-AD52-3D13-0C74-E00196D01FCC}"/>
              </a:ext>
            </a:extLst>
          </p:cNvPr>
          <p:cNvSpPr>
            <a:spLocks noGrp="1"/>
          </p:cNvSpPr>
          <p:nvPr>
            <p:ph type="ctrTitle"/>
          </p:nvPr>
        </p:nvSpPr>
        <p:spPr>
          <a:xfrm>
            <a:off x="311150" y="180296"/>
            <a:ext cx="7799917" cy="339267"/>
          </a:xfrm>
        </p:spPr>
        <p:txBody>
          <a:bodyPr>
            <a:normAutofit/>
          </a:bodyPr>
          <a:lstStyle/>
          <a:p>
            <a:r>
              <a:rPr lang="ja-JP" altLang="en-US" dirty="0"/>
              <a:t>拠点概要（本社・市場）</a:t>
            </a:r>
          </a:p>
        </p:txBody>
      </p:sp>
      <p:sp>
        <p:nvSpPr>
          <p:cNvPr id="2" name="正方形/長方形 1">
            <a:extLst>
              <a:ext uri="{FF2B5EF4-FFF2-40B4-BE49-F238E27FC236}">
                <a16:creationId xmlns:a16="http://schemas.microsoft.com/office/drawing/2014/main" id="{C00DE4F3-8549-4974-DCEF-6F7481D67517}"/>
              </a:ext>
            </a:extLst>
          </p:cNvPr>
          <p:cNvSpPr/>
          <p:nvPr/>
        </p:nvSpPr>
        <p:spPr>
          <a:xfrm>
            <a:off x="311151" y="1517736"/>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本社</a:t>
            </a:r>
          </a:p>
        </p:txBody>
      </p:sp>
      <p:sp>
        <p:nvSpPr>
          <p:cNvPr id="6" name="タイトル 1">
            <a:extLst>
              <a:ext uri="{FF2B5EF4-FFF2-40B4-BE49-F238E27FC236}">
                <a16:creationId xmlns:a16="http://schemas.microsoft.com/office/drawing/2014/main" id="{C94241A7-8BCE-A268-9079-8C5AF9CFCFB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9" name="字幕 13">
            <a:extLst>
              <a:ext uri="{FF2B5EF4-FFF2-40B4-BE49-F238E27FC236}">
                <a16:creationId xmlns:a16="http://schemas.microsoft.com/office/drawing/2014/main" id="{B8D00A9D-DB7C-195B-A6F7-0DBDF4FF7287}"/>
              </a:ext>
            </a:extLst>
          </p:cNvPr>
          <p:cNvSpPr>
            <a:spLocks noGrp="1"/>
          </p:cNvSpPr>
          <p:nvPr>
            <p:ph type="subTitle" idx="1"/>
          </p:nvPr>
        </p:nvSpPr>
        <p:spPr>
          <a:xfrm>
            <a:off x="460675" y="830046"/>
            <a:ext cx="9781875" cy="241861"/>
          </a:xfrm>
        </p:spPr>
        <p:txBody>
          <a:bodyPr>
            <a:noAutofit/>
          </a:bodyPr>
          <a:lstStyle/>
          <a:p>
            <a:r>
              <a:rPr lang="ja-JP" altLang="en-US" dirty="0">
                <a:latin typeface="+mj-ea"/>
              </a:rPr>
              <a:t>本社市場とパッケージ場は隣接する自社保有地（計4,263㎡）。主要建物は1981〜82年築で、改修を重ねて使用</a:t>
            </a:r>
            <a:endParaRPr lang="en-US" altLang="ja-JP" dirty="0"/>
          </a:p>
        </p:txBody>
      </p:sp>
      <p:graphicFrame>
        <p:nvGraphicFramePr>
          <p:cNvPr id="14" name="Table 13"/>
          <p:cNvGraphicFramePr>
            <a:graphicFrameLocks noGrp="1"/>
          </p:cNvGraphicFramePr>
          <p:nvPr/>
        </p:nvGraphicFramePr>
        <p:xfrm>
          <a:off x="310896" y="1965960"/>
          <a:ext cx="10058398" cy="1463040"/>
        </p:xfrm>
        <a:graphic>
          <a:graphicData uri="http://schemas.openxmlformats.org/drawingml/2006/table">
            <a:tbl>
              <a:tblPr firstRow="0" bandRow="0">
                <a:tableStyleId>{5940675A-B579-460E-94D1-54222C63F5DA}</a:tableStyleId>
              </a:tblPr>
              <a:tblGrid>
                <a:gridCol w="1149531"/>
                <a:gridCol w="2682240"/>
                <a:gridCol w="574765"/>
                <a:gridCol w="1053737"/>
                <a:gridCol w="2873828"/>
                <a:gridCol w="1724297"/>
              </a:tblGrid>
              <a:tr h="365760">
                <a:tc>
                  <a:txBody>
                    <a:bodyPr wrap="square"/>
                    <a:lstStyle/>
                    <a:p>
                      <a:pPr algn="ctr"/>
                      <a:r>
                        <a:rPr sz="900" b="1">
                          <a:solidFill>
                            <a:srgbClr val="FFFFFF"/>
                          </a:solidFill>
                          <a:latin typeface="游ゴシック"/>
                          <a:ea typeface="游ゴシック"/>
                        </a:rPr>
                        <a:t>拠点</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900" b="1">
                          <a:solidFill>
                            <a:srgbClr val="FFFFFF"/>
                          </a:solidFill>
                          <a:latin typeface="游ゴシック"/>
                          <a:ea typeface="游ゴシック"/>
                        </a:rPr>
                        <a:t>所在地</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900" b="1">
                          <a:solidFill>
                            <a:srgbClr val="FFFFFF"/>
                          </a:solidFill>
                          <a:latin typeface="游ゴシック"/>
                          <a:ea typeface="游ゴシック"/>
                        </a:rPr>
                        <a:t>形態</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900" b="1">
                          <a:solidFill>
                            <a:srgbClr val="FFFFFF"/>
                          </a:solidFill>
                          <a:latin typeface="游ゴシック"/>
                          <a:ea typeface="游ゴシック"/>
                        </a:rPr>
                        <a:t>土地面積(㎡)</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900" b="1">
                          <a:solidFill>
                            <a:srgbClr val="FFFFFF"/>
                          </a:solidFill>
                          <a:latin typeface="游ゴシック"/>
                          <a:ea typeface="游ゴシック"/>
                        </a:rPr>
                        <a:t>主な建物</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900" b="1">
                          <a:solidFill>
                            <a:srgbClr val="FFFFFF"/>
                          </a:solidFill>
                          <a:latin typeface="游ゴシック"/>
                          <a:ea typeface="游ゴシック"/>
                        </a:rPr>
                        <a:t>用途</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365760">
                <a:tc>
                  <a:txBody>
                    <a:bodyPr wrap="square"/>
                    <a:lstStyle/>
                    <a:p>
                      <a:pPr algn="l"/>
                      <a:r>
                        <a:rPr sz="900" b="0">
                          <a:solidFill>
                            <a:srgbClr val="1A1A1A"/>
                          </a:solidFill>
                          <a:latin typeface="游ゴシック"/>
                          <a:ea typeface="游ゴシック"/>
                        </a:rPr>
                        <a:t>本社・市場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鶴岡市宝田一丁目4番20号（地番4-2）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900" b="0">
                          <a:solidFill>
                            <a:srgbClr val="1A1A1A"/>
                          </a:solidFill>
                          <a:latin typeface="游ゴシック"/>
                          <a:ea typeface="游ゴシック"/>
                        </a:rPr>
                        <a:t>所有</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900" b="0">
                          <a:solidFill>
                            <a:srgbClr val="1A1A1A"/>
                          </a:solidFill>
                          <a:latin typeface="Arial"/>
                          <a:ea typeface="游ゴシック"/>
                        </a:rPr>
                        <a:t>3,100.22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事務所（管理棟）・市場・倉庫・貯蔵庫</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事務所、セリ場、保管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65760">
                <a:tc>
                  <a:txBody>
                    <a:bodyPr wrap="square"/>
                    <a:lstStyle/>
                    <a:p>
                      <a:pPr algn="l"/>
                      <a:r>
                        <a:rPr sz="900" b="0">
                          <a:solidFill>
                            <a:srgbClr val="1A1A1A"/>
                          </a:solidFill>
                          <a:latin typeface="游ゴシック"/>
                          <a:ea typeface="游ゴシック"/>
                        </a:rPr>
                        <a:t>パッケージ場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鶴岡市宝田一丁目5-1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900" b="0">
                          <a:solidFill>
                            <a:srgbClr val="1A1A1A"/>
                          </a:solidFill>
                          <a:latin typeface="游ゴシック"/>
                          <a:ea typeface="游ゴシック"/>
                        </a:rPr>
                        <a:t>所有</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900" b="0">
                          <a:solidFill>
                            <a:srgbClr val="1A1A1A"/>
                          </a:solidFill>
                          <a:latin typeface="Arial"/>
                          <a:ea typeface="游ゴシック"/>
                        </a:rPr>
                        <a:t>900.50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事務所兼倉庫（629㎡）・倉庫（139㎡）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小分け・包装、保管</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65760">
                <a:tc>
                  <a:txBody>
                    <a:bodyPr wrap="square"/>
                    <a:lstStyle/>
                    <a:p>
                      <a:pPr algn="l"/>
                      <a:r>
                        <a:rPr sz="900" b="0">
                          <a:solidFill>
                            <a:srgbClr val="1A1A1A"/>
                          </a:solidFill>
                          <a:latin typeface="游ゴシック"/>
                          <a:ea typeface="游ゴシック"/>
                        </a:rPr>
                        <a:t>倉庫敷地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東田川郡庄内町長沼字宮前304-7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900" b="0">
                          <a:solidFill>
                            <a:srgbClr val="1A1A1A"/>
                          </a:solidFill>
                          <a:latin typeface="游ゴシック"/>
                          <a:ea typeface="游ゴシック"/>
                        </a:rPr>
                        <a:t>所有</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900" b="0">
                          <a:solidFill>
                            <a:srgbClr val="1A1A1A"/>
                          </a:solidFill>
                          <a:latin typeface="Arial"/>
                          <a:ea typeface="游ゴシック"/>
                        </a:rPr>
                        <a:t>261.81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建物の課税明細なし（要確認）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900" b="0">
                          <a:solidFill>
                            <a:srgbClr val="1A1A1A"/>
                          </a:solidFill>
                          <a:latin typeface="游ゴシック"/>
                          <a:ea typeface="游ゴシック"/>
                        </a:rPr>
                        <a:t>倉庫敷地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5" name="TextBox 14"/>
          <p:cNvSpPr txBox="1"/>
          <p:nvPr/>
        </p:nvSpPr>
        <p:spPr>
          <a:xfrm>
            <a:off x="310896" y="3657600"/>
            <a:ext cx="10058400" cy="1828800"/>
          </a:xfrm>
          <a:prstGeom prst="rect">
            <a:avLst/>
          </a:prstGeom>
          <a:noFill/>
        </p:spPr>
        <p:txBody>
          <a:bodyPr wrap="square" lIns="0" rIns="0" tIns="0" bIns="0" anchor="t">
            <a:spAutoFit/>
          </a:bodyPr>
          <a:lstStyle/>
          <a:p>
            <a:pPr algn="l">
              <a:spcAft>
                <a:spcPts val="600"/>
              </a:spcAft>
            </a:pPr>
            <a:r>
              <a:rPr sz="1000" b="0">
                <a:solidFill>
                  <a:srgbClr val="1A1A1A"/>
                </a:solidFill>
                <a:latin typeface="游ゴシック"/>
                <a:ea typeface="游ゴシック"/>
              </a:rPr>
              <a:t>・営業時間は早朝6時から（終業時刻は要確認）、定休日は水・日・祝日（法人事業概況説明書）。</a:t>
            </a:r>
          </a:p>
          <a:p>
            <a:pPr algn="l">
              <a:spcAft>
                <a:spcPts val="600"/>
              </a:spcAft>
            </a:pPr>
            <a:r>
              <a:rPr sz="1000" b="0">
                <a:solidFill>
                  <a:srgbClr val="1A1A1A"/>
                </a:solidFill>
                <a:latin typeface="游ゴシック"/>
                <a:ea typeface="游ゴシック"/>
              </a:rPr>
              <a:t>・賃借物件なし（地代家賃の計上なし）。車両等はリースを利用（リース料年6,227千円、対象資産は要確認）。</a:t>
            </a:r>
          </a:p>
          <a:p>
            <a:pPr algn="l">
              <a:spcAft>
                <a:spcPts val="600"/>
              </a:spcAft>
            </a:pPr>
            <a:r>
              <a:rPr sz="1000" b="0">
                <a:solidFill>
                  <a:srgbClr val="1A1A1A"/>
                </a:solidFill>
                <a:latin typeface="游ゴシック"/>
                <a:ea typeface="游ゴシック"/>
              </a:rPr>
              <a:t>・屋根・外壁・シャッター・冷蔵庫ユニット等の改修工事を継続的に資産計上（詳細は「保有設備一覧」）。</a:t>
            </a:r>
          </a:p>
          <a:p>
            <a:pPr algn="l">
              <a:spcAft>
                <a:spcPts val="600"/>
              </a:spcAft>
            </a:pPr>
            <a:r>
              <a:rPr sz="1000" b="0">
                <a:solidFill>
                  <a:srgbClr val="1A1A1A"/>
                </a:solidFill>
                <a:latin typeface="游ゴシック"/>
                <a:ea typeface="游ゴシック"/>
              </a:rPr>
              <a:t>・社屋外観・市場内観・周辺地図は売主様より写真受領後に掲載予定。</a:t>
            </a:r>
          </a:p>
        </p:txBody>
      </p:sp>
    </p:spTree>
    <p:extLst>
      <p:ext uri="{BB962C8B-B14F-4D97-AF65-F5344CB8AC3E}">
        <p14:creationId xmlns:p14="http://schemas.microsoft.com/office/powerpoint/2010/main" val="6307501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6CA44-E527-07A7-EABE-FD69A9CC275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76FF1C4-EA62-3485-4D28-7C17FD9DDA7D}"/>
              </a:ext>
            </a:extLst>
          </p:cNvPr>
          <p:cNvSpPr>
            <a:spLocks noGrp="1"/>
          </p:cNvSpPr>
          <p:nvPr>
            <p:ph type="ctrTitle"/>
          </p:nvPr>
        </p:nvSpPr>
        <p:spPr>
          <a:xfrm>
            <a:off x="311150" y="180296"/>
            <a:ext cx="7799917" cy="339267"/>
          </a:xfrm>
        </p:spPr>
        <p:txBody>
          <a:bodyPr>
            <a:normAutofit/>
          </a:bodyPr>
          <a:lstStyle/>
          <a:p>
            <a:r>
              <a:rPr lang="ja-JP" altLang="en-US" dirty="0"/>
              <a:t>不動産詳細</a:t>
            </a:r>
          </a:p>
        </p:txBody>
      </p:sp>
      <p:sp>
        <p:nvSpPr>
          <p:cNvPr id="2" name="正方形/長方形 1">
            <a:extLst>
              <a:ext uri="{FF2B5EF4-FFF2-40B4-BE49-F238E27FC236}">
                <a16:creationId xmlns:a16="http://schemas.microsoft.com/office/drawing/2014/main" id="{6E2B06A4-5CE5-00C3-97BF-5F9AFAE677E3}"/>
              </a:ext>
            </a:extLst>
          </p:cNvPr>
          <p:cNvSpPr/>
          <p:nvPr/>
        </p:nvSpPr>
        <p:spPr>
          <a:xfrm>
            <a:off x="311151" y="1517736"/>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所有</a:t>
            </a:r>
          </a:p>
        </p:txBody>
      </p:sp>
      <p:sp>
        <p:nvSpPr>
          <p:cNvPr id="3" name="正方形/長方形 2">
            <a:extLst>
              <a:ext uri="{FF2B5EF4-FFF2-40B4-BE49-F238E27FC236}">
                <a16:creationId xmlns:a16="http://schemas.microsoft.com/office/drawing/2014/main" id="{75ADC88D-D2D4-EEF0-D14C-0426FECA60C3}"/>
              </a:ext>
            </a:extLst>
          </p:cNvPr>
          <p:cNvSpPr/>
          <p:nvPr/>
        </p:nvSpPr>
        <p:spPr>
          <a:xfrm>
            <a:off x="311150" y="4499061"/>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賃借</a:t>
            </a:r>
          </a:p>
        </p:txBody>
      </p:sp>
      <p:sp>
        <p:nvSpPr>
          <p:cNvPr id="4" name="タイトル 1">
            <a:extLst>
              <a:ext uri="{FF2B5EF4-FFF2-40B4-BE49-F238E27FC236}">
                <a16:creationId xmlns:a16="http://schemas.microsoft.com/office/drawing/2014/main" id="{DAA41D5B-A131-C808-ADF3-2DAFD20777F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8" name="字幕 13">
            <a:extLst>
              <a:ext uri="{FF2B5EF4-FFF2-40B4-BE49-F238E27FC236}">
                <a16:creationId xmlns:a16="http://schemas.microsoft.com/office/drawing/2014/main" id="{A751CA4D-CB14-CD08-826F-75C234B5BA9A}"/>
              </a:ext>
            </a:extLst>
          </p:cNvPr>
          <p:cNvSpPr>
            <a:spLocks noGrp="1"/>
          </p:cNvSpPr>
          <p:nvPr>
            <p:ph type="subTitle" idx="1"/>
          </p:nvPr>
        </p:nvSpPr>
        <p:spPr>
          <a:xfrm>
            <a:off x="460675" y="830046"/>
            <a:ext cx="9781875" cy="241861"/>
          </a:xfrm>
        </p:spPr>
        <p:txBody>
          <a:bodyPr>
            <a:noAutofit/>
          </a:bodyPr>
          <a:lstStyle/>
          <a:p>
            <a:r>
              <a:rPr lang="ja-JP" altLang="en-US" dirty="0">
                <a:latin typeface="+mj-ea"/>
              </a:rPr>
              <a:t>土地3筆・建物7棟を所有（賃借なし）。土地の簿価93.1百万円に対し、固定資産税評価額ベースの時価推計は約68百万円</a:t>
            </a:r>
            <a:endParaRPr lang="en-US" altLang="ja-JP" dirty="0"/>
          </a:p>
        </p:txBody>
      </p:sp>
      <p:graphicFrame>
        <p:nvGraphicFramePr>
          <p:cNvPr id="14" name="Table 13"/>
          <p:cNvGraphicFramePr>
            <a:graphicFrameLocks noGrp="1"/>
          </p:cNvGraphicFramePr>
          <p:nvPr/>
        </p:nvGraphicFramePr>
        <p:xfrm>
          <a:off x="310896" y="1920240"/>
          <a:ext cx="10058400" cy="2962656"/>
        </p:xfrm>
        <a:graphic>
          <a:graphicData uri="http://schemas.openxmlformats.org/drawingml/2006/table">
            <a:tbl>
              <a:tblPr firstRow="0" bandRow="0">
                <a:tableStyleId>{5940675A-B579-460E-94D1-54222C63F5DA}</a:tableStyleId>
              </a:tblPr>
              <a:tblGrid>
                <a:gridCol w="1371600"/>
                <a:gridCol w="2103120"/>
                <a:gridCol w="731520"/>
                <a:gridCol w="1828800"/>
                <a:gridCol w="640080"/>
                <a:gridCol w="914400"/>
                <a:gridCol w="914400"/>
                <a:gridCol w="1554480"/>
              </a:tblGrid>
              <a:tr h="246888">
                <a:tc>
                  <a:txBody>
                    <a:bodyPr wrap="square"/>
                    <a:lstStyle/>
                    <a:p>
                      <a:pPr algn="ctr"/>
                      <a:r>
                        <a:rPr sz="800" b="1">
                          <a:solidFill>
                            <a:srgbClr val="FFFFFF"/>
                          </a:solidFill>
                          <a:latin typeface="游ゴシック"/>
                          <a:ea typeface="游ゴシック"/>
                        </a:rPr>
                        <a:t>区分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所在地</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面積(㎡)</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地目・構造</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建築年</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期末簿価(千円)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時価(千円)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備考</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0">
                          <a:solidFill>
                            <a:srgbClr val="1A1A1A"/>
                          </a:solidFill>
                          <a:latin typeface="游ゴシック"/>
                          <a:ea typeface="游ゴシック"/>
                        </a:rPr>
                        <a:t>土地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鶴岡市宝田一丁目4-2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3,100.22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宅地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70,757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51,230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固定資産税評価額÷0.7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0">
                          <a:solidFill>
                            <a:srgbClr val="1A1A1A"/>
                          </a:solidFill>
                          <a:latin typeface="游ゴシック"/>
                          <a:ea typeface="游ゴシック"/>
                        </a:rPr>
                        <a:t>土地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鶴岡市宝田一丁目5-1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900.50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宅地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21,380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15,086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固定資産税評価額÷0.7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0">
                          <a:solidFill>
                            <a:srgbClr val="1A1A1A"/>
                          </a:solidFill>
                          <a:latin typeface="游ゴシック"/>
                          <a:ea typeface="游ゴシック"/>
                        </a:rPr>
                        <a:t>土地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東田川郡庄内町長沼字宮前304-7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261.81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宅地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0">
                          <a:solidFill>
                            <a:srgbClr val="1A1A1A"/>
                          </a:solidFill>
                          <a:latin typeface="Arial"/>
                          <a:ea typeface="游ゴシック"/>
                        </a:rPr>
                        <a:t>－</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1,000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1,509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固定資産税評価額÷0.7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0">
                          <a:solidFill>
                            <a:srgbClr val="1A1A1A"/>
                          </a:solidFill>
                          <a:latin typeface="游ゴシック"/>
                          <a:ea typeface="游ゴシック"/>
                        </a:rPr>
                        <a:t>建物（事務所）</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宝田一丁目4-2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365.63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鉄骨造 亜鉛メッキ鋼板葺 2階</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0">
                          <a:solidFill>
                            <a:srgbClr val="1A1A1A"/>
                          </a:solidFill>
                          <a:latin typeface="Arial"/>
                          <a:ea typeface="游ゴシック"/>
                        </a:rPr>
                        <a:t>1981年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11,218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固定資産税評価額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0">
                          <a:solidFill>
                            <a:srgbClr val="1A1A1A"/>
                          </a:solidFill>
                          <a:latin typeface="游ゴシック"/>
                          <a:ea typeface="游ゴシック"/>
                        </a:rPr>
                        <a:t>建物（市場）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宝田一丁目4-2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320.22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鉄骨造 亜鉛メッキ鋼板葺 1階</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0">
                          <a:solidFill>
                            <a:srgbClr val="1A1A1A"/>
                          </a:solidFill>
                          <a:latin typeface="Arial"/>
                          <a:ea typeface="游ゴシック"/>
                        </a:rPr>
                        <a:t>1981年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4,713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固定資産税評価額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0">
                          <a:solidFill>
                            <a:srgbClr val="1A1A1A"/>
                          </a:solidFill>
                          <a:latin typeface="游ゴシック"/>
                          <a:ea typeface="游ゴシック"/>
                        </a:rPr>
                        <a:t>建物（倉庫）</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宝田一丁目4-2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327.13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鉄骨造 亜鉛メッキ鋼板葺 1階</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0">
                          <a:solidFill>
                            <a:srgbClr val="1A1A1A"/>
                          </a:solidFill>
                          <a:latin typeface="Arial"/>
                          <a:ea typeface="游ゴシック"/>
                        </a:rPr>
                        <a:t>1981年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4,561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固定資産税評価額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0">
                          <a:solidFill>
                            <a:srgbClr val="1A1A1A"/>
                          </a:solidFill>
                          <a:latin typeface="游ゴシック"/>
                          <a:ea typeface="游ゴシック"/>
                        </a:rPr>
                        <a:t>建物（倉庫）</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宝田一丁目4-2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198.74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軽量鉄骨造 2階</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0">
                          <a:solidFill>
                            <a:srgbClr val="1A1A1A"/>
                          </a:solidFill>
                          <a:latin typeface="Arial"/>
                          <a:ea typeface="游ゴシック"/>
                        </a:rPr>
                        <a:t>1981年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1,237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固定資産税評価額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0">
                          <a:solidFill>
                            <a:srgbClr val="1A1A1A"/>
                          </a:solidFill>
                          <a:latin typeface="游ゴシック"/>
                          <a:ea typeface="游ゴシック"/>
                        </a:rPr>
                        <a:t>建物（貯蔵庫）</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宝田一丁目4-2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34.48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軽量鉄骨造 1階</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0">
                          <a:solidFill>
                            <a:srgbClr val="1A1A1A"/>
                          </a:solidFill>
                          <a:latin typeface="Arial"/>
                          <a:ea typeface="游ゴシック"/>
                        </a:rPr>
                        <a:t>1981年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567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固定資産税評価額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0">
                          <a:solidFill>
                            <a:srgbClr val="1A1A1A"/>
                          </a:solidFill>
                          <a:latin typeface="游ゴシック"/>
                          <a:ea typeface="游ゴシック"/>
                        </a:rPr>
                        <a:t>建物（事務所兼倉庫）</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宝田一丁目5-1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627.40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鉄骨造 亜鉛メッキ鋼板葺 2階</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0">
                          <a:solidFill>
                            <a:srgbClr val="1A1A1A"/>
                          </a:solidFill>
                          <a:latin typeface="Arial"/>
                          <a:ea typeface="游ゴシック"/>
                        </a:rPr>
                        <a:t>1982年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13,111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固定資産税評価額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0">
                          <a:solidFill>
                            <a:srgbClr val="1A1A1A"/>
                          </a:solidFill>
                          <a:latin typeface="游ゴシック"/>
                          <a:ea typeface="游ゴシック"/>
                        </a:rPr>
                        <a:t>建物（倉庫）</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宝田一丁目5-1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139.08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鉄骨造 亜鉛メッキ鋼板葺 1階</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0">
                          <a:solidFill>
                            <a:srgbClr val="1A1A1A"/>
                          </a:solidFill>
                          <a:latin typeface="Arial"/>
                          <a:ea typeface="游ゴシック"/>
                        </a:rPr>
                        <a:t>2012年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11,656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固定資産税評価額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246888">
                <a:tc>
                  <a:txBody>
                    <a:bodyPr wrap="square"/>
                    <a:lstStyle/>
                    <a:p>
                      <a:pPr algn="l"/>
                      <a:r>
                        <a:rPr sz="800" b="1">
                          <a:solidFill>
                            <a:srgbClr val="1A1A1A"/>
                          </a:solidFill>
                          <a:latin typeface="游ゴシック"/>
                          <a:ea typeface="游ゴシック"/>
                        </a:rPr>
                        <a:t>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185,203</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1">
                          <a:solidFill>
                            <a:srgbClr val="1A1A1A"/>
                          </a:solidFill>
                          <a:latin typeface="Arial"/>
                          <a:ea typeface="游ゴシック"/>
                        </a:rPr>
                        <a:t>114,887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1">
                          <a:solidFill>
                            <a:srgbClr val="1A1A1A"/>
                          </a:solidFill>
                          <a:latin typeface="游ゴシック"/>
                          <a:ea typeface="游ゴシック"/>
                        </a:rPr>
                        <a:t>建物簿価は改修工事を含む</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5" name="TextBox 14"/>
          <p:cNvSpPr txBox="1"/>
          <p:nvPr/>
        </p:nvSpPr>
        <p:spPr>
          <a:xfrm>
            <a:off x="310896" y="4892040"/>
            <a:ext cx="10058400" cy="274320"/>
          </a:xfrm>
          <a:prstGeom prst="rect">
            <a:avLst/>
          </a:prstGeom>
          <a:noFill/>
        </p:spPr>
        <p:txBody>
          <a:bodyPr wrap="square" lIns="0" rIns="0" tIns="0" bIns="0" anchor="t">
            <a:spAutoFit/>
          </a:bodyPr>
          <a:lstStyle/>
          <a:p>
            <a:pPr algn="l"/>
            <a:r>
              <a:rPr sz="900" b="0">
                <a:solidFill>
                  <a:srgbClr val="1A1A1A"/>
                </a:solidFill>
                <a:latin typeface="游ゴシック"/>
                <a:ea typeface="游ゴシック"/>
              </a:rPr>
              <a:t>賃借物件はありません。</a:t>
            </a:r>
          </a:p>
        </p:txBody>
      </p:sp>
      <p:sp>
        <p:nvSpPr>
          <p:cNvPr id="16" name="TextBox 15"/>
          <p:cNvSpPr txBox="1"/>
          <p:nvPr/>
        </p:nvSpPr>
        <p:spPr>
          <a:xfrm>
            <a:off x="310896" y="5303520"/>
            <a:ext cx="10058400" cy="914400"/>
          </a:xfrm>
          <a:prstGeom prst="rect">
            <a:avLst/>
          </a:prstGeom>
          <a:noFill/>
        </p:spPr>
        <p:txBody>
          <a:bodyPr wrap="square" lIns="0" rIns="0" tIns="0" bIns="0" anchor="t">
            <a:spAutoFit/>
          </a:bodyPr>
          <a:lstStyle/>
          <a:p>
            <a:pPr algn="l"/>
            <a:r>
              <a:rPr sz="800" b="0">
                <a:solidFill>
                  <a:srgbClr val="5A6670"/>
                </a:solidFill>
                <a:latin typeface="游ゴシック"/>
                <a:ea typeface="游ゴシック"/>
              </a:rPr>
              <a:t>※出所：R8年度固定資産税課税明細書、固定資産（土地・建物）内訳書。建物の簿価は棟別ではなく改修工事を含めた合計で記載。</a:t>
            </a:r>
          </a:p>
          <a:p>
            <a:pPr algn="l"/>
            <a:r>
              <a:rPr sz="800" b="0">
                <a:solidFill>
                  <a:srgbClr val="5A6670"/>
                </a:solidFill>
                <a:latin typeface="游ゴシック"/>
                <a:ea typeface="游ゴシック"/>
              </a:rPr>
              <a:t>※1981年築の建物は新耐震基準（1981年6月施行）の適用有無を建築確認日で要確認。土地の時価は鑑定・路線価で要確認。</a:t>
            </a:r>
          </a:p>
        </p:txBody>
      </p:sp>
    </p:spTree>
    <p:extLst>
      <p:ext uri="{BB962C8B-B14F-4D97-AF65-F5344CB8AC3E}">
        <p14:creationId xmlns:p14="http://schemas.microsoft.com/office/powerpoint/2010/main" val="20041296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83CB5-D66B-9D1A-A660-C02FFA666B7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B1EDBB24-67BB-E96E-B74B-D3EB5F75EDA4}"/>
              </a:ext>
            </a:extLst>
          </p:cNvPr>
          <p:cNvSpPr>
            <a:spLocks noGrp="1"/>
          </p:cNvSpPr>
          <p:nvPr>
            <p:ph type="ctrTitle"/>
          </p:nvPr>
        </p:nvSpPr>
        <p:spPr>
          <a:xfrm>
            <a:off x="311150" y="180296"/>
            <a:ext cx="7799917" cy="339267"/>
          </a:xfrm>
        </p:spPr>
        <p:txBody>
          <a:bodyPr>
            <a:normAutofit/>
          </a:bodyPr>
          <a:lstStyle/>
          <a:p>
            <a:r>
              <a:rPr lang="ja-JP" altLang="en-US" dirty="0"/>
              <a:t>保有設備一覧</a:t>
            </a:r>
          </a:p>
        </p:txBody>
      </p:sp>
      <p:sp>
        <p:nvSpPr>
          <p:cNvPr id="4" name="タイトル 1">
            <a:extLst>
              <a:ext uri="{FF2B5EF4-FFF2-40B4-BE49-F238E27FC236}">
                <a16:creationId xmlns:a16="http://schemas.microsoft.com/office/drawing/2014/main" id="{9A038C7C-FDC6-3DA9-FB86-371BEF2D480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lang="ja-JP" altLang="en-US" dirty="0">
                <a:latin typeface="+mj-ea"/>
              </a:rPr>
              <a:t>機械・車両は償却済み（集配車両はリースと推察）。建物は屋根・外壁・シャッター・冷蔵庫ユニット等の改修を継続して資産計上</a:t>
            </a:r>
            <a:endParaRPr lang="en-US" altLang="ja-JP" dirty="0"/>
          </a:p>
        </p:txBody>
      </p:sp>
      <p:graphicFrame>
        <p:nvGraphicFramePr>
          <p:cNvPr id="14" name="Table 13"/>
          <p:cNvGraphicFramePr>
            <a:graphicFrameLocks noGrp="1"/>
          </p:cNvGraphicFramePr>
          <p:nvPr/>
        </p:nvGraphicFramePr>
        <p:xfrm>
          <a:off x="310896" y="1417320"/>
          <a:ext cx="5760720" cy="5248656"/>
        </p:xfrm>
        <a:graphic>
          <a:graphicData uri="http://schemas.openxmlformats.org/drawingml/2006/table">
            <a:tbl>
              <a:tblPr firstRow="0" bandRow="0">
                <a:tableStyleId>{5940675A-B579-460E-94D1-54222C63F5DA}</a:tableStyleId>
              </a:tblPr>
              <a:tblGrid>
                <a:gridCol w="2286000"/>
                <a:gridCol w="2377440"/>
                <a:gridCol w="1097280"/>
              </a:tblGrid>
              <a:tr h="187452">
                <a:tc>
                  <a:txBody>
                    <a:bodyPr wrap="square"/>
                    <a:lstStyle/>
                    <a:p>
                      <a:pPr algn="ctr"/>
                      <a:r>
                        <a:rPr sz="750" b="1">
                          <a:solidFill>
                            <a:srgbClr val="FFFFFF"/>
                          </a:solidFill>
                          <a:latin typeface="游ゴシック"/>
                          <a:ea typeface="游ゴシック"/>
                        </a:rPr>
                        <a:t>建物内訳（用途）</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所在・面積</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50" b="1">
                          <a:solidFill>
                            <a:srgbClr val="FFFFFF"/>
                          </a:solidFill>
                          <a:latin typeface="游ゴシック"/>
                          <a:ea typeface="游ゴシック"/>
                        </a:rPr>
                        <a:t>簿価(千円)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管理棟</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宝田一丁目4-20／365.00㎡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20,193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荷捌市場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宝田一丁目4-20／330.70㎡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5,899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倉庫</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宝田一丁目4-20／320.20㎡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1,166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容器庫</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宝田一丁目4-20／198.70㎡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500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物置</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宝田一丁目4-20／34.40㎡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容器倉庫</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249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シャッター</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シャッター取替</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1,739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改修工事</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2,695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改修工事</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6,000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パッケージ場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宝田一丁目5-20／629.34㎡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11,751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シャッター更新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1,078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プレハブ修繕</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1,377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不用材置場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倉庫</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8,917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2階改修</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6,404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1階トイレ改修</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1,170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屋根改修</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3,391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屋根改修</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3,120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屋根改修</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3,737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下屋修理・塗装</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971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パッケージ場外壁</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宝田一丁目5-20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6,815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冷蔵庫ユニット交換工事</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1,002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シャッター</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2,570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資材倉庫外壁改修（2025年5月）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918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0">
                          <a:solidFill>
                            <a:srgbClr val="1A1A1A"/>
                          </a:solidFill>
                          <a:latin typeface="游ゴシック"/>
                          <a:ea typeface="游ゴシック"/>
                        </a:rPr>
                        <a:t>資材倉庫シャッター（2025年5月）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0">
                          <a:solidFill>
                            <a:srgbClr val="1A1A1A"/>
                          </a:solidFill>
                          <a:latin typeface="游ゴシック"/>
                          <a:ea typeface="游ゴシック"/>
                        </a:rPr>
                        <a:t>宝田一丁目4-20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0">
                          <a:solidFill>
                            <a:srgbClr val="1A1A1A"/>
                          </a:solidFill>
                          <a:latin typeface="Arial"/>
                          <a:ea typeface="游ゴシック"/>
                        </a:rPr>
                        <a:t>402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7452">
                <a:tc>
                  <a:txBody>
                    <a:bodyPr wrap="square"/>
                    <a:lstStyle/>
                    <a:p>
                      <a:pPr algn="l"/>
                      <a:r>
                        <a:rPr sz="750" b="1">
                          <a:solidFill>
                            <a:srgbClr val="1A1A1A"/>
                          </a:solidFill>
                          <a:latin typeface="游ゴシック"/>
                          <a:ea typeface="游ゴシック"/>
                        </a:rPr>
                        <a:t>建物 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750" b="1">
                          <a:solidFill>
                            <a:srgbClr val="1A1A1A"/>
                          </a:solidFill>
                          <a:latin typeface="游ゴシック"/>
                          <a:ea typeface="游ゴシック"/>
                        </a:rPr>
                        <a:t>　</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50" b="1">
                          <a:solidFill>
                            <a:srgbClr val="1A1A1A"/>
                          </a:solidFill>
                          <a:latin typeface="Arial"/>
                          <a:ea typeface="游ゴシック"/>
                        </a:rPr>
                        <a:t>92,066</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graphicFrame>
        <p:nvGraphicFramePr>
          <p:cNvPr id="15" name="Table 14"/>
          <p:cNvGraphicFramePr>
            <a:graphicFrameLocks noGrp="1"/>
          </p:cNvGraphicFramePr>
          <p:nvPr/>
        </p:nvGraphicFramePr>
        <p:xfrm>
          <a:off x="6263640" y="1417320"/>
          <a:ext cx="4069079" cy="2688336"/>
        </p:xfrm>
        <a:graphic>
          <a:graphicData uri="http://schemas.openxmlformats.org/drawingml/2006/table">
            <a:tbl>
              <a:tblPr firstRow="0" bandRow="0">
                <a:tableStyleId>{5940675A-B579-460E-94D1-54222C63F5DA}</a:tableStyleId>
              </a:tblPr>
              <a:tblGrid>
                <a:gridCol w="1188720"/>
                <a:gridCol w="822959"/>
                <a:gridCol w="2057400"/>
              </a:tblGrid>
              <a:tr h="384048">
                <a:tc>
                  <a:txBody>
                    <a:bodyPr wrap="square"/>
                    <a:lstStyle/>
                    <a:p>
                      <a:pPr algn="ctr"/>
                      <a:r>
                        <a:rPr sz="800" b="1">
                          <a:solidFill>
                            <a:srgbClr val="FFFFFF"/>
                          </a:solidFill>
                          <a:latin typeface="游ゴシック"/>
                          <a:ea typeface="游ゴシック"/>
                        </a:rPr>
                        <a:t>区分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簿価(千円)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800" b="1">
                          <a:solidFill>
                            <a:srgbClr val="FFFFFF"/>
                          </a:solidFill>
                          <a:latin typeface="游ゴシック"/>
                          <a:ea typeface="游ゴシック"/>
                        </a:rPr>
                        <a:t>備考</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384048">
                <a:tc>
                  <a:txBody>
                    <a:bodyPr wrap="square"/>
                    <a:lstStyle/>
                    <a:p>
                      <a:pPr algn="l"/>
                      <a:r>
                        <a:rPr sz="800" b="0">
                          <a:solidFill>
                            <a:srgbClr val="1A1A1A"/>
                          </a:solidFill>
                          <a:latin typeface="游ゴシック"/>
                          <a:ea typeface="游ゴシック"/>
                        </a:rPr>
                        <a:t>建物付属設備</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11,400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冷蔵庫ユニット交換・シャッター更新等（内訳書記載の改修工事）</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84048">
                <a:tc>
                  <a:txBody>
                    <a:bodyPr wrap="square"/>
                    <a:lstStyle/>
                    <a:p>
                      <a:pPr algn="l"/>
                      <a:r>
                        <a:rPr sz="800" b="0">
                          <a:solidFill>
                            <a:srgbClr val="1A1A1A"/>
                          </a:solidFill>
                          <a:latin typeface="游ゴシック"/>
                          <a:ea typeface="游ゴシック"/>
                        </a:rPr>
                        <a:t>構築物</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284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84048">
                <a:tc>
                  <a:txBody>
                    <a:bodyPr wrap="square"/>
                    <a:lstStyle/>
                    <a:p>
                      <a:pPr algn="l"/>
                      <a:r>
                        <a:rPr sz="800" b="0">
                          <a:solidFill>
                            <a:srgbClr val="1A1A1A"/>
                          </a:solidFill>
                          <a:latin typeface="游ゴシック"/>
                          <a:ea typeface="游ゴシック"/>
                        </a:rPr>
                        <a:t>機械装置</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備忘価額のみ（償却済）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84048">
                <a:tc>
                  <a:txBody>
                    <a:bodyPr wrap="square"/>
                    <a:lstStyle/>
                    <a:p>
                      <a:pPr algn="l"/>
                      <a:r>
                        <a:rPr sz="800" b="0">
                          <a:solidFill>
                            <a:srgbClr val="1A1A1A"/>
                          </a:solidFill>
                          <a:latin typeface="游ゴシック"/>
                          <a:ea typeface="游ゴシック"/>
                        </a:rPr>
                        <a:t>車両運搬具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備忘価額のみ。集配車両はリースと推察（要確認）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84048">
                <a:tc>
                  <a:txBody>
                    <a:bodyPr wrap="square"/>
                    <a:lstStyle/>
                    <a:p>
                      <a:pPr algn="l"/>
                      <a:r>
                        <a:rPr sz="800" b="0">
                          <a:solidFill>
                            <a:srgbClr val="1A1A1A"/>
                          </a:solidFill>
                          <a:latin typeface="游ゴシック"/>
                          <a:ea typeface="游ゴシック"/>
                        </a:rPr>
                        <a:t>工具器具備品</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19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84048">
                <a:tc>
                  <a:txBody>
                    <a:bodyPr wrap="square"/>
                    <a:lstStyle/>
                    <a:p>
                      <a:pPr algn="l"/>
                      <a:r>
                        <a:rPr sz="800" b="0">
                          <a:solidFill>
                            <a:srgbClr val="1A1A1A"/>
                          </a:solidFill>
                          <a:latin typeface="游ゴシック"/>
                          <a:ea typeface="游ゴシック"/>
                        </a:rPr>
                        <a:t>ソフトウェア</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800" b="0">
                          <a:solidFill>
                            <a:srgbClr val="1A1A1A"/>
                          </a:solidFill>
                          <a:latin typeface="Arial"/>
                          <a:ea typeface="游ゴシック"/>
                        </a:rPr>
                        <a:t>372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800" b="0">
                          <a:solidFill>
                            <a:srgbClr val="1A1A1A"/>
                          </a:solidFill>
                          <a:latin typeface="游ゴシック"/>
                          <a:ea typeface="游ゴシック"/>
                        </a:rPr>
                        <a:t>販売管理システム等と推察（要確認）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6" name="TextBox 15"/>
          <p:cNvSpPr txBox="1"/>
          <p:nvPr/>
        </p:nvSpPr>
        <p:spPr>
          <a:xfrm>
            <a:off x="6263640" y="4297680"/>
            <a:ext cx="4069080" cy="1371600"/>
          </a:xfrm>
          <a:prstGeom prst="rect">
            <a:avLst/>
          </a:prstGeom>
          <a:noFill/>
        </p:spPr>
        <p:txBody>
          <a:bodyPr wrap="square" lIns="0" rIns="0" tIns="0" bIns="0" anchor="t">
            <a:spAutoFit/>
          </a:bodyPr>
          <a:lstStyle/>
          <a:p>
            <a:pPr algn="l">
              <a:spcAft>
                <a:spcPts val="300"/>
              </a:spcAft>
            </a:pPr>
            <a:r>
              <a:rPr sz="800" b="0">
                <a:solidFill>
                  <a:srgbClr val="5A6670"/>
                </a:solidFill>
                <a:latin typeface="游ゴシック"/>
                <a:ea typeface="游ゴシック"/>
              </a:rPr>
              <a:t>※固定資産内訳書（2026/3期末）。固定資産台帳は未受領のため、冷蔵設備・フォークリフト・車両等の明細は受領後に更新。</a:t>
            </a:r>
          </a:p>
          <a:p>
            <a:pPr algn="l">
              <a:spcAft>
                <a:spcPts val="300"/>
              </a:spcAft>
            </a:pPr>
            <a:r>
              <a:rPr sz="800" b="0">
                <a:solidFill>
                  <a:srgbClr val="5A6670"/>
                </a:solidFill>
                <a:latin typeface="游ゴシック"/>
                <a:ea typeface="游ゴシック"/>
              </a:rPr>
              <a:t>※リース契約（車両・冷蔵設備等と推察）の一覧は資料依頼中。</a:t>
            </a:r>
          </a:p>
        </p:txBody>
      </p:sp>
    </p:spTree>
    <p:extLst>
      <p:ext uri="{BB962C8B-B14F-4D97-AF65-F5344CB8AC3E}">
        <p14:creationId xmlns:p14="http://schemas.microsoft.com/office/powerpoint/2010/main" val="9155409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F8BB-F852-9D0D-47DC-B75AAADC3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D80B5D-88ED-D63E-E6F8-E5830356F6CE}"/>
              </a:ext>
            </a:extLst>
          </p:cNvPr>
          <p:cNvSpPr>
            <a:spLocks noGrp="1"/>
          </p:cNvSpPr>
          <p:nvPr>
            <p:ph type="title"/>
          </p:nvPr>
        </p:nvSpPr>
        <p:spPr>
          <a:xfrm>
            <a:off x="989013" y="3656161"/>
            <a:ext cx="9221787" cy="615553"/>
          </a:xfrm>
        </p:spPr>
        <p:txBody>
          <a:bodyPr/>
          <a:lstStyle/>
          <a:p>
            <a:r>
              <a:rPr lang="ja-JP" altLang="en-US" dirty="0"/>
              <a:t>財務情報詳細</a:t>
            </a:r>
            <a:endParaRPr lang="en-US" altLang="ja-JP" dirty="0"/>
          </a:p>
        </p:txBody>
      </p:sp>
    </p:spTree>
    <p:extLst>
      <p:ext uri="{BB962C8B-B14F-4D97-AF65-F5344CB8AC3E}">
        <p14:creationId xmlns:p14="http://schemas.microsoft.com/office/powerpoint/2010/main" val="15844496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B347B-E74F-2AA1-D695-C8F2C57E0D27}"/>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AB158FB-2AD5-0994-A1DD-08907F35E57B}"/>
              </a:ext>
            </a:extLst>
          </p:cNvPr>
          <p:cNvSpPr>
            <a:spLocks noGrp="1"/>
          </p:cNvSpPr>
          <p:nvPr>
            <p:ph type="ctrTitle"/>
          </p:nvPr>
        </p:nvSpPr>
        <p:spPr>
          <a:xfrm>
            <a:off x="311150" y="180296"/>
            <a:ext cx="7799917" cy="339267"/>
          </a:xfrm>
        </p:spPr>
        <p:txBody>
          <a:bodyPr>
            <a:normAutofit/>
          </a:bodyPr>
          <a:lstStyle/>
          <a:p>
            <a:r>
              <a:rPr lang="ja-JP" altLang="en-US" dirty="0"/>
              <a:t>貸借対照表</a:t>
            </a:r>
          </a:p>
        </p:txBody>
      </p:sp>
      <p:sp>
        <p:nvSpPr>
          <p:cNvPr id="5" name="タイトル 1">
            <a:extLst>
              <a:ext uri="{FF2B5EF4-FFF2-40B4-BE49-F238E27FC236}">
                <a16:creationId xmlns:a16="http://schemas.microsoft.com/office/drawing/2014/main" id="{CB37C797-A02B-4ADD-85CA-EEB0AC88114E}"/>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9FB86E35-A8A4-6E80-826F-9FF288E82A13}"/>
              </a:ext>
            </a:extLst>
          </p:cNvPr>
          <p:cNvSpPr>
            <a:spLocks noGrp="1"/>
          </p:cNvSpPr>
          <p:nvPr>
            <p:ph type="subTitle" idx="1"/>
          </p:nvPr>
        </p:nvSpPr>
        <p:spPr>
          <a:xfrm>
            <a:off x="460675" y="830046"/>
            <a:ext cx="9781875" cy="241861"/>
          </a:xfrm>
        </p:spPr>
        <p:txBody>
          <a:bodyPr>
            <a:noAutofit/>
          </a:bodyPr>
          <a:lstStyle/>
          <a:p>
            <a:r>
              <a:rPr lang="ja-JP" altLang="en-US" dirty="0">
                <a:latin typeface="+mj-ea"/>
              </a:rPr>
              <a:t>総資産485百万円のうち現預金211百万円・土地建物185百万円。負債の大半は長期借入金361百万円</a:t>
            </a:r>
            <a:endParaRPr lang="en-US" altLang="ja-JP" dirty="0"/>
          </a:p>
        </p:txBody>
      </p:sp>
      <p:graphicFrame>
        <p:nvGraphicFramePr>
          <p:cNvPr id="14" name="Table 13"/>
          <p:cNvGraphicFramePr>
            <a:graphicFrameLocks noGrp="1"/>
          </p:cNvGraphicFramePr>
          <p:nvPr/>
        </p:nvGraphicFramePr>
        <p:xfrm>
          <a:off x="310896" y="1371600"/>
          <a:ext cx="4983479" cy="4978908"/>
        </p:xfrm>
        <a:graphic>
          <a:graphicData uri="http://schemas.openxmlformats.org/drawingml/2006/table">
            <a:tbl>
              <a:tblPr firstRow="0" bandRow="0">
                <a:tableStyleId>{5940675A-B579-460E-94D1-54222C63F5DA}</a:tableStyleId>
              </a:tblPr>
              <a:tblGrid>
                <a:gridCol w="1789647"/>
                <a:gridCol w="798458"/>
                <a:gridCol w="798458"/>
                <a:gridCol w="798458"/>
                <a:gridCol w="798458"/>
              </a:tblGrid>
              <a:tr h="150876">
                <a:tc>
                  <a:txBody>
                    <a:bodyPr wrap="square"/>
                    <a:lstStyle/>
                    <a:p>
                      <a:pPr algn="ctr"/>
                      <a:r>
                        <a:rPr sz="700" b="1">
                          <a:solidFill>
                            <a:srgbClr val="FFFFFF"/>
                          </a:solidFill>
                          <a:latin typeface="游ゴシック"/>
                          <a:ea typeface="游ゴシック"/>
                        </a:rPr>
                        <a:t>資産の部</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游ゴシック"/>
                          <a:ea typeface="游ゴシック"/>
                        </a:rPr>
                        <a:t>2024/3末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游ゴシック"/>
                          <a:ea typeface="游ゴシック"/>
                        </a:rPr>
                        <a:t>2025/3末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游ゴシック"/>
                          <a:ea typeface="游ゴシック"/>
                        </a:rPr>
                        <a:t>2026/3末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游ゴシック"/>
                          <a:ea typeface="游ゴシック"/>
                        </a:rPr>
                        <a:t>2026/7末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現金及び預金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339,553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259,719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210,887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162,087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売掛金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21,171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21,897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19,609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40,587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資材肥料売掛金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1,352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1,269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1,227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2,365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棚卸資産</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9,860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15,444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14,597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36,648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立替金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未収入金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3,684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3,905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3,011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2,665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前払費用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仮払金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493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仮払税金等</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998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貸倒引当金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流動資産計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375,589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303,101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249,705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244,251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建物</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101,162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95,851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92,066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92,066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建物付属設備</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15,417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13,503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11,400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11,400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構築物</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383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333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284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284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機械装置</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134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車両運搬具</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5,838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1,282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工具器具備品</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288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土地</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93,137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93,137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93,137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93,137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減価償却累計額（期中計上分）</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△2,436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有形固定資産計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216,357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204,260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196,906</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194,470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電話加入権</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2,156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2,156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2,156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2,156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ソフトウェア</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715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543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372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372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無形固定資産計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2,871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2,699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2,527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2,527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投資有価証券</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3,250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3,250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2,600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1,600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出資金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長期前払費用</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保証金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32,003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33,003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33,303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33,303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事業保険積立金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21,162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20,900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投資その他の資産計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56,887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57,302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36,052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35,052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固定資産計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276,115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264,261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235,485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232,049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繰延資産</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244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167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資産の部合計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651,948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567,529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485,190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476,300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graphicFrame>
        <p:nvGraphicFramePr>
          <p:cNvPr id="15" name="Table 14"/>
          <p:cNvGraphicFramePr>
            <a:graphicFrameLocks noGrp="1"/>
          </p:cNvGraphicFramePr>
          <p:nvPr/>
        </p:nvGraphicFramePr>
        <p:xfrm>
          <a:off x="5394960" y="1371600"/>
          <a:ext cx="4983479" cy="2564892"/>
        </p:xfrm>
        <a:graphic>
          <a:graphicData uri="http://schemas.openxmlformats.org/drawingml/2006/table">
            <a:tbl>
              <a:tblPr firstRow="0" bandRow="0">
                <a:tableStyleId>{5940675A-B579-460E-94D1-54222C63F5DA}</a:tableStyleId>
              </a:tblPr>
              <a:tblGrid>
                <a:gridCol w="1789647"/>
                <a:gridCol w="798458"/>
                <a:gridCol w="798458"/>
                <a:gridCol w="798458"/>
                <a:gridCol w="798458"/>
              </a:tblGrid>
              <a:tr h="150876">
                <a:tc>
                  <a:txBody>
                    <a:bodyPr wrap="square"/>
                    <a:lstStyle/>
                    <a:p>
                      <a:pPr algn="ctr"/>
                      <a:r>
                        <a:rPr sz="700" b="1">
                          <a:solidFill>
                            <a:srgbClr val="FFFFFF"/>
                          </a:solidFill>
                          <a:latin typeface="游ゴシック"/>
                          <a:ea typeface="游ゴシック"/>
                        </a:rPr>
                        <a:t>負債・純資産の部</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游ゴシック"/>
                          <a:ea typeface="游ゴシック"/>
                        </a:rPr>
                        <a:t>2024/3末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游ゴシック"/>
                          <a:ea typeface="游ゴシック"/>
                        </a:rPr>
                        <a:t>2025/3末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游ゴシック"/>
                          <a:ea typeface="游ゴシック"/>
                        </a:rPr>
                        <a:t>2026/3末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游ゴシック"/>
                          <a:ea typeface="游ゴシック"/>
                        </a:rPr>
                        <a:t>2026/7末</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買掛金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18,128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19,955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26,349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32,102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未払金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10,199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7,303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6,630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4,000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仮受金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5,641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預り金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504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558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281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未払法人税等</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2,308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1,851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未払消費税</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2,970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1,607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2,168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3,760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流動負債計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34,109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29,456</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37,280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45,700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長期借入金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514,690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434,046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361,058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337,862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預り保証金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10,320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10,270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8,980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8,980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固定負債計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525,010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444,316</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370,038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346,842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負債の部合計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559,119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473,772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407,318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392,542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資本金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40,000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40,000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40,000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40,000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利益準備金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1,800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2,080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2,080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0">
                          <a:solidFill>
                            <a:srgbClr val="1A1A1A"/>
                          </a:solidFill>
                          <a:latin typeface="游ゴシック"/>
                          <a:ea typeface="游ゴシック"/>
                        </a:rPr>
                        <a:t>繰越利益剰余金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51,028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51,757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35,793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41,677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純資産の部合計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92,828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93,757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77,873</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83,757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50876">
                <a:tc>
                  <a:txBody>
                    <a:bodyPr wrap="square"/>
                    <a:lstStyle/>
                    <a:p>
                      <a:pPr algn="l"/>
                      <a:r>
                        <a:rPr sz="700" b="1">
                          <a:solidFill>
                            <a:srgbClr val="1A1A1A"/>
                          </a:solidFill>
                          <a:latin typeface="游ゴシック"/>
                          <a:ea typeface="游ゴシック"/>
                        </a:rPr>
                        <a:t>負債・純資産の部合計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651,948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567,529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485,190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476,300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6" name="Rectangle 15"/>
          <p:cNvSpPr/>
          <p:nvPr/>
        </p:nvSpPr>
        <p:spPr>
          <a:xfrm>
            <a:off x="5394960" y="4846320"/>
            <a:ext cx="498348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000" b="1">
                <a:solidFill>
                  <a:srgbClr val="FFFFFF"/>
                </a:solidFill>
                <a:latin typeface="游ゴシック"/>
                <a:ea typeface="游ゴシック"/>
              </a:rPr>
              <a:t>Comment</a:t>
            </a:r>
          </a:p>
        </p:txBody>
      </p:sp>
      <p:sp>
        <p:nvSpPr>
          <p:cNvPr id="17" name="Rectangle 16"/>
          <p:cNvSpPr/>
          <p:nvPr/>
        </p:nvSpPr>
        <p:spPr>
          <a:xfrm>
            <a:off x="5394960" y="5138928"/>
            <a:ext cx="4983480" cy="1810511"/>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spcAft>
                <a:spcPts val="200"/>
              </a:spcAft>
            </a:pPr>
            <a:r>
              <a:rPr sz="800" b="0">
                <a:solidFill>
                  <a:srgbClr val="1A1A1A"/>
                </a:solidFill>
                <a:latin typeface="游ゴシック"/>
                <a:ea typeface="游ゴシック"/>
              </a:rPr>
              <a:t>・2026/7末の買掛金は委託分6,457千円・仕入分25,126千円・資材分519千円の合計。</a:t>
            </a:r>
          </a:p>
          <a:p>
            <a:pPr algn="l">
              <a:spcAft>
                <a:spcPts val="200"/>
              </a:spcAft>
            </a:pPr>
            <a:r>
              <a:rPr sz="800" b="0">
                <a:solidFill>
                  <a:srgbClr val="1A1A1A"/>
                </a:solidFill>
                <a:latin typeface="游ゴシック"/>
                <a:ea typeface="游ゴシック"/>
              </a:rPr>
              <a:t>・事業保険積立金は2026/3期に全額取崩し（前期損益修正損20,900千円）。</a:t>
            </a:r>
          </a:p>
          <a:p>
            <a:pPr algn="l">
              <a:spcAft>
                <a:spcPts val="200"/>
              </a:spcAft>
            </a:pPr>
            <a:r>
              <a:rPr sz="800" b="0">
                <a:solidFill>
                  <a:srgbClr val="1A1A1A"/>
                </a:solidFill>
                <a:latin typeface="游ゴシック"/>
                <a:ea typeface="游ゴシック"/>
              </a:rPr>
              <a:t>・投資有価証券は2026/7末に1,000千円減少（(株)庄果株式の処分と推察・要確認）。</a:t>
            </a:r>
          </a:p>
          <a:p>
            <a:pPr algn="l">
              <a:spcAft>
                <a:spcPts val="200"/>
              </a:spcAft>
            </a:pPr>
            <a:r>
              <a:rPr sz="800" b="0">
                <a:solidFill>
                  <a:srgbClr val="1A1A1A"/>
                </a:solidFill>
                <a:latin typeface="游ゴシック"/>
                <a:ea typeface="游ゴシック"/>
              </a:rPr>
              <a:t>・長期借入金は1年内返済額を区分していない。単位：千円。</a:t>
            </a:r>
          </a:p>
        </p:txBody>
      </p:sp>
    </p:spTree>
    <p:extLst>
      <p:ext uri="{BB962C8B-B14F-4D97-AF65-F5344CB8AC3E}">
        <p14:creationId xmlns:p14="http://schemas.microsoft.com/office/powerpoint/2010/main" val="28778819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83D88-B54F-0820-A617-759035C5FFC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C2D39CC-0147-8513-46F0-368EBE22D97C}"/>
              </a:ext>
            </a:extLst>
          </p:cNvPr>
          <p:cNvSpPr>
            <a:spLocks noGrp="1"/>
          </p:cNvSpPr>
          <p:nvPr>
            <p:ph type="ctrTitle"/>
          </p:nvPr>
        </p:nvSpPr>
        <p:spPr>
          <a:xfrm>
            <a:off x="311150" y="180296"/>
            <a:ext cx="7799917" cy="339267"/>
          </a:xfrm>
        </p:spPr>
        <p:txBody>
          <a:bodyPr>
            <a:normAutofit/>
          </a:bodyPr>
          <a:lstStyle/>
          <a:p>
            <a:r>
              <a:rPr lang="ja-JP" altLang="en-US" dirty="0"/>
              <a:t>損益計算書</a:t>
            </a:r>
          </a:p>
        </p:txBody>
      </p:sp>
      <p:sp>
        <p:nvSpPr>
          <p:cNvPr id="5" name="タイトル 1">
            <a:extLst>
              <a:ext uri="{FF2B5EF4-FFF2-40B4-BE49-F238E27FC236}">
                <a16:creationId xmlns:a16="http://schemas.microsoft.com/office/drawing/2014/main" id="{B1382B80-EF7F-718A-0685-302C41A8531B}"/>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C391002A-F61E-39B7-D75D-796D17928C17}"/>
              </a:ext>
            </a:extLst>
          </p:cNvPr>
          <p:cNvSpPr>
            <a:spLocks noGrp="1"/>
          </p:cNvSpPr>
          <p:nvPr>
            <p:ph type="subTitle" idx="1"/>
          </p:nvPr>
        </p:nvSpPr>
        <p:spPr>
          <a:xfrm>
            <a:off x="460675" y="830046"/>
            <a:ext cx="9781875" cy="241861"/>
          </a:xfrm>
        </p:spPr>
        <p:txBody>
          <a:bodyPr>
            <a:noAutofit/>
          </a:bodyPr>
          <a:lstStyle/>
          <a:p>
            <a:r>
              <a:rPr lang="ja-JP" altLang="en-US" dirty="0">
                <a:latin typeface="+mj-ea"/>
              </a:rPr>
              <a:t>売上高は約12億円で推移。2026/3期は営業利益5.9百万円・経常利益8.1百万円、保険積立金の取崩しにより当期純損失15.1百万円</a:t>
            </a:r>
            <a:endParaRPr lang="en-US" altLang="ja-JP" dirty="0"/>
          </a:p>
        </p:txBody>
      </p:sp>
      <p:graphicFrame>
        <p:nvGraphicFramePr>
          <p:cNvPr id="14" name="Table 13"/>
          <p:cNvGraphicFramePr>
            <a:graphicFrameLocks noGrp="1"/>
          </p:cNvGraphicFramePr>
          <p:nvPr/>
        </p:nvGraphicFramePr>
        <p:xfrm>
          <a:off x="310896" y="1371600"/>
          <a:ext cx="6309360" cy="5365692"/>
        </p:xfrm>
        <a:graphic>
          <a:graphicData uri="http://schemas.openxmlformats.org/drawingml/2006/table">
            <a:tbl>
              <a:tblPr firstRow="0" bandRow="0">
                <a:tableStyleId>{5940675A-B579-460E-94D1-54222C63F5DA}</a:tableStyleId>
              </a:tblPr>
              <a:tblGrid>
                <a:gridCol w="1920240"/>
                <a:gridCol w="914400"/>
                <a:gridCol w="914400"/>
                <a:gridCol w="914400"/>
                <a:gridCol w="640080"/>
                <a:gridCol w="1005840"/>
              </a:tblGrid>
              <a:tr h="149047">
                <a:tc>
                  <a:txBody>
                    <a:bodyPr wrap="square"/>
                    <a:lstStyle/>
                    <a:p>
                      <a:pPr algn="ctr"/>
                      <a:r>
                        <a:rPr sz="700" b="1">
                          <a:solidFill>
                            <a:srgbClr val="FFFFFF"/>
                          </a:solidFill>
                          <a:latin typeface="游ゴシック"/>
                          <a:ea typeface="游ゴシック"/>
                        </a:rPr>
                        <a:t>（単位：千円）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Arial"/>
                          <a:ea typeface="游ゴシック"/>
                        </a:rPr>
                        <a:t>2024/3期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Arial"/>
                          <a:ea typeface="游ゴシック"/>
                        </a:rPr>
                        <a:t>2025/3期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Arial"/>
                          <a:ea typeface="游ゴシック"/>
                        </a:rPr>
                        <a:t>2026/3期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游ゴシック"/>
                          <a:ea typeface="游ゴシック"/>
                        </a:rPr>
                        <a:t>売上比</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Arial"/>
                          <a:ea typeface="游ゴシック"/>
                        </a:rPr>
                        <a:t>2026/4-7月</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商品売上高</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1,179,974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1,183,309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1,197,530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375,961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資材売上高</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10,820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センター費収入</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12,273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委託手数料収入</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12,564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売上割戻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△1,485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△1,361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△1,637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△462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1">
                          <a:solidFill>
                            <a:srgbClr val="1A1A1A"/>
                          </a:solidFill>
                          <a:latin typeface="游ゴシック"/>
                          <a:ea typeface="游ゴシック"/>
                        </a:rPr>
                        <a:t>売上高</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1,178,489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1,181,947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1,195,893</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100.0%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411,155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期首棚卸高</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15,470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9,860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15,444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14,597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当期仕入高</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953,298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976,236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996,035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83.3%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371,992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期末棚卸高</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△9,860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△15,444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△14,597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△36,648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1">
                          <a:solidFill>
                            <a:srgbClr val="1A1A1A"/>
                          </a:solidFill>
                          <a:latin typeface="游ゴシック"/>
                          <a:ea typeface="游ゴシック"/>
                        </a:rPr>
                        <a:t>売上原価</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958,909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970,652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996,882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83.4%</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349,941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1">
                          <a:solidFill>
                            <a:srgbClr val="1A1A1A"/>
                          </a:solidFill>
                          <a:latin typeface="游ゴシック"/>
                          <a:ea typeface="游ゴシック"/>
                        </a:rPr>
                        <a:t>売上総利益</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219,580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211,296</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199,011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16.6%</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61,214</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1">
                          <a:solidFill>
                            <a:srgbClr val="1A1A1A"/>
                          </a:solidFill>
                          <a:latin typeface="游ゴシック"/>
                          <a:ea typeface="游ゴシック"/>
                        </a:rPr>
                        <a:t>販売費及び一般管理費</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214,823</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215,718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193,151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16.2%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55,897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1">
                          <a:solidFill>
                            <a:srgbClr val="1A1A1A"/>
                          </a:solidFill>
                          <a:latin typeface="游ゴシック"/>
                          <a:ea typeface="游ゴシック"/>
                        </a:rPr>
                        <a:t>営業利益</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4,757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△4,423</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5,860</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0.5%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5,317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受取利息</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267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受取配当金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受取奨励金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2,284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2,407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2,513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653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受取延滞料</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受取運賃・配達収入</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雑収入</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8,142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8,067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3,670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976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営業外収益計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10,628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10,737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6,578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1,761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支払利息</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3,962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4,041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3,896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1,193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出荷奨励金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雑損失</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379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営業外費用計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4,068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4,133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4,370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1,193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1">
                          <a:solidFill>
                            <a:srgbClr val="1A1A1A"/>
                          </a:solidFill>
                          <a:latin typeface="游ゴシック"/>
                          <a:ea typeface="游ゴシック"/>
                        </a:rPr>
                        <a:t>経常利益</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11,317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2,181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8,068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0.7%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5,885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固定資産売却益</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1,711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1,609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貸倒引当金戻入</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176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特別利益計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1,887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1,846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固定資産売却除却損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貸倒引当金繰入</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前期損益修正損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20,900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特別損失計</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439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21,103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1">
                          <a:solidFill>
                            <a:srgbClr val="1A1A1A"/>
                          </a:solidFill>
                          <a:latin typeface="游ゴシック"/>
                          <a:ea typeface="游ゴシック"/>
                        </a:rPr>
                        <a:t>税引前当期純利益</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12,765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3,793</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△12,801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5,885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0">
                          <a:solidFill>
                            <a:srgbClr val="1A1A1A"/>
                          </a:solidFill>
                          <a:latin typeface="游ゴシック"/>
                          <a:ea typeface="游ゴシック"/>
                        </a:rPr>
                        <a:t>法人税等</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3,658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864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2,283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49047">
                <a:tc>
                  <a:txBody>
                    <a:bodyPr wrap="square"/>
                    <a:lstStyle/>
                    <a:p>
                      <a:pPr algn="l"/>
                      <a:r>
                        <a:rPr sz="700" b="1">
                          <a:solidFill>
                            <a:srgbClr val="1A1A1A"/>
                          </a:solidFill>
                          <a:latin typeface="游ゴシック"/>
                          <a:ea typeface="游ゴシック"/>
                        </a:rPr>
                        <a:t>当期純利益</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9,107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2,929</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△15,085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△1.3%</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5,885</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5" name="Rectangle 14"/>
          <p:cNvSpPr/>
          <p:nvPr/>
        </p:nvSpPr>
        <p:spPr>
          <a:xfrm>
            <a:off x="6766560" y="1371600"/>
            <a:ext cx="361188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000" b="1">
                <a:solidFill>
                  <a:srgbClr val="FFFFFF"/>
                </a:solidFill>
                <a:latin typeface="游ゴシック"/>
                <a:ea typeface="游ゴシック"/>
              </a:rPr>
              <a:t>Comment</a:t>
            </a:r>
          </a:p>
        </p:txBody>
      </p:sp>
      <p:sp>
        <p:nvSpPr>
          <p:cNvPr id="16" name="Rectangle 15"/>
          <p:cNvSpPr/>
          <p:nvPr/>
        </p:nvSpPr>
        <p:spPr>
          <a:xfrm>
            <a:off x="6766560" y="1664208"/>
            <a:ext cx="3611880" cy="5285231"/>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spcAft>
                <a:spcPts val="200"/>
              </a:spcAft>
            </a:pPr>
            <a:r>
              <a:rPr sz="850" b="1">
                <a:solidFill>
                  <a:srgbClr val="0889C9"/>
                </a:solidFill>
                <a:latin typeface="游ゴシック"/>
                <a:ea typeface="游ゴシック"/>
              </a:rPr>
              <a:t>≪売上高≫</a:t>
            </a:r>
          </a:p>
          <a:p>
            <a:pPr algn="l">
              <a:spcAft>
                <a:spcPts val="200"/>
              </a:spcAft>
            </a:pPr>
            <a:r>
              <a:rPr sz="850" b="0">
                <a:solidFill>
                  <a:srgbClr val="1A1A1A"/>
                </a:solidFill>
                <a:latin typeface="游ゴシック"/>
                <a:ea typeface="游ゴシック"/>
              </a:rPr>
              <a:t>決算書では「商品売上高」1本で表示。受託販売は2019年10月以降、手数料のみの純額表示。試算表では資材売上・センター費・委託手数料を区分。</a:t>
            </a:r>
          </a:p>
          <a:p>
            <a:pPr algn="l">
              <a:spcAft>
                <a:spcPts val="200"/>
              </a:spcAft>
            </a:pPr>
            <a:r>
              <a:rPr sz="850" b="1">
                <a:solidFill>
                  <a:srgbClr val="0889C9"/>
                </a:solidFill>
                <a:latin typeface="游ゴシック"/>
                <a:ea typeface="游ゴシック"/>
              </a:rPr>
              <a:t>≪売上原価≫</a:t>
            </a:r>
          </a:p>
          <a:p>
            <a:pPr algn="l">
              <a:spcAft>
                <a:spcPts val="200"/>
              </a:spcAft>
            </a:pPr>
            <a:r>
              <a:rPr sz="850" b="0">
                <a:solidFill>
                  <a:srgbClr val="1A1A1A"/>
                </a:solidFill>
                <a:latin typeface="游ゴシック"/>
                <a:ea typeface="游ゴシック"/>
              </a:rPr>
              <a:t>粗利率18.6%→17.9%→16.6%。棚卸資産は最終仕入原価法。</a:t>
            </a:r>
          </a:p>
          <a:p>
            <a:pPr algn="l">
              <a:spcAft>
                <a:spcPts val="200"/>
              </a:spcAft>
            </a:pPr>
            <a:r>
              <a:rPr sz="850" b="1">
                <a:solidFill>
                  <a:srgbClr val="0889C9"/>
                </a:solidFill>
                <a:latin typeface="游ゴシック"/>
                <a:ea typeface="游ゴシック"/>
              </a:rPr>
              <a:t>≪営業外損益≫</a:t>
            </a:r>
          </a:p>
          <a:p>
            <a:pPr algn="l">
              <a:spcAft>
                <a:spcPts val="200"/>
              </a:spcAft>
            </a:pPr>
            <a:r>
              <a:rPr sz="850" b="0">
                <a:solidFill>
                  <a:srgbClr val="1A1A1A"/>
                </a:solidFill>
                <a:latin typeface="游ゴシック"/>
                <a:ea typeface="游ゴシック"/>
              </a:rPr>
              <a:t>受取奨励金（毎期約2.3〜2.5百万円）、雑収入（仲卸業者等からのゴミ処理料・冷蔵庫保管料等）。支払利息は年約4百万円。</a:t>
            </a:r>
          </a:p>
          <a:p>
            <a:pPr algn="l">
              <a:spcAft>
                <a:spcPts val="200"/>
              </a:spcAft>
            </a:pPr>
            <a:r>
              <a:rPr sz="850" b="1">
                <a:solidFill>
                  <a:srgbClr val="0889C9"/>
                </a:solidFill>
                <a:latin typeface="游ゴシック"/>
                <a:ea typeface="游ゴシック"/>
              </a:rPr>
              <a:t>≪特別損益≫</a:t>
            </a:r>
          </a:p>
          <a:p>
            <a:pPr algn="l">
              <a:spcAft>
                <a:spcPts val="200"/>
              </a:spcAft>
            </a:pPr>
            <a:r>
              <a:rPr sz="850" b="0">
                <a:solidFill>
                  <a:srgbClr val="1A1A1A"/>
                </a:solidFill>
                <a:latin typeface="游ゴシック"/>
                <a:ea typeface="游ゴシック"/>
              </a:rPr>
              <a:t>2026/3期の前期損益修正損20,900千円は過年度保険解約訂正額（非経常）。</a:t>
            </a:r>
          </a:p>
          <a:p>
            <a:pPr algn="l">
              <a:spcAft>
                <a:spcPts val="200"/>
              </a:spcAft>
            </a:pPr>
            <a:r>
              <a:rPr sz="850" b="1">
                <a:solidFill>
                  <a:srgbClr val="0889C9"/>
                </a:solidFill>
                <a:latin typeface="游ゴシック"/>
                <a:ea typeface="游ゴシック"/>
              </a:rPr>
              <a:t>≪進行期≫</a:t>
            </a:r>
          </a:p>
          <a:p>
            <a:pPr algn="l">
              <a:spcAft>
                <a:spcPts val="200"/>
              </a:spcAft>
            </a:pPr>
            <a:r>
              <a:rPr sz="850" b="0">
                <a:solidFill>
                  <a:srgbClr val="1A1A1A"/>
                </a:solidFill>
                <a:latin typeface="游ゴシック"/>
                <a:ea typeface="游ゴシック"/>
              </a:rPr>
              <a:t>2026/4-7月は4か月累計（繁忙期を含む）。年換算しない。</a:t>
            </a:r>
          </a:p>
        </p:txBody>
      </p:sp>
    </p:spTree>
    <p:extLst>
      <p:ext uri="{BB962C8B-B14F-4D97-AF65-F5344CB8AC3E}">
        <p14:creationId xmlns:p14="http://schemas.microsoft.com/office/powerpoint/2010/main" val="37409429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11451-02A5-56C7-8AF6-DBDAA7CFCC1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326988B-EA79-EED8-C9CB-DD122747A00F}"/>
              </a:ext>
            </a:extLst>
          </p:cNvPr>
          <p:cNvSpPr>
            <a:spLocks noGrp="1"/>
          </p:cNvSpPr>
          <p:nvPr>
            <p:ph type="ctrTitle"/>
          </p:nvPr>
        </p:nvSpPr>
        <p:spPr>
          <a:xfrm>
            <a:off x="311150" y="180296"/>
            <a:ext cx="7799917" cy="339267"/>
          </a:xfrm>
        </p:spPr>
        <p:txBody>
          <a:bodyPr>
            <a:normAutofit/>
          </a:bodyPr>
          <a:lstStyle/>
          <a:p>
            <a:r>
              <a:rPr lang="ja-JP" altLang="en-US" dirty="0"/>
              <a:t>販売費及び一般管理費</a:t>
            </a:r>
          </a:p>
        </p:txBody>
      </p:sp>
      <p:sp>
        <p:nvSpPr>
          <p:cNvPr id="5" name="タイトル 1">
            <a:extLst>
              <a:ext uri="{FF2B5EF4-FFF2-40B4-BE49-F238E27FC236}">
                <a16:creationId xmlns:a16="http://schemas.microsoft.com/office/drawing/2014/main" id="{7691939A-6180-3920-2B7D-F305819429C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7F8A1EE0-ADF4-993B-FF72-FBEC016B826B}"/>
              </a:ext>
            </a:extLst>
          </p:cNvPr>
          <p:cNvSpPr>
            <a:spLocks noGrp="1"/>
          </p:cNvSpPr>
          <p:nvPr>
            <p:ph type="subTitle" idx="1"/>
          </p:nvPr>
        </p:nvSpPr>
        <p:spPr>
          <a:xfrm>
            <a:off x="460675" y="830046"/>
            <a:ext cx="9781875" cy="241861"/>
          </a:xfrm>
        </p:spPr>
        <p:txBody>
          <a:bodyPr>
            <a:noAutofit/>
          </a:bodyPr>
          <a:lstStyle/>
          <a:p>
            <a:r>
              <a:rPr lang="ja-JP" altLang="en-US" dirty="0">
                <a:latin typeface="+mj-ea"/>
              </a:rPr>
              <a:t>販管費は約2億円で、人件費（約105百万円）と運賃・車両関連費（約39百万円）が中心</a:t>
            </a:r>
            <a:endParaRPr lang="en-US" altLang="ja-JP" dirty="0"/>
          </a:p>
        </p:txBody>
      </p:sp>
      <p:graphicFrame>
        <p:nvGraphicFramePr>
          <p:cNvPr id="14" name="Table 13"/>
          <p:cNvGraphicFramePr>
            <a:graphicFrameLocks noGrp="1"/>
          </p:cNvGraphicFramePr>
          <p:nvPr/>
        </p:nvGraphicFramePr>
        <p:xfrm>
          <a:off x="310896" y="1371600"/>
          <a:ext cx="6309360" cy="5486400"/>
        </p:xfrm>
        <a:graphic>
          <a:graphicData uri="http://schemas.openxmlformats.org/drawingml/2006/table">
            <a:tbl>
              <a:tblPr firstRow="0" bandRow="0">
                <a:tableStyleId>{5940675A-B579-460E-94D1-54222C63F5DA}</a:tableStyleId>
              </a:tblPr>
              <a:tblGrid>
                <a:gridCol w="1920240"/>
                <a:gridCol w="914400"/>
                <a:gridCol w="914400"/>
                <a:gridCol w="914400"/>
                <a:gridCol w="640080"/>
                <a:gridCol w="1005840"/>
              </a:tblGrid>
              <a:tr h="182880">
                <a:tc>
                  <a:txBody>
                    <a:bodyPr wrap="square"/>
                    <a:lstStyle/>
                    <a:p>
                      <a:pPr algn="ctr"/>
                      <a:r>
                        <a:rPr sz="700" b="1">
                          <a:solidFill>
                            <a:srgbClr val="FFFFFF"/>
                          </a:solidFill>
                          <a:latin typeface="游ゴシック"/>
                          <a:ea typeface="游ゴシック"/>
                        </a:rPr>
                        <a:t>（単位：千円）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Arial"/>
                          <a:ea typeface="游ゴシック"/>
                        </a:rPr>
                        <a:t>2024/3期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Arial"/>
                          <a:ea typeface="游ゴシック"/>
                        </a:rPr>
                        <a:t>2025/3期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Arial"/>
                          <a:ea typeface="游ゴシック"/>
                        </a:rPr>
                        <a:t>2026/3期</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游ゴシック"/>
                          <a:ea typeface="游ゴシック"/>
                        </a:rPr>
                        <a:t>売上比</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700" b="1">
                          <a:solidFill>
                            <a:srgbClr val="FFFFFF"/>
                          </a:solidFill>
                          <a:latin typeface="Arial"/>
                          <a:ea typeface="游ゴシック"/>
                        </a:rPr>
                        <a:t>2026/4-7月</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役員報酬</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22,200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22,200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15,360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4,730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給料手当</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73,148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74,179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71,673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19,329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賞与</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6,002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5,692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退職金共済掛金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3,175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3,166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3,026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769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退職金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356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747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法定福利費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15,154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14,913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13,296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3,603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福利厚生費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595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広告宣伝費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旅費交通費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通信費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1,435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1,143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1,192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車両関連費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8,475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10,126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9,862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2,955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運賃</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27,547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29,494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28,997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8,100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振込手数料負担金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215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委託手数料</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3,709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3,539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4,075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910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接待交際費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3,475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2,486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1,580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930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水道光熱費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4,424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4,701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4,685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1,496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消耗品費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95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租税公課</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14,465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12,814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12,177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890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消費税引当金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3,760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支払手数料</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1,546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1,527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867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諸会費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181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138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寄付金</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リース料</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4,712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6,711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6,227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2,046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支払保険料</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2,772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1,431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1,542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0.1%</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195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修繕費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1,170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708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事務用消耗品費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2,033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1,935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2,336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819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減価償却費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13,664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12,558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8,879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2,436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0">
                          <a:solidFill>
                            <a:srgbClr val="1A1A1A"/>
                          </a:solidFill>
                          <a:latin typeface="游ゴシック"/>
                          <a:ea typeface="游ゴシック"/>
                        </a:rPr>
                        <a:t>雑費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4,522</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4,393</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4,690</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0.4%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0">
                          <a:solidFill>
                            <a:srgbClr val="1A1A1A"/>
                          </a:solidFill>
                          <a:latin typeface="Arial"/>
                          <a:ea typeface="游ゴシック"/>
                        </a:rPr>
                        <a:t>1,267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182880">
                <a:tc>
                  <a:txBody>
                    <a:bodyPr wrap="square"/>
                    <a:lstStyle/>
                    <a:p>
                      <a:pPr algn="l"/>
                      <a:r>
                        <a:rPr sz="700" b="1">
                          <a:solidFill>
                            <a:srgbClr val="1A1A1A"/>
                          </a:solidFill>
                          <a:latin typeface="游ゴシック"/>
                          <a:ea typeface="游ゴシック"/>
                        </a:rPr>
                        <a:t>販売費及び一般管理費 計</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214,823</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215,718</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193,151</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16.2%</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700" b="1">
                          <a:solidFill>
                            <a:srgbClr val="1A1A1A"/>
                          </a:solidFill>
                          <a:latin typeface="Arial"/>
                          <a:ea typeface="游ゴシック"/>
                        </a:rPr>
                        <a:t>55,897</a:t>
                      </a:r>
                    </a:p>
                  </a:txBody>
                  <a:tcPr marL="45720" marR="45720" marT="9144" marB="9144" anchor="ctr">
                    <a:solidFill>
                      <a:srgbClr val="E3E7E9"/>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5" name="Rectangle 14"/>
          <p:cNvSpPr/>
          <p:nvPr/>
        </p:nvSpPr>
        <p:spPr>
          <a:xfrm>
            <a:off x="6766560" y="1371600"/>
            <a:ext cx="361188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000" b="1">
                <a:solidFill>
                  <a:srgbClr val="FFFFFF"/>
                </a:solidFill>
                <a:latin typeface="游ゴシック"/>
                <a:ea typeface="游ゴシック"/>
              </a:rPr>
              <a:t>Comment</a:t>
            </a:r>
          </a:p>
        </p:txBody>
      </p:sp>
      <p:sp>
        <p:nvSpPr>
          <p:cNvPr id="16" name="Rectangle 15"/>
          <p:cNvSpPr/>
          <p:nvPr/>
        </p:nvSpPr>
        <p:spPr>
          <a:xfrm>
            <a:off x="6766560" y="1664208"/>
            <a:ext cx="3611880" cy="5285231"/>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spcAft>
                <a:spcPts val="200"/>
              </a:spcAft>
            </a:pPr>
            <a:r>
              <a:rPr sz="850" b="1">
                <a:solidFill>
                  <a:srgbClr val="0889C9"/>
                </a:solidFill>
                <a:latin typeface="游ゴシック"/>
                <a:ea typeface="游ゴシック"/>
              </a:rPr>
              <a:t>≪人件費≫</a:t>
            </a:r>
          </a:p>
          <a:p>
            <a:pPr algn="l">
              <a:spcAft>
                <a:spcPts val="200"/>
              </a:spcAft>
            </a:pPr>
            <a:r>
              <a:rPr sz="850" b="0">
                <a:solidFill>
                  <a:srgbClr val="1A1A1A"/>
                </a:solidFill>
                <a:latin typeface="游ゴシック"/>
                <a:ea typeface="游ゴシック"/>
              </a:rPr>
              <a:t>役員報酬は22,200→15,360千円に減少。2026/3期は賞与の計上なし（要確認）。退職金は中小企業退職金共済で積立。</a:t>
            </a:r>
          </a:p>
          <a:p>
            <a:pPr algn="l">
              <a:spcAft>
                <a:spcPts val="200"/>
              </a:spcAft>
            </a:pPr>
            <a:r>
              <a:rPr sz="850" b="1">
                <a:solidFill>
                  <a:srgbClr val="0889C9"/>
                </a:solidFill>
                <a:latin typeface="游ゴシック"/>
                <a:ea typeface="游ゴシック"/>
              </a:rPr>
              <a:t>≪運賃・車両関連費≫</a:t>
            </a:r>
          </a:p>
          <a:p>
            <a:pPr algn="l">
              <a:spcAft>
                <a:spcPts val="200"/>
              </a:spcAft>
            </a:pPr>
            <a:r>
              <a:rPr sz="850" b="0">
                <a:solidFill>
                  <a:srgbClr val="1A1A1A"/>
                </a:solidFill>
                <a:latin typeface="游ゴシック"/>
                <a:ea typeface="游ゴシック"/>
              </a:rPr>
              <a:t>集配業務に伴う費用。車両は償却済みで、リース（年約6百万円）を利用。</a:t>
            </a:r>
          </a:p>
          <a:p>
            <a:pPr algn="l">
              <a:spcAft>
                <a:spcPts val="200"/>
              </a:spcAft>
            </a:pPr>
            <a:r>
              <a:rPr sz="850" b="1">
                <a:solidFill>
                  <a:srgbClr val="0889C9"/>
                </a:solidFill>
                <a:latin typeface="游ゴシック"/>
                <a:ea typeface="游ゴシック"/>
              </a:rPr>
              <a:t>≪租税公課≫</a:t>
            </a:r>
          </a:p>
          <a:p>
            <a:pPr algn="l">
              <a:spcAft>
                <a:spcPts val="200"/>
              </a:spcAft>
            </a:pPr>
            <a:r>
              <a:rPr sz="850" b="0">
                <a:solidFill>
                  <a:srgbClr val="1A1A1A"/>
                </a:solidFill>
                <a:latin typeface="游ゴシック"/>
                <a:ea typeface="游ゴシック"/>
              </a:rPr>
              <a:t>消費税は税込経理のため、納付消費税相当が租税公課（決算）・消費税引当金（試算表）に含まれる。</a:t>
            </a:r>
          </a:p>
          <a:p>
            <a:pPr algn="l">
              <a:spcAft>
                <a:spcPts val="200"/>
              </a:spcAft>
            </a:pPr>
            <a:r>
              <a:rPr sz="850" b="1">
                <a:solidFill>
                  <a:srgbClr val="0889C9"/>
                </a:solidFill>
                <a:latin typeface="游ゴシック"/>
                <a:ea typeface="游ゴシック"/>
              </a:rPr>
              <a:t>≪減価償却費≫</a:t>
            </a:r>
          </a:p>
          <a:p>
            <a:pPr algn="l">
              <a:spcAft>
                <a:spcPts val="200"/>
              </a:spcAft>
            </a:pPr>
            <a:r>
              <a:rPr sz="850" b="0">
                <a:solidFill>
                  <a:srgbClr val="1A1A1A"/>
                </a:solidFill>
                <a:latin typeface="游ゴシック"/>
                <a:ea typeface="游ゴシック"/>
              </a:rPr>
              <a:t>13,664→8,879千円へ減少（車両等の償却終了）。</a:t>
            </a:r>
          </a:p>
        </p:txBody>
      </p:sp>
    </p:spTree>
    <p:extLst>
      <p:ext uri="{BB962C8B-B14F-4D97-AF65-F5344CB8AC3E}">
        <p14:creationId xmlns:p14="http://schemas.microsoft.com/office/powerpoint/2010/main" val="19093800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E9481-F171-6C11-CA74-858754CED3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1067C0B-FDBB-DAD1-C4BF-FB866758BEC6}"/>
              </a:ext>
            </a:extLst>
          </p:cNvPr>
          <p:cNvSpPr>
            <a:spLocks noGrp="1"/>
          </p:cNvSpPr>
          <p:nvPr>
            <p:ph type="title"/>
          </p:nvPr>
        </p:nvSpPr>
        <p:spPr>
          <a:xfrm>
            <a:off x="989013" y="3656161"/>
            <a:ext cx="9221787" cy="615553"/>
          </a:xfrm>
        </p:spPr>
        <p:txBody>
          <a:bodyPr/>
          <a:lstStyle/>
          <a:p>
            <a:r>
              <a:rPr lang="en-US" altLang="ja-JP" dirty="0"/>
              <a:t>Appendix</a:t>
            </a:r>
          </a:p>
        </p:txBody>
      </p:sp>
    </p:spTree>
    <p:extLst>
      <p:ext uri="{BB962C8B-B14F-4D97-AF65-F5344CB8AC3E}">
        <p14:creationId xmlns:p14="http://schemas.microsoft.com/office/powerpoint/2010/main" val="34130237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2E3EC-2048-079E-7643-70D2CF76772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2E27983-8C8F-AAE9-9CF2-1036574B4BDE}"/>
              </a:ext>
            </a:extLst>
          </p:cNvPr>
          <p:cNvSpPr>
            <a:spLocks noGrp="1"/>
          </p:cNvSpPr>
          <p:nvPr>
            <p:ph type="ctrTitle"/>
          </p:nvPr>
        </p:nvSpPr>
        <p:spPr>
          <a:xfrm>
            <a:off x="311150" y="180296"/>
            <a:ext cx="7799917" cy="339267"/>
          </a:xfrm>
        </p:spPr>
        <p:txBody>
          <a:bodyPr>
            <a:normAutofit/>
          </a:bodyPr>
          <a:lstStyle/>
          <a:p>
            <a:r>
              <a:rPr lang="ja-JP" altLang="en-US" dirty="0"/>
              <a:t>沿革</a:t>
            </a:r>
          </a:p>
        </p:txBody>
      </p:sp>
      <p:sp>
        <p:nvSpPr>
          <p:cNvPr id="5" name="タイトル 1">
            <a:extLst>
              <a:ext uri="{FF2B5EF4-FFF2-40B4-BE49-F238E27FC236}">
                <a16:creationId xmlns:a16="http://schemas.microsoft.com/office/drawing/2014/main" id="{7C6D20B5-6E7B-D773-483A-3D3213A63C3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16508C02-2E69-432A-5CCB-7583CED20D5E}"/>
              </a:ext>
            </a:extLst>
          </p:cNvPr>
          <p:cNvSpPr>
            <a:spLocks noGrp="1"/>
          </p:cNvSpPr>
          <p:nvPr>
            <p:ph type="subTitle" idx="1"/>
          </p:nvPr>
        </p:nvSpPr>
        <p:spPr>
          <a:xfrm>
            <a:off x="460675" y="830046"/>
            <a:ext cx="9781875" cy="241861"/>
          </a:xfrm>
        </p:spPr>
        <p:txBody>
          <a:bodyPr>
            <a:noAutofit/>
          </a:bodyPr>
          <a:lstStyle/>
          <a:p>
            <a:r>
              <a:rPr lang="ja-JP" altLang="en-US" dirty="0">
                <a:latin typeface="+mj-ea"/>
              </a:rPr>
              <a:t>1973年の設立以来、鶴岡市宝田を拠点に青果物卸売を継続。施設改修を重ねながら市場を運営</a:t>
            </a:r>
            <a:endParaRPr lang="en-US" altLang="ja-JP" dirty="0"/>
          </a:p>
        </p:txBody>
      </p:sp>
      <p:graphicFrame>
        <p:nvGraphicFramePr>
          <p:cNvPr id="14" name="Table 13"/>
          <p:cNvGraphicFramePr>
            <a:graphicFrameLocks noGrp="1"/>
          </p:cNvGraphicFramePr>
          <p:nvPr/>
        </p:nvGraphicFramePr>
        <p:xfrm>
          <a:off x="448056" y="1463040"/>
          <a:ext cx="9793223" cy="4626864"/>
        </p:xfrm>
        <a:graphic>
          <a:graphicData uri="http://schemas.openxmlformats.org/drawingml/2006/table">
            <a:tbl>
              <a:tblPr firstRow="0" bandRow="0">
                <a:tableStyleId>{5940675A-B579-460E-94D1-54222C63F5DA}</a:tableStyleId>
              </a:tblPr>
              <a:tblGrid>
                <a:gridCol w="1738983"/>
                <a:gridCol w="8054240"/>
              </a:tblGrid>
              <a:tr h="420624">
                <a:tc>
                  <a:txBody>
                    <a:bodyPr wrap="square"/>
                    <a:lstStyle/>
                    <a:p>
                      <a:pPr algn="ctr"/>
                      <a:r>
                        <a:rPr sz="1000" b="1">
                          <a:solidFill>
                            <a:srgbClr val="FFFFFF"/>
                          </a:solidFill>
                          <a:latin typeface="Arial"/>
                          <a:ea typeface="游ゴシック"/>
                        </a:rPr>
                        <a:t>年月</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1000" b="1">
                          <a:solidFill>
                            <a:srgbClr val="FFFFFF"/>
                          </a:solidFill>
                          <a:latin typeface="游ゴシック"/>
                          <a:ea typeface="游ゴシック"/>
                        </a:rPr>
                        <a:t>内容</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420624">
                <a:tc>
                  <a:txBody>
                    <a:bodyPr wrap="square"/>
                    <a:lstStyle/>
                    <a:p>
                      <a:pPr algn="l"/>
                      <a:r>
                        <a:rPr sz="1000" b="0">
                          <a:solidFill>
                            <a:srgbClr val="1A1A1A"/>
                          </a:solidFill>
                          <a:latin typeface="Arial"/>
                          <a:ea typeface="游ゴシック"/>
                        </a:rPr>
                        <a:t>1973年11月</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1000" b="0">
                          <a:solidFill>
                            <a:srgbClr val="1A1A1A"/>
                          </a:solidFill>
                          <a:latin typeface="游ゴシック"/>
                          <a:ea typeface="游ゴシック"/>
                        </a:rPr>
                        <a:t>株式会社鶴岡中央青果を設立</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20624">
                <a:tc>
                  <a:txBody>
                    <a:bodyPr wrap="square"/>
                    <a:lstStyle/>
                    <a:p>
                      <a:pPr algn="l"/>
                      <a:r>
                        <a:rPr sz="1000" b="0">
                          <a:solidFill>
                            <a:srgbClr val="1A1A1A"/>
                          </a:solidFill>
                          <a:latin typeface="游ゴシック"/>
                          <a:ea typeface="游ゴシック"/>
                        </a:rPr>
                        <a:t>1981〜82年</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1000" b="0">
                          <a:solidFill>
                            <a:srgbClr val="1A1A1A"/>
                          </a:solidFill>
                          <a:latin typeface="游ゴシック"/>
                          <a:ea typeface="游ゴシック"/>
                        </a:rPr>
                        <a:t>現本社地（宝田一丁目）に事務所・市場・倉庫・パッケージ場（事務所兼倉庫）を建築</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20624">
                <a:tc>
                  <a:txBody>
                    <a:bodyPr wrap="square"/>
                    <a:lstStyle/>
                    <a:p>
                      <a:pPr algn="l"/>
                      <a:r>
                        <a:rPr sz="1000" b="0">
                          <a:solidFill>
                            <a:srgbClr val="1A1A1A"/>
                          </a:solidFill>
                          <a:latin typeface="Arial"/>
                          <a:ea typeface="游ゴシック"/>
                        </a:rPr>
                        <a:t>1984年11月</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1000" b="0">
                          <a:solidFill>
                            <a:srgbClr val="1A1A1A"/>
                          </a:solidFill>
                          <a:latin typeface="游ゴシック"/>
                          <a:ea typeface="游ゴシック"/>
                        </a:rPr>
                        <a:t>住居表示の実施により本店所在地の表記が「鶴岡市宝田一丁目4番20号」となる</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20624">
                <a:tc>
                  <a:txBody>
                    <a:bodyPr wrap="square"/>
                    <a:lstStyle/>
                    <a:p>
                      <a:pPr algn="l"/>
                      <a:r>
                        <a:rPr sz="1000" b="0">
                          <a:solidFill>
                            <a:srgbClr val="1A1A1A"/>
                          </a:solidFill>
                          <a:latin typeface="游ゴシック"/>
                          <a:ea typeface="游ゴシック"/>
                        </a:rPr>
                        <a:t>1988年10月（要確認）</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1000" b="0">
                          <a:solidFill>
                            <a:srgbClr val="1A1A1A"/>
                          </a:solidFill>
                          <a:latin typeface="游ゴシック"/>
                          <a:ea typeface="游ゴシック"/>
                        </a:rPr>
                        <a:t>山形県資料に地方卸売市場としての開設時期の記載あり（年月は要確認）</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20624">
                <a:tc>
                  <a:txBody>
                    <a:bodyPr wrap="square"/>
                    <a:lstStyle/>
                    <a:p>
                      <a:pPr algn="l"/>
                      <a:r>
                        <a:rPr sz="1000" b="0">
                          <a:solidFill>
                            <a:srgbClr val="1A1A1A"/>
                          </a:solidFill>
                          <a:latin typeface="Arial"/>
                          <a:ea typeface="游ゴシック"/>
                        </a:rPr>
                        <a:t>2006年</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1000" b="0">
                          <a:solidFill>
                            <a:srgbClr val="1A1A1A"/>
                          </a:solidFill>
                          <a:latin typeface="游ゴシック"/>
                          <a:ea typeface="游ゴシック"/>
                        </a:rPr>
                        <a:t>会社法施行に伴い取締役会設置会社・監査役設置会社の登記</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20624">
                <a:tc>
                  <a:txBody>
                    <a:bodyPr wrap="square"/>
                    <a:lstStyle/>
                    <a:p>
                      <a:pPr algn="l"/>
                      <a:r>
                        <a:rPr sz="1000" b="0">
                          <a:solidFill>
                            <a:srgbClr val="1A1A1A"/>
                          </a:solidFill>
                          <a:latin typeface="Arial"/>
                          <a:ea typeface="游ゴシック"/>
                        </a:rPr>
                        <a:t>2012年5月</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1000" b="0">
                          <a:solidFill>
                            <a:srgbClr val="1A1A1A"/>
                          </a:solidFill>
                          <a:latin typeface="游ゴシック"/>
                          <a:ea typeface="游ゴシック"/>
                        </a:rPr>
                        <a:t>定款の目的を変更（現行：青果物の販売及び卸売、倉庫業ほか）</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20624">
                <a:tc>
                  <a:txBody>
                    <a:bodyPr wrap="square"/>
                    <a:lstStyle/>
                    <a:p>
                      <a:pPr algn="l"/>
                      <a:r>
                        <a:rPr sz="1000" b="0">
                          <a:solidFill>
                            <a:srgbClr val="1A1A1A"/>
                          </a:solidFill>
                          <a:latin typeface="Arial"/>
                          <a:ea typeface="游ゴシック"/>
                        </a:rPr>
                        <a:t>2012年</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1000" b="0">
                          <a:solidFill>
                            <a:srgbClr val="1A1A1A"/>
                          </a:solidFill>
                          <a:latin typeface="游ゴシック"/>
                          <a:ea typeface="游ゴシック"/>
                        </a:rPr>
                        <a:t>宝田一丁目5-1に倉庫（鉄骨造139㎡）を新築</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20624">
                <a:tc>
                  <a:txBody>
                    <a:bodyPr wrap="square"/>
                    <a:lstStyle/>
                    <a:p>
                      <a:pPr algn="l"/>
                      <a:r>
                        <a:rPr sz="1000" b="0">
                          <a:solidFill>
                            <a:srgbClr val="1A1A1A"/>
                          </a:solidFill>
                          <a:latin typeface="Arial"/>
                          <a:ea typeface="游ゴシック"/>
                        </a:rPr>
                        <a:t>2019年10月</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1000" b="0">
                          <a:solidFill>
                            <a:srgbClr val="1A1A1A"/>
                          </a:solidFill>
                          <a:latin typeface="游ゴシック"/>
                          <a:ea typeface="游ゴシック"/>
                        </a:rPr>
                        <a:t>受託販売の会計表示を総額から純額（受託手数料のみ）へ変更</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20624">
                <a:tc>
                  <a:txBody>
                    <a:bodyPr wrap="square"/>
                    <a:lstStyle/>
                    <a:p>
                      <a:pPr algn="l"/>
                      <a:r>
                        <a:rPr sz="1000" b="0">
                          <a:solidFill>
                            <a:srgbClr val="1A1A1A"/>
                          </a:solidFill>
                          <a:latin typeface="Arial"/>
                          <a:ea typeface="游ゴシック"/>
                        </a:rPr>
                        <a:t>2025年5月</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1000" b="0">
                          <a:solidFill>
                            <a:srgbClr val="1A1A1A"/>
                          </a:solidFill>
                          <a:latin typeface="游ゴシック"/>
                          <a:ea typeface="游ゴシック"/>
                        </a:rPr>
                        <a:t>資材倉庫の外壁・シャッター改修</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420624">
                <a:tc>
                  <a:txBody>
                    <a:bodyPr wrap="square"/>
                    <a:lstStyle/>
                    <a:p>
                      <a:pPr algn="l"/>
                      <a:r>
                        <a:rPr sz="1000" b="0">
                          <a:solidFill>
                            <a:srgbClr val="1A1A1A"/>
                          </a:solidFill>
                          <a:latin typeface="Arial"/>
                          <a:ea typeface="游ゴシック"/>
                        </a:rPr>
                        <a:t>2026年5月</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l"/>
                      <a:r>
                        <a:rPr sz="1000" b="0">
                          <a:solidFill>
                            <a:srgbClr val="1A1A1A"/>
                          </a:solidFill>
                          <a:latin typeface="游ゴシック"/>
                          <a:ea typeface="游ゴシック"/>
                        </a:rPr>
                        <a:t>役員改選（取締役3名重任、常務取締役退任）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5" name="TextBox 14"/>
          <p:cNvSpPr txBox="1"/>
          <p:nvPr/>
        </p:nvSpPr>
        <p:spPr>
          <a:xfrm>
            <a:off x="448056" y="6400800"/>
            <a:ext cx="9793224" cy="457200"/>
          </a:xfrm>
          <a:prstGeom prst="rect">
            <a:avLst/>
          </a:prstGeom>
          <a:noFill/>
        </p:spPr>
        <p:txBody>
          <a:bodyPr wrap="square" lIns="0" rIns="0" tIns="0" bIns="0" anchor="t">
            <a:spAutoFit/>
          </a:bodyPr>
          <a:lstStyle/>
          <a:p>
            <a:pPr algn="l"/>
            <a:r>
              <a:rPr sz="800" b="0">
                <a:solidFill>
                  <a:srgbClr val="5A6670"/>
                </a:solidFill>
                <a:latin typeface="游ゴシック"/>
                <a:ea typeface="游ゴシック"/>
              </a:rPr>
              <a:t>※出所：履歴事項全部証明書、固定資産税課税明細書、個別注記表、固定資産内訳書、山形県公表資料。創業の経緯・代表者の経歴は売主様へ確認中。</a:t>
            </a:r>
          </a:p>
        </p:txBody>
      </p:sp>
    </p:spTree>
    <p:extLst>
      <p:ext uri="{BB962C8B-B14F-4D97-AF65-F5344CB8AC3E}">
        <p14:creationId xmlns:p14="http://schemas.microsoft.com/office/powerpoint/2010/main" val="3914015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75621-FF75-0C7B-591E-C5EBD950595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E874B4C-2D5E-166C-B8B9-0164D0AAEFB9}"/>
              </a:ext>
            </a:extLst>
          </p:cNvPr>
          <p:cNvSpPr>
            <a:spLocks noGrp="1"/>
          </p:cNvSpPr>
          <p:nvPr>
            <p:ph type="ctrTitle"/>
          </p:nvPr>
        </p:nvSpPr>
        <p:spPr>
          <a:xfrm>
            <a:off x="311150" y="180296"/>
            <a:ext cx="7799917" cy="339267"/>
          </a:xfrm>
        </p:spPr>
        <p:txBody>
          <a:bodyPr>
            <a:normAutofit/>
          </a:bodyPr>
          <a:lstStyle/>
          <a:p>
            <a:r>
              <a:rPr lang="ja-JP" altLang="en-US" dirty="0"/>
              <a:t>進行期業績（2026年4〜7月）</a:t>
            </a:r>
          </a:p>
        </p:txBody>
      </p:sp>
      <p:sp>
        <p:nvSpPr>
          <p:cNvPr id="5" name="タイトル 1">
            <a:extLst>
              <a:ext uri="{FF2B5EF4-FFF2-40B4-BE49-F238E27FC236}">
                <a16:creationId xmlns:a16="http://schemas.microsoft.com/office/drawing/2014/main" id="{8B300F08-EE1D-F462-B949-D3B040FD027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FCA9575B-1240-BC5B-38CA-16FCB838E8D8}"/>
              </a:ext>
            </a:extLst>
          </p:cNvPr>
          <p:cNvSpPr>
            <a:spLocks noGrp="1"/>
          </p:cNvSpPr>
          <p:nvPr>
            <p:ph type="subTitle" idx="1"/>
          </p:nvPr>
        </p:nvSpPr>
        <p:spPr>
          <a:xfrm>
            <a:off x="460675" y="830046"/>
            <a:ext cx="9781875" cy="241861"/>
          </a:xfrm>
        </p:spPr>
        <p:txBody>
          <a:bodyPr>
            <a:noAutofit/>
          </a:bodyPr>
          <a:lstStyle/>
          <a:p>
            <a:r>
              <a:rPr lang="ja-JP" altLang="en-US" dirty="0">
                <a:latin typeface="+mj-ea"/>
              </a:rPr>
              <a:t>4〜7月累計の売上高は411.2百万円（前年同期比△1.9%）、営業利益5.3百万円。繁忙期を含むため通期は8月以降の推移で判断</a:t>
            </a:r>
            <a:endParaRPr lang="en-US" altLang="ja-JP" dirty="0"/>
          </a:p>
        </p:txBody>
      </p:sp>
      <p:graphicFrame>
        <p:nvGraphicFramePr>
          <p:cNvPr id="14" name="Table 13"/>
          <p:cNvGraphicFramePr>
            <a:graphicFrameLocks noGrp="1"/>
          </p:cNvGraphicFramePr>
          <p:nvPr/>
        </p:nvGraphicFramePr>
        <p:xfrm>
          <a:off x="448056" y="1463040"/>
          <a:ext cx="5120638" cy="2926080"/>
        </p:xfrm>
        <a:graphic>
          <a:graphicData uri="http://schemas.openxmlformats.org/drawingml/2006/table">
            <a:tbl>
              <a:tblPr firstRow="0" bandRow="0">
                <a:tableStyleId>{5940675A-B579-460E-94D1-54222C63F5DA}</a:tableStyleId>
              </a:tblPr>
              <a:tblGrid>
                <a:gridCol w="2705243"/>
                <a:gridCol w="1449237"/>
                <a:gridCol w="966158"/>
              </a:tblGrid>
              <a:tr h="365760">
                <a:tc>
                  <a:txBody>
                    <a:bodyPr wrap="square"/>
                    <a:lstStyle/>
                    <a:p>
                      <a:pPr algn="ctr"/>
                      <a:r>
                        <a:rPr sz="950" b="1">
                          <a:solidFill>
                            <a:srgbClr val="FFFFFF"/>
                          </a:solidFill>
                          <a:latin typeface="游ゴシック"/>
                          <a:ea typeface="游ゴシック"/>
                        </a:rPr>
                        <a:t>（単位：千円）</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950" b="1">
                          <a:solidFill>
                            <a:srgbClr val="FFFFFF"/>
                          </a:solidFill>
                          <a:latin typeface="游ゴシック"/>
                          <a:ea typeface="游ゴシック"/>
                        </a:rPr>
                        <a:t>2026年4〜7月</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ctr"/>
                      <a:r>
                        <a:rPr sz="950" b="1">
                          <a:solidFill>
                            <a:srgbClr val="FFFFFF"/>
                          </a:solidFill>
                          <a:latin typeface="游ゴシック"/>
                          <a:ea typeface="游ゴシック"/>
                        </a:rPr>
                        <a:t>売上比</a:t>
                      </a:r>
                    </a:p>
                  </a:txBody>
                  <a:tcPr marL="45720" marR="45720" marT="9144" marB="9144" anchor="ctr">
                    <a:solidFill>
                      <a:srgbClr val="0B3041"/>
                    </a:solidFill>
                    <a:lnL w="6350">
                      <a:solidFill>
                        <a:srgbClr val="B7C0C6"/>
                      </a:solidFill>
                    </a:lnL>
                    <a:lnR w="6350">
                      <a:solidFill>
                        <a:srgbClr val="B7C0C6"/>
                      </a:solidFill>
                    </a:lnR>
                    <a:lnT w="6350">
                      <a:solidFill>
                        <a:srgbClr val="B7C0C6"/>
                      </a:solidFill>
                    </a:lnT>
                    <a:lnB w="6350">
                      <a:solidFill>
                        <a:srgbClr val="B7C0C6"/>
                      </a:solidFill>
                    </a:lnB>
                  </a:tcPr>
                </a:tc>
              </a:tr>
              <a:tr h="365760">
                <a:tc>
                  <a:txBody>
                    <a:bodyPr wrap="square"/>
                    <a:lstStyle/>
                    <a:p>
                      <a:pPr algn="l"/>
                      <a:r>
                        <a:rPr sz="950" b="1">
                          <a:solidFill>
                            <a:srgbClr val="1A1A1A"/>
                          </a:solidFill>
                          <a:latin typeface="游ゴシック"/>
                          <a:ea typeface="游ゴシック"/>
                        </a:rPr>
                        <a:t>売上高</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950" b="1">
                          <a:solidFill>
                            <a:srgbClr val="1A1A1A"/>
                          </a:solidFill>
                          <a:latin typeface="Arial"/>
                          <a:ea typeface="游ゴシック"/>
                        </a:rPr>
                        <a:t>411,155</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950" b="1">
                          <a:solidFill>
                            <a:srgbClr val="1A1A1A"/>
                          </a:solidFill>
                          <a:latin typeface="Arial"/>
                          <a:ea typeface="游ゴシック"/>
                        </a:rPr>
                        <a:t>100.0%</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r>
              <a:tr h="365760">
                <a:tc>
                  <a:txBody>
                    <a:bodyPr wrap="square"/>
                    <a:lstStyle/>
                    <a:p>
                      <a:pPr algn="l"/>
                      <a:r>
                        <a:rPr sz="950" b="0">
                          <a:solidFill>
                            <a:srgbClr val="1A1A1A"/>
                          </a:solidFill>
                          <a:latin typeface="游ゴシック"/>
                          <a:ea typeface="游ゴシック"/>
                        </a:rPr>
                        <a:t>売上総利益</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950" b="0">
                          <a:solidFill>
                            <a:srgbClr val="1A1A1A"/>
                          </a:solidFill>
                          <a:latin typeface="Arial"/>
                          <a:ea typeface="游ゴシック"/>
                        </a:rPr>
                        <a:t>61,214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950" b="0">
                          <a:solidFill>
                            <a:srgbClr val="1A1A1A"/>
                          </a:solidFill>
                          <a:latin typeface="Arial"/>
                          <a:ea typeface="游ゴシック"/>
                        </a:rPr>
                        <a:t>14.9%</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65760">
                <a:tc>
                  <a:txBody>
                    <a:bodyPr wrap="square"/>
                    <a:lstStyle/>
                    <a:p>
                      <a:pPr algn="l"/>
                      <a:r>
                        <a:rPr sz="950" b="0">
                          <a:solidFill>
                            <a:srgbClr val="1A1A1A"/>
                          </a:solidFill>
                          <a:latin typeface="游ゴシック"/>
                          <a:ea typeface="游ゴシック"/>
                        </a:rPr>
                        <a:t>販売費及び一般管理費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950" b="0">
                          <a:solidFill>
                            <a:srgbClr val="1A1A1A"/>
                          </a:solidFill>
                          <a:latin typeface="Arial"/>
                          <a:ea typeface="游ゴシック"/>
                        </a:rPr>
                        <a:t>55,897</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950" b="0">
                          <a:solidFill>
                            <a:srgbClr val="1A1A1A"/>
                          </a:solidFill>
                          <a:latin typeface="Arial"/>
                          <a:ea typeface="游ゴシック"/>
                        </a:rPr>
                        <a:t>13.6%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65760">
                <a:tc>
                  <a:txBody>
                    <a:bodyPr wrap="square"/>
                    <a:lstStyle/>
                    <a:p>
                      <a:pPr algn="l"/>
                      <a:r>
                        <a:rPr sz="950" b="0">
                          <a:solidFill>
                            <a:srgbClr val="1A1A1A"/>
                          </a:solidFill>
                          <a:latin typeface="游ゴシック"/>
                          <a:ea typeface="游ゴシック"/>
                        </a:rPr>
                        <a:t>　うち減価償却費</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950" b="0">
                          <a:solidFill>
                            <a:srgbClr val="1A1A1A"/>
                          </a:solidFill>
                          <a:latin typeface="Arial"/>
                          <a:ea typeface="游ゴシック"/>
                        </a:rPr>
                        <a:t>2,436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950" b="0">
                          <a:solidFill>
                            <a:srgbClr val="1A1A1A"/>
                          </a:solidFill>
                          <a:latin typeface="Arial"/>
                          <a:ea typeface="游ゴシック"/>
                        </a:rPr>
                        <a:t>0.6%</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65760">
                <a:tc>
                  <a:txBody>
                    <a:bodyPr wrap="square"/>
                    <a:lstStyle/>
                    <a:p>
                      <a:pPr algn="l"/>
                      <a:r>
                        <a:rPr sz="950" b="1">
                          <a:solidFill>
                            <a:srgbClr val="1A1A1A"/>
                          </a:solidFill>
                          <a:latin typeface="游ゴシック"/>
                          <a:ea typeface="游ゴシック"/>
                        </a:rPr>
                        <a:t>営業利益</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950" b="1">
                          <a:solidFill>
                            <a:srgbClr val="1A1A1A"/>
                          </a:solidFill>
                          <a:latin typeface="Arial"/>
                          <a:ea typeface="游ゴシック"/>
                        </a:rPr>
                        <a:t>5,317</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950" b="1">
                          <a:solidFill>
                            <a:srgbClr val="1A1A1A"/>
                          </a:solidFill>
                          <a:latin typeface="Arial"/>
                          <a:ea typeface="游ゴシック"/>
                        </a:rPr>
                        <a:t>1.3%</a:t>
                      </a:r>
                    </a:p>
                  </a:txBody>
                  <a:tcPr marL="45720" marR="45720" marT="9144" marB="9144" anchor="ctr">
                    <a:solidFill>
                      <a:srgbClr val="E1F3FB"/>
                    </a:solidFill>
                    <a:lnL w="6350">
                      <a:solidFill>
                        <a:srgbClr val="B7C0C6"/>
                      </a:solidFill>
                    </a:lnL>
                    <a:lnR w="6350">
                      <a:solidFill>
                        <a:srgbClr val="B7C0C6"/>
                      </a:solidFill>
                    </a:lnR>
                    <a:lnT w="6350">
                      <a:solidFill>
                        <a:srgbClr val="B7C0C6"/>
                      </a:solidFill>
                    </a:lnT>
                    <a:lnB w="6350">
                      <a:solidFill>
                        <a:srgbClr val="B7C0C6"/>
                      </a:solidFill>
                    </a:lnB>
                  </a:tcPr>
                </a:tc>
              </a:tr>
              <a:tr h="365760">
                <a:tc>
                  <a:txBody>
                    <a:bodyPr wrap="square"/>
                    <a:lstStyle/>
                    <a:p>
                      <a:pPr algn="l"/>
                      <a:r>
                        <a:rPr sz="950" b="0">
                          <a:solidFill>
                            <a:srgbClr val="1A1A1A"/>
                          </a:solidFill>
                          <a:latin typeface="游ゴシック"/>
                          <a:ea typeface="游ゴシック"/>
                        </a:rPr>
                        <a:t>経常利益</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950" b="0">
                          <a:solidFill>
                            <a:srgbClr val="1A1A1A"/>
                          </a:solidFill>
                          <a:latin typeface="Arial"/>
                          <a:ea typeface="游ゴシック"/>
                        </a:rPr>
                        <a:t>5,885</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950" b="0">
                          <a:solidFill>
                            <a:srgbClr val="1A1A1A"/>
                          </a:solidFill>
                          <a:latin typeface="Arial"/>
                          <a:ea typeface="游ゴシック"/>
                        </a:rPr>
                        <a:t>1.4%</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r h="365760">
                <a:tc>
                  <a:txBody>
                    <a:bodyPr wrap="square"/>
                    <a:lstStyle/>
                    <a:p>
                      <a:pPr algn="l"/>
                      <a:r>
                        <a:rPr sz="950" b="0">
                          <a:solidFill>
                            <a:srgbClr val="1A1A1A"/>
                          </a:solidFill>
                          <a:latin typeface="游ゴシック"/>
                          <a:ea typeface="游ゴシック"/>
                        </a:rPr>
                        <a:t>（参考）前年同期（2025年4〜7月）売上高</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950" b="0">
                          <a:solidFill>
                            <a:srgbClr val="1A1A1A"/>
                          </a:solidFill>
                          <a:latin typeface="Arial"/>
                          <a:ea typeface="游ゴシック"/>
                        </a:rPr>
                        <a:t>419,288</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c>
                  <a:txBody>
                    <a:bodyPr wrap="square"/>
                    <a:lstStyle/>
                    <a:p>
                      <a:pPr algn="r"/>
                      <a:r>
                        <a:rPr sz="950" b="0">
                          <a:solidFill>
                            <a:srgbClr val="1A1A1A"/>
                          </a:solidFill>
                          <a:latin typeface="游ゴシック"/>
                          <a:ea typeface="游ゴシック"/>
                        </a:rPr>
                        <a:t>　</a:t>
                      </a:r>
                    </a:p>
                  </a:txBody>
                  <a:tcPr marL="45720" marR="45720" marT="9144" marB="9144" anchor="ctr">
                    <a:solidFill>
                      <a:srgbClr val="FFFFFF"/>
                    </a:solidFill>
                    <a:lnL w="6350">
                      <a:solidFill>
                        <a:srgbClr val="B7C0C6"/>
                      </a:solidFill>
                    </a:lnL>
                    <a:lnR w="6350">
                      <a:solidFill>
                        <a:srgbClr val="B7C0C6"/>
                      </a:solidFill>
                    </a:lnR>
                    <a:lnT w="6350">
                      <a:solidFill>
                        <a:srgbClr val="B7C0C6"/>
                      </a:solidFill>
                    </a:lnT>
                    <a:lnB w="6350">
                      <a:solidFill>
                        <a:srgbClr val="B7C0C6"/>
                      </a:solidFill>
                    </a:lnB>
                  </a:tcPr>
                </a:tc>
              </a:tr>
            </a:tbl>
          </a:graphicData>
        </a:graphic>
      </p:graphicFrame>
      <p:sp>
        <p:nvSpPr>
          <p:cNvPr id="15" name="Rectangle 14"/>
          <p:cNvSpPr/>
          <p:nvPr/>
        </p:nvSpPr>
        <p:spPr>
          <a:xfrm>
            <a:off x="5760720" y="1463040"/>
            <a:ext cx="448056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000" b="1">
                <a:solidFill>
                  <a:srgbClr val="FFFFFF"/>
                </a:solidFill>
                <a:latin typeface="游ゴシック"/>
                <a:ea typeface="游ゴシック"/>
              </a:rPr>
              <a:t>Comment</a:t>
            </a:r>
          </a:p>
        </p:txBody>
      </p:sp>
      <p:sp>
        <p:nvSpPr>
          <p:cNvPr id="16" name="Rectangle 15"/>
          <p:cNvSpPr/>
          <p:nvPr/>
        </p:nvSpPr>
        <p:spPr>
          <a:xfrm>
            <a:off x="5760720" y="1755648"/>
            <a:ext cx="4480560" cy="299923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spcAft>
                <a:spcPts val="200"/>
              </a:spcAft>
            </a:pPr>
            <a:r>
              <a:rPr sz="900" b="0">
                <a:solidFill>
                  <a:srgbClr val="1A1A1A"/>
                </a:solidFill>
                <a:latin typeface="游ゴシック"/>
                <a:ea typeface="游ゴシック"/>
              </a:rPr>
              <a:t>・売上総利益率は14.9%（2026/3期通期16.6%）。月次の棚卸方法により変動し得るため要確認。</a:t>
            </a:r>
          </a:p>
          <a:p>
            <a:pPr algn="l">
              <a:spcAft>
                <a:spcPts val="200"/>
              </a:spcAft>
            </a:pPr>
            <a:r>
              <a:rPr sz="900" b="0">
                <a:solidFill>
                  <a:srgbClr val="1A1A1A"/>
                </a:solidFill>
                <a:latin typeface="游ゴシック"/>
                <a:ea typeface="游ゴシック"/>
              </a:rPr>
              <a:t>・販管費には消費税引当金3,760千円、減価償却費（月割）2,436千円を含む。賞与引当は計上なし。</a:t>
            </a:r>
          </a:p>
          <a:p>
            <a:pPr algn="l">
              <a:spcAft>
                <a:spcPts val="200"/>
              </a:spcAft>
            </a:pPr>
            <a:r>
              <a:rPr sz="900" b="0">
                <a:solidFill>
                  <a:srgbClr val="1A1A1A"/>
                </a:solidFill>
                <a:latin typeface="游ゴシック"/>
                <a:ea typeface="游ゴシック"/>
              </a:rPr>
              <a:t>・前年同期は法人事業概況説明書の月別売上（決算ベース）との比較。</a:t>
            </a:r>
          </a:p>
          <a:p>
            <a:pPr algn="l">
              <a:spcAft>
                <a:spcPts val="200"/>
              </a:spcAft>
            </a:pPr>
            <a:r>
              <a:rPr sz="900" b="0">
                <a:solidFill>
                  <a:srgbClr val="1A1A1A"/>
                </a:solidFill>
                <a:latin typeface="游ゴシック"/>
                <a:ea typeface="游ゴシック"/>
              </a:rPr>
              <a:t>・8月以降の月次試算表を追加入手予定（資料依頼中）。</a:t>
            </a:r>
          </a:p>
        </p:txBody>
      </p:sp>
    </p:spTree>
    <p:extLst>
      <p:ext uri="{BB962C8B-B14F-4D97-AF65-F5344CB8AC3E}">
        <p14:creationId xmlns:p14="http://schemas.microsoft.com/office/powerpoint/2010/main" val="8056887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89F2FC56-6ADD-9704-B514-62FD74DE3ED5}"/>
              </a:ext>
            </a:extLst>
          </p:cNvPr>
          <p:cNvSpPr/>
          <p:nvPr/>
        </p:nvSpPr>
        <p:spPr>
          <a:xfrm>
            <a:off x="449263" y="1362266"/>
            <a:ext cx="3816000" cy="366383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60000" rIns="180000" bIns="0" rtlCol="0" anchor="t"/>
          <a:lstStyle/>
          <a:p>
            <a:pPr algn="ctr">
              <a:buClr>
                <a:schemeClr val="tx2"/>
              </a:buClr>
              <a:buSzPct val="80000"/>
            </a:pPr>
            <a:endParaRPr kumimoji="1" lang="zh-TW" altLang="en-US" sz="2000" b="1" spc="110" dirty="0">
              <a:solidFill>
                <a:schemeClr val="tx2"/>
              </a:solidFill>
              <a:latin typeface="+mj-ea"/>
              <a:ea typeface="+mj-ea"/>
            </a:endParaRPr>
          </a:p>
        </p:txBody>
      </p:sp>
      <p:sp>
        <p:nvSpPr>
          <p:cNvPr id="34" name="正方形/長方形 33">
            <a:extLst>
              <a:ext uri="{FF2B5EF4-FFF2-40B4-BE49-F238E27FC236}">
                <a16:creationId xmlns:a16="http://schemas.microsoft.com/office/drawing/2014/main" id="{F2057333-40C8-2D4A-60A4-202E9B7B444C}"/>
              </a:ext>
            </a:extLst>
          </p:cNvPr>
          <p:cNvSpPr/>
          <p:nvPr/>
        </p:nvSpPr>
        <p:spPr>
          <a:xfrm>
            <a:off x="4522064" y="1362266"/>
            <a:ext cx="5724000" cy="572432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成功報酬</a:t>
            </a:r>
            <a:r>
              <a:rPr kumimoji="1" lang="en-US" altLang="ja-JP" sz="1800" spc="110" baseline="30000" dirty="0">
                <a:solidFill>
                  <a:schemeClr val="tx1"/>
                </a:solidFill>
                <a:latin typeface="+mj-ea"/>
                <a:ea typeface="+mj-ea"/>
              </a:rPr>
              <a:t>※2</a:t>
            </a:r>
            <a:r>
              <a:rPr kumimoji="1" lang="ja-JP" altLang="en-US" sz="1800" b="1" spc="110" dirty="0">
                <a:solidFill>
                  <a:schemeClr val="tx1"/>
                </a:solidFill>
                <a:latin typeface="+mj-ea"/>
                <a:ea typeface="+mj-ea"/>
              </a:rPr>
              <a:t>の算定方法</a:t>
            </a:r>
          </a:p>
        </p:txBody>
      </p:sp>
      <p:sp>
        <p:nvSpPr>
          <p:cNvPr id="6" name="字幕 5">
            <a:extLst>
              <a:ext uri="{FF2B5EF4-FFF2-40B4-BE49-F238E27FC236}">
                <a16:creationId xmlns:a16="http://schemas.microsoft.com/office/drawing/2014/main" id="{8B635CAA-C777-BCBD-D6CB-D6FE9099ED6B}"/>
              </a:ext>
            </a:extLst>
          </p:cNvPr>
          <p:cNvSpPr>
            <a:spLocks noGrp="1"/>
          </p:cNvSpPr>
          <p:nvPr>
            <p:ph type="subTitle" idx="1"/>
          </p:nvPr>
        </p:nvSpPr>
        <p:spPr>
          <a:xfrm>
            <a:off x="460675" y="830046"/>
            <a:ext cx="9781875" cy="241861"/>
          </a:xfrm>
        </p:spPr>
        <p:txBody>
          <a:bodyPr/>
          <a:lstStyle/>
          <a:p>
            <a:r>
              <a:rPr lang="ja-JP" altLang="en-US" dirty="0"/>
              <a:t>時価総資産</a:t>
            </a:r>
            <a:r>
              <a:rPr lang="en-US" altLang="ja-JP" dirty="0"/>
              <a:t>(</a:t>
            </a:r>
            <a:r>
              <a:rPr lang="ja-JP" altLang="en-US" dirty="0"/>
              <a:t>営業権含む</a:t>
            </a:r>
            <a:r>
              <a:rPr lang="en-US" altLang="ja-JP" dirty="0"/>
              <a:t>)</a:t>
            </a:r>
            <a:r>
              <a:rPr lang="ja-JP" altLang="en-US" dirty="0"/>
              <a:t>を基準とした報酬体系であり、独占交渉権獲得の段階まで費用は発生しません</a:t>
            </a:r>
            <a:endParaRPr lang="en-US" altLang="ja-JP" dirty="0"/>
          </a:p>
        </p:txBody>
      </p:sp>
      <p:sp>
        <p:nvSpPr>
          <p:cNvPr id="2" name="タイトル 1">
            <a:extLst>
              <a:ext uri="{FF2B5EF4-FFF2-40B4-BE49-F238E27FC236}">
                <a16:creationId xmlns:a16="http://schemas.microsoft.com/office/drawing/2014/main" id="{D080ECA5-1EC6-E0DA-1045-7623DC8B0517}"/>
              </a:ext>
            </a:extLst>
          </p:cNvPr>
          <p:cNvSpPr>
            <a:spLocks noGrp="1"/>
          </p:cNvSpPr>
          <p:nvPr>
            <p:ph type="ctrTitle"/>
          </p:nvPr>
        </p:nvSpPr>
        <p:spPr/>
        <p:txBody>
          <a:bodyPr/>
          <a:lstStyle/>
          <a:p>
            <a:r>
              <a:rPr lang="ja-JP" altLang="en-US" dirty="0"/>
              <a:t>報酬体系</a:t>
            </a:r>
          </a:p>
        </p:txBody>
      </p:sp>
      <p:sp>
        <p:nvSpPr>
          <p:cNvPr id="7" name="タイトル 1">
            <a:extLst>
              <a:ext uri="{FF2B5EF4-FFF2-40B4-BE49-F238E27FC236}">
                <a16:creationId xmlns:a16="http://schemas.microsoft.com/office/drawing/2014/main" id="{0DF55F9A-C4D7-02A8-F804-D2CAF9784F10}"/>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t>　</a:t>
            </a:r>
            <a:r>
              <a:rPr lang="en-US" altLang="ja-JP" dirty="0"/>
              <a:t>Appendix</a:t>
            </a:r>
            <a:endParaRPr lang="ja-JP" altLang="en-US" dirty="0"/>
          </a:p>
        </p:txBody>
      </p:sp>
      <p:cxnSp>
        <p:nvCxnSpPr>
          <p:cNvPr id="15" name="直線コネクタ 14">
            <a:extLst>
              <a:ext uri="{FF2B5EF4-FFF2-40B4-BE49-F238E27FC236}">
                <a16:creationId xmlns:a16="http://schemas.microsoft.com/office/drawing/2014/main" id="{CB8BC532-89AB-609B-2D65-2652067D6567}"/>
              </a:ext>
            </a:extLst>
          </p:cNvPr>
          <p:cNvCxnSpPr>
            <a:cxnSpLocks/>
          </p:cNvCxnSpPr>
          <p:nvPr/>
        </p:nvCxnSpPr>
        <p:spPr>
          <a:xfrm>
            <a:off x="449263" y="1362267"/>
            <a:ext cx="3816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6E720941-89DA-5B24-F4D1-711BB1F814EF}"/>
              </a:ext>
            </a:extLst>
          </p:cNvPr>
          <p:cNvSpPr>
            <a:spLocks/>
          </p:cNvSpPr>
          <p:nvPr/>
        </p:nvSpPr>
        <p:spPr>
          <a:xfrm>
            <a:off x="768087" y="2452713"/>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zh-TW" altLang="en-US" sz="1600" b="1" spc="110" dirty="0">
                <a:solidFill>
                  <a:schemeClr val="tx2"/>
                </a:solidFill>
                <a:latin typeface="+mj-ea"/>
                <a:ea typeface="+mj-ea"/>
              </a:rPr>
              <a:t>着手金</a:t>
            </a:r>
            <a:endParaRPr kumimoji="1" lang="zh-TW" altLang="en-US" sz="1600" spc="110" baseline="30000" dirty="0">
              <a:solidFill>
                <a:schemeClr val="tx2"/>
              </a:solidFill>
              <a:latin typeface="+mj-ea"/>
              <a:ea typeface="+mj-ea"/>
            </a:endParaRPr>
          </a:p>
        </p:txBody>
      </p:sp>
      <p:sp>
        <p:nvSpPr>
          <p:cNvPr id="20" name="正方形/長方形 19">
            <a:extLst>
              <a:ext uri="{FF2B5EF4-FFF2-40B4-BE49-F238E27FC236}">
                <a16:creationId xmlns:a16="http://schemas.microsoft.com/office/drawing/2014/main" id="{C770662D-0186-159D-6B20-6AADFFE9CBBA}"/>
              </a:ext>
            </a:extLst>
          </p:cNvPr>
          <p:cNvSpPr>
            <a:spLocks/>
          </p:cNvSpPr>
          <p:nvPr/>
        </p:nvSpPr>
        <p:spPr>
          <a:xfrm>
            <a:off x="768087" y="3965025"/>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リテイナーフィー</a:t>
            </a:r>
            <a:endParaRPr kumimoji="1" lang="zh-TW" altLang="en-US" sz="1600" spc="110" baseline="30000" dirty="0">
              <a:solidFill>
                <a:schemeClr val="tx2"/>
              </a:solidFill>
              <a:latin typeface="+mj-ea"/>
              <a:ea typeface="+mj-ea"/>
            </a:endParaRPr>
          </a:p>
        </p:txBody>
      </p:sp>
      <p:sp>
        <p:nvSpPr>
          <p:cNvPr id="21" name="正方形/長方形 20">
            <a:extLst>
              <a:ext uri="{FF2B5EF4-FFF2-40B4-BE49-F238E27FC236}">
                <a16:creationId xmlns:a16="http://schemas.microsoft.com/office/drawing/2014/main" id="{E00098F5-AD27-787B-FFFF-9D575BB76654}"/>
              </a:ext>
            </a:extLst>
          </p:cNvPr>
          <p:cNvSpPr>
            <a:spLocks/>
          </p:cNvSpPr>
          <p:nvPr/>
        </p:nvSpPr>
        <p:spPr>
          <a:xfrm>
            <a:off x="768087" y="3208869"/>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情報提供料</a:t>
            </a:r>
            <a:endParaRPr kumimoji="1" lang="zh-TW" altLang="en-US" sz="1600" b="1" spc="110" dirty="0">
              <a:solidFill>
                <a:schemeClr val="tx2"/>
              </a:solidFill>
              <a:latin typeface="+mj-ea"/>
              <a:ea typeface="+mj-ea"/>
            </a:endParaRPr>
          </a:p>
        </p:txBody>
      </p:sp>
      <p:sp>
        <p:nvSpPr>
          <p:cNvPr id="24" name="テキスト ボックス 23">
            <a:extLst>
              <a:ext uri="{FF2B5EF4-FFF2-40B4-BE49-F238E27FC236}">
                <a16:creationId xmlns:a16="http://schemas.microsoft.com/office/drawing/2014/main" id="{732BB496-90B0-3CEC-6685-2DABCCD36309}"/>
              </a:ext>
            </a:extLst>
          </p:cNvPr>
          <p:cNvSpPr txBox="1"/>
          <p:nvPr/>
        </p:nvSpPr>
        <p:spPr>
          <a:xfrm>
            <a:off x="3604575" y="3422948"/>
            <a:ext cx="428323" cy="278731"/>
          </a:xfrm>
          <a:prstGeom prst="rect">
            <a:avLst/>
          </a:prstGeom>
          <a:noFill/>
        </p:spPr>
        <p:txBody>
          <a:bodyPr wrap="none" lIns="0" tIns="0" rIns="0" bIns="0" rtlCol="0">
            <a:spAutoFit/>
          </a:bodyPr>
          <a:lstStyle/>
          <a:p>
            <a:pPr algn="ctr">
              <a:lnSpc>
                <a:spcPct val="120000"/>
              </a:lnSpc>
              <a:buClr>
                <a:schemeClr val="tx2"/>
              </a:buClr>
              <a:buSzPct val="80000"/>
            </a:pPr>
            <a:r>
              <a:rPr lang="ja-JP" altLang="en-US" sz="1600" b="1" spc="70" dirty="0">
                <a:latin typeface="+mj-ea"/>
                <a:ea typeface="+mj-ea"/>
              </a:rPr>
              <a:t>無料</a:t>
            </a:r>
          </a:p>
        </p:txBody>
      </p:sp>
      <p:sp>
        <p:nvSpPr>
          <p:cNvPr id="30" name="右大かっこ 29">
            <a:extLst>
              <a:ext uri="{FF2B5EF4-FFF2-40B4-BE49-F238E27FC236}">
                <a16:creationId xmlns:a16="http://schemas.microsoft.com/office/drawing/2014/main" id="{3B1D8EBE-EC59-B246-AF6C-841872564D9C}"/>
              </a:ext>
            </a:extLst>
          </p:cNvPr>
          <p:cNvSpPr/>
          <p:nvPr/>
        </p:nvSpPr>
        <p:spPr>
          <a:xfrm>
            <a:off x="3324087" y="2479728"/>
            <a:ext cx="174824" cy="2097297"/>
          </a:xfrm>
          <a:prstGeom prst="rightBracket">
            <a:avLst>
              <a:gd name="adj" fmla="val 0"/>
            </a:avLst>
          </a:prstGeom>
          <a:ln w="12700">
            <a:solidFill>
              <a:schemeClr val="tx2"/>
            </a:solidFill>
            <a:prstDash val="sysDot"/>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36" name="正方形/長方形 35">
            <a:extLst>
              <a:ext uri="{FF2B5EF4-FFF2-40B4-BE49-F238E27FC236}">
                <a16:creationId xmlns:a16="http://schemas.microsoft.com/office/drawing/2014/main" id="{9AE04EFA-8A89-729B-C209-CDC92D8F408B}"/>
              </a:ext>
            </a:extLst>
          </p:cNvPr>
          <p:cNvSpPr/>
          <p:nvPr/>
        </p:nvSpPr>
        <p:spPr>
          <a:xfrm>
            <a:off x="4766690" y="6067960"/>
            <a:ext cx="4411464" cy="942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※2</a:t>
            </a:r>
            <a:r>
              <a:rPr lang="ja-JP" altLang="en-US" sz="800" dirty="0">
                <a:solidFill>
                  <a:schemeClr val="tx1"/>
                </a:solidFill>
                <a:latin typeface="+mn-ea"/>
              </a:rPr>
              <a:t>　以下の項目については上記報酬には含まれておりません。</a:t>
            </a:r>
          </a:p>
          <a:p>
            <a:pPr>
              <a:lnSpc>
                <a:spcPct val="110000"/>
              </a:lnSpc>
            </a:pPr>
            <a:r>
              <a:rPr lang="ja-JP" altLang="en-US" sz="800" dirty="0">
                <a:solidFill>
                  <a:schemeClr val="tx1"/>
                </a:solidFill>
                <a:latin typeface="+mn-ea"/>
              </a:rPr>
              <a:t>　　・買収監査、特殊な市場調査や技術評価、経営計画作成のための費用</a:t>
            </a:r>
          </a:p>
          <a:p>
            <a:pPr>
              <a:lnSpc>
                <a:spcPct val="110000"/>
              </a:lnSpc>
            </a:pPr>
            <a:r>
              <a:rPr lang="ja-JP" altLang="en-US" sz="800" dirty="0">
                <a:solidFill>
                  <a:schemeClr val="tx1"/>
                </a:solidFill>
                <a:latin typeface="+mn-ea"/>
              </a:rPr>
              <a:t>　　・登記費用および公認会計士、税理士、弁護士、不動産鑑定士等の専門家費用の実費</a:t>
            </a:r>
          </a:p>
          <a:p>
            <a:pPr>
              <a:lnSpc>
                <a:spcPct val="110000"/>
              </a:lnSpc>
            </a:pPr>
            <a:r>
              <a:rPr lang="ja-JP" altLang="en-US" sz="800" dirty="0">
                <a:solidFill>
                  <a:schemeClr val="tx1"/>
                </a:solidFill>
                <a:latin typeface="+mn-ea"/>
              </a:rPr>
              <a:t>　　・譲渡企業の海外事業所等訪問時の通訳費、当社および貴社関係者の交通費、宿泊費、日当</a:t>
            </a:r>
            <a:endParaRPr lang="en-US" altLang="ja-JP" sz="800" dirty="0">
              <a:solidFill>
                <a:schemeClr val="tx1"/>
              </a:solidFill>
              <a:latin typeface="+mn-ea"/>
            </a:endParaRPr>
          </a:p>
          <a:p>
            <a:pPr>
              <a:lnSpc>
                <a:spcPct val="110000"/>
              </a:lnSpc>
            </a:pPr>
            <a:r>
              <a:rPr lang="ja-JP" altLang="en-US" sz="800" dirty="0">
                <a:solidFill>
                  <a:schemeClr val="tx1"/>
                </a:solidFill>
                <a:latin typeface="+mn-ea"/>
              </a:rPr>
              <a:t>　　以下の場合、上記の各種報酬について別途ご相談いたします。</a:t>
            </a:r>
          </a:p>
          <a:p>
            <a:pPr>
              <a:lnSpc>
                <a:spcPct val="110000"/>
              </a:lnSpc>
            </a:pPr>
            <a:r>
              <a:rPr lang="ja-JP" altLang="en-US" sz="800" dirty="0">
                <a:solidFill>
                  <a:schemeClr val="tx1"/>
                </a:solidFill>
                <a:latin typeface="+mn-ea"/>
              </a:rPr>
              <a:t>　　・譲渡企業が関係会社を保有する場合や事業所を複数持つ場合</a:t>
            </a:r>
          </a:p>
          <a:p>
            <a:pPr>
              <a:lnSpc>
                <a:spcPct val="110000"/>
              </a:lnSpc>
            </a:pPr>
            <a:r>
              <a:rPr lang="ja-JP" altLang="en-US" sz="800" dirty="0">
                <a:solidFill>
                  <a:schemeClr val="tx1"/>
                </a:solidFill>
                <a:latin typeface="+mn-ea"/>
              </a:rPr>
              <a:t>　　・譲渡企業が海外に関係会社・事業所・工場を保有する場合</a:t>
            </a:r>
          </a:p>
        </p:txBody>
      </p:sp>
      <p:sp>
        <p:nvSpPr>
          <p:cNvPr id="37" name="正方形/長方形 36">
            <a:extLst>
              <a:ext uri="{FF2B5EF4-FFF2-40B4-BE49-F238E27FC236}">
                <a16:creationId xmlns:a16="http://schemas.microsoft.com/office/drawing/2014/main" id="{F22E4C30-8FC3-B869-53BD-9D8860037344}"/>
              </a:ext>
            </a:extLst>
          </p:cNvPr>
          <p:cNvSpPr/>
          <p:nvPr/>
        </p:nvSpPr>
        <p:spPr>
          <a:xfrm>
            <a:off x="683263" y="1669542"/>
            <a:ext cx="3348000" cy="468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zh-TW" altLang="en-US" sz="1800" b="1" spc="70" dirty="0">
                <a:solidFill>
                  <a:schemeClr val="bg1"/>
                </a:solidFill>
                <a:latin typeface="+mj-ea"/>
                <a:ea typeface="+mj-ea"/>
              </a:rPr>
              <a:t>料金体系｜成功報酬型</a:t>
            </a:r>
          </a:p>
        </p:txBody>
      </p:sp>
      <p:sp>
        <p:nvSpPr>
          <p:cNvPr id="38" name="正方形/長方形 37">
            <a:extLst>
              <a:ext uri="{FF2B5EF4-FFF2-40B4-BE49-F238E27FC236}">
                <a16:creationId xmlns:a16="http://schemas.microsoft.com/office/drawing/2014/main" id="{A662A524-58DF-E539-7CF9-2CCAAD4E7CAF}"/>
              </a:ext>
            </a:extLst>
          </p:cNvPr>
          <p:cNvSpPr>
            <a:spLocks/>
          </p:cNvSpPr>
          <p:nvPr/>
        </p:nvSpPr>
        <p:spPr>
          <a:xfrm>
            <a:off x="4752550" y="1974789"/>
            <a:ext cx="5256000" cy="305131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a:solidFill>
                  <a:schemeClr val="tx2"/>
                </a:solidFill>
                <a:ea typeface="+mj-ea"/>
              </a:rPr>
              <a:t>1. M</a:t>
            </a:r>
            <a:r>
              <a:rPr kumimoji="1" lang="ja-JP" altLang="en-US" sz="1543" b="1">
                <a:solidFill>
                  <a:schemeClr val="tx2"/>
                </a:solidFill>
                <a:ea typeface="+mj-ea"/>
              </a:rPr>
              <a:t>＆</a:t>
            </a:r>
            <a:r>
              <a:rPr kumimoji="1" lang="en-US" altLang="ja-JP" sz="1543" b="1">
                <a:solidFill>
                  <a:schemeClr val="tx2"/>
                </a:solidFill>
                <a:ea typeface="+mj-ea"/>
              </a:rPr>
              <a:t>A</a:t>
            </a:r>
            <a:r>
              <a:rPr kumimoji="1" lang="ja-JP" altLang="en-US" sz="1543" b="1">
                <a:solidFill>
                  <a:schemeClr val="tx2"/>
                </a:solidFill>
                <a:ea typeface="+mj-ea"/>
              </a:rPr>
              <a:t>（株式・事業譲渡）の場合</a:t>
            </a:r>
            <a:endParaRPr kumimoji="1" lang="ja-JP" altLang="en-US" sz="1543" b="1" dirty="0">
              <a:solidFill>
                <a:schemeClr val="tx2"/>
              </a:solidFill>
              <a:ea typeface="+mj-ea"/>
            </a:endParaRPr>
          </a:p>
        </p:txBody>
      </p:sp>
      <p:sp>
        <p:nvSpPr>
          <p:cNvPr id="39" name="正方形/長方形 38">
            <a:extLst>
              <a:ext uri="{FF2B5EF4-FFF2-40B4-BE49-F238E27FC236}">
                <a16:creationId xmlns:a16="http://schemas.microsoft.com/office/drawing/2014/main" id="{3005CCDB-36FD-4152-9A26-F18CB327D833}"/>
              </a:ext>
            </a:extLst>
          </p:cNvPr>
          <p:cNvSpPr>
            <a:spLocks/>
          </p:cNvSpPr>
          <p:nvPr/>
        </p:nvSpPr>
        <p:spPr>
          <a:xfrm>
            <a:off x="4752550" y="5145149"/>
            <a:ext cx="5256000" cy="855016"/>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dirty="0">
                <a:solidFill>
                  <a:schemeClr val="tx2"/>
                </a:solidFill>
                <a:ea typeface="+mj-ea"/>
              </a:rPr>
              <a:t>2. </a:t>
            </a:r>
            <a:r>
              <a:rPr kumimoji="1" lang="ja-JP" altLang="en-US" sz="1543" b="1" dirty="0">
                <a:solidFill>
                  <a:schemeClr val="tx2"/>
                </a:solidFill>
                <a:ea typeface="+mj-ea"/>
              </a:rPr>
              <a:t>合併・会社分割・業務提携などの場合</a:t>
            </a:r>
          </a:p>
        </p:txBody>
      </p:sp>
      <p:sp>
        <p:nvSpPr>
          <p:cNvPr id="43" name="正方形/長方形 42">
            <a:extLst>
              <a:ext uri="{FF2B5EF4-FFF2-40B4-BE49-F238E27FC236}">
                <a16:creationId xmlns:a16="http://schemas.microsoft.com/office/drawing/2014/main" id="{45F9569B-84C3-F6AA-8270-6F2A0C5A48FE}"/>
              </a:ext>
            </a:extLst>
          </p:cNvPr>
          <p:cNvSpPr/>
          <p:nvPr/>
        </p:nvSpPr>
        <p:spPr>
          <a:xfrm>
            <a:off x="4968550" y="5594330"/>
            <a:ext cx="4824000" cy="286791"/>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形態、規模に応じてお見積り</a:t>
            </a:r>
          </a:p>
        </p:txBody>
      </p:sp>
      <p:sp>
        <p:nvSpPr>
          <p:cNvPr id="44" name="テキスト ボックス 43">
            <a:extLst>
              <a:ext uri="{FF2B5EF4-FFF2-40B4-BE49-F238E27FC236}">
                <a16:creationId xmlns:a16="http://schemas.microsoft.com/office/drawing/2014/main" id="{1E78D870-E1BA-6FCD-62FA-37BB1F2E0B3D}"/>
              </a:ext>
            </a:extLst>
          </p:cNvPr>
          <p:cNvSpPr txBox="1"/>
          <p:nvPr/>
        </p:nvSpPr>
        <p:spPr>
          <a:xfrm>
            <a:off x="4968550" y="4554047"/>
            <a:ext cx="3546805" cy="191399"/>
          </a:xfrm>
          <a:prstGeom prst="rect">
            <a:avLst/>
          </a:prstGeom>
          <a:noFill/>
        </p:spPr>
        <p:txBody>
          <a:bodyPr wrap="none" lIns="0" tIns="0" rIns="0" bIns="0" rtlCol="0">
            <a:spAutoFit/>
          </a:bodyPr>
          <a:lstStyle/>
          <a:p>
            <a:pPr>
              <a:lnSpc>
                <a:spcPct val="120000"/>
              </a:lnSpc>
              <a:buClr>
                <a:schemeClr val="tx2"/>
              </a:buClr>
              <a:buSzPct val="80000"/>
            </a:pPr>
            <a:r>
              <a:rPr lang="ja-JP" altLang="en-US" sz="1100" spc="70" dirty="0">
                <a:latin typeface="+mn-ea"/>
              </a:rPr>
              <a:t>成功報酬の最低額は</a:t>
            </a:r>
            <a:r>
              <a:rPr lang="en-US" altLang="ja-JP" sz="1100" spc="70" dirty="0">
                <a:latin typeface="+mn-ea"/>
              </a:rPr>
              <a:t>1,500</a:t>
            </a:r>
            <a:r>
              <a:rPr lang="ja-JP" altLang="en-US" sz="1100" spc="70" dirty="0">
                <a:latin typeface="+mn-ea"/>
              </a:rPr>
              <a:t>万円を設定しております。</a:t>
            </a:r>
          </a:p>
        </p:txBody>
      </p:sp>
      <p:graphicFrame>
        <p:nvGraphicFramePr>
          <p:cNvPr id="45" name="表 44">
            <a:extLst>
              <a:ext uri="{FF2B5EF4-FFF2-40B4-BE49-F238E27FC236}">
                <a16:creationId xmlns:a16="http://schemas.microsoft.com/office/drawing/2014/main" id="{43BEAE47-9189-F306-0E9E-F73105167DC7}"/>
              </a:ext>
            </a:extLst>
          </p:cNvPr>
          <p:cNvGraphicFramePr>
            <a:graphicFrameLocks noGrp="1"/>
          </p:cNvGraphicFramePr>
          <p:nvPr/>
        </p:nvGraphicFramePr>
        <p:xfrm>
          <a:off x="4968550" y="2395845"/>
          <a:ext cx="4824000" cy="2448000"/>
        </p:xfrm>
        <a:graphic>
          <a:graphicData uri="http://schemas.openxmlformats.org/drawingml/2006/table">
            <a:tbl>
              <a:tblPr firstRow="1" bandRow="1">
                <a:tableStyleId>{F2DE63D5-997A-4646-A377-4702673A728D}</a:tableStyleId>
              </a:tblPr>
              <a:tblGrid>
                <a:gridCol w="2952000">
                  <a:extLst>
                    <a:ext uri="{9D8B030D-6E8A-4147-A177-3AD203B41FA5}">
                      <a16:colId xmlns:a16="http://schemas.microsoft.com/office/drawing/2014/main" val="4012313631"/>
                    </a:ext>
                  </a:extLst>
                </a:gridCol>
                <a:gridCol w="1872000">
                  <a:extLst>
                    <a:ext uri="{9D8B030D-6E8A-4147-A177-3AD203B41FA5}">
                      <a16:colId xmlns:a16="http://schemas.microsoft.com/office/drawing/2014/main" val="1332805218"/>
                    </a:ext>
                  </a:extLst>
                </a:gridCol>
              </a:tblGrid>
              <a:tr h="396000">
                <a:tc>
                  <a:txBody>
                    <a:bodyP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100" b="1" i="0" u="none" strike="noStrike" kern="1200" cap="none" spc="50" normalizeH="0" baseline="0" noProof="0" dirty="0">
                          <a:ln>
                            <a:noFill/>
                          </a:ln>
                          <a:solidFill>
                            <a:schemeClr val="bg1"/>
                          </a:solidFill>
                          <a:effectLst/>
                          <a:uLnTx/>
                          <a:uFillTx/>
                          <a:latin typeface="+mj-ea"/>
                          <a:ea typeface="+mj-ea"/>
                        </a:rPr>
                        <a:t>譲渡企業の時価総資産額</a:t>
                      </a:r>
                      <a:endParaRPr kumimoji="1" lang="en-US" altLang="ja-JP" sz="1100" b="1" i="0" u="none" strike="noStrike" kern="1200" cap="none" spc="50" normalizeH="0" baseline="0" noProof="0" dirty="0">
                        <a:ln>
                          <a:noFill/>
                        </a:ln>
                        <a:solidFill>
                          <a:schemeClr val="bg1"/>
                        </a:solidFill>
                        <a:effectLst/>
                        <a:uLnTx/>
                        <a:uFillTx/>
                        <a:latin typeface="+mj-ea"/>
                        <a:ea typeface="+mj-ea"/>
                      </a:endParaRPr>
                    </a:p>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800" b="1" i="0" u="none" strike="noStrike" kern="1200" cap="none" spc="50" normalizeH="0" baseline="0" noProof="0" dirty="0">
                          <a:ln>
                            <a:noFill/>
                          </a:ln>
                          <a:solidFill>
                            <a:schemeClr val="bg1"/>
                          </a:solidFill>
                          <a:effectLst/>
                          <a:uLnTx/>
                          <a:uFillTx/>
                          <a:latin typeface="+mj-ea"/>
                          <a:ea typeface="+mj-ea"/>
                        </a:rPr>
                        <a:t>（営業権を含む）</a:t>
                      </a:r>
                    </a:p>
                  </a:txBody>
                  <a:tcPr marL="0" marR="0" marT="0" marB="0" anchor="ctr" anchorCtr="1">
                    <a:lnL w="3175"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nSpc>
                          <a:spcPct val="110000"/>
                        </a:lnSpc>
                      </a:pPr>
                      <a:r>
                        <a:rPr kumimoji="1" lang="ja-JP" altLang="en-US" sz="1100" b="1" spc="50" baseline="0" dirty="0">
                          <a:latin typeface="+mj-ea"/>
                          <a:ea typeface="+mj-ea"/>
                        </a:rPr>
                        <a:t>手数料率</a:t>
                      </a:r>
                    </a:p>
                  </a:txBody>
                  <a:tcPr marL="0" marR="0" marT="0" marB="0" anchor="ctr" anchorCtr="1">
                    <a:lnL w="12700" cap="flat" cmpd="sng" algn="ctr">
                      <a:solidFill>
                        <a:schemeClr val="bg1"/>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552892255"/>
                  </a:ext>
                </a:extLst>
              </a:tr>
              <a:tr h="342000">
                <a:tc>
                  <a:txBody>
                    <a:bodyPr/>
                    <a:lstStyle/>
                    <a:p>
                      <a:pPr algn="l">
                        <a:lnSpc>
                          <a:spcPct val="110000"/>
                        </a:lnSpc>
                      </a:pPr>
                      <a:r>
                        <a:rPr kumimoji="1" lang="en-US" altLang="ja-JP" sz="1200" b="1" spc="50" baseline="0" dirty="0">
                          <a:latin typeface="+mj-lt"/>
                          <a:ea typeface="+mj-ea"/>
                        </a:rPr>
                        <a:t>2</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2,000</a:t>
                      </a:r>
                      <a:r>
                        <a:rPr kumimoji="1" lang="ja-JP" altLang="en-US" sz="1100" b="1" spc="50" baseline="0" dirty="0">
                          <a:solidFill>
                            <a:schemeClr val="tx1"/>
                          </a:solidFill>
                          <a:latin typeface="+mn-lt"/>
                          <a:ea typeface="+mn-ea"/>
                        </a:rPr>
                        <a:t>万円</a:t>
                      </a:r>
                      <a:endParaRPr kumimoji="1" lang="ja-JP" altLang="en-US" sz="1100" b="0" spc="50" baseline="0" dirty="0">
                        <a:solidFill>
                          <a:schemeClr val="tx1"/>
                        </a:solidFill>
                        <a:latin typeface="+mn-lt"/>
                        <a:ea typeface="+mn-ea"/>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334838"/>
                  </a:ext>
                </a:extLst>
              </a:tr>
              <a:tr h="342000">
                <a:tc>
                  <a:txBody>
                    <a:bodyPr/>
                    <a:lstStyle/>
                    <a:p>
                      <a:pPr marL="0" marR="0" lvl="0" indent="0" algn="l" defTabSz="1007943" rtl="0" eaLnBrk="1" fontAlgn="auto" latinLnBrk="0" hangingPunct="1">
                        <a:lnSpc>
                          <a:spcPct val="110000"/>
                        </a:lnSpc>
                        <a:spcBef>
                          <a:spcPts val="0"/>
                        </a:spcBef>
                        <a:spcAft>
                          <a:spcPts val="0"/>
                        </a:spcAft>
                        <a:buClrTx/>
                        <a:buSzTx/>
                        <a:buFontTx/>
                        <a:buNone/>
                        <a:tabLst/>
                        <a:defRPr/>
                      </a:pPr>
                      <a:r>
                        <a:rPr kumimoji="1" lang="en-US" altLang="ja-JP" sz="1200" b="1" kern="1200" spc="50" baseline="0" dirty="0">
                          <a:solidFill>
                            <a:schemeClr val="tx1"/>
                          </a:solidFill>
                          <a:latin typeface="+mn-lt"/>
                          <a:ea typeface="+mn-ea"/>
                          <a:cs typeface="+mn-cs"/>
                        </a:rPr>
                        <a:t>2</a:t>
                      </a:r>
                      <a:r>
                        <a:rPr kumimoji="1" lang="ja-JP" altLang="en-US" sz="1200" b="1" kern="1200" spc="50" baseline="0" dirty="0">
                          <a:solidFill>
                            <a:schemeClr val="tx1"/>
                          </a:solidFill>
                          <a:latin typeface="+mn-lt"/>
                          <a:ea typeface="+mn-ea"/>
                          <a:cs typeface="+mn-cs"/>
                        </a:rPr>
                        <a:t>億円超　</a:t>
                      </a:r>
                      <a:r>
                        <a:rPr kumimoji="1" lang="en-US" altLang="ja-JP" sz="1200" b="1" kern="1200" spc="50" baseline="0" dirty="0">
                          <a:solidFill>
                            <a:schemeClr val="tx1"/>
                          </a:solidFill>
                          <a:latin typeface="+mn-lt"/>
                          <a:ea typeface="+mn-ea"/>
                          <a:cs typeface="+mn-cs"/>
                        </a:rPr>
                        <a:t>5</a:t>
                      </a:r>
                      <a:r>
                        <a:rPr kumimoji="1" lang="ja-JP" altLang="en-US" sz="1200" b="1" kern="1200" spc="50" baseline="0" dirty="0">
                          <a:solidFill>
                            <a:schemeClr val="tx1"/>
                          </a:solidFill>
                          <a:latin typeface="+mn-lt"/>
                          <a:ea typeface="+mn-ea"/>
                          <a:cs typeface="+mn-cs"/>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nSpc>
                          <a:spcPct val="110000"/>
                        </a:lnSpc>
                      </a:pPr>
                      <a:r>
                        <a:rPr kumimoji="1" lang="en-US" altLang="ja-JP" sz="1800" b="1" spc="50" baseline="0" dirty="0">
                          <a:solidFill>
                            <a:schemeClr val="tx1"/>
                          </a:solidFill>
                          <a:latin typeface="+mn-lt"/>
                          <a:ea typeface="+mn-ea"/>
                        </a:rPr>
                        <a:t>5</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0064655"/>
                  </a:ext>
                </a:extLst>
              </a:tr>
              <a:tr h="342000">
                <a:tc>
                  <a:txBody>
                    <a:bodyPr/>
                    <a:lstStyle/>
                    <a:p>
                      <a:pPr algn="l">
                        <a:lnSpc>
                          <a:spcPct val="110000"/>
                        </a:lnSpc>
                      </a:pPr>
                      <a:r>
                        <a:rPr kumimoji="1" lang="en-US" altLang="ja-JP" sz="1200" b="1" spc="50" baseline="0" dirty="0">
                          <a:latin typeface="+mj-lt"/>
                          <a:ea typeface="+mj-ea"/>
                        </a:rPr>
                        <a:t>5</a:t>
                      </a:r>
                      <a:r>
                        <a:rPr kumimoji="1" lang="ja-JP" altLang="en-US" sz="1200" b="1" spc="50" baseline="0" dirty="0">
                          <a:latin typeface="+mj-lt"/>
                          <a:ea typeface="+mj-ea"/>
                        </a:rPr>
                        <a:t>億円超　</a:t>
                      </a:r>
                      <a:r>
                        <a:rPr kumimoji="1" lang="en-US" altLang="ja-JP" sz="1200" b="1" spc="50" baseline="0" dirty="0">
                          <a:latin typeface="+mj-lt"/>
                          <a:ea typeface="+mj-ea"/>
                        </a:rPr>
                        <a:t>10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4</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5221436"/>
                  </a:ext>
                </a:extLst>
              </a:tr>
              <a:tr h="342000">
                <a:tc>
                  <a:txBody>
                    <a:bodyPr/>
                    <a:lstStyle/>
                    <a:p>
                      <a:pPr algn="l">
                        <a:lnSpc>
                          <a:spcPct val="110000"/>
                        </a:lnSpc>
                      </a:pPr>
                      <a:r>
                        <a:rPr kumimoji="1" lang="en-US" altLang="ja-JP" sz="1200" b="1" spc="50" baseline="0" dirty="0">
                          <a:latin typeface="+mj-lt"/>
                          <a:ea typeface="+mj-ea"/>
                        </a:rPr>
                        <a:t>10</a:t>
                      </a:r>
                      <a:r>
                        <a:rPr kumimoji="1" lang="ja-JP" altLang="en-US" sz="1200" b="1" spc="50" baseline="0" dirty="0">
                          <a:latin typeface="+mj-lt"/>
                          <a:ea typeface="+mj-ea"/>
                        </a:rPr>
                        <a:t>億円超　</a:t>
                      </a:r>
                      <a:r>
                        <a:rPr kumimoji="1" lang="en-US" altLang="ja-JP" sz="1200" b="1" spc="50" baseline="0" dirty="0">
                          <a:latin typeface="+mj-lt"/>
                          <a:ea typeface="+mj-ea"/>
                        </a:rPr>
                        <a:t>50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3</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54929017"/>
                  </a:ext>
                </a:extLst>
              </a:tr>
              <a:tr h="342000">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200" b="1" spc="50" baseline="0" dirty="0">
                          <a:latin typeface="+mj-lt"/>
                          <a:ea typeface="+mj-ea"/>
                        </a:rPr>
                        <a:t>50</a:t>
                      </a:r>
                      <a:r>
                        <a:rPr kumimoji="1" lang="ja-JP" altLang="en-US" sz="1200" b="1" spc="50" baseline="0" dirty="0">
                          <a:latin typeface="+mj-lt"/>
                          <a:ea typeface="+mj-ea"/>
                        </a:rPr>
                        <a:t>億円超　</a:t>
                      </a:r>
                      <a:r>
                        <a:rPr kumimoji="1" lang="en-US" altLang="ja-JP" sz="1200" b="1" spc="50" baseline="0" dirty="0">
                          <a:latin typeface="+mj-lt"/>
                          <a:ea typeface="+mj-ea"/>
                        </a:rPr>
                        <a:t>100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96813135"/>
                  </a:ext>
                </a:extLst>
              </a:tr>
              <a:tr h="342000">
                <a:tc>
                  <a:txBody>
                    <a:bodyPr/>
                    <a:lstStyle/>
                    <a:p>
                      <a:pPr algn="l">
                        <a:lnSpc>
                          <a:spcPct val="110000"/>
                        </a:lnSpc>
                      </a:pPr>
                      <a:r>
                        <a:rPr kumimoji="1" lang="en-US" altLang="ja-JP" sz="1200" b="1" spc="50" baseline="0" dirty="0">
                          <a:latin typeface="+mj-lt"/>
                          <a:ea typeface="+mj-ea"/>
                        </a:rPr>
                        <a:t>100</a:t>
                      </a:r>
                      <a:r>
                        <a:rPr kumimoji="1" lang="ja-JP" altLang="en-US" sz="1200" b="1" spc="50" baseline="0" dirty="0">
                          <a:latin typeface="+mj-lt"/>
                          <a:ea typeface="+mj-ea"/>
                        </a:rPr>
                        <a:t>億円超の部分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1</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0759054"/>
                  </a:ext>
                </a:extLst>
              </a:tr>
            </a:tbl>
          </a:graphicData>
        </a:graphic>
      </p:graphicFrame>
      <p:sp>
        <p:nvSpPr>
          <p:cNvPr id="3" name="テキスト ボックス 2">
            <a:extLst>
              <a:ext uri="{FF2B5EF4-FFF2-40B4-BE49-F238E27FC236}">
                <a16:creationId xmlns:a16="http://schemas.microsoft.com/office/drawing/2014/main" id="{08F1693B-FFF1-ED80-7351-7BBDED97C92F}"/>
              </a:ext>
            </a:extLst>
          </p:cNvPr>
          <p:cNvSpPr txBox="1"/>
          <p:nvPr/>
        </p:nvSpPr>
        <p:spPr>
          <a:xfrm>
            <a:off x="8985126" y="2145278"/>
            <a:ext cx="788036" cy="209545"/>
          </a:xfrm>
          <a:prstGeom prst="rect">
            <a:avLst/>
          </a:prstGeom>
          <a:noFill/>
        </p:spPr>
        <p:txBody>
          <a:bodyPr wrap="none" lIns="0" tIns="0" rIns="0" bIns="0" rtlCol="0">
            <a:spAutoFit/>
          </a:bodyPr>
          <a:lstStyle/>
          <a:p>
            <a:pPr algn="ctr">
              <a:lnSpc>
                <a:spcPct val="120000"/>
              </a:lnSpc>
              <a:buClr>
                <a:schemeClr val="tx2"/>
              </a:buClr>
              <a:buSzPct val="80000"/>
            </a:pPr>
            <a:r>
              <a:rPr lang="en-US" altLang="ja-JP" sz="1200" spc="70" dirty="0">
                <a:latin typeface="+mj-ea"/>
                <a:ea typeface="+mj-ea"/>
              </a:rPr>
              <a:t>(</a:t>
            </a:r>
            <a:r>
              <a:rPr lang="ja-JP" altLang="en-US" sz="1200" spc="70" dirty="0">
                <a:latin typeface="+mj-ea"/>
                <a:ea typeface="+mj-ea"/>
              </a:rPr>
              <a:t>消費税別</a:t>
            </a:r>
            <a:r>
              <a:rPr lang="en-US" altLang="ja-JP" sz="1200" spc="70" dirty="0">
                <a:latin typeface="+mj-ea"/>
                <a:ea typeface="+mj-ea"/>
              </a:rPr>
              <a:t>)</a:t>
            </a:r>
            <a:endParaRPr lang="ja-JP" altLang="en-US" sz="1200" spc="70" dirty="0">
              <a:latin typeface="+mj-ea"/>
              <a:ea typeface="+mj-ea"/>
            </a:endParaRPr>
          </a:p>
        </p:txBody>
      </p:sp>
      <p:sp>
        <p:nvSpPr>
          <p:cNvPr id="4" name="正方形/長方形 3">
            <a:extLst>
              <a:ext uri="{FF2B5EF4-FFF2-40B4-BE49-F238E27FC236}">
                <a16:creationId xmlns:a16="http://schemas.microsoft.com/office/drawing/2014/main" id="{021EBBB3-E8D6-A883-4081-72409664F3A2}"/>
              </a:ext>
            </a:extLst>
          </p:cNvPr>
          <p:cNvSpPr/>
          <p:nvPr/>
        </p:nvSpPr>
        <p:spPr>
          <a:xfrm>
            <a:off x="449264" y="5224403"/>
            <a:ext cx="3816000" cy="186218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中間報酬</a:t>
            </a:r>
            <a:r>
              <a:rPr kumimoji="1" lang="en-US" altLang="ja-JP" sz="1800" spc="110" baseline="30000" dirty="0">
                <a:solidFill>
                  <a:schemeClr val="tx1"/>
                </a:solidFill>
                <a:latin typeface="+mj-ea"/>
                <a:ea typeface="+mj-ea"/>
              </a:rPr>
              <a:t>※1</a:t>
            </a:r>
            <a:r>
              <a:rPr kumimoji="1" lang="ja-JP" altLang="en-US" sz="1800" b="1" spc="110" dirty="0">
                <a:solidFill>
                  <a:schemeClr val="tx1"/>
                </a:solidFill>
                <a:latin typeface="+mj-ea"/>
                <a:ea typeface="+mj-ea"/>
              </a:rPr>
              <a:t>の算定方法</a:t>
            </a:r>
          </a:p>
        </p:txBody>
      </p:sp>
      <p:sp>
        <p:nvSpPr>
          <p:cNvPr id="5" name="正方形/長方形 4">
            <a:extLst>
              <a:ext uri="{FF2B5EF4-FFF2-40B4-BE49-F238E27FC236}">
                <a16:creationId xmlns:a16="http://schemas.microsoft.com/office/drawing/2014/main" id="{0A844F69-2E35-9611-A4E1-15256E6FA8E2}"/>
              </a:ext>
            </a:extLst>
          </p:cNvPr>
          <p:cNvSpPr/>
          <p:nvPr/>
        </p:nvSpPr>
        <p:spPr>
          <a:xfrm>
            <a:off x="615951" y="5812442"/>
            <a:ext cx="3482623" cy="916330"/>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成功報酬の</a:t>
            </a:r>
            <a:r>
              <a:rPr kumimoji="1" lang="en-US" altLang="ja-JP" sz="1600" b="1" spc="30" dirty="0">
                <a:solidFill>
                  <a:schemeClr val="tx1"/>
                </a:solidFill>
                <a:latin typeface="+mj-ea"/>
                <a:ea typeface="+mj-ea"/>
              </a:rPr>
              <a:t>10</a:t>
            </a:r>
            <a:r>
              <a:rPr kumimoji="1" lang="ja-JP" altLang="en-US" sz="1600" b="1" spc="30" dirty="0">
                <a:solidFill>
                  <a:schemeClr val="tx1"/>
                </a:solidFill>
                <a:latin typeface="+mj-ea"/>
                <a:ea typeface="+mj-ea"/>
              </a:rPr>
              <a:t>％</a:t>
            </a:r>
            <a:endParaRPr kumimoji="1" lang="en-US" altLang="ja-JP" sz="1600" b="1" spc="30" dirty="0">
              <a:solidFill>
                <a:schemeClr val="tx1"/>
              </a:solidFill>
              <a:latin typeface="+mj-ea"/>
              <a:ea typeface="+mj-ea"/>
            </a:endParaRPr>
          </a:p>
          <a:p>
            <a:pPr algn="ctr">
              <a:lnSpc>
                <a:spcPct val="120000"/>
              </a:lnSpc>
            </a:pPr>
            <a:r>
              <a:rPr kumimoji="1" lang="ja-JP" altLang="en-US" sz="1200" b="1" spc="30" dirty="0">
                <a:solidFill>
                  <a:schemeClr val="tx1"/>
                </a:solidFill>
                <a:latin typeface="+mj-ea"/>
                <a:ea typeface="+mj-ea"/>
              </a:rPr>
              <a:t>（但し最低額は</a:t>
            </a:r>
            <a:r>
              <a:rPr kumimoji="1" lang="en-US" altLang="ja-JP" sz="1200" b="1" spc="30" dirty="0">
                <a:solidFill>
                  <a:schemeClr val="tx1"/>
                </a:solidFill>
                <a:latin typeface="+mj-ea"/>
                <a:ea typeface="+mj-ea"/>
              </a:rPr>
              <a:t>300</a:t>
            </a:r>
            <a:r>
              <a:rPr kumimoji="1" lang="ja-JP" altLang="en-US" sz="1200" b="1" spc="30" dirty="0">
                <a:solidFill>
                  <a:schemeClr val="tx1"/>
                </a:solidFill>
                <a:latin typeface="+mj-ea"/>
                <a:ea typeface="+mj-ea"/>
              </a:rPr>
              <a:t>万円とします）</a:t>
            </a:r>
          </a:p>
        </p:txBody>
      </p:sp>
      <p:sp>
        <p:nvSpPr>
          <p:cNvPr id="8" name="正方形/長方形 7">
            <a:extLst>
              <a:ext uri="{FF2B5EF4-FFF2-40B4-BE49-F238E27FC236}">
                <a16:creationId xmlns:a16="http://schemas.microsoft.com/office/drawing/2014/main" id="{6EED8059-D8E2-0DAF-A350-928100484E14}"/>
              </a:ext>
            </a:extLst>
          </p:cNvPr>
          <p:cNvSpPr/>
          <p:nvPr/>
        </p:nvSpPr>
        <p:spPr>
          <a:xfrm>
            <a:off x="615951" y="6812925"/>
            <a:ext cx="3135474" cy="1299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※1</a:t>
            </a:r>
            <a:r>
              <a:rPr lang="ja-JP" altLang="en-US" sz="800" dirty="0">
                <a:solidFill>
                  <a:schemeClr val="tx1"/>
                </a:solidFill>
                <a:latin typeface="+mn-ea"/>
              </a:rPr>
              <a:t>　中間報酬は成約した場合、成功報酬に含め、充当いたします。</a:t>
            </a:r>
          </a:p>
        </p:txBody>
      </p:sp>
    </p:spTree>
    <p:extLst>
      <p:ext uri="{BB962C8B-B14F-4D97-AF65-F5344CB8AC3E}">
        <p14:creationId xmlns:p14="http://schemas.microsoft.com/office/powerpoint/2010/main" val="2577499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7717</TotalTime>
  <Words>3079</Words>
  <Application>Microsoft Office PowerPoint</Application>
  <PresentationFormat>ユーザー設定</PresentationFormat>
  <Paragraphs>384</Paragraphs>
  <Slides>36</Slides>
  <Notes>30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36</vt:i4>
      </vt:variant>
    </vt:vector>
  </HeadingPairs>
  <TitlesOfParts>
    <vt:vector size="40" baseType="lpstr">
      <vt:lpstr>游ゴシック</vt:lpstr>
      <vt:lpstr>Arial</vt:lpstr>
      <vt:lpstr>Wingdings</vt:lpstr>
      <vt:lpstr>SL_2026</vt:lpstr>
      <vt:lpstr>企業概要書 &lt;●●業/●●地区&gt;　</vt:lpstr>
      <vt:lpstr>はじめに</vt:lpstr>
      <vt:lpstr>PowerPoint プレゼンテーション</vt:lpstr>
      <vt:lpstr>エグゼクティブサマリー</vt:lpstr>
      <vt:lpstr>基本情報</vt:lpstr>
      <vt:lpstr>財務ハイライト（P/L）</vt:lpstr>
      <vt:lpstr>財務ハイライト（B/S）</vt:lpstr>
      <vt:lpstr>譲渡希望条件</vt:lpstr>
      <vt:lpstr>事業概要</vt:lpstr>
      <vt:lpstr>事業内容</vt:lpstr>
      <vt:lpstr>サービス概要、製品一例、工事実績、など</vt:lpstr>
      <vt:lpstr>特徴、強み、成長性等</vt:lpstr>
      <vt:lpstr>●●別売上高</vt:lpstr>
      <vt:lpstr>仕入先別取引高</vt:lpstr>
      <vt:lpstr>外注費</vt:lpstr>
      <vt:lpstr>組織、拠点、設備等</vt:lpstr>
      <vt:lpstr>組織図</vt:lpstr>
      <vt:lpstr>株主及び役員</vt:lpstr>
      <vt:lpstr>従業員</vt:lpstr>
      <vt:lpstr>拠点概要（本社）</vt:lpstr>
      <vt:lpstr>拠点概要（●●工場）</vt:lpstr>
      <vt:lpstr>不動産詳細</vt:lpstr>
      <vt:lpstr>保有設備一覧</vt:lpstr>
      <vt:lpstr>財務情報詳細</vt:lpstr>
      <vt:lpstr>貸借対照表</vt:lpstr>
      <vt:lpstr>損益計算書</vt:lpstr>
      <vt:lpstr>製造原価報告書</vt:lpstr>
      <vt:lpstr>販売費及び一般管理費</vt:lpstr>
      <vt:lpstr>Appendix</vt:lpstr>
      <vt:lpstr>沿革</vt:lpstr>
      <vt:lpstr>代表者経歴</vt:lpstr>
      <vt:lpstr>事業計画</vt:lpstr>
      <vt:lpstr>今期予算</vt:lpstr>
      <vt:lpstr>その他補足情報</vt:lpstr>
      <vt:lpstr>報酬体系</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宮本 健</dc:creator>
  <cp:lastModifiedBy>越智 真也</cp:lastModifiedBy>
  <cp:revision>176</cp:revision>
  <cp:lastPrinted>2025-10-23T01:12:16Z</cp:lastPrinted>
  <dcterms:created xsi:type="dcterms:W3CDTF">2022-11-09T11:25:01Z</dcterms:created>
  <dcterms:modified xsi:type="dcterms:W3CDTF">2026-02-10T11:59:22Z</dcterms:modified>
</cp:coreProperties>
</file>