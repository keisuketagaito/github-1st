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media/image7.svg" ContentType="image/svg+xml"/>
  <Override PartName="/ppt/media/image9.svg" ContentType="image/svg+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trictFirstAndLastChars="0" saveSubsetFonts="1" autoCompressPictures="0">
  <p:sldMasterIdLst>
    <p:sldMasterId id="2147483653" r:id="rId1"/>
  </p:sldMasterIdLst>
  <p:notesMasterIdLst>
    <p:notesMasterId r:id="rId38"/>
  </p:notesMasterIdLst>
  <p:sldIdLst>
    <p:sldId id="770" r:id="rId2"/>
    <p:sldId id="269" r:id="rId3"/>
    <p:sldId id="693" r:id="rId4"/>
    <p:sldId id="749" r:id="rId5"/>
    <p:sldId id="748" r:id="rId6"/>
    <p:sldId id="799" r:id="rId33"/>
    <p:sldId id="774" r:id="rId7"/>
    <p:sldId id="775" r:id="rId8"/>
    <p:sldId id="266" r:id="rId9"/>
    <p:sldId id="772" r:id="rId10"/>
    <p:sldId id="776" r:id="rId11"/>
    <p:sldId id="798" r:id="rId12"/>
    <p:sldId id="800" r:id="rId34"/>
    <p:sldId id="796" r:id="rId13"/>
    <p:sldId id="792" r:id="rId14"/>
    <p:sldId id="779" r:id="rId15"/>
    <p:sldId id="797" r:id="rId16"/>
    <p:sldId id="771" r:id="rId17"/>
    <p:sldId id="780" r:id="rId18"/>
    <p:sldId id="789" r:id="rId19"/>
    <p:sldId id="781" r:id="rId20"/>
    <p:sldId id="790" r:id="rId21"/>
    <p:sldId id="793" r:id="rId22"/>
    <p:sldId id="791" r:id="rId23"/>
    <p:sldId id="795" r:id="rId24"/>
    <p:sldId id="773" r:id="rId25"/>
    <p:sldId id="784" r:id="rId26"/>
    <p:sldId id="785" r:id="rId27"/>
    <p:sldId id="787" r:id="rId29"/>
    <p:sldId id="782" r:id="rId30"/>
    <p:sldId id="783" r:id="rId31"/>
    <p:sldId id="788" r:id="rId35"/>
    <p:sldId id="801" r:id="rId36"/>
    <p:sldId id="277" r:id="rId37"/>
  </p:sldIdLst>
  <p:sldSz cx="10691813" cy="7559675"/>
  <p:notesSz cx="9939338" cy="14368463"/>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既定のセクション" id="{F15EE332-85E8-464E-BD9B-6722D42356EC}">
          <p14:sldIdLst>
            <p14:sldId id="770"/>
            <p14:sldId id="269"/>
            <p14:sldId id="693"/>
            <p14:sldId id="749"/>
            <p14:sldId id="748"/>
            <p14:sldId id="774"/>
            <p14:sldId id="775"/>
            <p14:sldId id="266"/>
            <p14:sldId id="772"/>
            <p14:sldId id="776"/>
            <p14:sldId id="798"/>
            <p14:sldId id="796"/>
            <p14:sldId id="792"/>
            <p14:sldId id="779"/>
            <p14:sldId id="797"/>
            <p14:sldId id="771"/>
            <p14:sldId id="780"/>
            <p14:sldId id="789"/>
            <p14:sldId id="781"/>
            <p14:sldId id="790"/>
            <p14:sldId id="793"/>
            <p14:sldId id="791"/>
            <p14:sldId id="795"/>
            <p14:sldId id="773"/>
            <p14:sldId id="784"/>
            <p14:sldId id="785"/>
            <p14:sldId id="786"/>
            <p14:sldId id="787"/>
            <p14:sldId id="782"/>
            <p14:sldId id="783"/>
            <p14:sldId id="794"/>
            <p14:sldId id="799"/>
            <p14:sldId id="800"/>
            <p14:sldId id="788"/>
            <p14:sldId id="801"/>
            <p14:sldId id="277"/>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4526" userDrawn="1">
          <p15:clr>
            <a:srgbClr val="A4A3A4"/>
          </p15:clr>
        </p15:guide>
        <p15:guide id="2" pos="3131" userDrawn="1">
          <p15:clr>
            <a:srgbClr val="A4A3A4"/>
          </p15:clr>
        </p15:guide>
      </p15:notes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2" roundtripDataSignature="AMtx7miHo5eoGHrZPWeT5AyeZZ6LkEE/Y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889C9"/>
    <a:srgbClr val="006AB1"/>
    <a:srgbClr val="0B3041"/>
    <a:srgbClr val="54CCB3"/>
    <a:srgbClr val="E1F2FB"/>
    <a:srgbClr val="E3E7E9"/>
    <a:srgbClr val="727F8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E9FEF8D-0F9E-4D7E-9A0F-5DDE6A6739AB}">
  <a:tblStyle styleId="{2E9FEF8D-0F9E-4D7E-9A0F-5DDE6A6739AB}" styleName="Table_0">
    <a:wholeTbl>
      <a:tcTxStyle b="off" i="off">
        <a:font>
          <a:latin typeface="游ゴシック"/>
          <a:ea typeface="游ゴシック"/>
          <a:cs typeface="游ゴシック"/>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FF7"/>
          </a:solidFill>
        </a:fill>
      </a:tcStyle>
    </a:wholeTbl>
    <a:band1H>
      <a:tcTxStyle/>
      <a:tcStyle>
        <a:tcBdr/>
        <a:fill>
          <a:solidFill>
            <a:srgbClr val="D0DEEF"/>
          </a:solidFill>
        </a:fill>
      </a:tcStyle>
    </a:band1H>
    <a:band2H>
      <a:tcTxStyle/>
      <a:tcStyle>
        <a:tcBdr/>
      </a:tcStyle>
    </a:band2H>
    <a:band1V>
      <a:tcTxStyle/>
      <a:tcStyle>
        <a:tcBdr/>
        <a:fill>
          <a:solidFill>
            <a:srgbClr val="D0DEEF"/>
          </a:solidFill>
        </a:fill>
      </a:tcStyle>
    </a:band1V>
    <a:band2V>
      <a:tcTxStyle/>
      <a:tcStyle>
        <a:tcBdr/>
      </a:tcStyle>
    </a:band2V>
    <a:lastCol>
      <a:tcTxStyle b="on" i="off">
        <a:font>
          <a:latin typeface="游ゴシック"/>
          <a:ea typeface="游ゴシック"/>
          <a:cs typeface="游ゴシック"/>
        </a:font>
        <a:schemeClr val="lt1"/>
      </a:tcTxStyle>
      <a:tcStyle>
        <a:tcBdr/>
        <a:fill>
          <a:solidFill>
            <a:schemeClr val="accent5"/>
          </a:solidFill>
        </a:fill>
      </a:tcStyle>
    </a:lastCol>
    <a:firstCol>
      <a:tcTxStyle b="on" i="off">
        <a:font>
          <a:latin typeface="游ゴシック"/>
          <a:ea typeface="游ゴシック"/>
          <a:cs typeface="游ゴシック"/>
        </a:font>
        <a:schemeClr val="lt1"/>
      </a:tcTxStyle>
      <a:tcStyle>
        <a:tcBdr/>
        <a:fill>
          <a:solidFill>
            <a:schemeClr val="accent5"/>
          </a:solidFill>
        </a:fill>
      </a:tcStyle>
    </a:firstCol>
    <a:lastRow>
      <a:tcTxStyle b="on" i="off">
        <a:font>
          <a:latin typeface="游ゴシック"/>
          <a:ea typeface="游ゴシック"/>
          <a:cs typeface="游ゴシック"/>
        </a:font>
        <a:schemeClr val="lt1"/>
      </a:tcTxStyle>
      <a:tcStyle>
        <a:tcBdr>
          <a:top>
            <a:ln w="38100" cap="flat" cmpd="sng">
              <a:solidFill>
                <a:schemeClr val="lt1"/>
              </a:solidFill>
              <a:prstDash val="solid"/>
              <a:round/>
              <a:headEnd type="none" w="sm" len="sm"/>
              <a:tailEnd type="none" w="sm" len="sm"/>
            </a:ln>
          </a:top>
        </a:tcBdr>
        <a:fill>
          <a:solidFill>
            <a:schemeClr val="accent5"/>
          </a:solidFill>
        </a:fill>
      </a:tcStyle>
    </a:lastRow>
    <a:seCell>
      <a:tcTxStyle/>
      <a:tcStyle>
        <a:tcBdr/>
      </a:tcStyle>
    </a:seCell>
    <a:swCell>
      <a:tcTxStyle/>
      <a:tcStyle>
        <a:tcBdr/>
      </a:tcStyle>
    </a:swCell>
    <a:firstRow>
      <a:tcTxStyle b="on" i="off">
        <a:font>
          <a:latin typeface="游ゴシック"/>
          <a:ea typeface="游ゴシック"/>
          <a:cs typeface="游ゴシック"/>
        </a:font>
        <a:schemeClr val="lt1"/>
      </a:tcTxStyle>
      <a:tcStyle>
        <a:tcBdr>
          <a:bottom>
            <a:ln w="38100" cap="flat" cmpd="sng">
              <a:solidFill>
                <a:schemeClr val="lt1"/>
              </a:solidFill>
              <a:prstDash val="solid"/>
              <a:round/>
              <a:headEnd type="none" w="sm" len="sm"/>
              <a:tailEnd type="none" w="sm" len="sm"/>
            </a:ln>
          </a:bottom>
        </a:tcBdr>
        <a:fill>
          <a:solidFill>
            <a:schemeClr val="accent5"/>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snapToGrid="0">
      <p:cViewPr varScale="1">
        <p:scale>
          <a:sx n="87" d="100"/>
          <a:sy n="87" d="100"/>
        </p:scale>
        <p:origin x="907" y="58"/>
      </p:cViewPr>
      <p:guideLst/>
    </p:cSldViewPr>
  </p:slid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100" d="100"/>
          <a:sy n="100" d="100"/>
        </p:scale>
        <p:origin x="0" y="0"/>
      </p:cViewPr>
      <p:guideLst>
        <p:guide orient="horz" pos="4526"/>
        <p:guide pos="3131"/>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42" Type="http://customschemas.google.com/relationships/presentationmetadata" Target="metadata"/><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900" b="1">
                <a:solidFill>
                  <a:srgbClr val="0B3041"/>
                </a:solidFill>
                <a:latin typeface="游ゴシック"/>
                <a:ea typeface="游ゴシック"/>
              </a:rPr>
              <a:t>月別売上高（百万円）</a:t>
            </a:r>
          </a:p>
        </c:rich>
      </c:tx>
      <c:layout/>
      <c:overlay val="0"/>
    </c:title>
    <c:autoTitleDeleted val="0"/>
    <c:plotArea>
      <c:barChart>
        <c:barDir val="col"/>
        <c:grouping val="clustered"/>
        <c:ser>
          <c:idx val="0"/>
          <c:order val="0"/>
          <c:tx>
            <c:strRef>
              <c:f>Sheet1!$B$1</c:f>
              <c:strCache>
                <c:ptCount val="1"/>
                <c:pt idx="0">
                  <c:v>売上高</c:v>
                </c:pt>
              </c:strCache>
            </c:strRef>
          </c:tx>
          <c:spPr>
            <a:solidFill>
              <a:srgbClr val="0B3041"/>
            </a:solidFill>
          </c:spPr>
          <c:invertIfNegative val="0"/>
          <c:cat>
            <c:strRef>
              <c:f>Sheet1!$A$2:$A$13</c:f>
              <c:strCache>
                <c:ptCount val="12"/>
                <c:pt idx="0">
                  <c:v>4月</c:v>
                </c:pt>
                <c:pt idx="1">
                  <c:v>5月</c:v>
                </c:pt>
                <c:pt idx="2">
                  <c:v>6月</c:v>
                </c:pt>
                <c:pt idx="3">
                  <c:v>7月</c:v>
                </c:pt>
                <c:pt idx="4">
                  <c:v>8月</c:v>
                </c:pt>
                <c:pt idx="5">
                  <c:v>9月</c:v>
                </c:pt>
                <c:pt idx="6">
                  <c:v>10月</c:v>
                </c:pt>
                <c:pt idx="7">
                  <c:v>11月</c:v>
                </c:pt>
                <c:pt idx="8">
                  <c:v>12月</c:v>
                </c:pt>
                <c:pt idx="9">
                  <c:v>1月</c:v>
                </c:pt>
                <c:pt idx="10">
                  <c:v>2月</c:v>
                </c:pt>
                <c:pt idx="11">
                  <c:v>3月</c:v>
                </c:pt>
              </c:strCache>
            </c:strRef>
          </c:cat>
          <c:val>
            <c:numRef>
              <c:f>Sheet1!$B$2:$B$13</c:f>
              <c:numCache>
                <c:formatCode>General</c:formatCode>
                <c:ptCount val="12"/>
                <c:pt idx="0">
                  <c:v>88</c:v>
                </c:pt>
                <c:pt idx="1">
                  <c:v>102</c:v>
                </c:pt>
                <c:pt idx="2">
                  <c:v>84</c:v>
                </c:pt>
                <c:pt idx="3">
                  <c:v>146</c:v>
                </c:pt>
                <c:pt idx="4">
                  <c:v>138</c:v>
                </c:pt>
                <c:pt idx="5">
                  <c:v>110</c:v>
                </c:pt>
                <c:pt idx="6">
                  <c:v>106</c:v>
                </c:pt>
                <c:pt idx="7">
                  <c:v>101</c:v>
                </c:pt>
                <c:pt idx="8">
                  <c:v>98</c:v>
                </c:pt>
                <c:pt idx="9">
                  <c:v>70</c:v>
                </c:pt>
                <c:pt idx="10">
                  <c:v>69</c:v>
                </c:pt>
                <c:pt idx="11">
                  <c:v>84</c:v>
                </c:pt>
              </c:numCache>
            </c:numRef>
          </c:val>
        </c:ser>
        <c:dLbls>
          <c:numFmt formatCode="#,##0" sourceLinked="0"/>
          <c:txPr>
            <a:bodyPr/>
            <a:lstStyle/>
            <a:p>
              <a:pPr>
                <a:defRPr sz="800">
                  <a:solidFill>
                    <a:srgbClr val="333333"/>
                  </a:solidFill>
                  <a:latin typeface="Arial"/>
                </a:defRPr>
              </a:pPr>
            </a:p>
          </c:txPr>
          <c:dLblPos val="outEnd"/>
          <c:showLegendKey val="0"/>
          <c:showVal val="1"/>
          <c:showCatName val="0"/>
          <c:showSerName val="0"/>
          <c:showPercent val="0"/>
          <c:showBubbleSize val="0"/>
          <c:showLeaderLines val="1"/>
        </c:dLbls>
        <c:gapWidth val="60"/>
        <c:overlap val="-8"/>
        <c:axId val="-2068027336"/>
        <c:axId val="-2113994440"/>
      </c:barChart>
      <c:catAx>
        <c:axId val="-2068027336"/>
        <c:scaling>
          <c:orientation val="minMax"/>
        </c:scaling>
        <c:delete val="0"/>
        <c:axPos val="b"/>
        <c:majorTickMark val="out"/>
        <c:minorTickMark val="none"/>
        <c:tickLblPos val="low"/>
        <c:spPr>
          <a:ln>
            <a:solidFill>
              <a:srgbClr val="5A6670"/>
            </a:solidFill>
          </a:ln>
        </c:spPr>
        <c:txPr>
          <a:bodyPr/>
          <a:lstStyle/>
          <a:p>
            <a:pPr>
              <a:defRPr sz="800">
                <a:latin typeface="游ゴシック"/>
              </a:defRPr>
            </a:pPr>
          </a:p>
        </c:txPr>
        <c:crossAx val="-2113994440"/>
        <c:crosses val="autoZero"/>
        <c:auto val="1"/>
        <c:lblAlgn val="ctr"/>
        <c:lblOffset val="100"/>
        <c:noMultiLvlLbl val="0"/>
      </c:catAx>
      <c:valAx>
        <c:axId val="-2113994440"/>
        <c:scaling/>
        <c:delete val="0"/>
        <c:axPos val="l"/>
        <c:majorGridlines>
          <c:spPr>
            <a:ln>
              <a:solidFill>
                <a:srgbClr val="E3E7E9"/>
              </a:solidFill>
            </a:ln>
          </c:spPr>
        </c:majorGridlines>
        <c:numFmt formatCode="#,##0" sourceLinked="0"/>
        <c:majorTickMark val="out"/>
        <c:minorTickMark val="none"/>
        <c:tickLblPos val="nextTo"/>
        <c:spPr>
          <a:ln>
            <a:noFill/>
          </a:ln>
        </c:spPr>
        <c:txPr>
          <a:bodyPr/>
          <a:lstStyle/>
          <a:p>
            <a:pPr>
              <a:defRPr sz="800">
                <a:solidFill>
                  <a:srgbClr val="5A6670"/>
                </a:solidFill>
                <a:latin typeface="Arial"/>
              </a:defRPr>
            </a:pPr>
          </a:p>
        </c:txPr>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5" y="4"/>
            <a:ext cx="4306676" cy="719872"/>
          </a:xfrm>
          <a:prstGeom prst="rect">
            <a:avLst/>
          </a:prstGeom>
          <a:noFill/>
          <a:ln>
            <a:noFill/>
          </a:ln>
        </p:spPr>
        <p:txBody>
          <a:bodyPr spcFirstLastPara="1" wrap="square" lIns="128134" tIns="64050" rIns="128134" bIns="64050" anchor="t" anchorCtr="0">
            <a:noAutofit/>
          </a:bodyPr>
          <a:lstStyle>
            <a:lvl1pPr marR="0" lvl="0" algn="l" rtl="0">
              <a:spcBef>
                <a:spcPts val="0"/>
              </a:spcBef>
              <a:spcAft>
                <a:spcPts val="0"/>
              </a:spcAft>
              <a:buSzPts val="1400"/>
              <a:buNone/>
              <a:defRPr sz="17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25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25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25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25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25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25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25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25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5630444" y="4"/>
            <a:ext cx="4306675" cy="719872"/>
          </a:xfrm>
          <a:prstGeom prst="rect">
            <a:avLst/>
          </a:prstGeom>
          <a:noFill/>
          <a:ln>
            <a:noFill/>
          </a:ln>
        </p:spPr>
        <p:txBody>
          <a:bodyPr spcFirstLastPara="1" wrap="square" lIns="128134" tIns="64050" rIns="128134" bIns="64050" anchor="t" anchorCtr="0">
            <a:noAutofit/>
          </a:bodyPr>
          <a:lstStyle>
            <a:lvl1pPr marR="0" lvl="0" algn="r" rtl="0">
              <a:spcBef>
                <a:spcPts val="0"/>
              </a:spcBef>
              <a:spcAft>
                <a:spcPts val="0"/>
              </a:spcAft>
              <a:buSzPts val="1400"/>
              <a:buNone/>
              <a:defRPr sz="17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25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25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25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25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25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25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25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25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543050" y="1797050"/>
            <a:ext cx="6856413" cy="48498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995044" y="6915677"/>
            <a:ext cx="7951470" cy="5656454"/>
          </a:xfrm>
          <a:prstGeom prst="rect">
            <a:avLst/>
          </a:prstGeom>
          <a:noFill/>
          <a:ln>
            <a:noFill/>
          </a:ln>
        </p:spPr>
        <p:txBody>
          <a:bodyPr spcFirstLastPara="1" wrap="square" lIns="128134" tIns="64050" rIns="128134" bIns="6405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5" y="13648596"/>
            <a:ext cx="4306676" cy="719872"/>
          </a:xfrm>
          <a:prstGeom prst="rect">
            <a:avLst/>
          </a:prstGeom>
          <a:noFill/>
          <a:ln>
            <a:noFill/>
          </a:ln>
        </p:spPr>
        <p:txBody>
          <a:bodyPr spcFirstLastPara="1" wrap="square" lIns="128134" tIns="64050" rIns="128134" bIns="64050" anchor="b" anchorCtr="0">
            <a:noAutofit/>
          </a:bodyPr>
          <a:lstStyle>
            <a:lvl1pPr marR="0" lvl="0" algn="l" rtl="0">
              <a:spcBef>
                <a:spcPts val="0"/>
              </a:spcBef>
              <a:spcAft>
                <a:spcPts val="0"/>
              </a:spcAft>
              <a:buSzPts val="1400"/>
              <a:buNone/>
              <a:defRPr sz="17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25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25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25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25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25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25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25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25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5630444" y="13648596"/>
            <a:ext cx="4306675" cy="719872"/>
          </a:xfrm>
          <a:prstGeom prst="rect">
            <a:avLst/>
          </a:prstGeom>
          <a:noFill/>
          <a:ln>
            <a:noFill/>
          </a:ln>
        </p:spPr>
        <p:txBody>
          <a:bodyPr spcFirstLastPara="1" wrap="square" lIns="128134" tIns="64050" rIns="128134" bIns="64050" anchor="b" anchorCtr="0">
            <a:noAutofit/>
          </a:bodyPr>
          <a:lstStyle/>
          <a:p>
            <a:pPr algn="r"/>
            <a:fld id="{00000000-1234-1234-1234-123412341234}" type="slidenum">
              <a:rPr lang="en-US" altLang="ja-JP" sz="1700" smtClean="0">
                <a:solidFill>
                  <a:schemeClr val="dk1"/>
                </a:solidFill>
              </a:rPr>
              <a:pPr algn="r"/>
              <a:t>‹#›</a:t>
            </a:fld>
            <a:endParaRPr lang="en-US" sz="1700">
              <a:solidFill>
                <a:schemeClr val="dk1"/>
              </a:solidFil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872A68-D8F2-B22E-7BFA-83527B74627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8067325-FBD2-0A2C-AAB1-F7B579EB568F}"/>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7CC41CC2-90D7-5CB1-F482-54299D366ABB}"/>
              </a:ext>
            </a:extLst>
          </p:cNvPr>
          <p:cNvSpPr>
            <a:spLocks noGrp="1"/>
          </p:cNvSpPr>
          <p:nvPr>
            <p:ph type="body" idx="1"/>
          </p:nvPr>
        </p:nvSpPr>
        <p:spPr/>
        <p:txBody>
          <a:bodyPr/>
          <a:lstStyle/>
          <a:p>
            <a:endParaRPr lang="ja-JP" altLang="en-US" dirty="0"/>
          </a:p>
        </p:txBody>
      </p:sp>
      <p:sp>
        <p:nvSpPr>
          <p:cNvPr id="4" name="スライド番号プレースホルダー 3">
            <a:extLst>
              <a:ext uri="{FF2B5EF4-FFF2-40B4-BE49-F238E27FC236}">
                <a16:creationId xmlns:a16="http://schemas.microsoft.com/office/drawing/2014/main" id="{6D654142-6A85-EA5B-5409-B0B81E07C5DC}"/>
              </a:ext>
            </a:extLst>
          </p:cNvPr>
          <p:cNvSpPr>
            <a:spLocks noGrp="1"/>
          </p:cNvSpPr>
          <p:nvPr>
            <p:ph type="sldNum" sz="quarter" idx="5"/>
          </p:nvPr>
        </p:nvSpPr>
        <p:spPr/>
        <p:txBody>
          <a:bodyPr/>
          <a:lstStyle/>
          <a:p>
            <a:fld id="{30FF3BCC-1A43-4D25-8467-E40EF431E2F1}" type="slidenum">
              <a:rPr kumimoji="1" lang="ja-JP" altLang="en-US" smtClean="0"/>
              <a:t>0</a:t>
            </a:fld>
            <a:endParaRPr kumimoji="1" lang="ja-JP" altLang="en-US"/>
          </a:p>
        </p:txBody>
      </p:sp>
    </p:spTree>
    <p:extLst>
      <p:ext uri="{BB962C8B-B14F-4D97-AF65-F5344CB8AC3E}">
        <p14:creationId xmlns:p14="http://schemas.microsoft.com/office/powerpoint/2010/main" val="23596415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247775" y="1143000"/>
            <a:ext cx="4362450" cy="3086100"/>
          </a:xfrm>
        </p:spPr>
      </p:sp>
      <p:sp>
        <p:nvSpPr>
          <p:cNvPr id="3" name="ノート プレースホルダー 2"/>
          <p:cNvSpPr>
            <a:spLocks noGrp="1"/>
          </p:cNvSpPr>
          <p:nvPr>
            <p:ph type="body" idx="1"/>
          </p:nvPr>
        </p:nvSpPr>
        <p:spPr/>
        <p:txBody>
          <a:bodyPr/>
          <a:lstStyle/>
          <a:p>
            <a:endParaRPr lang="ja-JP" altLang="en-US" dirty="0"/>
          </a:p>
        </p:txBody>
      </p:sp>
      <p:sp>
        <p:nvSpPr>
          <p:cNvPr id="4" name="スライド番号プレースホルダー 3"/>
          <p:cNvSpPr>
            <a:spLocks noGrp="1"/>
          </p:cNvSpPr>
          <p:nvPr>
            <p:ph type="sldNum" sz="quarter" idx="5"/>
          </p:nvPr>
        </p:nvSpPr>
        <p:spPr/>
        <p:txBody>
          <a:bodyPr/>
          <a:lstStyle/>
          <a:p>
            <a:fld id="{CCD08276-B047-45AB-869B-6FEE4FD0AA7E}" type="slidenum">
              <a:rPr kumimoji="1" lang="ja-JP" altLang="en-US" smtClean="0"/>
              <a:t>1</a:t>
            </a:fld>
            <a:endParaRPr kumimoji="1" lang="ja-JP" altLang="en-US"/>
          </a:p>
        </p:txBody>
      </p:sp>
    </p:spTree>
    <p:extLst>
      <p:ext uri="{BB962C8B-B14F-4D97-AF65-F5344CB8AC3E}">
        <p14:creationId xmlns:p14="http://schemas.microsoft.com/office/powerpoint/2010/main" val="36371673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2:notes"/>
          <p:cNvSpPr>
            <a:spLocks noGrp="1" noRot="1" noChangeAspect="1"/>
          </p:cNvSpPr>
          <p:nvPr>
            <p:ph type="sldImg" idx="2"/>
          </p:nvPr>
        </p:nvSpPr>
        <p:spPr>
          <a:xfrm>
            <a:off x="1038225" y="1244600"/>
            <a:ext cx="4745038" cy="3355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6" name="Google Shape;256;p2:notes"/>
          <p:cNvSpPr txBox="1">
            <a:spLocks noGrp="1"/>
          </p:cNvSpPr>
          <p:nvPr>
            <p:ph type="body" idx="1"/>
          </p:nvPr>
        </p:nvSpPr>
        <p:spPr>
          <a:xfrm>
            <a:off x="682755" y="4787722"/>
            <a:ext cx="5455939" cy="3915961"/>
          </a:xfrm>
          <a:prstGeom prst="rect">
            <a:avLst/>
          </a:prstGeom>
          <a:noFill/>
          <a:ln>
            <a:noFill/>
          </a:ln>
        </p:spPr>
        <p:txBody>
          <a:bodyPr spcFirstLastPara="1" wrap="square" lIns="88335" tIns="44169" rIns="88335" bIns="44169" anchor="t" anchorCtr="0">
            <a:noAutofit/>
          </a:bodyPr>
          <a:lstStyle/>
          <a:p>
            <a:endParaRPr dirty="0"/>
          </a:p>
        </p:txBody>
      </p:sp>
      <p:sp>
        <p:nvSpPr>
          <p:cNvPr id="257" name="Google Shape;257;p2:notes"/>
          <p:cNvSpPr txBox="1">
            <a:spLocks noGrp="1"/>
          </p:cNvSpPr>
          <p:nvPr>
            <p:ph type="sldNum" idx="12"/>
          </p:nvPr>
        </p:nvSpPr>
        <p:spPr>
          <a:xfrm>
            <a:off x="3863353" y="9448918"/>
            <a:ext cx="2955046" cy="498368"/>
          </a:xfrm>
          <a:prstGeom prst="rect">
            <a:avLst/>
          </a:prstGeom>
          <a:noFill/>
          <a:ln>
            <a:noFill/>
          </a:ln>
        </p:spPr>
        <p:txBody>
          <a:bodyPr spcFirstLastPara="1" wrap="square" lIns="88335" tIns="44169" rIns="88335" bIns="44169" anchor="b" anchorCtr="0">
            <a:noAutofit/>
          </a:bodyPr>
          <a:lstStyle/>
          <a:p>
            <a:pPr algn="r"/>
            <a:fld id="{00000000-1234-1234-1234-123412341234}" type="slidenum">
              <a:rPr lang="en-US" altLang="ja-JP"/>
              <a:pPr algn="r"/>
              <a:t>2</a:t>
            </a:fld>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033463" y="1243013"/>
            <a:ext cx="4740275" cy="3352800"/>
          </a:xfrm>
        </p:spPr>
      </p:sp>
      <p:sp>
        <p:nvSpPr>
          <p:cNvPr id="3" name="ノート プレースホルダー 2"/>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p:cNvSpPr>
            <a:spLocks noGrp="1"/>
          </p:cNvSpPr>
          <p:nvPr>
            <p:ph type="sldNum" sz="quarter" idx="5"/>
          </p:nvPr>
        </p:nvSpPr>
        <p:spPr/>
        <p:txBody>
          <a:bodyPr/>
          <a:lstStyle/>
          <a:p>
            <a:fld id="{30FF3BCC-1A43-4D25-8467-E40EF431E2F1}" type="slidenum">
              <a:rPr kumimoji="1" lang="ja-JP" altLang="en-US" smtClean="0"/>
              <a:t>4</a:t>
            </a:fld>
            <a:endParaRPr kumimoji="1" lang="ja-JP" altLang="en-US"/>
          </a:p>
        </p:txBody>
      </p:sp>
    </p:spTree>
    <p:extLst>
      <p:ext uri="{BB962C8B-B14F-4D97-AF65-F5344CB8AC3E}">
        <p14:creationId xmlns:p14="http://schemas.microsoft.com/office/powerpoint/2010/main" val="38172004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D25C8-440A-2828-878D-418A0792F61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F7C3FEA-F9FD-B7DB-149F-6EC1DBA88260}"/>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3A5BB81D-E86C-9959-31EE-7B30A06B6D52}"/>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80211B70-4BC5-9F81-584A-69CFC82BF433}"/>
              </a:ext>
            </a:extLst>
          </p:cNvPr>
          <p:cNvSpPr>
            <a:spLocks noGrp="1"/>
          </p:cNvSpPr>
          <p:nvPr>
            <p:ph type="sldNum" sz="quarter" idx="5"/>
          </p:nvPr>
        </p:nvSpPr>
        <p:spPr/>
        <p:txBody>
          <a:bodyPr/>
          <a:lstStyle/>
          <a:p>
            <a:fld id="{30FF3BCC-1A43-4D25-8467-E40EF431E2F1}" type="slidenum">
              <a:rPr kumimoji="1" lang="ja-JP" altLang="en-US" smtClean="0"/>
              <a:t>5</a:t>
            </a:fld>
            <a:endParaRPr kumimoji="1" lang="ja-JP" altLang="en-US"/>
          </a:p>
        </p:txBody>
      </p:sp>
    </p:spTree>
    <p:extLst>
      <p:ext uri="{BB962C8B-B14F-4D97-AF65-F5344CB8AC3E}">
        <p14:creationId xmlns:p14="http://schemas.microsoft.com/office/powerpoint/2010/main" val="7747491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DED554-B8EF-4A9F-7D23-DA7BEB53934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71CEDC1-16A4-E7E3-6D33-36595C1E076B}"/>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07542380-129E-8965-7EF1-2B0D19ED3CF4}"/>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C20D6D73-0F3C-EDF6-E562-BBF922D0AE83}"/>
              </a:ext>
            </a:extLst>
          </p:cNvPr>
          <p:cNvSpPr>
            <a:spLocks noGrp="1"/>
          </p:cNvSpPr>
          <p:nvPr>
            <p:ph type="sldNum" sz="quarter" idx="5"/>
          </p:nvPr>
        </p:nvSpPr>
        <p:spPr/>
        <p:txBody>
          <a:bodyPr/>
          <a:lstStyle/>
          <a:p>
            <a:fld id="{30FF3BCC-1A43-4D25-8467-E40EF431E2F1}" type="slidenum">
              <a:rPr kumimoji="1" lang="ja-JP" altLang="en-US" smtClean="0"/>
              <a:t>6</a:t>
            </a:fld>
            <a:endParaRPr kumimoji="1" lang="ja-JP" altLang="en-US"/>
          </a:p>
        </p:txBody>
      </p:sp>
    </p:spTree>
    <p:extLst>
      <p:ext uri="{BB962C8B-B14F-4D97-AF65-F5344CB8AC3E}">
        <p14:creationId xmlns:p14="http://schemas.microsoft.com/office/powerpoint/2010/main" val="1899608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p11:notes"/>
          <p:cNvSpPr>
            <a:spLocks noGrp="1" noRot="1" noChangeAspect="1"/>
          </p:cNvSpPr>
          <p:nvPr>
            <p:ph type="sldImg" idx="2"/>
          </p:nvPr>
        </p:nvSpPr>
        <p:spPr>
          <a:xfrm>
            <a:off x="1543050" y="1797050"/>
            <a:ext cx="6856413" cy="48498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7" name="Google Shape;267;p11:notes"/>
          <p:cNvSpPr txBox="1">
            <a:spLocks noGrp="1"/>
          </p:cNvSpPr>
          <p:nvPr>
            <p:ph type="body" idx="1"/>
          </p:nvPr>
        </p:nvSpPr>
        <p:spPr>
          <a:xfrm>
            <a:off x="995044" y="6915677"/>
            <a:ext cx="7951470" cy="5656454"/>
          </a:xfrm>
          <a:prstGeom prst="rect">
            <a:avLst/>
          </a:prstGeom>
          <a:noFill/>
          <a:ln>
            <a:noFill/>
          </a:ln>
        </p:spPr>
        <p:txBody>
          <a:bodyPr spcFirstLastPara="1" wrap="square" lIns="128134" tIns="64050" rIns="128134" bIns="64050" anchor="t" anchorCtr="0">
            <a:noAutofit/>
          </a:bodyPr>
          <a:lstStyle/>
          <a:p>
            <a:pPr marL="0" indent="0"/>
            <a:endParaRPr/>
          </a:p>
        </p:txBody>
      </p:sp>
      <p:sp>
        <p:nvSpPr>
          <p:cNvPr id="268" name="Google Shape;268;p11:notes"/>
          <p:cNvSpPr txBox="1">
            <a:spLocks noGrp="1"/>
          </p:cNvSpPr>
          <p:nvPr>
            <p:ph type="sldNum" idx="12"/>
          </p:nvPr>
        </p:nvSpPr>
        <p:spPr>
          <a:xfrm>
            <a:off x="5630444" y="13648596"/>
            <a:ext cx="4306675" cy="719872"/>
          </a:xfrm>
          <a:prstGeom prst="rect">
            <a:avLst/>
          </a:prstGeom>
          <a:noFill/>
          <a:ln>
            <a:noFill/>
          </a:ln>
        </p:spPr>
        <p:txBody>
          <a:bodyPr spcFirstLastPara="1" wrap="square" lIns="128134" tIns="64050" rIns="128134" bIns="64050" anchor="b" anchorCtr="0">
            <a:noAutofit/>
          </a:bodyPr>
          <a:lstStyle/>
          <a:p>
            <a:pPr algn="r"/>
            <a:fld id="{00000000-1234-1234-1234-123412341234}" type="slidenum">
              <a:rPr lang="en-US" altLang="ja-JP"/>
              <a:pPr algn="r"/>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9255F2-72AB-FF31-01FE-A6493B0F509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381C757-4FDD-ACE7-CF68-5819651248C1}"/>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C5EE625D-8D2D-C468-280D-551D9E317BF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0DF0B3B1-489B-7B8F-FCE9-8191D341F15C}"/>
              </a:ext>
            </a:extLst>
          </p:cNvPr>
          <p:cNvSpPr>
            <a:spLocks noGrp="1"/>
          </p:cNvSpPr>
          <p:nvPr>
            <p:ph type="sldNum" sz="quarter" idx="5"/>
          </p:nvPr>
        </p:nvSpPr>
        <p:spPr/>
        <p:txBody>
          <a:bodyPr/>
          <a:lstStyle/>
          <a:p>
            <a:fld id="{CAF5A409-FE33-4202-B69D-8515A6FDCE7E}" type="slidenum">
              <a:rPr kumimoji="1" lang="ja-JP" altLang="en-US" smtClean="0"/>
              <a:t>9</a:t>
            </a:fld>
            <a:endParaRPr kumimoji="1" lang="ja-JP" altLang="en-US"/>
          </a:p>
        </p:txBody>
      </p:sp>
    </p:spTree>
    <p:extLst>
      <p:ext uri="{BB962C8B-B14F-4D97-AF65-F5344CB8AC3E}">
        <p14:creationId xmlns:p14="http://schemas.microsoft.com/office/powerpoint/2010/main" val="1806618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1F2053-256C-05EB-FF6B-3E836DA88FD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EBE281C-3A22-F726-BA35-A4756E55EBE3}"/>
              </a:ext>
            </a:extLst>
          </p:cNvPr>
          <p:cNvSpPr>
            <a:spLocks noGrp="1" noRot="1" noChangeAspect="1"/>
          </p:cNvSpPr>
          <p:nvPr>
            <p:ph type="sldImg"/>
          </p:nvPr>
        </p:nvSpPr>
        <p:spPr>
          <a:xfrm>
            <a:off x="1247775" y="1143000"/>
            <a:ext cx="4362450" cy="3086100"/>
          </a:xfrm>
        </p:spPr>
      </p:sp>
      <p:sp>
        <p:nvSpPr>
          <p:cNvPr id="3" name="ノート プレースホルダー 2">
            <a:extLst>
              <a:ext uri="{FF2B5EF4-FFF2-40B4-BE49-F238E27FC236}">
                <a16:creationId xmlns:a16="http://schemas.microsoft.com/office/drawing/2014/main" id="{DB7B9342-8F57-66B0-B807-2488575A5459}"/>
              </a:ext>
            </a:extLst>
          </p:cNvPr>
          <p:cNvSpPr>
            <a:spLocks noGrp="1"/>
          </p:cNvSpPr>
          <p:nvPr>
            <p:ph type="body" idx="1"/>
          </p:nvPr>
        </p:nvSpPr>
        <p:spPr/>
        <p:txBody>
          <a:bodyPr/>
          <a:lstStyle/>
          <a:p>
            <a:endParaRPr lang="ja-JP" altLang="en-US" dirty="0"/>
          </a:p>
        </p:txBody>
      </p:sp>
      <p:sp>
        <p:nvSpPr>
          <p:cNvPr id="4" name="スライド番号プレースホルダー 3">
            <a:extLst>
              <a:ext uri="{FF2B5EF4-FFF2-40B4-BE49-F238E27FC236}">
                <a16:creationId xmlns:a16="http://schemas.microsoft.com/office/drawing/2014/main" id="{00245A20-27B3-F697-2291-87BE1C3A1772}"/>
              </a:ext>
            </a:extLst>
          </p:cNvPr>
          <p:cNvSpPr>
            <a:spLocks noGrp="1"/>
          </p:cNvSpPr>
          <p:nvPr>
            <p:ph type="sldNum" sz="quarter" idx="5"/>
          </p:nvPr>
        </p:nvSpPr>
        <p:spPr/>
        <p:txBody>
          <a:bodyPr/>
          <a:lstStyle/>
          <a:p>
            <a:fld id="{CCD08276-B047-45AB-869B-6FEE4FD0AA7E}" type="slidenum">
              <a:rPr kumimoji="1" lang="ja-JP" altLang="en-US" smtClean="0"/>
              <a:t>10</a:t>
            </a:fld>
            <a:endParaRPr kumimoji="1" lang="ja-JP" altLang="en-US"/>
          </a:p>
        </p:txBody>
      </p:sp>
    </p:spTree>
    <p:extLst>
      <p:ext uri="{BB962C8B-B14F-4D97-AF65-F5344CB8AC3E}">
        <p14:creationId xmlns:p14="http://schemas.microsoft.com/office/powerpoint/2010/main" val="41460065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247775" y="1143000"/>
            <a:ext cx="4362450" cy="3086100"/>
          </a:xfrm>
        </p:spPr>
      </p:sp>
      <p:sp>
        <p:nvSpPr>
          <p:cNvPr id="3" name="ノート プレースホルダー 2"/>
          <p:cNvSpPr>
            <a:spLocks noGrp="1"/>
          </p:cNvSpPr>
          <p:nvPr>
            <p:ph type="body" idx="1"/>
          </p:nvPr>
        </p:nvSpPr>
        <p:spPr/>
        <p:txBody>
          <a:bodyPr/>
          <a:lstStyle/>
          <a:p>
            <a:endParaRPr lang="ja-JP" altLang="en-US" dirty="0"/>
          </a:p>
        </p:txBody>
      </p:sp>
      <p:sp>
        <p:nvSpPr>
          <p:cNvPr id="4" name="スライド番号プレースホルダー 3"/>
          <p:cNvSpPr>
            <a:spLocks noGrp="1"/>
          </p:cNvSpPr>
          <p:nvPr>
            <p:ph type="sldNum" sz="quarter" idx="5"/>
          </p:nvPr>
        </p:nvSpPr>
        <p:spPr/>
        <p:txBody>
          <a:bodyPr/>
          <a:lstStyle/>
          <a:p>
            <a:fld id="{CCD08276-B047-45AB-869B-6FEE4FD0AA7E}" type="slidenum">
              <a:rPr kumimoji="1" lang="ja-JP" altLang="en-US" smtClean="0"/>
              <a:t>11</a:t>
            </a:fld>
            <a:endParaRPr kumimoji="1" lang="ja-JP" altLang="en-US"/>
          </a:p>
        </p:txBody>
      </p:sp>
    </p:spTree>
    <p:extLst>
      <p:ext uri="{BB962C8B-B14F-4D97-AF65-F5344CB8AC3E}">
        <p14:creationId xmlns:p14="http://schemas.microsoft.com/office/powerpoint/2010/main" val="37467525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8C040D-60A3-F058-65D5-629296F9C77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DF3EA90-DD81-CBB9-EF73-27816BB83DE7}"/>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B54EE8A0-BFED-396D-4CAA-82A6D5708D43}"/>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91534188-0443-756D-A5E2-5F3AA4D2F28B}"/>
              </a:ext>
            </a:extLst>
          </p:cNvPr>
          <p:cNvSpPr>
            <a:spLocks noGrp="1"/>
          </p:cNvSpPr>
          <p:nvPr>
            <p:ph type="sldNum" sz="quarter" idx="5"/>
          </p:nvPr>
        </p:nvSpPr>
        <p:spPr/>
        <p:txBody>
          <a:bodyPr/>
          <a:lstStyle/>
          <a:p>
            <a:fld id="{30FF3BCC-1A43-4D25-8467-E40EF431E2F1}" type="slidenum">
              <a:rPr kumimoji="1" lang="ja-JP" altLang="en-US" smtClean="0"/>
              <a:t>12</a:t>
            </a:fld>
            <a:endParaRPr kumimoji="1" lang="ja-JP" altLang="en-US"/>
          </a:p>
        </p:txBody>
      </p:sp>
    </p:spTree>
    <p:extLst>
      <p:ext uri="{BB962C8B-B14F-4D97-AF65-F5344CB8AC3E}">
        <p14:creationId xmlns:p14="http://schemas.microsoft.com/office/powerpoint/2010/main" val="19973134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9CA458-621A-F6CD-BCBF-9D132A609BE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C5834A7-AD91-AB56-B63B-5F4E423CE6AE}"/>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642B7059-7F90-A560-40B9-33E684841ABF}"/>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291A80AB-D339-06B2-3E95-24ED9AB082F7}"/>
              </a:ext>
            </a:extLst>
          </p:cNvPr>
          <p:cNvSpPr>
            <a:spLocks noGrp="1"/>
          </p:cNvSpPr>
          <p:nvPr>
            <p:ph type="sldNum" sz="quarter" idx="5"/>
          </p:nvPr>
        </p:nvSpPr>
        <p:spPr/>
        <p:txBody>
          <a:bodyPr/>
          <a:lstStyle/>
          <a:p>
            <a:fld id="{30FF3BCC-1A43-4D25-8467-E40EF431E2F1}" type="slidenum">
              <a:rPr kumimoji="1" lang="ja-JP" altLang="en-US" smtClean="0"/>
              <a:t>13</a:t>
            </a:fld>
            <a:endParaRPr kumimoji="1" lang="ja-JP" altLang="en-US"/>
          </a:p>
        </p:txBody>
      </p:sp>
    </p:spTree>
    <p:extLst>
      <p:ext uri="{BB962C8B-B14F-4D97-AF65-F5344CB8AC3E}">
        <p14:creationId xmlns:p14="http://schemas.microsoft.com/office/powerpoint/2010/main" val="16268806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4A592E-568B-2BA5-2B19-12B81CE778D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7A7352E-A782-2B96-F549-A44B4533D5CB}"/>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EF54036B-FC89-BE57-BD1D-9528CDD969D8}"/>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71950A32-E8C7-5909-50B6-CF7BE228A3D0}"/>
              </a:ext>
            </a:extLst>
          </p:cNvPr>
          <p:cNvSpPr>
            <a:spLocks noGrp="1"/>
          </p:cNvSpPr>
          <p:nvPr>
            <p:ph type="sldNum" sz="quarter" idx="5"/>
          </p:nvPr>
        </p:nvSpPr>
        <p:spPr/>
        <p:txBody>
          <a:bodyPr/>
          <a:lstStyle/>
          <a:p>
            <a:fld id="{30FF3BCC-1A43-4D25-8467-E40EF431E2F1}" type="slidenum">
              <a:rPr kumimoji="1" lang="ja-JP" altLang="en-US" smtClean="0"/>
              <a:t>14</a:t>
            </a:fld>
            <a:endParaRPr kumimoji="1" lang="ja-JP" altLang="en-US"/>
          </a:p>
        </p:txBody>
      </p:sp>
    </p:spTree>
    <p:extLst>
      <p:ext uri="{BB962C8B-B14F-4D97-AF65-F5344CB8AC3E}">
        <p14:creationId xmlns:p14="http://schemas.microsoft.com/office/powerpoint/2010/main" val="16178411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260B1B-8967-EB16-F654-95E71A21670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6F3223C-6CB5-B48E-4B27-2931302D029A}"/>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933B0F29-3AAB-5E14-B4D9-A017F82CA42C}"/>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6E8F4B38-0355-E574-CF5F-76C145B0E13C}"/>
              </a:ext>
            </a:extLst>
          </p:cNvPr>
          <p:cNvSpPr>
            <a:spLocks noGrp="1"/>
          </p:cNvSpPr>
          <p:nvPr>
            <p:ph type="sldNum" sz="quarter" idx="5"/>
          </p:nvPr>
        </p:nvSpPr>
        <p:spPr/>
        <p:txBody>
          <a:bodyPr/>
          <a:lstStyle/>
          <a:p>
            <a:fld id="{30FF3BCC-1A43-4D25-8467-E40EF431E2F1}" type="slidenum">
              <a:rPr kumimoji="1" lang="ja-JP" altLang="en-US" smtClean="0"/>
              <a:t>16</a:t>
            </a:fld>
            <a:endParaRPr kumimoji="1" lang="ja-JP" altLang="en-US"/>
          </a:p>
        </p:txBody>
      </p:sp>
    </p:spTree>
    <p:extLst>
      <p:ext uri="{BB962C8B-B14F-4D97-AF65-F5344CB8AC3E}">
        <p14:creationId xmlns:p14="http://schemas.microsoft.com/office/powerpoint/2010/main" val="40946642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AFA8DC-3B5A-8CE0-C236-C6578FA6AB0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576820E-69EC-DFBB-76F4-BBF2BC15D6DB}"/>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5041A58E-CABA-7A79-2BAA-194DDE6D0652}"/>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A0865AC2-C5B9-11C1-D7AC-9B470F32EF53}"/>
              </a:ext>
            </a:extLst>
          </p:cNvPr>
          <p:cNvSpPr>
            <a:spLocks noGrp="1"/>
          </p:cNvSpPr>
          <p:nvPr>
            <p:ph type="sldNum" sz="quarter" idx="5"/>
          </p:nvPr>
        </p:nvSpPr>
        <p:spPr/>
        <p:txBody>
          <a:bodyPr/>
          <a:lstStyle/>
          <a:p>
            <a:fld id="{30FF3BCC-1A43-4D25-8467-E40EF431E2F1}" type="slidenum">
              <a:rPr kumimoji="1" lang="ja-JP" altLang="en-US" smtClean="0"/>
              <a:t>17</a:t>
            </a:fld>
            <a:endParaRPr kumimoji="1" lang="ja-JP" altLang="en-US"/>
          </a:p>
        </p:txBody>
      </p:sp>
    </p:spTree>
    <p:extLst>
      <p:ext uri="{BB962C8B-B14F-4D97-AF65-F5344CB8AC3E}">
        <p14:creationId xmlns:p14="http://schemas.microsoft.com/office/powerpoint/2010/main" val="20264455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22E725-D7D8-17E1-4745-D0791B9111B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36A1D65-57DD-D413-2249-F85A5B421025}"/>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50982E84-E980-EAEA-3AF3-155A001191DF}"/>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635F2FC0-9ABA-38FB-BDED-E00320A10C78}"/>
              </a:ext>
            </a:extLst>
          </p:cNvPr>
          <p:cNvSpPr>
            <a:spLocks noGrp="1"/>
          </p:cNvSpPr>
          <p:nvPr>
            <p:ph type="sldNum" sz="quarter" idx="5"/>
          </p:nvPr>
        </p:nvSpPr>
        <p:spPr/>
        <p:txBody>
          <a:bodyPr/>
          <a:lstStyle/>
          <a:p>
            <a:fld id="{30FF3BCC-1A43-4D25-8467-E40EF431E2F1}" type="slidenum">
              <a:rPr kumimoji="1" lang="ja-JP" altLang="en-US" smtClean="0"/>
              <a:t>18</a:t>
            </a:fld>
            <a:endParaRPr kumimoji="1" lang="ja-JP" altLang="en-US"/>
          </a:p>
        </p:txBody>
      </p:sp>
    </p:spTree>
    <p:extLst>
      <p:ext uri="{BB962C8B-B14F-4D97-AF65-F5344CB8AC3E}">
        <p14:creationId xmlns:p14="http://schemas.microsoft.com/office/powerpoint/2010/main" val="17411098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0C7B85-83C3-9DDE-4335-158CC42969A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57E6BA9-F36D-604F-3499-7C87D66ABC57}"/>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445EFA15-1CDA-B8D1-0BAC-253999A0B140}"/>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6F28CD9B-652E-87FA-D240-FE835F6686E1}"/>
              </a:ext>
            </a:extLst>
          </p:cNvPr>
          <p:cNvSpPr>
            <a:spLocks noGrp="1"/>
          </p:cNvSpPr>
          <p:nvPr>
            <p:ph type="sldNum" sz="quarter" idx="5"/>
          </p:nvPr>
        </p:nvSpPr>
        <p:spPr/>
        <p:txBody>
          <a:bodyPr/>
          <a:lstStyle/>
          <a:p>
            <a:fld id="{30FF3BCC-1A43-4D25-8467-E40EF431E2F1}" type="slidenum">
              <a:rPr kumimoji="1" lang="ja-JP" altLang="en-US" smtClean="0"/>
              <a:t>19</a:t>
            </a:fld>
            <a:endParaRPr kumimoji="1" lang="ja-JP" altLang="en-US"/>
          </a:p>
        </p:txBody>
      </p:sp>
    </p:spTree>
    <p:extLst>
      <p:ext uri="{BB962C8B-B14F-4D97-AF65-F5344CB8AC3E}">
        <p14:creationId xmlns:p14="http://schemas.microsoft.com/office/powerpoint/2010/main" val="58492579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035142-7613-2F88-6DDF-0AA0B95CE30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9A89B74-D534-CC5D-3603-B157866C912A}"/>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2C5E7B25-D992-5558-9CAA-3A2BB05B7140}"/>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9540B3A9-5359-D1DF-207E-4945C3794197}"/>
              </a:ext>
            </a:extLst>
          </p:cNvPr>
          <p:cNvSpPr>
            <a:spLocks noGrp="1"/>
          </p:cNvSpPr>
          <p:nvPr>
            <p:ph type="sldNum" sz="quarter" idx="5"/>
          </p:nvPr>
        </p:nvSpPr>
        <p:spPr/>
        <p:txBody>
          <a:bodyPr/>
          <a:lstStyle/>
          <a:p>
            <a:fld id="{30FF3BCC-1A43-4D25-8467-E40EF431E2F1}" type="slidenum">
              <a:rPr kumimoji="1" lang="ja-JP" altLang="en-US" smtClean="0"/>
              <a:t>20</a:t>
            </a:fld>
            <a:endParaRPr kumimoji="1" lang="ja-JP" altLang="en-US"/>
          </a:p>
        </p:txBody>
      </p:sp>
    </p:spTree>
    <p:extLst>
      <p:ext uri="{BB962C8B-B14F-4D97-AF65-F5344CB8AC3E}">
        <p14:creationId xmlns:p14="http://schemas.microsoft.com/office/powerpoint/2010/main" val="4071856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576726-F92E-C8AC-70BE-109958028C7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DAB818D-78DD-0444-71FA-AF55300919C5}"/>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CC10619B-E5D8-2E73-006F-A5FD1904CBCA}"/>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D8095705-0959-428A-F57F-B098A8BDB7DB}"/>
              </a:ext>
            </a:extLst>
          </p:cNvPr>
          <p:cNvSpPr>
            <a:spLocks noGrp="1"/>
          </p:cNvSpPr>
          <p:nvPr>
            <p:ph type="sldNum" sz="quarter" idx="5"/>
          </p:nvPr>
        </p:nvSpPr>
        <p:spPr/>
        <p:txBody>
          <a:bodyPr/>
          <a:lstStyle/>
          <a:p>
            <a:fld id="{30FF3BCC-1A43-4D25-8467-E40EF431E2F1}" type="slidenum">
              <a:rPr kumimoji="1" lang="ja-JP" altLang="en-US" smtClean="0"/>
              <a:t>21</a:t>
            </a:fld>
            <a:endParaRPr kumimoji="1" lang="ja-JP" altLang="en-US"/>
          </a:p>
        </p:txBody>
      </p:sp>
    </p:spTree>
    <p:extLst>
      <p:ext uri="{BB962C8B-B14F-4D97-AF65-F5344CB8AC3E}">
        <p14:creationId xmlns:p14="http://schemas.microsoft.com/office/powerpoint/2010/main" val="214913224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693F79-295E-F06B-7AB6-52A5A3EA393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26F7EE7-AB24-EA55-7ACE-47505BF35BAF}"/>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7BDE5B4E-F52E-8016-E763-B450F1D89C74}"/>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86271926-BBCD-B1D8-D398-CE016D9998E8}"/>
              </a:ext>
            </a:extLst>
          </p:cNvPr>
          <p:cNvSpPr>
            <a:spLocks noGrp="1"/>
          </p:cNvSpPr>
          <p:nvPr>
            <p:ph type="sldNum" sz="quarter" idx="5"/>
          </p:nvPr>
        </p:nvSpPr>
        <p:spPr/>
        <p:txBody>
          <a:bodyPr/>
          <a:lstStyle/>
          <a:p>
            <a:fld id="{30FF3BCC-1A43-4D25-8467-E40EF431E2F1}" type="slidenum">
              <a:rPr kumimoji="1" lang="ja-JP" altLang="en-US" smtClean="0"/>
              <a:t>22</a:t>
            </a:fld>
            <a:endParaRPr kumimoji="1" lang="ja-JP" altLang="en-US"/>
          </a:p>
        </p:txBody>
      </p:sp>
    </p:spTree>
    <p:extLst>
      <p:ext uri="{BB962C8B-B14F-4D97-AF65-F5344CB8AC3E}">
        <p14:creationId xmlns:p14="http://schemas.microsoft.com/office/powerpoint/2010/main" val="331735442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58BDAB-B0BC-D005-A2A7-951EBC89B4C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52DC877-776A-449C-A43E-AEB3CE94D630}"/>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9030C70C-7CA3-B8C1-0D62-4A544C5F87B2}"/>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96B92F43-F674-D334-F90F-5304787C5E7D}"/>
              </a:ext>
            </a:extLst>
          </p:cNvPr>
          <p:cNvSpPr>
            <a:spLocks noGrp="1"/>
          </p:cNvSpPr>
          <p:nvPr>
            <p:ph type="sldNum" sz="quarter" idx="5"/>
          </p:nvPr>
        </p:nvSpPr>
        <p:spPr/>
        <p:txBody>
          <a:bodyPr/>
          <a:lstStyle/>
          <a:p>
            <a:fld id="{30FF3BCC-1A43-4D25-8467-E40EF431E2F1}" type="slidenum">
              <a:rPr kumimoji="1" lang="ja-JP" altLang="en-US" smtClean="0"/>
              <a:t>24</a:t>
            </a:fld>
            <a:endParaRPr kumimoji="1" lang="ja-JP" altLang="en-US"/>
          </a:p>
        </p:txBody>
      </p:sp>
    </p:spTree>
    <p:extLst>
      <p:ext uri="{BB962C8B-B14F-4D97-AF65-F5344CB8AC3E}">
        <p14:creationId xmlns:p14="http://schemas.microsoft.com/office/powerpoint/2010/main" val="20659891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9A4A82-F556-35B1-B856-FE508044492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EC3BDB4-265E-5E67-CFEA-208DBEE091A4}"/>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5BF07348-0B3E-EDA2-CC24-8961BB8EE4D3}"/>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0395BC13-068C-8F1D-24E2-48104E91BC41}"/>
              </a:ext>
            </a:extLst>
          </p:cNvPr>
          <p:cNvSpPr>
            <a:spLocks noGrp="1"/>
          </p:cNvSpPr>
          <p:nvPr>
            <p:ph type="sldNum" sz="quarter" idx="5"/>
          </p:nvPr>
        </p:nvSpPr>
        <p:spPr/>
        <p:txBody>
          <a:bodyPr/>
          <a:lstStyle/>
          <a:p>
            <a:fld id="{30FF3BCC-1A43-4D25-8467-E40EF431E2F1}" type="slidenum">
              <a:rPr kumimoji="1" lang="ja-JP" altLang="en-US" smtClean="0"/>
              <a:t>25</a:t>
            </a:fld>
            <a:endParaRPr kumimoji="1" lang="ja-JP" altLang="en-US"/>
          </a:p>
        </p:txBody>
      </p:sp>
    </p:spTree>
    <p:extLst>
      <p:ext uri="{BB962C8B-B14F-4D97-AF65-F5344CB8AC3E}">
        <p14:creationId xmlns:p14="http://schemas.microsoft.com/office/powerpoint/2010/main" val="29457885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2D6D02-57FD-62EB-BC56-6E300F50503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138501E-F5AF-0224-79A6-DBE6F9F7E093}"/>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F0C518C7-436D-8B71-5734-02D19443C6BA}"/>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64216A50-996C-4CF3-5119-58EFABB781F5}"/>
              </a:ext>
            </a:extLst>
          </p:cNvPr>
          <p:cNvSpPr>
            <a:spLocks noGrp="1"/>
          </p:cNvSpPr>
          <p:nvPr>
            <p:ph type="sldNum" sz="quarter" idx="5"/>
          </p:nvPr>
        </p:nvSpPr>
        <p:spPr/>
        <p:txBody>
          <a:bodyPr/>
          <a:lstStyle/>
          <a:p>
            <a:fld id="{30FF3BCC-1A43-4D25-8467-E40EF431E2F1}" type="slidenum">
              <a:rPr kumimoji="1" lang="ja-JP" altLang="en-US" smtClean="0"/>
              <a:t>27</a:t>
            </a:fld>
            <a:endParaRPr kumimoji="1" lang="ja-JP" altLang="en-US"/>
          </a:p>
        </p:txBody>
      </p:sp>
    </p:spTree>
    <p:extLst>
      <p:ext uri="{BB962C8B-B14F-4D97-AF65-F5344CB8AC3E}">
        <p14:creationId xmlns:p14="http://schemas.microsoft.com/office/powerpoint/2010/main" val="289853074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2FF017-472F-0872-A57B-F89F02E4AE7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D7AC265-7FBA-5DC7-99A1-03FC2F6AC04A}"/>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47597C32-1DAD-46CB-92D2-4B18BA8A3020}"/>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E3D7D21C-CA67-AD27-2D15-37084604B145}"/>
              </a:ext>
            </a:extLst>
          </p:cNvPr>
          <p:cNvSpPr>
            <a:spLocks noGrp="1"/>
          </p:cNvSpPr>
          <p:nvPr>
            <p:ph type="sldNum" sz="quarter" idx="5"/>
          </p:nvPr>
        </p:nvSpPr>
        <p:spPr/>
        <p:txBody>
          <a:bodyPr/>
          <a:lstStyle/>
          <a:p>
            <a:fld id="{30FF3BCC-1A43-4D25-8467-E40EF431E2F1}" type="slidenum">
              <a:rPr kumimoji="1" lang="ja-JP" altLang="en-US" smtClean="0"/>
              <a:t>29</a:t>
            </a:fld>
            <a:endParaRPr kumimoji="1" lang="ja-JP" altLang="en-US"/>
          </a:p>
        </p:txBody>
      </p:sp>
    </p:spTree>
    <p:extLst>
      <p:ext uri="{BB962C8B-B14F-4D97-AF65-F5344CB8AC3E}">
        <p14:creationId xmlns:p14="http://schemas.microsoft.com/office/powerpoint/2010/main" val="88990971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FF683D-5DAD-A120-6033-B5D7A3A10F8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298E89A-CF82-A78D-98DD-04A02EFED8B9}"/>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55B7C49F-E7C2-17E6-0809-6FDB7372C5DE}"/>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4C2036E6-B3B5-956E-AF2B-34A9EF32DC49}"/>
              </a:ext>
            </a:extLst>
          </p:cNvPr>
          <p:cNvSpPr>
            <a:spLocks noGrp="1"/>
          </p:cNvSpPr>
          <p:nvPr>
            <p:ph type="sldNum" sz="quarter" idx="5"/>
          </p:nvPr>
        </p:nvSpPr>
        <p:spPr/>
        <p:txBody>
          <a:bodyPr/>
          <a:lstStyle/>
          <a:p>
            <a:fld id="{30FF3BCC-1A43-4D25-8467-E40EF431E2F1}" type="slidenum">
              <a:rPr kumimoji="1" lang="ja-JP" altLang="en-US" smtClean="0"/>
              <a:t>31</a:t>
            </a:fld>
            <a:endParaRPr kumimoji="1" lang="ja-JP" altLang="en-US"/>
          </a:p>
        </p:txBody>
      </p:sp>
    </p:spTree>
    <p:extLst>
      <p:ext uri="{BB962C8B-B14F-4D97-AF65-F5344CB8AC3E}">
        <p14:creationId xmlns:p14="http://schemas.microsoft.com/office/powerpoint/2010/main" val="28520950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CC24FB-19A2-172A-74F4-CB5E1A03BB0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B274906-680C-CCA8-6ED5-B65D3F03778E}"/>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17A1201A-F7B1-9EBF-6AF8-700AAAA309EE}"/>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D92A0E97-1BCC-5386-BCB7-C636C2D0D234}"/>
              </a:ext>
            </a:extLst>
          </p:cNvPr>
          <p:cNvSpPr>
            <a:spLocks noGrp="1"/>
          </p:cNvSpPr>
          <p:nvPr>
            <p:ph type="sldNum" sz="quarter" idx="5"/>
          </p:nvPr>
        </p:nvSpPr>
        <p:spPr/>
        <p:txBody>
          <a:bodyPr/>
          <a:lstStyle/>
          <a:p>
            <a:fld id="{30FF3BCC-1A43-4D25-8467-E40EF431E2F1}" type="slidenum">
              <a:rPr kumimoji="1" lang="ja-JP" altLang="en-US" smtClean="0"/>
              <a:t>32</a:t>
            </a:fld>
            <a:endParaRPr kumimoji="1" lang="ja-JP" altLang="en-US"/>
          </a:p>
        </p:txBody>
      </p:sp>
    </p:spTree>
    <p:extLst>
      <p:ext uri="{BB962C8B-B14F-4D97-AF65-F5344CB8AC3E}">
        <p14:creationId xmlns:p14="http://schemas.microsoft.com/office/powerpoint/2010/main" val="227924488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08CDCC-4499-9CC9-1F39-99083A511C6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93DCC5A-4CF0-CE33-9793-735FCC81AE4E}"/>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96E4A811-4C57-E7FA-999B-3B2346969CFA}"/>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E5D9E0B5-62CD-B7FC-7619-BDD324DA7A35}"/>
              </a:ext>
            </a:extLst>
          </p:cNvPr>
          <p:cNvSpPr>
            <a:spLocks noGrp="1"/>
          </p:cNvSpPr>
          <p:nvPr>
            <p:ph type="sldNum" sz="quarter" idx="5"/>
          </p:nvPr>
        </p:nvSpPr>
        <p:spPr/>
        <p:txBody>
          <a:bodyPr/>
          <a:lstStyle/>
          <a:p>
            <a:fld id="{30FF3BCC-1A43-4D25-8467-E40EF431E2F1}" type="slidenum">
              <a:rPr kumimoji="1" lang="ja-JP" altLang="en-US" smtClean="0"/>
              <a:t>33</a:t>
            </a:fld>
            <a:endParaRPr kumimoji="1" lang="ja-JP" altLang="en-US"/>
          </a:p>
        </p:txBody>
      </p:sp>
    </p:spTree>
    <p:extLst>
      <p:ext uri="{BB962C8B-B14F-4D97-AF65-F5344CB8AC3E}">
        <p14:creationId xmlns:p14="http://schemas.microsoft.com/office/powerpoint/2010/main" val="216406258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033463" y="1243013"/>
            <a:ext cx="4740275" cy="3352800"/>
          </a:xfrm>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ja-JP" altLang="en-US" dirty="0"/>
          </a:p>
        </p:txBody>
      </p:sp>
      <p:sp>
        <p:nvSpPr>
          <p:cNvPr id="4" name="スライド番号プレースホルダー 3"/>
          <p:cNvSpPr>
            <a:spLocks noGrp="1"/>
          </p:cNvSpPr>
          <p:nvPr>
            <p:ph type="sldNum" sz="quarter" idx="5"/>
          </p:nvPr>
        </p:nvSpPr>
        <p:spPr/>
        <p:txBody>
          <a:bodyPr/>
          <a:lstStyle/>
          <a:p>
            <a:fld id="{CAF5A409-FE33-4202-B69D-8515A6FDCE7E}" type="slidenum">
              <a:rPr kumimoji="1" lang="ja-JP" altLang="en-US" smtClean="0"/>
              <a:t>34</a:t>
            </a:fld>
            <a:endParaRPr kumimoji="1" lang="ja-JP" altLang="en-US"/>
          </a:p>
        </p:txBody>
      </p:sp>
    </p:spTree>
    <p:extLst>
      <p:ext uri="{BB962C8B-B14F-4D97-AF65-F5344CB8AC3E}">
        <p14:creationId xmlns:p14="http://schemas.microsoft.com/office/powerpoint/2010/main" val="39096212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6.png"/><Relationship Id="rId4" Type="http://schemas.openxmlformats.org/officeDocument/2006/relationships/image" Target="../media/image7.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9.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9974122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表紙">
    <p:spTree>
      <p:nvGrpSpPr>
        <p:cNvPr id="1" name=""/>
        <p:cNvGrpSpPr/>
        <p:nvPr/>
      </p:nvGrpSpPr>
      <p:grpSpPr>
        <a:xfrm>
          <a:off x="0" y="0"/>
          <a:ext cx="0" cy="0"/>
          <a:chOff x="0" y="0"/>
          <a:chExt cx="0" cy="0"/>
        </a:xfrm>
      </p:grpSpPr>
      <p:pic>
        <p:nvPicPr>
          <p:cNvPr id="3" name="図 2" descr="絵と文字の加工写真&#10;&#10;AI 生成コンテンツは誤りを含む可能性があります。">
            <a:extLst>
              <a:ext uri="{FF2B5EF4-FFF2-40B4-BE49-F238E27FC236}">
                <a16:creationId xmlns:a16="http://schemas.microsoft.com/office/drawing/2014/main" id="{995F6558-5E48-7ACD-5E2F-54EE4A6825BC}"/>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sp>
        <p:nvSpPr>
          <p:cNvPr id="6" name="タイトル 1">
            <a:extLst>
              <a:ext uri="{FF2B5EF4-FFF2-40B4-BE49-F238E27FC236}">
                <a16:creationId xmlns:a16="http://schemas.microsoft.com/office/drawing/2014/main" id="{7D824756-0531-3BBA-09FB-CC8ACB55A36C}"/>
              </a:ext>
            </a:extLst>
          </p:cNvPr>
          <p:cNvSpPr>
            <a:spLocks noGrp="1"/>
          </p:cNvSpPr>
          <p:nvPr>
            <p:ph type="title"/>
          </p:nvPr>
        </p:nvSpPr>
        <p:spPr>
          <a:xfrm>
            <a:off x="885526" y="3467606"/>
            <a:ext cx="9221787" cy="738664"/>
          </a:xfrm>
          <a:prstGeom prst="rect">
            <a:avLst/>
          </a:prstGeom>
          <a:noFill/>
        </p:spPr>
        <p:txBody>
          <a:bodyPr wrap="square" lIns="0" tIns="0" rIns="0" bIns="0" rtlCol="0" anchor="ctr">
            <a:spAutoFit/>
          </a:bodyPr>
          <a:lstStyle>
            <a:lvl1pPr>
              <a:lnSpc>
                <a:spcPct val="100000"/>
              </a:lnSpc>
              <a:defRPr lang="ja-JP" altLang="en-US" sz="4800" b="1" spc="200">
                <a:latin typeface="+mj-lt"/>
                <a:cs typeface="+mn-cs"/>
              </a:defRPr>
            </a:lvl1pPr>
          </a:lstStyle>
          <a:p>
            <a:pPr marL="0" lvl="0" defTabSz="503972"/>
            <a:r>
              <a:rPr kumimoji="1" lang="ja-JP" altLang="en-US" dirty="0"/>
              <a:t>マスター タイトルの書式設定</a:t>
            </a:r>
          </a:p>
        </p:txBody>
      </p:sp>
      <p:pic>
        <p:nvPicPr>
          <p:cNvPr id="4" name="図 3" descr="図形&#10;&#10;中程度の精度で自動的に生成された説明">
            <a:extLst>
              <a:ext uri="{FF2B5EF4-FFF2-40B4-BE49-F238E27FC236}">
                <a16:creationId xmlns:a16="http://schemas.microsoft.com/office/drawing/2014/main" id="{DF75B97B-7722-5333-1DF6-425BD31B0F05}"/>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597898" y="641817"/>
            <a:ext cx="2996516" cy="594316"/>
          </a:xfrm>
          <a:prstGeom prst="rect">
            <a:avLst/>
          </a:prstGeom>
        </p:spPr>
      </p:pic>
      <p:sp>
        <p:nvSpPr>
          <p:cNvPr id="5" name="正方形/長方形 4">
            <a:extLst>
              <a:ext uri="{FF2B5EF4-FFF2-40B4-BE49-F238E27FC236}">
                <a16:creationId xmlns:a16="http://schemas.microsoft.com/office/drawing/2014/main" id="{E7F2AB3F-4E5C-EEA1-723A-7D941C02D057}"/>
              </a:ext>
            </a:extLst>
          </p:cNvPr>
          <p:cNvSpPr/>
          <p:nvPr userDrawn="1"/>
        </p:nvSpPr>
        <p:spPr>
          <a:xfrm>
            <a:off x="-1" y="-1"/>
            <a:ext cx="108000" cy="7560000"/>
          </a:xfrm>
          <a:prstGeom prst="rect">
            <a:avLst/>
          </a:prstGeom>
          <a:gradFill>
            <a:gsLst>
              <a:gs pos="100000">
                <a:schemeClr val="accent4"/>
              </a:gs>
              <a:gs pos="17000">
                <a:schemeClr val="tx2"/>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Tree>
    <p:extLst>
      <p:ext uri="{BB962C8B-B14F-4D97-AF65-F5344CB8AC3E}">
        <p14:creationId xmlns:p14="http://schemas.microsoft.com/office/powerpoint/2010/main" val="10359687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目次">
    <p:spTree>
      <p:nvGrpSpPr>
        <p:cNvPr id="1" name=""/>
        <p:cNvGrpSpPr/>
        <p:nvPr/>
      </p:nvGrpSpPr>
      <p:grpSpPr>
        <a:xfrm>
          <a:off x="0" y="0"/>
          <a:ext cx="0" cy="0"/>
          <a:chOff x="0" y="0"/>
          <a:chExt cx="0" cy="0"/>
        </a:xfrm>
      </p:grpSpPr>
      <p:pic>
        <p:nvPicPr>
          <p:cNvPr id="2" name="図 1" descr="背景パターン&#10;&#10;AI 生成コンテンツは誤りを含む可能性があります。">
            <a:extLst>
              <a:ext uri="{FF2B5EF4-FFF2-40B4-BE49-F238E27FC236}">
                <a16:creationId xmlns:a16="http://schemas.microsoft.com/office/drawing/2014/main" id="{8E967D6D-5B52-5B07-CA48-6817A5CEB27C}"/>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grpSp>
        <p:nvGrpSpPr>
          <p:cNvPr id="7" name="グループ化 6">
            <a:extLst>
              <a:ext uri="{FF2B5EF4-FFF2-40B4-BE49-F238E27FC236}">
                <a16:creationId xmlns:a16="http://schemas.microsoft.com/office/drawing/2014/main" id="{01D98B25-17B2-272C-53AC-A26D9745042C}"/>
              </a:ext>
            </a:extLst>
          </p:cNvPr>
          <p:cNvGrpSpPr/>
          <p:nvPr userDrawn="1"/>
        </p:nvGrpSpPr>
        <p:grpSpPr>
          <a:xfrm>
            <a:off x="887069" y="3420377"/>
            <a:ext cx="3420000" cy="602349"/>
            <a:chOff x="887069" y="3420377"/>
            <a:chExt cx="3420000" cy="602349"/>
          </a:xfrm>
        </p:grpSpPr>
        <p:sp>
          <p:nvSpPr>
            <p:cNvPr id="9" name="テキスト ボックス 8">
              <a:extLst>
                <a:ext uri="{FF2B5EF4-FFF2-40B4-BE49-F238E27FC236}">
                  <a16:creationId xmlns:a16="http://schemas.microsoft.com/office/drawing/2014/main" id="{C5012DD8-6B05-046F-3AF1-CACA060CA370}"/>
                </a:ext>
              </a:extLst>
            </p:cNvPr>
            <p:cNvSpPr txBox="1"/>
            <p:nvPr/>
          </p:nvSpPr>
          <p:spPr>
            <a:xfrm>
              <a:off x="977069" y="3420377"/>
              <a:ext cx="3240000" cy="492443"/>
            </a:xfrm>
            <a:prstGeom prst="rect">
              <a:avLst/>
            </a:prstGeom>
            <a:noFill/>
          </p:spPr>
          <p:txBody>
            <a:bodyPr wrap="square" lIns="0" tIns="0" rIns="0" bIns="0" anchor="t">
              <a:spAutoFit/>
            </a:bodyPr>
            <a:lstStyle/>
            <a:p>
              <a:pPr algn="ctr"/>
              <a:r>
                <a:rPr lang="ja-JP" altLang="en-US" sz="3200" b="1" dirty="0">
                  <a:latin typeface="+mj-lt"/>
                </a:rPr>
                <a:t>目次</a:t>
              </a:r>
            </a:p>
          </p:txBody>
        </p:sp>
        <p:cxnSp>
          <p:nvCxnSpPr>
            <p:cNvPr id="10" name="直線コネクタ 9">
              <a:extLst>
                <a:ext uri="{FF2B5EF4-FFF2-40B4-BE49-F238E27FC236}">
                  <a16:creationId xmlns:a16="http://schemas.microsoft.com/office/drawing/2014/main" id="{268C069C-EAF1-B7E8-021B-4DF925E86141}"/>
                </a:ext>
              </a:extLst>
            </p:cNvPr>
            <p:cNvCxnSpPr>
              <a:cxnSpLocks/>
            </p:cNvCxnSpPr>
            <p:nvPr/>
          </p:nvCxnSpPr>
          <p:spPr>
            <a:xfrm>
              <a:off x="887069" y="4022726"/>
              <a:ext cx="34200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grpSp>
      <p:pic>
        <p:nvPicPr>
          <p:cNvPr id="4" name="図 3" descr="図形&#10;&#10;中程度の精度で自動的に生成された説明">
            <a:extLst>
              <a:ext uri="{FF2B5EF4-FFF2-40B4-BE49-F238E27FC236}">
                <a16:creationId xmlns:a16="http://schemas.microsoft.com/office/drawing/2014/main" id="{DF75B97B-7722-5333-1DF6-425BD31B0F05}"/>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597898" y="641818"/>
            <a:ext cx="1627200" cy="322732"/>
          </a:xfrm>
          <a:prstGeom prst="rect">
            <a:avLst/>
          </a:prstGeom>
        </p:spPr>
      </p:pic>
      <p:sp>
        <p:nvSpPr>
          <p:cNvPr id="12" name="テキスト ボックス 11">
            <a:extLst>
              <a:ext uri="{FF2B5EF4-FFF2-40B4-BE49-F238E27FC236}">
                <a16:creationId xmlns:a16="http://schemas.microsoft.com/office/drawing/2014/main" id="{1A1C1562-A331-DA82-9B95-1B4F0DA08BD0}"/>
              </a:ext>
            </a:extLst>
          </p:cNvPr>
          <p:cNvSpPr txBox="1"/>
          <p:nvPr userDrawn="1"/>
        </p:nvSpPr>
        <p:spPr>
          <a:xfrm>
            <a:off x="9865023" y="7202817"/>
            <a:ext cx="579140" cy="152669"/>
          </a:xfrm>
          <a:prstGeom prst="rect">
            <a:avLst/>
          </a:prstGeom>
          <a:noFill/>
        </p:spPr>
        <p:txBody>
          <a:bodyPr wrap="square" lIns="0" tIns="0" rIns="0" bIns="0" rtlCol="0">
            <a:noAutofit/>
          </a:bodyPr>
          <a:lstStyle/>
          <a:p>
            <a:pPr algn="r"/>
            <a:fld id="{4A9C97F8-90FE-457F-983C-96DAC3349EFE}" type="slidenum">
              <a:rPr kumimoji="1" lang="ja-JP" altLang="en-US" sz="992" smtClean="0">
                <a:solidFill>
                  <a:schemeClr val="accent1"/>
                </a:solidFill>
                <a:latin typeface="+mj-lt"/>
              </a:rPr>
              <a:pPr algn="r"/>
              <a:t>‹#›</a:t>
            </a:fld>
            <a:endParaRPr kumimoji="1" lang="ja-JP" altLang="en-US" sz="992" dirty="0">
              <a:solidFill>
                <a:schemeClr val="accent1"/>
              </a:solidFill>
              <a:latin typeface="+mj-lt"/>
            </a:endParaRPr>
          </a:p>
        </p:txBody>
      </p:sp>
      <p:sp>
        <p:nvSpPr>
          <p:cNvPr id="13" name="Google Shape;14;p31">
            <a:extLst>
              <a:ext uri="{FF2B5EF4-FFF2-40B4-BE49-F238E27FC236}">
                <a16:creationId xmlns:a16="http://schemas.microsoft.com/office/drawing/2014/main" id="{0CB49C29-F967-F011-F3F8-2ED176CC202F}"/>
              </a:ext>
            </a:extLst>
          </p:cNvPr>
          <p:cNvSpPr/>
          <p:nvPr userDrawn="1"/>
        </p:nvSpPr>
        <p:spPr>
          <a:xfrm>
            <a:off x="5516123" y="7220572"/>
            <a:ext cx="4572000" cy="107722"/>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ja-JP" sz="700" b="0" i="0" u="none" strike="noStrike" cap="none" dirty="0">
                <a:solidFill>
                  <a:schemeClr val="accent1"/>
                </a:solidFill>
                <a:latin typeface="Arial"/>
                <a:ea typeface="Arial"/>
                <a:cs typeface="Arial"/>
                <a:sym typeface="Arial"/>
              </a:rPr>
              <a:t>Copyright© M＆A Succession Group Inc. All Right Reserved</a:t>
            </a:r>
            <a:endParaRPr sz="700" b="0" i="0" u="none" strike="noStrike" cap="none" dirty="0">
              <a:solidFill>
                <a:schemeClr val="accent1"/>
              </a:solidFill>
              <a:latin typeface="Arial"/>
              <a:ea typeface="Arial"/>
              <a:cs typeface="Arial"/>
              <a:sym typeface="Arial"/>
            </a:endParaRPr>
          </a:p>
        </p:txBody>
      </p:sp>
      <p:sp>
        <p:nvSpPr>
          <p:cNvPr id="3" name="正方形/長方形 2">
            <a:extLst>
              <a:ext uri="{FF2B5EF4-FFF2-40B4-BE49-F238E27FC236}">
                <a16:creationId xmlns:a16="http://schemas.microsoft.com/office/drawing/2014/main" id="{7493C03D-EF3C-73CD-DCFB-960D33F81124}"/>
              </a:ext>
            </a:extLst>
          </p:cNvPr>
          <p:cNvSpPr/>
          <p:nvPr userDrawn="1"/>
        </p:nvSpPr>
        <p:spPr>
          <a:xfrm>
            <a:off x="6933143" y="7209190"/>
            <a:ext cx="640572" cy="144000"/>
          </a:xfrm>
          <a:prstGeom prst="rect">
            <a:avLst/>
          </a:pr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kumimoji="1" lang="en-US" altLang="ja-JP" sz="800" i="1" dirty="0">
                <a:solidFill>
                  <a:schemeClr val="accent1"/>
                </a:solidFill>
              </a:rPr>
              <a:t>Confidential</a:t>
            </a:r>
          </a:p>
        </p:txBody>
      </p:sp>
    </p:spTree>
    <p:extLst>
      <p:ext uri="{BB962C8B-B14F-4D97-AF65-F5344CB8AC3E}">
        <p14:creationId xmlns:p14="http://schemas.microsoft.com/office/powerpoint/2010/main" val="28014450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中扉">
    <p:spTree>
      <p:nvGrpSpPr>
        <p:cNvPr id="1" name=""/>
        <p:cNvGrpSpPr/>
        <p:nvPr/>
      </p:nvGrpSpPr>
      <p:grpSpPr>
        <a:xfrm>
          <a:off x="0" y="0"/>
          <a:ext cx="0" cy="0"/>
          <a:chOff x="0" y="0"/>
          <a:chExt cx="0" cy="0"/>
        </a:xfrm>
      </p:grpSpPr>
      <p:pic>
        <p:nvPicPr>
          <p:cNvPr id="3" name="図 2" descr="背景パターン&#10;&#10;AI 生成コンテンツは誤りを含む可能性があります。">
            <a:extLst>
              <a:ext uri="{FF2B5EF4-FFF2-40B4-BE49-F238E27FC236}">
                <a16:creationId xmlns:a16="http://schemas.microsoft.com/office/drawing/2014/main" id="{FDE449C2-8B65-9409-394F-45A167C6AEA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sp>
        <p:nvSpPr>
          <p:cNvPr id="5" name="タイトル 1">
            <a:extLst>
              <a:ext uri="{FF2B5EF4-FFF2-40B4-BE49-F238E27FC236}">
                <a16:creationId xmlns:a16="http://schemas.microsoft.com/office/drawing/2014/main" id="{07D600CD-5CAD-A0C8-1E3D-CD1EA5B04422}"/>
              </a:ext>
            </a:extLst>
          </p:cNvPr>
          <p:cNvSpPr>
            <a:spLocks noGrp="1"/>
          </p:cNvSpPr>
          <p:nvPr>
            <p:ph type="title"/>
          </p:nvPr>
        </p:nvSpPr>
        <p:spPr>
          <a:xfrm>
            <a:off x="989013" y="3656161"/>
            <a:ext cx="9221787" cy="615553"/>
          </a:xfrm>
          <a:prstGeom prst="rect">
            <a:avLst/>
          </a:prstGeom>
          <a:noFill/>
        </p:spPr>
        <p:txBody>
          <a:bodyPr wrap="square" lIns="0" tIns="0" rIns="0" bIns="0" rtlCol="0" anchor="ctr">
            <a:spAutoFit/>
          </a:bodyPr>
          <a:lstStyle>
            <a:lvl1pPr>
              <a:lnSpc>
                <a:spcPct val="100000"/>
              </a:lnSpc>
              <a:defRPr lang="ja-JP" altLang="en-US" sz="4000" b="1" spc="200" dirty="0">
                <a:solidFill>
                  <a:schemeClr val="bg1"/>
                </a:solidFill>
                <a:latin typeface="+mj-lt"/>
                <a:cs typeface="+mn-cs"/>
              </a:defRPr>
            </a:lvl1pPr>
          </a:lstStyle>
          <a:p>
            <a:pPr marL="0" lvl="0" defTabSz="503972"/>
            <a:r>
              <a:rPr kumimoji="1" lang="ja-JP" altLang="en-US" dirty="0"/>
              <a:t>マスター タイトルの書式設定</a:t>
            </a:r>
          </a:p>
        </p:txBody>
      </p:sp>
      <p:pic>
        <p:nvPicPr>
          <p:cNvPr id="4" name="グラフィックス 3">
            <a:extLst>
              <a:ext uri="{FF2B5EF4-FFF2-40B4-BE49-F238E27FC236}">
                <a16:creationId xmlns:a16="http://schemas.microsoft.com/office/drawing/2014/main" id="{8D4E6481-3D38-43CE-56D4-0766A151BDBF}"/>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97898" y="641818"/>
            <a:ext cx="1627200" cy="320105"/>
          </a:xfrm>
          <a:prstGeom prst="rect">
            <a:avLst/>
          </a:prstGeom>
        </p:spPr>
      </p:pic>
      <p:sp>
        <p:nvSpPr>
          <p:cNvPr id="7" name="テキスト ボックス 6">
            <a:extLst>
              <a:ext uri="{FF2B5EF4-FFF2-40B4-BE49-F238E27FC236}">
                <a16:creationId xmlns:a16="http://schemas.microsoft.com/office/drawing/2014/main" id="{06F9BFF4-1363-8167-1FD9-7F8105B557A4}"/>
              </a:ext>
            </a:extLst>
          </p:cNvPr>
          <p:cNvSpPr txBox="1"/>
          <p:nvPr userDrawn="1"/>
        </p:nvSpPr>
        <p:spPr>
          <a:xfrm>
            <a:off x="9865023" y="7202817"/>
            <a:ext cx="579140" cy="152669"/>
          </a:xfrm>
          <a:prstGeom prst="rect">
            <a:avLst/>
          </a:prstGeom>
          <a:noFill/>
        </p:spPr>
        <p:txBody>
          <a:bodyPr wrap="square" lIns="0" tIns="0" rIns="0" bIns="0" rtlCol="0">
            <a:noAutofit/>
          </a:bodyPr>
          <a:lstStyle/>
          <a:p>
            <a:pPr algn="r"/>
            <a:fld id="{4A9C97F8-90FE-457F-983C-96DAC3349EFE}" type="slidenum">
              <a:rPr kumimoji="1" lang="ja-JP" altLang="en-US" sz="992" smtClean="0">
                <a:solidFill>
                  <a:schemeClr val="bg1"/>
                </a:solidFill>
                <a:latin typeface="+mj-lt"/>
              </a:rPr>
              <a:pPr algn="r"/>
              <a:t>‹#›</a:t>
            </a:fld>
            <a:endParaRPr kumimoji="1" lang="ja-JP" altLang="en-US" sz="992" dirty="0">
              <a:solidFill>
                <a:schemeClr val="bg1"/>
              </a:solidFill>
              <a:latin typeface="+mj-lt"/>
            </a:endParaRPr>
          </a:p>
        </p:txBody>
      </p:sp>
      <p:sp>
        <p:nvSpPr>
          <p:cNvPr id="8" name="Google Shape;14;p31">
            <a:extLst>
              <a:ext uri="{FF2B5EF4-FFF2-40B4-BE49-F238E27FC236}">
                <a16:creationId xmlns:a16="http://schemas.microsoft.com/office/drawing/2014/main" id="{4768A1B1-9FB9-F183-2D3A-178D813DD52B}"/>
              </a:ext>
            </a:extLst>
          </p:cNvPr>
          <p:cNvSpPr/>
          <p:nvPr userDrawn="1"/>
        </p:nvSpPr>
        <p:spPr>
          <a:xfrm>
            <a:off x="5516123" y="7220572"/>
            <a:ext cx="4572000" cy="107722"/>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ja-JP" sz="700" b="0" i="0" u="none" strike="noStrike" cap="none" dirty="0">
                <a:solidFill>
                  <a:schemeClr val="bg1"/>
                </a:solidFill>
                <a:latin typeface="Arial"/>
                <a:ea typeface="Arial"/>
                <a:cs typeface="Arial"/>
                <a:sym typeface="Arial"/>
              </a:rPr>
              <a:t>Copyright© M＆A Succession Group Inc. All Right Reserved</a:t>
            </a:r>
            <a:endParaRPr sz="700" b="0" i="0" u="none" strike="noStrike" cap="none" dirty="0">
              <a:solidFill>
                <a:schemeClr val="bg1"/>
              </a:solidFill>
              <a:latin typeface="Arial"/>
              <a:ea typeface="Arial"/>
              <a:cs typeface="Arial"/>
              <a:sym typeface="Arial"/>
            </a:endParaRPr>
          </a:p>
        </p:txBody>
      </p:sp>
      <p:sp>
        <p:nvSpPr>
          <p:cNvPr id="2" name="正方形/長方形 1">
            <a:extLst>
              <a:ext uri="{FF2B5EF4-FFF2-40B4-BE49-F238E27FC236}">
                <a16:creationId xmlns:a16="http://schemas.microsoft.com/office/drawing/2014/main" id="{00B19FBA-B74F-4E88-0389-543A882445EE}"/>
              </a:ext>
            </a:extLst>
          </p:cNvPr>
          <p:cNvSpPr/>
          <p:nvPr userDrawn="1"/>
        </p:nvSpPr>
        <p:spPr>
          <a:xfrm>
            <a:off x="6933143" y="7209190"/>
            <a:ext cx="640572" cy="144000"/>
          </a:xfrm>
          <a:prstGeom prst="rect">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kumimoji="1" lang="en-US" altLang="ja-JP" sz="800" i="1" dirty="0">
                <a:solidFill>
                  <a:schemeClr val="bg1"/>
                </a:solidFill>
              </a:rPr>
              <a:t>Confidential</a:t>
            </a:r>
          </a:p>
        </p:txBody>
      </p:sp>
    </p:spTree>
    <p:extLst>
      <p:ext uri="{BB962C8B-B14F-4D97-AF65-F5344CB8AC3E}">
        <p14:creationId xmlns:p14="http://schemas.microsoft.com/office/powerpoint/2010/main" val="18809509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本編1">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BA577B03-0430-76D0-A4E3-BD118824A3F8}"/>
              </a:ext>
            </a:extLst>
          </p:cNvPr>
          <p:cNvSpPr/>
          <p:nvPr userDrawn="1"/>
        </p:nvSpPr>
        <p:spPr>
          <a:xfrm>
            <a:off x="-1" y="0"/>
            <a:ext cx="10691814" cy="666000"/>
          </a:xfrm>
          <a:prstGeom prst="rect">
            <a:avLst/>
          </a:prstGeom>
          <a:gradFill>
            <a:gsLst>
              <a:gs pos="88000">
                <a:srgbClr val="006AB1"/>
              </a:gs>
              <a:gs pos="5000">
                <a:schemeClr val="tx2"/>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dirty="0"/>
          </a:p>
        </p:txBody>
      </p:sp>
      <p:sp>
        <p:nvSpPr>
          <p:cNvPr id="31" name="フリーフォーム: 図形 30">
            <a:extLst>
              <a:ext uri="{FF2B5EF4-FFF2-40B4-BE49-F238E27FC236}">
                <a16:creationId xmlns:a16="http://schemas.microsoft.com/office/drawing/2014/main" id="{D9CC89AC-0069-75DF-7665-F8D290946A33}"/>
              </a:ext>
            </a:extLst>
          </p:cNvPr>
          <p:cNvSpPr/>
          <p:nvPr userDrawn="1"/>
        </p:nvSpPr>
        <p:spPr>
          <a:xfrm>
            <a:off x="6714554" y="0"/>
            <a:ext cx="1701594" cy="666001"/>
          </a:xfrm>
          <a:custGeom>
            <a:avLst/>
            <a:gdLst>
              <a:gd name="csX0" fmla="*/ 0 w 1701594"/>
              <a:gd name="csY0" fmla="*/ 0 h 666001"/>
              <a:gd name="csX1" fmla="*/ 1089255 w 1701594"/>
              <a:gd name="csY1" fmla="*/ 0 h 666001"/>
              <a:gd name="csX2" fmla="*/ 1382486 w 1701594"/>
              <a:gd name="csY2" fmla="*/ 0 h 666001"/>
              <a:gd name="csX3" fmla="*/ 1382486 w 1701594"/>
              <a:gd name="csY3" fmla="*/ 183 h 666001"/>
              <a:gd name="csX4" fmla="*/ 1701594 w 1701594"/>
              <a:gd name="csY4" fmla="*/ 381 h 666001"/>
              <a:gd name="csX5" fmla="*/ 1565532 w 1701594"/>
              <a:gd name="csY5" fmla="*/ 333001 h 666001"/>
              <a:gd name="csX6" fmla="*/ 1701594 w 1701594"/>
              <a:gd name="csY6" fmla="*/ 666001 h 666001"/>
              <a:gd name="csX7" fmla="*/ 1382486 w 1701594"/>
              <a:gd name="csY7" fmla="*/ 665803 h 666001"/>
              <a:gd name="csX8" fmla="*/ 1382486 w 1701594"/>
              <a:gd name="csY8" fmla="*/ 666000 h 666001"/>
              <a:gd name="csX9" fmla="*/ 0 w 1701594"/>
              <a:gd name="csY9" fmla="*/ 666000 h 6660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701594" h="666001">
                <a:moveTo>
                  <a:pt x="0" y="0"/>
                </a:moveTo>
                <a:lnTo>
                  <a:pt x="1089255" y="0"/>
                </a:lnTo>
                <a:lnTo>
                  <a:pt x="1382486" y="0"/>
                </a:lnTo>
                <a:lnTo>
                  <a:pt x="1382486" y="183"/>
                </a:lnTo>
                <a:lnTo>
                  <a:pt x="1701594" y="381"/>
                </a:lnTo>
                <a:lnTo>
                  <a:pt x="1565532" y="333001"/>
                </a:lnTo>
                <a:lnTo>
                  <a:pt x="1701594" y="666001"/>
                </a:lnTo>
                <a:lnTo>
                  <a:pt x="1382486" y="665803"/>
                </a:lnTo>
                <a:lnTo>
                  <a:pt x="1382486" y="666000"/>
                </a:lnTo>
                <a:lnTo>
                  <a:pt x="0" y="666000"/>
                </a:lnTo>
                <a:close/>
              </a:path>
            </a:pathLst>
          </a:custGeom>
          <a:gradFill>
            <a:gsLst>
              <a:gs pos="96000">
                <a:schemeClr val="accent4"/>
              </a:gs>
              <a:gs pos="46000">
                <a:schemeClr val="tx2">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sz="2263" dirty="0"/>
          </a:p>
        </p:txBody>
      </p:sp>
      <p:sp>
        <p:nvSpPr>
          <p:cNvPr id="3" name="字幕 2">
            <a:extLst>
              <a:ext uri="{FF2B5EF4-FFF2-40B4-BE49-F238E27FC236}">
                <a16:creationId xmlns:a16="http://schemas.microsoft.com/office/drawing/2014/main" id="{E4C44029-31FF-A9F7-06AC-0A055C09D50F}"/>
              </a:ext>
            </a:extLst>
          </p:cNvPr>
          <p:cNvSpPr>
            <a:spLocks noGrp="1"/>
          </p:cNvSpPr>
          <p:nvPr>
            <p:ph type="subTitle" idx="1"/>
          </p:nvPr>
        </p:nvSpPr>
        <p:spPr>
          <a:xfrm>
            <a:off x="460675" y="830046"/>
            <a:ext cx="9781875" cy="241861"/>
          </a:xfrm>
          <a:prstGeom prst="rect">
            <a:avLst/>
          </a:prstGeom>
        </p:spPr>
        <p:txBody>
          <a:bodyPr wrap="square" lIns="0" tIns="0" rIns="0" bIns="0">
            <a:spAutoFit/>
          </a:bodyPr>
          <a:lstStyle>
            <a:lvl1pPr marL="0" indent="0" algn="l">
              <a:lnSpc>
                <a:spcPct val="120000"/>
              </a:lnSpc>
              <a:spcBef>
                <a:spcPts val="0"/>
              </a:spcBef>
              <a:buNone/>
              <a:defRPr sz="1400" b="1" spc="55" baseline="0">
                <a:latin typeface="+mj-ea"/>
                <a:ea typeface="+mj-ea"/>
              </a:defRPr>
            </a:lvl1pPr>
            <a:lvl2pPr marL="503972" indent="0" algn="ctr">
              <a:buNone/>
              <a:defRPr sz="2205"/>
            </a:lvl2pPr>
            <a:lvl3pPr marL="1007943" indent="0" algn="ctr">
              <a:buNone/>
              <a:defRPr sz="1984"/>
            </a:lvl3pPr>
            <a:lvl4pPr marL="1511915" indent="0" algn="ctr">
              <a:buNone/>
              <a:defRPr sz="1764"/>
            </a:lvl4pPr>
            <a:lvl5pPr marL="2015886" indent="0" algn="ctr">
              <a:buNone/>
              <a:defRPr sz="1764"/>
            </a:lvl5pPr>
            <a:lvl6pPr marL="2519858" indent="0" algn="ctr">
              <a:buNone/>
              <a:defRPr sz="1764"/>
            </a:lvl6pPr>
            <a:lvl7pPr marL="3023829" indent="0" algn="ctr">
              <a:buNone/>
              <a:defRPr sz="1764"/>
            </a:lvl7pPr>
            <a:lvl8pPr marL="3527801" indent="0" algn="ctr">
              <a:buNone/>
              <a:defRPr sz="1764"/>
            </a:lvl8pPr>
            <a:lvl9pPr marL="4031772" indent="0" algn="ctr">
              <a:buNone/>
              <a:defRPr sz="1764"/>
            </a:lvl9pPr>
          </a:lstStyle>
          <a:p>
            <a:r>
              <a:rPr kumimoji="1" lang="ja-JP" altLang="en-US" dirty="0"/>
              <a:t>マスター サブタイトルの書式設定</a:t>
            </a:r>
          </a:p>
        </p:txBody>
      </p:sp>
      <p:sp>
        <p:nvSpPr>
          <p:cNvPr id="6" name="テキスト ボックス 5">
            <a:extLst>
              <a:ext uri="{FF2B5EF4-FFF2-40B4-BE49-F238E27FC236}">
                <a16:creationId xmlns:a16="http://schemas.microsoft.com/office/drawing/2014/main" id="{C06A0380-DE0F-1825-615F-4DBC89C8C6DB}"/>
              </a:ext>
            </a:extLst>
          </p:cNvPr>
          <p:cNvSpPr txBox="1"/>
          <p:nvPr userDrawn="1"/>
        </p:nvSpPr>
        <p:spPr>
          <a:xfrm>
            <a:off x="9865023" y="7202817"/>
            <a:ext cx="579140" cy="152669"/>
          </a:xfrm>
          <a:prstGeom prst="rect">
            <a:avLst/>
          </a:prstGeom>
          <a:noFill/>
        </p:spPr>
        <p:txBody>
          <a:bodyPr wrap="square" lIns="0" tIns="0" rIns="0" bIns="0" rtlCol="0">
            <a:noAutofit/>
          </a:bodyPr>
          <a:lstStyle/>
          <a:p>
            <a:pPr algn="r"/>
            <a:fld id="{4A9C97F8-90FE-457F-983C-96DAC3349EFE}" type="slidenum">
              <a:rPr kumimoji="1" lang="ja-JP" altLang="en-US" sz="992" smtClean="0">
                <a:solidFill>
                  <a:schemeClr val="accent1"/>
                </a:solidFill>
                <a:latin typeface="+mj-lt"/>
              </a:rPr>
              <a:pPr algn="r"/>
              <a:t>‹#›</a:t>
            </a:fld>
            <a:endParaRPr kumimoji="1" lang="ja-JP" altLang="en-US" sz="992" dirty="0">
              <a:solidFill>
                <a:schemeClr val="accent1"/>
              </a:solidFill>
              <a:latin typeface="+mj-lt"/>
            </a:endParaRPr>
          </a:p>
        </p:txBody>
      </p:sp>
      <p:pic>
        <p:nvPicPr>
          <p:cNvPr id="8" name="グラフィックス 7">
            <a:extLst>
              <a:ext uri="{FF2B5EF4-FFF2-40B4-BE49-F238E27FC236}">
                <a16:creationId xmlns:a16="http://schemas.microsoft.com/office/drawing/2014/main" id="{15124CEF-AA7F-DF16-7A5C-692E9AB7616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04801" y="7086114"/>
            <a:ext cx="1625600" cy="322220"/>
          </a:xfrm>
          <a:prstGeom prst="rect">
            <a:avLst/>
          </a:prstGeom>
        </p:spPr>
      </p:pic>
      <p:grpSp>
        <p:nvGrpSpPr>
          <p:cNvPr id="26" name="グループ化 25">
            <a:extLst>
              <a:ext uri="{FF2B5EF4-FFF2-40B4-BE49-F238E27FC236}">
                <a16:creationId xmlns:a16="http://schemas.microsoft.com/office/drawing/2014/main" id="{2864EB89-7DDA-1F5E-BB78-27D39C8659FC}"/>
              </a:ext>
            </a:extLst>
          </p:cNvPr>
          <p:cNvGrpSpPr/>
          <p:nvPr userDrawn="1"/>
        </p:nvGrpSpPr>
        <p:grpSpPr>
          <a:xfrm>
            <a:off x="-1" y="0"/>
            <a:ext cx="252001" cy="666000"/>
            <a:chOff x="-1" y="0"/>
            <a:chExt cx="252001" cy="666000"/>
          </a:xfrm>
        </p:grpSpPr>
        <p:cxnSp>
          <p:nvCxnSpPr>
            <p:cNvPr id="19" name="直線コネクタ 18">
              <a:extLst>
                <a:ext uri="{FF2B5EF4-FFF2-40B4-BE49-F238E27FC236}">
                  <a16:creationId xmlns:a16="http://schemas.microsoft.com/office/drawing/2014/main" id="{05B82C66-0A6E-C82F-B38C-D4495200FAA8}"/>
                </a:ext>
              </a:extLst>
            </p:cNvPr>
            <p:cNvCxnSpPr>
              <a:cxnSpLocks/>
            </p:cNvCxnSpPr>
            <p:nvPr userDrawn="1"/>
          </p:nvCxnSpPr>
          <p:spPr>
            <a:xfrm>
              <a:off x="0" y="333000"/>
              <a:ext cx="252000"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sp>
          <p:nvSpPr>
            <p:cNvPr id="11" name="正方形/長方形 10">
              <a:extLst>
                <a:ext uri="{FF2B5EF4-FFF2-40B4-BE49-F238E27FC236}">
                  <a16:creationId xmlns:a16="http://schemas.microsoft.com/office/drawing/2014/main" id="{A6BFD29D-964D-B44D-88A5-439ACA448282}"/>
                </a:ext>
              </a:extLst>
            </p:cNvPr>
            <p:cNvSpPr/>
            <p:nvPr userDrawn="1"/>
          </p:nvSpPr>
          <p:spPr>
            <a:xfrm>
              <a:off x="-1" y="0"/>
              <a:ext cx="108000" cy="666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cxnSp>
          <p:nvCxnSpPr>
            <p:cNvPr id="18" name="直線コネクタ 17">
              <a:extLst>
                <a:ext uri="{FF2B5EF4-FFF2-40B4-BE49-F238E27FC236}">
                  <a16:creationId xmlns:a16="http://schemas.microsoft.com/office/drawing/2014/main" id="{B87BA5C7-32E9-C506-2110-1D5AFE77B082}"/>
                </a:ext>
              </a:extLst>
            </p:cNvPr>
            <p:cNvCxnSpPr>
              <a:cxnSpLocks/>
            </p:cNvCxnSpPr>
            <p:nvPr userDrawn="1"/>
          </p:nvCxnSpPr>
          <p:spPr>
            <a:xfrm>
              <a:off x="-1" y="333000"/>
              <a:ext cx="108000" cy="0"/>
            </a:xfrm>
            <a:prstGeom prst="line">
              <a:avLst/>
            </a:prstGeom>
            <a:ln>
              <a:solidFill>
                <a:schemeClr val="tx2"/>
              </a:solidFill>
            </a:ln>
          </p:spPr>
          <p:style>
            <a:lnRef idx="2">
              <a:schemeClr val="accent1"/>
            </a:lnRef>
            <a:fillRef idx="0">
              <a:schemeClr val="accent1"/>
            </a:fillRef>
            <a:effectRef idx="1">
              <a:schemeClr val="accent1"/>
            </a:effectRef>
            <a:fontRef idx="minor">
              <a:schemeClr val="tx1"/>
            </a:fontRef>
          </p:style>
        </p:cxnSp>
      </p:grpSp>
      <p:sp>
        <p:nvSpPr>
          <p:cNvPr id="2" name="タイトル 1">
            <a:extLst>
              <a:ext uri="{FF2B5EF4-FFF2-40B4-BE49-F238E27FC236}">
                <a16:creationId xmlns:a16="http://schemas.microsoft.com/office/drawing/2014/main" id="{1DA08165-590D-BD55-05E9-10B2D6F8DD63}"/>
              </a:ext>
            </a:extLst>
          </p:cNvPr>
          <p:cNvSpPr>
            <a:spLocks noGrp="1"/>
          </p:cNvSpPr>
          <p:nvPr userDrawn="1">
            <p:ph type="ctrTitle"/>
          </p:nvPr>
        </p:nvSpPr>
        <p:spPr>
          <a:xfrm>
            <a:off x="341313" y="180296"/>
            <a:ext cx="7799917" cy="339267"/>
          </a:xfrm>
          <a:prstGeom prst="rect">
            <a:avLst/>
          </a:prstGeom>
        </p:spPr>
        <p:txBody>
          <a:bodyPr wrap="square" lIns="0" tIns="0" rIns="0" bIns="0" anchor="ctr">
            <a:spAutoFit/>
          </a:bodyPr>
          <a:lstStyle>
            <a:lvl1pPr algn="l">
              <a:lnSpc>
                <a:spcPct val="100000"/>
              </a:lnSpc>
              <a:defRPr sz="2200" b="1" spc="77" baseline="0">
                <a:solidFill>
                  <a:schemeClr val="bg1"/>
                </a:solidFill>
                <a:latin typeface="+mj-lt"/>
              </a:defRPr>
            </a:lvl1pPr>
          </a:lstStyle>
          <a:p>
            <a:r>
              <a:rPr kumimoji="1" lang="ja-JP" altLang="en-US" dirty="0"/>
              <a:t>マスター タイトルの書式設定</a:t>
            </a:r>
          </a:p>
        </p:txBody>
      </p:sp>
      <p:sp>
        <p:nvSpPr>
          <p:cNvPr id="30" name="フリーフォーム: 図形 29">
            <a:extLst>
              <a:ext uri="{FF2B5EF4-FFF2-40B4-BE49-F238E27FC236}">
                <a16:creationId xmlns:a16="http://schemas.microsoft.com/office/drawing/2014/main" id="{0AA6A414-726D-CCFA-2EF2-5B8503BE0A88}"/>
              </a:ext>
            </a:extLst>
          </p:cNvPr>
          <p:cNvSpPr/>
          <p:nvPr userDrawn="1"/>
        </p:nvSpPr>
        <p:spPr>
          <a:xfrm>
            <a:off x="6386286" y="0"/>
            <a:ext cx="1701594" cy="666001"/>
          </a:xfrm>
          <a:custGeom>
            <a:avLst/>
            <a:gdLst>
              <a:gd name="csX0" fmla="*/ 0 w 1701594"/>
              <a:gd name="csY0" fmla="*/ 0 h 666001"/>
              <a:gd name="csX1" fmla="*/ 1089255 w 1701594"/>
              <a:gd name="csY1" fmla="*/ 0 h 666001"/>
              <a:gd name="csX2" fmla="*/ 1382486 w 1701594"/>
              <a:gd name="csY2" fmla="*/ 0 h 666001"/>
              <a:gd name="csX3" fmla="*/ 1382486 w 1701594"/>
              <a:gd name="csY3" fmla="*/ 183 h 666001"/>
              <a:gd name="csX4" fmla="*/ 1701594 w 1701594"/>
              <a:gd name="csY4" fmla="*/ 381 h 666001"/>
              <a:gd name="csX5" fmla="*/ 1565532 w 1701594"/>
              <a:gd name="csY5" fmla="*/ 333001 h 666001"/>
              <a:gd name="csX6" fmla="*/ 1701594 w 1701594"/>
              <a:gd name="csY6" fmla="*/ 666001 h 666001"/>
              <a:gd name="csX7" fmla="*/ 1382486 w 1701594"/>
              <a:gd name="csY7" fmla="*/ 665803 h 666001"/>
              <a:gd name="csX8" fmla="*/ 1382486 w 1701594"/>
              <a:gd name="csY8" fmla="*/ 666000 h 666001"/>
              <a:gd name="csX9" fmla="*/ 0 w 1701594"/>
              <a:gd name="csY9" fmla="*/ 666000 h 6660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701594" h="666001">
                <a:moveTo>
                  <a:pt x="0" y="0"/>
                </a:moveTo>
                <a:lnTo>
                  <a:pt x="1089255" y="0"/>
                </a:lnTo>
                <a:lnTo>
                  <a:pt x="1382486" y="0"/>
                </a:lnTo>
                <a:lnTo>
                  <a:pt x="1382486" y="183"/>
                </a:lnTo>
                <a:lnTo>
                  <a:pt x="1701594" y="381"/>
                </a:lnTo>
                <a:lnTo>
                  <a:pt x="1565532" y="333001"/>
                </a:lnTo>
                <a:lnTo>
                  <a:pt x="1701594" y="666001"/>
                </a:lnTo>
                <a:lnTo>
                  <a:pt x="1382486" y="665803"/>
                </a:lnTo>
                <a:lnTo>
                  <a:pt x="1382486" y="666000"/>
                </a:lnTo>
                <a:lnTo>
                  <a:pt x="0" y="666000"/>
                </a:lnTo>
                <a:close/>
              </a:path>
            </a:pathLst>
          </a:custGeom>
          <a:gradFill>
            <a:gsLst>
              <a:gs pos="100000">
                <a:schemeClr val="accent4"/>
              </a:gs>
              <a:gs pos="8000">
                <a:srgbClr val="0167AB">
                  <a:alpha val="0"/>
                </a:srgb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sz="2263"/>
          </a:p>
        </p:txBody>
      </p:sp>
      <p:sp>
        <p:nvSpPr>
          <p:cNvPr id="33" name="Google Shape;14;p31">
            <a:extLst>
              <a:ext uri="{FF2B5EF4-FFF2-40B4-BE49-F238E27FC236}">
                <a16:creationId xmlns:a16="http://schemas.microsoft.com/office/drawing/2014/main" id="{273032A6-EBE9-0147-F9C2-495CA12FDE28}"/>
              </a:ext>
            </a:extLst>
          </p:cNvPr>
          <p:cNvSpPr/>
          <p:nvPr userDrawn="1"/>
        </p:nvSpPr>
        <p:spPr>
          <a:xfrm>
            <a:off x="5516123" y="7220572"/>
            <a:ext cx="4572000" cy="107722"/>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ja-JP" sz="700" b="0" i="0" u="none" strike="noStrike" cap="none" dirty="0">
                <a:solidFill>
                  <a:schemeClr val="accent1"/>
                </a:solidFill>
                <a:latin typeface="Arial"/>
                <a:ea typeface="Arial"/>
                <a:cs typeface="Arial"/>
                <a:sym typeface="Arial"/>
              </a:rPr>
              <a:t>Copyright© M＆A Succession Group Inc. All Right Reserved</a:t>
            </a:r>
            <a:endParaRPr sz="700" b="0" i="0" u="none" strike="noStrike" cap="none" dirty="0">
              <a:solidFill>
                <a:schemeClr val="accent1"/>
              </a:solidFill>
              <a:latin typeface="Arial"/>
              <a:ea typeface="Arial"/>
              <a:cs typeface="Arial"/>
              <a:sym typeface="Arial"/>
            </a:endParaRPr>
          </a:p>
        </p:txBody>
      </p:sp>
      <p:sp>
        <p:nvSpPr>
          <p:cNvPr id="5" name="正方形/長方形 4">
            <a:extLst>
              <a:ext uri="{FF2B5EF4-FFF2-40B4-BE49-F238E27FC236}">
                <a16:creationId xmlns:a16="http://schemas.microsoft.com/office/drawing/2014/main" id="{283DDC2C-ECEE-530D-9F1C-6564A5A2BAB9}"/>
              </a:ext>
            </a:extLst>
          </p:cNvPr>
          <p:cNvSpPr/>
          <p:nvPr userDrawn="1"/>
        </p:nvSpPr>
        <p:spPr>
          <a:xfrm>
            <a:off x="6933143" y="7209190"/>
            <a:ext cx="640572" cy="144000"/>
          </a:xfrm>
          <a:prstGeom prst="rect">
            <a:avLst/>
          </a:pr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kumimoji="1" lang="en-US" altLang="ja-JP" sz="800" i="1" dirty="0">
                <a:solidFill>
                  <a:schemeClr val="accent1"/>
                </a:solidFill>
              </a:rPr>
              <a:t>Confidential</a:t>
            </a:r>
          </a:p>
        </p:txBody>
      </p:sp>
    </p:spTree>
    <p:extLst>
      <p:ext uri="{BB962C8B-B14F-4D97-AF65-F5344CB8AC3E}">
        <p14:creationId xmlns:p14="http://schemas.microsoft.com/office/powerpoint/2010/main" val="2627557559"/>
      </p:ext>
    </p:extLst>
  </p:cSld>
  <p:clrMapOvr>
    <a:masterClrMapping/>
  </p:clrMapOvr>
  <p:extLst>
    <p:ext uri="{DCECCB84-F9BA-43D5-87BE-67443E8EF086}">
      <p15:sldGuideLst xmlns:p15="http://schemas.microsoft.com/office/powerpoint/2012/main">
        <p15:guide id="2" orient="horz" pos="4309">
          <p15:clr>
            <a:srgbClr val="FBAE40"/>
          </p15:clr>
        </p15:guide>
        <p15:guide id="3" pos="215">
          <p15:clr>
            <a:srgbClr val="A4A3A4"/>
          </p15:clr>
        </p15:guide>
        <p15:guide id="4" pos="6520">
          <p15:clr>
            <a:srgbClr val="A4A3A4"/>
          </p15:clr>
        </p15:guide>
        <p15:guide id="5" pos="283">
          <p15:clr>
            <a:srgbClr val="FBAE40"/>
          </p15:clr>
        </p15:guide>
        <p15:guide id="6" pos="645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表紙">
    <p:spTree>
      <p:nvGrpSpPr>
        <p:cNvPr id="1" name=""/>
        <p:cNvGrpSpPr/>
        <p:nvPr/>
      </p:nvGrpSpPr>
      <p:grpSpPr>
        <a:xfrm>
          <a:off x="0" y="0"/>
          <a:ext cx="0" cy="0"/>
          <a:chOff x="0" y="0"/>
          <a:chExt cx="0" cy="0"/>
        </a:xfrm>
      </p:grpSpPr>
      <p:pic>
        <p:nvPicPr>
          <p:cNvPr id="3" name="図 2" descr="絵と文字の加工写真&#10;&#10;AI 生成コンテンツは誤りを含む可能性があります。">
            <a:extLst>
              <a:ext uri="{FF2B5EF4-FFF2-40B4-BE49-F238E27FC236}">
                <a16:creationId xmlns:a16="http://schemas.microsoft.com/office/drawing/2014/main" id="{995F6558-5E48-7ACD-5E2F-54EE4A6825BC}"/>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sp>
        <p:nvSpPr>
          <p:cNvPr id="6" name="タイトル 1">
            <a:extLst>
              <a:ext uri="{FF2B5EF4-FFF2-40B4-BE49-F238E27FC236}">
                <a16:creationId xmlns:a16="http://schemas.microsoft.com/office/drawing/2014/main" id="{7D824756-0531-3BBA-09FB-CC8ACB55A36C}"/>
              </a:ext>
            </a:extLst>
          </p:cNvPr>
          <p:cNvSpPr>
            <a:spLocks noGrp="1"/>
          </p:cNvSpPr>
          <p:nvPr>
            <p:ph type="title"/>
          </p:nvPr>
        </p:nvSpPr>
        <p:spPr>
          <a:xfrm>
            <a:off x="885526" y="3467606"/>
            <a:ext cx="9221787" cy="738664"/>
          </a:xfrm>
          <a:prstGeom prst="rect">
            <a:avLst/>
          </a:prstGeom>
          <a:noFill/>
        </p:spPr>
        <p:txBody>
          <a:bodyPr wrap="square" lIns="0" tIns="0" rIns="0" bIns="0" rtlCol="0" anchor="ctr">
            <a:spAutoFit/>
          </a:bodyPr>
          <a:lstStyle>
            <a:lvl1pPr>
              <a:lnSpc>
                <a:spcPct val="100000"/>
              </a:lnSpc>
              <a:defRPr lang="ja-JP" altLang="en-US" sz="4800" b="1" spc="200">
                <a:latin typeface="+mj-lt"/>
                <a:cs typeface="+mn-cs"/>
              </a:defRPr>
            </a:lvl1pPr>
          </a:lstStyle>
          <a:p>
            <a:pPr marL="0" lvl="0" defTabSz="503972"/>
            <a:r>
              <a:rPr kumimoji="1" lang="ja-JP" altLang="en-US" dirty="0"/>
              <a:t>マスター タイトルの書式設定</a:t>
            </a:r>
          </a:p>
        </p:txBody>
      </p:sp>
      <p:pic>
        <p:nvPicPr>
          <p:cNvPr id="4" name="図 3" descr="図形&#10;&#10;中程度の精度で自動的に生成された説明">
            <a:extLst>
              <a:ext uri="{FF2B5EF4-FFF2-40B4-BE49-F238E27FC236}">
                <a16:creationId xmlns:a16="http://schemas.microsoft.com/office/drawing/2014/main" id="{DF75B97B-7722-5333-1DF6-425BD31B0F05}"/>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597898" y="641817"/>
            <a:ext cx="2996516" cy="594316"/>
          </a:xfrm>
          <a:prstGeom prst="rect">
            <a:avLst/>
          </a:prstGeom>
        </p:spPr>
      </p:pic>
      <p:sp>
        <p:nvSpPr>
          <p:cNvPr id="5" name="正方形/長方形 4">
            <a:extLst>
              <a:ext uri="{FF2B5EF4-FFF2-40B4-BE49-F238E27FC236}">
                <a16:creationId xmlns:a16="http://schemas.microsoft.com/office/drawing/2014/main" id="{E7F2AB3F-4E5C-EEA1-723A-7D941C02D057}"/>
              </a:ext>
            </a:extLst>
          </p:cNvPr>
          <p:cNvSpPr/>
          <p:nvPr userDrawn="1"/>
        </p:nvSpPr>
        <p:spPr>
          <a:xfrm>
            <a:off x="-1" y="-1"/>
            <a:ext cx="108000" cy="7560000"/>
          </a:xfrm>
          <a:prstGeom prst="rect">
            <a:avLst/>
          </a:prstGeom>
          <a:gradFill>
            <a:gsLst>
              <a:gs pos="100000">
                <a:schemeClr val="accent4"/>
              </a:gs>
              <a:gs pos="17000">
                <a:schemeClr val="tx2"/>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Tree>
    <p:extLst>
      <p:ext uri="{BB962C8B-B14F-4D97-AF65-F5344CB8AC3E}">
        <p14:creationId xmlns:p14="http://schemas.microsoft.com/office/powerpoint/2010/main" val="21111899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58542152"/>
      </p:ext>
    </p:extLst>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Lst>
  <p:txStyles>
    <p:titleStyle>
      <a:lvl1pPr algn="l" defTabSz="1007943" rtl="0" eaLnBrk="1" latinLnBrk="0" hangingPunct="1">
        <a:lnSpc>
          <a:spcPct val="90000"/>
        </a:lnSpc>
        <a:spcBef>
          <a:spcPct val="0"/>
        </a:spcBef>
        <a:buNone/>
        <a:defRPr kumimoji="1" sz="4850" kern="1200">
          <a:solidFill>
            <a:schemeClr val="tx1"/>
          </a:solidFill>
          <a:latin typeface="+mj-lt"/>
          <a:ea typeface="+mj-ea"/>
          <a:cs typeface="+mj-cs"/>
        </a:defRPr>
      </a:lvl1pPr>
    </p:titleStyle>
    <p:bodyStyle>
      <a:lvl1pPr marL="251986" indent="-251986" algn="l" defTabSz="1007943" rtl="0" eaLnBrk="1" latinLnBrk="0" hangingPunct="1">
        <a:lnSpc>
          <a:spcPct val="90000"/>
        </a:lnSpc>
        <a:spcBef>
          <a:spcPts val="1102"/>
        </a:spcBef>
        <a:buFont typeface="Arial" panose="020B0604020202020204" pitchFamily="34" charset="0"/>
        <a:buChar char="•"/>
        <a:defRPr kumimoji="1" sz="3086" kern="1200">
          <a:solidFill>
            <a:schemeClr val="tx1"/>
          </a:solidFill>
          <a:latin typeface="+mn-lt"/>
          <a:ea typeface="+mn-ea"/>
          <a:cs typeface="+mn-cs"/>
        </a:defRPr>
      </a:lvl1pPr>
      <a:lvl2pPr marL="755957" indent="-251986" algn="l" defTabSz="1007943" rtl="0" eaLnBrk="1" latinLnBrk="0" hangingPunct="1">
        <a:lnSpc>
          <a:spcPct val="90000"/>
        </a:lnSpc>
        <a:spcBef>
          <a:spcPts val="551"/>
        </a:spcBef>
        <a:buFont typeface="Arial" panose="020B0604020202020204" pitchFamily="34" charset="0"/>
        <a:buChar char="•"/>
        <a:defRPr kumimoji="1" sz="2646" kern="1200">
          <a:solidFill>
            <a:schemeClr val="tx1"/>
          </a:solidFill>
          <a:latin typeface="+mn-lt"/>
          <a:ea typeface="+mn-ea"/>
          <a:cs typeface="+mn-cs"/>
        </a:defRPr>
      </a:lvl2pPr>
      <a:lvl3pPr marL="1259929" indent="-251986" algn="l" defTabSz="1007943" rtl="0" eaLnBrk="1" latinLnBrk="0" hangingPunct="1">
        <a:lnSpc>
          <a:spcPct val="90000"/>
        </a:lnSpc>
        <a:spcBef>
          <a:spcPts val="551"/>
        </a:spcBef>
        <a:buFont typeface="Arial" panose="020B0604020202020204" pitchFamily="34" charset="0"/>
        <a:buChar char="•"/>
        <a:defRPr kumimoji="1" sz="2205" kern="1200">
          <a:solidFill>
            <a:schemeClr val="tx1"/>
          </a:solidFill>
          <a:latin typeface="+mn-lt"/>
          <a:ea typeface="+mn-ea"/>
          <a:cs typeface="+mn-cs"/>
        </a:defRPr>
      </a:lvl3pPr>
      <a:lvl4pPr marL="1763900"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4pPr>
      <a:lvl5pPr marL="2267872"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5pPr>
      <a:lvl6pPr marL="2771844"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6pPr>
      <a:lvl7pPr marL="3275815"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7pPr>
      <a:lvl8pPr marL="3779787"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8pPr>
      <a:lvl9pPr marL="4283758"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9pPr>
    </p:bodyStyle>
    <p:otherStyle>
      <a:defPPr>
        <a:defRPr lang="ja-JP"/>
      </a:defPPr>
      <a:lvl1pPr marL="0" algn="l" defTabSz="1007943" rtl="0" eaLnBrk="1" latinLnBrk="0" hangingPunct="1">
        <a:defRPr kumimoji="1" sz="1984" kern="1200">
          <a:solidFill>
            <a:schemeClr val="tx1"/>
          </a:solidFill>
          <a:latin typeface="+mn-lt"/>
          <a:ea typeface="+mn-ea"/>
          <a:cs typeface="+mn-cs"/>
        </a:defRPr>
      </a:lvl1pPr>
      <a:lvl2pPr marL="503972" algn="l" defTabSz="1007943" rtl="0" eaLnBrk="1" latinLnBrk="0" hangingPunct="1">
        <a:defRPr kumimoji="1" sz="1984" kern="1200">
          <a:solidFill>
            <a:schemeClr val="tx1"/>
          </a:solidFill>
          <a:latin typeface="+mn-lt"/>
          <a:ea typeface="+mn-ea"/>
          <a:cs typeface="+mn-cs"/>
        </a:defRPr>
      </a:lvl2pPr>
      <a:lvl3pPr marL="1007943" algn="l" defTabSz="1007943" rtl="0" eaLnBrk="1" latinLnBrk="0" hangingPunct="1">
        <a:defRPr kumimoji="1" sz="1984" kern="1200">
          <a:solidFill>
            <a:schemeClr val="tx1"/>
          </a:solidFill>
          <a:latin typeface="+mn-lt"/>
          <a:ea typeface="+mn-ea"/>
          <a:cs typeface="+mn-cs"/>
        </a:defRPr>
      </a:lvl3pPr>
      <a:lvl4pPr marL="1511915" algn="l" defTabSz="1007943" rtl="0" eaLnBrk="1" latinLnBrk="0" hangingPunct="1">
        <a:defRPr kumimoji="1" sz="1984" kern="1200">
          <a:solidFill>
            <a:schemeClr val="tx1"/>
          </a:solidFill>
          <a:latin typeface="+mn-lt"/>
          <a:ea typeface="+mn-ea"/>
          <a:cs typeface="+mn-cs"/>
        </a:defRPr>
      </a:lvl4pPr>
      <a:lvl5pPr marL="2015886" algn="l" defTabSz="1007943" rtl="0" eaLnBrk="1" latinLnBrk="0" hangingPunct="1">
        <a:defRPr kumimoji="1" sz="1984" kern="1200">
          <a:solidFill>
            <a:schemeClr val="tx1"/>
          </a:solidFill>
          <a:latin typeface="+mn-lt"/>
          <a:ea typeface="+mn-ea"/>
          <a:cs typeface="+mn-cs"/>
        </a:defRPr>
      </a:lvl5pPr>
      <a:lvl6pPr marL="2519858" algn="l" defTabSz="1007943" rtl="0" eaLnBrk="1" latinLnBrk="0" hangingPunct="1">
        <a:defRPr kumimoji="1" sz="1984" kern="1200">
          <a:solidFill>
            <a:schemeClr val="tx1"/>
          </a:solidFill>
          <a:latin typeface="+mn-lt"/>
          <a:ea typeface="+mn-ea"/>
          <a:cs typeface="+mn-cs"/>
        </a:defRPr>
      </a:lvl6pPr>
      <a:lvl7pPr marL="3023829" algn="l" defTabSz="1007943" rtl="0" eaLnBrk="1" latinLnBrk="0" hangingPunct="1">
        <a:defRPr kumimoji="1" sz="1984" kern="1200">
          <a:solidFill>
            <a:schemeClr val="tx1"/>
          </a:solidFill>
          <a:latin typeface="+mn-lt"/>
          <a:ea typeface="+mn-ea"/>
          <a:cs typeface="+mn-cs"/>
        </a:defRPr>
      </a:lvl7pPr>
      <a:lvl8pPr marL="3527801" algn="l" defTabSz="1007943" rtl="0" eaLnBrk="1" latinLnBrk="0" hangingPunct="1">
        <a:defRPr kumimoji="1" sz="1984" kern="1200">
          <a:solidFill>
            <a:schemeClr val="tx1"/>
          </a:solidFill>
          <a:latin typeface="+mn-lt"/>
          <a:ea typeface="+mn-ea"/>
          <a:cs typeface="+mn-cs"/>
        </a:defRPr>
      </a:lvl8pPr>
      <a:lvl9pPr marL="4031772" algn="l" defTabSz="1007943" rtl="0" eaLnBrk="1" latinLnBrk="0" hangingPunct="1">
        <a:defRPr kumimoji="1" sz="1984"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image" Target="../media/image10.em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11.e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12.em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13.e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14.em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15.emf"/><Relationship Id="rId4" Type="http://schemas.openxmlformats.org/officeDocument/2006/relationships/chart" Target="../charts/char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 Id="rId3" Type="http://schemas.openxmlformats.org/officeDocument/2006/relationships/image" Target="../media/image16.emf"/><Relationship Id="rId4" Type="http://schemas.openxmlformats.org/officeDocument/2006/relationships/image" Target="../media/image17.em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 Id="rId3" Type="http://schemas.openxmlformats.org/officeDocument/2006/relationships/image" Target="../media/image18.em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 Id="rId3" Type="http://schemas.openxmlformats.org/officeDocument/2006/relationships/image" Target="../media/image19.png"/><Relationship Id="rId4" Type="http://schemas.openxmlformats.org/officeDocument/2006/relationships/image" Target="../media/image20.png"/><Relationship Id="rId5" Type="http://schemas.microsoft.com/office/2007/relationships/hdphoto" Target="../media/hdphoto1.wdp"/><Relationship Id="rId6" Type="http://schemas.openxmlformats.org/officeDocument/2006/relationships/image" Target="../media/image21.em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 Id="rId3" Type="http://schemas.openxmlformats.org/officeDocument/2006/relationships/image" Target="../media/image22.emf"/><Relationship Id="rId4" Type="http://schemas.openxmlformats.org/officeDocument/2006/relationships/image" Target="../media/image23.em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4.jpeg"/><Relationship Id="rId3" Type="http://schemas.openxmlformats.org/officeDocument/2006/relationships/image" Target="../media/image8.png"/><Relationship Id="rId4" Type="http://schemas.openxmlformats.org/officeDocument/2006/relationships/image" Target="../media/image9.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8E6EF2-E355-DFA0-0FDA-00C6AAD69C4F}"/>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F0EAAA34-63BD-2868-6F6F-9550B61A0EE2}"/>
              </a:ext>
            </a:extLst>
          </p:cNvPr>
          <p:cNvSpPr>
            <a:spLocks noGrp="1"/>
          </p:cNvSpPr>
          <p:nvPr>
            <p:ph type="title"/>
          </p:nvPr>
        </p:nvSpPr>
        <p:spPr/>
        <p:txBody>
          <a:bodyPr/>
          <a:lstStyle/>
          <a:p>
            <a:r>
              <a:rPr lang="ja-JP" altLang="en-US" dirty="0"/>
              <a:t>企業概要書 </a:t>
            </a:r>
            <a:r>
              <a:rPr lang="en-US" altLang="ja-JP" sz="2400" dirty="0"/>
              <a:t>&lt;青果卸売業／東北&gt;</a:t>
            </a:r>
            <a:r>
              <a:rPr lang="ja-JP" altLang="en-US" sz="2400" dirty="0"/>
              <a:t/>
            </a:r>
            <a:r>
              <a:rPr lang="en-US" altLang="ja-JP" sz="2400" dirty="0"/>
              <a:t/>
            </a:r>
            <a:r>
              <a:rPr lang="ja-JP" altLang="en-US" sz="2400" dirty="0"/>
              <a:t/>
            </a:r>
            <a:r>
              <a:rPr lang="en-US" altLang="ja-JP" sz="2400" dirty="0"/>
              <a:t/>
            </a:r>
            <a:r>
              <a:rPr lang="ja-JP" altLang="en-US" dirty="0"/>
              <a:t/>
            </a:r>
          </a:p>
        </p:txBody>
      </p:sp>
      <p:cxnSp>
        <p:nvCxnSpPr>
          <p:cNvPr id="11" name="直線コネクタ 10">
            <a:extLst>
              <a:ext uri="{FF2B5EF4-FFF2-40B4-BE49-F238E27FC236}">
                <a16:creationId xmlns:a16="http://schemas.microsoft.com/office/drawing/2014/main" id="{B552F00F-DAC8-72B9-D861-43E1B7EF96E4}"/>
              </a:ext>
            </a:extLst>
          </p:cNvPr>
          <p:cNvCxnSpPr>
            <a:cxnSpLocks/>
          </p:cNvCxnSpPr>
          <p:nvPr/>
        </p:nvCxnSpPr>
        <p:spPr>
          <a:xfrm>
            <a:off x="885526" y="4272782"/>
            <a:ext cx="6767299"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6" name="タイトル 2">
            <a:extLst>
              <a:ext uri="{FF2B5EF4-FFF2-40B4-BE49-F238E27FC236}">
                <a16:creationId xmlns:a16="http://schemas.microsoft.com/office/drawing/2014/main" id="{483B0F4A-40C8-4F5B-4490-660AE728BBA5}"/>
              </a:ext>
            </a:extLst>
          </p:cNvPr>
          <p:cNvSpPr txBox="1">
            <a:spLocks/>
          </p:cNvSpPr>
          <p:nvPr/>
        </p:nvSpPr>
        <p:spPr>
          <a:xfrm>
            <a:off x="941798" y="4043874"/>
            <a:ext cx="9221787" cy="738664"/>
          </a:xfrm>
          <a:prstGeom prst="rect">
            <a:avLst/>
          </a:prstGeom>
          <a:noFill/>
        </p:spPr>
        <p:txBody>
          <a:bodyPr wrap="square" lIns="0" tIns="0" rIns="0" bIns="0" rtlCol="0" anchor="ctr">
            <a:spAutoFit/>
          </a:bodyPr>
          <a:lstStyle>
            <a:lvl1pPr algn="l" defTabSz="1007943" rtl="0" eaLnBrk="1" latinLnBrk="0" hangingPunct="1">
              <a:lnSpc>
                <a:spcPct val="100000"/>
              </a:lnSpc>
              <a:spcBef>
                <a:spcPct val="0"/>
              </a:spcBef>
              <a:buNone/>
              <a:defRPr kumimoji="1" lang="ja-JP" altLang="en-US" sz="4800" b="1" kern="1200" spc="200">
                <a:solidFill>
                  <a:schemeClr val="tx1"/>
                </a:solidFill>
                <a:latin typeface="+mj-lt"/>
                <a:ea typeface="+mj-ea"/>
                <a:cs typeface="+mn-cs"/>
              </a:defRPr>
            </a:lvl1pPr>
          </a:lstStyle>
          <a:p>
            <a:pPr>
              <a:buClrTx/>
              <a:buFontTx/>
            </a:pPr>
            <a:r>
              <a:rPr lang="en-US" altLang="ja-JP" sz="1800" dirty="0"/>
              <a:t>Information</a:t>
            </a:r>
            <a:r>
              <a:rPr lang="ja-JP" altLang="en-US" sz="1800" dirty="0"/>
              <a:t> </a:t>
            </a:r>
            <a:r>
              <a:rPr lang="en-US" altLang="ja-JP" sz="1800" dirty="0"/>
              <a:t>Memorandum</a:t>
            </a:r>
            <a:r>
              <a:rPr lang="zh-TW" altLang="en-US" dirty="0"/>
              <a:t>　</a:t>
            </a:r>
          </a:p>
        </p:txBody>
      </p:sp>
    </p:spTree>
    <p:extLst>
      <p:ext uri="{BB962C8B-B14F-4D97-AF65-F5344CB8AC3E}">
        <p14:creationId xmlns:p14="http://schemas.microsoft.com/office/powerpoint/2010/main" val="4336838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87;p2">
            <a:extLst>
              <a:ext uri="{FF2B5EF4-FFF2-40B4-BE49-F238E27FC236}">
                <a16:creationId xmlns:a16="http://schemas.microsoft.com/office/drawing/2014/main" id="{A92DF3A4-79D3-09CF-A0AF-2A2E9BAD2537}"/>
              </a:ext>
            </a:extLst>
          </p:cNvPr>
          <p:cNvSpPr txBox="1"/>
          <p:nvPr/>
        </p:nvSpPr>
        <p:spPr>
          <a:xfrm>
            <a:off x="449263" y="5738246"/>
            <a:ext cx="3372853"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defPPr>
              <a:defRPr lang="en-US"/>
            </a:defPPr>
            <a:lvl1pPr marL="180000" indent="-180000">
              <a:buClr>
                <a:schemeClr val="tx2"/>
              </a:buClr>
              <a:buSzPct val="100000"/>
              <a:buFont typeface="游ゴシック" panose="020B0400000000000000" pitchFamily="50" charset="-128"/>
              <a:buChar char="▌"/>
              <a:defRPr sz="1600" b="1" spc="50">
                <a:solidFill>
                  <a:schemeClr val="tx1"/>
                </a:solidFill>
                <a:latin typeface="+mj-ea"/>
                <a:ea typeface="+mj-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ja-JP" altLang="en-US" dirty="0"/>
              <a:t>本件のご照会先</a:t>
            </a:r>
          </a:p>
        </p:txBody>
      </p:sp>
      <p:graphicFrame>
        <p:nvGraphicFramePr>
          <p:cNvPr id="3" name="Google Shape;188;p2">
            <a:extLst>
              <a:ext uri="{FF2B5EF4-FFF2-40B4-BE49-F238E27FC236}">
                <a16:creationId xmlns:a16="http://schemas.microsoft.com/office/drawing/2014/main" id="{6A5E1FF5-E790-97CE-E190-6844BCDD57F5}"/>
              </a:ext>
            </a:extLst>
          </p:cNvPr>
          <p:cNvGraphicFramePr/>
          <p:nvPr>
            <p:extLst>
              <p:ext uri="{D42A27DB-BD31-4B8C-83A1-F6EECF244321}">
                <p14:modId xmlns:p14="http://schemas.microsoft.com/office/powerpoint/2010/main" val="3713220567"/>
              </p:ext>
            </p:extLst>
          </p:nvPr>
        </p:nvGraphicFramePr>
        <p:xfrm>
          <a:off x="449264" y="6120538"/>
          <a:ext cx="9793287" cy="720000"/>
        </p:xfrm>
        <a:graphic>
          <a:graphicData uri="http://schemas.openxmlformats.org/drawingml/2006/table">
            <a:tbl>
              <a:tblPr firstRow="1" bandRow="1">
                <a:noFill/>
              </a:tblPr>
              <a:tblGrid>
                <a:gridCol w="2448322">
                  <a:extLst>
                    <a:ext uri="{9D8B030D-6E8A-4147-A177-3AD203B41FA5}">
                      <a16:colId xmlns:a16="http://schemas.microsoft.com/office/drawing/2014/main" val="20000"/>
                    </a:ext>
                  </a:extLst>
                </a:gridCol>
                <a:gridCol w="2448321">
                  <a:extLst>
                    <a:ext uri="{9D8B030D-6E8A-4147-A177-3AD203B41FA5}">
                      <a16:colId xmlns:a16="http://schemas.microsoft.com/office/drawing/2014/main" val="20001"/>
                    </a:ext>
                  </a:extLst>
                </a:gridCol>
                <a:gridCol w="2448322">
                  <a:extLst>
                    <a:ext uri="{9D8B030D-6E8A-4147-A177-3AD203B41FA5}">
                      <a16:colId xmlns:a16="http://schemas.microsoft.com/office/drawing/2014/main" val="20002"/>
                    </a:ext>
                  </a:extLst>
                </a:gridCol>
                <a:gridCol w="2448322">
                  <a:extLst>
                    <a:ext uri="{9D8B030D-6E8A-4147-A177-3AD203B41FA5}">
                      <a16:colId xmlns:a16="http://schemas.microsoft.com/office/drawing/2014/main" val="20003"/>
                    </a:ext>
                  </a:extLst>
                </a:gridCol>
              </a:tblGrid>
              <a:tr h="360000">
                <a:tc>
                  <a:txBody>
                    <a:bodyPr/>
                    <a:lstStyle/>
                    <a:p>
                      <a:pPr marL="0" marR="0" lvl="0" indent="0" algn="ctr" rtl="0">
                        <a:spcBef>
                          <a:spcPts val="0"/>
                        </a:spcBef>
                        <a:spcAft>
                          <a:spcPts val="0"/>
                        </a:spcAft>
                        <a:buNone/>
                      </a:pPr>
                      <a:r>
                        <a:rPr lang="ja-JP" sz="1200" b="1" u="none" strike="noStrike" cap="none" spc="30" baseline="0" dirty="0">
                          <a:latin typeface="+mj-lt"/>
                          <a:ea typeface="+mj-ea"/>
                        </a:rPr>
                        <a:t>弊社名</a:t>
                      </a:r>
                      <a:endParaRPr sz="1200" b="1" spc="30" baseline="0" dirty="0">
                        <a:latin typeface="+mj-lt"/>
                        <a:ea typeface="+mj-ea"/>
                      </a:endParaRPr>
                    </a:p>
                  </a:txBody>
                  <a:tcPr marL="0" marR="0" marT="0" marB="0" anchor="ctr">
                    <a:lnL w="12700" cap="flat" cmpd="sng">
                      <a:noFill/>
                      <a:prstDash val="solid"/>
                      <a:round/>
                      <a:headEnd type="none" w="sm" len="sm"/>
                      <a:tailEnd type="none" w="sm" len="sm"/>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tc>
                  <a:txBody>
                    <a:bodyPr/>
                    <a:lstStyle/>
                    <a:p>
                      <a:pPr marL="0" marR="0" lvl="0" indent="0" algn="ctr" rtl="0">
                        <a:spcBef>
                          <a:spcPts val="0"/>
                        </a:spcBef>
                        <a:spcAft>
                          <a:spcPts val="0"/>
                        </a:spcAft>
                        <a:buNone/>
                      </a:pPr>
                      <a:r>
                        <a:rPr lang="ja-JP" sz="1200" b="1" u="none" strike="noStrike" cap="none" spc="30" baseline="0" dirty="0">
                          <a:latin typeface="+mj-lt"/>
                          <a:ea typeface="+mj-ea"/>
                        </a:rPr>
                        <a:t>担当者名</a:t>
                      </a:r>
                      <a:endParaRPr sz="1200" b="1" spc="30" baseline="0" dirty="0">
                        <a:latin typeface="+mj-lt"/>
                        <a:ea typeface="+mj-ea"/>
                      </a:endParaRPr>
                    </a:p>
                  </a:txBody>
                  <a:tcPr marL="0" marR="0" marT="0" marB="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tc>
                  <a:txBody>
                    <a:bodyPr/>
                    <a:lstStyle/>
                    <a:p>
                      <a:pPr marL="0" marR="0" lvl="0" indent="0" algn="ctr" rtl="0">
                        <a:spcBef>
                          <a:spcPts val="0"/>
                        </a:spcBef>
                        <a:spcAft>
                          <a:spcPts val="0"/>
                        </a:spcAft>
                        <a:buNone/>
                      </a:pPr>
                      <a:r>
                        <a:rPr lang="ja-JP" sz="1200" b="1" u="none" strike="noStrike" cap="none" spc="30" baseline="0" dirty="0">
                          <a:latin typeface="+mj-lt"/>
                          <a:ea typeface="+mj-ea"/>
                        </a:rPr>
                        <a:t>電話番号</a:t>
                      </a:r>
                      <a:endParaRPr sz="1200" b="1" spc="30" baseline="0" dirty="0">
                        <a:latin typeface="+mj-lt"/>
                        <a:ea typeface="+mj-ea"/>
                      </a:endParaRPr>
                    </a:p>
                  </a:txBody>
                  <a:tcPr marL="0" marR="0" marT="0" marB="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tc>
                  <a:txBody>
                    <a:bodyPr/>
                    <a:lstStyle/>
                    <a:p>
                      <a:pPr marL="0" marR="0" lvl="0" indent="0" algn="ctr" rtl="0">
                        <a:spcBef>
                          <a:spcPts val="0"/>
                        </a:spcBef>
                        <a:spcAft>
                          <a:spcPts val="0"/>
                        </a:spcAft>
                        <a:buNone/>
                      </a:pPr>
                      <a:r>
                        <a:rPr lang="ja-JP" sz="1200" b="1" u="none" strike="noStrike" cap="none" spc="30" baseline="0" dirty="0">
                          <a:latin typeface="+mj-lt"/>
                          <a:ea typeface="+mj-ea"/>
                        </a:rPr>
                        <a:t>E-mailアドレス</a:t>
                      </a:r>
                      <a:endParaRPr sz="1200" b="1" spc="30" baseline="0" dirty="0">
                        <a:latin typeface="+mj-lt"/>
                        <a:ea typeface="+mj-ea"/>
                      </a:endParaRPr>
                    </a:p>
                  </a:txBody>
                  <a:tcPr marL="0" marR="0" marT="0" marB="0" anchor="ctr">
                    <a:lnL w="6350" cap="flat" cmpd="sng" algn="ctr">
                      <a:solidFill>
                        <a:schemeClr val="accent1"/>
                      </a:solidFill>
                      <a:prstDash val="solid"/>
                      <a:round/>
                      <a:headEnd type="none" w="med" len="med"/>
                      <a:tailEnd type="none" w="med" len="med"/>
                    </a:lnL>
                    <a:lnR w="12700"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0000"/>
                  </a:ext>
                </a:extLst>
              </a:tr>
              <a:tr h="360000">
                <a:tc>
                  <a:txBody>
                    <a:bodyPr/>
                    <a:lstStyle/>
                    <a:p>
                      <a:pPr marL="0" marR="0" lvl="0" indent="0" algn="ctr" rtl="0">
                        <a:spcBef>
                          <a:spcPts val="0"/>
                        </a:spcBef>
                        <a:spcAft>
                          <a:spcPts val="0"/>
                        </a:spcAft>
                        <a:buNone/>
                      </a:pPr>
                      <a:r>
                        <a:rPr lang="ja-JP" altLang="en-US" sz="1200" b="1" u="none" strike="noStrike" cap="none" spc="30" baseline="0" dirty="0">
                          <a:latin typeface="+mj-ea"/>
                          <a:ea typeface="+mj-ea"/>
                        </a:rPr>
                        <a:t>株式会社M&amp;A承継機構</a:t>
                      </a:r>
                      <a:r>
                        <a:rPr lang="en-US" altLang="ja-JP" sz="1200" b="1" u="none" strike="noStrike" cap="none" spc="30" baseline="0" dirty="0">
                          <a:latin typeface="+mj-ea"/>
                          <a:ea typeface="+mj-ea"/>
                        </a:rPr>
                        <a:t/>
                      </a:r>
                      <a:r>
                        <a:rPr lang="ja-JP" altLang="en-US" sz="1200" b="1" u="none" strike="noStrike" cap="none" spc="30" baseline="0" dirty="0">
                          <a:latin typeface="+mj-ea"/>
                          <a:ea typeface="+mj-ea"/>
                        </a:rPr>
                        <a:t/>
                      </a:r>
                      <a:endParaRPr sz="1200" b="1" u="none" strike="noStrike" cap="none" spc="30" baseline="0" dirty="0">
                        <a:latin typeface="+mj-ea"/>
                        <a:ea typeface="+mj-ea"/>
                      </a:endParaRPr>
                    </a:p>
                  </a:txBody>
                  <a:tcPr marL="91450" marR="91450" marT="45725" marB="45725" anchor="ctr">
                    <a:lnL w="12700" cap="flat" cmpd="sng">
                      <a:noFill/>
                      <a:prstDash val="solid"/>
                      <a:round/>
                      <a:headEnd type="none" w="sm" len="sm"/>
                      <a:tailEnd type="none" w="sm" len="sm"/>
                    </a:lnL>
                    <a:lnR w="6350" cap="flat" cmpd="sng" algn="ctr">
                      <a:solidFill>
                        <a:schemeClr val="accent1"/>
                      </a:solidFill>
                      <a:prstDash val="solid"/>
                      <a:round/>
                      <a:headEnd type="none" w="med" len="med"/>
                      <a:tailEnd type="none" w="med" len="med"/>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spcBef>
                          <a:spcPts val="0"/>
                        </a:spcBef>
                        <a:spcAft>
                          <a:spcPts val="0"/>
                        </a:spcAft>
                        <a:buNone/>
                      </a:pPr>
                      <a:r>
                        <a:rPr lang="ja-JP" altLang="en-US" sz="1200" b="1" u="none" strike="noStrike" cap="none" spc="30" baseline="0" dirty="0">
                          <a:latin typeface="+mj-ea"/>
                          <a:ea typeface="+mj-ea"/>
                        </a:rPr>
                        <a:t>田垣内　啓介</a:t>
                      </a:r>
                      <a:endParaRPr sz="1200" b="1" u="none" strike="noStrike" cap="none" spc="30" baseline="0" dirty="0">
                        <a:latin typeface="+mj-ea"/>
                        <a:ea typeface="+mj-ea"/>
                      </a:endParaRPr>
                    </a:p>
                  </a:txBody>
                  <a:tcPr marL="91450" marR="91450" marT="45725" marB="45725"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spcBef>
                          <a:spcPts val="0"/>
                        </a:spcBef>
                        <a:spcAft>
                          <a:spcPts val="0"/>
                        </a:spcAft>
                        <a:buNone/>
                      </a:pPr>
                      <a:r>
                        <a:rPr lang="en-US" sz="1200" b="1" u="none" strike="noStrike" cap="none" spc="30" baseline="0" dirty="0">
                          <a:latin typeface="+mj-ea"/>
                          <a:ea typeface="+mj-ea"/>
                        </a:rPr>
                        <a:t>080-4737-4326</a:t>
                      </a:r>
                      <a:r>
                        <a:rPr lang="ja-JP" altLang="en-US" sz="1200" b="1" u="none" strike="noStrike" cap="none" spc="30" baseline="0" dirty="0">
                          <a:latin typeface="+mj-ea"/>
                          <a:ea typeface="+mj-ea"/>
                        </a:rPr>
                        <a:t/>
                      </a:r>
                      <a:r>
                        <a:rPr lang="en-US" sz="1200" b="1" u="none" strike="noStrike" cap="none" spc="30" baseline="0" dirty="0">
                          <a:latin typeface="+mj-ea"/>
                          <a:ea typeface="+mj-ea"/>
                        </a:rPr>
                        <a:t/>
                      </a:r>
                      <a:r>
                        <a:rPr lang="ja-JP" altLang="en-US" sz="1200" b="1" u="none" strike="noStrike" cap="none" spc="30" baseline="0" dirty="0">
                          <a:latin typeface="+mj-ea"/>
                          <a:ea typeface="+mj-ea"/>
                        </a:rPr>
                        <a:t/>
                      </a:r>
                      <a:r>
                        <a:rPr lang="en-US" sz="1200" b="1" u="none" strike="noStrike" cap="none" spc="30" baseline="0" dirty="0">
                          <a:latin typeface="+mj-ea"/>
                          <a:ea typeface="+mj-ea"/>
                        </a:rPr>
                        <a:t/>
                      </a:r>
                      <a:r>
                        <a:rPr lang="ja-JP" altLang="en-US" sz="1200" b="1" u="none" strike="noStrike" cap="none" spc="30" baseline="0" dirty="0">
                          <a:latin typeface="+mj-ea"/>
                          <a:ea typeface="+mj-ea"/>
                        </a:rPr>
                        <a:t/>
                      </a:r>
                      <a:endParaRPr sz="1200" b="1" u="none" strike="noStrike" cap="none" spc="30" baseline="0" dirty="0">
                        <a:latin typeface="+mj-ea"/>
                        <a:ea typeface="+mj-ea"/>
                      </a:endParaRPr>
                    </a:p>
                  </a:txBody>
                  <a:tcPr marL="91450" marR="91450" marT="45725" marB="45725"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spcBef>
                          <a:spcPts val="0"/>
                        </a:spcBef>
                        <a:spcAft>
                          <a:spcPts val="0"/>
                        </a:spcAft>
                        <a:buNone/>
                      </a:pPr>
                      <a:r>
                        <a:rPr lang="ja-JP" altLang="en-US" sz="1200" b="1" u="none" strike="noStrike" cap="none" spc="30" baseline="0" dirty="0">
                          <a:latin typeface="+mj-ea"/>
                          <a:ea typeface="+mj-ea"/>
                        </a:rPr>
                        <a:t>tagaito_keisuke@ma-sg.co.jp</a:t>
                      </a:r>
                      <a:r>
                        <a:rPr lang="en-US" sz="1200" b="1" u="none" strike="noStrike" cap="none" spc="30" baseline="0" dirty="0">
                          <a:latin typeface="+mj-ea"/>
                          <a:ea typeface="+mj-ea"/>
                        </a:rPr>
                        <a:t/>
                      </a:r>
                      <a:r>
                        <a:rPr lang="ja-JP" altLang="en-US" sz="1200" b="1" u="none" strike="noStrike" cap="none" spc="30" baseline="0" dirty="0">
                          <a:latin typeface="+mj-ea"/>
                          <a:ea typeface="+mj-ea"/>
                        </a:rPr>
                        <a:t/>
                      </a:r>
                      <a:r>
                        <a:rPr lang="en-US" sz="1200" b="1" u="none" strike="noStrike" cap="none" spc="30" baseline="0" dirty="0">
                          <a:latin typeface="+mj-ea"/>
                          <a:ea typeface="+mj-ea"/>
                        </a:rPr>
                        <a:t/>
                      </a:r>
                      <a:endParaRPr sz="1200" b="1" u="none" strike="noStrike" cap="none" spc="30" baseline="0" dirty="0">
                        <a:latin typeface="+mj-ea"/>
                        <a:ea typeface="+mj-ea"/>
                      </a:endParaRPr>
                    </a:p>
                  </a:txBody>
                  <a:tcPr marL="91450" marR="91450" marT="45725" marB="45725" anchor="ctr">
                    <a:lnL w="6350" cap="flat" cmpd="sng" algn="ctr">
                      <a:solidFill>
                        <a:schemeClr val="accent1"/>
                      </a:solidFill>
                      <a:prstDash val="solid"/>
                      <a:round/>
                      <a:headEnd type="none" w="med" len="med"/>
                      <a:tailEnd type="none" w="med" len="med"/>
                    </a:lnL>
                    <a:lnR w="12700" cap="flat" cmpd="sng">
                      <a:noFill/>
                      <a:prstDash val="solid"/>
                      <a:round/>
                      <a:headEnd type="none" w="sm" len="sm"/>
                      <a:tailEnd type="none" w="sm" len="sm"/>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1"/>
                  </a:ext>
                </a:extLst>
              </a:tr>
            </a:tbl>
          </a:graphicData>
        </a:graphic>
      </p:graphicFrame>
      <p:sp>
        <p:nvSpPr>
          <p:cNvPr id="9" name="タイトル 8">
            <a:extLst>
              <a:ext uri="{FF2B5EF4-FFF2-40B4-BE49-F238E27FC236}">
                <a16:creationId xmlns:a16="http://schemas.microsoft.com/office/drawing/2014/main" id="{02B70F11-C06B-AE35-D3C3-0142145E5C0A}"/>
              </a:ext>
            </a:extLst>
          </p:cNvPr>
          <p:cNvSpPr>
            <a:spLocks noGrp="1"/>
          </p:cNvSpPr>
          <p:nvPr>
            <p:ph type="ctrTitle"/>
          </p:nvPr>
        </p:nvSpPr>
        <p:spPr/>
        <p:txBody>
          <a:bodyPr>
            <a:normAutofit/>
          </a:bodyPr>
          <a:lstStyle/>
          <a:p>
            <a:r>
              <a:rPr lang="ja-JP" altLang="en-US" dirty="0"/>
              <a:t>はじめに</a:t>
            </a:r>
          </a:p>
        </p:txBody>
      </p:sp>
      <p:sp>
        <p:nvSpPr>
          <p:cNvPr id="15" name="正方形/長方形 14">
            <a:extLst>
              <a:ext uri="{FF2B5EF4-FFF2-40B4-BE49-F238E27FC236}">
                <a16:creationId xmlns:a16="http://schemas.microsoft.com/office/drawing/2014/main" id="{51A174C3-B2B8-45E2-E11E-021C915BC89C}"/>
              </a:ext>
            </a:extLst>
          </p:cNvPr>
          <p:cNvSpPr/>
          <p:nvPr/>
        </p:nvSpPr>
        <p:spPr>
          <a:xfrm>
            <a:off x="449263" y="863600"/>
            <a:ext cx="8456459"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重要なご留意事項</a:t>
            </a:r>
          </a:p>
        </p:txBody>
      </p:sp>
      <p:sp>
        <p:nvSpPr>
          <p:cNvPr id="23" name="テキスト ボックス 22">
            <a:extLst>
              <a:ext uri="{FF2B5EF4-FFF2-40B4-BE49-F238E27FC236}">
                <a16:creationId xmlns:a16="http://schemas.microsoft.com/office/drawing/2014/main" id="{B50E1823-5D75-9C7E-3748-4C2C1C220A43}"/>
              </a:ext>
            </a:extLst>
          </p:cNvPr>
          <p:cNvSpPr txBox="1"/>
          <p:nvPr/>
        </p:nvSpPr>
        <p:spPr>
          <a:xfrm>
            <a:off x="449263" y="1234930"/>
            <a:ext cx="9793287" cy="4012958"/>
          </a:xfrm>
          <a:prstGeom prst="rect">
            <a:avLst/>
          </a:prstGeom>
          <a:noFill/>
        </p:spPr>
        <p:txBody>
          <a:bodyPr wrap="square" lIns="0" tIns="0" rIns="0" bIns="0" rtlCol="0">
            <a:spAutoFit/>
          </a:bodyPr>
          <a:lstStyle>
            <a:defPPr marR="0" lvl="0" algn="l" rtl="0">
              <a:lnSpc>
                <a:spcPct val="100000"/>
              </a:lnSpc>
              <a:spcBef>
                <a:spcPts val="0"/>
              </a:spcBef>
              <a:spcAft>
                <a:spcPts val="0"/>
              </a:spcAft>
            </a:defPPr>
            <a:lvl1pPr marL="180000" indent="-180000">
              <a:lnSpc>
                <a:spcPct val="120000"/>
              </a:lnSpc>
              <a:spcAft>
                <a:spcPts val="1200"/>
              </a:spcAft>
              <a:buClr>
                <a:schemeClr val="tx2"/>
              </a:buClr>
              <a:buSzPct val="80000"/>
              <a:buFont typeface="Wingdings" panose="05000000000000000000" pitchFamily="2" charset="2"/>
              <a:buChar char="n"/>
              <a:defRPr kumimoji="1" sz="1200" spc="50">
                <a:latin typeface="+mn-ea"/>
              </a:defRPr>
            </a:lvl1pPr>
          </a:lstStyle>
          <a:p>
            <a:pPr>
              <a:spcAft>
                <a:spcPts val="1800"/>
              </a:spcAft>
            </a:pPr>
            <a:r>
              <a:rPr lang="ja-JP" altLang="en-US" dirty="0">
                <a:ea typeface="+mn-ea"/>
              </a:rPr>
              <a:t>当該企業概要書（以下、「本概要書」といいます）は、株式会社</a:t>
            </a:r>
            <a:r>
              <a:rPr lang="en-US" altLang="ja-JP" dirty="0">
                <a:ea typeface="+mn-ea"/>
              </a:rPr>
              <a:t>M&amp;A</a:t>
            </a:r>
            <a:r>
              <a:rPr lang="ja-JP" altLang="en-US" dirty="0">
                <a:ea typeface="+mn-ea"/>
              </a:rPr>
              <a:t>承継機構（以下「弊社」といいます）が、対象会社の発行済株式の取得もしくは事業その他資産の譲受（以下「本取引」といいます）に関する仲介者として、対象会社から提供された情報に基づき、対象会社に関する情報を貴社に提供するために作成したものです。</a:t>
            </a:r>
          </a:p>
          <a:p>
            <a:pPr>
              <a:spcAft>
                <a:spcPts val="1800"/>
              </a:spcAft>
            </a:pPr>
            <a:r>
              <a:rPr lang="ja-JP" altLang="en-US" dirty="0">
                <a:ea typeface="+mn-ea"/>
              </a:rPr>
              <a:t>本概要書の存在及び記載されている情報並びに本概要書に関する全ての連絡・協議は貴社と弊社間で締結している秘密保持契約書（以下「秘密保持契約書」といいます）に定めのある秘密情報に該当致します。</a:t>
            </a:r>
          </a:p>
          <a:p>
            <a:pPr>
              <a:spcAft>
                <a:spcPts val="1800"/>
              </a:spcAft>
            </a:pPr>
            <a:r>
              <a:rPr lang="ja-JP" altLang="en-US" dirty="0">
                <a:ea typeface="+mn-ea"/>
              </a:rPr>
              <a:t>本概要書は、貴社が本取引を行うことを検討するための情報を提供することのみを目的として作成されておりますが、貴社が必要と考える全ての情報を網羅しているとは限りません。また、対象会社並びに弊社取締役、執行役員、監査役及び従業員（以下総称して「情報提供者」といいます）は、本概要書に記載されているいかなる情報及び意見に関しても、明示、黙示にかかわらず、その正確性及び完全性について表明または保証するものではありません。</a:t>
            </a:r>
          </a:p>
          <a:p>
            <a:pPr>
              <a:spcAft>
                <a:spcPts val="1800"/>
              </a:spcAft>
            </a:pPr>
            <a:r>
              <a:rPr lang="ja-JP" altLang="en-US" dirty="0">
                <a:ea typeface="+mn-ea"/>
              </a:rPr>
              <a:t>本概要書は必ずしも対象会社の現況をあらわしているものではなく、本概要書に記載されている日付または本概要書に記載されている情報の日付から、対象会社の状態が変化していないことを表明するものではありません。</a:t>
            </a:r>
          </a:p>
          <a:p>
            <a:pPr>
              <a:spcAft>
                <a:spcPts val="1800"/>
              </a:spcAft>
            </a:pPr>
            <a:r>
              <a:rPr lang="ja-JP" altLang="en-US" dirty="0">
                <a:ea typeface="+mn-ea"/>
              </a:rPr>
              <a:t>いかなる場合でも、本取引に関して、対象会社の役職員（元役職員を含む）及び取引先に対して、貴社及び貴社のアドバイザー等本取引に関与する者が直接、間接を問わずコンタクトをとることを禁止させていただくと共に、全てのご連絡は必ず弊社を介していただきますようお願い申し上げます。</a:t>
            </a:r>
          </a:p>
        </p:txBody>
      </p:sp>
    </p:spTree>
    <p:extLst>
      <p:ext uri="{BB962C8B-B14F-4D97-AF65-F5344CB8AC3E}">
        <p14:creationId xmlns:p14="http://schemas.microsoft.com/office/powerpoint/2010/main" val="24619439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2"/>
          <p:cNvSpPr txBox="1"/>
          <p:nvPr/>
        </p:nvSpPr>
        <p:spPr>
          <a:xfrm>
            <a:off x="6191813" y="2339371"/>
            <a:ext cx="4500000" cy="3570208"/>
          </a:xfrm>
          <a:prstGeom prst="rect">
            <a:avLst/>
          </a:prstGeom>
          <a:noFill/>
          <a:ln>
            <a:noFill/>
          </a:ln>
        </p:spPr>
        <p:txBody>
          <a:bodyPr spcFirstLastPara="1" wrap="square" lIns="0" tIns="0" rIns="0" bIns="0" anchor="t" anchorCtr="0">
            <a:spAutoFit/>
          </a:bodyPr>
          <a:lstStyle/>
          <a:p>
            <a:pPr>
              <a:lnSpc>
                <a:spcPct val="110000"/>
              </a:lnSpc>
              <a:spcAft>
                <a:spcPts val="2400"/>
              </a:spcAft>
              <a:buClr>
                <a:schemeClr val="dk1"/>
              </a:buClr>
              <a:buSzPts val="1400"/>
            </a:pPr>
            <a:r>
              <a:rPr lang="ja-JP" altLang="en-US" sz="2400" b="1" spc="70" dirty="0">
                <a:latin typeface="+mj-lt"/>
                <a:ea typeface="+mj-ea"/>
              </a:rPr>
              <a:t>エグゼクティブサマリー</a:t>
            </a:r>
            <a:endParaRPr lang="en-US" altLang="ja-JP" sz="2400" b="1" spc="70" dirty="0">
              <a:latin typeface="+mj-lt"/>
              <a:ea typeface="+mj-ea"/>
            </a:endParaRPr>
          </a:p>
          <a:p>
            <a:pPr>
              <a:lnSpc>
                <a:spcPct val="110000"/>
              </a:lnSpc>
              <a:spcAft>
                <a:spcPts val="2400"/>
              </a:spcAft>
              <a:buClr>
                <a:schemeClr val="dk1"/>
              </a:buClr>
              <a:buSzPts val="1400"/>
            </a:pPr>
            <a:r>
              <a:rPr lang="ja-JP" altLang="en-US" sz="2400" b="1" spc="70" dirty="0">
                <a:latin typeface="+mj-lt"/>
                <a:ea typeface="+mj-ea"/>
              </a:rPr>
              <a:t>事業概要</a:t>
            </a:r>
            <a:endParaRPr lang="en-US" altLang="ja-JP" sz="2400" b="1" spc="70" dirty="0">
              <a:latin typeface="+mj-lt"/>
              <a:ea typeface="+mj-ea"/>
            </a:endParaRPr>
          </a:p>
          <a:p>
            <a:pPr>
              <a:lnSpc>
                <a:spcPct val="110000"/>
              </a:lnSpc>
              <a:spcAft>
                <a:spcPts val="2400"/>
              </a:spcAft>
              <a:buClr>
                <a:schemeClr val="dk1"/>
              </a:buClr>
              <a:buSzPts val="1400"/>
            </a:pPr>
            <a:r>
              <a:rPr lang="ja-JP" altLang="en-US" sz="2400" b="1" spc="70" dirty="0">
                <a:latin typeface="+mj-lt"/>
                <a:ea typeface="+mj-ea"/>
              </a:rPr>
              <a:t>組織、拠点、設備等</a:t>
            </a:r>
            <a:endParaRPr lang="en-US" altLang="ja-JP" sz="2400" b="1" spc="70" dirty="0">
              <a:latin typeface="+mj-lt"/>
              <a:ea typeface="+mj-ea"/>
            </a:endParaRPr>
          </a:p>
          <a:p>
            <a:pPr>
              <a:lnSpc>
                <a:spcPct val="110000"/>
              </a:lnSpc>
              <a:spcAft>
                <a:spcPts val="2400"/>
              </a:spcAft>
              <a:buClr>
                <a:schemeClr val="dk1"/>
              </a:buClr>
              <a:buSzPts val="1400"/>
            </a:pPr>
            <a:r>
              <a:rPr lang="ja-JP" altLang="en-US" sz="2400" b="1" spc="70" dirty="0">
                <a:latin typeface="+mj-lt"/>
                <a:ea typeface="+mj-ea"/>
              </a:rPr>
              <a:t>財務情報</a:t>
            </a:r>
            <a:endParaRPr lang="en-US" altLang="ja-JP" sz="2400" b="1" spc="70" dirty="0">
              <a:latin typeface="+mj-lt"/>
              <a:ea typeface="+mj-ea"/>
            </a:endParaRPr>
          </a:p>
          <a:p>
            <a:pPr>
              <a:lnSpc>
                <a:spcPct val="110000"/>
              </a:lnSpc>
              <a:spcAft>
                <a:spcPts val="2400"/>
              </a:spcAft>
              <a:buClr>
                <a:schemeClr val="dk1"/>
              </a:buClr>
              <a:buSzPts val="1400"/>
            </a:pPr>
            <a:r>
              <a:rPr lang="en-US" altLang="ja-JP" sz="2400" b="1" spc="70" dirty="0">
                <a:latin typeface="+mj-lt"/>
                <a:ea typeface="+mj-ea"/>
              </a:rPr>
              <a:t>Appendix</a:t>
            </a:r>
          </a:p>
        </p:txBody>
      </p:sp>
      <p:sp>
        <p:nvSpPr>
          <p:cNvPr id="6" name="正方形/長方形 5">
            <a:extLst>
              <a:ext uri="{FF2B5EF4-FFF2-40B4-BE49-F238E27FC236}">
                <a16:creationId xmlns:a16="http://schemas.microsoft.com/office/drawing/2014/main" id="{7237316E-451C-1CCC-A702-B2048F3BE5F0}"/>
              </a:ext>
            </a:extLst>
          </p:cNvPr>
          <p:cNvSpPr/>
          <p:nvPr/>
        </p:nvSpPr>
        <p:spPr>
          <a:xfrm>
            <a:off x="5624542" y="2353556"/>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1</a:t>
            </a:r>
            <a:endParaRPr kumimoji="1" lang="ja-JP" altLang="en-US" b="1" dirty="0">
              <a:latin typeface="+mj-lt"/>
            </a:endParaRPr>
          </a:p>
        </p:txBody>
      </p:sp>
      <p:sp>
        <p:nvSpPr>
          <p:cNvPr id="9" name="正方形/長方形 8">
            <a:extLst>
              <a:ext uri="{FF2B5EF4-FFF2-40B4-BE49-F238E27FC236}">
                <a16:creationId xmlns:a16="http://schemas.microsoft.com/office/drawing/2014/main" id="{DDB8E843-D87E-F66B-3884-439FB909A0A7}"/>
              </a:ext>
            </a:extLst>
          </p:cNvPr>
          <p:cNvSpPr/>
          <p:nvPr/>
        </p:nvSpPr>
        <p:spPr>
          <a:xfrm>
            <a:off x="5624542" y="3060631"/>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2</a:t>
            </a:r>
            <a:endParaRPr kumimoji="1" lang="ja-JP" altLang="en-US" b="1" dirty="0">
              <a:latin typeface="+mj-lt"/>
            </a:endParaRPr>
          </a:p>
        </p:txBody>
      </p:sp>
      <p:sp>
        <p:nvSpPr>
          <p:cNvPr id="10" name="正方形/長方形 9">
            <a:extLst>
              <a:ext uri="{FF2B5EF4-FFF2-40B4-BE49-F238E27FC236}">
                <a16:creationId xmlns:a16="http://schemas.microsoft.com/office/drawing/2014/main" id="{FF90FB9F-20F8-D38F-B8AF-4A631E224A11}"/>
              </a:ext>
            </a:extLst>
          </p:cNvPr>
          <p:cNvSpPr/>
          <p:nvPr/>
        </p:nvSpPr>
        <p:spPr>
          <a:xfrm>
            <a:off x="5624542" y="3767706"/>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3</a:t>
            </a:r>
            <a:endParaRPr kumimoji="1" lang="ja-JP" altLang="en-US" b="1" dirty="0">
              <a:latin typeface="+mj-lt"/>
            </a:endParaRPr>
          </a:p>
        </p:txBody>
      </p:sp>
      <p:sp>
        <p:nvSpPr>
          <p:cNvPr id="11" name="正方形/長方形 10">
            <a:extLst>
              <a:ext uri="{FF2B5EF4-FFF2-40B4-BE49-F238E27FC236}">
                <a16:creationId xmlns:a16="http://schemas.microsoft.com/office/drawing/2014/main" id="{A76F0F70-F53A-8481-50DF-B7EEDD0BEE06}"/>
              </a:ext>
            </a:extLst>
          </p:cNvPr>
          <p:cNvSpPr/>
          <p:nvPr/>
        </p:nvSpPr>
        <p:spPr>
          <a:xfrm>
            <a:off x="5624542" y="4474781"/>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4</a:t>
            </a:r>
            <a:endParaRPr kumimoji="1" lang="ja-JP" altLang="en-US" b="1" dirty="0">
              <a:latin typeface="+mj-lt"/>
            </a:endParaRPr>
          </a:p>
        </p:txBody>
      </p:sp>
      <p:sp>
        <p:nvSpPr>
          <p:cNvPr id="3" name="正方形/長方形 2">
            <a:extLst>
              <a:ext uri="{FF2B5EF4-FFF2-40B4-BE49-F238E27FC236}">
                <a16:creationId xmlns:a16="http://schemas.microsoft.com/office/drawing/2014/main" id="{DE430CD6-B78A-5CFE-3B87-B7F6C2A9CBEA}"/>
              </a:ext>
            </a:extLst>
          </p:cNvPr>
          <p:cNvSpPr/>
          <p:nvPr/>
        </p:nvSpPr>
        <p:spPr>
          <a:xfrm>
            <a:off x="5624542" y="5181856"/>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5</a:t>
            </a:r>
            <a:endParaRPr kumimoji="1" lang="ja-JP" altLang="en-US" b="1" dirty="0">
              <a:latin typeface="+mj-l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EAEF2-738C-97B3-4696-F3BB344E559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D6C9D74-25B9-202B-100C-14E88F8A35B4}"/>
              </a:ext>
            </a:extLst>
          </p:cNvPr>
          <p:cNvSpPr>
            <a:spLocks noGrp="1"/>
          </p:cNvSpPr>
          <p:nvPr>
            <p:ph type="title"/>
          </p:nvPr>
        </p:nvSpPr>
        <p:spPr>
          <a:xfrm>
            <a:off x="989013" y="3656161"/>
            <a:ext cx="9221787" cy="615553"/>
          </a:xfrm>
        </p:spPr>
        <p:txBody>
          <a:bodyPr/>
          <a:lstStyle/>
          <a:p>
            <a:r>
              <a:rPr lang="ja-JP" altLang="en-US" dirty="0"/>
              <a:t>エグゼクティブサマリー</a:t>
            </a:r>
            <a:endParaRPr lang="en-US" altLang="ja-JP" dirty="0"/>
          </a:p>
        </p:txBody>
      </p:sp>
    </p:spTree>
    <p:extLst>
      <p:ext uri="{BB962C8B-B14F-4D97-AF65-F5344CB8AC3E}">
        <p14:creationId xmlns:p14="http://schemas.microsoft.com/office/powerpoint/2010/main" val="5404063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字幕 13">
            <a:extLst>
              <a:ext uri="{FF2B5EF4-FFF2-40B4-BE49-F238E27FC236}">
                <a16:creationId xmlns:a16="http://schemas.microsoft.com/office/drawing/2014/main" id="{79A14348-475C-CD64-9408-407529B44C13}"/>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a:ea typeface="游ゴシック"/>
              </a:rPr>
              <a:t>1973年設立。鶴岡市内で唯一の青果物地方卸売市場を自ら運営し、集荷から卸売、小分け・包装、配送までを一貫して担う。売上高は約12億円で安定推移し、市場用地・施設を自社で保有する庄内地区の青果流通拠点。</a:t>
            </a:r>
          </a:p>
        </p:txBody>
      </p:sp>
      <p:sp>
        <p:nvSpPr>
          <p:cNvPr id="13" name="タイトル 12">
            <a:extLst>
              <a:ext uri="{FF2B5EF4-FFF2-40B4-BE49-F238E27FC236}">
                <a16:creationId xmlns:a16="http://schemas.microsoft.com/office/drawing/2014/main" id="{85E2D3B1-D668-47BF-7D76-2F8709456651}"/>
              </a:ext>
            </a:extLst>
          </p:cNvPr>
          <p:cNvSpPr>
            <a:spLocks noGrp="1"/>
          </p:cNvSpPr>
          <p:nvPr>
            <p:ph type="ctrTitle"/>
          </p:nvPr>
        </p:nvSpPr>
        <p:spPr>
          <a:xfrm>
            <a:off x="311150" y="180296"/>
            <a:ext cx="7799917" cy="339267"/>
          </a:xfrm>
        </p:spPr>
        <p:txBody>
          <a:bodyPr>
            <a:normAutofit/>
          </a:bodyPr>
          <a:lstStyle/>
          <a:p>
            <a:r>
              <a:rPr lang="ja-JP" altLang="en-US" dirty="0"/>
              <a:t>基本情報</a:t>
            </a:r>
          </a:p>
        </p:txBody>
      </p:sp>
      <p:sp>
        <p:nvSpPr>
          <p:cNvPr id="5" name="タイトル 1">
            <a:extLst>
              <a:ext uri="{FF2B5EF4-FFF2-40B4-BE49-F238E27FC236}">
                <a16:creationId xmlns:a16="http://schemas.microsoft.com/office/drawing/2014/main" id="{4F103961-B26C-39D9-FB80-02B45E98D11A}"/>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エグゼクティブサマリー</a:t>
            </a:r>
          </a:p>
        </p:txBody>
      </p:sp>
      <p:sp>
        <p:nvSpPr>
          <p:cNvPr id="2" name="正方形/長方形 1">
            <a:extLst>
              <a:ext uri="{FF2B5EF4-FFF2-40B4-BE49-F238E27FC236}">
                <a16:creationId xmlns:a16="http://schemas.microsoft.com/office/drawing/2014/main" id="{A0EF9F9A-5414-64EC-48C3-D1A342DF89A8}"/>
              </a:ext>
            </a:extLst>
          </p:cNvPr>
          <p:cNvSpPr/>
          <p:nvPr/>
        </p:nvSpPr>
        <p:spPr>
          <a:xfrm>
            <a:off x="310896" y="1481328"/>
            <a:ext cx="5861304" cy="35661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buClr>
                <a:schemeClr val="tx2"/>
              </a:buClr>
              <a:buSzPct val="80000"/>
            </a:pPr>
            <a:r>
              <a:rPr lang="ja-JP" altLang="en-US" sz="1400" b="1" spc="70" dirty="0">
                <a:solidFill>
                  <a:schemeClr val="bg1"/>
                </a:solidFill>
                <a:latin typeface="+mj-ea"/>
                <a:ea typeface="+mj-ea"/>
              </a:rPr>
              <a:t>会社概要</a:t>
            </a:r>
          </a:p>
        </p:txBody>
      </p:sp>
      <p:graphicFrame>
        <p:nvGraphicFramePr>
          <p:cNvPr id="15" name="表（会社概要!B4:C17）"/>
          <p:cNvGraphicFramePr>
            <a:graphicFrameLocks noGrp="1"/>
          </p:cNvGraphicFramePr>
          <p:nvPr/>
        </p:nvGraphicFramePr>
        <p:xfrm>
          <a:off x="310896" y="1883664"/>
          <a:ext cx="5861303" cy="4089400"/>
        </p:xfrm>
        <a:graphic>
          <a:graphicData uri="http://schemas.openxmlformats.org/drawingml/2006/table">
            <a:tbl>
              <a:tblPr firstRow="0" bandRow="0">
                <a:tableStyleId>{2D5ABB26-0587-4C30-8999-92F81FD0307C}</a:tableStyleId>
              </a:tblPr>
              <a:tblGrid>
                <a:gridCol w="1325784"/>
                <a:gridCol w="4535519"/>
              </a:tblGrid>
              <a:tr h="215900">
                <a:tc>
                  <a:txBody>
                    <a:bodyPr/>
                    <a:lstStyle/>
                    <a:p>
                      <a:pPr algn="l" fontAlgn="ctr"/>
                      <a:r>
                        <a:rPr lang="ja-JP" altLang="en-US" sz="1000" b="1" i="0" dirty="0">
                          <a:solidFill>
                            <a:srgbClr val="FFFFFF"/>
                          </a:solidFill>
                          <a:latin typeface="游ゴシック"/>
                          <a:ea typeface="游ゴシック"/>
                        </a:rPr>
                        <a:t>項目</a:t>
                      </a:r>
                      <a:endParaRPr lang="ja-JP" altLang="en-US" sz="1000" b="1"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l" fontAlgn="ctr"/>
                      <a:r>
                        <a:rPr lang="ja-JP" altLang="en-US" sz="1000" b="1" i="0" dirty="0">
                          <a:solidFill>
                            <a:srgbClr val="FFFFFF"/>
                          </a:solidFill>
                          <a:latin typeface="游ゴシック"/>
                          <a:ea typeface="游ゴシック"/>
                        </a:rPr>
                        <a:t>内容</a:t>
                      </a:r>
                      <a:endParaRPr lang="ja-JP" altLang="en-US" sz="1000" b="1"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r>
              <a:tr h="215900">
                <a:tc>
                  <a:txBody>
                    <a:bodyPr/>
                    <a:lstStyle/>
                    <a:p>
                      <a:pPr algn="l" fontAlgn="ctr"/>
                      <a:r>
                        <a:rPr lang="ja-JP" altLang="en-US" sz="1050" b="0" i="0" dirty="0">
                          <a:solidFill>
                            <a:srgbClr val="000000"/>
                          </a:solidFill>
                          <a:latin typeface="游ゴシック"/>
                          <a:ea typeface="游ゴシック"/>
                        </a:rPr>
                        <a:t>会社名</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株式会社鶴岡中央青果（http://www.turu-chu.co.jp/）</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15900">
                <a:tc>
                  <a:txBody>
                    <a:bodyPr/>
                    <a:lstStyle/>
                    <a:p>
                      <a:pPr algn="l" fontAlgn="ctr"/>
                      <a:r>
                        <a:rPr lang="ja-JP" altLang="en-US" sz="1050" b="0" i="0" dirty="0">
                          <a:solidFill>
                            <a:srgbClr val="000000"/>
                          </a:solidFill>
                          <a:latin typeface="游ゴシック"/>
                          <a:ea typeface="游ゴシック"/>
                        </a:rPr>
                        <a:t>本社所在地</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山形県鶴岡市宝田一丁目4番20号</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571500">
                <a:tc>
                  <a:txBody>
                    <a:bodyPr/>
                    <a:lstStyle/>
                    <a:p>
                      <a:pPr algn="l" fontAlgn="ctr"/>
                      <a:r>
                        <a:rPr lang="ja-JP" altLang="en-US" sz="1050" b="0" i="0" dirty="0">
                          <a:solidFill>
                            <a:srgbClr val="000000"/>
                          </a:solidFill>
                          <a:latin typeface="游ゴシック"/>
                          <a:ea typeface="游ゴシック"/>
                        </a:rPr>
                        <a:t>拠点</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① 本社・市場：山形県鶴岡市宝田一丁目4番20号</a:t>
                      </a:r>
                      <a:endParaRPr lang="ja-JP" altLang="en-US" sz="1000" b="0" i="0" dirty="0">
                        <a:solidFill>
                          <a:srgbClr val="000000"/>
                        </a:solidFill>
                        <a:latin typeface="游ゴシック"/>
                        <a:ea typeface="游ゴシック"/>
                      </a:endParaRPr>
                    </a:p>
                    <a:p>
                      <a:pPr algn="l" fontAlgn="ctr"/>
                      <a:r>
                        <a:rPr lang="ja-JP" altLang="en-US" sz="1000" b="0" i="0" dirty="0">
                          <a:solidFill>
                            <a:srgbClr val="000000"/>
                          </a:solidFill>
                          <a:latin typeface="游ゴシック"/>
                          <a:ea typeface="游ゴシック"/>
                        </a:rPr>
                        <a:t>② パッケージ場：山形県鶴岡市宝田一丁目5-1</a:t>
                      </a:r>
                      <a:endParaRPr lang="ja-JP" altLang="en-US" sz="1000" b="0" i="0" dirty="0">
                        <a:solidFill>
                          <a:srgbClr val="000000"/>
                        </a:solidFill>
                        <a:latin typeface="游ゴシック"/>
                        <a:ea typeface="游ゴシック"/>
                      </a:endParaRPr>
                    </a:p>
                    <a:p>
                      <a:pPr algn="l" fontAlgn="ctr"/>
                      <a:r>
                        <a:rPr lang="ja-JP" altLang="en-US" sz="1000" b="0" i="0" dirty="0">
                          <a:solidFill>
                            <a:srgbClr val="000000"/>
                          </a:solidFill>
                          <a:latin typeface="游ゴシック"/>
                          <a:ea typeface="游ゴシック"/>
                        </a:rPr>
                        <a:t>③ 旧倉庫敷地（駐車場）：山形県東田川郡庄内町長沼字宮前304-7</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15900">
                <a:tc>
                  <a:txBody>
                    <a:bodyPr/>
                    <a:lstStyle/>
                    <a:p>
                      <a:pPr algn="l" fontAlgn="ctr"/>
                      <a:r>
                        <a:rPr lang="ja-JP" altLang="en-US" sz="1050" b="0" i="0" dirty="0">
                          <a:solidFill>
                            <a:srgbClr val="000000"/>
                          </a:solidFill>
                          <a:latin typeface="游ゴシック"/>
                          <a:ea typeface="游ゴシック"/>
                        </a:rPr>
                        <a:t>設立</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1973年（昭和48年）11月22日</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15900">
                <a:tc>
                  <a:txBody>
                    <a:bodyPr/>
                    <a:lstStyle/>
                    <a:p>
                      <a:pPr algn="l" fontAlgn="ctr"/>
                      <a:r>
                        <a:rPr lang="ja-JP" altLang="en-US" sz="1050" b="0" i="0" dirty="0">
                          <a:solidFill>
                            <a:srgbClr val="000000"/>
                          </a:solidFill>
                          <a:latin typeface="游ゴシック"/>
                          <a:ea typeface="游ゴシック"/>
                        </a:rPr>
                        <a:t>資本金</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40,000千円</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15900">
                <a:tc>
                  <a:txBody>
                    <a:bodyPr/>
                    <a:lstStyle/>
                    <a:p>
                      <a:pPr algn="l" fontAlgn="ctr"/>
                      <a:r>
                        <a:rPr lang="ja-JP" altLang="en-US" sz="1050" b="0" i="0" dirty="0">
                          <a:solidFill>
                            <a:srgbClr val="000000"/>
                          </a:solidFill>
                          <a:latin typeface="游ゴシック"/>
                          <a:ea typeface="游ゴシック"/>
                        </a:rPr>
                        <a:t>代表者</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岡部 寛</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393700">
                <a:tc>
                  <a:txBody>
                    <a:bodyPr/>
                    <a:lstStyle/>
                    <a:p>
                      <a:pPr algn="l" fontAlgn="ctr"/>
                      <a:r>
                        <a:rPr lang="ja-JP" altLang="en-US" sz="1050" b="0" i="0" dirty="0">
                          <a:solidFill>
                            <a:srgbClr val="000000"/>
                          </a:solidFill>
                          <a:latin typeface="游ゴシック"/>
                          <a:ea typeface="游ゴシック"/>
                        </a:rPr>
                        <a:t>株主</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岡部 寛（1,510株／37.8%）ほか7名</a:t>
                      </a:r>
                      <a:endParaRPr lang="ja-JP" altLang="en-US" sz="1000" b="0" i="0" dirty="0">
                        <a:solidFill>
                          <a:srgbClr val="000000"/>
                        </a:solidFill>
                        <a:latin typeface="游ゴシック"/>
                        <a:ea typeface="游ゴシック"/>
                      </a:endParaRPr>
                    </a:p>
                    <a:p>
                      <a:pPr algn="l" fontAlgn="ctr"/>
                      <a:r>
                        <a:rPr lang="ja-JP" altLang="en-US" sz="1000" b="0" i="0" dirty="0">
                          <a:solidFill>
                            <a:srgbClr val="000000"/>
                          </a:solidFill>
                          <a:latin typeface="游ゴシック"/>
                          <a:ea typeface="游ゴシック"/>
                        </a:rPr>
                        <a:t>代表者一族4名で75.8%を保有</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571500">
                <a:tc>
                  <a:txBody>
                    <a:bodyPr/>
                    <a:lstStyle/>
                    <a:p>
                      <a:pPr algn="l" fontAlgn="ctr"/>
                      <a:r>
                        <a:rPr lang="ja-JP" altLang="en-US" sz="1050" b="0" i="0" dirty="0">
                          <a:solidFill>
                            <a:srgbClr val="000000"/>
                          </a:solidFill>
                          <a:latin typeface="游ゴシック"/>
                          <a:ea typeface="游ゴシック"/>
                        </a:rPr>
                        <a:t>事業内容</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・青果物（野菜・果実）の卸売（地方卸売市場の開設・運営、買付販売・受託販売）</a:t>
                      </a:r>
                      <a:endParaRPr lang="ja-JP" altLang="en-US" sz="1000" b="0" i="0" dirty="0">
                        <a:solidFill>
                          <a:srgbClr val="000000"/>
                        </a:solidFill>
                        <a:latin typeface="游ゴシック"/>
                        <a:ea typeface="游ゴシック"/>
                      </a:endParaRPr>
                    </a:p>
                    <a:p>
                      <a:pPr algn="l" fontAlgn="ctr"/>
                      <a:r>
                        <a:rPr lang="ja-JP" altLang="en-US" sz="1000" b="0" i="0" dirty="0">
                          <a:solidFill>
                            <a:srgbClr val="000000"/>
                          </a:solidFill>
                          <a:latin typeface="游ゴシック"/>
                          <a:ea typeface="游ゴシック"/>
                        </a:rPr>
                        <a:t>・パッケージ（小分け・包装）、配送（量販店の配送受託を含む）</a:t>
                      </a:r>
                      <a:endParaRPr lang="ja-JP" altLang="en-US" sz="1000" b="0" i="0" dirty="0">
                        <a:solidFill>
                          <a:srgbClr val="000000"/>
                        </a:solidFill>
                        <a:latin typeface="游ゴシック"/>
                        <a:ea typeface="游ゴシック"/>
                      </a:endParaRPr>
                    </a:p>
                    <a:p>
                      <a:pPr algn="l" fontAlgn="ctr"/>
                      <a:r>
                        <a:rPr lang="ja-JP" altLang="en-US" sz="1000" b="0" i="0" dirty="0">
                          <a:solidFill>
                            <a:srgbClr val="000000"/>
                          </a:solidFill>
                          <a:latin typeface="游ゴシック"/>
                          <a:ea typeface="游ゴシック"/>
                        </a:rPr>
                        <a:t>・包装資材の販売</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393700">
                <a:tc>
                  <a:txBody>
                    <a:bodyPr/>
                    <a:lstStyle/>
                    <a:p>
                      <a:pPr algn="l" fontAlgn="ctr"/>
                      <a:r>
                        <a:rPr lang="ja-JP" altLang="en-US" sz="1050" b="0" i="0" dirty="0">
                          <a:solidFill>
                            <a:srgbClr val="000000"/>
                          </a:solidFill>
                          <a:latin typeface="游ゴシック"/>
                          <a:ea typeface="游ゴシック"/>
                        </a:rPr>
                        <a:t>従業員数</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24名（正社員17名、嘱託・再雇用・試用3名、パート・アルバイト4名）</a:t>
                      </a:r>
                      <a:endParaRPr lang="ja-JP" altLang="en-US" sz="1000" b="0" i="0" dirty="0">
                        <a:solidFill>
                          <a:srgbClr val="000000"/>
                        </a:solidFill>
                        <a:latin typeface="游ゴシック"/>
                        <a:ea typeface="游ゴシック"/>
                      </a:endParaRPr>
                    </a:p>
                    <a:p>
                      <a:pPr algn="l" fontAlgn="ctr"/>
                      <a:r>
                        <a:rPr lang="ja-JP" altLang="en-US" sz="1000" b="0" i="0" dirty="0">
                          <a:solidFill>
                            <a:srgbClr val="000000"/>
                          </a:solidFill>
                          <a:latin typeface="游ゴシック"/>
                          <a:ea typeface="游ゴシック"/>
                        </a:rPr>
                        <a:t>※2026年9月1日時点。別途、常勤役員2名</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15900">
                <a:tc>
                  <a:txBody>
                    <a:bodyPr/>
                    <a:lstStyle/>
                    <a:p>
                      <a:pPr algn="l" fontAlgn="ctr"/>
                      <a:r>
                        <a:rPr lang="ja-JP" altLang="en-US" sz="1050" b="0" i="0" dirty="0">
                          <a:solidFill>
                            <a:srgbClr val="000000"/>
                          </a:solidFill>
                          <a:latin typeface="游ゴシック"/>
                          <a:ea typeface="游ゴシック"/>
                        </a:rPr>
                        <a:t>許認可等</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地方卸売市場（卸売市場法）※認定の時期・条件は要確認</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15900">
                <a:tc>
                  <a:txBody>
                    <a:bodyPr/>
                    <a:lstStyle/>
                    <a:p>
                      <a:pPr algn="l" fontAlgn="ctr"/>
                      <a:r>
                        <a:rPr lang="ja-JP" altLang="en-US" sz="1050" b="0" i="0" dirty="0">
                          <a:solidFill>
                            <a:srgbClr val="000000"/>
                          </a:solidFill>
                          <a:latin typeface="游ゴシック"/>
                          <a:ea typeface="游ゴシック"/>
                        </a:rPr>
                        <a:t>売上高</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1,195,893千円（2026年3月期）</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15900">
                <a:tc>
                  <a:txBody>
                    <a:bodyPr/>
                    <a:lstStyle/>
                    <a:p>
                      <a:pPr algn="l" fontAlgn="ctr"/>
                      <a:r>
                        <a:rPr lang="ja-JP" altLang="en-US" sz="1050" b="0" i="0" dirty="0">
                          <a:solidFill>
                            <a:srgbClr val="000000"/>
                          </a:solidFill>
                          <a:latin typeface="游ゴシック"/>
                          <a:ea typeface="游ゴシック"/>
                        </a:rPr>
                        <a:t>調整後EBITDA</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14,549千円（過去3期平均）</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15900">
                <a:tc>
                  <a:txBody>
                    <a:bodyPr/>
                    <a:lstStyle/>
                    <a:p>
                      <a:pPr algn="l" fontAlgn="ctr"/>
                      <a:r>
                        <a:rPr lang="ja-JP" altLang="en-US" sz="1050" b="0" i="0" dirty="0">
                          <a:solidFill>
                            <a:srgbClr val="000000"/>
                          </a:solidFill>
                          <a:latin typeface="游ゴシック"/>
                          <a:ea typeface="游ゴシック"/>
                        </a:rPr>
                        <a:t>譲渡理由</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後継者不在およびさらなる企業の発展</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bl>
          </a:graphicData>
        </a:graphic>
      </p:graphicFrame>
      <p:sp>
        <p:nvSpPr>
          <p:cNvPr id="16" name="正方形/長方形 7">
            <a:extLst>
              <a:ext uri="{FF2B5EF4-FFF2-40B4-BE49-F238E27FC236}">
                <a16:creationId xmlns:a16="http://schemas.microsoft.com/office/drawing/2014/main" id="{CBD334A9-999C-ACD4-9DD2-EF961CBA0926}"/>
              </a:ext>
            </a:extLst>
          </p:cNvPr>
          <p:cNvSpPr/>
          <p:nvPr/>
        </p:nvSpPr>
        <p:spPr>
          <a:xfrm>
            <a:off x="6355080" y="1481328"/>
            <a:ext cx="4023360" cy="4583175"/>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252000" rIns="0" bIns="0" rtlCol="0" anchor="t"/>
          <a:lstStyle/>
          <a:p>
            <a:pPr algn="ctr"/>
            <a:r>
              <a:rPr kumimoji="1" lang="en-US" altLang="ja-JP" sz="1600" b="1" dirty="0">
                <a:solidFill>
                  <a:schemeClr val="tx2"/>
                </a:solidFill>
                <a:latin typeface="+mj-lt"/>
                <a:ea typeface="+mj-ea"/>
              </a:rPr>
              <a:t>本件のポイント</a:t>
            </a:r>
            <a:endParaRPr kumimoji="1" lang="ja-JP" altLang="en-US" sz="1600" b="1" dirty="0">
              <a:solidFill>
                <a:schemeClr val="tx2"/>
              </a:solidFill>
              <a:latin typeface="+mj-lt"/>
              <a:ea typeface="+mj-ea"/>
            </a:endParaRPr>
          </a:p>
        </p:txBody>
      </p:sp>
      <p:sp>
        <p:nvSpPr>
          <p:cNvPr id="17" name="テキスト ボックス 8">
            <a:extLst>
              <a:ext uri="{FF2B5EF4-FFF2-40B4-BE49-F238E27FC236}">
                <a16:creationId xmlns:a16="http://schemas.microsoft.com/office/drawing/2014/main" id="{E5084622-1D6B-783F-80DE-6D9A498C7C12}"/>
              </a:ext>
            </a:extLst>
          </p:cNvPr>
          <p:cNvSpPr txBox="1"/>
          <p:nvPr/>
        </p:nvSpPr>
        <p:spPr>
          <a:xfrm>
            <a:off x="6355080" y="2011680"/>
            <a:ext cx="4023360" cy="4007103"/>
          </a:xfrm>
          <a:prstGeom prst="rect">
            <a:avLst/>
          </a:prstGeom>
          <a:noFill/>
        </p:spPr>
        <p:txBody>
          <a:bodyPr wrap="square" lIns="288000" tIns="0" rIns="252000" bIns="0" rtlCol="0">
            <a:spAutoFit/>
          </a:bodyPr>
          <a:lstStyle/>
          <a:p>
            <a:pPr>
              <a:spcAft>
                <a:spcPts val="300"/>
              </a:spcAft>
            </a:pPr>
            <a:r>
              <a:rPr lang="ja-JP" altLang="en-US" sz="1000" b="1" dirty="0">
                <a:solidFill>
                  <a:sysClr val="windowText" lastClr="000000"/>
                </a:solidFill>
                <a:latin typeface="游ゴシック"/>
                <a:ea typeface="游ゴシック"/>
              </a:rPr>
              <a:t>≪鶴岡市内唯一の青果市場≫</a:t>
            </a:r>
          </a:p>
          <a:p>
            <a:pPr>
              <a:spcAft>
                <a:spcPts val="300"/>
              </a:spcAft>
            </a:pPr>
            <a:r>
              <a:rPr lang="ja-JP" altLang="en-US" sz="900" b="0" dirty="0">
                <a:solidFill>
                  <a:sysClr val="windowText" lastClr="000000"/>
                </a:solidFill>
                <a:latin typeface="游ゴシック"/>
                <a:ea typeface="游ゴシック"/>
              </a:rPr>
              <a:t>・市内の青果市場は当社のみ（2026年1月に2社体制から1社に）。開設者兼卸売業者として集荷・セリ・分荷を担い、セリ人資格者3名が在籍。</a:t>
            </a:r>
          </a:p>
          <a:p>
            <a:pPr>
              <a:spcAft>
                <a:spcPts val="300"/>
              </a:spcAft>
            </a:pPr>
            <a:r>
              <a:rPr lang="ja-JP" altLang="en-US" sz="1000" b="1" dirty="0">
                <a:solidFill>
                  <a:sysClr val="windowText" lastClr="000000"/>
                </a:solidFill>
                <a:latin typeface="游ゴシック"/>
                <a:ea typeface="游ゴシック"/>
              </a:rPr>
              <a:t>≪農家の持込を全量受け入れる集荷力≫</a:t>
            </a:r>
          </a:p>
          <a:p>
            <a:pPr>
              <a:spcAft>
                <a:spcPts val="300"/>
              </a:spcAft>
            </a:pPr>
            <a:r>
              <a:rPr lang="ja-JP" altLang="en-US" sz="900" b="0" dirty="0">
                <a:solidFill>
                  <a:sysClr val="windowText" lastClr="000000"/>
                </a:solidFill>
                <a:latin typeface="游ゴシック"/>
                <a:ea typeface="游ゴシック"/>
              </a:rPr>
              <a:t>・農家からの持込は数量が多くても原則すべて受け入れる。地元優先で販売し、過剰分は豊洲市場・他県へ出荷。</a:t>
            </a:r>
          </a:p>
          <a:p>
            <a:pPr>
              <a:spcAft>
                <a:spcPts val="300"/>
              </a:spcAft>
            </a:pPr>
            <a:r>
              <a:rPr lang="ja-JP" altLang="en-US" sz="1000" b="1" dirty="0">
                <a:solidFill>
                  <a:sysClr val="windowText" lastClr="000000"/>
                </a:solidFill>
                <a:latin typeface="游ゴシック"/>
                <a:ea typeface="游ゴシック"/>
              </a:rPr>
              <a:t>≪安定した売上規模と分散した販路≫</a:t>
            </a:r>
          </a:p>
          <a:p>
            <a:pPr>
              <a:spcAft>
                <a:spcPts val="300"/>
              </a:spcAft>
            </a:pPr>
            <a:r>
              <a:rPr lang="ja-JP" altLang="en-US" sz="900" b="0" dirty="0">
                <a:solidFill>
                  <a:sysClr val="windowText" lastClr="000000"/>
                </a:solidFill>
                <a:latin typeface="游ゴシック"/>
                <a:ea typeface="游ゴシック"/>
              </a:rPr>
              <a:t>・売上高は1,178→1,182→1,196百万円で安定。量販店・生協・学校給食・近隣市場・仲卸業者へ販売。</a:t>
            </a:r>
          </a:p>
          <a:p>
            <a:pPr>
              <a:spcAft>
                <a:spcPts val="300"/>
              </a:spcAft>
            </a:pPr>
            <a:r>
              <a:rPr lang="ja-JP" altLang="en-US" sz="1000" b="1" dirty="0">
                <a:solidFill>
                  <a:sysClr val="windowText" lastClr="000000"/>
                </a:solidFill>
                <a:latin typeface="游ゴシック"/>
                <a:ea typeface="游ゴシック"/>
              </a:rPr>
              <a:t>≪事業用不動産を自社保有≫</a:t>
            </a:r>
          </a:p>
          <a:p>
            <a:pPr>
              <a:spcAft>
                <a:spcPts val="300"/>
              </a:spcAft>
            </a:pPr>
            <a:r>
              <a:rPr lang="ja-JP" altLang="en-US" sz="900" b="0" dirty="0">
                <a:solidFill>
                  <a:sysClr val="windowText" lastClr="000000"/>
                </a:solidFill>
                <a:latin typeface="游ゴシック"/>
                <a:ea typeface="游ゴシック"/>
              </a:rPr>
              <a:t>・本社市場とパッケージ場は隣接する自社保有地。賃借物件はなく地代負担がない。</a:t>
            </a:r>
          </a:p>
          <a:p>
            <a:pPr>
              <a:spcAft>
                <a:spcPts val="300"/>
              </a:spcAft>
            </a:pPr>
            <a:r>
              <a:rPr lang="ja-JP" altLang="en-US" sz="1000" b="1" dirty="0">
                <a:solidFill>
                  <a:sysClr val="windowText" lastClr="000000"/>
                </a:solidFill>
                <a:latin typeface="游ゴシック"/>
                <a:ea typeface="游ゴシック"/>
              </a:rPr>
              <a:t>≪買手とのシナジー≫</a:t>
            </a:r>
          </a:p>
          <a:p>
            <a:pPr>
              <a:spcAft>
                <a:spcPts val="300"/>
              </a:spcAft>
            </a:pPr>
            <a:r>
              <a:rPr lang="ja-JP" altLang="en-US" sz="900" b="0" dirty="0">
                <a:solidFill>
                  <a:sysClr val="windowText" lastClr="000000"/>
                </a:solidFill>
                <a:latin typeface="游ゴシック"/>
                <a:ea typeface="游ゴシック"/>
              </a:rPr>
              <a:t>・余剰青果物を継続的に引き取れる販売網を持つ買手であれば、過剰入荷分の出口拡大と仕入先の開拓による成長が見込める。</a:t>
            </a:r>
          </a:p>
          <a:p>
            <a:pPr>
              <a:spcAft>
                <a:spcPts val="300"/>
              </a:spcAft>
            </a:pPr>
            <a:r>
              <a:rPr lang="ja-JP" altLang="en-US" sz="1000" b="1" dirty="0">
                <a:solidFill>
                  <a:sysClr val="windowText" lastClr="000000"/>
                </a:solidFill>
                <a:latin typeface="游ゴシック"/>
                <a:ea typeface="游ゴシック"/>
              </a:rPr>
              <a:t>≪確認中の論点≫</a:t>
            </a:r>
          </a:p>
          <a:p>
            <a:pPr>
              <a:spcAft>
                <a:spcPts val="300"/>
              </a:spcAft>
            </a:pPr>
            <a:r>
              <a:rPr lang="ja-JP" altLang="en-US" sz="900" b="0" dirty="0">
                <a:solidFill>
                  <a:sysClr val="windowText" lastClr="000000"/>
                </a:solidFill>
                <a:latin typeface="游ゴシック"/>
                <a:ea typeface="游ゴシック"/>
              </a:rPr>
              <a:t>・粗利率の低下（18.6%→16.6%）、長期借入金361百万円、不動産の時価。写真は受領後に掲載予定。</a:t>
            </a:r>
          </a:p>
        </p:txBody>
      </p:sp>
    </p:spTree>
    <p:extLst>
      <p:ext uri="{BB962C8B-B14F-4D97-AF65-F5344CB8AC3E}">
        <p14:creationId xmlns:p14="http://schemas.microsoft.com/office/powerpoint/2010/main" val="28193464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8EF9F-B9BD-9E7E-BA2C-5A4B51173A7F}"/>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7780A147-C248-92F8-8F3F-25BD76E0BC3B}"/>
              </a:ext>
            </a:extLst>
          </p:cNvPr>
          <p:cNvSpPr>
            <a:spLocks noGrp="1"/>
          </p:cNvSpPr>
          <p:nvPr>
            <p:ph type="ctrTitle"/>
          </p:nvPr>
        </p:nvSpPr>
        <p:spPr>
          <a:xfrm>
            <a:off x="311150" y="180296"/>
            <a:ext cx="7799917" cy="339267"/>
          </a:xfrm>
        </p:spPr>
        <p:txBody>
          <a:bodyPr>
            <a:normAutofit/>
          </a:bodyPr>
          <a:lstStyle/>
          <a:p>
            <a:r>
              <a:rPr lang="ja-JP" altLang="en-US" dirty="0"/>
              <a:t>財務ハイライト（</a:t>
            </a:r>
            <a:r>
              <a:rPr lang="en-US" altLang="ja-JP" dirty="0"/>
              <a:t>P/L</a:t>
            </a:r>
            <a:r>
              <a:rPr lang="ja-JP" altLang="en-US" dirty="0"/>
              <a:t>）</a:t>
            </a:r>
          </a:p>
        </p:txBody>
      </p:sp>
      <p:sp>
        <p:nvSpPr>
          <p:cNvPr id="5" name="タイトル 1">
            <a:extLst>
              <a:ext uri="{FF2B5EF4-FFF2-40B4-BE49-F238E27FC236}">
                <a16:creationId xmlns:a16="http://schemas.microsoft.com/office/drawing/2014/main" id="{BE8912DE-7392-DA52-DCED-61F45ED11AC6}"/>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エグゼクティブサマリー</a:t>
            </a:r>
          </a:p>
        </p:txBody>
      </p:sp>
      <p:sp>
        <p:nvSpPr>
          <p:cNvPr id="16" name="字幕 13">
            <a:extLst>
              <a:ext uri="{FF2B5EF4-FFF2-40B4-BE49-F238E27FC236}">
                <a16:creationId xmlns:a16="http://schemas.microsoft.com/office/drawing/2014/main" id="{7A1881B5-EF3F-935A-CE45-EAB497D19AED}"/>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a:ea typeface="游ゴシック"/>
              </a:rPr>
              <a:t>売上高は約12億円で安定。粗利率の低下を役員報酬・賞与・償却費の減少で補い、2026/3期は営業黒字へ回復。正常収益力を示す調整後EBITDAは3期平均14,549千円。</a:t>
            </a:r>
          </a:p>
        </p:txBody>
      </p:sp>
      <p:sp>
        <p:nvSpPr>
          <p:cNvPr id="2" name="正方形/長方形 1">
            <a:extLst>
              <a:ext uri="{FF2B5EF4-FFF2-40B4-BE49-F238E27FC236}">
                <a16:creationId xmlns:a16="http://schemas.microsoft.com/office/drawing/2014/main" id="{22D7A017-71F2-4035-677D-AF49C1C280D6}"/>
              </a:ext>
            </a:extLst>
          </p:cNvPr>
          <p:cNvSpPr/>
          <p:nvPr/>
        </p:nvSpPr>
        <p:spPr>
          <a:xfrm>
            <a:off x="6455664" y="5166360"/>
            <a:ext cx="3922776" cy="1828800"/>
          </a:xfrm>
          <a:prstGeom prst="rect">
            <a:avLst/>
          </a:prstGeom>
          <a:solidFill>
            <a:schemeClr val="accent2"/>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nSpc>
                <a:spcPct val="150000"/>
              </a:lnSpc>
            </a:pPr>
            <a:endParaRPr kumimoji="1" lang="en-US" altLang="ja-JP" sz="1200" b="1" dirty="0">
              <a:solidFill>
                <a:schemeClr val="tx1"/>
              </a:solidFill>
              <a:latin typeface="+mn-ea"/>
            </a:endParaRPr>
          </a:p>
        </p:txBody>
      </p:sp>
      <p:sp>
        <p:nvSpPr>
          <p:cNvPr id="8" name="正方形/長方形 7">
            <a:extLst>
              <a:ext uri="{FF2B5EF4-FFF2-40B4-BE49-F238E27FC236}">
                <a16:creationId xmlns:a16="http://schemas.microsoft.com/office/drawing/2014/main" id="{CBD334A9-999C-ACD4-9DD2-EF961CBA0926}"/>
              </a:ext>
            </a:extLst>
          </p:cNvPr>
          <p:cNvSpPr/>
          <p:nvPr/>
        </p:nvSpPr>
        <p:spPr>
          <a:xfrm>
            <a:off x="6455664" y="1463040"/>
            <a:ext cx="3922776" cy="3611880"/>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252000" rIns="0" bIns="0" rtlCol="0" anchor="t"/>
          <a:lstStyle/>
          <a:p>
            <a:pPr algn="ctr"/>
            <a:r>
              <a:rPr kumimoji="1" lang="en-US" altLang="ja-JP" sz="1600" b="1" dirty="0">
                <a:solidFill>
                  <a:schemeClr val="tx2"/>
                </a:solidFill>
                <a:latin typeface="+mj-lt"/>
                <a:ea typeface="+mj-ea"/>
              </a:rPr>
              <a:t>Comment</a:t>
            </a:r>
            <a:endParaRPr kumimoji="1" lang="ja-JP" altLang="en-US" sz="1600" b="1" dirty="0">
              <a:solidFill>
                <a:schemeClr val="tx2"/>
              </a:solidFill>
              <a:latin typeface="+mj-lt"/>
              <a:ea typeface="+mj-ea"/>
            </a:endParaRPr>
          </a:p>
        </p:txBody>
      </p:sp>
      <p:sp>
        <p:nvSpPr>
          <p:cNvPr id="9" name="テキスト ボックス 8">
            <a:extLst>
              <a:ext uri="{FF2B5EF4-FFF2-40B4-BE49-F238E27FC236}">
                <a16:creationId xmlns:a16="http://schemas.microsoft.com/office/drawing/2014/main" id="{E5084622-1D6B-783F-80DE-6D9A498C7C12}"/>
              </a:ext>
            </a:extLst>
          </p:cNvPr>
          <p:cNvSpPr txBox="1"/>
          <p:nvPr/>
        </p:nvSpPr>
        <p:spPr>
          <a:xfrm>
            <a:off x="6455664" y="1993392"/>
            <a:ext cx="3913632" cy="3017520"/>
          </a:xfrm>
          <a:prstGeom prst="rect">
            <a:avLst/>
          </a:prstGeom>
          <a:noFill/>
        </p:spPr>
        <p:txBody>
          <a:bodyPr wrap="square" lIns="288000" tIns="0" rIns="252000" bIns="0" rtlCol="0">
            <a:spAutoFit/>
          </a:bodyPr>
          <a:lstStyle/>
          <a:p>
            <a:pPr>
              <a:spcAft>
                <a:spcPts val="300"/>
              </a:spcAft>
            </a:pPr>
            <a:r>
              <a:rPr lang="ja-JP" altLang="en-US" sz="1000" b="1" dirty="0">
                <a:solidFill>
                  <a:sysClr val="windowText" lastClr="000000"/>
                </a:solidFill>
                <a:latin typeface="游ゴシック"/>
                <a:ea typeface="游ゴシック"/>
              </a:rPr>
              <a:t>≪売上高≫</a:t>
            </a:r>
          </a:p>
          <a:p>
            <a:pPr>
              <a:spcAft>
                <a:spcPts val="300"/>
              </a:spcAft>
            </a:pPr>
            <a:r>
              <a:rPr lang="ja-JP" altLang="en-US" sz="900" b="0" dirty="0">
                <a:solidFill>
                  <a:sysClr val="windowText" lastClr="000000"/>
                </a:solidFill>
                <a:latin typeface="游ゴシック"/>
                <a:ea typeface="游ゴシック"/>
              </a:rPr>
              <a:t>・1,178,489→1,181,947→1,195,893千円と約12億円で安定。繁忙期は7〜12月、閑散期は1〜5月。</a:t>
            </a:r>
          </a:p>
          <a:p>
            <a:pPr>
              <a:spcAft>
                <a:spcPts val="300"/>
              </a:spcAft>
            </a:pPr>
            <a:r>
              <a:rPr lang="ja-JP" altLang="en-US" sz="1000" b="1" dirty="0">
                <a:solidFill>
                  <a:sysClr val="windowText" lastClr="000000"/>
                </a:solidFill>
                <a:latin typeface="游ゴシック"/>
                <a:ea typeface="游ゴシック"/>
              </a:rPr>
              <a:t>≪売上総利益≫</a:t>
            </a:r>
          </a:p>
          <a:p>
            <a:pPr>
              <a:spcAft>
                <a:spcPts val="300"/>
              </a:spcAft>
            </a:pPr>
            <a:r>
              <a:rPr lang="ja-JP" altLang="en-US" sz="900" b="0" dirty="0">
                <a:solidFill>
                  <a:sysClr val="windowText" lastClr="000000"/>
                </a:solidFill>
                <a:latin typeface="游ゴシック"/>
                <a:ea typeface="游ゴシック"/>
              </a:rPr>
              <a:t>・粗利率は18.6%→17.9%→16.6%と低下。2期で仕入高が+4.5%と売上高（+1.5%）を上回った（要因は要確認）。</a:t>
            </a:r>
          </a:p>
          <a:p>
            <a:pPr>
              <a:spcAft>
                <a:spcPts val="300"/>
              </a:spcAft>
            </a:pPr>
            <a:r>
              <a:rPr lang="ja-JP" altLang="en-US" sz="1000" b="1" dirty="0">
                <a:solidFill>
                  <a:sysClr val="windowText" lastClr="000000"/>
                </a:solidFill>
                <a:latin typeface="游ゴシック"/>
                <a:ea typeface="游ゴシック"/>
              </a:rPr>
              <a:t>≪営業利益≫</a:t>
            </a:r>
          </a:p>
          <a:p>
            <a:pPr>
              <a:spcAft>
                <a:spcPts val="300"/>
              </a:spcAft>
            </a:pPr>
            <a:r>
              <a:rPr lang="ja-JP" altLang="en-US" sz="900" b="0" dirty="0">
                <a:solidFill>
                  <a:sysClr val="windowText" lastClr="000000"/>
                </a:solidFill>
                <a:latin typeface="游ゴシック"/>
                <a:ea typeface="游ゴシック"/>
              </a:rPr>
              <a:t>・2025/3期は粗利減少で営業赤字。2026/3期は役員報酬・賞与・償却費の減少で5,860千円へ回復。</a:t>
            </a:r>
          </a:p>
          <a:p>
            <a:pPr>
              <a:spcAft>
                <a:spcPts val="300"/>
              </a:spcAft>
            </a:pPr>
            <a:r>
              <a:rPr lang="ja-JP" altLang="en-US" sz="1000" b="1" dirty="0">
                <a:solidFill>
                  <a:sysClr val="windowText" lastClr="000000"/>
                </a:solidFill>
                <a:latin typeface="游ゴシック"/>
                <a:ea typeface="游ゴシック"/>
              </a:rPr>
              <a:t>≪経常利益・当期純利益≫</a:t>
            </a:r>
          </a:p>
          <a:p>
            <a:pPr>
              <a:spcAft>
                <a:spcPts val="300"/>
              </a:spcAft>
            </a:pPr>
            <a:r>
              <a:rPr lang="ja-JP" altLang="en-US" sz="900" b="0" dirty="0">
                <a:solidFill>
                  <a:sysClr val="windowText" lastClr="000000"/>
                </a:solidFill>
                <a:latin typeface="游ゴシック"/>
                <a:ea typeface="游ゴシック"/>
              </a:rPr>
              <a:t>・受取奨励金等で経常黒字を確保。2026/3期の純損失は保険積立金取崩し（前期損益修正損20,900千円）による。</a:t>
            </a:r>
          </a:p>
          <a:p>
            <a:pPr>
              <a:spcAft>
                <a:spcPts val="300"/>
              </a:spcAft>
            </a:pPr>
            <a:r>
              <a:rPr lang="ja-JP" altLang="en-US" sz="1000" b="1" dirty="0">
                <a:solidFill>
                  <a:sysClr val="windowText" lastClr="000000"/>
                </a:solidFill>
                <a:latin typeface="游ゴシック"/>
                <a:ea typeface="游ゴシック"/>
              </a:rPr>
              <a:t>≪進行期≫</a:t>
            </a:r>
          </a:p>
          <a:p>
            <a:pPr>
              <a:spcAft>
                <a:spcPts val="300"/>
              </a:spcAft>
            </a:pPr>
            <a:r>
              <a:rPr lang="ja-JP" altLang="en-US" sz="900" b="0" dirty="0">
                <a:solidFill>
                  <a:sysClr val="windowText" lastClr="000000"/>
                </a:solidFill>
                <a:latin typeface="游ゴシック"/>
                <a:ea typeface="游ゴシック"/>
              </a:rPr>
              <a:t>・2026年4〜7月の売上高は411,155千円（前年同期比98.1%）。足元は人件費の削減により利益体質が改善。代表者によれば9月時点の試算表で約2,000万円の利益（試算表は依頼中・要確認）。</a:t>
            </a:r>
          </a:p>
        </p:txBody>
      </p:sp>
      <p:sp>
        <p:nvSpPr>
          <p:cNvPr id="10" name="テキスト ボックス 9">
            <a:extLst>
              <a:ext uri="{FF2B5EF4-FFF2-40B4-BE49-F238E27FC236}">
                <a16:creationId xmlns:a16="http://schemas.microsoft.com/office/drawing/2014/main" id="{9CE926BB-0658-93C0-4CB2-D9073D01110E}"/>
              </a:ext>
            </a:extLst>
          </p:cNvPr>
          <p:cNvSpPr txBox="1"/>
          <p:nvPr/>
        </p:nvSpPr>
        <p:spPr>
          <a:xfrm>
            <a:off x="6464808" y="5239512"/>
            <a:ext cx="3913632" cy="1691640"/>
          </a:xfrm>
          <a:prstGeom prst="rect">
            <a:avLst/>
          </a:prstGeom>
          <a:noFill/>
        </p:spPr>
        <p:txBody>
          <a:bodyPr wrap="square" lIns="288000" tIns="0" rIns="252000" bIns="0" rtlCol="0">
            <a:spAutoFit/>
          </a:bodyPr>
          <a:lstStyle/>
          <a:p>
            <a:pPr>
              <a:spcAft>
                <a:spcPts val="100"/>
              </a:spcAft>
            </a:pPr>
            <a:r>
              <a:rPr lang="ja-JP" altLang="en-US" sz="900" b="1" dirty="0">
                <a:solidFill>
                  <a:sysClr val="windowText" lastClr="000000"/>
                </a:solidFill>
                <a:latin typeface="游ゴシック"/>
                <a:ea typeface="游ゴシック"/>
              </a:rPr>
              <a:t>【調整項目】</a:t>
            </a:r>
          </a:p>
          <a:p>
            <a:pPr>
              <a:spcAft>
                <a:spcPts val="100"/>
              </a:spcAft>
            </a:pPr>
            <a:r>
              <a:rPr lang="ja-JP" altLang="en-US" sz="900" b="1" dirty="0">
                <a:solidFill>
                  <a:sysClr val="windowText" lastClr="000000"/>
                </a:solidFill>
                <a:latin typeface="游ゴシック"/>
                <a:ea typeface="游ゴシック"/>
              </a:rPr>
              <a:t>≪役員報酬・社会保険料≫</a:t>
            </a:r>
          </a:p>
          <a:p>
            <a:pPr>
              <a:spcAft>
                <a:spcPts val="100"/>
              </a:spcAft>
            </a:pPr>
            <a:r>
              <a:rPr lang="ja-JP" altLang="en-US" sz="850" b="0" dirty="0">
                <a:solidFill>
                  <a:sysClr val="windowText" lastClr="000000"/>
                </a:solidFill>
                <a:latin typeface="游ゴシック"/>
                <a:ea typeface="游ゴシック"/>
              </a:rPr>
              <a:t>・代表者・配偶者の報酬を新体制の役員報酬（年8,000千円と仮定）に置換</a:t>
            </a:r>
          </a:p>
          <a:p>
            <a:pPr>
              <a:spcAft>
                <a:spcPts val="100"/>
              </a:spcAft>
            </a:pPr>
            <a:r>
              <a:rPr lang="ja-JP" altLang="en-US" sz="900" b="1" dirty="0">
                <a:solidFill>
                  <a:sysClr val="windowText" lastClr="000000"/>
                </a:solidFill>
                <a:latin typeface="游ゴシック"/>
                <a:ea typeface="游ゴシック"/>
              </a:rPr>
              <a:t>≪賞与≫</a:t>
            </a:r>
          </a:p>
          <a:p>
            <a:pPr>
              <a:spcAft>
                <a:spcPts val="100"/>
              </a:spcAft>
            </a:pPr>
            <a:r>
              <a:rPr lang="ja-JP" altLang="en-US" sz="850" b="0" dirty="0">
                <a:solidFill>
                  <a:sysClr val="windowText" lastClr="000000"/>
                </a:solidFill>
                <a:latin typeface="游ゴシック"/>
                <a:ea typeface="游ゴシック"/>
              </a:rPr>
              <a:t>・賞与規定はなく業績に応じて支給。2026/3期は支給なし。継続支給を前提に前2期平均を控除（保守的に想定）</a:t>
            </a:r>
          </a:p>
          <a:p>
            <a:pPr>
              <a:spcAft>
                <a:spcPts val="100"/>
              </a:spcAft>
            </a:pPr>
            <a:r>
              <a:rPr lang="ja-JP" altLang="en-US" sz="900" b="1" dirty="0">
                <a:solidFill>
                  <a:sysClr val="windowText" lastClr="000000"/>
                </a:solidFill>
                <a:latin typeface="游ゴシック"/>
                <a:ea typeface="游ゴシック"/>
              </a:rPr>
              <a:t>≪受取奨励金・寄付金≫</a:t>
            </a:r>
          </a:p>
          <a:p>
            <a:pPr>
              <a:spcAft>
                <a:spcPts val="100"/>
              </a:spcAft>
            </a:pPr>
            <a:r>
              <a:rPr lang="ja-JP" altLang="en-US" sz="850" b="0" dirty="0">
                <a:solidFill>
                  <a:sysClr val="windowText" lastClr="000000"/>
                </a:solidFill>
                <a:latin typeface="游ゴシック"/>
                <a:ea typeface="游ゴシック"/>
              </a:rPr>
              <a:t>・仕入先市場から毎期受け取る完納奨励金を加算、譲渡後に発生しない寄付金を加算</a:t>
            </a:r>
          </a:p>
        </p:txBody>
      </p:sp>
      <p:graphicFrame>
        <p:nvGraphicFramePr>
          <p:cNvPr id="17" name="表（PLハイライト!B4:F25）"/>
          <p:cNvGraphicFramePr>
            <a:graphicFrameLocks noGrp="1"/>
          </p:cNvGraphicFramePr>
          <p:nvPr/>
        </p:nvGraphicFramePr>
        <p:xfrm>
          <a:off x="310896" y="1463040"/>
          <a:ext cx="6053324" cy="4546600"/>
        </p:xfrm>
        <a:graphic>
          <a:graphicData uri="http://schemas.openxmlformats.org/drawingml/2006/table">
            <a:tbl>
              <a:tblPr firstRow="0" bandRow="0">
                <a:tableStyleId>{2D5ABB26-0587-4C30-8999-92F81FD0307C}</a:tableStyleId>
              </a:tblPr>
              <a:tblGrid>
                <a:gridCol w="1664624"/>
                <a:gridCol w="1097175"/>
                <a:gridCol w="1097175"/>
                <a:gridCol w="1097175"/>
                <a:gridCol w="1097175"/>
              </a:tblGrid>
              <a:tr h="190500">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900" b="0" i="0" dirty="0">
                          <a:solidFill>
                            <a:srgbClr val="000000"/>
                          </a:solidFill>
                          <a:latin typeface="游ゴシック"/>
                          <a:ea typeface="游ゴシック"/>
                        </a:rPr>
                        <a:t>(単位：千円)</a:t>
                      </a:r>
                      <a:endParaRPr lang="ja-JP" altLang="en-US" sz="90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r>
              <a:tr h="241300">
                <a:tc>
                  <a:txBody>
                    <a:bodyPr/>
                    <a:lstStyle/>
                    <a:p>
                      <a:pPr algn="ctr" fontAlgn="ct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2024年3月期</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2025年3月期</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2026年3月期</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2026年4〜7月</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r>
              <a:tr h="241300">
                <a:tc>
                  <a:txBody>
                    <a:bodyPr/>
                    <a:lstStyle/>
                    <a:p>
                      <a:pPr algn="l" fontAlgn="ctr"/>
                      <a:r>
                        <a:rPr lang="ja-JP" altLang="en-US" sz="1050" b="0" i="0" dirty="0">
                          <a:solidFill>
                            <a:srgbClr val="000000"/>
                          </a:solidFill>
                          <a:latin typeface="游ゴシック"/>
                          <a:ea typeface="游ゴシック"/>
                        </a:rPr>
                        <a:t>売上高</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noFill/>
                    </a:lnB>
                    <a:solidFill>
                      <a:srgbClr val="E3E7E9"/>
                    </a:solidFill>
                  </a:tcPr>
                </a:tc>
                <a:tc>
                  <a:txBody>
                    <a:bodyPr/>
                    <a:lstStyle/>
                    <a:p>
                      <a:pPr algn="r" fontAlgn="ctr"/>
                      <a:r>
                        <a:rPr lang="ja-JP" altLang="en-US" sz="1050" b="0" i="0" dirty="0">
                          <a:solidFill>
                            <a:srgbClr val="000000"/>
                          </a:solidFill>
                          <a:latin typeface="Arial"/>
                          <a:ea typeface="游ゴシック Medium"/>
                        </a:rPr>
                        <a:t>1,178,489</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1,181,947</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1,195,893</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411,155</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noFill/>
                    </a:lnB>
                    <a:noFill/>
                  </a:tcPr>
                </a:tc>
              </a:tr>
              <a:tr h="177800">
                <a:tc>
                  <a:txBody>
                    <a:bodyPr/>
                    <a:lstStyle/>
                    <a:p>
                      <a:pPr algn="r" fontAlgn="ctr"/>
                      <a:r>
                        <a:rPr lang="ja-JP" altLang="en-US" sz="700" b="0" i="1" dirty="0">
                          <a:solidFill>
                            <a:srgbClr val="000000"/>
                          </a:solidFill>
                          <a:latin typeface="游ゴシック"/>
                          <a:ea typeface="游ゴシック"/>
                        </a:rPr>
                        <a:t>前期比</a:t>
                      </a:r>
                      <a:endParaRPr lang="ja-JP" altLang="en-US" sz="700" b="0" i="1"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700" b="0" i="1" dirty="0">
                          <a:solidFill>
                            <a:srgbClr val="000000"/>
                          </a:solidFill>
                          <a:latin typeface="Arial"/>
                          <a:ea typeface="游ゴシック Medium"/>
                        </a:rPr>
                        <a:t>-</a:t>
                      </a:r>
                      <a:endParaRPr lang="ja-JP" altLang="en-US" sz="700" b="0" i="1"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700" b="0" i="1" dirty="0">
                          <a:solidFill>
                            <a:srgbClr val="000000"/>
                          </a:solidFill>
                          <a:latin typeface="Arial"/>
                          <a:ea typeface="游ゴシック Medium"/>
                        </a:rPr>
                        <a:t>100.3%</a:t>
                      </a:r>
                      <a:endParaRPr lang="ja-JP" altLang="en-US" sz="700" b="0" i="1"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700" b="0" i="1" dirty="0">
                          <a:solidFill>
                            <a:srgbClr val="000000"/>
                          </a:solidFill>
                          <a:latin typeface="Arial"/>
                          <a:ea typeface="游ゴシック Medium"/>
                        </a:rPr>
                        <a:t>101.2%</a:t>
                      </a:r>
                      <a:endParaRPr lang="ja-JP" altLang="en-US" sz="700" b="0" i="1"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700" b="0" i="1" dirty="0">
                          <a:solidFill>
                            <a:srgbClr val="000000"/>
                          </a:solidFill>
                          <a:latin typeface="Arial"/>
                          <a:ea typeface="游ゴシック Medium"/>
                        </a:rPr>
                        <a:t>98.1%</a:t>
                      </a:r>
                      <a:endParaRPr lang="ja-JP" altLang="en-US" sz="700" b="0" i="1"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41300">
                <a:tc>
                  <a:txBody>
                    <a:bodyPr/>
                    <a:lstStyle/>
                    <a:p>
                      <a:pPr algn="l" fontAlgn="ctr"/>
                      <a:r>
                        <a:rPr lang="ja-JP" altLang="en-US" sz="1050" b="0" i="0" dirty="0">
                          <a:solidFill>
                            <a:srgbClr val="000000"/>
                          </a:solidFill>
                          <a:latin typeface="游ゴシック"/>
                          <a:ea typeface="游ゴシック"/>
                        </a:rPr>
                        <a:t>売上総利益</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noFill/>
                    </a:lnB>
                    <a:solidFill>
                      <a:srgbClr val="E3E7E9"/>
                    </a:solidFill>
                  </a:tcPr>
                </a:tc>
                <a:tc>
                  <a:txBody>
                    <a:bodyPr/>
                    <a:lstStyle/>
                    <a:p>
                      <a:pPr algn="r" fontAlgn="ctr"/>
                      <a:r>
                        <a:rPr lang="ja-JP" altLang="en-US" sz="1050" b="0" i="0" dirty="0">
                          <a:solidFill>
                            <a:srgbClr val="000000"/>
                          </a:solidFill>
                          <a:latin typeface="Arial"/>
                          <a:ea typeface="游ゴシック Medium"/>
                        </a:rPr>
                        <a:t>219,580</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211,296</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199,011</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61,214</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noFill/>
                    </a:lnB>
                    <a:noFill/>
                  </a:tcPr>
                </a:tc>
              </a:tr>
              <a:tr h="177800">
                <a:tc>
                  <a:txBody>
                    <a:bodyPr/>
                    <a:lstStyle/>
                    <a:p>
                      <a:pPr algn="r" fontAlgn="ctr"/>
                      <a:r>
                        <a:rPr lang="ja-JP" altLang="en-US" sz="700" b="0" i="1" dirty="0">
                          <a:solidFill>
                            <a:srgbClr val="000000"/>
                          </a:solidFill>
                          <a:latin typeface="游ゴシック"/>
                          <a:ea typeface="游ゴシック"/>
                        </a:rPr>
                        <a:t>利益率</a:t>
                      </a:r>
                      <a:endParaRPr lang="ja-JP" altLang="en-US" sz="700" b="0" i="1"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700" b="0" i="1" dirty="0">
                          <a:solidFill>
                            <a:srgbClr val="000000"/>
                          </a:solidFill>
                          <a:latin typeface="Arial"/>
                          <a:ea typeface="游ゴシック Medium"/>
                        </a:rPr>
                        <a:t>18.6%</a:t>
                      </a:r>
                      <a:endParaRPr lang="ja-JP" altLang="en-US" sz="700" b="0" i="1"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700" b="0" i="1" dirty="0">
                          <a:solidFill>
                            <a:srgbClr val="000000"/>
                          </a:solidFill>
                          <a:latin typeface="Arial"/>
                          <a:ea typeface="游ゴシック Medium"/>
                        </a:rPr>
                        <a:t>17.9%</a:t>
                      </a:r>
                      <a:endParaRPr lang="ja-JP" altLang="en-US" sz="700" b="0" i="1"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700" b="0" i="1" dirty="0">
                          <a:solidFill>
                            <a:srgbClr val="000000"/>
                          </a:solidFill>
                          <a:latin typeface="Arial"/>
                          <a:ea typeface="游ゴシック Medium"/>
                        </a:rPr>
                        <a:t>16.6%</a:t>
                      </a:r>
                      <a:endParaRPr lang="ja-JP" altLang="en-US" sz="700" b="0" i="1"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700" b="0" i="1" dirty="0">
                          <a:solidFill>
                            <a:srgbClr val="000000"/>
                          </a:solidFill>
                          <a:latin typeface="Arial"/>
                          <a:ea typeface="游ゴシック Medium"/>
                        </a:rPr>
                        <a:t>14.9%</a:t>
                      </a:r>
                      <a:endParaRPr lang="ja-JP" altLang="en-US" sz="700" b="0" i="1"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41300">
                <a:tc>
                  <a:txBody>
                    <a:bodyPr/>
                    <a:lstStyle/>
                    <a:p>
                      <a:pPr algn="l" fontAlgn="ctr"/>
                      <a:r>
                        <a:rPr lang="ja-JP" altLang="en-US" sz="1050" b="0" i="0" dirty="0">
                          <a:solidFill>
                            <a:srgbClr val="000000"/>
                          </a:solidFill>
                          <a:latin typeface="游ゴシック"/>
                          <a:ea typeface="游ゴシック"/>
                        </a:rPr>
                        <a:t>営業利益</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noFill/>
                    </a:lnB>
                    <a:solidFill>
                      <a:srgbClr val="E3E7E9"/>
                    </a:solidFill>
                  </a:tcPr>
                </a:tc>
                <a:tc>
                  <a:txBody>
                    <a:bodyPr/>
                    <a:lstStyle/>
                    <a:p>
                      <a:pPr algn="r" fontAlgn="ctr"/>
                      <a:r>
                        <a:rPr lang="ja-JP" altLang="en-US" sz="1050" b="0" i="0" dirty="0">
                          <a:solidFill>
                            <a:srgbClr val="000000"/>
                          </a:solidFill>
                          <a:latin typeface="Arial"/>
                          <a:ea typeface="游ゴシック Medium"/>
                        </a:rPr>
                        <a:t>4,757</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△4,423</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5,860</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5,317</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noFill/>
                    </a:lnB>
                    <a:noFill/>
                  </a:tcPr>
                </a:tc>
              </a:tr>
              <a:tr h="177800">
                <a:tc>
                  <a:txBody>
                    <a:bodyPr/>
                    <a:lstStyle/>
                    <a:p>
                      <a:pPr algn="r" fontAlgn="ctr"/>
                      <a:r>
                        <a:rPr lang="ja-JP" altLang="en-US" sz="700" b="0" i="1" dirty="0">
                          <a:solidFill>
                            <a:srgbClr val="000000"/>
                          </a:solidFill>
                          <a:latin typeface="游ゴシック"/>
                          <a:ea typeface="游ゴシック"/>
                        </a:rPr>
                        <a:t>利益率</a:t>
                      </a:r>
                      <a:endParaRPr lang="ja-JP" altLang="en-US" sz="700" b="0" i="1"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700" b="0" i="1" dirty="0">
                          <a:solidFill>
                            <a:srgbClr val="000000"/>
                          </a:solidFill>
                          <a:latin typeface="Arial"/>
                          <a:ea typeface="游ゴシック Medium"/>
                        </a:rPr>
                        <a:t>0.4%</a:t>
                      </a:r>
                      <a:endParaRPr lang="ja-JP" altLang="en-US" sz="700" b="0" i="1"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700" b="0" i="1" dirty="0">
                          <a:solidFill>
                            <a:srgbClr val="000000"/>
                          </a:solidFill>
                          <a:latin typeface="Arial"/>
                          <a:ea typeface="游ゴシック Medium"/>
                        </a:rPr>
                        <a:t>△0.4%</a:t>
                      </a:r>
                      <a:endParaRPr lang="ja-JP" altLang="en-US" sz="700" b="0" i="1"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700" b="0" i="1" dirty="0">
                          <a:solidFill>
                            <a:srgbClr val="000000"/>
                          </a:solidFill>
                          <a:latin typeface="Arial"/>
                          <a:ea typeface="游ゴシック Medium"/>
                        </a:rPr>
                        <a:t>0.5%</a:t>
                      </a:r>
                      <a:endParaRPr lang="ja-JP" altLang="en-US" sz="700" b="0" i="1"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700" b="0" i="1" dirty="0">
                          <a:solidFill>
                            <a:srgbClr val="000000"/>
                          </a:solidFill>
                          <a:latin typeface="Arial"/>
                          <a:ea typeface="游ゴシック Medium"/>
                        </a:rPr>
                        <a:t>1.3%</a:t>
                      </a:r>
                      <a:endParaRPr lang="ja-JP" altLang="en-US" sz="700" b="0" i="1"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41300">
                <a:tc>
                  <a:txBody>
                    <a:bodyPr/>
                    <a:lstStyle/>
                    <a:p>
                      <a:pPr algn="l" fontAlgn="ctr"/>
                      <a:r>
                        <a:rPr lang="ja-JP" altLang="en-US" sz="1050" b="0" i="0" dirty="0">
                          <a:solidFill>
                            <a:srgbClr val="000000"/>
                          </a:solidFill>
                          <a:latin typeface="游ゴシック"/>
                          <a:ea typeface="游ゴシック"/>
                        </a:rPr>
                        <a:t>経常利益</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noFill/>
                    </a:lnB>
                    <a:solidFill>
                      <a:srgbClr val="E3E7E9"/>
                    </a:solidFill>
                  </a:tcPr>
                </a:tc>
                <a:tc>
                  <a:txBody>
                    <a:bodyPr/>
                    <a:lstStyle/>
                    <a:p>
                      <a:pPr algn="r" fontAlgn="ctr"/>
                      <a:r>
                        <a:rPr lang="ja-JP" altLang="en-US" sz="1050" b="0" i="0" dirty="0">
                          <a:solidFill>
                            <a:srgbClr val="000000"/>
                          </a:solidFill>
                          <a:latin typeface="Arial"/>
                          <a:ea typeface="游ゴシック Medium"/>
                        </a:rPr>
                        <a:t>11,317</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2,181</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8,068</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5,885</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noFill/>
                    </a:lnB>
                    <a:noFill/>
                  </a:tcPr>
                </a:tc>
              </a:tr>
              <a:tr h="177800">
                <a:tc>
                  <a:txBody>
                    <a:bodyPr/>
                    <a:lstStyle/>
                    <a:p>
                      <a:pPr algn="r" fontAlgn="ctr"/>
                      <a:r>
                        <a:rPr lang="ja-JP" altLang="en-US" sz="700" b="0" i="1" dirty="0">
                          <a:solidFill>
                            <a:srgbClr val="000000"/>
                          </a:solidFill>
                          <a:latin typeface="游ゴシック"/>
                          <a:ea typeface="游ゴシック"/>
                        </a:rPr>
                        <a:t>利益率</a:t>
                      </a:r>
                      <a:endParaRPr lang="ja-JP" altLang="en-US" sz="700" b="0" i="1"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700" b="0" i="1" dirty="0">
                          <a:solidFill>
                            <a:srgbClr val="000000"/>
                          </a:solidFill>
                          <a:latin typeface="Arial"/>
                          <a:ea typeface="游ゴシック Medium"/>
                        </a:rPr>
                        <a:t>1.0%</a:t>
                      </a:r>
                      <a:endParaRPr lang="ja-JP" altLang="en-US" sz="700" b="0" i="1"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700" b="0" i="1" dirty="0">
                          <a:solidFill>
                            <a:srgbClr val="000000"/>
                          </a:solidFill>
                          <a:latin typeface="Arial"/>
                          <a:ea typeface="游ゴシック Medium"/>
                        </a:rPr>
                        <a:t>0.2%</a:t>
                      </a:r>
                      <a:endParaRPr lang="ja-JP" altLang="en-US" sz="700" b="0" i="1"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700" b="0" i="1" dirty="0">
                          <a:solidFill>
                            <a:srgbClr val="000000"/>
                          </a:solidFill>
                          <a:latin typeface="Arial"/>
                          <a:ea typeface="游ゴシック Medium"/>
                        </a:rPr>
                        <a:t>0.7%</a:t>
                      </a:r>
                      <a:endParaRPr lang="ja-JP" altLang="en-US" sz="700" b="0" i="1"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700" b="0" i="1" dirty="0">
                          <a:solidFill>
                            <a:srgbClr val="000000"/>
                          </a:solidFill>
                          <a:latin typeface="Arial"/>
                          <a:ea typeface="游ゴシック Medium"/>
                        </a:rPr>
                        <a:t>1.4%</a:t>
                      </a:r>
                      <a:endParaRPr lang="ja-JP" altLang="en-US" sz="700" b="0" i="1"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41300">
                <a:tc>
                  <a:txBody>
                    <a:bodyPr/>
                    <a:lstStyle/>
                    <a:p>
                      <a:pPr algn="l" fontAlgn="ctr"/>
                      <a:r>
                        <a:rPr lang="ja-JP" altLang="en-US" sz="1050" b="0" i="0" dirty="0">
                          <a:solidFill>
                            <a:srgbClr val="000000"/>
                          </a:solidFill>
                          <a:latin typeface="游ゴシック"/>
                          <a:ea typeface="游ゴシック"/>
                        </a:rPr>
                        <a:t>税引後当期純利益</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noFill/>
                    </a:lnB>
                    <a:solidFill>
                      <a:srgbClr val="E3E7E9"/>
                    </a:solidFill>
                  </a:tcPr>
                </a:tc>
                <a:tc>
                  <a:txBody>
                    <a:bodyPr/>
                    <a:lstStyle/>
                    <a:p>
                      <a:pPr algn="r" fontAlgn="ctr"/>
                      <a:r>
                        <a:rPr lang="ja-JP" altLang="en-US" sz="1050" b="0" i="0" dirty="0">
                          <a:solidFill>
                            <a:srgbClr val="000000"/>
                          </a:solidFill>
                          <a:latin typeface="Arial"/>
                          <a:ea typeface="游ゴシック Medium"/>
                        </a:rPr>
                        <a:t>9,107</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2,929</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△15,085</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5,885</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noFill/>
                    </a:lnB>
                    <a:noFill/>
                  </a:tcPr>
                </a:tc>
              </a:tr>
              <a:tr h="177800">
                <a:tc>
                  <a:txBody>
                    <a:bodyPr/>
                    <a:lstStyle/>
                    <a:p>
                      <a:pPr algn="r" fontAlgn="ctr"/>
                      <a:r>
                        <a:rPr lang="ja-JP" altLang="en-US" sz="700" b="0" i="1" dirty="0">
                          <a:solidFill>
                            <a:srgbClr val="000000"/>
                          </a:solidFill>
                          <a:latin typeface="游ゴシック"/>
                          <a:ea typeface="游ゴシック"/>
                        </a:rPr>
                        <a:t>利益率</a:t>
                      </a:r>
                      <a:endParaRPr lang="ja-JP" altLang="en-US" sz="700" b="0" i="1"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700" b="0" i="1" dirty="0">
                          <a:solidFill>
                            <a:srgbClr val="000000"/>
                          </a:solidFill>
                          <a:latin typeface="Arial"/>
                          <a:ea typeface="游ゴシック Medium"/>
                        </a:rPr>
                        <a:t>0.8%</a:t>
                      </a:r>
                      <a:endParaRPr lang="ja-JP" altLang="en-US" sz="700" b="0" i="1"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700" b="0" i="1" dirty="0">
                          <a:solidFill>
                            <a:srgbClr val="000000"/>
                          </a:solidFill>
                          <a:latin typeface="Arial"/>
                          <a:ea typeface="游ゴシック Medium"/>
                        </a:rPr>
                        <a:t>0.2%</a:t>
                      </a:r>
                      <a:endParaRPr lang="ja-JP" altLang="en-US" sz="700" b="0" i="1"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700" b="0" i="1" dirty="0">
                          <a:solidFill>
                            <a:srgbClr val="000000"/>
                          </a:solidFill>
                          <a:latin typeface="Arial"/>
                          <a:ea typeface="游ゴシック Medium"/>
                        </a:rPr>
                        <a:t>△1.3%</a:t>
                      </a:r>
                      <a:endParaRPr lang="ja-JP" altLang="en-US" sz="700" b="0" i="1"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700" b="0" i="1" dirty="0">
                          <a:solidFill>
                            <a:srgbClr val="000000"/>
                          </a:solidFill>
                          <a:latin typeface="Arial"/>
                          <a:ea typeface="游ゴシック Medium"/>
                        </a:rPr>
                        <a:t>1.4%</a:t>
                      </a:r>
                      <a:endParaRPr lang="ja-JP" altLang="en-US" sz="700" b="0" i="1"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01600">
                <a:tc>
                  <a:txBody>
                    <a:bodyPr/>
                    <a:lstStyle/>
                    <a:p>
                      <a:pPr algn="l" fontAlgn="ctr"/>
                      <a:endParaRPr lang="ja-JP" altLang="en-US" sz="48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48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48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48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48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r>
              <a:tr h="241300">
                <a:tc>
                  <a:txBody>
                    <a:bodyPr/>
                    <a:lstStyle/>
                    <a:p>
                      <a:pPr algn="l" fontAlgn="ctr"/>
                      <a:r>
                        <a:rPr lang="ja-JP" altLang="en-US" sz="1050" b="0" i="0" dirty="0">
                          <a:solidFill>
                            <a:srgbClr val="000000"/>
                          </a:solidFill>
                          <a:latin typeface="游ゴシック"/>
                          <a:ea typeface="游ゴシック"/>
                        </a:rPr>
                        <a:t>減価償却費</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1050" b="0" i="0" dirty="0">
                          <a:solidFill>
                            <a:srgbClr val="000000"/>
                          </a:solidFill>
                          <a:latin typeface="Arial"/>
                          <a:ea typeface="游ゴシック Medium"/>
                        </a:rPr>
                        <a:t>13,664</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12,558</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8,879</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2,436</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01600">
                <a:tc>
                  <a:txBody>
                    <a:bodyPr/>
                    <a:lstStyle/>
                    <a:p>
                      <a:pPr algn="l" fontAlgn="ctr"/>
                      <a:endParaRPr lang="ja-JP" altLang="en-US" sz="48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48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48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48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48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r>
              <a:tr h="241300">
                <a:tc>
                  <a:txBody>
                    <a:bodyPr/>
                    <a:lstStyle/>
                    <a:p>
                      <a:pPr algn="l" fontAlgn="ctr"/>
                      <a:r>
                        <a:rPr lang="ja-JP" altLang="en-US" sz="1050" b="1" i="0" dirty="0">
                          <a:solidFill>
                            <a:srgbClr val="000000"/>
                          </a:solidFill>
                          <a:latin typeface="游ゴシック"/>
                          <a:ea typeface="游ゴシック"/>
                        </a:rPr>
                        <a:t>調整項目 合計</a:t>
                      </a:r>
                      <a:endParaRPr lang="ja-JP" altLang="en-US" sz="105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1050" b="1" i="0" dirty="0">
                          <a:solidFill>
                            <a:srgbClr val="000000"/>
                          </a:solidFill>
                          <a:latin typeface="Arial"/>
                          <a:ea typeface="游ゴシック Medium"/>
                        </a:rPr>
                        <a:t>5,274</a:t>
                      </a:r>
                      <a:endParaRPr lang="ja-JP" altLang="en-US" sz="105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1050" b="1" i="0" dirty="0">
                          <a:solidFill>
                            <a:srgbClr val="000000"/>
                          </a:solidFill>
                          <a:latin typeface="Arial"/>
                          <a:ea typeface="游ゴシック Medium"/>
                        </a:rPr>
                        <a:t>5,468</a:t>
                      </a:r>
                      <a:endParaRPr lang="ja-JP" altLang="en-US" sz="105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1050" b="1" i="0" dirty="0">
                          <a:solidFill>
                            <a:srgbClr val="000000"/>
                          </a:solidFill>
                          <a:latin typeface="Arial"/>
                          <a:ea typeface="游ゴシック Medium"/>
                        </a:rPr>
                        <a:t>△8,389</a:t>
                      </a:r>
                      <a:endParaRPr lang="ja-JP" altLang="en-US" sz="105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1050" b="1" i="0" dirty="0">
                          <a:solidFill>
                            <a:srgbClr val="000000"/>
                          </a:solidFill>
                          <a:latin typeface="Arial"/>
                          <a:ea typeface="游ゴシック Medium"/>
                        </a:rPr>
                        <a:t>－</a:t>
                      </a:r>
                      <a:endParaRPr lang="ja-JP" altLang="en-US" sz="105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r>
              <a:tr h="241300">
                <a:tc>
                  <a:txBody>
                    <a:bodyPr/>
                    <a:lstStyle/>
                    <a:p>
                      <a:pPr algn="l" fontAlgn="ctr"/>
                      <a:r>
                        <a:rPr lang="ja-JP" altLang="en-US" sz="1050" b="0" i="0" dirty="0">
                          <a:solidFill>
                            <a:srgbClr val="000000"/>
                          </a:solidFill>
                          <a:latin typeface="游ゴシック"/>
                          <a:ea typeface="游ゴシック"/>
                        </a:rPr>
                        <a:t>　①役員報酬の正常化</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3,082</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3,082</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△4,094</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41300">
                <a:tc>
                  <a:txBody>
                    <a:bodyPr/>
                    <a:lstStyle/>
                    <a:p>
                      <a:pPr algn="l" fontAlgn="ctr"/>
                      <a:r>
                        <a:rPr lang="ja-JP" altLang="en-US" sz="1050" b="0" i="0" dirty="0">
                          <a:solidFill>
                            <a:srgbClr val="000000"/>
                          </a:solidFill>
                          <a:latin typeface="游ゴシック"/>
                          <a:ea typeface="游ゴシック"/>
                        </a:rPr>
                        <a:t>　②賞与の正常化</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△6,724</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41300">
                <a:tc>
                  <a:txBody>
                    <a:bodyPr/>
                    <a:lstStyle/>
                    <a:p>
                      <a:pPr algn="l" fontAlgn="ctr"/>
                      <a:r>
                        <a:rPr lang="ja-JP" altLang="en-US" sz="1050" b="0" i="0" dirty="0">
                          <a:solidFill>
                            <a:srgbClr val="000000"/>
                          </a:solidFill>
                          <a:latin typeface="游ゴシック"/>
                          <a:ea typeface="游ゴシック"/>
                        </a:rPr>
                        <a:t>　③受取奨励金（純額）</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2,179</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2,315</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2,418</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41300">
                <a:tc>
                  <a:txBody>
                    <a:bodyPr/>
                    <a:lstStyle/>
                    <a:p>
                      <a:pPr algn="l" fontAlgn="ctr"/>
                      <a:r>
                        <a:rPr lang="ja-JP" altLang="en-US" sz="1050" b="0" i="0" dirty="0">
                          <a:solidFill>
                            <a:srgbClr val="000000"/>
                          </a:solidFill>
                          <a:latin typeface="游ゴシック"/>
                          <a:ea typeface="游ゴシック"/>
                        </a:rPr>
                        <a:t>　④寄付金</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13</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71</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11</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01600">
                <a:tc>
                  <a:txBody>
                    <a:bodyPr/>
                    <a:lstStyle/>
                    <a:p>
                      <a:pPr algn="l" fontAlgn="ctr"/>
                      <a:endParaRPr lang="ja-JP" altLang="en-US" sz="48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48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48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48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48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r>
              <a:tr h="266700">
                <a:tc>
                  <a:txBody>
                    <a:bodyPr/>
                    <a:lstStyle/>
                    <a:p>
                      <a:pPr algn="l" fontAlgn="ctr"/>
                      <a:r>
                        <a:rPr lang="ja-JP" altLang="en-US" sz="1050" b="1" i="0" dirty="0">
                          <a:solidFill>
                            <a:srgbClr val="000000"/>
                          </a:solidFill>
                          <a:latin typeface="游ゴシック"/>
                          <a:ea typeface="游ゴシック"/>
                        </a:rPr>
                        <a:t>調整後EBITDA</a:t>
                      </a:r>
                      <a:endParaRPr lang="ja-JP" altLang="en-US" sz="105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solidFill>
                        <a:srgbClr val="0B3041"/>
                      </a:solidFill>
                    </a:lnT>
                    <a:lnB w="6350">
                      <a:solidFill>
                        <a:srgbClr val="0B3041"/>
                      </a:solidFill>
                    </a:lnB>
                    <a:solidFill>
                      <a:srgbClr val="E3E7E9"/>
                    </a:solidFill>
                  </a:tcPr>
                </a:tc>
                <a:tc>
                  <a:txBody>
                    <a:bodyPr/>
                    <a:lstStyle/>
                    <a:p>
                      <a:pPr algn="r" fontAlgn="ctr"/>
                      <a:r>
                        <a:rPr lang="ja-JP" altLang="en-US" sz="1050" b="1" i="0" dirty="0">
                          <a:solidFill>
                            <a:srgbClr val="000000"/>
                          </a:solidFill>
                          <a:latin typeface="Arial"/>
                          <a:ea typeface="游ゴシック Medium"/>
                        </a:rPr>
                        <a:t>23,694</a:t>
                      </a:r>
                      <a:endParaRPr lang="ja-JP" altLang="en-US" sz="105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solidFill>
                        <a:srgbClr val="0B3041"/>
                      </a:solidFill>
                    </a:lnT>
                    <a:lnB w="6350">
                      <a:solidFill>
                        <a:srgbClr val="0B3041"/>
                      </a:solidFill>
                    </a:lnB>
                    <a:solidFill>
                      <a:srgbClr val="E3E7E9"/>
                    </a:solidFill>
                  </a:tcPr>
                </a:tc>
                <a:tc>
                  <a:txBody>
                    <a:bodyPr/>
                    <a:lstStyle/>
                    <a:p>
                      <a:pPr algn="r" fontAlgn="ctr"/>
                      <a:r>
                        <a:rPr lang="ja-JP" altLang="en-US" sz="1050" b="1" i="0" dirty="0">
                          <a:solidFill>
                            <a:srgbClr val="000000"/>
                          </a:solidFill>
                          <a:latin typeface="Arial"/>
                          <a:ea typeface="游ゴシック Medium"/>
                        </a:rPr>
                        <a:t>13,602</a:t>
                      </a:r>
                      <a:endParaRPr lang="ja-JP" altLang="en-US" sz="105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solidFill>
                        <a:srgbClr val="0B3041"/>
                      </a:solidFill>
                    </a:lnT>
                    <a:lnB w="6350">
                      <a:solidFill>
                        <a:srgbClr val="0B3041"/>
                      </a:solidFill>
                    </a:lnB>
                    <a:solidFill>
                      <a:srgbClr val="E3E7E9"/>
                    </a:solidFill>
                  </a:tcPr>
                </a:tc>
                <a:tc>
                  <a:txBody>
                    <a:bodyPr/>
                    <a:lstStyle/>
                    <a:p>
                      <a:pPr algn="r" fontAlgn="ctr"/>
                      <a:r>
                        <a:rPr lang="ja-JP" altLang="en-US" sz="1050" b="1" i="0" dirty="0">
                          <a:solidFill>
                            <a:srgbClr val="000000"/>
                          </a:solidFill>
                          <a:latin typeface="Arial"/>
                          <a:ea typeface="游ゴシック Medium"/>
                        </a:rPr>
                        <a:t>6,350</a:t>
                      </a:r>
                      <a:endParaRPr lang="ja-JP" altLang="en-US" sz="105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solidFill>
                        <a:srgbClr val="0B3041"/>
                      </a:solidFill>
                    </a:lnT>
                    <a:lnB w="6350">
                      <a:solidFill>
                        <a:srgbClr val="0B3041"/>
                      </a:solidFill>
                    </a:lnB>
                    <a:solidFill>
                      <a:srgbClr val="E3E7E9"/>
                    </a:solidFill>
                  </a:tcPr>
                </a:tc>
                <a:tc>
                  <a:txBody>
                    <a:bodyPr/>
                    <a:lstStyle/>
                    <a:p>
                      <a:pPr algn="r" fontAlgn="ctr"/>
                      <a:r>
                        <a:rPr lang="ja-JP" altLang="en-US" sz="1050" b="1" i="0" dirty="0">
                          <a:solidFill>
                            <a:srgbClr val="000000"/>
                          </a:solidFill>
                          <a:latin typeface="Arial"/>
                          <a:ea typeface="游ゴシック Medium"/>
                        </a:rPr>
                        <a:t>－</a:t>
                      </a:r>
                      <a:endParaRPr lang="ja-JP" altLang="en-US" sz="105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solidFill>
                        <a:srgbClr val="0B3041"/>
                      </a:solidFill>
                    </a:lnT>
                    <a:lnB w="6350">
                      <a:solidFill>
                        <a:srgbClr val="0B3041"/>
                      </a:solidFill>
                    </a:lnB>
                    <a:solidFill>
                      <a:srgbClr val="E3E7E9"/>
                    </a:solidFill>
                  </a:tcPr>
                </a:tc>
              </a:tr>
            </a:tbl>
          </a:graphicData>
        </a:graphic>
      </p:graphicFrame>
      <p:sp>
        <p:nvSpPr>
          <p:cNvPr id="18" name="TextBox 17"/>
          <p:cNvSpPr txBox="1"/>
          <p:nvPr/>
        </p:nvSpPr>
        <p:spPr>
          <a:xfrm>
            <a:off x="310896" y="6119368"/>
            <a:ext cx="6053328" cy="329184"/>
          </a:xfrm>
          <a:prstGeom prst="rect">
            <a:avLst/>
          </a:prstGeom>
          <a:noFill/>
        </p:spPr>
        <p:txBody>
          <a:bodyPr wrap="square" lIns="0" rIns="0" tIns="0" bIns="0" anchor="t">
            <a:spAutoFit/>
          </a:bodyPr>
          <a:lstStyle/>
          <a:p>
            <a:pPr algn="l"/>
            <a:r>
              <a:rPr sz="800" b="0">
                <a:solidFill>
                  <a:srgbClr val="000000"/>
                </a:solidFill>
                <a:latin typeface="游ゴシック"/>
                <a:ea typeface="游ゴシック"/>
              </a:rPr>
              <a:t>※EBITDA＝営業利益＋減価償却費。調整後EBITDAの3期平均は14,549千円、直近2期平均は9,976千円。</a:t>
            </a:r>
          </a:p>
          <a:p>
            <a:pPr algn="l"/>
            <a:r>
              <a:rPr sz="800" b="0">
                <a:solidFill>
                  <a:srgbClr val="000000"/>
                </a:solidFill>
                <a:latin typeface="游ゴシック"/>
                <a:ea typeface="游ゴシック"/>
              </a:rPr>
              <a:t>※2026年4〜7月は試算表（4か月累計）。前期比は前年同期（4〜7月）比。</a:t>
            </a:r>
          </a:p>
        </p:txBody>
      </p:sp>
    </p:spTree>
    <p:extLst>
      <p:ext uri="{BB962C8B-B14F-4D97-AF65-F5344CB8AC3E}">
        <p14:creationId xmlns:p14="http://schemas.microsoft.com/office/powerpoint/2010/main" val="30165897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225D46-8BE9-D21F-8F78-292CE6E9B929}"/>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2AA39DD4-3E77-6023-715D-76F64D8C46A7}"/>
              </a:ext>
            </a:extLst>
          </p:cNvPr>
          <p:cNvSpPr>
            <a:spLocks noGrp="1"/>
          </p:cNvSpPr>
          <p:nvPr>
            <p:ph type="ctrTitle"/>
          </p:nvPr>
        </p:nvSpPr>
        <p:spPr>
          <a:xfrm>
            <a:off x="311150" y="180296"/>
            <a:ext cx="7799917" cy="339267"/>
          </a:xfrm>
        </p:spPr>
        <p:txBody>
          <a:bodyPr>
            <a:normAutofit/>
          </a:bodyPr>
          <a:lstStyle/>
          <a:p>
            <a:r>
              <a:rPr lang="ja-JP" altLang="en-US" dirty="0"/>
              <a:t>財務ハイライト（</a:t>
            </a:r>
            <a:r>
              <a:rPr lang="en-US" altLang="ja-JP" dirty="0"/>
              <a:t>B/S</a:t>
            </a:r>
            <a:r>
              <a:rPr lang="ja-JP" altLang="en-US" dirty="0"/>
              <a:t>）</a:t>
            </a:r>
          </a:p>
        </p:txBody>
      </p:sp>
      <p:sp>
        <p:nvSpPr>
          <p:cNvPr id="5" name="タイトル 1">
            <a:extLst>
              <a:ext uri="{FF2B5EF4-FFF2-40B4-BE49-F238E27FC236}">
                <a16:creationId xmlns:a16="http://schemas.microsoft.com/office/drawing/2014/main" id="{393BEF8A-36B7-CC08-2D29-C971912378C9}"/>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エグゼクティブサマリー</a:t>
            </a:r>
          </a:p>
        </p:txBody>
      </p:sp>
      <p:sp>
        <p:nvSpPr>
          <p:cNvPr id="6" name="正方形/長方形 5">
            <a:extLst>
              <a:ext uri="{FF2B5EF4-FFF2-40B4-BE49-F238E27FC236}">
                <a16:creationId xmlns:a16="http://schemas.microsoft.com/office/drawing/2014/main" id="{63937474-FD16-D668-CAE8-2B82EF0CD424}"/>
              </a:ext>
            </a:extLst>
          </p:cNvPr>
          <p:cNvSpPr/>
          <p:nvPr/>
        </p:nvSpPr>
        <p:spPr>
          <a:xfrm>
            <a:off x="5559552" y="4956048"/>
            <a:ext cx="4791456" cy="2039112"/>
          </a:xfrm>
          <a:prstGeom prst="rect">
            <a:avLst/>
          </a:prstGeom>
          <a:solidFill>
            <a:schemeClr val="accent2"/>
          </a:solidFill>
          <a:ln w="28575">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171450" indent="-171450">
              <a:lnSpc>
                <a:spcPct val="150000"/>
              </a:lnSpc>
              <a:buFont typeface="Wingdings" panose="05000000000000000000" pitchFamily="2" charset="2"/>
              <a:buChar char="ü"/>
            </a:pPr>
            <a:endParaRPr kumimoji="1" lang="en-US" altLang="ja-JP" sz="1200" b="1" dirty="0">
              <a:solidFill>
                <a:schemeClr val="tx1"/>
              </a:solidFill>
              <a:latin typeface="+mn-ea"/>
            </a:endParaRPr>
          </a:p>
        </p:txBody>
      </p:sp>
      <p:sp>
        <p:nvSpPr>
          <p:cNvPr id="11" name="字幕 13">
            <a:extLst>
              <a:ext uri="{FF2B5EF4-FFF2-40B4-BE49-F238E27FC236}">
                <a16:creationId xmlns:a16="http://schemas.microsoft.com/office/drawing/2014/main" id="{4BDEA35E-AAC5-A70B-357F-0FB600B4A83F}"/>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a:ea typeface="游ゴシック"/>
              </a:rPr>
              <a:t>市場用地等の土地93,137千円・建物等の事業用資産と現預金210,887千円を有する一方、長期借入金361,058千円を負う。土地の時価評価等を反映した時価純資産は55,318千円と試算。</a:t>
            </a:r>
          </a:p>
        </p:txBody>
      </p:sp>
      <p:sp>
        <p:nvSpPr>
          <p:cNvPr id="2" name="正方形/長方形 1">
            <a:extLst>
              <a:ext uri="{FF2B5EF4-FFF2-40B4-BE49-F238E27FC236}">
                <a16:creationId xmlns:a16="http://schemas.microsoft.com/office/drawing/2014/main" id="{612EABB3-CE7D-61AA-49A7-0C5A39CB2F7F}"/>
              </a:ext>
            </a:extLst>
          </p:cNvPr>
          <p:cNvSpPr/>
          <p:nvPr/>
        </p:nvSpPr>
        <p:spPr>
          <a:xfrm>
            <a:off x="5559552" y="1463040"/>
            <a:ext cx="4791456" cy="3429000"/>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252000" rIns="0" bIns="0" rtlCol="0" anchor="t"/>
          <a:lstStyle/>
          <a:p>
            <a:pPr algn="ctr"/>
            <a:r>
              <a:rPr kumimoji="1" lang="en-US" altLang="ja-JP" sz="1600" b="1" dirty="0">
                <a:solidFill>
                  <a:schemeClr val="tx2"/>
                </a:solidFill>
                <a:latin typeface="+mj-lt"/>
                <a:ea typeface="+mj-ea"/>
              </a:rPr>
              <a:t>Comment</a:t>
            </a:r>
            <a:endParaRPr kumimoji="1" lang="ja-JP" altLang="en-US" sz="1600" b="1" dirty="0">
              <a:solidFill>
                <a:schemeClr val="tx2"/>
              </a:solidFill>
              <a:latin typeface="+mj-lt"/>
              <a:ea typeface="+mj-ea"/>
            </a:endParaRPr>
          </a:p>
        </p:txBody>
      </p:sp>
      <p:sp>
        <p:nvSpPr>
          <p:cNvPr id="7" name="テキスト ボックス 6">
            <a:extLst>
              <a:ext uri="{FF2B5EF4-FFF2-40B4-BE49-F238E27FC236}">
                <a16:creationId xmlns:a16="http://schemas.microsoft.com/office/drawing/2014/main" id="{07A18A00-4497-FBE7-D232-D583ED28CEE8}"/>
              </a:ext>
            </a:extLst>
          </p:cNvPr>
          <p:cNvSpPr txBox="1"/>
          <p:nvPr/>
        </p:nvSpPr>
        <p:spPr>
          <a:xfrm>
            <a:off x="5559552" y="1993392"/>
            <a:ext cx="4791456" cy="2834640"/>
          </a:xfrm>
          <a:prstGeom prst="rect">
            <a:avLst/>
          </a:prstGeom>
          <a:noFill/>
        </p:spPr>
        <p:txBody>
          <a:bodyPr wrap="square" lIns="288000" tIns="0" rIns="252000" bIns="0" rtlCol="0">
            <a:spAutoFit/>
          </a:bodyPr>
          <a:lstStyle/>
          <a:p>
            <a:pPr>
              <a:spcAft>
                <a:spcPts val="300"/>
              </a:spcAft>
            </a:pPr>
            <a:r>
              <a:rPr lang="ja-JP" altLang="en-US" sz="1000" b="1" dirty="0">
                <a:solidFill>
                  <a:sysClr val="windowText" lastClr="000000"/>
                </a:solidFill>
                <a:latin typeface="游ゴシック"/>
                <a:ea typeface="游ゴシック"/>
              </a:rPr>
              <a:t>≪現金及び預金≫</a:t>
            </a:r>
          </a:p>
          <a:p>
            <a:pPr>
              <a:spcAft>
                <a:spcPts val="300"/>
              </a:spcAft>
            </a:pPr>
            <a:r>
              <a:rPr lang="ja-JP" altLang="en-US" sz="900" b="0" dirty="0">
                <a:solidFill>
                  <a:sysClr val="windowText" lastClr="000000"/>
                </a:solidFill>
                <a:latin typeface="游ゴシック"/>
                <a:ea typeface="游ゴシック"/>
              </a:rPr>
              <a:t>・210,887千円：鶴岡信用金庫84,940千円、山形銀行63,122千円、荘内銀行59,634千円ほか。</a:t>
            </a:r>
          </a:p>
          <a:p>
            <a:pPr>
              <a:spcAft>
                <a:spcPts val="300"/>
              </a:spcAft>
            </a:pPr>
            <a:r>
              <a:rPr lang="ja-JP" altLang="en-US" sz="1000" b="1" dirty="0">
                <a:solidFill>
                  <a:sysClr val="windowText" lastClr="000000"/>
                </a:solidFill>
                <a:latin typeface="游ゴシック"/>
                <a:ea typeface="游ゴシック"/>
              </a:rPr>
              <a:t>≪売上債権・棚卸資産≫</a:t>
            </a:r>
          </a:p>
          <a:p>
            <a:pPr>
              <a:spcAft>
                <a:spcPts val="300"/>
              </a:spcAft>
            </a:pPr>
            <a:r>
              <a:rPr lang="ja-JP" altLang="en-US" sz="900" b="0" dirty="0">
                <a:solidFill>
                  <a:sysClr val="windowText" lastClr="000000"/>
                </a:solidFill>
                <a:latin typeface="游ゴシック"/>
                <a:ea typeface="游ゴシック"/>
              </a:rPr>
              <a:t>・売上債権20,836千円は(株)主婦の店7,194千円が最大。棚卸資産14,597千円は商品・資材・地物で、廃棄を要する滞留在庫はないとのこと。</a:t>
            </a:r>
          </a:p>
          <a:p>
            <a:pPr>
              <a:spcAft>
                <a:spcPts val="300"/>
              </a:spcAft>
            </a:pPr>
            <a:r>
              <a:rPr lang="ja-JP" altLang="en-US" sz="1000" b="1" dirty="0">
                <a:solidFill>
                  <a:sysClr val="windowText" lastClr="000000"/>
                </a:solidFill>
                <a:latin typeface="游ゴシック"/>
                <a:ea typeface="游ゴシック"/>
              </a:rPr>
              <a:t>≪固定資産≫</a:t>
            </a:r>
          </a:p>
          <a:p>
            <a:pPr>
              <a:spcAft>
                <a:spcPts val="300"/>
              </a:spcAft>
            </a:pPr>
            <a:r>
              <a:rPr lang="ja-JP" altLang="en-US" sz="900" b="0" dirty="0">
                <a:solidFill>
                  <a:sysClr val="windowText" lastClr="000000"/>
                </a:solidFill>
                <a:latin typeface="游ゴシック"/>
                <a:ea typeface="游ゴシック"/>
              </a:rPr>
              <a:t>・土地93,137千円：本社・市場70,757千円、パッケージ場21,380千円、旧倉庫敷地（駐車場）1,000千円。</a:t>
            </a:r>
          </a:p>
          <a:p>
            <a:pPr>
              <a:spcAft>
                <a:spcPts val="300"/>
              </a:spcAft>
            </a:pPr>
            <a:r>
              <a:rPr lang="ja-JP" altLang="en-US" sz="900" b="0" dirty="0">
                <a:solidFill>
                  <a:sysClr val="windowText" lastClr="000000"/>
                </a:solidFill>
                <a:latin typeface="游ゴシック"/>
                <a:ea typeface="游ゴシック"/>
              </a:rPr>
              <a:t>・保証金33,303千円：仕入先市場への仕入代金のデポジット（約10日分）。受領した完納奨励金の積立により増加。取引終了時に返金される。</a:t>
            </a:r>
          </a:p>
          <a:p>
            <a:pPr>
              <a:spcAft>
                <a:spcPts val="300"/>
              </a:spcAft>
            </a:pPr>
            <a:r>
              <a:rPr lang="ja-JP" altLang="en-US" sz="1000" b="1" dirty="0">
                <a:solidFill>
                  <a:sysClr val="windowText" lastClr="000000"/>
                </a:solidFill>
                <a:latin typeface="游ゴシック"/>
                <a:ea typeface="游ゴシック"/>
              </a:rPr>
              <a:t>≪負債≫</a:t>
            </a:r>
          </a:p>
          <a:p>
            <a:pPr>
              <a:spcAft>
                <a:spcPts val="300"/>
              </a:spcAft>
            </a:pPr>
            <a:r>
              <a:rPr lang="ja-JP" altLang="en-US" sz="900" b="0" dirty="0">
                <a:solidFill>
                  <a:sysClr val="windowText" lastClr="000000"/>
                </a:solidFill>
                <a:latin typeface="游ゴシック"/>
                <a:ea typeface="游ゴシック"/>
              </a:rPr>
              <a:t>・長期借入金361,058千円：鶴岡信用金庫182,840千円、山形銀行70,250千円、日本政策金融公庫107,968千円。1年内返済額の区分なし。</a:t>
            </a:r>
          </a:p>
          <a:p>
            <a:pPr>
              <a:spcAft>
                <a:spcPts val="300"/>
              </a:spcAft>
            </a:pPr>
            <a:r>
              <a:rPr lang="ja-JP" altLang="en-US" sz="900" b="0" dirty="0">
                <a:solidFill>
                  <a:sysClr val="windowText" lastClr="000000"/>
                </a:solidFill>
                <a:latin typeface="游ゴシック"/>
                <a:ea typeface="游ゴシック"/>
              </a:rPr>
              <a:t>・預り保証金8,980千円：販売先（八百屋等）からの預り（1先5〜30万円程度）。</a:t>
            </a:r>
          </a:p>
        </p:txBody>
      </p:sp>
      <p:sp>
        <p:nvSpPr>
          <p:cNvPr id="8" name="テキスト ボックス 7">
            <a:extLst>
              <a:ext uri="{FF2B5EF4-FFF2-40B4-BE49-F238E27FC236}">
                <a16:creationId xmlns:a16="http://schemas.microsoft.com/office/drawing/2014/main" id="{632197B6-9950-6937-E8F9-2140ACC03ACD}"/>
              </a:ext>
            </a:extLst>
          </p:cNvPr>
          <p:cNvSpPr txBox="1"/>
          <p:nvPr/>
        </p:nvSpPr>
        <p:spPr>
          <a:xfrm>
            <a:off x="5559552" y="5029200"/>
            <a:ext cx="4791456" cy="1920240"/>
          </a:xfrm>
          <a:prstGeom prst="rect">
            <a:avLst/>
          </a:prstGeom>
          <a:noFill/>
        </p:spPr>
        <p:txBody>
          <a:bodyPr wrap="square" lIns="288000" tIns="0" rIns="252000" bIns="0" rtlCol="0">
            <a:spAutoFit/>
          </a:bodyPr>
          <a:lstStyle/>
          <a:p>
            <a:pPr>
              <a:spcAft>
                <a:spcPts val="100"/>
              </a:spcAft>
            </a:pPr>
            <a:r>
              <a:rPr lang="ja-JP" altLang="en-US" sz="900" b="1" dirty="0">
                <a:solidFill>
                  <a:sysClr val="windowText" lastClr="000000"/>
                </a:solidFill>
                <a:latin typeface="游ゴシック"/>
                <a:ea typeface="游ゴシック"/>
              </a:rPr>
              <a:t>【時価修正】</a:t>
            </a:r>
          </a:p>
          <a:p>
            <a:pPr>
              <a:spcAft>
                <a:spcPts val="100"/>
              </a:spcAft>
            </a:pPr>
            <a:r>
              <a:rPr lang="ja-JP" altLang="en-US" sz="900" b="1" dirty="0">
                <a:solidFill>
                  <a:sysClr val="windowText" lastClr="000000"/>
                </a:solidFill>
                <a:latin typeface="游ゴシック"/>
                <a:ea typeface="游ゴシック"/>
              </a:rPr>
              <a:t>≪土地≫</a:t>
            </a:r>
          </a:p>
          <a:p>
            <a:pPr>
              <a:spcAft>
                <a:spcPts val="100"/>
              </a:spcAft>
            </a:pPr>
            <a:r>
              <a:rPr lang="ja-JP" altLang="en-US" sz="850" b="0" dirty="0">
                <a:solidFill>
                  <a:sysClr val="windowText" lastClr="000000"/>
                </a:solidFill>
                <a:latin typeface="游ゴシック"/>
                <a:ea typeface="游ゴシック"/>
              </a:rPr>
              <a:t>・固定資産税評価額÷0.7で時価評価（△25,312千円）。時価は確認中</a:t>
            </a:r>
          </a:p>
          <a:p>
            <a:pPr>
              <a:spcAft>
                <a:spcPts val="100"/>
              </a:spcAft>
            </a:pPr>
            <a:r>
              <a:rPr lang="ja-JP" altLang="en-US" sz="900" b="1" dirty="0">
                <a:solidFill>
                  <a:sysClr val="windowText" lastClr="000000"/>
                </a:solidFill>
                <a:latin typeface="游ゴシック"/>
                <a:ea typeface="游ゴシック"/>
              </a:rPr>
              <a:t>≪投資有価証券≫</a:t>
            </a:r>
          </a:p>
          <a:p>
            <a:pPr>
              <a:spcAft>
                <a:spcPts val="100"/>
              </a:spcAft>
            </a:pPr>
            <a:r>
              <a:rPr lang="ja-JP" altLang="en-US" sz="850" b="0" dirty="0">
                <a:solidFill>
                  <a:sysClr val="windowText" lastClr="000000"/>
                </a:solidFill>
                <a:latin typeface="游ゴシック"/>
                <a:ea typeface="游ゴシック"/>
              </a:rPr>
              <a:t>・上場株式を時価評価（+7,242千円）</a:t>
            </a:r>
          </a:p>
          <a:p>
            <a:pPr>
              <a:spcAft>
                <a:spcPts val="100"/>
              </a:spcAft>
            </a:pPr>
            <a:r>
              <a:rPr lang="ja-JP" altLang="en-US" sz="900" b="1" dirty="0">
                <a:solidFill>
                  <a:sysClr val="windowText" lastClr="000000"/>
                </a:solidFill>
                <a:latin typeface="游ゴシック"/>
                <a:ea typeface="游ゴシック"/>
              </a:rPr>
              <a:t>≪貸倒引当金・電話加入権≫</a:t>
            </a:r>
          </a:p>
          <a:p>
            <a:pPr>
              <a:spcAft>
                <a:spcPts val="100"/>
              </a:spcAft>
            </a:pPr>
            <a:r>
              <a:rPr lang="ja-JP" altLang="en-US" sz="850" b="0" dirty="0">
                <a:solidFill>
                  <a:sysClr val="windowText" lastClr="000000"/>
                </a:solidFill>
                <a:latin typeface="游ゴシック"/>
                <a:ea typeface="游ゴシック"/>
              </a:rPr>
              <a:t>・引当金戻入（+203千円）、電話加入権を減額（△2,156千円）</a:t>
            </a:r>
          </a:p>
          <a:p>
            <a:pPr>
              <a:spcAft>
                <a:spcPts val="100"/>
              </a:spcAft>
            </a:pPr>
            <a:r>
              <a:rPr lang="ja-JP" altLang="en-US" sz="900" b="1" dirty="0">
                <a:solidFill>
                  <a:sysClr val="windowText" lastClr="000000"/>
                </a:solidFill>
                <a:latin typeface="游ゴシック"/>
                <a:ea typeface="游ゴシック"/>
              </a:rPr>
              <a:t>≪税効果≫</a:t>
            </a:r>
          </a:p>
          <a:p>
            <a:pPr>
              <a:spcAft>
                <a:spcPts val="100"/>
              </a:spcAft>
            </a:pPr>
            <a:r>
              <a:rPr lang="ja-JP" altLang="en-US" sz="850" b="0" dirty="0">
                <a:solidFill>
                  <a:sysClr val="windowText" lastClr="000000"/>
                </a:solidFill>
                <a:latin typeface="游ゴシック"/>
                <a:ea typeface="游ゴシック"/>
              </a:rPr>
              <a:t>・評価差額に係る繰延税金負債（△2,531千円）</a:t>
            </a:r>
          </a:p>
          <a:p>
            <a:pPr>
              <a:spcAft>
                <a:spcPts val="100"/>
              </a:spcAft>
            </a:pPr>
            <a:r>
              <a:rPr lang="ja-JP" altLang="en-US" sz="900" b="1" dirty="0">
                <a:solidFill>
                  <a:sysClr val="windowText" lastClr="000000"/>
                </a:solidFill>
                <a:latin typeface="游ゴシック"/>
                <a:ea typeface="游ゴシック"/>
              </a:rPr>
              <a:t>✓ 簿価純資産77,873千円 → 時価純資産55,318千円</a:t>
            </a:r>
          </a:p>
        </p:txBody>
      </p:sp>
      <p:graphicFrame>
        <p:nvGraphicFramePr>
          <p:cNvPr id="14" name="表（BSハイライト!B4:F19）"/>
          <p:cNvGraphicFramePr>
            <a:graphicFrameLocks noGrp="1"/>
          </p:cNvGraphicFramePr>
          <p:nvPr/>
        </p:nvGraphicFramePr>
        <p:xfrm>
          <a:off x="338328" y="1463040"/>
          <a:ext cx="5001765" cy="4521200"/>
        </p:xfrm>
        <a:graphic>
          <a:graphicData uri="http://schemas.openxmlformats.org/drawingml/2006/table">
            <a:tbl>
              <a:tblPr firstRow="0" bandRow="0">
                <a:tableStyleId>{2D5ABB26-0587-4C30-8999-92F81FD0307C}</a:tableStyleId>
              </a:tblPr>
              <a:tblGrid>
                <a:gridCol w="1399233"/>
                <a:gridCol w="932473"/>
                <a:gridCol w="338353"/>
                <a:gridCol w="1399233"/>
                <a:gridCol w="932473"/>
              </a:tblGrid>
              <a:tr h="190500">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900" b="0" i="0" dirty="0">
                          <a:solidFill>
                            <a:srgbClr val="000000"/>
                          </a:solidFill>
                          <a:latin typeface="游ゴシック"/>
                          <a:ea typeface="游ゴシック"/>
                        </a:rPr>
                        <a:t>(単位：千円)</a:t>
                      </a:r>
                      <a:endParaRPr lang="ja-JP" altLang="en-US" sz="90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r>
              <a:tr h="241300">
                <a:tc gridSpan="5">
                  <a:txBody>
                    <a:bodyPr/>
                    <a:lstStyle/>
                    <a:p>
                      <a:pPr algn="ctr" fontAlgn="ctr"/>
                      <a:r>
                        <a:rPr lang="ja-JP" altLang="en-US" sz="1000" b="0" i="0" dirty="0">
                          <a:solidFill>
                            <a:srgbClr val="FFFFFF"/>
                          </a:solidFill>
                          <a:latin typeface="游ゴシック"/>
                          <a:ea typeface="游ゴシック"/>
                        </a:rPr>
                        <a:t>2026年3月期末</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hMerge="1">
                  <a:txBody>
                    <a:bodyPr/>
                    <a:lstStyle/>
                    <a:p>
                      <a:pPr algn="l" fontAlgn="ctr"/>
                      <a:endParaRPr lang="ja-JP" altLang="en-US" sz="1100" b="0" i="0" dirty="0">
                        <a:solidFill>
                          <a:srgbClr val="000000"/>
                        </a:solidFill>
                        <a:latin typeface="Calibri"/>
                        <a:ea typeface="游ゴシック"/>
                      </a:endParaRPr>
                    </a:p>
                  </a:txBody>
                  <a:tcPr marL="36576" marR="36576" marT="0" marB="0" anchor="ctr">
                    <a:lnL w="6350">
                      <a:noFill/>
                    </a:lnL>
                    <a:lnR w="6350">
                      <a:noFill/>
                    </a:lnR>
                    <a:lnT w="6350">
                      <a:noFill/>
                    </a:lnT>
                    <a:lnB w="6350">
                      <a:solidFill>
                        <a:srgbClr val="A6A6A6"/>
                      </a:solidFill>
                    </a:lnB>
                    <a:noFill/>
                  </a:tcPr>
                </a:tc>
                <a:tc hMerge="1">
                  <a:txBody>
                    <a:bodyPr/>
                    <a:lstStyle/>
                    <a:p>
                      <a:pPr algn="l" fontAlgn="ctr"/>
                      <a:endParaRPr lang="ja-JP" altLang="en-US" sz="1100" b="0" i="0" dirty="0">
                        <a:solidFill>
                          <a:srgbClr val="000000"/>
                        </a:solidFill>
                        <a:latin typeface="Calibri"/>
                        <a:ea typeface="游ゴシック"/>
                      </a:endParaRPr>
                    </a:p>
                  </a:txBody>
                  <a:tcPr marL="36576" marR="36576" marT="0" marB="0" anchor="ctr">
                    <a:lnL w="6350">
                      <a:noFill/>
                    </a:lnL>
                    <a:lnR w="6350">
                      <a:noFill/>
                    </a:lnR>
                    <a:lnT w="6350">
                      <a:noFill/>
                    </a:lnT>
                    <a:lnB w="6350">
                      <a:solidFill>
                        <a:srgbClr val="A6A6A6"/>
                      </a:solidFill>
                    </a:lnB>
                    <a:noFill/>
                  </a:tcPr>
                </a:tc>
                <a:tc hMerge="1">
                  <a:txBody>
                    <a:bodyPr/>
                    <a:lstStyle/>
                    <a:p>
                      <a:pPr algn="l" fontAlgn="ctr"/>
                      <a:endParaRPr lang="ja-JP" altLang="en-US" sz="1100" b="0" i="0" dirty="0">
                        <a:solidFill>
                          <a:srgbClr val="000000"/>
                        </a:solidFill>
                        <a:latin typeface="Calibri"/>
                        <a:ea typeface="游ゴシック"/>
                      </a:endParaRPr>
                    </a:p>
                  </a:txBody>
                  <a:tcPr marL="36576" marR="36576" marT="0" marB="0" anchor="ctr">
                    <a:lnL w="6350">
                      <a:noFill/>
                    </a:lnL>
                    <a:lnR w="6350">
                      <a:noFill/>
                    </a:lnR>
                    <a:lnT w="6350">
                      <a:noFill/>
                    </a:lnT>
                    <a:lnB w="6350">
                      <a:solidFill>
                        <a:srgbClr val="A6A6A6"/>
                      </a:solidFill>
                    </a:lnB>
                    <a:noFill/>
                  </a:tcPr>
                </a:tc>
                <a:tc hMerge="1">
                  <a:txBody>
                    <a:bodyPr/>
                    <a:lstStyle/>
                    <a:p>
                      <a:pPr algn="l" fontAlgn="ctr"/>
                      <a:endParaRPr lang="ja-JP" altLang="en-US" sz="1100" b="0" i="0" dirty="0">
                        <a:solidFill>
                          <a:srgbClr val="000000"/>
                        </a:solidFill>
                        <a:latin typeface="Calibri"/>
                        <a:ea typeface="游ゴシック"/>
                      </a:endParaRPr>
                    </a:p>
                  </a:txBody>
                  <a:tcPr marL="36576" marR="36576" marT="0" marB="0" anchor="ctr">
                    <a:lnL w="6350">
                      <a:noFill/>
                    </a:lnL>
                    <a:lnR w="12700">
                      <a:solidFill>
                        <a:srgbClr val="FFFFFF"/>
                      </a:solidFill>
                    </a:lnR>
                    <a:lnT w="6350">
                      <a:noFill/>
                    </a:lnT>
                    <a:lnB w="6350">
                      <a:solidFill>
                        <a:srgbClr val="A6A6A6"/>
                      </a:solidFill>
                    </a:lnB>
                    <a:noFill/>
                  </a:tcPr>
                </a:tc>
              </a:tr>
              <a:tr h="292100">
                <a:tc>
                  <a:txBody>
                    <a:bodyPr/>
                    <a:lstStyle/>
                    <a:p>
                      <a:pPr algn="l" fontAlgn="ctr"/>
                      <a:r>
                        <a:rPr lang="ja-JP" altLang="en-US" sz="1050" b="0" i="0" dirty="0">
                          <a:solidFill>
                            <a:srgbClr val="000000"/>
                          </a:solidFill>
                          <a:latin typeface="游ゴシック"/>
                          <a:ea typeface="游ゴシック"/>
                        </a:rPr>
                        <a:t>流動資産</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solidFill>
                        <a:srgbClr val="0B3041"/>
                      </a:solidFill>
                    </a:lnT>
                    <a:lnB w="6350">
                      <a:solidFill>
                        <a:srgbClr val="0B3041"/>
                      </a:solidFill>
                    </a:lnB>
                    <a:solidFill>
                      <a:srgbClr val="E3E7E9"/>
                    </a:solidFill>
                  </a:tcPr>
                </a:tc>
                <a:tc>
                  <a:txBody>
                    <a:bodyPr/>
                    <a:lstStyle/>
                    <a:p>
                      <a:pPr algn="r" fontAlgn="ctr"/>
                      <a:r>
                        <a:rPr lang="ja-JP" altLang="en-US" sz="1050" b="0" i="0" dirty="0">
                          <a:solidFill>
                            <a:srgbClr val="000000"/>
                          </a:solidFill>
                          <a:latin typeface="Arial"/>
                          <a:ea typeface="游ゴシック Medium"/>
                        </a:rPr>
                        <a:t>249,705</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solidFill>
                        <a:srgbClr val="0B3041"/>
                      </a:solidFill>
                    </a:lnT>
                    <a:lnB w="6350">
                      <a:solidFill>
                        <a:srgbClr val="0B3041"/>
                      </a:solidFill>
                    </a:lnB>
                    <a:solidFill>
                      <a:srgbClr val="E3E7E9"/>
                    </a:solidFill>
                  </a:tcPr>
                </a:tc>
                <a:tc>
                  <a:txBody>
                    <a:bodyPr/>
                    <a:lstStyle/>
                    <a:p>
                      <a:pPr algn="l" fontAlgn="ct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l" fontAlgn="ctr"/>
                      <a:r>
                        <a:rPr lang="ja-JP" altLang="en-US" sz="1050" b="0" i="0" dirty="0">
                          <a:solidFill>
                            <a:srgbClr val="000000"/>
                          </a:solidFill>
                          <a:latin typeface="游ゴシック"/>
                          <a:ea typeface="游ゴシック"/>
                        </a:rPr>
                        <a:t>流動負債</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solidFill>
                        <a:srgbClr val="0B3041"/>
                      </a:solidFill>
                    </a:lnT>
                    <a:lnB w="6350">
                      <a:solidFill>
                        <a:srgbClr val="0B3041"/>
                      </a:solidFill>
                    </a:lnB>
                    <a:solidFill>
                      <a:srgbClr val="E3E7E9"/>
                    </a:solidFill>
                  </a:tcPr>
                </a:tc>
                <a:tc>
                  <a:txBody>
                    <a:bodyPr/>
                    <a:lstStyle/>
                    <a:p>
                      <a:pPr algn="r" fontAlgn="ctr"/>
                      <a:r>
                        <a:rPr lang="ja-JP" altLang="en-US" sz="1050" b="0" i="0" dirty="0">
                          <a:solidFill>
                            <a:srgbClr val="000000"/>
                          </a:solidFill>
                          <a:latin typeface="Arial"/>
                          <a:ea typeface="游ゴシック Medium"/>
                        </a:rPr>
                        <a:t>37,280</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solidFill>
                        <a:srgbClr val="0B3041"/>
                      </a:solidFill>
                    </a:lnT>
                    <a:lnB w="6350">
                      <a:solidFill>
                        <a:srgbClr val="0B3041"/>
                      </a:solidFill>
                    </a:lnB>
                    <a:solidFill>
                      <a:srgbClr val="E3E7E9"/>
                    </a:solidFill>
                  </a:tcPr>
                </a:tc>
              </a:tr>
              <a:tr h="292100">
                <a:tc>
                  <a:txBody>
                    <a:bodyPr/>
                    <a:lstStyle/>
                    <a:p>
                      <a:pPr algn="l" fontAlgn="ctr"/>
                      <a:r>
                        <a:rPr lang="ja-JP" altLang="en-US" sz="1050" b="0" i="0" dirty="0">
                          <a:solidFill>
                            <a:srgbClr val="000000"/>
                          </a:solidFill>
                          <a:latin typeface="游ゴシック"/>
                          <a:ea typeface="游ゴシック"/>
                        </a:rPr>
                        <a:t>現金及び預金</a:t>
                      </a: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210,887</a:t>
                      </a:r>
                      <a:endParaRPr lang="ja-JP" altLang="en-US" sz="105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c>
                  <a:txBody>
                    <a:bodyPr/>
                    <a:lstStyle/>
                    <a:p>
                      <a:pPr algn="l" fontAlgn="ct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l" fontAlgn="ctr"/>
                      <a:r>
                        <a:rPr lang="ja-JP" altLang="en-US" sz="1050" b="0" i="0" dirty="0">
                          <a:solidFill>
                            <a:srgbClr val="000000"/>
                          </a:solidFill>
                          <a:latin typeface="游ゴシック"/>
                          <a:ea typeface="游ゴシック"/>
                        </a:rPr>
                        <a:t>買掛金</a:t>
                      </a: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26,349</a:t>
                      </a:r>
                      <a:endParaRPr lang="ja-JP" altLang="en-US" sz="105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r>
              <a:tr h="292100">
                <a:tc>
                  <a:txBody>
                    <a:bodyPr/>
                    <a:lstStyle/>
                    <a:p>
                      <a:pPr algn="l" fontAlgn="ctr"/>
                      <a:r>
                        <a:rPr lang="ja-JP" altLang="en-US" sz="1050" b="0" i="0" dirty="0">
                          <a:solidFill>
                            <a:srgbClr val="000000"/>
                          </a:solidFill>
                          <a:latin typeface="游ゴシック"/>
                          <a:ea typeface="游ゴシック"/>
                        </a:rPr>
                        <a:t>売上債権</a:t>
                      </a: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20,836</a:t>
                      </a:r>
                      <a:endParaRPr lang="ja-JP" altLang="en-US" sz="105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c>
                  <a:txBody>
                    <a:bodyPr/>
                    <a:lstStyle/>
                    <a:p>
                      <a:pPr algn="l" fontAlgn="ct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l" fontAlgn="ctr"/>
                      <a:r>
                        <a:rPr lang="ja-JP" altLang="en-US" sz="1050" b="0" i="0" dirty="0">
                          <a:solidFill>
                            <a:srgbClr val="000000"/>
                          </a:solidFill>
                          <a:latin typeface="游ゴシック"/>
                          <a:ea typeface="游ゴシック"/>
                        </a:rPr>
                        <a:t>未払金</a:t>
                      </a: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6,630</a:t>
                      </a:r>
                      <a:endParaRPr lang="ja-JP" altLang="en-US" sz="105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r>
              <a:tr h="292100">
                <a:tc>
                  <a:txBody>
                    <a:bodyPr/>
                    <a:lstStyle/>
                    <a:p>
                      <a:pPr algn="l" fontAlgn="ctr"/>
                      <a:r>
                        <a:rPr lang="ja-JP" altLang="en-US" sz="1050" b="0" i="0" dirty="0">
                          <a:solidFill>
                            <a:srgbClr val="000000"/>
                          </a:solidFill>
                          <a:latin typeface="游ゴシック"/>
                          <a:ea typeface="游ゴシック"/>
                        </a:rPr>
                        <a:t>棚卸資産</a:t>
                      </a: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14,597</a:t>
                      </a:r>
                      <a:endParaRPr lang="ja-JP" altLang="en-US" sz="105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c>
                  <a:txBody>
                    <a:bodyPr/>
                    <a:lstStyle/>
                    <a:p>
                      <a:pPr algn="l" fontAlgn="ct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l" fontAlgn="ctr"/>
                      <a:r>
                        <a:rPr lang="ja-JP" altLang="en-US" sz="1050" b="0" i="0" dirty="0">
                          <a:solidFill>
                            <a:srgbClr val="000000"/>
                          </a:solidFill>
                          <a:latin typeface="游ゴシック"/>
                          <a:ea typeface="游ゴシック"/>
                        </a:rPr>
                        <a:t>未払法人税等</a:t>
                      </a: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1,851</a:t>
                      </a:r>
                      <a:endParaRPr lang="ja-JP" altLang="en-US" sz="105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r>
              <a:tr h="292100">
                <a:tc>
                  <a:txBody>
                    <a:bodyPr/>
                    <a:lstStyle/>
                    <a:p>
                      <a:pPr algn="l" fontAlgn="ctr"/>
                      <a:r>
                        <a:rPr lang="ja-JP" altLang="en-US" sz="1050" b="0" i="0" dirty="0">
                          <a:solidFill>
                            <a:srgbClr val="000000"/>
                          </a:solidFill>
                          <a:latin typeface="游ゴシック"/>
                          <a:ea typeface="游ゴシック"/>
                        </a:rPr>
                        <a:t>その他</a:t>
                      </a: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3,385</a:t>
                      </a:r>
                      <a:endParaRPr lang="ja-JP" altLang="en-US" sz="105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c>
                  <a:txBody>
                    <a:bodyPr/>
                    <a:lstStyle/>
                    <a:p>
                      <a:pPr algn="l" fontAlgn="ct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l" fontAlgn="ctr"/>
                      <a:r>
                        <a:rPr lang="ja-JP" altLang="en-US" sz="1050" b="0" i="0" dirty="0">
                          <a:solidFill>
                            <a:srgbClr val="000000"/>
                          </a:solidFill>
                          <a:latin typeface="游ゴシック"/>
                          <a:ea typeface="游ゴシック"/>
                        </a:rPr>
                        <a:t>その他</a:t>
                      </a: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2,449</a:t>
                      </a:r>
                      <a:endParaRPr lang="ja-JP" altLang="en-US" sz="105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r>
              <a:tr h="292100">
                <a:tc>
                  <a:txBody>
                    <a:bodyPr/>
                    <a:lstStyle/>
                    <a:p>
                      <a:pPr algn="l" fontAlgn="ctr"/>
                      <a:r>
                        <a:rPr lang="ja-JP" altLang="en-US" sz="1050" b="0" i="0" dirty="0">
                          <a:solidFill>
                            <a:srgbClr val="000000"/>
                          </a:solidFill>
                          <a:latin typeface="游ゴシック"/>
                          <a:ea typeface="游ゴシック"/>
                        </a:rPr>
                        <a:t>固定資産</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solidFill>
                        <a:srgbClr val="0B3041"/>
                      </a:solidFill>
                    </a:lnT>
                    <a:lnB w="6350">
                      <a:solidFill>
                        <a:srgbClr val="0B3041"/>
                      </a:solidFill>
                    </a:lnB>
                    <a:solidFill>
                      <a:srgbClr val="E3E7E9"/>
                    </a:solidFill>
                  </a:tcPr>
                </a:tc>
                <a:tc>
                  <a:txBody>
                    <a:bodyPr/>
                    <a:lstStyle/>
                    <a:p>
                      <a:pPr algn="r" fontAlgn="ctr"/>
                      <a:r>
                        <a:rPr lang="ja-JP" altLang="en-US" sz="1050" b="0" i="0" dirty="0">
                          <a:solidFill>
                            <a:srgbClr val="000000"/>
                          </a:solidFill>
                          <a:latin typeface="Arial"/>
                          <a:ea typeface="游ゴシック Medium"/>
                        </a:rPr>
                        <a:t>235,485</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solidFill>
                        <a:srgbClr val="0B3041"/>
                      </a:solidFill>
                    </a:lnT>
                    <a:lnB w="6350">
                      <a:solidFill>
                        <a:srgbClr val="0B3041"/>
                      </a:solidFill>
                    </a:lnB>
                    <a:solidFill>
                      <a:srgbClr val="E3E7E9"/>
                    </a:solidFill>
                  </a:tcPr>
                </a:tc>
                <a:tc>
                  <a:txBody>
                    <a:bodyPr/>
                    <a:lstStyle/>
                    <a:p>
                      <a:pPr algn="l" fontAlgn="ct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l" fontAlgn="ctr"/>
                      <a:r>
                        <a:rPr lang="ja-JP" altLang="en-US" sz="1050" b="0" i="0" dirty="0">
                          <a:solidFill>
                            <a:srgbClr val="000000"/>
                          </a:solidFill>
                          <a:latin typeface="游ゴシック"/>
                          <a:ea typeface="游ゴシック"/>
                        </a:rPr>
                        <a:t>固定負債</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solidFill>
                        <a:srgbClr val="0B3041"/>
                      </a:solidFill>
                    </a:lnT>
                    <a:lnB w="6350">
                      <a:solidFill>
                        <a:srgbClr val="0B3041"/>
                      </a:solidFill>
                    </a:lnB>
                    <a:solidFill>
                      <a:srgbClr val="E3E7E9"/>
                    </a:solidFill>
                  </a:tcPr>
                </a:tc>
                <a:tc>
                  <a:txBody>
                    <a:bodyPr/>
                    <a:lstStyle/>
                    <a:p>
                      <a:pPr algn="r" fontAlgn="ctr"/>
                      <a:r>
                        <a:rPr lang="ja-JP" altLang="en-US" sz="1050" b="0" i="0" dirty="0">
                          <a:solidFill>
                            <a:srgbClr val="000000"/>
                          </a:solidFill>
                          <a:latin typeface="Arial"/>
                          <a:ea typeface="游ゴシック Medium"/>
                        </a:rPr>
                        <a:t>370,038</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solidFill>
                        <a:srgbClr val="0B3041"/>
                      </a:solidFill>
                    </a:lnT>
                    <a:lnB w="6350">
                      <a:solidFill>
                        <a:srgbClr val="0B3041"/>
                      </a:solidFill>
                    </a:lnB>
                    <a:solidFill>
                      <a:srgbClr val="E3E7E9"/>
                    </a:solidFill>
                  </a:tcPr>
                </a:tc>
              </a:tr>
              <a:tr h="292100">
                <a:tc>
                  <a:txBody>
                    <a:bodyPr/>
                    <a:lstStyle/>
                    <a:p>
                      <a:pPr algn="l" fontAlgn="ctr"/>
                      <a:r>
                        <a:rPr lang="ja-JP" altLang="en-US" sz="1050" b="0" i="0" dirty="0">
                          <a:solidFill>
                            <a:srgbClr val="000000"/>
                          </a:solidFill>
                          <a:latin typeface="游ゴシック"/>
                          <a:ea typeface="游ゴシック"/>
                        </a:rPr>
                        <a:t>建物等</a:t>
                      </a: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103,750</a:t>
                      </a:r>
                      <a:endParaRPr lang="ja-JP" altLang="en-US" sz="105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c>
                  <a:txBody>
                    <a:bodyPr/>
                    <a:lstStyle/>
                    <a:p>
                      <a:pPr algn="l" fontAlgn="ct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l" fontAlgn="ctr"/>
                      <a:r>
                        <a:rPr lang="ja-JP" altLang="en-US" sz="1050" b="0" i="0" dirty="0">
                          <a:solidFill>
                            <a:srgbClr val="000000"/>
                          </a:solidFill>
                          <a:latin typeface="游ゴシック"/>
                          <a:ea typeface="游ゴシック"/>
                        </a:rPr>
                        <a:t>長期借入金</a:t>
                      </a: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361,058</a:t>
                      </a:r>
                      <a:endParaRPr lang="ja-JP" altLang="en-US" sz="105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r>
              <a:tr h="292100">
                <a:tc>
                  <a:txBody>
                    <a:bodyPr/>
                    <a:lstStyle/>
                    <a:p>
                      <a:pPr algn="l" fontAlgn="ctr"/>
                      <a:r>
                        <a:rPr lang="ja-JP" altLang="en-US" sz="1050" b="0" i="0" dirty="0">
                          <a:solidFill>
                            <a:srgbClr val="000000"/>
                          </a:solidFill>
                          <a:latin typeface="游ゴシック"/>
                          <a:ea typeface="游ゴシック"/>
                        </a:rPr>
                        <a:t>土地</a:t>
                      </a: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93,137</a:t>
                      </a:r>
                      <a:endParaRPr lang="ja-JP" altLang="en-US" sz="105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c>
                  <a:txBody>
                    <a:bodyPr/>
                    <a:lstStyle/>
                    <a:p>
                      <a:pPr algn="l" fontAlgn="ct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l" fontAlgn="ctr"/>
                      <a:r>
                        <a:rPr lang="ja-JP" altLang="en-US" sz="1050" b="0" i="0" dirty="0">
                          <a:solidFill>
                            <a:srgbClr val="000000"/>
                          </a:solidFill>
                          <a:latin typeface="游ゴシック"/>
                          <a:ea typeface="游ゴシック"/>
                        </a:rPr>
                        <a:t>預り保証金</a:t>
                      </a: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8,980</a:t>
                      </a:r>
                      <a:endParaRPr lang="ja-JP" altLang="en-US" sz="105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r>
              <a:tr h="292100">
                <a:tc>
                  <a:txBody>
                    <a:bodyPr/>
                    <a:lstStyle/>
                    <a:p>
                      <a:pPr algn="l" fontAlgn="ctr"/>
                      <a:r>
                        <a:rPr lang="ja-JP" altLang="en-US" sz="1050" b="0" i="0" dirty="0">
                          <a:solidFill>
                            <a:srgbClr val="000000"/>
                          </a:solidFill>
                          <a:latin typeface="游ゴシック"/>
                          <a:ea typeface="游ゴシック"/>
                        </a:rPr>
                        <a:t>電話加入権等（無形）</a:t>
                      </a: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2,527</a:t>
                      </a:r>
                      <a:endParaRPr lang="ja-JP" altLang="en-US" sz="105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c>
                  <a:txBody>
                    <a:bodyPr/>
                    <a:lstStyle/>
                    <a:p>
                      <a:pPr algn="l" fontAlgn="ct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r" fontAlgn="ctr"/>
                      <a:endParaRPr lang="ja-JP" altLang="en-US" sz="105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r>
              <a:tr h="292100">
                <a:tc>
                  <a:txBody>
                    <a:bodyPr/>
                    <a:lstStyle/>
                    <a:p>
                      <a:pPr algn="l" fontAlgn="ctr"/>
                      <a:r>
                        <a:rPr lang="ja-JP" altLang="en-US" sz="1050" b="0" i="0" dirty="0">
                          <a:solidFill>
                            <a:srgbClr val="000000"/>
                          </a:solidFill>
                          <a:latin typeface="游ゴシック"/>
                          <a:ea typeface="游ゴシック"/>
                        </a:rPr>
                        <a:t>投資有価証券</a:t>
                      </a: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2,600</a:t>
                      </a:r>
                      <a:endParaRPr lang="ja-JP" altLang="en-US" sz="105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c>
                  <a:txBody>
                    <a:bodyPr/>
                    <a:lstStyle/>
                    <a:p>
                      <a:pPr algn="l" fontAlgn="ct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l" fontAlgn="ctr"/>
                      <a:r>
                        <a:rPr lang="ja-JP" altLang="en-US" sz="1050" b="1" i="0" dirty="0">
                          <a:solidFill>
                            <a:srgbClr val="000000"/>
                          </a:solidFill>
                          <a:latin typeface="游ゴシック"/>
                          <a:ea typeface="游ゴシック"/>
                        </a:rPr>
                        <a:t>負債合計</a:t>
                      </a:r>
                      <a:endParaRPr lang="ja-JP" altLang="en-US" sz="105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solidFill>
                        <a:srgbClr val="0B3041"/>
                      </a:solidFill>
                    </a:lnT>
                    <a:lnB w="6350">
                      <a:solidFill>
                        <a:srgbClr val="0B3041"/>
                      </a:solidFill>
                    </a:lnB>
                    <a:solidFill>
                      <a:srgbClr val="E3E7E9"/>
                    </a:solidFill>
                  </a:tcPr>
                </a:tc>
                <a:tc>
                  <a:txBody>
                    <a:bodyPr/>
                    <a:lstStyle/>
                    <a:p>
                      <a:pPr algn="r" fontAlgn="ctr"/>
                      <a:r>
                        <a:rPr lang="ja-JP" altLang="en-US" sz="1050" b="1" i="0" dirty="0">
                          <a:solidFill>
                            <a:srgbClr val="000000"/>
                          </a:solidFill>
                          <a:latin typeface="Arial"/>
                          <a:ea typeface="游ゴシック Medium"/>
                        </a:rPr>
                        <a:t>407,318</a:t>
                      </a:r>
                      <a:endParaRPr lang="ja-JP" altLang="en-US" sz="105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solidFill>
                        <a:srgbClr val="0B3041"/>
                      </a:solidFill>
                    </a:lnT>
                    <a:lnB w="6350">
                      <a:solidFill>
                        <a:srgbClr val="0B3041"/>
                      </a:solidFill>
                    </a:lnB>
                    <a:solidFill>
                      <a:srgbClr val="E3E7E9"/>
                    </a:solidFill>
                  </a:tcPr>
                </a:tc>
              </a:tr>
              <a:tr h="292100">
                <a:tc>
                  <a:txBody>
                    <a:bodyPr/>
                    <a:lstStyle/>
                    <a:p>
                      <a:pPr algn="l" fontAlgn="ctr"/>
                      <a:r>
                        <a:rPr lang="ja-JP" altLang="en-US" sz="1050" b="0" i="0" dirty="0">
                          <a:solidFill>
                            <a:srgbClr val="000000"/>
                          </a:solidFill>
                          <a:latin typeface="游ゴシック"/>
                          <a:ea typeface="游ゴシック"/>
                        </a:rPr>
                        <a:t>保証金</a:t>
                      </a: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33,303</a:t>
                      </a:r>
                      <a:endParaRPr lang="ja-JP" altLang="en-US" sz="105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c>
                  <a:txBody>
                    <a:bodyPr/>
                    <a:lstStyle/>
                    <a:p>
                      <a:pPr algn="l" fontAlgn="ct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l" fontAlgn="ctr"/>
                      <a:r>
                        <a:rPr lang="ja-JP" altLang="en-US" sz="1050" b="0" i="0" dirty="0">
                          <a:solidFill>
                            <a:srgbClr val="000000"/>
                          </a:solidFill>
                          <a:latin typeface="游ゴシック"/>
                          <a:ea typeface="游ゴシック"/>
                        </a:rPr>
                        <a:t>資本金</a:t>
                      </a: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40,000</a:t>
                      </a:r>
                      <a:endParaRPr lang="ja-JP" altLang="en-US" sz="105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r>
              <a:tr h="292100">
                <a:tc>
                  <a:txBody>
                    <a:bodyPr/>
                    <a:lstStyle/>
                    <a:p>
                      <a:pPr algn="l" fontAlgn="ctr"/>
                      <a:r>
                        <a:rPr lang="ja-JP" altLang="en-US" sz="1050" b="0" i="0" dirty="0">
                          <a:solidFill>
                            <a:srgbClr val="000000"/>
                          </a:solidFill>
                          <a:latin typeface="游ゴシック"/>
                          <a:ea typeface="游ゴシック"/>
                        </a:rPr>
                        <a:t>その他</a:t>
                      </a: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168</a:t>
                      </a:r>
                      <a:endParaRPr lang="ja-JP" altLang="en-US" sz="105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c>
                  <a:txBody>
                    <a:bodyPr/>
                    <a:lstStyle/>
                    <a:p>
                      <a:pPr algn="l" fontAlgn="ct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l" fontAlgn="ctr"/>
                      <a:r>
                        <a:rPr lang="ja-JP" altLang="en-US" sz="1050" b="0" i="0" dirty="0">
                          <a:solidFill>
                            <a:srgbClr val="000000"/>
                          </a:solidFill>
                          <a:latin typeface="游ゴシック"/>
                          <a:ea typeface="游ゴシック"/>
                        </a:rPr>
                        <a:t>利益剰余金</a:t>
                      </a: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37,873</a:t>
                      </a:r>
                      <a:endParaRPr lang="ja-JP" altLang="en-US" sz="105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r>
              <a:tr h="292100">
                <a:tc>
                  <a:txBody>
                    <a:bodyPr/>
                    <a:lstStyle/>
                    <a:p>
                      <a:pPr algn="l" fontAlgn="ct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r" fontAlgn="ctr"/>
                      <a:endParaRPr lang="ja-JP" altLang="en-US" sz="105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c>
                  <a:txBody>
                    <a:bodyPr/>
                    <a:lstStyle/>
                    <a:p>
                      <a:pPr algn="l" fontAlgn="ct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l" fontAlgn="ctr"/>
                      <a:r>
                        <a:rPr lang="ja-JP" altLang="en-US" sz="1050" b="1" i="0" dirty="0">
                          <a:solidFill>
                            <a:srgbClr val="000000"/>
                          </a:solidFill>
                          <a:latin typeface="游ゴシック"/>
                          <a:ea typeface="游ゴシック"/>
                        </a:rPr>
                        <a:t>純資産合計</a:t>
                      </a:r>
                      <a:endParaRPr lang="ja-JP" altLang="en-US" sz="105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solidFill>
                        <a:srgbClr val="0B3041"/>
                      </a:solidFill>
                    </a:lnT>
                    <a:lnB w="6350">
                      <a:solidFill>
                        <a:srgbClr val="0B3041"/>
                      </a:solidFill>
                    </a:lnB>
                    <a:solidFill>
                      <a:srgbClr val="E3E7E9"/>
                    </a:solidFill>
                  </a:tcPr>
                </a:tc>
                <a:tc>
                  <a:txBody>
                    <a:bodyPr/>
                    <a:lstStyle/>
                    <a:p>
                      <a:pPr algn="r" fontAlgn="ctr"/>
                      <a:r>
                        <a:rPr lang="ja-JP" altLang="en-US" sz="1050" b="1" i="0" dirty="0">
                          <a:solidFill>
                            <a:srgbClr val="000000"/>
                          </a:solidFill>
                          <a:latin typeface="Arial"/>
                          <a:ea typeface="游ゴシック Medium"/>
                        </a:rPr>
                        <a:t>77,873</a:t>
                      </a:r>
                      <a:endParaRPr lang="ja-JP" altLang="en-US" sz="105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solidFill>
                        <a:srgbClr val="0B3041"/>
                      </a:solidFill>
                    </a:lnT>
                    <a:lnB w="6350">
                      <a:solidFill>
                        <a:srgbClr val="0B3041"/>
                      </a:solidFill>
                    </a:lnB>
                    <a:solidFill>
                      <a:srgbClr val="E3E7E9"/>
                    </a:solidFill>
                  </a:tcPr>
                </a:tc>
              </a:tr>
              <a:tr h="292100">
                <a:tc>
                  <a:txBody>
                    <a:bodyPr/>
                    <a:lstStyle/>
                    <a:p>
                      <a:pPr algn="l" fontAlgn="ctr"/>
                      <a:r>
                        <a:rPr lang="ja-JP" altLang="en-US" sz="1050" b="1" i="0" dirty="0">
                          <a:solidFill>
                            <a:srgbClr val="000000"/>
                          </a:solidFill>
                          <a:latin typeface="游ゴシック"/>
                          <a:ea typeface="游ゴシック"/>
                        </a:rPr>
                        <a:t>資産合計</a:t>
                      </a:r>
                      <a:endParaRPr lang="ja-JP" altLang="en-US" sz="105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solidFill>
                        <a:srgbClr val="0B3041"/>
                      </a:solidFill>
                    </a:lnT>
                    <a:lnB w="6350">
                      <a:solidFill>
                        <a:srgbClr val="0B3041"/>
                      </a:solidFill>
                    </a:lnB>
                    <a:solidFill>
                      <a:srgbClr val="E3E7E9"/>
                    </a:solidFill>
                  </a:tcPr>
                </a:tc>
                <a:tc>
                  <a:txBody>
                    <a:bodyPr/>
                    <a:lstStyle/>
                    <a:p>
                      <a:pPr algn="r" fontAlgn="ctr"/>
                      <a:r>
                        <a:rPr lang="ja-JP" altLang="en-US" sz="1050" b="1" i="0" dirty="0">
                          <a:solidFill>
                            <a:srgbClr val="000000"/>
                          </a:solidFill>
                          <a:latin typeface="Arial"/>
                          <a:ea typeface="游ゴシック Medium"/>
                        </a:rPr>
                        <a:t>485,190</a:t>
                      </a:r>
                      <a:endParaRPr lang="ja-JP" altLang="en-US" sz="105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solidFill>
                        <a:srgbClr val="0B3041"/>
                      </a:solidFill>
                    </a:lnT>
                    <a:lnB w="6350">
                      <a:solidFill>
                        <a:srgbClr val="0B3041"/>
                      </a:solidFill>
                    </a:lnB>
                    <a:solidFill>
                      <a:srgbClr val="E3E7E9"/>
                    </a:solidFill>
                  </a:tcPr>
                </a:tc>
                <a:tc>
                  <a:txBody>
                    <a:bodyPr/>
                    <a:lstStyle/>
                    <a:p>
                      <a:pPr algn="l" fontAlgn="ct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l" fontAlgn="ctr"/>
                      <a:r>
                        <a:rPr lang="ja-JP" altLang="en-US" sz="1050" b="1" i="0" dirty="0">
                          <a:solidFill>
                            <a:srgbClr val="000000"/>
                          </a:solidFill>
                          <a:latin typeface="游ゴシック"/>
                          <a:ea typeface="游ゴシック"/>
                        </a:rPr>
                        <a:t>負債・純資産合計</a:t>
                      </a:r>
                      <a:endParaRPr lang="ja-JP" altLang="en-US" sz="105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solidFill>
                        <a:srgbClr val="0B3041"/>
                      </a:solidFill>
                    </a:lnT>
                    <a:lnB w="6350">
                      <a:solidFill>
                        <a:srgbClr val="0B3041"/>
                      </a:solidFill>
                    </a:lnB>
                    <a:solidFill>
                      <a:srgbClr val="E3E7E9"/>
                    </a:solidFill>
                  </a:tcPr>
                </a:tc>
                <a:tc>
                  <a:txBody>
                    <a:bodyPr/>
                    <a:lstStyle/>
                    <a:p>
                      <a:pPr algn="r" fontAlgn="ctr"/>
                      <a:r>
                        <a:rPr lang="ja-JP" altLang="en-US" sz="1050" b="1" i="0" dirty="0">
                          <a:solidFill>
                            <a:srgbClr val="000000"/>
                          </a:solidFill>
                          <a:latin typeface="Arial"/>
                          <a:ea typeface="游ゴシック Medium"/>
                        </a:rPr>
                        <a:t>485,190</a:t>
                      </a:r>
                      <a:endParaRPr lang="ja-JP" altLang="en-US" sz="105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solidFill>
                        <a:srgbClr val="0B3041"/>
                      </a:solidFill>
                    </a:lnT>
                    <a:lnB w="6350">
                      <a:solidFill>
                        <a:srgbClr val="0B3041"/>
                      </a:solidFill>
                    </a:lnB>
                    <a:solidFill>
                      <a:srgbClr val="E3E7E9"/>
                    </a:solidFill>
                  </a:tcPr>
                </a:tc>
              </a:tr>
            </a:tbl>
          </a:graphicData>
        </a:graphic>
      </p:graphicFrame>
      <p:sp>
        <p:nvSpPr>
          <p:cNvPr id="15" name="TextBox 14"/>
          <p:cNvSpPr txBox="1"/>
          <p:nvPr/>
        </p:nvSpPr>
        <p:spPr>
          <a:xfrm>
            <a:off x="338328" y="6039104"/>
            <a:ext cx="5001768" cy="164592"/>
          </a:xfrm>
          <a:prstGeom prst="rect">
            <a:avLst/>
          </a:prstGeom>
          <a:noFill/>
        </p:spPr>
        <p:txBody>
          <a:bodyPr wrap="square" lIns="0" rIns="0" tIns="0" bIns="0" anchor="t">
            <a:spAutoFit/>
          </a:bodyPr>
          <a:lstStyle/>
          <a:p>
            <a:pPr algn="l"/>
            <a:r>
              <a:rPr sz="800" b="0">
                <a:solidFill>
                  <a:srgbClr val="000000"/>
                </a:solidFill>
                <a:latin typeface="游ゴシック"/>
                <a:ea typeface="游ゴシック"/>
              </a:rPr>
              <a:t>※2026年3月期末。3期推移は「財務情報詳細｜貸借対照表」に記載。</a:t>
            </a:r>
          </a:p>
        </p:txBody>
      </p:sp>
    </p:spTree>
    <p:extLst>
      <p:ext uri="{BB962C8B-B14F-4D97-AF65-F5344CB8AC3E}">
        <p14:creationId xmlns:p14="http://schemas.microsoft.com/office/powerpoint/2010/main" val="40303346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7" name="タイトル 6">
            <a:extLst>
              <a:ext uri="{FF2B5EF4-FFF2-40B4-BE49-F238E27FC236}">
                <a16:creationId xmlns:a16="http://schemas.microsoft.com/office/drawing/2014/main" id="{5297D612-8E56-9402-459F-FE068C2C5D1A}"/>
              </a:ext>
            </a:extLst>
          </p:cNvPr>
          <p:cNvSpPr>
            <a:spLocks noGrp="1"/>
          </p:cNvSpPr>
          <p:nvPr>
            <p:ph type="ctrTitle"/>
          </p:nvPr>
        </p:nvSpPr>
        <p:spPr>
          <a:xfrm>
            <a:off x="341313" y="180296"/>
            <a:ext cx="7799917" cy="339267"/>
          </a:xfrm>
        </p:spPr>
        <p:txBody>
          <a:bodyPr/>
          <a:lstStyle/>
          <a:p>
            <a:r>
              <a:rPr lang="zh-CN" altLang="en-US" dirty="0"/>
              <a:t>譲渡希望条件</a:t>
            </a:r>
          </a:p>
        </p:txBody>
      </p:sp>
      <p:sp>
        <p:nvSpPr>
          <p:cNvPr id="9" name="タイトル 1">
            <a:extLst>
              <a:ext uri="{FF2B5EF4-FFF2-40B4-BE49-F238E27FC236}">
                <a16:creationId xmlns:a16="http://schemas.microsoft.com/office/drawing/2014/main" id="{203C135E-3923-6D8E-447A-FF4DC0536B9B}"/>
              </a:ext>
            </a:extLst>
          </p:cNvPr>
          <p:cNvSpPr txBox="1">
            <a:spLocks/>
          </p:cNvSpPr>
          <p:nvPr/>
        </p:nvSpPr>
        <p:spPr>
          <a:xfrm>
            <a:off x="8366333" y="252154"/>
            <a:ext cx="1984167" cy="184666"/>
          </a:xfrm>
          <a:prstGeom prst="rect">
            <a:avLst/>
          </a:prstGeom>
        </p:spPr>
        <p:txBody>
          <a:bodyPr vert="horz" lIns="0" tIns="0" rIns="0" bIns="0" rtlCol="0" anchor="ctr">
            <a:spAutoFit/>
          </a:bodyPr>
          <a:lstStyle>
            <a:defPPr marR="0" lvl="0" algn="l" rtl="0">
              <a:lnSpc>
                <a:spcPct val="100000"/>
              </a:lnSpc>
              <a:spcBef>
                <a:spcPts val="0"/>
              </a:spcBef>
              <a:spcAft>
                <a:spcPts val="0"/>
              </a:spcAft>
              <a:defRPr/>
            </a:defPPr>
            <a:lvl1pPr algn="r" defTabSz="914400" eaLnBrk="1" latinLnBrk="0" hangingPunct="1">
              <a:spcBef>
                <a:spcPct val="0"/>
              </a:spcBef>
              <a:buClr>
                <a:schemeClr val="bg1"/>
              </a:buClr>
              <a:buNone/>
              <a:defRPr kumimoji="1" sz="1200" b="1" kern="1200" spc="55">
                <a:solidFill>
                  <a:schemeClr val="bg1"/>
                </a:solidFill>
                <a:latin typeface="+mj-lt"/>
                <a:ea typeface="+mj-ea"/>
                <a:cs typeface="+mj-cs"/>
              </a:defRPr>
            </a:lvl1pPr>
          </a:lstStyle>
          <a:p>
            <a:r>
              <a:rPr lang="ja-JP" altLang="en-US" spc="0" dirty="0"/>
              <a:t>　エグゼクティブサマリー</a:t>
            </a:r>
          </a:p>
        </p:txBody>
      </p:sp>
      <p:sp>
        <p:nvSpPr>
          <p:cNvPr id="18" name="正方形/長方形 17">
            <a:extLst>
              <a:ext uri="{FF2B5EF4-FFF2-40B4-BE49-F238E27FC236}">
                <a16:creationId xmlns:a16="http://schemas.microsoft.com/office/drawing/2014/main" id="{77AE94F8-D910-3328-173F-F4A99716CFE7}"/>
              </a:ext>
            </a:extLst>
          </p:cNvPr>
          <p:cNvSpPr/>
          <p:nvPr/>
        </p:nvSpPr>
        <p:spPr>
          <a:xfrm>
            <a:off x="449262" y="1225957"/>
            <a:ext cx="9793287" cy="125601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cxnSp>
        <p:nvCxnSpPr>
          <p:cNvPr id="22" name="直線コネクタ 21">
            <a:extLst>
              <a:ext uri="{FF2B5EF4-FFF2-40B4-BE49-F238E27FC236}">
                <a16:creationId xmlns:a16="http://schemas.microsoft.com/office/drawing/2014/main" id="{1928CBFA-2EBE-A608-C5BF-40E5AFFAF1AD}"/>
              </a:ext>
            </a:extLst>
          </p:cNvPr>
          <p:cNvCxnSpPr>
            <a:cxnSpLocks/>
          </p:cNvCxnSpPr>
          <p:nvPr/>
        </p:nvCxnSpPr>
        <p:spPr>
          <a:xfrm>
            <a:off x="3133558" y="1349963"/>
            <a:ext cx="0" cy="1008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19" name="テキスト ボックス 18">
            <a:extLst>
              <a:ext uri="{FF2B5EF4-FFF2-40B4-BE49-F238E27FC236}">
                <a16:creationId xmlns:a16="http://schemas.microsoft.com/office/drawing/2014/main" id="{FFFB131C-8535-2A88-A3C8-FF60589D2A11}"/>
              </a:ext>
            </a:extLst>
          </p:cNvPr>
          <p:cNvSpPr txBox="1"/>
          <p:nvPr/>
        </p:nvSpPr>
        <p:spPr>
          <a:xfrm>
            <a:off x="3151380" y="1703936"/>
            <a:ext cx="7074659" cy="338554"/>
          </a:xfrm>
          <a:prstGeom prst="rect">
            <a:avLst/>
          </a:prstGeom>
          <a:noFill/>
        </p:spPr>
        <p:txBody>
          <a:bodyPr wrap="square" lIns="1440000" tIns="0" rIns="0" bIns="0" rtlCol="0" anchor="ctr">
            <a:spAutoFit/>
          </a:bodyPr>
          <a:lstStyle/>
          <a:p>
            <a:r>
              <a:rPr lang="ja-JP" altLang="en-US" sz="1800" b="1" spc="50" dirty="0">
                <a:solidFill>
                  <a:schemeClr val="dk1"/>
                </a:solidFill>
                <a:latin typeface="+mj-ea"/>
                <a:ea typeface="+mj-ea"/>
              </a:rPr>
              <a:t>株式100％譲渡（全株主の株式を譲渡可能）</a:t>
            </a:r>
          </a:p>
        </p:txBody>
      </p:sp>
      <p:sp>
        <p:nvSpPr>
          <p:cNvPr id="23" name="正方形/長方形 22">
            <a:extLst>
              <a:ext uri="{FF2B5EF4-FFF2-40B4-BE49-F238E27FC236}">
                <a16:creationId xmlns:a16="http://schemas.microsoft.com/office/drawing/2014/main" id="{A4BC3D1B-6519-3EC6-F8C8-D12E5886EBA8}"/>
              </a:ext>
            </a:extLst>
          </p:cNvPr>
          <p:cNvSpPr/>
          <p:nvPr/>
        </p:nvSpPr>
        <p:spPr>
          <a:xfrm>
            <a:off x="908477" y="1467627"/>
            <a:ext cx="1780804"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b="1" spc="70" dirty="0">
                <a:solidFill>
                  <a:schemeClr val="bg1"/>
                </a:solidFill>
                <a:latin typeface="+mj-ea"/>
                <a:ea typeface="+mj-ea"/>
              </a:rPr>
              <a:t>条件</a:t>
            </a:r>
            <a:r>
              <a:rPr lang="en-US" altLang="ja-JP" b="1" spc="70" dirty="0">
                <a:solidFill>
                  <a:schemeClr val="bg1"/>
                </a:solidFill>
                <a:latin typeface="+mj-ea"/>
                <a:ea typeface="+mj-ea"/>
              </a:rPr>
              <a:t>1</a:t>
            </a:r>
          </a:p>
        </p:txBody>
      </p:sp>
      <p:sp>
        <p:nvSpPr>
          <p:cNvPr id="46" name="正方形/長方形 45">
            <a:extLst>
              <a:ext uri="{FF2B5EF4-FFF2-40B4-BE49-F238E27FC236}">
                <a16:creationId xmlns:a16="http://schemas.microsoft.com/office/drawing/2014/main" id="{538DA60A-A0C2-2AC4-6AFA-6E9A0A840E2F}"/>
              </a:ext>
            </a:extLst>
          </p:cNvPr>
          <p:cNvSpPr/>
          <p:nvPr/>
        </p:nvSpPr>
        <p:spPr>
          <a:xfrm>
            <a:off x="908477" y="1905968"/>
            <a:ext cx="1780804" cy="36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sz="1800" b="1" spc="70" dirty="0">
                <a:solidFill>
                  <a:schemeClr val="tx2"/>
                </a:solidFill>
                <a:latin typeface="+mj-ea"/>
                <a:ea typeface="+mj-ea"/>
              </a:rPr>
              <a:t>スキーム</a:t>
            </a:r>
            <a:endParaRPr lang="en-US" altLang="ja-JP" sz="1800" b="1" spc="70" dirty="0">
              <a:solidFill>
                <a:schemeClr val="tx2"/>
              </a:solidFill>
              <a:latin typeface="+mj-ea"/>
              <a:ea typeface="+mj-ea"/>
            </a:endParaRPr>
          </a:p>
        </p:txBody>
      </p:sp>
      <p:sp>
        <p:nvSpPr>
          <p:cNvPr id="47" name="二等辺三角形 46">
            <a:extLst>
              <a:ext uri="{FF2B5EF4-FFF2-40B4-BE49-F238E27FC236}">
                <a16:creationId xmlns:a16="http://schemas.microsoft.com/office/drawing/2014/main" id="{E30A0C32-ED58-E579-307E-2A50184F7621}"/>
              </a:ext>
            </a:extLst>
          </p:cNvPr>
          <p:cNvSpPr/>
          <p:nvPr/>
        </p:nvSpPr>
        <p:spPr>
          <a:xfrm rot="5400000">
            <a:off x="3953282" y="1731194"/>
            <a:ext cx="613305" cy="245539"/>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
        <p:nvSpPr>
          <p:cNvPr id="54" name="正方形/長方形 53">
            <a:extLst>
              <a:ext uri="{FF2B5EF4-FFF2-40B4-BE49-F238E27FC236}">
                <a16:creationId xmlns:a16="http://schemas.microsoft.com/office/drawing/2014/main" id="{CF75FB02-E0C4-B24A-D8DD-19550648E691}"/>
              </a:ext>
            </a:extLst>
          </p:cNvPr>
          <p:cNvSpPr/>
          <p:nvPr/>
        </p:nvSpPr>
        <p:spPr>
          <a:xfrm>
            <a:off x="449262" y="2678813"/>
            <a:ext cx="9793287" cy="125601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cxnSp>
        <p:nvCxnSpPr>
          <p:cNvPr id="55" name="直線コネクタ 54">
            <a:extLst>
              <a:ext uri="{FF2B5EF4-FFF2-40B4-BE49-F238E27FC236}">
                <a16:creationId xmlns:a16="http://schemas.microsoft.com/office/drawing/2014/main" id="{031A2A35-DDED-EC21-CA05-09DA68DA2C0D}"/>
              </a:ext>
            </a:extLst>
          </p:cNvPr>
          <p:cNvCxnSpPr>
            <a:cxnSpLocks/>
          </p:cNvCxnSpPr>
          <p:nvPr/>
        </p:nvCxnSpPr>
        <p:spPr>
          <a:xfrm>
            <a:off x="3133558" y="2802819"/>
            <a:ext cx="0" cy="1008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56" name="テキスト ボックス 55">
            <a:extLst>
              <a:ext uri="{FF2B5EF4-FFF2-40B4-BE49-F238E27FC236}">
                <a16:creationId xmlns:a16="http://schemas.microsoft.com/office/drawing/2014/main" id="{4F61C06A-72C7-F15D-8706-7F1E6F179BF5}"/>
              </a:ext>
            </a:extLst>
          </p:cNvPr>
          <p:cNvSpPr txBox="1"/>
          <p:nvPr/>
        </p:nvSpPr>
        <p:spPr>
          <a:xfrm>
            <a:off x="3151380" y="3156792"/>
            <a:ext cx="7074659" cy="338554"/>
          </a:xfrm>
          <a:prstGeom prst="rect">
            <a:avLst/>
          </a:prstGeom>
          <a:noFill/>
        </p:spPr>
        <p:txBody>
          <a:bodyPr wrap="square" lIns="1440000" tIns="0" rIns="0" bIns="0" rtlCol="0" anchor="ctr">
            <a:spAutoFit/>
          </a:bodyPr>
          <a:lstStyle>
            <a:defPPr marR="0" lvl="0" algn="l" rtl="0">
              <a:lnSpc>
                <a:spcPct val="100000"/>
              </a:lnSpc>
              <a:spcBef>
                <a:spcPts val="0"/>
              </a:spcBef>
              <a:spcAft>
                <a:spcPts val="0"/>
              </a:spcAft>
            </a:defPPr>
            <a:lvl1pPr algn="ctr">
              <a:defRPr sz="2200" b="1">
                <a:solidFill>
                  <a:schemeClr val="dk1"/>
                </a:solidFill>
                <a:latin typeface="+mj-ea"/>
                <a:ea typeface="+mj-ea"/>
              </a:defRPr>
            </a:lvl1pPr>
          </a:lstStyle>
          <a:p>
            <a:pPr algn="l"/>
            <a:r>
              <a:rPr lang="en-US" altLang="ja-JP" spc="50" dirty="0" sz="1800"/>
              <a:t>110,000千円以上</a:t>
            </a:r>
          </a:p>
        </p:txBody>
      </p:sp>
      <p:sp>
        <p:nvSpPr>
          <p:cNvPr id="59" name="正方形/長方形 58">
            <a:extLst>
              <a:ext uri="{FF2B5EF4-FFF2-40B4-BE49-F238E27FC236}">
                <a16:creationId xmlns:a16="http://schemas.microsoft.com/office/drawing/2014/main" id="{CFFDBAD3-865C-CB13-2F89-BB6495428292}"/>
              </a:ext>
            </a:extLst>
          </p:cNvPr>
          <p:cNvSpPr/>
          <p:nvPr/>
        </p:nvSpPr>
        <p:spPr>
          <a:xfrm>
            <a:off x="908477" y="2920483"/>
            <a:ext cx="1780804"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b="1" spc="70" dirty="0">
                <a:solidFill>
                  <a:schemeClr val="bg1"/>
                </a:solidFill>
                <a:latin typeface="+mj-ea"/>
                <a:ea typeface="+mj-ea"/>
              </a:rPr>
              <a:t>条件</a:t>
            </a:r>
            <a:r>
              <a:rPr lang="en-US" altLang="ja-JP" b="1" spc="70" dirty="0">
                <a:solidFill>
                  <a:schemeClr val="bg1"/>
                </a:solidFill>
                <a:latin typeface="+mj-ea"/>
                <a:ea typeface="+mj-ea"/>
              </a:rPr>
              <a:t>2</a:t>
            </a:r>
          </a:p>
        </p:txBody>
      </p:sp>
      <p:sp>
        <p:nvSpPr>
          <p:cNvPr id="60" name="正方形/長方形 59">
            <a:extLst>
              <a:ext uri="{FF2B5EF4-FFF2-40B4-BE49-F238E27FC236}">
                <a16:creationId xmlns:a16="http://schemas.microsoft.com/office/drawing/2014/main" id="{C0C6D277-3738-13CF-070E-BA308BBE1973}"/>
              </a:ext>
            </a:extLst>
          </p:cNvPr>
          <p:cNvSpPr/>
          <p:nvPr/>
        </p:nvSpPr>
        <p:spPr>
          <a:xfrm>
            <a:off x="908477" y="3358824"/>
            <a:ext cx="1780804" cy="36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sz="1800" b="1" spc="70" dirty="0">
                <a:solidFill>
                  <a:schemeClr val="tx2"/>
                </a:solidFill>
                <a:latin typeface="+mj-ea"/>
                <a:ea typeface="+mj-ea"/>
              </a:rPr>
              <a:t>希望価格</a:t>
            </a:r>
          </a:p>
        </p:txBody>
      </p:sp>
      <p:sp>
        <p:nvSpPr>
          <p:cNvPr id="58" name="二等辺三角形 57">
            <a:extLst>
              <a:ext uri="{FF2B5EF4-FFF2-40B4-BE49-F238E27FC236}">
                <a16:creationId xmlns:a16="http://schemas.microsoft.com/office/drawing/2014/main" id="{C23C8717-6A45-2543-9780-94DF43068F77}"/>
              </a:ext>
            </a:extLst>
          </p:cNvPr>
          <p:cNvSpPr/>
          <p:nvPr/>
        </p:nvSpPr>
        <p:spPr>
          <a:xfrm rot="5400000">
            <a:off x="3953282" y="3184050"/>
            <a:ext cx="613305" cy="245539"/>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
        <p:nvSpPr>
          <p:cNvPr id="62" name="正方形/長方形 61">
            <a:extLst>
              <a:ext uri="{FF2B5EF4-FFF2-40B4-BE49-F238E27FC236}">
                <a16:creationId xmlns:a16="http://schemas.microsoft.com/office/drawing/2014/main" id="{7140BAFD-DDE9-DDDD-13AE-F82ADD82CD40}"/>
              </a:ext>
            </a:extLst>
          </p:cNvPr>
          <p:cNvSpPr/>
          <p:nvPr/>
        </p:nvSpPr>
        <p:spPr>
          <a:xfrm>
            <a:off x="449262" y="4131669"/>
            <a:ext cx="9793287" cy="125601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cxnSp>
        <p:nvCxnSpPr>
          <p:cNvPr id="63" name="直線コネクタ 62">
            <a:extLst>
              <a:ext uri="{FF2B5EF4-FFF2-40B4-BE49-F238E27FC236}">
                <a16:creationId xmlns:a16="http://schemas.microsoft.com/office/drawing/2014/main" id="{364A6865-94EE-F5C9-85ED-D69680FD951A}"/>
              </a:ext>
            </a:extLst>
          </p:cNvPr>
          <p:cNvCxnSpPr>
            <a:cxnSpLocks/>
          </p:cNvCxnSpPr>
          <p:nvPr/>
        </p:nvCxnSpPr>
        <p:spPr>
          <a:xfrm>
            <a:off x="3133558" y="4255675"/>
            <a:ext cx="0" cy="1008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256" name="テキスト ボックス 255">
            <a:extLst>
              <a:ext uri="{FF2B5EF4-FFF2-40B4-BE49-F238E27FC236}">
                <a16:creationId xmlns:a16="http://schemas.microsoft.com/office/drawing/2014/main" id="{B6D90125-A2A7-8289-0B44-6FD810A06C6F}"/>
              </a:ext>
            </a:extLst>
          </p:cNvPr>
          <p:cNvSpPr txBox="1"/>
          <p:nvPr/>
        </p:nvSpPr>
        <p:spPr>
          <a:xfrm>
            <a:off x="3154680" y="4206240"/>
            <a:ext cx="7077456" cy="1143000"/>
          </a:xfrm>
          <a:prstGeom prst="rect">
            <a:avLst/>
          </a:prstGeom>
          <a:noFill/>
        </p:spPr>
        <p:txBody>
          <a:bodyPr wrap="square" lIns="1368000" tIns="0" rIns="0" bIns="0" rtlCol="0" anchor="ctr">
            <a:spAutoFit/>
          </a:bodyPr>
          <a:lstStyle>
            <a:defPPr marR="0" lvl="0" algn="l" rtl="0">
              <a:lnSpc>
                <a:spcPct val="100000"/>
              </a:lnSpc>
              <a:spcBef>
                <a:spcPts val="0"/>
              </a:spcBef>
              <a:spcAft>
                <a:spcPts val="0"/>
              </a:spcAft>
            </a:defPPr>
            <a:lvl1pPr algn="ctr">
              <a:defRPr sz="2200" b="1">
                <a:solidFill>
                  <a:schemeClr val="dk1"/>
                </a:solidFill>
                <a:latin typeface="+mj-ea"/>
                <a:ea typeface="+mj-ea"/>
              </a:defRPr>
            </a:lvl1pPr>
          </a:lstStyle>
          <a:p>
            <a:pPr marL="324000" indent="-324000" algn="l">
              <a:spcAft>
                <a:spcPts val="200"/>
              </a:spcAft>
              <a:buClr>
                <a:schemeClr val="tx2"/>
              </a:buClr>
              <a:buFont typeface="游ゴシック" panose="020B0400000000000000" pitchFamily="50" charset="-128"/>
              <a:buChar char="▪"/>
            </a:pPr>
            <a:r>
              <a:rPr lang="ja-JP" altLang="en-US" spc="50" dirty="0" sz="1200"/>
              <a:t>従業員の雇用維持（最も重視）</a:t>
            </a:r>
            <a:endParaRPr lang="en-US" altLang="ja-JP" spc="50" dirty="0"/>
          </a:p>
          <a:p>
            <a:pPr marL="324000" indent="-324000" algn="l">
              <a:spcAft>
                <a:spcPts val="200"/>
              </a:spcAft>
              <a:buClr>
                <a:schemeClr val="tx2"/>
              </a:buClr>
              <a:buFont typeface="游ゴシック" panose="020B0400000000000000" pitchFamily="50" charset="-128"/>
              <a:buChar char="▪"/>
            </a:pPr>
            <a:r>
              <a:rPr lang="ja-JP" altLang="en-US" spc="50" dirty="0" sz="1200"/>
              <a:t>引継ぎ期間は最大1年（状況により半年程度）</a:t>
            </a:r>
            <a:endParaRPr lang="en-US" altLang="ja-JP" spc="50" dirty="0"/>
          </a:p>
          <a:p>
            <a:pPr marL="324000" indent="-324000" algn="l">
              <a:spcAft>
                <a:spcPts val="200"/>
              </a:spcAft>
              <a:buClr>
                <a:schemeClr val="tx2"/>
              </a:buClr>
              <a:buFont typeface="游ゴシック" panose="020B0400000000000000" pitchFamily="50" charset="-128"/>
              <a:buChar char="▪"/>
            </a:pPr>
            <a:r>
              <a:rPr lang="ja-JP" altLang="en-US" spc="50" dirty="0" sz="1200"/>
              <a:t>代表者は退任後、顧問として関与（業務量・報酬とも現在の半分程度、月額18万円）</a:t>
            </a:r>
            <a:endParaRPr lang="en-US" altLang="ja-JP" spc="50" dirty="0"/>
          </a:p>
          <a:p>
            <a:pPr marL="324000" indent="-324000" algn="l">
              <a:spcAft>
                <a:spcPts val="200"/>
              </a:spcAft>
              <a:buClr>
                <a:schemeClr val="tx2"/>
              </a:buClr>
              <a:buFont typeface="游ゴシック" panose="020B0400000000000000" pitchFamily="50" charset="-128"/>
              <a:buChar char="▪"/>
            </a:pPr>
            <a:r>
              <a:rPr lang="ja-JP" altLang="en-US" spc="50" dirty="0" sz="1200"/>
              <a:t>取締役（代表者の弟）は残留予定。その他の役員は譲渡時に退任予定</a:t>
            </a:r>
            <a:endParaRPr lang="en-US" altLang="ja-JP" spc="50" dirty="0"/>
          </a:p>
        </p:txBody>
      </p:sp>
      <p:sp>
        <p:nvSpPr>
          <p:cNvPr id="259" name="正方形/長方形 258">
            <a:extLst>
              <a:ext uri="{FF2B5EF4-FFF2-40B4-BE49-F238E27FC236}">
                <a16:creationId xmlns:a16="http://schemas.microsoft.com/office/drawing/2014/main" id="{11BED845-77D7-96E2-7088-05671252A4BC}"/>
              </a:ext>
            </a:extLst>
          </p:cNvPr>
          <p:cNvSpPr/>
          <p:nvPr/>
        </p:nvSpPr>
        <p:spPr>
          <a:xfrm>
            <a:off x="908477" y="4373339"/>
            <a:ext cx="1780804"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b="1" spc="70" dirty="0">
                <a:solidFill>
                  <a:schemeClr val="bg1"/>
                </a:solidFill>
                <a:latin typeface="+mj-ea"/>
                <a:ea typeface="+mj-ea"/>
              </a:rPr>
              <a:t>条件</a:t>
            </a:r>
            <a:r>
              <a:rPr lang="en-US" altLang="ja-JP" b="1" spc="70" dirty="0">
                <a:solidFill>
                  <a:schemeClr val="bg1"/>
                </a:solidFill>
                <a:latin typeface="+mj-ea"/>
                <a:ea typeface="+mj-ea"/>
              </a:rPr>
              <a:t>3</a:t>
            </a:r>
          </a:p>
        </p:txBody>
      </p:sp>
      <p:sp>
        <p:nvSpPr>
          <p:cNvPr id="260" name="正方形/長方形 259">
            <a:extLst>
              <a:ext uri="{FF2B5EF4-FFF2-40B4-BE49-F238E27FC236}">
                <a16:creationId xmlns:a16="http://schemas.microsoft.com/office/drawing/2014/main" id="{6B9DA270-CEE2-C021-D23B-6674C7B58B8F}"/>
              </a:ext>
            </a:extLst>
          </p:cNvPr>
          <p:cNvSpPr/>
          <p:nvPr/>
        </p:nvSpPr>
        <p:spPr>
          <a:xfrm>
            <a:off x="908477" y="4811680"/>
            <a:ext cx="1780804" cy="36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sz="1800" b="1" spc="70" dirty="0">
                <a:solidFill>
                  <a:schemeClr val="tx2"/>
                </a:solidFill>
                <a:latin typeface="+mj-ea"/>
                <a:ea typeface="+mj-ea"/>
              </a:rPr>
              <a:t>付帯条件</a:t>
            </a:r>
          </a:p>
        </p:txBody>
      </p:sp>
      <p:sp>
        <p:nvSpPr>
          <p:cNvPr id="258" name="二等辺三角形 257">
            <a:extLst>
              <a:ext uri="{FF2B5EF4-FFF2-40B4-BE49-F238E27FC236}">
                <a16:creationId xmlns:a16="http://schemas.microsoft.com/office/drawing/2014/main" id="{ED431A8E-E118-9737-A89C-BA75554554F2}"/>
              </a:ext>
            </a:extLst>
          </p:cNvPr>
          <p:cNvSpPr/>
          <p:nvPr/>
        </p:nvSpPr>
        <p:spPr>
          <a:xfrm rot="5400000">
            <a:off x="3953282" y="4636906"/>
            <a:ext cx="613305" cy="245539"/>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
        <p:nvSpPr>
          <p:cNvPr id="262" name="正方形/長方形 261">
            <a:extLst>
              <a:ext uri="{FF2B5EF4-FFF2-40B4-BE49-F238E27FC236}">
                <a16:creationId xmlns:a16="http://schemas.microsoft.com/office/drawing/2014/main" id="{0DA87416-6EB3-2B9D-5D99-EBF7AD989A1A}"/>
              </a:ext>
            </a:extLst>
          </p:cNvPr>
          <p:cNvSpPr/>
          <p:nvPr/>
        </p:nvSpPr>
        <p:spPr>
          <a:xfrm>
            <a:off x="449262" y="5584525"/>
            <a:ext cx="9793287" cy="125601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cxnSp>
        <p:nvCxnSpPr>
          <p:cNvPr id="263" name="直線コネクタ 262">
            <a:extLst>
              <a:ext uri="{FF2B5EF4-FFF2-40B4-BE49-F238E27FC236}">
                <a16:creationId xmlns:a16="http://schemas.microsoft.com/office/drawing/2014/main" id="{348C7A7D-E8C0-8FBA-0152-B09944A67B14}"/>
              </a:ext>
            </a:extLst>
          </p:cNvPr>
          <p:cNvCxnSpPr>
            <a:cxnSpLocks/>
          </p:cNvCxnSpPr>
          <p:nvPr/>
        </p:nvCxnSpPr>
        <p:spPr>
          <a:xfrm>
            <a:off x="3133558" y="5708531"/>
            <a:ext cx="0" cy="1008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264" name="テキスト ボックス 263">
            <a:extLst>
              <a:ext uri="{FF2B5EF4-FFF2-40B4-BE49-F238E27FC236}">
                <a16:creationId xmlns:a16="http://schemas.microsoft.com/office/drawing/2014/main" id="{37AEE9E9-0B13-7FD4-A3CA-A47C7839F11C}"/>
              </a:ext>
            </a:extLst>
          </p:cNvPr>
          <p:cNvSpPr txBox="1"/>
          <p:nvPr/>
        </p:nvSpPr>
        <p:spPr>
          <a:xfrm>
            <a:off x="3151380" y="6062504"/>
            <a:ext cx="7074659" cy="338554"/>
          </a:xfrm>
          <a:prstGeom prst="rect">
            <a:avLst/>
          </a:prstGeom>
          <a:noFill/>
        </p:spPr>
        <p:txBody>
          <a:bodyPr wrap="square" lIns="1440000" tIns="0" rIns="0" bIns="0" rtlCol="0" anchor="ctr">
            <a:spAutoFit/>
          </a:bodyPr>
          <a:lstStyle>
            <a:defPPr marR="0" lvl="0" algn="l" rtl="0">
              <a:lnSpc>
                <a:spcPct val="100000"/>
              </a:lnSpc>
              <a:spcBef>
                <a:spcPts val="0"/>
              </a:spcBef>
              <a:spcAft>
                <a:spcPts val="0"/>
              </a:spcAft>
            </a:defPPr>
            <a:lvl1pPr>
              <a:defRPr sz="2200" b="1">
                <a:solidFill>
                  <a:schemeClr val="dk1"/>
                </a:solidFill>
                <a:latin typeface="+mj-ea"/>
                <a:ea typeface="+mj-ea"/>
              </a:defRPr>
            </a:lvl1pPr>
          </a:lstStyle>
          <a:p>
            <a:r>
              <a:rPr lang="ja-JP" altLang="en-US" spc="50" dirty="0" sz="1800"/>
              <a:t>後継者不在およびさらなる企業の発展</a:t>
            </a:r>
          </a:p>
        </p:txBody>
      </p:sp>
      <p:sp>
        <p:nvSpPr>
          <p:cNvPr id="267" name="正方形/長方形 266">
            <a:extLst>
              <a:ext uri="{FF2B5EF4-FFF2-40B4-BE49-F238E27FC236}">
                <a16:creationId xmlns:a16="http://schemas.microsoft.com/office/drawing/2014/main" id="{5C906CE1-F422-F0CF-35F9-FA21CDF60987}"/>
              </a:ext>
            </a:extLst>
          </p:cNvPr>
          <p:cNvSpPr/>
          <p:nvPr/>
        </p:nvSpPr>
        <p:spPr>
          <a:xfrm>
            <a:off x="908477" y="5826195"/>
            <a:ext cx="1780804"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b="1" spc="70" dirty="0">
                <a:solidFill>
                  <a:schemeClr val="bg1"/>
                </a:solidFill>
                <a:latin typeface="+mj-ea"/>
                <a:ea typeface="+mj-ea"/>
              </a:rPr>
              <a:t>その他</a:t>
            </a:r>
            <a:endParaRPr lang="en-US" altLang="ja-JP" b="1" spc="70" dirty="0">
              <a:solidFill>
                <a:schemeClr val="bg1"/>
              </a:solidFill>
              <a:latin typeface="+mj-ea"/>
              <a:ea typeface="+mj-ea"/>
            </a:endParaRPr>
          </a:p>
        </p:txBody>
      </p:sp>
      <p:sp>
        <p:nvSpPr>
          <p:cNvPr id="268" name="正方形/長方形 267">
            <a:extLst>
              <a:ext uri="{FF2B5EF4-FFF2-40B4-BE49-F238E27FC236}">
                <a16:creationId xmlns:a16="http://schemas.microsoft.com/office/drawing/2014/main" id="{46529E79-2433-FBD9-6238-E748A585579E}"/>
              </a:ext>
            </a:extLst>
          </p:cNvPr>
          <p:cNvSpPr/>
          <p:nvPr/>
        </p:nvSpPr>
        <p:spPr>
          <a:xfrm>
            <a:off x="908477" y="6264536"/>
            <a:ext cx="1780804" cy="36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sz="1800" b="1" spc="70" dirty="0">
                <a:solidFill>
                  <a:schemeClr val="tx2"/>
                </a:solidFill>
                <a:latin typeface="+mj-ea"/>
                <a:ea typeface="+mj-ea"/>
              </a:rPr>
              <a:t>譲渡理由</a:t>
            </a:r>
          </a:p>
        </p:txBody>
      </p:sp>
      <p:sp>
        <p:nvSpPr>
          <p:cNvPr id="266" name="二等辺三角形 265">
            <a:extLst>
              <a:ext uri="{FF2B5EF4-FFF2-40B4-BE49-F238E27FC236}">
                <a16:creationId xmlns:a16="http://schemas.microsoft.com/office/drawing/2014/main" id="{94757AC3-62D5-3E6F-15D0-8CC989986978}"/>
              </a:ext>
            </a:extLst>
          </p:cNvPr>
          <p:cNvSpPr/>
          <p:nvPr/>
        </p:nvSpPr>
        <p:spPr>
          <a:xfrm rot="5400000">
            <a:off x="3953282" y="6089762"/>
            <a:ext cx="613305" cy="245539"/>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EAEF2-738C-97B3-4696-F3BB344E559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D6C9D74-25B9-202B-100C-14E88F8A35B4}"/>
              </a:ext>
            </a:extLst>
          </p:cNvPr>
          <p:cNvSpPr>
            <a:spLocks noGrp="1"/>
          </p:cNvSpPr>
          <p:nvPr>
            <p:ph type="title"/>
          </p:nvPr>
        </p:nvSpPr>
        <p:spPr>
          <a:xfrm>
            <a:off x="989013" y="3656161"/>
            <a:ext cx="9221787" cy="615553"/>
          </a:xfrm>
        </p:spPr>
        <p:txBody>
          <a:bodyPr/>
          <a:lstStyle/>
          <a:p>
            <a:r>
              <a:rPr lang="ja-JP" altLang="en-US" dirty="0"/>
              <a:t>事業概要</a:t>
            </a:r>
            <a:endParaRPr lang="en-US" altLang="ja-JP" dirty="0"/>
          </a:p>
        </p:txBody>
      </p:sp>
    </p:spTree>
    <p:extLst>
      <p:ext uri="{BB962C8B-B14F-4D97-AF65-F5344CB8AC3E}">
        <p14:creationId xmlns:p14="http://schemas.microsoft.com/office/powerpoint/2010/main" val="40851993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DDAF01-C12B-9043-B114-455CAA33D0F7}"/>
            </a:ext>
          </a:extLst>
        </p:cNvPr>
        <p:cNvGrpSpPr/>
        <p:nvPr/>
      </p:nvGrpSpPr>
      <p:grpSpPr>
        <a:xfrm>
          <a:off x="0" y="0"/>
          <a:ext cx="0" cy="0"/>
          <a:chOff x="0" y="0"/>
          <a:chExt cx="0" cy="0"/>
        </a:xfrm>
      </p:grpSpPr>
      <p:sp>
        <p:nvSpPr>
          <p:cNvPr id="5" name="正方形/長方形 4">
            <a:extLst>
              <a:ext uri="{FF2B5EF4-FFF2-40B4-BE49-F238E27FC236}">
                <a16:creationId xmlns:a16="http://schemas.microsoft.com/office/drawing/2014/main" id="{E743677C-E154-B684-80CF-3F2817127171}"/>
              </a:ext>
            </a:extLst>
          </p:cNvPr>
          <p:cNvSpPr/>
          <p:nvPr/>
        </p:nvSpPr>
        <p:spPr>
          <a:xfrm>
            <a:off x="449262" y="1481694"/>
            <a:ext cx="2160000" cy="5472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tIns="180000" rtlCol="0" anchor="t"/>
          <a:lstStyle/>
          <a:p>
            <a:pPr algn="ctr"/>
            <a:r>
              <a:rPr kumimoji="1" lang="ja-JP" altLang="en-US" sz="1800" b="1" spc="100" dirty="0">
                <a:solidFill>
                  <a:schemeClr val="tx1"/>
                </a:solidFill>
                <a:latin typeface="+mj-ea"/>
                <a:ea typeface="+mj-ea"/>
              </a:rPr>
              <a:t>主要仕入先</a:t>
            </a:r>
          </a:p>
        </p:txBody>
      </p:sp>
      <p:sp>
        <p:nvSpPr>
          <p:cNvPr id="17" name="正方形/長方形 16">
            <a:extLst>
              <a:ext uri="{FF2B5EF4-FFF2-40B4-BE49-F238E27FC236}">
                <a16:creationId xmlns:a16="http://schemas.microsoft.com/office/drawing/2014/main" id="{6FD21BE9-2FB9-6DA0-CBB4-78D9B31143EA}"/>
              </a:ext>
            </a:extLst>
          </p:cNvPr>
          <p:cNvSpPr/>
          <p:nvPr/>
        </p:nvSpPr>
        <p:spPr>
          <a:xfrm>
            <a:off x="8082550" y="1463675"/>
            <a:ext cx="2160000" cy="5472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tIns="180000" rtlCol="0" anchor="t"/>
          <a:lstStyle/>
          <a:p>
            <a:pPr algn="ctr"/>
            <a:r>
              <a:rPr kumimoji="1" lang="ja-JP" altLang="en-US" sz="1800" b="1" spc="100">
                <a:solidFill>
                  <a:schemeClr val="tx1"/>
                </a:solidFill>
                <a:latin typeface="+mj-ea"/>
                <a:ea typeface="+mj-ea"/>
              </a:rPr>
              <a:t>主要販売先</a:t>
            </a:r>
          </a:p>
        </p:txBody>
      </p:sp>
      <p:sp>
        <p:nvSpPr>
          <p:cNvPr id="21" name="正方形/長方形 20">
            <a:extLst>
              <a:ext uri="{FF2B5EF4-FFF2-40B4-BE49-F238E27FC236}">
                <a16:creationId xmlns:a16="http://schemas.microsoft.com/office/drawing/2014/main" id="{95D20CE9-562D-5FB0-80DD-F3BD3CE1D49C}"/>
              </a:ext>
            </a:extLst>
          </p:cNvPr>
          <p:cNvSpPr/>
          <p:nvPr/>
        </p:nvSpPr>
        <p:spPr>
          <a:xfrm>
            <a:off x="2933906" y="1487165"/>
            <a:ext cx="4824000" cy="401648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tIns="180000" rtlCol="0" anchor="t"/>
          <a:lstStyle/>
          <a:p>
            <a:pPr algn="ctr"/>
            <a:r>
              <a:rPr kumimoji="1" lang="ja-JP" altLang="en-US" sz="1800" b="1" spc="100" dirty="0">
                <a:solidFill>
                  <a:schemeClr val="tx2"/>
                </a:solidFill>
                <a:latin typeface="+mj-ea"/>
                <a:ea typeface="+mj-ea"/>
              </a:rPr>
              <a:t>対象会社</a:t>
            </a:r>
          </a:p>
        </p:txBody>
      </p:sp>
      <p:cxnSp>
        <p:nvCxnSpPr>
          <p:cNvPr id="24" name="直線コネクタ 23">
            <a:extLst>
              <a:ext uri="{FF2B5EF4-FFF2-40B4-BE49-F238E27FC236}">
                <a16:creationId xmlns:a16="http://schemas.microsoft.com/office/drawing/2014/main" id="{F5D312B4-FD5F-5D39-501F-FA5FF893E938}"/>
              </a:ext>
            </a:extLst>
          </p:cNvPr>
          <p:cNvCxnSpPr>
            <a:cxnSpLocks/>
          </p:cNvCxnSpPr>
          <p:nvPr/>
        </p:nvCxnSpPr>
        <p:spPr>
          <a:xfrm>
            <a:off x="2933907" y="1467042"/>
            <a:ext cx="4824000" cy="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4" name="タイトル 3">
            <a:extLst>
              <a:ext uri="{FF2B5EF4-FFF2-40B4-BE49-F238E27FC236}">
                <a16:creationId xmlns:a16="http://schemas.microsoft.com/office/drawing/2014/main" id="{E91DD8E0-55E1-1614-7417-2E76D253FEAD}"/>
              </a:ext>
            </a:extLst>
          </p:cNvPr>
          <p:cNvSpPr>
            <a:spLocks noGrp="1"/>
          </p:cNvSpPr>
          <p:nvPr>
            <p:ph type="ctrTitle"/>
          </p:nvPr>
        </p:nvSpPr>
        <p:spPr/>
        <p:txBody>
          <a:bodyPr/>
          <a:lstStyle/>
          <a:p>
            <a:r>
              <a:rPr lang="ja-JP" altLang="en-US" dirty="0"/>
              <a:t>事業内容</a:t>
            </a:r>
          </a:p>
        </p:txBody>
      </p:sp>
      <p:sp>
        <p:nvSpPr>
          <p:cNvPr id="20" name="タイトル 1">
            <a:extLst>
              <a:ext uri="{FF2B5EF4-FFF2-40B4-BE49-F238E27FC236}">
                <a16:creationId xmlns:a16="http://schemas.microsoft.com/office/drawing/2014/main" id="{96C927CB-5A9B-C47E-368A-3579B2595C1E}"/>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ja-JP" altLang="en-US" dirty="0"/>
              <a:t>事業概要</a:t>
            </a:r>
          </a:p>
        </p:txBody>
      </p:sp>
      <p:cxnSp>
        <p:nvCxnSpPr>
          <p:cNvPr id="16" name="直線コネクタ 15">
            <a:extLst>
              <a:ext uri="{FF2B5EF4-FFF2-40B4-BE49-F238E27FC236}">
                <a16:creationId xmlns:a16="http://schemas.microsoft.com/office/drawing/2014/main" id="{FD5050F0-3C11-BC61-1EAA-56B714331E84}"/>
              </a:ext>
            </a:extLst>
          </p:cNvPr>
          <p:cNvCxnSpPr>
            <a:cxnSpLocks/>
          </p:cNvCxnSpPr>
          <p:nvPr/>
        </p:nvCxnSpPr>
        <p:spPr>
          <a:xfrm>
            <a:off x="449263" y="1467042"/>
            <a:ext cx="2160000" cy="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9" name="直線コネクタ 18">
            <a:extLst>
              <a:ext uri="{FF2B5EF4-FFF2-40B4-BE49-F238E27FC236}">
                <a16:creationId xmlns:a16="http://schemas.microsoft.com/office/drawing/2014/main" id="{4E6E5648-22F1-DE1E-6020-D47989377CA9}"/>
              </a:ext>
            </a:extLst>
          </p:cNvPr>
          <p:cNvCxnSpPr>
            <a:cxnSpLocks/>
          </p:cNvCxnSpPr>
          <p:nvPr/>
        </p:nvCxnSpPr>
        <p:spPr>
          <a:xfrm>
            <a:off x="8082550" y="1467042"/>
            <a:ext cx="2160000" cy="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3" name="二等辺三角形 2">
            <a:extLst>
              <a:ext uri="{FF2B5EF4-FFF2-40B4-BE49-F238E27FC236}">
                <a16:creationId xmlns:a16="http://schemas.microsoft.com/office/drawing/2014/main" id="{B557BBBE-1218-1342-7E2D-CD72F7B39D2F}"/>
              </a:ext>
            </a:extLst>
          </p:cNvPr>
          <p:cNvSpPr/>
          <p:nvPr/>
        </p:nvSpPr>
        <p:spPr>
          <a:xfrm rot="5400000">
            <a:off x="7612581" y="4076906"/>
            <a:ext cx="613305" cy="245539"/>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
        <p:nvSpPr>
          <p:cNvPr id="9" name="二等辺三角形 8">
            <a:extLst>
              <a:ext uri="{FF2B5EF4-FFF2-40B4-BE49-F238E27FC236}">
                <a16:creationId xmlns:a16="http://schemas.microsoft.com/office/drawing/2014/main" id="{91745C76-6270-D9EC-0862-A4072EDFED90}"/>
              </a:ext>
            </a:extLst>
          </p:cNvPr>
          <p:cNvSpPr/>
          <p:nvPr/>
        </p:nvSpPr>
        <p:spPr>
          <a:xfrm rot="5400000">
            <a:off x="2470990" y="4076906"/>
            <a:ext cx="613305" cy="245539"/>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
        <p:nvSpPr>
          <p:cNvPr id="12" name="正方形/長方形 11">
            <a:extLst>
              <a:ext uri="{FF2B5EF4-FFF2-40B4-BE49-F238E27FC236}">
                <a16:creationId xmlns:a16="http://schemas.microsoft.com/office/drawing/2014/main" id="{29C58FFC-1A01-A8F0-166D-D51C0B6A2C66}"/>
              </a:ext>
            </a:extLst>
          </p:cNvPr>
          <p:cNvSpPr/>
          <p:nvPr/>
        </p:nvSpPr>
        <p:spPr>
          <a:xfrm>
            <a:off x="2933906" y="5890769"/>
            <a:ext cx="4824000" cy="103282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tIns="180000" rtlCol="0" anchor="ctr"/>
          <a:lstStyle/>
          <a:p>
            <a:pPr algn="ctr"/>
            <a:r>
              <a:rPr kumimoji="1" lang="ja-JP" altLang="en-US" sz="1000" b="1" spc="100" dirty="0">
                <a:solidFill>
                  <a:schemeClr val="tx1"/>
                </a:solidFill>
                <a:latin typeface="+mj-ea"/>
                <a:ea typeface="+mj-ea"/>
              </a:rPr>
              <a:t>物流：自社配送（東京向け出荷・一部の地元スーパー向け配送のみ外部運送会社を利用）</a:t>
            </a:r>
          </a:p>
        </p:txBody>
      </p:sp>
      <p:cxnSp>
        <p:nvCxnSpPr>
          <p:cNvPr id="14" name="直線コネクタ 13">
            <a:extLst>
              <a:ext uri="{FF2B5EF4-FFF2-40B4-BE49-F238E27FC236}">
                <a16:creationId xmlns:a16="http://schemas.microsoft.com/office/drawing/2014/main" id="{0FD3DDF0-DCBD-CE14-F158-968514C4BE62}"/>
              </a:ext>
            </a:extLst>
          </p:cNvPr>
          <p:cNvCxnSpPr>
            <a:cxnSpLocks/>
          </p:cNvCxnSpPr>
          <p:nvPr/>
        </p:nvCxnSpPr>
        <p:spPr>
          <a:xfrm>
            <a:off x="2933906" y="5890769"/>
            <a:ext cx="4862558" cy="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35" name="字幕 13">
            <a:extLst>
              <a:ext uri="{FF2B5EF4-FFF2-40B4-BE49-F238E27FC236}">
                <a16:creationId xmlns:a16="http://schemas.microsoft.com/office/drawing/2014/main" id="{999986B5-FEED-86D6-9A2B-D6BEF4A1BD44}"/>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a:ea typeface="游ゴシック"/>
              </a:rPr>
              <a:t>近郷農家の持込・当社集荷と県内外の市場からの仕入で品揃えを確保し、セリ・相対と直接販売で地元へ供給。地元で捌き切れない過剰分は豊洲市場・他県へ販売している。</a:t>
            </a:r>
          </a:p>
        </p:txBody>
      </p:sp>
      <p:sp>
        <p:nvSpPr>
          <p:cNvPr id="36" name="TextBox 35"/>
          <p:cNvSpPr txBox="1"/>
          <p:nvPr/>
        </p:nvSpPr>
        <p:spPr>
          <a:xfrm>
            <a:off x="502920" y="2011680"/>
            <a:ext cx="2057400" cy="4114800"/>
          </a:xfrm>
          <a:prstGeom prst="rect">
            <a:avLst/>
          </a:prstGeom>
          <a:noFill/>
        </p:spPr>
        <p:txBody>
          <a:bodyPr wrap="square" lIns="0" rIns="0" tIns="0" bIns="0" anchor="t">
            <a:spAutoFit/>
          </a:bodyPr>
          <a:lstStyle/>
          <a:p>
            <a:pPr algn="l">
              <a:spcAft>
                <a:spcPts val="300"/>
              </a:spcAft>
            </a:pPr>
            <a:r>
              <a:rPr sz="900" b="0">
                <a:solidFill>
                  <a:srgbClr val="000000"/>
                </a:solidFill>
                <a:latin typeface="游ゴシック"/>
                <a:ea typeface="游ゴシック"/>
              </a:rPr>
              <a:t>■ 近郷の農家（持込30〜40%・残りは当社集荷）</a:t>
            </a:r>
          </a:p>
          <a:p>
            <a:pPr algn="l">
              <a:spcAft>
                <a:spcPts val="300"/>
              </a:spcAft>
            </a:pPr>
            <a:r>
              <a:rPr sz="900" b="0">
                <a:solidFill>
                  <a:srgbClr val="000000"/>
                </a:solidFill>
                <a:latin typeface="游ゴシック"/>
                <a:ea typeface="游ゴシック"/>
              </a:rPr>
              <a:t>■ 丸果庄内青果(株)</a:t>
            </a:r>
          </a:p>
          <a:p>
            <a:pPr algn="l">
              <a:spcAft>
                <a:spcPts val="300"/>
              </a:spcAft>
            </a:pPr>
            <a:r>
              <a:rPr sz="900" b="0">
                <a:solidFill>
                  <a:srgbClr val="000000"/>
                </a:solidFill>
                <a:latin typeface="游ゴシック"/>
                <a:ea typeface="游ゴシック"/>
              </a:rPr>
              <a:t>■ (株)庄果</a:t>
            </a:r>
          </a:p>
          <a:p>
            <a:pPr algn="l">
              <a:spcAft>
                <a:spcPts val="300"/>
              </a:spcAft>
            </a:pPr>
            <a:r>
              <a:rPr sz="900" b="0">
                <a:solidFill>
                  <a:srgbClr val="000000"/>
                </a:solidFill>
                <a:latin typeface="游ゴシック"/>
                <a:ea typeface="游ゴシック"/>
              </a:rPr>
              <a:t>　（公設庄内青果物地方卸売市場：三川町）</a:t>
            </a:r>
          </a:p>
          <a:p>
            <a:pPr algn="l">
              <a:spcAft>
                <a:spcPts val="300"/>
              </a:spcAft>
            </a:pPr>
            <a:r>
              <a:rPr sz="900" b="0">
                <a:solidFill>
                  <a:srgbClr val="000000"/>
                </a:solidFill>
                <a:latin typeface="游ゴシック"/>
                <a:ea typeface="游ゴシック"/>
              </a:rPr>
              <a:t>■ 長井中央青果(株)</a:t>
            </a:r>
          </a:p>
          <a:p>
            <a:pPr algn="l">
              <a:spcAft>
                <a:spcPts val="300"/>
              </a:spcAft>
            </a:pPr>
            <a:r>
              <a:rPr sz="900" b="0">
                <a:solidFill>
                  <a:srgbClr val="000000"/>
                </a:solidFill>
                <a:latin typeface="游ゴシック"/>
                <a:ea typeface="游ゴシック"/>
              </a:rPr>
              <a:t>■ (株)マルト直治郎商店</a:t>
            </a:r>
          </a:p>
          <a:p>
            <a:pPr algn="l">
              <a:spcAft>
                <a:spcPts val="300"/>
              </a:spcAft>
            </a:pPr>
            <a:r>
              <a:rPr sz="900" b="0">
                <a:solidFill>
                  <a:srgbClr val="000000"/>
                </a:solidFill>
                <a:latin typeface="游ゴシック"/>
                <a:ea typeface="游ゴシック"/>
              </a:rPr>
              <a:t>■ 成田食品(株)（福島県）</a:t>
            </a:r>
          </a:p>
          <a:p>
            <a:pPr algn="l">
              <a:spcAft>
                <a:spcPts val="300"/>
              </a:spcAft>
            </a:pPr>
            <a:r>
              <a:rPr sz="900" b="0">
                <a:solidFill>
                  <a:srgbClr val="000000"/>
                </a:solidFill>
                <a:latin typeface="游ゴシック"/>
                <a:ea typeface="游ゴシック"/>
              </a:rPr>
              <a:t>■ (株)ファーマインド（東京都）</a:t>
            </a:r>
          </a:p>
          <a:p>
            <a:pPr algn="l">
              <a:spcAft>
                <a:spcPts val="300"/>
              </a:spcAft>
            </a:pPr>
            <a:r>
              <a:rPr sz="900" b="0">
                <a:solidFill>
                  <a:srgbClr val="000000"/>
                </a:solidFill>
                <a:latin typeface="游ゴシック"/>
                <a:ea typeface="游ゴシック"/>
              </a:rPr>
              <a:t>■ (株)東根農産センター</a:t>
            </a:r>
          </a:p>
          <a:p>
            <a:pPr algn="l">
              <a:spcAft>
                <a:spcPts val="300"/>
              </a:spcAft>
            </a:pPr>
            <a:r>
              <a:rPr sz="900" b="0">
                <a:solidFill>
                  <a:srgbClr val="000000"/>
                </a:solidFill>
                <a:latin typeface="游ゴシック"/>
                <a:ea typeface="游ゴシック"/>
              </a:rPr>
              <a:t>■ 関東の仲卸業者（12月〜正月）</a:t>
            </a:r>
          </a:p>
        </p:txBody>
      </p:sp>
      <p:sp>
        <p:nvSpPr>
          <p:cNvPr id="37" name="TextBox 36"/>
          <p:cNvSpPr txBox="1"/>
          <p:nvPr/>
        </p:nvSpPr>
        <p:spPr>
          <a:xfrm>
            <a:off x="8138160" y="2011680"/>
            <a:ext cx="2057400" cy="4114800"/>
          </a:xfrm>
          <a:prstGeom prst="rect">
            <a:avLst/>
          </a:prstGeom>
          <a:noFill/>
        </p:spPr>
        <p:txBody>
          <a:bodyPr wrap="square" lIns="0" rIns="0" tIns="0" bIns="0" anchor="t">
            <a:spAutoFit/>
          </a:bodyPr>
          <a:lstStyle/>
          <a:p>
            <a:pPr algn="l">
              <a:spcAft>
                <a:spcPts val="300"/>
              </a:spcAft>
            </a:pPr>
            <a:r>
              <a:rPr sz="900" b="0">
                <a:solidFill>
                  <a:srgbClr val="000000"/>
                </a:solidFill>
                <a:latin typeface="游ゴシック"/>
                <a:ea typeface="游ゴシック"/>
              </a:rPr>
              <a:t>■ (株)主婦の店（量販店）</a:t>
            </a:r>
          </a:p>
          <a:p>
            <a:pPr algn="l">
              <a:spcAft>
                <a:spcPts val="300"/>
              </a:spcAft>
            </a:pPr>
            <a:r>
              <a:rPr sz="900" b="0">
                <a:solidFill>
                  <a:srgbClr val="000000"/>
                </a:solidFill>
                <a:latin typeface="游ゴシック"/>
                <a:ea typeface="游ゴシック"/>
              </a:rPr>
              <a:t>■ 生活協同組合共立社</a:t>
            </a:r>
          </a:p>
          <a:p>
            <a:pPr algn="l">
              <a:spcAft>
                <a:spcPts val="300"/>
              </a:spcAft>
            </a:pPr>
            <a:r>
              <a:rPr sz="900" b="0">
                <a:solidFill>
                  <a:srgbClr val="000000"/>
                </a:solidFill>
                <a:latin typeface="游ゴシック"/>
                <a:ea typeface="游ゴシック"/>
              </a:rPr>
              <a:t>■ 生協連合会アイチョイス</a:t>
            </a:r>
          </a:p>
          <a:p>
            <a:pPr algn="l">
              <a:spcAft>
                <a:spcPts val="300"/>
              </a:spcAft>
            </a:pPr>
            <a:r>
              <a:rPr sz="900" b="0">
                <a:solidFill>
                  <a:srgbClr val="000000"/>
                </a:solidFill>
                <a:latin typeface="游ゴシック"/>
                <a:ea typeface="游ゴシック"/>
              </a:rPr>
              <a:t>■ 小島商店</a:t>
            </a:r>
          </a:p>
          <a:p>
            <a:pPr algn="l">
              <a:spcAft>
                <a:spcPts val="300"/>
              </a:spcAft>
            </a:pPr>
            <a:r>
              <a:rPr sz="900" b="0">
                <a:solidFill>
                  <a:srgbClr val="000000"/>
                </a:solidFill>
                <a:latin typeface="游ゴシック"/>
                <a:ea typeface="游ゴシック"/>
              </a:rPr>
              <a:t>■ 給食センター</a:t>
            </a:r>
          </a:p>
          <a:p>
            <a:pPr algn="l">
              <a:spcAft>
                <a:spcPts val="300"/>
              </a:spcAft>
            </a:pPr>
            <a:r>
              <a:rPr sz="900" b="0">
                <a:solidFill>
                  <a:srgbClr val="000000"/>
                </a:solidFill>
                <a:latin typeface="游ゴシック"/>
                <a:ea typeface="游ゴシック"/>
              </a:rPr>
              <a:t>■ 長井中央青果(株)</a:t>
            </a:r>
          </a:p>
          <a:p>
            <a:pPr algn="l">
              <a:spcAft>
                <a:spcPts val="300"/>
              </a:spcAft>
            </a:pPr>
            <a:r>
              <a:rPr sz="900" b="0">
                <a:solidFill>
                  <a:srgbClr val="000000"/>
                </a:solidFill>
                <a:latin typeface="游ゴシック"/>
                <a:ea typeface="游ゴシック"/>
              </a:rPr>
              <a:t>■ 元青果</a:t>
            </a:r>
          </a:p>
          <a:p>
            <a:pPr algn="l">
              <a:spcAft>
                <a:spcPts val="300"/>
              </a:spcAft>
            </a:pPr>
            <a:r>
              <a:rPr sz="900" b="0">
                <a:solidFill>
                  <a:srgbClr val="000000"/>
                </a:solidFill>
                <a:latin typeface="游ゴシック"/>
                <a:ea typeface="游ゴシック"/>
              </a:rPr>
              <a:t>■ 市場の仲卸業者・買参人</a:t>
            </a:r>
          </a:p>
          <a:p>
            <a:pPr algn="l">
              <a:spcAft>
                <a:spcPts val="300"/>
              </a:spcAft>
            </a:pPr>
            <a:r>
              <a:rPr sz="900" b="0">
                <a:solidFill>
                  <a:srgbClr val="000000"/>
                </a:solidFill>
                <a:latin typeface="游ゴシック"/>
                <a:ea typeface="游ゴシック"/>
              </a:rPr>
              <a:t>■ 豊洲市場・県外市場（過剰分）</a:t>
            </a:r>
          </a:p>
          <a:p>
            <a:pPr algn="l">
              <a:spcAft>
                <a:spcPts val="300"/>
              </a:spcAft>
            </a:pPr>
            <a:r>
              <a:rPr sz="900" b="0">
                <a:solidFill>
                  <a:srgbClr val="000000"/>
                </a:solidFill>
                <a:latin typeface="游ゴシック"/>
                <a:ea typeface="游ゴシック"/>
              </a:rPr>
              <a:t>■ ゲームセンター（景品用）</a:t>
            </a:r>
          </a:p>
        </p:txBody>
      </p:sp>
      <p:sp>
        <p:nvSpPr>
          <p:cNvPr id="38" name="Rectangle 37"/>
          <p:cNvSpPr/>
          <p:nvPr/>
        </p:nvSpPr>
        <p:spPr>
          <a:xfrm>
            <a:off x="3154680" y="2084831"/>
            <a:ext cx="4343400" cy="731520"/>
          </a:xfrm>
          <a:prstGeom prst="rect">
            <a:avLst/>
          </a:prstGeom>
          <a:solidFill>
            <a:srgbClr val="FFFFFF"/>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73152" bIns="73152"/>
          <a:lstStyle/>
          <a:p>
            <a:pPr algn="l"/>
            <a:r>
              <a:rPr sz="1050" b="1">
                <a:solidFill>
                  <a:srgbClr val="000000"/>
                </a:solidFill>
                <a:latin typeface="游ゴシック"/>
                <a:ea typeface="游ゴシック"/>
              </a:rPr>
              <a:t>青果卸売事業（買付販売）</a:t>
            </a:r>
          </a:p>
          <a:p>
            <a:pPr algn="l"/>
            <a:r>
              <a:rPr sz="900" b="0">
                <a:solidFill>
                  <a:srgbClr val="000000"/>
                </a:solidFill>
                <a:latin typeface="游ゴシック"/>
                <a:ea typeface="游ゴシック"/>
              </a:rPr>
              <a:t>野菜・果実を買い付けて販売（総額計上）</a:t>
            </a:r>
          </a:p>
        </p:txBody>
      </p:sp>
      <p:sp>
        <p:nvSpPr>
          <p:cNvPr id="39" name="Rectangle 38"/>
          <p:cNvSpPr/>
          <p:nvPr/>
        </p:nvSpPr>
        <p:spPr>
          <a:xfrm>
            <a:off x="3154680" y="2926079"/>
            <a:ext cx="4343400" cy="731520"/>
          </a:xfrm>
          <a:prstGeom prst="rect">
            <a:avLst/>
          </a:prstGeom>
          <a:solidFill>
            <a:srgbClr val="FFFFFF"/>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73152" bIns="73152"/>
          <a:lstStyle/>
          <a:p>
            <a:pPr algn="l"/>
            <a:r>
              <a:rPr sz="1050" b="1">
                <a:solidFill>
                  <a:srgbClr val="000000"/>
                </a:solidFill>
                <a:latin typeface="游ゴシック"/>
                <a:ea typeface="游ゴシック"/>
              </a:rPr>
              <a:t>青果卸売事業（受託販売）</a:t>
            </a:r>
          </a:p>
          <a:p>
            <a:pPr algn="l"/>
            <a:r>
              <a:rPr sz="900" b="0">
                <a:solidFill>
                  <a:srgbClr val="000000"/>
                </a:solidFill>
                <a:latin typeface="游ゴシック"/>
                <a:ea typeface="游ゴシック"/>
              </a:rPr>
              <a:t>生産者の商品を預かり販売し、販売額の8.5%を手数料として収受（純額計上）</a:t>
            </a:r>
          </a:p>
        </p:txBody>
      </p:sp>
      <p:sp>
        <p:nvSpPr>
          <p:cNvPr id="40" name="Rectangle 39"/>
          <p:cNvSpPr/>
          <p:nvPr/>
        </p:nvSpPr>
        <p:spPr>
          <a:xfrm>
            <a:off x="3154680" y="3767328"/>
            <a:ext cx="4343400" cy="731520"/>
          </a:xfrm>
          <a:prstGeom prst="rect">
            <a:avLst/>
          </a:prstGeom>
          <a:solidFill>
            <a:srgbClr val="FFFFFF"/>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73152" bIns="73152"/>
          <a:lstStyle/>
          <a:p>
            <a:pPr algn="l"/>
            <a:r>
              <a:rPr sz="1050" b="1">
                <a:solidFill>
                  <a:srgbClr val="000000"/>
                </a:solidFill>
                <a:latin typeface="游ゴシック"/>
                <a:ea typeface="游ゴシック"/>
              </a:rPr>
              <a:t>関連サービス</a:t>
            </a:r>
          </a:p>
          <a:p>
            <a:pPr algn="l"/>
            <a:r>
              <a:rPr sz="900" b="0">
                <a:solidFill>
                  <a:srgbClr val="000000"/>
                </a:solidFill>
                <a:latin typeface="游ゴシック"/>
                <a:ea typeface="游ゴシック"/>
              </a:rPr>
              <a:t>小分け・包装、自社配送、(株)主婦の店の配送受託（配送額の約10%をセンター費として収受）</a:t>
            </a:r>
          </a:p>
        </p:txBody>
      </p:sp>
      <p:sp>
        <p:nvSpPr>
          <p:cNvPr id="41" name="Rectangle 40"/>
          <p:cNvSpPr/>
          <p:nvPr/>
        </p:nvSpPr>
        <p:spPr>
          <a:xfrm>
            <a:off x="3154680" y="4608576"/>
            <a:ext cx="4343400" cy="731520"/>
          </a:xfrm>
          <a:prstGeom prst="rect">
            <a:avLst/>
          </a:prstGeom>
          <a:solidFill>
            <a:srgbClr val="FFFFFF"/>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73152" bIns="73152"/>
          <a:lstStyle/>
          <a:p>
            <a:pPr algn="l"/>
            <a:r>
              <a:rPr sz="1050" b="1">
                <a:solidFill>
                  <a:srgbClr val="000000"/>
                </a:solidFill>
                <a:latin typeface="游ゴシック"/>
                <a:ea typeface="游ゴシック"/>
              </a:rPr>
              <a:t>資材販売</a:t>
            </a:r>
          </a:p>
          <a:p>
            <a:pPr algn="l"/>
            <a:r>
              <a:rPr sz="900" b="0">
                <a:solidFill>
                  <a:srgbClr val="000000"/>
                </a:solidFill>
                <a:latin typeface="游ゴシック"/>
                <a:ea typeface="游ゴシック"/>
              </a:rPr>
              <a:t>包装資材の販売（仕入資材の約8割は自社利用。肥料はほぼ取扱いなし）</a:t>
            </a:r>
          </a:p>
        </p:txBody>
      </p:sp>
      <p:sp>
        <p:nvSpPr>
          <p:cNvPr id="42" name="TextBox 41"/>
          <p:cNvSpPr txBox="1"/>
          <p:nvPr/>
        </p:nvSpPr>
        <p:spPr>
          <a:xfrm>
            <a:off x="8138160" y="6126480"/>
            <a:ext cx="2057400" cy="329184"/>
          </a:xfrm>
          <a:prstGeom prst="rect">
            <a:avLst/>
          </a:prstGeom>
          <a:noFill/>
        </p:spPr>
        <p:txBody>
          <a:bodyPr wrap="square" lIns="0" rIns="0" tIns="0" bIns="0" anchor="t">
            <a:spAutoFit/>
          </a:bodyPr>
          <a:lstStyle/>
          <a:p>
            <a:pPr algn="l"/>
            <a:r>
              <a:rPr sz="750" b="0">
                <a:solidFill>
                  <a:srgbClr val="000000"/>
                </a:solidFill>
                <a:latin typeface="游ゴシック"/>
                <a:ea typeface="游ゴシック"/>
              </a:rPr>
              <a:t>※社名は期末残高の上位先。</a:t>
            </a:r>
          </a:p>
          <a:p>
            <a:pPr algn="l"/>
            <a:r>
              <a:rPr sz="750" b="0">
                <a:solidFill>
                  <a:srgbClr val="000000"/>
                </a:solidFill>
                <a:latin typeface="游ゴシック"/>
                <a:ea typeface="游ゴシック"/>
              </a:rPr>
              <a:t>　取引規模は要確認。</a:t>
            </a:r>
          </a:p>
        </p:txBody>
      </p:sp>
    </p:spTree>
    <p:extLst>
      <p:ext uri="{BB962C8B-B14F-4D97-AF65-F5344CB8AC3E}">
        <p14:creationId xmlns:p14="http://schemas.microsoft.com/office/powerpoint/2010/main" val="5383831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20B1C5-D3FA-B80D-FCF0-3C49EF8E798D}"/>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C98E073B-FCE4-F6FA-66A7-29E757285F77}"/>
              </a:ext>
            </a:extLst>
          </p:cNvPr>
          <p:cNvSpPr>
            <a:spLocks noGrp="1"/>
          </p:cNvSpPr>
          <p:nvPr>
            <p:ph type="ctrTitle"/>
          </p:nvPr>
        </p:nvSpPr>
        <p:spPr/>
        <p:txBody>
          <a:bodyPr/>
          <a:lstStyle/>
          <a:p>
            <a:r>
              <a:rPr lang="ja-JP" altLang="en-US" dirty="0"/>
              <a:t>事業の仕組みと収益源</a:t>
            </a:r>
          </a:p>
        </p:txBody>
      </p:sp>
      <p:sp>
        <p:nvSpPr>
          <p:cNvPr id="2" name="タイトル 1">
            <a:extLst>
              <a:ext uri="{FF2B5EF4-FFF2-40B4-BE49-F238E27FC236}">
                <a16:creationId xmlns:a16="http://schemas.microsoft.com/office/drawing/2014/main" id="{1F33762E-23F4-8C5B-C467-2E3E3671C9B0}"/>
              </a:ext>
            </a:extLst>
          </p:cNvPr>
          <p:cNvSpPr txBox="1">
            <a:spLocks/>
          </p:cNvSpPr>
          <p:nvPr/>
        </p:nvSpPr>
        <p:spPr>
          <a:xfrm>
            <a:off x="8293101" y="252155"/>
            <a:ext cx="2057400" cy="184666"/>
          </a:xfrm>
          <a:prstGeom prst="rect">
            <a:avLst/>
          </a:prstGeom>
        </p:spPr>
        <p:txBody>
          <a:bodyPr vert="horz" wrap="square"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ja-JP" altLang="en-US" spc="0" dirty="0"/>
              <a:t>事業概要</a:t>
            </a:r>
          </a:p>
        </p:txBody>
      </p:sp>
      <p:sp>
        <p:nvSpPr>
          <p:cNvPr id="16" name="字幕 13">
            <a:extLst>
              <a:ext uri="{FF2B5EF4-FFF2-40B4-BE49-F238E27FC236}">
                <a16:creationId xmlns:a16="http://schemas.microsoft.com/office/drawing/2014/main" id="{7A1881B5-EF3F-935A-CE45-EAB497D19AED}"/>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a:ea typeface="游ゴシック"/>
              </a:rPr>
              <a:t>市場の開設者と卸売業者を一社で兼ね、買付販売と受託販売（手数料8.5%）の卸売に加え、配送受託のセンター費・資材販売で収益を補完する構造。</a:t>
            </a:r>
          </a:p>
        </p:txBody>
      </p:sp>
      <p:sp>
        <p:nvSpPr>
          <p:cNvPr id="17" name="Rectangle 16"/>
          <p:cNvSpPr/>
          <p:nvPr/>
        </p:nvSpPr>
        <p:spPr>
          <a:xfrm>
            <a:off x="448056" y="1783080"/>
            <a:ext cx="2103120" cy="274320"/>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000" b="1">
                <a:solidFill>
                  <a:srgbClr val="FFFFFF"/>
                </a:solidFill>
                <a:latin typeface="游ゴシック"/>
                <a:ea typeface="游ゴシック"/>
              </a:rPr>
              <a:t>出荷者・仕入先</a:t>
            </a:r>
          </a:p>
        </p:txBody>
      </p:sp>
      <p:sp>
        <p:nvSpPr>
          <p:cNvPr id="18" name="Rectangle 17"/>
          <p:cNvSpPr/>
          <p:nvPr/>
        </p:nvSpPr>
        <p:spPr>
          <a:xfrm>
            <a:off x="448056" y="2057400"/>
            <a:ext cx="2103120" cy="731520"/>
          </a:xfrm>
          <a:prstGeom prst="rect">
            <a:avLst/>
          </a:prstGeom>
          <a:solidFill>
            <a:srgbClr val="E1F3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900" b="0">
                <a:solidFill>
                  <a:srgbClr val="000000"/>
                </a:solidFill>
                <a:latin typeface="游ゴシック"/>
                <a:ea typeface="游ゴシック"/>
              </a:rPr>
              <a:t>近郷農家（持込・当社集荷）</a:t>
            </a:r>
          </a:p>
          <a:p>
            <a:pPr algn="ctr"/>
            <a:r>
              <a:rPr sz="900" b="0">
                <a:solidFill>
                  <a:srgbClr val="000000"/>
                </a:solidFill>
                <a:latin typeface="游ゴシック"/>
                <a:ea typeface="游ゴシック"/>
              </a:rPr>
              <a:t>他市場の卸売業者</a:t>
            </a:r>
          </a:p>
          <a:p>
            <a:pPr algn="ctr"/>
            <a:r>
              <a:rPr sz="900" b="0">
                <a:solidFill>
                  <a:srgbClr val="000000"/>
                </a:solidFill>
                <a:latin typeface="游ゴシック"/>
                <a:ea typeface="游ゴシック"/>
              </a:rPr>
              <a:t>関東の仲卸 等</a:t>
            </a:r>
          </a:p>
        </p:txBody>
      </p:sp>
      <p:sp>
        <p:nvSpPr>
          <p:cNvPr id="19" name="Rectangle 18"/>
          <p:cNvSpPr/>
          <p:nvPr/>
        </p:nvSpPr>
        <p:spPr>
          <a:xfrm>
            <a:off x="3063240" y="1554480"/>
            <a:ext cx="2834640" cy="274320"/>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000" b="1">
                <a:solidFill>
                  <a:srgbClr val="FFFFFF"/>
                </a:solidFill>
                <a:latin typeface="游ゴシック"/>
                <a:ea typeface="游ゴシック"/>
              </a:rPr>
              <a:t>株式会社鶴岡中央青果</a:t>
            </a:r>
          </a:p>
        </p:txBody>
      </p:sp>
      <p:sp>
        <p:nvSpPr>
          <p:cNvPr id="20" name="Rectangle 19"/>
          <p:cNvSpPr/>
          <p:nvPr/>
        </p:nvSpPr>
        <p:spPr>
          <a:xfrm>
            <a:off x="3063240" y="1828800"/>
            <a:ext cx="2834640" cy="1188720"/>
          </a:xfrm>
          <a:prstGeom prst="rect">
            <a:avLst/>
          </a:prstGeom>
          <a:solidFill>
            <a:srgbClr val="E1F3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900" b="0">
                <a:solidFill>
                  <a:srgbClr val="000000"/>
                </a:solidFill>
                <a:latin typeface="游ゴシック"/>
                <a:ea typeface="游ゴシック"/>
              </a:rPr>
              <a:t>地方卸売市場の開設者兼卸売業者</a:t>
            </a:r>
          </a:p>
          <a:p>
            <a:pPr algn="ctr"/>
            <a:r>
              <a:rPr sz="900" b="0">
                <a:solidFill>
                  <a:srgbClr val="000000"/>
                </a:solidFill>
                <a:latin typeface="游ゴシック"/>
                <a:ea typeface="游ゴシック"/>
              </a:rPr>
              <a:t>（鶴岡市宝田）</a:t>
            </a:r>
          </a:p>
        </p:txBody>
      </p:sp>
      <p:sp>
        <p:nvSpPr>
          <p:cNvPr id="21" name="Rectangle 20"/>
          <p:cNvSpPr/>
          <p:nvPr/>
        </p:nvSpPr>
        <p:spPr>
          <a:xfrm>
            <a:off x="6446520" y="1417320"/>
            <a:ext cx="2103120" cy="274320"/>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000" b="1">
                <a:solidFill>
                  <a:srgbClr val="FFFFFF"/>
                </a:solidFill>
                <a:latin typeface="游ゴシック"/>
                <a:ea typeface="游ゴシック"/>
              </a:rPr>
              <a:t>仲卸業者・買参人</a:t>
            </a:r>
          </a:p>
        </p:txBody>
      </p:sp>
      <p:sp>
        <p:nvSpPr>
          <p:cNvPr id="22" name="Rectangle 21"/>
          <p:cNvSpPr/>
          <p:nvPr/>
        </p:nvSpPr>
        <p:spPr>
          <a:xfrm>
            <a:off x="6446520" y="1691640"/>
            <a:ext cx="2103120" cy="731520"/>
          </a:xfrm>
          <a:prstGeom prst="rect">
            <a:avLst/>
          </a:prstGeom>
          <a:solidFill>
            <a:srgbClr val="E1F3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900" b="0">
                <a:solidFill>
                  <a:srgbClr val="000000"/>
                </a:solidFill>
                <a:latin typeface="游ゴシック"/>
                <a:ea typeface="游ゴシック"/>
              </a:rPr>
              <a:t>市場内でセリ・相対により購入</a:t>
            </a:r>
          </a:p>
        </p:txBody>
      </p:sp>
      <p:sp>
        <p:nvSpPr>
          <p:cNvPr id="23" name="Rectangle 22"/>
          <p:cNvSpPr/>
          <p:nvPr/>
        </p:nvSpPr>
        <p:spPr>
          <a:xfrm>
            <a:off x="6446520" y="2514600"/>
            <a:ext cx="2103120" cy="274320"/>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000" b="1">
                <a:solidFill>
                  <a:srgbClr val="FFFFFF"/>
                </a:solidFill>
                <a:latin typeface="游ゴシック"/>
                <a:ea typeface="游ゴシック"/>
              </a:rPr>
              <a:t>量販店・生協・給食 等</a:t>
            </a:r>
          </a:p>
        </p:txBody>
      </p:sp>
      <p:sp>
        <p:nvSpPr>
          <p:cNvPr id="24" name="Rectangle 23"/>
          <p:cNvSpPr/>
          <p:nvPr/>
        </p:nvSpPr>
        <p:spPr>
          <a:xfrm>
            <a:off x="6446520" y="2788920"/>
            <a:ext cx="2103120" cy="731520"/>
          </a:xfrm>
          <a:prstGeom prst="rect">
            <a:avLst/>
          </a:prstGeom>
          <a:solidFill>
            <a:srgbClr val="E1F3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900" b="0">
                <a:solidFill>
                  <a:srgbClr val="000000"/>
                </a:solidFill>
                <a:latin typeface="游ゴシック"/>
                <a:ea typeface="游ゴシック"/>
              </a:rPr>
              <a:t>当社から直接販売</a:t>
            </a:r>
          </a:p>
          <a:p>
            <a:pPr algn="ctr"/>
            <a:r>
              <a:rPr sz="900" b="0">
                <a:solidFill>
                  <a:srgbClr val="000000"/>
                </a:solidFill>
                <a:latin typeface="游ゴシック"/>
                <a:ea typeface="游ゴシック"/>
              </a:rPr>
              <a:t>過剰分は豊洲・他県へ</a:t>
            </a:r>
          </a:p>
        </p:txBody>
      </p:sp>
      <p:cxnSp>
        <p:nvCxnSpPr>
          <p:cNvPr id="25" name="Connector 24"/>
          <p:cNvCxnSpPr/>
          <p:nvPr/>
        </p:nvCxnSpPr>
        <p:spPr>
          <a:xfrm>
            <a:off x="2596896" y="2286000"/>
            <a:ext cx="420624" cy="0"/>
          </a:xfrm>
          <a:prstGeom prst="line">
            <a:avLst/>
          </a:prstGeom>
          <a:ln w="19050">
            <a:solidFill>
              <a:srgbClr val="0B304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5943600" y="1874519"/>
            <a:ext cx="457200" cy="0"/>
          </a:xfrm>
          <a:prstGeom prst="line">
            <a:avLst/>
          </a:prstGeom>
          <a:ln w="19050">
            <a:solidFill>
              <a:srgbClr val="0B304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943600" y="2926080"/>
            <a:ext cx="457200" cy="0"/>
          </a:xfrm>
          <a:prstGeom prst="line">
            <a:avLst/>
          </a:prstGeom>
          <a:ln w="19050">
            <a:solidFill>
              <a:srgbClr val="0B304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8732520" y="1417320"/>
            <a:ext cx="1600200" cy="1874519"/>
          </a:xfrm>
          <a:prstGeom prst="rect">
            <a:avLst/>
          </a:prstGeom>
          <a:solidFill>
            <a:srgbClr val="FFFFFF"/>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73152" bIns="73152"/>
          <a:lstStyle/>
          <a:p>
            <a:pPr algn="l"/>
            <a:r>
              <a:rPr sz="850" b="1">
                <a:solidFill>
                  <a:srgbClr val="000000"/>
                </a:solidFill>
                <a:latin typeface="游ゴシック"/>
                <a:ea typeface="游ゴシック"/>
              </a:rPr>
              <a:t>部門構成</a:t>
            </a:r>
          </a:p>
          <a:p>
            <a:pPr algn="l"/>
            <a:r>
              <a:rPr sz="850" b="0">
                <a:solidFill>
                  <a:srgbClr val="000000"/>
                </a:solidFill>
                <a:latin typeface="游ゴシック"/>
                <a:ea typeface="游ゴシック"/>
              </a:rPr>
              <a:t>野菜営業部／果実営業部／近郷部／集配部／パッケージ部／生花部／資材部／総務部</a:t>
            </a:r>
          </a:p>
        </p:txBody>
      </p:sp>
      <p:graphicFrame>
        <p:nvGraphicFramePr>
          <p:cNvPr id="29" name="表（売上構成!B4:E11）"/>
          <p:cNvGraphicFramePr>
            <a:graphicFrameLocks noGrp="1"/>
          </p:cNvGraphicFramePr>
          <p:nvPr/>
        </p:nvGraphicFramePr>
        <p:xfrm>
          <a:off x="448056" y="3611880"/>
          <a:ext cx="9793222" cy="1993900"/>
        </p:xfrm>
        <a:graphic>
          <a:graphicData uri="http://schemas.openxmlformats.org/drawingml/2006/table">
            <a:tbl>
              <a:tblPr firstRow="0" bandRow="0">
                <a:tableStyleId>{2D5ABB26-0587-4C30-8999-92F81FD0307C}</a:tableStyleId>
              </a:tblPr>
              <a:tblGrid>
                <a:gridCol w="1738742"/>
                <a:gridCol w="1052702"/>
                <a:gridCol w="732372"/>
                <a:gridCol w="6269406"/>
              </a:tblGrid>
              <a:tr h="190500">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900" b="0" i="0" dirty="0">
                          <a:solidFill>
                            <a:srgbClr val="000000"/>
                          </a:solidFill>
                          <a:latin typeface="游ゴシック"/>
                          <a:ea typeface="游ゴシック"/>
                        </a:rPr>
                        <a:t>(単位：千円)</a:t>
                      </a:r>
                      <a:endParaRPr lang="ja-JP" altLang="en-US" sz="90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r>
              <a:tr h="355600">
                <a:tc>
                  <a:txBody>
                    <a:bodyPr/>
                    <a:lstStyle/>
                    <a:p>
                      <a:pPr algn="ctr" fontAlgn="ctr"/>
                      <a:r>
                        <a:rPr lang="ja-JP" altLang="en-US" sz="1000" b="0" i="0" dirty="0">
                          <a:solidFill>
                            <a:srgbClr val="FFFFFF"/>
                          </a:solidFill>
                          <a:latin typeface="游ゴシック"/>
                          <a:ea typeface="游ゴシック"/>
                        </a:rPr>
                        <a:t>収益区分</a:t>
                      </a:r>
                      <a:endParaRPr lang="ja-JP" altLang="en-US" sz="1000" b="0" i="0" dirty="0">
                        <a:solidFill>
                          <a:srgbClr val="FFFFFF"/>
                        </a:solidFill>
                        <a:latin typeface="游ゴシック"/>
                        <a:ea typeface="游ゴシック"/>
                      </a:endParaRPr>
                    </a:p>
                    <a:p>
                      <a:pPr algn="ctr" fontAlgn="ctr"/>
                      <a:r>
                        <a:rPr lang="ja-JP" altLang="en-US" sz="1000" b="0" i="0" dirty="0">
                          <a:solidFill>
                            <a:srgbClr val="FFFFFF"/>
                          </a:solidFill>
                          <a:latin typeface="游ゴシック"/>
                          <a:ea typeface="游ゴシック"/>
                        </a:rPr>
                        <a:t>（2026年4〜7月）</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金額</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構成比</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内容</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r>
              <a:tr h="241300">
                <a:tc>
                  <a:txBody>
                    <a:bodyPr/>
                    <a:lstStyle/>
                    <a:p>
                      <a:pPr algn="l" fontAlgn="ctr"/>
                      <a:r>
                        <a:rPr lang="ja-JP" altLang="en-US" sz="1050" b="0" i="0" dirty="0">
                          <a:solidFill>
                            <a:srgbClr val="000000"/>
                          </a:solidFill>
                          <a:latin typeface="游ゴシック"/>
                          <a:ea typeface="游ゴシック"/>
                        </a:rPr>
                        <a:t>商品売上高</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1050" b="0" i="0" dirty="0">
                          <a:solidFill>
                            <a:srgbClr val="000000"/>
                          </a:solidFill>
                          <a:latin typeface="Arial"/>
                          <a:ea typeface="游ゴシック Medium"/>
                        </a:rPr>
                        <a:t>375,961</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91.4%</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青果物の販売（買付販売は総額、受託販売は2019年10月以降手数料のみの純額で計上）</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41300">
                <a:tc>
                  <a:txBody>
                    <a:bodyPr/>
                    <a:lstStyle/>
                    <a:p>
                      <a:pPr algn="l" fontAlgn="ctr"/>
                      <a:r>
                        <a:rPr lang="ja-JP" altLang="en-US" sz="1050" b="0" i="0" dirty="0">
                          <a:solidFill>
                            <a:srgbClr val="000000"/>
                          </a:solidFill>
                          <a:latin typeface="游ゴシック"/>
                          <a:ea typeface="游ゴシック"/>
                        </a:rPr>
                        <a:t>委託手数料収入</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1050" b="0" i="0" dirty="0">
                          <a:solidFill>
                            <a:srgbClr val="000000"/>
                          </a:solidFill>
                          <a:latin typeface="Arial"/>
                          <a:ea typeface="游ゴシック Medium"/>
                        </a:rPr>
                        <a:t>12,564</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3.1%</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受託販売の手数料。生産者の商品を預かり、販売後に販売額の8.5%を収受</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41300">
                <a:tc>
                  <a:txBody>
                    <a:bodyPr/>
                    <a:lstStyle/>
                    <a:p>
                      <a:pPr algn="l" fontAlgn="ctr"/>
                      <a:r>
                        <a:rPr lang="ja-JP" altLang="en-US" sz="1050" b="0" i="0" dirty="0">
                          <a:solidFill>
                            <a:srgbClr val="000000"/>
                          </a:solidFill>
                          <a:latin typeface="游ゴシック"/>
                          <a:ea typeface="游ゴシック"/>
                        </a:rPr>
                        <a:t>センター費収入</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1050" b="0" i="0" dirty="0">
                          <a:solidFill>
                            <a:srgbClr val="000000"/>
                          </a:solidFill>
                          <a:latin typeface="Arial"/>
                          <a:ea typeface="游ゴシック Medium"/>
                        </a:rPr>
                        <a:t>12,273</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3.0%</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(株)主婦の店の仕入商品の配送受託。配送額の約10%（1日約10万円）を収受</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41300">
                <a:tc>
                  <a:txBody>
                    <a:bodyPr/>
                    <a:lstStyle/>
                    <a:p>
                      <a:pPr algn="l" fontAlgn="ctr"/>
                      <a:r>
                        <a:rPr lang="ja-JP" altLang="en-US" sz="1050" b="0" i="0" dirty="0">
                          <a:solidFill>
                            <a:srgbClr val="000000"/>
                          </a:solidFill>
                          <a:latin typeface="游ゴシック"/>
                          <a:ea typeface="游ゴシック"/>
                        </a:rPr>
                        <a:t>資材売上高</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1050" b="0" i="0" dirty="0">
                          <a:solidFill>
                            <a:srgbClr val="000000"/>
                          </a:solidFill>
                          <a:latin typeface="Arial"/>
                          <a:ea typeface="游ゴシック Medium"/>
                        </a:rPr>
                        <a:t>10,820</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2.6%</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包装資材の販売（仕入資材の約8割は自社利用。肥料はほぼ取扱いなし）</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41300">
                <a:tc>
                  <a:txBody>
                    <a:bodyPr/>
                    <a:lstStyle/>
                    <a:p>
                      <a:pPr algn="l" fontAlgn="ctr"/>
                      <a:r>
                        <a:rPr lang="ja-JP" altLang="en-US" sz="1050" b="0" i="0" dirty="0">
                          <a:solidFill>
                            <a:srgbClr val="000000"/>
                          </a:solidFill>
                          <a:latin typeface="游ゴシック"/>
                          <a:ea typeface="游ゴシック"/>
                        </a:rPr>
                        <a:t>売上割戻</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1050" b="0" i="0" dirty="0">
                          <a:solidFill>
                            <a:srgbClr val="000000"/>
                          </a:solidFill>
                          <a:latin typeface="Arial"/>
                          <a:ea typeface="游ゴシック Medium"/>
                        </a:rPr>
                        <a:t>△462</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△0.1%</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完納奨励金：期限内に代金を支払った八百屋等へ対象売上の約3%を還元（市場の商慣習）</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41300">
                <a:tc>
                  <a:txBody>
                    <a:bodyPr/>
                    <a:lstStyle/>
                    <a:p>
                      <a:pPr algn="l" fontAlgn="ctr"/>
                      <a:r>
                        <a:rPr lang="ja-JP" altLang="en-US" sz="1050" b="1" i="0" dirty="0">
                          <a:solidFill>
                            <a:srgbClr val="000000"/>
                          </a:solidFill>
                          <a:latin typeface="游ゴシック"/>
                          <a:ea typeface="游ゴシック"/>
                        </a:rPr>
                        <a:t>売上高 計</a:t>
                      </a:r>
                      <a:endParaRPr lang="ja-JP" altLang="en-US" sz="105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1050" b="1" i="0" dirty="0">
                          <a:solidFill>
                            <a:srgbClr val="000000"/>
                          </a:solidFill>
                          <a:latin typeface="Arial"/>
                          <a:ea typeface="游ゴシック Medium"/>
                        </a:rPr>
                        <a:t>411,155</a:t>
                      </a:r>
                      <a:endParaRPr lang="ja-JP" altLang="en-US" sz="105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1050" b="1" i="0" dirty="0">
                          <a:solidFill>
                            <a:srgbClr val="000000"/>
                          </a:solidFill>
                          <a:latin typeface="Arial"/>
                          <a:ea typeface="游ゴシック Medium"/>
                        </a:rPr>
                        <a:t>100.0%</a:t>
                      </a:r>
                      <a:endParaRPr lang="ja-JP" altLang="en-US" sz="105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l" fontAlgn="ctr"/>
                      <a:endParaRPr lang="ja-JP" altLang="en-US" sz="105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r>
            </a:tbl>
          </a:graphicData>
        </a:graphic>
      </p:graphicFrame>
      <p:sp>
        <p:nvSpPr>
          <p:cNvPr id="30" name="TextBox 29"/>
          <p:cNvSpPr txBox="1"/>
          <p:nvPr/>
        </p:nvSpPr>
        <p:spPr>
          <a:xfrm>
            <a:off x="448056" y="5697220"/>
            <a:ext cx="9793224" cy="658368"/>
          </a:xfrm>
          <a:prstGeom prst="rect">
            <a:avLst/>
          </a:prstGeom>
          <a:noFill/>
        </p:spPr>
        <p:txBody>
          <a:bodyPr wrap="square" lIns="0" rIns="0" tIns="0" bIns="0" anchor="t">
            <a:spAutoFit/>
          </a:bodyPr>
          <a:lstStyle/>
          <a:p>
            <a:pPr algn="l"/>
            <a:r>
              <a:rPr sz="800" b="0">
                <a:solidFill>
                  <a:srgbClr val="000000"/>
                </a:solidFill>
                <a:latin typeface="游ゴシック"/>
                <a:ea typeface="游ゴシック"/>
              </a:rPr>
              <a:t>※決算書では売上高を「商品売上高」1本で表示しているため、収益源別の内訳は試算表（2026年4〜7月）で代替。年度別内訳は要確認。</a:t>
            </a:r>
          </a:p>
          <a:p>
            <a:pPr algn="l"/>
            <a:r>
              <a:rPr sz="800" b="0">
                <a:solidFill>
                  <a:srgbClr val="000000"/>
                </a:solidFill>
                <a:latin typeface="游ゴシック"/>
                <a:ea typeface="游ゴシック"/>
              </a:rPr>
              <a:t>※手数料率8.5%から逆算した受託販売の取扱高は4か月で約148百万円（推計）。センター費は試算表で月約3.1百万円であり、代表者談の「1日約10万円」と概ね整合。</a:t>
            </a:r>
          </a:p>
          <a:p>
            <a:pPr algn="l"/>
            <a:r>
              <a:rPr sz="800" b="0">
                <a:solidFill>
                  <a:srgbClr val="000000"/>
                </a:solidFill>
                <a:latin typeface="游ゴシック"/>
                <a:ea typeface="游ゴシック"/>
              </a:rPr>
              <a:t>※取扱高ベースの構成は買付販売約7割・受託販売約2割・関連サービス等約1割（代表者の感覚値）。資材はほぼ自社利用。</a:t>
            </a:r>
          </a:p>
          <a:p>
            <a:pPr algn="l"/>
            <a:r>
              <a:rPr sz="800" b="0">
                <a:solidFill>
                  <a:srgbClr val="000000"/>
                </a:solidFill>
                <a:latin typeface="游ゴシック"/>
                <a:ea typeface="游ゴシック"/>
              </a:rPr>
              <a:t>※上記のほか、仕入先市場からの完納奨励金（受取奨励金）、仲卸業者等からのゴミ処理料・冷蔵庫保管料を営業外収益に計上。卸売市場法上の認定状況、仲卸業者数・買参人数は要確認。</a:t>
            </a:r>
          </a:p>
        </p:txBody>
      </p:sp>
    </p:spTree>
    <p:extLst>
      <p:ext uri="{BB962C8B-B14F-4D97-AF65-F5344CB8AC3E}">
        <p14:creationId xmlns:p14="http://schemas.microsoft.com/office/powerpoint/2010/main" val="25275136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正方形/長方形 15">
            <a:extLst>
              <a:ext uri="{FF2B5EF4-FFF2-40B4-BE49-F238E27FC236}">
                <a16:creationId xmlns:a16="http://schemas.microsoft.com/office/drawing/2014/main" id="{C40E5E72-4BCD-E861-A1A2-154E947EEC6C}"/>
              </a:ext>
            </a:extLst>
          </p:cNvPr>
          <p:cNvSpPr/>
          <p:nvPr/>
        </p:nvSpPr>
        <p:spPr>
          <a:xfrm>
            <a:off x="449262" y="1127688"/>
            <a:ext cx="9793287" cy="1656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sp>
        <p:nvSpPr>
          <p:cNvPr id="14" name="テキスト ボックス 13">
            <a:extLst>
              <a:ext uri="{FF2B5EF4-FFF2-40B4-BE49-F238E27FC236}">
                <a16:creationId xmlns:a16="http://schemas.microsoft.com/office/drawing/2014/main" id="{E4EAC5C5-4B19-168C-44C3-D63B9FCB0292}"/>
              </a:ext>
            </a:extLst>
          </p:cNvPr>
          <p:cNvSpPr txBox="1"/>
          <p:nvPr/>
        </p:nvSpPr>
        <p:spPr>
          <a:xfrm>
            <a:off x="2114550" y="1554265"/>
            <a:ext cx="7768831" cy="802848"/>
          </a:xfrm>
          <a:prstGeom prst="rect">
            <a:avLst/>
          </a:prstGeom>
          <a:noFill/>
        </p:spPr>
        <p:txBody>
          <a:bodyPr wrap="square" lIns="0" tIns="0" rIns="0" bIns="0" rtlCol="0" anchor="ctr">
            <a:spAutoFit/>
          </a:bodyPr>
          <a:lstStyle/>
          <a:p>
            <a:pPr>
              <a:lnSpc>
                <a:spcPct val="120000"/>
              </a:lnSpc>
              <a:spcAft>
                <a:spcPts val="600"/>
              </a:spcAft>
            </a:pPr>
            <a:r>
              <a:rPr lang="ja-JP" altLang="en-US" sz="1600" b="1" spc="30" dirty="0">
                <a:solidFill>
                  <a:schemeClr val="tx2"/>
                </a:solidFill>
                <a:latin typeface="+mj-ea"/>
                <a:ea typeface="+mj-ea"/>
              </a:rPr>
              <a:t>鶴岡市内唯一の青果市場（開設者兼卸売業者）</a:t>
            </a:r>
            <a:endParaRPr lang="en-US" altLang="ja-JP" sz="1600" b="1" spc="30" dirty="0">
              <a:solidFill>
                <a:schemeClr val="tx2"/>
              </a:solidFill>
              <a:latin typeface="+mj-ea"/>
              <a:ea typeface="+mj-ea"/>
            </a:endParaRPr>
          </a:p>
          <a:p>
            <a:pPr>
              <a:lnSpc>
                <a:spcPct val="120000"/>
              </a:lnSpc>
              <a:spcAft>
                <a:spcPts val="600"/>
              </a:spcAft>
            </a:pPr>
            <a:r>
              <a:rPr lang="ja-JP" altLang="en-US" sz="1600" b="1" spc="30" dirty="0">
                <a:solidFill>
                  <a:schemeClr val="tx2"/>
                </a:solidFill>
                <a:latin typeface="+mj-ea"/>
                <a:ea typeface="+mj-ea"/>
              </a:rPr>
              <a:t>市内の青果市場は当社のみ（2026年1月に2社体制から1社に）。集荷・セリ・分荷の市場機能を自社で担う地域の青果流通インフラ。車で10〜15分の三川町には公設市場がある。</a:t>
            </a:r>
            <a:endParaRPr lang="en-US" altLang="ja-JP" sz="1600" b="1" spc="30" dirty="0">
              <a:solidFill>
                <a:schemeClr val="tx2"/>
              </a:solidFill>
              <a:latin typeface="+mj-ea"/>
              <a:ea typeface="+mj-ea"/>
            </a:endParaRPr>
          </a:p>
        </p:txBody>
      </p:sp>
      <p:sp>
        <p:nvSpPr>
          <p:cNvPr id="3" name="タイトル 2">
            <a:extLst>
              <a:ext uri="{FF2B5EF4-FFF2-40B4-BE49-F238E27FC236}">
                <a16:creationId xmlns:a16="http://schemas.microsoft.com/office/drawing/2014/main" id="{3DD08FDB-DE43-2BEC-7657-AFC65253B448}"/>
              </a:ext>
            </a:extLst>
          </p:cNvPr>
          <p:cNvSpPr>
            <a:spLocks noGrp="1"/>
          </p:cNvSpPr>
          <p:nvPr>
            <p:ph type="ctrTitle"/>
          </p:nvPr>
        </p:nvSpPr>
        <p:spPr/>
        <p:txBody>
          <a:bodyPr/>
          <a:lstStyle/>
          <a:p>
            <a:r>
              <a:rPr lang="ja-JP" altLang="en-US" dirty="0"/>
              <a:t>特徴、強み、成長性等</a:t>
            </a:r>
          </a:p>
        </p:txBody>
      </p:sp>
      <p:sp>
        <p:nvSpPr>
          <p:cNvPr id="2" name="タイトル 1">
            <a:extLst>
              <a:ext uri="{FF2B5EF4-FFF2-40B4-BE49-F238E27FC236}">
                <a16:creationId xmlns:a16="http://schemas.microsoft.com/office/drawing/2014/main" id="{0A4FF749-E8A2-9754-A990-0C08664F52BF}"/>
              </a:ext>
            </a:extLst>
          </p:cNvPr>
          <p:cNvSpPr txBox="1">
            <a:spLocks/>
          </p:cNvSpPr>
          <p:nvPr/>
        </p:nvSpPr>
        <p:spPr>
          <a:xfrm>
            <a:off x="8293101" y="252155"/>
            <a:ext cx="2057400" cy="184666"/>
          </a:xfrm>
          <a:prstGeom prst="rect">
            <a:avLst/>
          </a:prstGeom>
        </p:spPr>
        <p:txBody>
          <a:bodyPr vert="horz" wrap="square"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ja-JP" altLang="en-US" spc="0" dirty="0"/>
              <a:t>事業概要</a:t>
            </a:r>
          </a:p>
        </p:txBody>
      </p:sp>
      <p:cxnSp>
        <p:nvCxnSpPr>
          <p:cNvPr id="4" name="直線コネクタ 3">
            <a:extLst>
              <a:ext uri="{FF2B5EF4-FFF2-40B4-BE49-F238E27FC236}">
                <a16:creationId xmlns:a16="http://schemas.microsoft.com/office/drawing/2014/main" id="{15777771-F922-A7C4-D3CB-74B58B03FF57}"/>
              </a:ext>
            </a:extLst>
          </p:cNvPr>
          <p:cNvCxnSpPr>
            <a:cxnSpLocks/>
          </p:cNvCxnSpPr>
          <p:nvPr/>
        </p:nvCxnSpPr>
        <p:spPr>
          <a:xfrm>
            <a:off x="449263" y="1123117"/>
            <a:ext cx="0" cy="1656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12" name="正方形/長方形 11">
            <a:extLst>
              <a:ext uri="{FF2B5EF4-FFF2-40B4-BE49-F238E27FC236}">
                <a16:creationId xmlns:a16="http://schemas.microsoft.com/office/drawing/2014/main" id="{4D234CEC-3A04-0F25-446A-5400388CA526}"/>
              </a:ext>
            </a:extLst>
          </p:cNvPr>
          <p:cNvSpPr/>
          <p:nvPr/>
        </p:nvSpPr>
        <p:spPr>
          <a:xfrm>
            <a:off x="647115" y="1469688"/>
            <a:ext cx="1191210" cy="972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lnSpc>
                <a:spcPct val="120000"/>
              </a:lnSpc>
              <a:buClr>
                <a:schemeClr val="tx2"/>
              </a:buClr>
              <a:buSzPct val="80000"/>
            </a:pPr>
            <a:r>
              <a:rPr lang="ja-JP" altLang="en-US" b="1" spc="70" dirty="0">
                <a:solidFill>
                  <a:schemeClr val="bg1"/>
                </a:solidFill>
                <a:latin typeface="+mj-ea"/>
                <a:ea typeface="+mj-ea"/>
              </a:rPr>
              <a:t>特徴</a:t>
            </a:r>
            <a:endParaRPr lang="en-US" altLang="ja-JP" b="1" spc="70" dirty="0">
              <a:solidFill>
                <a:schemeClr val="bg1"/>
              </a:solidFill>
              <a:latin typeface="+mj-ea"/>
              <a:ea typeface="+mj-ea"/>
            </a:endParaRPr>
          </a:p>
        </p:txBody>
      </p:sp>
      <p:sp>
        <p:nvSpPr>
          <p:cNvPr id="18" name="正方形/長方形 17">
            <a:extLst>
              <a:ext uri="{FF2B5EF4-FFF2-40B4-BE49-F238E27FC236}">
                <a16:creationId xmlns:a16="http://schemas.microsoft.com/office/drawing/2014/main" id="{0C864657-FFF0-FA13-5524-DC1F4F22D1C8}"/>
              </a:ext>
            </a:extLst>
          </p:cNvPr>
          <p:cNvSpPr/>
          <p:nvPr/>
        </p:nvSpPr>
        <p:spPr>
          <a:xfrm>
            <a:off x="449262" y="3124558"/>
            <a:ext cx="9793287" cy="1656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sp>
        <p:nvSpPr>
          <p:cNvPr id="20" name="テキスト ボックス 19">
            <a:extLst>
              <a:ext uri="{FF2B5EF4-FFF2-40B4-BE49-F238E27FC236}">
                <a16:creationId xmlns:a16="http://schemas.microsoft.com/office/drawing/2014/main" id="{48644844-8906-9AF0-5D0D-98648174194F}"/>
              </a:ext>
            </a:extLst>
          </p:cNvPr>
          <p:cNvSpPr txBox="1"/>
          <p:nvPr/>
        </p:nvSpPr>
        <p:spPr>
          <a:xfrm>
            <a:off x="2114550" y="3551135"/>
            <a:ext cx="7768831" cy="802848"/>
          </a:xfrm>
          <a:prstGeom prst="rect">
            <a:avLst/>
          </a:prstGeom>
          <a:noFill/>
        </p:spPr>
        <p:txBody>
          <a:bodyPr wrap="square" lIns="0" tIns="0" rIns="0" bIns="0" rtlCol="0" anchor="ctr">
            <a:spAutoFit/>
          </a:bodyPr>
          <a:lstStyle/>
          <a:p>
            <a:pPr>
              <a:lnSpc>
                <a:spcPct val="120000"/>
              </a:lnSpc>
              <a:spcAft>
                <a:spcPts val="600"/>
              </a:spcAft>
            </a:pPr>
            <a:r>
              <a:rPr lang="ja-JP" altLang="en-US" sz="1600" b="1" spc="30" dirty="0">
                <a:solidFill>
                  <a:schemeClr val="tx2"/>
                </a:solidFill>
                <a:latin typeface="+mj-ea"/>
                <a:ea typeface="+mj-ea"/>
              </a:rPr>
              <a:t>農家の持込を全量受け入れる集荷力と地元密着の販路</a:t>
            </a:r>
            <a:endParaRPr lang="en-US" altLang="ja-JP" sz="1600" b="1" spc="30" dirty="0">
              <a:solidFill>
                <a:schemeClr val="tx2"/>
              </a:solidFill>
              <a:latin typeface="+mj-ea"/>
              <a:ea typeface="+mj-ea"/>
            </a:endParaRPr>
          </a:p>
          <a:p>
            <a:pPr>
              <a:lnSpc>
                <a:spcPct val="120000"/>
              </a:lnSpc>
              <a:spcAft>
                <a:spcPts val="600"/>
              </a:spcAft>
            </a:pPr>
            <a:r>
              <a:rPr lang="ja-JP" altLang="en-US" sz="1600" b="1" spc="30" dirty="0">
                <a:solidFill>
                  <a:schemeClr val="tx2"/>
                </a:solidFill>
                <a:latin typeface="+mj-ea"/>
                <a:ea typeface="+mj-ea"/>
              </a:rPr>
              <a:t>農家からの持込は数量が多くても原則すべて受け入れる。地元優先で販売し、過剰分は豊洲市場・他県へ出荷。市場用地・施設は自社保有で地代負担なし。</a:t>
            </a:r>
            <a:endParaRPr lang="en-US" altLang="ja-JP" sz="1600" b="1" spc="30" dirty="0">
              <a:solidFill>
                <a:schemeClr val="tx2"/>
              </a:solidFill>
              <a:latin typeface="+mj-ea"/>
              <a:ea typeface="+mj-ea"/>
            </a:endParaRPr>
          </a:p>
        </p:txBody>
      </p:sp>
      <p:cxnSp>
        <p:nvCxnSpPr>
          <p:cNvPr id="21" name="直線コネクタ 20">
            <a:extLst>
              <a:ext uri="{FF2B5EF4-FFF2-40B4-BE49-F238E27FC236}">
                <a16:creationId xmlns:a16="http://schemas.microsoft.com/office/drawing/2014/main" id="{3CCDB214-2D0E-0EEE-88F8-7201AB775BEA}"/>
              </a:ext>
            </a:extLst>
          </p:cNvPr>
          <p:cNvCxnSpPr>
            <a:cxnSpLocks/>
          </p:cNvCxnSpPr>
          <p:nvPr/>
        </p:nvCxnSpPr>
        <p:spPr>
          <a:xfrm>
            <a:off x="449263" y="3119987"/>
            <a:ext cx="0" cy="1656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27" name="正方形/長方形 26">
            <a:extLst>
              <a:ext uri="{FF2B5EF4-FFF2-40B4-BE49-F238E27FC236}">
                <a16:creationId xmlns:a16="http://schemas.microsoft.com/office/drawing/2014/main" id="{8C7E43AC-FD21-D8FF-812C-F486F11E9CD0}"/>
              </a:ext>
            </a:extLst>
          </p:cNvPr>
          <p:cNvSpPr/>
          <p:nvPr/>
        </p:nvSpPr>
        <p:spPr>
          <a:xfrm>
            <a:off x="647115" y="3466558"/>
            <a:ext cx="1191210" cy="972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lnSpc>
                <a:spcPct val="120000"/>
              </a:lnSpc>
              <a:buClr>
                <a:schemeClr val="tx2"/>
              </a:buClr>
              <a:buSzPct val="80000"/>
            </a:pPr>
            <a:r>
              <a:rPr lang="ja-JP" altLang="en-US" b="1" spc="70" dirty="0">
                <a:solidFill>
                  <a:schemeClr val="bg1"/>
                </a:solidFill>
                <a:latin typeface="+mj-ea"/>
                <a:ea typeface="+mj-ea"/>
              </a:rPr>
              <a:t>強み</a:t>
            </a:r>
            <a:endParaRPr lang="en-US" altLang="ja-JP" b="1" spc="70" dirty="0">
              <a:solidFill>
                <a:schemeClr val="bg1"/>
              </a:solidFill>
              <a:latin typeface="+mj-ea"/>
              <a:ea typeface="+mj-ea"/>
            </a:endParaRPr>
          </a:p>
        </p:txBody>
      </p:sp>
      <p:sp>
        <p:nvSpPr>
          <p:cNvPr id="28" name="正方形/長方形 27">
            <a:extLst>
              <a:ext uri="{FF2B5EF4-FFF2-40B4-BE49-F238E27FC236}">
                <a16:creationId xmlns:a16="http://schemas.microsoft.com/office/drawing/2014/main" id="{0BB6E073-4046-E1C0-AB4F-403D39FF250A}"/>
              </a:ext>
            </a:extLst>
          </p:cNvPr>
          <p:cNvSpPr/>
          <p:nvPr/>
        </p:nvSpPr>
        <p:spPr>
          <a:xfrm>
            <a:off x="449262" y="5112286"/>
            <a:ext cx="9793287" cy="1656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sp>
        <p:nvSpPr>
          <p:cNvPr id="29" name="テキスト ボックス 28">
            <a:extLst>
              <a:ext uri="{FF2B5EF4-FFF2-40B4-BE49-F238E27FC236}">
                <a16:creationId xmlns:a16="http://schemas.microsoft.com/office/drawing/2014/main" id="{91275261-EC0D-E601-4242-EE2F20F981A2}"/>
              </a:ext>
            </a:extLst>
          </p:cNvPr>
          <p:cNvSpPr txBox="1"/>
          <p:nvPr/>
        </p:nvSpPr>
        <p:spPr>
          <a:xfrm>
            <a:off x="2114550" y="5538863"/>
            <a:ext cx="7768831" cy="802848"/>
          </a:xfrm>
          <a:prstGeom prst="rect">
            <a:avLst/>
          </a:prstGeom>
          <a:noFill/>
        </p:spPr>
        <p:txBody>
          <a:bodyPr wrap="square" lIns="0" tIns="0" rIns="0" bIns="0" rtlCol="0" anchor="ctr">
            <a:spAutoFit/>
          </a:bodyPr>
          <a:lstStyle/>
          <a:p>
            <a:pPr>
              <a:lnSpc>
                <a:spcPct val="120000"/>
              </a:lnSpc>
              <a:spcAft>
                <a:spcPts val="600"/>
              </a:spcAft>
            </a:pPr>
            <a:r>
              <a:rPr lang="ja-JP" altLang="en-US" sz="1600" b="1" spc="30" dirty="0">
                <a:solidFill>
                  <a:schemeClr val="tx2"/>
                </a:solidFill>
                <a:latin typeface="+mj-ea"/>
                <a:ea typeface="+mj-ea"/>
              </a:rPr>
              <a:t>販路を持つ買手とのシナジー、仕入先の開拓余地</a:t>
            </a:r>
            <a:endParaRPr lang="en-US" altLang="ja-JP" sz="1600" b="1" spc="30" dirty="0">
              <a:solidFill>
                <a:schemeClr val="tx2"/>
              </a:solidFill>
              <a:latin typeface="+mj-ea"/>
              <a:ea typeface="+mj-ea"/>
            </a:endParaRPr>
          </a:p>
          <a:p>
            <a:pPr>
              <a:lnSpc>
                <a:spcPct val="120000"/>
              </a:lnSpc>
              <a:spcAft>
                <a:spcPts val="600"/>
              </a:spcAft>
            </a:pPr>
            <a:r>
              <a:rPr lang="ja-JP" altLang="en-US" sz="1600" b="1" spc="30" dirty="0">
                <a:solidFill>
                  <a:schemeClr val="tx2"/>
                </a:solidFill>
                <a:latin typeface="+mj-ea"/>
                <a:ea typeface="+mj-ea"/>
              </a:rPr>
              <a:t>過剰入荷時の販売先確保が課題であり、余剰青果物を継続的に引き取れる販売網との統合で出口を拡大できる。山形・秋田の大型市場へ出荷する大規模農家の開拓余地もある。</a:t>
            </a:r>
            <a:endParaRPr lang="en-US" altLang="ja-JP" sz="1600" b="1" spc="30" dirty="0">
              <a:solidFill>
                <a:schemeClr val="tx2"/>
              </a:solidFill>
              <a:latin typeface="+mj-ea"/>
              <a:ea typeface="+mj-ea"/>
            </a:endParaRPr>
          </a:p>
        </p:txBody>
      </p:sp>
      <p:cxnSp>
        <p:nvCxnSpPr>
          <p:cNvPr id="30" name="直線コネクタ 29">
            <a:extLst>
              <a:ext uri="{FF2B5EF4-FFF2-40B4-BE49-F238E27FC236}">
                <a16:creationId xmlns:a16="http://schemas.microsoft.com/office/drawing/2014/main" id="{9E59F759-029D-ACD7-2E8B-82D0E894FB13}"/>
              </a:ext>
            </a:extLst>
          </p:cNvPr>
          <p:cNvCxnSpPr>
            <a:cxnSpLocks/>
          </p:cNvCxnSpPr>
          <p:nvPr/>
        </p:nvCxnSpPr>
        <p:spPr>
          <a:xfrm>
            <a:off x="449263" y="5107715"/>
            <a:ext cx="0" cy="1656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31" name="正方形/長方形 30">
            <a:extLst>
              <a:ext uri="{FF2B5EF4-FFF2-40B4-BE49-F238E27FC236}">
                <a16:creationId xmlns:a16="http://schemas.microsoft.com/office/drawing/2014/main" id="{9F97658D-62E2-B46F-7C6B-A887412B79A8}"/>
              </a:ext>
            </a:extLst>
          </p:cNvPr>
          <p:cNvSpPr/>
          <p:nvPr/>
        </p:nvSpPr>
        <p:spPr>
          <a:xfrm>
            <a:off x="647115" y="5454286"/>
            <a:ext cx="1191210" cy="972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lnSpc>
                <a:spcPct val="120000"/>
              </a:lnSpc>
              <a:buClr>
                <a:schemeClr val="tx2"/>
              </a:buClr>
              <a:buSzPct val="80000"/>
            </a:pPr>
            <a:r>
              <a:rPr lang="ja-JP" altLang="en-US" b="1" spc="70" dirty="0">
                <a:solidFill>
                  <a:schemeClr val="bg1"/>
                </a:solidFill>
                <a:latin typeface="+mj-ea"/>
                <a:ea typeface="+mj-ea"/>
              </a:rPr>
              <a:t>成長性</a:t>
            </a:r>
            <a:endParaRPr lang="en-US" altLang="ja-JP" b="1" spc="70" dirty="0">
              <a:solidFill>
                <a:schemeClr val="bg1"/>
              </a:solidFill>
              <a:latin typeface="+mj-ea"/>
              <a:ea typeface="+mj-ea"/>
            </a:endParaRPr>
          </a:p>
        </p:txBody>
      </p:sp>
      <p:sp>
        <p:nvSpPr>
          <p:cNvPr id="32" name="TextBox 31"/>
          <p:cNvSpPr txBox="1"/>
          <p:nvPr/>
        </p:nvSpPr>
        <p:spPr>
          <a:xfrm>
            <a:off x="448056" y="6784848"/>
            <a:ext cx="9793224" cy="164592"/>
          </a:xfrm>
          <a:prstGeom prst="rect">
            <a:avLst/>
          </a:prstGeom>
          <a:noFill/>
        </p:spPr>
        <p:txBody>
          <a:bodyPr wrap="square" lIns="0" rIns="0" tIns="0" bIns="0" anchor="t">
            <a:spAutoFit/>
          </a:bodyPr>
          <a:lstStyle/>
          <a:p>
            <a:pPr algn="l"/>
            <a:r>
              <a:rPr sz="800" b="0">
                <a:solidFill>
                  <a:srgbClr val="000000"/>
                </a:solidFill>
                <a:latin typeface="游ゴシック"/>
                <a:ea typeface="游ゴシック"/>
              </a:rPr>
              <a:t>※代表者ヒアリング（第2回面談）による。成長性は今後の取組みを前提とした想定であり、実績ではない。</a:t>
            </a:r>
          </a:p>
        </p:txBody>
      </p:sp>
    </p:spTree>
    <p:extLst>
      <p:ext uri="{BB962C8B-B14F-4D97-AF65-F5344CB8AC3E}">
        <p14:creationId xmlns:p14="http://schemas.microsoft.com/office/powerpoint/2010/main" val="27210844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6F8F80-D630-2549-01F8-FD24A4744414}"/>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F701402F-4CEB-57E0-97C2-822B3C0B999E}"/>
              </a:ext>
            </a:extLst>
          </p:cNvPr>
          <p:cNvSpPr>
            <a:spLocks noGrp="1"/>
          </p:cNvSpPr>
          <p:nvPr>
            <p:ph type="ctrTitle"/>
          </p:nvPr>
        </p:nvSpPr>
        <p:spPr>
          <a:xfrm>
            <a:off x="311150" y="180296"/>
            <a:ext cx="7799917" cy="339267"/>
          </a:xfrm>
        </p:spPr>
        <p:txBody>
          <a:bodyPr>
            <a:normAutofit/>
          </a:bodyPr>
          <a:lstStyle/>
          <a:p>
            <a:r>
              <a:rPr lang="ja-JP" altLang="en-US" dirty="0"/>
              <a:t>主要得意先の3期推移</a:t>
            </a:r>
          </a:p>
        </p:txBody>
      </p:sp>
      <p:sp>
        <p:nvSpPr>
          <p:cNvPr id="5" name="タイトル 1">
            <a:extLst>
              <a:ext uri="{FF2B5EF4-FFF2-40B4-BE49-F238E27FC236}">
                <a16:creationId xmlns:a16="http://schemas.microsoft.com/office/drawing/2014/main" id="{AC4464AF-219D-E466-F3BC-96AEFEDBCFD7}"/>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事業概要</a:t>
            </a:r>
          </a:p>
        </p:txBody>
      </p:sp>
      <p:sp>
        <p:nvSpPr>
          <p:cNvPr id="11" name="字幕 13">
            <a:extLst>
              <a:ext uri="{FF2B5EF4-FFF2-40B4-BE49-F238E27FC236}">
                <a16:creationId xmlns:a16="http://schemas.microsoft.com/office/drawing/2014/main" id="{9BD509DC-88D9-BD2F-8F86-54221089006B}"/>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a:ea typeface="游ゴシック"/>
              </a:rPr>
              <a:t>(株)主婦の店を筆頭に、地元量販店・生協・学校給食・近隣市場へ販売。売掛金残高の上位先は3期を通じて概ね同じ顔ぶれであり、長期・安定的な取引関係にある。</a:t>
            </a:r>
          </a:p>
        </p:txBody>
      </p:sp>
      <p:graphicFrame>
        <p:nvGraphicFramePr>
          <p:cNvPr id="14" name="表（取引先!B4:L19）"/>
          <p:cNvGraphicFramePr>
            <a:graphicFrameLocks noGrp="1"/>
          </p:cNvGraphicFramePr>
          <p:nvPr/>
        </p:nvGraphicFramePr>
        <p:xfrm>
          <a:off x="310896" y="1481328"/>
          <a:ext cx="10058391" cy="4127500"/>
        </p:xfrm>
        <a:graphic>
          <a:graphicData uri="http://schemas.openxmlformats.org/drawingml/2006/table">
            <a:tbl>
              <a:tblPr firstRow="0" bandRow="0">
                <a:tableStyleId>{2D5ABB26-0587-4C30-8999-92F81FD0307C}</a:tableStyleId>
              </a:tblPr>
              <a:tblGrid>
                <a:gridCol w="300284"/>
                <a:gridCol w="1925576"/>
                <a:gridCol w="939305"/>
                <a:gridCol w="2066668"/>
                <a:gridCol w="732462"/>
                <a:gridCol w="563289"/>
                <a:gridCol w="732462"/>
                <a:gridCol w="563289"/>
                <a:gridCol w="732462"/>
                <a:gridCol w="563289"/>
                <a:gridCol w="939305"/>
              </a:tblGrid>
              <a:tr h="190500">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900" b="0" i="0" dirty="0">
                          <a:solidFill>
                            <a:srgbClr val="000000"/>
                          </a:solidFill>
                          <a:latin typeface="游ゴシック"/>
                          <a:ea typeface="游ゴシック"/>
                        </a:rPr>
                        <a:t>(単位：千円)</a:t>
                      </a:r>
                      <a:endParaRPr lang="ja-JP" altLang="en-US" sz="90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r>
              <a:tr h="190500">
                <a:tc rowSpan="2">
                  <a:txBody>
                    <a:bodyPr/>
                    <a:lstStyle/>
                    <a:p>
                      <a:pPr algn="ctr" fontAlgn="ctr"/>
                      <a:r>
                        <a:rPr lang="ja-JP" altLang="en-US" sz="900" b="0" i="0" dirty="0">
                          <a:solidFill>
                            <a:srgbClr val="FFFFFF"/>
                          </a:solidFill>
                          <a:latin typeface="游ゴシック"/>
                          <a:ea typeface="游ゴシック"/>
                        </a:rPr>
                        <a:t>№</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rowSpan="2">
                  <a:txBody>
                    <a:bodyPr/>
                    <a:lstStyle/>
                    <a:p>
                      <a:pPr algn="ctr" fontAlgn="ctr"/>
                      <a:r>
                        <a:rPr lang="ja-JP" altLang="en-US" sz="900" b="0" i="0" dirty="0">
                          <a:solidFill>
                            <a:srgbClr val="FFFFFF"/>
                          </a:solidFill>
                          <a:latin typeface="游ゴシック"/>
                          <a:ea typeface="游ゴシック"/>
                        </a:rPr>
                        <a:t>得意先</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rowSpan="2">
                  <a:txBody>
                    <a:bodyPr/>
                    <a:lstStyle/>
                    <a:p>
                      <a:pPr algn="ctr" fontAlgn="ctr"/>
                      <a:r>
                        <a:rPr lang="ja-JP" altLang="en-US" sz="900" b="0" i="0" dirty="0">
                          <a:solidFill>
                            <a:srgbClr val="FFFFFF"/>
                          </a:solidFill>
                          <a:latin typeface="游ゴシック"/>
                          <a:ea typeface="游ゴシック"/>
                        </a:rPr>
                        <a:t>本社所在地</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rowSpan="2">
                  <a:txBody>
                    <a:bodyPr/>
                    <a:lstStyle/>
                    <a:p>
                      <a:pPr algn="ctr" fontAlgn="ctr"/>
                      <a:r>
                        <a:rPr lang="ja-JP" altLang="en-US" sz="900" b="0" i="0" dirty="0">
                          <a:solidFill>
                            <a:srgbClr val="FFFFFF"/>
                          </a:solidFill>
                          <a:latin typeface="游ゴシック"/>
                          <a:ea typeface="游ゴシック"/>
                        </a:rPr>
                        <a:t>業種等</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gridSpan="2">
                  <a:txBody>
                    <a:bodyPr/>
                    <a:lstStyle/>
                    <a:p>
                      <a:pPr algn="ctr" fontAlgn="ctr"/>
                      <a:r>
                        <a:rPr lang="ja-JP" altLang="en-US" sz="900" b="0" i="0" dirty="0">
                          <a:solidFill>
                            <a:srgbClr val="FFFFFF"/>
                          </a:solidFill>
                          <a:latin typeface="游ゴシック"/>
                          <a:ea typeface="游ゴシック"/>
                        </a:rPr>
                        <a:t>2024年3月期末</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hMerge="1">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12700">
                      <a:solidFill>
                        <a:srgbClr val="FFFFFF"/>
                      </a:solidFill>
                    </a:lnR>
                    <a:lnT w="6350">
                      <a:noFill/>
                    </a:lnT>
                    <a:lnB w="6350">
                      <a:solidFill>
                        <a:srgbClr val="A6A6A6"/>
                      </a:solidFill>
                    </a:lnB>
                    <a:noFill/>
                  </a:tcPr>
                </a:tc>
                <a:tc gridSpan="2">
                  <a:txBody>
                    <a:bodyPr/>
                    <a:lstStyle/>
                    <a:p>
                      <a:pPr algn="ctr" fontAlgn="ctr"/>
                      <a:r>
                        <a:rPr lang="ja-JP" altLang="en-US" sz="900" b="0" i="0" dirty="0">
                          <a:solidFill>
                            <a:srgbClr val="FFFFFF"/>
                          </a:solidFill>
                          <a:latin typeface="游ゴシック"/>
                          <a:ea typeface="游ゴシック"/>
                        </a:rPr>
                        <a:t>2025年3月期末</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hMerge="1">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12700">
                      <a:solidFill>
                        <a:srgbClr val="FFFFFF"/>
                      </a:solidFill>
                    </a:lnR>
                    <a:lnT w="6350">
                      <a:noFill/>
                    </a:lnT>
                    <a:lnB w="6350">
                      <a:solidFill>
                        <a:srgbClr val="A6A6A6"/>
                      </a:solidFill>
                    </a:lnB>
                    <a:noFill/>
                  </a:tcPr>
                </a:tc>
                <a:tc gridSpan="2">
                  <a:txBody>
                    <a:bodyPr/>
                    <a:lstStyle/>
                    <a:p>
                      <a:pPr algn="ctr" fontAlgn="ctr"/>
                      <a:r>
                        <a:rPr lang="ja-JP" altLang="en-US" sz="900" b="0" i="0" dirty="0">
                          <a:solidFill>
                            <a:srgbClr val="FFFFFF"/>
                          </a:solidFill>
                          <a:latin typeface="游ゴシック"/>
                          <a:ea typeface="游ゴシック"/>
                        </a:rPr>
                        <a:t>2026年3月期末</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hMerge="1">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12700">
                      <a:solidFill>
                        <a:srgbClr val="FFFFFF"/>
                      </a:solidFill>
                    </a:lnR>
                    <a:lnT w="6350">
                      <a:noFill/>
                    </a:lnT>
                    <a:lnB w="6350">
                      <a:solidFill>
                        <a:srgbClr val="A6A6A6"/>
                      </a:solidFill>
                    </a:lnB>
                    <a:noFill/>
                  </a:tcPr>
                </a:tc>
                <a:tc rowSpan="2">
                  <a:txBody>
                    <a:bodyPr/>
                    <a:lstStyle/>
                    <a:p>
                      <a:pPr algn="ctr" fontAlgn="ctr"/>
                      <a:r>
                        <a:rPr lang="ja-JP" altLang="en-US" sz="900" b="0" i="0" dirty="0">
                          <a:solidFill>
                            <a:srgbClr val="FFFFFF"/>
                          </a:solidFill>
                          <a:latin typeface="游ゴシック"/>
                          <a:ea typeface="游ゴシック"/>
                        </a:rPr>
                        <a:t>備考</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r>
              <a:tr h="190500">
                <a:tc vMerge="1">
                  <a:txBody>
                    <a:bodyPr/>
                    <a:lstStyle/>
                    <a:p>
                      <a:pPr algn="l" fontAlgn="ctr"/>
                      <a:endParaRPr lang="ja-JP" altLang="en-US" sz="900" b="0" i="0" dirty="0">
                        <a:solidFill>
                          <a:srgbClr val="000000"/>
                        </a:solidFill>
                        <a:latin typeface="Calibri"/>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vMerge="1">
                  <a:txBody>
                    <a:bodyPr/>
                    <a:lstStyle/>
                    <a:p>
                      <a:pPr algn="l" fontAlgn="ctr"/>
                      <a:endParaRPr lang="ja-JP" altLang="en-US" sz="900" b="0" i="0" dirty="0">
                        <a:solidFill>
                          <a:srgbClr val="000000"/>
                        </a:solidFill>
                        <a:latin typeface="Calibri"/>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vMerge="1">
                  <a:txBody>
                    <a:bodyPr/>
                    <a:lstStyle/>
                    <a:p>
                      <a:pPr algn="l" fontAlgn="ctr"/>
                      <a:endParaRPr lang="ja-JP" altLang="en-US" sz="900" b="0" i="0" dirty="0">
                        <a:solidFill>
                          <a:srgbClr val="000000"/>
                        </a:solidFill>
                        <a:latin typeface="Calibri"/>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vMerge="1">
                  <a:txBody>
                    <a:bodyPr/>
                    <a:lstStyle/>
                    <a:p>
                      <a:pPr algn="l" fontAlgn="ctr"/>
                      <a:endParaRPr lang="ja-JP" altLang="en-US" sz="900" b="0" i="0" dirty="0">
                        <a:solidFill>
                          <a:srgbClr val="000000"/>
                        </a:solidFill>
                        <a:latin typeface="Calibri"/>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900" b="0" i="0" dirty="0">
                          <a:solidFill>
                            <a:srgbClr val="FFFFFF"/>
                          </a:solidFill>
                          <a:latin typeface="游ゴシック"/>
                          <a:ea typeface="游ゴシック"/>
                        </a:rPr>
                        <a:t>残高</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900" b="0" i="0" dirty="0">
                          <a:solidFill>
                            <a:srgbClr val="FFFFFF"/>
                          </a:solidFill>
                          <a:latin typeface="游ゴシック"/>
                          <a:ea typeface="游ゴシック"/>
                        </a:rPr>
                        <a:t>構成比</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900" b="0" i="0" dirty="0">
                          <a:solidFill>
                            <a:srgbClr val="FFFFFF"/>
                          </a:solidFill>
                          <a:latin typeface="游ゴシック"/>
                          <a:ea typeface="游ゴシック"/>
                        </a:rPr>
                        <a:t>残高</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900" b="0" i="0" dirty="0">
                          <a:solidFill>
                            <a:srgbClr val="FFFFFF"/>
                          </a:solidFill>
                          <a:latin typeface="游ゴシック"/>
                          <a:ea typeface="游ゴシック"/>
                        </a:rPr>
                        <a:t>構成比</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900" b="0" i="0" dirty="0">
                          <a:solidFill>
                            <a:srgbClr val="FFFFFF"/>
                          </a:solidFill>
                          <a:latin typeface="游ゴシック"/>
                          <a:ea typeface="游ゴシック"/>
                        </a:rPr>
                        <a:t>残高</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900" b="0" i="0" dirty="0">
                          <a:solidFill>
                            <a:srgbClr val="FFFFFF"/>
                          </a:solidFill>
                          <a:latin typeface="游ゴシック"/>
                          <a:ea typeface="游ゴシック"/>
                        </a:rPr>
                        <a:t>構成比</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vMerge="1">
                  <a:txBody>
                    <a:bodyPr/>
                    <a:lstStyle/>
                    <a:p>
                      <a:pPr algn="l" fontAlgn="ctr"/>
                      <a:endParaRPr lang="ja-JP" altLang="en-US" sz="900" b="0" i="0" dirty="0">
                        <a:solidFill>
                          <a:srgbClr val="000000"/>
                        </a:solidFill>
                        <a:latin typeface="Calibri"/>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79400">
                <a:tc>
                  <a:txBody>
                    <a:bodyPr/>
                    <a:lstStyle/>
                    <a:p>
                      <a:pPr algn="ctr" fontAlgn="ctr"/>
                      <a:r>
                        <a:rPr lang="ja-JP" altLang="en-US" sz="900" b="0" i="0" dirty="0">
                          <a:solidFill>
                            <a:srgbClr val="000000"/>
                          </a:solidFill>
                          <a:latin typeface="游ゴシック"/>
                          <a:ea typeface="游ゴシック"/>
                        </a:rPr>
                        <a:t>1</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(株)主婦の店</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鶴岡市</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食品スーパー（推察）</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7,625</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33.9%</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7,465</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32.2%</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7,194</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34.5%</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79400">
                <a:tc>
                  <a:txBody>
                    <a:bodyPr/>
                    <a:lstStyle/>
                    <a:p>
                      <a:pPr algn="ctr" fontAlgn="ctr"/>
                      <a:r>
                        <a:rPr lang="ja-JP" altLang="en-US" sz="900" b="0" i="0" dirty="0">
                          <a:solidFill>
                            <a:srgbClr val="000000"/>
                          </a:solidFill>
                          <a:latin typeface="游ゴシック"/>
                          <a:ea typeface="游ゴシック"/>
                        </a:rPr>
                        <a:t>2</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小島商店</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鶴岡市</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青果小売（推察）</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3,566</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15.8%</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1,610</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6.9%</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2,482</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11.9%</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79400">
                <a:tc>
                  <a:txBody>
                    <a:bodyPr/>
                    <a:lstStyle/>
                    <a:p>
                      <a:pPr algn="ctr" fontAlgn="ctr"/>
                      <a:r>
                        <a:rPr lang="ja-JP" altLang="en-US" sz="900" b="0" i="0" dirty="0">
                          <a:solidFill>
                            <a:srgbClr val="000000"/>
                          </a:solidFill>
                          <a:latin typeface="游ゴシック"/>
                          <a:ea typeface="游ゴシック"/>
                        </a:rPr>
                        <a:t>3</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長井中央青果(株)</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長井市</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青果卸（長井中央青果地方卸売市場）</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3,039</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13.5%</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4,185</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18.1%</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1,785</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8.6%</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79400">
                <a:tc>
                  <a:txBody>
                    <a:bodyPr/>
                    <a:lstStyle/>
                    <a:p>
                      <a:pPr algn="ctr" fontAlgn="ctr"/>
                      <a:r>
                        <a:rPr lang="ja-JP" altLang="en-US" sz="900" b="0" i="0" dirty="0">
                          <a:solidFill>
                            <a:srgbClr val="000000"/>
                          </a:solidFill>
                          <a:latin typeface="游ゴシック"/>
                          <a:ea typeface="游ゴシック"/>
                        </a:rPr>
                        <a:t>4</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生活協同組合共立社</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鶴岡市</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生協</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1,110</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4.9%</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2,034</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8.8%</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1,932</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9.3%</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79400">
                <a:tc>
                  <a:txBody>
                    <a:bodyPr/>
                    <a:lstStyle/>
                    <a:p>
                      <a:pPr algn="ctr" fontAlgn="ctr"/>
                      <a:r>
                        <a:rPr lang="ja-JP" altLang="en-US" sz="900" b="0" i="0" dirty="0">
                          <a:solidFill>
                            <a:srgbClr val="000000"/>
                          </a:solidFill>
                          <a:latin typeface="游ゴシック"/>
                          <a:ea typeface="游ゴシック"/>
                        </a:rPr>
                        <a:t>5</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給食センター</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鶴岡市</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学校給食（推察）</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793</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3.5%</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1,307</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5.6%</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1,121</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5.4%</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79400">
                <a:tc>
                  <a:txBody>
                    <a:bodyPr/>
                    <a:lstStyle/>
                    <a:p>
                      <a:pPr algn="ctr" fontAlgn="ctr"/>
                      <a:r>
                        <a:rPr lang="ja-JP" altLang="en-US" sz="900" b="0" i="0" dirty="0">
                          <a:solidFill>
                            <a:srgbClr val="000000"/>
                          </a:solidFill>
                          <a:latin typeface="游ゴシック"/>
                          <a:ea typeface="游ゴシック"/>
                        </a:rPr>
                        <a:t>6</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元青果</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三川町</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公設庄内青果物地方卸売市場内事業者（推察）</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1,051</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4.7%</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1,019</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4.4%</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746</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3.6%</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79400">
                <a:tc>
                  <a:txBody>
                    <a:bodyPr/>
                    <a:lstStyle/>
                    <a:p>
                      <a:pPr algn="ctr" fontAlgn="ctr"/>
                      <a:r>
                        <a:rPr lang="ja-JP" altLang="en-US" sz="900" b="0" i="0" dirty="0">
                          <a:solidFill>
                            <a:srgbClr val="000000"/>
                          </a:solidFill>
                          <a:latin typeface="游ゴシック"/>
                          <a:ea typeface="游ゴシック"/>
                        </a:rPr>
                        <a:t>7</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生活協同組合連合会アイチョイス</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名古屋市</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生協連合会</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751</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3.3%</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1,033</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4.5%</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618</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3.0%</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79400">
                <a:tc>
                  <a:txBody>
                    <a:bodyPr/>
                    <a:lstStyle/>
                    <a:p>
                      <a:pPr algn="ctr" fontAlgn="ctr"/>
                      <a:r>
                        <a:rPr lang="ja-JP" altLang="en-US" sz="900" b="0" i="0" dirty="0">
                          <a:solidFill>
                            <a:srgbClr val="000000"/>
                          </a:solidFill>
                          <a:latin typeface="游ゴシック"/>
                          <a:ea typeface="游ゴシック"/>
                        </a:rPr>
                        <a:t>8</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(株)みどりの里</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愛知県豊田市</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503</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2.2%</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886</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3.8%</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79400">
                <a:tc>
                  <a:txBody>
                    <a:bodyPr/>
                    <a:lstStyle/>
                    <a:p>
                      <a:pPr algn="ctr" fontAlgn="ctr"/>
                      <a:r>
                        <a:rPr lang="ja-JP" altLang="en-US" sz="900" b="0" i="0" dirty="0">
                          <a:solidFill>
                            <a:srgbClr val="000000"/>
                          </a:solidFill>
                          <a:latin typeface="游ゴシック"/>
                          <a:ea typeface="游ゴシック"/>
                        </a:rPr>
                        <a:t>9</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(有)新庄丸果青果</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新庄市</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青果卸（推察）</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825</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3.7%</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706</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3.0%</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79400">
                <a:tc>
                  <a:txBody>
                    <a:bodyPr/>
                    <a:lstStyle/>
                    <a:p>
                      <a:pPr algn="ctr" fontAlgn="ctr"/>
                      <a:r>
                        <a:rPr lang="ja-JP" altLang="en-US" sz="900" b="0" i="0" dirty="0">
                          <a:solidFill>
                            <a:srgbClr val="000000"/>
                          </a:solidFill>
                          <a:latin typeface="游ゴシック"/>
                          <a:ea typeface="游ゴシック"/>
                        </a:rPr>
                        <a:t>10</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(株)やま高商店</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仙台市</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862</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3.8%</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79400">
                <a:tc>
                  <a:txBody>
                    <a:bodyPr/>
                    <a:lstStyle/>
                    <a:p>
                      <a:pPr algn="ctr" fontAlgn="ctr"/>
                      <a:r>
                        <a:rPr lang="ja-JP" altLang="en-US" sz="900" b="0" i="0" dirty="0">
                          <a:solidFill>
                            <a:srgbClr val="000000"/>
                          </a:solidFill>
                          <a:latin typeface="游ゴシック"/>
                          <a:ea typeface="游ゴシック"/>
                        </a:rPr>
                        <a:t>11</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みどり水産</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630</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2.7%</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79400">
                <a:tc>
                  <a:txBody>
                    <a:bodyPr/>
                    <a:lstStyle/>
                    <a:p>
                      <a:pPr algn="ctr" fontAlgn="ct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その他</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2,398</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10.6%</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2,291</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9.9%</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4,958</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23.8%</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03200">
                <a:tc>
                  <a:txBody>
                    <a:bodyPr/>
                    <a:lstStyle/>
                    <a:p>
                      <a:pPr algn="l" fontAlgn="ctr"/>
                      <a:endParaRPr lang="ja-JP" altLang="en-US" sz="90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l" fontAlgn="ctr"/>
                      <a:r>
                        <a:rPr lang="ja-JP" altLang="en-US" sz="900" b="1" i="0" dirty="0">
                          <a:solidFill>
                            <a:srgbClr val="000000"/>
                          </a:solidFill>
                          <a:latin typeface="游ゴシック"/>
                          <a:ea typeface="游ゴシック"/>
                        </a:rPr>
                        <a:t>合計</a:t>
                      </a:r>
                      <a:endParaRPr lang="ja-JP" altLang="en-US" sz="90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l" fontAlgn="ctr"/>
                      <a:endParaRPr lang="ja-JP" altLang="en-US" sz="90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l" fontAlgn="ctr"/>
                      <a:endParaRPr lang="ja-JP" altLang="en-US" sz="90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900" b="1" i="0" dirty="0">
                          <a:solidFill>
                            <a:srgbClr val="000000"/>
                          </a:solidFill>
                          <a:latin typeface="Arial"/>
                          <a:ea typeface="游ゴシック Medium"/>
                        </a:rPr>
                        <a:t>22,524</a:t>
                      </a:r>
                      <a:endParaRPr lang="ja-JP" altLang="en-US" sz="9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900" b="1" i="0" dirty="0">
                          <a:solidFill>
                            <a:srgbClr val="000000"/>
                          </a:solidFill>
                          <a:latin typeface="Arial"/>
                          <a:ea typeface="游ゴシック Medium"/>
                        </a:rPr>
                        <a:t>100.0%</a:t>
                      </a:r>
                      <a:endParaRPr lang="ja-JP" altLang="en-US" sz="9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900" b="1" i="0" dirty="0">
                          <a:solidFill>
                            <a:srgbClr val="000000"/>
                          </a:solidFill>
                          <a:latin typeface="Arial"/>
                          <a:ea typeface="游ゴシック Medium"/>
                        </a:rPr>
                        <a:t>23,166</a:t>
                      </a:r>
                      <a:endParaRPr lang="ja-JP" altLang="en-US" sz="9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900" b="1" i="0" dirty="0">
                          <a:solidFill>
                            <a:srgbClr val="000000"/>
                          </a:solidFill>
                          <a:latin typeface="Arial"/>
                          <a:ea typeface="游ゴシック Medium"/>
                        </a:rPr>
                        <a:t>100.0%</a:t>
                      </a:r>
                      <a:endParaRPr lang="ja-JP" altLang="en-US" sz="9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900" b="1" i="0" dirty="0">
                          <a:solidFill>
                            <a:srgbClr val="000000"/>
                          </a:solidFill>
                          <a:latin typeface="Arial"/>
                          <a:ea typeface="游ゴシック Medium"/>
                        </a:rPr>
                        <a:t>20,836</a:t>
                      </a:r>
                      <a:endParaRPr lang="ja-JP" altLang="en-US" sz="9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900" b="1" i="0" dirty="0">
                          <a:solidFill>
                            <a:srgbClr val="000000"/>
                          </a:solidFill>
                          <a:latin typeface="Arial"/>
                          <a:ea typeface="游ゴシック Medium"/>
                        </a:rPr>
                        <a:t>100.0%</a:t>
                      </a:r>
                      <a:endParaRPr lang="ja-JP" altLang="en-US" sz="9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l" fontAlgn="ctr"/>
                      <a:endParaRPr lang="ja-JP" altLang="en-US" sz="90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r>
            </a:tbl>
          </a:graphicData>
        </a:graphic>
      </p:graphicFrame>
      <p:sp>
        <p:nvSpPr>
          <p:cNvPr id="15" name="TextBox 14"/>
          <p:cNvSpPr txBox="1"/>
          <p:nvPr/>
        </p:nvSpPr>
        <p:spPr>
          <a:xfrm>
            <a:off x="310896" y="5745987"/>
            <a:ext cx="10058400" cy="329184"/>
          </a:xfrm>
          <a:prstGeom prst="rect">
            <a:avLst/>
          </a:prstGeom>
          <a:noFill/>
        </p:spPr>
        <p:txBody>
          <a:bodyPr wrap="square" lIns="0" rIns="0" tIns="0" bIns="0" anchor="t">
            <a:spAutoFit/>
          </a:bodyPr>
          <a:lstStyle/>
          <a:p>
            <a:pPr algn="l"/>
            <a:r>
              <a:rPr sz="800" b="0">
                <a:solidFill>
                  <a:srgbClr val="000000"/>
                </a:solidFill>
                <a:latin typeface="游ゴシック"/>
                <a:ea typeface="游ゴシック"/>
              </a:rPr>
              <a:t>※勘定科目内訳明細書の期末残高（50万円以上の相手先を個別記載）。年間取引高ではないため取引規模の順位とは異なる可能性がある（年間取引高は資料依頼中）。</a:t>
            </a:r>
          </a:p>
          <a:p>
            <a:pPr algn="l"/>
            <a:r>
              <a:rPr sz="800" b="0">
                <a:solidFill>
                  <a:srgbClr val="000000"/>
                </a:solidFill>
                <a:latin typeface="游ゴシック"/>
                <a:ea typeface="游ゴシック"/>
              </a:rPr>
              <a:t>※業種等は公開情報等からの推察を含む。</a:t>
            </a:r>
          </a:p>
        </p:txBody>
      </p:sp>
    </p:spTree>
    <p:extLst>
      <p:ext uri="{BB962C8B-B14F-4D97-AF65-F5344CB8AC3E}">
        <p14:creationId xmlns:p14="http://schemas.microsoft.com/office/powerpoint/2010/main" val="5886346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0B8376-2868-4693-0731-367BA549897E}"/>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C27F0F89-0B1D-9CEC-826A-DEB17C9DB0B7}"/>
              </a:ext>
            </a:extLst>
          </p:cNvPr>
          <p:cNvSpPr>
            <a:spLocks noGrp="1"/>
          </p:cNvSpPr>
          <p:nvPr>
            <p:ph type="ctrTitle"/>
          </p:nvPr>
        </p:nvSpPr>
        <p:spPr>
          <a:xfrm>
            <a:off x="311150" y="180296"/>
            <a:ext cx="7799917" cy="339267"/>
          </a:xfrm>
        </p:spPr>
        <p:txBody>
          <a:bodyPr>
            <a:normAutofit/>
          </a:bodyPr>
          <a:lstStyle/>
          <a:p>
            <a:r>
              <a:rPr lang="ja-JP" altLang="en-US" dirty="0"/>
              <a:t>主要仕入先の3期推移</a:t>
            </a:r>
          </a:p>
        </p:txBody>
      </p:sp>
      <p:sp>
        <p:nvSpPr>
          <p:cNvPr id="5" name="タイトル 1">
            <a:extLst>
              <a:ext uri="{FF2B5EF4-FFF2-40B4-BE49-F238E27FC236}">
                <a16:creationId xmlns:a16="http://schemas.microsoft.com/office/drawing/2014/main" id="{2223494B-5776-7256-BAFB-772D4CDC079C}"/>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事業概要</a:t>
            </a:r>
          </a:p>
        </p:txBody>
      </p:sp>
      <p:sp>
        <p:nvSpPr>
          <p:cNvPr id="15" name="字幕 13">
            <a:extLst>
              <a:ext uri="{FF2B5EF4-FFF2-40B4-BE49-F238E27FC236}">
                <a16:creationId xmlns:a16="http://schemas.microsoft.com/office/drawing/2014/main" id="{1F008ACD-B486-E0BB-8334-06D21A697D08}"/>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a:ea typeface="游ゴシック"/>
              </a:rPr>
              <a:t>公設庄内青果物地方卸売市場（三川町）の卸売業者2社と長井中央青果(株)で買掛金残高の過半を占める。県内外の市場・産地業者からも仕入れ、品揃えを確保している。</a:t>
            </a:r>
          </a:p>
        </p:txBody>
      </p:sp>
      <p:graphicFrame>
        <p:nvGraphicFramePr>
          <p:cNvPr id="16" name="表（仕入先!B4:L15）"/>
          <p:cNvGraphicFramePr>
            <a:graphicFrameLocks noGrp="1"/>
          </p:cNvGraphicFramePr>
          <p:nvPr/>
        </p:nvGraphicFramePr>
        <p:xfrm>
          <a:off x="310896" y="1481328"/>
          <a:ext cx="10058391" cy="3009900"/>
        </p:xfrm>
        <a:graphic>
          <a:graphicData uri="http://schemas.openxmlformats.org/drawingml/2006/table">
            <a:tbl>
              <a:tblPr firstRow="0" bandRow="0">
                <a:tableStyleId>{2D5ABB26-0587-4C30-8999-92F81FD0307C}</a:tableStyleId>
              </a:tblPr>
              <a:tblGrid>
                <a:gridCol w="300284"/>
                <a:gridCol w="1925576"/>
                <a:gridCol w="939305"/>
                <a:gridCol w="2066668"/>
                <a:gridCol w="732462"/>
                <a:gridCol w="563289"/>
                <a:gridCol w="732462"/>
                <a:gridCol w="563289"/>
                <a:gridCol w="732462"/>
                <a:gridCol w="563289"/>
                <a:gridCol w="939305"/>
              </a:tblGrid>
              <a:tr h="190500">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900" b="0" i="0" dirty="0">
                          <a:solidFill>
                            <a:srgbClr val="000000"/>
                          </a:solidFill>
                          <a:latin typeface="游ゴシック"/>
                          <a:ea typeface="游ゴシック"/>
                        </a:rPr>
                        <a:t>(単位：千円)</a:t>
                      </a:r>
                      <a:endParaRPr lang="ja-JP" altLang="en-US" sz="90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r>
              <a:tr h="190500">
                <a:tc rowSpan="2">
                  <a:txBody>
                    <a:bodyPr/>
                    <a:lstStyle/>
                    <a:p>
                      <a:pPr algn="ctr" fontAlgn="ctr"/>
                      <a:r>
                        <a:rPr lang="ja-JP" altLang="en-US" sz="900" b="0" i="0" dirty="0">
                          <a:solidFill>
                            <a:srgbClr val="FFFFFF"/>
                          </a:solidFill>
                          <a:latin typeface="游ゴシック"/>
                          <a:ea typeface="游ゴシック"/>
                        </a:rPr>
                        <a:t>№</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rowSpan="2">
                  <a:txBody>
                    <a:bodyPr/>
                    <a:lstStyle/>
                    <a:p>
                      <a:pPr algn="ctr" fontAlgn="ctr"/>
                      <a:r>
                        <a:rPr lang="ja-JP" altLang="en-US" sz="900" b="0" i="0" dirty="0">
                          <a:solidFill>
                            <a:srgbClr val="FFFFFF"/>
                          </a:solidFill>
                          <a:latin typeface="游ゴシック"/>
                          <a:ea typeface="游ゴシック"/>
                        </a:rPr>
                        <a:t>仕入先</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rowSpan="2">
                  <a:txBody>
                    <a:bodyPr/>
                    <a:lstStyle/>
                    <a:p>
                      <a:pPr algn="ctr" fontAlgn="ctr"/>
                      <a:r>
                        <a:rPr lang="ja-JP" altLang="en-US" sz="900" b="0" i="0" dirty="0">
                          <a:solidFill>
                            <a:srgbClr val="FFFFFF"/>
                          </a:solidFill>
                          <a:latin typeface="游ゴシック"/>
                          <a:ea typeface="游ゴシック"/>
                        </a:rPr>
                        <a:t>本社所在地</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rowSpan="2">
                  <a:txBody>
                    <a:bodyPr/>
                    <a:lstStyle/>
                    <a:p>
                      <a:pPr algn="ctr" fontAlgn="ctr"/>
                      <a:r>
                        <a:rPr lang="ja-JP" altLang="en-US" sz="900" b="0" i="0" dirty="0">
                          <a:solidFill>
                            <a:srgbClr val="FFFFFF"/>
                          </a:solidFill>
                          <a:latin typeface="游ゴシック"/>
                          <a:ea typeface="游ゴシック"/>
                        </a:rPr>
                        <a:t>業種等</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gridSpan="2">
                  <a:txBody>
                    <a:bodyPr/>
                    <a:lstStyle/>
                    <a:p>
                      <a:pPr algn="ctr" fontAlgn="ctr"/>
                      <a:r>
                        <a:rPr lang="ja-JP" altLang="en-US" sz="900" b="0" i="0" dirty="0">
                          <a:solidFill>
                            <a:srgbClr val="FFFFFF"/>
                          </a:solidFill>
                          <a:latin typeface="游ゴシック"/>
                          <a:ea typeface="游ゴシック"/>
                        </a:rPr>
                        <a:t>2024年3月期末</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hMerge="1">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12700">
                      <a:solidFill>
                        <a:srgbClr val="FFFFFF"/>
                      </a:solidFill>
                    </a:lnR>
                    <a:lnT w="6350">
                      <a:noFill/>
                    </a:lnT>
                    <a:lnB w="6350">
                      <a:solidFill>
                        <a:srgbClr val="A6A6A6"/>
                      </a:solidFill>
                    </a:lnB>
                    <a:noFill/>
                  </a:tcPr>
                </a:tc>
                <a:tc gridSpan="2">
                  <a:txBody>
                    <a:bodyPr/>
                    <a:lstStyle/>
                    <a:p>
                      <a:pPr algn="ctr" fontAlgn="ctr"/>
                      <a:r>
                        <a:rPr lang="ja-JP" altLang="en-US" sz="900" b="0" i="0" dirty="0">
                          <a:solidFill>
                            <a:srgbClr val="FFFFFF"/>
                          </a:solidFill>
                          <a:latin typeface="游ゴシック"/>
                          <a:ea typeface="游ゴシック"/>
                        </a:rPr>
                        <a:t>2025年3月期末</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hMerge="1">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12700">
                      <a:solidFill>
                        <a:srgbClr val="FFFFFF"/>
                      </a:solidFill>
                    </a:lnR>
                    <a:lnT w="6350">
                      <a:noFill/>
                    </a:lnT>
                    <a:lnB w="6350">
                      <a:solidFill>
                        <a:srgbClr val="A6A6A6"/>
                      </a:solidFill>
                    </a:lnB>
                    <a:noFill/>
                  </a:tcPr>
                </a:tc>
                <a:tc gridSpan="2">
                  <a:txBody>
                    <a:bodyPr/>
                    <a:lstStyle/>
                    <a:p>
                      <a:pPr algn="ctr" fontAlgn="ctr"/>
                      <a:r>
                        <a:rPr lang="ja-JP" altLang="en-US" sz="900" b="0" i="0" dirty="0">
                          <a:solidFill>
                            <a:srgbClr val="FFFFFF"/>
                          </a:solidFill>
                          <a:latin typeface="游ゴシック"/>
                          <a:ea typeface="游ゴシック"/>
                        </a:rPr>
                        <a:t>2026年3月期末</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hMerge="1">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12700">
                      <a:solidFill>
                        <a:srgbClr val="FFFFFF"/>
                      </a:solidFill>
                    </a:lnR>
                    <a:lnT w="6350">
                      <a:noFill/>
                    </a:lnT>
                    <a:lnB w="6350">
                      <a:solidFill>
                        <a:srgbClr val="A6A6A6"/>
                      </a:solidFill>
                    </a:lnB>
                    <a:noFill/>
                  </a:tcPr>
                </a:tc>
                <a:tc rowSpan="2">
                  <a:txBody>
                    <a:bodyPr/>
                    <a:lstStyle/>
                    <a:p>
                      <a:pPr algn="ctr" fontAlgn="ctr"/>
                      <a:r>
                        <a:rPr lang="ja-JP" altLang="en-US" sz="900" b="0" i="0" dirty="0">
                          <a:solidFill>
                            <a:srgbClr val="FFFFFF"/>
                          </a:solidFill>
                          <a:latin typeface="游ゴシック"/>
                          <a:ea typeface="游ゴシック"/>
                        </a:rPr>
                        <a:t>備考</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r>
              <a:tr h="190500">
                <a:tc vMerge="1">
                  <a:txBody>
                    <a:bodyPr/>
                    <a:lstStyle/>
                    <a:p>
                      <a:pPr algn="l" fontAlgn="ctr"/>
                      <a:endParaRPr lang="ja-JP" altLang="en-US" sz="900" b="0" i="0" dirty="0">
                        <a:solidFill>
                          <a:srgbClr val="000000"/>
                        </a:solidFill>
                        <a:latin typeface="Calibri"/>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vMerge="1">
                  <a:txBody>
                    <a:bodyPr/>
                    <a:lstStyle/>
                    <a:p>
                      <a:pPr algn="l" fontAlgn="ctr"/>
                      <a:endParaRPr lang="ja-JP" altLang="en-US" sz="900" b="0" i="0" dirty="0">
                        <a:solidFill>
                          <a:srgbClr val="000000"/>
                        </a:solidFill>
                        <a:latin typeface="Calibri"/>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vMerge="1">
                  <a:txBody>
                    <a:bodyPr/>
                    <a:lstStyle/>
                    <a:p>
                      <a:pPr algn="l" fontAlgn="ctr"/>
                      <a:endParaRPr lang="ja-JP" altLang="en-US" sz="900" b="0" i="0" dirty="0">
                        <a:solidFill>
                          <a:srgbClr val="000000"/>
                        </a:solidFill>
                        <a:latin typeface="Calibri"/>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vMerge="1">
                  <a:txBody>
                    <a:bodyPr/>
                    <a:lstStyle/>
                    <a:p>
                      <a:pPr algn="l" fontAlgn="ctr"/>
                      <a:endParaRPr lang="ja-JP" altLang="en-US" sz="900" b="0" i="0" dirty="0">
                        <a:solidFill>
                          <a:srgbClr val="000000"/>
                        </a:solidFill>
                        <a:latin typeface="Calibri"/>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900" b="0" i="0" dirty="0">
                          <a:solidFill>
                            <a:srgbClr val="FFFFFF"/>
                          </a:solidFill>
                          <a:latin typeface="游ゴシック"/>
                          <a:ea typeface="游ゴシック"/>
                        </a:rPr>
                        <a:t>残高</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900" b="0" i="0" dirty="0">
                          <a:solidFill>
                            <a:srgbClr val="FFFFFF"/>
                          </a:solidFill>
                          <a:latin typeface="游ゴシック"/>
                          <a:ea typeface="游ゴシック"/>
                        </a:rPr>
                        <a:t>構成比</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900" b="0" i="0" dirty="0">
                          <a:solidFill>
                            <a:srgbClr val="FFFFFF"/>
                          </a:solidFill>
                          <a:latin typeface="游ゴシック"/>
                          <a:ea typeface="游ゴシック"/>
                        </a:rPr>
                        <a:t>残高</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900" b="0" i="0" dirty="0">
                          <a:solidFill>
                            <a:srgbClr val="FFFFFF"/>
                          </a:solidFill>
                          <a:latin typeface="游ゴシック"/>
                          <a:ea typeface="游ゴシック"/>
                        </a:rPr>
                        <a:t>構成比</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900" b="0" i="0" dirty="0">
                          <a:solidFill>
                            <a:srgbClr val="FFFFFF"/>
                          </a:solidFill>
                          <a:latin typeface="游ゴシック"/>
                          <a:ea typeface="游ゴシック"/>
                        </a:rPr>
                        <a:t>残高</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900" b="0" i="0" dirty="0">
                          <a:solidFill>
                            <a:srgbClr val="FFFFFF"/>
                          </a:solidFill>
                          <a:latin typeface="游ゴシック"/>
                          <a:ea typeface="游ゴシック"/>
                        </a:rPr>
                        <a:t>構成比</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vMerge="1">
                  <a:txBody>
                    <a:bodyPr/>
                    <a:lstStyle/>
                    <a:p>
                      <a:pPr algn="l" fontAlgn="ctr"/>
                      <a:endParaRPr lang="ja-JP" altLang="en-US" sz="900" b="0" i="0" dirty="0">
                        <a:solidFill>
                          <a:srgbClr val="000000"/>
                        </a:solidFill>
                        <a:latin typeface="Calibri"/>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79400">
                <a:tc>
                  <a:txBody>
                    <a:bodyPr/>
                    <a:lstStyle/>
                    <a:p>
                      <a:pPr algn="ctr" fontAlgn="ctr"/>
                      <a:r>
                        <a:rPr lang="ja-JP" altLang="en-US" sz="900" b="0" i="0" dirty="0">
                          <a:solidFill>
                            <a:srgbClr val="000000"/>
                          </a:solidFill>
                          <a:latin typeface="游ゴシック"/>
                          <a:ea typeface="游ゴシック"/>
                        </a:rPr>
                        <a:t>1</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丸果庄内青果(株)</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三川町</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青果卸（公設庄内青果物地方卸売市場）</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6,569</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36.2%</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5,733</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28.7%</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12,426</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47.2%</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79400">
                <a:tc>
                  <a:txBody>
                    <a:bodyPr/>
                    <a:lstStyle/>
                    <a:p>
                      <a:pPr algn="ctr" fontAlgn="ctr"/>
                      <a:r>
                        <a:rPr lang="ja-JP" altLang="en-US" sz="900" b="0" i="0" dirty="0">
                          <a:solidFill>
                            <a:srgbClr val="000000"/>
                          </a:solidFill>
                          <a:latin typeface="游ゴシック"/>
                          <a:ea typeface="游ゴシック"/>
                        </a:rPr>
                        <a:t>2</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長井中央青果(株)</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長井市</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青果卸</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1,308</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7.2%</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2,087</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10.5%</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7,398</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28.1%</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79400">
                <a:tc>
                  <a:txBody>
                    <a:bodyPr/>
                    <a:lstStyle/>
                    <a:p>
                      <a:pPr algn="ctr" fontAlgn="ctr"/>
                      <a:r>
                        <a:rPr lang="ja-JP" altLang="en-US" sz="900" b="0" i="0" dirty="0">
                          <a:solidFill>
                            <a:srgbClr val="000000"/>
                          </a:solidFill>
                          <a:latin typeface="游ゴシック"/>
                          <a:ea typeface="游ゴシック"/>
                        </a:rPr>
                        <a:t>3</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(株)庄果</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三川町</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青果卸（公設庄内青果物地方卸売市場）</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3,611</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19.9%</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4,496</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22.5%</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79400">
                <a:tc>
                  <a:txBody>
                    <a:bodyPr/>
                    <a:lstStyle/>
                    <a:p>
                      <a:pPr algn="ctr" fontAlgn="ctr"/>
                      <a:r>
                        <a:rPr lang="ja-JP" altLang="en-US" sz="900" b="0" i="0" dirty="0">
                          <a:solidFill>
                            <a:srgbClr val="000000"/>
                          </a:solidFill>
                          <a:latin typeface="游ゴシック"/>
                          <a:ea typeface="游ゴシック"/>
                        </a:rPr>
                        <a:t>4</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(株)マルト直治郎商店</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三川町</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1,229</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6.8%</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1,954</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9.8%</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677</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2.6%</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79400">
                <a:tc>
                  <a:txBody>
                    <a:bodyPr/>
                    <a:lstStyle/>
                    <a:p>
                      <a:pPr algn="ctr" fontAlgn="ctr"/>
                      <a:r>
                        <a:rPr lang="ja-JP" altLang="en-US" sz="900" b="0" i="0" dirty="0">
                          <a:solidFill>
                            <a:srgbClr val="000000"/>
                          </a:solidFill>
                          <a:latin typeface="游ゴシック"/>
                          <a:ea typeface="游ゴシック"/>
                        </a:rPr>
                        <a:t>5</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成田食品(株)</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福島県相馬市</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541</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3.0%</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699</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3.5%</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615</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2.3%</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79400">
                <a:tc>
                  <a:txBody>
                    <a:bodyPr/>
                    <a:lstStyle/>
                    <a:p>
                      <a:pPr algn="ctr" fontAlgn="ctr"/>
                      <a:r>
                        <a:rPr lang="ja-JP" altLang="en-US" sz="900" b="0" i="0" dirty="0">
                          <a:solidFill>
                            <a:srgbClr val="000000"/>
                          </a:solidFill>
                          <a:latin typeface="游ゴシック"/>
                          <a:ea typeface="游ゴシック"/>
                        </a:rPr>
                        <a:t>6</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(株)ファーマインド</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東京都千代田区</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青果流通（バナナ等・推察）</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707</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2.7%</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79400">
                <a:tc>
                  <a:txBody>
                    <a:bodyPr/>
                    <a:lstStyle/>
                    <a:p>
                      <a:pPr algn="ctr" fontAlgn="ctr"/>
                      <a:r>
                        <a:rPr lang="ja-JP" altLang="en-US" sz="900" b="0" i="0" dirty="0">
                          <a:solidFill>
                            <a:srgbClr val="000000"/>
                          </a:solidFill>
                          <a:latin typeface="游ゴシック"/>
                          <a:ea typeface="游ゴシック"/>
                        </a:rPr>
                        <a:t>7</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(株)東根農産センター</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東根市</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548</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2.1%</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79400">
                <a:tc>
                  <a:txBody>
                    <a:bodyPr/>
                    <a:lstStyle/>
                    <a:p>
                      <a:pPr algn="ctr" fontAlgn="ct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その他</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4,870</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26.9%</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4,986</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25.0%</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3,979</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15.1%</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03200">
                <a:tc>
                  <a:txBody>
                    <a:bodyPr/>
                    <a:lstStyle/>
                    <a:p>
                      <a:pPr algn="l" fontAlgn="ctr"/>
                      <a:endParaRPr lang="ja-JP" altLang="en-US" sz="90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l" fontAlgn="ctr"/>
                      <a:r>
                        <a:rPr lang="ja-JP" altLang="en-US" sz="900" b="1" i="0" dirty="0">
                          <a:solidFill>
                            <a:srgbClr val="000000"/>
                          </a:solidFill>
                          <a:latin typeface="游ゴシック"/>
                          <a:ea typeface="游ゴシック"/>
                        </a:rPr>
                        <a:t>合計</a:t>
                      </a:r>
                      <a:endParaRPr lang="ja-JP" altLang="en-US" sz="90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l" fontAlgn="ctr"/>
                      <a:endParaRPr lang="ja-JP" altLang="en-US" sz="90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l" fontAlgn="ctr"/>
                      <a:endParaRPr lang="ja-JP" altLang="en-US" sz="90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900" b="1" i="0" dirty="0">
                          <a:solidFill>
                            <a:srgbClr val="000000"/>
                          </a:solidFill>
                          <a:latin typeface="Arial"/>
                          <a:ea typeface="游ゴシック Medium"/>
                        </a:rPr>
                        <a:t>18,128</a:t>
                      </a:r>
                      <a:endParaRPr lang="ja-JP" altLang="en-US" sz="9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900" b="1" i="0" dirty="0">
                          <a:solidFill>
                            <a:srgbClr val="000000"/>
                          </a:solidFill>
                          <a:latin typeface="Arial"/>
                          <a:ea typeface="游ゴシック Medium"/>
                        </a:rPr>
                        <a:t>100.0%</a:t>
                      </a:r>
                      <a:endParaRPr lang="ja-JP" altLang="en-US" sz="9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900" b="1" i="0" dirty="0">
                          <a:solidFill>
                            <a:srgbClr val="000000"/>
                          </a:solidFill>
                          <a:latin typeface="Arial"/>
                          <a:ea typeface="游ゴシック Medium"/>
                        </a:rPr>
                        <a:t>19,955</a:t>
                      </a:r>
                      <a:endParaRPr lang="ja-JP" altLang="en-US" sz="9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900" b="1" i="0" dirty="0">
                          <a:solidFill>
                            <a:srgbClr val="000000"/>
                          </a:solidFill>
                          <a:latin typeface="Arial"/>
                          <a:ea typeface="游ゴシック Medium"/>
                        </a:rPr>
                        <a:t>100.0%</a:t>
                      </a:r>
                      <a:endParaRPr lang="ja-JP" altLang="en-US" sz="9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900" b="1" i="0" dirty="0">
                          <a:solidFill>
                            <a:srgbClr val="000000"/>
                          </a:solidFill>
                          <a:latin typeface="Arial"/>
                          <a:ea typeface="游ゴシック Medium"/>
                        </a:rPr>
                        <a:t>26,349</a:t>
                      </a:r>
                      <a:endParaRPr lang="ja-JP" altLang="en-US" sz="9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900" b="1" i="0" dirty="0">
                          <a:solidFill>
                            <a:srgbClr val="000000"/>
                          </a:solidFill>
                          <a:latin typeface="Arial"/>
                          <a:ea typeface="游ゴシック Medium"/>
                        </a:rPr>
                        <a:t>100.0%</a:t>
                      </a:r>
                      <a:endParaRPr lang="ja-JP" altLang="en-US" sz="9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l" fontAlgn="ctr"/>
                      <a:endParaRPr lang="ja-JP" altLang="en-US" sz="90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r>
            </a:tbl>
          </a:graphicData>
        </a:graphic>
      </p:graphicFrame>
      <p:sp>
        <p:nvSpPr>
          <p:cNvPr id="17" name="TextBox 16"/>
          <p:cNvSpPr txBox="1"/>
          <p:nvPr/>
        </p:nvSpPr>
        <p:spPr>
          <a:xfrm>
            <a:off x="310896" y="4628388"/>
            <a:ext cx="10058400" cy="329184"/>
          </a:xfrm>
          <a:prstGeom prst="rect">
            <a:avLst/>
          </a:prstGeom>
          <a:noFill/>
        </p:spPr>
        <p:txBody>
          <a:bodyPr wrap="square" lIns="0" rIns="0" tIns="0" bIns="0" anchor="t">
            <a:spAutoFit/>
          </a:bodyPr>
          <a:lstStyle/>
          <a:p>
            <a:pPr algn="l"/>
            <a:r>
              <a:rPr sz="800" b="0">
                <a:solidFill>
                  <a:srgbClr val="000000"/>
                </a:solidFill>
                <a:latin typeface="游ゴシック"/>
                <a:ea typeface="游ゴシック"/>
              </a:rPr>
              <a:t>※勘定科目内訳明細書の期末残高（50万円以上の相手先を個別記載）。年間取引高ではないため取引規模の順位とは異なる可能性がある（年間取引高は資料依頼中）。</a:t>
            </a:r>
          </a:p>
          <a:p>
            <a:pPr algn="l"/>
            <a:r>
              <a:rPr sz="800" b="0">
                <a:solidFill>
                  <a:srgbClr val="000000"/>
                </a:solidFill>
                <a:latin typeface="游ゴシック"/>
                <a:ea typeface="游ゴシック"/>
              </a:rPr>
              <a:t>※業種等は公開情報等からの推察を含む。</a:t>
            </a:r>
          </a:p>
        </p:txBody>
      </p:sp>
    </p:spTree>
    <p:extLst>
      <p:ext uri="{BB962C8B-B14F-4D97-AF65-F5344CB8AC3E}">
        <p14:creationId xmlns:p14="http://schemas.microsoft.com/office/powerpoint/2010/main" val="19629684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E7C0C1-FCD4-88FA-EA3C-20168900DCC8}"/>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AE20CDE1-7008-F0D4-81FD-53AE154BF5EA}"/>
              </a:ext>
            </a:extLst>
          </p:cNvPr>
          <p:cNvSpPr>
            <a:spLocks noGrp="1"/>
          </p:cNvSpPr>
          <p:nvPr>
            <p:ph type="ctrTitle"/>
          </p:nvPr>
        </p:nvSpPr>
        <p:spPr>
          <a:xfrm>
            <a:off x="311150" y="180296"/>
            <a:ext cx="7799917" cy="339267"/>
          </a:xfrm>
        </p:spPr>
        <p:txBody>
          <a:bodyPr>
            <a:normAutofit/>
          </a:bodyPr>
          <a:lstStyle/>
          <a:p>
            <a:r>
              <a:rPr lang="ja-JP" altLang="en-US" dirty="0"/>
              <a:t>月別売上高（2026/3期）</a:t>
            </a:r>
          </a:p>
        </p:txBody>
      </p:sp>
      <p:sp>
        <p:nvSpPr>
          <p:cNvPr id="5" name="タイトル 1">
            <a:extLst>
              <a:ext uri="{FF2B5EF4-FFF2-40B4-BE49-F238E27FC236}">
                <a16:creationId xmlns:a16="http://schemas.microsoft.com/office/drawing/2014/main" id="{6790A563-0096-2902-0624-D66AB2A099BD}"/>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事業概要</a:t>
            </a:r>
          </a:p>
        </p:txBody>
      </p:sp>
      <p:sp>
        <p:nvSpPr>
          <p:cNvPr id="7" name="字幕 13">
            <a:extLst>
              <a:ext uri="{FF2B5EF4-FFF2-40B4-BE49-F238E27FC236}">
                <a16:creationId xmlns:a16="http://schemas.microsoft.com/office/drawing/2014/main" id="{C28AC2D5-7B01-C5B2-1062-1CE28DB5BD3C}"/>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a:ea typeface="游ゴシック"/>
              </a:rPr>
              <a:t>繁忙期は7〜12月、閑散期は1〜5月。2026/3期は7月の146百万円がピークで、1〜2月の約70百万円とは約2倍の差がある。</a:t>
            </a:r>
          </a:p>
        </p:txBody>
      </p:sp>
      <p:graphicFrame>
        <p:nvGraphicFramePr>
          <p:cNvPr id="14" name="Chart 13"/>
          <p:cNvGraphicFramePr>
            <a:graphicFrameLocks noGrp="1"/>
          </p:cNvGraphicFramePr>
          <p:nvPr/>
        </p:nvGraphicFramePr>
        <p:xfrm>
          <a:off x="310896" y="1417320"/>
          <a:ext cx="6675120" cy="3429000"/>
        </p:xfrm>
        <a:graphic>
          <a:graphicData uri="http://schemas.openxmlformats.org/drawingml/2006/chart">
            <c:chart xmlns:c="http://schemas.openxmlformats.org/drawingml/2006/chart" r:id="rId4"/>
          </a:graphicData>
        </a:graphic>
      </p:graphicFrame>
      <p:sp>
        <p:nvSpPr>
          <p:cNvPr id="15" name="正方形/長方形 7">
            <a:extLst>
              <a:ext uri="{FF2B5EF4-FFF2-40B4-BE49-F238E27FC236}">
                <a16:creationId xmlns:a16="http://schemas.microsoft.com/office/drawing/2014/main" id="{CBD334A9-999C-ACD4-9DD2-EF961CBA0926}"/>
              </a:ext>
            </a:extLst>
          </p:cNvPr>
          <p:cNvSpPr/>
          <p:nvPr/>
        </p:nvSpPr>
        <p:spPr>
          <a:xfrm>
            <a:off x="7178040" y="1417320"/>
            <a:ext cx="3154680" cy="3429000"/>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252000" rIns="0" bIns="0" rtlCol="0" anchor="t"/>
          <a:lstStyle/>
          <a:p>
            <a:pPr algn="ctr"/>
            <a:r>
              <a:rPr kumimoji="1" lang="en-US" altLang="ja-JP" sz="1600" b="1" dirty="0">
                <a:solidFill>
                  <a:schemeClr val="tx2"/>
                </a:solidFill>
                <a:latin typeface="+mj-lt"/>
                <a:ea typeface="+mj-ea"/>
              </a:rPr>
              <a:t>Comment</a:t>
            </a:r>
            <a:endParaRPr kumimoji="1" lang="ja-JP" altLang="en-US" sz="1600" b="1" dirty="0">
              <a:solidFill>
                <a:schemeClr val="tx2"/>
              </a:solidFill>
              <a:latin typeface="+mj-lt"/>
              <a:ea typeface="+mj-ea"/>
            </a:endParaRPr>
          </a:p>
        </p:txBody>
      </p:sp>
      <p:sp>
        <p:nvSpPr>
          <p:cNvPr id="16" name="テキスト ボックス 8">
            <a:extLst>
              <a:ext uri="{FF2B5EF4-FFF2-40B4-BE49-F238E27FC236}">
                <a16:creationId xmlns:a16="http://schemas.microsoft.com/office/drawing/2014/main" id="{E5084622-1D6B-783F-80DE-6D9A498C7C12}"/>
              </a:ext>
            </a:extLst>
          </p:cNvPr>
          <p:cNvSpPr txBox="1"/>
          <p:nvPr/>
        </p:nvSpPr>
        <p:spPr>
          <a:xfrm>
            <a:off x="7178040" y="1874519"/>
            <a:ext cx="3154680" cy="2926080"/>
          </a:xfrm>
          <a:prstGeom prst="rect">
            <a:avLst/>
          </a:prstGeom>
          <a:noFill/>
        </p:spPr>
        <p:txBody>
          <a:bodyPr wrap="square" lIns="288000" tIns="0" rIns="252000" bIns="0" rtlCol="0">
            <a:spAutoFit/>
          </a:bodyPr>
          <a:lstStyle/>
          <a:p>
            <a:pPr>
              <a:spcAft>
                <a:spcPts val="300"/>
              </a:spcAft>
            </a:pPr>
            <a:r>
              <a:rPr lang="ja-JP" altLang="en-US" sz="1000" b="1" dirty="0">
                <a:solidFill>
                  <a:sysClr val="windowText" lastClr="000000"/>
                </a:solidFill>
                <a:latin typeface="游ゴシック"/>
                <a:ea typeface="游ゴシック"/>
              </a:rPr>
              <a:t>≪季節性≫</a:t>
            </a:r>
          </a:p>
          <a:p>
            <a:pPr>
              <a:spcAft>
                <a:spcPts val="300"/>
              </a:spcAft>
            </a:pPr>
            <a:r>
              <a:rPr lang="ja-JP" altLang="en-US" sz="900" b="0" dirty="0">
                <a:solidFill>
                  <a:sysClr val="windowText" lastClr="000000"/>
                </a:solidFill>
                <a:latin typeface="游ゴシック"/>
                <a:ea typeface="游ゴシック"/>
              </a:rPr>
              <a:t>・月平均100百万円に対し、7月は1.47倍、8月は1.39倍。</a:t>
            </a:r>
          </a:p>
          <a:p>
            <a:pPr>
              <a:spcAft>
                <a:spcPts val="300"/>
              </a:spcAft>
            </a:pPr>
            <a:r>
              <a:rPr lang="ja-JP" altLang="en-US" sz="1000" b="1" dirty="0">
                <a:solidFill>
                  <a:sysClr val="windowText" lastClr="000000"/>
                </a:solidFill>
                <a:latin typeface="游ゴシック"/>
                <a:ea typeface="游ゴシック"/>
              </a:rPr>
              <a:t>≪主な地元産品≫</a:t>
            </a:r>
          </a:p>
          <a:p>
            <a:pPr>
              <a:spcAft>
                <a:spcPts val="300"/>
              </a:spcAft>
            </a:pPr>
            <a:r>
              <a:rPr lang="ja-JP" altLang="en-US" sz="900" b="0" dirty="0">
                <a:solidFill>
                  <a:sysClr val="windowText" lastClr="000000"/>
                </a:solidFill>
                <a:latin typeface="游ゴシック"/>
                <a:ea typeface="游ゴシック"/>
              </a:rPr>
              <a:t>・庄内柿、和梨、さくらんぼ、メロン、シャインマスカット等。果物は概ね11月頃まで。12月〜正月は関東の仲卸からも仕入れて需要に対応。</a:t>
            </a:r>
          </a:p>
          <a:p>
            <a:pPr>
              <a:spcAft>
                <a:spcPts val="300"/>
              </a:spcAft>
            </a:pPr>
            <a:r>
              <a:rPr lang="ja-JP" altLang="en-US" sz="1000" b="1" dirty="0">
                <a:solidFill>
                  <a:sysClr val="windowText" lastClr="000000"/>
                </a:solidFill>
                <a:latin typeface="游ゴシック"/>
                <a:ea typeface="游ゴシック"/>
              </a:rPr>
              <a:t>≪運転資金≫</a:t>
            </a:r>
          </a:p>
          <a:p>
            <a:pPr>
              <a:spcAft>
                <a:spcPts val="300"/>
              </a:spcAft>
            </a:pPr>
            <a:r>
              <a:rPr lang="ja-JP" altLang="en-US" sz="900" b="0" dirty="0">
                <a:solidFill>
                  <a:sysClr val="windowText" lastClr="000000"/>
                </a:solidFill>
                <a:latin typeface="游ゴシック"/>
                <a:ea typeface="游ゴシック"/>
              </a:rPr>
              <a:t>・2026年7月末の売上債権43.0百万円・在庫36.6百万円は3月末から増加。</a:t>
            </a:r>
          </a:p>
        </p:txBody>
      </p:sp>
      <p:graphicFrame>
        <p:nvGraphicFramePr>
          <p:cNvPr id="17" name="表（月別売上!B4:O8）"/>
          <p:cNvGraphicFramePr>
            <a:graphicFrameLocks noGrp="1"/>
          </p:cNvGraphicFramePr>
          <p:nvPr/>
        </p:nvGraphicFramePr>
        <p:xfrm>
          <a:off x="310896" y="5029200"/>
          <a:ext cx="10021817" cy="1079500"/>
        </p:xfrm>
        <a:graphic>
          <a:graphicData uri="http://schemas.openxmlformats.org/drawingml/2006/table">
            <a:tbl>
              <a:tblPr firstRow="0" bandRow="0">
                <a:tableStyleId>{2D5ABB26-0587-4C30-8999-92F81FD0307C}</a:tableStyleId>
              </a:tblPr>
              <a:tblGrid>
                <a:gridCol w="978977"/>
                <a:gridCol w="680570"/>
                <a:gridCol w="680570"/>
                <a:gridCol w="680570"/>
                <a:gridCol w="680570"/>
                <a:gridCol w="680570"/>
                <a:gridCol w="680570"/>
                <a:gridCol w="680570"/>
                <a:gridCol w="680570"/>
                <a:gridCol w="680570"/>
                <a:gridCol w="680570"/>
                <a:gridCol w="680570"/>
                <a:gridCol w="680570"/>
                <a:gridCol w="876000"/>
              </a:tblGrid>
              <a:tr h="190500">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900" b="0" i="0" dirty="0">
                          <a:solidFill>
                            <a:srgbClr val="000000"/>
                          </a:solidFill>
                          <a:latin typeface="游ゴシック"/>
                          <a:ea typeface="游ゴシック"/>
                        </a:rPr>
                        <a:t>(単位：千円)</a:t>
                      </a:r>
                      <a:endParaRPr lang="ja-JP" altLang="en-US" sz="90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r>
              <a:tr h="228600">
                <a:tc>
                  <a:txBody>
                    <a:bodyPr/>
                    <a:lstStyle/>
                    <a:p>
                      <a:pPr algn="ctr" fontAlgn="ct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4月</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5月</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6月</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7月</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8月</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9月</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10月</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11月</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12月</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1月</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2月</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3月</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合計</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r>
              <a:tr h="241300">
                <a:tc>
                  <a:txBody>
                    <a:bodyPr/>
                    <a:lstStyle/>
                    <a:p>
                      <a:pPr algn="l" fontAlgn="ctr"/>
                      <a:r>
                        <a:rPr lang="ja-JP" altLang="en-US" sz="1050" b="0" i="0" dirty="0">
                          <a:solidFill>
                            <a:srgbClr val="000000"/>
                          </a:solidFill>
                          <a:latin typeface="游ゴシック"/>
                          <a:ea typeface="游ゴシック"/>
                        </a:rPr>
                        <a:t>売上高</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1050" b="0" i="0" dirty="0">
                          <a:solidFill>
                            <a:srgbClr val="000000"/>
                          </a:solidFill>
                          <a:latin typeface="Arial"/>
                          <a:ea typeface="游ゴシック Medium"/>
                        </a:rPr>
                        <a:t>87,736</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101,698</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83,794</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146,060</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138,177</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110,175</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106,499</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100,617</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98,058</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69,520</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69,339</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84,221</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1" i="0" dirty="0">
                          <a:solidFill>
                            <a:srgbClr val="000000"/>
                          </a:solidFill>
                          <a:latin typeface="Arial"/>
                          <a:ea typeface="游ゴシック Medium"/>
                        </a:rPr>
                        <a:t>1,195,894</a:t>
                      </a:r>
                      <a:endParaRPr lang="ja-JP" altLang="en-US" sz="105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r>
              <a:tr h="241300">
                <a:tc>
                  <a:txBody>
                    <a:bodyPr/>
                    <a:lstStyle/>
                    <a:p>
                      <a:pPr algn="l" fontAlgn="ctr"/>
                      <a:r>
                        <a:rPr lang="ja-JP" altLang="en-US" sz="1050" b="0" i="0" dirty="0">
                          <a:solidFill>
                            <a:srgbClr val="000000"/>
                          </a:solidFill>
                          <a:latin typeface="游ゴシック"/>
                          <a:ea typeface="游ゴシック"/>
                        </a:rPr>
                        <a:t>仕入高</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1050" b="0" i="0" dirty="0">
                          <a:solidFill>
                            <a:srgbClr val="000000"/>
                          </a:solidFill>
                          <a:latin typeface="Arial"/>
                          <a:ea typeface="游ゴシック Medium"/>
                        </a:rPr>
                        <a:t>76,904</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86,235</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74,095</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139,243</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96,826</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85,074</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84,386</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85,425</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82,345</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56,698</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58,088</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70,716</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1" i="0" dirty="0">
                          <a:solidFill>
                            <a:srgbClr val="000000"/>
                          </a:solidFill>
                          <a:latin typeface="Arial"/>
                          <a:ea typeface="游ゴシック Medium"/>
                        </a:rPr>
                        <a:t>996,035</a:t>
                      </a:r>
                      <a:endParaRPr lang="ja-JP" altLang="en-US" sz="105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r>
              <a:tr h="177800">
                <a:tc>
                  <a:txBody>
                    <a:bodyPr/>
                    <a:lstStyle/>
                    <a:p>
                      <a:pPr algn="r" fontAlgn="ctr"/>
                      <a:r>
                        <a:rPr lang="ja-JP" altLang="en-US" sz="700" b="0" i="1" dirty="0">
                          <a:solidFill>
                            <a:srgbClr val="000000"/>
                          </a:solidFill>
                          <a:latin typeface="游ゴシック"/>
                          <a:ea typeface="游ゴシック"/>
                        </a:rPr>
                        <a:t>月平均比</a:t>
                      </a:r>
                      <a:endParaRPr lang="ja-JP" altLang="en-US" sz="700" b="0" i="1"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700" b="0" i="1" dirty="0">
                          <a:solidFill>
                            <a:srgbClr val="000000"/>
                          </a:solidFill>
                          <a:latin typeface="Arial"/>
                          <a:ea typeface="游ゴシック Medium"/>
                        </a:rPr>
                        <a:t>0.88倍</a:t>
                      </a:r>
                      <a:endParaRPr lang="ja-JP" altLang="en-US" sz="700" b="0" i="1"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700" b="0" i="1" dirty="0">
                          <a:solidFill>
                            <a:srgbClr val="000000"/>
                          </a:solidFill>
                          <a:latin typeface="Arial"/>
                          <a:ea typeface="游ゴシック Medium"/>
                        </a:rPr>
                        <a:t>1.02倍</a:t>
                      </a:r>
                      <a:endParaRPr lang="ja-JP" altLang="en-US" sz="700" b="0" i="1"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700" b="0" i="1" dirty="0">
                          <a:solidFill>
                            <a:srgbClr val="000000"/>
                          </a:solidFill>
                          <a:latin typeface="Arial"/>
                          <a:ea typeface="游ゴシック Medium"/>
                        </a:rPr>
                        <a:t>0.84倍</a:t>
                      </a:r>
                      <a:endParaRPr lang="ja-JP" altLang="en-US" sz="700" b="0" i="1"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700" b="0" i="1" dirty="0">
                          <a:solidFill>
                            <a:srgbClr val="000000"/>
                          </a:solidFill>
                          <a:latin typeface="Arial"/>
                          <a:ea typeface="游ゴシック Medium"/>
                        </a:rPr>
                        <a:t>1.47倍</a:t>
                      </a:r>
                      <a:endParaRPr lang="ja-JP" altLang="en-US" sz="700" b="0" i="1"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700" b="0" i="1" dirty="0">
                          <a:solidFill>
                            <a:srgbClr val="000000"/>
                          </a:solidFill>
                          <a:latin typeface="Arial"/>
                          <a:ea typeface="游ゴシック Medium"/>
                        </a:rPr>
                        <a:t>1.39倍</a:t>
                      </a:r>
                      <a:endParaRPr lang="ja-JP" altLang="en-US" sz="700" b="0" i="1"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700" b="0" i="1" dirty="0">
                          <a:solidFill>
                            <a:srgbClr val="000000"/>
                          </a:solidFill>
                          <a:latin typeface="Arial"/>
                          <a:ea typeface="游ゴシック Medium"/>
                        </a:rPr>
                        <a:t>1.11倍</a:t>
                      </a:r>
                      <a:endParaRPr lang="ja-JP" altLang="en-US" sz="700" b="0" i="1"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700" b="0" i="1" dirty="0">
                          <a:solidFill>
                            <a:srgbClr val="000000"/>
                          </a:solidFill>
                          <a:latin typeface="Arial"/>
                          <a:ea typeface="游ゴシック Medium"/>
                        </a:rPr>
                        <a:t>1.07倍</a:t>
                      </a:r>
                      <a:endParaRPr lang="ja-JP" altLang="en-US" sz="700" b="0" i="1"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700" b="0" i="1" dirty="0">
                          <a:solidFill>
                            <a:srgbClr val="000000"/>
                          </a:solidFill>
                          <a:latin typeface="Arial"/>
                          <a:ea typeface="游ゴシック Medium"/>
                        </a:rPr>
                        <a:t>1.01倍</a:t>
                      </a:r>
                      <a:endParaRPr lang="ja-JP" altLang="en-US" sz="700" b="0" i="1"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700" b="0" i="1" dirty="0">
                          <a:solidFill>
                            <a:srgbClr val="000000"/>
                          </a:solidFill>
                          <a:latin typeface="Arial"/>
                          <a:ea typeface="游ゴシック Medium"/>
                        </a:rPr>
                        <a:t>0.98倍</a:t>
                      </a:r>
                      <a:endParaRPr lang="ja-JP" altLang="en-US" sz="700" b="0" i="1"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700" b="0" i="1" dirty="0">
                          <a:solidFill>
                            <a:srgbClr val="000000"/>
                          </a:solidFill>
                          <a:latin typeface="Arial"/>
                          <a:ea typeface="游ゴシック Medium"/>
                        </a:rPr>
                        <a:t>0.70倍</a:t>
                      </a:r>
                      <a:endParaRPr lang="ja-JP" altLang="en-US" sz="700" b="0" i="1"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700" b="0" i="1" dirty="0">
                          <a:solidFill>
                            <a:srgbClr val="000000"/>
                          </a:solidFill>
                          <a:latin typeface="Arial"/>
                          <a:ea typeface="游ゴシック Medium"/>
                        </a:rPr>
                        <a:t>0.70倍</a:t>
                      </a:r>
                      <a:endParaRPr lang="ja-JP" altLang="en-US" sz="700" b="0" i="1"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700" b="0" i="1" dirty="0">
                          <a:solidFill>
                            <a:srgbClr val="000000"/>
                          </a:solidFill>
                          <a:latin typeface="Arial"/>
                          <a:ea typeface="游ゴシック Medium"/>
                        </a:rPr>
                        <a:t>0.85倍</a:t>
                      </a:r>
                      <a:endParaRPr lang="ja-JP" altLang="en-US" sz="700" b="0" i="1"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endParaRPr lang="ja-JP" altLang="en-US" sz="700" b="0" i="1"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bl>
          </a:graphicData>
        </a:graphic>
      </p:graphicFrame>
      <p:sp>
        <p:nvSpPr>
          <p:cNvPr id="18" name="TextBox 17"/>
          <p:cNvSpPr txBox="1"/>
          <p:nvPr/>
        </p:nvSpPr>
        <p:spPr>
          <a:xfrm>
            <a:off x="310896" y="6163563"/>
            <a:ext cx="10021824" cy="164592"/>
          </a:xfrm>
          <a:prstGeom prst="rect">
            <a:avLst/>
          </a:prstGeom>
          <a:noFill/>
        </p:spPr>
        <p:txBody>
          <a:bodyPr wrap="square" lIns="0" rIns="0" tIns="0" bIns="0" anchor="t">
            <a:spAutoFit/>
          </a:bodyPr>
          <a:lstStyle/>
          <a:p>
            <a:pPr algn="l"/>
            <a:r>
              <a:rPr sz="800" b="0">
                <a:solidFill>
                  <a:srgbClr val="000000"/>
                </a:solidFill>
                <a:latin typeface="游ゴシック"/>
                <a:ea typeface="游ゴシック"/>
              </a:rPr>
              <a:t>※出所：法人事業概況説明書（2026/3期）の月別売上・仕入金額。</a:t>
            </a:r>
          </a:p>
        </p:txBody>
      </p:sp>
    </p:spTree>
    <p:extLst>
      <p:ext uri="{BB962C8B-B14F-4D97-AF65-F5344CB8AC3E}">
        <p14:creationId xmlns:p14="http://schemas.microsoft.com/office/powerpoint/2010/main" val="29325859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EAEF2-738C-97B3-4696-F3BB344E559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D6C9D74-25B9-202B-100C-14E88F8A35B4}"/>
              </a:ext>
            </a:extLst>
          </p:cNvPr>
          <p:cNvSpPr>
            <a:spLocks noGrp="1"/>
          </p:cNvSpPr>
          <p:nvPr>
            <p:ph type="title"/>
          </p:nvPr>
        </p:nvSpPr>
        <p:spPr>
          <a:xfrm>
            <a:off x="989013" y="3656161"/>
            <a:ext cx="9221787" cy="615553"/>
          </a:xfrm>
        </p:spPr>
        <p:txBody>
          <a:bodyPr/>
          <a:lstStyle/>
          <a:p>
            <a:r>
              <a:rPr lang="ja-JP" altLang="en-US" dirty="0"/>
              <a:t>組織、拠点、設備等</a:t>
            </a:r>
            <a:endParaRPr lang="en-US" altLang="ja-JP" dirty="0"/>
          </a:p>
        </p:txBody>
      </p:sp>
    </p:spTree>
    <p:extLst>
      <p:ext uri="{BB962C8B-B14F-4D97-AF65-F5344CB8AC3E}">
        <p14:creationId xmlns:p14="http://schemas.microsoft.com/office/powerpoint/2010/main" val="1797825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BDBCD3-5A3B-2BD8-C28A-632388175E8D}"/>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59B21744-4533-BD30-603B-B8A7A98290C9}"/>
              </a:ext>
            </a:extLst>
          </p:cNvPr>
          <p:cNvSpPr>
            <a:spLocks noGrp="1"/>
          </p:cNvSpPr>
          <p:nvPr>
            <p:ph type="ctrTitle"/>
          </p:nvPr>
        </p:nvSpPr>
        <p:spPr>
          <a:xfrm>
            <a:off x="311150" y="180296"/>
            <a:ext cx="7799917" cy="339267"/>
          </a:xfrm>
        </p:spPr>
        <p:txBody>
          <a:bodyPr>
            <a:normAutofit/>
          </a:bodyPr>
          <a:lstStyle/>
          <a:p>
            <a:r>
              <a:rPr lang="ja-JP" altLang="en-US" dirty="0"/>
              <a:t>組織図</a:t>
            </a:r>
          </a:p>
        </p:txBody>
      </p:sp>
      <p:sp>
        <p:nvSpPr>
          <p:cNvPr id="5" name="タイトル 1">
            <a:extLst>
              <a:ext uri="{FF2B5EF4-FFF2-40B4-BE49-F238E27FC236}">
                <a16:creationId xmlns:a16="http://schemas.microsoft.com/office/drawing/2014/main" id="{804C58BE-3C7F-3F33-BB99-084C0822899F}"/>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組織、拠点、設備等</a:t>
            </a:r>
          </a:p>
        </p:txBody>
      </p:sp>
      <p:sp>
        <p:nvSpPr>
          <p:cNvPr id="30" name="長方形 17">
            <a:extLst>
              <a:ext uri="{FF2B5EF4-FFF2-40B4-BE49-F238E27FC236}">
                <a16:creationId xmlns:a16="http://schemas.microsoft.com/office/drawing/2014/main" id="{3E64D33C-2E81-EC32-F689-91E2661ACA25}"/>
              </a:ext>
            </a:extLst>
          </p:cNvPr>
          <p:cNvSpPr/>
          <p:nvPr/>
        </p:nvSpPr>
        <p:spPr>
          <a:xfrm>
            <a:off x="4434840" y="2240280"/>
            <a:ext cx="1828800" cy="548640"/>
          </a:xfrm>
          <a:prstGeom prst="rect">
            <a:avLst/>
          </a:prstGeom>
          <a:solidFill>
            <a:schemeClr val="accent2"/>
          </a:solidFill>
          <a:ln w="28575" cap="rnd"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5012" tIns="5012" rIns="5012" bIns="47365" numCol="1" spcCol="1270" rtlCol="0" anchor="ctr" anchorCtr="0">
            <a:noAutofit/>
            <a:flatTx/>
          </a:bodyPr>
          <a:lstStyle/>
          <a:p>
            <a:pPr algn="ctr" defTabSz="350844">
              <a:lnSpc>
                <a:spcPct val="90000"/>
              </a:lnSpc>
              <a:spcBef>
                <a:spcPct val="0"/>
              </a:spcBef>
              <a:spcAft>
                <a:spcPct val="35000"/>
              </a:spcAft>
            </a:pPr>
            <a:r>
              <a:rPr lang="ja-JP" altLang="en-US" sz="1100" b="1" dirty="0">
                <a:solidFill>
                  <a:schemeClr val="tx1"/>
                </a:solidFill>
                <a:latin typeface="+mn-ea"/>
              </a:rPr>
              <a:t>代表取締役</a:t>
            </a:r>
            <a:endParaRPr lang="en-US" altLang="ja-JP" sz="1100" b="1" dirty="0">
              <a:solidFill>
                <a:schemeClr val="tx1"/>
              </a:solidFill>
              <a:latin typeface="+mn-ea"/>
            </a:endParaRPr>
          </a:p>
          <a:p>
            <a:pPr algn="ctr" defTabSz="350844">
              <a:lnSpc>
                <a:spcPct val="90000"/>
              </a:lnSpc>
              <a:spcBef>
                <a:spcPct val="0"/>
              </a:spcBef>
              <a:spcAft>
                <a:spcPct val="35000"/>
              </a:spcAft>
            </a:pPr>
            <a:r>
              <a:rPr lang="ja-JP" altLang="en-US" sz="1000" dirty="0">
                <a:solidFill>
                  <a:schemeClr val="tx1"/>
                </a:solidFill>
                <a:latin typeface="+mn-ea"/>
              </a:rPr>
              <a:t>岡部 寛</a:t>
            </a:r>
          </a:p>
        </p:txBody>
      </p:sp>
      <p:sp>
        <p:nvSpPr>
          <p:cNvPr id="72" name="長方形 17">
            <a:extLst>
              <a:ext uri="{FF2B5EF4-FFF2-40B4-BE49-F238E27FC236}">
                <a16:creationId xmlns:a16="http://schemas.microsoft.com/office/drawing/2014/main" id="{F94861D8-1583-D60F-AE0B-65736108294A}"/>
              </a:ext>
            </a:extLst>
          </p:cNvPr>
          <p:cNvSpPr/>
          <p:nvPr/>
        </p:nvSpPr>
        <p:spPr>
          <a:xfrm>
            <a:off x="4434840" y="1508760"/>
            <a:ext cx="1828800" cy="502920"/>
          </a:xfrm>
          <a:prstGeom prst="rect">
            <a:avLst/>
          </a:prstGeom>
          <a:solidFill>
            <a:schemeClr val="accent2"/>
          </a:solidFill>
          <a:ln w="28575" cap="rnd"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5012" tIns="5012" rIns="5012" bIns="47365" numCol="1" spcCol="1270" rtlCol="0" anchor="ctr" anchorCtr="0">
            <a:noAutofit/>
            <a:flatTx/>
          </a:bodyPr>
          <a:lstStyle/>
          <a:p>
            <a:pPr algn="ctr" defTabSz="350844">
              <a:lnSpc>
                <a:spcPct val="90000"/>
              </a:lnSpc>
              <a:spcBef>
                <a:spcPct val="0"/>
              </a:spcBef>
              <a:spcAft>
                <a:spcPct val="35000"/>
              </a:spcAft>
            </a:pPr>
            <a:r>
              <a:rPr lang="ja-JP" altLang="en-US" sz="1100" dirty="0">
                <a:solidFill>
                  <a:schemeClr val="tx1"/>
                </a:solidFill>
                <a:latin typeface="+mn-ea"/>
              </a:rPr>
              <a:t>取締役会</a:t>
            </a:r>
          </a:p>
          <a:p>
            <a:pPr algn="ctr" defTabSz="350844">
              <a:lnSpc>
                <a:spcPct val="90000"/>
              </a:lnSpc>
              <a:spcBef>
                <a:spcPct val="0"/>
              </a:spcBef>
              <a:spcAft>
                <a:spcPct val="35000"/>
              </a:spcAft>
            </a:pPr>
            <a:r>
              <a:rPr lang="ja-JP" altLang="en-US" sz="900" dirty="0">
                <a:solidFill>
                  <a:schemeClr val="tx1"/>
                </a:solidFill>
                <a:latin typeface="+mn-ea"/>
              </a:rPr>
              <a:t>取締役3名</a:t>
            </a:r>
          </a:p>
        </p:txBody>
      </p:sp>
      <p:sp>
        <p:nvSpPr>
          <p:cNvPr id="82" name="字幕 13">
            <a:extLst>
              <a:ext uri="{FF2B5EF4-FFF2-40B4-BE49-F238E27FC236}">
                <a16:creationId xmlns:a16="http://schemas.microsoft.com/office/drawing/2014/main" id="{A3493DA6-7810-69DF-5543-B8DAEAC7277F}"/>
              </a:ext>
            </a:extLst>
          </p:cNvPr>
          <p:cNvSpPr txBox="1">
            <a:spLocks/>
          </p:cNvSpPr>
          <p:nvPr/>
        </p:nvSpPr>
        <p:spPr>
          <a:xfrm>
            <a:off x="365760" y="1463040"/>
            <a:ext cx="2651760" cy="1188720"/>
          </a:xfrm>
          <a:prstGeom prst="rect">
            <a:avLst/>
          </a:prstGeom>
          <a:solidFill>
            <a:schemeClr val="bg2"/>
          </a:solidFill>
        </p:spPr>
        <p:txBody>
          <a:bodyPr wrap="square" lIns="0" tIns="0" rIns="0" bIns="0">
            <a:noAutofit/>
          </a:bodyPr>
          <a:lstStyle>
            <a:lvl1pPr marL="0" indent="0" algn="l" defTabSz="1007943" rtl="0" eaLnBrk="1" latinLnBrk="0" hangingPunct="1">
              <a:lnSpc>
                <a:spcPct val="120000"/>
              </a:lnSpc>
              <a:spcBef>
                <a:spcPts val="0"/>
              </a:spcBef>
              <a:buFont typeface="Arial" panose="020B0604020202020204" pitchFamily="34" charset="0"/>
              <a:buNone/>
              <a:defRPr kumimoji="1" sz="1400" b="1" kern="1200" spc="55" baseline="0">
                <a:solidFill>
                  <a:schemeClr val="tx1"/>
                </a:solidFill>
                <a:latin typeface="+mj-ea"/>
                <a:ea typeface="+mj-ea"/>
                <a:cs typeface="+mn-cs"/>
              </a:defRPr>
            </a:lvl1pPr>
            <a:lvl2pPr marL="503972" indent="0" algn="ctr" defTabSz="1007943" rtl="0" eaLnBrk="1" latinLnBrk="0" hangingPunct="1">
              <a:lnSpc>
                <a:spcPct val="90000"/>
              </a:lnSpc>
              <a:spcBef>
                <a:spcPts val="551"/>
              </a:spcBef>
              <a:buFont typeface="Arial" panose="020B0604020202020204" pitchFamily="34" charset="0"/>
              <a:buNone/>
              <a:defRPr kumimoji="1" sz="2205" kern="1200">
                <a:solidFill>
                  <a:schemeClr val="tx1"/>
                </a:solidFill>
                <a:latin typeface="+mn-lt"/>
                <a:ea typeface="+mn-ea"/>
                <a:cs typeface="+mn-cs"/>
              </a:defRPr>
            </a:lvl2pPr>
            <a:lvl3pPr marL="1007943" indent="0" algn="ctr" defTabSz="1007943" rtl="0" eaLnBrk="1" latinLnBrk="0" hangingPunct="1">
              <a:lnSpc>
                <a:spcPct val="90000"/>
              </a:lnSpc>
              <a:spcBef>
                <a:spcPts val="551"/>
              </a:spcBef>
              <a:buFont typeface="Arial" panose="020B0604020202020204" pitchFamily="34" charset="0"/>
              <a:buNone/>
              <a:defRPr kumimoji="1" sz="1984" kern="1200">
                <a:solidFill>
                  <a:schemeClr val="tx1"/>
                </a:solidFill>
                <a:latin typeface="+mn-lt"/>
                <a:ea typeface="+mn-ea"/>
                <a:cs typeface="+mn-cs"/>
              </a:defRPr>
            </a:lvl3pPr>
            <a:lvl4pPr marL="1511915"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4pPr>
            <a:lvl5pPr marL="2015886"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5pPr>
            <a:lvl6pPr marL="2519858"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6pPr>
            <a:lvl7pPr marL="3023829"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7pPr>
            <a:lvl8pPr marL="3527801"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8pPr>
            <a:lvl9pPr marL="4031772"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9pPr>
          </a:lstStyle>
          <a:p>
            <a:pPr>
              <a:buClrTx/>
            </a:pPr>
            <a:r>
              <a:rPr lang="en-US" altLang="ja-JP" sz="1000" dirty="0"/>
              <a:t>【人員構成】（2026年9月1日時点）</a:t>
            </a:r>
          </a:p>
          <a:p>
            <a:pPr>
              <a:buClrTx/>
            </a:pPr>
            <a:r>
              <a:rPr lang="en-US" altLang="ja-JP" sz="1000" dirty="0"/>
              <a:t>　取締役：3名</a:t>
            </a:r>
          </a:p>
          <a:p>
            <a:pPr>
              <a:buClrTx/>
            </a:pPr>
            <a:r>
              <a:rPr lang="en-US" altLang="ja-JP" sz="1000" dirty="0"/>
              <a:t>　正社員：17名</a:t>
            </a:r>
          </a:p>
          <a:p>
            <a:pPr>
              <a:buClrTx/>
            </a:pPr>
            <a:r>
              <a:rPr lang="en-US" altLang="ja-JP" sz="1000" dirty="0"/>
              <a:t>　嘱託・再雇用・試用：3名</a:t>
            </a:r>
          </a:p>
          <a:p>
            <a:pPr>
              <a:buClrTx/>
            </a:pPr>
            <a:r>
              <a:rPr lang="en-US" altLang="ja-JP" sz="1000" dirty="0"/>
              <a:t>　パート・アルバイト：4名</a:t>
            </a:r>
          </a:p>
          <a:p>
            <a:pPr>
              <a:buClrTx/>
            </a:pPr>
            <a:r>
              <a:rPr lang="en-US" altLang="ja-JP" sz="1000" dirty="0"/>
              <a:t>　平均年齢50.9歳／平均勤続12.7年</a:t>
            </a:r>
          </a:p>
        </p:txBody>
      </p:sp>
      <p:sp>
        <p:nvSpPr>
          <p:cNvPr id="85" name="字幕 13">
            <a:extLst>
              <a:ext uri="{FF2B5EF4-FFF2-40B4-BE49-F238E27FC236}">
                <a16:creationId xmlns:a16="http://schemas.microsoft.com/office/drawing/2014/main" id="{AE763FA6-9689-E705-5BEC-31A36E71F8CB}"/>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a:ea typeface="游ゴシック"/>
              </a:rPr>
              <a:t>8部門・従業員24名の体制。営業（野菜・果実・近郷）とパッケージ部に人員が厚く、セリ人資格者は営業系に配置。</a:t>
            </a:r>
          </a:p>
        </p:txBody>
      </p:sp>
      <p:sp>
        <p:nvSpPr>
          <p:cNvPr id="86" name="長方形 17">
            <a:extLst>
              <a:ext uri="{FF2B5EF4-FFF2-40B4-BE49-F238E27FC236}">
                <a16:creationId xmlns:a16="http://schemas.microsoft.com/office/drawing/2014/main" id="{F94861D8-1583-D60F-AE0B-65736108294A}"/>
              </a:ext>
            </a:extLst>
          </p:cNvPr>
          <p:cNvSpPr/>
          <p:nvPr/>
        </p:nvSpPr>
        <p:spPr>
          <a:xfrm>
            <a:off x="7498079" y="1508760"/>
            <a:ext cx="2011680" cy="502920"/>
          </a:xfrm>
          <a:prstGeom prst="rect">
            <a:avLst/>
          </a:prstGeom>
          <a:solidFill>
            <a:schemeClr val="accent2"/>
          </a:solidFill>
          <a:ln w="28575" cap="rnd"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5012" tIns="5012" rIns="5012" bIns="47365" numCol="1" spcCol="1270" rtlCol="0" anchor="ctr" anchorCtr="0">
            <a:noAutofit/>
            <a:flatTx/>
          </a:bodyPr>
          <a:lstStyle/>
          <a:p>
            <a:pPr algn="ctr" defTabSz="350844">
              <a:lnSpc>
                <a:spcPct val="90000"/>
              </a:lnSpc>
              <a:spcBef>
                <a:spcPct val="0"/>
              </a:spcBef>
              <a:spcAft>
                <a:spcPct val="35000"/>
              </a:spcAft>
            </a:pPr>
            <a:r>
              <a:rPr lang="ja-JP" altLang="en-US" sz="1100" dirty="0">
                <a:solidFill>
                  <a:schemeClr val="tx1"/>
                </a:solidFill>
                <a:latin typeface="+mn-ea"/>
              </a:rPr>
              <a:t>監査役</a:t>
            </a:r>
          </a:p>
          <a:p>
            <a:pPr algn="ctr" defTabSz="350844">
              <a:lnSpc>
                <a:spcPct val="90000"/>
              </a:lnSpc>
              <a:spcBef>
                <a:spcPct val="0"/>
              </a:spcBef>
              <a:spcAft>
                <a:spcPct val="35000"/>
              </a:spcAft>
            </a:pPr>
            <a:r>
              <a:rPr lang="ja-JP" altLang="en-US" sz="900" dirty="0">
                <a:solidFill>
                  <a:schemeClr val="tx1"/>
                </a:solidFill>
                <a:latin typeface="+mn-ea"/>
              </a:rPr>
              <a:t>会計監査に限定</a:t>
            </a:r>
          </a:p>
        </p:txBody>
      </p:sp>
      <p:sp>
        <p:nvSpPr>
          <p:cNvPr id="87" name="長方形 17">
            <a:extLst>
              <a:ext uri="{FF2B5EF4-FFF2-40B4-BE49-F238E27FC236}">
                <a16:creationId xmlns:a16="http://schemas.microsoft.com/office/drawing/2014/main" id="{3E64D33C-2E81-EC32-F689-91E2661ACA25}"/>
              </a:ext>
            </a:extLst>
          </p:cNvPr>
          <p:cNvSpPr/>
          <p:nvPr/>
        </p:nvSpPr>
        <p:spPr>
          <a:xfrm>
            <a:off x="7498079" y="2240280"/>
            <a:ext cx="2011680" cy="548640"/>
          </a:xfrm>
          <a:prstGeom prst="rect">
            <a:avLst/>
          </a:prstGeom>
          <a:solidFill>
            <a:schemeClr val="accent2"/>
          </a:solidFill>
          <a:ln w="28575" cap="rnd"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5012" tIns="5012" rIns="5012" bIns="47365" numCol="1" spcCol="1270" rtlCol="0" anchor="ctr" anchorCtr="0">
            <a:noAutofit/>
            <a:flatTx/>
          </a:bodyPr>
          <a:lstStyle/>
          <a:p>
            <a:pPr algn="ctr" defTabSz="350844">
              <a:lnSpc>
                <a:spcPct val="90000"/>
              </a:lnSpc>
              <a:spcBef>
                <a:spcPct val="0"/>
              </a:spcBef>
              <a:spcAft>
                <a:spcPct val="35000"/>
              </a:spcAft>
            </a:pPr>
            <a:r>
              <a:rPr lang="ja-JP" altLang="en-US" sz="1100" b="1" dirty="0">
                <a:solidFill>
                  <a:schemeClr val="tx1"/>
                </a:solidFill>
                <a:latin typeface="+mn-ea"/>
              </a:rPr>
              <a:t>取締役部長</a:t>
            </a:r>
            <a:endParaRPr lang="en-US" altLang="ja-JP" sz="1100" b="1" dirty="0">
              <a:solidFill>
                <a:schemeClr val="tx1"/>
              </a:solidFill>
              <a:latin typeface="+mn-ea"/>
            </a:endParaRPr>
          </a:p>
          <a:p>
            <a:pPr algn="ctr" defTabSz="350844">
              <a:lnSpc>
                <a:spcPct val="90000"/>
              </a:lnSpc>
              <a:spcBef>
                <a:spcPct val="0"/>
              </a:spcBef>
              <a:spcAft>
                <a:spcPct val="35000"/>
              </a:spcAft>
            </a:pPr>
            <a:r>
              <a:rPr lang="ja-JP" altLang="en-US" sz="900" dirty="0">
                <a:solidFill>
                  <a:schemeClr val="tx1"/>
                </a:solidFill>
                <a:latin typeface="+mn-ea"/>
              </a:rPr>
              <a:t>岡部 一（買付・販売）</a:t>
            </a:r>
          </a:p>
        </p:txBody>
      </p:sp>
      <p:cxnSp>
        <p:nvCxnSpPr>
          <p:cNvPr id="88" name="Connector 87"/>
          <p:cNvCxnSpPr/>
          <p:nvPr/>
        </p:nvCxnSpPr>
        <p:spPr>
          <a:xfrm>
            <a:off x="5349240" y="2011680"/>
            <a:ext cx="0" cy="228600"/>
          </a:xfrm>
          <a:prstGeom prst="line">
            <a:avLst/>
          </a:prstGeom>
          <a:ln w="9525">
            <a:solidFill>
              <a:srgbClr val="808080"/>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a:off x="6263640" y="1755648"/>
            <a:ext cx="1234439" cy="0"/>
          </a:xfrm>
          <a:prstGeom prst="line">
            <a:avLst/>
          </a:prstGeom>
          <a:ln w="9525">
            <a:solidFill>
              <a:srgbClr val="808080"/>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a:off x="6263640" y="2514600"/>
            <a:ext cx="1234439" cy="0"/>
          </a:xfrm>
          <a:prstGeom prst="line">
            <a:avLst/>
          </a:prstGeom>
          <a:ln w="9525">
            <a:solidFill>
              <a:srgbClr val="808080"/>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a:off x="5349240" y="2788920"/>
            <a:ext cx="0" cy="274320"/>
          </a:xfrm>
          <a:prstGeom prst="line">
            <a:avLst/>
          </a:prstGeom>
          <a:ln w="9525">
            <a:solidFill>
              <a:srgbClr val="808080"/>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a:off x="948690" y="3063240"/>
            <a:ext cx="8801100" cy="0"/>
          </a:xfrm>
          <a:prstGeom prst="line">
            <a:avLst/>
          </a:prstGeom>
          <a:ln w="9525">
            <a:solidFill>
              <a:srgbClr val="808080"/>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948690" y="3063240"/>
            <a:ext cx="0" cy="182880"/>
          </a:xfrm>
          <a:prstGeom prst="line">
            <a:avLst/>
          </a:prstGeom>
          <a:ln w="9525">
            <a:solidFill>
              <a:srgbClr val="808080"/>
            </a:solidFill>
          </a:ln>
        </p:spPr>
        <p:style>
          <a:lnRef idx="2">
            <a:schemeClr val="accent1"/>
          </a:lnRef>
          <a:fillRef idx="0">
            <a:schemeClr val="accent1"/>
          </a:fillRef>
          <a:effectRef idx="1">
            <a:schemeClr val="accent1"/>
          </a:effectRef>
          <a:fontRef idx="minor">
            <a:schemeClr val="tx1"/>
          </a:fontRef>
        </p:style>
      </p:cxnSp>
      <p:sp>
        <p:nvSpPr>
          <p:cNvPr id="94" name="長方形 143">
            <a:extLst>
              <a:ext uri="{FF2B5EF4-FFF2-40B4-BE49-F238E27FC236}">
                <a16:creationId xmlns:a16="http://schemas.microsoft.com/office/drawing/2014/main" id="{BCEB2967-C83B-DBEC-B8EA-880A804DB347}"/>
              </a:ext>
            </a:extLst>
          </p:cNvPr>
          <p:cNvSpPr/>
          <p:nvPr/>
        </p:nvSpPr>
        <p:spPr>
          <a:xfrm>
            <a:off x="365760" y="3246120"/>
            <a:ext cx="1165860" cy="502920"/>
          </a:xfrm>
          <a:prstGeom prst="rect">
            <a:avLst/>
          </a:prstGeom>
          <a:solidFill>
            <a:schemeClr val="accent2"/>
          </a:solidFill>
          <a:ln w="28575" cap="rnd"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5012" tIns="5012" rIns="5012" bIns="47365" numCol="1" spcCol="1270" rtlCol="0" anchor="ctr" anchorCtr="0">
            <a:noAutofit/>
            <a:flatTx/>
          </a:bodyPr>
          <a:lstStyle/>
          <a:p>
            <a:pPr algn="ctr" defTabSz="350844">
              <a:lnSpc>
                <a:spcPct val="90000"/>
              </a:lnSpc>
              <a:spcBef>
                <a:spcPct val="0"/>
              </a:spcBef>
              <a:spcAft>
                <a:spcPct val="35000"/>
              </a:spcAft>
            </a:pPr>
            <a:r>
              <a:rPr lang="ja-JP" altLang="en-US" sz="1000" b="1" dirty="0">
                <a:solidFill>
                  <a:schemeClr val="tx1"/>
                </a:solidFill>
                <a:latin typeface="+mn-ea"/>
              </a:rPr>
              <a:t>野菜営業部</a:t>
            </a:r>
            <a:endParaRPr lang="en-US" altLang="ja-JP" sz="1000" b="1" dirty="0">
              <a:solidFill>
                <a:schemeClr val="tx1"/>
              </a:solidFill>
              <a:latin typeface="+mn-ea"/>
            </a:endParaRPr>
          </a:p>
          <a:p>
            <a:pPr algn="ctr" defTabSz="350844">
              <a:lnSpc>
                <a:spcPct val="90000"/>
              </a:lnSpc>
              <a:spcBef>
                <a:spcPct val="0"/>
              </a:spcBef>
              <a:spcAft>
                <a:spcPct val="35000"/>
              </a:spcAft>
            </a:pPr>
            <a:r>
              <a:rPr lang="ja-JP" altLang="en-US" sz="900" dirty="0">
                <a:solidFill>
                  <a:schemeClr val="tx2">
                    <a:lumMod val="50000"/>
                  </a:schemeClr>
                </a:solidFill>
                <a:latin typeface="+mn-ea"/>
              </a:rPr>
              <a:t>3名</a:t>
            </a:r>
          </a:p>
        </p:txBody>
      </p:sp>
      <p:sp>
        <p:nvSpPr>
          <p:cNvPr id="95" name="長方形 179">
            <a:extLst>
              <a:ext uri="{FF2B5EF4-FFF2-40B4-BE49-F238E27FC236}">
                <a16:creationId xmlns:a16="http://schemas.microsoft.com/office/drawing/2014/main" id="{C344BD57-39A2-E7B7-1F68-D52B956AE252}"/>
              </a:ext>
            </a:extLst>
          </p:cNvPr>
          <p:cNvSpPr/>
          <p:nvPr/>
        </p:nvSpPr>
        <p:spPr>
          <a:xfrm>
            <a:off x="365760" y="3840480"/>
            <a:ext cx="1165860" cy="777240"/>
          </a:xfrm>
          <a:prstGeom prst="rect">
            <a:avLst/>
          </a:prstGeom>
          <a:solidFill>
            <a:schemeClr val="accent2"/>
          </a:solidFill>
          <a:ln w="28575" cap="rnd"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5012" tIns="5012" rIns="5012" bIns="47365" numCol="1" spcCol="1270" rtlCol="0" anchor="t" anchorCtr="0">
            <a:noAutofit/>
            <a:flatTx/>
          </a:bodyPr>
          <a:lstStyle/>
          <a:p>
            <a:pPr algn="ctr" defTabSz="350844">
              <a:lnSpc>
                <a:spcPct val="90000"/>
              </a:lnSpc>
              <a:spcBef>
                <a:spcPct val="0"/>
              </a:spcBef>
              <a:spcAft>
                <a:spcPct val="35000"/>
              </a:spcAft>
            </a:pPr>
            <a:r>
              <a:rPr lang="ja-JP" altLang="en-US" sz="800" b="1" dirty="0">
                <a:solidFill>
                  <a:schemeClr val="tx1"/>
                </a:solidFill>
                <a:latin typeface="+mn-ea"/>
              </a:rPr>
              <a:t>No.2 副部長★</a:t>
            </a:r>
            <a:endParaRPr lang="en-US" altLang="ja-JP" sz="800" b="1" dirty="0">
              <a:solidFill>
                <a:schemeClr val="tx1"/>
              </a:solidFill>
              <a:latin typeface="+mn-ea"/>
            </a:endParaRPr>
          </a:p>
          <a:p>
            <a:pPr algn="ctr" defTabSz="350844">
              <a:lnSpc>
                <a:spcPct val="90000"/>
              </a:lnSpc>
              <a:spcBef>
                <a:spcPct val="0"/>
              </a:spcBef>
              <a:spcAft>
                <a:spcPct val="35000"/>
              </a:spcAft>
            </a:pPr>
            <a:r>
              <a:rPr lang="ja-JP" altLang="en-US" sz="800" b="1" dirty="0">
                <a:solidFill>
                  <a:schemeClr val="tx1"/>
                </a:solidFill>
                <a:latin typeface="+mn-ea"/>
              </a:rPr>
              <a:t>No.1 副部長</a:t>
            </a:r>
          </a:p>
          <a:p>
            <a:pPr algn="ctr" defTabSz="350844">
              <a:lnSpc>
                <a:spcPct val="90000"/>
              </a:lnSpc>
              <a:spcBef>
                <a:spcPct val="0"/>
              </a:spcBef>
              <a:spcAft>
                <a:spcPct val="35000"/>
              </a:spcAft>
            </a:pPr>
            <a:r>
              <a:rPr lang="ja-JP" altLang="en-US" sz="800" b="1" dirty="0">
                <a:solidFill>
                  <a:schemeClr val="tx1"/>
                </a:solidFill>
                <a:latin typeface="+mn-ea"/>
              </a:rPr>
              <a:t>No.7 正社員</a:t>
            </a:r>
          </a:p>
        </p:txBody>
      </p:sp>
      <p:cxnSp>
        <p:nvCxnSpPr>
          <p:cNvPr id="96" name="Connector 95"/>
          <p:cNvCxnSpPr/>
          <p:nvPr/>
        </p:nvCxnSpPr>
        <p:spPr>
          <a:xfrm>
            <a:off x="2205990" y="3063240"/>
            <a:ext cx="0" cy="182880"/>
          </a:xfrm>
          <a:prstGeom prst="line">
            <a:avLst/>
          </a:prstGeom>
          <a:ln w="9525">
            <a:solidFill>
              <a:srgbClr val="808080"/>
            </a:solidFill>
          </a:ln>
        </p:spPr>
        <p:style>
          <a:lnRef idx="2">
            <a:schemeClr val="accent1"/>
          </a:lnRef>
          <a:fillRef idx="0">
            <a:schemeClr val="accent1"/>
          </a:fillRef>
          <a:effectRef idx="1">
            <a:schemeClr val="accent1"/>
          </a:effectRef>
          <a:fontRef idx="minor">
            <a:schemeClr val="tx1"/>
          </a:fontRef>
        </p:style>
      </p:cxnSp>
      <p:sp>
        <p:nvSpPr>
          <p:cNvPr id="97" name="長方形 143">
            <a:extLst>
              <a:ext uri="{FF2B5EF4-FFF2-40B4-BE49-F238E27FC236}">
                <a16:creationId xmlns:a16="http://schemas.microsoft.com/office/drawing/2014/main" id="{BCEB2967-C83B-DBEC-B8EA-880A804DB347}"/>
              </a:ext>
            </a:extLst>
          </p:cNvPr>
          <p:cNvSpPr/>
          <p:nvPr/>
        </p:nvSpPr>
        <p:spPr>
          <a:xfrm>
            <a:off x="1623060" y="3246120"/>
            <a:ext cx="1165860" cy="502920"/>
          </a:xfrm>
          <a:prstGeom prst="rect">
            <a:avLst/>
          </a:prstGeom>
          <a:solidFill>
            <a:schemeClr val="accent2"/>
          </a:solidFill>
          <a:ln w="28575" cap="rnd"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5012" tIns="5012" rIns="5012" bIns="47365" numCol="1" spcCol="1270" rtlCol="0" anchor="ctr" anchorCtr="0">
            <a:noAutofit/>
            <a:flatTx/>
          </a:bodyPr>
          <a:lstStyle/>
          <a:p>
            <a:pPr algn="ctr" defTabSz="350844">
              <a:lnSpc>
                <a:spcPct val="90000"/>
              </a:lnSpc>
              <a:spcBef>
                <a:spcPct val="0"/>
              </a:spcBef>
              <a:spcAft>
                <a:spcPct val="35000"/>
              </a:spcAft>
            </a:pPr>
            <a:r>
              <a:rPr lang="ja-JP" altLang="en-US" sz="1000" b="1" dirty="0">
                <a:solidFill>
                  <a:schemeClr val="tx1"/>
                </a:solidFill>
                <a:latin typeface="+mn-ea"/>
              </a:rPr>
              <a:t>果実営業部</a:t>
            </a:r>
            <a:endParaRPr lang="en-US" altLang="ja-JP" sz="1000" b="1" dirty="0">
              <a:solidFill>
                <a:schemeClr val="tx1"/>
              </a:solidFill>
              <a:latin typeface="+mn-ea"/>
            </a:endParaRPr>
          </a:p>
          <a:p>
            <a:pPr algn="ctr" defTabSz="350844">
              <a:lnSpc>
                <a:spcPct val="90000"/>
              </a:lnSpc>
              <a:spcBef>
                <a:spcPct val="0"/>
              </a:spcBef>
              <a:spcAft>
                <a:spcPct val="35000"/>
              </a:spcAft>
            </a:pPr>
            <a:r>
              <a:rPr lang="ja-JP" altLang="en-US" sz="900" dirty="0">
                <a:solidFill>
                  <a:schemeClr val="tx2">
                    <a:lumMod val="50000"/>
                  </a:schemeClr>
                </a:solidFill>
                <a:latin typeface="+mn-ea"/>
              </a:rPr>
              <a:t>2名</a:t>
            </a:r>
          </a:p>
        </p:txBody>
      </p:sp>
      <p:sp>
        <p:nvSpPr>
          <p:cNvPr id="98" name="長方形 179">
            <a:extLst>
              <a:ext uri="{FF2B5EF4-FFF2-40B4-BE49-F238E27FC236}">
                <a16:creationId xmlns:a16="http://schemas.microsoft.com/office/drawing/2014/main" id="{C344BD57-39A2-E7B7-1F68-D52B956AE252}"/>
              </a:ext>
            </a:extLst>
          </p:cNvPr>
          <p:cNvSpPr/>
          <p:nvPr/>
        </p:nvSpPr>
        <p:spPr>
          <a:xfrm>
            <a:off x="1623060" y="3840480"/>
            <a:ext cx="1165860" cy="594360"/>
          </a:xfrm>
          <a:prstGeom prst="rect">
            <a:avLst/>
          </a:prstGeom>
          <a:solidFill>
            <a:schemeClr val="accent2"/>
          </a:solidFill>
          <a:ln w="28575" cap="rnd"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5012" tIns="5012" rIns="5012" bIns="47365" numCol="1" spcCol="1270" rtlCol="0" anchor="t" anchorCtr="0">
            <a:noAutofit/>
            <a:flatTx/>
          </a:bodyPr>
          <a:lstStyle/>
          <a:p>
            <a:pPr algn="ctr" defTabSz="350844">
              <a:lnSpc>
                <a:spcPct val="90000"/>
              </a:lnSpc>
              <a:spcBef>
                <a:spcPct val="0"/>
              </a:spcBef>
              <a:spcAft>
                <a:spcPct val="35000"/>
              </a:spcAft>
            </a:pPr>
            <a:r>
              <a:rPr lang="ja-JP" altLang="en-US" sz="800" b="1" dirty="0">
                <a:solidFill>
                  <a:schemeClr val="tx1"/>
                </a:solidFill>
                <a:latin typeface="+mn-ea"/>
              </a:rPr>
              <a:t>No.16 課長</a:t>
            </a:r>
            <a:endParaRPr lang="en-US" altLang="ja-JP" sz="800" b="1" dirty="0">
              <a:solidFill>
                <a:schemeClr val="tx1"/>
              </a:solidFill>
              <a:latin typeface="+mn-ea"/>
            </a:endParaRPr>
          </a:p>
          <a:p>
            <a:pPr algn="ctr" defTabSz="350844">
              <a:lnSpc>
                <a:spcPct val="90000"/>
              </a:lnSpc>
              <a:spcBef>
                <a:spcPct val="0"/>
              </a:spcBef>
              <a:spcAft>
                <a:spcPct val="35000"/>
              </a:spcAft>
            </a:pPr>
            <a:r>
              <a:rPr lang="ja-JP" altLang="en-US" sz="800" b="1" dirty="0">
                <a:solidFill>
                  <a:schemeClr val="tx1"/>
                </a:solidFill>
                <a:latin typeface="+mn-ea"/>
              </a:rPr>
              <a:t>No.8 正社員</a:t>
            </a:r>
          </a:p>
        </p:txBody>
      </p:sp>
      <p:cxnSp>
        <p:nvCxnSpPr>
          <p:cNvPr id="99" name="Connector 98"/>
          <p:cNvCxnSpPr/>
          <p:nvPr/>
        </p:nvCxnSpPr>
        <p:spPr>
          <a:xfrm>
            <a:off x="3463290" y="3063240"/>
            <a:ext cx="0" cy="182880"/>
          </a:xfrm>
          <a:prstGeom prst="line">
            <a:avLst/>
          </a:prstGeom>
          <a:ln w="9525">
            <a:solidFill>
              <a:srgbClr val="808080"/>
            </a:solidFill>
          </a:ln>
        </p:spPr>
        <p:style>
          <a:lnRef idx="2">
            <a:schemeClr val="accent1"/>
          </a:lnRef>
          <a:fillRef idx="0">
            <a:schemeClr val="accent1"/>
          </a:fillRef>
          <a:effectRef idx="1">
            <a:schemeClr val="accent1"/>
          </a:effectRef>
          <a:fontRef idx="minor">
            <a:schemeClr val="tx1"/>
          </a:fontRef>
        </p:style>
      </p:cxnSp>
      <p:sp>
        <p:nvSpPr>
          <p:cNvPr id="100" name="長方形 143">
            <a:extLst>
              <a:ext uri="{FF2B5EF4-FFF2-40B4-BE49-F238E27FC236}">
                <a16:creationId xmlns:a16="http://schemas.microsoft.com/office/drawing/2014/main" id="{BCEB2967-C83B-DBEC-B8EA-880A804DB347}"/>
              </a:ext>
            </a:extLst>
          </p:cNvPr>
          <p:cNvSpPr/>
          <p:nvPr/>
        </p:nvSpPr>
        <p:spPr>
          <a:xfrm>
            <a:off x="2880360" y="3246120"/>
            <a:ext cx="1165860" cy="502920"/>
          </a:xfrm>
          <a:prstGeom prst="rect">
            <a:avLst/>
          </a:prstGeom>
          <a:solidFill>
            <a:schemeClr val="accent2"/>
          </a:solidFill>
          <a:ln w="28575" cap="rnd"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5012" tIns="5012" rIns="5012" bIns="47365" numCol="1" spcCol="1270" rtlCol="0" anchor="ctr" anchorCtr="0">
            <a:noAutofit/>
            <a:flatTx/>
          </a:bodyPr>
          <a:lstStyle/>
          <a:p>
            <a:pPr algn="ctr" defTabSz="350844">
              <a:lnSpc>
                <a:spcPct val="90000"/>
              </a:lnSpc>
              <a:spcBef>
                <a:spcPct val="0"/>
              </a:spcBef>
              <a:spcAft>
                <a:spcPct val="35000"/>
              </a:spcAft>
            </a:pPr>
            <a:r>
              <a:rPr lang="ja-JP" altLang="en-US" sz="1000" b="1" dirty="0">
                <a:solidFill>
                  <a:schemeClr val="tx1"/>
                </a:solidFill>
                <a:latin typeface="+mn-ea"/>
              </a:rPr>
              <a:t>近郷部</a:t>
            </a:r>
            <a:endParaRPr lang="en-US" altLang="ja-JP" sz="1000" b="1" dirty="0">
              <a:solidFill>
                <a:schemeClr val="tx1"/>
              </a:solidFill>
              <a:latin typeface="+mn-ea"/>
            </a:endParaRPr>
          </a:p>
          <a:p>
            <a:pPr algn="ctr" defTabSz="350844">
              <a:lnSpc>
                <a:spcPct val="90000"/>
              </a:lnSpc>
              <a:spcBef>
                <a:spcPct val="0"/>
              </a:spcBef>
              <a:spcAft>
                <a:spcPct val="35000"/>
              </a:spcAft>
            </a:pPr>
            <a:r>
              <a:rPr lang="ja-JP" altLang="en-US" sz="900" dirty="0">
                <a:solidFill>
                  <a:schemeClr val="tx2">
                    <a:lumMod val="50000"/>
                  </a:schemeClr>
                </a:solidFill>
                <a:latin typeface="+mn-ea"/>
              </a:rPr>
              <a:t>4名</a:t>
            </a:r>
          </a:p>
        </p:txBody>
      </p:sp>
      <p:sp>
        <p:nvSpPr>
          <p:cNvPr id="101" name="長方形 179">
            <a:extLst>
              <a:ext uri="{FF2B5EF4-FFF2-40B4-BE49-F238E27FC236}">
                <a16:creationId xmlns:a16="http://schemas.microsoft.com/office/drawing/2014/main" id="{C344BD57-39A2-E7B7-1F68-D52B956AE252}"/>
              </a:ext>
            </a:extLst>
          </p:cNvPr>
          <p:cNvSpPr/>
          <p:nvPr/>
        </p:nvSpPr>
        <p:spPr>
          <a:xfrm>
            <a:off x="2880360" y="3840480"/>
            <a:ext cx="1165860" cy="960120"/>
          </a:xfrm>
          <a:prstGeom prst="rect">
            <a:avLst/>
          </a:prstGeom>
          <a:solidFill>
            <a:schemeClr val="accent2"/>
          </a:solidFill>
          <a:ln w="28575" cap="rnd"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5012" tIns="5012" rIns="5012" bIns="47365" numCol="1" spcCol="1270" rtlCol="0" anchor="t" anchorCtr="0">
            <a:noAutofit/>
            <a:flatTx/>
          </a:bodyPr>
          <a:lstStyle/>
          <a:p>
            <a:pPr algn="ctr" defTabSz="350844">
              <a:lnSpc>
                <a:spcPct val="90000"/>
              </a:lnSpc>
              <a:spcBef>
                <a:spcPct val="0"/>
              </a:spcBef>
              <a:spcAft>
                <a:spcPct val="35000"/>
              </a:spcAft>
            </a:pPr>
            <a:r>
              <a:rPr lang="ja-JP" altLang="en-US" sz="800" b="1" dirty="0">
                <a:solidFill>
                  <a:schemeClr val="tx1"/>
                </a:solidFill>
                <a:latin typeface="+mn-ea"/>
              </a:rPr>
              <a:t>No.3 課長★</a:t>
            </a:r>
            <a:endParaRPr lang="en-US" altLang="ja-JP" sz="800" b="1" dirty="0">
              <a:solidFill>
                <a:schemeClr val="tx1"/>
              </a:solidFill>
              <a:latin typeface="+mn-ea"/>
            </a:endParaRPr>
          </a:p>
          <a:p>
            <a:pPr algn="ctr" defTabSz="350844">
              <a:lnSpc>
                <a:spcPct val="90000"/>
              </a:lnSpc>
              <a:spcBef>
                <a:spcPct val="0"/>
              </a:spcBef>
              <a:spcAft>
                <a:spcPct val="35000"/>
              </a:spcAft>
            </a:pPr>
            <a:r>
              <a:rPr lang="ja-JP" altLang="en-US" sz="800" b="1" dirty="0">
                <a:solidFill>
                  <a:schemeClr val="tx1"/>
                </a:solidFill>
                <a:latin typeface="+mn-ea"/>
              </a:rPr>
              <a:t>No.4 正社員</a:t>
            </a:r>
          </a:p>
          <a:p>
            <a:pPr algn="ctr" defTabSz="350844">
              <a:lnSpc>
                <a:spcPct val="90000"/>
              </a:lnSpc>
              <a:spcBef>
                <a:spcPct val="0"/>
              </a:spcBef>
              <a:spcAft>
                <a:spcPct val="35000"/>
              </a:spcAft>
            </a:pPr>
            <a:r>
              <a:rPr lang="ja-JP" altLang="en-US" sz="800" b="1" dirty="0">
                <a:solidFill>
                  <a:schemeClr val="tx1"/>
                </a:solidFill>
                <a:latin typeface="+mn-ea"/>
              </a:rPr>
              <a:t>No.5 正社員</a:t>
            </a:r>
          </a:p>
          <a:p>
            <a:pPr algn="ctr" defTabSz="350844">
              <a:lnSpc>
                <a:spcPct val="90000"/>
              </a:lnSpc>
              <a:spcBef>
                <a:spcPct val="0"/>
              </a:spcBef>
              <a:spcAft>
                <a:spcPct val="35000"/>
              </a:spcAft>
            </a:pPr>
            <a:r>
              <a:rPr lang="ja-JP" altLang="en-US" sz="800" b="1" dirty="0">
                <a:solidFill>
                  <a:schemeClr val="tx1"/>
                </a:solidFill>
                <a:latin typeface="+mn-ea"/>
              </a:rPr>
              <a:t>No.12 試用期間★</a:t>
            </a:r>
          </a:p>
        </p:txBody>
      </p:sp>
      <p:cxnSp>
        <p:nvCxnSpPr>
          <p:cNvPr id="102" name="Connector 101"/>
          <p:cNvCxnSpPr/>
          <p:nvPr/>
        </p:nvCxnSpPr>
        <p:spPr>
          <a:xfrm>
            <a:off x="4720590" y="3063240"/>
            <a:ext cx="0" cy="182880"/>
          </a:xfrm>
          <a:prstGeom prst="line">
            <a:avLst/>
          </a:prstGeom>
          <a:ln w="9525">
            <a:solidFill>
              <a:srgbClr val="808080"/>
            </a:solidFill>
          </a:ln>
        </p:spPr>
        <p:style>
          <a:lnRef idx="2">
            <a:schemeClr val="accent1"/>
          </a:lnRef>
          <a:fillRef idx="0">
            <a:schemeClr val="accent1"/>
          </a:fillRef>
          <a:effectRef idx="1">
            <a:schemeClr val="accent1"/>
          </a:effectRef>
          <a:fontRef idx="minor">
            <a:schemeClr val="tx1"/>
          </a:fontRef>
        </p:style>
      </p:cxnSp>
      <p:sp>
        <p:nvSpPr>
          <p:cNvPr id="103" name="長方形 143">
            <a:extLst>
              <a:ext uri="{FF2B5EF4-FFF2-40B4-BE49-F238E27FC236}">
                <a16:creationId xmlns:a16="http://schemas.microsoft.com/office/drawing/2014/main" id="{BCEB2967-C83B-DBEC-B8EA-880A804DB347}"/>
              </a:ext>
            </a:extLst>
          </p:cNvPr>
          <p:cNvSpPr/>
          <p:nvPr/>
        </p:nvSpPr>
        <p:spPr>
          <a:xfrm>
            <a:off x="4137660" y="3246120"/>
            <a:ext cx="1165860" cy="502920"/>
          </a:xfrm>
          <a:prstGeom prst="rect">
            <a:avLst/>
          </a:prstGeom>
          <a:solidFill>
            <a:schemeClr val="accent2"/>
          </a:solidFill>
          <a:ln w="28575" cap="rnd"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5012" tIns="5012" rIns="5012" bIns="47365" numCol="1" spcCol="1270" rtlCol="0" anchor="ctr" anchorCtr="0">
            <a:noAutofit/>
            <a:flatTx/>
          </a:bodyPr>
          <a:lstStyle/>
          <a:p>
            <a:pPr algn="ctr" defTabSz="350844">
              <a:lnSpc>
                <a:spcPct val="90000"/>
              </a:lnSpc>
              <a:spcBef>
                <a:spcPct val="0"/>
              </a:spcBef>
              <a:spcAft>
                <a:spcPct val="35000"/>
              </a:spcAft>
            </a:pPr>
            <a:r>
              <a:rPr lang="ja-JP" altLang="en-US" sz="1000" b="1" dirty="0">
                <a:solidFill>
                  <a:schemeClr val="tx1"/>
                </a:solidFill>
                <a:latin typeface="+mn-ea"/>
              </a:rPr>
              <a:t>集配部</a:t>
            </a:r>
            <a:endParaRPr lang="en-US" altLang="ja-JP" sz="1000" b="1" dirty="0">
              <a:solidFill>
                <a:schemeClr val="tx1"/>
              </a:solidFill>
              <a:latin typeface="+mn-ea"/>
            </a:endParaRPr>
          </a:p>
          <a:p>
            <a:pPr algn="ctr" defTabSz="350844">
              <a:lnSpc>
                <a:spcPct val="90000"/>
              </a:lnSpc>
              <a:spcBef>
                <a:spcPct val="0"/>
              </a:spcBef>
              <a:spcAft>
                <a:spcPct val="35000"/>
              </a:spcAft>
            </a:pPr>
            <a:r>
              <a:rPr lang="ja-JP" altLang="en-US" sz="900" dirty="0">
                <a:solidFill>
                  <a:schemeClr val="tx2">
                    <a:lumMod val="50000"/>
                  </a:schemeClr>
                </a:solidFill>
                <a:latin typeface="+mn-ea"/>
              </a:rPr>
              <a:t>4名</a:t>
            </a:r>
          </a:p>
        </p:txBody>
      </p:sp>
      <p:sp>
        <p:nvSpPr>
          <p:cNvPr id="104" name="長方形 179">
            <a:extLst>
              <a:ext uri="{FF2B5EF4-FFF2-40B4-BE49-F238E27FC236}">
                <a16:creationId xmlns:a16="http://schemas.microsoft.com/office/drawing/2014/main" id="{C344BD57-39A2-E7B7-1F68-D52B956AE252}"/>
              </a:ext>
            </a:extLst>
          </p:cNvPr>
          <p:cNvSpPr/>
          <p:nvPr/>
        </p:nvSpPr>
        <p:spPr>
          <a:xfrm>
            <a:off x="4137660" y="3840480"/>
            <a:ext cx="1165860" cy="960120"/>
          </a:xfrm>
          <a:prstGeom prst="rect">
            <a:avLst/>
          </a:prstGeom>
          <a:solidFill>
            <a:schemeClr val="accent2"/>
          </a:solidFill>
          <a:ln w="28575" cap="rnd"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5012" tIns="5012" rIns="5012" bIns="47365" numCol="1" spcCol="1270" rtlCol="0" anchor="t" anchorCtr="0">
            <a:noAutofit/>
            <a:flatTx/>
          </a:bodyPr>
          <a:lstStyle/>
          <a:p>
            <a:pPr algn="ctr" defTabSz="350844">
              <a:lnSpc>
                <a:spcPct val="90000"/>
              </a:lnSpc>
              <a:spcBef>
                <a:spcPct val="0"/>
              </a:spcBef>
              <a:spcAft>
                <a:spcPct val="35000"/>
              </a:spcAft>
            </a:pPr>
            <a:r>
              <a:rPr lang="ja-JP" altLang="en-US" sz="800" b="1" dirty="0">
                <a:solidFill>
                  <a:schemeClr val="tx1"/>
                </a:solidFill>
                <a:latin typeface="+mn-ea"/>
              </a:rPr>
              <a:t>No.9 正社員</a:t>
            </a:r>
            <a:endParaRPr lang="en-US" altLang="ja-JP" sz="800" b="1" dirty="0">
              <a:solidFill>
                <a:schemeClr val="tx1"/>
              </a:solidFill>
              <a:latin typeface="+mn-ea"/>
            </a:endParaRPr>
          </a:p>
          <a:p>
            <a:pPr algn="ctr" defTabSz="350844">
              <a:lnSpc>
                <a:spcPct val="90000"/>
              </a:lnSpc>
              <a:spcBef>
                <a:spcPct val="0"/>
              </a:spcBef>
              <a:spcAft>
                <a:spcPct val="35000"/>
              </a:spcAft>
            </a:pPr>
            <a:r>
              <a:rPr lang="ja-JP" altLang="en-US" sz="800" b="1" dirty="0">
                <a:solidFill>
                  <a:schemeClr val="tx1"/>
                </a:solidFill>
                <a:latin typeface="+mn-ea"/>
              </a:rPr>
              <a:t>No.6 正社員</a:t>
            </a:r>
          </a:p>
          <a:p>
            <a:pPr algn="ctr" defTabSz="350844">
              <a:lnSpc>
                <a:spcPct val="90000"/>
              </a:lnSpc>
              <a:spcBef>
                <a:spcPct val="0"/>
              </a:spcBef>
              <a:spcAft>
                <a:spcPct val="35000"/>
              </a:spcAft>
            </a:pPr>
            <a:r>
              <a:rPr lang="ja-JP" altLang="en-US" sz="800" b="1" dirty="0">
                <a:solidFill>
                  <a:schemeClr val="tx1"/>
                </a:solidFill>
                <a:latin typeface="+mn-ea"/>
              </a:rPr>
              <a:t>No.11 再雇用正社員</a:t>
            </a:r>
          </a:p>
          <a:p>
            <a:pPr algn="ctr" defTabSz="350844">
              <a:lnSpc>
                <a:spcPct val="90000"/>
              </a:lnSpc>
              <a:spcBef>
                <a:spcPct val="0"/>
              </a:spcBef>
              <a:spcAft>
                <a:spcPct val="35000"/>
              </a:spcAft>
            </a:pPr>
            <a:r>
              <a:rPr lang="ja-JP" altLang="en-US" sz="800" b="1" dirty="0">
                <a:solidFill>
                  <a:schemeClr val="tx1"/>
                </a:solidFill>
                <a:latin typeface="+mn-ea"/>
              </a:rPr>
              <a:t>No.13 アルバイト</a:t>
            </a:r>
          </a:p>
        </p:txBody>
      </p:sp>
      <p:cxnSp>
        <p:nvCxnSpPr>
          <p:cNvPr id="105" name="Connector 104"/>
          <p:cNvCxnSpPr/>
          <p:nvPr/>
        </p:nvCxnSpPr>
        <p:spPr>
          <a:xfrm>
            <a:off x="5977890" y="3063240"/>
            <a:ext cx="0" cy="182880"/>
          </a:xfrm>
          <a:prstGeom prst="line">
            <a:avLst/>
          </a:prstGeom>
          <a:ln w="9525">
            <a:solidFill>
              <a:srgbClr val="808080"/>
            </a:solidFill>
          </a:ln>
        </p:spPr>
        <p:style>
          <a:lnRef idx="2">
            <a:schemeClr val="accent1"/>
          </a:lnRef>
          <a:fillRef idx="0">
            <a:schemeClr val="accent1"/>
          </a:fillRef>
          <a:effectRef idx="1">
            <a:schemeClr val="accent1"/>
          </a:effectRef>
          <a:fontRef idx="minor">
            <a:schemeClr val="tx1"/>
          </a:fontRef>
        </p:style>
      </p:cxnSp>
      <p:sp>
        <p:nvSpPr>
          <p:cNvPr id="106" name="長方形 143">
            <a:extLst>
              <a:ext uri="{FF2B5EF4-FFF2-40B4-BE49-F238E27FC236}">
                <a16:creationId xmlns:a16="http://schemas.microsoft.com/office/drawing/2014/main" id="{BCEB2967-C83B-DBEC-B8EA-880A804DB347}"/>
              </a:ext>
            </a:extLst>
          </p:cNvPr>
          <p:cNvSpPr/>
          <p:nvPr/>
        </p:nvSpPr>
        <p:spPr>
          <a:xfrm>
            <a:off x="5394960" y="3246120"/>
            <a:ext cx="1165860" cy="502920"/>
          </a:xfrm>
          <a:prstGeom prst="rect">
            <a:avLst/>
          </a:prstGeom>
          <a:solidFill>
            <a:schemeClr val="accent2"/>
          </a:solidFill>
          <a:ln w="28575" cap="rnd"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5012" tIns="5012" rIns="5012" bIns="47365" numCol="1" spcCol="1270" rtlCol="0" anchor="ctr" anchorCtr="0">
            <a:noAutofit/>
            <a:flatTx/>
          </a:bodyPr>
          <a:lstStyle/>
          <a:p>
            <a:pPr algn="ctr" defTabSz="350844">
              <a:lnSpc>
                <a:spcPct val="90000"/>
              </a:lnSpc>
              <a:spcBef>
                <a:spcPct val="0"/>
              </a:spcBef>
              <a:spcAft>
                <a:spcPct val="35000"/>
              </a:spcAft>
            </a:pPr>
            <a:r>
              <a:rPr lang="ja-JP" altLang="en-US" sz="1000" b="1" dirty="0">
                <a:solidFill>
                  <a:schemeClr val="tx1"/>
                </a:solidFill>
                <a:latin typeface="+mn-ea"/>
              </a:rPr>
              <a:t>生花部</a:t>
            </a:r>
            <a:endParaRPr lang="en-US" altLang="ja-JP" sz="1000" b="1" dirty="0">
              <a:solidFill>
                <a:schemeClr val="tx1"/>
              </a:solidFill>
              <a:latin typeface="+mn-ea"/>
            </a:endParaRPr>
          </a:p>
          <a:p>
            <a:pPr algn="ctr" defTabSz="350844">
              <a:lnSpc>
                <a:spcPct val="90000"/>
              </a:lnSpc>
              <a:spcBef>
                <a:spcPct val="0"/>
              </a:spcBef>
              <a:spcAft>
                <a:spcPct val="35000"/>
              </a:spcAft>
            </a:pPr>
            <a:r>
              <a:rPr lang="ja-JP" altLang="en-US" sz="900" dirty="0">
                <a:solidFill>
                  <a:schemeClr val="tx2">
                    <a:lumMod val="50000"/>
                  </a:schemeClr>
                </a:solidFill>
                <a:latin typeface="+mn-ea"/>
              </a:rPr>
              <a:t>1名</a:t>
            </a:r>
          </a:p>
        </p:txBody>
      </p:sp>
      <p:sp>
        <p:nvSpPr>
          <p:cNvPr id="107" name="長方形 179">
            <a:extLst>
              <a:ext uri="{FF2B5EF4-FFF2-40B4-BE49-F238E27FC236}">
                <a16:creationId xmlns:a16="http://schemas.microsoft.com/office/drawing/2014/main" id="{C344BD57-39A2-E7B7-1F68-D52B956AE252}"/>
              </a:ext>
            </a:extLst>
          </p:cNvPr>
          <p:cNvSpPr/>
          <p:nvPr/>
        </p:nvSpPr>
        <p:spPr>
          <a:xfrm>
            <a:off x="5394960" y="3840480"/>
            <a:ext cx="1165860" cy="411480"/>
          </a:xfrm>
          <a:prstGeom prst="rect">
            <a:avLst/>
          </a:prstGeom>
          <a:solidFill>
            <a:schemeClr val="accent2"/>
          </a:solidFill>
          <a:ln w="28575" cap="rnd"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5012" tIns="5012" rIns="5012" bIns="47365" numCol="1" spcCol="1270" rtlCol="0" anchor="t" anchorCtr="0">
            <a:noAutofit/>
            <a:flatTx/>
          </a:bodyPr>
          <a:lstStyle/>
          <a:p>
            <a:pPr algn="ctr" defTabSz="350844">
              <a:lnSpc>
                <a:spcPct val="90000"/>
              </a:lnSpc>
              <a:spcBef>
                <a:spcPct val="0"/>
              </a:spcBef>
              <a:spcAft>
                <a:spcPct val="35000"/>
              </a:spcAft>
            </a:pPr>
            <a:r>
              <a:rPr lang="ja-JP" altLang="en-US" sz="800" b="1" dirty="0">
                <a:solidFill>
                  <a:schemeClr val="tx1"/>
                </a:solidFill>
                <a:latin typeface="+mn-ea"/>
              </a:rPr>
              <a:t>No.10 嘱託社員</a:t>
            </a:r>
            <a:endParaRPr lang="en-US" altLang="ja-JP" sz="800" b="1" dirty="0">
              <a:solidFill>
                <a:schemeClr val="tx1"/>
              </a:solidFill>
              <a:latin typeface="+mn-ea"/>
            </a:endParaRPr>
          </a:p>
        </p:txBody>
      </p:sp>
      <p:cxnSp>
        <p:nvCxnSpPr>
          <p:cNvPr id="108" name="Connector 107"/>
          <p:cNvCxnSpPr/>
          <p:nvPr/>
        </p:nvCxnSpPr>
        <p:spPr>
          <a:xfrm>
            <a:off x="7235190" y="3063240"/>
            <a:ext cx="0" cy="182880"/>
          </a:xfrm>
          <a:prstGeom prst="line">
            <a:avLst/>
          </a:prstGeom>
          <a:ln w="9525">
            <a:solidFill>
              <a:srgbClr val="808080"/>
            </a:solidFill>
          </a:ln>
        </p:spPr>
        <p:style>
          <a:lnRef idx="2">
            <a:schemeClr val="accent1"/>
          </a:lnRef>
          <a:fillRef idx="0">
            <a:schemeClr val="accent1"/>
          </a:fillRef>
          <a:effectRef idx="1">
            <a:schemeClr val="accent1"/>
          </a:effectRef>
          <a:fontRef idx="minor">
            <a:schemeClr val="tx1"/>
          </a:fontRef>
        </p:style>
      </p:cxnSp>
      <p:sp>
        <p:nvSpPr>
          <p:cNvPr id="109" name="長方形 143">
            <a:extLst>
              <a:ext uri="{FF2B5EF4-FFF2-40B4-BE49-F238E27FC236}">
                <a16:creationId xmlns:a16="http://schemas.microsoft.com/office/drawing/2014/main" id="{BCEB2967-C83B-DBEC-B8EA-880A804DB347}"/>
              </a:ext>
            </a:extLst>
          </p:cNvPr>
          <p:cNvSpPr/>
          <p:nvPr/>
        </p:nvSpPr>
        <p:spPr>
          <a:xfrm>
            <a:off x="6652260" y="3246120"/>
            <a:ext cx="1165860" cy="502920"/>
          </a:xfrm>
          <a:prstGeom prst="rect">
            <a:avLst/>
          </a:prstGeom>
          <a:solidFill>
            <a:schemeClr val="accent2"/>
          </a:solidFill>
          <a:ln w="28575" cap="rnd"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5012" tIns="5012" rIns="5012" bIns="47365" numCol="1" spcCol="1270" rtlCol="0" anchor="ctr" anchorCtr="0">
            <a:noAutofit/>
            <a:flatTx/>
          </a:bodyPr>
          <a:lstStyle/>
          <a:p>
            <a:pPr algn="ctr" defTabSz="350844">
              <a:lnSpc>
                <a:spcPct val="90000"/>
              </a:lnSpc>
              <a:spcBef>
                <a:spcPct val="0"/>
              </a:spcBef>
              <a:spcAft>
                <a:spcPct val="35000"/>
              </a:spcAft>
            </a:pPr>
            <a:r>
              <a:rPr lang="ja-JP" altLang="en-US" sz="1000" b="1" dirty="0">
                <a:solidFill>
                  <a:schemeClr val="tx1"/>
                </a:solidFill>
                <a:latin typeface="+mn-ea"/>
              </a:rPr>
              <a:t>パッケージ部</a:t>
            </a:r>
            <a:endParaRPr lang="en-US" altLang="ja-JP" sz="1000" b="1" dirty="0">
              <a:solidFill>
                <a:schemeClr val="tx1"/>
              </a:solidFill>
              <a:latin typeface="+mn-ea"/>
            </a:endParaRPr>
          </a:p>
          <a:p>
            <a:pPr algn="ctr" defTabSz="350844">
              <a:lnSpc>
                <a:spcPct val="90000"/>
              </a:lnSpc>
              <a:spcBef>
                <a:spcPct val="0"/>
              </a:spcBef>
              <a:spcAft>
                <a:spcPct val="35000"/>
              </a:spcAft>
            </a:pPr>
            <a:r>
              <a:rPr lang="ja-JP" altLang="en-US" sz="900" dirty="0">
                <a:solidFill>
                  <a:schemeClr val="tx2">
                    <a:lumMod val="50000"/>
                  </a:schemeClr>
                </a:solidFill>
                <a:latin typeface="+mn-ea"/>
              </a:rPr>
              <a:t>7名</a:t>
            </a:r>
          </a:p>
        </p:txBody>
      </p:sp>
      <p:sp>
        <p:nvSpPr>
          <p:cNvPr id="110" name="長方形 179">
            <a:extLst>
              <a:ext uri="{FF2B5EF4-FFF2-40B4-BE49-F238E27FC236}">
                <a16:creationId xmlns:a16="http://schemas.microsoft.com/office/drawing/2014/main" id="{C344BD57-39A2-E7B7-1F68-D52B956AE252}"/>
              </a:ext>
            </a:extLst>
          </p:cNvPr>
          <p:cNvSpPr/>
          <p:nvPr/>
        </p:nvSpPr>
        <p:spPr>
          <a:xfrm>
            <a:off x="6652260" y="3840480"/>
            <a:ext cx="1165860" cy="1508760"/>
          </a:xfrm>
          <a:prstGeom prst="rect">
            <a:avLst/>
          </a:prstGeom>
          <a:solidFill>
            <a:schemeClr val="accent2"/>
          </a:solidFill>
          <a:ln w="28575" cap="rnd"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5012" tIns="5012" rIns="5012" bIns="47365" numCol="1" spcCol="1270" rtlCol="0" anchor="t" anchorCtr="0">
            <a:noAutofit/>
            <a:flatTx/>
          </a:bodyPr>
          <a:lstStyle/>
          <a:p>
            <a:pPr algn="ctr" defTabSz="350844">
              <a:lnSpc>
                <a:spcPct val="90000"/>
              </a:lnSpc>
              <a:spcBef>
                <a:spcPct val="0"/>
              </a:spcBef>
              <a:spcAft>
                <a:spcPct val="35000"/>
              </a:spcAft>
            </a:pPr>
            <a:r>
              <a:rPr lang="ja-JP" altLang="en-US" sz="800" b="1" dirty="0">
                <a:solidFill>
                  <a:schemeClr val="tx1"/>
                </a:solidFill>
                <a:latin typeface="+mn-ea"/>
              </a:rPr>
              <a:t>No.18 係長</a:t>
            </a:r>
            <a:endParaRPr lang="en-US" altLang="ja-JP" sz="800" b="1" dirty="0">
              <a:solidFill>
                <a:schemeClr val="tx1"/>
              </a:solidFill>
              <a:latin typeface="+mn-ea"/>
            </a:endParaRPr>
          </a:p>
          <a:p>
            <a:pPr algn="ctr" defTabSz="350844">
              <a:lnSpc>
                <a:spcPct val="90000"/>
              </a:lnSpc>
              <a:spcBef>
                <a:spcPct val="0"/>
              </a:spcBef>
              <a:spcAft>
                <a:spcPct val="35000"/>
              </a:spcAft>
            </a:pPr>
            <a:r>
              <a:rPr lang="ja-JP" altLang="en-US" sz="800" b="1" dirty="0">
                <a:solidFill>
                  <a:schemeClr val="tx1"/>
                </a:solidFill>
                <a:latin typeface="+mn-ea"/>
              </a:rPr>
              <a:t>No.19 正社員</a:t>
            </a:r>
          </a:p>
          <a:p>
            <a:pPr algn="ctr" defTabSz="350844">
              <a:lnSpc>
                <a:spcPct val="90000"/>
              </a:lnSpc>
              <a:spcBef>
                <a:spcPct val="0"/>
              </a:spcBef>
              <a:spcAft>
                <a:spcPct val="35000"/>
              </a:spcAft>
            </a:pPr>
            <a:r>
              <a:rPr lang="ja-JP" altLang="en-US" sz="800" b="1" dirty="0">
                <a:solidFill>
                  <a:schemeClr val="tx1"/>
                </a:solidFill>
                <a:latin typeface="+mn-ea"/>
              </a:rPr>
              <a:t>No.21 正社員</a:t>
            </a:r>
          </a:p>
          <a:p>
            <a:pPr algn="ctr" defTabSz="350844">
              <a:lnSpc>
                <a:spcPct val="90000"/>
              </a:lnSpc>
              <a:spcBef>
                <a:spcPct val="0"/>
              </a:spcBef>
              <a:spcAft>
                <a:spcPct val="35000"/>
              </a:spcAft>
            </a:pPr>
            <a:r>
              <a:rPr lang="ja-JP" altLang="en-US" sz="800" b="1" dirty="0">
                <a:solidFill>
                  <a:schemeClr val="tx1"/>
                </a:solidFill>
                <a:latin typeface="+mn-ea"/>
              </a:rPr>
              <a:t>No.22 パート</a:t>
            </a:r>
          </a:p>
          <a:p>
            <a:pPr algn="ctr" defTabSz="350844">
              <a:lnSpc>
                <a:spcPct val="90000"/>
              </a:lnSpc>
              <a:spcBef>
                <a:spcPct val="0"/>
              </a:spcBef>
              <a:spcAft>
                <a:spcPct val="35000"/>
              </a:spcAft>
            </a:pPr>
            <a:r>
              <a:rPr lang="ja-JP" altLang="en-US" sz="800" b="1" dirty="0">
                <a:solidFill>
                  <a:schemeClr val="tx1"/>
                </a:solidFill>
                <a:latin typeface="+mn-ea"/>
              </a:rPr>
              <a:t>No.23 パート</a:t>
            </a:r>
          </a:p>
          <a:p>
            <a:pPr algn="ctr" defTabSz="350844">
              <a:lnSpc>
                <a:spcPct val="90000"/>
              </a:lnSpc>
              <a:spcBef>
                <a:spcPct val="0"/>
              </a:spcBef>
              <a:spcAft>
                <a:spcPct val="35000"/>
              </a:spcAft>
            </a:pPr>
            <a:r>
              <a:rPr lang="ja-JP" altLang="en-US" sz="800" b="1" dirty="0">
                <a:solidFill>
                  <a:schemeClr val="tx1"/>
                </a:solidFill>
                <a:latin typeface="+mn-ea"/>
              </a:rPr>
              <a:t>No.20 正社員</a:t>
            </a:r>
          </a:p>
          <a:p>
            <a:pPr algn="ctr" defTabSz="350844">
              <a:lnSpc>
                <a:spcPct val="90000"/>
              </a:lnSpc>
              <a:spcBef>
                <a:spcPct val="0"/>
              </a:spcBef>
              <a:spcAft>
                <a:spcPct val="35000"/>
              </a:spcAft>
            </a:pPr>
            <a:r>
              <a:rPr lang="ja-JP" altLang="en-US" sz="800" b="1" dirty="0">
                <a:solidFill>
                  <a:schemeClr val="tx1"/>
                </a:solidFill>
                <a:latin typeface="+mn-ea"/>
              </a:rPr>
              <a:t>No.24 パート</a:t>
            </a:r>
          </a:p>
        </p:txBody>
      </p:sp>
      <p:cxnSp>
        <p:nvCxnSpPr>
          <p:cNvPr id="111" name="Connector 110"/>
          <p:cNvCxnSpPr/>
          <p:nvPr/>
        </p:nvCxnSpPr>
        <p:spPr>
          <a:xfrm>
            <a:off x="8492490" y="3063240"/>
            <a:ext cx="0" cy="182880"/>
          </a:xfrm>
          <a:prstGeom prst="line">
            <a:avLst/>
          </a:prstGeom>
          <a:ln w="9525">
            <a:solidFill>
              <a:srgbClr val="808080"/>
            </a:solidFill>
          </a:ln>
        </p:spPr>
        <p:style>
          <a:lnRef idx="2">
            <a:schemeClr val="accent1"/>
          </a:lnRef>
          <a:fillRef idx="0">
            <a:schemeClr val="accent1"/>
          </a:fillRef>
          <a:effectRef idx="1">
            <a:schemeClr val="accent1"/>
          </a:effectRef>
          <a:fontRef idx="minor">
            <a:schemeClr val="tx1"/>
          </a:fontRef>
        </p:style>
      </p:cxnSp>
      <p:sp>
        <p:nvSpPr>
          <p:cNvPr id="112" name="長方形 143">
            <a:extLst>
              <a:ext uri="{FF2B5EF4-FFF2-40B4-BE49-F238E27FC236}">
                <a16:creationId xmlns:a16="http://schemas.microsoft.com/office/drawing/2014/main" id="{BCEB2967-C83B-DBEC-B8EA-880A804DB347}"/>
              </a:ext>
            </a:extLst>
          </p:cNvPr>
          <p:cNvSpPr/>
          <p:nvPr/>
        </p:nvSpPr>
        <p:spPr>
          <a:xfrm>
            <a:off x="7909560" y="3246120"/>
            <a:ext cx="1165860" cy="502920"/>
          </a:xfrm>
          <a:prstGeom prst="rect">
            <a:avLst/>
          </a:prstGeom>
          <a:solidFill>
            <a:schemeClr val="accent2"/>
          </a:solidFill>
          <a:ln w="28575" cap="rnd"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5012" tIns="5012" rIns="5012" bIns="47365" numCol="1" spcCol="1270" rtlCol="0" anchor="ctr" anchorCtr="0">
            <a:noAutofit/>
            <a:flatTx/>
          </a:bodyPr>
          <a:lstStyle/>
          <a:p>
            <a:pPr algn="ctr" defTabSz="350844">
              <a:lnSpc>
                <a:spcPct val="90000"/>
              </a:lnSpc>
              <a:spcBef>
                <a:spcPct val="0"/>
              </a:spcBef>
              <a:spcAft>
                <a:spcPct val="35000"/>
              </a:spcAft>
            </a:pPr>
            <a:r>
              <a:rPr lang="ja-JP" altLang="en-US" sz="1000" b="1" dirty="0">
                <a:solidFill>
                  <a:schemeClr val="tx1"/>
                </a:solidFill>
                <a:latin typeface="+mn-ea"/>
              </a:rPr>
              <a:t>資材部</a:t>
            </a:r>
            <a:endParaRPr lang="en-US" altLang="ja-JP" sz="1000" b="1" dirty="0">
              <a:solidFill>
                <a:schemeClr val="tx1"/>
              </a:solidFill>
              <a:latin typeface="+mn-ea"/>
            </a:endParaRPr>
          </a:p>
          <a:p>
            <a:pPr algn="ctr" defTabSz="350844">
              <a:lnSpc>
                <a:spcPct val="90000"/>
              </a:lnSpc>
              <a:spcBef>
                <a:spcPct val="0"/>
              </a:spcBef>
              <a:spcAft>
                <a:spcPct val="35000"/>
              </a:spcAft>
            </a:pPr>
            <a:r>
              <a:rPr lang="ja-JP" altLang="en-US" sz="900" dirty="0">
                <a:solidFill>
                  <a:schemeClr val="tx2">
                    <a:lumMod val="50000"/>
                  </a:schemeClr>
                </a:solidFill>
                <a:latin typeface="+mn-ea"/>
              </a:rPr>
              <a:t>1名</a:t>
            </a:r>
          </a:p>
        </p:txBody>
      </p:sp>
      <p:sp>
        <p:nvSpPr>
          <p:cNvPr id="113" name="長方形 179">
            <a:extLst>
              <a:ext uri="{FF2B5EF4-FFF2-40B4-BE49-F238E27FC236}">
                <a16:creationId xmlns:a16="http://schemas.microsoft.com/office/drawing/2014/main" id="{C344BD57-39A2-E7B7-1F68-D52B956AE252}"/>
              </a:ext>
            </a:extLst>
          </p:cNvPr>
          <p:cNvSpPr/>
          <p:nvPr/>
        </p:nvSpPr>
        <p:spPr>
          <a:xfrm>
            <a:off x="7909560" y="3840480"/>
            <a:ext cx="1165860" cy="411480"/>
          </a:xfrm>
          <a:prstGeom prst="rect">
            <a:avLst/>
          </a:prstGeom>
          <a:solidFill>
            <a:schemeClr val="accent2"/>
          </a:solidFill>
          <a:ln w="28575" cap="rnd"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5012" tIns="5012" rIns="5012" bIns="47365" numCol="1" spcCol="1270" rtlCol="0" anchor="t" anchorCtr="0">
            <a:noAutofit/>
            <a:flatTx/>
          </a:bodyPr>
          <a:lstStyle/>
          <a:p>
            <a:pPr algn="ctr" defTabSz="350844">
              <a:lnSpc>
                <a:spcPct val="90000"/>
              </a:lnSpc>
              <a:spcBef>
                <a:spcPct val="0"/>
              </a:spcBef>
              <a:spcAft>
                <a:spcPct val="35000"/>
              </a:spcAft>
            </a:pPr>
            <a:r>
              <a:rPr lang="ja-JP" altLang="en-US" sz="800" b="1" dirty="0">
                <a:solidFill>
                  <a:schemeClr val="tx1"/>
                </a:solidFill>
                <a:latin typeface="+mn-ea"/>
              </a:rPr>
              <a:t>No.15 課長</a:t>
            </a:r>
            <a:endParaRPr lang="en-US" altLang="ja-JP" sz="800" b="1" dirty="0">
              <a:solidFill>
                <a:schemeClr val="tx1"/>
              </a:solidFill>
              <a:latin typeface="+mn-ea"/>
            </a:endParaRPr>
          </a:p>
        </p:txBody>
      </p:sp>
      <p:cxnSp>
        <p:nvCxnSpPr>
          <p:cNvPr id="114" name="Connector 113"/>
          <p:cNvCxnSpPr/>
          <p:nvPr/>
        </p:nvCxnSpPr>
        <p:spPr>
          <a:xfrm>
            <a:off x="9749790" y="3063240"/>
            <a:ext cx="0" cy="182880"/>
          </a:xfrm>
          <a:prstGeom prst="line">
            <a:avLst/>
          </a:prstGeom>
          <a:ln w="9525">
            <a:solidFill>
              <a:srgbClr val="808080"/>
            </a:solidFill>
          </a:ln>
        </p:spPr>
        <p:style>
          <a:lnRef idx="2">
            <a:schemeClr val="accent1"/>
          </a:lnRef>
          <a:fillRef idx="0">
            <a:schemeClr val="accent1"/>
          </a:fillRef>
          <a:effectRef idx="1">
            <a:schemeClr val="accent1"/>
          </a:effectRef>
          <a:fontRef idx="minor">
            <a:schemeClr val="tx1"/>
          </a:fontRef>
        </p:style>
      </p:cxnSp>
      <p:sp>
        <p:nvSpPr>
          <p:cNvPr id="115" name="長方形 143">
            <a:extLst>
              <a:ext uri="{FF2B5EF4-FFF2-40B4-BE49-F238E27FC236}">
                <a16:creationId xmlns:a16="http://schemas.microsoft.com/office/drawing/2014/main" id="{BCEB2967-C83B-DBEC-B8EA-880A804DB347}"/>
              </a:ext>
            </a:extLst>
          </p:cNvPr>
          <p:cNvSpPr/>
          <p:nvPr/>
        </p:nvSpPr>
        <p:spPr>
          <a:xfrm>
            <a:off x="9166860" y="3246120"/>
            <a:ext cx="1165860" cy="502920"/>
          </a:xfrm>
          <a:prstGeom prst="rect">
            <a:avLst/>
          </a:prstGeom>
          <a:solidFill>
            <a:schemeClr val="accent2"/>
          </a:solidFill>
          <a:ln w="28575" cap="rnd"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5012" tIns="5012" rIns="5012" bIns="47365" numCol="1" spcCol="1270" rtlCol="0" anchor="ctr" anchorCtr="0">
            <a:noAutofit/>
            <a:flatTx/>
          </a:bodyPr>
          <a:lstStyle/>
          <a:p>
            <a:pPr algn="ctr" defTabSz="350844">
              <a:lnSpc>
                <a:spcPct val="90000"/>
              </a:lnSpc>
              <a:spcBef>
                <a:spcPct val="0"/>
              </a:spcBef>
              <a:spcAft>
                <a:spcPct val="35000"/>
              </a:spcAft>
            </a:pPr>
            <a:r>
              <a:rPr lang="ja-JP" altLang="en-US" sz="1000" b="1" dirty="0">
                <a:solidFill>
                  <a:schemeClr val="tx1"/>
                </a:solidFill>
                <a:latin typeface="+mn-ea"/>
              </a:rPr>
              <a:t>総務部・事務</a:t>
            </a:r>
            <a:endParaRPr lang="en-US" altLang="ja-JP" sz="1000" b="1" dirty="0">
              <a:solidFill>
                <a:schemeClr val="tx1"/>
              </a:solidFill>
              <a:latin typeface="+mn-ea"/>
            </a:endParaRPr>
          </a:p>
          <a:p>
            <a:pPr algn="ctr" defTabSz="350844">
              <a:lnSpc>
                <a:spcPct val="90000"/>
              </a:lnSpc>
              <a:spcBef>
                <a:spcPct val="0"/>
              </a:spcBef>
              <a:spcAft>
                <a:spcPct val="35000"/>
              </a:spcAft>
            </a:pPr>
            <a:r>
              <a:rPr lang="ja-JP" altLang="en-US" sz="900" dirty="0">
                <a:solidFill>
                  <a:schemeClr val="tx2">
                    <a:lumMod val="50000"/>
                  </a:schemeClr>
                </a:solidFill>
                <a:latin typeface="+mn-ea"/>
              </a:rPr>
              <a:t>2名</a:t>
            </a:r>
          </a:p>
        </p:txBody>
      </p:sp>
      <p:sp>
        <p:nvSpPr>
          <p:cNvPr id="116" name="長方形 179">
            <a:extLst>
              <a:ext uri="{FF2B5EF4-FFF2-40B4-BE49-F238E27FC236}">
                <a16:creationId xmlns:a16="http://schemas.microsoft.com/office/drawing/2014/main" id="{C344BD57-39A2-E7B7-1F68-D52B956AE252}"/>
              </a:ext>
            </a:extLst>
          </p:cNvPr>
          <p:cNvSpPr/>
          <p:nvPr/>
        </p:nvSpPr>
        <p:spPr>
          <a:xfrm>
            <a:off x="9166860" y="3840480"/>
            <a:ext cx="1165860" cy="594360"/>
          </a:xfrm>
          <a:prstGeom prst="rect">
            <a:avLst/>
          </a:prstGeom>
          <a:solidFill>
            <a:schemeClr val="accent2"/>
          </a:solidFill>
          <a:ln w="28575" cap="rnd"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5012" tIns="5012" rIns="5012" bIns="47365" numCol="1" spcCol="1270" rtlCol="0" anchor="t" anchorCtr="0">
            <a:noAutofit/>
            <a:flatTx/>
          </a:bodyPr>
          <a:lstStyle/>
          <a:p>
            <a:pPr algn="ctr" defTabSz="350844">
              <a:lnSpc>
                <a:spcPct val="90000"/>
              </a:lnSpc>
              <a:spcBef>
                <a:spcPct val="0"/>
              </a:spcBef>
              <a:spcAft>
                <a:spcPct val="35000"/>
              </a:spcAft>
            </a:pPr>
            <a:r>
              <a:rPr lang="ja-JP" altLang="en-US" sz="800" b="1" dirty="0">
                <a:solidFill>
                  <a:schemeClr val="tx1"/>
                </a:solidFill>
                <a:latin typeface="+mn-ea"/>
              </a:rPr>
              <a:t>No.14 部長</a:t>
            </a:r>
            <a:endParaRPr lang="en-US" altLang="ja-JP" sz="800" b="1" dirty="0">
              <a:solidFill>
                <a:schemeClr val="tx1"/>
              </a:solidFill>
              <a:latin typeface="+mn-ea"/>
            </a:endParaRPr>
          </a:p>
          <a:p>
            <a:pPr algn="ctr" defTabSz="350844">
              <a:lnSpc>
                <a:spcPct val="90000"/>
              </a:lnSpc>
              <a:spcBef>
                <a:spcPct val="0"/>
              </a:spcBef>
              <a:spcAft>
                <a:spcPct val="35000"/>
              </a:spcAft>
            </a:pPr>
            <a:r>
              <a:rPr lang="ja-JP" altLang="en-US" sz="800" b="1" dirty="0">
                <a:solidFill>
                  <a:schemeClr val="tx1"/>
                </a:solidFill>
                <a:latin typeface="+mn-ea"/>
              </a:rPr>
              <a:t>No.17 正社員</a:t>
            </a:r>
          </a:p>
        </p:txBody>
      </p:sp>
      <p:sp>
        <p:nvSpPr>
          <p:cNvPr id="117" name="TextBox 116"/>
          <p:cNvSpPr txBox="1"/>
          <p:nvPr/>
        </p:nvSpPr>
        <p:spPr>
          <a:xfrm>
            <a:off x="365760" y="6629400"/>
            <a:ext cx="9966960" cy="329184"/>
          </a:xfrm>
          <a:prstGeom prst="rect">
            <a:avLst/>
          </a:prstGeom>
          <a:noFill/>
        </p:spPr>
        <p:txBody>
          <a:bodyPr wrap="square" lIns="0" rIns="0" tIns="0" bIns="0" anchor="t">
            <a:spAutoFit/>
          </a:bodyPr>
          <a:lstStyle/>
          <a:p>
            <a:pPr algn="l"/>
            <a:r>
              <a:rPr sz="800" b="0">
                <a:solidFill>
                  <a:srgbClr val="000000"/>
                </a:solidFill>
                <a:latin typeface="游ゴシック"/>
                <a:ea typeface="游ゴシック"/>
              </a:rPr>
              <a:t>※図中のNo.は「従業員一覧」ページの№と対応。★はセリ人資格保有者。役職のない者は雇用形態を表示。</a:t>
            </a:r>
          </a:p>
          <a:p>
            <a:pPr algn="l"/>
            <a:r>
              <a:rPr sz="800" b="0">
                <a:solidFill>
                  <a:srgbClr val="000000"/>
                </a:solidFill>
                <a:latin typeface="游ゴシック"/>
                <a:ea typeface="游ゴシック"/>
              </a:rPr>
              <a:t>※常務取締役は2026年5月29日に退任。取締役（非常勤）1名は図示省略。在庫管理は野菜・果物に分け、それぞれ2〜3名で担当。</a:t>
            </a:r>
          </a:p>
        </p:txBody>
      </p:sp>
    </p:spTree>
    <p:extLst>
      <p:ext uri="{BB962C8B-B14F-4D97-AF65-F5344CB8AC3E}">
        <p14:creationId xmlns:p14="http://schemas.microsoft.com/office/powerpoint/2010/main" val="27286124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0B11F1-1D51-B82A-B921-6A785A325690}"/>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0FAD2F8E-0153-3144-7799-F8299088775F}"/>
              </a:ext>
            </a:extLst>
          </p:cNvPr>
          <p:cNvSpPr>
            <a:spLocks noGrp="1"/>
          </p:cNvSpPr>
          <p:nvPr>
            <p:ph type="ctrTitle"/>
          </p:nvPr>
        </p:nvSpPr>
        <p:spPr>
          <a:xfrm>
            <a:off x="311150" y="180296"/>
            <a:ext cx="7799917" cy="339267"/>
          </a:xfrm>
        </p:spPr>
        <p:txBody>
          <a:bodyPr>
            <a:normAutofit/>
          </a:bodyPr>
          <a:lstStyle/>
          <a:p>
            <a:r>
              <a:rPr lang="ja-JP" altLang="en-US" dirty="0"/>
              <a:t>株主及び役員</a:t>
            </a:r>
          </a:p>
        </p:txBody>
      </p:sp>
      <p:sp>
        <p:nvSpPr>
          <p:cNvPr id="2" name="正方形/長方形 1">
            <a:extLst>
              <a:ext uri="{FF2B5EF4-FFF2-40B4-BE49-F238E27FC236}">
                <a16:creationId xmlns:a16="http://schemas.microsoft.com/office/drawing/2014/main" id="{F474A0FB-C4FD-5021-0996-014C9ADB8336}"/>
              </a:ext>
            </a:extLst>
          </p:cNvPr>
          <p:cNvSpPr/>
          <p:nvPr/>
        </p:nvSpPr>
        <p:spPr>
          <a:xfrm>
            <a:off x="310896" y="1463040"/>
            <a:ext cx="1479550"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buClr>
                <a:schemeClr val="tx2"/>
              </a:buClr>
              <a:buSzPct val="80000"/>
            </a:pPr>
            <a:r>
              <a:rPr lang="ja-JP" altLang="en-US" sz="1400" b="1" spc="70" dirty="0">
                <a:solidFill>
                  <a:schemeClr val="bg1"/>
                </a:solidFill>
                <a:latin typeface="+mj-ea"/>
                <a:ea typeface="+mj-ea"/>
              </a:rPr>
              <a:t>株主</a:t>
            </a:r>
          </a:p>
        </p:txBody>
      </p:sp>
      <p:sp>
        <p:nvSpPr>
          <p:cNvPr id="3" name="正方形/長方形 2">
            <a:extLst>
              <a:ext uri="{FF2B5EF4-FFF2-40B4-BE49-F238E27FC236}">
                <a16:creationId xmlns:a16="http://schemas.microsoft.com/office/drawing/2014/main" id="{75AD8D3D-AB28-DAEE-3CFD-D5FBA0A0A9F7}"/>
              </a:ext>
            </a:extLst>
          </p:cNvPr>
          <p:cNvSpPr/>
          <p:nvPr/>
        </p:nvSpPr>
        <p:spPr>
          <a:xfrm>
            <a:off x="310896" y="4427728"/>
            <a:ext cx="1479550"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buClr>
                <a:schemeClr val="tx2"/>
              </a:buClr>
              <a:buSzPct val="80000"/>
            </a:pPr>
            <a:r>
              <a:rPr lang="ja-JP" altLang="en-US" sz="1400" b="1" spc="70" dirty="0">
                <a:solidFill>
                  <a:schemeClr val="bg1"/>
                </a:solidFill>
                <a:latin typeface="+mj-ea"/>
                <a:ea typeface="+mj-ea"/>
              </a:rPr>
              <a:t>役員</a:t>
            </a:r>
          </a:p>
        </p:txBody>
      </p:sp>
      <p:sp>
        <p:nvSpPr>
          <p:cNvPr id="4" name="タイトル 1">
            <a:extLst>
              <a:ext uri="{FF2B5EF4-FFF2-40B4-BE49-F238E27FC236}">
                <a16:creationId xmlns:a16="http://schemas.microsoft.com/office/drawing/2014/main" id="{7A477B2A-8CB0-33C5-E13F-6A9007ED2C1F}"/>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組織、拠点、設備等</a:t>
            </a:r>
          </a:p>
        </p:txBody>
      </p:sp>
      <p:sp>
        <p:nvSpPr>
          <p:cNvPr id="8" name="字幕 13">
            <a:extLst>
              <a:ext uri="{FF2B5EF4-FFF2-40B4-BE49-F238E27FC236}">
                <a16:creationId xmlns:a16="http://schemas.microsoft.com/office/drawing/2014/main" id="{B2B57451-0F79-4EA4-E5F7-DD3BE659A77B}"/>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a:ea typeface="游ゴシック"/>
              </a:rPr>
              <a:t>代表者一族（4名）で発行済株式の75.8%を保有し、全株主の株式を譲渡可能。代表者は経営全般・販売、弟は買付・販売を担い、譲渡後は弟が残留予定。</a:t>
            </a:r>
          </a:p>
        </p:txBody>
      </p:sp>
      <p:graphicFrame>
        <p:nvGraphicFramePr>
          <p:cNvPr id="14" name="表（株主!B4:H14）"/>
          <p:cNvGraphicFramePr>
            <a:graphicFrameLocks noGrp="1"/>
          </p:cNvGraphicFramePr>
          <p:nvPr/>
        </p:nvGraphicFramePr>
        <p:xfrm>
          <a:off x="777240" y="1828800"/>
          <a:ext cx="8778236" cy="2489200"/>
        </p:xfrm>
        <a:graphic>
          <a:graphicData uri="http://schemas.openxmlformats.org/drawingml/2006/table">
            <a:tbl>
              <a:tblPr firstRow="0" bandRow="0">
                <a:tableStyleId>{2D5ABB26-0587-4C30-8999-92F81FD0307C}</a:tableStyleId>
              </a:tblPr>
              <a:tblGrid>
                <a:gridCol w="323686"/>
                <a:gridCol w="1247393"/>
                <a:gridCol w="2171099"/>
                <a:gridCol w="1155089"/>
                <a:gridCol w="1016298"/>
                <a:gridCol w="923994"/>
                <a:gridCol w="1940677"/>
              </a:tblGrid>
              <a:tr h="190500">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900" b="0" i="0" dirty="0">
                          <a:solidFill>
                            <a:srgbClr val="000000"/>
                          </a:solidFill>
                          <a:latin typeface="游ゴシック"/>
                          <a:ea typeface="游ゴシック"/>
                        </a:rPr>
                        <a:t>(単位：千円)</a:t>
                      </a:r>
                      <a:endParaRPr lang="ja-JP" altLang="en-US" sz="90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r>
              <a:tr h="355600">
                <a:tc>
                  <a:txBody>
                    <a:bodyPr/>
                    <a:lstStyle/>
                    <a:p>
                      <a:pPr algn="ctr" fontAlgn="ctr"/>
                      <a:r>
                        <a:rPr lang="ja-JP" altLang="en-US" sz="1000" b="0" i="0" dirty="0">
                          <a:solidFill>
                            <a:srgbClr val="FFFFFF"/>
                          </a:solidFill>
                          <a:latin typeface="游ゴシック"/>
                          <a:ea typeface="游ゴシック"/>
                        </a:rPr>
                        <a:t>№</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氏名</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役職・続柄</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役員報酬</a:t>
                      </a:r>
                      <a:endParaRPr lang="ja-JP" altLang="en-US" sz="1000" b="0" i="0" dirty="0">
                        <a:solidFill>
                          <a:srgbClr val="FFFFFF"/>
                        </a:solidFill>
                        <a:latin typeface="游ゴシック"/>
                        <a:ea typeface="游ゴシック"/>
                      </a:endParaRPr>
                    </a:p>
                    <a:p>
                      <a:pPr algn="ctr" fontAlgn="ctr"/>
                      <a:r>
                        <a:rPr lang="ja-JP" altLang="en-US" sz="1000" b="0" i="0" dirty="0">
                          <a:solidFill>
                            <a:srgbClr val="FFFFFF"/>
                          </a:solidFill>
                          <a:latin typeface="游ゴシック"/>
                          <a:ea typeface="游ゴシック"/>
                        </a:rPr>
                        <a:t>(2026年3月期)</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保有株式数</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保有割合</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備考</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r>
              <a:tr h="215900">
                <a:tc>
                  <a:txBody>
                    <a:bodyPr/>
                    <a:lstStyle/>
                    <a:p>
                      <a:pPr algn="ctr" fontAlgn="ctr"/>
                      <a:r>
                        <a:rPr lang="ja-JP" altLang="en-US" sz="1050" b="0" i="0" dirty="0">
                          <a:solidFill>
                            <a:srgbClr val="000000"/>
                          </a:solidFill>
                          <a:latin typeface="游ゴシック"/>
                          <a:ea typeface="游ゴシック"/>
                        </a:rPr>
                        <a:t>1</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50" b="0" i="0" dirty="0">
                          <a:solidFill>
                            <a:srgbClr val="000000"/>
                          </a:solidFill>
                          <a:latin typeface="游ゴシック"/>
                          <a:ea typeface="游ゴシック"/>
                        </a:rPr>
                        <a:t>岡部 寛</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代表取締役（本人）</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4,320</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1,510</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37.8%</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15900">
                <a:tc>
                  <a:txBody>
                    <a:bodyPr/>
                    <a:lstStyle/>
                    <a:p>
                      <a:pPr algn="ctr" fontAlgn="ctr"/>
                      <a:r>
                        <a:rPr lang="ja-JP" altLang="en-US" sz="1050" b="0" i="0" dirty="0">
                          <a:solidFill>
                            <a:srgbClr val="000000"/>
                          </a:solidFill>
                          <a:latin typeface="游ゴシック"/>
                          <a:ea typeface="游ゴシック"/>
                        </a:rPr>
                        <a:t>2</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50" b="0" i="0" dirty="0">
                          <a:solidFill>
                            <a:srgbClr val="000000"/>
                          </a:solidFill>
                          <a:latin typeface="游ゴシック"/>
                          <a:ea typeface="游ゴシック"/>
                        </a:rPr>
                        <a:t>岡部 一</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取締役・代表者の兄弟</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4,200</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720</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18.0%</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15900">
                <a:tc>
                  <a:txBody>
                    <a:bodyPr/>
                    <a:lstStyle/>
                    <a:p>
                      <a:pPr algn="ctr" fontAlgn="ctr"/>
                      <a:r>
                        <a:rPr lang="ja-JP" altLang="en-US" sz="1050" b="0" i="0" dirty="0">
                          <a:solidFill>
                            <a:srgbClr val="000000"/>
                          </a:solidFill>
                          <a:latin typeface="游ゴシック"/>
                          <a:ea typeface="游ゴシック"/>
                        </a:rPr>
                        <a:t>3</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50" b="0" i="0" dirty="0">
                          <a:solidFill>
                            <a:srgbClr val="000000"/>
                          </a:solidFill>
                          <a:latin typeface="游ゴシック"/>
                          <a:ea typeface="游ゴシック"/>
                        </a:rPr>
                        <a:t>岡部 和子</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代表者の兄弟</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500</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12.5%</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15900">
                <a:tc>
                  <a:txBody>
                    <a:bodyPr/>
                    <a:lstStyle/>
                    <a:p>
                      <a:pPr algn="ctr" fontAlgn="ctr"/>
                      <a:r>
                        <a:rPr lang="ja-JP" altLang="en-US" sz="1050" b="0" i="0" dirty="0">
                          <a:solidFill>
                            <a:srgbClr val="000000"/>
                          </a:solidFill>
                          <a:latin typeface="游ゴシック"/>
                          <a:ea typeface="游ゴシック"/>
                        </a:rPr>
                        <a:t>4</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50" b="0" i="0" dirty="0">
                          <a:solidFill>
                            <a:srgbClr val="000000"/>
                          </a:solidFill>
                          <a:latin typeface="游ゴシック"/>
                          <a:ea typeface="游ゴシック"/>
                        </a:rPr>
                        <a:t>梅津 恵一</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360</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9.0%</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15900">
                <a:tc>
                  <a:txBody>
                    <a:bodyPr/>
                    <a:lstStyle/>
                    <a:p>
                      <a:pPr algn="ctr" fontAlgn="ctr"/>
                      <a:r>
                        <a:rPr lang="ja-JP" altLang="en-US" sz="1050" b="0" i="0" dirty="0">
                          <a:solidFill>
                            <a:srgbClr val="000000"/>
                          </a:solidFill>
                          <a:latin typeface="游ゴシック"/>
                          <a:ea typeface="游ゴシック"/>
                        </a:rPr>
                        <a:t>5</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50" b="0" i="0" dirty="0">
                          <a:solidFill>
                            <a:srgbClr val="000000"/>
                          </a:solidFill>
                          <a:latin typeface="游ゴシック"/>
                          <a:ea typeface="游ゴシック"/>
                        </a:rPr>
                        <a:t>小野寺 則和</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監査役</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120</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350</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8.8%</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15900">
                <a:tc>
                  <a:txBody>
                    <a:bodyPr/>
                    <a:lstStyle/>
                    <a:p>
                      <a:pPr algn="ctr" fontAlgn="ctr"/>
                      <a:r>
                        <a:rPr lang="ja-JP" altLang="en-US" sz="1050" b="0" i="0" dirty="0">
                          <a:solidFill>
                            <a:srgbClr val="000000"/>
                          </a:solidFill>
                          <a:latin typeface="游ゴシック"/>
                          <a:ea typeface="游ゴシック"/>
                        </a:rPr>
                        <a:t>6</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50" b="0" i="0" dirty="0">
                          <a:solidFill>
                            <a:srgbClr val="000000"/>
                          </a:solidFill>
                          <a:latin typeface="游ゴシック"/>
                          <a:ea typeface="游ゴシック"/>
                        </a:rPr>
                        <a:t>岡部 竹古</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取締役・代表者の配偶者</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120</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300</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7.5%</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15900">
                <a:tc>
                  <a:txBody>
                    <a:bodyPr/>
                    <a:lstStyle/>
                    <a:p>
                      <a:pPr algn="ctr" fontAlgn="ctr"/>
                      <a:r>
                        <a:rPr lang="ja-JP" altLang="en-US" sz="1050" b="0" i="0" dirty="0">
                          <a:solidFill>
                            <a:srgbClr val="000000"/>
                          </a:solidFill>
                          <a:latin typeface="游ゴシック"/>
                          <a:ea typeface="游ゴシック"/>
                        </a:rPr>
                        <a:t>7</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50" b="0" i="0" dirty="0">
                          <a:solidFill>
                            <a:srgbClr val="000000"/>
                          </a:solidFill>
                          <a:latin typeface="游ゴシック"/>
                          <a:ea typeface="游ゴシック"/>
                        </a:rPr>
                        <a:t>佐藤 令子</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200</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5.0%</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15900">
                <a:tc>
                  <a:txBody>
                    <a:bodyPr/>
                    <a:lstStyle/>
                    <a:p>
                      <a:pPr algn="ctr" fontAlgn="ctr"/>
                      <a:r>
                        <a:rPr lang="ja-JP" altLang="en-US" sz="1050" b="0" i="0" dirty="0">
                          <a:solidFill>
                            <a:srgbClr val="000000"/>
                          </a:solidFill>
                          <a:latin typeface="游ゴシック"/>
                          <a:ea typeface="游ゴシック"/>
                        </a:rPr>
                        <a:t>8</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50" b="0" i="0" dirty="0">
                          <a:solidFill>
                            <a:srgbClr val="000000"/>
                          </a:solidFill>
                          <a:latin typeface="游ゴシック"/>
                          <a:ea typeface="游ゴシック"/>
                        </a:rPr>
                        <a:t>菅原 圭吾</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元常務取締役</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6,600</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60</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1.5%</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2026年5月29日退任</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15900">
                <a:tc>
                  <a:txBody>
                    <a:bodyPr/>
                    <a:lstStyle/>
                    <a:p>
                      <a:pPr algn="l" fontAlgn="ctr"/>
                      <a:endParaRPr lang="ja-JP" altLang="en-US" sz="102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gridSpan="2">
                  <a:txBody>
                    <a:bodyPr/>
                    <a:lstStyle/>
                    <a:p>
                      <a:pPr algn="ctr" fontAlgn="ctr"/>
                      <a:r>
                        <a:rPr lang="ja-JP" altLang="en-US" sz="1050" b="1" i="0" dirty="0">
                          <a:solidFill>
                            <a:srgbClr val="000000"/>
                          </a:solidFill>
                          <a:latin typeface="游ゴシック"/>
                          <a:ea typeface="游ゴシック"/>
                        </a:rPr>
                        <a:t>合計</a:t>
                      </a:r>
                      <a:endParaRPr lang="ja-JP" altLang="en-US" sz="105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hMerge="1">
                  <a:txBody>
                    <a:bodyPr/>
                    <a:lstStyle/>
                    <a:p>
                      <a:pPr algn="l" fontAlgn="ctr"/>
                      <a:endParaRPr lang="ja-JP" altLang="en-US" sz="1020" b="0" i="0" dirty="0">
                        <a:solidFill>
                          <a:srgbClr val="000000"/>
                        </a:solidFill>
                        <a:latin typeface="Calibri"/>
                        <a:ea typeface="游ゴシック"/>
                      </a:endParaRPr>
                    </a:p>
                  </a:txBody>
                  <a:tcPr marL="36576" marR="36576" marT="0" marB="0" anchor="ctr">
                    <a:lnL w="6350">
                      <a:noFill/>
                    </a:lnL>
                    <a:lnR w="12700">
                      <a:solidFill>
                        <a:srgbClr val="FFFFFF"/>
                      </a:solidFill>
                    </a:lnR>
                    <a:lnT w="6350">
                      <a:noFill/>
                    </a:lnT>
                    <a:lnB w="6350">
                      <a:solidFill>
                        <a:srgbClr val="A6A6A6"/>
                      </a:solidFill>
                    </a:lnB>
                    <a:noFill/>
                  </a:tcPr>
                </a:tc>
                <a:tc>
                  <a:txBody>
                    <a:bodyPr/>
                    <a:lstStyle/>
                    <a:p>
                      <a:pPr algn="r" fontAlgn="ctr"/>
                      <a:r>
                        <a:rPr lang="ja-JP" altLang="en-US" sz="1050" b="1" i="0" dirty="0">
                          <a:solidFill>
                            <a:srgbClr val="000000"/>
                          </a:solidFill>
                          <a:latin typeface="Arial"/>
                          <a:ea typeface="游ゴシック Medium"/>
                        </a:rPr>
                        <a:t>15,360</a:t>
                      </a:r>
                      <a:endParaRPr lang="ja-JP" altLang="en-US" sz="105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1050" b="1" i="0" dirty="0">
                          <a:solidFill>
                            <a:srgbClr val="000000"/>
                          </a:solidFill>
                          <a:latin typeface="Arial"/>
                          <a:ea typeface="游ゴシック Medium"/>
                        </a:rPr>
                        <a:t>4,000</a:t>
                      </a:r>
                      <a:endParaRPr lang="ja-JP" altLang="en-US" sz="105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1050" b="1" i="0" dirty="0">
                          <a:solidFill>
                            <a:srgbClr val="000000"/>
                          </a:solidFill>
                          <a:latin typeface="Arial"/>
                          <a:ea typeface="游ゴシック Medium"/>
                        </a:rPr>
                        <a:t>100.0%</a:t>
                      </a:r>
                      <a:endParaRPr lang="ja-JP" altLang="en-US" sz="105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l" fontAlgn="ctr"/>
                      <a:endParaRPr lang="ja-JP" altLang="en-US" sz="102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r>
            </a:tbl>
          </a:graphicData>
        </a:graphic>
      </p:graphicFrame>
      <p:graphicFrame>
        <p:nvGraphicFramePr>
          <p:cNvPr id="15" name="表（取締役!B4:I11）"/>
          <p:cNvGraphicFramePr>
            <a:graphicFrameLocks noGrp="1"/>
          </p:cNvGraphicFramePr>
          <p:nvPr/>
        </p:nvGraphicFramePr>
        <p:xfrm>
          <a:off x="777240" y="4793488"/>
          <a:ext cx="8778236" cy="1841500"/>
        </p:xfrm>
        <a:graphic>
          <a:graphicData uri="http://schemas.openxmlformats.org/drawingml/2006/table">
            <a:tbl>
              <a:tblPr firstRow="0" bandRow="0">
                <a:tableStyleId>{2D5ABB26-0587-4C30-8999-92F81FD0307C}</a:tableStyleId>
              </a:tblPr>
              <a:tblGrid>
                <a:gridCol w="315397"/>
                <a:gridCol w="1125509"/>
                <a:gridCol w="1170150"/>
                <a:gridCol w="900332"/>
                <a:gridCol w="720453"/>
                <a:gridCol w="1215448"/>
                <a:gridCol w="1530564"/>
                <a:gridCol w="1800383"/>
              </a:tblGrid>
              <a:tr h="190500">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900" b="0" i="0" dirty="0">
                          <a:solidFill>
                            <a:srgbClr val="000000"/>
                          </a:solidFill>
                          <a:latin typeface="游ゴシック"/>
                          <a:ea typeface="游ゴシック"/>
                        </a:rPr>
                        <a:t>(単位：千円)</a:t>
                      </a:r>
                      <a:endParaRPr lang="ja-JP" altLang="en-US" sz="90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r>
              <a:tr h="355600">
                <a:tc>
                  <a:txBody>
                    <a:bodyPr/>
                    <a:lstStyle/>
                    <a:p>
                      <a:pPr algn="ctr" fontAlgn="ctr"/>
                      <a:r>
                        <a:rPr lang="ja-JP" altLang="en-US" sz="1000" b="0" i="0" dirty="0">
                          <a:solidFill>
                            <a:srgbClr val="FFFFFF"/>
                          </a:solidFill>
                          <a:latin typeface="游ゴシック"/>
                          <a:ea typeface="游ゴシック"/>
                        </a:rPr>
                        <a:t>№</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氏名</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役職</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代表者</a:t>
                      </a:r>
                      <a:endParaRPr lang="ja-JP" altLang="en-US" sz="1000" b="0" i="0" dirty="0">
                        <a:solidFill>
                          <a:srgbClr val="FFFFFF"/>
                        </a:solidFill>
                        <a:latin typeface="游ゴシック"/>
                        <a:ea typeface="游ゴシック"/>
                      </a:endParaRPr>
                    </a:p>
                    <a:p>
                      <a:pPr algn="ctr" fontAlgn="ctr"/>
                      <a:r>
                        <a:rPr lang="ja-JP" altLang="en-US" sz="1000" b="0" i="0" dirty="0">
                          <a:solidFill>
                            <a:srgbClr val="FFFFFF"/>
                          </a:solidFill>
                          <a:latin typeface="游ゴシック"/>
                          <a:ea typeface="游ゴシック"/>
                        </a:rPr>
                        <a:t>との関係</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常勤／</a:t>
                      </a:r>
                      <a:endParaRPr lang="ja-JP" altLang="en-US" sz="1000" b="0" i="0" dirty="0">
                        <a:solidFill>
                          <a:srgbClr val="FFFFFF"/>
                        </a:solidFill>
                        <a:latin typeface="游ゴシック"/>
                        <a:ea typeface="游ゴシック"/>
                      </a:endParaRPr>
                    </a:p>
                    <a:p>
                      <a:pPr algn="ctr" fontAlgn="ctr"/>
                      <a:r>
                        <a:rPr lang="ja-JP" altLang="en-US" sz="1000" b="0" i="0" dirty="0">
                          <a:solidFill>
                            <a:srgbClr val="FFFFFF"/>
                          </a:solidFill>
                          <a:latin typeface="游ゴシック"/>
                          <a:ea typeface="游ゴシック"/>
                        </a:rPr>
                        <a:t>非常勤</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役員報酬</a:t>
                      </a:r>
                      <a:endParaRPr lang="ja-JP" altLang="en-US" sz="1000" b="0" i="0" dirty="0">
                        <a:solidFill>
                          <a:srgbClr val="FFFFFF"/>
                        </a:solidFill>
                        <a:latin typeface="游ゴシック"/>
                        <a:ea typeface="游ゴシック"/>
                      </a:endParaRPr>
                    </a:p>
                    <a:p>
                      <a:pPr algn="ctr" fontAlgn="ctr"/>
                      <a:r>
                        <a:rPr lang="ja-JP" altLang="en-US" sz="1000" b="0" i="0" dirty="0">
                          <a:solidFill>
                            <a:srgbClr val="FFFFFF"/>
                          </a:solidFill>
                          <a:latin typeface="游ゴシック"/>
                          <a:ea typeface="游ゴシック"/>
                        </a:rPr>
                        <a:t>(2026年3月期)</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業務範囲</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備考</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r>
              <a:tr h="215900">
                <a:tc>
                  <a:txBody>
                    <a:bodyPr/>
                    <a:lstStyle/>
                    <a:p>
                      <a:pPr algn="ctr" fontAlgn="ctr"/>
                      <a:r>
                        <a:rPr lang="ja-JP" altLang="en-US" sz="1050" b="0" i="0" dirty="0">
                          <a:solidFill>
                            <a:srgbClr val="000000"/>
                          </a:solidFill>
                          <a:latin typeface="游ゴシック"/>
                          <a:ea typeface="游ゴシック"/>
                        </a:rPr>
                        <a:t>1</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50" b="0" i="0" dirty="0">
                          <a:solidFill>
                            <a:srgbClr val="000000"/>
                          </a:solidFill>
                          <a:latin typeface="游ゴシック"/>
                          <a:ea typeface="游ゴシック"/>
                        </a:rPr>
                        <a:t>岡部 寛</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代表取締役</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1000" b="0" i="0" dirty="0">
                          <a:solidFill>
                            <a:srgbClr val="000000"/>
                          </a:solidFill>
                          <a:latin typeface="游ゴシック"/>
                          <a:ea typeface="游ゴシック"/>
                        </a:rPr>
                        <a:t>本人</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1000" b="0" i="0" dirty="0">
                          <a:solidFill>
                            <a:srgbClr val="000000"/>
                          </a:solidFill>
                          <a:latin typeface="游ゴシック"/>
                          <a:ea typeface="游ゴシック"/>
                        </a:rPr>
                        <a:t>常勤</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4,320</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経営全般・販売</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譲渡後は顧問就任可</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15900">
                <a:tc>
                  <a:txBody>
                    <a:bodyPr/>
                    <a:lstStyle/>
                    <a:p>
                      <a:pPr algn="ctr" fontAlgn="ctr"/>
                      <a:r>
                        <a:rPr lang="ja-JP" altLang="en-US" sz="1050" b="0" i="0" dirty="0">
                          <a:solidFill>
                            <a:srgbClr val="000000"/>
                          </a:solidFill>
                          <a:latin typeface="游ゴシック"/>
                          <a:ea typeface="游ゴシック"/>
                        </a:rPr>
                        <a:t>2</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50" b="0" i="0" dirty="0">
                          <a:solidFill>
                            <a:srgbClr val="000000"/>
                          </a:solidFill>
                          <a:latin typeface="游ゴシック"/>
                          <a:ea typeface="游ゴシック"/>
                        </a:rPr>
                        <a:t>岡部 一</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取締役</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1000" b="0" i="0" dirty="0">
                          <a:solidFill>
                            <a:srgbClr val="000000"/>
                          </a:solidFill>
                          <a:latin typeface="游ゴシック"/>
                          <a:ea typeface="游ゴシック"/>
                        </a:rPr>
                        <a:t>兄弟</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1000" b="0" i="0" dirty="0">
                          <a:solidFill>
                            <a:srgbClr val="000000"/>
                          </a:solidFill>
                          <a:latin typeface="游ゴシック"/>
                          <a:ea typeface="游ゴシック"/>
                        </a:rPr>
                        <a:t>常勤</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4,200</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買付・販売</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譲渡後も残留予定</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15900">
                <a:tc>
                  <a:txBody>
                    <a:bodyPr/>
                    <a:lstStyle/>
                    <a:p>
                      <a:pPr algn="ctr" fontAlgn="ctr"/>
                      <a:r>
                        <a:rPr lang="ja-JP" altLang="en-US" sz="1050" b="0" i="0" dirty="0">
                          <a:solidFill>
                            <a:srgbClr val="000000"/>
                          </a:solidFill>
                          <a:latin typeface="游ゴシック"/>
                          <a:ea typeface="游ゴシック"/>
                        </a:rPr>
                        <a:t>3</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50" b="0" i="0" dirty="0">
                          <a:solidFill>
                            <a:srgbClr val="000000"/>
                          </a:solidFill>
                          <a:latin typeface="游ゴシック"/>
                          <a:ea typeface="游ゴシック"/>
                        </a:rPr>
                        <a:t>岡部 竹古</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取締役</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1000" b="0" i="0" dirty="0">
                          <a:solidFill>
                            <a:srgbClr val="000000"/>
                          </a:solidFill>
                          <a:latin typeface="游ゴシック"/>
                          <a:ea typeface="游ゴシック"/>
                        </a:rPr>
                        <a:t>配偶者</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1000" b="0" i="0" dirty="0">
                          <a:solidFill>
                            <a:srgbClr val="000000"/>
                          </a:solidFill>
                          <a:latin typeface="游ゴシック"/>
                          <a:ea typeface="游ゴシック"/>
                        </a:rPr>
                        <a:t>非常勤</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120</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業務への関与なし</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譲渡時に退任予定</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15900">
                <a:tc>
                  <a:txBody>
                    <a:bodyPr/>
                    <a:lstStyle/>
                    <a:p>
                      <a:pPr algn="ctr" fontAlgn="ctr"/>
                      <a:r>
                        <a:rPr lang="ja-JP" altLang="en-US" sz="1050" b="0" i="0" dirty="0">
                          <a:solidFill>
                            <a:srgbClr val="000000"/>
                          </a:solidFill>
                          <a:latin typeface="游ゴシック"/>
                          <a:ea typeface="游ゴシック"/>
                        </a:rPr>
                        <a:t>4</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50" b="0" i="0" dirty="0">
                          <a:solidFill>
                            <a:srgbClr val="000000"/>
                          </a:solidFill>
                          <a:latin typeface="游ゴシック"/>
                          <a:ea typeface="游ゴシック"/>
                        </a:rPr>
                        <a:t>小野寺 則和</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監査役</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1000" b="0" i="0" dirty="0">
                          <a:solidFill>
                            <a:srgbClr val="000000"/>
                          </a:solidFill>
                          <a:latin typeface="游ゴシック"/>
                          <a:ea typeface="游ゴシック"/>
                        </a:rPr>
                        <a:t>－</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1000" b="0" i="0" dirty="0">
                          <a:solidFill>
                            <a:srgbClr val="000000"/>
                          </a:solidFill>
                          <a:latin typeface="游ゴシック"/>
                          <a:ea typeface="游ゴシック"/>
                        </a:rPr>
                        <a:t>非常勤</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120</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会計監査</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譲渡時に退任予定</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15900">
                <a:tc>
                  <a:txBody>
                    <a:bodyPr/>
                    <a:lstStyle/>
                    <a:p>
                      <a:pPr algn="ctr" fontAlgn="ctr"/>
                      <a:r>
                        <a:rPr lang="ja-JP" altLang="en-US" sz="1050" b="0" i="0" dirty="0">
                          <a:solidFill>
                            <a:srgbClr val="000000"/>
                          </a:solidFill>
                          <a:latin typeface="游ゴシック"/>
                          <a:ea typeface="游ゴシック"/>
                        </a:rPr>
                        <a:t>5</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50" b="0" i="0" dirty="0">
                          <a:solidFill>
                            <a:srgbClr val="000000"/>
                          </a:solidFill>
                          <a:latin typeface="游ゴシック"/>
                          <a:ea typeface="游ゴシック"/>
                        </a:rPr>
                        <a:t>菅原 圭吾</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常務取締役</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1000" b="0" i="0" dirty="0">
                          <a:solidFill>
                            <a:srgbClr val="000000"/>
                          </a:solidFill>
                          <a:latin typeface="游ゴシック"/>
                          <a:ea typeface="游ゴシック"/>
                        </a:rPr>
                        <a:t>－</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1000" b="0" i="0" dirty="0">
                          <a:solidFill>
                            <a:srgbClr val="000000"/>
                          </a:solidFill>
                          <a:latin typeface="游ゴシック"/>
                          <a:ea typeface="游ゴシック"/>
                        </a:rPr>
                        <a:t>常勤</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6,600</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2026年5月29日退任</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15900">
                <a:tc>
                  <a:txBody>
                    <a:bodyPr/>
                    <a:lstStyle/>
                    <a:p>
                      <a:pPr algn="l" fontAlgn="ctr"/>
                      <a:endParaRPr lang="ja-JP" altLang="en-US" sz="102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l" fontAlgn="ctr"/>
                      <a:r>
                        <a:rPr lang="ja-JP" altLang="en-US" sz="1050" b="1" i="0" dirty="0">
                          <a:solidFill>
                            <a:srgbClr val="000000"/>
                          </a:solidFill>
                          <a:latin typeface="游ゴシック"/>
                          <a:ea typeface="游ゴシック"/>
                        </a:rPr>
                        <a:t>合計</a:t>
                      </a:r>
                      <a:endParaRPr lang="ja-JP" altLang="en-US" sz="105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l" fontAlgn="ctr"/>
                      <a:endParaRPr lang="ja-JP" altLang="en-US" sz="102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l" fontAlgn="ctr"/>
                      <a:endParaRPr lang="ja-JP" altLang="en-US" sz="102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l" fontAlgn="ctr"/>
                      <a:endParaRPr lang="ja-JP" altLang="en-US" sz="102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1050" b="1" i="0" dirty="0">
                          <a:solidFill>
                            <a:srgbClr val="000000"/>
                          </a:solidFill>
                          <a:latin typeface="Arial"/>
                          <a:ea typeface="游ゴシック Medium"/>
                        </a:rPr>
                        <a:t>15,360</a:t>
                      </a:r>
                      <a:endParaRPr lang="ja-JP" altLang="en-US" sz="105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l" fontAlgn="ctr"/>
                      <a:endParaRPr lang="ja-JP" altLang="en-US" sz="102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l" fontAlgn="ctr"/>
                      <a:endParaRPr lang="ja-JP" altLang="en-US" sz="102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r>
            </a:tbl>
          </a:graphicData>
        </a:graphic>
      </p:graphicFrame>
      <p:sp>
        <p:nvSpPr>
          <p:cNvPr id="16" name="TextBox 15"/>
          <p:cNvSpPr txBox="1"/>
          <p:nvPr/>
        </p:nvSpPr>
        <p:spPr>
          <a:xfrm>
            <a:off x="310896" y="6708140"/>
            <a:ext cx="10058400" cy="329184"/>
          </a:xfrm>
          <a:prstGeom prst="rect">
            <a:avLst/>
          </a:prstGeom>
          <a:noFill/>
        </p:spPr>
        <p:txBody>
          <a:bodyPr wrap="square" lIns="0" rIns="0" tIns="0" bIns="0" anchor="t">
            <a:spAutoFit/>
          </a:bodyPr>
          <a:lstStyle/>
          <a:p>
            <a:pPr algn="l"/>
            <a:r>
              <a:rPr sz="800" b="0">
                <a:solidFill>
                  <a:srgbClr val="000000"/>
                </a:solidFill>
                <a:latin typeface="游ゴシック"/>
                <a:ea typeface="游ゴシック"/>
              </a:rPr>
              <a:t>※役員報酬総額は22,200千円（2024/3期・2025/3期）→15,360千円（2026/3期）。代表取締役は10,560千円→4,320千円に減額（理由は要確認）。</a:t>
            </a:r>
          </a:p>
          <a:p>
            <a:pPr algn="l"/>
            <a:r>
              <a:rPr sz="800" b="0">
                <a:solidFill>
                  <a:srgbClr val="000000"/>
                </a:solidFill>
                <a:latin typeface="游ゴシック"/>
                <a:ea typeface="游ゴシック"/>
              </a:rPr>
              <a:t>※出所：法人税申告書別表二（2026/3期）、履歴事項全部証明書（2026年9月10日現在）。株主名簿・名義株の有無は要確認。</a:t>
            </a:r>
          </a:p>
        </p:txBody>
      </p:sp>
    </p:spTree>
    <p:extLst>
      <p:ext uri="{BB962C8B-B14F-4D97-AF65-F5344CB8AC3E}">
        <p14:creationId xmlns:p14="http://schemas.microsoft.com/office/powerpoint/2010/main" val="11113659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A5D0D1-0787-475E-2A3A-4107DB8EC8C6}"/>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87057045-99B0-78F1-349A-A7BFEFFF27C9}"/>
              </a:ext>
            </a:extLst>
          </p:cNvPr>
          <p:cNvSpPr>
            <a:spLocks noGrp="1"/>
          </p:cNvSpPr>
          <p:nvPr>
            <p:ph type="ctrTitle"/>
          </p:nvPr>
        </p:nvSpPr>
        <p:spPr>
          <a:xfrm>
            <a:off x="311150" y="180296"/>
            <a:ext cx="7799917" cy="339267"/>
          </a:xfrm>
        </p:spPr>
        <p:txBody>
          <a:bodyPr>
            <a:normAutofit/>
          </a:bodyPr>
          <a:lstStyle/>
          <a:p>
            <a:r>
              <a:rPr lang="ja-JP" altLang="en-US" dirty="0"/>
              <a:t>従業員一覧</a:t>
            </a:r>
          </a:p>
        </p:txBody>
      </p:sp>
      <p:sp>
        <p:nvSpPr>
          <p:cNvPr id="2" name="タイトル 1">
            <a:extLst>
              <a:ext uri="{FF2B5EF4-FFF2-40B4-BE49-F238E27FC236}">
                <a16:creationId xmlns:a16="http://schemas.microsoft.com/office/drawing/2014/main" id="{221C2F7A-197F-87B3-7293-77B559F8B532}"/>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組織、拠点、設備等</a:t>
            </a:r>
          </a:p>
        </p:txBody>
      </p:sp>
      <p:sp>
        <p:nvSpPr>
          <p:cNvPr id="6" name="字幕 13">
            <a:extLst>
              <a:ext uri="{FF2B5EF4-FFF2-40B4-BE49-F238E27FC236}">
                <a16:creationId xmlns:a16="http://schemas.microsoft.com/office/drawing/2014/main" id="{9F39F7D2-779F-1749-1B8E-9FCB51D635CB}"/>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a:ea typeface="游ゴシック"/>
              </a:rPr>
              <a:t>従業員24名（平均年齢50.9歳・平均勤続12.7年）。勤続20年以上のベテランが多い一方、60歳以上が8名在籍。</a:t>
            </a:r>
          </a:p>
        </p:txBody>
      </p:sp>
      <p:graphicFrame>
        <p:nvGraphicFramePr>
          <p:cNvPr id="14" name="表（従業員!B4:J29）"/>
          <p:cNvGraphicFramePr>
            <a:graphicFrameLocks noGrp="1"/>
          </p:cNvGraphicFramePr>
          <p:nvPr/>
        </p:nvGraphicFramePr>
        <p:xfrm>
          <a:off x="310896" y="1371600"/>
          <a:ext cx="10058395" cy="4914900"/>
        </p:xfrm>
        <a:graphic>
          <a:graphicData uri="http://schemas.openxmlformats.org/drawingml/2006/table">
            <a:tbl>
              <a:tblPr firstRow="0" bandRow="0">
                <a:tableStyleId>{2D5ABB26-0587-4C30-8999-92F81FD0307C}</a:tableStyleId>
              </a:tblPr>
              <a:tblGrid>
                <a:gridCol w="330849"/>
                <a:gridCol w="944441"/>
                <a:gridCol w="425195"/>
                <a:gridCol w="566369"/>
                <a:gridCol w="708232"/>
                <a:gridCol w="1038787"/>
                <a:gridCol w="755749"/>
                <a:gridCol w="1511204"/>
                <a:gridCol w="3777569"/>
              </a:tblGrid>
              <a:tr h="190500">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900" b="0" i="0" dirty="0">
                          <a:solidFill>
                            <a:srgbClr val="000000"/>
                          </a:solidFill>
                          <a:latin typeface="游ゴシック"/>
                          <a:ea typeface="游ゴシック"/>
                        </a:rPr>
                        <a:t>2026年9月1日現在</a:t>
                      </a:r>
                      <a:endParaRPr lang="ja-JP" altLang="en-US" sz="90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r>
              <a:tr h="304800">
                <a:tc>
                  <a:txBody>
                    <a:bodyPr/>
                    <a:lstStyle/>
                    <a:p>
                      <a:pPr algn="ctr" fontAlgn="ctr"/>
                      <a:r>
                        <a:rPr lang="ja-JP" altLang="en-US" sz="850" b="0" i="0" dirty="0">
                          <a:solidFill>
                            <a:srgbClr val="FFFFFF"/>
                          </a:solidFill>
                          <a:latin typeface="游ゴシック"/>
                          <a:ea typeface="游ゴシック"/>
                        </a:rPr>
                        <a:t>№</a:t>
                      </a:r>
                      <a:endParaRPr lang="ja-JP" altLang="en-US" sz="85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850" b="0" i="0" dirty="0">
                          <a:solidFill>
                            <a:srgbClr val="FFFFFF"/>
                          </a:solidFill>
                          <a:latin typeface="游ゴシック"/>
                          <a:ea typeface="游ゴシック"/>
                        </a:rPr>
                        <a:t>雇用形態</a:t>
                      </a:r>
                      <a:endParaRPr lang="ja-JP" altLang="en-US" sz="85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850" b="0" i="0" dirty="0">
                          <a:solidFill>
                            <a:srgbClr val="FFFFFF"/>
                          </a:solidFill>
                          <a:latin typeface="游ゴシック"/>
                          <a:ea typeface="游ゴシック"/>
                        </a:rPr>
                        <a:t>性別</a:t>
                      </a:r>
                      <a:endParaRPr lang="ja-JP" altLang="en-US" sz="85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850" b="0" i="0" dirty="0">
                          <a:solidFill>
                            <a:srgbClr val="FFFFFF"/>
                          </a:solidFill>
                          <a:latin typeface="游ゴシック"/>
                          <a:ea typeface="游ゴシック"/>
                        </a:rPr>
                        <a:t>年齢</a:t>
                      </a:r>
                      <a:endParaRPr lang="ja-JP" altLang="en-US" sz="850" b="0" i="0" dirty="0">
                        <a:solidFill>
                          <a:srgbClr val="FFFFFF"/>
                        </a:solidFill>
                        <a:latin typeface="游ゴシック"/>
                        <a:ea typeface="游ゴシック"/>
                      </a:endParaRPr>
                    </a:p>
                    <a:p>
                      <a:pPr algn="ctr" fontAlgn="ctr"/>
                      <a:r>
                        <a:rPr lang="ja-JP" altLang="en-US" sz="850" b="0" i="0" dirty="0">
                          <a:solidFill>
                            <a:srgbClr val="FFFFFF"/>
                          </a:solidFill>
                          <a:latin typeface="游ゴシック"/>
                          <a:ea typeface="游ゴシック"/>
                        </a:rPr>
                        <a:t>（歳）</a:t>
                      </a:r>
                      <a:endParaRPr lang="ja-JP" altLang="en-US" sz="85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850" b="0" i="0" dirty="0">
                          <a:solidFill>
                            <a:srgbClr val="FFFFFF"/>
                          </a:solidFill>
                          <a:latin typeface="游ゴシック"/>
                          <a:ea typeface="游ゴシック"/>
                        </a:rPr>
                        <a:t>勤続年数</a:t>
                      </a:r>
                      <a:endParaRPr lang="ja-JP" altLang="en-US" sz="850" b="0" i="0" dirty="0">
                        <a:solidFill>
                          <a:srgbClr val="FFFFFF"/>
                        </a:solidFill>
                        <a:latin typeface="游ゴシック"/>
                        <a:ea typeface="游ゴシック"/>
                      </a:endParaRPr>
                    </a:p>
                    <a:p>
                      <a:pPr algn="ctr" fontAlgn="ctr"/>
                      <a:r>
                        <a:rPr lang="ja-JP" altLang="en-US" sz="850" b="0" i="0" dirty="0">
                          <a:solidFill>
                            <a:srgbClr val="FFFFFF"/>
                          </a:solidFill>
                          <a:latin typeface="游ゴシック"/>
                          <a:ea typeface="游ゴシック"/>
                        </a:rPr>
                        <a:t>（年）</a:t>
                      </a:r>
                      <a:endParaRPr lang="ja-JP" altLang="en-US" sz="85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850" b="0" i="0" dirty="0">
                          <a:solidFill>
                            <a:srgbClr val="FFFFFF"/>
                          </a:solidFill>
                          <a:latin typeface="游ゴシック"/>
                          <a:ea typeface="游ゴシック"/>
                        </a:rPr>
                        <a:t>部署</a:t>
                      </a:r>
                      <a:endParaRPr lang="ja-JP" altLang="en-US" sz="85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850" b="0" i="0" dirty="0">
                          <a:solidFill>
                            <a:srgbClr val="FFFFFF"/>
                          </a:solidFill>
                          <a:latin typeface="游ゴシック"/>
                          <a:ea typeface="游ゴシック"/>
                        </a:rPr>
                        <a:t>役職</a:t>
                      </a:r>
                      <a:endParaRPr lang="ja-JP" altLang="en-US" sz="85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850" b="0" i="0" dirty="0">
                          <a:solidFill>
                            <a:srgbClr val="FFFFFF"/>
                          </a:solidFill>
                          <a:latin typeface="游ゴシック"/>
                          <a:ea typeface="游ゴシック"/>
                        </a:rPr>
                        <a:t>取得資格</a:t>
                      </a:r>
                      <a:endParaRPr lang="ja-JP" altLang="en-US" sz="85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850" b="0" i="0" dirty="0">
                          <a:solidFill>
                            <a:srgbClr val="FFFFFF"/>
                          </a:solidFill>
                          <a:latin typeface="游ゴシック"/>
                          <a:ea typeface="游ゴシック"/>
                        </a:rPr>
                        <a:t>備考</a:t>
                      </a:r>
                      <a:endParaRPr lang="ja-JP" altLang="en-US" sz="85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r>
              <a:tr h="184150">
                <a:tc>
                  <a:txBody>
                    <a:bodyPr/>
                    <a:lstStyle/>
                    <a:p>
                      <a:pPr algn="ctr" fontAlgn="ctr"/>
                      <a:r>
                        <a:rPr lang="ja-JP" altLang="en-US" sz="850" b="0" i="0" dirty="0">
                          <a:solidFill>
                            <a:srgbClr val="000000"/>
                          </a:solidFill>
                          <a:latin typeface="游ゴシック"/>
                          <a:ea typeface="游ゴシック"/>
                        </a:rPr>
                        <a:t>2</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50" b="0" i="0" dirty="0">
                          <a:solidFill>
                            <a:srgbClr val="000000"/>
                          </a:solidFill>
                          <a:latin typeface="游ゴシック"/>
                          <a:ea typeface="游ゴシック"/>
                        </a:rPr>
                        <a:t>正社員</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850" b="0" i="0" dirty="0">
                          <a:solidFill>
                            <a:srgbClr val="000000"/>
                          </a:solidFill>
                          <a:latin typeface="游ゴシック"/>
                          <a:ea typeface="游ゴシック"/>
                        </a:rPr>
                        <a:t>男</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47</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24</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野菜営業部</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副部長</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セリ人・フォークリフト</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84150">
                <a:tc>
                  <a:txBody>
                    <a:bodyPr/>
                    <a:lstStyle/>
                    <a:p>
                      <a:pPr algn="ctr" fontAlgn="ctr"/>
                      <a:r>
                        <a:rPr lang="ja-JP" altLang="en-US" sz="850" b="0" i="0" dirty="0">
                          <a:solidFill>
                            <a:srgbClr val="000000"/>
                          </a:solidFill>
                          <a:latin typeface="游ゴシック"/>
                          <a:ea typeface="游ゴシック"/>
                        </a:rPr>
                        <a:t>1</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50" b="0" i="0" dirty="0">
                          <a:solidFill>
                            <a:srgbClr val="000000"/>
                          </a:solidFill>
                          <a:latin typeface="游ゴシック"/>
                          <a:ea typeface="游ゴシック"/>
                        </a:rPr>
                        <a:t>正社員</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850" b="0" i="0" dirty="0">
                          <a:solidFill>
                            <a:srgbClr val="000000"/>
                          </a:solidFill>
                          <a:latin typeface="游ゴシック"/>
                          <a:ea typeface="游ゴシック"/>
                        </a:rPr>
                        <a:t>男</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63</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1</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野菜営業部</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副部長</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84150">
                <a:tc>
                  <a:txBody>
                    <a:bodyPr/>
                    <a:lstStyle/>
                    <a:p>
                      <a:pPr algn="ctr" fontAlgn="ctr"/>
                      <a:r>
                        <a:rPr lang="ja-JP" altLang="en-US" sz="850" b="0" i="0" dirty="0">
                          <a:solidFill>
                            <a:srgbClr val="000000"/>
                          </a:solidFill>
                          <a:latin typeface="游ゴシック"/>
                          <a:ea typeface="游ゴシック"/>
                        </a:rPr>
                        <a:t>7</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50" b="0" i="0" dirty="0">
                          <a:solidFill>
                            <a:srgbClr val="000000"/>
                          </a:solidFill>
                          <a:latin typeface="游ゴシック"/>
                          <a:ea typeface="游ゴシック"/>
                        </a:rPr>
                        <a:t>正社員</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850" b="0" i="0" dirty="0">
                          <a:solidFill>
                            <a:srgbClr val="000000"/>
                          </a:solidFill>
                          <a:latin typeface="游ゴシック"/>
                          <a:ea typeface="游ゴシック"/>
                        </a:rPr>
                        <a:t>男</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32</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6</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野菜営業部</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フォークリフト</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84150">
                <a:tc>
                  <a:txBody>
                    <a:bodyPr/>
                    <a:lstStyle/>
                    <a:p>
                      <a:pPr algn="ctr" fontAlgn="ctr"/>
                      <a:r>
                        <a:rPr lang="ja-JP" altLang="en-US" sz="850" b="0" i="0" dirty="0">
                          <a:solidFill>
                            <a:srgbClr val="000000"/>
                          </a:solidFill>
                          <a:latin typeface="游ゴシック"/>
                          <a:ea typeface="游ゴシック"/>
                        </a:rPr>
                        <a:t>16</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50" b="0" i="0" dirty="0">
                          <a:solidFill>
                            <a:srgbClr val="000000"/>
                          </a:solidFill>
                          <a:latin typeface="游ゴシック"/>
                          <a:ea typeface="游ゴシック"/>
                        </a:rPr>
                        <a:t>正社員</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850" b="0" i="0" dirty="0">
                          <a:solidFill>
                            <a:srgbClr val="000000"/>
                          </a:solidFill>
                          <a:latin typeface="游ゴシック"/>
                          <a:ea typeface="游ゴシック"/>
                        </a:rPr>
                        <a:t>女</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49</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19</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果実営業部</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課長</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84150">
                <a:tc>
                  <a:txBody>
                    <a:bodyPr/>
                    <a:lstStyle/>
                    <a:p>
                      <a:pPr algn="ctr" fontAlgn="ctr"/>
                      <a:r>
                        <a:rPr lang="ja-JP" altLang="en-US" sz="850" b="0" i="0" dirty="0">
                          <a:solidFill>
                            <a:srgbClr val="000000"/>
                          </a:solidFill>
                          <a:latin typeface="游ゴシック"/>
                          <a:ea typeface="游ゴシック"/>
                        </a:rPr>
                        <a:t>8</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50" b="0" i="0" dirty="0">
                          <a:solidFill>
                            <a:srgbClr val="000000"/>
                          </a:solidFill>
                          <a:latin typeface="游ゴシック"/>
                          <a:ea typeface="游ゴシック"/>
                        </a:rPr>
                        <a:t>正社員</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850" b="0" i="0" dirty="0">
                          <a:solidFill>
                            <a:srgbClr val="000000"/>
                          </a:solidFill>
                          <a:latin typeface="游ゴシック"/>
                          <a:ea typeface="游ゴシック"/>
                        </a:rPr>
                        <a:t>男</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36</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4</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果実営業部</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フォークリフト</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84150">
                <a:tc>
                  <a:txBody>
                    <a:bodyPr/>
                    <a:lstStyle/>
                    <a:p>
                      <a:pPr algn="ctr" fontAlgn="ctr"/>
                      <a:r>
                        <a:rPr lang="ja-JP" altLang="en-US" sz="850" b="0" i="0" dirty="0">
                          <a:solidFill>
                            <a:srgbClr val="000000"/>
                          </a:solidFill>
                          <a:latin typeface="游ゴシック"/>
                          <a:ea typeface="游ゴシック"/>
                        </a:rPr>
                        <a:t>3</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50" b="0" i="0" dirty="0">
                          <a:solidFill>
                            <a:srgbClr val="000000"/>
                          </a:solidFill>
                          <a:latin typeface="游ゴシック"/>
                          <a:ea typeface="游ゴシック"/>
                        </a:rPr>
                        <a:t>正社員</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850" b="0" i="0" dirty="0">
                          <a:solidFill>
                            <a:srgbClr val="000000"/>
                          </a:solidFill>
                          <a:latin typeface="游ゴシック"/>
                          <a:ea typeface="游ゴシック"/>
                        </a:rPr>
                        <a:t>男</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31</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12</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近郷部</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課長</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セリ人・フォークリフト</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84150">
                <a:tc>
                  <a:txBody>
                    <a:bodyPr/>
                    <a:lstStyle/>
                    <a:p>
                      <a:pPr algn="ctr" fontAlgn="ctr"/>
                      <a:r>
                        <a:rPr lang="ja-JP" altLang="en-US" sz="850" b="0" i="0" dirty="0">
                          <a:solidFill>
                            <a:srgbClr val="000000"/>
                          </a:solidFill>
                          <a:latin typeface="游ゴシック"/>
                          <a:ea typeface="游ゴシック"/>
                        </a:rPr>
                        <a:t>4</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50" b="0" i="0" dirty="0">
                          <a:solidFill>
                            <a:srgbClr val="000000"/>
                          </a:solidFill>
                          <a:latin typeface="游ゴシック"/>
                          <a:ea typeface="游ゴシック"/>
                        </a:rPr>
                        <a:t>正社員</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850" b="0" i="0" dirty="0">
                          <a:solidFill>
                            <a:srgbClr val="000000"/>
                          </a:solidFill>
                          <a:latin typeface="游ゴシック"/>
                          <a:ea typeface="游ゴシック"/>
                        </a:rPr>
                        <a:t>男</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42</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7</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近郷部</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フォークリフト</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84150">
                <a:tc>
                  <a:txBody>
                    <a:bodyPr/>
                    <a:lstStyle/>
                    <a:p>
                      <a:pPr algn="ctr" fontAlgn="ctr"/>
                      <a:r>
                        <a:rPr lang="ja-JP" altLang="en-US" sz="850" b="0" i="0" dirty="0">
                          <a:solidFill>
                            <a:srgbClr val="000000"/>
                          </a:solidFill>
                          <a:latin typeface="游ゴシック"/>
                          <a:ea typeface="游ゴシック"/>
                        </a:rPr>
                        <a:t>5</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50" b="0" i="0" dirty="0">
                          <a:solidFill>
                            <a:srgbClr val="000000"/>
                          </a:solidFill>
                          <a:latin typeface="游ゴシック"/>
                          <a:ea typeface="游ゴシック"/>
                        </a:rPr>
                        <a:t>正社員</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850" b="0" i="0" dirty="0">
                          <a:solidFill>
                            <a:srgbClr val="000000"/>
                          </a:solidFill>
                          <a:latin typeface="游ゴシック"/>
                          <a:ea typeface="游ゴシック"/>
                        </a:rPr>
                        <a:t>男</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45</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7</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近郷部</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フォークリフト</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84150">
                <a:tc>
                  <a:txBody>
                    <a:bodyPr/>
                    <a:lstStyle/>
                    <a:p>
                      <a:pPr algn="ctr" fontAlgn="ctr"/>
                      <a:r>
                        <a:rPr lang="ja-JP" altLang="en-US" sz="850" b="0" i="0" dirty="0">
                          <a:solidFill>
                            <a:srgbClr val="000000"/>
                          </a:solidFill>
                          <a:latin typeface="游ゴシック"/>
                          <a:ea typeface="游ゴシック"/>
                        </a:rPr>
                        <a:t>12</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50" b="0" i="0" dirty="0">
                          <a:solidFill>
                            <a:srgbClr val="000000"/>
                          </a:solidFill>
                          <a:latin typeface="游ゴシック"/>
                          <a:ea typeface="游ゴシック"/>
                        </a:rPr>
                        <a:t>試用期間</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850" b="0" i="0" dirty="0">
                          <a:solidFill>
                            <a:srgbClr val="000000"/>
                          </a:solidFill>
                          <a:latin typeface="游ゴシック"/>
                          <a:ea typeface="游ゴシック"/>
                        </a:rPr>
                        <a:t>男</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66</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2</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近郷部</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セリ人</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84150">
                <a:tc>
                  <a:txBody>
                    <a:bodyPr/>
                    <a:lstStyle/>
                    <a:p>
                      <a:pPr algn="ctr" fontAlgn="ctr"/>
                      <a:r>
                        <a:rPr lang="ja-JP" altLang="en-US" sz="850" b="0" i="0" dirty="0">
                          <a:solidFill>
                            <a:srgbClr val="000000"/>
                          </a:solidFill>
                          <a:latin typeface="游ゴシック"/>
                          <a:ea typeface="游ゴシック"/>
                        </a:rPr>
                        <a:t>9</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50" b="0" i="0" dirty="0">
                          <a:solidFill>
                            <a:srgbClr val="000000"/>
                          </a:solidFill>
                          <a:latin typeface="游ゴシック"/>
                          <a:ea typeface="游ゴシック"/>
                        </a:rPr>
                        <a:t>正社員</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850" b="0" i="0" dirty="0">
                          <a:solidFill>
                            <a:srgbClr val="000000"/>
                          </a:solidFill>
                          <a:latin typeface="游ゴシック"/>
                          <a:ea typeface="游ゴシック"/>
                        </a:rPr>
                        <a:t>男</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42</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14</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集配部</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フォークリフト</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2022年4月よりフルタイム</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84150">
                <a:tc>
                  <a:txBody>
                    <a:bodyPr/>
                    <a:lstStyle/>
                    <a:p>
                      <a:pPr algn="ctr" fontAlgn="ctr"/>
                      <a:r>
                        <a:rPr lang="ja-JP" altLang="en-US" sz="850" b="0" i="0" dirty="0">
                          <a:solidFill>
                            <a:srgbClr val="000000"/>
                          </a:solidFill>
                          <a:latin typeface="游ゴシック"/>
                          <a:ea typeface="游ゴシック"/>
                        </a:rPr>
                        <a:t>6</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50" b="0" i="0" dirty="0">
                          <a:solidFill>
                            <a:srgbClr val="000000"/>
                          </a:solidFill>
                          <a:latin typeface="游ゴシック"/>
                          <a:ea typeface="游ゴシック"/>
                        </a:rPr>
                        <a:t>正社員</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850" b="0" i="0" dirty="0">
                          <a:solidFill>
                            <a:srgbClr val="000000"/>
                          </a:solidFill>
                          <a:latin typeface="游ゴシック"/>
                          <a:ea typeface="游ゴシック"/>
                        </a:rPr>
                        <a:t>男</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63</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6</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集配部</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フォークリフト</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84150">
                <a:tc>
                  <a:txBody>
                    <a:bodyPr/>
                    <a:lstStyle/>
                    <a:p>
                      <a:pPr algn="ctr" fontAlgn="ctr"/>
                      <a:r>
                        <a:rPr lang="ja-JP" altLang="en-US" sz="850" b="0" i="0" dirty="0">
                          <a:solidFill>
                            <a:srgbClr val="000000"/>
                          </a:solidFill>
                          <a:latin typeface="游ゴシック"/>
                          <a:ea typeface="游ゴシック"/>
                        </a:rPr>
                        <a:t>11</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50" b="0" i="0" dirty="0">
                          <a:solidFill>
                            <a:srgbClr val="000000"/>
                          </a:solidFill>
                          <a:latin typeface="游ゴシック"/>
                          <a:ea typeface="游ゴシック"/>
                        </a:rPr>
                        <a:t>再雇用正社員</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850" b="0" i="0" dirty="0">
                          <a:solidFill>
                            <a:srgbClr val="000000"/>
                          </a:solidFill>
                          <a:latin typeface="游ゴシック"/>
                          <a:ea typeface="游ゴシック"/>
                        </a:rPr>
                        <a:t>男</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40</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3</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集配部</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84150">
                <a:tc>
                  <a:txBody>
                    <a:bodyPr/>
                    <a:lstStyle/>
                    <a:p>
                      <a:pPr algn="ctr" fontAlgn="ctr"/>
                      <a:r>
                        <a:rPr lang="ja-JP" altLang="en-US" sz="850" b="0" i="0" dirty="0">
                          <a:solidFill>
                            <a:srgbClr val="000000"/>
                          </a:solidFill>
                          <a:latin typeface="游ゴシック"/>
                          <a:ea typeface="游ゴシック"/>
                        </a:rPr>
                        <a:t>13</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50" b="0" i="0" dirty="0">
                          <a:solidFill>
                            <a:srgbClr val="000000"/>
                          </a:solidFill>
                          <a:latin typeface="游ゴシック"/>
                          <a:ea typeface="游ゴシック"/>
                        </a:rPr>
                        <a:t>アルバイト</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850" b="0" i="0" dirty="0">
                          <a:solidFill>
                            <a:srgbClr val="000000"/>
                          </a:solidFill>
                          <a:latin typeface="游ゴシック"/>
                          <a:ea typeface="游ゴシック"/>
                        </a:rPr>
                        <a:t>男</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55</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0</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集配部</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休日のみ配送</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84150">
                <a:tc>
                  <a:txBody>
                    <a:bodyPr/>
                    <a:lstStyle/>
                    <a:p>
                      <a:pPr algn="ctr" fontAlgn="ctr"/>
                      <a:r>
                        <a:rPr lang="ja-JP" altLang="en-US" sz="850" b="0" i="0" dirty="0">
                          <a:solidFill>
                            <a:srgbClr val="000000"/>
                          </a:solidFill>
                          <a:latin typeface="游ゴシック"/>
                          <a:ea typeface="游ゴシック"/>
                        </a:rPr>
                        <a:t>10</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50" b="0" i="0" dirty="0">
                          <a:solidFill>
                            <a:srgbClr val="000000"/>
                          </a:solidFill>
                          <a:latin typeface="游ゴシック"/>
                          <a:ea typeface="游ゴシック"/>
                        </a:rPr>
                        <a:t>嘱託社員</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850" b="0" i="0" dirty="0">
                          <a:solidFill>
                            <a:srgbClr val="000000"/>
                          </a:solidFill>
                          <a:latin typeface="游ゴシック"/>
                          <a:ea typeface="游ゴシック"/>
                        </a:rPr>
                        <a:t>男</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69</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20</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生花部</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フォークリフト</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84150">
                <a:tc>
                  <a:txBody>
                    <a:bodyPr/>
                    <a:lstStyle/>
                    <a:p>
                      <a:pPr algn="ctr" fontAlgn="ctr"/>
                      <a:r>
                        <a:rPr lang="ja-JP" altLang="en-US" sz="850" b="0" i="0" dirty="0">
                          <a:solidFill>
                            <a:srgbClr val="000000"/>
                          </a:solidFill>
                          <a:latin typeface="游ゴシック"/>
                          <a:ea typeface="游ゴシック"/>
                        </a:rPr>
                        <a:t>18</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50" b="0" i="0" dirty="0">
                          <a:solidFill>
                            <a:srgbClr val="000000"/>
                          </a:solidFill>
                          <a:latin typeface="游ゴシック"/>
                          <a:ea typeface="游ゴシック"/>
                        </a:rPr>
                        <a:t>正社員</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850" b="0" i="0" dirty="0">
                          <a:solidFill>
                            <a:srgbClr val="000000"/>
                          </a:solidFill>
                          <a:latin typeface="游ゴシック"/>
                          <a:ea typeface="游ゴシック"/>
                        </a:rPr>
                        <a:t>女</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52</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20</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パッケージ部</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係長</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2012年4月よりフルタイム</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84150">
                <a:tc>
                  <a:txBody>
                    <a:bodyPr/>
                    <a:lstStyle/>
                    <a:p>
                      <a:pPr algn="ctr" fontAlgn="ctr"/>
                      <a:r>
                        <a:rPr lang="ja-JP" altLang="en-US" sz="850" b="0" i="0" dirty="0">
                          <a:solidFill>
                            <a:srgbClr val="000000"/>
                          </a:solidFill>
                          <a:latin typeface="游ゴシック"/>
                          <a:ea typeface="游ゴシック"/>
                        </a:rPr>
                        <a:t>19</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50" b="0" i="0" dirty="0">
                          <a:solidFill>
                            <a:srgbClr val="000000"/>
                          </a:solidFill>
                          <a:latin typeface="游ゴシック"/>
                          <a:ea typeface="游ゴシック"/>
                        </a:rPr>
                        <a:t>正社員</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850" b="0" i="0" dirty="0">
                          <a:solidFill>
                            <a:srgbClr val="000000"/>
                          </a:solidFill>
                          <a:latin typeface="游ゴシック"/>
                          <a:ea typeface="游ゴシック"/>
                        </a:rPr>
                        <a:t>女</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65</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20</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パッケージ部</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2012年4月よりフルタイム／定年後再雇用</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84150">
                <a:tc>
                  <a:txBody>
                    <a:bodyPr/>
                    <a:lstStyle/>
                    <a:p>
                      <a:pPr algn="ctr" fontAlgn="ctr"/>
                      <a:r>
                        <a:rPr lang="ja-JP" altLang="en-US" sz="850" b="0" i="0" dirty="0">
                          <a:solidFill>
                            <a:srgbClr val="000000"/>
                          </a:solidFill>
                          <a:latin typeface="游ゴシック"/>
                          <a:ea typeface="游ゴシック"/>
                        </a:rPr>
                        <a:t>21</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50" b="0" i="0" dirty="0">
                          <a:solidFill>
                            <a:srgbClr val="000000"/>
                          </a:solidFill>
                          <a:latin typeface="游ゴシック"/>
                          <a:ea typeface="游ゴシック"/>
                        </a:rPr>
                        <a:t>正社員</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850" b="0" i="0" dirty="0">
                          <a:solidFill>
                            <a:srgbClr val="000000"/>
                          </a:solidFill>
                          <a:latin typeface="游ゴシック"/>
                          <a:ea typeface="游ゴシック"/>
                        </a:rPr>
                        <a:t>女</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65</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17</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パッケージ部</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2012年4月よりフルタイム</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84150">
                <a:tc>
                  <a:txBody>
                    <a:bodyPr/>
                    <a:lstStyle/>
                    <a:p>
                      <a:pPr algn="ctr" fontAlgn="ctr"/>
                      <a:r>
                        <a:rPr lang="ja-JP" altLang="en-US" sz="850" b="0" i="0" dirty="0">
                          <a:solidFill>
                            <a:srgbClr val="000000"/>
                          </a:solidFill>
                          <a:latin typeface="游ゴシック"/>
                          <a:ea typeface="游ゴシック"/>
                        </a:rPr>
                        <a:t>22</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50" b="0" i="0" dirty="0">
                          <a:solidFill>
                            <a:srgbClr val="000000"/>
                          </a:solidFill>
                          <a:latin typeface="游ゴシック"/>
                          <a:ea typeface="游ゴシック"/>
                        </a:rPr>
                        <a:t>パート</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850" b="0" i="0" dirty="0">
                          <a:solidFill>
                            <a:srgbClr val="000000"/>
                          </a:solidFill>
                          <a:latin typeface="游ゴシック"/>
                          <a:ea typeface="游ゴシック"/>
                        </a:rPr>
                        <a:t>女</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67</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14</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パッケージ部</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4h</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84150">
                <a:tc>
                  <a:txBody>
                    <a:bodyPr/>
                    <a:lstStyle/>
                    <a:p>
                      <a:pPr algn="ctr" fontAlgn="ctr"/>
                      <a:r>
                        <a:rPr lang="ja-JP" altLang="en-US" sz="850" b="0" i="0" dirty="0">
                          <a:solidFill>
                            <a:srgbClr val="000000"/>
                          </a:solidFill>
                          <a:latin typeface="游ゴシック"/>
                          <a:ea typeface="游ゴシック"/>
                        </a:rPr>
                        <a:t>23</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50" b="0" i="0" dirty="0">
                          <a:solidFill>
                            <a:srgbClr val="000000"/>
                          </a:solidFill>
                          <a:latin typeface="游ゴシック"/>
                          <a:ea typeface="游ゴシック"/>
                        </a:rPr>
                        <a:t>パート</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850" b="0" i="0" dirty="0">
                          <a:solidFill>
                            <a:srgbClr val="000000"/>
                          </a:solidFill>
                          <a:latin typeface="游ゴシック"/>
                          <a:ea typeface="游ゴシック"/>
                        </a:rPr>
                        <a:t>男</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29</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8</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パッケージ部</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4h</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84150">
                <a:tc>
                  <a:txBody>
                    <a:bodyPr/>
                    <a:lstStyle/>
                    <a:p>
                      <a:pPr algn="ctr" fontAlgn="ctr"/>
                      <a:r>
                        <a:rPr lang="ja-JP" altLang="en-US" sz="850" b="0" i="0" dirty="0">
                          <a:solidFill>
                            <a:srgbClr val="000000"/>
                          </a:solidFill>
                          <a:latin typeface="游ゴシック"/>
                          <a:ea typeface="游ゴシック"/>
                        </a:rPr>
                        <a:t>20</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50" b="0" i="0" dirty="0">
                          <a:solidFill>
                            <a:srgbClr val="000000"/>
                          </a:solidFill>
                          <a:latin typeface="游ゴシック"/>
                          <a:ea typeface="游ゴシック"/>
                        </a:rPr>
                        <a:t>正社員</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850" b="0" i="0" dirty="0">
                          <a:solidFill>
                            <a:srgbClr val="000000"/>
                          </a:solidFill>
                          <a:latin typeface="游ゴシック"/>
                          <a:ea typeface="游ゴシック"/>
                        </a:rPr>
                        <a:t>女</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55</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5</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パッケージ部</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84150">
                <a:tc>
                  <a:txBody>
                    <a:bodyPr/>
                    <a:lstStyle/>
                    <a:p>
                      <a:pPr algn="ctr" fontAlgn="ctr"/>
                      <a:r>
                        <a:rPr lang="ja-JP" altLang="en-US" sz="850" b="0" i="0" dirty="0">
                          <a:solidFill>
                            <a:srgbClr val="000000"/>
                          </a:solidFill>
                          <a:latin typeface="游ゴシック"/>
                          <a:ea typeface="游ゴシック"/>
                        </a:rPr>
                        <a:t>24</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50" b="0" i="0" dirty="0">
                          <a:solidFill>
                            <a:srgbClr val="000000"/>
                          </a:solidFill>
                          <a:latin typeface="游ゴシック"/>
                          <a:ea typeface="游ゴシック"/>
                        </a:rPr>
                        <a:t>パート</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850" b="0" i="0" dirty="0">
                          <a:solidFill>
                            <a:srgbClr val="000000"/>
                          </a:solidFill>
                          <a:latin typeface="游ゴシック"/>
                          <a:ea typeface="游ゴシック"/>
                        </a:rPr>
                        <a:t>女</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59</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3</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パッケージ部</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4h</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84150">
                <a:tc>
                  <a:txBody>
                    <a:bodyPr/>
                    <a:lstStyle/>
                    <a:p>
                      <a:pPr algn="ctr" fontAlgn="ctr"/>
                      <a:r>
                        <a:rPr lang="ja-JP" altLang="en-US" sz="850" b="0" i="0" dirty="0">
                          <a:solidFill>
                            <a:srgbClr val="000000"/>
                          </a:solidFill>
                          <a:latin typeface="游ゴシック"/>
                          <a:ea typeface="游ゴシック"/>
                        </a:rPr>
                        <a:t>15</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50" b="0" i="0" dirty="0">
                          <a:solidFill>
                            <a:srgbClr val="000000"/>
                          </a:solidFill>
                          <a:latin typeface="游ゴシック"/>
                          <a:ea typeface="游ゴシック"/>
                        </a:rPr>
                        <a:t>正社員</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850" b="0" i="0" dirty="0">
                          <a:solidFill>
                            <a:srgbClr val="000000"/>
                          </a:solidFill>
                          <a:latin typeface="游ゴシック"/>
                          <a:ea typeface="游ゴシック"/>
                        </a:rPr>
                        <a:t>女</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65</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47</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資材部</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課長</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定年後再雇用</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84150">
                <a:tc>
                  <a:txBody>
                    <a:bodyPr/>
                    <a:lstStyle/>
                    <a:p>
                      <a:pPr algn="ctr" fontAlgn="ctr"/>
                      <a:r>
                        <a:rPr lang="ja-JP" altLang="en-US" sz="850" b="0" i="0" dirty="0">
                          <a:solidFill>
                            <a:srgbClr val="000000"/>
                          </a:solidFill>
                          <a:latin typeface="游ゴシック"/>
                          <a:ea typeface="游ゴシック"/>
                        </a:rPr>
                        <a:t>14</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50" b="0" i="0" dirty="0">
                          <a:solidFill>
                            <a:srgbClr val="000000"/>
                          </a:solidFill>
                          <a:latin typeface="游ゴシック"/>
                          <a:ea typeface="游ゴシック"/>
                        </a:rPr>
                        <a:t>正社員</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850" b="0" i="0" dirty="0">
                          <a:solidFill>
                            <a:srgbClr val="000000"/>
                          </a:solidFill>
                          <a:latin typeface="游ゴシック"/>
                          <a:ea typeface="游ゴシック"/>
                        </a:rPr>
                        <a:t>女</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56</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38</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総務部</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部長</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84150">
                <a:tc>
                  <a:txBody>
                    <a:bodyPr/>
                    <a:lstStyle/>
                    <a:p>
                      <a:pPr algn="ctr" fontAlgn="ctr"/>
                      <a:r>
                        <a:rPr lang="ja-JP" altLang="en-US" sz="850" b="0" i="0" dirty="0">
                          <a:solidFill>
                            <a:srgbClr val="000000"/>
                          </a:solidFill>
                          <a:latin typeface="游ゴシック"/>
                          <a:ea typeface="游ゴシック"/>
                        </a:rPr>
                        <a:t>17</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50" b="0" i="0" dirty="0">
                          <a:solidFill>
                            <a:srgbClr val="000000"/>
                          </a:solidFill>
                          <a:latin typeface="游ゴシック"/>
                          <a:ea typeface="游ゴシック"/>
                        </a:rPr>
                        <a:t>正社員</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850" b="0" i="0" dirty="0">
                          <a:solidFill>
                            <a:srgbClr val="000000"/>
                          </a:solidFill>
                          <a:latin typeface="游ゴシック"/>
                          <a:ea typeface="游ゴシック"/>
                        </a:rPr>
                        <a:t>女</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28</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7</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事務</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bl>
          </a:graphicData>
        </a:graphic>
      </p:graphicFrame>
      <p:sp>
        <p:nvSpPr>
          <p:cNvPr id="15" name="TextBox 14"/>
          <p:cNvSpPr txBox="1"/>
          <p:nvPr/>
        </p:nvSpPr>
        <p:spPr>
          <a:xfrm>
            <a:off x="310896" y="6341364"/>
            <a:ext cx="10058400" cy="329184"/>
          </a:xfrm>
          <a:prstGeom prst="rect">
            <a:avLst/>
          </a:prstGeom>
          <a:noFill/>
        </p:spPr>
        <p:txBody>
          <a:bodyPr wrap="square" lIns="0" rIns="0" tIns="0" bIns="0" anchor="t">
            <a:spAutoFit/>
          </a:bodyPr>
          <a:lstStyle/>
          <a:p>
            <a:pPr algn="l"/>
            <a:r>
              <a:rPr sz="800" b="0">
                <a:solidFill>
                  <a:srgbClr val="000000"/>
                </a:solidFill>
                <a:latin typeface="游ゴシック"/>
                <a:ea typeface="游ゴシック"/>
              </a:rPr>
              <a:t>※職員名簿（2026年9月1日現在）。部署→役職→勤続年数の順。役員は含まない。賞与規定はなく業績に応じて支給。退職金規程あり（中退共・オリックス生命で外部積立。会社の追加負担は基本的にないとの認識）。</a:t>
            </a:r>
          </a:p>
          <a:p>
            <a:pPr algn="l"/>
            <a:r>
              <a:rPr sz="800" b="0">
                <a:solidFill>
                  <a:srgbClr val="000000"/>
                </a:solidFill>
                <a:latin typeface="游ゴシック"/>
                <a:ea typeface="游ゴシック"/>
              </a:rPr>
              <a:t>※法人事業概況説明書（2026/3期末）では従業員30名（常勤役員3名含む）と記載があり、人数の定義差は要確認。就業規則・定年（60歳／65歳）は要確認。</a:t>
            </a:r>
          </a:p>
        </p:txBody>
      </p:sp>
    </p:spTree>
    <p:extLst>
      <p:ext uri="{BB962C8B-B14F-4D97-AF65-F5344CB8AC3E}">
        <p14:creationId xmlns:p14="http://schemas.microsoft.com/office/powerpoint/2010/main" val="4530259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C3BC0-753C-033E-F6BF-1E996308297A}"/>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33F37850-AD52-3D13-0C74-E00196D01FCC}"/>
              </a:ext>
            </a:extLst>
          </p:cNvPr>
          <p:cNvSpPr>
            <a:spLocks noGrp="1"/>
          </p:cNvSpPr>
          <p:nvPr>
            <p:ph type="ctrTitle"/>
          </p:nvPr>
        </p:nvSpPr>
        <p:spPr>
          <a:xfrm>
            <a:off x="311150" y="180296"/>
            <a:ext cx="7799917" cy="339267"/>
          </a:xfrm>
        </p:spPr>
        <p:txBody>
          <a:bodyPr>
            <a:normAutofit/>
          </a:bodyPr>
          <a:lstStyle/>
          <a:p>
            <a:r>
              <a:rPr lang="ja-JP" altLang="en-US" dirty="0"/>
              <a:t>拠点概要（本社・市場）</a:t>
            </a:r>
          </a:p>
        </p:txBody>
      </p:sp>
      <p:sp>
        <p:nvSpPr>
          <p:cNvPr id="2" name="正方形/長方形 1">
            <a:extLst>
              <a:ext uri="{FF2B5EF4-FFF2-40B4-BE49-F238E27FC236}">
                <a16:creationId xmlns:a16="http://schemas.microsoft.com/office/drawing/2014/main" id="{C00DE4F3-8549-4974-DCEF-6F7481D67517}"/>
              </a:ext>
            </a:extLst>
          </p:cNvPr>
          <p:cNvSpPr/>
          <p:nvPr/>
        </p:nvSpPr>
        <p:spPr>
          <a:xfrm>
            <a:off x="310896" y="1463040"/>
            <a:ext cx="1479550"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buClr>
                <a:schemeClr val="tx2"/>
              </a:buClr>
              <a:buSzPct val="80000"/>
            </a:pPr>
            <a:r>
              <a:rPr lang="ja-JP" altLang="en-US" sz="1400" b="1" spc="70" dirty="0">
                <a:solidFill>
                  <a:schemeClr val="bg1"/>
                </a:solidFill>
                <a:latin typeface="+mj-ea"/>
                <a:ea typeface="+mj-ea"/>
              </a:rPr>
              <a:t>拠点</a:t>
            </a:r>
          </a:p>
        </p:txBody>
      </p:sp>
      <p:sp>
        <p:nvSpPr>
          <p:cNvPr id="6" name="タイトル 1">
            <a:extLst>
              <a:ext uri="{FF2B5EF4-FFF2-40B4-BE49-F238E27FC236}">
                <a16:creationId xmlns:a16="http://schemas.microsoft.com/office/drawing/2014/main" id="{C94241A7-8BCE-A268-9079-8C5AF9CFCFBF}"/>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組織、拠点、設備等</a:t>
            </a:r>
          </a:p>
        </p:txBody>
      </p:sp>
      <p:sp>
        <p:nvSpPr>
          <p:cNvPr id="9" name="字幕 13">
            <a:extLst>
              <a:ext uri="{FF2B5EF4-FFF2-40B4-BE49-F238E27FC236}">
                <a16:creationId xmlns:a16="http://schemas.microsoft.com/office/drawing/2014/main" id="{B8D00A9D-DB7C-195B-A6F7-0DBDF4FF7287}"/>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a:ea typeface="游ゴシック"/>
              </a:rPr>
              <a:t>本社市場とパッケージ場は隣接する自社保有地（計4,001㎡）。主要建物は1981〜82年築で、改修を重ねて使用している。</a:t>
            </a:r>
          </a:p>
        </p:txBody>
      </p:sp>
      <p:graphicFrame>
        <p:nvGraphicFramePr>
          <p:cNvPr id="14" name="表（拠点(本社等)!B5:G9）"/>
          <p:cNvGraphicFramePr>
            <a:graphicFrameLocks noGrp="1"/>
          </p:cNvGraphicFramePr>
          <p:nvPr/>
        </p:nvGraphicFramePr>
        <p:xfrm>
          <a:off x="310896" y="1874519"/>
          <a:ext cx="10058398" cy="1879600"/>
        </p:xfrm>
        <a:graphic>
          <a:graphicData uri="http://schemas.openxmlformats.org/drawingml/2006/table">
            <a:tbl>
              <a:tblPr firstRow="0" bandRow="0">
                <a:tableStyleId>{2D5ABB26-0587-4C30-8999-92F81FD0307C}</a:tableStyleId>
              </a:tblPr>
              <a:tblGrid>
                <a:gridCol w="1175121"/>
                <a:gridCol w="2585052"/>
                <a:gridCol w="704916"/>
                <a:gridCol w="940019"/>
                <a:gridCol w="2820155"/>
                <a:gridCol w="1833135"/>
              </a:tblGrid>
              <a:tr h="355600">
                <a:tc>
                  <a:txBody>
                    <a:bodyPr/>
                    <a:lstStyle/>
                    <a:p>
                      <a:pPr algn="ctr" fontAlgn="ctr"/>
                      <a:r>
                        <a:rPr lang="ja-JP" altLang="en-US" sz="1000" b="0" i="0" dirty="0">
                          <a:solidFill>
                            <a:srgbClr val="FFFFFF"/>
                          </a:solidFill>
                          <a:latin typeface="游ゴシック"/>
                          <a:ea typeface="游ゴシック"/>
                        </a:rPr>
                        <a:t>拠点</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所在地</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所有区分</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土地面積</a:t>
                      </a:r>
                      <a:endParaRPr lang="ja-JP" altLang="en-US" sz="1000" b="0" i="0" dirty="0">
                        <a:solidFill>
                          <a:srgbClr val="FFFFFF"/>
                        </a:solidFill>
                        <a:latin typeface="游ゴシック"/>
                        <a:ea typeface="游ゴシック"/>
                      </a:endParaRPr>
                    </a:p>
                    <a:p>
                      <a:pPr algn="ctr" fontAlgn="ctr"/>
                      <a:r>
                        <a:rPr lang="ja-JP" altLang="en-US" sz="1000" b="0" i="0" dirty="0">
                          <a:solidFill>
                            <a:srgbClr val="FFFFFF"/>
                          </a:solidFill>
                          <a:latin typeface="游ゴシック"/>
                          <a:ea typeface="游ゴシック"/>
                        </a:rPr>
                        <a:t>(㎡)</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主な建物</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用途</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r>
              <a:tr h="381000">
                <a:tc>
                  <a:txBody>
                    <a:bodyPr/>
                    <a:lstStyle/>
                    <a:p>
                      <a:pPr algn="l" fontAlgn="ctr"/>
                      <a:r>
                        <a:rPr lang="ja-JP" altLang="en-US" sz="1050" b="0" i="0" dirty="0">
                          <a:solidFill>
                            <a:srgbClr val="000000"/>
                          </a:solidFill>
                          <a:latin typeface="游ゴシック"/>
                          <a:ea typeface="游ゴシック"/>
                        </a:rPr>
                        <a:t>本社・市場</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山形県鶴岡市宝田一丁目4番20号</a:t>
                      </a:r>
                      <a:endParaRPr lang="ja-JP" altLang="en-US" sz="1000" b="0" i="0" dirty="0">
                        <a:solidFill>
                          <a:srgbClr val="000000"/>
                        </a:solidFill>
                        <a:latin typeface="游ゴシック"/>
                        <a:ea typeface="游ゴシック"/>
                      </a:endParaRPr>
                    </a:p>
                    <a:p>
                      <a:pPr algn="l" fontAlgn="ctr"/>
                      <a:r>
                        <a:rPr lang="ja-JP" altLang="en-US" sz="1000" b="0" i="0" dirty="0">
                          <a:solidFill>
                            <a:srgbClr val="000000"/>
                          </a:solidFill>
                          <a:latin typeface="游ゴシック"/>
                          <a:ea typeface="游ゴシック"/>
                        </a:rPr>
                        <a:t>（地番：宝田一丁目4-2）</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1000" b="0" i="0" dirty="0">
                          <a:solidFill>
                            <a:srgbClr val="000000"/>
                          </a:solidFill>
                          <a:latin typeface="游ゴシック"/>
                          <a:ea typeface="游ゴシック"/>
                        </a:rPr>
                        <a:t>法人</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3,100.22</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事務所（管理棟）・市場・倉庫・容器庫・貯蔵庫</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事務、セリ・相対取引、保管</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381000">
                <a:tc>
                  <a:txBody>
                    <a:bodyPr/>
                    <a:lstStyle/>
                    <a:p>
                      <a:pPr algn="l" fontAlgn="ctr"/>
                      <a:r>
                        <a:rPr lang="ja-JP" altLang="en-US" sz="1050" b="0" i="0" dirty="0">
                          <a:solidFill>
                            <a:srgbClr val="000000"/>
                          </a:solidFill>
                          <a:latin typeface="游ゴシック"/>
                          <a:ea typeface="游ゴシック"/>
                        </a:rPr>
                        <a:t>パッケージ場</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山形県鶴岡市宝田一丁目5-1</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1000" b="0" i="0" dirty="0">
                          <a:solidFill>
                            <a:srgbClr val="000000"/>
                          </a:solidFill>
                          <a:latin typeface="游ゴシック"/>
                          <a:ea typeface="游ゴシック"/>
                        </a:rPr>
                        <a:t>法人</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900.50</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事務所兼倉庫（パッケージ場）・倉庫</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小分け・包装、保管</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381000">
                <a:tc>
                  <a:txBody>
                    <a:bodyPr/>
                    <a:lstStyle/>
                    <a:p>
                      <a:pPr algn="l" fontAlgn="ctr"/>
                      <a:r>
                        <a:rPr lang="ja-JP" altLang="en-US" sz="1050" b="0" i="0" dirty="0">
                          <a:solidFill>
                            <a:srgbClr val="000000"/>
                          </a:solidFill>
                          <a:latin typeface="游ゴシック"/>
                          <a:ea typeface="游ゴシック"/>
                        </a:rPr>
                        <a:t>旧倉庫敷地</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山形県東田川郡庄内町長沼字宮前304-7</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1000" b="0" i="0" dirty="0">
                          <a:solidFill>
                            <a:srgbClr val="000000"/>
                          </a:solidFill>
                          <a:latin typeface="游ゴシック"/>
                          <a:ea typeface="游ゴシック"/>
                        </a:rPr>
                        <a:t>法人</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261.81</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なし（倉庫は老朽化により解体済み）</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月極駐車場として近隣へ賃貸</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381000">
                <a:tc>
                  <a:txBody>
                    <a:bodyPr/>
                    <a:lstStyle/>
                    <a:p>
                      <a:pPr algn="l" fontAlgn="ctr"/>
                      <a:r>
                        <a:rPr lang="ja-JP" altLang="en-US" sz="1050" b="0" i="0" dirty="0">
                          <a:solidFill>
                            <a:srgbClr val="000000"/>
                          </a:solidFill>
                          <a:latin typeface="游ゴシック"/>
                          <a:ea typeface="游ゴシック"/>
                        </a:rPr>
                        <a:t>賃借物件</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なし（地代家賃の計上なし）</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1000" b="0" i="0" dirty="0">
                          <a:solidFill>
                            <a:srgbClr val="000000"/>
                          </a:solidFill>
                          <a:latin typeface="游ゴシック"/>
                          <a:ea typeface="游ゴシック"/>
                        </a:rPr>
                        <a:t>－</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bl>
          </a:graphicData>
        </a:graphic>
      </p:graphicFrame>
      <p:sp>
        <p:nvSpPr>
          <p:cNvPr id="15" name="正方形/長方形 7">
            <a:extLst>
              <a:ext uri="{FF2B5EF4-FFF2-40B4-BE49-F238E27FC236}">
                <a16:creationId xmlns:a16="http://schemas.microsoft.com/office/drawing/2014/main" id="{CBD334A9-999C-ACD4-9DD2-EF961CBA0926}"/>
              </a:ext>
            </a:extLst>
          </p:cNvPr>
          <p:cNvSpPr/>
          <p:nvPr/>
        </p:nvSpPr>
        <p:spPr>
          <a:xfrm>
            <a:off x="310896" y="4074160"/>
            <a:ext cx="10058400" cy="2377440"/>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252000" rIns="0" bIns="0" rtlCol="0" anchor="t"/>
          <a:lstStyle/>
          <a:p>
            <a:pPr algn="ctr"/>
            <a:r>
              <a:rPr kumimoji="1" lang="en-US" altLang="ja-JP" sz="1600" b="1" dirty="0">
                <a:solidFill>
                  <a:schemeClr val="tx2"/>
                </a:solidFill>
                <a:latin typeface="+mj-lt"/>
                <a:ea typeface="+mj-ea"/>
              </a:rPr>
              <a:t>拠点の状況</a:t>
            </a:r>
            <a:endParaRPr kumimoji="1" lang="ja-JP" altLang="en-US" sz="1600" b="1" dirty="0">
              <a:solidFill>
                <a:schemeClr val="tx2"/>
              </a:solidFill>
              <a:latin typeface="+mj-lt"/>
              <a:ea typeface="+mj-ea"/>
            </a:endParaRPr>
          </a:p>
        </p:txBody>
      </p:sp>
      <p:sp>
        <p:nvSpPr>
          <p:cNvPr id="16" name="テキスト ボックス 8">
            <a:extLst>
              <a:ext uri="{FF2B5EF4-FFF2-40B4-BE49-F238E27FC236}">
                <a16:creationId xmlns:a16="http://schemas.microsoft.com/office/drawing/2014/main" id="{E5084622-1D6B-783F-80DE-6D9A498C7C12}"/>
              </a:ext>
            </a:extLst>
          </p:cNvPr>
          <p:cNvSpPr txBox="1"/>
          <p:nvPr/>
        </p:nvSpPr>
        <p:spPr>
          <a:xfrm>
            <a:off x="310896" y="4577080"/>
            <a:ext cx="10058400" cy="1828799"/>
          </a:xfrm>
          <a:prstGeom prst="rect">
            <a:avLst/>
          </a:prstGeom>
          <a:noFill/>
        </p:spPr>
        <p:txBody>
          <a:bodyPr wrap="square" lIns="288000" tIns="0" rIns="252000" bIns="0" rtlCol="0">
            <a:spAutoFit/>
          </a:bodyPr>
          <a:lstStyle/>
          <a:p>
            <a:pPr>
              <a:spcAft>
                <a:spcPts val="300"/>
              </a:spcAft>
            </a:pPr>
            <a:r>
              <a:rPr lang="ja-JP" altLang="en-US" sz="1000" b="1" dirty="0">
                <a:solidFill>
                  <a:sysClr val="windowText" lastClr="000000"/>
                </a:solidFill>
                <a:latin typeface="游ゴシック"/>
                <a:ea typeface="游ゴシック"/>
              </a:rPr>
              <a:t>≪営業時間・定休日≫</a:t>
            </a:r>
          </a:p>
          <a:p>
            <a:pPr>
              <a:spcAft>
                <a:spcPts val="300"/>
              </a:spcAft>
            </a:pPr>
            <a:r>
              <a:rPr lang="ja-JP" altLang="en-US" sz="900" b="0" dirty="0">
                <a:solidFill>
                  <a:sysClr val="windowText" lastClr="000000"/>
                </a:solidFill>
                <a:latin typeface="游ゴシック"/>
                <a:ea typeface="游ゴシック"/>
              </a:rPr>
              <a:t>・早朝5時から営業（終業時刻は要確認）。定休日は水・日・祝日。</a:t>
            </a:r>
          </a:p>
          <a:p>
            <a:pPr>
              <a:spcAft>
                <a:spcPts val="300"/>
              </a:spcAft>
            </a:pPr>
            <a:r>
              <a:rPr lang="ja-JP" altLang="en-US" sz="1000" b="1" dirty="0">
                <a:solidFill>
                  <a:sysClr val="windowText" lastClr="000000"/>
                </a:solidFill>
                <a:latin typeface="游ゴシック"/>
                <a:ea typeface="游ゴシック"/>
              </a:rPr>
              <a:t>≪物流≫</a:t>
            </a:r>
          </a:p>
          <a:p>
            <a:pPr>
              <a:spcAft>
                <a:spcPts val="300"/>
              </a:spcAft>
            </a:pPr>
            <a:r>
              <a:rPr lang="ja-JP" altLang="en-US" sz="900" b="0" dirty="0">
                <a:solidFill>
                  <a:sysClr val="windowText" lastClr="000000"/>
                </a:solidFill>
                <a:latin typeface="游ゴシック"/>
                <a:ea typeface="游ゴシック"/>
              </a:rPr>
              <a:t>・配送は基本的に自社対応。東京向け出荷と一部の地元スーパー向け配送のみ外部運送会社を利用。</a:t>
            </a:r>
          </a:p>
          <a:p>
            <a:pPr>
              <a:spcAft>
                <a:spcPts val="300"/>
              </a:spcAft>
            </a:pPr>
            <a:r>
              <a:rPr lang="ja-JP" altLang="en-US" sz="1000" b="1" dirty="0">
                <a:solidFill>
                  <a:sysClr val="windowText" lastClr="000000"/>
                </a:solidFill>
                <a:latin typeface="游ゴシック"/>
                <a:ea typeface="游ゴシック"/>
              </a:rPr>
              <a:t>≪施設の状況≫</a:t>
            </a:r>
          </a:p>
          <a:p>
            <a:pPr>
              <a:spcAft>
                <a:spcPts val="300"/>
              </a:spcAft>
            </a:pPr>
            <a:r>
              <a:rPr lang="ja-JP" altLang="en-US" sz="900" b="0" dirty="0">
                <a:solidFill>
                  <a:sysClr val="windowText" lastClr="000000"/>
                </a:solidFill>
                <a:latin typeface="游ゴシック"/>
                <a:ea typeface="游ゴシック"/>
              </a:rPr>
              <a:t>・屋根・外壁・シャッター・冷蔵庫ユニット等の改修工事を継続的に資産計上（詳細は「保有設備一覧」）。リース料年6,227千円を計上（車両の保有形態・リース対象は要確認）。</a:t>
            </a:r>
          </a:p>
          <a:p>
            <a:pPr>
              <a:spcAft>
                <a:spcPts val="300"/>
              </a:spcAft>
            </a:pPr>
            <a:r>
              <a:rPr lang="ja-JP" altLang="en-US" sz="1000" b="1" dirty="0">
                <a:solidFill>
                  <a:sysClr val="windowText" lastClr="000000"/>
                </a:solidFill>
                <a:latin typeface="游ゴシック"/>
                <a:ea typeface="游ゴシック"/>
              </a:rPr>
              <a:t>≪写真≫</a:t>
            </a:r>
          </a:p>
          <a:p>
            <a:pPr>
              <a:spcAft>
                <a:spcPts val="300"/>
              </a:spcAft>
            </a:pPr>
            <a:r>
              <a:rPr lang="ja-JP" altLang="en-US" sz="900" b="0" dirty="0">
                <a:solidFill>
                  <a:sysClr val="windowText" lastClr="000000"/>
                </a:solidFill>
                <a:latin typeface="游ゴシック"/>
                <a:ea typeface="游ゴシック"/>
              </a:rPr>
              <a:t>・社屋外観・市場内観・周辺地図は売主様より写真を受領後に掲載予定。</a:t>
            </a:r>
          </a:p>
        </p:txBody>
      </p:sp>
    </p:spTree>
    <p:extLst>
      <p:ext uri="{BB962C8B-B14F-4D97-AF65-F5344CB8AC3E}">
        <p14:creationId xmlns:p14="http://schemas.microsoft.com/office/powerpoint/2010/main" val="6307501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212D40-6E48-E93D-4FC9-F10D333C1CB4}"/>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8F9793F7-DC5F-E269-D0AF-CEA1591E82A7}"/>
              </a:ext>
            </a:extLst>
          </p:cNvPr>
          <p:cNvSpPr>
            <a:spLocks noGrp="1"/>
          </p:cNvSpPr>
          <p:nvPr>
            <p:ph type="ctrTitle"/>
          </p:nvPr>
        </p:nvSpPr>
        <p:spPr>
          <a:xfrm>
            <a:off x="311150" y="180296"/>
            <a:ext cx="7799917" cy="339267"/>
          </a:xfrm>
        </p:spPr>
        <p:txBody>
          <a:bodyPr>
            <a:normAutofit/>
          </a:bodyPr>
          <a:lstStyle/>
          <a:p>
            <a:r>
              <a:rPr lang="ja-JP" altLang="en-US" dirty="0"/>
              <a:t>不動産概況</a:t>
            </a:r>
          </a:p>
        </p:txBody>
      </p:sp>
      <p:sp>
        <p:nvSpPr>
          <p:cNvPr id="6" name="タイトル 1">
            <a:extLst>
              <a:ext uri="{FF2B5EF4-FFF2-40B4-BE49-F238E27FC236}">
                <a16:creationId xmlns:a16="http://schemas.microsoft.com/office/drawing/2014/main" id="{541F4B75-7B8F-E770-E8BD-648B0D9A1125}"/>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組織、拠点、設備等</a:t>
            </a:r>
          </a:p>
        </p:txBody>
      </p:sp>
      <p:sp>
        <p:nvSpPr>
          <p:cNvPr id="9" name="字幕 13">
            <a:extLst>
              <a:ext uri="{FF2B5EF4-FFF2-40B4-BE49-F238E27FC236}">
                <a16:creationId xmlns:a16="http://schemas.microsoft.com/office/drawing/2014/main" id="{C67BBAB2-F39C-2CF9-AEE1-8D09DEE08EBD}"/>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a:ea typeface="游ゴシック"/>
              </a:rPr>
              <a:t>本社・市場、パッケージ場、旧倉庫敷地（駐車場）の土地3筆（計4,263㎡）と建物7棟をすべて法人で所有し、賃借物件はない。土地の時価は約67,825千円と推計（確認中）。</a:t>
            </a:r>
          </a:p>
        </p:txBody>
      </p:sp>
      <p:graphicFrame>
        <p:nvGraphicFramePr>
          <p:cNvPr id="14" name="表（不動産概況!B4:J9）"/>
          <p:cNvGraphicFramePr>
            <a:graphicFrameLocks noGrp="1"/>
          </p:cNvGraphicFramePr>
          <p:nvPr/>
        </p:nvGraphicFramePr>
        <p:xfrm>
          <a:off x="310896" y="1463040"/>
          <a:ext cx="10058395" cy="2019300"/>
        </p:xfrm>
        <a:graphic>
          <a:graphicData uri="http://schemas.openxmlformats.org/drawingml/2006/table">
            <a:tbl>
              <a:tblPr firstRow="0" bandRow="0">
                <a:tableStyleId>{2D5ABB26-0587-4C30-8999-92F81FD0307C}</a:tableStyleId>
              </a:tblPr>
              <a:tblGrid>
                <a:gridCol w="982807"/>
                <a:gridCol w="2292827"/>
                <a:gridCol w="888649"/>
                <a:gridCol w="795174"/>
                <a:gridCol w="1824768"/>
                <a:gridCol w="888649"/>
                <a:gridCol w="888649"/>
                <a:gridCol w="888649"/>
                <a:gridCol w="608223"/>
              </a:tblGrid>
              <a:tr h="190500">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900" b="0" i="0" dirty="0">
                          <a:solidFill>
                            <a:srgbClr val="000000"/>
                          </a:solidFill>
                          <a:latin typeface="游ゴシック"/>
                          <a:ea typeface="游ゴシック"/>
                        </a:rPr>
                        <a:t>(単位：千円)</a:t>
                      </a:r>
                      <a:endParaRPr lang="ja-JP" altLang="en-US" sz="90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r>
              <a:tr h="381000">
                <a:tc>
                  <a:txBody>
                    <a:bodyPr/>
                    <a:lstStyle/>
                    <a:p>
                      <a:pPr algn="ctr" fontAlgn="ctr"/>
                      <a:r>
                        <a:rPr lang="ja-JP" altLang="en-US" sz="900" b="0" i="0" dirty="0">
                          <a:solidFill>
                            <a:srgbClr val="FFFFFF"/>
                          </a:solidFill>
                          <a:latin typeface="游ゴシック"/>
                          <a:ea typeface="游ゴシック"/>
                        </a:rPr>
                        <a:t>拠点</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900" b="0" i="0" dirty="0">
                          <a:solidFill>
                            <a:srgbClr val="FFFFFF"/>
                          </a:solidFill>
                          <a:latin typeface="游ゴシック"/>
                          <a:ea typeface="游ゴシック"/>
                        </a:rPr>
                        <a:t>所在地</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900" b="0" i="0" dirty="0">
                          <a:solidFill>
                            <a:srgbClr val="FFFFFF"/>
                          </a:solidFill>
                          <a:latin typeface="游ゴシック"/>
                          <a:ea typeface="游ゴシック"/>
                        </a:rPr>
                        <a:t>土地面積</a:t>
                      </a:r>
                      <a:endParaRPr lang="ja-JP" altLang="en-US" sz="900" b="0" i="0" dirty="0">
                        <a:solidFill>
                          <a:srgbClr val="FFFFFF"/>
                        </a:solidFill>
                        <a:latin typeface="游ゴシック"/>
                        <a:ea typeface="游ゴシック"/>
                      </a:endParaRPr>
                    </a:p>
                    <a:p>
                      <a:pPr algn="ctr" fontAlgn="ctr"/>
                      <a:r>
                        <a:rPr lang="ja-JP" altLang="en-US" sz="900" b="0" i="0" dirty="0">
                          <a:solidFill>
                            <a:srgbClr val="FFFFFF"/>
                          </a:solidFill>
                          <a:latin typeface="游ゴシック"/>
                          <a:ea typeface="游ゴシック"/>
                        </a:rPr>
                        <a:t>(㎡)</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900" b="0" i="0" dirty="0">
                          <a:solidFill>
                            <a:srgbClr val="FFFFFF"/>
                          </a:solidFill>
                          <a:latin typeface="游ゴシック"/>
                          <a:ea typeface="游ゴシック"/>
                        </a:rPr>
                        <a:t>土地の</a:t>
                      </a:r>
                      <a:endParaRPr lang="ja-JP" altLang="en-US" sz="900" b="0" i="0" dirty="0">
                        <a:solidFill>
                          <a:srgbClr val="FFFFFF"/>
                        </a:solidFill>
                        <a:latin typeface="游ゴシック"/>
                        <a:ea typeface="游ゴシック"/>
                      </a:endParaRPr>
                    </a:p>
                    <a:p>
                      <a:pPr algn="ctr" fontAlgn="ctr"/>
                      <a:r>
                        <a:rPr lang="ja-JP" altLang="en-US" sz="900" b="0" i="0" dirty="0">
                          <a:solidFill>
                            <a:srgbClr val="FFFFFF"/>
                          </a:solidFill>
                          <a:latin typeface="游ゴシック"/>
                          <a:ea typeface="游ゴシック"/>
                        </a:rPr>
                        <a:t>所有区分</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900" b="0" i="0" dirty="0">
                          <a:solidFill>
                            <a:srgbClr val="FFFFFF"/>
                          </a:solidFill>
                          <a:latin typeface="游ゴシック"/>
                          <a:ea typeface="游ゴシック"/>
                        </a:rPr>
                        <a:t>建物の所有区分</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900" b="0" i="0" dirty="0">
                          <a:solidFill>
                            <a:srgbClr val="FFFFFF"/>
                          </a:solidFill>
                          <a:latin typeface="游ゴシック"/>
                          <a:ea typeface="游ゴシック"/>
                        </a:rPr>
                        <a:t>土地簿価</a:t>
                      </a:r>
                      <a:endParaRPr lang="ja-JP" altLang="en-US" sz="900" b="0" i="0" dirty="0">
                        <a:solidFill>
                          <a:srgbClr val="FFFFFF"/>
                        </a:solidFill>
                        <a:latin typeface="游ゴシック"/>
                        <a:ea typeface="游ゴシック"/>
                      </a:endParaRPr>
                    </a:p>
                    <a:p>
                      <a:pPr algn="ctr" fontAlgn="ctr"/>
                      <a:r>
                        <a:rPr lang="ja-JP" altLang="en-US" sz="900" b="0" i="0" dirty="0">
                          <a:solidFill>
                            <a:srgbClr val="FFFFFF"/>
                          </a:solidFill>
                          <a:latin typeface="游ゴシック"/>
                          <a:ea typeface="游ゴシック"/>
                        </a:rPr>
                        <a:t>(千円)</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900" b="0" i="0" dirty="0">
                          <a:solidFill>
                            <a:srgbClr val="FFFFFF"/>
                          </a:solidFill>
                          <a:latin typeface="游ゴシック"/>
                          <a:ea typeface="游ゴシック"/>
                        </a:rPr>
                        <a:t>土地時価</a:t>
                      </a:r>
                      <a:endParaRPr lang="ja-JP" altLang="en-US" sz="900" b="0" i="0" dirty="0">
                        <a:solidFill>
                          <a:srgbClr val="FFFFFF"/>
                        </a:solidFill>
                        <a:latin typeface="游ゴシック"/>
                        <a:ea typeface="游ゴシック"/>
                      </a:endParaRPr>
                    </a:p>
                    <a:p>
                      <a:pPr algn="ctr" fontAlgn="ctr"/>
                      <a:r>
                        <a:rPr lang="ja-JP" altLang="en-US" sz="900" b="0" i="0" dirty="0">
                          <a:solidFill>
                            <a:srgbClr val="FFFFFF"/>
                          </a:solidFill>
                          <a:latin typeface="游ゴシック"/>
                          <a:ea typeface="游ゴシック"/>
                        </a:rPr>
                        <a:t>(千円)</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900" b="0" i="0" dirty="0">
                          <a:solidFill>
                            <a:srgbClr val="FFFFFF"/>
                          </a:solidFill>
                          <a:latin typeface="游ゴシック"/>
                          <a:ea typeface="游ゴシック"/>
                        </a:rPr>
                        <a:t>建物固定資産税</a:t>
                      </a:r>
                      <a:endParaRPr lang="ja-JP" altLang="en-US" sz="900" b="0" i="0" dirty="0">
                        <a:solidFill>
                          <a:srgbClr val="FFFFFF"/>
                        </a:solidFill>
                        <a:latin typeface="游ゴシック"/>
                        <a:ea typeface="游ゴシック"/>
                      </a:endParaRPr>
                    </a:p>
                    <a:p>
                      <a:pPr algn="ctr" fontAlgn="ctr"/>
                      <a:r>
                        <a:rPr lang="ja-JP" altLang="en-US" sz="900" b="0" i="0" dirty="0">
                          <a:solidFill>
                            <a:srgbClr val="FFFFFF"/>
                          </a:solidFill>
                          <a:latin typeface="游ゴシック"/>
                          <a:ea typeface="游ゴシック"/>
                        </a:rPr>
                        <a:t>評価額(千円)</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900" b="0" i="0" dirty="0">
                          <a:solidFill>
                            <a:srgbClr val="FFFFFF"/>
                          </a:solidFill>
                          <a:latin typeface="游ゴシック"/>
                          <a:ea typeface="游ゴシック"/>
                        </a:rPr>
                        <a:t>担保</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r>
              <a:tr h="381000">
                <a:tc>
                  <a:txBody>
                    <a:bodyPr/>
                    <a:lstStyle/>
                    <a:p>
                      <a:pPr algn="l" fontAlgn="ctr"/>
                      <a:r>
                        <a:rPr lang="ja-JP" altLang="en-US" sz="1050" b="0" i="0" dirty="0">
                          <a:solidFill>
                            <a:srgbClr val="000000"/>
                          </a:solidFill>
                          <a:latin typeface="游ゴシック"/>
                          <a:ea typeface="游ゴシック"/>
                        </a:rPr>
                        <a:t>本社・市場</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鶴岡市宝田一丁目4-2</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3,100.22</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1000" b="0" i="0" dirty="0">
                          <a:solidFill>
                            <a:srgbClr val="000000"/>
                          </a:solidFill>
                          <a:latin typeface="游ゴシック"/>
                          <a:ea typeface="游ゴシック"/>
                        </a:rPr>
                        <a:t>法人</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法人（5棟／延床1,246.20㎡）</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70,757</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51,230</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22,295</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1000" b="0" i="0" dirty="0">
                          <a:solidFill>
                            <a:srgbClr val="000000"/>
                          </a:solidFill>
                          <a:latin typeface="游ゴシック"/>
                          <a:ea typeface="游ゴシック"/>
                        </a:rPr>
                        <a:t>要確認</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381000">
                <a:tc>
                  <a:txBody>
                    <a:bodyPr/>
                    <a:lstStyle/>
                    <a:p>
                      <a:pPr algn="l" fontAlgn="ctr"/>
                      <a:r>
                        <a:rPr lang="ja-JP" altLang="en-US" sz="1050" b="0" i="0" dirty="0">
                          <a:solidFill>
                            <a:srgbClr val="000000"/>
                          </a:solidFill>
                          <a:latin typeface="游ゴシック"/>
                          <a:ea typeface="游ゴシック"/>
                        </a:rPr>
                        <a:t>パッケージ場</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鶴岡市宝田一丁目5-1</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900.50</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1000" b="0" i="0" dirty="0">
                          <a:solidFill>
                            <a:srgbClr val="000000"/>
                          </a:solidFill>
                          <a:latin typeface="游ゴシック"/>
                          <a:ea typeface="游ゴシック"/>
                        </a:rPr>
                        <a:t>法人</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法人（2棟／延床766.48㎡）</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21,380</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15,086</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24,767</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1000" b="0" i="0" dirty="0">
                          <a:solidFill>
                            <a:srgbClr val="000000"/>
                          </a:solidFill>
                          <a:latin typeface="游ゴシック"/>
                          <a:ea typeface="游ゴシック"/>
                        </a:rPr>
                        <a:t>要確認</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381000">
                <a:tc>
                  <a:txBody>
                    <a:bodyPr/>
                    <a:lstStyle/>
                    <a:p>
                      <a:pPr algn="l" fontAlgn="ctr"/>
                      <a:r>
                        <a:rPr lang="ja-JP" altLang="en-US" sz="1050" b="0" i="0" dirty="0">
                          <a:solidFill>
                            <a:srgbClr val="000000"/>
                          </a:solidFill>
                          <a:latin typeface="游ゴシック"/>
                          <a:ea typeface="游ゴシック"/>
                        </a:rPr>
                        <a:t>旧倉庫敷地</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東田川郡庄内町長沼字宮前304-7</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261.81</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1000" b="0" i="0" dirty="0">
                          <a:solidFill>
                            <a:srgbClr val="000000"/>
                          </a:solidFill>
                          <a:latin typeface="游ゴシック"/>
                          <a:ea typeface="游ゴシック"/>
                        </a:rPr>
                        <a:t>法人</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建物なし（老朽化により解体済み）</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1,000</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1,509</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1000" b="0" i="0" dirty="0">
                          <a:solidFill>
                            <a:srgbClr val="000000"/>
                          </a:solidFill>
                          <a:latin typeface="游ゴシック"/>
                          <a:ea typeface="游ゴシック"/>
                        </a:rPr>
                        <a:t>要確認</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304800">
                <a:tc>
                  <a:txBody>
                    <a:bodyPr/>
                    <a:lstStyle/>
                    <a:p>
                      <a:pPr algn="l" fontAlgn="ctr"/>
                      <a:r>
                        <a:rPr lang="ja-JP" altLang="en-US" sz="1050" b="1" i="0" dirty="0">
                          <a:solidFill>
                            <a:srgbClr val="000000"/>
                          </a:solidFill>
                          <a:latin typeface="游ゴシック"/>
                          <a:ea typeface="游ゴシック"/>
                        </a:rPr>
                        <a:t>合計</a:t>
                      </a:r>
                      <a:endParaRPr lang="ja-JP" altLang="en-US" sz="105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l" fontAlgn="ctr"/>
                      <a:endParaRPr lang="ja-JP" altLang="en-US" sz="105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1050" b="1" i="0" dirty="0">
                          <a:solidFill>
                            <a:srgbClr val="000000"/>
                          </a:solidFill>
                          <a:latin typeface="Arial"/>
                          <a:ea typeface="游ゴシック Medium"/>
                        </a:rPr>
                        <a:t>4,262.53</a:t>
                      </a:r>
                      <a:endParaRPr lang="ja-JP" altLang="en-US" sz="105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l" fontAlgn="ctr"/>
                      <a:endParaRPr lang="ja-JP" altLang="en-US" sz="105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l" fontAlgn="ctr"/>
                      <a:r>
                        <a:rPr lang="ja-JP" altLang="en-US" sz="1050" b="1" i="0" dirty="0">
                          <a:solidFill>
                            <a:srgbClr val="000000"/>
                          </a:solidFill>
                          <a:latin typeface="游ゴシック"/>
                          <a:ea typeface="游ゴシック"/>
                        </a:rPr>
                        <a:t>法人 7棟</a:t>
                      </a:r>
                      <a:endParaRPr lang="ja-JP" altLang="en-US" sz="105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1050" b="1" i="0" dirty="0">
                          <a:solidFill>
                            <a:srgbClr val="000000"/>
                          </a:solidFill>
                          <a:latin typeface="Arial"/>
                          <a:ea typeface="游ゴシック Medium"/>
                        </a:rPr>
                        <a:t>93,137</a:t>
                      </a:r>
                      <a:endParaRPr lang="ja-JP" altLang="en-US" sz="105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1050" b="1" i="0" dirty="0">
                          <a:solidFill>
                            <a:srgbClr val="000000"/>
                          </a:solidFill>
                          <a:latin typeface="Arial"/>
                          <a:ea typeface="游ゴシック Medium"/>
                        </a:rPr>
                        <a:t>67,825</a:t>
                      </a:r>
                      <a:endParaRPr lang="ja-JP" altLang="en-US" sz="105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1050" b="1" i="0" dirty="0">
                          <a:solidFill>
                            <a:srgbClr val="000000"/>
                          </a:solidFill>
                          <a:latin typeface="Arial"/>
                          <a:ea typeface="游ゴシック Medium"/>
                        </a:rPr>
                        <a:t>47,062</a:t>
                      </a:r>
                      <a:endParaRPr lang="ja-JP" altLang="en-US" sz="105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l" fontAlgn="ctr"/>
                      <a:endParaRPr lang="ja-JP" altLang="en-US" sz="105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r>
            </a:tbl>
          </a:graphicData>
        </a:graphic>
      </p:graphicFrame>
      <p:sp>
        <p:nvSpPr>
          <p:cNvPr id="15" name="TextBox 14"/>
          <p:cNvSpPr txBox="1"/>
          <p:nvPr/>
        </p:nvSpPr>
        <p:spPr>
          <a:xfrm>
            <a:off x="310896" y="3592068"/>
            <a:ext cx="10058400" cy="329184"/>
          </a:xfrm>
          <a:prstGeom prst="rect">
            <a:avLst/>
          </a:prstGeom>
          <a:noFill/>
        </p:spPr>
        <p:txBody>
          <a:bodyPr wrap="square" lIns="0" rIns="0" tIns="0" bIns="0" anchor="t">
            <a:spAutoFit/>
          </a:bodyPr>
          <a:lstStyle/>
          <a:p>
            <a:pPr algn="l"/>
            <a:r>
              <a:rPr sz="800" b="0">
                <a:solidFill>
                  <a:srgbClr val="000000"/>
                </a:solidFill>
                <a:latin typeface="游ゴシック"/>
                <a:ea typeface="游ゴシック"/>
              </a:rPr>
              <a:t>※面積は登記地積（固定資産税課税明細書）。土地時価＝固定資産税評価額÷0.7（推計）。建物評価額は令和8年度固定資産税評価額。</a:t>
            </a:r>
          </a:p>
          <a:p>
            <a:pPr algn="l"/>
            <a:r>
              <a:rPr sz="800" b="0">
                <a:solidFill>
                  <a:srgbClr val="000000"/>
                </a:solidFill>
                <a:latin typeface="游ゴシック"/>
                <a:ea typeface="游ゴシック"/>
              </a:rPr>
              <a:t>※旧倉庫敷地は現在建物を建てられない土地（代表者談）。倉庫は老朽化により解体済みで、近隣へ月極駐車場として賃貸（収入は僅少）。担保設定の状況は登記簿謄本（未受領）で確認予定。</a:t>
            </a:r>
          </a:p>
        </p:txBody>
      </p:sp>
      <p:sp>
        <p:nvSpPr>
          <p:cNvPr id="16" name="Rectangle 15"/>
          <p:cNvSpPr/>
          <p:nvPr/>
        </p:nvSpPr>
        <p:spPr>
          <a:xfrm>
            <a:off x="310896" y="4480560"/>
            <a:ext cx="1280160" cy="1737360"/>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rgbClr val="FFFFFF"/>
                </a:solidFill>
                <a:latin typeface="游ゴシック"/>
                <a:ea typeface="游ゴシック"/>
              </a:rPr>
              <a:t>ポイント</a:t>
            </a:r>
          </a:p>
        </p:txBody>
      </p:sp>
      <p:sp>
        <p:nvSpPr>
          <p:cNvPr id="17" name="Rectangle 16"/>
          <p:cNvSpPr/>
          <p:nvPr/>
        </p:nvSpPr>
        <p:spPr>
          <a:xfrm>
            <a:off x="1645920" y="4480560"/>
            <a:ext cx="8723376" cy="1737360"/>
          </a:xfrm>
          <a:prstGeom prst="rect">
            <a:avLst/>
          </a:prstGeom>
          <a:solidFill>
            <a:srgbClr val="E1F3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l">
              <a:spcAft>
                <a:spcPts val="400"/>
              </a:spcAft>
            </a:pPr>
            <a:r>
              <a:rPr sz="1000" b="0">
                <a:solidFill>
                  <a:srgbClr val="000000"/>
                </a:solidFill>
                <a:latin typeface="游ゴシック"/>
                <a:ea typeface="游ゴシック"/>
              </a:rPr>
              <a:t>■ 本社・市場とパッケージ場は隣接する一団の土地であり、事業用地はすべて法人所有。地代家賃の負担がなく、拠点の継続性が高い。</a:t>
            </a:r>
          </a:p>
          <a:p>
            <a:pPr algn="l">
              <a:spcAft>
                <a:spcPts val="400"/>
              </a:spcAft>
            </a:pPr>
            <a:r>
              <a:rPr sz="1000" b="0">
                <a:solidFill>
                  <a:srgbClr val="000000"/>
                </a:solidFill>
                <a:latin typeface="游ゴシック"/>
                <a:ea typeface="游ゴシック"/>
              </a:rPr>
              <a:t>■ 土地時価約67.8百万円・建物評価額約47.1百万円の資産を保有。一方、土地の帳簿価額93.1百万円は時価推計を上回り、時価純資産の減少要因（△25.3百万円）となる。</a:t>
            </a:r>
          </a:p>
          <a:p>
            <a:pPr algn="l">
              <a:spcAft>
                <a:spcPts val="400"/>
              </a:spcAft>
            </a:pPr>
            <a:r>
              <a:rPr sz="1000" b="0">
                <a:solidFill>
                  <a:srgbClr val="000000"/>
                </a:solidFill>
                <a:latin typeface="游ゴシック"/>
                <a:ea typeface="游ゴシック"/>
              </a:rPr>
              <a:t>■ 主要建物は1981〜82年築。改修を継続しており、耐震性・今後の更新計画は要確認。土地・建物の時価は路線価・査定等で確認中。</a:t>
            </a:r>
          </a:p>
        </p:txBody>
      </p:sp>
    </p:spTree>
    <p:extLst>
      <p:ext uri="{BB962C8B-B14F-4D97-AF65-F5344CB8AC3E}">
        <p14:creationId xmlns:p14="http://schemas.microsoft.com/office/powerpoint/2010/main" val="37072750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46CA44-E527-07A7-EABE-FD69A9CC2754}"/>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676FF1C4-EA62-3485-4D28-7C17FD9DDA7D}"/>
              </a:ext>
            </a:extLst>
          </p:cNvPr>
          <p:cNvSpPr>
            <a:spLocks noGrp="1"/>
          </p:cNvSpPr>
          <p:nvPr>
            <p:ph type="ctrTitle"/>
          </p:nvPr>
        </p:nvSpPr>
        <p:spPr>
          <a:xfrm>
            <a:off x="311150" y="180296"/>
            <a:ext cx="7799917" cy="339267"/>
          </a:xfrm>
        </p:spPr>
        <p:txBody>
          <a:bodyPr>
            <a:normAutofit/>
          </a:bodyPr>
          <a:lstStyle/>
          <a:p>
            <a:r>
              <a:rPr lang="ja-JP" altLang="en-US" dirty="0"/>
              <a:t>不動産詳細</a:t>
            </a:r>
          </a:p>
        </p:txBody>
      </p:sp>
      <p:sp>
        <p:nvSpPr>
          <p:cNvPr id="2" name="正方形/長方形 1">
            <a:extLst>
              <a:ext uri="{FF2B5EF4-FFF2-40B4-BE49-F238E27FC236}">
                <a16:creationId xmlns:a16="http://schemas.microsoft.com/office/drawing/2014/main" id="{6E2B06A4-5CE5-00C3-97BF-5F9AFAE677E3}"/>
              </a:ext>
            </a:extLst>
          </p:cNvPr>
          <p:cNvSpPr/>
          <p:nvPr/>
        </p:nvSpPr>
        <p:spPr>
          <a:xfrm>
            <a:off x="310896" y="1463040"/>
            <a:ext cx="1479550"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buClr>
                <a:schemeClr val="tx2"/>
              </a:buClr>
              <a:buSzPct val="80000"/>
            </a:pPr>
            <a:r>
              <a:rPr lang="ja-JP" altLang="en-US" sz="1400" b="1" spc="70" dirty="0">
                <a:solidFill>
                  <a:schemeClr val="bg1"/>
                </a:solidFill>
                <a:latin typeface="+mj-ea"/>
                <a:ea typeface="+mj-ea"/>
              </a:rPr>
              <a:t>所有</a:t>
            </a:r>
          </a:p>
        </p:txBody>
      </p:sp>
      <p:sp>
        <p:nvSpPr>
          <p:cNvPr id="3" name="正方形/長方形 2">
            <a:extLst>
              <a:ext uri="{FF2B5EF4-FFF2-40B4-BE49-F238E27FC236}">
                <a16:creationId xmlns:a16="http://schemas.microsoft.com/office/drawing/2014/main" id="{75ADC88D-D2D4-EEF0-D14C-0426FECA60C3}"/>
              </a:ext>
            </a:extLst>
          </p:cNvPr>
          <p:cNvSpPr/>
          <p:nvPr/>
        </p:nvSpPr>
        <p:spPr>
          <a:xfrm>
            <a:off x="310896" y="5192268"/>
            <a:ext cx="1479550"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buClr>
                <a:schemeClr val="tx2"/>
              </a:buClr>
              <a:buSzPct val="80000"/>
            </a:pPr>
            <a:r>
              <a:rPr lang="ja-JP" altLang="en-US" sz="1400" b="1" spc="70" dirty="0">
                <a:solidFill>
                  <a:schemeClr val="bg1"/>
                </a:solidFill>
                <a:latin typeface="+mj-ea"/>
                <a:ea typeface="+mj-ea"/>
              </a:rPr>
              <a:t>賃借</a:t>
            </a:r>
          </a:p>
        </p:txBody>
      </p:sp>
      <p:sp>
        <p:nvSpPr>
          <p:cNvPr id="4" name="タイトル 1">
            <a:extLst>
              <a:ext uri="{FF2B5EF4-FFF2-40B4-BE49-F238E27FC236}">
                <a16:creationId xmlns:a16="http://schemas.microsoft.com/office/drawing/2014/main" id="{DAA41D5B-A131-C808-ADF3-2DAFD20777F6}"/>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組織、拠点、設備等</a:t>
            </a:r>
          </a:p>
        </p:txBody>
      </p:sp>
      <p:sp>
        <p:nvSpPr>
          <p:cNvPr id="8" name="字幕 13">
            <a:extLst>
              <a:ext uri="{FF2B5EF4-FFF2-40B4-BE49-F238E27FC236}">
                <a16:creationId xmlns:a16="http://schemas.microsoft.com/office/drawing/2014/main" id="{A751CA4D-CB14-CD08-826F-75C234B5BA9A}"/>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a:ea typeface="游ゴシック"/>
              </a:rPr>
              <a:t>土地3筆・建物7棟を所有。土地の簿価93.1百万円に対し、固定資産税評価額ベースの時価推計は約68百万円。</a:t>
            </a:r>
          </a:p>
        </p:txBody>
      </p:sp>
      <p:graphicFrame>
        <p:nvGraphicFramePr>
          <p:cNvPr id="14" name="表（不動産詳細!B4:I17）"/>
          <p:cNvGraphicFramePr>
            <a:graphicFrameLocks noGrp="1"/>
          </p:cNvGraphicFramePr>
          <p:nvPr/>
        </p:nvGraphicFramePr>
        <p:xfrm>
          <a:off x="310896" y="1847088"/>
          <a:ext cx="10058395" cy="3162300"/>
        </p:xfrm>
        <a:graphic>
          <a:graphicData uri="http://schemas.openxmlformats.org/drawingml/2006/table">
            <a:tbl>
              <a:tblPr firstRow="0" bandRow="0">
                <a:tableStyleId>{2D5ABB26-0587-4C30-8999-92F81FD0307C}</a:tableStyleId>
              </a:tblPr>
              <a:tblGrid>
                <a:gridCol w="1221909"/>
                <a:gridCol w="2209073"/>
                <a:gridCol w="846238"/>
                <a:gridCol w="2209073"/>
                <a:gridCol w="987457"/>
                <a:gridCol w="892854"/>
                <a:gridCol w="892854"/>
                <a:gridCol w="798937"/>
              </a:tblGrid>
              <a:tr h="190500">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900" b="0" i="0" dirty="0">
                          <a:solidFill>
                            <a:srgbClr val="000000"/>
                          </a:solidFill>
                          <a:latin typeface="游ゴシック"/>
                          <a:ea typeface="游ゴシック"/>
                        </a:rPr>
                        <a:t>(単位：千円)</a:t>
                      </a:r>
                      <a:endParaRPr lang="ja-JP" altLang="en-US" sz="90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r>
              <a:tr h="381000">
                <a:tc>
                  <a:txBody>
                    <a:bodyPr/>
                    <a:lstStyle/>
                    <a:p>
                      <a:pPr algn="ctr" fontAlgn="ctr"/>
                      <a:r>
                        <a:rPr lang="ja-JP" altLang="en-US" sz="900" b="0" i="0" dirty="0">
                          <a:solidFill>
                            <a:srgbClr val="FFFFFF"/>
                          </a:solidFill>
                          <a:latin typeface="游ゴシック"/>
                          <a:ea typeface="游ゴシック"/>
                        </a:rPr>
                        <a:t>区分</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900" b="0" i="0" dirty="0">
                          <a:solidFill>
                            <a:srgbClr val="FFFFFF"/>
                          </a:solidFill>
                          <a:latin typeface="游ゴシック"/>
                          <a:ea typeface="游ゴシック"/>
                        </a:rPr>
                        <a:t>所在地</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900" b="0" i="0" dirty="0">
                          <a:solidFill>
                            <a:srgbClr val="FFFFFF"/>
                          </a:solidFill>
                          <a:latin typeface="游ゴシック"/>
                          <a:ea typeface="游ゴシック"/>
                        </a:rPr>
                        <a:t>面積</a:t>
                      </a:r>
                      <a:endParaRPr lang="ja-JP" altLang="en-US" sz="900" b="0" i="0" dirty="0">
                        <a:solidFill>
                          <a:srgbClr val="FFFFFF"/>
                        </a:solidFill>
                        <a:latin typeface="游ゴシック"/>
                        <a:ea typeface="游ゴシック"/>
                      </a:endParaRPr>
                    </a:p>
                    <a:p>
                      <a:pPr algn="ctr" fontAlgn="ctr"/>
                      <a:r>
                        <a:rPr lang="ja-JP" altLang="en-US" sz="900" b="0" i="0" dirty="0">
                          <a:solidFill>
                            <a:srgbClr val="FFFFFF"/>
                          </a:solidFill>
                          <a:latin typeface="游ゴシック"/>
                          <a:ea typeface="游ゴシック"/>
                        </a:rPr>
                        <a:t>(㎡)</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900" b="0" i="0" dirty="0">
                          <a:solidFill>
                            <a:srgbClr val="FFFFFF"/>
                          </a:solidFill>
                          <a:latin typeface="游ゴシック"/>
                          <a:ea typeface="游ゴシック"/>
                        </a:rPr>
                        <a:t>地目・構造</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900" b="0" i="0" dirty="0">
                          <a:solidFill>
                            <a:srgbClr val="FFFFFF"/>
                          </a:solidFill>
                          <a:latin typeface="游ゴシック"/>
                          <a:ea typeface="游ゴシック"/>
                        </a:rPr>
                        <a:t>建築年</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900" b="0" i="0" dirty="0">
                          <a:solidFill>
                            <a:srgbClr val="FFFFFF"/>
                          </a:solidFill>
                          <a:latin typeface="游ゴシック"/>
                          <a:ea typeface="游ゴシック"/>
                        </a:rPr>
                        <a:t>期末簿価</a:t>
                      </a:r>
                      <a:endParaRPr lang="ja-JP" altLang="en-US" sz="900" b="0" i="0" dirty="0">
                        <a:solidFill>
                          <a:srgbClr val="FFFFFF"/>
                        </a:solidFill>
                        <a:latin typeface="游ゴシック"/>
                        <a:ea typeface="游ゴシック"/>
                      </a:endParaRPr>
                    </a:p>
                    <a:p>
                      <a:pPr algn="ctr" fontAlgn="ctr"/>
                      <a:r>
                        <a:rPr lang="ja-JP" altLang="en-US" sz="900" b="0" i="0" dirty="0">
                          <a:solidFill>
                            <a:srgbClr val="FFFFFF"/>
                          </a:solidFill>
                          <a:latin typeface="游ゴシック"/>
                          <a:ea typeface="游ゴシック"/>
                        </a:rPr>
                        <a:t>(千円)</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900" b="0" i="0" dirty="0">
                          <a:solidFill>
                            <a:srgbClr val="FFFFFF"/>
                          </a:solidFill>
                          <a:latin typeface="游ゴシック"/>
                          <a:ea typeface="游ゴシック"/>
                        </a:rPr>
                        <a:t>固定資産税</a:t>
                      </a:r>
                      <a:endParaRPr lang="ja-JP" altLang="en-US" sz="900" b="0" i="0" dirty="0">
                        <a:solidFill>
                          <a:srgbClr val="FFFFFF"/>
                        </a:solidFill>
                        <a:latin typeface="游ゴシック"/>
                        <a:ea typeface="游ゴシック"/>
                      </a:endParaRPr>
                    </a:p>
                    <a:p>
                      <a:pPr algn="ctr" fontAlgn="ctr"/>
                      <a:r>
                        <a:rPr lang="ja-JP" altLang="en-US" sz="900" b="0" i="0" dirty="0">
                          <a:solidFill>
                            <a:srgbClr val="FFFFFF"/>
                          </a:solidFill>
                          <a:latin typeface="游ゴシック"/>
                          <a:ea typeface="游ゴシック"/>
                        </a:rPr>
                        <a:t>評価額(千円)</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900" b="0" i="0" dirty="0">
                          <a:solidFill>
                            <a:srgbClr val="FFFFFF"/>
                          </a:solidFill>
                          <a:latin typeface="游ゴシック"/>
                          <a:ea typeface="游ゴシック"/>
                        </a:rPr>
                        <a:t>時価</a:t>
                      </a:r>
                      <a:endParaRPr lang="ja-JP" altLang="en-US" sz="900" b="0" i="0" dirty="0">
                        <a:solidFill>
                          <a:srgbClr val="FFFFFF"/>
                        </a:solidFill>
                        <a:latin typeface="游ゴシック"/>
                        <a:ea typeface="游ゴシック"/>
                      </a:endParaRPr>
                    </a:p>
                    <a:p>
                      <a:pPr algn="ctr" fontAlgn="ctr"/>
                      <a:r>
                        <a:rPr lang="ja-JP" altLang="en-US" sz="900" b="0" i="0" dirty="0">
                          <a:solidFill>
                            <a:srgbClr val="FFFFFF"/>
                          </a:solidFill>
                          <a:latin typeface="游ゴシック"/>
                          <a:ea typeface="游ゴシック"/>
                        </a:rPr>
                        <a:t>(千円)</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r>
              <a:tr h="215900">
                <a:tc>
                  <a:txBody>
                    <a:bodyPr/>
                    <a:lstStyle/>
                    <a:p>
                      <a:pPr algn="l" fontAlgn="ctr"/>
                      <a:r>
                        <a:rPr lang="ja-JP" altLang="en-US" sz="950" b="0" i="0" dirty="0">
                          <a:solidFill>
                            <a:srgbClr val="000000"/>
                          </a:solidFill>
                          <a:latin typeface="游ゴシック"/>
                          <a:ea typeface="游ゴシック"/>
                        </a:rPr>
                        <a:t>土地</a:t>
                      </a:r>
                      <a:endParaRPr lang="ja-JP" altLang="en-US" sz="9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950" b="0" i="0" dirty="0">
                          <a:solidFill>
                            <a:srgbClr val="000000"/>
                          </a:solidFill>
                          <a:latin typeface="游ゴシック"/>
                          <a:ea typeface="游ゴシック"/>
                        </a:rPr>
                        <a:t>鶴岡市宝田一丁目4-2</a:t>
                      </a:r>
                      <a:endParaRPr lang="ja-JP" altLang="en-US" sz="9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50" b="0" i="0" dirty="0">
                          <a:solidFill>
                            <a:srgbClr val="000000"/>
                          </a:solidFill>
                          <a:latin typeface="Arial"/>
                          <a:ea typeface="游ゴシック Medium"/>
                        </a:rPr>
                        <a:t>3,100.22</a:t>
                      </a:r>
                      <a:endParaRPr lang="ja-JP" altLang="en-US" sz="9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50" b="0" i="0" dirty="0">
                          <a:solidFill>
                            <a:srgbClr val="000000"/>
                          </a:solidFill>
                          <a:latin typeface="游ゴシック"/>
                          <a:ea typeface="游ゴシック"/>
                        </a:rPr>
                        <a:t>宅地（市場・事務所・倉庫）</a:t>
                      </a:r>
                      <a:endParaRPr lang="ja-JP" altLang="en-US" sz="9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950" b="0" i="0" dirty="0">
                          <a:solidFill>
                            <a:srgbClr val="000000"/>
                          </a:solidFill>
                          <a:latin typeface="游ゴシック"/>
                          <a:ea typeface="游ゴシック"/>
                        </a:rPr>
                        <a:t>－</a:t>
                      </a:r>
                      <a:endParaRPr lang="ja-JP" altLang="en-US" sz="9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50" b="0" i="0" dirty="0">
                          <a:solidFill>
                            <a:srgbClr val="000000"/>
                          </a:solidFill>
                          <a:latin typeface="Arial"/>
                          <a:ea typeface="游ゴシック Medium"/>
                        </a:rPr>
                        <a:t>70,757</a:t>
                      </a:r>
                      <a:endParaRPr lang="ja-JP" altLang="en-US" sz="9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50" b="0" i="0" dirty="0">
                          <a:solidFill>
                            <a:srgbClr val="000000"/>
                          </a:solidFill>
                          <a:latin typeface="Arial"/>
                          <a:ea typeface="游ゴシック Medium"/>
                        </a:rPr>
                        <a:t>35,861</a:t>
                      </a:r>
                      <a:endParaRPr lang="ja-JP" altLang="en-US" sz="9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50" b="0" i="0" dirty="0">
                          <a:solidFill>
                            <a:srgbClr val="000000"/>
                          </a:solidFill>
                          <a:latin typeface="Arial"/>
                          <a:ea typeface="游ゴシック Medium"/>
                        </a:rPr>
                        <a:t>51,230</a:t>
                      </a:r>
                      <a:endParaRPr lang="ja-JP" altLang="en-US" sz="9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15900">
                <a:tc>
                  <a:txBody>
                    <a:bodyPr/>
                    <a:lstStyle/>
                    <a:p>
                      <a:pPr algn="l" fontAlgn="ctr"/>
                      <a:r>
                        <a:rPr lang="ja-JP" altLang="en-US" sz="950" b="0" i="0" dirty="0">
                          <a:solidFill>
                            <a:srgbClr val="000000"/>
                          </a:solidFill>
                          <a:latin typeface="游ゴシック"/>
                          <a:ea typeface="游ゴシック"/>
                        </a:rPr>
                        <a:t>土地</a:t>
                      </a:r>
                      <a:endParaRPr lang="ja-JP" altLang="en-US" sz="9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950" b="0" i="0" dirty="0">
                          <a:solidFill>
                            <a:srgbClr val="000000"/>
                          </a:solidFill>
                          <a:latin typeface="游ゴシック"/>
                          <a:ea typeface="游ゴシック"/>
                        </a:rPr>
                        <a:t>鶴岡市宝田一丁目5-1</a:t>
                      </a:r>
                      <a:endParaRPr lang="ja-JP" altLang="en-US" sz="9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50" b="0" i="0" dirty="0">
                          <a:solidFill>
                            <a:srgbClr val="000000"/>
                          </a:solidFill>
                          <a:latin typeface="Arial"/>
                          <a:ea typeface="游ゴシック Medium"/>
                        </a:rPr>
                        <a:t>900.50</a:t>
                      </a:r>
                      <a:endParaRPr lang="ja-JP" altLang="en-US" sz="9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50" b="0" i="0" dirty="0">
                          <a:solidFill>
                            <a:srgbClr val="000000"/>
                          </a:solidFill>
                          <a:latin typeface="游ゴシック"/>
                          <a:ea typeface="游ゴシック"/>
                        </a:rPr>
                        <a:t>宅地（パッケージ場・倉庫）</a:t>
                      </a:r>
                      <a:endParaRPr lang="ja-JP" altLang="en-US" sz="9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950" b="0" i="0" dirty="0">
                          <a:solidFill>
                            <a:srgbClr val="000000"/>
                          </a:solidFill>
                          <a:latin typeface="游ゴシック"/>
                          <a:ea typeface="游ゴシック"/>
                        </a:rPr>
                        <a:t>－</a:t>
                      </a:r>
                      <a:endParaRPr lang="ja-JP" altLang="en-US" sz="9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50" b="0" i="0" dirty="0">
                          <a:solidFill>
                            <a:srgbClr val="000000"/>
                          </a:solidFill>
                          <a:latin typeface="Arial"/>
                          <a:ea typeface="游ゴシック Medium"/>
                        </a:rPr>
                        <a:t>21,380</a:t>
                      </a:r>
                      <a:endParaRPr lang="ja-JP" altLang="en-US" sz="9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50" b="0" i="0" dirty="0">
                          <a:solidFill>
                            <a:srgbClr val="000000"/>
                          </a:solidFill>
                          <a:latin typeface="Arial"/>
                          <a:ea typeface="游ゴシック Medium"/>
                        </a:rPr>
                        <a:t>10,560</a:t>
                      </a:r>
                      <a:endParaRPr lang="ja-JP" altLang="en-US" sz="9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50" b="0" i="0" dirty="0">
                          <a:solidFill>
                            <a:srgbClr val="000000"/>
                          </a:solidFill>
                          <a:latin typeface="Arial"/>
                          <a:ea typeface="游ゴシック Medium"/>
                        </a:rPr>
                        <a:t>15,086</a:t>
                      </a:r>
                      <a:endParaRPr lang="ja-JP" altLang="en-US" sz="9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15900">
                <a:tc>
                  <a:txBody>
                    <a:bodyPr/>
                    <a:lstStyle/>
                    <a:p>
                      <a:pPr algn="l" fontAlgn="ctr"/>
                      <a:r>
                        <a:rPr lang="ja-JP" altLang="en-US" sz="950" b="0" i="0" dirty="0">
                          <a:solidFill>
                            <a:srgbClr val="000000"/>
                          </a:solidFill>
                          <a:latin typeface="游ゴシック"/>
                          <a:ea typeface="游ゴシック"/>
                        </a:rPr>
                        <a:t>土地</a:t>
                      </a:r>
                      <a:endParaRPr lang="ja-JP" altLang="en-US" sz="9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950" b="0" i="0" dirty="0">
                          <a:solidFill>
                            <a:srgbClr val="000000"/>
                          </a:solidFill>
                          <a:latin typeface="游ゴシック"/>
                          <a:ea typeface="游ゴシック"/>
                        </a:rPr>
                        <a:t>東田川郡庄内町長沼字宮前304-7</a:t>
                      </a:r>
                      <a:endParaRPr lang="ja-JP" altLang="en-US" sz="9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50" b="0" i="0" dirty="0">
                          <a:solidFill>
                            <a:srgbClr val="000000"/>
                          </a:solidFill>
                          <a:latin typeface="Arial"/>
                          <a:ea typeface="游ゴシック Medium"/>
                        </a:rPr>
                        <a:t>261.81</a:t>
                      </a:r>
                      <a:endParaRPr lang="ja-JP" altLang="en-US" sz="9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50" b="0" i="0" dirty="0">
                          <a:solidFill>
                            <a:srgbClr val="000000"/>
                          </a:solidFill>
                          <a:latin typeface="游ゴシック"/>
                          <a:ea typeface="游ゴシック"/>
                        </a:rPr>
                        <a:t>宅地（駐車場・旧倉庫敷地）</a:t>
                      </a:r>
                      <a:endParaRPr lang="ja-JP" altLang="en-US" sz="9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950" b="0" i="0" dirty="0">
                          <a:solidFill>
                            <a:srgbClr val="000000"/>
                          </a:solidFill>
                          <a:latin typeface="游ゴシック"/>
                          <a:ea typeface="游ゴシック"/>
                        </a:rPr>
                        <a:t>－</a:t>
                      </a:r>
                      <a:endParaRPr lang="ja-JP" altLang="en-US" sz="9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50" b="0" i="0" dirty="0">
                          <a:solidFill>
                            <a:srgbClr val="000000"/>
                          </a:solidFill>
                          <a:latin typeface="Arial"/>
                          <a:ea typeface="游ゴシック Medium"/>
                        </a:rPr>
                        <a:t>1,000</a:t>
                      </a:r>
                      <a:endParaRPr lang="ja-JP" altLang="en-US" sz="9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50" b="0" i="0" dirty="0">
                          <a:solidFill>
                            <a:srgbClr val="000000"/>
                          </a:solidFill>
                          <a:latin typeface="Arial"/>
                          <a:ea typeface="游ゴシック Medium"/>
                        </a:rPr>
                        <a:t>1,056</a:t>
                      </a:r>
                      <a:endParaRPr lang="ja-JP" altLang="en-US" sz="9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50" b="0" i="0" dirty="0">
                          <a:solidFill>
                            <a:srgbClr val="000000"/>
                          </a:solidFill>
                          <a:latin typeface="Arial"/>
                          <a:ea typeface="游ゴシック Medium"/>
                        </a:rPr>
                        <a:t>1,509</a:t>
                      </a:r>
                      <a:endParaRPr lang="ja-JP" altLang="en-US" sz="9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15900">
                <a:tc>
                  <a:txBody>
                    <a:bodyPr/>
                    <a:lstStyle/>
                    <a:p>
                      <a:pPr algn="l" fontAlgn="ctr"/>
                      <a:r>
                        <a:rPr lang="ja-JP" altLang="en-US" sz="950" b="1" i="0" dirty="0">
                          <a:solidFill>
                            <a:srgbClr val="000000"/>
                          </a:solidFill>
                          <a:latin typeface="游ゴシック"/>
                          <a:ea typeface="游ゴシック"/>
                        </a:rPr>
                        <a:t>土地 計</a:t>
                      </a:r>
                      <a:endParaRPr lang="ja-JP" altLang="en-US" sz="95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l" fontAlgn="ctr"/>
                      <a:endParaRPr lang="ja-JP" altLang="en-US" sz="95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950" b="1" i="0" dirty="0">
                          <a:solidFill>
                            <a:srgbClr val="000000"/>
                          </a:solidFill>
                          <a:latin typeface="Arial"/>
                          <a:ea typeface="游ゴシック Medium"/>
                        </a:rPr>
                        <a:t>4,262.53</a:t>
                      </a:r>
                      <a:endParaRPr lang="ja-JP" altLang="en-US" sz="95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l" fontAlgn="ctr"/>
                      <a:endParaRPr lang="ja-JP" altLang="en-US" sz="95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l" fontAlgn="ctr"/>
                      <a:endParaRPr lang="ja-JP" altLang="en-US" sz="95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950" b="1" i="0" dirty="0">
                          <a:solidFill>
                            <a:srgbClr val="000000"/>
                          </a:solidFill>
                          <a:latin typeface="Arial"/>
                          <a:ea typeface="游ゴシック Medium"/>
                        </a:rPr>
                        <a:t>93,137</a:t>
                      </a:r>
                      <a:endParaRPr lang="ja-JP" altLang="en-US" sz="95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950" b="1" i="0" dirty="0">
                          <a:solidFill>
                            <a:srgbClr val="000000"/>
                          </a:solidFill>
                          <a:latin typeface="Arial"/>
                          <a:ea typeface="游ゴシック Medium"/>
                        </a:rPr>
                        <a:t>47,478</a:t>
                      </a:r>
                      <a:endParaRPr lang="ja-JP" altLang="en-US" sz="95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950" b="1" i="0" dirty="0">
                          <a:solidFill>
                            <a:srgbClr val="000000"/>
                          </a:solidFill>
                          <a:latin typeface="Arial"/>
                          <a:ea typeface="游ゴシック Medium"/>
                        </a:rPr>
                        <a:t>67,825</a:t>
                      </a:r>
                      <a:endParaRPr lang="ja-JP" altLang="en-US" sz="95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r>
              <a:tr h="215900">
                <a:tc>
                  <a:txBody>
                    <a:bodyPr/>
                    <a:lstStyle/>
                    <a:p>
                      <a:pPr algn="l" fontAlgn="ctr"/>
                      <a:r>
                        <a:rPr lang="ja-JP" altLang="en-US" sz="950" b="0" i="0" dirty="0">
                          <a:solidFill>
                            <a:srgbClr val="000000"/>
                          </a:solidFill>
                          <a:latin typeface="游ゴシック"/>
                          <a:ea typeface="游ゴシック"/>
                        </a:rPr>
                        <a:t>事務所</a:t>
                      </a:r>
                      <a:endParaRPr lang="ja-JP" altLang="en-US" sz="9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950" b="0" i="0" dirty="0">
                          <a:solidFill>
                            <a:srgbClr val="000000"/>
                          </a:solidFill>
                          <a:latin typeface="游ゴシック"/>
                          <a:ea typeface="游ゴシック"/>
                        </a:rPr>
                        <a:t>鶴岡市宝田一丁目4-2</a:t>
                      </a:r>
                      <a:endParaRPr lang="ja-JP" altLang="en-US" sz="9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50" b="0" i="0" dirty="0">
                          <a:solidFill>
                            <a:srgbClr val="000000"/>
                          </a:solidFill>
                          <a:latin typeface="Arial"/>
                          <a:ea typeface="游ゴシック Medium"/>
                        </a:rPr>
                        <a:t>365.63</a:t>
                      </a:r>
                      <a:endParaRPr lang="ja-JP" altLang="en-US" sz="9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50" b="0" i="0" dirty="0">
                          <a:solidFill>
                            <a:srgbClr val="000000"/>
                          </a:solidFill>
                          <a:latin typeface="游ゴシック"/>
                          <a:ea typeface="游ゴシック"/>
                        </a:rPr>
                        <a:t>鉄骨造 亜鉛メッキ鋼板葺 2階</a:t>
                      </a:r>
                      <a:endParaRPr lang="ja-JP" altLang="en-US" sz="9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950" b="0" i="0" dirty="0">
                          <a:solidFill>
                            <a:srgbClr val="000000"/>
                          </a:solidFill>
                          <a:latin typeface="游ゴシック"/>
                          <a:ea typeface="游ゴシック"/>
                        </a:rPr>
                        <a:t>1981年</a:t>
                      </a:r>
                      <a:endParaRPr lang="ja-JP" altLang="en-US" sz="9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50" b="0" i="0" dirty="0">
                          <a:solidFill>
                            <a:srgbClr val="000000"/>
                          </a:solidFill>
                          <a:latin typeface="Arial"/>
                          <a:ea typeface="游ゴシック Medium"/>
                        </a:rPr>
                        <a:t>－</a:t>
                      </a:r>
                      <a:endParaRPr lang="ja-JP" altLang="en-US" sz="9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50" b="0" i="0" dirty="0">
                          <a:solidFill>
                            <a:srgbClr val="000000"/>
                          </a:solidFill>
                          <a:latin typeface="Arial"/>
                          <a:ea typeface="游ゴシック Medium"/>
                        </a:rPr>
                        <a:t>11,218</a:t>
                      </a:r>
                      <a:endParaRPr lang="ja-JP" altLang="en-US" sz="9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50" b="0" i="0" dirty="0">
                          <a:solidFill>
                            <a:srgbClr val="000000"/>
                          </a:solidFill>
                          <a:latin typeface="Arial"/>
                          <a:ea typeface="游ゴシック Medium"/>
                        </a:rPr>
                        <a:t>－</a:t>
                      </a:r>
                      <a:endParaRPr lang="ja-JP" altLang="en-US" sz="9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15900">
                <a:tc>
                  <a:txBody>
                    <a:bodyPr/>
                    <a:lstStyle/>
                    <a:p>
                      <a:pPr algn="l" fontAlgn="ctr"/>
                      <a:r>
                        <a:rPr lang="ja-JP" altLang="en-US" sz="950" b="0" i="0" dirty="0">
                          <a:solidFill>
                            <a:srgbClr val="000000"/>
                          </a:solidFill>
                          <a:latin typeface="游ゴシック"/>
                          <a:ea typeface="游ゴシック"/>
                        </a:rPr>
                        <a:t>市場</a:t>
                      </a:r>
                      <a:endParaRPr lang="ja-JP" altLang="en-US" sz="9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950" b="0" i="0" dirty="0">
                          <a:solidFill>
                            <a:srgbClr val="000000"/>
                          </a:solidFill>
                          <a:latin typeface="游ゴシック"/>
                          <a:ea typeface="游ゴシック"/>
                        </a:rPr>
                        <a:t>鶴岡市宝田一丁目4-2</a:t>
                      </a:r>
                      <a:endParaRPr lang="ja-JP" altLang="en-US" sz="9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50" b="0" i="0" dirty="0">
                          <a:solidFill>
                            <a:srgbClr val="000000"/>
                          </a:solidFill>
                          <a:latin typeface="Arial"/>
                          <a:ea typeface="游ゴシック Medium"/>
                        </a:rPr>
                        <a:t>320.22</a:t>
                      </a:r>
                      <a:endParaRPr lang="ja-JP" altLang="en-US" sz="9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50" b="0" i="0" dirty="0">
                          <a:solidFill>
                            <a:srgbClr val="000000"/>
                          </a:solidFill>
                          <a:latin typeface="游ゴシック"/>
                          <a:ea typeface="游ゴシック"/>
                        </a:rPr>
                        <a:t>鉄骨造 亜鉛メッキ鋼板葺 1階</a:t>
                      </a:r>
                      <a:endParaRPr lang="ja-JP" altLang="en-US" sz="9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950" b="0" i="0" dirty="0">
                          <a:solidFill>
                            <a:srgbClr val="000000"/>
                          </a:solidFill>
                          <a:latin typeface="游ゴシック"/>
                          <a:ea typeface="游ゴシック"/>
                        </a:rPr>
                        <a:t>1981年</a:t>
                      </a:r>
                      <a:endParaRPr lang="ja-JP" altLang="en-US" sz="9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50" b="0" i="0" dirty="0">
                          <a:solidFill>
                            <a:srgbClr val="000000"/>
                          </a:solidFill>
                          <a:latin typeface="Arial"/>
                          <a:ea typeface="游ゴシック Medium"/>
                        </a:rPr>
                        <a:t>－</a:t>
                      </a:r>
                      <a:endParaRPr lang="ja-JP" altLang="en-US" sz="9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50" b="0" i="0" dirty="0">
                          <a:solidFill>
                            <a:srgbClr val="000000"/>
                          </a:solidFill>
                          <a:latin typeface="Arial"/>
                          <a:ea typeface="游ゴシック Medium"/>
                        </a:rPr>
                        <a:t>4,713</a:t>
                      </a:r>
                      <a:endParaRPr lang="ja-JP" altLang="en-US" sz="9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50" b="0" i="0" dirty="0">
                          <a:solidFill>
                            <a:srgbClr val="000000"/>
                          </a:solidFill>
                          <a:latin typeface="Arial"/>
                          <a:ea typeface="游ゴシック Medium"/>
                        </a:rPr>
                        <a:t>－</a:t>
                      </a:r>
                      <a:endParaRPr lang="ja-JP" altLang="en-US" sz="9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15900">
                <a:tc>
                  <a:txBody>
                    <a:bodyPr/>
                    <a:lstStyle/>
                    <a:p>
                      <a:pPr algn="l" fontAlgn="ctr"/>
                      <a:r>
                        <a:rPr lang="ja-JP" altLang="en-US" sz="950" b="0" i="0" dirty="0">
                          <a:solidFill>
                            <a:srgbClr val="000000"/>
                          </a:solidFill>
                          <a:latin typeface="游ゴシック"/>
                          <a:ea typeface="游ゴシック"/>
                        </a:rPr>
                        <a:t>倉庫</a:t>
                      </a:r>
                      <a:endParaRPr lang="ja-JP" altLang="en-US" sz="9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950" b="0" i="0" dirty="0">
                          <a:solidFill>
                            <a:srgbClr val="000000"/>
                          </a:solidFill>
                          <a:latin typeface="游ゴシック"/>
                          <a:ea typeface="游ゴシック"/>
                        </a:rPr>
                        <a:t>鶴岡市宝田一丁目4-2</a:t>
                      </a:r>
                      <a:endParaRPr lang="ja-JP" altLang="en-US" sz="9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50" b="0" i="0" dirty="0">
                          <a:solidFill>
                            <a:srgbClr val="000000"/>
                          </a:solidFill>
                          <a:latin typeface="Arial"/>
                          <a:ea typeface="游ゴシック Medium"/>
                        </a:rPr>
                        <a:t>327.13</a:t>
                      </a:r>
                      <a:endParaRPr lang="ja-JP" altLang="en-US" sz="9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50" b="0" i="0" dirty="0">
                          <a:solidFill>
                            <a:srgbClr val="000000"/>
                          </a:solidFill>
                          <a:latin typeface="游ゴシック"/>
                          <a:ea typeface="游ゴシック"/>
                        </a:rPr>
                        <a:t>鉄骨造 亜鉛メッキ鋼板葺 1階</a:t>
                      </a:r>
                      <a:endParaRPr lang="ja-JP" altLang="en-US" sz="9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950" b="0" i="0" dirty="0">
                          <a:solidFill>
                            <a:srgbClr val="000000"/>
                          </a:solidFill>
                          <a:latin typeface="游ゴシック"/>
                          <a:ea typeface="游ゴシック"/>
                        </a:rPr>
                        <a:t>1981年</a:t>
                      </a:r>
                      <a:endParaRPr lang="ja-JP" altLang="en-US" sz="9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50" b="0" i="0" dirty="0">
                          <a:solidFill>
                            <a:srgbClr val="000000"/>
                          </a:solidFill>
                          <a:latin typeface="Arial"/>
                          <a:ea typeface="游ゴシック Medium"/>
                        </a:rPr>
                        <a:t>－</a:t>
                      </a:r>
                      <a:endParaRPr lang="ja-JP" altLang="en-US" sz="9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50" b="0" i="0" dirty="0">
                          <a:solidFill>
                            <a:srgbClr val="000000"/>
                          </a:solidFill>
                          <a:latin typeface="Arial"/>
                          <a:ea typeface="游ゴシック Medium"/>
                        </a:rPr>
                        <a:t>4,561</a:t>
                      </a:r>
                      <a:endParaRPr lang="ja-JP" altLang="en-US" sz="9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50" b="0" i="0" dirty="0">
                          <a:solidFill>
                            <a:srgbClr val="000000"/>
                          </a:solidFill>
                          <a:latin typeface="Arial"/>
                          <a:ea typeface="游ゴシック Medium"/>
                        </a:rPr>
                        <a:t>－</a:t>
                      </a:r>
                      <a:endParaRPr lang="ja-JP" altLang="en-US" sz="9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15900">
                <a:tc>
                  <a:txBody>
                    <a:bodyPr/>
                    <a:lstStyle/>
                    <a:p>
                      <a:pPr algn="l" fontAlgn="ctr"/>
                      <a:r>
                        <a:rPr lang="ja-JP" altLang="en-US" sz="950" b="0" i="0" dirty="0">
                          <a:solidFill>
                            <a:srgbClr val="000000"/>
                          </a:solidFill>
                          <a:latin typeface="游ゴシック"/>
                          <a:ea typeface="游ゴシック"/>
                        </a:rPr>
                        <a:t>倉庫</a:t>
                      </a:r>
                      <a:endParaRPr lang="ja-JP" altLang="en-US" sz="9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950" b="0" i="0" dirty="0">
                          <a:solidFill>
                            <a:srgbClr val="000000"/>
                          </a:solidFill>
                          <a:latin typeface="游ゴシック"/>
                          <a:ea typeface="游ゴシック"/>
                        </a:rPr>
                        <a:t>鶴岡市宝田一丁目4-2</a:t>
                      </a:r>
                      <a:endParaRPr lang="ja-JP" altLang="en-US" sz="9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50" b="0" i="0" dirty="0">
                          <a:solidFill>
                            <a:srgbClr val="000000"/>
                          </a:solidFill>
                          <a:latin typeface="Arial"/>
                          <a:ea typeface="游ゴシック Medium"/>
                        </a:rPr>
                        <a:t>198.74</a:t>
                      </a:r>
                      <a:endParaRPr lang="ja-JP" altLang="en-US" sz="9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50" b="0" i="0" dirty="0">
                          <a:solidFill>
                            <a:srgbClr val="000000"/>
                          </a:solidFill>
                          <a:latin typeface="游ゴシック"/>
                          <a:ea typeface="游ゴシック"/>
                        </a:rPr>
                        <a:t>軽量鉄骨造 2階</a:t>
                      </a:r>
                      <a:endParaRPr lang="ja-JP" altLang="en-US" sz="9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950" b="0" i="0" dirty="0">
                          <a:solidFill>
                            <a:srgbClr val="000000"/>
                          </a:solidFill>
                          <a:latin typeface="游ゴシック"/>
                          <a:ea typeface="游ゴシック"/>
                        </a:rPr>
                        <a:t>1981年</a:t>
                      </a:r>
                      <a:endParaRPr lang="ja-JP" altLang="en-US" sz="9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50" b="0" i="0" dirty="0">
                          <a:solidFill>
                            <a:srgbClr val="000000"/>
                          </a:solidFill>
                          <a:latin typeface="Arial"/>
                          <a:ea typeface="游ゴシック Medium"/>
                        </a:rPr>
                        <a:t>－</a:t>
                      </a:r>
                      <a:endParaRPr lang="ja-JP" altLang="en-US" sz="9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50" b="0" i="0" dirty="0">
                          <a:solidFill>
                            <a:srgbClr val="000000"/>
                          </a:solidFill>
                          <a:latin typeface="Arial"/>
                          <a:ea typeface="游ゴシック Medium"/>
                        </a:rPr>
                        <a:t>1,237</a:t>
                      </a:r>
                      <a:endParaRPr lang="ja-JP" altLang="en-US" sz="9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50" b="0" i="0" dirty="0">
                          <a:solidFill>
                            <a:srgbClr val="000000"/>
                          </a:solidFill>
                          <a:latin typeface="Arial"/>
                          <a:ea typeface="游ゴシック Medium"/>
                        </a:rPr>
                        <a:t>－</a:t>
                      </a:r>
                      <a:endParaRPr lang="ja-JP" altLang="en-US" sz="9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15900">
                <a:tc>
                  <a:txBody>
                    <a:bodyPr/>
                    <a:lstStyle/>
                    <a:p>
                      <a:pPr algn="l" fontAlgn="ctr"/>
                      <a:r>
                        <a:rPr lang="ja-JP" altLang="en-US" sz="950" b="0" i="0" dirty="0">
                          <a:solidFill>
                            <a:srgbClr val="000000"/>
                          </a:solidFill>
                          <a:latin typeface="游ゴシック"/>
                          <a:ea typeface="游ゴシック"/>
                        </a:rPr>
                        <a:t>貯蔵庫</a:t>
                      </a:r>
                      <a:endParaRPr lang="ja-JP" altLang="en-US" sz="9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950" b="0" i="0" dirty="0">
                          <a:solidFill>
                            <a:srgbClr val="000000"/>
                          </a:solidFill>
                          <a:latin typeface="游ゴシック"/>
                          <a:ea typeface="游ゴシック"/>
                        </a:rPr>
                        <a:t>鶴岡市宝田一丁目4-2</a:t>
                      </a:r>
                      <a:endParaRPr lang="ja-JP" altLang="en-US" sz="9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50" b="0" i="0" dirty="0">
                          <a:solidFill>
                            <a:srgbClr val="000000"/>
                          </a:solidFill>
                          <a:latin typeface="Arial"/>
                          <a:ea typeface="游ゴシック Medium"/>
                        </a:rPr>
                        <a:t>34.48</a:t>
                      </a:r>
                      <a:endParaRPr lang="ja-JP" altLang="en-US" sz="9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50" b="0" i="0" dirty="0">
                          <a:solidFill>
                            <a:srgbClr val="000000"/>
                          </a:solidFill>
                          <a:latin typeface="游ゴシック"/>
                          <a:ea typeface="游ゴシック"/>
                        </a:rPr>
                        <a:t>軽量鉄骨造 1階</a:t>
                      </a:r>
                      <a:endParaRPr lang="ja-JP" altLang="en-US" sz="9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950" b="0" i="0" dirty="0">
                          <a:solidFill>
                            <a:srgbClr val="000000"/>
                          </a:solidFill>
                          <a:latin typeface="游ゴシック"/>
                          <a:ea typeface="游ゴシック"/>
                        </a:rPr>
                        <a:t>1981年</a:t>
                      </a:r>
                      <a:endParaRPr lang="ja-JP" altLang="en-US" sz="9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50" b="0" i="0" dirty="0">
                          <a:solidFill>
                            <a:srgbClr val="000000"/>
                          </a:solidFill>
                          <a:latin typeface="Arial"/>
                          <a:ea typeface="游ゴシック Medium"/>
                        </a:rPr>
                        <a:t>－</a:t>
                      </a:r>
                      <a:endParaRPr lang="ja-JP" altLang="en-US" sz="9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50" b="0" i="0" dirty="0">
                          <a:solidFill>
                            <a:srgbClr val="000000"/>
                          </a:solidFill>
                          <a:latin typeface="Arial"/>
                          <a:ea typeface="游ゴシック Medium"/>
                        </a:rPr>
                        <a:t>567</a:t>
                      </a:r>
                      <a:endParaRPr lang="ja-JP" altLang="en-US" sz="9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50" b="0" i="0" dirty="0">
                          <a:solidFill>
                            <a:srgbClr val="000000"/>
                          </a:solidFill>
                          <a:latin typeface="Arial"/>
                          <a:ea typeface="游ゴシック Medium"/>
                        </a:rPr>
                        <a:t>－</a:t>
                      </a:r>
                      <a:endParaRPr lang="ja-JP" altLang="en-US" sz="9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15900">
                <a:tc>
                  <a:txBody>
                    <a:bodyPr/>
                    <a:lstStyle/>
                    <a:p>
                      <a:pPr algn="l" fontAlgn="ctr"/>
                      <a:r>
                        <a:rPr lang="ja-JP" altLang="en-US" sz="950" b="0" i="0" dirty="0">
                          <a:solidFill>
                            <a:srgbClr val="000000"/>
                          </a:solidFill>
                          <a:latin typeface="游ゴシック"/>
                          <a:ea typeface="游ゴシック"/>
                        </a:rPr>
                        <a:t>事務所兼倉庫</a:t>
                      </a:r>
                      <a:endParaRPr lang="ja-JP" altLang="en-US" sz="9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950" b="0" i="0" dirty="0">
                          <a:solidFill>
                            <a:srgbClr val="000000"/>
                          </a:solidFill>
                          <a:latin typeface="游ゴシック"/>
                          <a:ea typeface="游ゴシック"/>
                        </a:rPr>
                        <a:t>鶴岡市宝田一丁目5-1</a:t>
                      </a:r>
                      <a:endParaRPr lang="ja-JP" altLang="en-US" sz="9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50" b="0" i="0" dirty="0">
                          <a:solidFill>
                            <a:srgbClr val="000000"/>
                          </a:solidFill>
                          <a:latin typeface="Arial"/>
                          <a:ea typeface="游ゴシック Medium"/>
                        </a:rPr>
                        <a:t>627.40</a:t>
                      </a:r>
                      <a:endParaRPr lang="ja-JP" altLang="en-US" sz="9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50" b="0" i="0" dirty="0">
                          <a:solidFill>
                            <a:srgbClr val="000000"/>
                          </a:solidFill>
                          <a:latin typeface="游ゴシック"/>
                          <a:ea typeface="游ゴシック"/>
                        </a:rPr>
                        <a:t>鉄骨造 亜鉛メッキ鋼板葺 2階</a:t>
                      </a:r>
                      <a:endParaRPr lang="ja-JP" altLang="en-US" sz="9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950" b="0" i="0" dirty="0">
                          <a:solidFill>
                            <a:srgbClr val="000000"/>
                          </a:solidFill>
                          <a:latin typeface="游ゴシック"/>
                          <a:ea typeface="游ゴシック"/>
                        </a:rPr>
                        <a:t>1982年</a:t>
                      </a:r>
                      <a:endParaRPr lang="ja-JP" altLang="en-US" sz="9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50" b="0" i="0" dirty="0">
                          <a:solidFill>
                            <a:srgbClr val="000000"/>
                          </a:solidFill>
                          <a:latin typeface="Arial"/>
                          <a:ea typeface="游ゴシック Medium"/>
                        </a:rPr>
                        <a:t>－</a:t>
                      </a:r>
                      <a:endParaRPr lang="ja-JP" altLang="en-US" sz="9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50" b="0" i="0" dirty="0">
                          <a:solidFill>
                            <a:srgbClr val="000000"/>
                          </a:solidFill>
                          <a:latin typeface="Arial"/>
                          <a:ea typeface="游ゴシック Medium"/>
                        </a:rPr>
                        <a:t>13,111</a:t>
                      </a:r>
                      <a:endParaRPr lang="ja-JP" altLang="en-US" sz="9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50" b="0" i="0" dirty="0">
                          <a:solidFill>
                            <a:srgbClr val="000000"/>
                          </a:solidFill>
                          <a:latin typeface="Arial"/>
                          <a:ea typeface="游ゴシック Medium"/>
                        </a:rPr>
                        <a:t>－</a:t>
                      </a:r>
                      <a:endParaRPr lang="ja-JP" altLang="en-US" sz="9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15900">
                <a:tc>
                  <a:txBody>
                    <a:bodyPr/>
                    <a:lstStyle/>
                    <a:p>
                      <a:pPr algn="l" fontAlgn="ctr"/>
                      <a:r>
                        <a:rPr lang="ja-JP" altLang="en-US" sz="950" b="0" i="0" dirty="0">
                          <a:solidFill>
                            <a:srgbClr val="000000"/>
                          </a:solidFill>
                          <a:latin typeface="游ゴシック"/>
                          <a:ea typeface="游ゴシック"/>
                        </a:rPr>
                        <a:t>倉庫</a:t>
                      </a:r>
                      <a:endParaRPr lang="ja-JP" altLang="en-US" sz="9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950" b="0" i="0" dirty="0">
                          <a:solidFill>
                            <a:srgbClr val="000000"/>
                          </a:solidFill>
                          <a:latin typeface="游ゴシック"/>
                          <a:ea typeface="游ゴシック"/>
                        </a:rPr>
                        <a:t>鶴岡市宝田一丁目5-1</a:t>
                      </a:r>
                      <a:endParaRPr lang="ja-JP" altLang="en-US" sz="9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50" b="0" i="0" dirty="0">
                          <a:solidFill>
                            <a:srgbClr val="000000"/>
                          </a:solidFill>
                          <a:latin typeface="Arial"/>
                          <a:ea typeface="游ゴシック Medium"/>
                        </a:rPr>
                        <a:t>139.08</a:t>
                      </a:r>
                      <a:endParaRPr lang="ja-JP" altLang="en-US" sz="9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50" b="0" i="0" dirty="0">
                          <a:solidFill>
                            <a:srgbClr val="000000"/>
                          </a:solidFill>
                          <a:latin typeface="游ゴシック"/>
                          <a:ea typeface="游ゴシック"/>
                        </a:rPr>
                        <a:t>鉄骨造 亜鉛メッキ鋼板葺 1階</a:t>
                      </a:r>
                      <a:endParaRPr lang="ja-JP" altLang="en-US" sz="9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950" b="0" i="0" dirty="0">
                          <a:solidFill>
                            <a:srgbClr val="000000"/>
                          </a:solidFill>
                          <a:latin typeface="游ゴシック"/>
                          <a:ea typeface="游ゴシック"/>
                        </a:rPr>
                        <a:t>2012年</a:t>
                      </a:r>
                      <a:endParaRPr lang="ja-JP" altLang="en-US" sz="9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50" b="0" i="0" dirty="0">
                          <a:solidFill>
                            <a:srgbClr val="000000"/>
                          </a:solidFill>
                          <a:latin typeface="Arial"/>
                          <a:ea typeface="游ゴシック Medium"/>
                        </a:rPr>
                        <a:t>－</a:t>
                      </a:r>
                      <a:endParaRPr lang="ja-JP" altLang="en-US" sz="9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50" b="0" i="0" dirty="0">
                          <a:solidFill>
                            <a:srgbClr val="000000"/>
                          </a:solidFill>
                          <a:latin typeface="Arial"/>
                          <a:ea typeface="游ゴシック Medium"/>
                        </a:rPr>
                        <a:t>11,656</a:t>
                      </a:r>
                      <a:endParaRPr lang="ja-JP" altLang="en-US" sz="9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50" b="0" i="0" dirty="0">
                          <a:solidFill>
                            <a:srgbClr val="000000"/>
                          </a:solidFill>
                          <a:latin typeface="Arial"/>
                          <a:ea typeface="游ゴシック Medium"/>
                        </a:rPr>
                        <a:t>－</a:t>
                      </a:r>
                      <a:endParaRPr lang="ja-JP" altLang="en-US" sz="9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15900">
                <a:tc>
                  <a:txBody>
                    <a:bodyPr/>
                    <a:lstStyle/>
                    <a:p>
                      <a:pPr algn="l" fontAlgn="ctr"/>
                      <a:r>
                        <a:rPr lang="ja-JP" altLang="en-US" sz="950" b="1" i="0" dirty="0">
                          <a:solidFill>
                            <a:srgbClr val="000000"/>
                          </a:solidFill>
                          <a:latin typeface="游ゴシック"/>
                          <a:ea typeface="游ゴシック"/>
                        </a:rPr>
                        <a:t>建物 計</a:t>
                      </a:r>
                      <a:endParaRPr lang="ja-JP" altLang="en-US" sz="95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l" fontAlgn="ctr"/>
                      <a:endParaRPr lang="ja-JP" altLang="en-US" sz="95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950" b="1" i="0" dirty="0">
                          <a:solidFill>
                            <a:srgbClr val="000000"/>
                          </a:solidFill>
                          <a:latin typeface="Arial"/>
                          <a:ea typeface="游ゴシック Medium"/>
                        </a:rPr>
                        <a:t>2,012.68</a:t>
                      </a:r>
                      <a:endParaRPr lang="ja-JP" altLang="en-US" sz="95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l" fontAlgn="ctr"/>
                      <a:endParaRPr lang="ja-JP" altLang="en-US" sz="95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l" fontAlgn="ctr"/>
                      <a:endParaRPr lang="ja-JP" altLang="en-US" sz="95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950" b="1" i="0" dirty="0">
                          <a:solidFill>
                            <a:srgbClr val="000000"/>
                          </a:solidFill>
                          <a:latin typeface="Arial"/>
                          <a:ea typeface="游ゴシック Medium"/>
                        </a:rPr>
                        <a:t>92,066</a:t>
                      </a:r>
                      <a:endParaRPr lang="ja-JP" altLang="en-US" sz="95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950" b="1" i="0" dirty="0">
                          <a:solidFill>
                            <a:srgbClr val="000000"/>
                          </a:solidFill>
                          <a:latin typeface="Arial"/>
                          <a:ea typeface="游ゴシック Medium"/>
                        </a:rPr>
                        <a:t>47,062</a:t>
                      </a:r>
                      <a:endParaRPr lang="ja-JP" altLang="en-US" sz="95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950" b="1" i="0" dirty="0">
                          <a:solidFill>
                            <a:srgbClr val="000000"/>
                          </a:solidFill>
                          <a:latin typeface="Arial"/>
                          <a:ea typeface="游ゴシック Medium"/>
                        </a:rPr>
                        <a:t>－</a:t>
                      </a:r>
                      <a:endParaRPr lang="ja-JP" altLang="en-US" sz="95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r>
            </a:tbl>
          </a:graphicData>
        </a:graphic>
      </p:graphicFrame>
      <p:sp>
        <p:nvSpPr>
          <p:cNvPr id="15" name="TextBox 14"/>
          <p:cNvSpPr txBox="1"/>
          <p:nvPr/>
        </p:nvSpPr>
        <p:spPr>
          <a:xfrm>
            <a:off x="1965960" y="5192268"/>
            <a:ext cx="8229600" cy="356616"/>
          </a:xfrm>
          <a:prstGeom prst="rect">
            <a:avLst/>
          </a:prstGeom>
          <a:noFill/>
        </p:spPr>
        <p:txBody>
          <a:bodyPr wrap="square" lIns="0" rIns="0" tIns="0" bIns="0" anchor="ctr">
            <a:spAutoFit/>
          </a:bodyPr>
          <a:lstStyle/>
          <a:p>
            <a:pPr algn="l"/>
            <a:r>
              <a:rPr sz="1050" b="0">
                <a:solidFill>
                  <a:srgbClr val="000000"/>
                </a:solidFill>
                <a:latin typeface="游ゴシック"/>
                <a:ea typeface="游ゴシック"/>
              </a:rPr>
              <a:t>賃借物件はありません（地代家賃の計上なし）。</a:t>
            </a:r>
          </a:p>
        </p:txBody>
      </p:sp>
      <p:sp>
        <p:nvSpPr>
          <p:cNvPr id="16" name="TextBox 15"/>
          <p:cNvSpPr txBox="1"/>
          <p:nvPr/>
        </p:nvSpPr>
        <p:spPr>
          <a:xfrm>
            <a:off x="310896" y="5695188"/>
            <a:ext cx="10058400" cy="329184"/>
          </a:xfrm>
          <a:prstGeom prst="rect">
            <a:avLst/>
          </a:prstGeom>
          <a:noFill/>
        </p:spPr>
        <p:txBody>
          <a:bodyPr wrap="square" lIns="0" rIns="0" tIns="0" bIns="0" anchor="t">
            <a:spAutoFit/>
          </a:bodyPr>
          <a:lstStyle/>
          <a:p>
            <a:pPr algn="l"/>
            <a:r>
              <a:rPr sz="800" b="0">
                <a:solidFill>
                  <a:srgbClr val="000000"/>
                </a:solidFill>
                <a:latin typeface="游ゴシック"/>
                <a:ea typeface="游ゴシック"/>
              </a:rPr>
              <a:t>※建物の簿価は棟別ではなく改修工事を含めた合計（BS建物）。棟別の帳簿内訳は「保有設備一覧」に記載。庄内町長沼の土地は建築不可（代表者談）。</a:t>
            </a:r>
          </a:p>
          <a:p>
            <a:pPr algn="l"/>
            <a:r>
              <a:rPr sz="800" b="0">
                <a:solidFill>
                  <a:srgbClr val="000000"/>
                </a:solidFill>
                <a:latin typeface="游ゴシック"/>
                <a:ea typeface="游ゴシック"/>
              </a:rPr>
              <a:t>※1981年築の建物は新耐震基準（1981年6月施行）の適用有無を建築確認日で要確認。土地の時価は鑑定・路線価で要確認。</a:t>
            </a:r>
          </a:p>
        </p:txBody>
      </p:sp>
    </p:spTree>
    <p:extLst>
      <p:ext uri="{BB962C8B-B14F-4D97-AF65-F5344CB8AC3E}">
        <p14:creationId xmlns:p14="http://schemas.microsoft.com/office/powerpoint/2010/main" val="20041296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483CB5-D66B-9D1A-A660-C02FFA666B7D}"/>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B1EDBB24-67BB-E96E-B74B-D3EB5F75EDA4}"/>
              </a:ext>
            </a:extLst>
          </p:cNvPr>
          <p:cNvSpPr>
            <a:spLocks noGrp="1"/>
          </p:cNvSpPr>
          <p:nvPr>
            <p:ph type="ctrTitle"/>
          </p:nvPr>
        </p:nvSpPr>
        <p:spPr>
          <a:xfrm>
            <a:off x="311150" y="180296"/>
            <a:ext cx="7799917" cy="339267"/>
          </a:xfrm>
        </p:spPr>
        <p:txBody>
          <a:bodyPr>
            <a:normAutofit/>
          </a:bodyPr>
          <a:lstStyle/>
          <a:p>
            <a:r>
              <a:rPr lang="ja-JP" altLang="en-US" dirty="0"/>
              <a:t>保有設備一覧</a:t>
            </a:r>
          </a:p>
        </p:txBody>
      </p:sp>
      <p:sp>
        <p:nvSpPr>
          <p:cNvPr id="4" name="タイトル 1">
            <a:extLst>
              <a:ext uri="{FF2B5EF4-FFF2-40B4-BE49-F238E27FC236}">
                <a16:creationId xmlns:a16="http://schemas.microsoft.com/office/drawing/2014/main" id="{9A038C7C-FDC6-3DA9-FB86-371BEF2D480D}"/>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組織、拠点、設備等</a:t>
            </a:r>
          </a:p>
        </p:txBody>
      </p:sp>
      <p:sp>
        <p:nvSpPr>
          <p:cNvPr id="7" name="字幕 13">
            <a:extLst>
              <a:ext uri="{FF2B5EF4-FFF2-40B4-BE49-F238E27FC236}">
                <a16:creationId xmlns:a16="http://schemas.microsoft.com/office/drawing/2014/main" id="{AF62B1A2-0C69-2A17-FF69-1256D98EBEC7}"/>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a:ea typeface="游ゴシック"/>
              </a:rPr>
              <a:t>機械・車両は償却済み（集配車両はリースと推察）。建物は屋根・外壁・シャッター・冷蔵庫ユニット等の改修を継続して資産計上。</a:t>
            </a:r>
          </a:p>
        </p:txBody>
      </p:sp>
      <p:graphicFrame>
        <p:nvGraphicFramePr>
          <p:cNvPr id="14" name="表（設備!B4:E32）"/>
          <p:cNvGraphicFramePr>
            <a:graphicFrameLocks noGrp="1"/>
          </p:cNvGraphicFramePr>
          <p:nvPr/>
        </p:nvGraphicFramePr>
        <p:xfrm>
          <a:off x="310896" y="1371600"/>
          <a:ext cx="5394958" cy="4838700"/>
        </p:xfrm>
        <a:graphic>
          <a:graphicData uri="http://schemas.openxmlformats.org/drawingml/2006/table">
            <a:tbl>
              <a:tblPr firstRow="0" bandRow="0">
                <a:tableStyleId>{2D5ABB26-0587-4C30-8999-92F81FD0307C}</a:tableStyleId>
              </a:tblPr>
              <a:tblGrid>
                <a:gridCol w="1948284"/>
                <a:gridCol w="1598610"/>
                <a:gridCol w="848998"/>
                <a:gridCol w="999066"/>
              </a:tblGrid>
              <a:tr h="190500">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800" b="0" i="0" dirty="0">
                          <a:solidFill>
                            <a:srgbClr val="000000"/>
                          </a:solidFill>
                          <a:latin typeface="游ゴシック"/>
                          <a:ea typeface="游ゴシック"/>
                        </a:rPr>
                        <a:t>(単位：千円)</a:t>
                      </a:r>
                      <a:endParaRPr lang="ja-JP" altLang="en-US" sz="80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r>
              <a:tr h="190500">
                <a:tc>
                  <a:txBody>
                    <a:bodyPr/>
                    <a:lstStyle/>
                    <a:p>
                      <a:pPr algn="ctr" fontAlgn="ctr"/>
                      <a:r>
                        <a:rPr lang="ja-JP" altLang="en-US" sz="800" b="0" i="0" dirty="0">
                          <a:solidFill>
                            <a:srgbClr val="FFFFFF"/>
                          </a:solidFill>
                          <a:latin typeface="游ゴシック"/>
                          <a:ea typeface="游ゴシック"/>
                        </a:rPr>
                        <a:t>建物内訳（用途）</a:t>
                      </a:r>
                      <a:endParaRPr lang="ja-JP" altLang="en-US" sz="8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800" b="0" i="0" dirty="0">
                          <a:solidFill>
                            <a:srgbClr val="FFFFFF"/>
                          </a:solidFill>
                          <a:latin typeface="游ゴシック"/>
                          <a:ea typeface="游ゴシック"/>
                        </a:rPr>
                        <a:t>所在</a:t>
                      </a:r>
                      <a:endParaRPr lang="ja-JP" altLang="en-US" sz="8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800" b="0" i="0" dirty="0">
                          <a:solidFill>
                            <a:srgbClr val="FFFFFF"/>
                          </a:solidFill>
                          <a:latin typeface="游ゴシック"/>
                          <a:ea typeface="游ゴシック"/>
                        </a:rPr>
                        <a:t>面積(㎡)</a:t>
                      </a:r>
                      <a:endParaRPr lang="ja-JP" altLang="en-US" sz="8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800" b="0" i="0" dirty="0">
                          <a:solidFill>
                            <a:srgbClr val="FFFFFF"/>
                          </a:solidFill>
                          <a:latin typeface="游ゴシック"/>
                          <a:ea typeface="游ゴシック"/>
                        </a:rPr>
                        <a:t>簿価</a:t>
                      </a:r>
                      <a:endParaRPr lang="ja-JP" altLang="en-US" sz="8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r>
              <a:tr h="165100">
                <a:tc>
                  <a:txBody>
                    <a:bodyPr/>
                    <a:lstStyle/>
                    <a:p>
                      <a:pPr algn="l" fontAlgn="ctr"/>
                      <a:r>
                        <a:rPr lang="ja-JP" altLang="en-US" sz="800" b="0" i="0" dirty="0">
                          <a:solidFill>
                            <a:srgbClr val="000000"/>
                          </a:solidFill>
                          <a:latin typeface="游ゴシック"/>
                          <a:ea typeface="游ゴシック"/>
                        </a:rPr>
                        <a:t>管理棟</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00" b="0" i="0" dirty="0">
                          <a:solidFill>
                            <a:srgbClr val="000000"/>
                          </a:solidFill>
                          <a:latin typeface="游ゴシック"/>
                          <a:ea typeface="游ゴシック"/>
                        </a:rPr>
                        <a:t>宝田一丁目4-20</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365.00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20,193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65100">
                <a:tc>
                  <a:txBody>
                    <a:bodyPr/>
                    <a:lstStyle/>
                    <a:p>
                      <a:pPr algn="l" fontAlgn="ctr"/>
                      <a:r>
                        <a:rPr lang="ja-JP" altLang="en-US" sz="800" b="0" i="0" dirty="0">
                          <a:solidFill>
                            <a:srgbClr val="000000"/>
                          </a:solidFill>
                          <a:latin typeface="游ゴシック"/>
                          <a:ea typeface="游ゴシック"/>
                        </a:rPr>
                        <a:t>荷捌市場</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00" b="0" i="0" dirty="0">
                          <a:solidFill>
                            <a:srgbClr val="000000"/>
                          </a:solidFill>
                          <a:latin typeface="游ゴシック"/>
                          <a:ea typeface="游ゴシック"/>
                        </a:rPr>
                        <a:t>宝田一丁目4-20</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330.70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5,899</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65100">
                <a:tc>
                  <a:txBody>
                    <a:bodyPr/>
                    <a:lstStyle/>
                    <a:p>
                      <a:pPr algn="l" fontAlgn="ctr"/>
                      <a:r>
                        <a:rPr lang="ja-JP" altLang="en-US" sz="800" b="0" i="0" dirty="0">
                          <a:solidFill>
                            <a:srgbClr val="000000"/>
                          </a:solidFill>
                          <a:latin typeface="游ゴシック"/>
                          <a:ea typeface="游ゴシック"/>
                        </a:rPr>
                        <a:t>倉庫</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00" b="0" i="0" dirty="0">
                          <a:solidFill>
                            <a:srgbClr val="000000"/>
                          </a:solidFill>
                          <a:latin typeface="游ゴシック"/>
                          <a:ea typeface="游ゴシック"/>
                        </a:rPr>
                        <a:t>宝田一丁目4-20</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320.20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1,166</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65100">
                <a:tc>
                  <a:txBody>
                    <a:bodyPr/>
                    <a:lstStyle/>
                    <a:p>
                      <a:pPr algn="l" fontAlgn="ctr"/>
                      <a:r>
                        <a:rPr lang="ja-JP" altLang="en-US" sz="800" b="0" i="0" dirty="0">
                          <a:solidFill>
                            <a:srgbClr val="000000"/>
                          </a:solidFill>
                          <a:latin typeface="游ゴシック"/>
                          <a:ea typeface="游ゴシック"/>
                        </a:rPr>
                        <a:t>容器庫</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00" b="0" i="0" dirty="0">
                          <a:solidFill>
                            <a:srgbClr val="000000"/>
                          </a:solidFill>
                          <a:latin typeface="游ゴシック"/>
                          <a:ea typeface="游ゴシック"/>
                        </a:rPr>
                        <a:t>宝田一丁目4-20</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198.70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500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65100">
                <a:tc>
                  <a:txBody>
                    <a:bodyPr/>
                    <a:lstStyle/>
                    <a:p>
                      <a:pPr algn="l" fontAlgn="ctr"/>
                      <a:r>
                        <a:rPr lang="ja-JP" altLang="en-US" sz="800" b="0" i="0" dirty="0">
                          <a:solidFill>
                            <a:srgbClr val="000000"/>
                          </a:solidFill>
                          <a:latin typeface="游ゴシック"/>
                          <a:ea typeface="游ゴシック"/>
                        </a:rPr>
                        <a:t>物置</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00" b="0" i="0" dirty="0">
                          <a:solidFill>
                            <a:srgbClr val="000000"/>
                          </a:solidFill>
                          <a:latin typeface="游ゴシック"/>
                          <a:ea typeface="游ゴシック"/>
                        </a:rPr>
                        <a:t>宝田一丁目4-20</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34.40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65100">
                <a:tc>
                  <a:txBody>
                    <a:bodyPr/>
                    <a:lstStyle/>
                    <a:p>
                      <a:pPr algn="l" fontAlgn="ctr"/>
                      <a:r>
                        <a:rPr lang="ja-JP" altLang="en-US" sz="800" b="0" i="0" dirty="0">
                          <a:solidFill>
                            <a:srgbClr val="000000"/>
                          </a:solidFill>
                          <a:latin typeface="游ゴシック"/>
                          <a:ea typeface="游ゴシック"/>
                        </a:rPr>
                        <a:t>容器倉庫</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00" b="0" i="0" dirty="0">
                          <a:solidFill>
                            <a:srgbClr val="000000"/>
                          </a:solidFill>
                          <a:latin typeface="游ゴシック"/>
                          <a:ea typeface="游ゴシック"/>
                        </a:rPr>
                        <a:t>宝田一丁目4-20</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endParaRPr lang="ja-JP" altLang="en-US" sz="78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249</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65100">
                <a:tc>
                  <a:txBody>
                    <a:bodyPr/>
                    <a:lstStyle/>
                    <a:p>
                      <a:pPr algn="l" fontAlgn="ctr"/>
                      <a:r>
                        <a:rPr lang="ja-JP" altLang="en-US" sz="800" b="0" i="0" dirty="0">
                          <a:solidFill>
                            <a:srgbClr val="000000"/>
                          </a:solidFill>
                          <a:latin typeface="游ゴシック"/>
                          <a:ea typeface="游ゴシック"/>
                        </a:rPr>
                        <a:t>シャッター</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00" b="0" i="0" dirty="0">
                          <a:solidFill>
                            <a:srgbClr val="000000"/>
                          </a:solidFill>
                          <a:latin typeface="游ゴシック"/>
                          <a:ea typeface="游ゴシック"/>
                        </a:rPr>
                        <a:t>宝田一丁目4-20</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endParaRPr lang="ja-JP" altLang="en-US" sz="78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65100">
                <a:tc>
                  <a:txBody>
                    <a:bodyPr/>
                    <a:lstStyle/>
                    <a:p>
                      <a:pPr algn="l" fontAlgn="ctr"/>
                      <a:r>
                        <a:rPr lang="ja-JP" altLang="en-US" sz="800" b="0" i="0" dirty="0">
                          <a:solidFill>
                            <a:srgbClr val="000000"/>
                          </a:solidFill>
                          <a:latin typeface="游ゴシック"/>
                          <a:ea typeface="游ゴシック"/>
                        </a:rPr>
                        <a:t>シャッター取替</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00" b="0" i="0" dirty="0">
                          <a:solidFill>
                            <a:srgbClr val="000000"/>
                          </a:solidFill>
                          <a:latin typeface="游ゴシック"/>
                          <a:ea typeface="游ゴシック"/>
                        </a:rPr>
                        <a:t>宝田一丁目4-20</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endParaRPr lang="ja-JP" altLang="en-US" sz="78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1,739</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65100">
                <a:tc>
                  <a:txBody>
                    <a:bodyPr/>
                    <a:lstStyle/>
                    <a:p>
                      <a:pPr algn="l" fontAlgn="ctr"/>
                      <a:r>
                        <a:rPr lang="ja-JP" altLang="en-US" sz="800" b="0" i="0" dirty="0">
                          <a:solidFill>
                            <a:srgbClr val="000000"/>
                          </a:solidFill>
                          <a:latin typeface="游ゴシック"/>
                          <a:ea typeface="游ゴシック"/>
                        </a:rPr>
                        <a:t>改修工事</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00" b="0" i="0" dirty="0">
                          <a:solidFill>
                            <a:srgbClr val="000000"/>
                          </a:solidFill>
                          <a:latin typeface="游ゴシック"/>
                          <a:ea typeface="游ゴシック"/>
                        </a:rPr>
                        <a:t>宝田一丁目4-20</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endParaRPr lang="ja-JP" altLang="en-US" sz="78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2,695</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65100">
                <a:tc>
                  <a:txBody>
                    <a:bodyPr/>
                    <a:lstStyle/>
                    <a:p>
                      <a:pPr algn="l" fontAlgn="ctr"/>
                      <a:r>
                        <a:rPr lang="ja-JP" altLang="en-US" sz="800" b="0" i="0" dirty="0">
                          <a:solidFill>
                            <a:srgbClr val="000000"/>
                          </a:solidFill>
                          <a:latin typeface="游ゴシック"/>
                          <a:ea typeface="游ゴシック"/>
                        </a:rPr>
                        <a:t>改修工事</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00" b="0" i="0" dirty="0">
                          <a:solidFill>
                            <a:srgbClr val="000000"/>
                          </a:solidFill>
                          <a:latin typeface="游ゴシック"/>
                          <a:ea typeface="游ゴシック"/>
                        </a:rPr>
                        <a:t>宝田一丁目4-20</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endParaRPr lang="ja-JP" altLang="en-US" sz="78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6,000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65100">
                <a:tc>
                  <a:txBody>
                    <a:bodyPr/>
                    <a:lstStyle/>
                    <a:p>
                      <a:pPr algn="l" fontAlgn="ctr"/>
                      <a:r>
                        <a:rPr lang="ja-JP" altLang="en-US" sz="800" b="0" i="0" dirty="0">
                          <a:solidFill>
                            <a:srgbClr val="000000"/>
                          </a:solidFill>
                          <a:latin typeface="游ゴシック"/>
                          <a:ea typeface="游ゴシック"/>
                        </a:rPr>
                        <a:t>パッケージ場</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00" b="0" i="0" dirty="0">
                          <a:solidFill>
                            <a:srgbClr val="000000"/>
                          </a:solidFill>
                          <a:latin typeface="游ゴシック"/>
                          <a:ea typeface="游ゴシック"/>
                        </a:rPr>
                        <a:t>宝田一丁目5-20</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629.34</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11,751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65100">
                <a:tc>
                  <a:txBody>
                    <a:bodyPr/>
                    <a:lstStyle/>
                    <a:p>
                      <a:pPr algn="l" fontAlgn="ctr"/>
                      <a:r>
                        <a:rPr lang="ja-JP" altLang="en-US" sz="800" b="0" i="0" dirty="0">
                          <a:solidFill>
                            <a:srgbClr val="000000"/>
                          </a:solidFill>
                          <a:latin typeface="游ゴシック"/>
                          <a:ea typeface="游ゴシック"/>
                        </a:rPr>
                        <a:t>シャッター更新</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00" b="0" i="0" dirty="0">
                          <a:solidFill>
                            <a:srgbClr val="000000"/>
                          </a:solidFill>
                          <a:latin typeface="游ゴシック"/>
                          <a:ea typeface="游ゴシック"/>
                        </a:rPr>
                        <a:t>宝田一丁目4-20</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endParaRPr lang="ja-JP" altLang="en-US" sz="78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1,078</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65100">
                <a:tc>
                  <a:txBody>
                    <a:bodyPr/>
                    <a:lstStyle/>
                    <a:p>
                      <a:pPr algn="l" fontAlgn="ctr"/>
                      <a:r>
                        <a:rPr lang="ja-JP" altLang="en-US" sz="800" b="0" i="0" dirty="0">
                          <a:solidFill>
                            <a:srgbClr val="000000"/>
                          </a:solidFill>
                          <a:latin typeface="游ゴシック"/>
                          <a:ea typeface="游ゴシック"/>
                        </a:rPr>
                        <a:t>プレハブ修繕</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00" b="0" i="0" dirty="0">
                          <a:solidFill>
                            <a:srgbClr val="000000"/>
                          </a:solidFill>
                          <a:latin typeface="游ゴシック"/>
                          <a:ea typeface="游ゴシック"/>
                        </a:rPr>
                        <a:t>宝田一丁目4-20</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endParaRPr lang="ja-JP" altLang="en-US" sz="78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1,377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65100">
                <a:tc>
                  <a:txBody>
                    <a:bodyPr/>
                    <a:lstStyle/>
                    <a:p>
                      <a:pPr algn="l" fontAlgn="ctr"/>
                      <a:r>
                        <a:rPr lang="ja-JP" altLang="en-US" sz="800" b="0" i="0" dirty="0">
                          <a:solidFill>
                            <a:srgbClr val="000000"/>
                          </a:solidFill>
                          <a:latin typeface="游ゴシック"/>
                          <a:ea typeface="游ゴシック"/>
                        </a:rPr>
                        <a:t>不用材置場</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00" b="0" i="0" dirty="0">
                          <a:solidFill>
                            <a:srgbClr val="000000"/>
                          </a:solidFill>
                          <a:latin typeface="游ゴシック"/>
                          <a:ea typeface="游ゴシック"/>
                        </a:rPr>
                        <a:t>宝田一丁目4-20</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endParaRPr lang="ja-JP" altLang="en-US" sz="78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65100">
                <a:tc>
                  <a:txBody>
                    <a:bodyPr/>
                    <a:lstStyle/>
                    <a:p>
                      <a:pPr algn="l" fontAlgn="ctr"/>
                      <a:r>
                        <a:rPr lang="ja-JP" altLang="en-US" sz="800" b="0" i="0" dirty="0">
                          <a:solidFill>
                            <a:srgbClr val="000000"/>
                          </a:solidFill>
                          <a:latin typeface="游ゴシック"/>
                          <a:ea typeface="游ゴシック"/>
                        </a:rPr>
                        <a:t>倉庫</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00" b="0" i="0" dirty="0">
                          <a:solidFill>
                            <a:srgbClr val="000000"/>
                          </a:solidFill>
                          <a:latin typeface="游ゴシック"/>
                          <a:ea typeface="游ゴシック"/>
                        </a:rPr>
                        <a:t>宝田一丁目5-1</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endParaRPr lang="ja-JP" altLang="en-US" sz="78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8,917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65100">
                <a:tc>
                  <a:txBody>
                    <a:bodyPr/>
                    <a:lstStyle/>
                    <a:p>
                      <a:pPr algn="l" fontAlgn="ctr"/>
                      <a:r>
                        <a:rPr lang="ja-JP" altLang="en-US" sz="800" b="0" i="0" dirty="0">
                          <a:solidFill>
                            <a:srgbClr val="000000"/>
                          </a:solidFill>
                          <a:latin typeface="游ゴシック"/>
                          <a:ea typeface="游ゴシック"/>
                        </a:rPr>
                        <a:t>2階改修</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00" b="0" i="0" dirty="0">
                          <a:solidFill>
                            <a:srgbClr val="000000"/>
                          </a:solidFill>
                          <a:latin typeface="游ゴシック"/>
                          <a:ea typeface="游ゴシック"/>
                        </a:rPr>
                        <a:t>宝田一丁目4-20</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endParaRPr lang="ja-JP" altLang="en-US" sz="78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6,404</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65100">
                <a:tc>
                  <a:txBody>
                    <a:bodyPr/>
                    <a:lstStyle/>
                    <a:p>
                      <a:pPr algn="l" fontAlgn="ctr"/>
                      <a:r>
                        <a:rPr lang="ja-JP" altLang="en-US" sz="800" b="0" i="0" dirty="0">
                          <a:solidFill>
                            <a:srgbClr val="000000"/>
                          </a:solidFill>
                          <a:latin typeface="游ゴシック"/>
                          <a:ea typeface="游ゴシック"/>
                        </a:rPr>
                        <a:t>1階トイレ改修</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00" b="0" i="0" dirty="0">
                          <a:solidFill>
                            <a:srgbClr val="000000"/>
                          </a:solidFill>
                          <a:latin typeface="游ゴシック"/>
                          <a:ea typeface="游ゴシック"/>
                        </a:rPr>
                        <a:t>宝田一丁目4-20</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endParaRPr lang="ja-JP" altLang="en-US" sz="78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1,170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65100">
                <a:tc>
                  <a:txBody>
                    <a:bodyPr/>
                    <a:lstStyle/>
                    <a:p>
                      <a:pPr algn="l" fontAlgn="ctr"/>
                      <a:r>
                        <a:rPr lang="ja-JP" altLang="en-US" sz="800" b="0" i="0" dirty="0">
                          <a:solidFill>
                            <a:srgbClr val="000000"/>
                          </a:solidFill>
                          <a:latin typeface="游ゴシック"/>
                          <a:ea typeface="游ゴシック"/>
                        </a:rPr>
                        <a:t>屋根改修</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00" b="0" i="0" dirty="0">
                          <a:solidFill>
                            <a:srgbClr val="000000"/>
                          </a:solidFill>
                          <a:latin typeface="游ゴシック"/>
                          <a:ea typeface="游ゴシック"/>
                        </a:rPr>
                        <a:t>宝田一丁目4-20</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endParaRPr lang="ja-JP" altLang="en-US" sz="78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3,391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65100">
                <a:tc>
                  <a:txBody>
                    <a:bodyPr/>
                    <a:lstStyle/>
                    <a:p>
                      <a:pPr algn="l" fontAlgn="ctr"/>
                      <a:r>
                        <a:rPr lang="ja-JP" altLang="en-US" sz="800" b="0" i="0" dirty="0">
                          <a:solidFill>
                            <a:srgbClr val="000000"/>
                          </a:solidFill>
                          <a:latin typeface="游ゴシック"/>
                          <a:ea typeface="游ゴシック"/>
                        </a:rPr>
                        <a:t>屋根改修</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00" b="0" i="0" dirty="0">
                          <a:solidFill>
                            <a:srgbClr val="000000"/>
                          </a:solidFill>
                          <a:latin typeface="游ゴシック"/>
                          <a:ea typeface="游ゴシック"/>
                        </a:rPr>
                        <a:t>宝田一丁目4-20</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endParaRPr lang="ja-JP" altLang="en-US" sz="78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3,120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65100">
                <a:tc>
                  <a:txBody>
                    <a:bodyPr/>
                    <a:lstStyle/>
                    <a:p>
                      <a:pPr algn="l" fontAlgn="ctr"/>
                      <a:r>
                        <a:rPr lang="ja-JP" altLang="en-US" sz="800" b="0" i="0" dirty="0">
                          <a:solidFill>
                            <a:srgbClr val="000000"/>
                          </a:solidFill>
                          <a:latin typeface="游ゴシック"/>
                          <a:ea typeface="游ゴシック"/>
                        </a:rPr>
                        <a:t>屋根改修</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00" b="0" i="0" dirty="0">
                          <a:solidFill>
                            <a:srgbClr val="000000"/>
                          </a:solidFill>
                          <a:latin typeface="游ゴシック"/>
                          <a:ea typeface="游ゴシック"/>
                        </a:rPr>
                        <a:t>宝田一丁目4-20</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endParaRPr lang="ja-JP" altLang="en-US" sz="78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3,737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65100">
                <a:tc>
                  <a:txBody>
                    <a:bodyPr/>
                    <a:lstStyle/>
                    <a:p>
                      <a:pPr algn="l" fontAlgn="ctr"/>
                      <a:r>
                        <a:rPr lang="ja-JP" altLang="en-US" sz="800" b="0" i="0" dirty="0">
                          <a:solidFill>
                            <a:srgbClr val="000000"/>
                          </a:solidFill>
                          <a:latin typeface="游ゴシック"/>
                          <a:ea typeface="游ゴシック"/>
                        </a:rPr>
                        <a:t>下屋修理・塗装</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00" b="0" i="0" dirty="0">
                          <a:solidFill>
                            <a:srgbClr val="000000"/>
                          </a:solidFill>
                          <a:latin typeface="游ゴシック"/>
                          <a:ea typeface="游ゴシック"/>
                        </a:rPr>
                        <a:t>宝田一丁目4-20</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endParaRPr lang="ja-JP" altLang="en-US" sz="78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971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65100">
                <a:tc>
                  <a:txBody>
                    <a:bodyPr/>
                    <a:lstStyle/>
                    <a:p>
                      <a:pPr algn="l" fontAlgn="ctr"/>
                      <a:r>
                        <a:rPr lang="ja-JP" altLang="en-US" sz="800" b="0" i="0" dirty="0">
                          <a:solidFill>
                            <a:srgbClr val="000000"/>
                          </a:solidFill>
                          <a:latin typeface="游ゴシック"/>
                          <a:ea typeface="游ゴシック"/>
                        </a:rPr>
                        <a:t>パッケージ場外壁</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00" b="0" i="0" dirty="0">
                          <a:solidFill>
                            <a:srgbClr val="000000"/>
                          </a:solidFill>
                          <a:latin typeface="游ゴシック"/>
                          <a:ea typeface="游ゴシック"/>
                        </a:rPr>
                        <a:t>宝田一丁目5-20</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endParaRPr lang="ja-JP" altLang="en-US" sz="78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6,815</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65100">
                <a:tc>
                  <a:txBody>
                    <a:bodyPr/>
                    <a:lstStyle/>
                    <a:p>
                      <a:pPr algn="l" fontAlgn="ctr"/>
                      <a:r>
                        <a:rPr lang="ja-JP" altLang="en-US" sz="800" b="0" i="0" dirty="0">
                          <a:solidFill>
                            <a:srgbClr val="000000"/>
                          </a:solidFill>
                          <a:latin typeface="游ゴシック"/>
                          <a:ea typeface="游ゴシック"/>
                        </a:rPr>
                        <a:t>冷蔵庫ユニット交換工事</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00" b="0" i="0" dirty="0">
                          <a:solidFill>
                            <a:srgbClr val="000000"/>
                          </a:solidFill>
                          <a:latin typeface="游ゴシック"/>
                          <a:ea typeface="游ゴシック"/>
                        </a:rPr>
                        <a:t>宝田一丁目4-20</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endParaRPr lang="ja-JP" altLang="en-US" sz="78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1,002</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65100">
                <a:tc>
                  <a:txBody>
                    <a:bodyPr/>
                    <a:lstStyle/>
                    <a:p>
                      <a:pPr algn="l" fontAlgn="ctr"/>
                      <a:r>
                        <a:rPr lang="ja-JP" altLang="en-US" sz="800" b="0" i="0" dirty="0">
                          <a:solidFill>
                            <a:srgbClr val="000000"/>
                          </a:solidFill>
                          <a:latin typeface="游ゴシック"/>
                          <a:ea typeface="游ゴシック"/>
                        </a:rPr>
                        <a:t>シャッター</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00" b="0" i="0" dirty="0">
                          <a:solidFill>
                            <a:srgbClr val="000000"/>
                          </a:solidFill>
                          <a:latin typeface="游ゴシック"/>
                          <a:ea typeface="游ゴシック"/>
                        </a:rPr>
                        <a:t>宝田一丁目4-20</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endParaRPr lang="ja-JP" altLang="en-US" sz="78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2,570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65100">
                <a:tc>
                  <a:txBody>
                    <a:bodyPr/>
                    <a:lstStyle/>
                    <a:p>
                      <a:pPr algn="l" fontAlgn="ctr"/>
                      <a:r>
                        <a:rPr lang="ja-JP" altLang="en-US" sz="800" b="0" i="0" dirty="0">
                          <a:solidFill>
                            <a:srgbClr val="000000"/>
                          </a:solidFill>
                          <a:latin typeface="游ゴシック"/>
                          <a:ea typeface="游ゴシック"/>
                        </a:rPr>
                        <a:t>資材倉庫外壁改修（2025年5月）</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00" b="0" i="0" dirty="0">
                          <a:solidFill>
                            <a:srgbClr val="000000"/>
                          </a:solidFill>
                          <a:latin typeface="游ゴシック"/>
                          <a:ea typeface="游ゴシック"/>
                        </a:rPr>
                        <a:t>宝田一丁目4-20</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endParaRPr lang="ja-JP" altLang="en-US" sz="78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918</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65100">
                <a:tc>
                  <a:txBody>
                    <a:bodyPr/>
                    <a:lstStyle/>
                    <a:p>
                      <a:pPr algn="l" fontAlgn="ctr"/>
                      <a:r>
                        <a:rPr lang="ja-JP" altLang="en-US" sz="800" b="0" i="0" dirty="0">
                          <a:solidFill>
                            <a:srgbClr val="000000"/>
                          </a:solidFill>
                          <a:latin typeface="游ゴシック"/>
                          <a:ea typeface="游ゴシック"/>
                        </a:rPr>
                        <a:t>資材倉庫シャッター（2025年5月）</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00" b="0" i="0" dirty="0">
                          <a:solidFill>
                            <a:srgbClr val="000000"/>
                          </a:solidFill>
                          <a:latin typeface="游ゴシック"/>
                          <a:ea typeface="游ゴシック"/>
                        </a:rPr>
                        <a:t>宝田一丁目4-20</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endParaRPr lang="ja-JP" altLang="en-US" sz="78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402</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65100">
                <a:tc>
                  <a:txBody>
                    <a:bodyPr/>
                    <a:lstStyle/>
                    <a:p>
                      <a:pPr algn="l" fontAlgn="ctr"/>
                      <a:r>
                        <a:rPr lang="ja-JP" altLang="en-US" sz="800" b="1" i="0" dirty="0">
                          <a:solidFill>
                            <a:srgbClr val="000000"/>
                          </a:solidFill>
                          <a:latin typeface="游ゴシック"/>
                          <a:ea typeface="游ゴシック"/>
                        </a:rPr>
                        <a:t>建物 計</a:t>
                      </a:r>
                      <a:endParaRPr lang="ja-JP" altLang="en-US" sz="80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l" fontAlgn="ctr"/>
                      <a:endParaRPr lang="ja-JP" altLang="en-US" sz="78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endParaRPr lang="ja-JP" altLang="en-US" sz="78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92,066</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r>
            </a:tbl>
          </a:graphicData>
        </a:graphic>
      </p:graphicFrame>
      <p:graphicFrame>
        <p:nvGraphicFramePr>
          <p:cNvPr id="15" name="表（設備!G36:I45）"/>
          <p:cNvGraphicFramePr>
            <a:graphicFrameLocks noGrp="1"/>
          </p:cNvGraphicFramePr>
          <p:nvPr/>
        </p:nvGraphicFramePr>
        <p:xfrm>
          <a:off x="5989320" y="1371600"/>
          <a:ext cx="4389118" cy="2832100"/>
        </p:xfrm>
        <a:graphic>
          <a:graphicData uri="http://schemas.openxmlformats.org/drawingml/2006/table">
            <a:tbl>
              <a:tblPr firstRow="0" bandRow="0">
                <a:tableStyleId>{2D5ABB26-0587-4C30-8999-92F81FD0307C}</a:tableStyleId>
              </a:tblPr>
              <a:tblGrid>
                <a:gridCol w="1282026"/>
                <a:gridCol w="936782"/>
                <a:gridCol w="2170310"/>
              </a:tblGrid>
              <a:tr h="190500">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800" b="0" i="0" dirty="0">
                          <a:solidFill>
                            <a:srgbClr val="000000"/>
                          </a:solidFill>
                          <a:latin typeface="游ゴシック"/>
                          <a:ea typeface="游ゴシック"/>
                        </a:rPr>
                        <a:t>(単位：千円)</a:t>
                      </a:r>
                      <a:endParaRPr lang="ja-JP" altLang="en-US" sz="80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r>
              <a:tr h="190500">
                <a:tc>
                  <a:txBody>
                    <a:bodyPr/>
                    <a:lstStyle/>
                    <a:p>
                      <a:pPr algn="ctr" fontAlgn="ctr"/>
                      <a:r>
                        <a:rPr lang="ja-JP" altLang="en-US" sz="800" b="0" i="0" dirty="0">
                          <a:solidFill>
                            <a:srgbClr val="FFFFFF"/>
                          </a:solidFill>
                          <a:latin typeface="游ゴシック"/>
                          <a:ea typeface="游ゴシック"/>
                        </a:rPr>
                        <a:t>区分</a:t>
                      </a:r>
                      <a:endParaRPr lang="ja-JP" altLang="en-US" sz="8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800" b="0" i="0" dirty="0">
                          <a:solidFill>
                            <a:srgbClr val="FFFFFF"/>
                          </a:solidFill>
                          <a:latin typeface="游ゴシック"/>
                          <a:ea typeface="游ゴシック"/>
                        </a:rPr>
                        <a:t>簿価(2026/3末)</a:t>
                      </a:r>
                      <a:endParaRPr lang="ja-JP" altLang="en-US" sz="8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800" b="0" i="0" dirty="0">
                          <a:solidFill>
                            <a:srgbClr val="FFFFFF"/>
                          </a:solidFill>
                          <a:latin typeface="游ゴシック"/>
                          <a:ea typeface="游ゴシック"/>
                        </a:rPr>
                        <a:t>備考</a:t>
                      </a:r>
                      <a:endParaRPr lang="ja-JP" altLang="en-US" sz="8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r>
              <a:tr h="317500">
                <a:tc>
                  <a:txBody>
                    <a:bodyPr/>
                    <a:lstStyle/>
                    <a:p>
                      <a:pPr algn="l" fontAlgn="ctr"/>
                      <a:r>
                        <a:rPr lang="ja-JP" altLang="en-US" sz="800" b="0" i="0" dirty="0">
                          <a:solidFill>
                            <a:srgbClr val="000000"/>
                          </a:solidFill>
                          <a:latin typeface="游ゴシック"/>
                          <a:ea typeface="游ゴシック"/>
                        </a:rPr>
                        <a:t>建物</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92,066</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00" b="0" i="0" dirty="0">
                          <a:solidFill>
                            <a:srgbClr val="000000"/>
                          </a:solidFill>
                          <a:latin typeface="游ゴシック"/>
                          <a:ea typeface="游ゴシック"/>
                        </a:rPr>
                        <a:t>左表の内訳のとおり。改修工事を資産計上</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317500">
                <a:tc>
                  <a:txBody>
                    <a:bodyPr/>
                    <a:lstStyle/>
                    <a:p>
                      <a:pPr algn="l" fontAlgn="ctr"/>
                      <a:r>
                        <a:rPr lang="ja-JP" altLang="en-US" sz="800" b="0" i="0" dirty="0">
                          <a:solidFill>
                            <a:srgbClr val="000000"/>
                          </a:solidFill>
                          <a:latin typeface="游ゴシック"/>
                          <a:ea typeface="游ゴシック"/>
                        </a:rPr>
                        <a:t>建物付属設備</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11,400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00" b="0" i="0" dirty="0">
                          <a:solidFill>
                            <a:srgbClr val="000000"/>
                          </a:solidFill>
                          <a:latin typeface="游ゴシック"/>
                          <a:ea typeface="游ゴシック"/>
                        </a:rPr>
                        <a:t>冷蔵庫ユニット・シャッター等（内訳は台帳で要確認）</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317500">
                <a:tc>
                  <a:txBody>
                    <a:bodyPr/>
                    <a:lstStyle/>
                    <a:p>
                      <a:pPr algn="l" fontAlgn="ctr"/>
                      <a:r>
                        <a:rPr lang="ja-JP" altLang="en-US" sz="800" b="0" i="0" dirty="0">
                          <a:solidFill>
                            <a:srgbClr val="000000"/>
                          </a:solidFill>
                          <a:latin typeface="游ゴシック"/>
                          <a:ea typeface="游ゴシック"/>
                        </a:rPr>
                        <a:t>構築物</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284</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317500">
                <a:tc>
                  <a:txBody>
                    <a:bodyPr/>
                    <a:lstStyle/>
                    <a:p>
                      <a:pPr algn="l" fontAlgn="ctr"/>
                      <a:r>
                        <a:rPr lang="ja-JP" altLang="en-US" sz="800" b="0" i="0" dirty="0">
                          <a:solidFill>
                            <a:srgbClr val="000000"/>
                          </a:solidFill>
                          <a:latin typeface="游ゴシック"/>
                          <a:ea typeface="游ゴシック"/>
                        </a:rPr>
                        <a:t>機械装置</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00" b="0" i="0" dirty="0">
                          <a:solidFill>
                            <a:srgbClr val="000000"/>
                          </a:solidFill>
                          <a:latin typeface="游ゴシック"/>
                          <a:ea typeface="游ゴシック"/>
                        </a:rPr>
                        <a:t>備忘価額のみ（償却済）</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317500">
                <a:tc>
                  <a:txBody>
                    <a:bodyPr/>
                    <a:lstStyle/>
                    <a:p>
                      <a:pPr algn="l" fontAlgn="ctr"/>
                      <a:r>
                        <a:rPr lang="ja-JP" altLang="en-US" sz="800" b="0" i="0" dirty="0">
                          <a:solidFill>
                            <a:srgbClr val="000000"/>
                          </a:solidFill>
                          <a:latin typeface="游ゴシック"/>
                          <a:ea typeface="游ゴシック"/>
                        </a:rPr>
                        <a:t>車両運搬具</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00" b="0" i="0" dirty="0">
                          <a:solidFill>
                            <a:srgbClr val="000000"/>
                          </a:solidFill>
                          <a:latin typeface="游ゴシック"/>
                          <a:ea typeface="游ゴシック"/>
                        </a:rPr>
                        <a:t>備忘価額のみ。集配車両はリースと推察（要確認）</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317500">
                <a:tc>
                  <a:txBody>
                    <a:bodyPr/>
                    <a:lstStyle/>
                    <a:p>
                      <a:pPr algn="l" fontAlgn="ctr"/>
                      <a:r>
                        <a:rPr lang="ja-JP" altLang="en-US" sz="800" b="0" i="0" dirty="0">
                          <a:solidFill>
                            <a:srgbClr val="000000"/>
                          </a:solidFill>
                          <a:latin typeface="游ゴシック"/>
                          <a:ea typeface="游ゴシック"/>
                        </a:rPr>
                        <a:t>工具器具備品</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19</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317500">
                <a:tc>
                  <a:txBody>
                    <a:bodyPr/>
                    <a:lstStyle/>
                    <a:p>
                      <a:pPr algn="l" fontAlgn="ctr"/>
                      <a:r>
                        <a:rPr lang="ja-JP" altLang="en-US" sz="800" b="0" i="0" dirty="0">
                          <a:solidFill>
                            <a:srgbClr val="000000"/>
                          </a:solidFill>
                          <a:latin typeface="游ゴシック"/>
                          <a:ea typeface="游ゴシック"/>
                        </a:rPr>
                        <a:t>ソフトウェア</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372</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00" b="0" i="0" dirty="0">
                          <a:solidFill>
                            <a:srgbClr val="000000"/>
                          </a:solidFill>
                          <a:latin typeface="游ゴシック"/>
                          <a:ea typeface="游ゴシック"/>
                        </a:rPr>
                        <a:t>販売管理システム等と推察（要確認）</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28600">
                <a:tc>
                  <a:txBody>
                    <a:bodyPr/>
                    <a:lstStyle/>
                    <a:p>
                      <a:pPr algn="l" fontAlgn="ctr"/>
                      <a:r>
                        <a:rPr lang="ja-JP" altLang="en-US" sz="800" b="1" i="0" dirty="0">
                          <a:solidFill>
                            <a:srgbClr val="000000"/>
                          </a:solidFill>
                          <a:latin typeface="游ゴシック"/>
                          <a:ea typeface="游ゴシック"/>
                        </a:rPr>
                        <a:t>合計</a:t>
                      </a:r>
                      <a:endParaRPr lang="ja-JP" altLang="en-US" sz="80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104,140</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l" fontAlgn="ctr"/>
                      <a:endParaRPr lang="ja-JP" altLang="en-US" sz="80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r>
            </a:tbl>
          </a:graphicData>
        </a:graphic>
      </p:graphicFrame>
      <p:sp>
        <p:nvSpPr>
          <p:cNvPr id="16" name="TextBox 15"/>
          <p:cNvSpPr txBox="1"/>
          <p:nvPr/>
        </p:nvSpPr>
        <p:spPr>
          <a:xfrm>
            <a:off x="5989320" y="4295140"/>
            <a:ext cx="4389120" cy="493776"/>
          </a:xfrm>
          <a:prstGeom prst="rect">
            <a:avLst/>
          </a:prstGeom>
          <a:noFill/>
        </p:spPr>
        <p:txBody>
          <a:bodyPr wrap="square" lIns="0" rIns="0" tIns="0" bIns="0" anchor="t">
            <a:spAutoFit/>
          </a:bodyPr>
          <a:lstStyle/>
          <a:p>
            <a:pPr algn="l"/>
            <a:r>
              <a:rPr sz="800" b="0">
                <a:solidFill>
                  <a:srgbClr val="000000"/>
                </a:solidFill>
                <a:latin typeface="游ゴシック"/>
                <a:ea typeface="游ゴシック"/>
              </a:rPr>
              <a:t>※固定資産内訳書（2026/3期末）。固定資産台帳は未受領</a:t>
            </a:r>
          </a:p>
          <a:p>
            <a:pPr algn="l"/>
            <a:r>
              <a:rPr sz="800" b="0">
                <a:solidFill>
                  <a:srgbClr val="000000"/>
                </a:solidFill>
                <a:latin typeface="游ゴシック"/>
                <a:ea typeface="游ゴシック"/>
              </a:rPr>
              <a:t>　のため、冷蔵設備・フォークリフト・車両等の明細は</a:t>
            </a:r>
          </a:p>
          <a:p>
            <a:pPr algn="l"/>
            <a:r>
              <a:rPr sz="800" b="0">
                <a:solidFill>
                  <a:srgbClr val="000000"/>
                </a:solidFill>
                <a:latin typeface="游ゴシック"/>
                <a:ea typeface="游ゴシック"/>
              </a:rPr>
              <a:t>　受領後に追加。リース契約の一覧は資料依頼中。</a:t>
            </a:r>
          </a:p>
        </p:txBody>
      </p:sp>
    </p:spTree>
    <p:extLst>
      <p:ext uri="{BB962C8B-B14F-4D97-AF65-F5344CB8AC3E}">
        <p14:creationId xmlns:p14="http://schemas.microsoft.com/office/powerpoint/2010/main" val="9155409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17F8BB-F852-9D0D-47DC-B75AAADC3F2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2D80B5D-88ED-D63E-E6F8-E5830356F6CE}"/>
              </a:ext>
            </a:extLst>
          </p:cNvPr>
          <p:cNvSpPr>
            <a:spLocks noGrp="1"/>
          </p:cNvSpPr>
          <p:nvPr>
            <p:ph type="title"/>
          </p:nvPr>
        </p:nvSpPr>
        <p:spPr>
          <a:xfrm>
            <a:off x="989013" y="3656161"/>
            <a:ext cx="9221787" cy="615553"/>
          </a:xfrm>
        </p:spPr>
        <p:txBody>
          <a:bodyPr/>
          <a:lstStyle/>
          <a:p>
            <a:r>
              <a:rPr lang="ja-JP" altLang="en-US" dirty="0"/>
              <a:t>財務情報詳細</a:t>
            </a:r>
            <a:endParaRPr lang="en-US" altLang="ja-JP" dirty="0"/>
          </a:p>
        </p:txBody>
      </p:sp>
    </p:spTree>
    <p:extLst>
      <p:ext uri="{BB962C8B-B14F-4D97-AF65-F5344CB8AC3E}">
        <p14:creationId xmlns:p14="http://schemas.microsoft.com/office/powerpoint/2010/main" val="15844496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CB347B-E74F-2AA1-D695-C8F2C57E0D27}"/>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8AB158FB-2AD5-0994-A1DD-08907F35E57B}"/>
              </a:ext>
            </a:extLst>
          </p:cNvPr>
          <p:cNvSpPr>
            <a:spLocks noGrp="1"/>
          </p:cNvSpPr>
          <p:nvPr>
            <p:ph type="ctrTitle"/>
          </p:nvPr>
        </p:nvSpPr>
        <p:spPr>
          <a:xfrm>
            <a:off x="311150" y="180296"/>
            <a:ext cx="7799917" cy="339267"/>
          </a:xfrm>
        </p:spPr>
        <p:txBody>
          <a:bodyPr>
            <a:normAutofit/>
          </a:bodyPr>
          <a:lstStyle/>
          <a:p>
            <a:r>
              <a:rPr lang="ja-JP" altLang="en-US" dirty="0"/>
              <a:t>貸借対照表</a:t>
            </a:r>
          </a:p>
        </p:txBody>
      </p:sp>
      <p:sp>
        <p:nvSpPr>
          <p:cNvPr id="5" name="タイトル 1">
            <a:extLst>
              <a:ext uri="{FF2B5EF4-FFF2-40B4-BE49-F238E27FC236}">
                <a16:creationId xmlns:a16="http://schemas.microsoft.com/office/drawing/2014/main" id="{CB37C797-A02B-4ADD-85CA-EEB0AC88114E}"/>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財務情報詳細</a:t>
            </a:r>
          </a:p>
        </p:txBody>
      </p:sp>
      <p:sp>
        <p:nvSpPr>
          <p:cNvPr id="4" name="字幕 13">
            <a:extLst>
              <a:ext uri="{FF2B5EF4-FFF2-40B4-BE49-F238E27FC236}">
                <a16:creationId xmlns:a16="http://schemas.microsoft.com/office/drawing/2014/main" id="{9FB86E35-A8A4-6E80-826F-9FF288E82A13}"/>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a:ea typeface="游ゴシック"/>
              </a:rPr>
              <a:t>直近3期の貸借対照表。借入金の返済により総資産は652百万円→485百万円へ圧縮。市場用地等の事業用資産を自社で保有している。</a:t>
            </a:r>
          </a:p>
        </p:txBody>
      </p:sp>
      <p:graphicFrame>
        <p:nvGraphicFramePr>
          <p:cNvPr id="14" name="表（貸借対照表!B4:E37）"/>
          <p:cNvGraphicFramePr>
            <a:graphicFrameLocks noGrp="1"/>
          </p:cNvGraphicFramePr>
          <p:nvPr/>
        </p:nvGraphicFramePr>
        <p:xfrm>
          <a:off x="310896" y="1325880"/>
          <a:ext cx="4956047" cy="5090130"/>
        </p:xfrm>
        <a:graphic>
          <a:graphicData uri="http://schemas.openxmlformats.org/drawingml/2006/table">
            <a:tbl>
              <a:tblPr firstRow="0" bandRow="0">
                <a:tableStyleId>{2D5ABB26-0587-4C30-8999-92F81FD0307C}</a:tableStyleId>
              </a:tblPr>
              <a:tblGrid>
                <a:gridCol w="2147984"/>
                <a:gridCol w="936021"/>
                <a:gridCol w="936021"/>
                <a:gridCol w="936021"/>
              </a:tblGrid>
              <a:tr h="190500">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r>
              <a:tr h="160020">
                <a:tc gridSpan="4">
                  <a:txBody>
                    <a:bodyPr/>
                    <a:lstStyle/>
                    <a:p>
                      <a:pPr algn="ctr" fontAlgn="ctr"/>
                      <a:r>
                        <a:rPr lang="ja-JP" altLang="en-US" sz="800" b="0" i="0" dirty="0">
                          <a:solidFill>
                            <a:srgbClr val="FFFFFF"/>
                          </a:solidFill>
                          <a:latin typeface="游ゴシック"/>
                          <a:ea typeface="游ゴシック"/>
                        </a:rPr>
                        <a:t>資産の部</a:t>
                      </a:r>
                      <a:endParaRPr lang="ja-JP" altLang="en-US" sz="8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hMerge="1">
                  <a:txBody>
                    <a:bodyPr/>
                    <a:lstStyle/>
                    <a:p>
                      <a:pPr algn="l" fontAlgn="ctr"/>
                      <a:endParaRPr lang="ja-JP" altLang="en-US" sz="756" b="0" i="0" dirty="0">
                        <a:solidFill>
                          <a:srgbClr val="000000"/>
                        </a:solidFill>
                        <a:latin typeface="Calibri"/>
                        <a:ea typeface="游ゴシック"/>
                      </a:endParaRPr>
                    </a:p>
                  </a:txBody>
                  <a:tcPr marL="36576" marR="36576" marT="0" marB="0" anchor="ctr">
                    <a:lnL w="6350">
                      <a:noFill/>
                    </a:lnL>
                    <a:lnR w="6350">
                      <a:noFill/>
                    </a:lnR>
                    <a:lnT w="6350">
                      <a:noFill/>
                    </a:lnT>
                    <a:lnB w="6350">
                      <a:solidFill>
                        <a:srgbClr val="A6A6A6"/>
                      </a:solidFill>
                    </a:lnB>
                    <a:noFill/>
                  </a:tcPr>
                </a:tc>
                <a:tc hMerge="1">
                  <a:txBody>
                    <a:bodyPr/>
                    <a:lstStyle/>
                    <a:p>
                      <a:pPr algn="l" fontAlgn="ctr"/>
                      <a:endParaRPr lang="ja-JP" altLang="en-US" sz="756" b="0" i="0" dirty="0">
                        <a:solidFill>
                          <a:srgbClr val="000000"/>
                        </a:solidFill>
                        <a:latin typeface="Calibri"/>
                        <a:ea typeface="游ゴシック"/>
                      </a:endParaRPr>
                    </a:p>
                  </a:txBody>
                  <a:tcPr marL="36576" marR="36576" marT="0" marB="0" anchor="ctr">
                    <a:lnL w="6350">
                      <a:noFill/>
                    </a:lnL>
                    <a:lnR w="6350">
                      <a:noFill/>
                    </a:lnR>
                    <a:lnT w="6350">
                      <a:noFill/>
                    </a:lnT>
                    <a:lnB w="6350">
                      <a:solidFill>
                        <a:srgbClr val="A6A6A6"/>
                      </a:solidFill>
                    </a:lnB>
                    <a:noFill/>
                  </a:tcPr>
                </a:tc>
                <a:tc hMerge="1">
                  <a:txBody>
                    <a:bodyPr/>
                    <a:lstStyle/>
                    <a:p>
                      <a:pPr algn="l" fontAlgn="ctr"/>
                      <a:endParaRPr lang="ja-JP" altLang="en-US" sz="756" b="0" i="0" dirty="0">
                        <a:solidFill>
                          <a:srgbClr val="000000"/>
                        </a:solidFill>
                        <a:latin typeface="Calibri"/>
                        <a:ea typeface="游ゴシック"/>
                      </a:endParaRPr>
                    </a:p>
                  </a:txBody>
                  <a:tcPr marL="36576" marR="36576" marT="0" marB="0" anchor="ctr">
                    <a:lnL w="6350">
                      <a:noFill/>
                    </a:lnL>
                    <a:lnR w="12700">
                      <a:solidFill>
                        <a:srgbClr val="FFFFFF"/>
                      </a:solidFill>
                    </a:lnR>
                    <a:lnT w="6350">
                      <a:noFill/>
                    </a:lnT>
                    <a:lnB w="6350">
                      <a:solidFill>
                        <a:srgbClr val="A6A6A6"/>
                      </a:solidFill>
                    </a:lnB>
                    <a:noFill/>
                  </a:tcPr>
                </a:tc>
              </a:tr>
              <a:tr h="160020">
                <a:tc>
                  <a:txBody>
                    <a:bodyPr/>
                    <a:lstStyle/>
                    <a:p>
                      <a:pPr algn="ctr" fontAlgn="ctr"/>
                      <a:r>
                        <a:rPr lang="ja-JP" altLang="en-US" sz="800" b="0" i="0" dirty="0">
                          <a:solidFill>
                            <a:srgbClr val="FFFFFF"/>
                          </a:solidFill>
                          <a:latin typeface="游ゴシック"/>
                          <a:ea typeface="游ゴシック"/>
                        </a:rPr>
                        <a:t>科目</a:t>
                      </a:r>
                      <a:endParaRPr lang="ja-JP" altLang="en-US" sz="8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800" b="0" i="0" dirty="0">
                          <a:solidFill>
                            <a:srgbClr val="FFFFFF"/>
                          </a:solidFill>
                          <a:latin typeface="游ゴシック"/>
                          <a:ea typeface="游ゴシック"/>
                        </a:rPr>
                        <a:t>2024年3月期</a:t>
                      </a:r>
                      <a:endParaRPr lang="ja-JP" altLang="en-US" sz="8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800" b="0" i="0" dirty="0">
                          <a:solidFill>
                            <a:srgbClr val="FFFFFF"/>
                          </a:solidFill>
                          <a:latin typeface="游ゴシック"/>
                          <a:ea typeface="游ゴシック"/>
                        </a:rPr>
                        <a:t>2025年3月期</a:t>
                      </a:r>
                      <a:endParaRPr lang="ja-JP" altLang="en-US" sz="8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800" b="0" i="0" dirty="0">
                          <a:solidFill>
                            <a:srgbClr val="FFFFFF"/>
                          </a:solidFill>
                          <a:latin typeface="游ゴシック"/>
                          <a:ea typeface="游ゴシック"/>
                        </a:rPr>
                        <a:t>2026年3月期</a:t>
                      </a:r>
                      <a:endParaRPr lang="ja-JP" altLang="en-US" sz="8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r>
              <a:tr h="147319">
                <a:tc>
                  <a:txBody>
                    <a:bodyPr/>
                    <a:lstStyle/>
                    <a:p>
                      <a:pPr algn="l" fontAlgn="ctr"/>
                      <a:r>
                        <a:rPr lang="ja-JP" altLang="en-US" sz="800" b="1" i="0" dirty="0">
                          <a:solidFill>
                            <a:srgbClr val="000000"/>
                          </a:solidFill>
                          <a:latin typeface="游ゴシック"/>
                          <a:ea typeface="游ゴシック"/>
                        </a:rPr>
                        <a:t>【流動資産】</a:t>
                      </a:r>
                      <a:endParaRPr lang="ja-JP" altLang="en-US" sz="80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375,589</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303,101</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249,705</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r>
              <a:tr h="147319">
                <a:tc>
                  <a:txBody>
                    <a:bodyPr/>
                    <a:lstStyle/>
                    <a:p>
                      <a:pPr algn="l" fontAlgn="ctr"/>
                      <a:r>
                        <a:rPr lang="ja-JP" altLang="en-US" sz="800" b="0" i="0" dirty="0">
                          <a:solidFill>
                            <a:srgbClr val="000000"/>
                          </a:solidFill>
                          <a:latin typeface="游ゴシック"/>
                          <a:ea typeface="游ゴシック"/>
                        </a:rPr>
                        <a:t>　現金及び預金</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339,553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259,719</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210,887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売掛金</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21,171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21,897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19,609</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資材肥料売掛金</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1,352</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1,269</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1,227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棚卸資産</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9,860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15,444</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14,597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立替金</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97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6</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未収入金</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3,684</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3,905</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3,011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前払費用</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109</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96</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84</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仮払金</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493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仮払税金等</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998</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貸倒引当金</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△237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△234</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△203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1" i="0" dirty="0">
                          <a:solidFill>
                            <a:srgbClr val="000000"/>
                          </a:solidFill>
                          <a:latin typeface="游ゴシック"/>
                          <a:ea typeface="游ゴシック"/>
                        </a:rPr>
                        <a:t>【固定資産】</a:t>
                      </a:r>
                      <a:endParaRPr lang="ja-JP" altLang="en-US" sz="80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276,115</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264,261</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235,485</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r>
              <a:tr h="147319">
                <a:tc>
                  <a:txBody>
                    <a:bodyPr/>
                    <a:lstStyle/>
                    <a:p>
                      <a:pPr algn="l" fontAlgn="ctr"/>
                      <a:r>
                        <a:rPr lang="ja-JP" altLang="en-US" sz="800" b="0" i="0" dirty="0">
                          <a:solidFill>
                            <a:srgbClr val="000000"/>
                          </a:solidFill>
                          <a:latin typeface="游ゴシック"/>
                          <a:ea typeface="游ゴシック"/>
                        </a:rPr>
                        <a:t>［有形固定資産］</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0B3041"/>
                      </a:solidFill>
                    </a:lnB>
                    <a:noFill/>
                  </a:tcPr>
                </a:tc>
                <a:tc>
                  <a:txBody>
                    <a:bodyPr/>
                    <a:lstStyle/>
                    <a:p>
                      <a:pPr algn="r" fontAlgn="ctr"/>
                      <a:r>
                        <a:rPr lang="ja-JP" altLang="en-US" sz="800" b="0" i="0" dirty="0">
                          <a:solidFill>
                            <a:srgbClr val="000000"/>
                          </a:solidFill>
                          <a:latin typeface="Arial"/>
                          <a:ea typeface="游ゴシック Medium"/>
                        </a:rPr>
                        <a:t>216,357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0B3041"/>
                      </a:solidFill>
                    </a:lnB>
                    <a:noFill/>
                  </a:tcPr>
                </a:tc>
                <a:tc>
                  <a:txBody>
                    <a:bodyPr/>
                    <a:lstStyle/>
                    <a:p>
                      <a:pPr algn="r" fontAlgn="ctr"/>
                      <a:r>
                        <a:rPr lang="ja-JP" altLang="en-US" sz="800" b="0" i="0" dirty="0">
                          <a:solidFill>
                            <a:srgbClr val="000000"/>
                          </a:solidFill>
                          <a:latin typeface="Arial"/>
                          <a:ea typeface="游ゴシック Medium"/>
                        </a:rPr>
                        <a:t>204,260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0B3041"/>
                      </a:solidFill>
                    </a:lnB>
                    <a:noFill/>
                  </a:tcPr>
                </a:tc>
                <a:tc>
                  <a:txBody>
                    <a:bodyPr/>
                    <a:lstStyle/>
                    <a:p>
                      <a:pPr algn="r" fontAlgn="ctr"/>
                      <a:r>
                        <a:rPr lang="ja-JP" altLang="en-US" sz="800" b="0" i="0" dirty="0">
                          <a:solidFill>
                            <a:srgbClr val="000000"/>
                          </a:solidFill>
                          <a:latin typeface="Arial"/>
                          <a:ea typeface="游ゴシック Medium"/>
                        </a:rPr>
                        <a:t>196,906</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0B3041"/>
                      </a:solidFill>
                    </a:lnB>
                    <a:noFill/>
                  </a:tcPr>
                </a:tc>
              </a:tr>
              <a:tr h="147319">
                <a:tc>
                  <a:txBody>
                    <a:bodyPr/>
                    <a:lstStyle/>
                    <a:p>
                      <a:pPr algn="l" fontAlgn="ctr"/>
                      <a:r>
                        <a:rPr lang="ja-JP" altLang="en-US" sz="800" b="0" i="0" dirty="0">
                          <a:solidFill>
                            <a:srgbClr val="000000"/>
                          </a:solidFill>
                          <a:latin typeface="游ゴシック"/>
                          <a:ea typeface="游ゴシック"/>
                        </a:rPr>
                        <a:t>　建物</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101,162</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95,851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92,066</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建物付属設備</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15,417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13,503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11,400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構築物</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383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333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284</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機械装置</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134</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車両運搬具</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5,838</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1,282</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工具器具備品</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288</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153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19</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土地</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93,137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93,137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93,137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［無形固定資産］</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0B3041"/>
                      </a:solidFill>
                    </a:lnB>
                    <a:noFill/>
                  </a:tcPr>
                </a:tc>
                <a:tc>
                  <a:txBody>
                    <a:bodyPr/>
                    <a:lstStyle/>
                    <a:p>
                      <a:pPr algn="r" fontAlgn="ctr"/>
                      <a:r>
                        <a:rPr lang="ja-JP" altLang="en-US" sz="800" b="0" i="0" dirty="0">
                          <a:solidFill>
                            <a:srgbClr val="000000"/>
                          </a:solidFill>
                          <a:latin typeface="Arial"/>
                          <a:ea typeface="游ゴシック Medium"/>
                        </a:rPr>
                        <a:t>2,871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0B3041"/>
                      </a:solidFill>
                    </a:lnB>
                    <a:noFill/>
                  </a:tcPr>
                </a:tc>
                <a:tc>
                  <a:txBody>
                    <a:bodyPr/>
                    <a:lstStyle/>
                    <a:p>
                      <a:pPr algn="r" fontAlgn="ctr"/>
                      <a:r>
                        <a:rPr lang="ja-JP" altLang="en-US" sz="800" b="0" i="0" dirty="0">
                          <a:solidFill>
                            <a:srgbClr val="000000"/>
                          </a:solidFill>
                          <a:latin typeface="Arial"/>
                          <a:ea typeface="游ゴシック Medium"/>
                        </a:rPr>
                        <a:t>2,699</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0B3041"/>
                      </a:solidFill>
                    </a:lnB>
                    <a:noFill/>
                  </a:tcPr>
                </a:tc>
                <a:tc>
                  <a:txBody>
                    <a:bodyPr/>
                    <a:lstStyle/>
                    <a:p>
                      <a:pPr algn="r" fontAlgn="ctr"/>
                      <a:r>
                        <a:rPr lang="ja-JP" altLang="en-US" sz="800" b="0" i="0" dirty="0">
                          <a:solidFill>
                            <a:srgbClr val="000000"/>
                          </a:solidFill>
                          <a:latin typeface="Arial"/>
                          <a:ea typeface="游ゴシック Medium"/>
                        </a:rPr>
                        <a:t>2,527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0B3041"/>
                      </a:solidFill>
                    </a:lnB>
                    <a:noFill/>
                  </a:tcPr>
                </a:tc>
              </a:tr>
              <a:tr h="147319">
                <a:tc>
                  <a:txBody>
                    <a:bodyPr/>
                    <a:lstStyle/>
                    <a:p>
                      <a:pPr algn="l" fontAlgn="ctr"/>
                      <a:r>
                        <a:rPr lang="ja-JP" altLang="en-US" sz="800" b="0" i="0" dirty="0">
                          <a:solidFill>
                            <a:srgbClr val="000000"/>
                          </a:solidFill>
                          <a:latin typeface="游ゴシック"/>
                          <a:ea typeface="游ゴシック"/>
                        </a:rPr>
                        <a:t>　電話加入権</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2,156</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2,156</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2,156</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ソフトウェア</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715</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543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372</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［投資その他の資産］</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0B3041"/>
                      </a:solidFill>
                    </a:lnB>
                    <a:noFill/>
                  </a:tcPr>
                </a:tc>
                <a:tc>
                  <a:txBody>
                    <a:bodyPr/>
                    <a:lstStyle/>
                    <a:p>
                      <a:pPr algn="r" fontAlgn="ctr"/>
                      <a:r>
                        <a:rPr lang="ja-JP" altLang="en-US" sz="800" b="0" i="0" dirty="0">
                          <a:solidFill>
                            <a:srgbClr val="000000"/>
                          </a:solidFill>
                          <a:latin typeface="Arial"/>
                          <a:ea typeface="游ゴシック Medium"/>
                        </a:rPr>
                        <a:t>56,887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0B3041"/>
                      </a:solidFill>
                    </a:lnB>
                    <a:noFill/>
                  </a:tcPr>
                </a:tc>
                <a:tc>
                  <a:txBody>
                    <a:bodyPr/>
                    <a:lstStyle/>
                    <a:p>
                      <a:pPr algn="r" fontAlgn="ctr"/>
                      <a:r>
                        <a:rPr lang="ja-JP" altLang="en-US" sz="800" b="0" i="0" dirty="0">
                          <a:solidFill>
                            <a:srgbClr val="000000"/>
                          </a:solidFill>
                          <a:latin typeface="Arial"/>
                          <a:ea typeface="游ゴシック Medium"/>
                        </a:rPr>
                        <a:t>57,302</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0B3041"/>
                      </a:solidFill>
                    </a:lnB>
                    <a:noFill/>
                  </a:tcPr>
                </a:tc>
                <a:tc>
                  <a:txBody>
                    <a:bodyPr/>
                    <a:lstStyle/>
                    <a:p>
                      <a:pPr algn="r" fontAlgn="ctr"/>
                      <a:r>
                        <a:rPr lang="ja-JP" altLang="en-US" sz="800" b="0" i="0" dirty="0">
                          <a:solidFill>
                            <a:srgbClr val="000000"/>
                          </a:solidFill>
                          <a:latin typeface="Arial"/>
                          <a:ea typeface="游ゴシック Medium"/>
                        </a:rPr>
                        <a:t>36,052</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0B3041"/>
                      </a:solidFill>
                    </a:lnB>
                    <a:noFill/>
                  </a:tcPr>
                </a:tc>
              </a:tr>
              <a:tr h="160020">
                <a:tc>
                  <a:txBody>
                    <a:bodyPr/>
                    <a:lstStyle/>
                    <a:p>
                      <a:pPr algn="l" fontAlgn="ctr"/>
                      <a:r>
                        <a:rPr lang="ja-JP" altLang="en-US" sz="800" b="0" i="0" dirty="0">
                          <a:solidFill>
                            <a:srgbClr val="000000"/>
                          </a:solidFill>
                          <a:latin typeface="游ゴシック"/>
                          <a:ea typeface="游ゴシック"/>
                        </a:rPr>
                        <a:t>　投資有価証券</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3,250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3,250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2,600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出資金</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75</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75</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75</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長期前払費用</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397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75</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75</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保証金</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32,003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33,003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33,303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事業保険積立金</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21,162</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20,900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1" i="0" dirty="0">
                          <a:solidFill>
                            <a:srgbClr val="000000"/>
                          </a:solidFill>
                          <a:latin typeface="游ゴシック"/>
                          <a:ea typeface="游ゴシック"/>
                        </a:rPr>
                        <a:t>【繰延資産】</a:t>
                      </a:r>
                      <a:endParaRPr lang="ja-JP" altLang="en-US" sz="80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244</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167</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r>
              <a:tr h="147319">
                <a:tc>
                  <a:txBody>
                    <a:bodyPr/>
                    <a:lstStyle/>
                    <a:p>
                      <a:pPr algn="l" fontAlgn="ctr"/>
                      <a:r>
                        <a:rPr lang="ja-JP" altLang="en-US" sz="800" b="1" i="0" dirty="0">
                          <a:solidFill>
                            <a:srgbClr val="FFFFFF"/>
                          </a:solidFill>
                          <a:latin typeface="游ゴシック"/>
                          <a:ea typeface="游ゴシック"/>
                        </a:rPr>
                        <a:t>資産合計</a:t>
                      </a:r>
                      <a:endParaRPr lang="ja-JP" altLang="en-US" sz="800" b="1"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r" fontAlgn="ctr"/>
                      <a:r>
                        <a:rPr lang="ja-JP" altLang="en-US" sz="800" b="1" i="0" dirty="0">
                          <a:solidFill>
                            <a:srgbClr val="FFFFFF"/>
                          </a:solidFill>
                          <a:latin typeface="Arial"/>
                          <a:ea typeface="游ゴシック Medium"/>
                        </a:rPr>
                        <a:t>651,948</a:t>
                      </a:r>
                      <a:endParaRPr lang="ja-JP" altLang="en-US" sz="800" b="1" i="0" dirty="0">
                        <a:solidFill>
                          <a:srgbClr val="FFFFFF"/>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r" fontAlgn="ctr"/>
                      <a:r>
                        <a:rPr lang="ja-JP" altLang="en-US" sz="800" b="1" i="0" dirty="0">
                          <a:solidFill>
                            <a:srgbClr val="FFFFFF"/>
                          </a:solidFill>
                          <a:latin typeface="Arial"/>
                          <a:ea typeface="游ゴシック Medium"/>
                        </a:rPr>
                        <a:t>567,529</a:t>
                      </a:r>
                      <a:endParaRPr lang="ja-JP" altLang="en-US" sz="800" b="1" i="0" dirty="0">
                        <a:solidFill>
                          <a:srgbClr val="FFFFFF"/>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r" fontAlgn="ctr"/>
                      <a:r>
                        <a:rPr lang="ja-JP" altLang="en-US" sz="800" b="1" i="0" dirty="0">
                          <a:solidFill>
                            <a:srgbClr val="FFFFFF"/>
                          </a:solidFill>
                          <a:latin typeface="Arial"/>
                          <a:ea typeface="游ゴシック Medium"/>
                        </a:rPr>
                        <a:t>485,190</a:t>
                      </a:r>
                      <a:endParaRPr lang="ja-JP" altLang="en-US" sz="800" b="1" i="0" dirty="0">
                        <a:solidFill>
                          <a:srgbClr val="FFFFFF"/>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r>
            </a:tbl>
          </a:graphicData>
        </a:graphic>
      </p:graphicFrame>
      <p:graphicFrame>
        <p:nvGraphicFramePr>
          <p:cNvPr id="15" name="表（貸借対照表!G5:J16）"/>
          <p:cNvGraphicFramePr>
            <a:graphicFrameLocks noGrp="1"/>
          </p:cNvGraphicFramePr>
          <p:nvPr/>
        </p:nvGraphicFramePr>
        <p:xfrm>
          <a:off x="5376672" y="1516380"/>
          <a:ext cx="4956047" cy="1793230"/>
        </p:xfrm>
        <a:graphic>
          <a:graphicData uri="http://schemas.openxmlformats.org/drawingml/2006/table">
            <a:tbl>
              <a:tblPr firstRow="0" bandRow="0">
                <a:tableStyleId>{2D5ABB26-0587-4C30-8999-92F81FD0307C}</a:tableStyleId>
              </a:tblPr>
              <a:tblGrid>
                <a:gridCol w="2147984"/>
                <a:gridCol w="936021"/>
                <a:gridCol w="936021"/>
                <a:gridCol w="936021"/>
              </a:tblGrid>
              <a:tr h="160020">
                <a:tc gridSpan="4">
                  <a:txBody>
                    <a:bodyPr/>
                    <a:lstStyle/>
                    <a:p>
                      <a:pPr algn="ctr" fontAlgn="ctr"/>
                      <a:r>
                        <a:rPr lang="ja-JP" altLang="en-US" sz="800" b="0" i="0" dirty="0">
                          <a:solidFill>
                            <a:srgbClr val="FFFFFF"/>
                          </a:solidFill>
                          <a:latin typeface="游ゴシック"/>
                          <a:ea typeface="游ゴシック"/>
                        </a:rPr>
                        <a:t>負債の部</a:t>
                      </a:r>
                      <a:endParaRPr lang="ja-JP" altLang="en-US" sz="8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hMerge="1">
                  <a:txBody>
                    <a:bodyPr/>
                    <a:lstStyle/>
                    <a:p>
                      <a:pPr algn="l" fontAlgn="ctr"/>
                      <a:endParaRPr lang="ja-JP" altLang="en-US" sz="756" b="0" i="0" dirty="0">
                        <a:solidFill>
                          <a:srgbClr val="000000"/>
                        </a:solidFill>
                        <a:latin typeface="Calibri"/>
                        <a:ea typeface="游ゴシック"/>
                      </a:endParaRPr>
                    </a:p>
                  </a:txBody>
                  <a:tcPr marL="36576" marR="36576" marT="0" marB="0" anchor="ctr">
                    <a:lnL w="6350">
                      <a:noFill/>
                    </a:lnL>
                    <a:lnR w="6350">
                      <a:noFill/>
                    </a:lnR>
                    <a:lnT w="6350">
                      <a:noFill/>
                    </a:lnT>
                    <a:lnB w="6350">
                      <a:solidFill>
                        <a:srgbClr val="A6A6A6"/>
                      </a:solidFill>
                    </a:lnB>
                    <a:noFill/>
                  </a:tcPr>
                </a:tc>
                <a:tc hMerge="1">
                  <a:txBody>
                    <a:bodyPr/>
                    <a:lstStyle/>
                    <a:p>
                      <a:pPr algn="l" fontAlgn="ctr"/>
                      <a:endParaRPr lang="ja-JP" altLang="en-US" sz="756" b="0" i="0" dirty="0">
                        <a:solidFill>
                          <a:srgbClr val="000000"/>
                        </a:solidFill>
                        <a:latin typeface="Calibri"/>
                        <a:ea typeface="游ゴシック"/>
                      </a:endParaRPr>
                    </a:p>
                  </a:txBody>
                  <a:tcPr marL="36576" marR="36576" marT="0" marB="0" anchor="ctr">
                    <a:lnL w="6350">
                      <a:noFill/>
                    </a:lnL>
                    <a:lnR w="6350">
                      <a:noFill/>
                    </a:lnR>
                    <a:lnT w="6350">
                      <a:noFill/>
                    </a:lnT>
                    <a:lnB w="6350">
                      <a:solidFill>
                        <a:srgbClr val="A6A6A6"/>
                      </a:solidFill>
                    </a:lnB>
                    <a:noFill/>
                  </a:tcPr>
                </a:tc>
                <a:tc hMerge="1">
                  <a:txBody>
                    <a:bodyPr/>
                    <a:lstStyle/>
                    <a:p>
                      <a:pPr algn="l" fontAlgn="ctr"/>
                      <a:endParaRPr lang="ja-JP" altLang="en-US" sz="756" b="0" i="0" dirty="0">
                        <a:solidFill>
                          <a:srgbClr val="000000"/>
                        </a:solidFill>
                        <a:latin typeface="Calibri"/>
                        <a:ea typeface="游ゴシック"/>
                      </a:endParaRPr>
                    </a:p>
                  </a:txBody>
                  <a:tcPr marL="36576" marR="36576" marT="0" marB="0" anchor="ctr">
                    <a:lnL w="6350">
                      <a:noFill/>
                    </a:lnL>
                    <a:lnR w="12700">
                      <a:solidFill>
                        <a:srgbClr val="FFFFFF"/>
                      </a:solidFill>
                    </a:lnR>
                    <a:lnT w="6350">
                      <a:noFill/>
                    </a:lnT>
                    <a:lnB w="6350">
                      <a:solidFill>
                        <a:srgbClr val="A6A6A6"/>
                      </a:solidFill>
                    </a:lnB>
                    <a:noFill/>
                  </a:tcPr>
                </a:tc>
              </a:tr>
              <a:tr h="160020">
                <a:tc>
                  <a:txBody>
                    <a:bodyPr/>
                    <a:lstStyle/>
                    <a:p>
                      <a:pPr algn="ctr" fontAlgn="ctr"/>
                      <a:r>
                        <a:rPr lang="ja-JP" altLang="en-US" sz="800" b="0" i="0" dirty="0">
                          <a:solidFill>
                            <a:srgbClr val="FFFFFF"/>
                          </a:solidFill>
                          <a:latin typeface="游ゴシック"/>
                          <a:ea typeface="游ゴシック"/>
                        </a:rPr>
                        <a:t>科目</a:t>
                      </a:r>
                      <a:endParaRPr lang="ja-JP" altLang="en-US" sz="8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800" b="0" i="0" dirty="0">
                          <a:solidFill>
                            <a:srgbClr val="FFFFFF"/>
                          </a:solidFill>
                          <a:latin typeface="游ゴシック"/>
                          <a:ea typeface="游ゴシック"/>
                        </a:rPr>
                        <a:t>2024年3月期</a:t>
                      </a:r>
                      <a:endParaRPr lang="ja-JP" altLang="en-US" sz="8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800" b="0" i="0" dirty="0">
                          <a:solidFill>
                            <a:srgbClr val="FFFFFF"/>
                          </a:solidFill>
                          <a:latin typeface="游ゴシック"/>
                          <a:ea typeface="游ゴシック"/>
                        </a:rPr>
                        <a:t>2025年3月期</a:t>
                      </a:r>
                      <a:endParaRPr lang="ja-JP" altLang="en-US" sz="8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800" b="0" i="0" dirty="0">
                          <a:solidFill>
                            <a:srgbClr val="FFFFFF"/>
                          </a:solidFill>
                          <a:latin typeface="游ゴシック"/>
                          <a:ea typeface="游ゴシック"/>
                        </a:rPr>
                        <a:t>2026年3月期</a:t>
                      </a:r>
                      <a:endParaRPr lang="ja-JP" altLang="en-US" sz="8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r>
              <a:tr h="147319">
                <a:tc>
                  <a:txBody>
                    <a:bodyPr/>
                    <a:lstStyle/>
                    <a:p>
                      <a:pPr algn="l" fontAlgn="ctr"/>
                      <a:r>
                        <a:rPr lang="ja-JP" altLang="en-US" sz="800" b="1" i="0" dirty="0">
                          <a:solidFill>
                            <a:srgbClr val="000000"/>
                          </a:solidFill>
                          <a:latin typeface="游ゴシック"/>
                          <a:ea typeface="游ゴシック"/>
                        </a:rPr>
                        <a:t>【流動負債】</a:t>
                      </a:r>
                      <a:endParaRPr lang="ja-JP" altLang="en-US" sz="80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34,109</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29,456</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37,280</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r>
              <a:tr h="147319">
                <a:tc>
                  <a:txBody>
                    <a:bodyPr/>
                    <a:lstStyle/>
                    <a:p>
                      <a:pPr algn="l" fontAlgn="ctr"/>
                      <a:r>
                        <a:rPr lang="ja-JP" altLang="en-US" sz="800" b="0" i="0" dirty="0">
                          <a:solidFill>
                            <a:srgbClr val="000000"/>
                          </a:solidFill>
                          <a:latin typeface="游ゴシック"/>
                          <a:ea typeface="游ゴシック"/>
                        </a:rPr>
                        <a:t>　買掛金</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18,128</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19,955</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26,349</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未払金</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10,199</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7,303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6,630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預り金</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504</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558</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281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未払法人税等</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2,308</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34</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1,851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未払消費税</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2,970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1,607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2,168</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1" i="0" dirty="0">
                          <a:solidFill>
                            <a:srgbClr val="000000"/>
                          </a:solidFill>
                          <a:latin typeface="游ゴシック"/>
                          <a:ea typeface="游ゴシック"/>
                        </a:rPr>
                        <a:t>【固定負債】</a:t>
                      </a:r>
                      <a:endParaRPr lang="ja-JP" altLang="en-US" sz="80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525,010</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444,316</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370,038</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r>
              <a:tr h="147319">
                <a:tc>
                  <a:txBody>
                    <a:bodyPr/>
                    <a:lstStyle/>
                    <a:p>
                      <a:pPr algn="l" fontAlgn="ctr"/>
                      <a:r>
                        <a:rPr lang="ja-JP" altLang="en-US" sz="800" b="0" i="0" dirty="0">
                          <a:solidFill>
                            <a:srgbClr val="000000"/>
                          </a:solidFill>
                          <a:latin typeface="游ゴシック"/>
                          <a:ea typeface="游ゴシック"/>
                        </a:rPr>
                        <a:t>　長期借入金</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514,690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434,046</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361,058</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預り保証金</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10,320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10,270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8,980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1" i="0" dirty="0">
                          <a:solidFill>
                            <a:srgbClr val="FFFFFF"/>
                          </a:solidFill>
                          <a:latin typeface="游ゴシック"/>
                          <a:ea typeface="游ゴシック"/>
                        </a:rPr>
                        <a:t>負債合計</a:t>
                      </a:r>
                      <a:endParaRPr lang="ja-JP" altLang="en-US" sz="800" b="1"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r" fontAlgn="ctr"/>
                      <a:r>
                        <a:rPr lang="ja-JP" altLang="en-US" sz="800" b="1" i="0" dirty="0">
                          <a:solidFill>
                            <a:srgbClr val="FFFFFF"/>
                          </a:solidFill>
                          <a:latin typeface="Arial"/>
                          <a:ea typeface="游ゴシック Medium"/>
                        </a:rPr>
                        <a:t>559,119</a:t>
                      </a:r>
                      <a:endParaRPr lang="ja-JP" altLang="en-US" sz="800" b="1" i="0" dirty="0">
                        <a:solidFill>
                          <a:srgbClr val="FFFFFF"/>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r" fontAlgn="ctr"/>
                      <a:r>
                        <a:rPr lang="ja-JP" altLang="en-US" sz="800" b="1" i="0" dirty="0">
                          <a:solidFill>
                            <a:srgbClr val="FFFFFF"/>
                          </a:solidFill>
                          <a:latin typeface="Arial"/>
                          <a:ea typeface="游ゴシック Medium"/>
                        </a:rPr>
                        <a:t>473,772</a:t>
                      </a:r>
                      <a:endParaRPr lang="ja-JP" altLang="en-US" sz="800" b="1" i="0" dirty="0">
                        <a:solidFill>
                          <a:srgbClr val="FFFFFF"/>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r" fontAlgn="ctr"/>
                      <a:r>
                        <a:rPr lang="ja-JP" altLang="en-US" sz="800" b="1" i="0" dirty="0">
                          <a:solidFill>
                            <a:srgbClr val="FFFFFF"/>
                          </a:solidFill>
                          <a:latin typeface="Arial"/>
                          <a:ea typeface="游ゴシック Medium"/>
                        </a:rPr>
                        <a:t>407,318</a:t>
                      </a:r>
                      <a:endParaRPr lang="ja-JP" altLang="en-US" sz="800" b="1" i="0" dirty="0">
                        <a:solidFill>
                          <a:srgbClr val="FFFFFF"/>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r>
            </a:tbl>
          </a:graphicData>
        </a:graphic>
      </p:graphicFrame>
      <p:graphicFrame>
        <p:nvGraphicFramePr>
          <p:cNvPr id="16" name="表（貸借対照表!G31:J37）"/>
          <p:cNvGraphicFramePr>
            <a:graphicFrameLocks noGrp="1"/>
          </p:cNvGraphicFramePr>
          <p:nvPr/>
        </p:nvGraphicFramePr>
        <p:xfrm>
          <a:off x="5376672" y="5372099"/>
          <a:ext cx="4956047" cy="1043934"/>
        </p:xfrm>
        <a:graphic>
          <a:graphicData uri="http://schemas.openxmlformats.org/drawingml/2006/table">
            <a:tbl>
              <a:tblPr firstRow="0" bandRow="0">
                <a:tableStyleId>{2D5ABB26-0587-4C30-8999-92F81FD0307C}</a:tableStyleId>
              </a:tblPr>
              <a:tblGrid>
                <a:gridCol w="2147984"/>
                <a:gridCol w="936021"/>
                <a:gridCol w="936021"/>
                <a:gridCol w="936021"/>
              </a:tblGrid>
              <a:tr h="160020">
                <a:tc gridSpan="4">
                  <a:txBody>
                    <a:bodyPr/>
                    <a:lstStyle/>
                    <a:p>
                      <a:pPr algn="ctr" fontAlgn="ctr"/>
                      <a:r>
                        <a:rPr lang="ja-JP" altLang="en-US" sz="800" b="0" i="0" dirty="0">
                          <a:solidFill>
                            <a:srgbClr val="FFFFFF"/>
                          </a:solidFill>
                          <a:latin typeface="游ゴシック"/>
                          <a:ea typeface="游ゴシック"/>
                        </a:rPr>
                        <a:t>純資産の部</a:t>
                      </a:r>
                      <a:endParaRPr lang="ja-JP" altLang="en-US" sz="8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hMerge="1">
                  <a:txBody>
                    <a:bodyPr/>
                    <a:lstStyle/>
                    <a:p>
                      <a:pPr algn="l" fontAlgn="ctr"/>
                      <a:endParaRPr lang="ja-JP" altLang="en-US" sz="756" b="0" i="0" dirty="0">
                        <a:solidFill>
                          <a:srgbClr val="000000"/>
                        </a:solidFill>
                        <a:latin typeface="Calibri"/>
                        <a:ea typeface="游ゴシック"/>
                      </a:endParaRPr>
                    </a:p>
                  </a:txBody>
                  <a:tcPr marL="36576" marR="36576" marT="0" marB="0" anchor="ctr">
                    <a:lnL w="6350">
                      <a:noFill/>
                    </a:lnL>
                    <a:lnR w="6350">
                      <a:noFill/>
                    </a:lnR>
                    <a:lnT w="6350">
                      <a:noFill/>
                    </a:lnT>
                    <a:lnB w="6350">
                      <a:solidFill>
                        <a:srgbClr val="A6A6A6"/>
                      </a:solidFill>
                    </a:lnB>
                    <a:noFill/>
                  </a:tcPr>
                </a:tc>
                <a:tc hMerge="1">
                  <a:txBody>
                    <a:bodyPr/>
                    <a:lstStyle/>
                    <a:p>
                      <a:pPr algn="l" fontAlgn="ctr"/>
                      <a:endParaRPr lang="ja-JP" altLang="en-US" sz="756" b="0" i="0" dirty="0">
                        <a:solidFill>
                          <a:srgbClr val="000000"/>
                        </a:solidFill>
                        <a:latin typeface="Calibri"/>
                        <a:ea typeface="游ゴシック"/>
                      </a:endParaRPr>
                    </a:p>
                  </a:txBody>
                  <a:tcPr marL="36576" marR="36576" marT="0" marB="0" anchor="ctr">
                    <a:lnL w="6350">
                      <a:noFill/>
                    </a:lnL>
                    <a:lnR w="6350">
                      <a:noFill/>
                    </a:lnR>
                    <a:lnT w="6350">
                      <a:noFill/>
                    </a:lnT>
                    <a:lnB w="6350">
                      <a:solidFill>
                        <a:srgbClr val="A6A6A6"/>
                      </a:solidFill>
                    </a:lnB>
                    <a:noFill/>
                  </a:tcPr>
                </a:tc>
                <a:tc hMerge="1">
                  <a:txBody>
                    <a:bodyPr/>
                    <a:lstStyle/>
                    <a:p>
                      <a:pPr algn="l" fontAlgn="ctr"/>
                      <a:endParaRPr lang="ja-JP" altLang="en-US" sz="756" b="0" i="0" dirty="0">
                        <a:solidFill>
                          <a:srgbClr val="000000"/>
                        </a:solidFill>
                        <a:latin typeface="Calibri"/>
                        <a:ea typeface="游ゴシック"/>
                      </a:endParaRPr>
                    </a:p>
                  </a:txBody>
                  <a:tcPr marL="36576" marR="36576" marT="0" marB="0" anchor="ctr">
                    <a:lnL w="6350">
                      <a:noFill/>
                    </a:lnL>
                    <a:lnR w="12700">
                      <a:solidFill>
                        <a:srgbClr val="FFFFFF"/>
                      </a:solidFill>
                    </a:lnR>
                    <a:lnT w="6350">
                      <a:noFill/>
                    </a:lnT>
                    <a:lnB w="6350">
                      <a:solidFill>
                        <a:srgbClr val="A6A6A6"/>
                      </a:solidFill>
                    </a:lnB>
                    <a:noFill/>
                  </a:tcPr>
                </a:tc>
              </a:tr>
              <a:tr h="147319">
                <a:tc>
                  <a:txBody>
                    <a:bodyPr/>
                    <a:lstStyle/>
                    <a:p>
                      <a:pPr algn="l" fontAlgn="ctr"/>
                      <a:r>
                        <a:rPr lang="ja-JP" altLang="en-US" sz="800" b="1" i="0" dirty="0">
                          <a:solidFill>
                            <a:srgbClr val="000000"/>
                          </a:solidFill>
                          <a:latin typeface="游ゴシック"/>
                          <a:ea typeface="游ゴシック"/>
                        </a:rPr>
                        <a:t>【資本金】</a:t>
                      </a:r>
                      <a:endParaRPr lang="ja-JP" altLang="en-US" sz="80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40,000</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40,000</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40,000</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r>
              <a:tr h="147319">
                <a:tc>
                  <a:txBody>
                    <a:bodyPr/>
                    <a:lstStyle/>
                    <a:p>
                      <a:pPr algn="l" fontAlgn="ctr"/>
                      <a:r>
                        <a:rPr lang="ja-JP" altLang="en-US" sz="800" b="1" i="0" dirty="0">
                          <a:solidFill>
                            <a:srgbClr val="000000"/>
                          </a:solidFill>
                          <a:latin typeface="游ゴシック"/>
                          <a:ea typeface="游ゴシック"/>
                        </a:rPr>
                        <a:t>【利益剰余金】</a:t>
                      </a:r>
                      <a:endParaRPr lang="ja-JP" altLang="en-US" sz="80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52,828</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53,757</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37,873</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r>
              <a:tr h="147319">
                <a:tc>
                  <a:txBody>
                    <a:bodyPr/>
                    <a:lstStyle/>
                    <a:p>
                      <a:pPr algn="l" fontAlgn="ctr"/>
                      <a:r>
                        <a:rPr lang="ja-JP" altLang="en-US" sz="800" b="0" i="0" dirty="0">
                          <a:solidFill>
                            <a:srgbClr val="000000"/>
                          </a:solidFill>
                          <a:latin typeface="游ゴシック"/>
                          <a:ea typeface="游ゴシック"/>
                        </a:rPr>
                        <a:t>　利益準備金</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1,800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2,000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2,080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繰越利益剰余金</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51,028</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51,757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35,793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1" i="0" dirty="0">
                          <a:solidFill>
                            <a:srgbClr val="FFFFFF"/>
                          </a:solidFill>
                          <a:latin typeface="游ゴシック"/>
                          <a:ea typeface="游ゴシック"/>
                        </a:rPr>
                        <a:t>純資産合計</a:t>
                      </a:r>
                      <a:endParaRPr lang="ja-JP" altLang="en-US" sz="800" b="1"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r" fontAlgn="ctr"/>
                      <a:r>
                        <a:rPr lang="ja-JP" altLang="en-US" sz="800" b="1" i="0" dirty="0">
                          <a:solidFill>
                            <a:srgbClr val="FFFFFF"/>
                          </a:solidFill>
                          <a:latin typeface="Arial"/>
                          <a:ea typeface="游ゴシック Medium"/>
                        </a:rPr>
                        <a:t>92,828</a:t>
                      </a:r>
                      <a:endParaRPr lang="ja-JP" altLang="en-US" sz="800" b="1" i="0" dirty="0">
                        <a:solidFill>
                          <a:srgbClr val="FFFFFF"/>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r" fontAlgn="ctr"/>
                      <a:r>
                        <a:rPr lang="ja-JP" altLang="en-US" sz="800" b="1" i="0" dirty="0">
                          <a:solidFill>
                            <a:srgbClr val="FFFFFF"/>
                          </a:solidFill>
                          <a:latin typeface="Arial"/>
                          <a:ea typeface="游ゴシック Medium"/>
                        </a:rPr>
                        <a:t>93,757</a:t>
                      </a:r>
                      <a:endParaRPr lang="ja-JP" altLang="en-US" sz="800" b="1" i="0" dirty="0">
                        <a:solidFill>
                          <a:srgbClr val="FFFFFF"/>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r" fontAlgn="ctr"/>
                      <a:r>
                        <a:rPr lang="ja-JP" altLang="en-US" sz="800" b="1" i="0" dirty="0">
                          <a:solidFill>
                            <a:srgbClr val="FFFFFF"/>
                          </a:solidFill>
                          <a:latin typeface="Arial"/>
                          <a:ea typeface="游ゴシック Medium"/>
                        </a:rPr>
                        <a:t>77,873</a:t>
                      </a:r>
                      <a:endParaRPr lang="ja-JP" altLang="en-US" sz="800" b="1" i="0" dirty="0">
                        <a:solidFill>
                          <a:srgbClr val="FFFFFF"/>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r>
              <a:tr h="147319">
                <a:tc>
                  <a:txBody>
                    <a:bodyPr/>
                    <a:lstStyle/>
                    <a:p>
                      <a:pPr algn="l" fontAlgn="ctr"/>
                      <a:r>
                        <a:rPr lang="ja-JP" altLang="en-US" sz="800" b="1" i="0" dirty="0">
                          <a:solidFill>
                            <a:srgbClr val="FFFFFF"/>
                          </a:solidFill>
                          <a:latin typeface="游ゴシック"/>
                          <a:ea typeface="游ゴシック"/>
                        </a:rPr>
                        <a:t>負債・純資産合計</a:t>
                      </a:r>
                      <a:endParaRPr lang="ja-JP" altLang="en-US" sz="800" b="1"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r" fontAlgn="ctr"/>
                      <a:r>
                        <a:rPr lang="ja-JP" altLang="en-US" sz="800" b="1" i="0" dirty="0">
                          <a:solidFill>
                            <a:srgbClr val="FFFFFF"/>
                          </a:solidFill>
                          <a:latin typeface="Arial"/>
                          <a:ea typeface="游ゴシック Medium"/>
                        </a:rPr>
                        <a:t>651,948</a:t>
                      </a:r>
                      <a:endParaRPr lang="ja-JP" altLang="en-US" sz="800" b="1" i="0" dirty="0">
                        <a:solidFill>
                          <a:srgbClr val="FFFFFF"/>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r" fontAlgn="ctr"/>
                      <a:r>
                        <a:rPr lang="ja-JP" altLang="en-US" sz="800" b="1" i="0" dirty="0">
                          <a:solidFill>
                            <a:srgbClr val="FFFFFF"/>
                          </a:solidFill>
                          <a:latin typeface="Arial"/>
                          <a:ea typeface="游ゴシック Medium"/>
                        </a:rPr>
                        <a:t>567,529</a:t>
                      </a:r>
                      <a:endParaRPr lang="ja-JP" altLang="en-US" sz="800" b="1" i="0" dirty="0">
                        <a:solidFill>
                          <a:srgbClr val="FFFFFF"/>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r" fontAlgn="ctr"/>
                      <a:r>
                        <a:rPr lang="ja-JP" altLang="en-US" sz="800" b="1" i="0" dirty="0">
                          <a:solidFill>
                            <a:srgbClr val="FFFFFF"/>
                          </a:solidFill>
                          <a:latin typeface="Arial"/>
                          <a:ea typeface="游ゴシック Medium"/>
                        </a:rPr>
                        <a:t>485,190</a:t>
                      </a:r>
                      <a:endParaRPr lang="ja-JP" altLang="en-US" sz="800" b="1" i="0" dirty="0">
                        <a:solidFill>
                          <a:srgbClr val="FFFFFF"/>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r>
            </a:tbl>
          </a:graphicData>
        </a:graphic>
      </p:graphicFrame>
    </p:spTree>
    <p:extLst>
      <p:ext uri="{BB962C8B-B14F-4D97-AF65-F5344CB8AC3E}">
        <p14:creationId xmlns:p14="http://schemas.microsoft.com/office/powerpoint/2010/main" val="28778819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D83D88-B54F-0820-A617-759035C5FFCE}"/>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2C2D39CC-0147-8513-46F0-368EBE22D97C}"/>
              </a:ext>
            </a:extLst>
          </p:cNvPr>
          <p:cNvSpPr>
            <a:spLocks noGrp="1"/>
          </p:cNvSpPr>
          <p:nvPr>
            <p:ph type="ctrTitle"/>
          </p:nvPr>
        </p:nvSpPr>
        <p:spPr>
          <a:xfrm>
            <a:off x="311150" y="180296"/>
            <a:ext cx="7799917" cy="339267"/>
          </a:xfrm>
        </p:spPr>
        <p:txBody>
          <a:bodyPr>
            <a:normAutofit/>
          </a:bodyPr>
          <a:lstStyle/>
          <a:p>
            <a:r>
              <a:rPr lang="ja-JP" altLang="en-US" dirty="0"/>
              <a:t>損益計算書</a:t>
            </a:r>
          </a:p>
        </p:txBody>
      </p:sp>
      <p:sp>
        <p:nvSpPr>
          <p:cNvPr id="5" name="タイトル 1">
            <a:extLst>
              <a:ext uri="{FF2B5EF4-FFF2-40B4-BE49-F238E27FC236}">
                <a16:creationId xmlns:a16="http://schemas.microsoft.com/office/drawing/2014/main" id="{B1382B80-EF7F-718A-0685-302C41A8531B}"/>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財務情報詳細</a:t>
            </a:r>
          </a:p>
        </p:txBody>
      </p:sp>
      <p:sp>
        <p:nvSpPr>
          <p:cNvPr id="4" name="字幕 13">
            <a:extLst>
              <a:ext uri="{FF2B5EF4-FFF2-40B4-BE49-F238E27FC236}">
                <a16:creationId xmlns:a16="http://schemas.microsoft.com/office/drawing/2014/main" id="{C391002A-F61E-39B7-D75D-796D17928C17}"/>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a:ea typeface="游ゴシック"/>
              </a:rPr>
              <a:t>売上高は約12億円で推移。2026/3期は営業利益5.9百万円・経常利益8.1百万円、保険積立金の取崩しにより当期純損失15.1百万円。</a:t>
            </a:r>
          </a:p>
        </p:txBody>
      </p:sp>
      <p:sp>
        <p:nvSpPr>
          <p:cNvPr id="2" name="正方形/長方形 1">
            <a:extLst>
              <a:ext uri="{FF2B5EF4-FFF2-40B4-BE49-F238E27FC236}">
                <a16:creationId xmlns:a16="http://schemas.microsoft.com/office/drawing/2014/main" id="{BF27BA7A-9153-58C5-3140-5975C57507B3}"/>
              </a:ext>
            </a:extLst>
          </p:cNvPr>
          <p:cNvSpPr/>
          <p:nvPr/>
        </p:nvSpPr>
        <p:spPr>
          <a:xfrm>
            <a:off x="6455664" y="1371600"/>
            <a:ext cx="3922776" cy="5577840"/>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252000" rIns="0" bIns="0" rtlCol="0" anchor="t"/>
          <a:lstStyle/>
          <a:p>
            <a:pPr algn="ctr"/>
            <a:r>
              <a:rPr kumimoji="1" lang="en-US" altLang="ja-JP" sz="1600" b="1" dirty="0">
                <a:solidFill>
                  <a:schemeClr val="tx2"/>
                </a:solidFill>
                <a:latin typeface="+mj-lt"/>
                <a:ea typeface="+mj-ea"/>
              </a:rPr>
              <a:t>Comment</a:t>
            </a:r>
            <a:endParaRPr kumimoji="1" lang="ja-JP" altLang="en-US" sz="1600" b="1" dirty="0">
              <a:solidFill>
                <a:schemeClr val="tx2"/>
              </a:solidFill>
              <a:latin typeface="+mj-lt"/>
              <a:ea typeface="+mj-ea"/>
            </a:endParaRPr>
          </a:p>
        </p:txBody>
      </p:sp>
      <p:sp>
        <p:nvSpPr>
          <p:cNvPr id="6" name="テキスト ボックス 5">
            <a:extLst>
              <a:ext uri="{FF2B5EF4-FFF2-40B4-BE49-F238E27FC236}">
                <a16:creationId xmlns:a16="http://schemas.microsoft.com/office/drawing/2014/main" id="{A007D27D-8826-CDC6-2389-3E385CB817A8}"/>
              </a:ext>
            </a:extLst>
          </p:cNvPr>
          <p:cNvSpPr txBox="1"/>
          <p:nvPr/>
        </p:nvSpPr>
        <p:spPr>
          <a:xfrm>
            <a:off x="6455664" y="1920240"/>
            <a:ext cx="3895344" cy="4937760"/>
          </a:xfrm>
          <a:prstGeom prst="rect">
            <a:avLst/>
          </a:prstGeom>
          <a:noFill/>
        </p:spPr>
        <p:txBody>
          <a:bodyPr wrap="square" lIns="288000" tIns="0" rIns="252000" bIns="0" rtlCol="0">
            <a:spAutoFit/>
          </a:bodyPr>
          <a:lstStyle/>
          <a:p>
            <a:pPr>
              <a:spcAft>
                <a:spcPts val="300"/>
              </a:spcAft>
            </a:pPr>
            <a:r>
              <a:rPr lang="ja-JP" altLang="en-US" sz="1000" b="1" dirty="0">
                <a:solidFill>
                  <a:sysClr val="windowText" lastClr="000000"/>
                </a:solidFill>
                <a:latin typeface="游ゴシック"/>
                <a:ea typeface="游ゴシック"/>
              </a:rPr>
              <a:t>≪売上高≫</a:t>
            </a:r>
          </a:p>
          <a:p>
            <a:pPr>
              <a:spcAft>
                <a:spcPts val="300"/>
              </a:spcAft>
            </a:pPr>
            <a:r>
              <a:rPr lang="ja-JP" altLang="en-US" sz="900" b="0" dirty="0">
                <a:solidFill>
                  <a:sysClr val="windowText" lastClr="000000"/>
                </a:solidFill>
                <a:latin typeface="游ゴシック"/>
                <a:ea typeface="游ゴシック"/>
              </a:rPr>
              <a:t>・決算書では「商品売上高」1本で表示。受託販売は2019年10月以降、手数料（8.5%）のみの純額表示。売上割戻は期限内に代金を支払った八百屋等への「完納奨励金」（対象売上の約3%、市場の商慣習）。</a:t>
            </a:r>
          </a:p>
          <a:p>
            <a:pPr>
              <a:spcAft>
                <a:spcPts val="300"/>
              </a:spcAft>
            </a:pPr>
            <a:endParaRPr lang="ja-JP" sz="450"/>
          </a:p>
          <a:p>
            <a:pPr>
              <a:spcAft>
                <a:spcPts val="300"/>
              </a:spcAft>
            </a:pPr>
            <a:r>
              <a:rPr lang="ja-JP" altLang="en-US" sz="1000" b="1" dirty="0">
                <a:solidFill>
                  <a:sysClr val="windowText" lastClr="000000"/>
                </a:solidFill>
                <a:latin typeface="游ゴシック"/>
                <a:ea typeface="游ゴシック"/>
              </a:rPr>
              <a:t>≪売上原価≫</a:t>
            </a:r>
          </a:p>
          <a:p>
            <a:pPr>
              <a:spcAft>
                <a:spcPts val="300"/>
              </a:spcAft>
            </a:pPr>
            <a:r>
              <a:rPr lang="ja-JP" altLang="en-US" sz="900" b="0" dirty="0">
                <a:solidFill>
                  <a:sysClr val="windowText" lastClr="000000"/>
                </a:solidFill>
                <a:latin typeface="游ゴシック"/>
                <a:ea typeface="游ゴシック"/>
              </a:rPr>
              <a:t>・粗利率は18.6%→17.9%→16.6%。棚卸資産は最終仕入原価法で評価。</a:t>
            </a:r>
          </a:p>
          <a:p>
            <a:pPr>
              <a:spcAft>
                <a:spcPts val="300"/>
              </a:spcAft>
            </a:pPr>
            <a:endParaRPr lang="ja-JP" sz="450"/>
          </a:p>
          <a:p>
            <a:pPr>
              <a:spcAft>
                <a:spcPts val="300"/>
              </a:spcAft>
            </a:pPr>
            <a:r>
              <a:rPr lang="ja-JP" altLang="en-US" sz="1000" b="1" dirty="0">
                <a:solidFill>
                  <a:sysClr val="windowText" lastClr="000000"/>
                </a:solidFill>
                <a:latin typeface="游ゴシック"/>
                <a:ea typeface="游ゴシック"/>
              </a:rPr>
              <a:t>≪営業外損益≫</a:t>
            </a:r>
          </a:p>
          <a:p>
            <a:pPr>
              <a:spcAft>
                <a:spcPts val="300"/>
              </a:spcAft>
            </a:pPr>
            <a:r>
              <a:rPr lang="ja-JP" altLang="en-US" sz="900" b="0" dirty="0">
                <a:solidFill>
                  <a:sysClr val="windowText" lastClr="000000"/>
                </a:solidFill>
                <a:latin typeface="游ゴシック"/>
                <a:ea typeface="游ゴシック"/>
              </a:rPr>
              <a:t>・受取奨励金（毎期約2.3〜2.5百万円）は仕入先市場から受け取る完納奨励金で、保証金として積み立てている（代表者談）。雑収入は仲卸業者等からのゴミ処理料・冷蔵庫保管料等。支払利息は年約4百万円。</a:t>
            </a:r>
          </a:p>
          <a:p>
            <a:pPr>
              <a:spcAft>
                <a:spcPts val="300"/>
              </a:spcAft>
            </a:pPr>
            <a:endParaRPr lang="ja-JP" sz="450"/>
          </a:p>
          <a:p>
            <a:pPr>
              <a:spcAft>
                <a:spcPts val="300"/>
              </a:spcAft>
            </a:pPr>
            <a:r>
              <a:rPr lang="ja-JP" altLang="en-US" sz="1000" b="1" dirty="0">
                <a:solidFill>
                  <a:sysClr val="windowText" lastClr="000000"/>
                </a:solidFill>
                <a:latin typeface="游ゴシック"/>
                <a:ea typeface="游ゴシック"/>
              </a:rPr>
              <a:t>≪特別損益≫</a:t>
            </a:r>
          </a:p>
          <a:p>
            <a:pPr>
              <a:spcAft>
                <a:spcPts val="300"/>
              </a:spcAft>
            </a:pPr>
            <a:r>
              <a:rPr lang="ja-JP" altLang="en-US" sz="900" b="0" dirty="0">
                <a:solidFill>
                  <a:sysClr val="windowText" lastClr="000000"/>
                </a:solidFill>
                <a:latin typeface="游ゴシック"/>
                <a:ea typeface="游ゴシック"/>
              </a:rPr>
              <a:t>・2026/3期の前期損益修正損20,900千円は過年度の保険解約に係る訂正額（非経常）。</a:t>
            </a:r>
          </a:p>
          <a:p>
            <a:pPr>
              <a:spcAft>
                <a:spcPts val="300"/>
              </a:spcAft>
            </a:pPr>
            <a:endParaRPr lang="ja-JP" sz="450"/>
          </a:p>
          <a:p>
            <a:pPr>
              <a:spcAft>
                <a:spcPts val="300"/>
              </a:spcAft>
            </a:pPr>
            <a:r>
              <a:rPr lang="ja-JP" altLang="en-US" sz="1000" b="1" dirty="0">
                <a:solidFill>
                  <a:sysClr val="windowText" lastClr="000000"/>
                </a:solidFill>
                <a:latin typeface="游ゴシック"/>
                <a:ea typeface="游ゴシック"/>
              </a:rPr>
              <a:t>≪進行期≫</a:t>
            </a:r>
          </a:p>
          <a:p>
            <a:pPr>
              <a:spcAft>
                <a:spcPts val="300"/>
              </a:spcAft>
            </a:pPr>
            <a:r>
              <a:rPr lang="ja-JP" altLang="en-US" sz="900" b="0" dirty="0">
                <a:solidFill>
                  <a:sysClr val="windowText" lastClr="000000"/>
                </a:solidFill>
                <a:latin typeface="游ゴシック"/>
                <a:ea typeface="游ゴシック"/>
              </a:rPr>
              <a:t>・2026年4〜7月（4か月累計）の売上高は411,155千円、営業利益は5,317千円（試算表）。繁忙期を含むため年換算しない。代表者によれば9月時点で約2,000万円の利益（要確認）。</a:t>
            </a:r>
          </a:p>
        </p:txBody>
      </p:sp>
      <p:graphicFrame>
        <p:nvGraphicFramePr>
          <p:cNvPr id="14" name="表（損益計算書!B4:H37）"/>
          <p:cNvGraphicFramePr>
            <a:graphicFrameLocks noGrp="1"/>
          </p:cNvGraphicFramePr>
          <p:nvPr/>
        </p:nvGraphicFramePr>
        <p:xfrm>
          <a:off x="310896" y="1325880"/>
          <a:ext cx="5989316" cy="5077429"/>
        </p:xfrm>
        <a:graphic>
          <a:graphicData uri="http://schemas.openxmlformats.org/drawingml/2006/table">
            <a:tbl>
              <a:tblPr firstRow="0" bandRow="0">
                <a:tableStyleId>{2D5ABB26-0587-4C30-8999-92F81FD0307C}</a:tableStyleId>
              </a:tblPr>
              <a:tblGrid>
                <a:gridCol w="1769498"/>
                <a:gridCol w="819741"/>
                <a:gridCol w="586865"/>
                <a:gridCol w="819741"/>
                <a:gridCol w="586865"/>
                <a:gridCol w="819741"/>
                <a:gridCol w="586865"/>
              </a:tblGrid>
              <a:tr h="190500">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800" b="0" i="0" dirty="0">
                          <a:solidFill>
                            <a:srgbClr val="000000"/>
                          </a:solidFill>
                          <a:latin typeface="游ゴシック"/>
                          <a:ea typeface="游ゴシック"/>
                        </a:rPr>
                        <a:t>(単位：千円)</a:t>
                      </a:r>
                      <a:endParaRPr lang="ja-JP" altLang="en-US" sz="80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r>
              <a:tr h="160020">
                <a:tc rowSpan="2">
                  <a:txBody>
                    <a:bodyPr/>
                    <a:lstStyle/>
                    <a:p>
                      <a:pPr algn="ctr" fontAlgn="ctr"/>
                      <a:r>
                        <a:rPr lang="ja-JP" altLang="en-US" sz="800" b="0" i="0" dirty="0">
                          <a:solidFill>
                            <a:srgbClr val="FFFFFF"/>
                          </a:solidFill>
                          <a:latin typeface="游ゴシック"/>
                          <a:ea typeface="游ゴシック"/>
                        </a:rPr>
                        <a:t>科目</a:t>
                      </a:r>
                      <a:endParaRPr lang="ja-JP" altLang="en-US" sz="8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gridSpan="2">
                  <a:txBody>
                    <a:bodyPr/>
                    <a:lstStyle/>
                    <a:p>
                      <a:pPr algn="ctr" fontAlgn="ctr"/>
                      <a:r>
                        <a:rPr lang="ja-JP" altLang="en-US" sz="800" b="0" i="0" dirty="0">
                          <a:solidFill>
                            <a:srgbClr val="FFFFFF"/>
                          </a:solidFill>
                          <a:latin typeface="游ゴシック"/>
                          <a:ea typeface="游ゴシック"/>
                        </a:rPr>
                        <a:t>2024年3月期</a:t>
                      </a:r>
                      <a:endParaRPr lang="ja-JP" altLang="en-US" sz="8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hMerge="1">
                  <a:txBody>
                    <a:bodyPr/>
                    <a:lstStyle/>
                    <a:p>
                      <a:pPr algn="l" fontAlgn="ctr"/>
                      <a:endParaRPr lang="ja-JP" altLang="en-US" sz="756" b="0" i="0" dirty="0">
                        <a:solidFill>
                          <a:srgbClr val="000000"/>
                        </a:solidFill>
                        <a:latin typeface="Calibri"/>
                        <a:ea typeface="游ゴシック"/>
                      </a:endParaRPr>
                    </a:p>
                  </a:txBody>
                  <a:tcPr marL="36576" marR="36576" marT="0" marB="0" anchor="ctr">
                    <a:lnL w="6350">
                      <a:noFill/>
                    </a:lnL>
                    <a:lnR w="12700">
                      <a:solidFill>
                        <a:srgbClr val="FFFFFF"/>
                      </a:solidFill>
                    </a:lnR>
                    <a:lnT w="6350">
                      <a:noFill/>
                    </a:lnT>
                    <a:lnB w="6350">
                      <a:solidFill>
                        <a:srgbClr val="A6A6A6"/>
                      </a:solidFill>
                    </a:lnB>
                    <a:noFill/>
                  </a:tcPr>
                </a:tc>
                <a:tc gridSpan="2">
                  <a:txBody>
                    <a:bodyPr/>
                    <a:lstStyle/>
                    <a:p>
                      <a:pPr algn="ctr" fontAlgn="ctr"/>
                      <a:r>
                        <a:rPr lang="ja-JP" altLang="en-US" sz="800" b="0" i="0" dirty="0">
                          <a:solidFill>
                            <a:srgbClr val="FFFFFF"/>
                          </a:solidFill>
                          <a:latin typeface="游ゴシック"/>
                          <a:ea typeface="游ゴシック"/>
                        </a:rPr>
                        <a:t>2025年3月期</a:t>
                      </a:r>
                      <a:endParaRPr lang="ja-JP" altLang="en-US" sz="8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hMerge="1">
                  <a:txBody>
                    <a:bodyPr/>
                    <a:lstStyle/>
                    <a:p>
                      <a:pPr algn="l" fontAlgn="ctr"/>
                      <a:endParaRPr lang="ja-JP" altLang="en-US" sz="756" b="0" i="0" dirty="0">
                        <a:solidFill>
                          <a:srgbClr val="000000"/>
                        </a:solidFill>
                        <a:latin typeface="Calibri"/>
                        <a:ea typeface="游ゴシック"/>
                      </a:endParaRPr>
                    </a:p>
                  </a:txBody>
                  <a:tcPr marL="36576" marR="36576" marT="0" marB="0" anchor="ctr">
                    <a:lnL w="6350">
                      <a:noFill/>
                    </a:lnL>
                    <a:lnR w="12700">
                      <a:solidFill>
                        <a:srgbClr val="FFFFFF"/>
                      </a:solidFill>
                    </a:lnR>
                    <a:lnT w="6350">
                      <a:noFill/>
                    </a:lnT>
                    <a:lnB w="6350">
                      <a:solidFill>
                        <a:srgbClr val="A6A6A6"/>
                      </a:solidFill>
                    </a:lnB>
                    <a:noFill/>
                  </a:tcPr>
                </a:tc>
                <a:tc gridSpan="2">
                  <a:txBody>
                    <a:bodyPr/>
                    <a:lstStyle/>
                    <a:p>
                      <a:pPr algn="ctr" fontAlgn="ctr"/>
                      <a:r>
                        <a:rPr lang="ja-JP" altLang="en-US" sz="800" b="0" i="0" dirty="0">
                          <a:solidFill>
                            <a:srgbClr val="FFFFFF"/>
                          </a:solidFill>
                          <a:latin typeface="游ゴシック"/>
                          <a:ea typeface="游ゴシック"/>
                        </a:rPr>
                        <a:t>2026年3月期</a:t>
                      </a:r>
                      <a:endParaRPr lang="ja-JP" altLang="en-US" sz="8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hMerge="1">
                  <a:txBody>
                    <a:bodyPr/>
                    <a:lstStyle/>
                    <a:p>
                      <a:pPr algn="l" fontAlgn="ctr"/>
                      <a:endParaRPr lang="ja-JP" altLang="en-US" sz="756" b="0" i="0" dirty="0">
                        <a:solidFill>
                          <a:srgbClr val="000000"/>
                        </a:solidFill>
                        <a:latin typeface="Calibri"/>
                        <a:ea typeface="游ゴシック"/>
                      </a:endParaRPr>
                    </a:p>
                  </a:txBody>
                  <a:tcPr marL="36576" marR="36576" marT="0" marB="0" anchor="ctr">
                    <a:lnL w="6350">
                      <a:noFill/>
                    </a:lnL>
                    <a:lnR w="12700">
                      <a:solidFill>
                        <a:srgbClr val="FFFFFF"/>
                      </a:solidFill>
                    </a:lnR>
                    <a:lnT w="6350">
                      <a:noFill/>
                    </a:lnT>
                    <a:lnB w="6350">
                      <a:solidFill>
                        <a:srgbClr val="A6A6A6"/>
                      </a:solidFill>
                    </a:lnB>
                    <a:noFill/>
                  </a:tcPr>
                </a:tc>
              </a:tr>
              <a:tr h="160020">
                <a:tc vMerge="1">
                  <a:txBody>
                    <a:bodyPr/>
                    <a:lstStyle/>
                    <a:p>
                      <a:pPr algn="l" fontAlgn="ctr"/>
                      <a:endParaRPr lang="ja-JP" altLang="en-US" sz="756" b="0" i="0" dirty="0">
                        <a:solidFill>
                          <a:srgbClr val="000000"/>
                        </a:solidFill>
                        <a:latin typeface="Calibri"/>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800" b="0" i="0" dirty="0">
                          <a:solidFill>
                            <a:srgbClr val="FFFFFF"/>
                          </a:solidFill>
                          <a:latin typeface="游ゴシック"/>
                          <a:ea typeface="游ゴシック"/>
                        </a:rPr>
                        <a:t>帳簿価額</a:t>
                      </a:r>
                      <a:endParaRPr lang="ja-JP" altLang="en-US" sz="8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800" b="0" i="0" dirty="0">
                          <a:solidFill>
                            <a:srgbClr val="FFFFFF"/>
                          </a:solidFill>
                          <a:latin typeface="游ゴシック"/>
                          <a:ea typeface="游ゴシック"/>
                        </a:rPr>
                        <a:t>売上高比</a:t>
                      </a:r>
                      <a:endParaRPr lang="ja-JP" altLang="en-US" sz="8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800" b="0" i="0" dirty="0">
                          <a:solidFill>
                            <a:srgbClr val="FFFFFF"/>
                          </a:solidFill>
                          <a:latin typeface="游ゴシック"/>
                          <a:ea typeface="游ゴシック"/>
                        </a:rPr>
                        <a:t>帳簿価額</a:t>
                      </a:r>
                      <a:endParaRPr lang="ja-JP" altLang="en-US" sz="8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800" b="0" i="0" dirty="0">
                          <a:solidFill>
                            <a:srgbClr val="FFFFFF"/>
                          </a:solidFill>
                          <a:latin typeface="游ゴシック"/>
                          <a:ea typeface="游ゴシック"/>
                        </a:rPr>
                        <a:t>売上高比</a:t>
                      </a:r>
                      <a:endParaRPr lang="ja-JP" altLang="en-US" sz="8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800" b="0" i="0" dirty="0">
                          <a:solidFill>
                            <a:srgbClr val="FFFFFF"/>
                          </a:solidFill>
                          <a:latin typeface="游ゴシック"/>
                          <a:ea typeface="游ゴシック"/>
                        </a:rPr>
                        <a:t>帳簿価額</a:t>
                      </a:r>
                      <a:endParaRPr lang="ja-JP" altLang="en-US" sz="8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800" b="0" i="0" dirty="0">
                          <a:solidFill>
                            <a:srgbClr val="FFFFFF"/>
                          </a:solidFill>
                          <a:latin typeface="游ゴシック"/>
                          <a:ea typeface="游ゴシック"/>
                        </a:rPr>
                        <a:t>売上高比</a:t>
                      </a:r>
                      <a:endParaRPr lang="ja-JP" altLang="en-US" sz="8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r>
              <a:tr h="147319">
                <a:tc>
                  <a:txBody>
                    <a:bodyPr/>
                    <a:lstStyle/>
                    <a:p>
                      <a:pPr algn="l" fontAlgn="ctr"/>
                      <a:r>
                        <a:rPr lang="ja-JP" altLang="en-US" sz="800" b="0" i="0" dirty="0">
                          <a:solidFill>
                            <a:srgbClr val="000000"/>
                          </a:solidFill>
                          <a:latin typeface="游ゴシック"/>
                          <a:ea typeface="游ゴシック"/>
                        </a:rPr>
                        <a:t>　商品売上高</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1,179,974</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100.1%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1,183,309</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100.1%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1,197,530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100.1%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売上割戻</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△1,485</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△1,361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△1,637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1" i="0" dirty="0">
                          <a:solidFill>
                            <a:srgbClr val="000000"/>
                          </a:solidFill>
                          <a:latin typeface="游ゴシック"/>
                          <a:ea typeface="游ゴシック"/>
                        </a:rPr>
                        <a:t>売上高</a:t>
                      </a:r>
                      <a:endParaRPr lang="ja-JP" altLang="en-US" sz="80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1,178,489</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100.0%</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1,181,947</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100.0%</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1,195,893</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100.0%</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r>
              <a:tr h="147319">
                <a:tc>
                  <a:txBody>
                    <a:bodyPr/>
                    <a:lstStyle/>
                    <a:p>
                      <a:pPr algn="l" fontAlgn="ctr"/>
                      <a:r>
                        <a:rPr lang="ja-JP" altLang="en-US" sz="800" b="0" i="0" dirty="0">
                          <a:solidFill>
                            <a:srgbClr val="000000"/>
                          </a:solidFill>
                          <a:latin typeface="游ゴシック"/>
                          <a:ea typeface="游ゴシック"/>
                        </a:rPr>
                        <a:t>　期首棚卸高</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15,470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9,860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0.8%</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15,444</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当期仕入高</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953,298</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80.9%</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976,236</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82.6%</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996,035</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83.3%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期末棚卸高</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△9,860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△0.8%</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△15,444</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△14,597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△1.2%</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1" i="0" dirty="0">
                          <a:solidFill>
                            <a:srgbClr val="000000"/>
                          </a:solidFill>
                          <a:latin typeface="游ゴシック"/>
                          <a:ea typeface="游ゴシック"/>
                        </a:rPr>
                        <a:t>売上原価</a:t>
                      </a:r>
                      <a:endParaRPr lang="ja-JP" altLang="en-US" sz="80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958,909</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81.4%</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970,652</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82.1%</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996,882</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83.4%</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r>
              <a:tr h="147319">
                <a:tc>
                  <a:txBody>
                    <a:bodyPr/>
                    <a:lstStyle/>
                    <a:p>
                      <a:pPr algn="l" fontAlgn="ctr"/>
                      <a:r>
                        <a:rPr lang="ja-JP" altLang="en-US" sz="800" b="1" i="0" dirty="0">
                          <a:solidFill>
                            <a:srgbClr val="000000"/>
                          </a:solidFill>
                          <a:latin typeface="游ゴシック"/>
                          <a:ea typeface="游ゴシック"/>
                        </a:rPr>
                        <a:t>売上総利益</a:t>
                      </a:r>
                      <a:endParaRPr lang="ja-JP" altLang="en-US" sz="80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219,580</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18.6%</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211,296</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17.9%</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199,011</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16.6%</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r>
              <a:tr h="147319">
                <a:tc>
                  <a:txBody>
                    <a:bodyPr/>
                    <a:lstStyle/>
                    <a:p>
                      <a:pPr algn="l" fontAlgn="ctr"/>
                      <a:r>
                        <a:rPr lang="ja-JP" altLang="en-US" sz="800" b="1" i="0" dirty="0">
                          <a:solidFill>
                            <a:srgbClr val="000000"/>
                          </a:solidFill>
                          <a:latin typeface="游ゴシック"/>
                          <a:ea typeface="游ゴシック"/>
                        </a:rPr>
                        <a:t>販売費及び一般管理費</a:t>
                      </a:r>
                      <a:endParaRPr lang="ja-JP" altLang="en-US" sz="80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214,823</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18.2%</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215,718</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18.3%</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193,151</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16.2%</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r>
              <a:tr h="147319">
                <a:tc>
                  <a:txBody>
                    <a:bodyPr/>
                    <a:lstStyle/>
                    <a:p>
                      <a:pPr algn="l" fontAlgn="ctr"/>
                      <a:r>
                        <a:rPr lang="ja-JP" altLang="en-US" sz="800" b="1" i="0" dirty="0">
                          <a:solidFill>
                            <a:srgbClr val="FFFFFF"/>
                          </a:solidFill>
                          <a:latin typeface="游ゴシック"/>
                          <a:ea typeface="游ゴシック"/>
                        </a:rPr>
                        <a:t>営業利益</a:t>
                      </a:r>
                      <a:endParaRPr lang="ja-JP" altLang="en-US" sz="800" b="1"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r" fontAlgn="ctr"/>
                      <a:r>
                        <a:rPr lang="ja-JP" altLang="en-US" sz="800" b="1" i="0" dirty="0">
                          <a:solidFill>
                            <a:srgbClr val="FFFFFF"/>
                          </a:solidFill>
                          <a:latin typeface="Arial"/>
                          <a:ea typeface="游ゴシック Medium"/>
                        </a:rPr>
                        <a:t>4,757</a:t>
                      </a:r>
                      <a:endParaRPr lang="ja-JP" altLang="en-US" sz="800" b="1" i="0" dirty="0">
                        <a:solidFill>
                          <a:srgbClr val="FFFFFF"/>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r" fontAlgn="ctr"/>
                      <a:r>
                        <a:rPr lang="ja-JP" altLang="en-US" sz="800" b="1" i="0" dirty="0">
                          <a:solidFill>
                            <a:srgbClr val="FFFFFF"/>
                          </a:solidFill>
                          <a:latin typeface="Arial"/>
                          <a:ea typeface="游ゴシック Medium"/>
                        </a:rPr>
                        <a:t>0.4%</a:t>
                      </a:r>
                      <a:endParaRPr lang="ja-JP" altLang="en-US" sz="800" b="1" i="0" dirty="0">
                        <a:solidFill>
                          <a:srgbClr val="FFFFFF"/>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r" fontAlgn="ctr"/>
                      <a:r>
                        <a:rPr lang="ja-JP" altLang="en-US" sz="800" b="1" i="0" dirty="0">
                          <a:solidFill>
                            <a:srgbClr val="FFFFFF"/>
                          </a:solidFill>
                          <a:latin typeface="Arial"/>
                          <a:ea typeface="游ゴシック Medium"/>
                        </a:rPr>
                        <a:t>△4,423</a:t>
                      </a:r>
                      <a:endParaRPr lang="ja-JP" altLang="en-US" sz="800" b="1" i="0" dirty="0">
                        <a:solidFill>
                          <a:srgbClr val="FFFFFF"/>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r" fontAlgn="ctr"/>
                      <a:r>
                        <a:rPr lang="ja-JP" altLang="en-US" sz="800" b="1" i="0" dirty="0">
                          <a:solidFill>
                            <a:srgbClr val="FFFFFF"/>
                          </a:solidFill>
                          <a:latin typeface="Arial"/>
                          <a:ea typeface="游ゴシック Medium"/>
                        </a:rPr>
                        <a:t>△0.4%</a:t>
                      </a:r>
                      <a:endParaRPr lang="ja-JP" altLang="en-US" sz="800" b="1" i="0" dirty="0">
                        <a:solidFill>
                          <a:srgbClr val="FFFFFF"/>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r" fontAlgn="ctr"/>
                      <a:r>
                        <a:rPr lang="ja-JP" altLang="en-US" sz="800" b="1" i="0" dirty="0">
                          <a:solidFill>
                            <a:srgbClr val="FFFFFF"/>
                          </a:solidFill>
                          <a:latin typeface="Arial"/>
                          <a:ea typeface="游ゴシック Medium"/>
                        </a:rPr>
                        <a:t>5,860</a:t>
                      </a:r>
                      <a:endParaRPr lang="ja-JP" altLang="en-US" sz="800" b="1" i="0" dirty="0">
                        <a:solidFill>
                          <a:srgbClr val="FFFFFF"/>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r" fontAlgn="ctr"/>
                      <a:r>
                        <a:rPr lang="ja-JP" altLang="en-US" sz="800" b="1" i="0" dirty="0">
                          <a:solidFill>
                            <a:srgbClr val="FFFFFF"/>
                          </a:solidFill>
                          <a:latin typeface="Arial"/>
                          <a:ea typeface="游ゴシック Medium"/>
                        </a:rPr>
                        <a:t>0.5%</a:t>
                      </a:r>
                      <a:endParaRPr lang="ja-JP" altLang="en-US" sz="800" b="1" i="0" dirty="0">
                        <a:solidFill>
                          <a:srgbClr val="FFFFFF"/>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r>
              <a:tr h="147319">
                <a:tc>
                  <a:txBody>
                    <a:bodyPr/>
                    <a:lstStyle/>
                    <a:p>
                      <a:pPr algn="l" fontAlgn="ctr"/>
                      <a:r>
                        <a:rPr lang="ja-JP" altLang="en-US" sz="800" b="0" i="0" dirty="0">
                          <a:solidFill>
                            <a:srgbClr val="000000"/>
                          </a:solidFill>
                          <a:latin typeface="游ゴシック"/>
                          <a:ea typeface="游ゴシック"/>
                        </a:rPr>
                        <a:t>　受取利息</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85</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267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受取配当金</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31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31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31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受取奨励金</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2,284</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0.2%</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2,407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0.2%</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2,513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0.2%</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受取延滞料</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170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147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97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雑収入</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8,142</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8,067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3,670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営業外収益計</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0B3041"/>
                      </a:solidFill>
                    </a:lnB>
                    <a:noFill/>
                  </a:tcPr>
                </a:tc>
                <a:tc>
                  <a:txBody>
                    <a:bodyPr/>
                    <a:lstStyle/>
                    <a:p>
                      <a:pPr algn="r" fontAlgn="ctr"/>
                      <a:r>
                        <a:rPr lang="ja-JP" altLang="en-US" sz="800" b="0" i="0" dirty="0">
                          <a:solidFill>
                            <a:srgbClr val="000000"/>
                          </a:solidFill>
                          <a:latin typeface="Arial"/>
                          <a:ea typeface="游ゴシック Medium"/>
                        </a:rPr>
                        <a:t>10,628</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0B3041"/>
                      </a:solidFill>
                    </a:lnB>
                    <a:noFill/>
                  </a:tcPr>
                </a:tc>
                <a:tc>
                  <a:txBody>
                    <a:bodyPr/>
                    <a:lstStyle/>
                    <a:p>
                      <a:pPr algn="r" fontAlgn="ctr"/>
                      <a:r>
                        <a:rPr lang="ja-JP" altLang="en-US" sz="800" b="0" i="0" dirty="0">
                          <a:solidFill>
                            <a:srgbClr val="000000"/>
                          </a:solidFill>
                          <a:latin typeface="Arial"/>
                          <a:ea typeface="游ゴシック Medium"/>
                        </a:rPr>
                        <a:t>0.9%</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0B3041"/>
                      </a:solidFill>
                    </a:lnB>
                    <a:noFill/>
                  </a:tcPr>
                </a:tc>
                <a:tc>
                  <a:txBody>
                    <a:bodyPr/>
                    <a:lstStyle/>
                    <a:p>
                      <a:pPr algn="r" fontAlgn="ctr"/>
                      <a:r>
                        <a:rPr lang="ja-JP" altLang="en-US" sz="800" b="0" i="0" dirty="0">
                          <a:solidFill>
                            <a:srgbClr val="000000"/>
                          </a:solidFill>
                          <a:latin typeface="Arial"/>
                          <a:ea typeface="游ゴシック Medium"/>
                        </a:rPr>
                        <a:t>10,737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0B3041"/>
                      </a:solidFill>
                    </a:lnB>
                    <a:noFill/>
                  </a:tcPr>
                </a:tc>
                <a:tc>
                  <a:txBody>
                    <a:bodyPr/>
                    <a:lstStyle/>
                    <a:p>
                      <a:pPr algn="r" fontAlgn="ctr"/>
                      <a:r>
                        <a:rPr lang="ja-JP" altLang="en-US" sz="800" b="0" i="0" dirty="0">
                          <a:solidFill>
                            <a:srgbClr val="000000"/>
                          </a:solidFill>
                          <a:latin typeface="Arial"/>
                          <a:ea typeface="游ゴシック Medium"/>
                        </a:rPr>
                        <a:t>0.9%</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0B3041"/>
                      </a:solidFill>
                    </a:lnB>
                    <a:noFill/>
                  </a:tcPr>
                </a:tc>
                <a:tc>
                  <a:txBody>
                    <a:bodyPr/>
                    <a:lstStyle/>
                    <a:p>
                      <a:pPr algn="r" fontAlgn="ctr"/>
                      <a:r>
                        <a:rPr lang="ja-JP" altLang="en-US" sz="800" b="0" i="0" dirty="0">
                          <a:solidFill>
                            <a:srgbClr val="000000"/>
                          </a:solidFill>
                          <a:latin typeface="Arial"/>
                          <a:ea typeface="游ゴシック Medium"/>
                        </a:rPr>
                        <a:t>6,578</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0B3041"/>
                      </a:solidFill>
                    </a:lnB>
                    <a:noFill/>
                  </a:tcPr>
                </a:tc>
                <a:tc>
                  <a:txBody>
                    <a:bodyPr/>
                    <a:lstStyle/>
                    <a:p>
                      <a:pPr algn="r" fontAlgn="ctr"/>
                      <a:r>
                        <a:rPr lang="ja-JP" altLang="en-US" sz="800" b="0" i="0" dirty="0">
                          <a:solidFill>
                            <a:srgbClr val="000000"/>
                          </a:solidFill>
                          <a:latin typeface="Arial"/>
                          <a:ea typeface="游ゴシック Medium"/>
                        </a:rPr>
                        <a:t>0.6%</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0B3041"/>
                      </a:solidFill>
                    </a:lnB>
                    <a:noFill/>
                  </a:tcPr>
                </a:tc>
              </a:tr>
              <a:tr h="147319">
                <a:tc>
                  <a:txBody>
                    <a:bodyPr/>
                    <a:lstStyle/>
                    <a:p>
                      <a:pPr algn="l" fontAlgn="ctr"/>
                      <a:r>
                        <a:rPr lang="ja-JP" altLang="en-US" sz="800" b="0" i="0" dirty="0">
                          <a:solidFill>
                            <a:srgbClr val="000000"/>
                          </a:solidFill>
                          <a:latin typeface="游ゴシック"/>
                          <a:ea typeface="游ゴシック"/>
                        </a:rPr>
                        <a:t>　支払利息</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3,962</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4,041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3,896</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出荷奨励金</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106</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92</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95</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雑損失</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379</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営業外費用計</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0B3041"/>
                      </a:solidFill>
                    </a:lnB>
                    <a:noFill/>
                  </a:tcPr>
                </a:tc>
                <a:tc>
                  <a:txBody>
                    <a:bodyPr/>
                    <a:lstStyle/>
                    <a:p>
                      <a:pPr algn="r" fontAlgn="ctr"/>
                      <a:r>
                        <a:rPr lang="ja-JP" altLang="en-US" sz="800" b="0" i="0" dirty="0">
                          <a:solidFill>
                            <a:srgbClr val="000000"/>
                          </a:solidFill>
                          <a:latin typeface="Arial"/>
                          <a:ea typeface="游ゴシック Medium"/>
                        </a:rPr>
                        <a:t>4,068</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0B3041"/>
                      </a:solidFill>
                    </a:lnB>
                    <a:noFill/>
                  </a:tcPr>
                </a:tc>
                <a:tc>
                  <a:txBody>
                    <a:bodyPr/>
                    <a:lstStyle/>
                    <a:p>
                      <a:pPr algn="r" fontAlgn="ctr"/>
                      <a:r>
                        <a:rPr lang="ja-JP" altLang="en-US" sz="800" b="0" i="0" dirty="0">
                          <a:solidFill>
                            <a:srgbClr val="000000"/>
                          </a:solidFill>
                          <a:latin typeface="Arial"/>
                          <a:ea typeface="游ゴシック Medium"/>
                        </a:rPr>
                        <a:t>0.3%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0B3041"/>
                      </a:solidFill>
                    </a:lnB>
                    <a:noFill/>
                  </a:tcPr>
                </a:tc>
                <a:tc>
                  <a:txBody>
                    <a:bodyPr/>
                    <a:lstStyle/>
                    <a:p>
                      <a:pPr algn="r" fontAlgn="ctr"/>
                      <a:r>
                        <a:rPr lang="ja-JP" altLang="en-US" sz="800" b="0" i="0" dirty="0">
                          <a:solidFill>
                            <a:srgbClr val="000000"/>
                          </a:solidFill>
                          <a:latin typeface="Arial"/>
                          <a:ea typeface="游ゴシック Medium"/>
                        </a:rPr>
                        <a:t>4,133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0B3041"/>
                      </a:solidFill>
                    </a:lnB>
                    <a:noFill/>
                  </a:tcPr>
                </a:tc>
                <a:tc>
                  <a:txBody>
                    <a:bodyPr/>
                    <a:lstStyle/>
                    <a:p>
                      <a:pPr algn="r" fontAlgn="ctr"/>
                      <a:r>
                        <a:rPr lang="ja-JP" altLang="en-US" sz="800" b="0" i="0" dirty="0">
                          <a:solidFill>
                            <a:srgbClr val="000000"/>
                          </a:solidFill>
                          <a:latin typeface="Arial"/>
                          <a:ea typeface="游ゴシック Medium"/>
                        </a:rPr>
                        <a:t>0.3%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0B3041"/>
                      </a:solidFill>
                    </a:lnB>
                    <a:noFill/>
                  </a:tcPr>
                </a:tc>
                <a:tc>
                  <a:txBody>
                    <a:bodyPr/>
                    <a:lstStyle/>
                    <a:p>
                      <a:pPr algn="r" fontAlgn="ctr"/>
                      <a:r>
                        <a:rPr lang="ja-JP" altLang="en-US" sz="800" b="0" i="0" dirty="0">
                          <a:solidFill>
                            <a:srgbClr val="000000"/>
                          </a:solidFill>
                          <a:latin typeface="Arial"/>
                          <a:ea typeface="游ゴシック Medium"/>
                        </a:rPr>
                        <a:t>4,370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0B3041"/>
                      </a:solidFill>
                    </a:lnB>
                    <a:noFill/>
                  </a:tcPr>
                </a:tc>
                <a:tc>
                  <a:txBody>
                    <a:bodyPr/>
                    <a:lstStyle/>
                    <a:p>
                      <a:pPr algn="r" fontAlgn="ctr"/>
                      <a:r>
                        <a:rPr lang="ja-JP" altLang="en-US" sz="800" b="0" i="0" dirty="0">
                          <a:solidFill>
                            <a:srgbClr val="000000"/>
                          </a:solidFill>
                          <a:latin typeface="Arial"/>
                          <a:ea typeface="游ゴシック Medium"/>
                        </a:rPr>
                        <a:t>0.4%</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0B3041"/>
                      </a:solidFill>
                    </a:lnB>
                    <a:noFill/>
                  </a:tcPr>
                </a:tc>
              </a:tr>
              <a:tr h="147319">
                <a:tc>
                  <a:txBody>
                    <a:bodyPr/>
                    <a:lstStyle/>
                    <a:p>
                      <a:pPr algn="l" fontAlgn="ctr"/>
                      <a:r>
                        <a:rPr lang="ja-JP" altLang="en-US" sz="800" b="1" i="0" dirty="0">
                          <a:solidFill>
                            <a:srgbClr val="FFFFFF"/>
                          </a:solidFill>
                          <a:latin typeface="游ゴシック"/>
                          <a:ea typeface="游ゴシック"/>
                        </a:rPr>
                        <a:t>経常利益</a:t>
                      </a:r>
                      <a:endParaRPr lang="ja-JP" altLang="en-US" sz="800" b="1"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r" fontAlgn="ctr"/>
                      <a:r>
                        <a:rPr lang="ja-JP" altLang="en-US" sz="800" b="1" i="0" dirty="0">
                          <a:solidFill>
                            <a:srgbClr val="FFFFFF"/>
                          </a:solidFill>
                          <a:latin typeface="Arial"/>
                          <a:ea typeface="游ゴシック Medium"/>
                        </a:rPr>
                        <a:t>11,317</a:t>
                      </a:r>
                      <a:endParaRPr lang="ja-JP" altLang="en-US" sz="800" b="1" i="0" dirty="0">
                        <a:solidFill>
                          <a:srgbClr val="FFFFFF"/>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r" fontAlgn="ctr"/>
                      <a:r>
                        <a:rPr lang="ja-JP" altLang="en-US" sz="800" b="1" i="0" dirty="0">
                          <a:solidFill>
                            <a:srgbClr val="FFFFFF"/>
                          </a:solidFill>
                          <a:latin typeface="Arial"/>
                          <a:ea typeface="游ゴシック Medium"/>
                        </a:rPr>
                        <a:t>1.0%</a:t>
                      </a:r>
                      <a:endParaRPr lang="ja-JP" altLang="en-US" sz="800" b="1" i="0" dirty="0">
                        <a:solidFill>
                          <a:srgbClr val="FFFFFF"/>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r" fontAlgn="ctr"/>
                      <a:r>
                        <a:rPr lang="ja-JP" altLang="en-US" sz="800" b="1" i="0" dirty="0">
                          <a:solidFill>
                            <a:srgbClr val="FFFFFF"/>
                          </a:solidFill>
                          <a:latin typeface="Arial"/>
                          <a:ea typeface="游ゴシック Medium"/>
                        </a:rPr>
                        <a:t>2,181</a:t>
                      </a:r>
                      <a:endParaRPr lang="ja-JP" altLang="en-US" sz="800" b="1" i="0" dirty="0">
                        <a:solidFill>
                          <a:srgbClr val="FFFFFF"/>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r" fontAlgn="ctr"/>
                      <a:r>
                        <a:rPr lang="ja-JP" altLang="en-US" sz="800" b="1" i="0" dirty="0">
                          <a:solidFill>
                            <a:srgbClr val="FFFFFF"/>
                          </a:solidFill>
                          <a:latin typeface="Arial"/>
                          <a:ea typeface="游ゴシック Medium"/>
                        </a:rPr>
                        <a:t>0.2%</a:t>
                      </a:r>
                      <a:endParaRPr lang="ja-JP" altLang="en-US" sz="800" b="1" i="0" dirty="0">
                        <a:solidFill>
                          <a:srgbClr val="FFFFFF"/>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r" fontAlgn="ctr"/>
                      <a:r>
                        <a:rPr lang="ja-JP" altLang="en-US" sz="800" b="1" i="0" dirty="0">
                          <a:solidFill>
                            <a:srgbClr val="FFFFFF"/>
                          </a:solidFill>
                          <a:latin typeface="Arial"/>
                          <a:ea typeface="游ゴシック Medium"/>
                        </a:rPr>
                        <a:t>8,068</a:t>
                      </a:r>
                      <a:endParaRPr lang="ja-JP" altLang="en-US" sz="800" b="1" i="0" dirty="0">
                        <a:solidFill>
                          <a:srgbClr val="FFFFFF"/>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r" fontAlgn="ctr"/>
                      <a:r>
                        <a:rPr lang="ja-JP" altLang="en-US" sz="800" b="1" i="0" dirty="0">
                          <a:solidFill>
                            <a:srgbClr val="FFFFFF"/>
                          </a:solidFill>
                          <a:latin typeface="Arial"/>
                          <a:ea typeface="游ゴシック Medium"/>
                        </a:rPr>
                        <a:t>0.7%</a:t>
                      </a:r>
                      <a:endParaRPr lang="ja-JP" altLang="en-US" sz="800" b="1" i="0" dirty="0">
                        <a:solidFill>
                          <a:srgbClr val="FFFFFF"/>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r>
              <a:tr h="147319">
                <a:tc>
                  <a:txBody>
                    <a:bodyPr/>
                    <a:lstStyle/>
                    <a:p>
                      <a:pPr algn="l" fontAlgn="ctr"/>
                      <a:r>
                        <a:rPr lang="ja-JP" altLang="en-US" sz="800" b="0" i="0" dirty="0">
                          <a:solidFill>
                            <a:srgbClr val="000000"/>
                          </a:solidFill>
                          <a:latin typeface="游ゴシック"/>
                          <a:ea typeface="游ゴシック"/>
                        </a:rPr>
                        <a:t>　固定資産売却益</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1,711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1,609</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貸倒引当金戻入</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176</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237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234</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特別利益計</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0B3041"/>
                      </a:solidFill>
                    </a:lnB>
                    <a:noFill/>
                  </a:tcPr>
                </a:tc>
                <a:tc>
                  <a:txBody>
                    <a:bodyPr/>
                    <a:lstStyle/>
                    <a:p>
                      <a:pPr algn="r" fontAlgn="ctr"/>
                      <a:r>
                        <a:rPr lang="ja-JP" altLang="en-US" sz="800" b="0" i="0" dirty="0">
                          <a:solidFill>
                            <a:srgbClr val="000000"/>
                          </a:solidFill>
                          <a:latin typeface="Arial"/>
                          <a:ea typeface="游ゴシック Medium"/>
                        </a:rPr>
                        <a:t>1,887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0B3041"/>
                      </a:solidFill>
                    </a:lnB>
                    <a:noFill/>
                  </a:tcPr>
                </a:tc>
                <a:tc>
                  <a:txBody>
                    <a:bodyPr/>
                    <a:lstStyle/>
                    <a:p>
                      <a:pPr algn="r" fontAlgn="ctr"/>
                      <a:r>
                        <a:rPr lang="ja-JP" altLang="en-US" sz="800" b="0" i="0" dirty="0">
                          <a:solidFill>
                            <a:srgbClr val="000000"/>
                          </a:solidFill>
                          <a:latin typeface="Arial"/>
                          <a:ea typeface="游ゴシック Medium"/>
                        </a:rPr>
                        <a:t>0.2%</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0B3041"/>
                      </a:solidFill>
                    </a:lnB>
                    <a:noFill/>
                  </a:tcPr>
                </a:tc>
                <a:tc>
                  <a:txBody>
                    <a:bodyPr/>
                    <a:lstStyle/>
                    <a:p>
                      <a:pPr algn="r" fontAlgn="ctr"/>
                      <a:r>
                        <a:rPr lang="ja-JP" altLang="en-US" sz="800" b="0" i="0" dirty="0">
                          <a:solidFill>
                            <a:srgbClr val="000000"/>
                          </a:solidFill>
                          <a:latin typeface="Arial"/>
                          <a:ea typeface="游ゴシック Medium"/>
                        </a:rPr>
                        <a:t>1,846</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0B3041"/>
                      </a:solidFill>
                    </a:lnB>
                    <a:noFill/>
                  </a:tcPr>
                </a:tc>
                <a:tc>
                  <a:txBody>
                    <a:bodyPr/>
                    <a:lstStyle/>
                    <a:p>
                      <a:pPr algn="r" fontAlgn="ctr"/>
                      <a:r>
                        <a:rPr lang="ja-JP" altLang="en-US" sz="800" b="0" i="0" dirty="0">
                          <a:solidFill>
                            <a:srgbClr val="000000"/>
                          </a:solidFill>
                          <a:latin typeface="Arial"/>
                          <a:ea typeface="游ゴシック Medium"/>
                        </a:rPr>
                        <a:t>0.2%</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0B3041"/>
                      </a:solidFill>
                    </a:lnB>
                    <a:noFill/>
                  </a:tcPr>
                </a:tc>
                <a:tc>
                  <a:txBody>
                    <a:bodyPr/>
                    <a:lstStyle/>
                    <a:p>
                      <a:pPr algn="r" fontAlgn="ctr"/>
                      <a:r>
                        <a:rPr lang="ja-JP" altLang="en-US" sz="800" b="0" i="0" dirty="0">
                          <a:solidFill>
                            <a:srgbClr val="000000"/>
                          </a:solidFill>
                          <a:latin typeface="Arial"/>
                          <a:ea typeface="游ゴシック Medium"/>
                        </a:rPr>
                        <a:t>234</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0B3041"/>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0B3041"/>
                      </a:solidFill>
                    </a:lnB>
                    <a:noFill/>
                  </a:tcPr>
                </a:tc>
              </a:tr>
              <a:tr h="147319">
                <a:tc>
                  <a:txBody>
                    <a:bodyPr/>
                    <a:lstStyle/>
                    <a:p>
                      <a:pPr algn="l" fontAlgn="ctr"/>
                      <a:r>
                        <a:rPr lang="ja-JP" altLang="en-US" sz="800" b="0" i="0" dirty="0">
                          <a:solidFill>
                            <a:srgbClr val="000000"/>
                          </a:solidFill>
                          <a:latin typeface="游ゴシック"/>
                          <a:ea typeface="游ゴシック"/>
                        </a:rPr>
                        <a:t>　固定資産売却除却損</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202</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貸倒引当金繰入</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237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234</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203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前期損益修正損</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20,900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特別損失計</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0B3041"/>
                      </a:solidFill>
                    </a:lnB>
                    <a:noFill/>
                  </a:tcPr>
                </a:tc>
                <a:tc>
                  <a:txBody>
                    <a:bodyPr/>
                    <a:lstStyle/>
                    <a:p>
                      <a:pPr algn="r" fontAlgn="ctr"/>
                      <a:r>
                        <a:rPr lang="ja-JP" altLang="en-US" sz="800" b="0" i="0" dirty="0">
                          <a:solidFill>
                            <a:srgbClr val="000000"/>
                          </a:solidFill>
                          <a:latin typeface="Arial"/>
                          <a:ea typeface="游ゴシック Medium"/>
                        </a:rPr>
                        <a:t>439</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0B3041"/>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0B3041"/>
                      </a:solidFill>
                    </a:lnB>
                    <a:noFill/>
                  </a:tcPr>
                </a:tc>
                <a:tc>
                  <a:txBody>
                    <a:bodyPr/>
                    <a:lstStyle/>
                    <a:p>
                      <a:pPr algn="r" fontAlgn="ctr"/>
                      <a:r>
                        <a:rPr lang="ja-JP" altLang="en-US" sz="800" b="0" i="0" dirty="0">
                          <a:solidFill>
                            <a:srgbClr val="000000"/>
                          </a:solidFill>
                          <a:latin typeface="Arial"/>
                          <a:ea typeface="游ゴシック Medium"/>
                        </a:rPr>
                        <a:t>234</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0B3041"/>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0B3041"/>
                      </a:solidFill>
                    </a:lnB>
                    <a:noFill/>
                  </a:tcPr>
                </a:tc>
                <a:tc>
                  <a:txBody>
                    <a:bodyPr/>
                    <a:lstStyle/>
                    <a:p>
                      <a:pPr algn="r" fontAlgn="ctr"/>
                      <a:r>
                        <a:rPr lang="ja-JP" altLang="en-US" sz="800" b="0" i="0" dirty="0">
                          <a:solidFill>
                            <a:srgbClr val="000000"/>
                          </a:solidFill>
                          <a:latin typeface="Arial"/>
                          <a:ea typeface="游ゴシック Medium"/>
                        </a:rPr>
                        <a:t>21,103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0B3041"/>
                      </a:solidFill>
                    </a:lnB>
                    <a:noFill/>
                  </a:tcPr>
                </a:tc>
                <a:tc>
                  <a:txBody>
                    <a:bodyPr/>
                    <a:lstStyle/>
                    <a:p>
                      <a:pPr algn="r" fontAlgn="ctr"/>
                      <a:r>
                        <a:rPr lang="ja-JP" altLang="en-US" sz="800" b="0" i="0" dirty="0">
                          <a:solidFill>
                            <a:srgbClr val="000000"/>
                          </a:solidFill>
                          <a:latin typeface="Arial"/>
                          <a:ea typeface="游ゴシック Medium"/>
                        </a:rPr>
                        <a:t>1.8%</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0B3041"/>
                      </a:solidFill>
                    </a:lnB>
                    <a:noFill/>
                  </a:tcPr>
                </a:tc>
              </a:tr>
              <a:tr h="147319">
                <a:tc>
                  <a:txBody>
                    <a:bodyPr/>
                    <a:lstStyle/>
                    <a:p>
                      <a:pPr algn="l" fontAlgn="ctr"/>
                      <a:r>
                        <a:rPr lang="ja-JP" altLang="en-US" sz="800" b="1" i="0" dirty="0">
                          <a:solidFill>
                            <a:srgbClr val="000000"/>
                          </a:solidFill>
                          <a:latin typeface="游ゴシック"/>
                          <a:ea typeface="游ゴシック"/>
                        </a:rPr>
                        <a:t>税引前当期純利益</a:t>
                      </a:r>
                      <a:endParaRPr lang="ja-JP" altLang="en-US" sz="80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12,765</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1.1%</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3,793</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0.3%</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△12,801</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△1.1%</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r>
              <a:tr h="147319">
                <a:tc>
                  <a:txBody>
                    <a:bodyPr/>
                    <a:lstStyle/>
                    <a:p>
                      <a:pPr algn="l" fontAlgn="ctr"/>
                      <a:r>
                        <a:rPr lang="ja-JP" altLang="en-US" sz="800" b="0" i="0" dirty="0">
                          <a:solidFill>
                            <a:srgbClr val="000000"/>
                          </a:solidFill>
                          <a:latin typeface="游ゴシック"/>
                          <a:ea typeface="游ゴシック"/>
                        </a:rPr>
                        <a:t>　法人税等</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3,658</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864</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2,283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0.2%</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1" i="0" dirty="0">
                          <a:solidFill>
                            <a:srgbClr val="FFFFFF"/>
                          </a:solidFill>
                          <a:latin typeface="游ゴシック"/>
                          <a:ea typeface="游ゴシック"/>
                        </a:rPr>
                        <a:t>当期純利益</a:t>
                      </a:r>
                      <a:endParaRPr lang="ja-JP" altLang="en-US" sz="800" b="1"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r" fontAlgn="ctr"/>
                      <a:r>
                        <a:rPr lang="ja-JP" altLang="en-US" sz="800" b="1" i="0" dirty="0">
                          <a:solidFill>
                            <a:srgbClr val="FFFFFF"/>
                          </a:solidFill>
                          <a:latin typeface="Arial"/>
                          <a:ea typeface="游ゴシック Medium"/>
                        </a:rPr>
                        <a:t>9,107</a:t>
                      </a:r>
                      <a:endParaRPr lang="ja-JP" altLang="en-US" sz="800" b="1" i="0" dirty="0">
                        <a:solidFill>
                          <a:srgbClr val="FFFFFF"/>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r" fontAlgn="ctr"/>
                      <a:r>
                        <a:rPr lang="ja-JP" altLang="en-US" sz="800" b="1" i="0" dirty="0">
                          <a:solidFill>
                            <a:srgbClr val="FFFFFF"/>
                          </a:solidFill>
                          <a:latin typeface="Arial"/>
                          <a:ea typeface="游ゴシック Medium"/>
                        </a:rPr>
                        <a:t>0.8%</a:t>
                      </a:r>
                      <a:endParaRPr lang="ja-JP" altLang="en-US" sz="800" b="1" i="0" dirty="0">
                        <a:solidFill>
                          <a:srgbClr val="FFFFFF"/>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r" fontAlgn="ctr"/>
                      <a:r>
                        <a:rPr lang="ja-JP" altLang="en-US" sz="800" b="1" i="0" dirty="0">
                          <a:solidFill>
                            <a:srgbClr val="FFFFFF"/>
                          </a:solidFill>
                          <a:latin typeface="Arial"/>
                          <a:ea typeface="游ゴシック Medium"/>
                        </a:rPr>
                        <a:t>2,929</a:t>
                      </a:r>
                      <a:endParaRPr lang="ja-JP" altLang="en-US" sz="800" b="1" i="0" dirty="0">
                        <a:solidFill>
                          <a:srgbClr val="FFFFFF"/>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r" fontAlgn="ctr"/>
                      <a:r>
                        <a:rPr lang="ja-JP" altLang="en-US" sz="800" b="1" i="0" dirty="0">
                          <a:solidFill>
                            <a:srgbClr val="FFFFFF"/>
                          </a:solidFill>
                          <a:latin typeface="Arial"/>
                          <a:ea typeface="游ゴシック Medium"/>
                        </a:rPr>
                        <a:t>0.2%</a:t>
                      </a:r>
                      <a:endParaRPr lang="ja-JP" altLang="en-US" sz="800" b="1" i="0" dirty="0">
                        <a:solidFill>
                          <a:srgbClr val="FFFFFF"/>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r" fontAlgn="ctr"/>
                      <a:r>
                        <a:rPr lang="ja-JP" altLang="en-US" sz="800" b="1" i="0" dirty="0">
                          <a:solidFill>
                            <a:srgbClr val="FFFFFF"/>
                          </a:solidFill>
                          <a:latin typeface="Arial"/>
                          <a:ea typeface="游ゴシック Medium"/>
                        </a:rPr>
                        <a:t>△15,085</a:t>
                      </a:r>
                      <a:endParaRPr lang="ja-JP" altLang="en-US" sz="800" b="1" i="0" dirty="0">
                        <a:solidFill>
                          <a:srgbClr val="FFFFFF"/>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r" fontAlgn="ctr"/>
                      <a:r>
                        <a:rPr lang="ja-JP" altLang="en-US" sz="800" b="1" i="0" dirty="0">
                          <a:solidFill>
                            <a:srgbClr val="FFFFFF"/>
                          </a:solidFill>
                          <a:latin typeface="Arial"/>
                          <a:ea typeface="游ゴシック Medium"/>
                        </a:rPr>
                        <a:t>△1.3%</a:t>
                      </a:r>
                      <a:endParaRPr lang="ja-JP" altLang="en-US" sz="800" b="1" i="0" dirty="0">
                        <a:solidFill>
                          <a:srgbClr val="FFFFFF"/>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r>
            </a:tbl>
          </a:graphicData>
        </a:graphic>
      </p:graphicFrame>
    </p:spTree>
    <p:extLst>
      <p:ext uri="{BB962C8B-B14F-4D97-AF65-F5344CB8AC3E}">
        <p14:creationId xmlns:p14="http://schemas.microsoft.com/office/powerpoint/2010/main" val="37409429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411451-02A5-56C7-8AF6-DBDAA7CFCC10}"/>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F326988B-EA79-EED8-C9CB-DD122747A00F}"/>
              </a:ext>
            </a:extLst>
          </p:cNvPr>
          <p:cNvSpPr>
            <a:spLocks noGrp="1"/>
          </p:cNvSpPr>
          <p:nvPr>
            <p:ph type="ctrTitle"/>
          </p:nvPr>
        </p:nvSpPr>
        <p:spPr>
          <a:xfrm>
            <a:off x="311150" y="180296"/>
            <a:ext cx="7799917" cy="339267"/>
          </a:xfrm>
        </p:spPr>
        <p:txBody>
          <a:bodyPr>
            <a:normAutofit/>
          </a:bodyPr>
          <a:lstStyle/>
          <a:p>
            <a:r>
              <a:rPr lang="ja-JP" altLang="en-US" dirty="0"/>
              <a:t>販売費及び一般管理費</a:t>
            </a:r>
          </a:p>
        </p:txBody>
      </p:sp>
      <p:sp>
        <p:nvSpPr>
          <p:cNvPr id="5" name="タイトル 1">
            <a:extLst>
              <a:ext uri="{FF2B5EF4-FFF2-40B4-BE49-F238E27FC236}">
                <a16:creationId xmlns:a16="http://schemas.microsoft.com/office/drawing/2014/main" id="{7691939A-6180-3920-2B7D-F305819429CD}"/>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財務情報詳細</a:t>
            </a:r>
          </a:p>
        </p:txBody>
      </p:sp>
      <p:sp>
        <p:nvSpPr>
          <p:cNvPr id="4" name="字幕 13">
            <a:extLst>
              <a:ext uri="{FF2B5EF4-FFF2-40B4-BE49-F238E27FC236}">
                <a16:creationId xmlns:a16="http://schemas.microsoft.com/office/drawing/2014/main" id="{7F8A1EE0-ADF4-993B-FF72-FBEC016B826B}"/>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a:ea typeface="游ゴシック"/>
              </a:rPr>
              <a:t>販管費は約2億円で、人件費（約105百万円）と運賃・車両関連費（約39百万円）が中心。</a:t>
            </a:r>
          </a:p>
        </p:txBody>
      </p:sp>
      <p:sp>
        <p:nvSpPr>
          <p:cNvPr id="2" name="正方形/長方形 1">
            <a:extLst>
              <a:ext uri="{FF2B5EF4-FFF2-40B4-BE49-F238E27FC236}">
                <a16:creationId xmlns:a16="http://schemas.microsoft.com/office/drawing/2014/main" id="{CBEBB478-5E89-4238-4A34-967912E35C60}"/>
              </a:ext>
            </a:extLst>
          </p:cNvPr>
          <p:cNvSpPr/>
          <p:nvPr/>
        </p:nvSpPr>
        <p:spPr>
          <a:xfrm>
            <a:off x="6455664" y="1371600"/>
            <a:ext cx="3922776" cy="5577840"/>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252000" rIns="0" bIns="0" rtlCol="0" anchor="t"/>
          <a:lstStyle/>
          <a:p>
            <a:pPr algn="ctr"/>
            <a:r>
              <a:rPr kumimoji="1" lang="en-US" altLang="ja-JP" sz="1600" b="1" dirty="0">
                <a:solidFill>
                  <a:schemeClr val="tx2"/>
                </a:solidFill>
                <a:latin typeface="+mj-lt"/>
                <a:ea typeface="+mj-ea"/>
              </a:rPr>
              <a:t>Comment</a:t>
            </a:r>
            <a:endParaRPr kumimoji="1" lang="ja-JP" altLang="en-US" sz="1600" b="1" dirty="0">
              <a:solidFill>
                <a:schemeClr val="tx2"/>
              </a:solidFill>
              <a:latin typeface="+mj-lt"/>
              <a:ea typeface="+mj-ea"/>
            </a:endParaRPr>
          </a:p>
        </p:txBody>
      </p:sp>
      <p:sp>
        <p:nvSpPr>
          <p:cNvPr id="3" name="テキスト ボックス 2">
            <a:extLst>
              <a:ext uri="{FF2B5EF4-FFF2-40B4-BE49-F238E27FC236}">
                <a16:creationId xmlns:a16="http://schemas.microsoft.com/office/drawing/2014/main" id="{6BA87817-38E4-3F47-34EB-C9702B87B984}"/>
              </a:ext>
            </a:extLst>
          </p:cNvPr>
          <p:cNvSpPr txBox="1"/>
          <p:nvPr/>
        </p:nvSpPr>
        <p:spPr>
          <a:xfrm>
            <a:off x="6455664" y="1920240"/>
            <a:ext cx="3895344" cy="4937760"/>
          </a:xfrm>
          <a:prstGeom prst="rect">
            <a:avLst/>
          </a:prstGeom>
          <a:noFill/>
        </p:spPr>
        <p:txBody>
          <a:bodyPr wrap="square" lIns="288000" tIns="0" rIns="252000" bIns="0" rtlCol="0">
            <a:spAutoFit/>
          </a:bodyPr>
          <a:lstStyle/>
          <a:p>
            <a:pPr>
              <a:spcAft>
                <a:spcPts val="300"/>
              </a:spcAft>
            </a:pPr>
            <a:r>
              <a:rPr lang="ja-JP" altLang="en-US" sz="1000" b="1" dirty="0">
                <a:solidFill>
                  <a:sysClr val="windowText" lastClr="000000"/>
                </a:solidFill>
                <a:latin typeface="游ゴシック"/>
                <a:ea typeface="游ゴシック"/>
              </a:rPr>
              <a:t>≪人件費≫</a:t>
            </a:r>
          </a:p>
          <a:p>
            <a:pPr>
              <a:spcAft>
                <a:spcPts val="300"/>
              </a:spcAft>
            </a:pPr>
            <a:r>
              <a:rPr lang="ja-JP" altLang="en-US" sz="900" b="0" dirty="0">
                <a:solidFill>
                  <a:sysClr val="windowText" lastClr="000000"/>
                </a:solidFill>
                <a:latin typeface="游ゴシック"/>
                <a:ea typeface="游ゴシック"/>
              </a:rPr>
              <a:t>・役員報酬は22,200→15,360千円に減少。賞与規定はなく業績に応じて支給（2026/3期は支給なし）。足元は人件費を削減。</a:t>
            </a:r>
          </a:p>
          <a:p>
            <a:pPr>
              <a:spcAft>
                <a:spcPts val="300"/>
              </a:spcAft>
            </a:pPr>
            <a:r>
              <a:rPr lang="ja-JP" altLang="en-US" sz="900" b="0" dirty="0">
                <a:solidFill>
                  <a:sysClr val="windowText" lastClr="000000"/>
                </a:solidFill>
                <a:latin typeface="游ゴシック"/>
                <a:ea typeface="游ゴシック"/>
              </a:rPr>
              <a:t>・退職金は中退共・オリックス生命で外部積立。2026年10月の最低賃金改定に伴い給与を改定（影響額は要確認）。</a:t>
            </a:r>
          </a:p>
          <a:p>
            <a:pPr>
              <a:spcAft>
                <a:spcPts val="300"/>
              </a:spcAft>
            </a:pPr>
            <a:endParaRPr lang="ja-JP" sz="450"/>
          </a:p>
          <a:p>
            <a:pPr>
              <a:spcAft>
                <a:spcPts val="300"/>
              </a:spcAft>
            </a:pPr>
            <a:r>
              <a:rPr lang="ja-JP" altLang="en-US" sz="1000" b="1" dirty="0">
                <a:solidFill>
                  <a:sysClr val="windowText" lastClr="000000"/>
                </a:solidFill>
                <a:latin typeface="游ゴシック"/>
                <a:ea typeface="游ゴシック"/>
              </a:rPr>
              <a:t>≪運賃・車両関連費≫</a:t>
            </a:r>
          </a:p>
          <a:p>
            <a:pPr>
              <a:spcAft>
                <a:spcPts val="300"/>
              </a:spcAft>
            </a:pPr>
            <a:r>
              <a:rPr lang="ja-JP" altLang="en-US" sz="900" b="0" dirty="0">
                <a:solidFill>
                  <a:sysClr val="windowText" lastClr="000000"/>
                </a:solidFill>
                <a:latin typeface="游ゴシック"/>
                <a:ea typeface="游ゴシック"/>
              </a:rPr>
              <a:t>・自社配送に伴う費用（東京向け出荷等の一部のみ外部運送）。車両は償却済み。リース料年約6百万円を計上（対象資産は要確認）。</a:t>
            </a:r>
          </a:p>
          <a:p>
            <a:pPr>
              <a:spcAft>
                <a:spcPts val="300"/>
              </a:spcAft>
            </a:pPr>
            <a:endParaRPr lang="ja-JP" sz="450"/>
          </a:p>
          <a:p>
            <a:pPr>
              <a:spcAft>
                <a:spcPts val="300"/>
              </a:spcAft>
            </a:pPr>
            <a:r>
              <a:rPr lang="ja-JP" altLang="en-US" sz="1000" b="1" dirty="0">
                <a:solidFill>
                  <a:sysClr val="windowText" lastClr="000000"/>
                </a:solidFill>
                <a:latin typeface="游ゴシック"/>
                <a:ea typeface="游ゴシック"/>
              </a:rPr>
              <a:t>≪租税公課≫</a:t>
            </a:r>
          </a:p>
          <a:p>
            <a:pPr>
              <a:spcAft>
                <a:spcPts val="300"/>
              </a:spcAft>
            </a:pPr>
            <a:r>
              <a:rPr lang="ja-JP" altLang="en-US" sz="900" b="0" dirty="0">
                <a:solidFill>
                  <a:sysClr val="windowText" lastClr="000000"/>
                </a:solidFill>
                <a:latin typeface="游ゴシック"/>
                <a:ea typeface="游ゴシック"/>
              </a:rPr>
              <a:t>・消費税は税込経理のため、納付消費税相当が租税公課に含まれる。</a:t>
            </a:r>
          </a:p>
          <a:p>
            <a:pPr>
              <a:spcAft>
                <a:spcPts val="300"/>
              </a:spcAft>
            </a:pPr>
            <a:endParaRPr lang="ja-JP" sz="450"/>
          </a:p>
          <a:p>
            <a:pPr>
              <a:spcAft>
                <a:spcPts val="300"/>
              </a:spcAft>
            </a:pPr>
            <a:r>
              <a:rPr lang="ja-JP" altLang="en-US" sz="1000" b="1" dirty="0">
                <a:solidFill>
                  <a:sysClr val="windowText" lastClr="000000"/>
                </a:solidFill>
                <a:latin typeface="游ゴシック"/>
                <a:ea typeface="游ゴシック"/>
              </a:rPr>
              <a:t>≪減価償却費≫</a:t>
            </a:r>
          </a:p>
          <a:p>
            <a:pPr>
              <a:spcAft>
                <a:spcPts val="300"/>
              </a:spcAft>
            </a:pPr>
            <a:r>
              <a:rPr lang="ja-JP" altLang="en-US" sz="900" b="0" dirty="0">
                <a:solidFill>
                  <a:sysClr val="windowText" lastClr="000000"/>
                </a:solidFill>
                <a:latin typeface="游ゴシック"/>
                <a:ea typeface="游ゴシック"/>
              </a:rPr>
              <a:t>・13,664→8,879千円へ減少（車両等の償却終了）。</a:t>
            </a:r>
          </a:p>
        </p:txBody>
      </p:sp>
      <p:graphicFrame>
        <p:nvGraphicFramePr>
          <p:cNvPr id="14" name="表（販管費!B4:H34）"/>
          <p:cNvGraphicFramePr>
            <a:graphicFrameLocks noGrp="1"/>
          </p:cNvGraphicFramePr>
          <p:nvPr/>
        </p:nvGraphicFramePr>
        <p:xfrm>
          <a:off x="310896" y="1325880"/>
          <a:ext cx="5989316" cy="4635472"/>
        </p:xfrm>
        <a:graphic>
          <a:graphicData uri="http://schemas.openxmlformats.org/drawingml/2006/table">
            <a:tbl>
              <a:tblPr firstRow="0" bandRow="0">
                <a:tableStyleId>{2D5ABB26-0587-4C30-8999-92F81FD0307C}</a:tableStyleId>
              </a:tblPr>
              <a:tblGrid>
                <a:gridCol w="1769498"/>
                <a:gridCol w="819741"/>
                <a:gridCol w="586865"/>
                <a:gridCol w="819741"/>
                <a:gridCol w="586865"/>
                <a:gridCol w="819741"/>
                <a:gridCol w="586865"/>
              </a:tblGrid>
              <a:tr h="190500">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800" b="0" i="0" dirty="0">
                          <a:solidFill>
                            <a:srgbClr val="000000"/>
                          </a:solidFill>
                          <a:latin typeface="游ゴシック"/>
                          <a:ea typeface="游ゴシック"/>
                        </a:rPr>
                        <a:t>(単位：千円)</a:t>
                      </a:r>
                      <a:endParaRPr lang="ja-JP" altLang="en-US" sz="80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r>
              <a:tr h="160020">
                <a:tc rowSpan="2">
                  <a:txBody>
                    <a:bodyPr/>
                    <a:lstStyle/>
                    <a:p>
                      <a:pPr algn="ctr" fontAlgn="ctr"/>
                      <a:r>
                        <a:rPr lang="ja-JP" altLang="en-US" sz="800" b="0" i="0" dirty="0">
                          <a:solidFill>
                            <a:srgbClr val="FFFFFF"/>
                          </a:solidFill>
                          <a:latin typeface="游ゴシック"/>
                          <a:ea typeface="游ゴシック"/>
                        </a:rPr>
                        <a:t>科目</a:t>
                      </a:r>
                      <a:endParaRPr lang="ja-JP" altLang="en-US" sz="8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gridSpan="2">
                  <a:txBody>
                    <a:bodyPr/>
                    <a:lstStyle/>
                    <a:p>
                      <a:pPr algn="ctr" fontAlgn="ctr"/>
                      <a:r>
                        <a:rPr lang="ja-JP" altLang="en-US" sz="800" b="0" i="0" dirty="0">
                          <a:solidFill>
                            <a:srgbClr val="FFFFFF"/>
                          </a:solidFill>
                          <a:latin typeface="游ゴシック"/>
                          <a:ea typeface="游ゴシック"/>
                        </a:rPr>
                        <a:t>2024年3月期</a:t>
                      </a:r>
                      <a:endParaRPr lang="ja-JP" altLang="en-US" sz="8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hMerge="1">
                  <a:txBody>
                    <a:bodyPr/>
                    <a:lstStyle/>
                    <a:p>
                      <a:pPr algn="l" fontAlgn="ctr"/>
                      <a:endParaRPr lang="ja-JP" altLang="en-US" sz="756" b="0" i="0" dirty="0">
                        <a:solidFill>
                          <a:srgbClr val="000000"/>
                        </a:solidFill>
                        <a:latin typeface="Calibri"/>
                        <a:ea typeface="游ゴシック"/>
                      </a:endParaRPr>
                    </a:p>
                  </a:txBody>
                  <a:tcPr marL="36576" marR="36576" marT="0" marB="0" anchor="ctr">
                    <a:lnL w="6350">
                      <a:noFill/>
                    </a:lnL>
                    <a:lnR w="12700">
                      <a:solidFill>
                        <a:srgbClr val="FFFFFF"/>
                      </a:solidFill>
                    </a:lnR>
                    <a:lnT w="6350">
                      <a:noFill/>
                    </a:lnT>
                    <a:lnB w="6350">
                      <a:solidFill>
                        <a:srgbClr val="A6A6A6"/>
                      </a:solidFill>
                    </a:lnB>
                    <a:noFill/>
                  </a:tcPr>
                </a:tc>
                <a:tc gridSpan="2">
                  <a:txBody>
                    <a:bodyPr/>
                    <a:lstStyle/>
                    <a:p>
                      <a:pPr algn="ctr" fontAlgn="ctr"/>
                      <a:r>
                        <a:rPr lang="ja-JP" altLang="en-US" sz="800" b="0" i="0" dirty="0">
                          <a:solidFill>
                            <a:srgbClr val="FFFFFF"/>
                          </a:solidFill>
                          <a:latin typeface="游ゴシック"/>
                          <a:ea typeface="游ゴシック"/>
                        </a:rPr>
                        <a:t>2025年3月期</a:t>
                      </a:r>
                      <a:endParaRPr lang="ja-JP" altLang="en-US" sz="8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hMerge="1">
                  <a:txBody>
                    <a:bodyPr/>
                    <a:lstStyle/>
                    <a:p>
                      <a:pPr algn="l" fontAlgn="ctr"/>
                      <a:endParaRPr lang="ja-JP" altLang="en-US" sz="756" b="0" i="0" dirty="0">
                        <a:solidFill>
                          <a:srgbClr val="000000"/>
                        </a:solidFill>
                        <a:latin typeface="Calibri"/>
                        <a:ea typeface="游ゴシック"/>
                      </a:endParaRPr>
                    </a:p>
                  </a:txBody>
                  <a:tcPr marL="36576" marR="36576" marT="0" marB="0" anchor="ctr">
                    <a:lnL w="6350">
                      <a:noFill/>
                    </a:lnL>
                    <a:lnR w="12700">
                      <a:solidFill>
                        <a:srgbClr val="FFFFFF"/>
                      </a:solidFill>
                    </a:lnR>
                    <a:lnT w="6350">
                      <a:noFill/>
                    </a:lnT>
                    <a:lnB w="6350">
                      <a:solidFill>
                        <a:srgbClr val="A6A6A6"/>
                      </a:solidFill>
                    </a:lnB>
                    <a:noFill/>
                  </a:tcPr>
                </a:tc>
                <a:tc gridSpan="2">
                  <a:txBody>
                    <a:bodyPr/>
                    <a:lstStyle/>
                    <a:p>
                      <a:pPr algn="ctr" fontAlgn="ctr"/>
                      <a:r>
                        <a:rPr lang="ja-JP" altLang="en-US" sz="800" b="0" i="0" dirty="0">
                          <a:solidFill>
                            <a:srgbClr val="FFFFFF"/>
                          </a:solidFill>
                          <a:latin typeface="游ゴシック"/>
                          <a:ea typeface="游ゴシック"/>
                        </a:rPr>
                        <a:t>2026年3月期</a:t>
                      </a:r>
                      <a:endParaRPr lang="ja-JP" altLang="en-US" sz="8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hMerge="1">
                  <a:txBody>
                    <a:bodyPr/>
                    <a:lstStyle/>
                    <a:p>
                      <a:pPr algn="l" fontAlgn="ctr"/>
                      <a:endParaRPr lang="ja-JP" altLang="en-US" sz="756" b="0" i="0" dirty="0">
                        <a:solidFill>
                          <a:srgbClr val="000000"/>
                        </a:solidFill>
                        <a:latin typeface="Calibri"/>
                        <a:ea typeface="游ゴシック"/>
                      </a:endParaRPr>
                    </a:p>
                  </a:txBody>
                  <a:tcPr marL="36576" marR="36576" marT="0" marB="0" anchor="ctr">
                    <a:lnL w="6350">
                      <a:noFill/>
                    </a:lnL>
                    <a:lnR w="12700">
                      <a:solidFill>
                        <a:srgbClr val="FFFFFF"/>
                      </a:solidFill>
                    </a:lnR>
                    <a:lnT w="6350">
                      <a:noFill/>
                    </a:lnT>
                    <a:lnB w="6350">
                      <a:solidFill>
                        <a:srgbClr val="A6A6A6"/>
                      </a:solidFill>
                    </a:lnB>
                    <a:noFill/>
                  </a:tcPr>
                </a:tc>
              </a:tr>
              <a:tr h="160020">
                <a:tc vMerge="1">
                  <a:txBody>
                    <a:bodyPr/>
                    <a:lstStyle/>
                    <a:p>
                      <a:pPr algn="l" fontAlgn="ctr"/>
                      <a:endParaRPr lang="ja-JP" altLang="en-US" sz="756" b="0" i="0" dirty="0">
                        <a:solidFill>
                          <a:srgbClr val="000000"/>
                        </a:solidFill>
                        <a:latin typeface="Calibri"/>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800" b="0" i="0" dirty="0">
                          <a:solidFill>
                            <a:srgbClr val="FFFFFF"/>
                          </a:solidFill>
                          <a:latin typeface="游ゴシック"/>
                          <a:ea typeface="游ゴシック"/>
                        </a:rPr>
                        <a:t>帳簿価額</a:t>
                      </a:r>
                      <a:endParaRPr lang="ja-JP" altLang="en-US" sz="8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800" b="0" i="0" dirty="0">
                          <a:solidFill>
                            <a:srgbClr val="FFFFFF"/>
                          </a:solidFill>
                          <a:latin typeface="游ゴシック"/>
                          <a:ea typeface="游ゴシック"/>
                        </a:rPr>
                        <a:t>売上高比</a:t>
                      </a:r>
                      <a:endParaRPr lang="ja-JP" altLang="en-US" sz="8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800" b="0" i="0" dirty="0">
                          <a:solidFill>
                            <a:srgbClr val="FFFFFF"/>
                          </a:solidFill>
                          <a:latin typeface="游ゴシック"/>
                          <a:ea typeface="游ゴシック"/>
                        </a:rPr>
                        <a:t>帳簿価額</a:t>
                      </a:r>
                      <a:endParaRPr lang="ja-JP" altLang="en-US" sz="8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800" b="0" i="0" dirty="0">
                          <a:solidFill>
                            <a:srgbClr val="FFFFFF"/>
                          </a:solidFill>
                          <a:latin typeface="游ゴシック"/>
                          <a:ea typeface="游ゴシック"/>
                        </a:rPr>
                        <a:t>売上高比</a:t>
                      </a:r>
                      <a:endParaRPr lang="ja-JP" altLang="en-US" sz="8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800" b="0" i="0" dirty="0">
                          <a:solidFill>
                            <a:srgbClr val="FFFFFF"/>
                          </a:solidFill>
                          <a:latin typeface="游ゴシック"/>
                          <a:ea typeface="游ゴシック"/>
                        </a:rPr>
                        <a:t>帳簿価額</a:t>
                      </a:r>
                      <a:endParaRPr lang="ja-JP" altLang="en-US" sz="8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800" b="0" i="0" dirty="0">
                          <a:solidFill>
                            <a:srgbClr val="FFFFFF"/>
                          </a:solidFill>
                          <a:latin typeface="游ゴシック"/>
                          <a:ea typeface="游ゴシック"/>
                        </a:rPr>
                        <a:t>売上高比</a:t>
                      </a:r>
                      <a:endParaRPr lang="ja-JP" altLang="en-US" sz="8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r>
              <a:tr h="147319">
                <a:tc>
                  <a:txBody>
                    <a:bodyPr/>
                    <a:lstStyle/>
                    <a:p>
                      <a:pPr algn="l" fontAlgn="ctr"/>
                      <a:r>
                        <a:rPr lang="ja-JP" altLang="en-US" sz="800" b="0" i="0" dirty="0">
                          <a:solidFill>
                            <a:srgbClr val="000000"/>
                          </a:solidFill>
                          <a:latin typeface="游ゴシック"/>
                          <a:ea typeface="游ゴシック"/>
                        </a:rPr>
                        <a:t>　役員報酬</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22,200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1.9%</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22,200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1.9%</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15,360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給料手当</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73,148</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6.2%</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74,179</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6.3%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71,673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6.0%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賞与</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6,002</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0.5%</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5,693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0.5%</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退職金共済掛金</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3,175</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3,166</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3,026</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退職金</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356</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747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法定福利費</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15,154</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14,913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13,296</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福利厚生費</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595</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900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460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広告宣伝費</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203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114</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89</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旅費交通費</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45</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212</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79</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通信費</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1,435</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1,143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1,192</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車両関連費</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8,475</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10,126</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0.9%</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9,862</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0.8%</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運賃</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27,547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2.3%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29,494</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2.5%</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28,997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2.4%</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振込手数料負担金</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123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207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215</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委託手数料</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3,709</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3,539</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4,075</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接待交際費</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3,475</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2,486</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0.2%</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1,580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水道光熱費</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4,424</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0.4%</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4,701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0.4%</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4,685</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0.4%</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消耗品費</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36</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95</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租税公課</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14,465</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1.2%</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12,814</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12,177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支払手数料</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1,546</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1,527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1,597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諸会費</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181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141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138</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寄付金</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13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71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リース料</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4,712</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0.4%</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6,711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0.6%</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6,227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0.5%</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支払保険料</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2,772</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0.2%</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1,431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1,542</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修繕費</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1,170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708</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124</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事務用消耗品費</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2,033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0.2%</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1,935</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0.2%</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2,336</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0.2%</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減価償却費</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13,664</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1.2%</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12,558</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8,879</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雑費</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4,522</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0.4%</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4,393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0.4%</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4,690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0.4%</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1" i="0" dirty="0">
                          <a:solidFill>
                            <a:srgbClr val="FFFFFF"/>
                          </a:solidFill>
                          <a:latin typeface="游ゴシック"/>
                          <a:ea typeface="游ゴシック"/>
                        </a:rPr>
                        <a:t>販売費及び一般管理費 計</a:t>
                      </a:r>
                      <a:endParaRPr lang="ja-JP" altLang="en-US" sz="800" b="1"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r" fontAlgn="ctr"/>
                      <a:r>
                        <a:rPr lang="ja-JP" altLang="en-US" sz="800" b="1" i="0" dirty="0">
                          <a:solidFill>
                            <a:srgbClr val="FFFFFF"/>
                          </a:solidFill>
                          <a:latin typeface="Arial"/>
                          <a:ea typeface="游ゴシック Medium"/>
                        </a:rPr>
                        <a:t>214,823</a:t>
                      </a:r>
                      <a:endParaRPr lang="ja-JP" altLang="en-US" sz="800" b="1" i="0" dirty="0">
                        <a:solidFill>
                          <a:srgbClr val="FFFFFF"/>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r" fontAlgn="ctr"/>
                      <a:r>
                        <a:rPr lang="ja-JP" altLang="en-US" sz="800" b="1" i="0" dirty="0">
                          <a:solidFill>
                            <a:srgbClr val="FFFFFF"/>
                          </a:solidFill>
                          <a:latin typeface="Arial"/>
                          <a:ea typeface="游ゴシック Medium"/>
                        </a:rPr>
                        <a:t>18.2%</a:t>
                      </a:r>
                      <a:endParaRPr lang="ja-JP" altLang="en-US" sz="800" b="1" i="0" dirty="0">
                        <a:solidFill>
                          <a:srgbClr val="FFFFFF"/>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r" fontAlgn="ctr"/>
                      <a:r>
                        <a:rPr lang="ja-JP" altLang="en-US" sz="800" b="1" i="0" dirty="0">
                          <a:solidFill>
                            <a:srgbClr val="FFFFFF"/>
                          </a:solidFill>
                          <a:latin typeface="Arial"/>
                          <a:ea typeface="游ゴシック Medium"/>
                        </a:rPr>
                        <a:t>215,718</a:t>
                      </a:r>
                      <a:endParaRPr lang="ja-JP" altLang="en-US" sz="800" b="1" i="0" dirty="0">
                        <a:solidFill>
                          <a:srgbClr val="FFFFFF"/>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r" fontAlgn="ctr"/>
                      <a:r>
                        <a:rPr lang="ja-JP" altLang="en-US" sz="800" b="1" i="0" dirty="0">
                          <a:solidFill>
                            <a:srgbClr val="FFFFFF"/>
                          </a:solidFill>
                          <a:latin typeface="Arial"/>
                          <a:ea typeface="游ゴシック Medium"/>
                        </a:rPr>
                        <a:t>18.3%</a:t>
                      </a:r>
                      <a:endParaRPr lang="ja-JP" altLang="en-US" sz="800" b="1" i="0" dirty="0">
                        <a:solidFill>
                          <a:srgbClr val="FFFFFF"/>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r" fontAlgn="ctr"/>
                      <a:r>
                        <a:rPr lang="ja-JP" altLang="en-US" sz="800" b="1" i="0" dirty="0">
                          <a:solidFill>
                            <a:srgbClr val="FFFFFF"/>
                          </a:solidFill>
                          <a:latin typeface="Arial"/>
                          <a:ea typeface="游ゴシック Medium"/>
                        </a:rPr>
                        <a:t>193,151</a:t>
                      </a:r>
                      <a:endParaRPr lang="ja-JP" altLang="en-US" sz="800" b="1" i="0" dirty="0">
                        <a:solidFill>
                          <a:srgbClr val="FFFFFF"/>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r" fontAlgn="ctr"/>
                      <a:r>
                        <a:rPr lang="ja-JP" altLang="en-US" sz="800" b="1" i="0" dirty="0">
                          <a:solidFill>
                            <a:srgbClr val="FFFFFF"/>
                          </a:solidFill>
                          <a:latin typeface="Arial"/>
                          <a:ea typeface="游ゴシック Medium"/>
                        </a:rPr>
                        <a:t>16.2%</a:t>
                      </a:r>
                      <a:endParaRPr lang="ja-JP" altLang="en-US" sz="800" b="1" i="0" dirty="0">
                        <a:solidFill>
                          <a:srgbClr val="FFFFFF"/>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r>
            </a:tbl>
          </a:graphicData>
        </a:graphic>
      </p:graphicFrame>
    </p:spTree>
    <p:extLst>
      <p:ext uri="{BB962C8B-B14F-4D97-AF65-F5344CB8AC3E}">
        <p14:creationId xmlns:p14="http://schemas.microsoft.com/office/powerpoint/2010/main" val="19093800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6E9481-F171-6C11-CA74-858754CED30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1067C0B-FDBB-DAD1-C4BF-FB866758BEC6}"/>
              </a:ext>
            </a:extLst>
          </p:cNvPr>
          <p:cNvSpPr>
            <a:spLocks noGrp="1"/>
          </p:cNvSpPr>
          <p:nvPr>
            <p:ph type="title"/>
          </p:nvPr>
        </p:nvSpPr>
        <p:spPr>
          <a:xfrm>
            <a:off x="989013" y="3656161"/>
            <a:ext cx="9221787" cy="615553"/>
          </a:xfrm>
        </p:spPr>
        <p:txBody>
          <a:bodyPr/>
          <a:lstStyle/>
          <a:p>
            <a:r>
              <a:rPr lang="en-US" altLang="ja-JP" dirty="0"/>
              <a:t>Appendix</a:t>
            </a:r>
          </a:p>
        </p:txBody>
      </p:sp>
    </p:spTree>
    <p:extLst>
      <p:ext uri="{BB962C8B-B14F-4D97-AF65-F5344CB8AC3E}">
        <p14:creationId xmlns:p14="http://schemas.microsoft.com/office/powerpoint/2010/main" val="341302377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82E3EC-2048-079E-7643-70D2CF76772A}"/>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02E27983-8C8F-AAE9-9CF2-1036574B4BDE}"/>
              </a:ext>
            </a:extLst>
          </p:cNvPr>
          <p:cNvSpPr>
            <a:spLocks noGrp="1"/>
          </p:cNvSpPr>
          <p:nvPr>
            <p:ph type="ctrTitle"/>
          </p:nvPr>
        </p:nvSpPr>
        <p:spPr>
          <a:xfrm>
            <a:off x="311150" y="180296"/>
            <a:ext cx="7799917" cy="339267"/>
          </a:xfrm>
        </p:spPr>
        <p:txBody>
          <a:bodyPr>
            <a:normAutofit/>
          </a:bodyPr>
          <a:lstStyle/>
          <a:p>
            <a:r>
              <a:rPr lang="ja-JP" altLang="en-US" dirty="0"/>
              <a:t>沿革</a:t>
            </a:r>
          </a:p>
        </p:txBody>
      </p:sp>
      <p:sp>
        <p:nvSpPr>
          <p:cNvPr id="5" name="タイトル 1">
            <a:extLst>
              <a:ext uri="{FF2B5EF4-FFF2-40B4-BE49-F238E27FC236}">
                <a16:creationId xmlns:a16="http://schemas.microsoft.com/office/drawing/2014/main" id="{7C6D20B5-6E7B-D773-483A-3D3213A63C3D}"/>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en-US" altLang="ja-JP" sz="1200" b="1" spc="55" dirty="0">
                <a:solidFill>
                  <a:schemeClr val="bg1"/>
                </a:solidFill>
              </a:rPr>
              <a:t>Appendix</a:t>
            </a:r>
            <a:endParaRPr lang="ja-JP" altLang="en-US" sz="1200" b="1" spc="55" dirty="0">
              <a:solidFill>
                <a:schemeClr val="bg1"/>
              </a:solidFill>
            </a:endParaRPr>
          </a:p>
        </p:txBody>
      </p:sp>
      <p:sp>
        <p:nvSpPr>
          <p:cNvPr id="4" name="字幕 13">
            <a:extLst>
              <a:ext uri="{FF2B5EF4-FFF2-40B4-BE49-F238E27FC236}">
                <a16:creationId xmlns:a16="http://schemas.microsoft.com/office/drawing/2014/main" id="{16508C02-2E69-432A-5CCB-7583CED20D5E}"/>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a:ea typeface="游ゴシック"/>
              </a:rPr>
              <a:t>1973年の設立以来、鶴岡市宝田を拠点に青果物卸売を継続。施設の改修を重ねながら市場を運営している。</a:t>
            </a:r>
          </a:p>
        </p:txBody>
      </p:sp>
      <p:graphicFrame>
        <p:nvGraphicFramePr>
          <p:cNvPr id="14" name="表（沿革!B4:C15）"/>
          <p:cNvGraphicFramePr>
            <a:graphicFrameLocks noGrp="1"/>
          </p:cNvGraphicFramePr>
          <p:nvPr/>
        </p:nvGraphicFramePr>
        <p:xfrm>
          <a:off x="448056" y="1463040"/>
          <a:ext cx="9793223" cy="4025900"/>
        </p:xfrm>
        <a:graphic>
          <a:graphicData uri="http://schemas.openxmlformats.org/drawingml/2006/table">
            <a:tbl>
              <a:tblPr firstRow="0" bandRow="0">
                <a:tableStyleId>{2D5ABB26-0587-4C30-8999-92F81FD0307C}</a:tableStyleId>
              </a:tblPr>
              <a:tblGrid>
                <a:gridCol w="1784772"/>
                <a:gridCol w="8008451"/>
              </a:tblGrid>
              <a:tr h="254000">
                <a:tc>
                  <a:txBody>
                    <a:bodyPr/>
                    <a:lstStyle/>
                    <a:p>
                      <a:pPr algn="ctr" fontAlgn="ctr"/>
                      <a:r>
                        <a:rPr lang="ja-JP" altLang="en-US" sz="1000" b="0" i="0" dirty="0">
                          <a:solidFill>
                            <a:srgbClr val="FFFFFF"/>
                          </a:solidFill>
                          <a:latin typeface="游ゴシック"/>
                          <a:ea typeface="游ゴシック"/>
                        </a:rPr>
                        <a:t>年月</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主な出来事</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r>
              <a:tr h="342900">
                <a:tc>
                  <a:txBody>
                    <a:bodyPr/>
                    <a:lstStyle/>
                    <a:p>
                      <a:pPr algn="l" fontAlgn="ctr"/>
                      <a:r>
                        <a:rPr lang="ja-JP" altLang="en-US" sz="1050" b="0" i="0" dirty="0">
                          <a:solidFill>
                            <a:srgbClr val="000000"/>
                          </a:solidFill>
                          <a:latin typeface="游ゴシック"/>
                          <a:ea typeface="游ゴシック"/>
                        </a:rPr>
                        <a:t>1973年11月</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株式会社鶴岡中央青果を設立</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342900">
                <a:tc>
                  <a:txBody>
                    <a:bodyPr/>
                    <a:lstStyle/>
                    <a:p>
                      <a:pPr algn="l" fontAlgn="ctr"/>
                      <a:r>
                        <a:rPr lang="ja-JP" altLang="en-US" sz="1050" b="0" i="0" dirty="0">
                          <a:solidFill>
                            <a:srgbClr val="000000"/>
                          </a:solidFill>
                          <a:latin typeface="游ゴシック"/>
                          <a:ea typeface="游ゴシック"/>
                        </a:rPr>
                        <a:t>1981〜82年</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現本社地（宝田一丁目）に事務所・市場・倉庫・パッケージ場（事務所兼倉庫）を建築</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342900">
                <a:tc>
                  <a:txBody>
                    <a:bodyPr/>
                    <a:lstStyle/>
                    <a:p>
                      <a:pPr algn="l" fontAlgn="ctr"/>
                      <a:r>
                        <a:rPr lang="ja-JP" altLang="en-US" sz="1050" b="0" i="0" dirty="0">
                          <a:solidFill>
                            <a:srgbClr val="000000"/>
                          </a:solidFill>
                          <a:latin typeface="游ゴシック"/>
                          <a:ea typeface="游ゴシック"/>
                        </a:rPr>
                        <a:t>1984年11月</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住居表示の実施により本店所在地の表記が「鶴岡市宝田一丁目4番20号」となる</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342900">
                <a:tc>
                  <a:txBody>
                    <a:bodyPr/>
                    <a:lstStyle/>
                    <a:p>
                      <a:pPr algn="l" fontAlgn="ctr"/>
                      <a:r>
                        <a:rPr lang="ja-JP" altLang="en-US" sz="1050" b="0" i="0" dirty="0">
                          <a:solidFill>
                            <a:srgbClr val="000000"/>
                          </a:solidFill>
                          <a:latin typeface="游ゴシック"/>
                          <a:ea typeface="游ゴシック"/>
                        </a:rPr>
                        <a:t>要確認</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地方卸売市場としての開設・認定（山形県資料に記載あり。年月は要確認）</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342900">
                <a:tc>
                  <a:txBody>
                    <a:bodyPr/>
                    <a:lstStyle/>
                    <a:p>
                      <a:pPr algn="l" fontAlgn="ctr"/>
                      <a:r>
                        <a:rPr lang="ja-JP" altLang="en-US" sz="1050" b="0" i="0" dirty="0">
                          <a:solidFill>
                            <a:srgbClr val="000000"/>
                          </a:solidFill>
                          <a:latin typeface="游ゴシック"/>
                          <a:ea typeface="游ゴシック"/>
                        </a:rPr>
                        <a:t>2006年</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会社法施行に伴い取締役会設置会社・監査役設置会社の登記</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342900">
                <a:tc>
                  <a:txBody>
                    <a:bodyPr/>
                    <a:lstStyle/>
                    <a:p>
                      <a:pPr algn="l" fontAlgn="ctr"/>
                      <a:r>
                        <a:rPr lang="ja-JP" altLang="en-US" sz="1050" b="0" i="0" dirty="0">
                          <a:solidFill>
                            <a:srgbClr val="000000"/>
                          </a:solidFill>
                          <a:latin typeface="游ゴシック"/>
                          <a:ea typeface="游ゴシック"/>
                        </a:rPr>
                        <a:t>2012年</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定款の目的を変更（現行：青果物の販売及び卸売、倉庫業ほか）。宝田一丁目5-1に倉庫（鉄骨造139㎡）を新築</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342900">
                <a:tc>
                  <a:txBody>
                    <a:bodyPr/>
                    <a:lstStyle/>
                    <a:p>
                      <a:pPr algn="l" fontAlgn="ctr"/>
                      <a:r>
                        <a:rPr lang="ja-JP" altLang="en-US" sz="1050" b="0" i="0" dirty="0">
                          <a:solidFill>
                            <a:srgbClr val="000000"/>
                          </a:solidFill>
                          <a:latin typeface="游ゴシック"/>
                          <a:ea typeface="游ゴシック"/>
                        </a:rPr>
                        <a:t>2019年10月</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受託販売の会計表示を総額から純額（受託手数料のみ）へ変更</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342900">
                <a:tc>
                  <a:txBody>
                    <a:bodyPr/>
                    <a:lstStyle/>
                    <a:p>
                      <a:pPr algn="l" fontAlgn="ctr"/>
                      <a:r>
                        <a:rPr lang="ja-JP" altLang="en-US" sz="1050" b="0" i="0" dirty="0">
                          <a:solidFill>
                            <a:srgbClr val="000000"/>
                          </a:solidFill>
                          <a:latin typeface="游ゴシック"/>
                          <a:ea typeface="游ゴシック"/>
                        </a:rPr>
                        <a:t>2025年5月</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資材倉庫の外壁・シャッターを改修</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342900">
                <a:tc>
                  <a:txBody>
                    <a:bodyPr/>
                    <a:lstStyle/>
                    <a:p>
                      <a:pPr algn="l" fontAlgn="ctr"/>
                      <a:r>
                        <a:rPr lang="ja-JP" altLang="en-US" sz="1050" b="0" i="0" dirty="0">
                          <a:solidFill>
                            <a:srgbClr val="000000"/>
                          </a:solidFill>
                          <a:latin typeface="游ゴシック"/>
                          <a:ea typeface="游ゴシック"/>
                        </a:rPr>
                        <a:t>2026年1月</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鶴岡市内のもう1社の青果市場が撤退し、市内で唯一の青果市場となる</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342900">
                <a:tc>
                  <a:txBody>
                    <a:bodyPr/>
                    <a:lstStyle/>
                    <a:p>
                      <a:pPr algn="l" fontAlgn="ctr"/>
                      <a:r>
                        <a:rPr lang="ja-JP" altLang="en-US" sz="1050" b="0" i="0" dirty="0">
                          <a:solidFill>
                            <a:srgbClr val="000000"/>
                          </a:solidFill>
                          <a:latin typeface="游ゴシック"/>
                          <a:ea typeface="游ゴシック"/>
                        </a:rPr>
                        <a:t>2026年5月</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役員改選（取締役3名重任、常務取締役退任）</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342900">
                <a:tc>
                  <a:txBody>
                    <a:bodyPr/>
                    <a:lstStyle/>
                    <a:p>
                      <a:pPr algn="l" fontAlgn="ctr"/>
                      <a:r>
                        <a:rPr lang="ja-JP" altLang="en-US" sz="1050" b="0" i="0" dirty="0">
                          <a:solidFill>
                            <a:srgbClr val="000000"/>
                          </a:solidFill>
                          <a:latin typeface="游ゴシック"/>
                          <a:ea typeface="游ゴシック"/>
                        </a:rPr>
                        <a:t>時期要確認</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庄内町長沼の倉庫を老朽化により解体（跡地は駐車場として賃貸）</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bl>
          </a:graphicData>
        </a:graphic>
      </p:graphicFrame>
      <p:sp>
        <p:nvSpPr>
          <p:cNvPr id="15" name="TextBox 14"/>
          <p:cNvSpPr txBox="1"/>
          <p:nvPr/>
        </p:nvSpPr>
        <p:spPr>
          <a:xfrm>
            <a:off x="448056" y="5580380"/>
            <a:ext cx="9793224" cy="164592"/>
          </a:xfrm>
          <a:prstGeom prst="rect">
            <a:avLst/>
          </a:prstGeom>
          <a:noFill/>
        </p:spPr>
        <p:txBody>
          <a:bodyPr wrap="square" lIns="0" rIns="0" tIns="0" bIns="0" anchor="t">
            <a:spAutoFit/>
          </a:bodyPr>
          <a:lstStyle/>
          <a:p>
            <a:pPr algn="l"/>
            <a:r>
              <a:rPr sz="800" b="0">
                <a:solidFill>
                  <a:srgbClr val="000000"/>
                </a:solidFill>
                <a:latin typeface="游ゴシック"/>
                <a:ea typeface="游ゴシック"/>
              </a:rPr>
              <a:t>※出所：履歴事項全部証明書、固定資産税課税明細書、個別注記表、固定資産内訳書、山形県公表資料。創業の経緯・代表者の経歴は売主様へ確認中。</a:t>
            </a:r>
          </a:p>
        </p:txBody>
      </p:sp>
    </p:spTree>
    <p:extLst>
      <p:ext uri="{BB962C8B-B14F-4D97-AF65-F5344CB8AC3E}">
        <p14:creationId xmlns:p14="http://schemas.microsoft.com/office/powerpoint/2010/main" val="3914015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D7509-A147-F771-4D5B-58FD19177FCE}"/>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7798C8B8-8318-9D2C-71AB-4A0772618FCB}"/>
              </a:ext>
            </a:extLst>
          </p:cNvPr>
          <p:cNvSpPr>
            <a:spLocks noGrp="1"/>
          </p:cNvSpPr>
          <p:nvPr>
            <p:ph type="ctrTitle"/>
          </p:nvPr>
        </p:nvSpPr>
        <p:spPr>
          <a:xfrm>
            <a:off x="311150" y="180296"/>
            <a:ext cx="7799917" cy="339267"/>
          </a:xfrm>
        </p:spPr>
        <p:txBody>
          <a:bodyPr>
            <a:normAutofit/>
          </a:bodyPr>
          <a:lstStyle/>
          <a:p>
            <a:r>
              <a:rPr lang="ja-JP" altLang="en-US" dirty="0"/>
              <a:t>事業概要</a:t>
            </a:r>
          </a:p>
        </p:txBody>
      </p:sp>
      <p:sp>
        <p:nvSpPr>
          <p:cNvPr id="5" name="タイトル 1">
            <a:extLst>
              <a:ext uri="{FF2B5EF4-FFF2-40B4-BE49-F238E27FC236}">
                <a16:creationId xmlns:a16="http://schemas.microsoft.com/office/drawing/2014/main" id="{3612E327-1829-4D56-4AD9-5013C3211CEC}"/>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en-US" altLang="ja-JP" sz="1200" b="1" spc="55" dirty="0">
                <a:solidFill>
                  <a:schemeClr val="bg1"/>
                </a:solidFill>
              </a:rPr>
              <a:t>エグゼクティブサマリー</a:t>
            </a:r>
            <a:endParaRPr lang="ja-JP" altLang="en-US" sz="1200" b="1" spc="55" dirty="0">
              <a:solidFill>
                <a:schemeClr val="bg1"/>
              </a:solidFill>
            </a:endParaRPr>
          </a:p>
        </p:txBody>
      </p:sp>
      <p:sp>
        <p:nvSpPr>
          <p:cNvPr id="4" name="字幕 13">
            <a:extLst>
              <a:ext uri="{FF2B5EF4-FFF2-40B4-BE49-F238E27FC236}">
                <a16:creationId xmlns:a16="http://schemas.microsoft.com/office/drawing/2014/main" id="{96CF066E-37EF-5081-6153-116AC130DDF9}"/>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a:ea typeface="游ゴシック"/>
              </a:rPr>
              <a:t>鶴岡市内唯一の青果物地方卸売市場を自ら運営する「開設者兼卸売業者」。農家の持込を原則全量受け入れる集荷力を持ち、セリ・相対による卸売から小分け・包装、配送まで一貫して担う。</a:t>
            </a:r>
          </a:p>
        </p:txBody>
      </p:sp>
      <p:sp>
        <p:nvSpPr>
          <p:cNvPr id="14" name="TextBox 13"/>
          <p:cNvSpPr txBox="1"/>
          <p:nvPr/>
        </p:nvSpPr>
        <p:spPr>
          <a:xfrm>
            <a:off x="310896" y="1536192"/>
            <a:ext cx="6309360" cy="274320"/>
          </a:xfrm>
          <a:prstGeom prst="rect">
            <a:avLst/>
          </a:prstGeom>
          <a:noFill/>
        </p:spPr>
        <p:txBody>
          <a:bodyPr wrap="square" lIns="0" rIns="0" tIns="0" bIns="0" anchor="t">
            <a:spAutoFit/>
          </a:bodyPr>
          <a:lstStyle/>
          <a:p>
            <a:pPr algn="l"/>
            <a:r>
              <a:rPr sz="1100" b="1">
                <a:solidFill>
                  <a:srgbClr val="0B3041"/>
                </a:solidFill>
                <a:latin typeface="游ゴシック"/>
                <a:ea typeface="游ゴシック"/>
              </a:rPr>
              <a:t>■ 事業フロー</a:t>
            </a:r>
          </a:p>
        </p:txBody>
      </p:sp>
      <p:sp>
        <p:nvSpPr>
          <p:cNvPr id="15" name="Rectangle 14"/>
          <p:cNvSpPr/>
          <p:nvPr/>
        </p:nvSpPr>
        <p:spPr>
          <a:xfrm>
            <a:off x="310896" y="1810512"/>
            <a:ext cx="1371600" cy="329184"/>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000" b="1">
                <a:solidFill>
                  <a:srgbClr val="FFFFFF"/>
                </a:solidFill>
                <a:latin typeface="游ゴシック"/>
                <a:ea typeface="游ゴシック"/>
              </a:rPr>
              <a:t>集荷・仕入</a:t>
            </a:r>
          </a:p>
        </p:txBody>
      </p:sp>
      <p:sp>
        <p:nvSpPr>
          <p:cNvPr id="16" name="Rectangle 15"/>
          <p:cNvSpPr/>
          <p:nvPr/>
        </p:nvSpPr>
        <p:spPr>
          <a:xfrm>
            <a:off x="310896" y="2139696"/>
            <a:ext cx="1371600" cy="960120"/>
          </a:xfrm>
          <a:prstGeom prst="rect">
            <a:avLst/>
          </a:prstGeom>
          <a:solidFill>
            <a:srgbClr val="FFFFFF"/>
          </a:solidFill>
          <a:ln w="9525">
            <a:solidFill>
              <a:srgbClr val="0B304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850" b="0">
                <a:solidFill>
                  <a:srgbClr val="000000"/>
                </a:solidFill>
                <a:latin typeface="游ゴシック"/>
                <a:ea typeface="游ゴシック"/>
              </a:rPr>
              <a:t>農家の持込（30〜40%）</a:t>
            </a:r>
          </a:p>
          <a:p>
            <a:pPr algn="ctr"/>
            <a:r>
              <a:rPr sz="850" b="0">
                <a:solidFill>
                  <a:srgbClr val="000000"/>
                </a:solidFill>
                <a:latin typeface="游ゴシック"/>
                <a:ea typeface="游ゴシック"/>
              </a:rPr>
              <a:t>当社による集荷（残り）</a:t>
            </a:r>
          </a:p>
          <a:p>
            <a:pPr algn="ctr"/>
            <a:r>
              <a:rPr sz="850" b="0">
                <a:solidFill>
                  <a:srgbClr val="000000"/>
                </a:solidFill>
                <a:latin typeface="游ゴシック"/>
                <a:ea typeface="游ゴシック"/>
              </a:rPr>
              <a:t>県内外の市場からの仕入</a:t>
            </a:r>
          </a:p>
        </p:txBody>
      </p:sp>
      <p:cxnSp>
        <p:nvCxnSpPr>
          <p:cNvPr id="17" name="Connector 16"/>
          <p:cNvCxnSpPr/>
          <p:nvPr/>
        </p:nvCxnSpPr>
        <p:spPr>
          <a:xfrm>
            <a:off x="1700784" y="1975104"/>
            <a:ext cx="192023" cy="0"/>
          </a:xfrm>
          <a:prstGeom prst="line">
            <a:avLst/>
          </a:prstGeom>
          <a:ln w="19050">
            <a:solidFill>
              <a:srgbClr val="0B304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1911095" y="1810512"/>
            <a:ext cx="1371600" cy="329184"/>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000" b="1">
                <a:solidFill>
                  <a:srgbClr val="FFFFFF"/>
                </a:solidFill>
                <a:latin typeface="游ゴシック"/>
                <a:ea typeface="游ゴシック"/>
              </a:rPr>
              <a:t>卸売</a:t>
            </a:r>
          </a:p>
        </p:txBody>
      </p:sp>
      <p:sp>
        <p:nvSpPr>
          <p:cNvPr id="19" name="Rectangle 18"/>
          <p:cNvSpPr/>
          <p:nvPr/>
        </p:nvSpPr>
        <p:spPr>
          <a:xfrm>
            <a:off x="1911095" y="2139696"/>
            <a:ext cx="1371600" cy="960120"/>
          </a:xfrm>
          <a:prstGeom prst="rect">
            <a:avLst/>
          </a:prstGeom>
          <a:solidFill>
            <a:srgbClr val="FFFFFF"/>
          </a:solidFill>
          <a:ln w="9525">
            <a:solidFill>
              <a:srgbClr val="0B304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850" b="0">
                <a:solidFill>
                  <a:srgbClr val="000000"/>
                </a:solidFill>
                <a:latin typeface="游ゴシック"/>
                <a:ea typeface="游ゴシック"/>
              </a:rPr>
              <a:t>セリ・相対による販売</a:t>
            </a:r>
          </a:p>
          <a:p>
            <a:pPr algn="ctr"/>
            <a:r>
              <a:rPr sz="850" b="0">
                <a:solidFill>
                  <a:srgbClr val="000000"/>
                </a:solidFill>
                <a:latin typeface="游ゴシック"/>
                <a:ea typeface="游ゴシック"/>
              </a:rPr>
              <a:t>（仲卸業者・買参人）</a:t>
            </a:r>
          </a:p>
          <a:p>
            <a:pPr algn="ctr"/>
            <a:r>
              <a:rPr sz="850" b="0">
                <a:solidFill>
                  <a:srgbClr val="000000"/>
                </a:solidFill>
                <a:latin typeface="游ゴシック"/>
                <a:ea typeface="游ゴシック"/>
              </a:rPr>
              <a:t>量販店等への直接販売</a:t>
            </a:r>
          </a:p>
        </p:txBody>
      </p:sp>
      <p:cxnSp>
        <p:nvCxnSpPr>
          <p:cNvPr id="20" name="Connector 19"/>
          <p:cNvCxnSpPr/>
          <p:nvPr/>
        </p:nvCxnSpPr>
        <p:spPr>
          <a:xfrm>
            <a:off x="3300984" y="1975104"/>
            <a:ext cx="192024" cy="0"/>
          </a:xfrm>
          <a:prstGeom prst="line">
            <a:avLst/>
          </a:prstGeom>
          <a:ln w="19050">
            <a:solidFill>
              <a:srgbClr val="0B304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3511296" y="1810512"/>
            <a:ext cx="1371600" cy="329184"/>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000" b="1">
                <a:solidFill>
                  <a:srgbClr val="FFFFFF"/>
                </a:solidFill>
                <a:latin typeface="游ゴシック"/>
                <a:ea typeface="游ゴシック"/>
              </a:rPr>
              <a:t>パッケージ</a:t>
            </a:r>
          </a:p>
        </p:txBody>
      </p:sp>
      <p:sp>
        <p:nvSpPr>
          <p:cNvPr id="22" name="Rectangle 21"/>
          <p:cNvSpPr/>
          <p:nvPr/>
        </p:nvSpPr>
        <p:spPr>
          <a:xfrm>
            <a:off x="3511296" y="2139696"/>
            <a:ext cx="1371600" cy="960120"/>
          </a:xfrm>
          <a:prstGeom prst="rect">
            <a:avLst/>
          </a:prstGeom>
          <a:solidFill>
            <a:srgbClr val="FFFFFF"/>
          </a:solidFill>
          <a:ln w="9525">
            <a:solidFill>
              <a:srgbClr val="0B304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850" b="0">
                <a:solidFill>
                  <a:srgbClr val="000000"/>
                </a:solidFill>
                <a:latin typeface="游ゴシック"/>
                <a:ea typeface="游ゴシック"/>
              </a:rPr>
              <a:t>小分け・包装</a:t>
            </a:r>
          </a:p>
          <a:p>
            <a:pPr algn="ctr"/>
            <a:r>
              <a:rPr sz="850" b="0">
                <a:solidFill>
                  <a:srgbClr val="000000"/>
                </a:solidFill>
                <a:latin typeface="游ゴシック"/>
                <a:ea typeface="游ゴシック"/>
              </a:rPr>
              <a:t>（パッケージ部7名）</a:t>
            </a:r>
          </a:p>
        </p:txBody>
      </p:sp>
      <p:cxnSp>
        <p:nvCxnSpPr>
          <p:cNvPr id="23" name="Connector 22"/>
          <p:cNvCxnSpPr/>
          <p:nvPr/>
        </p:nvCxnSpPr>
        <p:spPr>
          <a:xfrm>
            <a:off x="4901183" y="1975104"/>
            <a:ext cx="192025" cy="0"/>
          </a:xfrm>
          <a:prstGeom prst="line">
            <a:avLst/>
          </a:prstGeom>
          <a:ln w="19050">
            <a:solidFill>
              <a:srgbClr val="0B304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5111496" y="1810512"/>
            <a:ext cx="1371600" cy="329184"/>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000" b="1">
                <a:solidFill>
                  <a:srgbClr val="FFFFFF"/>
                </a:solidFill>
                <a:latin typeface="游ゴシック"/>
                <a:ea typeface="游ゴシック"/>
              </a:rPr>
              <a:t>配送・センター</a:t>
            </a:r>
          </a:p>
        </p:txBody>
      </p:sp>
      <p:sp>
        <p:nvSpPr>
          <p:cNvPr id="25" name="Rectangle 24"/>
          <p:cNvSpPr/>
          <p:nvPr/>
        </p:nvSpPr>
        <p:spPr>
          <a:xfrm>
            <a:off x="5111496" y="2139696"/>
            <a:ext cx="1371600" cy="960120"/>
          </a:xfrm>
          <a:prstGeom prst="rect">
            <a:avLst/>
          </a:prstGeom>
          <a:solidFill>
            <a:srgbClr val="FFFFFF"/>
          </a:solidFill>
          <a:ln w="9525">
            <a:solidFill>
              <a:srgbClr val="0B304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850" b="0">
                <a:solidFill>
                  <a:srgbClr val="000000"/>
                </a:solidFill>
                <a:latin typeface="游ゴシック"/>
                <a:ea typeface="游ゴシック"/>
              </a:rPr>
              <a:t>集配部による自社配送</a:t>
            </a:r>
          </a:p>
          <a:p>
            <a:pPr algn="ctr"/>
            <a:r>
              <a:rPr sz="850" b="0">
                <a:solidFill>
                  <a:srgbClr val="000000"/>
                </a:solidFill>
                <a:latin typeface="游ゴシック"/>
                <a:ea typeface="游ゴシック"/>
              </a:rPr>
              <a:t>主婦の店の配送受託</a:t>
            </a:r>
          </a:p>
          <a:p>
            <a:pPr algn="ctr"/>
            <a:r>
              <a:rPr sz="850" b="0">
                <a:solidFill>
                  <a:srgbClr val="000000"/>
                </a:solidFill>
                <a:latin typeface="游ゴシック"/>
                <a:ea typeface="游ゴシック"/>
              </a:rPr>
              <a:t>（センター費）</a:t>
            </a:r>
          </a:p>
        </p:txBody>
      </p:sp>
      <p:sp>
        <p:nvSpPr>
          <p:cNvPr id="26" name="TextBox 25"/>
          <p:cNvSpPr txBox="1"/>
          <p:nvPr/>
        </p:nvSpPr>
        <p:spPr>
          <a:xfrm>
            <a:off x="310896" y="3246120"/>
            <a:ext cx="6309360" cy="274320"/>
          </a:xfrm>
          <a:prstGeom prst="rect">
            <a:avLst/>
          </a:prstGeom>
          <a:noFill/>
        </p:spPr>
        <p:txBody>
          <a:bodyPr wrap="square" lIns="0" rIns="0" tIns="0" bIns="0" anchor="t">
            <a:spAutoFit/>
          </a:bodyPr>
          <a:lstStyle/>
          <a:p>
            <a:pPr algn="l"/>
            <a:r>
              <a:rPr sz="1100" b="1">
                <a:solidFill>
                  <a:srgbClr val="0B3041"/>
                </a:solidFill>
                <a:latin typeface="游ゴシック"/>
                <a:ea typeface="游ゴシック"/>
              </a:rPr>
              <a:t>■ 主な取扱品目・機能</a:t>
            </a:r>
          </a:p>
        </p:txBody>
      </p:sp>
      <p:sp>
        <p:nvSpPr>
          <p:cNvPr id="27" name="Rectangle 26"/>
          <p:cNvSpPr/>
          <p:nvPr/>
        </p:nvSpPr>
        <p:spPr>
          <a:xfrm>
            <a:off x="310896" y="3566160"/>
            <a:ext cx="3108960" cy="685800"/>
          </a:xfrm>
          <a:prstGeom prst="rect">
            <a:avLst/>
          </a:prstGeom>
          <a:solidFill>
            <a:srgbClr val="E1F3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73152" bIns="73152"/>
          <a:lstStyle/>
          <a:p>
            <a:pPr algn="l"/>
            <a:r>
              <a:rPr sz="1000" b="1">
                <a:solidFill>
                  <a:srgbClr val="000000"/>
                </a:solidFill>
                <a:latin typeface="游ゴシック"/>
                <a:ea typeface="游ゴシック"/>
              </a:rPr>
              <a:t>野菜</a:t>
            </a:r>
          </a:p>
          <a:p>
            <a:pPr algn="l"/>
            <a:r>
              <a:rPr sz="900" b="0">
                <a:solidFill>
                  <a:srgbClr val="000000"/>
                </a:solidFill>
                <a:latin typeface="游ゴシック"/>
                <a:ea typeface="游ゴシック"/>
              </a:rPr>
              <a:t>近郷部・野菜営業部が担当。地場野菜（だだちゃ豆等）を含む</a:t>
            </a:r>
          </a:p>
        </p:txBody>
      </p:sp>
      <p:sp>
        <p:nvSpPr>
          <p:cNvPr id="28" name="Rectangle 27"/>
          <p:cNvSpPr/>
          <p:nvPr/>
        </p:nvSpPr>
        <p:spPr>
          <a:xfrm>
            <a:off x="3511296" y="3566160"/>
            <a:ext cx="3108960" cy="685800"/>
          </a:xfrm>
          <a:prstGeom prst="rect">
            <a:avLst/>
          </a:prstGeom>
          <a:solidFill>
            <a:srgbClr val="E1F3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73152" bIns="73152"/>
          <a:lstStyle/>
          <a:p>
            <a:pPr algn="l"/>
            <a:r>
              <a:rPr sz="1000" b="1">
                <a:solidFill>
                  <a:srgbClr val="000000"/>
                </a:solidFill>
                <a:latin typeface="游ゴシック"/>
                <a:ea typeface="游ゴシック"/>
              </a:rPr>
              <a:t>果実</a:t>
            </a:r>
          </a:p>
          <a:p>
            <a:pPr algn="l"/>
            <a:r>
              <a:rPr sz="900" b="0">
                <a:solidFill>
                  <a:srgbClr val="000000"/>
                </a:solidFill>
                <a:latin typeface="游ゴシック"/>
                <a:ea typeface="游ゴシック"/>
              </a:rPr>
              <a:t>果実営業部が担当。庄内柿・和梨・さくらんぼ・メロン・シャインマスカット等</a:t>
            </a:r>
          </a:p>
        </p:txBody>
      </p:sp>
      <p:sp>
        <p:nvSpPr>
          <p:cNvPr id="29" name="Rectangle 28"/>
          <p:cNvSpPr/>
          <p:nvPr/>
        </p:nvSpPr>
        <p:spPr>
          <a:xfrm>
            <a:off x="310896" y="4343400"/>
            <a:ext cx="3108960" cy="685800"/>
          </a:xfrm>
          <a:prstGeom prst="rect">
            <a:avLst/>
          </a:prstGeom>
          <a:solidFill>
            <a:srgbClr val="E1F3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73152" bIns="73152"/>
          <a:lstStyle/>
          <a:p>
            <a:pPr algn="l"/>
            <a:r>
              <a:rPr sz="1000" b="1">
                <a:solidFill>
                  <a:srgbClr val="000000"/>
                </a:solidFill>
                <a:latin typeface="游ゴシック"/>
                <a:ea typeface="游ゴシック"/>
              </a:rPr>
              <a:t>生花</a:t>
            </a:r>
          </a:p>
          <a:p>
            <a:pPr algn="l"/>
            <a:r>
              <a:rPr sz="900" b="0">
                <a:solidFill>
                  <a:srgbClr val="000000"/>
                </a:solidFill>
                <a:latin typeface="游ゴシック"/>
                <a:ea typeface="游ゴシック"/>
              </a:rPr>
              <a:t>生花部（1名）による取扱い</a:t>
            </a:r>
          </a:p>
        </p:txBody>
      </p:sp>
      <p:sp>
        <p:nvSpPr>
          <p:cNvPr id="30" name="Rectangle 29"/>
          <p:cNvSpPr/>
          <p:nvPr/>
        </p:nvSpPr>
        <p:spPr>
          <a:xfrm>
            <a:off x="3511296" y="4343400"/>
            <a:ext cx="3108960" cy="685800"/>
          </a:xfrm>
          <a:prstGeom prst="rect">
            <a:avLst/>
          </a:prstGeom>
          <a:solidFill>
            <a:srgbClr val="E1F3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73152" bIns="73152"/>
          <a:lstStyle/>
          <a:p>
            <a:pPr algn="l"/>
            <a:r>
              <a:rPr sz="1000" b="1">
                <a:solidFill>
                  <a:srgbClr val="000000"/>
                </a:solidFill>
                <a:latin typeface="游ゴシック"/>
                <a:ea typeface="游ゴシック"/>
              </a:rPr>
              <a:t>資材</a:t>
            </a:r>
          </a:p>
          <a:p>
            <a:pPr algn="l"/>
            <a:r>
              <a:rPr sz="900" b="0">
                <a:solidFill>
                  <a:srgbClr val="000000"/>
                </a:solidFill>
                <a:latin typeface="游ゴシック"/>
                <a:ea typeface="游ゴシック"/>
              </a:rPr>
              <a:t>資材部が担当。パック・容器等（約8割は自社利用。肥料はほぼ取扱いなし）</a:t>
            </a:r>
          </a:p>
        </p:txBody>
      </p:sp>
      <p:sp>
        <p:nvSpPr>
          <p:cNvPr id="31" name="TextBox 30"/>
          <p:cNvSpPr txBox="1"/>
          <p:nvPr/>
        </p:nvSpPr>
        <p:spPr>
          <a:xfrm>
            <a:off x="310896" y="5166360"/>
            <a:ext cx="6309360" cy="164592"/>
          </a:xfrm>
          <a:prstGeom prst="rect">
            <a:avLst/>
          </a:prstGeom>
          <a:noFill/>
        </p:spPr>
        <p:txBody>
          <a:bodyPr wrap="square" lIns="0" rIns="0" tIns="0" bIns="0" anchor="t">
            <a:spAutoFit/>
          </a:bodyPr>
          <a:lstStyle/>
          <a:p>
            <a:pPr algn="l"/>
            <a:r>
              <a:rPr sz="800" b="0">
                <a:solidFill>
                  <a:srgbClr val="000000"/>
                </a:solidFill>
                <a:latin typeface="游ゴシック"/>
                <a:ea typeface="游ゴシック"/>
              </a:rPr>
              <a:t>※取扱品目の構成比は資料依頼中。入荷構成・手数料率等は代表者ヒアリングによる。</a:t>
            </a:r>
          </a:p>
        </p:txBody>
      </p:sp>
      <p:sp>
        <p:nvSpPr>
          <p:cNvPr id="32" name="Rectangle 31"/>
          <p:cNvSpPr/>
          <p:nvPr/>
        </p:nvSpPr>
        <p:spPr>
          <a:xfrm>
            <a:off x="6812280" y="1536192"/>
            <a:ext cx="3566160" cy="320040"/>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050" b="1">
                <a:solidFill>
                  <a:srgbClr val="FFFFFF"/>
                </a:solidFill>
                <a:latin typeface="游ゴシック"/>
                <a:ea typeface="游ゴシック"/>
              </a:rPr>
              <a:t>主な事業・サービス</a:t>
            </a:r>
          </a:p>
        </p:txBody>
      </p:sp>
      <p:sp>
        <p:nvSpPr>
          <p:cNvPr id="33" name="Rectangle 32"/>
          <p:cNvSpPr/>
          <p:nvPr/>
        </p:nvSpPr>
        <p:spPr>
          <a:xfrm>
            <a:off x="6812280" y="1938528"/>
            <a:ext cx="384048" cy="384048"/>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a:solidFill>
                  <a:srgbClr val="FFFFFF"/>
                </a:solidFill>
                <a:latin typeface="Arial"/>
                <a:ea typeface="游ゴシック"/>
              </a:rPr>
              <a:t>1</a:t>
            </a:r>
          </a:p>
        </p:txBody>
      </p:sp>
      <p:sp>
        <p:nvSpPr>
          <p:cNvPr id="34" name="TextBox 33"/>
          <p:cNvSpPr txBox="1"/>
          <p:nvPr/>
        </p:nvSpPr>
        <p:spPr>
          <a:xfrm>
            <a:off x="7269480" y="1938528"/>
            <a:ext cx="3108960" cy="777240"/>
          </a:xfrm>
          <a:prstGeom prst="rect">
            <a:avLst/>
          </a:prstGeom>
          <a:noFill/>
        </p:spPr>
        <p:txBody>
          <a:bodyPr wrap="square" lIns="0" rIns="0" tIns="0" bIns="0" anchor="t">
            <a:spAutoFit/>
          </a:bodyPr>
          <a:lstStyle/>
          <a:p>
            <a:pPr algn="l"/>
            <a:r>
              <a:rPr sz="1000" b="1">
                <a:solidFill>
                  <a:srgbClr val="000000"/>
                </a:solidFill>
                <a:latin typeface="游ゴシック"/>
                <a:ea typeface="游ゴシック"/>
              </a:rPr>
              <a:t>青果物の卸売（買付販売）</a:t>
            </a:r>
          </a:p>
          <a:p>
            <a:pPr algn="l"/>
            <a:r>
              <a:rPr sz="900" b="0">
                <a:solidFill>
                  <a:srgbClr val="000000"/>
                </a:solidFill>
                <a:latin typeface="游ゴシック"/>
                <a:ea typeface="游ゴシック"/>
              </a:rPr>
              <a:t>野菜・果実を買い付け、仲卸業者・量販店等へ販売</a:t>
            </a:r>
          </a:p>
        </p:txBody>
      </p:sp>
      <p:sp>
        <p:nvSpPr>
          <p:cNvPr id="35" name="Rectangle 34"/>
          <p:cNvSpPr/>
          <p:nvPr/>
        </p:nvSpPr>
        <p:spPr>
          <a:xfrm>
            <a:off x="6812280" y="2788920"/>
            <a:ext cx="384048" cy="384048"/>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a:solidFill>
                  <a:srgbClr val="FFFFFF"/>
                </a:solidFill>
                <a:latin typeface="Arial"/>
                <a:ea typeface="游ゴシック"/>
              </a:rPr>
              <a:t>2</a:t>
            </a:r>
          </a:p>
        </p:txBody>
      </p:sp>
      <p:sp>
        <p:nvSpPr>
          <p:cNvPr id="36" name="TextBox 35"/>
          <p:cNvSpPr txBox="1"/>
          <p:nvPr/>
        </p:nvSpPr>
        <p:spPr>
          <a:xfrm>
            <a:off x="7269480" y="2788920"/>
            <a:ext cx="3108960" cy="777240"/>
          </a:xfrm>
          <a:prstGeom prst="rect">
            <a:avLst/>
          </a:prstGeom>
          <a:noFill/>
        </p:spPr>
        <p:txBody>
          <a:bodyPr wrap="square" lIns="0" rIns="0" tIns="0" bIns="0" anchor="t">
            <a:spAutoFit/>
          </a:bodyPr>
          <a:lstStyle/>
          <a:p>
            <a:pPr algn="l"/>
            <a:r>
              <a:rPr sz="1000" b="1">
                <a:solidFill>
                  <a:srgbClr val="000000"/>
                </a:solidFill>
                <a:latin typeface="游ゴシック"/>
                <a:ea typeface="游ゴシック"/>
              </a:rPr>
              <a:t>青果物の卸売（受託販売）</a:t>
            </a:r>
          </a:p>
          <a:p>
            <a:pPr algn="l"/>
            <a:r>
              <a:rPr sz="900" b="0">
                <a:solidFill>
                  <a:srgbClr val="000000"/>
                </a:solidFill>
                <a:latin typeface="游ゴシック"/>
                <a:ea typeface="游ゴシック"/>
              </a:rPr>
              <a:t>生産者の商品を預かり販売し、販売額の8.5%を手数料として収受</a:t>
            </a:r>
          </a:p>
        </p:txBody>
      </p:sp>
      <p:sp>
        <p:nvSpPr>
          <p:cNvPr id="37" name="Rectangle 36"/>
          <p:cNvSpPr/>
          <p:nvPr/>
        </p:nvSpPr>
        <p:spPr>
          <a:xfrm>
            <a:off x="6812280" y="3639312"/>
            <a:ext cx="384048" cy="384048"/>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a:solidFill>
                  <a:srgbClr val="FFFFFF"/>
                </a:solidFill>
                <a:latin typeface="Arial"/>
                <a:ea typeface="游ゴシック"/>
              </a:rPr>
              <a:t>3</a:t>
            </a:r>
          </a:p>
        </p:txBody>
      </p:sp>
      <p:sp>
        <p:nvSpPr>
          <p:cNvPr id="38" name="TextBox 37"/>
          <p:cNvSpPr txBox="1"/>
          <p:nvPr/>
        </p:nvSpPr>
        <p:spPr>
          <a:xfrm>
            <a:off x="7269480" y="3639312"/>
            <a:ext cx="3108960" cy="777240"/>
          </a:xfrm>
          <a:prstGeom prst="rect">
            <a:avLst/>
          </a:prstGeom>
          <a:noFill/>
        </p:spPr>
        <p:txBody>
          <a:bodyPr wrap="square" lIns="0" rIns="0" tIns="0" bIns="0" anchor="t">
            <a:spAutoFit/>
          </a:bodyPr>
          <a:lstStyle/>
          <a:p>
            <a:pPr algn="l"/>
            <a:r>
              <a:rPr sz="1000" b="1">
                <a:solidFill>
                  <a:srgbClr val="000000"/>
                </a:solidFill>
                <a:latin typeface="游ゴシック"/>
                <a:ea typeface="游ゴシック"/>
              </a:rPr>
              <a:t>パッケージ・配送</a:t>
            </a:r>
          </a:p>
          <a:p>
            <a:pPr algn="l"/>
            <a:r>
              <a:rPr sz="900" b="0">
                <a:solidFill>
                  <a:srgbClr val="000000"/>
                </a:solidFill>
                <a:latin typeface="游ゴシック"/>
                <a:ea typeface="游ゴシック"/>
              </a:rPr>
              <a:t>小分け・包装と自社配送。主婦の店の配送受託（配送額の約10%をセンター費として収受）</a:t>
            </a:r>
          </a:p>
        </p:txBody>
      </p:sp>
      <p:sp>
        <p:nvSpPr>
          <p:cNvPr id="39" name="Rectangle 38"/>
          <p:cNvSpPr/>
          <p:nvPr/>
        </p:nvSpPr>
        <p:spPr>
          <a:xfrm>
            <a:off x="6812280" y="4489704"/>
            <a:ext cx="384048" cy="384048"/>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a:solidFill>
                  <a:srgbClr val="FFFFFF"/>
                </a:solidFill>
                <a:latin typeface="Arial"/>
                <a:ea typeface="游ゴシック"/>
              </a:rPr>
              <a:t>4</a:t>
            </a:r>
          </a:p>
        </p:txBody>
      </p:sp>
      <p:sp>
        <p:nvSpPr>
          <p:cNvPr id="40" name="TextBox 39"/>
          <p:cNvSpPr txBox="1"/>
          <p:nvPr/>
        </p:nvSpPr>
        <p:spPr>
          <a:xfrm>
            <a:off x="7269480" y="4489704"/>
            <a:ext cx="3108960" cy="777240"/>
          </a:xfrm>
          <a:prstGeom prst="rect">
            <a:avLst/>
          </a:prstGeom>
          <a:noFill/>
        </p:spPr>
        <p:txBody>
          <a:bodyPr wrap="square" lIns="0" rIns="0" tIns="0" bIns="0" anchor="t">
            <a:spAutoFit/>
          </a:bodyPr>
          <a:lstStyle/>
          <a:p>
            <a:pPr algn="l"/>
            <a:r>
              <a:rPr sz="1000" b="1">
                <a:solidFill>
                  <a:srgbClr val="000000"/>
                </a:solidFill>
                <a:latin typeface="游ゴシック"/>
                <a:ea typeface="游ゴシック"/>
              </a:rPr>
              <a:t>資材販売</a:t>
            </a:r>
          </a:p>
          <a:p>
            <a:pPr algn="l"/>
            <a:r>
              <a:rPr sz="900" b="0">
                <a:solidFill>
                  <a:srgbClr val="000000"/>
                </a:solidFill>
                <a:latin typeface="游ゴシック"/>
                <a:ea typeface="游ゴシック"/>
              </a:rPr>
              <a:t>包装資材を生産者等へ販売（肥料はほぼ取扱いなし）</a:t>
            </a:r>
          </a:p>
        </p:txBody>
      </p:sp>
      <p:sp>
        <p:nvSpPr>
          <p:cNvPr id="41" name="Rectangle 40"/>
          <p:cNvSpPr/>
          <p:nvPr/>
        </p:nvSpPr>
        <p:spPr>
          <a:xfrm>
            <a:off x="310896" y="5532120"/>
            <a:ext cx="10058400" cy="1051560"/>
          </a:xfrm>
          <a:prstGeom prst="rect">
            <a:avLst/>
          </a:prstGeom>
          <a:solidFill>
            <a:srgbClr val="E1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310896" y="5532120"/>
            <a:ext cx="1097280" cy="1051560"/>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rgbClr val="FFFFFF"/>
                </a:solidFill>
                <a:latin typeface="游ゴシック"/>
                <a:ea typeface="游ゴシック"/>
              </a:rPr>
              <a:t>強み</a:t>
            </a:r>
          </a:p>
        </p:txBody>
      </p:sp>
      <p:sp>
        <p:nvSpPr>
          <p:cNvPr id="43" name="TextBox 42"/>
          <p:cNvSpPr txBox="1"/>
          <p:nvPr/>
        </p:nvSpPr>
        <p:spPr>
          <a:xfrm>
            <a:off x="1554480" y="5650992"/>
            <a:ext cx="4343400" cy="365760"/>
          </a:xfrm>
          <a:prstGeom prst="rect">
            <a:avLst/>
          </a:prstGeom>
          <a:noFill/>
        </p:spPr>
        <p:txBody>
          <a:bodyPr wrap="square" lIns="0" rIns="0" tIns="0" bIns="0" anchor="ctr">
            <a:spAutoFit/>
          </a:bodyPr>
          <a:lstStyle/>
          <a:p>
            <a:pPr algn="l"/>
            <a:r>
              <a:rPr sz="1000" b="1">
                <a:solidFill>
                  <a:srgbClr val="0B3041"/>
                </a:solidFill>
                <a:latin typeface="游ゴシック"/>
                <a:ea typeface="游ゴシック"/>
              </a:rPr>
              <a:t>✓ </a:t>
            </a:r>
            <a:r>
              <a:rPr sz="950" b="1">
                <a:solidFill>
                  <a:srgbClr val="000000"/>
                </a:solidFill>
                <a:latin typeface="游ゴシック"/>
                <a:ea typeface="游ゴシック"/>
              </a:rPr>
              <a:t>鶴岡市内唯一の青果市場（開設者兼卸売業者）</a:t>
            </a:r>
          </a:p>
        </p:txBody>
      </p:sp>
      <p:sp>
        <p:nvSpPr>
          <p:cNvPr id="44" name="TextBox 43"/>
          <p:cNvSpPr txBox="1"/>
          <p:nvPr/>
        </p:nvSpPr>
        <p:spPr>
          <a:xfrm>
            <a:off x="5989320" y="5650992"/>
            <a:ext cx="4343400" cy="365760"/>
          </a:xfrm>
          <a:prstGeom prst="rect">
            <a:avLst/>
          </a:prstGeom>
          <a:noFill/>
        </p:spPr>
        <p:txBody>
          <a:bodyPr wrap="square" lIns="0" rIns="0" tIns="0" bIns="0" anchor="ctr">
            <a:spAutoFit/>
          </a:bodyPr>
          <a:lstStyle/>
          <a:p>
            <a:pPr algn="l"/>
            <a:r>
              <a:rPr sz="1000" b="1">
                <a:solidFill>
                  <a:srgbClr val="0B3041"/>
                </a:solidFill>
                <a:latin typeface="游ゴシック"/>
                <a:ea typeface="游ゴシック"/>
              </a:rPr>
              <a:t>✓ </a:t>
            </a:r>
            <a:r>
              <a:rPr sz="950" b="1">
                <a:solidFill>
                  <a:srgbClr val="000000"/>
                </a:solidFill>
                <a:latin typeface="游ゴシック"/>
                <a:ea typeface="游ゴシック"/>
              </a:rPr>
              <a:t>農家の持込を原則全量受け入れる集荷力</a:t>
            </a:r>
          </a:p>
        </p:txBody>
      </p:sp>
      <p:sp>
        <p:nvSpPr>
          <p:cNvPr id="45" name="TextBox 44"/>
          <p:cNvSpPr txBox="1"/>
          <p:nvPr/>
        </p:nvSpPr>
        <p:spPr>
          <a:xfrm>
            <a:off x="1554480" y="6080759"/>
            <a:ext cx="4343400" cy="365760"/>
          </a:xfrm>
          <a:prstGeom prst="rect">
            <a:avLst/>
          </a:prstGeom>
          <a:noFill/>
        </p:spPr>
        <p:txBody>
          <a:bodyPr wrap="square" lIns="0" rIns="0" tIns="0" bIns="0" anchor="ctr">
            <a:spAutoFit/>
          </a:bodyPr>
          <a:lstStyle/>
          <a:p>
            <a:pPr algn="l"/>
            <a:r>
              <a:rPr sz="1000" b="1">
                <a:solidFill>
                  <a:srgbClr val="0B3041"/>
                </a:solidFill>
                <a:latin typeface="游ゴシック"/>
                <a:ea typeface="游ゴシック"/>
              </a:rPr>
              <a:t>✓ </a:t>
            </a:r>
            <a:r>
              <a:rPr sz="950" b="1">
                <a:solidFill>
                  <a:srgbClr val="000000"/>
                </a:solidFill>
                <a:latin typeface="游ゴシック"/>
                <a:ea typeface="游ゴシック"/>
              </a:rPr>
              <a:t>地元優先の分散した販路（過剰分は豊洲・他県へ）</a:t>
            </a:r>
          </a:p>
        </p:txBody>
      </p:sp>
      <p:sp>
        <p:nvSpPr>
          <p:cNvPr id="46" name="TextBox 45"/>
          <p:cNvSpPr txBox="1"/>
          <p:nvPr/>
        </p:nvSpPr>
        <p:spPr>
          <a:xfrm>
            <a:off x="5989320" y="6080759"/>
            <a:ext cx="4343400" cy="365760"/>
          </a:xfrm>
          <a:prstGeom prst="rect">
            <a:avLst/>
          </a:prstGeom>
          <a:noFill/>
        </p:spPr>
        <p:txBody>
          <a:bodyPr wrap="square" lIns="0" rIns="0" tIns="0" bIns="0" anchor="ctr">
            <a:spAutoFit/>
          </a:bodyPr>
          <a:lstStyle/>
          <a:p>
            <a:pPr algn="l"/>
            <a:r>
              <a:rPr sz="1000" b="1">
                <a:solidFill>
                  <a:srgbClr val="0B3041"/>
                </a:solidFill>
                <a:latin typeface="游ゴシック"/>
                <a:ea typeface="游ゴシック"/>
              </a:rPr>
              <a:t>✓ </a:t>
            </a:r>
            <a:r>
              <a:rPr sz="950" b="1">
                <a:solidFill>
                  <a:srgbClr val="000000"/>
                </a:solidFill>
                <a:latin typeface="游ゴシック"/>
                <a:ea typeface="游ゴシック"/>
              </a:rPr>
              <a:t>自社保有の市場施設とセリ人資格者3名</a:t>
            </a:r>
          </a:p>
        </p:txBody>
      </p:sp>
    </p:spTree>
    <p:extLst>
      <p:ext uri="{BB962C8B-B14F-4D97-AF65-F5344CB8AC3E}">
        <p14:creationId xmlns:p14="http://schemas.microsoft.com/office/powerpoint/2010/main" val="148289730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6E5D56-7D5E-B85F-B7B1-659520F1133D}"/>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FE6BC784-35A2-FA39-F6DC-45D9CB3301D2}"/>
              </a:ext>
            </a:extLst>
          </p:cNvPr>
          <p:cNvSpPr>
            <a:spLocks noGrp="1"/>
          </p:cNvSpPr>
          <p:nvPr>
            <p:ph type="ctrTitle"/>
          </p:nvPr>
        </p:nvSpPr>
        <p:spPr>
          <a:xfrm>
            <a:off x="311150" y="180296"/>
            <a:ext cx="7799917" cy="339267"/>
          </a:xfrm>
        </p:spPr>
        <p:txBody>
          <a:bodyPr>
            <a:normAutofit/>
          </a:bodyPr>
          <a:lstStyle/>
          <a:p>
            <a:r>
              <a:rPr lang="ja-JP" altLang="en-US" dirty="0"/>
              <a:t>仕入・販売の仕組み</a:t>
            </a:r>
          </a:p>
        </p:txBody>
      </p:sp>
      <p:sp>
        <p:nvSpPr>
          <p:cNvPr id="5" name="タイトル 1">
            <a:extLst>
              <a:ext uri="{FF2B5EF4-FFF2-40B4-BE49-F238E27FC236}">
                <a16:creationId xmlns:a16="http://schemas.microsoft.com/office/drawing/2014/main" id="{8DAB018D-EC63-CB47-E5A5-25D667E4D345}"/>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en-US" altLang="ja-JP" sz="1200" b="1" spc="55" dirty="0">
                <a:solidFill>
                  <a:schemeClr val="bg1"/>
                </a:solidFill>
              </a:rPr>
              <a:t>事業概要</a:t>
            </a:r>
            <a:endParaRPr lang="ja-JP" altLang="en-US" sz="1200" b="1" spc="55" dirty="0">
              <a:solidFill>
                <a:schemeClr val="bg1"/>
              </a:solidFill>
            </a:endParaRPr>
          </a:p>
        </p:txBody>
      </p:sp>
      <p:sp>
        <p:nvSpPr>
          <p:cNvPr id="4" name="字幕 13">
            <a:extLst>
              <a:ext uri="{FF2B5EF4-FFF2-40B4-BE49-F238E27FC236}">
                <a16:creationId xmlns:a16="http://schemas.microsoft.com/office/drawing/2014/main" id="{8D56502D-3750-7017-6E60-6BF9CD0674B6}"/>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a:ea typeface="游ゴシック"/>
              </a:rPr>
              <a:t>農家の持込を原則全量受け入れ、地元優先で販売し、過剰分は豊洲市場・他県へ出荷する。仕入価格は東京の中央卸売市場の相場と販売見積からの逆算を併用して決めている。</a:t>
            </a:r>
          </a:p>
        </p:txBody>
      </p:sp>
      <p:sp>
        <p:nvSpPr>
          <p:cNvPr id="14" name="正方形/長方形 7">
            <a:extLst>
              <a:ext uri="{FF2B5EF4-FFF2-40B4-BE49-F238E27FC236}">
                <a16:creationId xmlns:a16="http://schemas.microsoft.com/office/drawing/2014/main" id="{CBD334A9-999C-ACD4-9DD2-EF961CBA0926}"/>
              </a:ext>
            </a:extLst>
          </p:cNvPr>
          <p:cNvSpPr/>
          <p:nvPr/>
        </p:nvSpPr>
        <p:spPr>
          <a:xfrm>
            <a:off x="310896" y="1463040"/>
            <a:ext cx="4937760" cy="3383280"/>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252000" rIns="0" bIns="0" rtlCol="0" anchor="t"/>
          <a:lstStyle/>
          <a:p>
            <a:pPr algn="ctr"/>
            <a:r>
              <a:rPr kumimoji="1" lang="en-US" altLang="ja-JP" sz="1600" b="1" dirty="0">
                <a:solidFill>
                  <a:schemeClr val="tx2"/>
                </a:solidFill>
                <a:latin typeface="+mj-lt"/>
                <a:ea typeface="+mj-ea"/>
              </a:rPr>
              <a:t>仕入（集荷）</a:t>
            </a:r>
            <a:endParaRPr kumimoji="1" lang="ja-JP" altLang="en-US" sz="1600" b="1" dirty="0">
              <a:solidFill>
                <a:schemeClr val="tx2"/>
              </a:solidFill>
              <a:latin typeface="+mj-lt"/>
              <a:ea typeface="+mj-ea"/>
            </a:endParaRPr>
          </a:p>
        </p:txBody>
      </p:sp>
      <p:sp>
        <p:nvSpPr>
          <p:cNvPr id="15" name="テキスト ボックス 8">
            <a:extLst>
              <a:ext uri="{FF2B5EF4-FFF2-40B4-BE49-F238E27FC236}">
                <a16:creationId xmlns:a16="http://schemas.microsoft.com/office/drawing/2014/main" id="{E5084622-1D6B-783F-80DE-6D9A498C7C12}"/>
              </a:ext>
            </a:extLst>
          </p:cNvPr>
          <p:cNvSpPr txBox="1"/>
          <p:nvPr/>
        </p:nvSpPr>
        <p:spPr>
          <a:xfrm>
            <a:off x="310896" y="1993392"/>
            <a:ext cx="4937760" cy="2807208"/>
          </a:xfrm>
          <a:prstGeom prst="rect">
            <a:avLst/>
          </a:prstGeom>
          <a:noFill/>
        </p:spPr>
        <p:txBody>
          <a:bodyPr wrap="square" lIns="288000" tIns="0" rIns="252000" bIns="0" rtlCol="0">
            <a:spAutoFit/>
          </a:bodyPr>
          <a:lstStyle/>
          <a:p>
            <a:pPr>
              <a:spcAft>
                <a:spcPts val="400"/>
              </a:spcAft>
            </a:pPr>
            <a:r>
              <a:rPr lang="ja-JP" altLang="en-US" sz="1000" b="1" dirty="0">
                <a:solidFill>
                  <a:sysClr val="windowText" lastClr="000000"/>
                </a:solidFill>
                <a:latin typeface="游ゴシック"/>
                <a:ea typeface="游ゴシック"/>
              </a:rPr>
              <a:t>≪集荷の方法≫</a:t>
            </a:r>
          </a:p>
          <a:p>
            <a:pPr>
              <a:spcAft>
                <a:spcPts val="400"/>
              </a:spcAft>
            </a:pPr>
            <a:r>
              <a:rPr lang="ja-JP" altLang="en-US" sz="950" b="0" dirty="0">
                <a:solidFill>
                  <a:sysClr val="windowText" lastClr="000000"/>
                </a:solidFill>
                <a:latin typeface="游ゴシック"/>
                <a:ea typeface="游ゴシック"/>
              </a:rPr>
              <a:t>・入荷の30〜40%は農家の持込で、職員が早朝に農家を回って集荷する分の方が多い。持込は数量が多くても原則すべて受け入れる。</a:t>
            </a:r>
          </a:p>
          <a:p>
            <a:pPr>
              <a:spcAft>
                <a:spcPts val="400"/>
              </a:spcAft>
            </a:pPr>
            <a:r>
              <a:rPr lang="ja-JP" altLang="en-US" sz="1000" b="1" dirty="0">
                <a:solidFill>
                  <a:sysClr val="windowText" lastClr="000000"/>
                </a:solidFill>
                <a:latin typeface="游ゴシック"/>
                <a:ea typeface="游ゴシック"/>
              </a:rPr>
              <a:t>≪仕入価格の決め方≫</a:t>
            </a:r>
          </a:p>
          <a:p>
            <a:pPr>
              <a:spcAft>
                <a:spcPts val="400"/>
              </a:spcAft>
            </a:pPr>
            <a:r>
              <a:rPr lang="ja-JP" altLang="en-US" sz="950" b="0" dirty="0">
                <a:solidFill>
                  <a:sysClr val="windowText" lastClr="000000"/>
                </a:solidFill>
                <a:latin typeface="游ゴシック"/>
                <a:ea typeface="游ゴシック"/>
              </a:rPr>
              <a:t>・東北では東京の中央卸売市場の相場が基準。スーパーへの販売見積から逆算する場合もある。相場は変動が大きく、日々・時間単位で確認している。</a:t>
            </a:r>
          </a:p>
          <a:p>
            <a:pPr>
              <a:spcAft>
                <a:spcPts val="400"/>
              </a:spcAft>
            </a:pPr>
            <a:r>
              <a:rPr lang="ja-JP" altLang="en-US" sz="950" b="0" dirty="0">
                <a:solidFill>
                  <a:sysClr val="windowText" lastClr="000000"/>
                </a:solidFill>
                <a:latin typeface="游ゴシック"/>
                <a:ea typeface="游ゴシック"/>
              </a:rPr>
              <a:t>・価格条件によっては近隣の市場へ出荷する農家もあり、農家と相談しながら仕入価格を決めている。</a:t>
            </a:r>
          </a:p>
          <a:p>
            <a:pPr>
              <a:spcAft>
                <a:spcPts val="400"/>
              </a:spcAft>
            </a:pPr>
            <a:r>
              <a:rPr lang="ja-JP" altLang="en-US" sz="1000" b="1" dirty="0">
                <a:solidFill>
                  <a:sysClr val="windowText" lastClr="000000"/>
                </a:solidFill>
                <a:latin typeface="游ゴシック"/>
                <a:ea typeface="游ゴシック"/>
              </a:rPr>
              <a:t>≪取引単位≫</a:t>
            </a:r>
          </a:p>
          <a:p>
            <a:pPr>
              <a:spcAft>
                <a:spcPts val="400"/>
              </a:spcAft>
            </a:pPr>
            <a:r>
              <a:rPr lang="ja-JP" altLang="en-US" sz="950" b="0" dirty="0">
                <a:solidFill>
                  <a:sysClr val="windowText" lastClr="000000"/>
                </a:solidFill>
                <a:latin typeface="游ゴシック"/>
                <a:ea typeface="游ゴシック"/>
              </a:rPr>
              <a:t>・品目により箱単位のほか、ピーマン等は袋単位で取り扱う。</a:t>
            </a:r>
          </a:p>
          <a:p>
            <a:pPr>
              <a:spcAft>
                <a:spcPts val="400"/>
              </a:spcAft>
            </a:pPr>
            <a:r>
              <a:rPr lang="ja-JP" altLang="en-US" sz="1000" b="1" dirty="0">
                <a:solidFill>
                  <a:sysClr val="windowText" lastClr="000000"/>
                </a:solidFill>
                <a:latin typeface="游ゴシック"/>
                <a:ea typeface="游ゴシック"/>
              </a:rPr>
              <a:t>≪需要期の補完≫</a:t>
            </a:r>
          </a:p>
          <a:p>
            <a:pPr>
              <a:spcAft>
                <a:spcPts val="400"/>
              </a:spcAft>
            </a:pPr>
            <a:r>
              <a:rPr lang="ja-JP" altLang="en-US" sz="950" b="0" dirty="0">
                <a:solidFill>
                  <a:sysClr val="windowText" lastClr="000000"/>
                </a:solidFill>
                <a:latin typeface="游ゴシック"/>
                <a:ea typeface="游ゴシック"/>
              </a:rPr>
              <a:t>・12月〜正月は需要増に対応するため、関東の仲卸業者から仕入れることもある。</a:t>
            </a:r>
          </a:p>
        </p:txBody>
      </p:sp>
      <p:sp>
        <p:nvSpPr>
          <p:cNvPr id="16" name="正方形/長方形 7">
            <a:extLst>
              <a:ext uri="{FF2B5EF4-FFF2-40B4-BE49-F238E27FC236}">
                <a16:creationId xmlns:a16="http://schemas.microsoft.com/office/drawing/2014/main" id="{CBD334A9-999C-ACD4-9DD2-EF961CBA0926}"/>
              </a:ext>
            </a:extLst>
          </p:cNvPr>
          <p:cNvSpPr/>
          <p:nvPr/>
        </p:nvSpPr>
        <p:spPr>
          <a:xfrm>
            <a:off x="5440680" y="1463040"/>
            <a:ext cx="4937760" cy="3383280"/>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252000" rIns="0" bIns="0" rtlCol="0" anchor="t"/>
          <a:lstStyle/>
          <a:p>
            <a:pPr algn="ctr"/>
            <a:r>
              <a:rPr kumimoji="1" lang="en-US" altLang="ja-JP" sz="1600" b="1" dirty="0">
                <a:solidFill>
                  <a:schemeClr val="tx2"/>
                </a:solidFill>
                <a:latin typeface="+mj-lt"/>
                <a:ea typeface="+mj-ea"/>
              </a:rPr>
              <a:t>販売</a:t>
            </a:r>
            <a:endParaRPr kumimoji="1" lang="ja-JP" altLang="en-US" sz="1600" b="1" dirty="0">
              <a:solidFill>
                <a:schemeClr val="tx2"/>
              </a:solidFill>
              <a:latin typeface="+mj-lt"/>
              <a:ea typeface="+mj-ea"/>
            </a:endParaRPr>
          </a:p>
        </p:txBody>
      </p:sp>
      <p:sp>
        <p:nvSpPr>
          <p:cNvPr id="17" name="テキスト ボックス 8">
            <a:extLst>
              <a:ext uri="{FF2B5EF4-FFF2-40B4-BE49-F238E27FC236}">
                <a16:creationId xmlns:a16="http://schemas.microsoft.com/office/drawing/2014/main" id="{E5084622-1D6B-783F-80DE-6D9A498C7C12}"/>
              </a:ext>
            </a:extLst>
          </p:cNvPr>
          <p:cNvSpPr txBox="1"/>
          <p:nvPr/>
        </p:nvSpPr>
        <p:spPr>
          <a:xfrm>
            <a:off x="5440680" y="1993392"/>
            <a:ext cx="4937760" cy="2807208"/>
          </a:xfrm>
          <a:prstGeom prst="rect">
            <a:avLst/>
          </a:prstGeom>
          <a:noFill/>
        </p:spPr>
        <p:txBody>
          <a:bodyPr wrap="square" lIns="288000" tIns="0" rIns="252000" bIns="0" rtlCol="0">
            <a:spAutoFit/>
          </a:bodyPr>
          <a:lstStyle/>
          <a:p>
            <a:pPr>
              <a:spcAft>
                <a:spcPts val="400"/>
              </a:spcAft>
            </a:pPr>
            <a:r>
              <a:rPr lang="ja-JP" altLang="en-US" sz="1000" b="1" dirty="0">
                <a:solidFill>
                  <a:sysClr val="windowText" lastClr="000000"/>
                </a:solidFill>
                <a:latin typeface="游ゴシック"/>
                <a:ea typeface="游ゴシック"/>
              </a:rPr>
              <a:t>≪地元優先の販売≫</a:t>
            </a:r>
          </a:p>
          <a:p>
            <a:pPr>
              <a:spcAft>
                <a:spcPts val="400"/>
              </a:spcAft>
            </a:pPr>
            <a:r>
              <a:rPr lang="ja-JP" altLang="en-US" sz="950" b="0" dirty="0">
                <a:solidFill>
                  <a:sysClr val="windowText" lastClr="000000"/>
                </a:solidFill>
                <a:latin typeface="游ゴシック"/>
                <a:ea typeface="游ゴシック"/>
              </a:rPr>
              <a:t>・可能な限り地元で販売。生鮮品のため、地元で捌き切れない過剰分は豊洲市場や他県へ販売する。</a:t>
            </a:r>
          </a:p>
          <a:p>
            <a:pPr>
              <a:spcAft>
                <a:spcPts val="400"/>
              </a:spcAft>
            </a:pPr>
            <a:r>
              <a:rPr lang="ja-JP" altLang="en-US" sz="1000" b="1" dirty="0">
                <a:solidFill>
                  <a:sysClr val="windowText" lastClr="000000"/>
                </a:solidFill>
                <a:latin typeface="游ゴシック"/>
                <a:ea typeface="游ゴシック"/>
              </a:rPr>
              <a:t>≪主な販売先≫</a:t>
            </a:r>
          </a:p>
          <a:p>
            <a:pPr>
              <a:spcAft>
                <a:spcPts val="400"/>
              </a:spcAft>
            </a:pPr>
            <a:r>
              <a:rPr lang="ja-JP" altLang="en-US" sz="950" b="0" dirty="0">
                <a:solidFill>
                  <a:sysClr val="windowText" lastClr="000000"/>
                </a:solidFill>
                <a:latin typeface="游ゴシック"/>
                <a:ea typeface="游ゴシック"/>
              </a:rPr>
              <a:t>・スーパー・生協等。生協へは鶴岡市内4店舗・酒田市内2店舗と物流拠点へ毎日納品。ゲームセンターの景品向けに野菜・果物を卸す取引もある。</a:t>
            </a:r>
          </a:p>
          <a:p>
            <a:pPr>
              <a:spcAft>
                <a:spcPts val="400"/>
              </a:spcAft>
            </a:pPr>
            <a:r>
              <a:rPr lang="ja-JP" altLang="en-US" sz="1000" b="1" dirty="0">
                <a:solidFill>
                  <a:sysClr val="windowText" lastClr="000000"/>
                </a:solidFill>
                <a:latin typeface="游ゴシック"/>
                <a:ea typeface="游ゴシック"/>
              </a:rPr>
              <a:t>≪配送受託（センター費）≫</a:t>
            </a:r>
          </a:p>
          <a:p>
            <a:pPr>
              <a:spcAft>
                <a:spcPts val="400"/>
              </a:spcAft>
            </a:pPr>
            <a:r>
              <a:rPr lang="ja-JP" altLang="en-US" sz="950" b="0" dirty="0">
                <a:solidFill>
                  <a:sysClr val="windowText" lastClr="000000"/>
                </a:solidFill>
                <a:latin typeface="游ゴシック"/>
                <a:ea typeface="游ゴシック"/>
              </a:rPr>
              <a:t>・(株)主婦の店へは自社商品の納品に加え、先方仕入商品の配送も受託し、配送額の約10%（1日約10万円）をセンター費として受領。</a:t>
            </a:r>
          </a:p>
          <a:p>
            <a:pPr>
              <a:spcAft>
                <a:spcPts val="400"/>
              </a:spcAft>
            </a:pPr>
            <a:r>
              <a:rPr lang="ja-JP" altLang="en-US" sz="1000" b="1" dirty="0">
                <a:solidFill>
                  <a:sysClr val="windowText" lastClr="000000"/>
                </a:solidFill>
                <a:latin typeface="游ゴシック"/>
                <a:ea typeface="游ゴシック"/>
              </a:rPr>
              <a:t>≪受託販売≫</a:t>
            </a:r>
          </a:p>
          <a:p>
            <a:pPr>
              <a:spcAft>
                <a:spcPts val="400"/>
              </a:spcAft>
            </a:pPr>
            <a:r>
              <a:rPr lang="ja-JP" altLang="en-US" sz="950" b="0" dirty="0">
                <a:solidFill>
                  <a:sysClr val="windowText" lastClr="000000"/>
                </a:solidFill>
                <a:latin typeface="游ゴシック"/>
                <a:ea typeface="游ゴシック"/>
              </a:rPr>
              <a:t>・生産者の商品を預かって販売し、販売後に8.5%の手数料を受領（市場で一般的な水準）。</a:t>
            </a:r>
          </a:p>
          <a:p>
            <a:pPr>
              <a:spcAft>
                <a:spcPts val="400"/>
              </a:spcAft>
            </a:pPr>
            <a:r>
              <a:rPr lang="ja-JP" altLang="en-US" sz="1000" b="1" dirty="0">
                <a:solidFill>
                  <a:sysClr val="windowText" lastClr="000000"/>
                </a:solidFill>
                <a:latin typeface="游ゴシック"/>
                <a:ea typeface="游ゴシック"/>
              </a:rPr>
              <a:t>≪代金回収≫</a:t>
            </a:r>
          </a:p>
          <a:p>
            <a:pPr>
              <a:spcAft>
                <a:spcPts val="400"/>
              </a:spcAft>
            </a:pPr>
            <a:r>
              <a:rPr lang="ja-JP" altLang="en-US" sz="950" b="0" dirty="0">
                <a:solidFill>
                  <a:sysClr val="windowText" lastClr="000000"/>
                </a:solidFill>
                <a:latin typeface="游ゴシック"/>
                <a:ea typeface="游ゴシック"/>
              </a:rPr>
              <a:t>・期限内に代金を支払った八百屋等へ完納奨励金（対象売上の約3%）を還元。販売先から保証金（1先5〜30万円程度）を預かる。</a:t>
            </a:r>
          </a:p>
        </p:txBody>
      </p:sp>
      <p:sp>
        <p:nvSpPr>
          <p:cNvPr id="18" name="Rectangle 17"/>
          <p:cNvSpPr/>
          <p:nvPr/>
        </p:nvSpPr>
        <p:spPr>
          <a:xfrm>
            <a:off x="310896" y="5029200"/>
            <a:ext cx="1280160" cy="1554480"/>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rgbClr val="FFFFFF"/>
                </a:solidFill>
                <a:latin typeface="游ゴシック"/>
                <a:ea typeface="游ゴシック"/>
              </a:rPr>
              <a:t>ポイント</a:t>
            </a:r>
          </a:p>
        </p:txBody>
      </p:sp>
      <p:sp>
        <p:nvSpPr>
          <p:cNvPr id="19" name="Rectangle 18"/>
          <p:cNvSpPr/>
          <p:nvPr/>
        </p:nvSpPr>
        <p:spPr>
          <a:xfrm>
            <a:off x="1645920" y="5029200"/>
            <a:ext cx="8732520" cy="1554480"/>
          </a:xfrm>
          <a:prstGeom prst="rect">
            <a:avLst/>
          </a:prstGeom>
          <a:solidFill>
            <a:srgbClr val="E1F3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109728"/>
          <a:lstStyle/>
          <a:p>
            <a:pPr algn="l">
              <a:spcAft>
                <a:spcPts val="400"/>
              </a:spcAft>
            </a:pPr>
            <a:r>
              <a:rPr sz="1000" b="0">
                <a:solidFill>
                  <a:srgbClr val="000000"/>
                </a:solidFill>
                <a:latin typeface="游ゴシック"/>
                <a:ea typeface="游ゴシック"/>
              </a:rPr>
              <a:t>■ 持込品を原則全量受け入れる集荷力が強みである一方、過剰入荷時の販売先確保が経営上の課題。余剰青果物を継続的に引き取れる販路を持つ買手とのシナジーが大きい。</a:t>
            </a:r>
          </a:p>
          <a:p>
            <a:pPr algn="l">
              <a:spcAft>
                <a:spcPts val="400"/>
              </a:spcAft>
            </a:pPr>
            <a:r>
              <a:rPr sz="1000" b="0">
                <a:solidFill>
                  <a:srgbClr val="000000"/>
                </a:solidFill>
                <a:latin typeface="游ゴシック"/>
                <a:ea typeface="游ゴシック"/>
              </a:rPr>
              <a:t>■ 山形・秋田の大型市場へ出荷している大規模農家など、仕入先の新規開拓余地がある（現状は農家への積極的な営業を行えていない）。</a:t>
            </a:r>
          </a:p>
          <a:p>
            <a:pPr algn="l">
              <a:spcAft>
                <a:spcPts val="400"/>
              </a:spcAft>
            </a:pPr>
            <a:r>
              <a:rPr sz="1000" b="0">
                <a:solidFill>
                  <a:srgbClr val="000000"/>
                </a:solidFill>
                <a:latin typeface="游ゴシック"/>
                <a:ea typeface="游ゴシック"/>
              </a:rPr>
              <a:t>■ 在庫は野菜・果物に分けて各2〜3名で管理。廃棄を要する滞留在庫はなく、帳簿は概ね実態に即しているとのこと。</a:t>
            </a:r>
          </a:p>
        </p:txBody>
      </p:sp>
      <p:sp>
        <p:nvSpPr>
          <p:cNvPr id="20" name="TextBox 19"/>
          <p:cNvSpPr txBox="1"/>
          <p:nvPr/>
        </p:nvSpPr>
        <p:spPr>
          <a:xfrm>
            <a:off x="310896" y="6720840"/>
            <a:ext cx="10058400" cy="164592"/>
          </a:xfrm>
          <a:prstGeom prst="rect">
            <a:avLst/>
          </a:prstGeom>
          <a:noFill/>
        </p:spPr>
        <p:txBody>
          <a:bodyPr wrap="square" lIns="0" rIns="0" tIns="0" bIns="0" anchor="t">
            <a:spAutoFit/>
          </a:bodyPr>
          <a:lstStyle/>
          <a:p>
            <a:pPr algn="l"/>
            <a:r>
              <a:rPr sz="800" b="0">
                <a:solidFill>
                  <a:srgbClr val="000000"/>
                </a:solidFill>
                <a:latin typeface="游ゴシック"/>
                <a:ea typeface="游ゴシック"/>
              </a:rPr>
              <a:t>※第2回面談（2026年10月16日、代表者）でのヒアリング内容。過剰分の販売実績・取引条件の裏付け資料は依頼中。</a:t>
            </a:r>
          </a:p>
        </p:txBody>
      </p:sp>
    </p:spTree>
    <p:extLst>
      <p:ext uri="{BB962C8B-B14F-4D97-AF65-F5344CB8AC3E}">
        <p14:creationId xmlns:p14="http://schemas.microsoft.com/office/powerpoint/2010/main" val="176459482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C75621-FF75-0C7B-591E-C5EBD950595B}"/>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7E874B4C-2D5E-166C-B8B9-0164D0AAEFB9}"/>
              </a:ext>
            </a:extLst>
          </p:cNvPr>
          <p:cNvSpPr>
            <a:spLocks noGrp="1"/>
          </p:cNvSpPr>
          <p:nvPr>
            <p:ph type="ctrTitle"/>
          </p:nvPr>
        </p:nvSpPr>
        <p:spPr>
          <a:xfrm>
            <a:off x="311150" y="180296"/>
            <a:ext cx="7799917" cy="339267"/>
          </a:xfrm>
        </p:spPr>
        <p:txBody>
          <a:bodyPr>
            <a:normAutofit/>
          </a:bodyPr>
          <a:lstStyle/>
          <a:p>
            <a:r>
              <a:rPr lang="ja-JP" altLang="en-US" dirty="0"/>
              <a:t>その他補足情報</a:t>
            </a:r>
          </a:p>
        </p:txBody>
      </p:sp>
      <p:sp>
        <p:nvSpPr>
          <p:cNvPr id="5" name="タイトル 1">
            <a:extLst>
              <a:ext uri="{FF2B5EF4-FFF2-40B4-BE49-F238E27FC236}">
                <a16:creationId xmlns:a16="http://schemas.microsoft.com/office/drawing/2014/main" id="{8B300F08-EE1D-F462-B949-D3B040FD0277}"/>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en-US" altLang="ja-JP" sz="1200" b="1" spc="55" dirty="0">
                <a:solidFill>
                  <a:schemeClr val="bg1"/>
                </a:solidFill>
              </a:rPr>
              <a:t>Appendix</a:t>
            </a:r>
            <a:endParaRPr lang="ja-JP" altLang="en-US" sz="1200" b="1" spc="55" dirty="0">
              <a:solidFill>
                <a:schemeClr val="bg1"/>
              </a:solidFill>
            </a:endParaRPr>
          </a:p>
        </p:txBody>
      </p:sp>
      <p:sp>
        <p:nvSpPr>
          <p:cNvPr id="4" name="字幕 13">
            <a:extLst>
              <a:ext uri="{FF2B5EF4-FFF2-40B4-BE49-F238E27FC236}">
                <a16:creationId xmlns:a16="http://schemas.microsoft.com/office/drawing/2014/main" id="{FCA9575B-1240-BC5B-38CA-16FCB838E8D8}"/>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a:ea typeface="游ゴシック"/>
              </a:rPr>
              <a:t>許認可・競合環境・取引慣行・人事制度等の補足情報。地方卸売市場としての位置づけ（卸売市場法上の認定状況）は事業継続の前提となるため、売主様に確認中。</a:t>
            </a:r>
          </a:p>
        </p:txBody>
      </p:sp>
      <p:graphicFrame>
        <p:nvGraphicFramePr>
          <p:cNvPr id="14" name="表（その他補足!B4:C15）"/>
          <p:cNvGraphicFramePr>
            <a:graphicFrameLocks noGrp="1"/>
          </p:cNvGraphicFramePr>
          <p:nvPr/>
        </p:nvGraphicFramePr>
        <p:xfrm>
          <a:off x="448056" y="1508760"/>
          <a:ext cx="9793223" cy="4673600"/>
        </p:xfrm>
        <a:graphic>
          <a:graphicData uri="http://schemas.openxmlformats.org/drawingml/2006/table">
            <a:tbl>
              <a:tblPr firstRow="0" bandRow="0">
                <a:tableStyleId>{2D5ABB26-0587-4C30-8999-92F81FD0307C}</a:tableStyleId>
              </a:tblPr>
              <a:tblGrid>
                <a:gridCol w="1647411"/>
                <a:gridCol w="8145812"/>
              </a:tblGrid>
              <a:tr h="254000">
                <a:tc>
                  <a:txBody>
                    <a:bodyPr/>
                    <a:lstStyle/>
                    <a:p>
                      <a:pPr algn="ctr" fontAlgn="ctr"/>
                      <a:r>
                        <a:rPr lang="ja-JP" altLang="en-US" sz="1000" b="0" i="0" dirty="0">
                          <a:solidFill>
                            <a:srgbClr val="FFFFFF"/>
                          </a:solidFill>
                          <a:latin typeface="游ゴシック"/>
                          <a:ea typeface="游ゴシック"/>
                        </a:rPr>
                        <a:t>項目</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内容</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r>
              <a:tr h="457200">
                <a:tc>
                  <a:txBody>
                    <a:bodyPr/>
                    <a:lstStyle/>
                    <a:p>
                      <a:pPr algn="l" fontAlgn="ctr"/>
                      <a:r>
                        <a:rPr lang="ja-JP" altLang="en-US" sz="1050" b="0" i="0" dirty="0">
                          <a:solidFill>
                            <a:srgbClr val="000000"/>
                          </a:solidFill>
                          <a:latin typeface="游ゴシック"/>
                          <a:ea typeface="游ゴシック"/>
                        </a:rPr>
                        <a:t>許認可</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・地方卸売市場（卸売市場法）：山形県の地方卸売市場一覧に掲載（認定の時期・条件は要確認）</a:t>
                      </a:r>
                      <a:endParaRPr lang="ja-JP" altLang="en-US" sz="1000" b="0" i="0" dirty="0">
                        <a:solidFill>
                          <a:srgbClr val="000000"/>
                        </a:solidFill>
                        <a:latin typeface="游ゴシック"/>
                        <a:ea typeface="游ゴシック"/>
                      </a:endParaRPr>
                    </a:p>
                    <a:p>
                      <a:pPr algn="l" fontAlgn="ctr"/>
                      <a:r>
                        <a:rPr lang="ja-JP" altLang="en-US" sz="1000" b="0" i="0" dirty="0">
                          <a:solidFill>
                            <a:srgbClr val="000000"/>
                          </a:solidFill>
                          <a:latin typeface="游ゴシック"/>
                          <a:ea typeface="游ゴシック"/>
                        </a:rPr>
                        <a:t>・倉庫業：定款目的に記載（登録の有無は要確認）</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457200">
                <a:tc>
                  <a:txBody>
                    <a:bodyPr/>
                    <a:lstStyle/>
                    <a:p>
                      <a:pPr algn="l" fontAlgn="ctr"/>
                      <a:r>
                        <a:rPr lang="ja-JP" altLang="en-US" sz="1050" b="0" i="0" dirty="0">
                          <a:solidFill>
                            <a:srgbClr val="000000"/>
                          </a:solidFill>
                          <a:latin typeface="游ゴシック"/>
                          <a:ea typeface="游ゴシック"/>
                        </a:rPr>
                        <a:t>競合環境</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・鶴岡市内の青果市場は当社のみ（2026年1月に2社体制から1社に）</a:t>
                      </a:r>
                      <a:endParaRPr lang="ja-JP" altLang="en-US" sz="1000" b="0" i="0" dirty="0">
                        <a:solidFill>
                          <a:srgbClr val="000000"/>
                        </a:solidFill>
                        <a:latin typeface="游ゴシック"/>
                        <a:ea typeface="游ゴシック"/>
                      </a:endParaRPr>
                    </a:p>
                    <a:p>
                      <a:pPr algn="l" fontAlgn="ctr"/>
                      <a:r>
                        <a:rPr lang="ja-JP" altLang="en-US" sz="1000" b="0" i="0" dirty="0">
                          <a:solidFill>
                            <a:srgbClr val="000000"/>
                          </a:solidFill>
                          <a:latin typeface="游ゴシック"/>
                          <a:ea typeface="游ゴシック"/>
                        </a:rPr>
                        <a:t>・車で10〜15分の三川町に公設市場があり集荷面で競合。山形市・秋田の市場も集荷に来ており、秋田へ直接出荷する農家もある</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457200">
                <a:tc>
                  <a:txBody>
                    <a:bodyPr/>
                    <a:lstStyle/>
                    <a:p>
                      <a:pPr algn="l" fontAlgn="ctr"/>
                      <a:r>
                        <a:rPr lang="ja-JP" altLang="en-US" sz="1050" b="0" i="0" dirty="0">
                          <a:solidFill>
                            <a:srgbClr val="000000"/>
                          </a:solidFill>
                          <a:latin typeface="游ゴシック"/>
                          <a:ea typeface="游ゴシック"/>
                        </a:rPr>
                        <a:t>市場関係</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・保証金33,303千円は仕入先市場への仕入代金のデポジット（約10日分）。受領した完納奨励金の積立により増加。取引終了時に返金される</a:t>
                      </a:r>
                      <a:endParaRPr lang="ja-JP" altLang="en-US" sz="1000" b="0" i="0" dirty="0">
                        <a:solidFill>
                          <a:srgbClr val="000000"/>
                        </a:solidFill>
                        <a:latin typeface="游ゴシック"/>
                        <a:ea typeface="游ゴシック"/>
                      </a:endParaRPr>
                    </a:p>
                    <a:p>
                      <a:pPr algn="l" fontAlgn="ctr"/>
                      <a:r>
                        <a:rPr lang="ja-JP" altLang="en-US" sz="1000" b="0" i="0" dirty="0">
                          <a:solidFill>
                            <a:srgbClr val="000000"/>
                          </a:solidFill>
                          <a:latin typeface="游ゴシック"/>
                          <a:ea typeface="游ゴシック"/>
                        </a:rPr>
                        <a:t>・預り保証金8,980千円は販売先（八百屋等）からの預り（1先あたり5〜30万円程度）</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457200">
                <a:tc>
                  <a:txBody>
                    <a:bodyPr/>
                    <a:lstStyle/>
                    <a:p>
                      <a:pPr algn="l" fontAlgn="ctr"/>
                      <a:r>
                        <a:rPr lang="ja-JP" altLang="en-US" sz="1050" b="0" i="0" dirty="0">
                          <a:solidFill>
                            <a:srgbClr val="000000"/>
                          </a:solidFill>
                          <a:latin typeface="游ゴシック"/>
                          <a:ea typeface="游ゴシック"/>
                        </a:rPr>
                        <a:t>手数料・商慣習</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・受託販売手数料は8.5%（市場で一般的な水準。県への届出等で変更可能だが据置）</a:t>
                      </a:r>
                      <a:endParaRPr lang="ja-JP" altLang="en-US" sz="1000" b="0" i="0" dirty="0">
                        <a:solidFill>
                          <a:srgbClr val="000000"/>
                        </a:solidFill>
                        <a:latin typeface="游ゴシック"/>
                        <a:ea typeface="游ゴシック"/>
                      </a:endParaRPr>
                    </a:p>
                    <a:p>
                      <a:pPr algn="l" fontAlgn="ctr"/>
                      <a:r>
                        <a:rPr lang="ja-JP" altLang="en-US" sz="1000" b="0" i="0" dirty="0">
                          <a:solidFill>
                            <a:srgbClr val="000000"/>
                          </a:solidFill>
                          <a:latin typeface="游ゴシック"/>
                          <a:ea typeface="游ゴシック"/>
                        </a:rPr>
                        <a:t>・完納奨励金：期限内に代金を支払った販売先へ対象売上の約3%を還元（売上割戻）。仕入先市場からも同様に受領（受取奨励金）</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457200">
                <a:tc>
                  <a:txBody>
                    <a:bodyPr/>
                    <a:lstStyle/>
                    <a:p>
                      <a:pPr algn="l" fontAlgn="ctr"/>
                      <a:r>
                        <a:rPr lang="ja-JP" altLang="en-US" sz="1050" b="0" i="0" dirty="0">
                          <a:solidFill>
                            <a:srgbClr val="000000"/>
                          </a:solidFill>
                          <a:latin typeface="游ゴシック"/>
                          <a:ea typeface="游ゴシック"/>
                        </a:rPr>
                        <a:t>賞与・退職金</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・賞与規定はなく、業績に応じて支給</a:t>
                      </a:r>
                      <a:endParaRPr lang="ja-JP" altLang="en-US" sz="1000" b="0" i="0" dirty="0">
                        <a:solidFill>
                          <a:srgbClr val="000000"/>
                        </a:solidFill>
                        <a:latin typeface="游ゴシック"/>
                        <a:ea typeface="游ゴシック"/>
                      </a:endParaRPr>
                    </a:p>
                    <a:p>
                      <a:pPr algn="l" fontAlgn="ctr"/>
                      <a:r>
                        <a:rPr lang="ja-JP" altLang="en-US" sz="1000" b="0" i="0" dirty="0">
                          <a:solidFill>
                            <a:srgbClr val="000000"/>
                          </a:solidFill>
                          <a:latin typeface="游ゴシック"/>
                          <a:ea typeface="游ゴシック"/>
                        </a:rPr>
                        <a:t>・退職金規程あり。中退共・オリックス生命で外部積立（会社の追加負担は基本的にないとの認識）</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304800">
                <a:tc>
                  <a:txBody>
                    <a:bodyPr/>
                    <a:lstStyle/>
                    <a:p>
                      <a:pPr algn="l" fontAlgn="ctr"/>
                      <a:r>
                        <a:rPr lang="ja-JP" altLang="en-US" sz="1050" b="0" i="0" dirty="0">
                          <a:solidFill>
                            <a:srgbClr val="000000"/>
                          </a:solidFill>
                          <a:latin typeface="游ゴシック"/>
                          <a:ea typeface="游ゴシック"/>
                        </a:rPr>
                        <a:t>加入団体・出資先</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・山形県中小商工業協同組合、商工会議所、鶴岡信用金庫（出資金）</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304800">
                <a:tc>
                  <a:txBody>
                    <a:bodyPr/>
                    <a:lstStyle/>
                    <a:p>
                      <a:pPr algn="l" fontAlgn="ctr"/>
                      <a:r>
                        <a:rPr lang="ja-JP" altLang="en-US" sz="1050" b="0" i="0" dirty="0">
                          <a:solidFill>
                            <a:srgbClr val="000000"/>
                          </a:solidFill>
                          <a:latin typeface="游ゴシック"/>
                          <a:ea typeface="游ゴシック"/>
                        </a:rPr>
                        <a:t>取引金融機関</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・鶴岡信用金庫、山形銀行、荘内銀行、日本政策金融公庫（借入残高は「財務ハイライト（B/S）」参照）</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457200">
                <a:tc>
                  <a:txBody>
                    <a:bodyPr/>
                    <a:lstStyle/>
                    <a:p>
                      <a:pPr algn="l" fontAlgn="ctr"/>
                      <a:r>
                        <a:rPr lang="ja-JP" altLang="en-US" sz="1050" b="0" i="0" dirty="0">
                          <a:solidFill>
                            <a:srgbClr val="000000"/>
                          </a:solidFill>
                          <a:latin typeface="游ゴシック"/>
                          <a:ea typeface="游ゴシック"/>
                        </a:rPr>
                        <a:t>仕入先・物流</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・丸果庄内青果(株)、(株)庄果（公設庄内青果物地方卸売市場）、長井中央青果(株)、(株)マルト直治郎商店 ほか</a:t>
                      </a:r>
                      <a:endParaRPr lang="ja-JP" altLang="en-US" sz="1000" b="0" i="0" dirty="0">
                        <a:solidFill>
                          <a:srgbClr val="000000"/>
                        </a:solidFill>
                        <a:latin typeface="游ゴシック"/>
                        <a:ea typeface="游ゴシック"/>
                      </a:endParaRPr>
                    </a:p>
                    <a:p>
                      <a:pPr algn="l" fontAlgn="ctr"/>
                      <a:r>
                        <a:rPr lang="ja-JP" altLang="en-US" sz="1000" b="0" i="0" dirty="0">
                          <a:solidFill>
                            <a:srgbClr val="000000"/>
                          </a:solidFill>
                          <a:latin typeface="游ゴシック"/>
                          <a:ea typeface="游ゴシック"/>
                        </a:rPr>
                        <a:t>・配送は自社対応（東京向け出荷・一部の地元スーパー向け配送のみ外部運送会社を利用）</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304800">
                <a:tc>
                  <a:txBody>
                    <a:bodyPr/>
                    <a:lstStyle/>
                    <a:p>
                      <a:pPr algn="l" fontAlgn="ctr"/>
                      <a:r>
                        <a:rPr lang="ja-JP" altLang="en-US" sz="1050" b="0" i="0" dirty="0">
                          <a:solidFill>
                            <a:srgbClr val="000000"/>
                          </a:solidFill>
                          <a:latin typeface="游ゴシック"/>
                          <a:ea typeface="游ゴシック"/>
                        </a:rPr>
                        <a:t>営業時間・定休日</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・早朝5時から営業（終業時刻は要確認）／定休日は水・日・祝日</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457200">
                <a:tc>
                  <a:txBody>
                    <a:bodyPr/>
                    <a:lstStyle/>
                    <a:p>
                      <a:pPr algn="l" fontAlgn="ctr"/>
                      <a:r>
                        <a:rPr lang="ja-JP" altLang="en-US" sz="1050" b="0" i="0" dirty="0">
                          <a:solidFill>
                            <a:srgbClr val="000000"/>
                          </a:solidFill>
                          <a:latin typeface="游ゴシック"/>
                          <a:ea typeface="游ゴシック"/>
                        </a:rPr>
                        <a:t>機関設計・株式</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・取締役会設置会社／監査役設置会社（監査の範囲を会計に限定）</a:t>
                      </a:r>
                      <a:endParaRPr lang="ja-JP" altLang="en-US" sz="1000" b="0" i="0" dirty="0">
                        <a:solidFill>
                          <a:srgbClr val="000000"/>
                        </a:solidFill>
                        <a:latin typeface="游ゴシック"/>
                        <a:ea typeface="游ゴシック"/>
                      </a:endParaRPr>
                    </a:p>
                    <a:p>
                      <a:pPr algn="l" fontAlgn="ctr"/>
                      <a:r>
                        <a:rPr lang="ja-JP" altLang="en-US" sz="1000" b="0" i="0" dirty="0">
                          <a:solidFill>
                            <a:srgbClr val="000000"/>
                          </a:solidFill>
                          <a:latin typeface="游ゴシック"/>
                          <a:ea typeface="游ゴシック"/>
                        </a:rPr>
                        <a:t>・株式の譲渡制限あり（取締役会の承認）。発行済株式4,000株（株主8名）</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304800">
                <a:tc>
                  <a:txBody>
                    <a:bodyPr/>
                    <a:lstStyle/>
                    <a:p>
                      <a:pPr algn="l" fontAlgn="ctr"/>
                      <a:r>
                        <a:rPr lang="ja-JP" altLang="en-US" sz="1050" b="0" i="0" dirty="0">
                          <a:solidFill>
                            <a:srgbClr val="000000"/>
                          </a:solidFill>
                          <a:latin typeface="游ゴシック"/>
                          <a:ea typeface="游ゴシック"/>
                        </a:rPr>
                        <a:t>Webサイト</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・http://www.turu-chu.co.jp/（だだちゃ豆・庄内柿等の特産品、安全への取組みを掲載。検索結果の要約であり本文は要確認）</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bl>
          </a:graphicData>
        </a:graphic>
      </p:graphicFrame>
    </p:spTree>
    <p:extLst>
      <p:ext uri="{BB962C8B-B14F-4D97-AF65-F5344CB8AC3E}">
        <p14:creationId xmlns:p14="http://schemas.microsoft.com/office/powerpoint/2010/main" val="80568870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正方形/長方形 12">
            <a:extLst>
              <a:ext uri="{FF2B5EF4-FFF2-40B4-BE49-F238E27FC236}">
                <a16:creationId xmlns:a16="http://schemas.microsoft.com/office/drawing/2014/main" id="{89F2FC56-6ADD-9704-B514-62FD74DE3ED5}"/>
              </a:ext>
            </a:extLst>
          </p:cNvPr>
          <p:cNvSpPr/>
          <p:nvPr/>
        </p:nvSpPr>
        <p:spPr>
          <a:xfrm>
            <a:off x="449263" y="1362266"/>
            <a:ext cx="3816000" cy="3663837"/>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360000" rIns="180000" bIns="0" rtlCol="0" anchor="t"/>
          <a:lstStyle/>
          <a:p>
            <a:pPr algn="ctr">
              <a:buClr>
                <a:schemeClr val="tx2"/>
              </a:buClr>
              <a:buSzPct val="80000"/>
            </a:pPr>
            <a:endParaRPr kumimoji="1" lang="zh-TW" altLang="en-US" sz="2000" b="1" spc="110" dirty="0">
              <a:solidFill>
                <a:schemeClr val="tx2"/>
              </a:solidFill>
              <a:latin typeface="+mj-ea"/>
              <a:ea typeface="+mj-ea"/>
            </a:endParaRPr>
          </a:p>
        </p:txBody>
      </p:sp>
      <p:sp>
        <p:nvSpPr>
          <p:cNvPr id="34" name="正方形/長方形 33">
            <a:extLst>
              <a:ext uri="{FF2B5EF4-FFF2-40B4-BE49-F238E27FC236}">
                <a16:creationId xmlns:a16="http://schemas.microsoft.com/office/drawing/2014/main" id="{F2057333-40C8-2D4A-60A4-202E9B7B444C}"/>
              </a:ext>
            </a:extLst>
          </p:cNvPr>
          <p:cNvSpPr/>
          <p:nvPr/>
        </p:nvSpPr>
        <p:spPr>
          <a:xfrm>
            <a:off x="4522064" y="1362266"/>
            <a:ext cx="5724000" cy="572432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0" rtlCol="0" anchor="t"/>
          <a:lstStyle/>
          <a:p>
            <a:pPr algn="ctr">
              <a:buClr>
                <a:schemeClr val="tx2"/>
              </a:buClr>
              <a:buSzPct val="80000"/>
            </a:pPr>
            <a:r>
              <a:rPr kumimoji="1" lang="ja-JP" altLang="en-US" sz="1800" b="1" spc="110" dirty="0">
                <a:solidFill>
                  <a:schemeClr val="tx1"/>
                </a:solidFill>
                <a:latin typeface="+mj-ea"/>
                <a:ea typeface="+mj-ea"/>
              </a:rPr>
              <a:t>成功報酬</a:t>
            </a:r>
            <a:r>
              <a:rPr kumimoji="1" lang="en-US" altLang="ja-JP" sz="1800" spc="110" baseline="30000" dirty="0">
                <a:solidFill>
                  <a:schemeClr val="tx1"/>
                </a:solidFill>
                <a:latin typeface="+mj-ea"/>
                <a:ea typeface="+mj-ea"/>
              </a:rPr>
              <a:t>※2</a:t>
            </a:r>
            <a:r>
              <a:rPr kumimoji="1" lang="ja-JP" altLang="en-US" sz="1800" b="1" spc="110" dirty="0">
                <a:solidFill>
                  <a:schemeClr val="tx1"/>
                </a:solidFill>
                <a:latin typeface="+mj-ea"/>
                <a:ea typeface="+mj-ea"/>
              </a:rPr>
              <a:t>の算定方法</a:t>
            </a:r>
          </a:p>
        </p:txBody>
      </p:sp>
      <p:sp>
        <p:nvSpPr>
          <p:cNvPr id="6" name="字幕 5">
            <a:extLst>
              <a:ext uri="{FF2B5EF4-FFF2-40B4-BE49-F238E27FC236}">
                <a16:creationId xmlns:a16="http://schemas.microsoft.com/office/drawing/2014/main" id="{8B635CAA-C777-BCBD-D6CB-D6FE9099ED6B}"/>
              </a:ext>
            </a:extLst>
          </p:cNvPr>
          <p:cNvSpPr>
            <a:spLocks noGrp="1"/>
          </p:cNvSpPr>
          <p:nvPr>
            <p:ph type="subTitle" idx="1"/>
          </p:nvPr>
        </p:nvSpPr>
        <p:spPr>
          <a:xfrm>
            <a:off x="460675" y="830046"/>
            <a:ext cx="9781875" cy="241861"/>
          </a:xfrm>
        </p:spPr>
        <p:txBody>
          <a:bodyPr/>
          <a:lstStyle/>
          <a:p>
            <a:r>
              <a:rPr lang="ja-JP" altLang="en-US" dirty="0"/>
              <a:t>時価総資産</a:t>
            </a:r>
            <a:r>
              <a:rPr lang="en-US" altLang="ja-JP" dirty="0"/>
              <a:t>(</a:t>
            </a:r>
            <a:r>
              <a:rPr lang="ja-JP" altLang="en-US" dirty="0"/>
              <a:t>営業権含む</a:t>
            </a:r>
            <a:r>
              <a:rPr lang="en-US" altLang="ja-JP" dirty="0"/>
              <a:t>)</a:t>
            </a:r>
            <a:r>
              <a:rPr lang="ja-JP" altLang="en-US" dirty="0"/>
              <a:t>を基準とした報酬体系であり、独占交渉権獲得の段階まで費用は発生しません</a:t>
            </a:r>
            <a:endParaRPr lang="en-US" altLang="ja-JP" dirty="0"/>
          </a:p>
        </p:txBody>
      </p:sp>
      <p:sp>
        <p:nvSpPr>
          <p:cNvPr id="2" name="タイトル 1">
            <a:extLst>
              <a:ext uri="{FF2B5EF4-FFF2-40B4-BE49-F238E27FC236}">
                <a16:creationId xmlns:a16="http://schemas.microsoft.com/office/drawing/2014/main" id="{D080ECA5-1EC6-E0DA-1045-7623DC8B0517}"/>
              </a:ext>
            </a:extLst>
          </p:cNvPr>
          <p:cNvSpPr>
            <a:spLocks noGrp="1"/>
          </p:cNvSpPr>
          <p:nvPr>
            <p:ph type="ctrTitle"/>
          </p:nvPr>
        </p:nvSpPr>
        <p:spPr/>
        <p:txBody>
          <a:bodyPr/>
          <a:lstStyle/>
          <a:p>
            <a:r>
              <a:rPr lang="ja-JP" altLang="en-US" dirty="0"/>
              <a:t>報酬体系</a:t>
            </a:r>
          </a:p>
        </p:txBody>
      </p:sp>
      <p:sp>
        <p:nvSpPr>
          <p:cNvPr id="7" name="タイトル 1">
            <a:extLst>
              <a:ext uri="{FF2B5EF4-FFF2-40B4-BE49-F238E27FC236}">
                <a16:creationId xmlns:a16="http://schemas.microsoft.com/office/drawing/2014/main" id="{0DF55F9A-C4D7-02A8-F804-D2CAF9784F10}"/>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ja-JP" altLang="en-US" dirty="0"/>
              <a:t>　</a:t>
            </a:r>
            <a:r>
              <a:rPr lang="en-US" altLang="ja-JP" dirty="0"/>
              <a:t>Appendix</a:t>
            </a:r>
            <a:endParaRPr lang="ja-JP" altLang="en-US" dirty="0"/>
          </a:p>
        </p:txBody>
      </p:sp>
      <p:cxnSp>
        <p:nvCxnSpPr>
          <p:cNvPr id="15" name="直線コネクタ 14">
            <a:extLst>
              <a:ext uri="{FF2B5EF4-FFF2-40B4-BE49-F238E27FC236}">
                <a16:creationId xmlns:a16="http://schemas.microsoft.com/office/drawing/2014/main" id="{CB8BC532-89AB-609B-2D65-2652067D6567}"/>
              </a:ext>
            </a:extLst>
          </p:cNvPr>
          <p:cNvCxnSpPr>
            <a:cxnSpLocks/>
          </p:cNvCxnSpPr>
          <p:nvPr/>
        </p:nvCxnSpPr>
        <p:spPr>
          <a:xfrm>
            <a:off x="449263" y="1362267"/>
            <a:ext cx="3816000" cy="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18" name="正方形/長方形 17">
            <a:extLst>
              <a:ext uri="{FF2B5EF4-FFF2-40B4-BE49-F238E27FC236}">
                <a16:creationId xmlns:a16="http://schemas.microsoft.com/office/drawing/2014/main" id="{6E720941-89DA-5B24-F4D1-711BB1F814EF}"/>
              </a:ext>
            </a:extLst>
          </p:cNvPr>
          <p:cNvSpPr>
            <a:spLocks/>
          </p:cNvSpPr>
          <p:nvPr/>
        </p:nvSpPr>
        <p:spPr>
          <a:xfrm>
            <a:off x="768087" y="2452713"/>
            <a:ext cx="2412000" cy="612000"/>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288000" tIns="0" rIns="144000" bIns="0" rtlCol="0" anchor="ctr"/>
          <a:lstStyle/>
          <a:p>
            <a:pPr marL="180000" indent="-180000">
              <a:lnSpc>
                <a:spcPct val="120000"/>
              </a:lnSpc>
              <a:spcAft>
                <a:spcPts val="600"/>
              </a:spcAft>
              <a:buClr>
                <a:schemeClr val="tx2"/>
              </a:buClr>
              <a:buSzPct val="100000"/>
              <a:buFont typeface="游ゴシック" panose="020B0400000000000000" pitchFamily="50" charset="-128"/>
              <a:buChar char="▪"/>
            </a:pPr>
            <a:r>
              <a:rPr kumimoji="1" lang="zh-TW" altLang="en-US" sz="1600" b="1" spc="110" dirty="0">
                <a:solidFill>
                  <a:schemeClr val="tx2"/>
                </a:solidFill>
                <a:latin typeface="+mj-ea"/>
                <a:ea typeface="+mj-ea"/>
              </a:rPr>
              <a:t>着手金</a:t>
            </a:r>
            <a:endParaRPr kumimoji="1" lang="zh-TW" altLang="en-US" sz="1600" spc="110" baseline="30000" dirty="0">
              <a:solidFill>
                <a:schemeClr val="tx2"/>
              </a:solidFill>
              <a:latin typeface="+mj-ea"/>
              <a:ea typeface="+mj-ea"/>
            </a:endParaRPr>
          </a:p>
        </p:txBody>
      </p:sp>
      <p:sp>
        <p:nvSpPr>
          <p:cNvPr id="20" name="正方形/長方形 19">
            <a:extLst>
              <a:ext uri="{FF2B5EF4-FFF2-40B4-BE49-F238E27FC236}">
                <a16:creationId xmlns:a16="http://schemas.microsoft.com/office/drawing/2014/main" id="{C770662D-0186-159D-6B20-6AADFFE9CBBA}"/>
              </a:ext>
            </a:extLst>
          </p:cNvPr>
          <p:cNvSpPr>
            <a:spLocks/>
          </p:cNvSpPr>
          <p:nvPr/>
        </p:nvSpPr>
        <p:spPr>
          <a:xfrm>
            <a:off x="768087" y="3965025"/>
            <a:ext cx="2412000" cy="612000"/>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288000" tIns="0" rIns="144000" bIns="0" rtlCol="0" anchor="ctr"/>
          <a:lstStyle/>
          <a:p>
            <a:pPr marL="180000" indent="-180000">
              <a:lnSpc>
                <a:spcPct val="120000"/>
              </a:lnSpc>
              <a:spcAft>
                <a:spcPts val="600"/>
              </a:spcAft>
              <a:buClr>
                <a:schemeClr val="tx2"/>
              </a:buClr>
              <a:buSzPct val="100000"/>
              <a:buFont typeface="游ゴシック" panose="020B0400000000000000" pitchFamily="50" charset="-128"/>
              <a:buChar char="▪"/>
            </a:pPr>
            <a:r>
              <a:rPr kumimoji="1" lang="ja-JP" altLang="en-US" sz="1600" b="1" spc="110" dirty="0">
                <a:solidFill>
                  <a:schemeClr val="tx2"/>
                </a:solidFill>
                <a:latin typeface="+mj-ea"/>
                <a:ea typeface="+mj-ea"/>
              </a:rPr>
              <a:t>リテイナーフィー</a:t>
            </a:r>
            <a:endParaRPr kumimoji="1" lang="zh-TW" altLang="en-US" sz="1600" spc="110" baseline="30000" dirty="0">
              <a:solidFill>
                <a:schemeClr val="tx2"/>
              </a:solidFill>
              <a:latin typeface="+mj-ea"/>
              <a:ea typeface="+mj-ea"/>
            </a:endParaRPr>
          </a:p>
        </p:txBody>
      </p:sp>
      <p:sp>
        <p:nvSpPr>
          <p:cNvPr id="21" name="正方形/長方形 20">
            <a:extLst>
              <a:ext uri="{FF2B5EF4-FFF2-40B4-BE49-F238E27FC236}">
                <a16:creationId xmlns:a16="http://schemas.microsoft.com/office/drawing/2014/main" id="{E00098F5-AD27-787B-FFFF-9D575BB76654}"/>
              </a:ext>
            </a:extLst>
          </p:cNvPr>
          <p:cNvSpPr>
            <a:spLocks/>
          </p:cNvSpPr>
          <p:nvPr/>
        </p:nvSpPr>
        <p:spPr>
          <a:xfrm>
            <a:off x="768087" y="3208869"/>
            <a:ext cx="2412000" cy="612000"/>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288000" tIns="0" rIns="144000" bIns="0" rtlCol="0" anchor="ctr"/>
          <a:lstStyle/>
          <a:p>
            <a:pPr marL="180000" indent="-180000">
              <a:lnSpc>
                <a:spcPct val="120000"/>
              </a:lnSpc>
              <a:spcAft>
                <a:spcPts val="600"/>
              </a:spcAft>
              <a:buClr>
                <a:schemeClr val="tx2"/>
              </a:buClr>
              <a:buSzPct val="100000"/>
              <a:buFont typeface="游ゴシック" panose="020B0400000000000000" pitchFamily="50" charset="-128"/>
              <a:buChar char="▪"/>
            </a:pPr>
            <a:r>
              <a:rPr kumimoji="1" lang="ja-JP" altLang="en-US" sz="1600" b="1" spc="110" dirty="0">
                <a:solidFill>
                  <a:schemeClr val="tx2"/>
                </a:solidFill>
                <a:latin typeface="+mj-ea"/>
                <a:ea typeface="+mj-ea"/>
              </a:rPr>
              <a:t>情報提供料</a:t>
            </a:r>
            <a:endParaRPr kumimoji="1" lang="zh-TW" altLang="en-US" sz="1600" b="1" spc="110" dirty="0">
              <a:solidFill>
                <a:schemeClr val="tx2"/>
              </a:solidFill>
              <a:latin typeface="+mj-ea"/>
              <a:ea typeface="+mj-ea"/>
            </a:endParaRPr>
          </a:p>
        </p:txBody>
      </p:sp>
      <p:sp>
        <p:nvSpPr>
          <p:cNvPr id="24" name="テキスト ボックス 23">
            <a:extLst>
              <a:ext uri="{FF2B5EF4-FFF2-40B4-BE49-F238E27FC236}">
                <a16:creationId xmlns:a16="http://schemas.microsoft.com/office/drawing/2014/main" id="{732BB496-90B0-3CEC-6685-2DABCCD36309}"/>
              </a:ext>
            </a:extLst>
          </p:cNvPr>
          <p:cNvSpPr txBox="1"/>
          <p:nvPr/>
        </p:nvSpPr>
        <p:spPr>
          <a:xfrm>
            <a:off x="3604575" y="3422948"/>
            <a:ext cx="428323" cy="278731"/>
          </a:xfrm>
          <a:prstGeom prst="rect">
            <a:avLst/>
          </a:prstGeom>
          <a:noFill/>
        </p:spPr>
        <p:txBody>
          <a:bodyPr wrap="none" lIns="0" tIns="0" rIns="0" bIns="0" rtlCol="0">
            <a:spAutoFit/>
          </a:bodyPr>
          <a:lstStyle/>
          <a:p>
            <a:pPr algn="ctr">
              <a:lnSpc>
                <a:spcPct val="120000"/>
              </a:lnSpc>
              <a:buClr>
                <a:schemeClr val="tx2"/>
              </a:buClr>
              <a:buSzPct val="80000"/>
            </a:pPr>
            <a:r>
              <a:rPr lang="ja-JP" altLang="en-US" sz="1600" b="1" spc="70" dirty="0">
                <a:latin typeface="+mj-ea"/>
                <a:ea typeface="+mj-ea"/>
              </a:rPr>
              <a:t>無料</a:t>
            </a:r>
          </a:p>
        </p:txBody>
      </p:sp>
      <p:sp>
        <p:nvSpPr>
          <p:cNvPr id="30" name="右大かっこ 29">
            <a:extLst>
              <a:ext uri="{FF2B5EF4-FFF2-40B4-BE49-F238E27FC236}">
                <a16:creationId xmlns:a16="http://schemas.microsoft.com/office/drawing/2014/main" id="{3B1D8EBE-EC59-B246-AF6C-841872564D9C}"/>
              </a:ext>
            </a:extLst>
          </p:cNvPr>
          <p:cNvSpPr/>
          <p:nvPr/>
        </p:nvSpPr>
        <p:spPr>
          <a:xfrm>
            <a:off x="3324087" y="2479728"/>
            <a:ext cx="174824" cy="2097297"/>
          </a:xfrm>
          <a:prstGeom prst="rightBracket">
            <a:avLst>
              <a:gd name="adj" fmla="val 0"/>
            </a:avLst>
          </a:prstGeom>
          <a:ln w="12700">
            <a:solidFill>
              <a:schemeClr val="tx2"/>
            </a:solidFill>
            <a:prstDash val="sysDot"/>
          </a:ln>
        </p:spPr>
        <p:style>
          <a:lnRef idx="2">
            <a:schemeClr val="accent1"/>
          </a:lnRef>
          <a:fillRef idx="0">
            <a:schemeClr val="accent1"/>
          </a:fillRef>
          <a:effectRef idx="1">
            <a:schemeClr val="accent1"/>
          </a:effectRef>
          <a:fontRef idx="minor">
            <a:schemeClr val="tx1"/>
          </a:fontRef>
        </p:style>
        <p:txBody>
          <a:bodyPr rtlCol="0" anchor="ctr"/>
          <a:lstStyle/>
          <a:p>
            <a:pPr algn="ctr"/>
            <a:endParaRPr kumimoji="1" lang="ja-JP" altLang="en-US"/>
          </a:p>
        </p:txBody>
      </p:sp>
      <p:sp>
        <p:nvSpPr>
          <p:cNvPr id="36" name="正方形/長方形 35">
            <a:extLst>
              <a:ext uri="{FF2B5EF4-FFF2-40B4-BE49-F238E27FC236}">
                <a16:creationId xmlns:a16="http://schemas.microsoft.com/office/drawing/2014/main" id="{9AE04EFA-8A89-729B-C209-CDC92D8F408B}"/>
              </a:ext>
            </a:extLst>
          </p:cNvPr>
          <p:cNvSpPr/>
          <p:nvPr/>
        </p:nvSpPr>
        <p:spPr>
          <a:xfrm>
            <a:off x="4766690" y="6067960"/>
            <a:ext cx="4411464" cy="9425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spAutoFit/>
          </a:bodyPr>
          <a:lstStyle/>
          <a:p>
            <a:pPr>
              <a:lnSpc>
                <a:spcPct val="110000"/>
              </a:lnSpc>
            </a:pPr>
            <a:r>
              <a:rPr lang="en-US" altLang="ja-JP" sz="800" dirty="0">
                <a:solidFill>
                  <a:schemeClr val="tx1"/>
                </a:solidFill>
                <a:latin typeface="+mn-ea"/>
              </a:rPr>
              <a:t>※2</a:t>
            </a:r>
            <a:r>
              <a:rPr lang="ja-JP" altLang="en-US" sz="800" dirty="0">
                <a:solidFill>
                  <a:schemeClr val="tx1"/>
                </a:solidFill>
                <a:latin typeface="+mn-ea"/>
              </a:rPr>
              <a:t>　以下の項目については上記報酬には含まれておりません。</a:t>
            </a:r>
          </a:p>
          <a:p>
            <a:pPr>
              <a:lnSpc>
                <a:spcPct val="110000"/>
              </a:lnSpc>
            </a:pPr>
            <a:r>
              <a:rPr lang="ja-JP" altLang="en-US" sz="800" dirty="0">
                <a:solidFill>
                  <a:schemeClr val="tx1"/>
                </a:solidFill>
                <a:latin typeface="+mn-ea"/>
              </a:rPr>
              <a:t>　　・買収監査、特殊な市場調査や技術評価、経営計画作成のための費用</a:t>
            </a:r>
          </a:p>
          <a:p>
            <a:pPr>
              <a:lnSpc>
                <a:spcPct val="110000"/>
              </a:lnSpc>
            </a:pPr>
            <a:r>
              <a:rPr lang="ja-JP" altLang="en-US" sz="800" dirty="0">
                <a:solidFill>
                  <a:schemeClr val="tx1"/>
                </a:solidFill>
                <a:latin typeface="+mn-ea"/>
              </a:rPr>
              <a:t>　　・登記費用および公認会計士、税理士、弁護士、不動産鑑定士等の専門家費用の実費</a:t>
            </a:r>
          </a:p>
          <a:p>
            <a:pPr>
              <a:lnSpc>
                <a:spcPct val="110000"/>
              </a:lnSpc>
            </a:pPr>
            <a:r>
              <a:rPr lang="ja-JP" altLang="en-US" sz="800" dirty="0">
                <a:solidFill>
                  <a:schemeClr val="tx1"/>
                </a:solidFill>
                <a:latin typeface="+mn-ea"/>
              </a:rPr>
              <a:t>　　・譲渡企業の海外事業所等訪問時の通訳費、当社および貴社関係者の交通費、宿泊費、日当</a:t>
            </a:r>
            <a:endParaRPr lang="en-US" altLang="ja-JP" sz="800" dirty="0">
              <a:solidFill>
                <a:schemeClr val="tx1"/>
              </a:solidFill>
              <a:latin typeface="+mn-ea"/>
            </a:endParaRPr>
          </a:p>
          <a:p>
            <a:pPr>
              <a:lnSpc>
                <a:spcPct val="110000"/>
              </a:lnSpc>
            </a:pPr>
            <a:r>
              <a:rPr lang="ja-JP" altLang="en-US" sz="800" dirty="0">
                <a:solidFill>
                  <a:schemeClr val="tx1"/>
                </a:solidFill>
                <a:latin typeface="+mn-ea"/>
              </a:rPr>
              <a:t>　　以下の場合、上記の各種報酬について別途ご相談いたします。</a:t>
            </a:r>
          </a:p>
          <a:p>
            <a:pPr>
              <a:lnSpc>
                <a:spcPct val="110000"/>
              </a:lnSpc>
            </a:pPr>
            <a:r>
              <a:rPr lang="ja-JP" altLang="en-US" sz="800" dirty="0">
                <a:solidFill>
                  <a:schemeClr val="tx1"/>
                </a:solidFill>
                <a:latin typeface="+mn-ea"/>
              </a:rPr>
              <a:t>　　・譲渡企業が関係会社を保有する場合や事業所を複数持つ場合</a:t>
            </a:r>
          </a:p>
          <a:p>
            <a:pPr>
              <a:lnSpc>
                <a:spcPct val="110000"/>
              </a:lnSpc>
            </a:pPr>
            <a:r>
              <a:rPr lang="ja-JP" altLang="en-US" sz="800" dirty="0">
                <a:solidFill>
                  <a:schemeClr val="tx1"/>
                </a:solidFill>
                <a:latin typeface="+mn-ea"/>
              </a:rPr>
              <a:t>　　・譲渡企業が海外に関係会社・事業所・工場を保有する場合</a:t>
            </a:r>
          </a:p>
        </p:txBody>
      </p:sp>
      <p:sp>
        <p:nvSpPr>
          <p:cNvPr id="37" name="正方形/長方形 36">
            <a:extLst>
              <a:ext uri="{FF2B5EF4-FFF2-40B4-BE49-F238E27FC236}">
                <a16:creationId xmlns:a16="http://schemas.microsoft.com/office/drawing/2014/main" id="{F22E4C30-8FC3-B869-53BD-9D8860037344}"/>
              </a:ext>
            </a:extLst>
          </p:cNvPr>
          <p:cNvSpPr/>
          <p:nvPr/>
        </p:nvSpPr>
        <p:spPr>
          <a:xfrm>
            <a:off x="683263" y="1669542"/>
            <a:ext cx="3348000" cy="468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buClr>
                <a:schemeClr val="tx2"/>
              </a:buClr>
              <a:buSzPct val="80000"/>
            </a:pPr>
            <a:r>
              <a:rPr lang="zh-TW" altLang="en-US" sz="1800" b="1" spc="70" dirty="0">
                <a:solidFill>
                  <a:schemeClr val="bg1"/>
                </a:solidFill>
                <a:latin typeface="+mj-ea"/>
                <a:ea typeface="+mj-ea"/>
              </a:rPr>
              <a:t>料金体系｜成功報酬型</a:t>
            </a:r>
          </a:p>
        </p:txBody>
      </p:sp>
      <p:sp>
        <p:nvSpPr>
          <p:cNvPr id="38" name="正方形/長方形 37">
            <a:extLst>
              <a:ext uri="{FF2B5EF4-FFF2-40B4-BE49-F238E27FC236}">
                <a16:creationId xmlns:a16="http://schemas.microsoft.com/office/drawing/2014/main" id="{A662A524-58DF-E539-7CF9-2CCAAD4E7CAF}"/>
              </a:ext>
            </a:extLst>
          </p:cNvPr>
          <p:cNvSpPr>
            <a:spLocks/>
          </p:cNvSpPr>
          <p:nvPr/>
        </p:nvSpPr>
        <p:spPr>
          <a:xfrm>
            <a:off x="4752550" y="1974789"/>
            <a:ext cx="5256000" cy="3051315"/>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108000" rIns="0" bIns="0" rtlCol="0" anchor="t">
            <a:noAutofit/>
          </a:bodyPr>
          <a:lstStyle/>
          <a:p>
            <a:r>
              <a:rPr kumimoji="1" lang="en-US" altLang="ja-JP" sz="1543" b="1">
                <a:solidFill>
                  <a:schemeClr val="tx2"/>
                </a:solidFill>
                <a:ea typeface="+mj-ea"/>
              </a:rPr>
              <a:t>1. M</a:t>
            </a:r>
            <a:r>
              <a:rPr kumimoji="1" lang="ja-JP" altLang="en-US" sz="1543" b="1">
                <a:solidFill>
                  <a:schemeClr val="tx2"/>
                </a:solidFill>
                <a:ea typeface="+mj-ea"/>
              </a:rPr>
              <a:t>＆</a:t>
            </a:r>
            <a:r>
              <a:rPr kumimoji="1" lang="en-US" altLang="ja-JP" sz="1543" b="1">
                <a:solidFill>
                  <a:schemeClr val="tx2"/>
                </a:solidFill>
                <a:ea typeface="+mj-ea"/>
              </a:rPr>
              <a:t>A</a:t>
            </a:r>
            <a:r>
              <a:rPr kumimoji="1" lang="ja-JP" altLang="en-US" sz="1543" b="1">
                <a:solidFill>
                  <a:schemeClr val="tx2"/>
                </a:solidFill>
                <a:ea typeface="+mj-ea"/>
              </a:rPr>
              <a:t>（株式・事業譲渡）の場合</a:t>
            </a:r>
            <a:endParaRPr kumimoji="1" lang="ja-JP" altLang="en-US" sz="1543" b="1" dirty="0">
              <a:solidFill>
                <a:schemeClr val="tx2"/>
              </a:solidFill>
              <a:ea typeface="+mj-ea"/>
            </a:endParaRPr>
          </a:p>
        </p:txBody>
      </p:sp>
      <p:sp>
        <p:nvSpPr>
          <p:cNvPr id="39" name="正方形/長方形 38">
            <a:extLst>
              <a:ext uri="{FF2B5EF4-FFF2-40B4-BE49-F238E27FC236}">
                <a16:creationId xmlns:a16="http://schemas.microsoft.com/office/drawing/2014/main" id="{3005CCDB-36FD-4152-9A26-F18CB327D833}"/>
              </a:ext>
            </a:extLst>
          </p:cNvPr>
          <p:cNvSpPr>
            <a:spLocks/>
          </p:cNvSpPr>
          <p:nvPr/>
        </p:nvSpPr>
        <p:spPr>
          <a:xfrm>
            <a:off x="4752550" y="5145149"/>
            <a:ext cx="5256000" cy="855016"/>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108000" rIns="0" bIns="0" rtlCol="0" anchor="t">
            <a:noAutofit/>
          </a:bodyPr>
          <a:lstStyle/>
          <a:p>
            <a:r>
              <a:rPr kumimoji="1" lang="en-US" altLang="ja-JP" sz="1543" b="1" dirty="0">
                <a:solidFill>
                  <a:schemeClr val="tx2"/>
                </a:solidFill>
                <a:ea typeface="+mj-ea"/>
              </a:rPr>
              <a:t>2. </a:t>
            </a:r>
            <a:r>
              <a:rPr kumimoji="1" lang="ja-JP" altLang="en-US" sz="1543" b="1" dirty="0">
                <a:solidFill>
                  <a:schemeClr val="tx2"/>
                </a:solidFill>
                <a:ea typeface="+mj-ea"/>
              </a:rPr>
              <a:t>合併・会社分割・業務提携などの場合</a:t>
            </a:r>
          </a:p>
        </p:txBody>
      </p:sp>
      <p:sp>
        <p:nvSpPr>
          <p:cNvPr id="43" name="正方形/長方形 42">
            <a:extLst>
              <a:ext uri="{FF2B5EF4-FFF2-40B4-BE49-F238E27FC236}">
                <a16:creationId xmlns:a16="http://schemas.microsoft.com/office/drawing/2014/main" id="{45F9569B-84C3-F6AA-8270-6F2A0C5A48FE}"/>
              </a:ext>
            </a:extLst>
          </p:cNvPr>
          <p:cNvSpPr/>
          <p:nvPr/>
        </p:nvSpPr>
        <p:spPr>
          <a:xfrm>
            <a:off x="4968550" y="5594330"/>
            <a:ext cx="4824000" cy="286791"/>
          </a:xfrm>
          <a:prstGeom prst="rect">
            <a:avLst/>
          </a:prstGeom>
          <a:solidFill>
            <a:schemeClr val="bg1"/>
          </a:solidFill>
          <a:ln w="127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r>
              <a:rPr kumimoji="1" lang="ja-JP" altLang="en-US" sz="1600" b="1" spc="30" dirty="0">
                <a:solidFill>
                  <a:schemeClr val="tx1"/>
                </a:solidFill>
                <a:latin typeface="+mj-ea"/>
                <a:ea typeface="+mj-ea"/>
              </a:rPr>
              <a:t>形態、規模に応じてお見積り</a:t>
            </a:r>
          </a:p>
        </p:txBody>
      </p:sp>
      <p:sp>
        <p:nvSpPr>
          <p:cNvPr id="44" name="テキスト ボックス 43">
            <a:extLst>
              <a:ext uri="{FF2B5EF4-FFF2-40B4-BE49-F238E27FC236}">
                <a16:creationId xmlns:a16="http://schemas.microsoft.com/office/drawing/2014/main" id="{1E78D870-E1BA-6FCD-62FA-37BB1F2E0B3D}"/>
              </a:ext>
            </a:extLst>
          </p:cNvPr>
          <p:cNvSpPr txBox="1"/>
          <p:nvPr/>
        </p:nvSpPr>
        <p:spPr>
          <a:xfrm>
            <a:off x="4968550" y="4554047"/>
            <a:ext cx="3546805" cy="191399"/>
          </a:xfrm>
          <a:prstGeom prst="rect">
            <a:avLst/>
          </a:prstGeom>
          <a:noFill/>
        </p:spPr>
        <p:txBody>
          <a:bodyPr wrap="none" lIns="0" tIns="0" rIns="0" bIns="0" rtlCol="0">
            <a:spAutoFit/>
          </a:bodyPr>
          <a:lstStyle/>
          <a:p>
            <a:pPr>
              <a:lnSpc>
                <a:spcPct val="120000"/>
              </a:lnSpc>
              <a:buClr>
                <a:schemeClr val="tx2"/>
              </a:buClr>
              <a:buSzPct val="80000"/>
            </a:pPr>
            <a:r>
              <a:rPr lang="ja-JP" altLang="en-US" sz="1100" spc="70" dirty="0">
                <a:latin typeface="+mn-ea"/>
              </a:rPr>
              <a:t>成功報酬の最低額は</a:t>
            </a:r>
            <a:r>
              <a:rPr lang="en-US" altLang="ja-JP" sz="1100" spc="70" dirty="0">
                <a:latin typeface="+mn-ea"/>
              </a:rPr>
              <a:t>1,500</a:t>
            </a:r>
            <a:r>
              <a:rPr lang="ja-JP" altLang="en-US" sz="1100" spc="70" dirty="0">
                <a:latin typeface="+mn-ea"/>
              </a:rPr>
              <a:t>万円を設定しております。</a:t>
            </a:r>
          </a:p>
        </p:txBody>
      </p:sp>
      <p:graphicFrame>
        <p:nvGraphicFramePr>
          <p:cNvPr id="45" name="表 44">
            <a:extLst>
              <a:ext uri="{FF2B5EF4-FFF2-40B4-BE49-F238E27FC236}">
                <a16:creationId xmlns:a16="http://schemas.microsoft.com/office/drawing/2014/main" id="{43BEAE47-9189-F306-0E9E-F73105167DC7}"/>
              </a:ext>
            </a:extLst>
          </p:cNvPr>
          <p:cNvGraphicFramePr>
            <a:graphicFrameLocks noGrp="1"/>
          </p:cNvGraphicFramePr>
          <p:nvPr/>
        </p:nvGraphicFramePr>
        <p:xfrm>
          <a:off x="4968550" y="2395845"/>
          <a:ext cx="4824000" cy="2448000"/>
        </p:xfrm>
        <a:graphic>
          <a:graphicData uri="http://schemas.openxmlformats.org/drawingml/2006/table">
            <a:tbl>
              <a:tblPr firstRow="1" bandRow="1">
                <a:tableStyleId>{F2DE63D5-997A-4646-A377-4702673A728D}</a:tableStyleId>
              </a:tblPr>
              <a:tblGrid>
                <a:gridCol w="2952000">
                  <a:extLst>
                    <a:ext uri="{9D8B030D-6E8A-4147-A177-3AD203B41FA5}">
                      <a16:colId xmlns:a16="http://schemas.microsoft.com/office/drawing/2014/main" val="4012313631"/>
                    </a:ext>
                  </a:extLst>
                </a:gridCol>
                <a:gridCol w="1872000">
                  <a:extLst>
                    <a:ext uri="{9D8B030D-6E8A-4147-A177-3AD203B41FA5}">
                      <a16:colId xmlns:a16="http://schemas.microsoft.com/office/drawing/2014/main" val="1332805218"/>
                    </a:ext>
                  </a:extLst>
                </a:gridCol>
              </a:tblGrid>
              <a:tr h="396000">
                <a:tc>
                  <a:txBody>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1" lang="ja-JP" altLang="en-US" sz="1100" b="1" i="0" u="none" strike="noStrike" kern="1200" cap="none" spc="50" normalizeH="0" baseline="0" noProof="0" dirty="0">
                          <a:ln>
                            <a:noFill/>
                          </a:ln>
                          <a:solidFill>
                            <a:schemeClr val="bg1"/>
                          </a:solidFill>
                          <a:effectLst/>
                          <a:uLnTx/>
                          <a:uFillTx/>
                          <a:latin typeface="+mj-ea"/>
                          <a:ea typeface="+mj-ea"/>
                        </a:rPr>
                        <a:t>譲渡企業の時価総資産額</a:t>
                      </a:r>
                      <a:endParaRPr kumimoji="1" lang="en-US" altLang="ja-JP" sz="1100" b="1" i="0" u="none" strike="noStrike" kern="1200" cap="none" spc="50" normalizeH="0" baseline="0" noProof="0" dirty="0">
                        <a:ln>
                          <a:noFill/>
                        </a:ln>
                        <a:solidFill>
                          <a:schemeClr val="bg1"/>
                        </a:solidFill>
                        <a:effectLst/>
                        <a:uLnTx/>
                        <a:uFillTx/>
                        <a:latin typeface="+mj-ea"/>
                        <a:ea typeface="+mj-ea"/>
                      </a:endParaRPr>
                    </a:p>
                    <a:p>
                      <a:pPr marL="0" marR="0" lvl="0" indent="0" algn="ctr" defTabSz="914400" rtl="0" eaLnBrk="1" fontAlgn="auto" latinLnBrk="0" hangingPunct="1">
                        <a:lnSpc>
                          <a:spcPct val="110000"/>
                        </a:lnSpc>
                        <a:spcBef>
                          <a:spcPts val="0"/>
                        </a:spcBef>
                        <a:spcAft>
                          <a:spcPts val="0"/>
                        </a:spcAft>
                        <a:buClrTx/>
                        <a:buSzTx/>
                        <a:buFontTx/>
                        <a:buNone/>
                        <a:tabLst/>
                        <a:defRPr/>
                      </a:pPr>
                      <a:r>
                        <a:rPr kumimoji="1" lang="ja-JP" altLang="en-US" sz="800" b="1" i="0" u="none" strike="noStrike" kern="1200" cap="none" spc="50" normalizeH="0" baseline="0" noProof="0" dirty="0">
                          <a:ln>
                            <a:noFill/>
                          </a:ln>
                          <a:solidFill>
                            <a:schemeClr val="bg1"/>
                          </a:solidFill>
                          <a:effectLst/>
                          <a:uLnTx/>
                          <a:uFillTx/>
                          <a:latin typeface="+mj-ea"/>
                          <a:ea typeface="+mj-ea"/>
                        </a:rPr>
                        <a:t>（営業権を含む）</a:t>
                      </a:r>
                    </a:p>
                  </a:txBody>
                  <a:tcPr marL="0" marR="0" marT="0" marB="0" anchor="ctr" anchorCtr="1">
                    <a:lnL w="3175"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nSpc>
                          <a:spcPct val="110000"/>
                        </a:lnSpc>
                      </a:pPr>
                      <a:r>
                        <a:rPr kumimoji="1" lang="ja-JP" altLang="en-US" sz="1100" b="1" spc="50" baseline="0" dirty="0">
                          <a:latin typeface="+mj-ea"/>
                          <a:ea typeface="+mj-ea"/>
                        </a:rPr>
                        <a:t>手数料率</a:t>
                      </a:r>
                    </a:p>
                  </a:txBody>
                  <a:tcPr marL="0" marR="0" marT="0" marB="0" anchor="ctr" anchorCtr="1">
                    <a:lnL w="12700" cap="flat" cmpd="sng" algn="ctr">
                      <a:solidFill>
                        <a:schemeClr val="bg1"/>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3552892255"/>
                  </a:ext>
                </a:extLst>
              </a:tr>
              <a:tr h="342000">
                <a:tc>
                  <a:txBody>
                    <a:bodyPr/>
                    <a:lstStyle/>
                    <a:p>
                      <a:pPr algn="l">
                        <a:lnSpc>
                          <a:spcPct val="110000"/>
                        </a:lnSpc>
                      </a:pPr>
                      <a:r>
                        <a:rPr kumimoji="1" lang="en-US" altLang="ja-JP" sz="1200" b="1" spc="50" baseline="0" dirty="0">
                          <a:latin typeface="+mj-lt"/>
                          <a:ea typeface="+mj-ea"/>
                        </a:rPr>
                        <a:t>2</a:t>
                      </a:r>
                      <a:r>
                        <a:rPr kumimoji="1" lang="ja-JP" altLang="en-US" sz="1200" b="1" spc="50" baseline="0" dirty="0">
                          <a:latin typeface="+mj-lt"/>
                          <a:ea typeface="+mj-ea"/>
                        </a:rPr>
                        <a:t>億円以下の部分</a:t>
                      </a:r>
                    </a:p>
                  </a:txBody>
                  <a:tcPr marL="288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accent2">
                          <a:lumMod val="10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497504" rtl="0" eaLnBrk="1" fontAlgn="auto" latinLnBrk="0" hangingPunct="1">
                        <a:lnSpc>
                          <a:spcPct val="110000"/>
                        </a:lnSpc>
                        <a:spcBef>
                          <a:spcPts val="0"/>
                        </a:spcBef>
                        <a:spcAft>
                          <a:spcPts val="0"/>
                        </a:spcAft>
                        <a:buClrTx/>
                        <a:buSzTx/>
                        <a:buFontTx/>
                        <a:buNone/>
                        <a:tabLst/>
                        <a:defRPr/>
                      </a:pPr>
                      <a:r>
                        <a:rPr kumimoji="1" lang="en-US" altLang="ja-JP" sz="1800" b="1" spc="50" baseline="0" dirty="0">
                          <a:solidFill>
                            <a:schemeClr val="tx1"/>
                          </a:solidFill>
                          <a:latin typeface="+mn-lt"/>
                          <a:ea typeface="+mn-ea"/>
                        </a:rPr>
                        <a:t>2,000</a:t>
                      </a:r>
                      <a:r>
                        <a:rPr kumimoji="1" lang="ja-JP" altLang="en-US" sz="1100" b="1" spc="50" baseline="0" dirty="0">
                          <a:solidFill>
                            <a:schemeClr val="tx1"/>
                          </a:solidFill>
                          <a:latin typeface="+mn-lt"/>
                          <a:ea typeface="+mn-ea"/>
                        </a:rPr>
                        <a:t>万円</a:t>
                      </a:r>
                      <a:endParaRPr kumimoji="1" lang="ja-JP" altLang="en-US" sz="1100" b="0" spc="50" baseline="0" dirty="0">
                        <a:solidFill>
                          <a:schemeClr val="tx1"/>
                        </a:solidFill>
                        <a:latin typeface="+mn-lt"/>
                        <a:ea typeface="+mn-ea"/>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accent2">
                          <a:lumMod val="1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21334838"/>
                  </a:ext>
                </a:extLst>
              </a:tr>
              <a:tr h="342000">
                <a:tc>
                  <a:txBody>
                    <a:bodyPr/>
                    <a:lstStyle/>
                    <a:p>
                      <a:pPr marL="0" marR="0" lvl="0" indent="0" algn="l" defTabSz="1007943" rtl="0" eaLnBrk="1" fontAlgn="auto" latinLnBrk="0" hangingPunct="1">
                        <a:lnSpc>
                          <a:spcPct val="110000"/>
                        </a:lnSpc>
                        <a:spcBef>
                          <a:spcPts val="0"/>
                        </a:spcBef>
                        <a:spcAft>
                          <a:spcPts val="0"/>
                        </a:spcAft>
                        <a:buClrTx/>
                        <a:buSzTx/>
                        <a:buFontTx/>
                        <a:buNone/>
                        <a:tabLst/>
                        <a:defRPr/>
                      </a:pPr>
                      <a:r>
                        <a:rPr kumimoji="1" lang="en-US" altLang="ja-JP" sz="1200" b="1" kern="1200" spc="50" baseline="0" dirty="0">
                          <a:solidFill>
                            <a:schemeClr val="tx1"/>
                          </a:solidFill>
                          <a:latin typeface="+mn-lt"/>
                          <a:ea typeface="+mn-ea"/>
                          <a:cs typeface="+mn-cs"/>
                        </a:rPr>
                        <a:t>2</a:t>
                      </a:r>
                      <a:r>
                        <a:rPr kumimoji="1" lang="ja-JP" altLang="en-US" sz="1200" b="1" kern="1200" spc="50" baseline="0" dirty="0">
                          <a:solidFill>
                            <a:schemeClr val="tx1"/>
                          </a:solidFill>
                          <a:latin typeface="+mn-lt"/>
                          <a:ea typeface="+mn-ea"/>
                          <a:cs typeface="+mn-cs"/>
                        </a:rPr>
                        <a:t>億円超　</a:t>
                      </a:r>
                      <a:r>
                        <a:rPr kumimoji="1" lang="en-US" altLang="ja-JP" sz="1200" b="1" kern="1200" spc="50" baseline="0" dirty="0">
                          <a:solidFill>
                            <a:schemeClr val="tx1"/>
                          </a:solidFill>
                          <a:latin typeface="+mn-lt"/>
                          <a:ea typeface="+mn-ea"/>
                          <a:cs typeface="+mn-cs"/>
                        </a:rPr>
                        <a:t>5</a:t>
                      </a:r>
                      <a:r>
                        <a:rPr kumimoji="1" lang="ja-JP" altLang="en-US" sz="1200" b="1" kern="1200" spc="50" baseline="0" dirty="0">
                          <a:solidFill>
                            <a:schemeClr val="tx1"/>
                          </a:solidFill>
                          <a:latin typeface="+mn-lt"/>
                          <a:ea typeface="+mn-ea"/>
                          <a:cs typeface="+mn-cs"/>
                        </a:rPr>
                        <a:t>億円以下の部分</a:t>
                      </a:r>
                    </a:p>
                  </a:txBody>
                  <a:tcPr marL="288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accent2">
                          <a:lumMod val="10000"/>
                        </a:schemeClr>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nSpc>
                          <a:spcPct val="110000"/>
                        </a:lnSpc>
                      </a:pPr>
                      <a:r>
                        <a:rPr kumimoji="1" lang="en-US" altLang="ja-JP" sz="1800" b="1" spc="50" baseline="0" dirty="0">
                          <a:solidFill>
                            <a:schemeClr val="tx1"/>
                          </a:solidFill>
                          <a:latin typeface="+mn-lt"/>
                          <a:ea typeface="+mn-ea"/>
                        </a:rPr>
                        <a:t>5</a:t>
                      </a:r>
                      <a:r>
                        <a:rPr kumimoji="1" lang="ja-JP" altLang="en-US" sz="1100" b="0" spc="50" baseline="0" dirty="0">
                          <a:solidFill>
                            <a:schemeClr val="tx1"/>
                          </a:solidFill>
                          <a:latin typeface="+mn-lt"/>
                          <a:ea typeface="+mn-ea"/>
                        </a:rPr>
                        <a:t>％</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accent2">
                          <a:lumMod val="10000"/>
                        </a:schemeClr>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0064655"/>
                  </a:ext>
                </a:extLst>
              </a:tr>
              <a:tr h="342000">
                <a:tc>
                  <a:txBody>
                    <a:bodyPr/>
                    <a:lstStyle/>
                    <a:p>
                      <a:pPr algn="l">
                        <a:lnSpc>
                          <a:spcPct val="110000"/>
                        </a:lnSpc>
                      </a:pPr>
                      <a:r>
                        <a:rPr kumimoji="1" lang="en-US" altLang="ja-JP" sz="1200" b="1" spc="50" baseline="0" dirty="0">
                          <a:latin typeface="+mj-lt"/>
                          <a:ea typeface="+mj-ea"/>
                        </a:rPr>
                        <a:t>5</a:t>
                      </a:r>
                      <a:r>
                        <a:rPr kumimoji="1" lang="ja-JP" altLang="en-US" sz="1200" b="1" spc="50" baseline="0" dirty="0">
                          <a:latin typeface="+mj-lt"/>
                          <a:ea typeface="+mj-ea"/>
                        </a:rPr>
                        <a:t>億円超　</a:t>
                      </a:r>
                      <a:r>
                        <a:rPr kumimoji="1" lang="en-US" altLang="ja-JP" sz="1200" b="1" spc="50" baseline="0" dirty="0">
                          <a:latin typeface="+mj-lt"/>
                          <a:ea typeface="+mj-ea"/>
                        </a:rPr>
                        <a:t>10</a:t>
                      </a:r>
                      <a:r>
                        <a:rPr kumimoji="1" lang="ja-JP" altLang="en-US" sz="1200" b="1" spc="50" baseline="0" dirty="0">
                          <a:latin typeface="+mj-lt"/>
                          <a:ea typeface="+mj-ea"/>
                        </a:rPr>
                        <a:t>億円以下の部分</a:t>
                      </a:r>
                    </a:p>
                  </a:txBody>
                  <a:tcPr marL="288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497504" rtl="0" eaLnBrk="1" fontAlgn="auto" latinLnBrk="0" hangingPunct="1">
                        <a:lnSpc>
                          <a:spcPct val="110000"/>
                        </a:lnSpc>
                        <a:spcBef>
                          <a:spcPts val="0"/>
                        </a:spcBef>
                        <a:spcAft>
                          <a:spcPts val="0"/>
                        </a:spcAft>
                        <a:buClrTx/>
                        <a:buSzTx/>
                        <a:buFontTx/>
                        <a:buNone/>
                        <a:tabLst/>
                        <a:defRPr/>
                      </a:pPr>
                      <a:r>
                        <a:rPr kumimoji="1" lang="en-US" altLang="ja-JP" sz="1800" b="1" spc="50" baseline="0" dirty="0">
                          <a:solidFill>
                            <a:schemeClr val="tx1"/>
                          </a:solidFill>
                          <a:latin typeface="+mn-lt"/>
                          <a:ea typeface="+mn-ea"/>
                        </a:rPr>
                        <a:t>4</a:t>
                      </a:r>
                      <a:r>
                        <a:rPr kumimoji="1" lang="ja-JP" altLang="en-US" sz="1100" b="0" spc="50" baseline="0" dirty="0">
                          <a:solidFill>
                            <a:schemeClr val="tx1"/>
                          </a:solidFill>
                          <a:latin typeface="+mn-lt"/>
                          <a:ea typeface="+mn-ea"/>
                        </a:rPr>
                        <a:t>％</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45221436"/>
                  </a:ext>
                </a:extLst>
              </a:tr>
              <a:tr h="342000">
                <a:tc>
                  <a:txBody>
                    <a:bodyPr/>
                    <a:lstStyle/>
                    <a:p>
                      <a:pPr algn="l">
                        <a:lnSpc>
                          <a:spcPct val="110000"/>
                        </a:lnSpc>
                      </a:pPr>
                      <a:r>
                        <a:rPr kumimoji="1" lang="en-US" altLang="ja-JP" sz="1200" b="1" spc="50" baseline="0" dirty="0">
                          <a:latin typeface="+mj-lt"/>
                          <a:ea typeface="+mj-ea"/>
                        </a:rPr>
                        <a:t>10</a:t>
                      </a:r>
                      <a:r>
                        <a:rPr kumimoji="1" lang="ja-JP" altLang="en-US" sz="1200" b="1" spc="50" baseline="0" dirty="0">
                          <a:latin typeface="+mj-lt"/>
                          <a:ea typeface="+mj-ea"/>
                        </a:rPr>
                        <a:t>億円超　</a:t>
                      </a:r>
                      <a:r>
                        <a:rPr kumimoji="1" lang="en-US" altLang="ja-JP" sz="1200" b="1" spc="50" baseline="0" dirty="0">
                          <a:latin typeface="+mj-lt"/>
                          <a:ea typeface="+mj-ea"/>
                        </a:rPr>
                        <a:t>50</a:t>
                      </a:r>
                      <a:r>
                        <a:rPr kumimoji="1" lang="ja-JP" altLang="en-US" sz="1200" b="1" spc="50" baseline="0" dirty="0">
                          <a:latin typeface="+mj-lt"/>
                          <a:ea typeface="+mj-ea"/>
                        </a:rPr>
                        <a:t>億円以下の部分</a:t>
                      </a:r>
                    </a:p>
                  </a:txBody>
                  <a:tcPr marL="288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497504" rtl="0" eaLnBrk="1" fontAlgn="auto" latinLnBrk="0" hangingPunct="1">
                        <a:lnSpc>
                          <a:spcPct val="110000"/>
                        </a:lnSpc>
                        <a:spcBef>
                          <a:spcPts val="0"/>
                        </a:spcBef>
                        <a:spcAft>
                          <a:spcPts val="0"/>
                        </a:spcAft>
                        <a:buClrTx/>
                        <a:buSzTx/>
                        <a:buFontTx/>
                        <a:buNone/>
                        <a:tabLst/>
                        <a:defRPr/>
                      </a:pPr>
                      <a:r>
                        <a:rPr kumimoji="1" lang="en-US" altLang="ja-JP" sz="1800" b="1" spc="50" baseline="0" dirty="0">
                          <a:solidFill>
                            <a:schemeClr val="tx1"/>
                          </a:solidFill>
                          <a:latin typeface="+mn-lt"/>
                          <a:ea typeface="+mn-ea"/>
                        </a:rPr>
                        <a:t>3</a:t>
                      </a:r>
                      <a:r>
                        <a:rPr kumimoji="1" lang="ja-JP" altLang="en-US" sz="1100" b="0" spc="50" baseline="0" dirty="0">
                          <a:solidFill>
                            <a:schemeClr val="tx1"/>
                          </a:solidFill>
                          <a:latin typeface="+mn-lt"/>
                          <a:ea typeface="+mn-ea"/>
                        </a:rPr>
                        <a:t>％</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54929017"/>
                  </a:ext>
                </a:extLst>
              </a:tr>
              <a:tr h="342000">
                <a:tc>
                  <a:txBody>
                    <a:bodyPr/>
                    <a:lstStyle/>
                    <a:p>
                      <a:pPr marL="0" marR="0" lvl="0" indent="0" algn="l" defTabSz="497504" rtl="0" eaLnBrk="1" fontAlgn="auto" latinLnBrk="0" hangingPunct="1">
                        <a:lnSpc>
                          <a:spcPct val="110000"/>
                        </a:lnSpc>
                        <a:spcBef>
                          <a:spcPts val="0"/>
                        </a:spcBef>
                        <a:spcAft>
                          <a:spcPts val="0"/>
                        </a:spcAft>
                        <a:buClrTx/>
                        <a:buSzTx/>
                        <a:buFontTx/>
                        <a:buNone/>
                        <a:tabLst/>
                        <a:defRPr/>
                      </a:pPr>
                      <a:r>
                        <a:rPr kumimoji="1" lang="en-US" altLang="ja-JP" sz="1200" b="1" spc="50" baseline="0" dirty="0">
                          <a:latin typeface="+mj-lt"/>
                          <a:ea typeface="+mj-ea"/>
                        </a:rPr>
                        <a:t>50</a:t>
                      </a:r>
                      <a:r>
                        <a:rPr kumimoji="1" lang="ja-JP" altLang="en-US" sz="1200" b="1" spc="50" baseline="0" dirty="0">
                          <a:latin typeface="+mj-lt"/>
                          <a:ea typeface="+mj-ea"/>
                        </a:rPr>
                        <a:t>億円超　</a:t>
                      </a:r>
                      <a:r>
                        <a:rPr kumimoji="1" lang="en-US" altLang="ja-JP" sz="1200" b="1" spc="50" baseline="0" dirty="0">
                          <a:latin typeface="+mj-lt"/>
                          <a:ea typeface="+mj-ea"/>
                        </a:rPr>
                        <a:t>100</a:t>
                      </a:r>
                      <a:r>
                        <a:rPr kumimoji="1" lang="ja-JP" altLang="en-US" sz="1200" b="1" spc="50" baseline="0" dirty="0">
                          <a:latin typeface="+mj-lt"/>
                          <a:ea typeface="+mj-ea"/>
                        </a:rPr>
                        <a:t>億円以下の部分</a:t>
                      </a:r>
                    </a:p>
                  </a:txBody>
                  <a:tcPr marL="288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497504" rtl="0" eaLnBrk="1" fontAlgn="auto" latinLnBrk="0" hangingPunct="1">
                        <a:lnSpc>
                          <a:spcPct val="110000"/>
                        </a:lnSpc>
                        <a:spcBef>
                          <a:spcPts val="0"/>
                        </a:spcBef>
                        <a:spcAft>
                          <a:spcPts val="0"/>
                        </a:spcAft>
                        <a:buClrTx/>
                        <a:buSzTx/>
                        <a:buFontTx/>
                        <a:buNone/>
                        <a:tabLst/>
                        <a:defRPr/>
                      </a:pPr>
                      <a:r>
                        <a:rPr kumimoji="1" lang="en-US" altLang="ja-JP" sz="1800" b="1" spc="50" baseline="0" dirty="0">
                          <a:solidFill>
                            <a:schemeClr val="tx1"/>
                          </a:solidFill>
                          <a:latin typeface="+mn-lt"/>
                          <a:ea typeface="+mn-ea"/>
                        </a:rPr>
                        <a:t>2</a:t>
                      </a:r>
                      <a:r>
                        <a:rPr kumimoji="1" lang="ja-JP" altLang="en-US" sz="1100" b="0" spc="50" baseline="0" dirty="0">
                          <a:solidFill>
                            <a:schemeClr val="tx1"/>
                          </a:solidFill>
                          <a:latin typeface="+mn-lt"/>
                          <a:ea typeface="+mn-ea"/>
                        </a:rPr>
                        <a:t>％</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96813135"/>
                  </a:ext>
                </a:extLst>
              </a:tr>
              <a:tr h="342000">
                <a:tc>
                  <a:txBody>
                    <a:bodyPr/>
                    <a:lstStyle/>
                    <a:p>
                      <a:pPr algn="l">
                        <a:lnSpc>
                          <a:spcPct val="110000"/>
                        </a:lnSpc>
                      </a:pPr>
                      <a:r>
                        <a:rPr kumimoji="1" lang="en-US" altLang="ja-JP" sz="1200" b="1" spc="50" baseline="0" dirty="0">
                          <a:latin typeface="+mj-lt"/>
                          <a:ea typeface="+mj-ea"/>
                        </a:rPr>
                        <a:t>100</a:t>
                      </a:r>
                      <a:r>
                        <a:rPr kumimoji="1" lang="ja-JP" altLang="en-US" sz="1200" b="1" spc="50" baseline="0" dirty="0">
                          <a:latin typeface="+mj-lt"/>
                          <a:ea typeface="+mj-ea"/>
                        </a:rPr>
                        <a:t>億円超の部分</a:t>
                      </a:r>
                    </a:p>
                  </a:txBody>
                  <a:tcPr marL="288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497504" rtl="0" eaLnBrk="1" fontAlgn="auto" latinLnBrk="0" hangingPunct="1">
                        <a:lnSpc>
                          <a:spcPct val="110000"/>
                        </a:lnSpc>
                        <a:spcBef>
                          <a:spcPts val="0"/>
                        </a:spcBef>
                        <a:spcAft>
                          <a:spcPts val="0"/>
                        </a:spcAft>
                        <a:buClrTx/>
                        <a:buSzTx/>
                        <a:buFontTx/>
                        <a:buNone/>
                        <a:tabLst/>
                        <a:defRPr/>
                      </a:pPr>
                      <a:r>
                        <a:rPr kumimoji="1" lang="en-US" altLang="ja-JP" sz="1800" b="1" spc="50" baseline="0" dirty="0">
                          <a:solidFill>
                            <a:schemeClr val="tx1"/>
                          </a:solidFill>
                          <a:latin typeface="+mn-lt"/>
                          <a:ea typeface="+mn-ea"/>
                        </a:rPr>
                        <a:t>1</a:t>
                      </a:r>
                      <a:r>
                        <a:rPr kumimoji="1" lang="ja-JP" altLang="en-US" sz="1100" b="0" spc="50" baseline="0" dirty="0">
                          <a:solidFill>
                            <a:schemeClr val="tx1"/>
                          </a:solidFill>
                          <a:latin typeface="+mn-lt"/>
                          <a:ea typeface="+mn-ea"/>
                        </a:rPr>
                        <a:t>％</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50759054"/>
                  </a:ext>
                </a:extLst>
              </a:tr>
            </a:tbl>
          </a:graphicData>
        </a:graphic>
      </p:graphicFrame>
      <p:sp>
        <p:nvSpPr>
          <p:cNvPr id="3" name="テキスト ボックス 2">
            <a:extLst>
              <a:ext uri="{FF2B5EF4-FFF2-40B4-BE49-F238E27FC236}">
                <a16:creationId xmlns:a16="http://schemas.microsoft.com/office/drawing/2014/main" id="{08F1693B-FFF1-ED80-7351-7BBDED97C92F}"/>
              </a:ext>
            </a:extLst>
          </p:cNvPr>
          <p:cNvSpPr txBox="1"/>
          <p:nvPr/>
        </p:nvSpPr>
        <p:spPr>
          <a:xfrm>
            <a:off x="8985126" y="2145278"/>
            <a:ext cx="788036" cy="209545"/>
          </a:xfrm>
          <a:prstGeom prst="rect">
            <a:avLst/>
          </a:prstGeom>
          <a:noFill/>
        </p:spPr>
        <p:txBody>
          <a:bodyPr wrap="none" lIns="0" tIns="0" rIns="0" bIns="0" rtlCol="0">
            <a:spAutoFit/>
          </a:bodyPr>
          <a:lstStyle/>
          <a:p>
            <a:pPr algn="ctr">
              <a:lnSpc>
                <a:spcPct val="120000"/>
              </a:lnSpc>
              <a:buClr>
                <a:schemeClr val="tx2"/>
              </a:buClr>
              <a:buSzPct val="80000"/>
            </a:pPr>
            <a:r>
              <a:rPr lang="en-US" altLang="ja-JP" sz="1200" spc="70" dirty="0">
                <a:latin typeface="+mj-ea"/>
                <a:ea typeface="+mj-ea"/>
              </a:rPr>
              <a:t>(</a:t>
            </a:r>
            <a:r>
              <a:rPr lang="ja-JP" altLang="en-US" sz="1200" spc="70" dirty="0">
                <a:latin typeface="+mj-ea"/>
                <a:ea typeface="+mj-ea"/>
              </a:rPr>
              <a:t>消費税別</a:t>
            </a:r>
            <a:r>
              <a:rPr lang="en-US" altLang="ja-JP" sz="1200" spc="70" dirty="0">
                <a:latin typeface="+mj-ea"/>
                <a:ea typeface="+mj-ea"/>
              </a:rPr>
              <a:t>)</a:t>
            </a:r>
            <a:endParaRPr lang="ja-JP" altLang="en-US" sz="1200" spc="70" dirty="0">
              <a:latin typeface="+mj-ea"/>
              <a:ea typeface="+mj-ea"/>
            </a:endParaRPr>
          </a:p>
        </p:txBody>
      </p:sp>
      <p:sp>
        <p:nvSpPr>
          <p:cNvPr id="4" name="正方形/長方形 3">
            <a:extLst>
              <a:ext uri="{FF2B5EF4-FFF2-40B4-BE49-F238E27FC236}">
                <a16:creationId xmlns:a16="http://schemas.microsoft.com/office/drawing/2014/main" id="{021EBBB3-E8D6-A883-4081-72409664F3A2}"/>
              </a:ext>
            </a:extLst>
          </p:cNvPr>
          <p:cNvSpPr/>
          <p:nvPr/>
        </p:nvSpPr>
        <p:spPr>
          <a:xfrm>
            <a:off x="449264" y="5224403"/>
            <a:ext cx="3816000" cy="186218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0" rtlCol="0" anchor="t"/>
          <a:lstStyle/>
          <a:p>
            <a:pPr algn="ctr">
              <a:buClr>
                <a:schemeClr val="tx2"/>
              </a:buClr>
              <a:buSzPct val="80000"/>
            </a:pPr>
            <a:r>
              <a:rPr kumimoji="1" lang="ja-JP" altLang="en-US" sz="1800" b="1" spc="110" dirty="0">
                <a:solidFill>
                  <a:schemeClr val="tx1"/>
                </a:solidFill>
                <a:latin typeface="+mj-ea"/>
                <a:ea typeface="+mj-ea"/>
              </a:rPr>
              <a:t>中間報酬</a:t>
            </a:r>
            <a:r>
              <a:rPr kumimoji="1" lang="en-US" altLang="ja-JP" sz="1800" spc="110" baseline="30000" dirty="0">
                <a:solidFill>
                  <a:schemeClr val="tx1"/>
                </a:solidFill>
                <a:latin typeface="+mj-ea"/>
                <a:ea typeface="+mj-ea"/>
              </a:rPr>
              <a:t>※1</a:t>
            </a:r>
            <a:r>
              <a:rPr kumimoji="1" lang="ja-JP" altLang="en-US" sz="1800" b="1" spc="110" dirty="0">
                <a:solidFill>
                  <a:schemeClr val="tx1"/>
                </a:solidFill>
                <a:latin typeface="+mj-ea"/>
                <a:ea typeface="+mj-ea"/>
              </a:rPr>
              <a:t>の算定方法</a:t>
            </a:r>
          </a:p>
        </p:txBody>
      </p:sp>
      <p:sp>
        <p:nvSpPr>
          <p:cNvPr id="5" name="正方形/長方形 4">
            <a:extLst>
              <a:ext uri="{FF2B5EF4-FFF2-40B4-BE49-F238E27FC236}">
                <a16:creationId xmlns:a16="http://schemas.microsoft.com/office/drawing/2014/main" id="{0A844F69-2E35-9611-A4E1-15256E6FA8E2}"/>
              </a:ext>
            </a:extLst>
          </p:cNvPr>
          <p:cNvSpPr/>
          <p:nvPr/>
        </p:nvSpPr>
        <p:spPr>
          <a:xfrm>
            <a:off x="615951" y="5812442"/>
            <a:ext cx="3482623" cy="916330"/>
          </a:xfrm>
          <a:prstGeom prst="rect">
            <a:avLst/>
          </a:prstGeom>
          <a:solidFill>
            <a:schemeClr val="bg1"/>
          </a:solidFill>
          <a:ln w="127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r>
              <a:rPr kumimoji="1" lang="ja-JP" altLang="en-US" sz="1600" b="1" spc="30" dirty="0">
                <a:solidFill>
                  <a:schemeClr val="tx1"/>
                </a:solidFill>
                <a:latin typeface="+mj-ea"/>
                <a:ea typeface="+mj-ea"/>
              </a:rPr>
              <a:t>成功報酬の</a:t>
            </a:r>
            <a:r>
              <a:rPr kumimoji="1" lang="en-US" altLang="ja-JP" sz="1600" b="1" spc="30" dirty="0">
                <a:solidFill>
                  <a:schemeClr val="tx1"/>
                </a:solidFill>
                <a:latin typeface="+mj-ea"/>
                <a:ea typeface="+mj-ea"/>
              </a:rPr>
              <a:t>10</a:t>
            </a:r>
            <a:r>
              <a:rPr kumimoji="1" lang="ja-JP" altLang="en-US" sz="1600" b="1" spc="30" dirty="0">
                <a:solidFill>
                  <a:schemeClr val="tx1"/>
                </a:solidFill>
                <a:latin typeface="+mj-ea"/>
                <a:ea typeface="+mj-ea"/>
              </a:rPr>
              <a:t>％</a:t>
            </a:r>
            <a:endParaRPr kumimoji="1" lang="en-US" altLang="ja-JP" sz="1600" b="1" spc="30" dirty="0">
              <a:solidFill>
                <a:schemeClr val="tx1"/>
              </a:solidFill>
              <a:latin typeface="+mj-ea"/>
              <a:ea typeface="+mj-ea"/>
            </a:endParaRPr>
          </a:p>
          <a:p>
            <a:pPr algn="ctr">
              <a:lnSpc>
                <a:spcPct val="120000"/>
              </a:lnSpc>
            </a:pPr>
            <a:r>
              <a:rPr kumimoji="1" lang="ja-JP" altLang="en-US" sz="1200" b="1" spc="30" dirty="0">
                <a:solidFill>
                  <a:schemeClr val="tx1"/>
                </a:solidFill>
                <a:latin typeface="+mj-ea"/>
                <a:ea typeface="+mj-ea"/>
              </a:rPr>
              <a:t>（但し最低額は</a:t>
            </a:r>
            <a:r>
              <a:rPr kumimoji="1" lang="en-US" altLang="ja-JP" sz="1200" b="1" spc="30" dirty="0">
                <a:solidFill>
                  <a:schemeClr val="tx1"/>
                </a:solidFill>
                <a:latin typeface="+mj-ea"/>
                <a:ea typeface="+mj-ea"/>
              </a:rPr>
              <a:t>300</a:t>
            </a:r>
            <a:r>
              <a:rPr kumimoji="1" lang="ja-JP" altLang="en-US" sz="1200" b="1" spc="30" dirty="0">
                <a:solidFill>
                  <a:schemeClr val="tx1"/>
                </a:solidFill>
                <a:latin typeface="+mj-ea"/>
                <a:ea typeface="+mj-ea"/>
              </a:rPr>
              <a:t>万円とします）</a:t>
            </a:r>
          </a:p>
        </p:txBody>
      </p:sp>
      <p:sp>
        <p:nvSpPr>
          <p:cNvPr id="8" name="正方形/長方形 7">
            <a:extLst>
              <a:ext uri="{FF2B5EF4-FFF2-40B4-BE49-F238E27FC236}">
                <a16:creationId xmlns:a16="http://schemas.microsoft.com/office/drawing/2014/main" id="{6EED8059-D8E2-0DAF-A350-928100484E14}"/>
              </a:ext>
            </a:extLst>
          </p:cNvPr>
          <p:cNvSpPr/>
          <p:nvPr/>
        </p:nvSpPr>
        <p:spPr>
          <a:xfrm>
            <a:off x="615951" y="6812925"/>
            <a:ext cx="3135474" cy="1299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spAutoFit/>
          </a:bodyPr>
          <a:lstStyle/>
          <a:p>
            <a:pPr>
              <a:lnSpc>
                <a:spcPct val="110000"/>
              </a:lnSpc>
            </a:pPr>
            <a:r>
              <a:rPr lang="en-US" altLang="ja-JP" sz="800" dirty="0">
                <a:solidFill>
                  <a:schemeClr val="tx1"/>
                </a:solidFill>
                <a:latin typeface="+mn-ea"/>
              </a:rPr>
              <a:t>※1</a:t>
            </a:r>
            <a:r>
              <a:rPr lang="ja-JP" altLang="en-US" sz="800" dirty="0">
                <a:solidFill>
                  <a:schemeClr val="tx1"/>
                </a:solidFill>
                <a:latin typeface="+mn-ea"/>
              </a:rPr>
              <a:t>　中間報酬は成約した場合、成功報酬に含め、充当いたします。</a:t>
            </a:r>
          </a:p>
        </p:txBody>
      </p:sp>
    </p:spTree>
    <p:extLst>
      <p:ext uri="{BB962C8B-B14F-4D97-AF65-F5344CB8AC3E}">
        <p14:creationId xmlns:p14="http://schemas.microsoft.com/office/powerpoint/2010/main" val="25774995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図 16" descr="背景パターン&#10;&#10;AI 生成コンテンツは誤りを含む可能性があります。">
            <a:extLst>
              <a:ext uri="{FF2B5EF4-FFF2-40B4-BE49-F238E27FC236}">
                <a16:creationId xmlns:a16="http://schemas.microsoft.com/office/drawing/2014/main" id="{38E11F1F-6089-6877-97F2-46DAB0493C33}"/>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sp>
        <p:nvSpPr>
          <p:cNvPr id="8" name="テキスト ボックス 7">
            <a:extLst>
              <a:ext uri="{FF2B5EF4-FFF2-40B4-BE49-F238E27FC236}">
                <a16:creationId xmlns:a16="http://schemas.microsoft.com/office/drawing/2014/main" id="{9DC24A9B-5E33-B3B6-B79B-2D6D5E5AF179}"/>
              </a:ext>
            </a:extLst>
          </p:cNvPr>
          <p:cNvSpPr txBox="1"/>
          <p:nvPr/>
        </p:nvSpPr>
        <p:spPr>
          <a:xfrm>
            <a:off x="2626785" y="4635223"/>
            <a:ext cx="5604098" cy="276999"/>
          </a:xfrm>
          <a:prstGeom prst="rect">
            <a:avLst/>
          </a:prstGeom>
          <a:noFill/>
        </p:spPr>
        <p:txBody>
          <a:bodyPr wrap="none" lIns="0" tIns="0" rIns="0" bIns="0" rtlCol="0">
            <a:spAutoFit/>
          </a:bodyPr>
          <a:lstStyle/>
          <a:p>
            <a:pPr algn="ctr"/>
            <a:r>
              <a:rPr lang="ja-JP" altLang="en-US" b="1" spc="100" dirty="0">
                <a:latin typeface="+mj-ea"/>
                <a:ea typeface="+mj-ea"/>
              </a:rPr>
              <a:t>企業価値の最大化を通じて、経済に正しい循環を。</a:t>
            </a:r>
          </a:p>
        </p:txBody>
      </p:sp>
      <p:pic>
        <p:nvPicPr>
          <p:cNvPr id="4" name="グラフィックス 3">
            <a:extLst>
              <a:ext uri="{FF2B5EF4-FFF2-40B4-BE49-F238E27FC236}">
                <a16:creationId xmlns:a16="http://schemas.microsoft.com/office/drawing/2014/main" id="{549C4F39-0611-3D63-A333-95F8642EF8D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518588" y="3080873"/>
            <a:ext cx="5502236" cy="1090632"/>
          </a:xfrm>
          <a:prstGeom prst="rect">
            <a:avLst/>
          </a:prstGeom>
        </p:spPr>
      </p:pic>
    </p:spTree>
    <p:extLst>
      <p:ext uri="{BB962C8B-B14F-4D97-AF65-F5344CB8AC3E}">
        <p14:creationId xmlns:p14="http://schemas.microsoft.com/office/powerpoint/2010/main" val="3135229745"/>
      </p:ext>
    </p:extLst>
  </p:cSld>
  <p:clrMapOvr>
    <a:masterClrMapping/>
  </p:clrMapOvr>
</p:sld>
</file>

<file path=ppt/theme/theme1.xml><?xml version="1.0" encoding="utf-8"?>
<a:theme xmlns:a="http://schemas.openxmlformats.org/drawingml/2006/main" name="SL_2026">
  <a:themeElements>
    <a:clrScheme name="M&amp;A">
      <a:dk1>
        <a:srgbClr val="000000"/>
      </a:dk1>
      <a:lt1>
        <a:srgbClr val="FFFFFF"/>
      </a:lt1>
      <a:dk2>
        <a:srgbClr val="0B3041"/>
      </a:dk2>
      <a:lt2>
        <a:srgbClr val="E3E7E9"/>
      </a:lt2>
      <a:accent1>
        <a:srgbClr val="727F88"/>
      </a:accent1>
      <a:accent2>
        <a:srgbClr val="E1F3FB"/>
      </a:accent2>
      <a:accent3>
        <a:srgbClr val="54CCB3"/>
      </a:accent3>
      <a:accent4>
        <a:srgbClr val="0889C9"/>
      </a:accent4>
      <a:accent5>
        <a:srgbClr val="FFFFFF"/>
      </a:accent5>
      <a:accent6>
        <a:srgbClr val="FFFFFF"/>
      </a:accent6>
      <a:hlink>
        <a:srgbClr val="FFFFFF"/>
      </a:hlink>
      <a:folHlink>
        <a:srgbClr val="FFFFFF"/>
      </a:folHlink>
    </a:clrScheme>
    <a:fontScheme name="游ゴシック&amp;Arial">
      <a:majorFont>
        <a:latin typeface="Arial"/>
        <a:ea typeface="游ゴシック"/>
        <a:cs typeface=""/>
      </a:majorFont>
      <a:minorFont>
        <a:latin typeface="Arial"/>
        <a:ea typeface="游ゴシック Medium"/>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7717</TotalTime>
  <Words>3079</Words>
  <Application>Microsoft Office PowerPoint</Application>
  <PresentationFormat>ユーザー設定</PresentationFormat>
  <Paragraphs>384</Paragraphs>
  <Slides>36</Slides>
  <Notes>30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36</vt:i4>
      </vt:variant>
    </vt:vector>
  </HeadingPairs>
  <TitlesOfParts>
    <vt:vector size="40" baseType="lpstr">
      <vt:lpstr>游ゴシック</vt:lpstr>
      <vt:lpstr>Arial</vt:lpstr>
      <vt:lpstr>Wingdings</vt:lpstr>
      <vt:lpstr>SL_2026</vt:lpstr>
      <vt:lpstr>企業概要書 &lt;●●業/●●地区&gt;　</vt:lpstr>
      <vt:lpstr>はじめに</vt:lpstr>
      <vt:lpstr>PowerPoint プレゼンテーション</vt:lpstr>
      <vt:lpstr>エグゼクティブサマリー</vt:lpstr>
      <vt:lpstr>基本情報</vt:lpstr>
      <vt:lpstr>財務ハイライト（P/L）</vt:lpstr>
      <vt:lpstr>財務ハイライト（B/S）</vt:lpstr>
      <vt:lpstr>譲渡希望条件</vt:lpstr>
      <vt:lpstr>事業概要</vt:lpstr>
      <vt:lpstr>事業内容</vt:lpstr>
      <vt:lpstr>サービス概要、製品一例、工事実績、など</vt:lpstr>
      <vt:lpstr>特徴、強み、成長性等</vt:lpstr>
      <vt:lpstr>●●別売上高</vt:lpstr>
      <vt:lpstr>仕入先別取引高</vt:lpstr>
      <vt:lpstr>外注費</vt:lpstr>
      <vt:lpstr>組織、拠点、設備等</vt:lpstr>
      <vt:lpstr>組織図</vt:lpstr>
      <vt:lpstr>株主及び役員</vt:lpstr>
      <vt:lpstr>従業員</vt:lpstr>
      <vt:lpstr>拠点概要（本社）</vt:lpstr>
      <vt:lpstr>拠点概要（●●工場）</vt:lpstr>
      <vt:lpstr>不動産詳細</vt:lpstr>
      <vt:lpstr>保有設備一覧</vt:lpstr>
      <vt:lpstr>財務情報詳細</vt:lpstr>
      <vt:lpstr>貸借対照表</vt:lpstr>
      <vt:lpstr>損益計算書</vt:lpstr>
      <vt:lpstr>製造原価報告書</vt:lpstr>
      <vt:lpstr>販売費及び一般管理費</vt:lpstr>
      <vt:lpstr>Appendix</vt:lpstr>
      <vt:lpstr>沿革</vt:lpstr>
      <vt:lpstr>代表者経歴</vt:lpstr>
      <vt:lpstr>事業計画</vt:lpstr>
      <vt:lpstr>今期予算</vt:lpstr>
      <vt:lpstr>その他補足情報</vt:lpstr>
      <vt:lpstr>報酬体系</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宮本 健</dc:creator>
  <cp:lastModifiedBy>越智 真也</cp:lastModifiedBy>
  <cp:revision>176</cp:revision>
  <cp:lastPrinted>2025-10-23T01:12:16Z</cp:lastPrinted>
  <dcterms:created xsi:type="dcterms:W3CDTF">2022-11-09T11:25:01Z</dcterms:created>
  <dcterms:modified xsi:type="dcterms:W3CDTF">2026-02-10T11:59:22Z</dcterms:modified>
</cp:coreProperties>
</file>