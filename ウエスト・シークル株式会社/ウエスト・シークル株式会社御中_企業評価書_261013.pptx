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45"/>
  </p:notesMasterIdLst>
  <p:sldIdLst>
    <p:sldId id="256" r:id="rId2"/>
    <p:sldId id="257" r:id="rId3"/>
    <p:sldId id="290" r:id="rId4"/>
    <p:sldId id="294" r:id="rId5"/>
    <p:sldId id="259" r:id="rId6"/>
    <p:sldId id="260" r:id="rId7"/>
    <p:sldId id="261" r:id="rId10"/>
    <p:sldId id="262" r:id="rId13"/>
    <p:sldId id="263" r:id="rId14"/>
    <p:sldId id="264" r:id="rId15"/>
    <p:sldId id="265" r:id="rId16"/>
    <p:sldId id="266" r:id="rId17"/>
    <p:sldId id="278" r:id="rId18"/>
    <p:sldId id="279" r:id="rId19"/>
    <p:sldId id="280" r:id="rId20"/>
    <p:sldId id="281" r:id="rId21"/>
    <p:sldId id="309" r:id="rId22"/>
    <p:sldId id="310" r:id="rId23"/>
    <p:sldId id="282" r:id="rId24"/>
    <p:sldId id="283" r:id="rId25"/>
    <p:sldId id="297" r:id="rId26"/>
    <p:sldId id="299" r:id="rId28"/>
    <p:sldId id="287" r:id="rId29"/>
    <p:sldId id="308" r:id="rId30"/>
    <p:sldId id="312" r:id="rId31"/>
    <p:sldId id="270" r:id="rId33"/>
    <p:sldId id="269" r:id="rId34"/>
    <p:sldId id="301" r:id="rId35"/>
    <p:sldId id="293" r:id="rId36"/>
    <p:sldId id="271" r:id="rId37"/>
    <p:sldId id="274" r:id="rId38"/>
    <p:sldId id="302" r:id="rId39"/>
    <p:sldId id="276" r:id="rId40"/>
    <p:sldId id="303" r:id="rId41"/>
    <p:sldId id="267" r:id="rId42"/>
    <p:sldId id="304" r:id="rId43"/>
    <p:sldId id="277" r:id="rId44"/>
  </p:sldIdLst>
  <p:sldSz cx="10691813"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00" autoAdjust="0"/>
    <p:restoredTop sz="75000" autoAdjust="0"/>
  </p:normalViewPr>
  <p:slideViewPr>
    <p:cSldViewPr snapToGrid="0">
      <p:cViewPr varScale="1">
        <p:scale>
          <a:sx n="87" d="100"/>
          <a:sy n="87" d="100"/>
        </p:scale>
        <p:origin x="1200" y="58"/>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9.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spPr>
            <a:solidFill>
              <a:schemeClr val="accent1"/>
            </a:solidFill>
            <a:ln>
              <a:noFill/>
            </a:ln>
            <a:effectLst/>
          </c:spPr>
          <c:invertIfNegative val="0"/>
          <c:val>
            <c:numLit>
              <c:formatCode>#,##0,</c:formatCode>
              <c:ptCount val="3"/>
              <c:pt idx="0">
                <c:v>0</c:v>
              </c:pt>
              <c:pt idx="1">
                <c:v>0</c:v>
              </c:pt>
              <c:pt idx="2">
                <c:v>0</c:v>
              </c:pt>
            </c:numLit>
          </c:val>
          <c:extLst>
            <c:ext xmlns:c16="http://schemas.microsoft.com/office/drawing/2014/chart" uri="{C3380CC4-5D6E-409C-BE32-E72D297353CC}">
              <c16:uniqueId val="{00000000-A8B8-4190-8ABD-86E73C422CFA}"/>
            </c:ext>
          </c:extLst>
        </c:ser>
        <c:ser>
          <c:idx val="1"/>
          <c:order val="1"/>
          <c:spPr>
            <a:noFill/>
            <a:ln>
              <a:noFill/>
            </a:ln>
            <a:effectLst/>
          </c:spPr>
          <c:invertIfNegative val="0"/>
          <c:val>
            <c:numLit>
              <c:formatCode>#,##0,</c:formatCode>
              <c:ptCount val="3"/>
              <c:pt idx="0">
                <c:v>315002051</c:v>
              </c:pt>
              <c:pt idx="1">
                <c:v>0</c:v>
              </c:pt>
              <c:pt idx="2">
                <c:v>0</c:v>
              </c:pt>
            </c:numLit>
          </c:val>
          <c:extLst>
            <c:ext xmlns:c16="http://schemas.microsoft.com/office/drawing/2014/chart" uri="{C3380CC4-5D6E-409C-BE32-E72D297353CC}">
              <c16:uniqueId val="{00000001-A8B8-4190-8ABD-86E73C422CFA}"/>
            </c:ext>
          </c:extLst>
        </c:ser>
        <c:ser>
          <c:idx val="2"/>
          <c:order val="2"/>
          <c:spPr>
            <a:solidFill>
              <a:schemeClr val="accent4"/>
            </a:solidFill>
            <a:ln>
              <a:noFill/>
            </a:ln>
            <a:effectLst/>
          </c:spPr>
          <c:invertIfNegative val="0"/>
          <c:val>
            <c:numLit>
              <c:formatCode>#,##0,</c:formatCode>
              <c:ptCount val="3"/>
              <c:pt idx="0">
                <c:v>10000000</c:v>
              </c:pt>
              <c:pt idx="1">
                <c:v>0</c:v>
              </c:pt>
              <c:pt idx="2">
                <c:v>0</c:v>
              </c:pt>
            </c:numLit>
          </c:val>
          <c:extLst>
            <c:ext xmlns:c16="http://schemas.microsoft.com/office/drawing/2014/chart" uri="{C3380CC4-5D6E-409C-BE32-E72D297353CC}">
              <c16:uniqueId val="{00000002-A8B8-4190-8ABD-86E73C422CFA}"/>
            </c:ext>
          </c:extLst>
        </c:ser>
        <c:dLbls>
          <c:showLegendKey val="0"/>
          <c:showVal val="0"/>
          <c:showCatName val="0"/>
          <c:showSerName val="0"/>
          <c:showPercent val="0"/>
          <c:showBubbleSize val="0"/>
        </c:dLbls>
        <c:gapWidth val="100"/>
        <c:overlap val="100"/>
        <c:axId val="1622222719"/>
        <c:axId val="1622220319"/>
      </c:barChart>
      <c:catAx>
        <c:axId val="1622222719"/>
        <c:scaling>
          <c:orientation val="maxMin"/>
        </c:scaling>
        <c:delete val="0"/>
        <c:axPos val="l"/>
        <c:majorTickMark val="none"/>
        <c:minorTickMark val="none"/>
        <c:tickLblPos val="none"/>
        <c:spPr>
          <a:noFill/>
          <a:ln w="9525" cap="flat" cmpd="sng" algn="ctr">
            <a:solidFill>
              <a:srgbClr val="0B304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622220319"/>
        <c:crosses val="autoZero"/>
        <c:auto val="1"/>
        <c:lblAlgn val="ctr"/>
        <c:lblOffset val="100"/>
        <c:noMultiLvlLbl val="0"/>
      </c:catAx>
      <c:valAx>
        <c:axId val="1622220319"/>
        <c:scaling>
          <c:orientation val="minMax"/>
          <c:max val="600000000"/>
          <c:min val="0"/>
        </c:scaling>
        <c:delete val="0"/>
        <c:axPos val="t"/>
        <c:majorGridlines>
          <c:spPr>
            <a:ln w="9525" cap="flat" cmpd="sng" algn="ctr">
              <a:solidFill>
                <a:srgbClr val="0B3041"/>
              </a:solidFill>
              <a:round/>
            </a:ln>
            <a:effectLst/>
          </c:spPr>
        </c:majorGridlines>
        <c:numFmt formatCode="#,##0," sourceLinked="0"/>
        <c:majorTickMark val="none"/>
        <c:minorTickMark val="none"/>
        <c:tickLblPos val="high"/>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622222719"/>
        <c:crosses val="autoZero"/>
        <c:crossBetween val="between"/>
        <c:majorUnit val="10000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ja-JP"/>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2026/2/9</a:t>
            </a:fld>
            <a:endParaRPr kumimoji="1" lang="ja-JP" altLang="en-US"/>
          </a:p>
        </p:txBody>
      </p:sp>
      <p:sp>
        <p:nvSpPr>
          <p:cNvPr id="4" name="スライド イメージ プレースホルダー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2608532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68627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13</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27</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33</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34</a:t>
            </a:fld>
            <a:endParaRPr kumimoji="1" lang="ja-JP" altLang="en-US"/>
          </a:p>
        </p:txBody>
      </p:sp>
    </p:spTree>
    <p:extLst>
      <p:ext uri="{BB962C8B-B14F-4D97-AF65-F5344CB8AC3E}">
        <p14:creationId xmlns:p14="http://schemas.microsoft.com/office/powerpoint/2010/main" val="598440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326B-E0C6-F394-A5ED-5689E41731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BC9D3AA-9766-5941-47F1-8E3228E1A3EF}"/>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BF734D1-A5FE-F997-F40D-6D78E66515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5F426332-D66A-6BA4-6CE5-25D2A1A10539}"/>
              </a:ext>
            </a:extLst>
          </p:cNvPr>
          <p:cNvSpPr>
            <a:spLocks noGrp="1"/>
          </p:cNvSpPr>
          <p:nvPr>
            <p:ph type="sldNum" sz="quarter" idx="5"/>
          </p:nvPr>
        </p:nvSpPr>
        <p:spPr/>
        <p:txBody>
          <a:bodyPr/>
          <a:lstStyle/>
          <a:p>
            <a:fld id="{CCD08276-B047-45AB-869B-6FEE4FD0AA7E}" type="slidenum">
              <a:rPr kumimoji="1" lang="ja-JP" altLang="en-US" smtClean="0"/>
              <a:t>35</a:t>
            </a:fld>
            <a:endParaRPr kumimoji="1" lang="ja-JP" altLang="en-US"/>
          </a:p>
        </p:txBody>
      </p:sp>
    </p:spTree>
    <p:extLst>
      <p:ext uri="{BB962C8B-B14F-4D97-AF65-F5344CB8AC3E}">
        <p14:creationId xmlns:p14="http://schemas.microsoft.com/office/powerpoint/2010/main" val="1057531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36</a:t>
            </a:fld>
            <a:endParaRPr kumimoji="1" lang="ja-JP" altLang="en-US"/>
          </a:p>
        </p:txBody>
      </p:sp>
    </p:spTree>
    <p:extLst>
      <p:ext uri="{BB962C8B-B14F-4D97-AF65-F5344CB8AC3E}">
        <p14:creationId xmlns:p14="http://schemas.microsoft.com/office/powerpoint/2010/main" val="35362058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37</a:t>
            </a:fld>
            <a:endParaRPr kumimoji="1" lang="ja-JP" altLang="en-US"/>
          </a:p>
        </p:txBody>
      </p:sp>
    </p:spTree>
    <p:extLst>
      <p:ext uri="{BB962C8B-B14F-4D97-AF65-F5344CB8AC3E}">
        <p14:creationId xmlns:p14="http://schemas.microsoft.com/office/powerpoint/2010/main" val="2428070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38</a:t>
            </a:fld>
            <a:endParaRPr kumimoji="1" lang="ja-JP" altLang="en-US"/>
          </a:p>
        </p:txBody>
      </p:sp>
    </p:spTree>
    <p:extLst>
      <p:ext uri="{BB962C8B-B14F-4D97-AF65-F5344CB8AC3E}">
        <p14:creationId xmlns:p14="http://schemas.microsoft.com/office/powerpoint/2010/main" val="1730336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39</a:t>
            </a:fld>
            <a:endParaRPr kumimoji="1" lang="ja-JP" altLang="en-US"/>
          </a:p>
        </p:txBody>
      </p:sp>
    </p:spTree>
    <p:extLst>
      <p:ext uri="{BB962C8B-B14F-4D97-AF65-F5344CB8AC3E}">
        <p14:creationId xmlns:p14="http://schemas.microsoft.com/office/powerpoint/2010/main" val="982806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40</a:t>
            </a:fld>
            <a:endParaRPr kumimoji="1" lang="ja-JP" altLang="en-US"/>
          </a:p>
        </p:txBody>
      </p:sp>
    </p:spTree>
    <p:extLst>
      <p:ext uri="{BB962C8B-B14F-4D97-AF65-F5344CB8AC3E}">
        <p14:creationId xmlns:p14="http://schemas.microsoft.com/office/powerpoint/2010/main" val="3949390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42</a:t>
            </a:fld>
            <a:endParaRPr kumimoji="1" lang="ja-JP" altLang="en-US"/>
          </a:p>
        </p:txBody>
      </p:sp>
    </p:spTree>
    <p:extLst>
      <p:ext uri="{BB962C8B-B14F-4D97-AF65-F5344CB8AC3E}">
        <p14:creationId xmlns:p14="http://schemas.microsoft.com/office/powerpoint/2010/main" val="10122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emf"/><Relationship Id="rId3" Type="http://schemas.openxmlformats.org/officeDocument/2006/relationships/image" Target="../media/image13.emf"/><Relationship Id="rId4" Type="http://schemas.openxmlformats.org/officeDocument/2006/relationships/image" Target="../media/image14.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emf"/><Relationship Id="rId3" Type="http://schemas.openxmlformats.org/officeDocument/2006/relationships/image" Target="../media/image16.emf"/><Relationship Id="rId4" Type="http://schemas.openxmlformats.org/officeDocument/2006/relationships/image" Target="../media/image17.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eg"/><Relationship Id="rId3" Type="http://schemas.openxmlformats.org/officeDocument/2006/relationships/image" Target="../media/image8.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3222036" cy="276999"/>
          </a:xfrm>
          <a:prstGeom prst="rect">
            <a:avLst/>
          </a:prstGeom>
          <a:noFill/>
        </p:spPr>
        <p:txBody>
          <a:bodyPr wrap="none" lIns="0" tIns="0" rIns="0" bIns="0" rtlCol="0">
            <a:spAutoFit/>
          </a:bodyPr>
          <a:lstStyle/>
          <a:p>
            <a:r>
              <a:rPr lang="ja-JP" altLang="en-US" b="1" spc="100" dirty="0">
                <a:latin typeface="+mj-lt"/>
                <a:ea typeface="+mj-ea"/>
              </a:rPr>
              <a:t>ウエスト・シークル株式会社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503617" cy="246221"/>
          </a:xfrm>
          <a:prstGeom prst="rect">
            <a:avLst/>
          </a:prstGeom>
          <a:noFill/>
        </p:spPr>
        <p:txBody>
          <a:bodyPr wrap="none" lIns="0" tIns="0" rIns="0" bIns="0" rtlCol="0" anchor="ctr">
            <a:spAutoFit/>
          </a:bodyPr>
          <a:lstStyle/>
          <a:p>
            <a:pPr defTabSz="503972">
              <a:defRPr/>
            </a:pPr>
            <a:r>
              <a:rPr kumimoji="1" lang="en-US" altLang="ja-JP" sz="1600" spc="100" dirty="0"/>
              <a:t>2026年10月13日</a:t>
            </a:r>
            <a:endParaRPr kumimoji="1" lang="en-US" altLang="ja-JP" sz="1600" spc="100" dirty="0"/>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063086117"/>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中村　翔良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070-1584-1078</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nakamura_sora@ma-sg.co.jp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t>M&amp;A</a:t>
            </a:r>
            <a:r>
              <a:rPr lang="ja-JP" altLang="en-US" sz="1200" dirty="0"/>
              <a:t>実行時の譲渡価額（売買取引価額）を保証するものではありません。</a:t>
            </a:r>
          </a:p>
          <a:p>
            <a:pPr>
              <a:spcAft>
                <a:spcPts val="1200"/>
              </a:spcAft>
            </a:pPr>
            <a:r>
              <a:rPr lang="ja-JP" altLang="en-US" sz="1200" dirty="0"/>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a:t>
            </a:r>
            <a:r>
              <a:rPr lang="ja-JP" altLang="en-US" sz="1600" dirty="0"/>
              <a:t>／ </a:t>
            </a:r>
            <a:br>
              <a:rPr lang="en-US" altLang="ja-JP" sz="1800" dirty="0"/>
            </a:br>
            <a:r>
              <a:rPr lang="ja-JP" altLang="en-US" sz="2200" dirty="0"/>
              <a:t>試算結果</a:t>
            </a:r>
            <a:endParaRPr lang="en-US" altLang="ja-JP" sz="2200" dirty="0"/>
          </a:p>
          <a:p>
            <a:pPr>
              <a:spcAft>
                <a:spcPts val="1000"/>
              </a:spcAft>
            </a:pPr>
            <a:r>
              <a:rPr lang="en-US" altLang="ja-JP" sz="1600" dirty="0"/>
              <a:t>Financial Analysis </a:t>
            </a:r>
            <a:r>
              <a:rPr lang="ja-JP" altLang="en-US" sz="1600" dirty="0"/>
              <a:t>／ </a:t>
            </a:r>
            <a:br>
              <a:rPr lang="en-US" altLang="ja-JP" sz="1800" dirty="0"/>
            </a:br>
            <a:r>
              <a:rPr lang="ja-JP" altLang="en-US" dirty="0"/>
              <a:t>財務情報の分析</a:t>
            </a:r>
          </a:p>
          <a:p>
            <a:pPr>
              <a:spcAft>
                <a:spcPts val="1000"/>
              </a:spcAft>
            </a:pPr>
            <a:r>
              <a:rPr lang="en-US" altLang="ja-JP" sz="1600" dirty="0"/>
              <a:t>Valuation Details </a:t>
            </a:r>
            <a:r>
              <a:rPr lang="ja-JP" altLang="en-US" sz="1600" dirty="0"/>
              <a:t>／ </a:t>
            </a:r>
            <a:br>
              <a:rPr lang="en-US" altLang="ja-JP" sz="1800" dirty="0"/>
            </a:br>
            <a:r>
              <a:rPr lang="ja-JP" altLang="en-US" dirty="0"/>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Methodology </a:t>
            </a:r>
            <a:r>
              <a:rPr lang="ja-JP" altLang="en-US" sz="1600" dirty="0"/>
              <a:t>／ </a:t>
            </a:r>
            <a:br>
              <a:rPr lang="en-US" altLang="ja-JP" sz="1800" dirty="0"/>
            </a:br>
            <a:r>
              <a:rPr lang="ja-JP" altLang="en-US" dirty="0"/>
              <a:t>評価手法について</a:t>
            </a:r>
            <a:endParaRPr lang="en-US" altLang="ja-JP" dirty="0"/>
          </a:p>
          <a:p>
            <a:pPr>
              <a:spcAft>
                <a:spcPts val="1000"/>
              </a:spcAft>
            </a:pPr>
            <a:r>
              <a:rPr lang="en-US" altLang="ja-JP" sz="1600" dirty="0"/>
              <a:t>Valuation Concept </a:t>
            </a:r>
            <a:r>
              <a:rPr lang="ja-JP" altLang="en-US" sz="1600" dirty="0"/>
              <a:t>／ </a:t>
            </a:r>
            <a:br>
              <a:rPr lang="en-US" altLang="ja-JP" sz="1800" dirty="0"/>
            </a:br>
            <a:r>
              <a:rPr lang="ja-JP" altLang="en-US" dirty="0"/>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乗算記号 31">
            <a:extLst>
              <a:ext uri="{FF2B5EF4-FFF2-40B4-BE49-F238E27FC236}">
                <a16:creationId xmlns:a16="http://schemas.microsoft.com/office/drawing/2014/main" id="{050FDAFD-33D6-A3DE-9E16-1087137F3693}"/>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44" name="フローチャート: 処理 43">
            <a:extLst>
              <a:ext uri="{FF2B5EF4-FFF2-40B4-BE49-F238E27FC236}">
                <a16:creationId xmlns:a16="http://schemas.microsoft.com/office/drawing/2014/main" id="{4798085E-359E-0711-CE20-94A9E826681C}"/>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dirty="0">
                <a:solidFill>
                  <a:schemeClr val="tx2"/>
                </a:solidFill>
                <a:latin typeface="+mj-ea"/>
                <a:ea typeface="+mj-ea"/>
              </a:rPr>
              <a:t>最適な評価手法の選定にあたっては、対象会社の性質や評価目的などを踏まえ、総合的に判断する必要があります。</a:t>
            </a:r>
            <a:br>
              <a:rPr lang="en-US" altLang="ja-JP" sz="1200" b="1" spc="30" dirty="0">
                <a:solidFill>
                  <a:schemeClr val="tx2"/>
                </a:solidFill>
                <a:latin typeface="+mj-ea"/>
                <a:ea typeface="+mj-ea"/>
              </a:rPr>
            </a:br>
            <a:r>
              <a:rPr lang="ja-JP" altLang="en-US" sz="1200" b="1" spc="30" dirty="0">
                <a:solidFill>
                  <a:schemeClr val="tx2"/>
                </a:solidFill>
                <a:latin typeface="+mj-ea"/>
                <a:ea typeface="+mj-ea"/>
              </a:rPr>
              <a:t>なお、各手法の概略につきましては、「</a:t>
            </a:r>
            <a:r>
              <a:rPr lang="en-US" altLang="ja-JP" sz="1200" b="1" spc="30" dirty="0">
                <a:solidFill>
                  <a:schemeClr val="tx2"/>
                </a:solidFill>
                <a:latin typeface="+mj-ea"/>
                <a:ea typeface="+mj-ea"/>
              </a:rPr>
              <a:t>Appendix2.</a:t>
            </a:r>
            <a:r>
              <a:rPr lang="ja-JP" altLang="en-US" sz="1200" b="1" spc="30" dirty="0">
                <a:solidFill>
                  <a:schemeClr val="tx2"/>
                </a:solidFill>
                <a:latin typeface="+mj-ea"/>
                <a:ea typeface="+mj-ea"/>
              </a:rPr>
              <a:t>評価手法について」をご確認ください。</a:t>
            </a:r>
            <a:endParaRPr kumimoji="1" lang="ja-JP" altLang="en-US" sz="1200" b="1" spc="30" dirty="0">
              <a:solidFill>
                <a:schemeClr val="tx2"/>
              </a:solidFill>
              <a:latin typeface="+mj-ea"/>
              <a:ea typeface="+mj-ea"/>
            </a:endParaRPr>
          </a:p>
        </p:txBody>
      </p:sp>
      <p:sp>
        <p:nvSpPr>
          <p:cNvPr id="54" name="乗算記号 53">
            <a:extLst>
              <a:ext uri="{FF2B5EF4-FFF2-40B4-BE49-F238E27FC236}">
                <a16:creationId xmlns:a16="http://schemas.microsoft.com/office/drawing/2014/main" id="{4E872CE2-203A-D9BF-BE0D-5226790D164D}"/>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8" name="字幕 7">
            <a:extLst>
              <a:ext uri="{FF2B5EF4-FFF2-40B4-BE49-F238E27FC236}">
                <a16:creationId xmlns:a16="http://schemas.microsoft.com/office/drawing/2014/main" id="{79878D8E-899D-68FA-55B6-6F9288DE05D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2D766DAA-C244-69FD-45A1-7BEB5E74A1DB}"/>
              </a:ext>
            </a:extLst>
          </p:cNvPr>
          <p:cNvSpPr>
            <a:spLocks noGrp="1"/>
          </p:cNvSpPr>
          <p:nvPr>
            <p:ph type="ctrTitle"/>
          </p:nvPr>
        </p:nvSpPr>
        <p:spPr>
          <a:xfrm>
            <a:off x="341313" y="180653"/>
            <a:ext cx="7799917" cy="338554"/>
          </a:xfrm>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2CCE63AF-1EB6-1B94-FF0A-3F270AF64B3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graphicFrame>
        <p:nvGraphicFramePr>
          <p:cNvPr id="5" name="表 4">
            <a:extLst>
              <a:ext uri="{FF2B5EF4-FFF2-40B4-BE49-F238E27FC236}">
                <a16:creationId xmlns:a16="http://schemas.microsoft.com/office/drawing/2014/main" id="{59E8123F-2A63-6796-85E5-703F83655C1D}"/>
              </a:ext>
            </a:extLst>
          </p:cNvPr>
          <p:cNvGraphicFramePr>
            <a:graphicFrameLocks noGrp="1"/>
          </p:cNvGraphicFramePr>
          <p:nvPr>
            <p:extLst>
              <p:ext uri="{D42A27DB-BD31-4B8C-83A1-F6EECF244321}">
                <p14:modId xmlns:p14="http://schemas.microsoft.com/office/powerpoint/2010/main" val="1352585467"/>
              </p:ext>
            </p:extLst>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継続企業価値を算定する手法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実質的な財政状態に加え、経営成績をバランスよく反映させることができる「時価純資産価額法」に「営業権」を加味する手法を採用しました。なお、本件は修正後の営業利益がマイナスのため営業権は0と算定され、試算結果は時価純資産額に一致しま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類似会社比準法</a:t>
                      </a:r>
                      <a:br>
                        <a:rPr kumimoji="1" lang="en-US" altLang="ja-JP" sz="1100" b="1" kern="1200" dirty="0">
                          <a:solidFill>
                            <a:schemeClr val="accent1">
                              <a:lumMod val="60000"/>
                              <a:lumOff val="40000"/>
                            </a:schemeClr>
                          </a:solidFill>
                          <a:latin typeface="+mj-lt"/>
                          <a:ea typeface="+mj-ea"/>
                          <a:cs typeface="+mn-cs"/>
                        </a:rPr>
                      </a:br>
                      <a:r>
                        <a:rPr kumimoji="1" lang="ja-JP" altLang="en-US" sz="900" b="1" kern="1200" dirty="0">
                          <a:solidFill>
                            <a:schemeClr val="accent1">
                              <a:lumMod val="60000"/>
                              <a:lumOff val="40000"/>
                            </a:schemeClr>
                          </a:solidFill>
                          <a:latin typeface="+mj-lt"/>
                          <a:ea typeface="+mj-ea"/>
                          <a:cs typeface="+mn-cs"/>
                        </a:rPr>
                        <a:t>　（</a:t>
                      </a:r>
                      <a:r>
                        <a:rPr kumimoji="1" lang="en-US" altLang="ja-JP" sz="900" b="1" kern="1200" dirty="0">
                          <a:solidFill>
                            <a:schemeClr val="accent1">
                              <a:lumMod val="60000"/>
                              <a:lumOff val="40000"/>
                            </a:schemeClr>
                          </a:solidFill>
                          <a:latin typeface="+mj-lt"/>
                          <a:ea typeface="+mj-ea"/>
                          <a:cs typeface="+mn-cs"/>
                        </a:rPr>
                        <a:t>EV/EBITDA</a:t>
                      </a:r>
                      <a:r>
                        <a:rPr kumimoji="1" lang="ja-JP" altLang="en-US" sz="900" b="1" kern="1200" dirty="0">
                          <a:solidFill>
                            <a:schemeClr val="accent1">
                              <a:lumMod val="60000"/>
                              <a:lumOff val="40000"/>
                            </a:schemeClr>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対象会社は非上場企業であり、直近での独立第三者間売買の実績がないことから、市場価額法は適用外としました。</a:t>
                      </a:r>
                      <a:endParaRPr kumimoji="1" lang="en-US" altLang="ja-JP" sz="1000" b="0" kern="1200" dirty="0">
                        <a:solidFill>
                          <a:schemeClr val="dk1"/>
                        </a:solidFill>
                        <a:latin typeface="+mn-ea"/>
                        <a:ea typeface="+mn-ea"/>
                        <a:cs typeface="+mn-cs"/>
                      </a:endParaRP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類似業種比準法は、本来、相続や同族内での株式移転に適した手法であり、第三者間の取引価額を算定する目的にはそぐいません。</a:t>
                      </a:r>
                      <a:endParaRPr kumimoji="1" lang="en-US" altLang="ja-JP" sz="1000" b="0" kern="1200" dirty="0">
                        <a:solidFill>
                          <a:schemeClr val="dk1"/>
                        </a:solidFill>
                        <a:latin typeface="+mn-ea"/>
                        <a:ea typeface="+mn-ea"/>
                        <a:cs typeface="+mn-cs"/>
                      </a:endParaRP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類似会社比準法（EV/EBITDAマルチプル法）は、調整後EBITDAが直近3期ともマイナスでEVを算定できないため、本件では採用しません。</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DCF法を適用するには、根拠となる利益やキャッシュフローの計画値が必要となります。現状、事業計画・進行期の試算表が未受領であり、調整後収益もマイナスで算定が困難であることから、これらの手法は採用しません。</a:t>
                      </a:r>
                      <a:endParaRPr kumimoji="1" lang="en-US" altLang="ja-JP" sz="1000" b="0" kern="1200" dirty="0">
                        <a:solidFill>
                          <a:schemeClr val="dk1"/>
                        </a:solidFill>
                        <a:latin typeface="+mn-ea"/>
                        <a:ea typeface="+mn-ea"/>
                        <a:cs typeface="+mn-cs"/>
                      </a:endParaRP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配当還元法は、本来、配当獲得を主眼とする少数株主の視点に立った評価手法です。したがって、本件取引の性質上、採用は適切ではないと判断しました。</a:t>
                      </a:r>
                      <a:endParaRPr kumimoji="1" lang="ja-JP" altLang="en-US" sz="1000" b="0" dirty="0">
                        <a:latin typeface="+mn-ea"/>
                        <a:ea typeface="+mn-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grpSp>
        <p:nvGrpSpPr>
          <p:cNvPr id="34" name="グループ化 33">
            <a:extLst>
              <a:ext uri="{FF2B5EF4-FFF2-40B4-BE49-F238E27FC236}">
                <a16:creationId xmlns:a16="http://schemas.microsoft.com/office/drawing/2014/main" id="{16CC4B51-AF5A-4EC4-0785-029402340FA9}"/>
              </a:ext>
            </a:extLst>
          </p:cNvPr>
          <p:cNvGrpSpPr/>
          <p:nvPr/>
        </p:nvGrpSpPr>
        <p:grpSpPr>
          <a:xfrm>
            <a:off x="5401757" y="2057401"/>
            <a:ext cx="585100" cy="3495772"/>
            <a:chOff x="5444092" y="2057401"/>
            <a:chExt cx="585100" cy="3495772"/>
          </a:xfrm>
        </p:grpSpPr>
        <p:sp>
          <p:nvSpPr>
            <p:cNvPr id="25" name="円: 塗りつぶしなし 24">
              <a:extLst>
                <a:ext uri="{FF2B5EF4-FFF2-40B4-BE49-F238E27FC236}">
                  <a16:creationId xmlns:a16="http://schemas.microsoft.com/office/drawing/2014/main" id="{C6BB74DA-F53D-CB1B-EC8F-8221177D19E9}"/>
                </a:ext>
              </a:extLst>
            </p:cNvPr>
            <p:cNvSpPr/>
            <p:nvPr/>
          </p:nvSpPr>
          <p:spPr>
            <a:xfrm>
              <a:off x="5543822" y="2464096"/>
              <a:ext cx="485370" cy="485370"/>
            </a:xfrm>
            <a:prstGeom prst="donu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UI" panose="020B0604030504040204" pitchFamily="50" charset="-128"/>
                <a:ea typeface="Meiryo UI" panose="020B0604030504040204" pitchFamily="50" charset="-128"/>
              </a:endParaRPr>
            </a:p>
          </p:txBody>
        </p:sp>
        <p:grpSp>
          <p:nvGrpSpPr>
            <p:cNvPr id="18" name="グループ化 17">
              <a:extLst>
                <a:ext uri="{FF2B5EF4-FFF2-40B4-BE49-F238E27FC236}">
                  <a16:creationId xmlns:a16="http://schemas.microsoft.com/office/drawing/2014/main" id="{2219B640-0065-A9E9-39D5-83412BD12938}"/>
                </a:ext>
              </a:extLst>
            </p:cNvPr>
            <p:cNvGrpSpPr/>
            <p:nvPr/>
          </p:nvGrpSpPr>
          <p:grpSpPr>
            <a:xfrm>
              <a:off x="5517698" y="2057401"/>
              <a:ext cx="410634" cy="734169"/>
              <a:chOff x="5517698" y="2057401"/>
              <a:chExt cx="410634" cy="734169"/>
            </a:xfrm>
          </p:grpSpPr>
          <p:sp>
            <p:nvSpPr>
              <p:cNvPr id="6" name="楕円 5">
                <a:extLst>
                  <a:ext uri="{FF2B5EF4-FFF2-40B4-BE49-F238E27FC236}">
                    <a16:creationId xmlns:a16="http://schemas.microsoft.com/office/drawing/2014/main" id="{1B963CAD-2C4E-1833-6AA0-BF9CED611DCE}"/>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2E4AC26-36C5-0A61-D054-D972FAF68E8F}"/>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17" name="グループ化 16">
              <a:extLst>
                <a:ext uri="{FF2B5EF4-FFF2-40B4-BE49-F238E27FC236}">
                  <a16:creationId xmlns:a16="http://schemas.microsoft.com/office/drawing/2014/main" id="{8528DFD4-7C82-31EC-964F-18E88DFF312E}"/>
                </a:ext>
              </a:extLst>
            </p:cNvPr>
            <p:cNvGrpSpPr/>
            <p:nvPr/>
          </p:nvGrpSpPr>
          <p:grpSpPr>
            <a:xfrm>
              <a:off x="5444092" y="3460750"/>
              <a:ext cx="557845" cy="693216"/>
              <a:chOff x="5444092" y="3460750"/>
              <a:chExt cx="557845" cy="693216"/>
            </a:xfrm>
          </p:grpSpPr>
          <p:sp>
            <p:nvSpPr>
              <p:cNvPr id="11" name="テキスト ボックス 10">
                <a:extLst>
                  <a:ext uri="{FF2B5EF4-FFF2-40B4-BE49-F238E27FC236}">
                    <a16:creationId xmlns:a16="http://schemas.microsoft.com/office/drawing/2014/main" id="{36B5144C-035D-46B2-ECBF-9C7A744DC243}"/>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16" name="グループ化 15">
                <a:extLst>
                  <a:ext uri="{FF2B5EF4-FFF2-40B4-BE49-F238E27FC236}">
                    <a16:creationId xmlns:a16="http://schemas.microsoft.com/office/drawing/2014/main" id="{2BFEB798-8ADF-D36A-1FCA-B8085D7D5219}"/>
                  </a:ext>
                </a:extLst>
              </p:cNvPr>
              <p:cNvGrpSpPr>
                <a:grpSpLocks noChangeAspect="1"/>
              </p:cNvGrpSpPr>
              <p:nvPr/>
            </p:nvGrpSpPr>
            <p:grpSpPr>
              <a:xfrm>
                <a:off x="5543015" y="3460750"/>
                <a:ext cx="360000" cy="360000"/>
                <a:chOff x="-161714" y="1568450"/>
                <a:chExt cx="412750" cy="412750"/>
              </a:xfrm>
            </p:grpSpPr>
            <p:cxnSp>
              <p:nvCxnSpPr>
                <p:cNvPr id="14" name="直線コネクタ 13">
                  <a:extLst>
                    <a:ext uri="{FF2B5EF4-FFF2-40B4-BE49-F238E27FC236}">
                      <a16:creationId xmlns:a16="http://schemas.microsoft.com/office/drawing/2014/main" id="{50592B07-E2A8-00B5-E26A-DD475A849F31}"/>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15" name="直線コネクタ 14">
                  <a:extLst>
                    <a:ext uri="{FF2B5EF4-FFF2-40B4-BE49-F238E27FC236}">
                      <a16:creationId xmlns:a16="http://schemas.microsoft.com/office/drawing/2014/main" id="{E8ADCE47-B2E4-F1D7-B447-0140061144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19" name="グループ化 18">
              <a:extLst>
                <a:ext uri="{FF2B5EF4-FFF2-40B4-BE49-F238E27FC236}">
                  <a16:creationId xmlns:a16="http://schemas.microsoft.com/office/drawing/2014/main" id="{E15A1C5C-0A04-5D93-9322-494DC8E9E5A1}"/>
                </a:ext>
              </a:extLst>
            </p:cNvPr>
            <p:cNvGrpSpPr/>
            <p:nvPr/>
          </p:nvGrpSpPr>
          <p:grpSpPr>
            <a:xfrm>
              <a:off x="5444092" y="4859957"/>
              <a:ext cx="557845" cy="693216"/>
              <a:chOff x="5444092" y="3460750"/>
              <a:chExt cx="557845" cy="693216"/>
            </a:xfrm>
          </p:grpSpPr>
          <p:sp>
            <p:nvSpPr>
              <p:cNvPr id="21" name="テキスト ボックス 20">
                <a:extLst>
                  <a:ext uri="{FF2B5EF4-FFF2-40B4-BE49-F238E27FC236}">
                    <a16:creationId xmlns:a16="http://schemas.microsoft.com/office/drawing/2014/main" id="{F3BAFEDF-BE73-E5AC-DDE5-98DF9CC2FB2E}"/>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2" name="グループ化 21">
                <a:extLst>
                  <a:ext uri="{FF2B5EF4-FFF2-40B4-BE49-F238E27FC236}">
                    <a16:creationId xmlns:a16="http://schemas.microsoft.com/office/drawing/2014/main" id="{429F371F-0677-1C5F-603C-611E1F0B12B2}"/>
                  </a:ext>
                </a:extLst>
              </p:cNvPr>
              <p:cNvGrpSpPr>
                <a:grpSpLocks noChangeAspect="1"/>
              </p:cNvGrpSpPr>
              <p:nvPr/>
            </p:nvGrpSpPr>
            <p:grpSpPr>
              <a:xfrm>
                <a:off x="5543015" y="3460750"/>
                <a:ext cx="360000" cy="360000"/>
                <a:chOff x="-161714" y="1568450"/>
                <a:chExt cx="412750" cy="412750"/>
              </a:xfrm>
            </p:grpSpPr>
            <p:cxnSp>
              <p:nvCxnSpPr>
                <p:cNvPr id="23" name="直線コネクタ 22">
                  <a:extLst>
                    <a:ext uri="{FF2B5EF4-FFF2-40B4-BE49-F238E27FC236}">
                      <a16:creationId xmlns:a16="http://schemas.microsoft.com/office/drawing/2014/main" id="{B6162944-B64D-E584-0EB1-B11709E57560}"/>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7" name="直線コネクタ 26">
                  <a:extLst>
                    <a:ext uri="{FF2B5EF4-FFF2-40B4-BE49-F238E27FC236}">
                      <a16:creationId xmlns:a16="http://schemas.microsoft.com/office/drawing/2014/main" id="{D9DA672B-A0E1-D37B-4061-849BD8D4AC1E}"/>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sp>
        <p:nvSpPr>
          <p:cNvPr id="28" name="正方形/長方形 27">
            <a:extLst>
              <a:ext uri="{FF2B5EF4-FFF2-40B4-BE49-F238E27FC236}">
                <a16:creationId xmlns:a16="http://schemas.microsoft.com/office/drawing/2014/main" id="{97C21E6C-21A8-C71B-2893-AED07FE0E477}"/>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8" name="グループ化 57">
            <a:extLst>
              <a:ext uri="{FF2B5EF4-FFF2-40B4-BE49-F238E27FC236}">
                <a16:creationId xmlns:a16="http://schemas.microsoft.com/office/drawing/2014/main" id="{C181897B-F14A-96E8-32F3-FA7A7D61F762}"/>
              </a:ext>
            </a:extLst>
          </p:cNvPr>
          <p:cNvGrpSpPr/>
          <p:nvPr/>
        </p:nvGrpSpPr>
        <p:grpSpPr>
          <a:xfrm>
            <a:off x="583355" y="6293952"/>
            <a:ext cx="373173" cy="373173"/>
            <a:chOff x="557955" y="6293952"/>
            <a:chExt cx="373173" cy="373173"/>
          </a:xfrm>
        </p:grpSpPr>
        <p:sp>
          <p:nvSpPr>
            <p:cNvPr id="29" name="楕円 28">
              <a:extLst>
                <a:ext uri="{FF2B5EF4-FFF2-40B4-BE49-F238E27FC236}">
                  <a16:creationId xmlns:a16="http://schemas.microsoft.com/office/drawing/2014/main" id="{A6E17DE6-F3E6-90B9-572E-A46C19F144C7}"/>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7" name="グループ化 56">
              <a:extLst>
                <a:ext uri="{FF2B5EF4-FFF2-40B4-BE49-F238E27FC236}">
                  <a16:creationId xmlns:a16="http://schemas.microsoft.com/office/drawing/2014/main" id="{4C7A704C-0098-7382-D7D0-C002184E911E}"/>
                </a:ext>
              </a:extLst>
            </p:cNvPr>
            <p:cNvGrpSpPr/>
            <p:nvPr/>
          </p:nvGrpSpPr>
          <p:grpSpPr>
            <a:xfrm>
              <a:off x="620003" y="6342163"/>
              <a:ext cx="249077" cy="276751"/>
              <a:chOff x="605367" y="6371166"/>
              <a:chExt cx="210977" cy="234418"/>
            </a:xfrm>
          </p:grpSpPr>
          <p:sp>
            <p:nvSpPr>
              <p:cNvPr id="36" name="フリーフォーム: 図形 35">
                <a:extLst>
                  <a:ext uri="{FF2B5EF4-FFF2-40B4-BE49-F238E27FC236}">
                    <a16:creationId xmlns:a16="http://schemas.microsoft.com/office/drawing/2014/main" id="{B30B595C-26D1-43A4-2A75-4E810DB253A5}"/>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37" name="フリーフォーム: 図形 36">
                <a:extLst>
                  <a:ext uri="{FF2B5EF4-FFF2-40B4-BE49-F238E27FC236}">
                    <a16:creationId xmlns:a16="http://schemas.microsoft.com/office/drawing/2014/main" id="{3DFB3DC7-8E2A-4B99-BB1E-CE515AFDECFC}"/>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38" name="フリーフォーム: 図形 37">
                <a:extLst>
                  <a:ext uri="{FF2B5EF4-FFF2-40B4-BE49-F238E27FC236}">
                    <a16:creationId xmlns:a16="http://schemas.microsoft.com/office/drawing/2014/main" id="{C2DBF749-C0EB-095A-BA57-3E72159841FD}"/>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39" name="フリーフォーム: 図形 38">
                <a:extLst>
                  <a:ext uri="{FF2B5EF4-FFF2-40B4-BE49-F238E27FC236}">
                    <a16:creationId xmlns:a16="http://schemas.microsoft.com/office/drawing/2014/main" id="{45D2E567-9B01-2160-7BCD-D832376DDBD4}"/>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0" name="フリーフォーム: 図形 39">
                <a:extLst>
                  <a:ext uri="{FF2B5EF4-FFF2-40B4-BE49-F238E27FC236}">
                    <a16:creationId xmlns:a16="http://schemas.microsoft.com/office/drawing/2014/main" id="{03AB3DB8-A6DF-0C35-3DE1-E479C84DA70E}"/>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63B2C054-A3FE-24F0-6820-6886F78A92AE}"/>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2" name="グラフィックス 32">
                <a:extLst>
                  <a:ext uri="{FF2B5EF4-FFF2-40B4-BE49-F238E27FC236}">
                    <a16:creationId xmlns:a16="http://schemas.microsoft.com/office/drawing/2014/main" id="{B42E3F0D-BA63-6000-0F03-245A0C019BFE}"/>
                  </a:ext>
                </a:extLst>
              </p:cNvPr>
              <p:cNvGrpSpPr/>
              <p:nvPr/>
            </p:nvGrpSpPr>
            <p:grpSpPr>
              <a:xfrm>
                <a:off x="639299" y="6399061"/>
                <a:ext cx="149149" cy="149149"/>
                <a:chOff x="639299" y="6399061"/>
                <a:chExt cx="149149" cy="149149"/>
              </a:xfrm>
            </p:grpSpPr>
            <p:sp>
              <p:nvSpPr>
                <p:cNvPr id="43" name="フリーフォーム: 図形 42">
                  <a:extLst>
                    <a:ext uri="{FF2B5EF4-FFF2-40B4-BE49-F238E27FC236}">
                      <a16:creationId xmlns:a16="http://schemas.microsoft.com/office/drawing/2014/main" id="{E9201E14-1E2B-85F5-A54B-CB9DC379DEFF}"/>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664E2780-71C8-AC0F-650D-3DFF7C1D3F82}"/>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7" name="フリーフォーム: 図形 46">
                <a:extLst>
                  <a:ext uri="{FF2B5EF4-FFF2-40B4-BE49-F238E27FC236}">
                    <a16:creationId xmlns:a16="http://schemas.microsoft.com/office/drawing/2014/main" id="{85356185-351C-6A90-6BA6-686505BBF152}"/>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2FCC4070-2AD6-8BCE-4E75-0D40FF22C64F}"/>
                  </a:ext>
                </a:extLst>
              </p:cNvPr>
              <p:cNvGrpSpPr/>
              <p:nvPr/>
            </p:nvGrpSpPr>
            <p:grpSpPr>
              <a:xfrm>
                <a:off x="605367" y="6470794"/>
                <a:ext cx="210977" cy="5860"/>
                <a:chOff x="605367" y="6470794"/>
                <a:chExt cx="210977" cy="5860"/>
              </a:xfrm>
            </p:grpSpPr>
            <p:sp>
              <p:nvSpPr>
                <p:cNvPr id="49" name="フリーフォーム: 図形 48">
                  <a:extLst>
                    <a:ext uri="{FF2B5EF4-FFF2-40B4-BE49-F238E27FC236}">
                      <a16:creationId xmlns:a16="http://schemas.microsoft.com/office/drawing/2014/main" id="{EAB71E3C-E985-2EAC-284F-ACDC78EC05F7}"/>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0" name="フリーフォーム: 図形 49">
                  <a:extLst>
                    <a:ext uri="{FF2B5EF4-FFF2-40B4-BE49-F238E27FC236}">
                      <a16:creationId xmlns:a16="http://schemas.microsoft.com/office/drawing/2014/main" id="{23026D12-B5B6-0484-BD1C-E4D4EC8F33F0}"/>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AB85C207-111C-8EA3-A237-4C46A166F709}"/>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27904701-98E5-B719-2A42-BF4C17F1ECA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41FAEAA3-9A53-6A93-1E9F-255359A49673}"/>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DCEB8F6E-9891-AAF2-BE96-66EB590B8B06}"/>
              </a:ext>
            </a:extLst>
          </p:cNvPr>
          <p:cNvSpPr/>
          <p:nvPr/>
        </p:nvSpPr>
        <p:spPr>
          <a:xfrm>
            <a:off x="3507052" y="2478210"/>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Tree>
    <p:extLst>
      <p:ext uri="{BB962C8B-B14F-4D97-AF65-F5344CB8AC3E}">
        <p14:creationId xmlns:p14="http://schemas.microsoft.com/office/powerpoint/2010/main" val="468496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グラフ 7">
            <a:extLst>
              <a:ext uri="{FF2B5EF4-FFF2-40B4-BE49-F238E27FC236}">
                <a16:creationId xmlns:a16="http://schemas.microsoft.com/office/drawing/2014/main" id="{BFB3ED0F-5056-1AE7-E6BA-509ED56B6A53}"/>
              </a:ext>
            </a:extLst>
          </p:cNvPr>
          <p:cNvGraphicFramePr>
            <a:graphicFrameLocks/>
          </p:cNvGraphicFramePr>
          <p:nvPr>
            <p:extLst>
              <p:ext uri="{D42A27DB-BD31-4B8C-83A1-F6EECF244321}">
                <p14:modId xmlns:p14="http://schemas.microsoft.com/office/powerpoint/2010/main" val="3610756569"/>
              </p:ext>
            </p:extLst>
          </p:nvPr>
        </p:nvGraphicFramePr>
        <p:xfrm>
          <a:off x="6072713" y="3595280"/>
          <a:ext cx="4587240" cy="3328035"/>
        </p:xfrm>
        <a:graphic>
          <a:graphicData uri="http://schemas.openxmlformats.org/drawingml/2006/chart">
            <c:chart xmlns:c="http://schemas.openxmlformats.org/drawingml/2006/chart" xmlns:r="http://schemas.openxmlformats.org/officeDocument/2006/relationships" r:id="rId3"/>
          </a:graphicData>
        </a:graphic>
      </p:graphicFrame>
      <p:sp>
        <p:nvSpPr>
          <p:cNvPr id="5" name="フローチャート: 処理 4">
            <a:extLst>
              <a:ext uri="{FF2B5EF4-FFF2-40B4-BE49-F238E27FC236}">
                <a16:creationId xmlns:a16="http://schemas.microsoft.com/office/drawing/2014/main" id="{5B343889-7D4F-B055-74A8-AA8B42EF869C}"/>
              </a:ext>
            </a:extLst>
          </p:cNvPr>
          <p:cNvSpPr/>
          <p:nvPr/>
        </p:nvSpPr>
        <p:spPr>
          <a:xfrm>
            <a:off x="449263" y="3964277"/>
            <a:ext cx="5028345"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320,002（千円）</a:t>
            </a:r>
          </a:p>
        </p:txBody>
      </p:sp>
      <p:sp>
        <p:nvSpPr>
          <p:cNvPr id="12" name="正方形/長方形 11">
            <a:extLst>
              <a:ext uri="{FF2B5EF4-FFF2-40B4-BE49-F238E27FC236}">
                <a16:creationId xmlns:a16="http://schemas.microsoft.com/office/drawing/2014/main" id="{82D08636-45B3-DA30-7F54-111626711EDF}"/>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3A344BBD-1F26-B6AA-1540-2BD4103B97F1}"/>
              </a:ext>
            </a:extLst>
          </p:cNvPr>
          <p:cNvSpPr>
            <a:spLocks noGrp="1"/>
          </p:cNvSpPr>
          <p:nvPr>
            <p:ph type="ctrTitle"/>
          </p:nvPr>
        </p:nvSpPr>
        <p:spPr>
          <a:xfrm>
            <a:off x="341313" y="180653"/>
            <a:ext cx="7799917" cy="338554"/>
          </a:xfrm>
        </p:spPr>
        <p:txBody>
          <a:bodyPr/>
          <a:lstStyle/>
          <a:p>
            <a:r>
              <a:rPr lang="ja-JP" altLang="en-US" dirty="0"/>
              <a:t>株式価値の試算結果</a:t>
            </a:r>
          </a:p>
        </p:txBody>
      </p:sp>
      <p:sp>
        <p:nvSpPr>
          <p:cNvPr id="10" name="タイトル 1">
            <a:extLst>
              <a:ext uri="{FF2B5EF4-FFF2-40B4-BE49-F238E27FC236}">
                <a16:creationId xmlns:a16="http://schemas.microsoft.com/office/drawing/2014/main" id="{6FB2A9D9-575F-B80F-6D08-AC0DDD16E46A}"/>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8C5FFAD9-7F0A-5E65-8B8A-7B32CE58992F}"/>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graphicFrame>
        <p:nvGraphicFramePr>
          <p:cNvPr id="15" name="表 14">
            <a:extLst>
              <a:ext uri="{FF2B5EF4-FFF2-40B4-BE49-F238E27FC236}">
                <a16:creationId xmlns:a16="http://schemas.microsoft.com/office/drawing/2014/main" id="{FAD3F64C-2FD5-AB22-0EDC-8BF4C3E6519F}"/>
              </a:ext>
            </a:extLst>
          </p:cNvPr>
          <p:cNvGraphicFramePr>
            <a:graphicFrameLocks noGrp="1"/>
          </p:cNvGraphicFramePr>
          <p:nvPr>
            <p:extLst>
              <p:ext uri="{D42A27DB-BD31-4B8C-83A1-F6EECF244321}">
                <p14:modId xmlns:p14="http://schemas.microsoft.com/office/powerpoint/2010/main" val="169200559"/>
              </p:ext>
            </p:extLst>
          </p:nvPr>
        </p:nvGraphicFramePr>
        <p:xfrm>
          <a:off x="449263" y="1223963"/>
          <a:ext cx="9792000" cy="162000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2925986688"/>
                    </a:ext>
                  </a:extLst>
                </a:gridCol>
                <a:gridCol w="8712000">
                  <a:extLst>
                    <a:ext uri="{9D8B030D-6E8A-4147-A177-3AD203B41FA5}">
                      <a16:colId xmlns:a16="http://schemas.microsoft.com/office/drawing/2014/main" val="803462936"/>
                    </a:ext>
                  </a:extLst>
                </a:gridCol>
              </a:tblGrid>
              <a:tr h="288000">
                <a:tc>
                  <a:txBody>
                    <a:bodyPr/>
                    <a:lstStyle/>
                    <a:p>
                      <a:pPr algn="l" fontAlgn="ctr">
                        <a:buNone/>
                      </a:pPr>
                      <a:r>
                        <a:rPr lang="ja-JP" altLang="en-US" sz="1200" b="1" u="none" strike="noStrike" spc="50" baseline="0" dirty="0">
                          <a:effectLst/>
                          <a:latin typeface="+mj-lt"/>
                          <a:ea typeface="+mj-ea"/>
                        </a:rPr>
                        <a:t>評価対象</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ウエスト・シークル株式会社</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972504"/>
                  </a:ext>
                </a:extLst>
              </a:tr>
              <a:tr h="288000">
                <a:tc>
                  <a:txBody>
                    <a:bodyPr/>
                    <a:lstStyle/>
                    <a:p>
                      <a:pPr algn="l" fontAlgn="ctr">
                        <a:buNone/>
                      </a:pPr>
                      <a:r>
                        <a:rPr lang="ja-JP" altLang="en-US" sz="1200" b="1" u="none" strike="noStrike" spc="50" baseline="0" dirty="0">
                          <a:effectLst/>
                          <a:latin typeface="+mj-lt"/>
                          <a:ea typeface="+mj-ea"/>
                        </a:rPr>
                        <a:t>算定日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sz="1100" b="0" u="none" strike="noStrike" spc="50" baseline="0" dirty="0">
                          <a:effectLst/>
                          <a:latin typeface="+mn-ea"/>
                          <a:ea typeface="+mn-ea"/>
                        </a:rPr>
                        <a:t>2026年10月13日</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7319347"/>
                  </a:ext>
                </a:extLst>
              </a:tr>
              <a:tr h="288000">
                <a:tc>
                  <a:txBody>
                    <a:bodyPr/>
                    <a:lstStyle/>
                    <a:p>
                      <a:pPr algn="l" fontAlgn="ctr">
                        <a:buNone/>
                      </a:pPr>
                      <a:r>
                        <a:rPr lang="ja-JP" altLang="en-US" sz="1200" b="1" u="none" strike="noStrike" spc="50" baseline="0" dirty="0">
                          <a:effectLst/>
                          <a:latin typeface="+mj-lt"/>
                          <a:ea typeface="+mj-ea"/>
                        </a:rPr>
                        <a:t>基準日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2026年3月31日（貸借対照表の基準日）</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021639"/>
                  </a:ext>
                </a:extLst>
              </a:tr>
              <a:tr h="288000">
                <a:tc>
                  <a:txBody>
                    <a:bodyPr/>
                    <a:lstStyle/>
                    <a:p>
                      <a:pPr algn="l" fontAlgn="ctr">
                        <a:buNone/>
                      </a:pPr>
                      <a:r>
                        <a:rPr lang="ja-JP" altLang="en-US" sz="1200" b="1" i="0" u="none" strike="noStrike" spc="50" baseline="0" dirty="0">
                          <a:solidFill>
                            <a:srgbClr val="000000"/>
                          </a:solidFill>
                          <a:effectLst/>
                          <a:latin typeface="+mj-lt"/>
                          <a:ea typeface="+mj-ea"/>
                        </a:rPr>
                        <a:t>参照期間</a:t>
                      </a: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2023年4月1日～2026年3月31日（損益計算書の参照期間）</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669453"/>
                  </a:ext>
                </a:extLst>
              </a:tr>
              <a:tr h="468000">
                <a:tc>
                  <a:txBody>
                    <a:bodyPr/>
                    <a:lstStyle/>
                    <a:p>
                      <a:pPr algn="l" fontAlgn="ctr">
                        <a:buNone/>
                      </a:pPr>
                      <a:r>
                        <a:rPr lang="ja-JP" altLang="en-US" sz="1200" b="1" u="none" strike="noStrike" spc="50" baseline="0" dirty="0">
                          <a:effectLst/>
                          <a:latin typeface="+mj-lt"/>
                          <a:ea typeface="+mj-ea"/>
                        </a:rPr>
                        <a:t>目的</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対象会社の過半数の株式を第三者間で売買取引・</a:t>
                      </a:r>
                      <a:r>
                        <a:rPr lang="en-US" altLang="ja-JP" sz="1100" b="0" u="none" strike="noStrike" spc="50" baseline="0" dirty="0">
                          <a:effectLst/>
                          <a:latin typeface="+mn-ea"/>
                          <a:ea typeface="+mn-ea"/>
                        </a:rPr>
                        <a:t>M&amp;A</a:t>
                      </a:r>
                      <a:r>
                        <a:rPr lang="ja-JP" altLang="en-US" sz="1100" b="0" u="none" strike="noStrike" spc="50" baseline="0" dirty="0">
                          <a:effectLst/>
                          <a:latin typeface="+mn-ea"/>
                          <a:ea typeface="+mn-ea"/>
                        </a:rPr>
                        <a:t>する場合（「本件取引」 といいます）の譲渡価額決定の参考資料とする</a:t>
                      </a:r>
                      <a:br>
                        <a:rPr lang="en-US" altLang="ja-JP" sz="1100" b="0" u="none" strike="noStrike" spc="50" baseline="0" dirty="0">
                          <a:effectLst/>
                          <a:latin typeface="+mn-ea"/>
                          <a:ea typeface="+mn-ea"/>
                        </a:rPr>
                      </a:br>
                      <a:r>
                        <a:rPr lang="ja-JP" altLang="en-US" sz="1100" b="0" u="none" strike="noStrike" spc="50" baseline="0" dirty="0">
                          <a:effectLst/>
                          <a:latin typeface="+mn-ea"/>
                          <a:ea typeface="+mn-ea"/>
                        </a:rPr>
                        <a:t>こと（「本件試算目的」 といいます）を目的に本株式価値試算報告書は作成されております。</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865392"/>
                  </a:ext>
                </a:extLst>
              </a:tr>
            </a:tbl>
          </a:graphicData>
        </a:graphic>
      </p:graphicFrame>
      <p:sp>
        <p:nvSpPr>
          <p:cNvPr id="13" name="テキスト ボックス 12">
            <a:extLst>
              <a:ext uri="{FF2B5EF4-FFF2-40B4-BE49-F238E27FC236}">
                <a16:creationId xmlns:a16="http://schemas.microsoft.com/office/drawing/2014/main" id="{554033FB-411A-A2EF-769B-B6F38C42A858}"/>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C0FF89E9-546F-AE0B-9D0D-14E5F6CC55AC}"/>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8DB7DA93-AB9A-DE1C-E0B1-A4BFE25F97D9}"/>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1" name="正方形/長方形 30">
            <a:extLst>
              <a:ext uri="{FF2B5EF4-FFF2-40B4-BE49-F238E27FC236}">
                <a16:creationId xmlns:a16="http://schemas.microsoft.com/office/drawing/2014/main" id="{C341548D-CC4F-035E-6C8E-1074515F765A}"/>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CC24755E-E04E-5C7D-1773-7EFDE4303DEC}"/>
              </a:ext>
            </a:extLst>
          </p:cNvPr>
          <p:cNvSpPr/>
          <p:nvPr/>
        </p:nvSpPr>
        <p:spPr>
          <a:xfrm>
            <a:off x="449261" y="5918514"/>
            <a:ext cx="9901237"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※不採用（事業計画が存在せず、調整後収益もマイナスのため算定困難）</a:t>
            </a:r>
            <a:endParaRPr kumimoji="1" lang="ja-JP" altLang="en-US" sz="1200" b="1" spc="50" dirty="0">
              <a:solidFill>
                <a:schemeClr val="tx1"/>
              </a:solidFill>
              <a:latin typeface="+mj-ea"/>
              <a:ea typeface="+mj-ea"/>
            </a:endParaRPr>
          </a:p>
        </p:txBody>
      </p:sp>
      <p:sp>
        <p:nvSpPr>
          <p:cNvPr id="38" name="正方形/長方形 37">
            <a:extLst>
              <a:ext uri="{FF2B5EF4-FFF2-40B4-BE49-F238E27FC236}">
                <a16:creationId xmlns:a16="http://schemas.microsoft.com/office/drawing/2014/main" id="{DFDAC2DA-E1B1-02CA-6A4D-158C456EC1A2}"/>
              </a:ext>
            </a:extLst>
          </p:cNvPr>
          <p:cNvSpPr/>
          <p:nvPr/>
        </p:nvSpPr>
        <p:spPr>
          <a:xfrm>
            <a:off x="449263" y="4924745"/>
            <a:ext cx="9901237"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※不採用（調整後EBITDAがマイナスのためEVを算定できない）</a:t>
            </a:r>
            <a:endParaRPr kumimoji="1" lang="ja-JP" altLang="en-US" sz="1200" b="1" spc="50" dirty="0">
              <a:solidFill>
                <a:schemeClr val="tx1"/>
              </a:solidFill>
              <a:latin typeface="+mj-ea"/>
              <a:ea typeface="+mj-ea"/>
            </a:endParaRPr>
          </a:p>
        </p:txBody>
      </p:sp>
      <p:sp>
        <p:nvSpPr>
          <p:cNvPr id="9" name="テキスト ボックス 8">
            <a:extLst>
              <a:ext uri="{FF2B5EF4-FFF2-40B4-BE49-F238E27FC236}">
                <a16:creationId xmlns:a16="http://schemas.microsoft.com/office/drawing/2014/main" id="{3BE9DD73-6964-1E6C-A4C2-B96911EA786B}"/>
              </a:ext>
            </a:extLst>
          </p:cNvPr>
          <p:cNvSpPr txBox="1"/>
          <p:nvPr/>
        </p:nvSpPr>
        <p:spPr>
          <a:xfrm>
            <a:off x="9632353" y="3472169"/>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39" name="TextBox 38"/>
          <p:cNvSpPr txBox="1"/>
          <p:nvPr/>
        </p:nvSpPr>
        <p:spPr>
          <a:xfrm>
            <a:off x="448056" y="4425696"/>
            <a:ext cx="5486400" cy="182880"/>
          </a:xfrm>
          <a:prstGeom prst="rect">
            <a:avLst/>
          </a:prstGeom>
          <a:noFill/>
        </p:spPr>
        <p:txBody>
          <a:bodyPr wrap="square" lIns="18288" tIns="0" rIns="0" bIns="0" anchor="t">
            <a:spAutoFit/>
          </a:bodyPr>
          <a:lstStyle/>
          <a:p>
            <a:r>
              <a:rPr kumimoji="1" lang="ja-JP" altLang="en-US" sz="750" dirty="0">
                <a:solidFill>
                  <a:srgbClr val="595959"/>
                </a:solidFill>
                <a:latin typeface="+mn-ea"/>
                <a:ea typeface="+mn-ea"/>
              </a:rPr>
              <a:t>※営業権は0のため想定レンジは1点（下限＝上限）。グラフ上は視認性のため幅を持たせて表示</a:t>
            </a:r>
            <a:endParaRPr kumimoji="1" lang="ja-JP" altLang="en-US" sz="750" dirty="0"/>
          </a:p>
        </p:txBody>
      </p:sp>
    </p:spTree>
    <p:extLst>
      <p:ext uri="{BB962C8B-B14F-4D97-AF65-F5344CB8AC3E}">
        <p14:creationId xmlns:p14="http://schemas.microsoft.com/office/powerpoint/2010/main" val="27921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a:t>
            </a:r>
            <a:r>
              <a:rPr lang="en-US" altLang="ja-JP" dirty="0"/>
              <a:t>BS</a:t>
            </a:r>
            <a:r>
              <a:rPr lang="ja-JP" altLang="en-US" dirty="0"/>
              <a:t>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13" name="Table 12"/>
          <p:cNvGraphicFramePr>
            <a:graphicFrameLocks noGrp="1"/>
          </p:cNvGraphicFramePr>
          <p:nvPr/>
        </p:nvGraphicFramePr>
        <p:xfrm>
          <a:off x="448056" y="1225296"/>
          <a:ext cx="4526280" cy="4389120"/>
        </p:xfrm>
        <a:graphic>
          <a:graphicData uri="http://schemas.openxmlformats.org/drawingml/2006/table">
            <a:tbl>
              <a:tblPr/>
              <a:tblGrid>
                <a:gridCol w="1783080"/>
                <a:gridCol w="914400"/>
                <a:gridCol w="914400"/>
                <a:gridCol w="914400"/>
              </a:tblGrid>
              <a:tr h="274320">
                <a:tc>
                  <a:txBody>
                    <a:bodyPr wrap="square"/>
                    <a:lstStyle/>
                    <a:p>
                      <a:pPr algn="ctr"/>
                      <a:r>
                        <a:rPr sz="850" b="1" i="0">
                          <a:solidFill>
                            <a:srgbClr val="FFFFFF"/>
                          </a:solidFill>
                          <a:latin typeface="Arial"/>
                          <a:ea typeface="游ゴシック"/>
                        </a:rPr>
                        <a:t>資産の部（千円）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274320">
                <a:tc>
                  <a:txBody>
                    <a:bodyPr wrap="square"/>
                    <a:lstStyle/>
                    <a:p>
                      <a:pPr algn="l"/>
                      <a:r>
                        <a:rPr sz="850" b="1" i="0">
                          <a:solidFill>
                            <a:srgbClr val="000000"/>
                          </a:solidFill>
                          <a:latin typeface="Arial"/>
                          <a:ea typeface="游ゴシック"/>
                        </a:rPr>
                        <a:t>流動資産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243,652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899,319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293,198</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現金及び預金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154,742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31,967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226,057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売掛金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2,065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841,411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28,512</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商品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8,732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8,732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8,532</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前渡金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18,508</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未収入金・立替金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77,753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16,823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前払費用・未収還付法人税等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361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386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11,589</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固定資産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1,096,641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509,172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503,311</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建物・建物付属設備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224,111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148,127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138,813</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構築物・車輛・器具備品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5,853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3,523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6,304</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土地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807,630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341,830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345,030</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建設仮勘定</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37,275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3,500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無形固定資産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出資金・敷金・差入保証金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21,694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12,192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13,165</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1,340,292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1,408,490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796,509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14" name="Table 13"/>
          <p:cNvGraphicFramePr>
            <a:graphicFrameLocks noGrp="1"/>
          </p:cNvGraphicFramePr>
          <p:nvPr/>
        </p:nvGraphicFramePr>
        <p:xfrm>
          <a:off x="5321808" y="1225296"/>
          <a:ext cx="4526280" cy="4114800"/>
        </p:xfrm>
        <a:graphic>
          <a:graphicData uri="http://schemas.openxmlformats.org/drawingml/2006/table">
            <a:tbl>
              <a:tblPr/>
              <a:tblGrid>
                <a:gridCol w="1920240"/>
                <a:gridCol w="868680"/>
                <a:gridCol w="868680"/>
                <a:gridCol w="868680"/>
              </a:tblGrid>
              <a:tr h="274320">
                <a:tc>
                  <a:txBody>
                    <a:bodyPr wrap="square"/>
                    <a:lstStyle/>
                    <a:p>
                      <a:pPr algn="ctr"/>
                      <a:r>
                        <a:rPr sz="850" b="1" i="0">
                          <a:solidFill>
                            <a:srgbClr val="FFFFFF"/>
                          </a:solidFill>
                          <a:latin typeface="Arial"/>
                          <a:ea typeface="游ゴシック"/>
                        </a:rPr>
                        <a:t>負債・純資産の部（千円）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274320">
                <a:tc>
                  <a:txBody>
                    <a:bodyPr wrap="square"/>
                    <a:lstStyle/>
                    <a:p>
                      <a:pPr algn="l"/>
                      <a:r>
                        <a:rPr sz="850" b="1" i="0">
                          <a:solidFill>
                            <a:srgbClr val="000000"/>
                          </a:solidFill>
                          <a:latin typeface="Arial"/>
                          <a:ea typeface="游ゴシック"/>
                        </a:rPr>
                        <a:t>流動負債</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546,937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549,868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196,855</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買掛金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10,530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106,089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10,297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未払金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6,830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11,297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7,639</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未払消費税・未払法人税等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5,190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25,002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5,047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預り金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990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831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794</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短期借入金（役員借入金含む）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523,396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406,649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173,077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固定負債</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526,720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483,630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272,746</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長期借入金（役員借入金含む）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526,322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483,630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272,746</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長期預り保証金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398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負債合計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1,073,656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1,033,498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469,600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74320">
                <a:tc>
                  <a:txBody>
                    <a:bodyPr wrap="square"/>
                    <a:lstStyle/>
                    <a:p>
                      <a:pPr algn="l"/>
                      <a:r>
                        <a:rPr sz="850" b="0" i="0">
                          <a:solidFill>
                            <a:srgbClr val="000000"/>
                          </a:solidFill>
                          <a:latin typeface="Arial"/>
                          <a:ea typeface="游ゴシック"/>
                        </a:rPr>
                        <a:t>資本金・資本剰余金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5,500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5,500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5,500</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繰越利益剰余金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261,136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369,492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321,409</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純資産合計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266,636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374,992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326,909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74320">
                <a:tc>
                  <a:txBody>
                    <a:bodyPr wrap="square"/>
                    <a:lstStyle/>
                    <a:p>
                      <a:pPr algn="l"/>
                      <a:r>
                        <a:rPr sz="850" b="1" i="0">
                          <a:solidFill>
                            <a:srgbClr val="000000"/>
                          </a:solidFill>
                          <a:latin typeface="Arial"/>
                          <a:ea typeface="游ゴシック"/>
                        </a:rPr>
                        <a:t>負債・純資産合計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1,340,292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1,408,490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796,509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5" name="TextBox 14"/>
          <p:cNvSpPr txBox="1"/>
          <p:nvPr/>
        </p:nvSpPr>
        <p:spPr>
          <a:xfrm>
            <a:off x="448056" y="5669280"/>
            <a:ext cx="4572000" cy="914400"/>
          </a:xfrm>
          <a:prstGeom prst="rect">
            <a:avLst/>
          </a:prstGeom>
          <a:noFill/>
        </p:spPr>
        <p:txBody>
          <a:bodyPr wrap="square" lIns="0" tIns="0" rIns="0" bIns="0" anchor="t">
            <a:spAutoFit/>
          </a:bodyPr>
          <a:lstStyle/>
          <a:p>
            <a:pPr>
              <a:spcAft>
                <a:spcPts val="100"/>
              </a:spcAft>
            </a:pPr>
            <a:r>
              <a:rPr kumimoji="1" lang="ja-JP" altLang="en-US" sz="850" dirty="0">
                <a:solidFill>
                  <a:schemeClr val="tx1"/>
                </a:solidFill>
                <a:latin typeface="+mn-ea"/>
                <a:ea typeface="+mn-ea"/>
              </a:rPr>
              <a:t>≪不動産売却による圧縮≫</a:t>
            </a:r>
            <a:endParaRPr kumimoji="1" lang="ja-JP" altLang="en-US" sz="850" dirty="0"/>
          </a:p>
          <a:p>
            <a:pPr>
              <a:spcAft>
                <a:spcPts val="100"/>
              </a:spcAft>
            </a:pPr>
            <a:r>
              <a:rPr kumimoji="1" lang="ja-JP" altLang="en-US" sz="850" dirty="0">
                <a:solidFill>
                  <a:schemeClr val="tx1"/>
                </a:solidFill>
                <a:latin typeface="+mn-ea"/>
                <a:ea typeface="+mn-ea"/>
              </a:rPr>
              <a:t>・令和7年3月期に賃貸不動産を売却。土地は807,630→341,830千円、建物は224,111→148,127千円</a:t>
            </a:r>
            <a:endParaRPr kumimoji="1" lang="ja-JP" altLang="en-US" sz="850" dirty="0"/>
          </a:p>
          <a:p>
            <a:pPr>
              <a:spcAft>
                <a:spcPts val="100"/>
              </a:spcAft>
            </a:pPr>
            <a:r>
              <a:rPr kumimoji="1" lang="ja-JP" altLang="en-US" sz="850" dirty="0">
                <a:solidFill>
                  <a:schemeClr val="tx1"/>
                </a:solidFill>
                <a:latin typeface="+mn-ea"/>
                <a:ea typeface="+mn-ea"/>
              </a:rPr>
              <a:t>・売却代金（売掛金841,411千円）を令和8年3月期に回収し、借入金を890,278→445,823千円へ圧縮</a:t>
            </a:r>
            <a:endParaRPr kumimoji="1" lang="ja-JP" altLang="en-US" sz="850" dirty="0"/>
          </a:p>
        </p:txBody>
      </p:sp>
      <p:sp>
        <p:nvSpPr>
          <p:cNvPr id="16" name="TextBox 15"/>
          <p:cNvSpPr txBox="1"/>
          <p:nvPr/>
        </p:nvSpPr>
        <p:spPr>
          <a:xfrm>
            <a:off x="448056" y="6629400"/>
            <a:ext cx="9784080" cy="201168"/>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※千円未満の端数処理により、合計が一致しない場合があります。</a:t>
            </a:r>
            <a:endParaRPr kumimoji="1" lang="ja-JP" altLang="en-US" sz="800" dirty="0"/>
          </a:p>
        </p:txBody>
      </p:sp>
    </p:spTree>
    <p:extLst>
      <p:ext uri="{BB962C8B-B14F-4D97-AF65-F5344CB8AC3E}">
        <p14:creationId xmlns:p14="http://schemas.microsoft.com/office/powerpoint/2010/main" val="995234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67486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売掛金28,512千円のうち15,400千円は「コンサル料」（相手先不明）。実在性・回収可能性は要確認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前渡金18,508千円・未収還付法人税等10,878千円の内容・実現性は要確認</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商品8,532千円は棚卸明細が未受領のため簿価評価</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土地345,030千円は登記・評価証明書等が未受領のため簿価評価（時価が簿価を上回る場合は評価増の余地）</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建物等の有形固定資産は、固定資産台帳上の償却不足額なし（簿価評価）</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繰延税金資産3,558千円は、未払給与の計上に係る税効果（実効税率34％）</a:t>
            </a: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a:t>
            </a:r>
            <a:r>
              <a:rPr lang="en-US" altLang="ja-JP" dirty="0"/>
              <a:t>BS</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5" name="Table 14"/>
          <p:cNvGraphicFramePr>
            <a:graphicFrameLocks noGrp="1"/>
          </p:cNvGraphicFramePr>
          <p:nvPr/>
        </p:nvGraphicFramePr>
        <p:xfrm>
          <a:off x="448056" y="1225296"/>
          <a:ext cx="4937760" cy="4951457"/>
        </p:xfrm>
        <a:graphic>
          <a:graphicData uri="http://schemas.openxmlformats.org/drawingml/2006/table">
            <a:tbl>
              <a:tblPr/>
              <a:tblGrid>
                <a:gridCol w="1828800"/>
                <a:gridCol w="1097280"/>
                <a:gridCol w="914400"/>
                <a:gridCol w="1097280"/>
              </a:tblGrid>
              <a:tr h="260603">
                <a:tc>
                  <a:txBody>
                    <a:bodyPr wrap="square"/>
                    <a:lstStyle/>
                    <a:p>
                      <a:pPr algn="ctr"/>
                      <a:r>
                        <a:rPr sz="850" b="1" i="0">
                          <a:solidFill>
                            <a:srgbClr val="FFFFFF"/>
                          </a:solidFill>
                          <a:latin typeface="Arial"/>
                          <a:ea typeface="游ゴシック"/>
                        </a:rPr>
                        <a:t>科目（単位：千円）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修正後</a:t>
                      </a:r>
                    </a:p>
                  </a:txBody>
                  <a:tcPr marL="45720" marR="45720" marT="13716" marB="13716" anchor="ctr">
                    <a:lnL w="0">
                      <a:noFill/>
                    </a:lnL>
                    <a:lnR w="0">
                      <a:noFill/>
                    </a:lnR>
                    <a:lnT w="0">
                      <a:noFill/>
                    </a:lnT>
                    <a:lnB w="0">
                      <a:noFill/>
                    </a:lnB>
                    <a:solidFill>
                      <a:srgbClr val="0B3041"/>
                    </a:solidFill>
                  </a:tcPr>
                </a:tc>
              </a:tr>
              <a:tr h="260603">
                <a:tc>
                  <a:txBody>
                    <a:bodyPr wrap="square"/>
                    <a:lstStyle/>
                    <a:p>
                      <a:pPr algn="l"/>
                      <a:r>
                        <a:rPr sz="850" b="1" i="0">
                          <a:solidFill>
                            <a:srgbClr val="000000"/>
                          </a:solidFill>
                          <a:latin typeface="Arial"/>
                          <a:ea typeface="游ゴシック"/>
                        </a:rPr>
                        <a:t>流動資産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293,198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293,198</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現金及び預金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226,057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226,057</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売掛金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28,512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28,512</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前渡金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18,508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18,508</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商品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8,532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8,532</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前払費用</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710</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未収還付法人税等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10,878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10,878</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a:r>
                        <a:rPr sz="850" b="1" i="0">
                          <a:solidFill>
                            <a:srgbClr val="000000"/>
                          </a:solidFill>
                          <a:latin typeface="Arial"/>
                          <a:ea typeface="游ゴシック"/>
                        </a:rPr>
                        <a:t>固定資産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503,311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503,311</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建物</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118,721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118,721</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20,091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20,091</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車輛運搬具</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5,395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5,395</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工具器具備品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909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909</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土地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345,030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345,030</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a:r>
                        <a:rPr sz="850" b="1" i="0">
                          <a:solidFill>
                            <a:srgbClr val="000000"/>
                          </a:solidFill>
                          <a:latin typeface="Arial"/>
                          <a:ea typeface="游ゴシック"/>
                        </a:rPr>
                        <a:t>投資その他資産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13,165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13,165</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出資金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敷金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13,160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13,160</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a:r>
                        <a:rPr sz="850" b="1" i="0">
                          <a:solidFill>
                            <a:srgbClr val="000000"/>
                          </a:solidFill>
                          <a:latin typeface="Arial"/>
                          <a:ea typeface="游ゴシック"/>
                        </a:rPr>
                        <a:t>繰延税金資産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3,558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3,558</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a:r>
                        <a:rPr sz="850" b="1" i="0">
                          <a:solidFill>
                            <a:srgbClr val="000000"/>
                          </a:solidFill>
                          <a:latin typeface="Arial"/>
                          <a:ea typeface="游ゴシック"/>
                        </a:rPr>
                        <a:t>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796,509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3,558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800,067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6" name="TextBox 15"/>
          <p:cNvSpPr txBox="1"/>
          <p:nvPr/>
        </p:nvSpPr>
        <p:spPr>
          <a:xfrm>
            <a:off x="448056" y="6629400"/>
            <a:ext cx="9784080" cy="201168"/>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※千円未満の端数処理により、合計が一致しない場合があります。</a:t>
            </a:r>
            <a:endParaRPr kumimoji="1" lang="ja-JP" altLang="en-US" sz="800" dirty="0"/>
          </a:p>
        </p:txBody>
      </p:sp>
    </p:spTree>
    <p:extLst>
      <p:ext uri="{BB962C8B-B14F-4D97-AF65-F5344CB8AC3E}">
        <p14:creationId xmlns:p14="http://schemas.microsoft.com/office/powerpoint/2010/main" val="2721680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B354E4D-851F-B523-4FC4-A7CE50C4F1E1}"/>
              </a:ext>
            </a:extLst>
          </p:cNvPr>
          <p:cNvSpPr>
            <a:spLocks noGrp="1"/>
          </p:cNvSpPr>
          <p:nvPr>
            <p:ph type="ctrTitle"/>
          </p:nvPr>
        </p:nvSpPr>
        <p:spPr/>
        <p:txBody>
          <a:bodyPr/>
          <a:lstStyle/>
          <a:p>
            <a:r>
              <a:rPr lang="ja-JP" altLang="en-US" dirty="0"/>
              <a:t>修正</a:t>
            </a:r>
            <a:r>
              <a:rPr lang="en-US" altLang="ja-JP" dirty="0"/>
              <a:t>BS</a:t>
            </a:r>
            <a:r>
              <a:rPr lang="ja-JP" altLang="en-US" sz="1800" dirty="0"/>
              <a:t>［負債・純資産］</a:t>
            </a:r>
          </a:p>
        </p:txBody>
      </p:sp>
      <p:sp>
        <p:nvSpPr>
          <p:cNvPr id="3" name="タイトル 1">
            <a:extLst>
              <a:ext uri="{FF2B5EF4-FFF2-40B4-BE49-F238E27FC236}">
                <a16:creationId xmlns:a16="http://schemas.microsoft.com/office/drawing/2014/main" id="{EB71EDB4-8916-6810-C646-51D422065BA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7" name="正方形/長方形 16">
            <a:extLst>
              <a:ext uri="{FF2B5EF4-FFF2-40B4-BE49-F238E27FC236}">
                <a16:creationId xmlns:a16="http://schemas.microsoft.com/office/drawing/2014/main" id="{CC387EA8-EFA7-FD36-039F-35208FD54FE3}"/>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 name="テキスト ボックス 1">
            <a:extLst>
              <a:ext uri="{FF2B5EF4-FFF2-40B4-BE49-F238E27FC236}">
                <a16:creationId xmlns:a16="http://schemas.microsoft.com/office/drawing/2014/main" id="{C0A044A7-8136-3766-8B06-7D313E35E4B6}"/>
              </a:ext>
            </a:extLst>
          </p:cNvPr>
          <p:cNvSpPr txBox="1"/>
          <p:nvPr/>
        </p:nvSpPr>
        <p:spPr>
          <a:xfrm>
            <a:off x="5919905" y="1849388"/>
            <a:ext cx="4320000" cy="67486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未払費用10,465千円：令和8年3月分給与9,100千円に概算社会保険料（15％）を加算して計上（3月分は4月支給と推察。賃金規程未受領のため要確認）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借入金計445,823千円のうち、役員借入金は359,667千円。評価上は負債として控除（返済条件・資本性の有無は要確認）</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賞与引当金・退職給付引当金は、規程・実績が未受領のため未計上（簿外債務の可能性：要確認）</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000" b="0" spc="50" dirty="0">
                <a:latin typeface="+mj-ea"/>
                <a:ea typeface="+mj-ea"/>
              </a:rPr>
              <a:t>修正後純資産は320,002千円（修正額△6,907千円）</a:t>
            </a:r>
          </a:p>
        </p:txBody>
      </p:sp>
      <p:graphicFrame>
        <p:nvGraphicFramePr>
          <p:cNvPr id="18" name="Table 17"/>
          <p:cNvGraphicFramePr>
            <a:graphicFrameLocks noGrp="1"/>
          </p:cNvGraphicFramePr>
          <p:nvPr/>
        </p:nvGraphicFramePr>
        <p:xfrm>
          <a:off x="448056" y="1225296"/>
          <a:ext cx="4937760" cy="4951457"/>
        </p:xfrm>
        <a:graphic>
          <a:graphicData uri="http://schemas.openxmlformats.org/drawingml/2006/table">
            <a:tbl>
              <a:tblPr/>
              <a:tblGrid>
                <a:gridCol w="1828800"/>
                <a:gridCol w="1097280"/>
                <a:gridCol w="914400"/>
                <a:gridCol w="1097280"/>
              </a:tblGrid>
              <a:tr h="260603">
                <a:tc>
                  <a:txBody>
                    <a:bodyPr wrap="square"/>
                    <a:lstStyle/>
                    <a:p>
                      <a:pPr algn="ctr"/>
                      <a:r>
                        <a:rPr sz="850" b="1" i="0">
                          <a:solidFill>
                            <a:srgbClr val="FFFFFF"/>
                          </a:solidFill>
                          <a:latin typeface="Arial"/>
                          <a:ea typeface="游ゴシック"/>
                        </a:rPr>
                        <a:t>科目（単位：千円）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修正後</a:t>
                      </a:r>
                    </a:p>
                  </a:txBody>
                  <a:tcPr marL="45720" marR="45720" marT="13716" marB="13716" anchor="ctr">
                    <a:lnL w="0">
                      <a:noFill/>
                    </a:lnL>
                    <a:lnR w="0">
                      <a:noFill/>
                    </a:lnR>
                    <a:lnT w="0">
                      <a:noFill/>
                    </a:lnT>
                    <a:lnB w="0">
                      <a:noFill/>
                    </a:lnB>
                    <a:solidFill>
                      <a:srgbClr val="0B3041"/>
                    </a:solidFill>
                  </a:tcPr>
                </a:tc>
              </a:tr>
              <a:tr h="260603">
                <a:tc>
                  <a:txBody>
                    <a:bodyPr wrap="square"/>
                    <a:lstStyle/>
                    <a:p>
                      <a:pPr algn="l"/>
                      <a:r>
                        <a:rPr sz="850" b="1" i="0">
                          <a:solidFill>
                            <a:srgbClr val="000000"/>
                          </a:solidFill>
                          <a:latin typeface="Arial"/>
                          <a:ea typeface="游ゴシック"/>
                        </a:rPr>
                        <a:t>流動負債</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196,855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10,465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207,319</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買掛金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10,297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10,297</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未払金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7,639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7,639</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未払費用</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10,465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10,465</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未払消費税</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4,950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4,950</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預り金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794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794</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未払法人税等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97</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短期借入金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173,077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173,077</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a:r>
                        <a:rPr sz="850" b="1" i="0">
                          <a:solidFill>
                            <a:srgbClr val="000000"/>
                          </a:solidFill>
                          <a:latin typeface="Arial"/>
                          <a:ea typeface="游ゴシック"/>
                        </a:rPr>
                        <a:t>固定負債</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272,746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272,746</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長期借入金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272,746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272,746</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a:r>
                        <a:rPr sz="850" b="1" i="0">
                          <a:solidFill>
                            <a:srgbClr val="000000"/>
                          </a:solidFill>
                          <a:latin typeface="Arial"/>
                          <a:ea typeface="游ゴシック"/>
                        </a:rPr>
                        <a:t>負債合計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469,600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10,465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480,065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60603">
                <a:tc>
                  <a:txBody>
                    <a:bodyPr wrap="square"/>
                    <a:lstStyle/>
                    <a:p>
                      <a:pPr algn="l" marL="109728"/>
                      <a:r>
                        <a:rPr sz="850" b="0" i="0">
                          <a:solidFill>
                            <a:srgbClr val="000000"/>
                          </a:solidFill>
                          <a:latin typeface="Arial"/>
                          <a:ea typeface="游ゴシック"/>
                        </a:rPr>
                        <a:t>資本金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500</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その他資本剰余金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5,000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5,000</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繰越利益剰余金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321,409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321,409</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評価修正額（未払給与）</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△10,465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△10,465</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marL="109728"/>
                      <a:r>
                        <a:rPr sz="850" b="0" i="0">
                          <a:solidFill>
                            <a:srgbClr val="000000"/>
                          </a:solidFill>
                          <a:latin typeface="Arial"/>
                          <a:ea typeface="游ゴシック"/>
                        </a:rPr>
                        <a:t>評価修正額（税効果）</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3,558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3,558</a:t>
                      </a:r>
                    </a:p>
                  </a:txBody>
                  <a:tcPr marL="45720" marR="45720" marT="13716" marB="13716" anchor="ctr">
                    <a:lnL w="0">
                      <a:noFill/>
                    </a:lnL>
                    <a:lnR w="0">
                      <a:noFill/>
                    </a:lnR>
                    <a:lnT w="0">
                      <a:noFill/>
                    </a:lnT>
                    <a:lnB w="6350" cap="flat" cmpd="sng" algn="ctr">
                      <a:solidFill>
                        <a:srgbClr val="B8C0C6"/>
                      </a:solidFill>
                      <a:prstDash val="solid"/>
                    </a:lnB>
                    <a:noFill/>
                  </a:tcPr>
                </a:tc>
              </a:tr>
              <a:tr h="260603">
                <a:tc>
                  <a:txBody>
                    <a:bodyPr wrap="square"/>
                    <a:lstStyle/>
                    <a:p>
                      <a:pPr algn="l"/>
                      <a:r>
                        <a:rPr sz="850" b="1" i="0">
                          <a:solidFill>
                            <a:srgbClr val="000000"/>
                          </a:solidFill>
                          <a:latin typeface="Arial"/>
                          <a:ea typeface="游ゴシック"/>
                        </a:rPr>
                        <a:t>純資産合計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326,909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△6,907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320,002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60603">
                <a:tc>
                  <a:txBody>
                    <a:bodyPr wrap="square"/>
                    <a:lstStyle/>
                    <a:p>
                      <a:pPr algn="l"/>
                      <a:r>
                        <a:rPr sz="850" b="1" i="0">
                          <a:solidFill>
                            <a:srgbClr val="000000"/>
                          </a:solidFill>
                          <a:latin typeface="Arial"/>
                          <a:ea typeface="游ゴシック"/>
                        </a:rPr>
                        <a:t>負債・純資産合計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796,509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3,558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800,067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9" name="TextBox 18"/>
          <p:cNvSpPr txBox="1"/>
          <p:nvPr/>
        </p:nvSpPr>
        <p:spPr>
          <a:xfrm>
            <a:off x="448056" y="6629400"/>
            <a:ext cx="9784080" cy="201168"/>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※千円未満の端数処理により、合計が一致しない場合があります。</a:t>
            </a:r>
            <a:endParaRPr kumimoji="1" lang="ja-JP" altLang="en-US" sz="800" dirty="0"/>
          </a:p>
        </p:txBody>
      </p:sp>
    </p:spTree>
    <p:extLst>
      <p:ext uri="{BB962C8B-B14F-4D97-AF65-F5344CB8AC3E}">
        <p14:creationId xmlns:p14="http://schemas.microsoft.com/office/powerpoint/2010/main" val="3015754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4E42377-2A1A-98B8-F942-9320806C9B09}"/>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売掛金</a:t>
            </a:r>
          </a:p>
        </p:txBody>
      </p:sp>
      <p:sp>
        <p:nvSpPr>
          <p:cNvPr id="8" name="正方形/長方形 7">
            <a:extLst>
              <a:ext uri="{FF2B5EF4-FFF2-40B4-BE49-F238E27FC236}">
                <a16:creationId xmlns:a16="http://schemas.microsoft.com/office/drawing/2014/main" id="{F29041FF-2717-48EA-39D3-49F9A37FF686}"/>
              </a:ext>
            </a:extLst>
          </p:cNvPr>
          <p:cNvSpPr/>
          <p:nvPr/>
        </p:nvSpPr>
        <p:spPr>
          <a:xfrm>
            <a:off x="449263" y="3824659"/>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棚卸資産</a:t>
            </a:r>
          </a:p>
        </p:txBody>
      </p:sp>
      <p:sp>
        <p:nvSpPr>
          <p:cNvPr id="6" name="タイトル 5">
            <a:extLst>
              <a:ext uri="{FF2B5EF4-FFF2-40B4-BE49-F238E27FC236}">
                <a16:creationId xmlns:a16="http://schemas.microsoft.com/office/drawing/2014/main" id="{13A4F23B-EF96-8899-9182-63C24B32AF1B}"/>
              </a:ext>
            </a:extLst>
          </p:cNvPr>
          <p:cNvSpPr>
            <a:spLocks noGrp="1"/>
          </p:cNvSpPr>
          <p:nvPr>
            <p:ph type="ctrTitle"/>
          </p:nvPr>
        </p:nvSpPr>
        <p:spPr/>
        <p:txBody>
          <a:bodyPr/>
          <a:lstStyle/>
          <a:p>
            <a:r>
              <a:rPr lang="ja-JP" altLang="en-US" dirty="0"/>
              <a:t>修正内容詳細①</a:t>
            </a:r>
            <a:r>
              <a:rPr lang="ja-JP" altLang="en-US" sz="1800" dirty="0"/>
              <a:t>［売掛金・棚卸資産］</a:t>
            </a:r>
          </a:p>
        </p:txBody>
      </p:sp>
      <p:sp>
        <p:nvSpPr>
          <p:cNvPr id="3" name="タイトル 1">
            <a:extLst>
              <a:ext uri="{FF2B5EF4-FFF2-40B4-BE49-F238E27FC236}">
                <a16:creationId xmlns:a16="http://schemas.microsoft.com/office/drawing/2014/main" id="{A13A66E5-B735-A476-993A-C8C0F1D98DC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9" name="Table 8"/>
          <p:cNvGraphicFramePr>
            <a:graphicFrameLocks noGrp="1"/>
          </p:cNvGraphicFramePr>
          <p:nvPr/>
        </p:nvGraphicFramePr>
        <p:xfrm>
          <a:off x="438912" y="1216152"/>
          <a:ext cx="9784080" cy="1975104"/>
        </p:xfrm>
        <a:graphic>
          <a:graphicData uri="http://schemas.openxmlformats.org/drawingml/2006/table">
            <a:tbl>
              <a:tblPr/>
              <a:tblGrid>
                <a:gridCol w="2377440"/>
                <a:gridCol w="822960"/>
                <a:gridCol w="731520"/>
                <a:gridCol w="822960"/>
                <a:gridCol w="5029200"/>
              </a:tblGrid>
              <a:tr h="329184">
                <a:tc>
                  <a:txBody>
                    <a:bodyPr wrap="square"/>
                    <a:lstStyle/>
                    <a:p>
                      <a:pPr algn="ctr"/>
                      <a:r>
                        <a:rPr sz="900" b="1" i="0">
                          <a:solidFill>
                            <a:srgbClr val="FFFFFF"/>
                          </a:solidFill>
                          <a:latin typeface="Arial"/>
                          <a:ea typeface="游ゴシック"/>
                        </a:rPr>
                        <a:t>相手先（単位：千円）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評価差額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調整事由</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コンサル料（相手先不明）</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15,400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15,400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相手先・契約書・入金予定が未確認のため簿価評価。単発の売上計上であり、回収可能性・実在性は要確認</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大船店（百貨店精算分等）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5,989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5,989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店舗売上に係る決済・百貨店精算の未収。年齢表未受領のため簿価評価</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紀尾井町店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3,347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3,347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同上</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その他（鎌倉山店・ミリュウショップ・リンベル㈱等）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3,776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3,776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鎌倉山店2,079千円、ミリュウショップ768千円、リンベル㈱644千円、㈱西武リアルティソリューションズ236千円ほか。年齢表未受領のため簿価評価</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28,512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28,512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10" name="Table 9"/>
          <p:cNvGraphicFramePr>
            <a:graphicFrameLocks noGrp="1"/>
          </p:cNvGraphicFramePr>
          <p:nvPr/>
        </p:nvGraphicFramePr>
        <p:xfrm>
          <a:off x="429768" y="4142232"/>
          <a:ext cx="9784080" cy="987552"/>
        </p:xfrm>
        <a:graphic>
          <a:graphicData uri="http://schemas.openxmlformats.org/drawingml/2006/table">
            <a:tbl>
              <a:tblPr/>
              <a:tblGrid>
                <a:gridCol w="2377440"/>
                <a:gridCol w="822960"/>
                <a:gridCol w="731520"/>
                <a:gridCol w="822960"/>
                <a:gridCol w="5029200"/>
              </a:tblGrid>
              <a:tr h="329184">
                <a:tc>
                  <a:txBody>
                    <a:bodyPr wrap="square"/>
                    <a:lstStyle/>
                    <a:p>
                      <a:pPr algn="ctr"/>
                      <a:r>
                        <a:rPr sz="900" b="1" i="0">
                          <a:solidFill>
                            <a:srgbClr val="FFFFFF"/>
                          </a:solidFill>
                          <a:latin typeface="Arial"/>
                          <a:ea typeface="游ゴシック"/>
                        </a:rPr>
                        <a:t>品目（単位：千円）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評価差額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調整事由</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商品（ケーキ・菓子・食材等）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8,532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8,532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「明細別途保存」とされ棚卸明細は未受領のため簿価評価。滞留・陳腐化の有無は要確認</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8,532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8,532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3805748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修正内容詳細②</a:t>
            </a:r>
            <a:r>
              <a:rPr lang="ja-JP" altLang="en-US" sz="1800" dirty="0"/>
              <a:t>［減価償却資産・土地］</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2" name="正方形/長方形 11">
            <a:extLst>
              <a:ext uri="{FF2B5EF4-FFF2-40B4-BE49-F238E27FC236}">
                <a16:creationId xmlns:a16="http://schemas.microsoft.com/office/drawing/2014/main" id="{DFAD19EC-48DB-955A-022D-0C799F3AAA94}"/>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減価償却資産</a:t>
            </a:r>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3824659"/>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土地</a:t>
            </a:r>
          </a:p>
        </p:txBody>
      </p:sp>
      <p:graphicFrame>
        <p:nvGraphicFramePr>
          <p:cNvPr id="17" name="Table 16"/>
          <p:cNvGraphicFramePr>
            <a:graphicFrameLocks noGrp="1"/>
          </p:cNvGraphicFramePr>
          <p:nvPr/>
        </p:nvGraphicFramePr>
        <p:xfrm>
          <a:off x="448056" y="1225296"/>
          <a:ext cx="9784080" cy="1975104"/>
        </p:xfrm>
        <a:graphic>
          <a:graphicData uri="http://schemas.openxmlformats.org/drawingml/2006/table">
            <a:tbl>
              <a:tblPr/>
              <a:tblGrid>
                <a:gridCol w="1828800"/>
                <a:gridCol w="914400"/>
                <a:gridCol w="822960"/>
                <a:gridCol w="914400"/>
                <a:gridCol w="5303520"/>
              </a:tblGrid>
              <a:tr h="329184">
                <a:tc>
                  <a:txBody>
                    <a:bodyPr wrap="square"/>
                    <a:lstStyle/>
                    <a:p>
                      <a:pPr algn="ctr"/>
                      <a:r>
                        <a:rPr sz="900" b="1" i="0">
                          <a:solidFill>
                            <a:srgbClr val="FFFFFF"/>
                          </a:solidFill>
                          <a:latin typeface="Arial"/>
                          <a:ea typeface="游ゴシック"/>
                        </a:rPr>
                        <a:t>資産（単位：千円）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評価差額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調整事由</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建物</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118,721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118,721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固定資産台帳上、普通償却限度額＝当期償却額で償却不足額なし。実態の劣化・耐用年数との乖離は未検討のため簿価評価（要確認）</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20,091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20,091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同上</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車両運搬具</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5,395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5,395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同上</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工具器具備品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909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909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同上</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145,116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145,116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18" name="Table 17"/>
          <p:cNvGraphicFramePr>
            <a:graphicFrameLocks noGrp="1"/>
          </p:cNvGraphicFramePr>
          <p:nvPr/>
        </p:nvGraphicFramePr>
        <p:xfrm>
          <a:off x="448056" y="4169663"/>
          <a:ext cx="9793224" cy="987552"/>
        </p:xfrm>
        <a:graphic>
          <a:graphicData uri="http://schemas.openxmlformats.org/drawingml/2006/table">
            <a:tbl>
              <a:tblPr/>
              <a:tblGrid>
                <a:gridCol w="2286000"/>
                <a:gridCol w="640080"/>
                <a:gridCol w="868680"/>
                <a:gridCol w="731520"/>
                <a:gridCol w="868680"/>
                <a:gridCol w="4398264"/>
              </a:tblGrid>
              <a:tr h="329184">
                <a:tc>
                  <a:txBody>
                    <a:bodyPr wrap="square"/>
                    <a:lstStyle/>
                    <a:p>
                      <a:pPr algn="ctr"/>
                      <a:r>
                        <a:rPr sz="900" b="1" i="0">
                          <a:solidFill>
                            <a:srgbClr val="FFFFFF"/>
                          </a:solidFill>
                          <a:latin typeface="Arial"/>
                          <a:ea typeface="游ゴシック"/>
                        </a:rPr>
                        <a:t>内容・所在地（単位：千円）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地積(㎡)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評価差額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時価評価額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調整事由</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鎌倉山店・本社敷地ほか／神奈川県鎌倉市鎌倉山三丁目2番31（地番・地目の詳細は要確認）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345,030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345,030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登記事項証明書・固定資産税評価証明書・路線価が未受領のため時価評価未実施（簿価評価）。うち約87,420千円は「鎌倉山三丁目計画」に係る建設仮勘定からの振替額（内容要確認）</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ctr"/>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345,030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345,030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3542174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482B3A05-0385-89FA-C05E-02EBA36F31CB}"/>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投資有価証券</a:t>
            </a:r>
          </a:p>
        </p:txBody>
      </p:sp>
      <p:sp>
        <p:nvSpPr>
          <p:cNvPr id="9" name="正方形/長方形 8">
            <a:extLst>
              <a:ext uri="{FF2B5EF4-FFF2-40B4-BE49-F238E27FC236}">
                <a16:creationId xmlns:a16="http://schemas.microsoft.com/office/drawing/2014/main" id="{6EF4C96A-C94D-D23E-C91F-7D786D2E4A9D}"/>
              </a:ext>
            </a:extLst>
          </p:cNvPr>
          <p:cNvSpPr/>
          <p:nvPr/>
        </p:nvSpPr>
        <p:spPr>
          <a:xfrm>
            <a:off x="449263" y="253355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敷金保証金</a:t>
            </a:r>
          </a:p>
        </p:txBody>
      </p:sp>
      <p:sp>
        <p:nvSpPr>
          <p:cNvPr id="10" name="正方形/長方形 9">
            <a:extLst>
              <a:ext uri="{FF2B5EF4-FFF2-40B4-BE49-F238E27FC236}">
                <a16:creationId xmlns:a16="http://schemas.microsoft.com/office/drawing/2014/main" id="{777604AA-E8B3-7057-408B-4A6A03512837}"/>
              </a:ext>
            </a:extLst>
          </p:cNvPr>
          <p:cNvSpPr/>
          <p:nvPr/>
        </p:nvSpPr>
        <p:spPr>
          <a:xfrm>
            <a:off x="449263" y="494532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保険積立金</a:t>
            </a:r>
          </a:p>
        </p:txBody>
      </p:sp>
      <p:sp>
        <p:nvSpPr>
          <p:cNvPr id="6" name="タイトル 5">
            <a:extLst>
              <a:ext uri="{FF2B5EF4-FFF2-40B4-BE49-F238E27FC236}">
                <a16:creationId xmlns:a16="http://schemas.microsoft.com/office/drawing/2014/main" id="{2F89B4E8-9153-8BB5-303C-01D53A096094}"/>
              </a:ext>
            </a:extLst>
          </p:cNvPr>
          <p:cNvSpPr>
            <a:spLocks noGrp="1"/>
          </p:cNvSpPr>
          <p:nvPr>
            <p:ph type="ctrTitle"/>
          </p:nvPr>
        </p:nvSpPr>
        <p:spPr>
          <a:xfrm>
            <a:off x="341313" y="180767"/>
            <a:ext cx="7799387" cy="338554"/>
          </a:xfrm>
        </p:spPr>
        <p:txBody>
          <a:bodyPr/>
          <a:lstStyle/>
          <a:p>
            <a:r>
              <a:rPr lang="ja-JP" altLang="en-US" dirty="0"/>
              <a:t>修正内容詳細③</a:t>
            </a:r>
            <a:r>
              <a:rPr lang="ja-JP" altLang="en-US" sz="1800" dirty="0"/>
              <a:t>［投資有価証券・敷金保証金・保険積立金］</a:t>
            </a:r>
          </a:p>
        </p:txBody>
      </p:sp>
      <p:sp>
        <p:nvSpPr>
          <p:cNvPr id="24" name="タイトル 1">
            <a:extLst>
              <a:ext uri="{FF2B5EF4-FFF2-40B4-BE49-F238E27FC236}">
                <a16:creationId xmlns:a16="http://schemas.microsoft.com/office/drawing/2014/main" id="{341AF031-6FC4-C6E0-DD84-5769B3769B4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26" name="Table 25"/>
          <p:cNvGraphicFramePr>
            <a:graphicFrameLocks noGrp="1"/>
          </p:cNvGraphicFramePr>
          <p:nvPr/>
        </p:nvGraphicFramePr>
        <p:xfrm>
          <a:off x="448056" y="1225296"/>
          <a:ext cx="9793223" cy="932688"/>
        </p:xfrm>
        <a:graphic>
          <a:graphicData uri="http://schemas.openxmlformats.org/drawingml/2006/table">
            <a:tbl>
              <a:tblPr/>
              <a:tblGrid>
                <a:gridCol w="2926080"/>
                <a:gridCol w="548640"/>
                <a:gridCol w="822960"/>
                <a:gridCol w="731520"/>
                <a:gridCol w="822960"/>
                <a:gridCol w="3941063"/>
              </a:tblGrid>
              <a:tr h="310896">
                <a:tc>
                  <a:txBody>
                    <a:bodyPr wrap="square"/>
                    <a:lstStyle/>
                    <a:p>
                      <a:pPr algn="ctr"/>
                      <a:r>
                        <a:rPr sz="900" b="1" i="0">
                          <a:solidFill>
                            <a:srgbClr val="FFFFFF"/>
                          </a:solidFill>
                          <a:latin typeface="Arial"/>
                          <a:ea typeface="游ゴシック"/>
                        </a:rPr>
                        <a:t>銘柄（単位：千円）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数量</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評価差額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調整事由</a:t>
                      </a:r>
                    </a:p>
                  </a:txBody>
                  <a:tcPr marL="45720" marR="45720" marT="13716" marB="13716" anchor="ctr">
                    <a:lnL w="0">
                      <a:noFill/>
                    </a:lnL>
                    <a:lnR w="0">
                      <a:noFill/>
                    </a:lnR>
                    <a:lnT w="0">
                      <a:noFill/>
                    </a:lnT>
                    <a:lnB w="0">
                      <a:noFill/>
                    </a:lnB>
                    <a:solidFill>
                      <a:srgbClr val="0B3041"/>
                    </a:solidFill>
                  </a:tcPr>
                </a:tc>
              </a:tr>
              <a:tr h="310896">
                <a:tc>
                  <a:txBody>
                    <a:bodyPr wrap="square"/>
                    <a:lstStyle/>
                    <a:p>
                      <a:pPr algn="l"/>
                      <a:r>
                        <a:rPr sz="900" b="0" i="0">
                          <a:solidFill>
                            <a:srgbClr val="000000"/>
                          </a:solidFill>
                          <a:latin typeface="Arial"/>
                          <a:ea typeface="游ゴシック"/>
                        </a:rPr>
                        <a:t>該当なし（BS上、投資有価証券の計上なし）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BSに計上なし（出資金5千円のみ）</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ct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27" name="Table 26"/>
          <p:cNvGraphicFramePr>
            <a:graphicFrameLocks noGrp="1"/>
          </p:cNvGraphicFramePr>
          <p:nvPr/>
        </p:nvGraphicFramePr>
        <p:xfrm>
          <a:off x="448056" y="2871216"/>
          <a:ext cx="9793224" cy="1316736"/>
        </p:xfrm>
        <a:graphic>
          <a:graphicData uri="http://schemas.openxmlformats.org/drawingml/2006/table">
            <a:tbl>
              <a:tblPr/>
              <a:tblGrid>
                <a:gridCol w="2926080"/>
                <a:gridCol w="822960"/>
                <a:gridCol w="731520"/>
                <a:gridCol w="822960"/>
                <a:gridCol w="4489704"/>
              </a:tblGrid>
              <a:tr h="329184">
                <a:tc>
                  <a:txBody>
                    <a:bodyPr wrap="square"/>
                    <a:lstStyle/>
                    <a:p>
                      <a:pPr algn="ctr"/>
                      <a:r>
                        <a:rPr sz="900" b="1" i="0">
                          <a:solidFill>
                            <a:srgbClr val="FFFFFF"/>
                          </a:solidFill>
                          <a:latin typeface="Arial"/>
                          <a:ea typeface="游ゴシック"/>
                        </a:rPr>
                        <a:t>項目（単位：千円）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評価差額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調整事由</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敷金（令和8年3月期末）</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13,160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13,160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店舗別の賃貸借契約書・預託明細が未受領のため簿価評価。返還見込み・原状回復費用の見込みは要確認</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差入保証金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BSに計上なし</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13,160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13,160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28" name="Table 27"/>
          <p:cNvGraphicFramePr>
            <a:graphicFrameLocks noGrp="1"/>
          </p:cNvGraphicFramePr>
          <p:nvPr/>
        </p:nvGraphicFramePr>
        <p:xfrm>
          <a:off x="448056" y="5294376"/>
          <a:ext cx="9793224" cy="987552"/>
        </p:xfrm>
        <a:graphic>
          <a:graphicData uri="http://schemas.openxmlformats.org/drawingml/2006/table">
            <a:tbl>
              <a:tblPr/>
              <a:tblGrid>
                <a:gridCol w="2926080"/>
                <a:gridCol w="822960"/>
                <a:gridCol w="731520"/>
                <a:gridCol w="822960"/>
                <a:gridCol w="4489704"/>
              </a:tblGrid>
              <a:tr h="329184">
                <a:tc>
                  <a:txBody>
                    <a:bodyPr wrap="square"/>
                    <a:lstStyle/>
                    <a:p>
                      <a:pPr algn="ctr"/>
                      <a:r>
                        <a:rPr sz="900" b="1" i="0">
                          <a:solidFill>
                            <a:srgbClr val="FFFFFF"/>
                          </a:solidFill>
                          <a:latin typeface="Arial"/>
                          <a:ea typeface="游ゴシック"/>
                        </a:rPr>
                        <a:t>保険商品（単位：千円）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評価差額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評価額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調整事由</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該当なし（BS上、保険積立金の計上なし）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保険契約の有無・解約返戻金は未確認（保険証券未受領）。支払保険料は年664千円のみ（損害保険料等と推察）</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2230090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E0081865-3C64-FCB5-3086-FCA7FC635070}"/>
              </a:ext>
            </a:extLst>
          </p:cNvPr>
          <p:cNvSpPr>
            <a:spLocks noGrp="1"/>
          </p:cNvSpPr>
          <p:nvPr>
            <p:ph type="ctrTitle"/>
          </p:nvPr>
        </p:nvSpPr>
        <p:spPr>
          <a:xfrm>
            <a:off x="341313" y="180652"/>
            <a:ext cx="7799917" cy="338554"/>
          </a:xfrm>
        </p:spPr>
        <p:txBody>
          <a:bodyPr/>
          <a:lstStyle/>
          <a:p>
            <a:r>
              <a:rPr lang="ja-JP" altLang="en-US" dirty="0"/>
              <a:t>修正内容詳細④</a:t>
            </a:r>
            <a:r>
              <a:rPr lang="ja-JP" altLang="en-US" sz="1800" dirty="0"/>
              <a:t>［未払費用・賞与引当金・退職給付引当金］</a:t>
            </a:r>
          </a:p>
        </p:txBody>
      </p:sp>
      <p:sp>
        <p:nvSpPr>
          <p:cNvPr id="10" name="タイトル 1">
            <a:extLst>
              <a:ext uri="{FF2B5EF4-FFF2-40B4-BE49-F238E27FC236}">
                <a16:creationId xmlns:a16="http://schemas.microsoft.com/office/drawing/2014/main" id="{484B73AD-91B4-513F-26BF-62C2CD7687F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25" name="正方形/長方形 24">
            <a:extLst>
              <a:ext uri="{FF2B5EF4-FFF2-40B4-BE49-F238E27FC236}">
                <a16:creationId xmlns:a16="http://schemas.microsoft.com/office/drawing/2014/main" id="{8AA6AC3E-61F7-0516-388A-213EFBB94CA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未払費用</a:t>
            </a:r>
          </a:p>
        </p:txBody>
      </p:sp>
      <p:sp>
        <p:nvSpPr>
          <p:cNvPr id="26" name="正方形/長方形 25">
            <a:extLst>
              <a:ext uri="{FF2B5EF4-FFF2-40B4-BE49-F238E27FC236}">
                <a16:creationId xmlns:a16="http://schemas.microsoft.com/office/drawing/2014/main" id="{23EFC96B-910F-F29C-18B7-9066BB6C0087}"/>
              </a:ext>
            </a:extLst>
          </p:cNvPr>
          <p:cNvSpPr/>
          <p:nvPr/>
        </p:nvSpPr>
        <p:spPr>
          <a:xfrm>
            <a:off x="449262" y="2533550"/>
            <a:ext cx="9792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賞与引当金</a:t>
            </a:r>
            <a:r>
              <a:rPr lang="ja-JP" altLang="en-US" sz="1200" spc="30" dirty="0">
                <a:solidFill>
                  <a:schemeClr val="tx1"/>
                </a:solidFill>
                <a:latin typeface="+mn-ea"/>
              </a:rPr>
              <a:t>（</a:t>
            </a:r>
            <a:r>
              <a:rPr lang="en-US" altLang="ja-JP" sz="1200" spc="30" dirty="0">
                <a:solidFill>
                  <a:schemeClr val="tx1"/>
                </a:solidFill>
                <a:latin typeface="+mn-ea"/>
              </a:rPr>
              <a:t>6</a:t>
            </a:r>
            <a:r>
              <a:rPr lang="ja-JP" altLang="en-US" sz="1200" spc="30" dirty="0">
                <a:solidFill>
                  <a:schemeClr val="tx1"/>
                </a:solidFill>
                <a:latin typeface="+mn-ea"/>
              </a:rPr>
              <a:t>月賞与の対象期間は、規程により</a:t>
            </a:r>
            <a:r>
              <a:rPr lang="en-US" altLang="ja-JP" sz="1200" spc="30" dirty="0">
                <a:solidFill>
                  <a:schemeClr val="tx1"/>
                </a:solidFill>
                <a:latin typeface="+mn-ea"/>
              </a:rPr>
              <a:t>12</a:t>
            </a:r>
            <a:r>
              <a:rPr lang="ja-JP" altLang="en-US" sz="1200" spc="30" dirty="0">
                <a:solidFill>
                  <a:schemeClr val="tx1"/>
                </a:solidFill>
                <a:latin typeface="+mn-ea"/>
              </a:rPr>
              <a:t>月～</a:t>
            </a:r>
            <a:r>
              <a:rPr lang="en-US" altLang="ja-JP" sz="1200" spc="30" dirty="0">
                <a:solidFill>
                  <a:schemeClr val="tx1"/>
                </a:solidFill>
                <a:latin typeface="+mn-ea"/>
              </a:rPr>
              <a:t>5</a:t>
            </a:r>
            <a:r>
              <a:rPr lang="ja-JP" altLang="en-US" sz="1200" spc="30" dirty="0">
                <a:solidFill>
                  <a:schemeClr val="tx1"/>
                </a:solidFill>
                <a:latin typeface="+mn-ea"/>
              </a:rPr>
              <a:t>月であり、以下のとおり経過分については当該期負担分として計上） </a:t>
            </a:r>
          </a:p>
        </p:txBody>
      </p:sp>
      <p:sp>
        <p:nvSpPr>
          <p:cNvPr id="27" name="正方形/長方形 26">
            <a:extLst>
              <a:ext uri="{FF2B5EF4-FFF2-40B4-BE49-F238E27FC236}">
                <a16:creationId xmlns:a16="http://schemas.microsoft.com/office/drawing/2014/main" id="{F299B0FD-FD31-4C2A-56D1-B1E2D666D6F0}"/>
              </a:ext>
            </a:extLst>
          </p:cNvPr>
          <p:cNvSpPr/>
          <p:nvPr/>
        </p:nvSpPr>
        <p:spPr>
          <a:xfrm>
            <a:off x="449263" y="494532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退職給付引当金</a:t>
            </a:r>
          </a:p>
        </p:txBody>
      </p:sp>
      <p:sp>
        <p:nvSpPr>
          <p:cNvPr id="28" name="テキスト ボックス 27">
            <a:extLst>
              <a:ext uri="{FF2B5EF4-FFF2-40B4-BE49-F238E27FC236}">
                <a16:creationId xmlns:a16="http://schemas.microsoft.com/office/drawing/2014/main" id="{0794CE8C-B50F-FA5F-8D70-8CF0044E8067}"/>
              </a:ext>
            </a:extLst>
          </p:cNvPr>
          <p:cNvSpPr txBox="1"/>
          <p:nvPr/>
        </p:nvSpPr>
        <p:spPr>
          <a:xfrm>
            <a:off x="449262" y="4509432"/>
            <a:ext cx="427246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defPPr>
              <a:defRPr lang="en-US"/>
            </a:defPPr>
            <a:lvl1pPr>
              <a:lnSpc>
                <a:spcPct val="110000"/>
              </a:lnSpc>
              <a:defRPr sz="800">
                <a:solidFill>
                  <a:schemeClr val="tx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t>※ </a:t>
            </a:r>
            <a:r>
              <a:rPr lang="ja-JP" altLang="en-US" dirty="0"/>
              <a:t>賞与引当額に対し、概算料率</a:t>
            </a:r>
            <a:r>
              <a:rPr lang="en-US" altLang="ja-JP" dirty="0"/>
              <a:t>15</a:t>
            </a:r>
            <a:r>
              <a:rPr lang="ja-JP" altLang="en-US" dirty="0"/>
              <a:t>％として社会保険料分を加算して引き当てる</a:t>
            </a:r>
          </a:p>
        </p:txBody>
      </p:sp>
      <p:graphicFrame>
        <p:nvGraphicFramePr>
          <p:cNvPr id="29" name="Table 28"/>
          <p:cNvGraphicFramePr>
            <a:graphicFrameLocks noGrp="1"/>
          </p:cNvGraphicFramePr>
          <p:nvPr/>
        </p:nvGraphicFramePr>
        <p:xfrm>
          <a:off x="448056" y="1225296"/>
          <a:ext cx="9793224" cy="822960"/>
        </p:xfrm>
        <a:graphic>
          <a:graphicData uri="http://schemas.openxmlformats.org/drawingml/2006/table">
            <a:tbl>
              <a:tblPr/>
              <a:tblGrid>
                <a:gridCol w="1645920"/>
                <a:gridCol w="1554480"/>
                <a:gridCol w="1188720"/>
                <a:gridCol w="1463040"/>
                <a:gridCol w="1280160"/>
                <a:gridCol w="2660904"/>
              </a:tblGrid>
              <a:tr h="411480">
                <a:tc>
                  <a:txBody>
                    <a:bodyPr wrap="square"/>
                    <a:lstStyle/>
                    <a:p>
                      <a:pPr algn="ctr"/>
                      <a:r>
                        <a:rPr sz="900" b="1" i="0">
                          <a:solidFill>
                            <a:srgbClr val="FFFFFF"/>
                          </a:solidFill>
                          <a:latin typeface="Arial"/>
                          <a:ea typeface="游ゴシック"/>
                        </a:rPr>
                        <a:t>対象（単位：千円）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令和8年3月計上の給料手当</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未払給与引当額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概算社会保険料（15％）</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未払費用（修正額）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411480">
                <a:tc>
                  <a:txBody>
                    <a:bodyPr wrap="square"/>
                    <a:lstStyle/>
                    <a:p>
                      <a:pPr algn="l"/>
                      <a:r>
                        <a:rPr sz="900" b="0" i="0">
                          <a:solidFill>
                            <a:srgbClr val="000000"/>
                          </a:solidFill>
                          <a:latin typeface="Arial"/>
                          <a:ea typeface="游ゴシック"/>
                        </a:rPr>
                        <a:t>令和8年3月分給与</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9,100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9,100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1,365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10,465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3月分給与は4月支給と推察。賃金規程未受領のため要確認</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graphicFrame>
        <p:nvGraphicFramePr>
          <p:cNvPr id="30" name="Table 29"/>
          <p:cNvGraphicFramePr>
            <a:graphicFrameLocks noGrp="1"/>
          </p:cNvGraphicFramePr>
          <p:nvPr/>
        </p:nvGraphicFramePr>
        <p:xfrm>
          <a:off x="448056" y="2871216"/>
          <a:ext cx="9793224" cy="822960"/>
        </p:xfrm>
        <a:graphic>
          <a:graphicData uri="http://schemas.openxmlformats.org/drawingml/2006/table">
            <a:tbl>
              <a:tblPr/>
              <a:tblGrid>
                <a:gridCol w="1645920"/>
                <a:gridCol w="1188720"/>
                <a:gridCol w="1005840"/>
                <a:gridCol w="1188720"/>
                <a:gridCol w="1188720"/>
                <a:gridCol w="3575304"/>
              </a:tblGrid>
              <a:tr h="411480">
                <a:tc>
                  <a:txBody>
                    <a:bodyPr wrap="square"/>
                    <a:lstStyle/>
                    <a:p>
                      <a:pPr algn="ctr"/>
                      <a:r>
                        <a:rPr sz="900" b="1" i="0">
                          <a:solidFill>
                            <a:srgbClr val="FFFFFF"/>
                          </a:solidFill>
                          <a:latin typeface="Arial"/>
                          <a:ea typeface="游ゴシック"/>
                        </a:rPr>
                        <a:t>対象（単位：千円）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支払予定賞与</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引当額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概算社会保険料</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引当不足額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411480">
                <a:tc>
                  <a:txBody>
                    <a:bodyPr wrap="square"/>
                    <a:lstStyle/>
                    <a:p>
                      <a:pPr algn="l"/>
                      <a:r>
                        <a:rPr sz="900" b="0" i="0">
                          <a:solidFill>
                            <a:srgbClr val="000000"/>
                          </a:solidFill>
                          <a:latin typeface="Arial"/>
                          <a:ea typeface="游ゴシック"/>
                        </a:rPr>
                        <a:t>従業員</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賞与規程・支給実績未受領（給与台帳上、賞与の記載なし）</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graphicFrame>
        <p:nvGraphicFramePr>
          <p:cNvPr id="31" name="Table 30"/>
          <p:cNvGraphicFramePr>
            <a:graphicFrameLocks noGrp="1"/>
          </p:cNvGraphicFramePr>
          <p:nvPr/>
        </p:nvGraphicFramePr>
        <p:xfrm>
          <a:off x="448056" y="5294376"/>
          <a:ext cx="9793224" cy="822960"/>
        </p:xfrm>
        <a:graphic>
          <a:graphicData uri="http://schemas.openxmlformats.org/drawingml/2006/table">
            <a:tbl>
              <a:tblPr/>
              <a:tblGrid>
                <a:gridCol w="1645920"/>
                <a:gridCol w="914400"/>
                <a:gridCol w="1005840"/>
                <a:gridCol w="1005840"/>
                <a:gridCol w="5221224"/>
              </a:tblGrid>
              <a:tr h="411480">
                <a:tc>
                  <a:txBody>
                    <a:bodyPr wrap="square"/>
                    <a:lstStyle/>
                    <a:p>
                      <a:pPr algn="ctr"/>
                      <a:r>
                        <a:rPr sz="900" b="1" i="0">
                          <a:solidFill>
                            <a:srgbClr val="FFFFFF"/>
                          </a:solidFill>
                          <a:latin typeface="Arial"/>
                          <a:ea typeface="游ゴシック"/>
                        </a:rPr>
                        <a:t>対象（単位：千円）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要支給額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中退共積立額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引当不足額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411480">
                <a:tc>
                  <a:txBody>
                    <a:bodyPr wrap="square"/>
                    <a:lstStyle/>
                    <a:p>
                      <a:pPr algn="l"/>
                      <a:r>
                        <a:rPr sz="900" b="0" i="0">
                          <a:solidFill>
                            <a:srgbClr val="000000"/>
                          </a:solidFill>
                          <a:latin typeface="Arial"/>
                          <a:ea typeface="游ゴシック"/>
                        </a:rPr>
                        <a:t>従業員・役員</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退職金規程・中退共等の加入資料が未受領のため要支給額を算定できず、引当は未計上（簿外債務の可能性：要確認）</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Tree>
    <p:extLst>
      <p:ext uri="{BB962C8B-B14F-4D97-AF65-F5344CB8AC3E}">
        <p14:creationId xmlns:p14="http://schemas.microsoft.com/office/powerpoint/2010/main" val="308238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1C8A932C-3A56-8E16-9F67-78459A90DF5C}"/>
              </a:ext>
            </a:extLst>
          </p:cNvPr>
          <p:cNvSpPr>
            <a:spLocks noGrp="1"/>
          </p:cNvSpPr>
          <p:nvPr>
            <p:ph type="ctrTitle"/>
          </p:nvPr>
        </p:nvSpPr>
        <p:spPr>
          <a:xfrm>
            <a:off x="341313" y="180653"/>
            <a:ext cx="7799917" cy="338554"/>
          </a:xfrm>
        </p:spPr>
        <p:txBody>
          <a:bodyPr/>
          <a:lstStyle/>
          <a:p>
            <a:r>
              <a:rPr lang="ja-JP" altLang="en-US" dirty="0"/>
              <a:t>税効果の調整</a:t>
            </a:r>
          </a:p>
        </p:txBody>
      </p:sp>
      <p:sp>
        <p:nvSpPr>
          <p:cNvPr id="2" name="タイトル 1">
            <a:extLst>
              <a:ext uri="{FF2B5EF4-FFF2-40B4-BE49-F238E27FC236}">
                <a16:creationId xmlns:a16="http://schemas.microsoft.com/office/drawing/2014/main" id="{DFCB130F-D78E-0C5D-7DC2-AFBC9F857B3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0" name="正方形/長方形 9">
            <a:extLst>
              <a:ext uri="{FF2B5EF4-FFF2-40B4-BE49-F238E27FC236}">
                <a16:creationId xmlns:a16="http://schemas.microsoft.com/office/drawing/2014/main" id="{ED11EB31-6686-F195-92DD-0761E10F875A}"/>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基本方針</a:t>
            </a:r>
          </a:p>
        </p:txBody>
      </p:sp>
      <p:sp>
        <p:nvSpPr>
          <p:cNvPr id="17" name="テキスト ボックス 16">
            <a:extLst>
              <a:ext uri="{FF2B5EF4-FFF2-40B4-BE49-F238E27FC236}">
                <a16:creationId xmlns:a16="http://schemas.microsoft.com/office/drawing/2014/main" id="{BA62E5FE-8641-DF98-7174-7DE3B1A25AE5}"/>
              </a:ext>
            </a:extLst>
          </p:cNvPr>
          <p:cNvSpPr txBox="1"/>
          <p:nvPr/>
        </p:nvSpPr>
        <p:spPr>
          <a:xfrm>
            <a:off x="449263" y="1223963"/>
            <a:ext cx="9793287" cy="502445"/>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a:t>毎期十分な課税所得が発生していると判断でき、短～中期的に実現可能性の高い修正科目については税効果を考慮して算出（実効税率は</a:t>
            </a:r>
            <a:r>
              <a:rPr lang="en-US" altLang="ja-JP" dirty="0"/>
              <a:t>34</a:t>
            </a:r>
            <a:r>
              <a:rPr lang="ja-JP" altLang="en-US" dirty="0"/>
              <a:t>％として計算）</a:t>
            </a:r>
          </a:p>
        </p:txBody>
      </p:sp>
      <p:sp>
        <p:nvSpPr>
          <p:cNvPr id="20" name="正方形/長方形 19">
            <a:extLst>
              <a:ext uri="{FF2B5EF4-FFF2-40B4-BE49-F238E27FC236}">
                <a16:creationId xmlns:a16="http://schemas.microsoft.com/office/drawing/2014/main" id="{4E85319F-4947-7509-A9DE-514679D45261}"/>
              </a:ext>
            </a:extLst>
          </p:cNvPr>
          <p:cNvSpPr/>
          <p:nvPr/>
        </p:nvSpPr>
        <p:spPr>
          <a:xfrm>
            <a:off x="449263" y="6577517"/>
            <a:ext cx="9227230" cy="2630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nSpc>
                <a:spcPct val="110000"/>
              </a:lnSpc>
            </a:pPr>
            <a:r>
              <a:rPr lang="en-US" altLang="ja-JP" sz="800" dirty="0">
                <a:solidFill>
                  <a:schemeClr val="tx1"/>
                </a:solidFill>
                <a:latin typeface="+mn-ea"/>
              </a:rPr>
              <a:t>※</a:t>
            </a:r>
            <a:r>
              <a:rPr lang="ja-JP" altLang="en-US" sz="800" dirty="0">
                <a:solidFill>
                  <a:schemeClr val="tx1"/>
                </a:solidFill>
                <a:latin typeface="+mn-ea"/>
              </a:rPr>
              <a:t>「修正額」の符号は、、純資産への影響を示す</a:t>
            </a:r>
            <a:endParaRPr lang="en-US" altLang="ja-JP" sz="800" dirty="0">
              <a:solidFill>
                <a:schemeClr val="tx1"/>
              </a:solidFill>
              <a:latin typeface="+mn-ea"/>
            </a:endParaRPr>
          </a:p>
          <a:p>
            <a:pPr>
              <a:lnSpc>
                <a:spcPct val="110000"/>
              </a:lnSpc>
            </a:pPr>
            <a:r>
              <a:rPr lang="en-US" altLang="ja-JP" sz="800" dirty="0">
                <a:solidFill>
                  <a:schemeClr val="tx1"/>
                </a:solidFill>
                <a:latin typeface="+mn-ea"/>
              </a:rPr>
              <a:t>※</a:t>
            </a:r>
            <a:r>
              <a:rPr lang="ja-JP" altLang="en-US" sz="800" dirty="0">
                <a:solidFill>
                  <a:schemeClr val="tx1"/>
                </a:solidFill>
                <a:latin typeface="+mn-ea"/>
              </a:rPr>
              <a:t>「繰延税金資産／負債」の符号は、正が繰延税金資産、負が繰延税金負債を示す</a:t>
            </a:r>
          </a:p>
        </p:txBody>
      </p:sp>
      <p:graphicFrame>
        <p:nvGraphicFramePr>
          <p:cNvPr id="21" name="Table 20"/>
          <p:cNvGraphicFramePr>
            <a:graphicFrameLocks noGrp="1"/>
          </p:cNvGraphicFramePr>
          <p:nvPr/>
        </p:nvGraphicFramePr>
        <p:xfrm>
          <a:off x="448056" y="1929384"/>
          <a:ext cx="9793224" cy="3401568"/>
        </p:xfrm>
        <a:graphic>
          <a:graphicData uri="http://schemas.openxmlformats.org/drawingml/2006/table">
            <a:tbl>
              <a:tblPr/>
              <a:tblGrid>
                <a:gridCol w="2011680"/>
                <a:gridCol w="822960"/>
                <a:gridCol w="1280160"/>
                <a:gridCol w="1554480"/>
                <a:gridCol w="4123944"/>
              </a:tblGrid>
              <a:tr h="283464">
                <a:tc>
                  <a:txBody>
                    <a:bodyPr wrap="square"/>
                    <a:lstStyle/>
                    <a:p>
                      <a:pPr algn="ctr"/>
                      <a:r>
                        <a:rPr sz="850" b="1" i="0">
                          <a:solidFill>
                            <a:srgbClr val="FFFFFF"/>
                          </a:solidFill>
                          <a:latin typeface="Arial"/>
                          <a:ea typeface="游ゴシック"/>
                        </a:rPr>
                        <a:t>修正科目（単位：千円）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適用判定</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繰延税金資産／負債</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283464">
                <a:tc>
                  <a:txBody>
                    <a:bodyPr wrap="square"/>
                    <a:lstStyle/>
                    <a:p>
                      <a:pPr algn="l"/>
                      <a:r>
                        <a:rPr sz="850" b="0" i="0">
                          <a:solidFill>
                            <a:srgbClr val="000000"/>
                          </a:solidFill>
                          <a:latin typeface="Arial"/>
                          <a:ea typeface="游ゴシック"/>
                        </a:rPr>
                        <a:t>売掛金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修正なし</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棚卸資産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修正なし</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建物</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修正なし</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土地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時価評価未実施（簿価評価）のため修正なし</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電話加入権</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流動性がないため、除外</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保険積立金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該当なし</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投資有価証券</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該当なし</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未払費用</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△10,465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3,558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3月分給与の未払計上に係る一時差異（実効税率34%）</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賞与引当金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修正なし（賞与実績未確認）</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退職給付引当</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修正なし（退職金規程未受領・要確認）</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ctr"/>
                      <a:r>
                        <a:rPr sz="850" b="1" i="0">
                          <a:solidFill>
                            <a:srgbClr val="000000"/>
                          </a:solidFill>
                          <a:latin typeface="Arial"/>
                          <a:ea typeface="游ゴシック"/>
                        </a:rPr>
                        <a:t>－</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△10,465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3,558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850" b="1" i="0">
                          <a:solidFill>
                            <a:srgbClr val="000000"/>
                          </a:solidFill>
                          <a:latin typeface="Arial"/>
                          <a:ea typeface="游ゴシック"/>
                        </a:rPr>
                        <a:t>修正なし</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1090390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t>ネットキャッシュの算定</a:t>
            </a:r>
            <a:endParaRPr lang="ja-JP" altLang="en-US" sz="1800" dirty="0"/>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10" name="Table 9"/>
          <p:cNvGraphicFramePr>
            <a:graphicFrameLocks noGrp="1"/>
          </p:cNvGraphicFramePr>
          <p:nvPr/>
        </p:nvGraphicFramePr>
        <p:xfrm>
          <a:off x="448056" y="1225296"/>
          <a:ext cx="4754880" cy="3419856"/>
        </p:xfrm>
        <a:graphic>
          <a:graphicData uri="http://schemas.openxmlformats.org/drawingml/2006/table">
            <a:tbl>
              <a:tblPr/>
              <a:tblGrid>
                <a:gridCol w="3108960"/>
                <a:gridCol w="1645920"/>
              </a:tblGrid>
              <a:tr h="310896">
                <a:tc>
                  <a:txBody>
                    <a:bodyPr wrap="square"/>
                    <a:lstStyle/>
                    <a:p>
                      <a:pPr algn="ctr"/>
                      <a:r>
                        <a:rPr sz="900" b="1" i="0">
                          <a:solidFill>
                            <a:srgbClr val="FFFFFF"/>
                          </a:solidFill>
                          <a:latin typeface="Arial"/>
                          <a:ea typeface="游ゴシック"/>
                        </a:rPr>
                        <a:t>キャッシュライクアイテム（単位：千円）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金額</a:t>
                      </a:r>
                    </a:p>
                  </a:txBody>
                  <a:tcPr marL="45720" marR="45720" marT="13716" marB="13716" anchor="ctr">
                    <a:lnL w="0">
                      <a:noFill/>
                    </a:lnL>
                    <a:lnR w="0">
                      <a:noFill/>
                    </a:lnR>
                    <a:lnT w="0">
                      <a:noFill/>
                    </a:lnT>
                    <a:lnB w="0">
                      <a:noFill/>
                    </a:lnB>
                    <a:solidFill>
                      <a:srgbClr val="0B3041"/>
                    </a:solidFill>
                  </a:tcPr>
                </a:tc>
              </a:tr>
              <a:tr h="310896">
                <a:tc>
                  <a:txBody>
                    <a:bodyPr wrap="square"/>
                    <a:lstStyle/>
                    <a:p>
                      <a:pPr algn="l"/>
                      <a:r>
                        <a:rPr sz="900" b="0" i="0">
                          <a:solidFill>
                            <a:srgbClr val="000000"/>
                          </a:solidFill>
                          <a:latin typeface="Arial"/>
                          <a:ea typeface="游ゴシック"/>
                        </a:rPr>
                        <a:t>現金及び預金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226,057</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役員貸付金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従業員貸付金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立替金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保険積立金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投資有価証券</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売却予定不動産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売却予定車両</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未収還付法人税等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10,878</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236,936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11" name="Table 10"/>
          <p:cNvGraphicFramePr>
            <a:graphicFrameLocks noGrp="1"/>
          </p:cNvGraphicFramePr>
          <p:nvPr/>
        </p:nvGraphicFramePr>
        <p:xfrm>
          <a:off x="5394960" y="1225296"/>
          <a:ext cx="4754880" cy="3419856"/>
        </p:xfrm>
        <a:graphic>
          <a:graphicData uri="http://schemas.openxmlformats.org/drawingml/2006/table">
            <a:tbl>
              <a:tblPr/>
              <a:tblGrid>
                <a:gridCol w="3108960"/>
                <a:gridCol w="1645920"/>
              </a:tblGrid>
              <a:tr h="310896">
                <a:tc>
                  <a:txBody>
                    <a:bodyPr wrap="square"/>
                    <a:lstStyle/>
                    <a:p>
                      <a:pPr algn="ctr"/>
                      <a:r>
                        <a:rPr sz="900" b="1" i="0">
                          <a:solidFill>
                            <a:srgbClr val="FFFFFF"/>
                          </a:solidFill>
                          <a:latin typeface="Arial"/>
                          <a:ea typeface="游ゴシック"/>
                        </a:rPr>
                        <a:t>デットライクアイテム（単位：千円）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金額</a:t>
                      </a:r>
                    </a:p>
                  </a:txBody>
                  <a:tcPr marL="45720" marR="45720" marT="13716" marB="13716" anchor="ctr">
                    <a:lnL w="0">
                      <a:noFill/>
                    </a:lnL>
                    <a:lnR w="0">
                      <a:noFill/>
                    </a:lnR>
                    <a:lnT w="0">
                      <a:noFill/>
                    </a:lnT>
                    <a:lnB w="0">
                      <a:noFill/>
                    </a:lnB>
                    <a:solidFill>
                      <a:srgbClr val="0B3041"/>
                    </a:solidFill>
                  </a:tcPr>
                </a:tc>
              </a:tr>
              <a:tr h="310896">
                <a:tc>
                  <a:txBody>
                    <a:bodyPr wrap="square"/>
                    <a:lstStyle/>
                    <a:p>
                      <a:pPr algn="l"/>
                      <a:r>
                        <a:rPr sz="900" b="0" i="0">
                          <a:solidFill>
                            <a:srgbClr val="000000"/>
                          </a:solidFill>
                          <a:latin typeface="Arial"/>
                          <a:ea typeface="游ゴシック"/>
                        </a:rPr>
                        <a:t>借入金（金融機関）</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86,156</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（短期・長期の区分は借入金明細未受領）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社債</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役員借入金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359,667</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未払法人税</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97</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資産除去債務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役員退職慰労金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営業循環外前受金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ファイナンスリース債務（未確認）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445,920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2" name="Rectangle 11"/>
          <p:cNvSpPr/>
          <p:nvPr/>
        </p:nvSpPr>
        <p:spPr>
          <a:xfrm>
            <a:off x="448056" y="4846320"/>
            <a:ext cx="9793224" cy="45720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1200" dirty="0" b="1">
                <a:solidFill>
                  <a:srgbClr val="FFFFFF"/>
                </a:solidFill>
                <a:latin typeface="+mn-ea"/>
                <a:ea typeface="+mn-ea"/>
              </a:rPr>
              <a:t>ネットキャッシュ　△208,984千円　（キャッシュライク 236,936千円 － デットライク 445,920千円）</a:t>
            </a:r>
            <a:endParaRPr kumimoji="1" lang="ja-JP" altLang="en-US" sz="1200" dirty="0"/>
          </a:p>
        </p:txBody>
      </p:sp>
      <p:sp>
        <p:nvSpPr>
          <p:cNvPr id="13" name="TextBox 12"/>
          <p:cNvSpPr txBox="1"/>
          <p:nvPr/>
        </p:nvSpPr>
        <p:spPr>
          <a:xfrm>
            <a:off x="448056" y="5440680"/>
            <a:ext cx="9793224" cy="1097280"/>
          </a:xfrm>
          <a:prstGeom prst="rect">
            <a:avLst/>
          </a:prstGeom>
          <a:noFill/>
        </p:spPr>
        <p:txBody>
          <a:bodyPr wrap="square" lIns="0" tIns="0" rIns="0" bIns="0" anchor="t">
            <a:spAutoFit/>
          </a:bodyPr>
          <a:lstStyle/>
          <a:p>
            <a:pPr>
              <a:spcAft>
                <a:spcPts val="100"/>
              </a:spcAft>
            </a:pPr>
            <a:r>
              <a:rPr kumimoji="1" lang="ja-JP" altLang="en-US" sz="900" dirty="0">
                <a:solidFill>
                  <a:schemeClr val="tx1"/>
                </a:solidFill>
                <a:latin typeface="+mn-ea"/>
                <a:ea typeface="+mn-ea"/>
              </a:rPr>
              <a:t>・借入金（金融機関）86,156千円と役員借入金359,667千円の合計445,823千円は、BSの短期借入金173,077千円・長期借入金272,746千円の内訳（勘定科目内訳明細書）による。短期・長期の区分は借入金明細が未受領のため要確認</a:t>
            </a:r>
            <a:endParaRPr kumimoji="1" lang="ja-JP" altLang="en-US" sz="900" dirty="0"/>
          </a:p>
          <a:p>
            <a:pPr>
              <a:spcAft>
                <a:spcPts val="100"/>
              </a:spcAft>
            </a:pPr>
            <a:r>
              <a:rPr kumimoji="1" lang="ja-JP" altLang="en-US" sz="900" dirty="0">
                <a:solidFill>
                  <a:schemeClr val="tx1"/>
                </a:solidFill>
                <a:latin typeface="+mn-ea"/>
                <a:ea typeface="+mn-ea"/>
              </a:rPr>
              <a:t>・未収還付法人税等は実現見込みを要確認のうえ、キャッシュライクに算入</a:t>
            </a:r>
            <a:endParaRPr kumimoji="1" lang="ja-JP" altLang="en-US" sz="900" dirty="0"/>
          </a:p>
          <a:p>
            <a:pPr>
              <a:spcAft>
                <a:spcPts val="100"/>
              </a:spcAft>
            </a:pPr>
            <a:r>
              <a:rPr kumimoji="1" lang="ja-JP" altLang="en-US" sz="900" dirty="0">
                <a:solidFill>
                  <a:schemeClr val="tx1"/>
                </a:solidFill>
                <a:latin typeface="+mn-ea"/>
                <a:ea typeface="+mn-ea"/>
              </a:rPr>
              <a:t>・リース債務・退職金・賞与は資料未受領のため未算入（要確認）。令和8年3月分給与の未払は修正BS（未払費用）で反映済み</a:t>
            </a:r>
            <a:endParaRPr kumimoji="1" lang="ja-JP" altLang="en-US" sz="900" dirty="0"/>
          </a:p>
          <a:p>
            <a:pPr>
              <a:spcAft>
                <a:spcPts val="100"/>
              </a:spcAft>
            </a:pPr>
            <a:r>
              <a:rPr kumimoji="1" lang="ja-JP" altLang="en-US" sz="900" dirty="0">
                <a:solidFill>
                  <a:schemeClr val="tx1"/>
                </a:solidFill>
                <a:latin typeface="+mn-ea"/>
                <a:ea typeface="+mn-ea"/>
              </a:rPr>
              <a:t>・ネットキャッシュ（△）は、現預金等を借入金が上回る状態（ネットデット）を示す。本評価書の年買法による株式価値は、これらを負債として控除した後の時価純資産を基礎としている</a:t>
            </a:r>
            <a:endParaRPr kumimoji="1" lang="ja-JP" altLang="en-US" sz="900" dirty="0"/>
          </a:p>
        </p:txBody>
      </p:sp>
    </p:spTree>
    <p:extLst>
      <p:ext uri="{BB962C8B-B14F-4D97-AF65-F5344CB8AC3E}">
        <p14:creationId xmlns:p14="http://schemas.microsoft.com/office/powerpoint/2010/main" val="130158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a:t>
            </a:r>
            <a:r>
              <a:rPr lang="en-US" altLang="ja-JP" dirty="0"/>
              <a:t>PL</a:t>
            </a:r>
            <a:r>
              <a:rPr lang="ja-JP" altLang="en-US" dirty="0"/>
              <a:t>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9" name="Table 8"/>
          <p:cNvGraphicFramePr>
            <a:graphicFrameLocks noGrp="1"/>
          </p:cNvGraphicFramePr>
          <p:nvPr/>
        </p:nvGraphicFramePr>
        <p:xfrm>
          <a:off x="448056" y="1225296"/>
          <a:ext cx="8869680" cy="4818888"/>
        </p:xfrm>
        <a:graphic>
          <a:graphicData uri="http://schemas.openxmlformats.org/drawingml/2006/table">
            <a:tbl>
              <a:tblPr/>
              <a:tblGrid>
                <a:gridCol w="3383280"/>
                <a:gridCol w="1051560"/>
                <a:gridCol w="777240"/>
                <a:gridCol w="1051560"/>
                <a:gridCol w="777240"/>
                <a:gridCol w="1051560"/>
                <a:gridCol w="777240"/>
              </a:tblGrid>
              <a:tr h="283464">
                <a:tc>
                  <a:txBody>
                    <a:bodyPr wrap="square"/>
                    <a:lstStyle/>
                    <a:p>
                      <a:pPr algn="ctr"/>
                      <a:r>
                        <a:rPr sz="850" b="1" i="0">
                          <a:solidFill>
                            <a:srgbClr val="FFFFFF"/>
                          </a:solidFill>
                          <a:latin typeface="Arial"/>
                          <a:ea typeface="游ゴシック"/>
                        </a:rPr>
                        <a:t>科目（単位：千円）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R6/3期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売上高比</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R7/3期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売上高比</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R8/3期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売上高比</a:t>
                      </a:r>
                    </a:p>
                  </a:txBody>
                  <a:tcPr marL="45720" marR="45720" marT="13716" marB="13716" anchor="ctr">
                    <a:lnL w="0">
                      <a:noFill/>
                    </a:lnL>
                    <a:lnR w="0">
                      <a:noFill/>
                    </a:lnR>
                    <a:lnT w="0">
                      <a:noFill/>
                    </a:lnT>
                    <a:lnB w="0">
                      <a:noFill/>
                    </a:lnB>
                    <a:solidFill>
                      <a:srgbClr val="0B3041"/>
                    </a:solidFill>
                  </a:tcPr>
                </a:tc>
              </a:tr>
              <a:tr h="283464">
                <a:tc>
                  <a:txBody>
                    <a:bodyPr wrap="square"/>
                    <a:lstStyle/>
                    <a:p>
                      <a:pPr algn="l" marL="109728"/>
                      <a:r>
                        <a:rPr sz="850" b="0" i="0">
                          <a:solidFill>
                            <a:srgbClr val="000000"/>
                          </a:solidFill>
                          <a:latin typeface="Arial"/>
                          <a:ea typeface="游ゴシック"/>
                        </a:rPr>
                        <a:t>店舗・EC等売上高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366,806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95.7%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344,798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303,703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95.1%</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marL="109728"/>
                      <a:r>
                        <a:rPr sz="850" b="0" i="0">
                          <a:solidFill>
                            <a:srgbClr val="000000"/>
                          </a:solidFill>
                          <a:latin typeface="Arial"/>
                          <a:ea typeface="游ゴシック"/>
                        </a:rPr>
                        <a:t>不動産賃貸収入</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16,634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16,832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1,635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0.5%</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marL="109728"/>
                      <a:r>
                        <a:rPr sz="850" b="0" i="0">
                          <a:solidFill>
                            <a:srgbClr val="000000"/>
                          </a:solidFill>
                          <a:latin typeface="Arial"/>
                          <a:ea typeface="游ゴシック"/>
                        </a:rPr>
                        <a:t>不動産売却収入</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869,200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marL="109728"/>
                      <a:r>
                        <a:rPr sz="850" b="0" i="0">
                          <a:solidFill>
                            <a:srgbClr val="000000"/>
                          </a:solidFill>
                          <a:latin typeface="Arial"/>
                          <a:ea typeface="游ゴシック"/>
                        </a:rPr>
                        <a:t>コンサル収入</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14,000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4.4%</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1" i="0">
                          <a:solidFill>
                            <a:srgbClr val="000000"/>
                          </a:solidFill>
                          <a:latin typeface="Arial"/>
                          <a:ea typeface="游ゴシック"/>
                        </a:rPr>
                        <a:t>売上高</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383,439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1,230,830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319,338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83464">
                <a:tc>
                  <a:txBody>
                    <a:bodyPr wrap="square"/>
                    <a:lstStyle/>
                    <a:p>
                      <a:pPr algn="l"/>
                      <a:r>
                        <a:rPr sz="850" b="0" i="0">
                          <a:solidFill>
                            <a:srgbClr val="000000"/>
                          </a:solidFill>
                          <a:latin typeface="Arial"/>
                          <a:ea typeface="游ゴシック"/>
                        </a:rPr>
                        <a:t>売上原価（令和7年3月期に不動産売却関連原価636,056千円を含む）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104,842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736,922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59.9%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96,206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30.1%</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1" i="0">
                          <a:solidFill>
                            <a:srgbClr val="000000"/>
                          </a:solidFill>
                          <a:latin typeface="Arial"/>
                          <a:ea typeface="游ゴシック"/>
                        </a:rPr>
                        <a:t>売上総利益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278,597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72.7%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493,908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40.1%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223,132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69.9%</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販売費及び一般管理費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283,552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73.9%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273,060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222,261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69.6%</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1" i="0">
                          <a:solidFill>
                            <a:srgbClr val="000000"/>
                          </a:solidFill>
                          <a:latin typeface="Arial"/>
                          <a:ea typeface="游ゴシック"/>
                        </a:rPr>
                        <a:t>営業利益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△4,955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△1.3%</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220,847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17.9%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871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0.3%</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83464">
                <a:tc>
                  <a:txBody>
                    <a:bodyPr wrap="square"/>
                    <a:lstStyle/>
                    <a:p>
                      <a:pPr algn="l"/>
                      <a:r>
                        <a:rPr sz="850" b="0" i="0">
                          <a:solidFill>
                            <a:srgbClr val="000000"/>
                          </a:solidFill>
                          <a:latin typeface="Arial"/>
                          <a:ea typeface="游ゴシック"/>
                        </a:rPr>
                        <a:t>営業外収益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416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2,888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2,925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0.9%</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営業外費用</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12,168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1" i="0">
                          <a:solidFill>
                            <a:srgbClr val="000000"/>
                          </a:solidFill>
                          <a:latin typeface="Arial"/>
                          <a:ea typeface="游ゴシック"/>
                        </a:rPr>
                        <a:t>経常利益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△7,290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211,568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581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0.2%</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特別損失（固定資産除却損）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81,258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税引前当期純利益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△7,290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130,310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581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0.2%</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法人税等（令和8年3月期は過年度法人税等48,375千円を含む）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21,953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48,664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15.2%</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1" i="0">
                          <a:solidFill>
                            <a:srgbClr val="000000"/>
                          </a:solidFill>
                          <a:latin typeface="Arial"/>
                          <a:ea typeface="游ゴシック"/>
                        </a:rPr>
                        <a:t>税引後当期純利益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△7,485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108,356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8.8%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△48,084</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△15.1%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0" name="TextBox 9"/>
          <p:cNvSpPr txBox="1"/>
          <p:nvPr/>
        </p:nvSpPr>
        <p:spPr>
          <a:xfrm>
            <a:off x="448056" y="6172200"/>
            <a:ext cx="9793224" cy="457200"/>
          </a:xfrm>
          <a:prstGeom prst="rect">
            <a:avLst/>
          </a:prstGeom>
          <a:noFill/>
        </p:spPr>
        <p:txBody>
          <a:bodyPr wrap="square" lIns="0" tIns="0" rIns="0" bIns="0" anchor="t">
            <a:spAutoFit/>
          </a:bodyPr>
          <a:lstStyle/>
          <a:p>
            <a:pPr>
              <a:spcAft>
                <a:spcPts val="100"/>
              </a:spcAft>
            </a:pPr>
            <a:r>
              <a:rPr kumimoji="1" lang="ja-JP" altLang="en-US" sz="850" dirty="0">
                <a:solidFill>
                  <a:schemeClr val="tx1"/>
                </a:solidFill>
                <a:latin typeface="+mn-ea"/>
                <a:ea typeface="+mn-ea"/>
              </a:rPr>
              <a:t>・令和7年3月期の売上高・営業利益は、賃貸不動産の売却（売却収入869,200千円、売却関連原価636,056千円）を含み、継続的な収益力を示すものではない</a:t>
            </a:r>
            <a:endParaRPr kumimoji="1" lang="ja-JP" altLang="en-US" sz="850" dirty="0"/>
          </a:p>
          <a:p>
            <a:pPr>
              <a:spcAft>
                <a:spcPts val="100"/>
              </a:spcAft>
            </a:pPr>
            <a:r>
              <a:rPr kumimoji="1" lang="ja-JP" altLang="en-US" sz="850" dirty="0">
                <a:solidFill>
                  <a:schemeClr val="tx1"/>
                </a:solidFill>
                <a:latin typeface="+mn-ea"/>
                <a:ea typeface="+mn-ea"/>
              </a:rPr>
              <a:t>・令和8年3月期の売上は、コンサル収入14,000千円（相手先不明・単発）を含む（要確認）</a:t>
            </a:r>
            <a:endParaRPr kumimoji="1" lang="ja-JP" altLang="en-US" sz="850" dirty="0"/>
          </a:p>
        </p:txBody>
      </p:sp>
      <p:sp>
        <p:nvSpPr>
          <p:cNvPr id="11" name="TextBox 10"/>
          <p:cNvSpPr txBox="1"/>
          <p:nvPr/>
        </p:nvSpPr>
        <p:spPr>
          <a:xfrm>
            <a:off x="448056" y="6629400"/>
            <a:ext cx="9784080" cy="201168"/>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※千円未満の端数処理により、合計が一致しない場合があります。</a:t>
            </a:r>
            <a:endParaRPr kumimoji="1" lang="ja-JP" altLang="en-US" sz="800" dirty="0"/>
          </a:p>
        </p:txBody>
      </p:sp>
    </p:spTree>
    <p:extLst>
      <p:ext uri="{BB962C8B-B14F-4D97-AF65-F5344CB8AC3E}">
        <p14:creationId xmlns:p14="http://schemas.microsoft.com/office/powerpoint/2010/main" val="4072389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5650247-1E40-B7CB-0FCF-640931A69AE2}"/>
              </a:ext>
            </a:extLst>
          </p:cNvPr>
          <p:cNvSpPr txBox="1"/>
          <p:nvPr/>
        </p:nvSpPr>
        <p:spPr>
          <a:xfrm>
            <a:off x="2111171" y="5948399"/>
            <a:ext cx="4076270" cy="6026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zh-TW" altLang="en-US" dirty="0" sz="900" b="0"/>
              <a:t>不動産管理費：売却済の賃貸不動産に係る費用と推察し、全額を控除（要確認）</a:t>
            </a:r>
            <a:endParaRPr lang="en-US" altLang="zh-TW" dirty="0"/>
          </a:p>
          <a:p>
            <a:pPr>
              <a:lnSpc>
                <a:spcPct val="110000"/>
              </a:lnSpc>
              <a:spcAft>
                <a:spcPts val="200"/>
              </a:spcAft>
              <a:tabLst>
                <a:tab pos="1165225" algn="l"/>
                <a:tab pos="1341438" algn="l"/>
              </a:tabLst>
            </a:pPr>
            <a:r>
              <a:rPr lang="zh-TW" altLang="en-US" dirty="0" sz="900" b="0"/>
              <a:t>役員報酬：年1,920千円と低水準。新体制の報酬は未確認のため置換していない</a:t>
            </a:r>
          </a:p>
        </p:txBody>
      </p:sp>
      <p:sp>
        <p:nvSpPr>
          <p:cNvPr id="10" name="テキスト ボックス 9">
            <a:extLst>
              <a:ext uri="{FF2B5EF4-FFF2-40B4-BE49-F238E27FC236}">
                <a16:creationId xmlns:a16="http://schemas.microsoft.com/office/drawing/2014/main" id="{5C31AA95-0BB6-0D0B-FC28-F6C825128C15}"/>
              </a:ext>
            </a:extLst>
          </p:cNvPr>
          <p:cNvSpPr txBox="1"/>
          <p:nvPr/>
        </p:nvSpPr>
        <p:spPr>
          <a:xfrm>
            <a:off x="6332744" y="5948399"/>
            <a:ext cx="3862181" cy="6026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987425" algn="l"/>
              </a:tabLst>
            </a:pPr>
            <a:r>
              <a:rPr lang="ja-JP" altLang="en-US" dirty="0" sz="900" b="0"/>
              <a:t>その他の科目：私的費用・一過性費用の有無は総勘定元帳の精査が未了のため、修正していない（要確認）</a:t>
            </a:r>
            <a:endParaRPr lang="en-US" altLang="ja-JP" dirty="0"/>
          </a:p>
          <a:p>
            <a:pPr>
              <a:lnSpc>
                <a:spcPct val="110000"/>
              </a:lnSpc>
              <a:spcAft>
                <a:spcPts val="200"/>
              </a:spcAft>
              <a:tabLst>
                <a:tab pos="987425" algn="l"/>
              </a:tabLst>
            </a:pPr>
            <a:r>
              <a:rPr lang="ja-JP" altLang="en-US" dirty="0" sz="900" b="0"/>
              <a:t>令和7年3月期は修繕費12,668千円・旅費交通費13,621千円等が増加（不動産売却関連の可能性：要確認）</a:t>
            </a:r>
          </a:p>
        </p:txBody>
      </p:sp>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58081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14" name="テキスト ボックス 13">
            <a:extLst>
              <a:ext uri="{FF2B5EF4-FFF2-40B4-BE49-F238E27FC236}">
                <a16:creationId xmlns:a16="http://schemas.microsoft.com/office/drawing/2014/main" id="{0A2F1672-3CF9-A8E1-62DF-0697AFFEBEE3}"/>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graphicFrame>
        <p:nvGraphicFramePr>
          <p:cNvPr id="15" name="Table 14"/>
          <p:cNvGraphicFramePr>
            <a:graphicFrameLocks noGrp="1"/>
          </p:cNvGraphicFramePr>
          <p:nvPr/>
        </p:nvGraphicFramePr>
        <p:xfrm>
          <a:off x="448056" y="1078992"/>
          <a:ext cx="9482328" cy="3950208"/>
        </p:xfrm>
        <a:graphic>
          <a:graphicData uri="http://schemas.openxmlformats.org/drawingml/2006/table">
            <a:tbl>
              <a:tblPr/>
              <a:tblGrid>
                <a:gridCol w="1828800"/>
                <a:gridCol w="850392"/>
                <a:gridCol w="850392"/>
                <a:gridCol w="850392"/>
                <a:gridCol w="850392"/>
                <a:gridCol w="850392"/>
                <a:gridCol w="850392"/>
                <a:gridCol w="850392"/>
                <a:gridCol w="850392"/>
                <a:gridCol w="850392"/>
              </a:tblGrid>
              <a:tr h="329184">
                <a:tc rowSpan="2">
                  <a:txBody>
                    <a:bodyPr wrap="square"/>
                    <a:lstStyle/>
                    <a:p>
                      <a:pPr algn="ctr"/>
                      <a:r>
                        <a:rPr sz="850" b="1" i="0">
                          <a:solidFill>
                            <a:srgbClr val="FFFFFF"/>
                          </a:solidFill>
                          <a:latin typeface="Arial"/>
                          <a:ea typeface="游ゴシック"/>
                        </a:rPr>
                        <a:t>科目（単位：千円）</a:t>
                      </a:r>
                    </a:p>
                    <a:p>
                      <a:pPr algn="ctr"/>
                      <a:r>
                        <a:rPr sz="850" b="1" i="0">
                          <a:solidFill>
                            <a:srgbClr val="FFFFFF"/>
                          </a:solidFill>
                          <a:latin typeface="Arial"/>
                          <a:ea typeface="游ゴシック"/>
                        </a:rPr>
                        <a:t>　</a:t>
                      </a:r>
                    </a:p>
                  </a:txBody>
                  <a:tcPr marL="45720" marR="45720" marT="13716" marB="13716" anchor="ctr">
                    <a:lnL w="0">
                      <a:noFill/>
                    </a:lnL>
                    <a:lnR w="0">
                      <a:noFill/>
                    </a:lnR>
                    <a:lnT w="0">
                      <a:noFill/>
                    </a:lnT>
                    <a:lnB w="0">
                      <a:noFill/>
                    </a:lnB>
                    <a:solidFill>
                      <a:srgbClr val="0B3041"/>
                    </a:solidFill>
                  </a:tcPr>
                </a:tc>
                <a:tc gridSpan="3">
                  <a:txBody>
                    <a:bodyPr wrap="square"/>
                    <a:lstStyle/>
                    <a:p>
                      <a:pPr algn="ctr"/>
                      <a:r>
                        <a:rPr sz="850" b="1" i="0">
                          <a:solidFill>
                            <a:srgbClr val="FFFFFF"/>
                          </a:solidFill>
                          <a:latin typeface="Arial"/>
                          <a:ea typeface="游ゴシック"/>
                        </a:rPr>
                        <a:t>令和6年3月期</a:t>
                      </a:r>
                    </a:p>
                    <a:p>
                      <a:pPr algn="ctr"/>
                      <a:r>
                        <a:rPr sz="850" b="1" i="0">
                          <a:solidFill>
                            <a:srgbClr val="FFFFFF"/>
                          </a:solidFill>
                          <a:latin typeface="Arial"/>
                          <a:ea typeface="游ゴシック"/>
                        </a:rPr>
                        <a:t>　</a:t>
                      </a:r>
                    </a:p>
                    <a:p>
                      <a:pPr algn="ctr"/>
                      <a:r>
                        <a:rPr sz="850" b="1" i="0">
                          <a:solidFill>
                            <a:srgbClr val="FFFFFF"/>
                          </a:solidFill>
                          <a:latin typeface="Arial"/>
                          <a:ea typeface="游ゴシック"/>
                        </a:rPr>
                        <a:t>　</a:t>
                      </a:r>
                    </a:p>
                  </a:txBody>
                  <a:tcPr marL="45720" marR="45720" marT="13716" marB="13716" anchor="ctr">
                    <a:lnL w="0">
                      <a:noFill/>
                    </a:lnL>
                    <a:lnR w="0">
                      <a:noFill/>
                    </a:lnR>
                    <a:lnT w="0">
                      <a:noFill/>
                    </a:lnT>
                    <a:lnB w="0">
                      <a:noFill/>
                    </a:lnB>
                    <a:solidFill>
                      <a:srgbClr val="0B3041"/>
                    </a:solidFill>
                  </a:tcPr>
                </a:tc>
                <a:tc hMerge="1">
                  <a:txBody>
                    <a:bodyPr wrap="square"/>
                    <a:lstStyle/>
                    <a:p/>
                  </a:txBody>
                  <a:tcPr marL="45720" marR="45720" marT="13716" marB="13716" anchor="ctr">
                    <a:lnL w="0">
                      <a:noFill/>
                    </a:lnL>
                    <a:lnR w="0">
                      <a:noFill/>
                    </a:lnR>
                    <a:lnT w="0">
                      <a:noFill/>
                    </a:lnT>
                    <a:lnB w="0">
                      <a:noFill/>
                    </a:lnB>
                    <a:solidFill>
                      <a:srgbClr val="0B3041"/>
                    </a:solidFill>
                  </a:tcPr>
                </a:tc>
                <a:tc hMerge="1">
                  <a:txBody>
                    <a:bodyPr wrap="square"/>
                    <a:lstStyle/>
                    <a:p/>
                  </a:txBody>
                  <a:tcPr marL="45720" marR="45720" marT="13716" marB="13716" anchor="ctr">
                    <a:lnL w="0">
                      <a:noFill/>
                    </a:lnL>
                    <a:lnR w="0">
                      <a:noFill/>
                    </a:lnR>
                    <a:lnT w="0">
                      <a:noFill/>
                    </a:lnT>
                    <a:lnB w="0">
                      <a:noFill/>
                    </a:lnB>
                    <a:solidFill>
                      <a:srgbClr val="0B3041"/>
                    </a:solidFill>
                  </a:tcPr>
                </a:tc>
                <a:tc gridSpan="3">
                  <a:txBody>
                    <a:bodyPr wrap="square"/>
                    <a:lstStyle/>
                    <a:p>
                      <a:pPr algn="ctr"/>
                      <a:r>
                        <a:rPr sz="850" b="1" i="0">
                          <a:solidFill>
                            <a:srgbClr val="FFFFFF"/>
                          </a:solidFill>
                          <a:latin typeface="Arial"/>
                          <a:ea typeface="游ゴシック"/>
                        </a:rPr>
                        <a:t>令和7年3月期</a:t>
                      </a:r>
                    </a:p>
                    <a:p>
                      <a:pPr algn="ctr"/>
                      <a:r>
                        <a:rPr sz="850" b="1" i="0">
                          <a:solidFill>
                            <a:srgbClr val="FFFFFF"/>
                          </a:solidFill>
                          <a:latin typeface="Arial"/>
                          <a:ea typeface="游ゴシック"/>
                        </a:rPr>
                        <a:t>　</a:t>
                      </a:r>
                    </a:p>
                    <a:p>
                      <a:pPr algn="ctr"/>
                      <a:r>
                        <a:rPr sz="850" b="1" i="0">
                          <a:solidFill>
                            <a:srgbClr val="FFFFFF"/>
                          </a:solidFill>
                          <a:latin typeface="Arial"/>
                          <a:ea typeface="游ゴシック"/>
                        </a:rPr>
                        <a:t>　</a:t>
                      </a:r>
                    </a:p>
                  </a:txBody>
                  <a:tcPr marL="45720" marR="45720" marT="13716" marB="13716" anchor="ctr">
                    <a:lnL w="0">
                      <a:noFill/>
                    </a:lnL>
                    <a:lnR w="0">
                      <a:noFill/>
                    </a:lnR>
                    <a:lnT w="0">
                      <a:noFill/>
                    </a:lnT>
                    <a:lnB w="0">
                      <a:noFill/>
                    </a:lnB>
                    <a:solidFill>
                      <a:srgbClr val="0B3041"/>
                    </a:solidFill>
                  </a:tcPr>
                </a:tc>
                <a:tc hMerge="1">
                  <a:txBody>
                    <a:bodyPr wrap="square"/>
                    <a:lstStyle/>
                    <a:p/>
                  </a:txBody>
                  <a:tcPr marL="45720" marR="45720" marT="13716" marB="13716" anchor="ctr">
                    <a:lnL w="0">
                      <a:noFill/>
                    </a:lnL>
                    <a:lnR w="0">
                      <a:noFill/>
                    </a:lnR>
                    <a:lnT w="0">
                      <a:noFill/>
                    </a:lnT>
                    <a:lnB w="0">
                      <a:noFill/>
                    </a:lnB>
                    <a:solidFill>
                      <a:srgbClr val="0B3041"/>
                    </a:solidFill>
                  </a:tcPr>
                </a:tc>
                <a:tc hMerge="1">
                  <a:txBody>
                    <a:bodyPr wrap="square"/>
                    <a:lstStyle/>
                    <a:p/>
                  </a:txBody>
                  <a:tcPr marL="45720" marR="45720" marT="13716" marB="13716" anchor="ctr">
                    <a:lnL w="0">
                      <a:noFill/>
                    </a:lnL>
                    <a:lnR w="0">
                      <a:noFill/>
                    </a:lnR>
                    <a:lnT w="0">
                      <a:noFill/>
                    </a:lnT>
                    <a:lnB w="0">
                      <a:noFill/>
                    </a:lnB>
                    <a:solidFill>
                      <a:srgbClr val="0B3041"/>
                    </a:solidFill>
                  </a:tcPr>
                </a:tc>
                <a:tc gridSpan="3">
                  <a:txBody>
                    <a:bodyPr wrap="square"/>
                    <a:lstStyle/>
                    <a:p>
                      <a:pPr algn="ctr"/>
                      <a:r>
                        <a:rPr sz="850" b="1" i="0">
                          <a:solidFill>
                            <a:srgbClr val="FFFFFF"/>
                          </a:solidFill>
                          <a:latin typeface="Arial"/>
                          <a:ea typeface="游ゴシック"/>
                        </a:rPr>
                        <a:t>令和8年3月期</a:t>
                      </a:r>
                    </a:p>
                    <a:p>
                      <a:pPr algn="ctr"/>
                      <a:r>
                        <a:rPr sz="850" b="1" i="0">
                          <a:solidFill>
                            <a:srgbClr val="FFFFFF"/>
                          </a:solidFill>
                          <a:latin typeface="Arial"/>
                          <a:ea typeface="游ゴシック"/>
                        </a:rPr>
                        <a:t>　</a:t>
                      </a:r>
                    </a:p>
                    <a:p>
                      <a:pPr algn="ctr"/>
                      <a:r>
                        <a:rPr sz="850" b="1" i="0">
                          <a:solidFill>
                            <a:srgbClr val="FFFFFF"/>
                          </a:solidFill>
                          <a:latin typeface="Arial"/>
                          <a:ea typeface="游ゴシック"/>
                        </a:rPr>
                        <a:t>　</a:t>
                      </a:r>
                    </a:p>
                  </a:txBody>
                  <a:tcPr marL="45720" marR="45720" marT="13716" marB="13716" anchor="ctr">
                    <a:lnL w="0">
                      <a:noFill/>
                    </a:lnL>
                    <a:lnR w="0">
                      <a:noFill/>
                    </a:lnR>
                    <a:lnT w="0">
                      <a:noFill/>
                    </a:lnT>
                    <a:lnB w="0">
                      <a:noFill/>
                    </a:lnB>
                    <a:solidFill>
                      <a:srgbClr val="0B3041"/>
                    </a:solidFill>
                  </a:tcPr>
                </a:tc>
                <a:tc hMerge="1">
                  <a:txBody>
                    <a:bodyPr wrap="square"/>
                    <a:lstStyle/>
                    <a:p/>
                  </a:txBody>
                  <a:tcPr marL="45720" marR="45720" marT="13716" marB="13716" anchor="ctr">
                    <a:lnL w="0">
                      <a:noFill/>
                    </a:lnL>
                    <a:lnR w="0">
                      <a:noFill/>
                    </a:lnR>
                    <a:lnT w="0">
                      <a:noFill/>
                    </a:lnT>
                    <a:lnB w="0">
                      <a:noFill/>
                    </a:lnB>
                    <a:solidFill>
                      <a:srgbClr val="0B3041"/>
                    </a:solidFill>
                  </a:tcPr>
                </a:tc>
                <a:tc hMerge="1">
                  <a:txBody>
                    <a:bodyPr wrap="square"/>
                    <a:lstStyle/>
                    <a:p/>
                  </a:txBody>
                  <a:tcPr marL="45720" marR="45720" marT="13716" marB="13716" anchor="ctr">
                    <a:lnL w="0">
                      <a:noFill/>
                    </a:lnL>
                    <a:lnR w="0">
                      <a:noFill/>
                    </a:lnR>
                    <a:lnT w="0">
                      <a:noFill/>
                    </a:lnT>
                    <a:lnB w="0">
                      <a:noFill/>
                    </a:lnB>
                    <a:solidFill>
                      <a:srgbClr val="0B3041"/>
                    </a:solidFill>
                  </a:tcPr>
                </a:tc>
              </a:tr>
              <a:tr h="329184">
                <a:tc vMerge="1">
                  <a:txBody>
                    <a:bodyPr wrap="square"/>
                    <a:lstStyle/>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修正後</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修正後</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帳簿価額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修正後</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850" b="0" i="0">
                          <a:solidFill>
                            <a:srgbClr val="000000"/>
                          </a:solidFill>
                          <a:latin typeface="Arial"/>
                          <a:ea typeface="游ゴシック"/>
                        </a:rPr>
                        <a:t>役員報酬</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0" i="0">
                          <a:solidFill>
                            <a:srgbClr val="000000"/>
                          </a:solidFill>
                          <a:latin typeface="Arial"/>
                          <a:ea typeface="游ゴシック"/>
                        </a:rPr>
                        <a:t>給料手当</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137,395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137,395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111,145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111,145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113,156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113,156</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0" i="0">
                          <a:solidFill>
                            <a:srgbClr val="000000"/>
                          </a:solidFill>
                          <a:latin typeface="Arial"/>
                          <a:ea typeface="游ゴシック"/>
                        </a:rPr>
                        <a:t>法定福利費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21,065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21,065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14,046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14,046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18,259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18,259</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0" i="0">
                          <a:solidFill>
                            <a:srgbClr val="000000"/>
                          </a:solidFill>
                          <a:latin typeface="Arial"/>
                          <a:ea typeface="游ゴシック"/>
                        </a:rPr>
                        <a:t>減価償却費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4,595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4,595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14,219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14,219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11,896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11,896</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0" i="0">
                          <a:solidFill>
                            <a:srgbClr val="000000"/>
                          </a:solidFill>
                          <a:latin typeface="Arial"/>
                          <a:ea typeface="游ゴシック"/>
                        </a:rPr>
                        <a:t>地代家賃</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14,896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14,896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17,605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17,605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21,688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21,688</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0" i="0">
                          <a:solidFill>
                            <a:srgbClr val="000000"/>
                          </a:solidFill>
                          <a:latin typeface="Arial"/>
                          <a:ea typeface="游ゴシック"/>
                        </a:rPr>
                        <a:t>支払手数料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26,497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26,497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25,382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25,382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13,893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13,893</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0" i="0">
                          <a:solidFill>
                            <a:srgbClr val="000000"/>
                          </a:solidFill>
                          <a:latin typeface="Arial"/>
                          <a:ea typeface="游ゴシック"/>
                        </a:rPr>
                        <a:t>リース料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13,797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13,797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10,744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10,744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10,212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10,212</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0" i="0">
                          <a:solidFill>
                            <a:srgbClr val="000000"/>
                          </a:solidFill>
                          <a:latin typeface="Arial"/>
                          <a:ea typeface="游ゴシック"/>
                        </a:rPr>
                        <a:t>不動産管理費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4,347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△4,347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686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△686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0" i="0">
                          <a:solidFill>
                            <a:srgbClr val="000000"/>
                          </a:solidFill>
                          <a:latin typeface="Arial"/>
                          <a:ea typeface="游ゴシック"/>
                        </a:rPr>
                        <a:t>その他（計）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59,039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59,039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76,070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76,070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30,551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30,551</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850" b="1" i="0">
                          <a:solidFill>
                            <a:srgbClr val="000000"/>
                          </a:solidFill>
                          <a:latin typeface="Arial"/>
                          <a:ea typeface="游ゴシック"/>
                        </a:rPr>
                        <a:t>販売費及び一般管理費合計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283,552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△4,347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279,205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273,060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△1,928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271,132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222,261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△686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221,575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6" name="TextBox 15"/>
          <p:cNvSpPr txBox="1"/>
          <p:nvPr/>
        </p:nvSpPr>
        <p:spPr>
          <a:xfrm>
            <a:off x="448056" y="5394960"/>
            <a:ext cx="9784080" cy="201168"/>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※千円未満の端数処理により、合計が一致しない場合があります。</a:t>
            </a:r>
            <a:endParaRPr kumimoji="1" lang="ja-JP" altLang="en-US" sz="800" dirty="0"/>
          </a:p>
        </p:txBody>
      </p:sp>
    </p:spTree>
    <p:extLst>
      <p:ext uri="{BB962C8B-B14F-4D97-AF65-F5344CB8AC3E}">
        <p14:creationId xmlns:p14="http://schemas.microsoft.com/office/powerpoint/2010/main" val="94194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10">
            <a:extLst>
              <a:ext uri="{FF2B5EF4-FFF2-40B4-BE49-F238E27FC236}">
                <a16:creationId xmlns:a16="http://schemas.microsoft.com/office/drawing/2014/main" id="{5AD57CFE-9067-7C3C-FBDE-5F16F8670234}"/>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の内訳①</a:t>
            </a:r>
            <a:r>
              <a:rPr lang="ja-JP" altLang="en-US" sz="1800" dirty="0"/>
              <a:t>［役員報酬・退職給付金］</a:t>
            </a:r>
          </a:p>
        </p:txBody>
      </p:sp>
      <p:sp>
        <p:nvSpPr>
          <p:cNvPr id="12" name="タイトル 1">
            <a:extLst>
              <a:ext uri="{FF2B5EF4-FFF2-40B4-BE49-F238E27FC236}">
                <a16:creationId xmlns:a16="http://schemas.microsoft.com/office/drawing/2014/main" id="{D6C3B624-125A-E598-D014-38CCA581EDAB}"/>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F23A6D6A-F075-9448-D797-1229836B5442}"/>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役員報酬</a:t>
            </a:r>
          </a:p>
        </p:txBody>
      </p:sp>
      <p:sp>
        <p:nvSpPr>
          <p:cNvPr id="14" name="テキスト ボックス 13">
            <a:extLst>
              <a:ext uri="{FF2B5EF4-FFF2-40B4-BE49-F238E27FC236}">
                <a16:creationId xmlns:a16="http://schemas.microsoft.com/office/drawing/2014/main" id="{B1EAD9B6-5CA4-10F6-E8A6-AC6504C78118}"/>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15" name="テキスト ボックス 14">
            <a:extLst>
              <a:ext uri="{FF2B5EF4-FFF2-40B4-BE49-F238E27FC236}">
                <a16:creationId xmlns:a16="http://schemas.microsoft.com/office/drawing/2014/main" id="{DDDE41FE-5512-0C8D-D415-98E0F5151CBA}"/>
              </a:ext>
            </a:extLst>
          </p:cNvPr>
          <p:cNvSpPr txBox="1"/>
          <p:nvPr/>
        </p:nvSpPr>
        <p:spPr>
          <a:xfrm>
            <a:off x="449263" y="1223963"/>
            <a:ext cx="9793287" cy="243913"/>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sz="1000" b="0"/>
              <a:t>役員報酬は年1,920千円。新体制の報酬は未確認のため置換せず、帳簿値のまま算定（要確認）</a:t>
            </a:r>
          </a:p>
        </p:txBody>
      </p:sp>
      <p:sp>
        <p:nvSpPr>
          <p:cNvPr id="20" name="正方形/長方形 19">
            <a:extLst>
              <a:ext uri="{FF2B5EF4-FFF2-40B4-BE49-F238E27FC236}">
                <a16:creationId xmlns:a16="http://schemas.microsoft.com/office/drawing/2014/main" id="{00FFC66B-3D5C-443A-932A-E46168D60EA0}"/>
              </a:ext>
            </a:extLst>
          </p:cNvPr>
          <p:cNvSpPr/>
          <p:nvPr/>
        </p:nvSpPr>
        <p:spPr>
          <a:xfrm>
            <a:off x="449263" y="4052491"/>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退職給付金</a:t>
            </a:r>
          </a:p>
        </p:txBody>
      </p:sp>
      <p:sp>
        <p:nvSpPr>
          <p:cNvPr id="22" name="テキスト ボックス 21">
            <a:extLst>
              <a:ext uri="{FF2B5EF4-FFF2-40B4-BE49-F238E27FC236}">
                <a16:creationId xmlns:a16="http://schemas.microsoft.com/office/drawing/2014/main" id="{1268A5BB-3F5A-D9DB-26EE-761574518114}"/>
              </a:ext>
            </a:extLst>
          </p:cNvPr>
          <p:cNvSpPr txBox="1"/>
          <p:nvPr/>
        </p:nvSpPr>
        <p:spPr>
          <a:xfrm>
            <a:off x="449263" y="4412854"/>
            <a:ext cx="9793287" cy="243913"/>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sz="1000" b="0"/>
              <a:t>退職金規程・中退共等の資料が未受領のため、退職給付費用を算定できず、修正していない（要確認）</a:t>
            </a:r>
          </a:p>
        </p:txBody>
      </p:sp>
      <p:graphicFrame>
        <p:nvGraphicFramePr>
          <p:cNvPr id="23" name="Table 22"/>
          <p:cNvGraphicFramePr>
            <a:graphicFrameLocks noGrp="1"/>
          </p:cNvGraphicFramePr>
          <p:nvPr/>
        </p:nvGraphicFramePr>
        <p:xfrm>
          <a:off x="448056" y="1618488"/>
          <a:ext cx="9793224" cy="1243584"/>
        </p:xfrm>
        <a:graphic>
          <a:graphicData uri="http://schemas.openxmlformats.org/drawingml/2006/table">
            <a:tbl>
              <a:tblPr/>
              <a:tblGrid>
                <a:gridCol w="3291840"/>
                <a:gridCol w="2167128"/>
                <a:gridCol w="2167128"/>
                <a:gridCol w="2167128"/>
              </a:tblGrid>
              <a:tr h="310896">
                <a:tc>
                  <a:txBody>
                    <a:bodyPr wrap="square"/>
                    <a:lstStyle/>
                    <a:p>
                      <a:pPr algn="ctr"/>
                      <a:r>
                        <a:rPr sz="900" b="1" i="0">
                          <a:solidFill>
                            <a:srgbClr val="FFFFFF"/>
                          </a:solidFill>
                          <a:latin typeface="Arial"/>
                          <a:ea typeface="游ゴシック"/>
                        </a:rPr>
                        <a:t>科目（単位：千円）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310896">
                <a:tc>
                  <a:txBody>
                    <a:bodyPr wrap="square"/>
                    <a:lstStyle/>
                    <a:p>
                      <a:pPr algn="l"/>
                      <a:r>
                        <a:rPr sz="900" b="0" i="0">
                          <a:solidFill>
                            <a:srgbClr val="000000"/>
                          </a:solidFill>
                          <a:latin typeface="Arial"/>
                          <a:ea typeface="游ゴシック"/>
                        </a:rPr>
                        <a:t>役員報酬（帳簿価額）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修正額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1" i="0">
                          <a:solidFill>
                            <a:srgbClr val="000000"/>
                          </a:solidFill>
                          <a:latin typeface="Arial"/>
                          <a:ea typeface="游ゴシック"/>
                        </a:rPr>
                        <a:t>修正後</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1,920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1,920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1,920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24" name="Table 23"/>
          <p:cNvGraphicFramePr>
            <a:graphicFrameLocks noGrp="1"/>
          </p:cNvGraphicFramePr>
          <p:nvPr/>
        </p:nvGraphicFramePr>
        <p:xfrm>
          <a:off x="448056" y="4773168"/>
          <a:ext cx="9793224" cy="932688"/>
        </p:xfrm>
        <a:graphic>
          <a:graphicData uri="http://schemas.openxmlformats.org/drawingml/2006/table">
            <a:tbl>
              <a:tblPr/>
              <a:tblGrid>
                <a:gridCol w="3291840"/>
                <a:gridCol w="2167128"/>
                <a:gridCol w="2167128"/>
                <a:gridCol w="2167128"/>
              </a:tblGrid>
              <a:tr h="310896">
                <a:tc>
                  <a:txBody>
                    <a:bodyPr wrap="square"/>
                    <a:lstStyle/>
                    <a:p>
                      <a:pPr algn="ctr"/>
                      <a:r>
                        <a:rPr sz="900" b="1" i="0">
                          <a:solidFill>
                            <a:srgbClr val="FFFFFF"/>
                          </a:solidFill>
                          <a:latin typeface="Arial"/>
                          <a:ea typeface="游ゴシック"/>
                        </a:rPr>
                        <a:t>科目（単位：千円）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310896">
                <a:tc>
                  <a:txBody>
                    <a:bodyPr wrap="square"/>
                    <a:lstStyle/>
                    <a:p>
                      <a:pPr algn="l"/>
                      <a:r>
                        <a:rPr sz="900" b="0" i="0">
                          <a:solidFill>
                            <a:srgbClr val="000000"/>
                          </a:solidFill>
                          <a:latin typeface="Arial"/>
                          <a:ea typeface="游ゴシック"/>
                        </a:rPr>
                        <a:t>退職給付費用（修正額）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（参考）引当不足額（累計）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Tree>
    <p:extLst>
      <p:ext uri="{BB962C8B-B14F-4D97-AF65-F5344CB8AC3E}">
        <p14:creationId xmlns:p14="http://schemas.microsoft.com/office/powerpoint/2010/main" val="2528087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1" name="テキスト ボックス 10">
            <a:extLst>
              <a:ext uri="{FF2B5EF4-FFF2-40B4-BE49-F238E27FC236}">
                <a16:creationId xmlns:a16="http://schemas.microsoft.com/office/drawing/2014/main" id="{68972AD0-1263-ECDB-D323-6EF0C7B7F407}"/>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6119849"/>
            <a:ext cx="4366310" cy="763222"/>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sz="900" b="0"/>
              <a:t>不動産売却損益・賃貸収入・管理費：売却済の賃貸不動産の損益のため除外</a:t>
            </a:r>
          </a:p>
          <a:p>
            <a:pPr>
              <a:lnSpc>
                <a:spcPct val="110000"/>
              </a:lnSpc>
              <a:spcAft>
                <a:spcPts val="200"/>
              </a:spcAft>
              <a:tabLst>
                <a:tab pos="1703388" algn="l"/>
              </a:tabLst>
            </a:pPr>
            <a:r>
              <a:rPr lang="ja-JP" altLang="en-US" dirty="0" sz="900" b="0"/>
              <a:t>コンサル収入：単発の14,000千円（相手先不明）のため除外（要確認）</a:t>
            </a:r>
          </a:p>
        </p:txBody>
      </p:sp>
      <p:sp>
        <p:nvSpPr>
          <p:cNvPr id="14" name="テキスト ボックス 13">
            <a:extLst>
              <a:ext uri="{FF2B5EF4-FFF2-40B4-BE49-F238E27FC236}">
                <a16:creationId xmlns:a16="http://schemas.microsoft.com/office/drawing/2014/main" id="{0CC7E999-9C43-B381-E610-5B70996DB450}"/>
              </a:ext>
            </a:extLst>
          </p:cNvPr>
          <p:cNvSpPr txBox="1"/>
          <p:nvPr/>
        </p:nvSpPr>
        <p:spPr>
          <a:xfrm>
            <a:off x="6520704" y="6119849"/>
            <a:ext cx="3551621" cy="763222"/>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257300" algn="l"/>
              </a:tabLst>
            </a:pPr>
            <a:r>
              <a:rPr lang="ja-JP" altLang="en-US" dirty="0" sz="900" b="0"/>
              <a:t>営業外損益・特別損益・法人税等は営業利益の外のため対象外</a:t>
            </a:r>
          </a:p>
          <a:p>
            <a:pPr>
              <a:lnSpc>
                <a:spcPct val="110000"/>
              </a:lnSpc>
              <a:spcAft>
                <a:spcPts val="200"/>
              </a:spcAft>
              <a:tabLst>
                <a:tab pos="1257300" algn="l"/>
              </a:tabLst>
            </a:pPr>
            <a:r>
              <a:rPr lang="ja-JP" altLang="en-US" dirty="0" sz="900" b="0"/>
              <a:t>進行期（令和9年3月期）の試算表は未受領のため反映していない</a:t>
            </a:r>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9605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6" name="Table 15"/>
          <p:cNvGraphicFramePr>
            <a:graphicFrameLocks noGrp="1"/>
          </p:cNvGraphicFramePr>
          <p:nvPr/>
        </p:nvGraphicFramePr>
        <p:xfrm>
          <a:off x="448056" y="1225296"/>
          <a:ext cx="9793224" cy="3950208"/>
        </p:xfrm>
        <a:graphic>
          <a:graphicData uri="http://schemas.openxmlformats.org/drawingml/2006/table">
            <a:tbl>
              <a:tblPr/>
              <a:tblGrid>
                <a:gridCol w="4389120"/>
                <a:gridCol w="1801368"/>
                <a:gridCol w="1801368"/>
                <a:gridCol w="1801368"/>
              </a:tblGrid>
              <a:tr h="329184">
                <a:tc>
                  <a:txBody>
                    <a:bodyPr wrap="square"/>
                    <a:lstStyle/>
                    <a:p>
                      <a:pPr algn="ctr"/>
                      <a:r>
                        <a:rPr sz="900" b="1" i="0">
                          <a:solidFill>
                            <a:srgbClr val="FFFFFF"/>
                          </a:solidFill>
                          <a:latin typeface="Arial"/>
                          <a:ea typeface="游ゴシック"/>
                        </a:rPr>
                        <a:t>科目（単位：千円）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営業利益（帳簿価額）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△4,955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220,847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871</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marL="109728"/>
                      <a:r>
                        <a:rPr sz="900" b="0" i="0">
                          <a:solidFill>
                            <a:srgbClr val="000000"/>
                          </a:solidFill>
                          <a:latin typeface="Arial"/>
                          <a:ea typeface="游ゴシック"/>
                        </a:rPr>
                        <a:t>不動産売却損益（売却済物件・非継続）</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△233,144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marL="109728"/>
                      <a:r>
                        <a:rPr sz="900" b="0" i="0">
                          <a:solidFill>
                            <a:srgbClr val="000000"/>
                          </a:solidFill>
                          <a:latin typeface="Arial"/>
                          <a:ea typeface="游ゴシック"/>
                        </a:rPr>
                        <a:t>不動産賃貸収入（売却済物件・非継続）</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△16,634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△16,832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△1,635</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marL="109728"/>
                      <a:r>
                        <a:rPr sz="900" b="0" i="0">
                          <a:solidFill>
                            <a:srgbClr val="000000"/>
                          </a:solidFill>
                          <a:latin typeface="Arial"/>
                          <a:ea typeface="游ゴシック"/>
                        </a:rPr>
                        <a:t>不動産管理費（売却済物件に係る費用と推察）</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4,347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1,928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686</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marL="109728"/>
                      <a:r>
                        <a:rPr sz="900" b="0" i="0">
                          <a:solidFill>
                            <a:srgbClr val="000000"/>
                          </a:solidFill>
                          <a:latin typeface="Arial"/>
                          <a:ea typeface="游ゴシック"/>
                        </a:rPr>
                        <a:t>コンサル収入（単発・非経常）</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△14,000</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調整項目 合計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△12,287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△248,048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△14,949</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修正後営業利益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△17,241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△27,201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△14,078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329184">
                <a:tc>
                  <a:txBody>
                    <a:bodyPr wrap="square"/>
                    <a:lstStyle/>
                    <a:p>
                      <a:pPr algn="l"/>
                      <a:r>
                        <a:rPr sz="900" b="0" i="0">
                          <a:solidFill>
                            <a:srgbClr val="000000"/>
                          </a:solidFill>
                          <a:latin typeface="Arial"/>
                          <a:ea typeface="游ゴシック"/>
                        </a:rPr>
                        <a:t>減価償却費（加算）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4,595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14,219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11,896</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修正後EBITDA（正常収益力）</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△12,647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△12,981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△2,182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329184">
                <a:tc>
                  <a:txBody>
                    <a:bodyPr wrap="square"/>
                    <a:lstStyle/>
                    <a:p>
                      <a:pPr algn="l"/>
                      <a:r>
                        <a:rPr sz="900" b="0" i="0">
                          <a:solidFill>
                            <a:srgbClr val="000000"/>
                          </a:solidFill>
                          <a:latin typeface="Arial"/>
                          <a:ea typeface="游ゴシック"/>
                        </a:rPr>
                        <a:t>（参考）修正後売上高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366,806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344,798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303,703</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（参考）修正後営業利益率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△7.9%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△4.6%</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
        <p:nvSpPr>
          <p:cNvPr id="17" name="TextBox 16"/>
          <p:cNvSpPr txBox="1"/>
          <p:nvPr/>
        </p:nvSpPr>
        <p:spPr>
          <a:xfrm>
            <a:off x="448056" y="5486400"/>
            <a:ext cx="9784080" cy="201168"/>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※千円未満の端数処理により、合計が一致しない場合があります。</a:t>
            </a:r>
            <a:endParaRPr kumimoji="1" lang="ja-JP" altLang="en-US" sz="800" dirty="0"/>
          </a:p>
        </p:txBody>
      </p:sp>
    </p:spTree>
    <p:extLst>
      <p:ext uri="{BB962C8B-B14F-4D97-AF65-F5344CB8AC3E}">
        <p14:creationId xmlns:p14="http://schemas.microsoft.com/office/powerpoint/2010/main" val="1691939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527383"/>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・営業権は修正後税考慮後営業利益を基準に算出し、マイナスの場合は0とする</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000" spc="30" dirty="0">
                  <a:solidFill>
                    <a:schemeClr val="tx2"/>
                  </a:solidFill>
                  <a:latin typeface="+mn-ea"/>
                </a:rPr>
                <a:t>基準営業利益がマイナスのため営業権は0となり、株式価値は時価純資産のみです。営業権倍率は買手企業のM&amp;A方針、想定シナジー等によっても変動します。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3793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b="0">
                <a:latin typeface="+mn-ea"/>
              </a:rPr>
              <a:t>・営業利益は過去3年の加重平均を採用（令和6年3月期：令和7年3月期：令和8年3月期＝２：３：５）</a:t>
            </a: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176433" y="644699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b="0">
                <a:latin typeface="+mn-ea"/>
              </a:rPr>
              <a:t>・営業権倍率は国内の中小企業M&amp;Aの実例においてボリュームゾーンである1～3倍を適用</a:t>
            </a:r>
            <a:endParaRPr lang="en-US" altLang="ja-JP" sz="1000" spc="50" dirty="0">
              <a:latin typeface="+mn-ea"/>
            </a:endParaRPr>
          </a:p>
        </p:txBody>
      </p:sp>
      <p:graphicFrame>
        <p:nvGraphicFramePr>
          <p:cNvPr id="70" name="Table 69"/>
          <p:cNvGraphicFramePr>
            <a:graphicFrameLocks noGrp="1"/>
          </p:cNvGraphicFramePr>
          <p:nvPr/>
        </p:nvGraphicFramePr>
        <p:xfrm>
          <a:off x="338328" y="1225296"/>
          <a:ext cx="2852928" cy="1645920"/>
        </p:xfrm>
        <a:graphic>
          <a:graphicData uri="http://schemas.openxmlformats.org/drawingml/2006/table">
            <a:tbl>
              <a:tblPr/>
              <a:tblGrid>
                <a:gridCol w="1554480"/>
                <a:gridCol w="1298448"/>
              </a:tblGrid>
              <a:tr h="329184">
                <a:tc>
                  <a:txBody>
                    <a:bodyPr wrap="square"/>
                    <a:lstStyle/>
                    <a:p>
                      <a:pPr algn="ctr"/>
                      <a:r>
                        <a:rPr sz="900" b="1" i="0">
                          <a:solidFill>
                            <a:srgbClr val="FFFFFF"/>
                          </a:solidFill>
                          <a:latin typeface="Arial"/>
                          <a:ea typeface="游ゴシック"/>
                        </a:rPr>
                        <a:t>令和8年3月期（千円）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金額</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簿価純資産額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326,909</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調整額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△10,465</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税効果</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3,558</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時価純資産</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320,002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71" name="Table 70"/>
          <p:cNvGraphicFramePr>
            <a:graphicFrameLocks noGrp="1"/>
          </p:cNvGraphicFramePr>
          <p:nvPr/>
        </p:nvGraphicFramePr>
        <p:xfrm>
          <a:off x="4197096" y="1225296"/>
          <a:ext cx="6144768" cy="1975104"/>
        </p:xfrm>
        <a:graphic>
          <a:graphicData uri="http://schemas.openxmlformats.org/drawingml/2006/table">
            <a:tbl>
              <a:tblPr/>
              <a:tblGrid>
                <a:gridCol w="2057400"/>
                <a:gridCol w="1362456"/>
                <a:gridCol w="1362456"/>
                <a:gridCol w="1362456"/>
              </a:tblGrid>
              <a:tr h="329184">
                <a:tc>
                  <a:txBody>
                    <a:bodyPr wrap="square"/>
                    <a:lstStyle/>
                    <a:p>
                      <a:pPr algn="ctr"/>
                      <a:r>
                        <a:rPr sz="900" b="1" i="0">
                          <a:solidFill>
                            <a:srgbClr val="FFFFFF"/>
                          </a:solidFill>
                          <a:latin typeface="Arial"/>
                          <a:ea typeface="游ゴシック"/>
                        </a:rPr>
                        <a:t>（単位：千円）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簿価営業利益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△4,955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220,847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871</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修正額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△12,287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△248,048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△14,949</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修正後営業利益</a:t>
                      </a:r>
                    </a:p>
                  </a:txBody>
                  <a:tcPr marL="45720" marR="45720" marT="13716" marB="13716" anchor="ctr">
                    <a:lnL w="0">
                      <a:noFill/>
                    </a:lnL>
                    <a:lnR w="0">
                      <a:noFill/>
                    </a:lnR>
                    <a:lnT w="0">
                      <a:noFill/>
                    </a:lnT>
                    <a:lnB w="6350" cap="flat" cmpd="sng" algn="ctr">
                      <a:solidFill>
                        <a:srgbClr val="B8C0C6"/>
                      </a:solidFill>
                      <a:prstDash val="solid"/>
                    </a:lnB>
                    <a:solidFill>
                      <a:srgbClr val="E1F3FB"/>
                    </a:solidFill>
                  </a:tcPr>
                </a:tc>
                <a:tc>
                  <a:txBody>
                    <a:bodyPr wrap="square"/>
                    <a:lstStyle/>
                    <a:p>
                      <a:pPr algn="r"/>
                      <a:r>
                        <a:rPr sz="900" b="0" i="0">
                          <a:solidFill>
                            <a:srgbClr val="000000"/>
                          </a:solidFill>
                          <a:latin typeface="Arial"/>
                          <a:ea typeface="游ゴシック"/>
                        </a:rPr>
                        <a:t>△17,241</a:t>
                      </a:r>
                    </a:p>
                  </a:txBody>
                  <a:tcPr marL="45720" marR="45720" marT="13716" marB="13716" anchor="ctr">
                    <a:lnL w="0">
                      <a:noFill/>
                    </a:lnL>
                    <a:lnR w="0">
                      <a:noFill/>
                    </a:lnR>
                    <a:lnT w="0">
                      <a:noFill/>
                    </a:lnT>
                    <a:lnB w="6350" cap="flat" cmpd="sng" algn="ctr">
                      <a:solidFill>
                        <a:srgbClr val="B8C0C6"/>
                      </a:solidFill>
                      <a:prstDash val="solid"/>
                    </a:lnB>
                    <a:solidFill>
                      <a:srgbClr val="E1F3FB"/>
                    </a:solidFill>
                  </a:tcPr>
                </a:tc>
                <a:tc>
                  <a:txBody>
                    <a:bodyPr wrap="square"/>
                    <a:lstStyle/>
                    <a:p>
                      <a:pPr algn="r"/>
                      <a:r>
                        <a:rPr sz="900" b="0" i="0">
                          <a:solidFill>
                            <a:srgbClr val="000000"/>
                          </a:solidFill>
                          <a:latin typeface="Arial"/>
                          <a:ea typeface="游ゴシック"/>
                        </a:rPr>
                        <a:t>△27,201</a:t>
                      </a:r>
                    </a:p>
                  </a:txBody>
                  <a:tcPr marL="45720" marR="45720" marT="13716" marB="13716" anchor="ctr">
                    <a:lnL w="0">
                      <a:noFill/>
                    </a:lnL>
                    <a:lnR w="0">
                      <a:noFill/>
                    </a:lnR>
                    <a:lnT w="0">
                      <a:noFill/>
                    </a:lnT>
                    <a:lnB w="6350" cap="flat" cmpd="sng" algn="ctr">
                      <a:solidFill>
                        <a:srgbClr val="B8C0C6"/>
                      </a:solidFill>
                      <a:prstDash val="solid"/>
                    </a:lnB>
                    <a:solidFill>
                      <a:srgbClr val="E1F3FB"/>
                    </a:solidFill>
                  </a:tcPr>
                </a:tc>
                <a:tc>
                  <a:txBody>
                    <a:bodyPr wrap="square"/>
                    <a:lstStyle/>
                    <a:p>
                      <a:pPr algn="r"/>
                      <a:r>
                        <a:rPr sz="900" b="0" i="0">
                          <a:solidFill>
                            <a:srgbClr val="000000"/>
                          </a:solidFill>
                          <a:latin typeface="Arial"/>
                          <a:ea typeface="游ゴシック"/>
                        </a:rPr>
                        <a:t>△14,078</a:t>
                      </a:r>
                    </a:p>
                  </a:txBody>
                  <a:tcPr marL="45720" marR="45720" marT="13716" marB="13716" anchor="ctr">
                    <a:lnL w="0">
                      <a:noFill/>
                    </a:lnL>
                    <a:lnR w="0">
                      <a:noFill/>
                    </a:lnR>
                    <a:lnT w="0">
                      <a:noFill/>
                    </a:lnT>
                    <a:lnB w="6350" cap="flat" cmpd="sng" algn="ctr">
                      <a:solidFill>
                        <a:srgbClr val="B8C0C6"/>
                      </a:solidFill>
                      <a:prstDash val="solid"/>
                    </a:lnB>
                    <a:solidFill>
                      <a:srgbClr val="E1F3FB"/>
                    </a:solidFill>
                  </a:tcPr>
                </a:tc>
              </a:tr>
              <a:tr h="329184">
                <a:tc>
                  <a:txBody>
                    <a:bodyPr wrap="square"/>
                    <a:lstStyle/>
                    <a:p>
                      <a:pPr algn="l"/>
                      <a:r>
                        <a:rPr sz="900" b="0" i="0">
                          <a:solidFill>
                            <a:srgbClr val="000000"/>
                          </a:solidFill>
                          <a:latin typeface="Arial"/>
                          <a:ea typeface="游ゴシック"/>
                        </a:rPr>
                        <a:t>税考慮額（実効税率34％）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5,862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9,248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4,787</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修正後税考慮後営業利益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△11,379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△17,952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△9,292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72" name="Table 71"/>
          <p:cNvGraphicFramePr>
            <a:graphicFrameLocks noGrp="1"/>
          </p:cNvGraphicFramePr>
          <p:nvPr/>
        </p:nvGraphicFramePr>
        <p:xfrm>
          <a:off x="6675120" y="3383280"/>
          <a:ext cx="3566160" cy="347472"/>
        </p:xfrm>
        <a:graphic>
          <a:graphicData uri="http://schemas.openxmlformats.org/drawingml/2006/table">
            <a:tbl>
              <a:tblPr/>
              <a:tblGrid>
                <a:gridCol w="2194560"/>
                <a:gridCol w="1371600"/>
              </a:tblGrid>
              <a:tr h="347472">
                <a:tc>
                  <a:txBody>
                    <a:bodyPr wrap="square"/>
                    <a:lstStyle/>
                    <a:p>
                      <a:pPr algn="l"/>
                      <a:r>
                        <a:rPr sz="1000" b="1" i="0">
                          <a:solidFill>
                            <a:srgbClr val="000000"/>
                          </a:solidFill>
                          <a:latin typeface="Arial"/>
                          <a:ea typeface="游ゴシック"/>
                        </a:rPr>
                        <a:t>基準営業利益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1000" b="1" i="0">
                          <a:solidFill>
                            <a:srgbClr val="000000"/>
                          </a:solidFill>
                          <a:latin typeface="Arial"/>
                          <a:ea typeface="游ゴシック"/>
                        </a:rPr>
                        <a:t>△12,307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73" name="Table 72"/>
          <p:cNvGraphicFramePr>
            <a:graphicFrameLocks noGrp="1"/>
          </p:cNvGraphicFramePr>
          <p:nvPr/>
        </p:nvGraphicFramePr>
        <p:xfrm>
          <a:off x="320040" y="4709160"/>
          <a:ext cx="6172200" cy="1316736"/>
        </p:xfrm>
        <a:graphic>
          <a:graphicData uri="http://schemas.openxmlformats.org/drawingml/2006/table">
            <a:tbl>
              <a:tblPr/>
              <a:tblGrid>
                <a:gridCol w="2103120"/>
                <a:gridCol w="1325880"/>
                <a:gridCol w="1325880"/>
                <a:gridCol w="1417320"/>
              </a:tblGrid>
              <a:tr h="329184">
                <a:tc>
                  <a:txBody>
                    <a:bodyPr wrap="square"/>
                    <a:lstStyle/>
                    <a:p>
                      <a:pPr algn="ctr"/>
                      <a:r>
                        <a:rPr sz="900" b="1" i="0">
                          <a:solidFill>
                            <a:srgbClr val="FFFFFF"/>
                          </a:solidFill>
                          <a:latin typeface="Arial"/>
                          <a:ea typeface="游ゴシック"/>
                        </a:rPr>
                        <a:t>営業権倍率</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x1</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x2</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x3</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時価純資産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320,002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320,002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320,002</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営業権（基準営業利益×倍率）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想定株式価値</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320,002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320,002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320,002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622398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3E559694-BB9C-BCED-1C5A-9FDBF5EBDDA4}"/>
              </a:ext>
            </a:extLst>
          </p:cNvPr>
          <p:cNvSpPr txBox="1"/>
          <p:nvPr/>
        </p:nvSpPr>
        <p:spPr>
          <a:xfrm>
            <a:off x="1844268" y="6437933"/>
            <a:ext cx="4156482" cy="543803"/>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b="1" spc="50" dirty="0">
                <a:latin typeface="+mj-ea"/>
                <a:ea typeface="+mj-ea"/>
              </a:rPr>
              <a:t>・基準EBITDA（加重平均）がマイナスのためEVを算定できず、類似上場会社のマルチプル倍率（x3～x5）は適用していない</a:t>
            </a:r>
            <a:endParaRPr lang="en-US" altLang="ja-JP" sz="1000" spc="50" dirty="0">
              <a:latin typeface="+mj-ea"/>
              <a:ea typeface="+mj-ea"/>
            </a:endParaRPr>
          </a:p>
        </p:txBody>
      </p:sp>
      <p:sp>
        <p:nvSpPr>
          <p:cNvPr id="4" name="正方形/長方形 3">
            <a:extLst>
              <a:ext uri="{FF2B5EF4-FFF2-40B4-BE49-F238E27FC236}">
                <a16:creationId xmlns:a16="http://schemas.microsoft.com/office/drawing/2014/main" id="{33074C14-EE57-454D-DEE5-B4FA1B4A9B58}"/>
              </a:ext>
            </a:extLst>
          </p:cNvPr>
          <p:cNvSpPr/>
          <p:nvPr/>
        </p:nvSpPr>
        <p:spPr>
          <a:xfrm>
            <a:off x="450691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sp>
        <p:nvSpPr>
          <p:cNvPr id="19" name="正方形/長方形 18">
            <a:extLst>
              <a:ext uri="{FF2B5EF4-FFF2-40B4-BE49-F238E27FC236}">
                <a16:creationId xmlns:a16="http://schemas.microsoft.com/office/drawing/2014/main" id="{3E67A639-0D2C-6FA4-0EEB-4EACBA2B269C}"/>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pSp>
        <p:nvGrpSpPr>
          <p:cNvPr id="35" name="グループ化 34">
            <a:extLst>
              <a:ext uri="{FF2B5EF4-FFF2-40B4-BE49-F238E27FC236}">
                <a16:creationId xmlns:a16="http://schemas.microsoft.com/office/drawing/2014/main" id="{4FD84C11-2219-FA99-AB30-0200A57D72C1}"/>
              </a:ext>
            </a:extLst>
          </p:cNvPr>
          <p:cNvGrpSpPr/>
          <p:nvPr/>
        </p:nvGrpSpPr>
        <p:grpSpPr>
          <a:xfrm>
            <a:off x="7243898" y="4772483"/>
            <a:ext cx="3132001" cy="1440000"/>
            <a:chOff x="7110548" y="4536538"/>
            <a:chExt cx="3132001" cy="1440000"/>
          </a:xfrm>
        </p:grpSpPr>
        <p:sp>
          <p:nvSpPr>
            <p:cNvPr id="36" name="フローチャート: 処理 35">
              <a:extLst>
                <a:ext uri="{FF2B5EF4-FFF2-40B4-BE49-F238E27FC236}">
                  <a16:creationId xmlns:a16="http://schemas.microsoft.com/office/drawing/2014/main" id="{204B2C6F-5435-5996-8CD4-7A26A60AF63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100" spc="30" dirty="0">
                  <a:solidFill>
                    <a:schemeClr val="tx2"/>
                  </a:solidFill>
                  <a:latin typeface="+mn-ea"/>
                </a:rPr>
                <a:t>本件は調整後EBITDAがマイナスのため、マーケットアプローチは評価結果に採用していません。EBITDAが黒字化した場合は再評価の対象となります。</a:t>
              </a:r>
            </a:p>
          </p:txBody>
        </p:sp>
        <p:sp>
          <p:nvSpPr>
            <p:cNvPr id="37" name="正方形/長方形 36">
              <a:extLst>
                <a:ext uri="{FF2B5EF4-FFF2-40B4-BE49-F238E27FC236}">
                  <a16:creationId xmlns:a16="http://schemas.microsoft.com/office/drawing/2014/main" id="{B98A1A83-0F65-E71E-AA35-BE96E78D6599}"/>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8" name="グループ化 37">
              <a:extLst>
                <a:ext uri="{FF2B5EF4-FFF2-40B4-BE49-F238E27FC236}">
                  <a16:creationId xmlns:a16="http://schemas.microsoft.com/office/drawing/2014/main" id="{5731E279-5671-D937-8C64-F8250627491B}"/>
                </a:ext>
              </a:extLst>
            </p:cNvPr>
            <p:cNvGrpSpPr/>
            <p:nvPr/>
          </p:nvGrpSpPr>
          <p:grpSpPr>
            <a:xfrm>
              <a:off x="7391962" y="4915692"/>
              <a:ext cx="373173" cy="373173"/>
              <a:chOff x="557955" y="6293952"/>
              <a:chExt cx="373173" cy="373173"/>
            </a:xfrm>
          </p:grpSpPr>
          <p:sp>
            <p:nvSpPr>
              <p:cNvPr id="39" name="楕円 38">
                <a:extLst>
                  <a:ext uri="{FF2B5EF4-FFF2-40B4-BE49-F238E27FC236}">
                    <a16:creationId xmlns:a16="http://schemas.microsoft.com/office/drawing/2014/main" id="{EECC1889-65C8-0A2F-C549-6B6978A95976}"/>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40" name="グループ化 39">
                <a:extLst>
                  <a:ext uri="{FF2B5EF4-FFF2-40B4-BE49-F238E27FC236}">
                    <a16:creationId xmlns:a16="http://schemas.microsoft.com/office/drawing/2014/main" id="{6E725402-4992-B92D-FE6A-EE0448C84A2D}"/>
                  </a:ext>
                </a:extLst>
              </p:cNvPr>
              <p:cNvGrpSpPr/>
              <p:nvPr/>
            </p:nvGrpSpPr>
            <p:grpSpPr>
              <a:xfrm>
                <a:off x="620003" y="6342163"/>
                <a:ext cx="249077" cy="276751"/>
                <a:chOff x="605367" y="6371166"/>
                <a:chExt cx="210977" cy="234418"/>
              </a:xfrm>
            </p:grpSpPr>
            <p:sp>
              <p:nvSpPr>
                <p:cNvPr id="41" name="フリーフォーム: 図形 40">
                  <a:extLst>
                    <a:ext uri="{FF2B5EF4-FFF2-40B4-BE49-F238E27FC236}">
                      <a16:creationId xmlns:a16="http://schemas.microsoft.com/office/drawing/2014/main" id="{5EBB24A4-4222-9331-DFFB-F52A414D351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AC969726-E721-5D9D-4F0F-A404AEA52142}"/>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D68F6D01-BFC0-5AE0-1232-2276752B5837}"/>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4" name="フリーフォーム: 図形 43">
                  <a:extLst>
                    <a:ext uri="{FF2B5EF4-FFF2-40B4-BE49-F238E27FC236}">
                      <a16:creationId xmlns:a16="http://schemas.microsoft.com/office/drawing/2014/main" id="{36CBDAD9-E00E-176E-E056-01D1B56800BB}"/>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5" name="フリーフォーム: 図形 44">
                  <a:extLst>
                    <a:ext uri="{FF2B5EF4-FFF2-40B4-BE49-F238E27FC236}">
                      <a16:creationId xmlns:a16="http://schemas.microsoft.com/office/drawing/2014/main" id="{3B540ED2-AD4B-EC5E-49CB-02C979687239}"/>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F01CEE2-3891-1206-4FB8-DC67F56814B4}"/>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7" name="グラフィックス 32">
                  <a:extLst>
                    <a:ext uri="{FF2B5EF4-FFF2-40B4-BE49-F238E27FC236}">
                      <a16:creationId xmlns:a16="http://schemas.microsoft.com/office/drawing/2014/main" id="{DCF1EB22-B56F-DBA1-A86A-F03245D801E3}"/>
                    </a:ext>
                  </a:extLst>
                </p:cNvPr>
                <p:cNvGrpSpPr/>
                <p:nvPr/>
              </p:nvGrpSpPr>
              <p:grpSpPr>
                <a:xfrm>
                  <a:off x="639299" y="6399061"/>
                  <a:ext cx="149149" cy="149149"/>
                  <a:chOff x="639299" y="6399061"/>
                  <a:chExt cx="149149" cy="149149"/>
                </a:xfrm>
              </p:grpSpPr>
              <p:sp>
                <p:nvSpPr>
                  <p:cNvPr id="76" name="フリーフォーム: 図形 75">
                    <a:extLst>
                      <a:ext uri="{FF2B5EF4-FFF2-40B4-BE49-F238E27FC236}">
                        <a16:creationId xmlns:a16="http://schemas.microsoft.com/office/drawing/2014/main" id="{AE2B6A92-0B9C-1C27-B1CC-016D4E8342CC}"/>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77" name="フリーフォーム: 図形 76">
                    <a:extLst>
                      <a:ext uri="{FF2B5EF4-FFF2-40B4-BE49-F238E27FC236}">
                        <a16:creationId xmlns:a16="http://schemas.microsoft.com/office/drawing/2014/main" id="{505E9962-67D2-2CB1-7B12-E605B9AB1F5F}"/>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8" name="フリーフォーム: 図形 47">
                  <a:extLst>
                    <a:ext uri="{FF2B5EF4-FFF2-40B4-BE49-F238E27FC236}">
                      <a16:creationId xmlns:a16="http://schemas.microsoft.com/office/drawing/2014/main" id="{F1EA3CBB-E6B7-48A5-35CD-E0DDFE63FB64}"/>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70" name="グラフィックス 32">
                  <a:extLst>
                    <a:ext uri="{FF2B5EF4-FFF2-40B4-BE49-F238E27FC236}">
                      <a16:creationId xmlns:a16="http://schemas.microsoft.com/office/drawing/2014/main" id="{34714DCB-B332-C888-A689-5B5DA7B2F581}"/>
                    </a:ext>
                  </a:extLst>
                </p:cNvPr>
                <p:cNvGrpSpPr/>
                <p:nvPr/>
              </p:nvGrpSpPr>
              <p:grpSpPr>
                <a:xfrm>
                  <a:off x="605367" y="6470794"/>
                  <a:ext cx="210977" cy="5860"/>
                  <a:chOff x="605367" y="6470794"/>
                  <a:chExt cx="210977" cy="5860"/>
                </a:xfrm>
              </p:grpSpPr>
              <p:sp>
                <p:nvSpPr>
                  <p:cNvPr id="74" name="フリーフォーム: 図形 73">
                    <a:extLst>
                      <a:ext uri="{FF2B5EF4-FFF2-40B4-BE49-F238E27FC236}">
                        <a16:creationId xmlns:a16="http://schemas.microsoft.com/office/drawing/2014/main" id="{4DF618CD-28A5-9FEC-1E36-A4C7E6454B9F}"/>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75" name="フリーフォーム: 図形 74">
                    <a:extLst>
                      <a:ext uri="{FF2B5EF4-FFF2-40B4-BE49-F238E27FC236}">
                        <a16:creationId xmlns:a16="http://schemas.microsoft.com/office/drawing/2014/main" id="{A0E8E677-184B-336C-4810-1E96C02AD341}"/>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71" name="グラフィックス 32">
                  <a:extLst>
                    <a:ext uri="{FF2B5EF4-FFF2-40B4-BE49-F238E27FC236}">
                      <a16:creationId xmlns:a16="http://schemas.microsoft.com/office/drawing/2014/main" id="{7FA7BF1F-589B-01CA-B0F0-5CF92792E76D}"/>
                    </a:ext>
                  </a:extLst>
                </p:cNvPr>
                <p:cNvGrpSpPr/>
                <p:nvPr/>
              </p:nvGrpSpPr>
              <p:grpSpPr>
                <a:xfrm>
                  <a:off x="633262" y="6399061"/>
                  <a:ext cx="149149" cy="149149"/>
                  <a:chOff x="633262" y="6399061"/>
                  <a:chExt cx="149149" cy="149149"/>
                </a:xfrm>
              </p:grpSpPr>
              <p:sp>
                <p:nvSpPr>
                  <p:cNvPr id="72" name="フリーフォーム: 図形 71">
                    <a:extLst>
                      <a:ext uri="{FF2B5EF4-FFF2-40B4-BE49-F238E27FC236}">
                        <a16:creationId xmlns:a16="http://schemas.microsoft.com/office/drawing/2014/main" id="{E2D85D36-F1B9-3F25-6236-50A2517A1319}"/>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73" name="フリーフォーム: 図形 72">
                    <a:extLst>
                      <a:ext uri="{FF2B5EF4-FFF2-40B4-BE49-F238E27FC236}">
                        <a16:creationId xmlns:a16="http://schemas.microsoft.com/office/drawing/2014/main" id="{8D200840-E105-3F31-58F2-0A2C379EC60B}"/>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3" name="テキスト ボックス 2">
            <a:extLst>
              <a:ext uri="{FF2B5EF4-FFF2-40B4-BE49-F238E27FC236}">
                <a16:creationId xmlns:a16="http://schemas.microsoft.com/office/drawing/2014/main" id="{C6C2624C-C4D7-05BD-6799-DE93BB65FF40}"/>
              </a:ext>
            </a:extLst>
          </p:cNvPr>
          <p:cNvSpPr txBox="1"/>
          <p:nvPr/>
        </p:nvSpPr>
        <p:spPr>
          <a:xfrm>
            <a:off x="5933872" y="6437933"/>
            <a:ext cx="4156482" cy="358816"/>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・非上場企業株式には流動性が乏しい為、EVが算定できる場合には非流動性ディスカウントを30％として算出する方針（本件は適用なし）</a:t>
            </a:r>
          </a:p>
        </p:txBody>
      </p:sp>
      <p:graphicFrame>
        <p:nvGraphicFramePr>
          <p:cNvPr id="78" name="Table 77"/>
          <p:cNvGraphicFramePr>
            <a:graphicFrameLocks noGrp="1"/>
          </p:cNvGraphicFramePr>
          <p:nvPr/>
        </p:nvGraphicFramePr>
        <p:xfrm>
          <a:off x="338328" y="1225296"/>
          <a:ext cx="2852928" cy="1463040"/>
        </p:xfrm>
        <a:graphic>
          <a:graphicData uri="http://schemas.openxmlformats.org/drawingml/2006/table">
            <a:tbl>
              <a:tblPr/>
              <a:tblGrid>
                <a:gridCol w="1554480"/>
                <a:gridCol w="1298448"/>
              </a:tblGrid>
              <a:tr h="365760">
                <a:tc>
                  <a:txBody>
                    <a:bodyPr wrap="square"/>
                    <a:lstStyle/>
                    <a:p>
                      <a:pPr algn="ctr"/>
                      <a:r>
                        <a:rPr sz="900" b="1" i="0">
                          <a:solidFill>
                            <a:srgbClr val="FFFFFF"/>
                          </a:solidFill>
                          <a:latin typeface="Arial"/>
                          <a:ea typeface="游ゴシック"/>
                        </a:rPr>
                        <a:t>令和8年3月期（千円）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金額</a:t>
                      </a:r>
                    </a:p>
                  </a:txBody>
                  <a:tcPr marL="45720" marR="45720" marT="13716" marB="13716" anchor="ctr">
                    <a:lnL w="0">
                      <a:noFill/>
                    </a:lnL>
                    <a:lnR w="0">
                      <a:noFill/>
                    </a:lnR>
                    <a:lnT w="0">
                      <a:noFill/>
                    </a:lnT>
                    <a:lnB w="0">
                      <a:noFill/>
                    </a:lnB>
                    <a:solidFill>
                      <a:srgbClr val="0B3041"/>
                    </a:solidFill>
                  </a:tcPr>
                </a:tc>
              </a:tr>
              <a:tr h="365760">
                <a:tc>
                  <a:txBody>
                    <a:bodyPr wrap="square"/>
                    <a:lstStyle/>
                    <a:p>
                      <a:pPr algn="l"/>
                      <a:r>
                        <a:rPr sz="900" b="0" i="0">
                          <a:solidFill>
                            <a:srgbClr val="000000"/>
                          </a:solidFill>
                          <a:latin typeface="Arial"/>
                          <a:ea typeface="游ゴシック"/>
                        </a:rPr>
                        <a:t>キャッシュライク</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236,936</a:t>
                      </a:r>
                    </a:p>
                  </a:txBody>
                  <a:tcPr marL="45720" marR="45720" marT="13716" marB="13716" anchor="ctr">
                    <a:lnL w="0">
                      <a:noFill/>
                    </a:lnL>
                    <a:lnR w="0">
                      <a:noFill/>
                    </a:lnR>
                    <a:lnT w="0">
                      <a:noFill/>
                    </a:lnT>
                    <a:lnB w="6350" cap="flat" cmpd="sng" algn="ctr">
                      <a:solidFill>
                        <a:srgbClr val="B8C0C6"/>
                      </a:solidFill>
                      <a:prstDash val="solid"/>
                    </a:lnB>
                    <a:noFill/>
                  </a:tcPr>
                </a:tc>
              </a:tr>
              <a:tr h="365760">
                <a:tc>
                  <a:txBody>
                    <a:bodyPr wrap="square"/>
                    <a:lstStyle/>
                    <a:p>
                      <a:pPr algn="l"/>
                      <a:r>
                        <a:rPr sz="900" b="0" i="0">
                          <a:solidFill>
                            <a:srgbClr val="000000"/>
                          </a:solidFill>
                          <a:latin typeface="Arial"/>
                          <a:ea typeface="游ゴシック"/>
                        </a:rPr>
                        <a:t>デットライク</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445,920</a:t>
                      </a:r>
                    </a:p>
                  </a:txBody>
                  <a:tcPr marL="45720" marR="45720" marT="13716" marB="13716" anchor="ctr">
                    <a:lnL w="0">
                      <a:noFill/>
                    </a:lnL>
                    <a:lnR w="0">
                      <a:noFill/>
                    </a:lnR>
                    <a:lnT w="0">
                      <a:noFill/>
                    </a:lnT>
                    <a:lnB w="6350" cap="flat" cmpd="sng" algn="ctr">
                      <a:solidFill>
                        <a:srgbClr val="B8C0C6"/>
                      </a:solidFill>
                      <a:prstDash val="solid"/>
                    </a:lnB>
                    <a:noFill/>
                  </a:tcPr>
                </a:tc>
              </a:tr>
              <a:tr h="365760">
                <a:tc>
                  <a:txBody>
                    <a:bodyPr wrap="square"/>
                    <a:lstStyle/>
                    <a:p>
                      <a:pPr algn="l"/>
                      <a:r>
                        <a:rPr sz="900" b="1" i="0">
                          <a:solidFill>
                            <a:srgbClr val="000000"/>
                          </a:solidFill>
                          <a:latin typeface="Arial"/>
                          <a:ea typeface="游ゴシック"/>
                        </a:rPr>
                        <a:t>ネットキャッシュ</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△208,984</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79" name="Table 78"/>
          <p:cNvGraphicFramePr>
            <a:graphicFrameLocks noGrp="1"/>
          </p:cNvGraphicFramePr>
          <p:nvPr/>
        </p:nvGraphicFramePr>
        <p:xfrm>
          <a:off x="4407408" y="1225296"/>
          <a:ext cx="5943600" cy="1975104"/>
        </p:xfrm>
        <a:graphic>
          <a:graphicData uri="http://schemas.openxmlformats.org/drawingml/2006/table">
            <a:tbl>
              <a:tblPr/>
              <a:tblGrid>
                <a:gridCol w="1828800"/>
                <a:gridCol w="1371600"/>
                <a:gridCol w="1371600"/>
                <a:gridCol w="1371600"/>
              </a:tblGrid>
              <a:tr h="329184">
                <a:tc>
                  <a:txBody>
                    <a:bodyPr wrap="square"/>
                    <a:lstStyle/>
                    <a:p>
                      <a:pPr algn="ctr"/>
                      <a:r>
                        <a:rPr sz="900" b="1" i="0">
                          <a:solidFill>
                            <a:srgbClr val="FFFFFF"/>
                          </a:solidFill>
                          <a:latin typeface="Arial"/>
                          <a:ea typeface="游ゴシック"/>
                        </a:rPr>
                        <a:t>（単位：千円）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900" b="0" i="0">
                          <a:solidFill>
                            <a:srgbClr val="000000"/>
                          </a:solidFill>
                          <a:latin typeface="Arial"/>
                          <a:ea typeface="游ゴシック"/>
                        </a:rPr>
                        <a:t>簿価営業利益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△4,955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220,847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871</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修正額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△12,287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△248,048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△14,949</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0" i="0">
                          <a:solidFill>
                            <a:srgbClr val="000000"/>
                          </a:solidFill>
                          <a:latin typeface="Arial"/>
                          <a:ea typeface="游ゴシック"/>
                        </a:rPr>
                        <a:t>修正後営業利益</a:t>
                      </a:r>
                    </a:p>
                  </a:txBody>
                  <a:tcPr marL="45720" marR="45720" marT="13716" marB="13716" anchor="ctr">
                    <a:lnL w="0">
                      <a:noFill/>
                    </a:lnL>
                    <a:lnR w="0">
                      <a:noFill/>
                    </a:lnR>
                    <a:lnT w="0">
                      <a:noFill/>
                    </a:lnT>
                    <a:lnB w="6350" cap="flat" cmpd="sng" algn="ctr">
                      <a:solidFill>
                        <a:srgbClr val="B8C0C6"/>
                      </a:solidFill>
                      <a:prstDash val="solid"/>
                    </a:lnB>
                    <a:solidFill>
                      <a:srgbClr val="E1F3FB"/>
                    </a:solidFill>
                  </a:tcPr>
                </a:tc>
                <a:tc>
                  <a:txBody>
                    <a:bodyPr wrap="square"/>
                    <a:lstStyle/>
                    <a:p>
                      <a:pPr algn="r"/>
                      <a:r>
                        <a:rPr sz="900" b="0" i="0">
                          <a:solidFill>
                            <a:srgbClr val="000000"/>
                          </a:solidFill>
                          <a:latin typeface="Arial"/>
                          <a:ea typeface="游ゴシック"/>
                        </a:rPr>
                        <a:t>△17,241</a:t>
                      </a:r>
                    </a:p>
                  </a:txBody>
                  <a:tcPr marL="45720" marR="45720" marT="13716" marB="13716" anchor="ctr">
                    <a:lnL w="0">
                      <a:noFill/>
                    </a:lnL>
                    <a:lnR w="0">
                      <a:noFill/>
                    </a:lnR>
                    <a:lnT w="0">
                      <a:noFill/>
                    </a:lnT>
                    <a:lnB w="6350" cap="flat" cmpd="sng" algn="ctr">
                      <a:solidFill>
                        <a:srgbClr val="B8C0C6"/>
                      </a:solidFill>
                      <a:prstDash val="solid"/>
                    </a:lnB>
                    <a:solidFill>
                      <a:srgbClr val="E1F3FB"/>
                    </a:solidFill>
                  </a:tcPr>
                </a:tc>
                <a:tc>
                  <a:txBody>
                    <a:bodyPr wrap="square"/>
                    <a:lstStyle/>
                    <a:p>
                      <a:pPr algn="r"/>
                      <a:r>
                        <a:rPr sz="900" b="0" i="0">
                          <a:solidFill>
                            <a:srgbClr val="000000"/>
                          </a:solidFill>
                          <a:latin typeface="Arial"/>
                          <a:ea typeface="游ゴシック"/>
                        </a:rPr>
                        <a:t>△27,201</a:t>
                      </a:r>
                    </a:p>
                  </a:txBody>
                  <a:tcPr marL="45720" marR="45720" marT="13716" marB="13716" anchor="ctr">
                    <a:lnL w="0">
                      <a:noFill/>
                    </a:lnL>
                    <a:lnR w="0">
                      <a:noFill/>
                    </a:lnR>
                    <a:lnT w="0">
                      <a:noFill/>
                    </a:lnT>
                    <a:lnB w="6350" cap="flat" cmpd="sng" algn="ctr">
                      <a:solidFill>
                        <a:srgbClr val="B8C0C6"/>
                      </a:solidFill>
                      <a:prstDash val="solid"/>
                    </a:lnB>
                    <a:solidFill>
                      <a:srgbClr val="E1F3FB"/>
                    </a:solidFill>
                  </a:tcPr>
                </a:tc>
                <a:tc>
                  <a:txBody>
                    <a:bodyPr wrap="square"/>
                    <a:lstStyle/>
                    <a:p>
                      <a:pPr algn="r"/>
                      <a:r>
                        <a:rPr sz="900" b="0" i="0">
                          <a:solidFill>
                            <a:srgbClr val="000000"/>
                          </a:solidFill>
                          <a:latin typeface="Arial"/>
                          <a:ea typeface="游ゴシック"/>
                        </a:rPr>
                        <a:t>△14,078</a:t>
                      </a:r>
                    </a:p>
                  </a:txBody>
                  <a:tcPr marL="45720" marR="45720" marT="13716" marB="13716" anchor="ctr">
                    <a:lnL w="0">
                      <a:noFill/>
                    </a:lnL>
                    <a:lnR w="0">
                      <a:noFill/>
                    </a:lnR>
                    <a:lnT w="0">
                      <a:noFill/>
                    </a:lnT>
                    <a:lnB w="6350" cap="flat" cmpd="sng" algn="ctr">
                      <a:solidFill>
                        <a:srgbClr val="B8C0C6"/>
                      </a:solidFill>
                      <a:prstDash val="solid"/>
                    </a:lnB>
                    <a:solidFill>
                      <a:srgbClr val="E1F3FB"/>
                    </a:solidFill>
                  </a:tcPr>
                </a:tc>
              </a:tr>
              <a:tr h="329184">
                <a:tc>
                  <a:txBody>
                    <a:bodyPr wrap="square"/>
                    <a:lstStyle/>
                    <a:p>
                      <a:pPr algn="l"/>
                      <a:r>
                        <a:rPr sz="900" b="0" i="0">
                          <a:solidFill>
                            <a:srgbClr val="000000"/>
                          </a:solidFill>
                          <a:latin typeface="Arial"/>
                          <a:ea typeface="游ゴシック"/>
                        </a:rPr>
                        <a:t>減価償却費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4,595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14,219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11,896</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900" b="1" i="0">
                          <a:solidFill>
                            <a:srgbClr val="000000"/>
                          </a:solidFill>
                          <a:latin typeface="Arial"/>
                          <a:ea typeface="游ゴシック"/>
                        </a:rPr>
                        <a:t>修正後EBITDA</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△12,647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△12,981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△2,182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80" name="Table 79"/>
          <p:cNvGraphicFramePr>
            <a:graphicFrameLocks noGrp="1"/>
          </p:cNvGraphicFramePr>
          <p:nvPr/>
        </p:nvGraphicFramePr>
        <p:xfrm>
          <a:off x="6675120" y="3383280"/>
          <a:ext cx="3566160" cy="347472"/>
        </p:xfrm>
        <a:graphic>
          <a:graphicData uri="http://schemas.openxmlformats.org/drawingml/2006/table">
            <a:tbl>
              <a:tblPr/>
              <a:tblGrid>
                <a:gridCol w="2194560"/>
                <a:gridCol w="1371600"/>
              </a:tblGrid>
              <a:tr h="347472">
                <a:tc>
                  <a:txBody>
                    <a:bodyPr wrap="square"/>
                    <a:lstStyle/>
                    <a:p>
                      <a:pPr algn="l"/>
                      <a:r>
                        <a:rPr sz="1000" b="1" i="0">
                          <a:solidFill>
                            <a:srgbClr val="000000"/>
                          </a:solidFill>
                          <a:latin typeface="Arial"/>
                          <a:ea typeface="游ゴシック"/>
                        </a:rPr>
                        <a:t>基準EBITDA</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1000" b="1" i="0">
                          <a:solidFill>
                            <a:srgbClr val="000000"/>
                          </a:solidFill>
                          <a:latin typeface="Arial"/>
                          <a:ea typeface="游ゴシック"/>
                        </a:rPr>
                        <a:t>△7,515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81" name="Table 80"/>
          <p:cNvGraphicFramePr>
            <a:graphicFrameLocks noGrp="1"/>
          </p:cNvGraphicFramePr>
          <p:nvPr/>
        </p:nvGraphicFramePr>
        <p:xfrm>
          <a:off x="320040" y="4343400"/>
          <a:ext cx="6611112" cy="1554480"/>
        </p:xfrm>
        <a:graphic>
          <a:graphicData uri="http://schemas.openxmlformats.org/drawingml/2006/table">
            <a:tbl>
              <a:tblPr/>
              <a:tblGrid>
                <a:gridCol w="2377440"/>
                <a:gridCol w="1417320"/>
                <a:gridCol w="1417320"/>
                <a:gridCol w="1399032"/>
              </a:tblGrid>
              <a:tr h="310896">
                <a:tc>
                  <a:txBody>
                    <a:bodyPr wrap="square"/>
                    <a:lstStyle/>
                    <a:p>
                      <a:pPr algn="ctr"/>
                      <a:r>
                        <a:rPr sz="900" b="1" i="0">
                          <a:solidFill>
                            <a:srgbClr val="FFFFFF"/>
                          </a:solidFill>
                          <a:latin typeface="Arial"/>
                          <a:ea typeface="游ゴシック"/>
                        </a:rPr>
                        <a:t>マルチプル倍率</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x3</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x4</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x5</a:t>
                      </a:r>
                    </a:p>
                  </a:txBody>
                  <a:tcPr marL="45720" marR="45720" marT="13716" marB="13716" anchor="ctr">
                    <a:lnL w="0">
                      <a:noFill/>
                    </a:lnL>
                    <a:lnR w="0">
                      <a:noFill/>
                    </a:lnR>
                    <a:lnT w="0">
                      <a:noFill/>
                    </a:lnT>
                    <a:lnB w="0">
                      <a:noFill/>
                    </a:lnB>
                    <a:solidFill>
                      <a:srgbClr val="0B3041"/>
                    </a:solidFill>
                  </a:tcPr>
                </a:tc>
              </a:tr>
              <a:tr h="310896">
                <a:tc>
                  <a:txBody>
                    <a:bodyPr wrap="square"/>
                    <a:lstStyle/>
                    <a:p>
                      <a:pPr algn="l"/>
                      <a:r>
                        <a:rPr sz="900" b="0" i="0">
                          <a:solidFill>
                            <a:srgbClr val="000000"/>
                          </a:solidFill>
                          <a:latin typeface="Arial"/>
                          <a:ea typeface="游ゴシック"/>
                        </a:rPr>
                        <a:t>EV（基準EBITDA×倍率）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算定不能</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算定不能</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算定不能</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非流動性ディスカウント（30％）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0" i="0">
                          <a:solidFill>
                            <a:srgbClr val="000000"/>
                          </a:solidFill>
                          <a:latin typeface="Arial"/>
                          <a:ea typeface="游ゴシック"/>
                        </a:rPr>
                        <a:t>ネットキャッシュ</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△208,984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△208,984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△208,984</a:t>
                      </a:r>
                    </a:p>
                  </a:txBody>
                  <a:tcPr marL="45720" marR="45720" marT="13716" marB="13716" anchor="ctr">
                    <a:lnL w="0">
                      <a:noFill/>
                    </a:lnL>
                    <a:lnR w="0">
                      <a:noFill/>
                    </a:lnR>
                    <a:lnT w="0">
                      <a:noFill/>
                    </a:lnT>
                    <a:lnB w="6350" cap="flat" cmpd="sng" algn="ctr">
                      <a:solidFill>
                        <a:srgbClr val="B8C0C6"/>
                      </a:solidFill>
                      <a:prstDash val="solid"/>
                    </a:lnB>
                    <a:noFill/>
                  </a:tcPr>
                </a:tc>
              </a:tr>
              <a:tr h="310896">
                <a:tc>
                  <a:txBody>
                    <a:bodyPr wrap="square"/>
                    <a:lstStyle/>
                    <a:p>
                      <a:pPr algn="l"/>
                      <a:r>
                        <a:rPr sz="900" b="1" i="0">
                          <a:solidFill>
                            <a:srgbClr val="000000"/>
                          </a:solidFill>
                          <a:latin typeface="Arial"/>
                          <a:ea typeface="游ゴシック"/>
                        </a:rPr>
                        <a:t>想定株式価値</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算定不能</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算定不能</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算定不能</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82" name="TextBox 81"/>
          <p:cNvSpPr txBox="1"/>
          <p:nvPr/>
        </p:nvSpPr>
        <p:spPr>
          <a:xfrm>
            <a:off x="6675120" y="3794760"/>
            <a:ext cx="3566160" cy="640080"/>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※参考：EVを0とした場合のネットキャッシュのみの価値は△208,984千円（債務超過相当）であり、評価結果には採用しない</a:t>
            </a:r>
            <a:endParaRPr kumimoji="1" lang="ja-JP" altLang="en-US" sz="800" dirty="0"/>
          </a:p>
        </p:txBody>
      </p:sp>
    </p:spTree>
    <p:extLst>
      <p:ext uri="{BB962C8B-B14F-4D97-AF65-F5344CB8AC3E}">
        <p14:creationId xmlns:p14="http://schemas.microsoft.com/office/powerpoint/2010/main" val="966812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66D70E7-40DC-23E0-09E7-679A883A62FC}"/>
              </a:ext>
            </a:extLst>
          </p:cNvPr>
          <p:cNvSpPr>
            <a:spLocks noGrp="1"/>
          </p:cNvSpPr>
          <p:nvPr>
            <p:ph type="title"/>
          </p:nvPr>
        </p:nvSpPr>
        <p:spPr>
          <a:xfrm>
            <a:off x="989013" y="3348385"/>
            <a:ext cx="9221787" cy="1231106"/>
          </a:xfrm>
          <a:noFill/>
        </p:spPr>
        <p:txBody>
          <a:bodyPr wrap="square" lIns="0" tIns="0" rIns="0" bIns="0" rtlCol="0" anchor="ctr">
            <a:spAutoFit/>
          </a:bodyPr>
          <a:lstStyle/>
          <a:p>
            <a:pPr>
              <a:lnSpc>
                <a:spcPct val="120000"/>
              </a:lnSpc>
            </a:pPr>
            <a:r>
              <a:rPr lang="en-US" altLang="ja-JP" dirty="0"/>
              <a:t>Valuation Methodology </a:t>
            </a:r>
            <a:r>
              <a:rPr lang="ja-JP" altLang="en-US" dirty="0"/>
              <a:t>／</a:t>
            </a:r>
            <a:br>
              <a:rPr lang="en-US" altLang="ja-JP" dirty="0"/>
            </a:br>
            <a:r>
              <a:rPr lang="ja-JP" altLang="en-US" dirty="0"/>
              <a:t>評価手法について</a:t>
            </a:r>
          </a:p>
        </p:txBody>
      </p:sp>
      <p:grpSp>
        <p:nvGrpSpPr>
          <p:cNvPr id="11" name="グループ化 10">
            <a:extLst>
              <a:ext uri="{FF2B5EF4-FFF2-40B4-BE49-F238E27FC236}">
                <a16:creationId xmlns:a16="http://schemas.microsoft.com/office/drawing/2014/main" id="{B8EF5050-B0DA-8636-6300-3E4F2EBA2769}"/>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050D18B6-EE41-00CA-FF40-49E13A7EE333}"/>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Appendix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C0553B44-C5B5-EBDA-6DC7-600FA177E6DC}"/>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3955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B790F851-A508-6F92-B711-AADA2C9DABFD}"/>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5" name="直線コネクタ 24">
            <a:extLst>
              <a:ext uri="{FF2B5EF4-FFF2-40B4-BE49-F238E27FC236}">
                <a16:creationId xmlns:a16="http://schemas.microsoft.com/office/drawing/2014/main" id="{4ACC4E98-6BFD-02BD-359F-975EE6DCC30A}"/>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10970370-7658-C816-87DF-A858E22384AE}"/>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b="1" spc="70" dirty="0">
                <a:solidFill>
                  <a:schemeClr val="bg1"/>
                </a:solidFill>
                <a:latin typeface="+mj-ea"/>
                <a:ea typeface="+mj-ea"/>
              </a:rPr>
              <a:t>時価純資産</a:t>
            </a:r>
            <a:br>
              <a:rPr lang="en-US" altLang="ja-JP" b="1" spc="70" dirty="0">
                <a:solidFill>
                  <a:schemeClr val="bg1"/>
                </a:solidFill>
                <a:latin typeface="+mj-ea"/>
                <a:ea typeface="+mj-ea"/>
              </a:rPr>
            </a:br>
            <a:r>
              <a:rPr lang="ja-JP" altLang="en-US" sz="1400" b="1" spc="70" dirty="0">
                <a:solidFill>
                  <a:schemeClr val="bg1"/>
                </a:solidFill>
                <a:latin typeface="+mj-ea"/>
                <a:ea typeface="+mj-ea"/>
              </a:rPr>
              <a:t>＋</a:t>
            </a:r>
            <a:br>
              <a:rPr lang="en-US" altLang="ja-JP" b="1" spc="70" dirty="0">
                <a:solidFill>
                  <a:schemeClr val="bg1"/>
                </a:solidFill>
                <a:latin typeface="+mj-ea"/>
                <a:ea typeface="+mj-ea"/>
              </a:rPr>
            </a:br>
            <a:r>
              <a:rPr lang="ja-JP" altLang="en-US" b="1" spc="70" dirty="0">
                <a:solidFill>
                  <a:schemeClr val="bg1"/>
                </a:solidFill>
                <a:latin typeface="+mj-ea"/>
                <a:ea typeface="+mj-ea"/>
              </a:rPr>
              <a:t>営業権法</a:t>
            </a:r>
            <a:endParaRPr lang="en-US" altLang="ja-JP" b="1" spc="70" dirty="0">
              <a:solidFill>
                <a:schemeClr val="bg1"/>
              </a:solidFill>
              <a:latin typeface="+mj-ea"/>
              <a:ea typeface="+mj-ea"/>
            </a:endParaRPr>
          </a:p>
        </p:txBody>
      </p:sp>
      <p:sp>
        <p:nvSpPr>
          <p:cNvPr id="13" name="正方形/長方形 12">
            <a:extLst>
              <a:ext uri="{FF2B5EF4-FFF2-40B4-BE49-F238E27FC236}">
                <a16:creationId xmlns:a16="http://schemas.microsoft.com/office/drawing/2014/main" id="{E7EBA7D9-F71E-6E19-5E14-FCF1CB5FE060}"/>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15" name="直線コネクタ 14">
            <a:extLst>
              <a:ext uri="{FF2B5EF4-FFF2-40B4-BE49-F238E27FC236}">
                <a16:creationId xmlns:a16="http://schemas.microsoft.com/office/drawing/2014/main" id="{4C649D3C-DE5E-4E6F-7638-C0B1D8EE8839}"/>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95677156-412E-A7F0-94B5-991FB417E30E}"/>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時価</a:t>
            </a:r>
            <a:r>
              <a:rPr lang="zh-TW" altLang="en-US" b="1" spc="70" dirty="0">
                <a:solidFill>
                  <a:schemeClr val="bg1"/>
                </a:solidFill>
                <a:latin typeface="+mj-ea"/>
                <a:ea typeface="+mj-ea"/>
              </a:rPr>
              <a:t>純資産</a:t>
            </a:r>
            <a:br>
              <a:rPr lang="en-US" altLang="zh-TW" b="1" spc="70" dirty="0">
                <a:solidFill>
                  <a:schemeClr val="bg1"/>
                </a:solidFill>
                <a:latin typeface="+mj-ea"/>
                <a:ea typeface="+mj-ea"/>
              </a:rPr>
            </a:br>
            <a:r>
              <a:rPr lang="zh-TW" altLang="en-US" b="1" spc="70" dirty="0">
                <a:solidFill>
                  <a:schemeClr val="bg1"/>
                </a:solidFill>
                <a:latin typeface="+mj-ea"/>
                <a:ea typeface="+mj-ea"/>
              </a:rPr>
              <a:t>価額</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p:txBody>
      </p:sp>
      <p:sp>
        <p:nvSpPr>
          <p:cNvPr id="16" name="正方形/長方形 15">
            <a:extLst>
              <a:ext uri="{FF2B5EF4-FFF2-40B4-BE49-F238E27FC236}">
                <a16:creationId xmlns:a16="http://schemas.microsoft.com/office/drawing/2014/main" id="{C40E5E72-4BCD-E861-A1A2-154E947EEC6C}"/>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3151381" y="1571815"/>
            <a:ext cx="6732000" cy="1246047"/>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帳簿上の資産額から負債額を控除することで、株主持分を算定する手法</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rPr>
              <a:t>この簿価純資産価格法は、算定プロセス自体は非常に簡単であるものの、帳簿価額は原則として取得原価に基づいているため、現時点での実質的な価値を正確に反映しているとは限りません。したがって、実際の株式取引目的で直接採用される機会は少なく、主に重要性の低い子会社株式の評価などで用いられています。</a:t>
            </a:r>
            <a:endParaRPr kumimoji="1" lang="ja-JP" altLang="en-US" sz="1200" spc="30" dirty="0">
              <a:latin typeface="+mn-ea"/>
            </a:endParaRPr>
          </a:p>
        </p:txBody>
      </p:sp>
      <p:sp>
        <p:nvSpPr>
          <p:cNvPr id="19" name="テキスト ボックス 18">
            <a:extLst>
              <a:ext uri="{FF2B5EF4-FFF2-40B4-BE49-F238E27FC236}">
                <a16:creationId xmlns:a16="http://schemas.microsoft.com/office/drawing/2014/main" id="{1B513D15-1757-F886-6DDD-9B3E0F4F2FDF}"/>
              </a:ext>
            </a:extLst>
          </p:cNvPr>
          <p:cNvSpPr txBox="1"/>
          <p:nvPr/>
        </p:nvSpPr>
        <p:spPr>
          <a:xfrm>
            <a:off x="3151381" y="3515833"/>
            <a:ext cx="6732000" cy="1319913"/>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企業の資産や負債を時価評価し、その差額である時価純資産を</a:t>
            </a:r>
            <a:br>
              <a:rPr lang="en-US" altLang="ja-JP" sz="1600" b="1" spc="30" dirty="0">
                <a:solidFill>
                  <a:schemeClr val="tx2"/>
                </a:solidFill>
                <a:latin typeface="+mj-ea"/>
                <a:ea typeface="+mj-ea"/>
              </a:rPr>
            </a:br>
            <a:r>
              <a:rPr lang="ja-JP" altLang="en-US" sz="1600" b="1" spc="30" dirty="0">
                <a:solidFill>
                  <a:schemeClr val="tx2"/>
                </a:solidFill>
                <a:latin typeface="+mj-ea"/>
                <a:ea typeface="+mj-ea"/>
              </a:rPr>
              <a:t>株主持分として算定する手法</a:t>
            </a:r>
            <a:endParaRPr kumimoji="1" lang="en-US" altLang="ja-JP" sz="1600" b="1" spc="30" dirty="0">
              <a:solidFill>
                <a:schemeClr val="tx2"/>
              </a:solidFill>
              <a:latin typeface="+mj-ea"/>
              <a:ea typeface="+mj-ea"/>
            </a:endParaRPr>
          </a:p>
          <a:p>
            <a:pPr>
              <a:lnSpc>
                <a:spcPct val="120000"/>
              </a:lnSpc>
              <a:spcAft>
                <a:spcPts val="600"/>
              </a:spcAft>
            </a:pPr>
            <a:r>
              <a:rPr kumimoji="1" lang="ja-JP" altLang="en-US" sz="1200" spc="30" dirty="0">
                <a:latin typeface="+mn-ea"/>
              </a:rPr>
              <a:t>時価純資産価額法による算定は、簿価純資産価額法よりも</a:t>
            </a:r>
            <a:r>
              <a:rPr lang="ja-JP" altLang="en-US" sz="1200" spc="30" dirty="0">
                <a:latin typeface="+mn-ea"/>
              </a:rPr>
              <a:t>実質的な経済価値に近い評価が可能ですが、算定には一定の評価プロセスが必要となります。また、あくまで現時点の価値であり、将来の成長性などは織り込まれないという性質があります。</a:t>
            </a:r>
            <a:endParaRPr kumimoji="1" lang="ja-JP" altLang="en-US" sz="1200" spc="30" dirty="0">
              <a:latin typeface="+mn-ea"/>
            </a:endParaRPr>
          </a:p>
        </p:txBody>
      </p:sp>
      <p:sp>
        <p:nvSpPr>
          <p:cNvPr id="22" name="テキスト ボックス 21">
            <a:extLst>
              <a:ext uri="{FF2B5EF4-FFF2-40B4-BE49-F238E27FC236}">
                <a16:creationId xmlns:a16="http://schemas.microsoft.com/office/drawing/2014/main" id="{5436D93F-28BC-6F55-FD22-53F5C0BB555D}"/>
              </a:ext>
            </a:extLst>
          </p:cNvPr>
          <p:cNvSpPr txBox="1"/>
          <p:nvPr/>
        </p:nvSpPr>
        <p:spPr>
          <a:xfrm>
            <a:off x="3151381" y="5498840"/>
            <a:ext cx="6732000" cy="1098314"/>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時価純資産に会社の超過収益力である営業権を加算することで</a:t>
            </a:r>
            <a:br>
              <a:rPr lang="en-US" altLang="ja-JP" sz="1600" b="1" spc="30" dirty="0">
                <a:solidFill>
                  <a:schemeClr val="tx2"/>
                </a:solidFill>
                <a:latin typeface="+mj-ea"/>
                <a:ea typeface="+mj-ea"/>
              </a:rPr>
            </a:br>
            <a:r>
              <a:rPr lang="ja-JP" altLang="en-US" sz="1600" b="1" spc="30" dirty="0">
                <a:solidFill>
                  <a:schemeClr val="tx2"/>
                </a:solidFill>
                <a:latin typeface="+mj-ea"/>
                <a:ea typeface="+mj-ea"/>
              </a:rPr>
              <a:t>継続企業価値を算定する手法</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rPr>
              <a:t>単なる清算価値や再調達価値にとどまらず、将来性を加味した評価を行うことができる点が特徴です。</a:t>
            </a:r>
            <a:endParaRPr kumimoji="1" lang="ja-JP" altLang="en-US" sz="1200" b="1" spc="30" dirty="0">
              <a:latin typeface="+mn-ea"/>
            </a:endParaRPr>
          </a:p>
        </p:txBody>
      </p:sp>
      <p:sp>
        <p:nvSpPr>
          <p:cNvPr id="10" name="字幕 9">
            <a:extLst>
              <a:ext uri="{FF2B5EF4-FFF2-40B4-BE49-F238E27FC236}">
                <a16:creationId xmlns:a16="http://schemas.microsoft.com/office/drawing/2014/main" id="{8E1AE320-0526-F55D-CE11-DA3CC20AA134}"/>
              </a:ext>
            </a:extLst>
          </p:cNvPr>
          <p:cNvSpPr>
            <a:spLocks noGrp="1"/>
          </p:cNvSpPr>
          <p:nvPr>
            <p:ph type="subTitle" idx="1"/>
          </p:nvPr>
        </p:nvSpPr>
        <p:spPr/>
        <p:txBody>
          <a:bodyPr/>
          <a:lstStyle/>
          <a:p>
            <a:r>
              <a:rPr lang="ja-JP" altLang="en-US" dirty="0"/>
              <a:t>企業の保有する「純資産価値」に着目した評価手法です</a:t>
            </a: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コストアプローチ手法</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簿価純資産</a:t>
            </a:r>
            <a:br>
              <a:rPr lang="en-US" altLang="zh-TW" b="1" spc="70" dirty="0">
                <a:solidFill>
                  <a:schemeClr val="bg1"/>
                </a:solidFill>
                <a:latin typeface="+mj-ea"/>
                <a:ea typeface="+mj-ea"/>
              </a:rPr>
            </a:br>
            <a:r>
              <a:rPr lang="zh-TW" altLang="en-US" b="1" spc="70" dirty="0">
                <a:solidFill>
                  <a:schemeClr val="bg1"/>
                </a:solidFill>
                <a:latin typeface="+mj-ea"/>
                <a:ea typeface="+mj-ea"/>
              </a:rPr>
              <a:t>価額</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正方形/長方形 44">
            <a:extLst>
              <a:ext uri="{FF2B5EF4-FFF2-40B4-BE49-F238E27FC236}">
                <a16:creationId xmlns:a16="http://schemas.microsoft.com/office/drawing/2014/main" id="{FF454E98-4BA2-C254-641A-ACFE52C43846}"/>
              </a:ext>
            </a:extLst>
          </p:cNvPr>
          <p:cNvSpPr/>
          <p:nvPr/>
        </p:nvSpPr>
        <p:spPr>
          <a:xfrm>
            <a:off x="449262" y="1411971"/>
            <a:ext cx="2160000" cy="234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08000" rtlCol="0" anchor="t"/>
          <a:lstStyle/>
          <a:p>
            <a:pPr algn="ctr"/>
            <a:endParaRPr kumimoji="1" lang="ja-JP" altLang="en-US" sz="1400" b="1" spc="100" dirty="0">
              <a:solidFill>
                <a:schemeClr val="tx2"/>
              </a:solidFill>
              <a:latin typeface="+mj-ea"/>
              <a:ea typeface="+mj-ea"/>
            </a:endParaRPr>
          </a:p>
        </p:txBody>
      </p:sp>
      <p:sp>
        <p:nvSpPr>
          <p:cNvPr id="46" name="正方形/長方形 45">
            <a:extLst>
              <a:ext uri="{FF2B5EF4-FFF2-40B4-BE49-F238E27FC236}">
                <a16:creationId xmlns:a16="http://schemas.microsoft.com/office/drawing/2014/main" id="{0FB9A038-60A4-228C-F68F-F0E9AE8435F7}"/>
              </a:ext>
            </a:extLst>
          </p:cNvPr>
          <p:cNvSpPr/>
          <p:nvPr/>
        </p:nvSpPr>
        <p:spPr>
          <a:xfrm>
            <a:off x="629262" y="1857040"/>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lnSpc>
                <a:spcPct val="110000"/>
              </a:lnSpc>
            </a:pPr>
            <a:r>
              <a:rPr kumimoji="1" lang="ja-JP" altLang="en-US" sz="1100" b="1" dirty="0">
                <a:solidFill>
                  <a:schemeClr val="tx2"/>
                </a:solidFill>
                <a:ea typeface="+mj-ea"/>
              </a:rPr>
              <a:t>企業会計</a:t>
            </a:r>
          </a:p>
          <a:p>
            <a:pPr algn="ctr">
              <a:lnSpc>
                <a:spcPct val="110000"/>
              </a:lnSpc>
            </a:pPr>
            <a:r>
              <a:rPr kumimoji="1" lang="ja-JP" altLang="en-US" sz="1100" b="1" dirty="0">
                <a:solidFill>
                  <a:schemeClr val="tx2"/>
                </a:solidFill>
                <a:ea typeface="+mj-ea"/>
              </a:rPr>
              <a:t>基準ベースへの調整</a:t>
            </a:r>
          </a:p>
        </p:txBody>
      </p:sp>
      <p:sp>
        <p:nvSpPr>
          <p:cNvPr id="48" name="正方形/長方形 47">
            <a:extLst>
              <a:ext uri="{FF2B5EF4-FFF2-40B4-BE49-F238E27FC236}">
                <a16:creationId xmlns:a16="http://schemas.microsoft.com/office/drawing/2014/main" id="{635316CA-A2DE-6874-5E8E-F33457E61DD8}"/>
              </a:ext>
            </a:extLst>
          </p:cNvPr>
          <p:cNvSpPr/>
          <p:nvPr/>
        </p:nvSpPr>
        <p:spPr>
          <a:xfrm>
            <a:off x="629262" y="2502698"/>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100" b="1" dirty="0">
                <a:solidFill>
                  <a:schemeClr val="tx2"/>
                </a:solidFill>
                <a:ea typeface="+mj-ea"/>
              </a:rPr>
              <a:t>含み損益の検討</a:t>
            </a:r>
          </a:p>
        </p:txBody>
      </p:sp>
      <p:sp>
        <p:nvSpPr>
          <p:cNvPr id="49" name="正方形/長方形 48">
            <a:extLst>
              <a:ext uri="{FF2B5EF4-FFF2-40B4-BE49-F238E27FC236}">
                <a16:creationId xmlns:a16="http://schemas.microsoft.com/office/drawing/2014/main" id="{5518D40C-0B0C-01EB-E514-4DF96E924D07}"/>
              </a:ext>
            </a:extLst>
          </p:cNvPr>
          <p:cNvSpPr/>
          <p:nvPr/>
        </p:nvSpPr>
        <p:spPr>
          <a:xfrm>
            <a:off x="629262" y="3148357"/>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100" b="1" dirty="0">
                <a:solidFill>
                  <a:schemeClr val="tx2"/>
                </a:solidFill>
                <a:ea typeface="+mj-ea"/>
              </a:rPr>
              <a:t>税効果の検討</a:t>
            </a:r>
          </a:p>
        </p:txBody>
      </p:sp>
      <p:sp>
        <p:nvSpPr>
          <p:cNvPr id="140" name="二等辺三角形 139">
            <a:extLst>
              <a:ext uri="{FF2B5EF4-FFF2-40B4-BE49-F238E27FC236}">
                <a16:creationId xmlns:a16="http://schemas.microsoft.com/office/drawing/2014/main" id="{B8ED417F-63C8-F340-0528-37F7CB147BC5}"/>
              </a:ext>
            </a:extLst>
          </p:cNvPr>
          <p:cNvSpPr/>
          <p:nvPr/>
        </p:nvSpPr>
        <p:spPr>
          <a:xfrm rot="10800000">
            <a:off x="1436632" y="2390219"/>
            <a:ext cx="185262" cy="83300"/>
          </a:xfrm>
          <a:prstGeom prst="triangle">
            <a:avLst/>
          </a:prstGeom>
          <a:solidFill>
            <a:schemeClr val="accent4"/>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endParaRPr kumimoji="1" lang="ja-JP" altLang="en-US" sz="1050" b="1">
              <a:solidFill>
                <a:schemeClr val="tx2"/>
              </a:solidFill>
              <a:ea typeface="+mj-ea"/>
            </a:endParaRPr>
          </a:p>
        </p:txBody>
      </p:sp>
      <p:sp>
        <p:nvSpPr>
          <p:cNvPr id="144" name="二等辺三角形 143">
            <a:extLst>
              <a:ext uri="{FF2B5EF4-FFF2-40B4-BE49-F238E27FC236}">
                <a16:creationId xmlns:a16="http://schemas.microsoft.com/office/drawing/2014/main" id="{478E7314-C2FB-1E1D-C223-B0218D483662}"/>
              </a:ext>
            </a:extLst>
          </p:cNvPr>
          <p:cNvSpPr/>
          <p:nvPr/>
        </p:nvSpPr>
        <p:spPr>
          <a:xfrm rot="10800000">
            <a:off x="1436631" y="3035877"/>
            <a:ext cx="185262" cy="83300"/>
          </a:xfrm>
          <a:prstGeom prst="triangle">
            <a:avLst/>
          </a:prstGeom>
          <a:solidFill>
            <a:schemeClr val="accent4"/>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endParaRPr kumimoji="1" lang="ja-JP" altLang="en-US" sz="1050" b="1">
              <a:solidFill>
                <a:schemeClr val="tx2"/>
              </a:solidFill>
              <a:ea typeface="+mj-ea"/>
            </a:endParaRPr>
          </a:p>
        </p:txBody>
      </p:sp>
      <p:sp>
        <p:nvSpPr>
          <p:cNvPr id="251" name="フリーフォーム: 図形 250">
            <a:extLst>
              <a:ext uri="{FF2B5EF4-FFF2-40B4-BE49-F238E27FC236}">
                <a16:creationId xmlns:a16="http://schemas.microsoft.com/office/drawing/2014/main" id="{51BCC0CC-A3FC-A562-2204-125F95C7B363}"/>
              </a:ext>
            </a:extLst>
          </p:cNvPr>
          <p:cNvSpPr/>
          <p:nvPr/>
        </p:nvSpPr>
        <p:spPr>
          <a:xfrm>
            <a:off x="2439990" y="3403927"/>
            <a:ext cx="971550" cy="968047"/>
          </a:xfrm>
          <a:custGeom>
            <a:avLst/>
            <a:gdLst>
              <a:gd name="connsiteX0" fmla="*/ 0 w 971550"/>
              <a:gd name="connsiteY0" fmla="*/ 0 h 1003300"/>
              <a:gd name="connsiteX1" fmla="*/ 358775 w 971550"/>
              <a:gd name="connsiteY1" fmla="*/ 0 h 1003300"/>
              <a:gd name="connsiteX2" fmla="*/ 971550 w 971550"/>
              <a:gd name="connsiteY2" fmla="*/ 1003300 h 1003300"/>
            </a:gdLst>
            <a:ahLst/>
            <a:cxnLst>
              <a:cxn ang="0">
                <a:pos x="connsiteX0" y="connsiteY0"/>
              </a:cxn>
              <a:cxn ang="0">
                <a:pos x="connsiteX1" y="connsiteY1"/>
              </a:cxn>
              <a:cxn ang="0">
                <a:pos x="connsiteX2" y="connsiteY2"/>
              </a:cxn>
            </a:cxnLst>
            <a:rect l="l" t="t" r="r" b="b"/>
            <a:pathLst>
              <a:path w="971550" h="1003300">
                <a:moveTo>
                  <a:pt x="0" y="0"/>
                </a:moveTo>
                <a:lnTo>
                  <a:pt x="358775" y="0"/>
                </a:lnTo>
                <a:lnTo>
                  <a:pt x="971550" y="1003300"/>
                </a:ln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solidFill>
            </a:endParaRPr>
          </a:p>
        </p:txBody>
      </p:sp>
      <p:sp>
        <p:nvSpPr>
          <p:cNvPr id="3" name="タイトル 2">
            <a:extLst>
              <a:ext uri="{FF2B5EF4-FFF2-40B4-BE49-F238E27FC236}">
                <a16:creationId xmlns:a16="http://schemas.microsoft.com/office/drawing/2014/main" id="{C83384DA-9F3B-893B-3E73-F5BEC19CED34}"/>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［算出プロセスの詳細］</a:t>
            </a:r>
          </a:p>
        </p:txBody>
      </p:sp>
      <p:sp>
        <p:nvSpPr>
          <p:cNvPr id="2" name="タイトル 1">
            <a:extLst>
              <a:ext uri="{FF2B5EF4-FFF2-40B4-BE49-F238E27FC236}">
                <a16:creationId xmlns:a16="http://schemas.microsoft.com/office/drawing/2014/main" id="{2B939537-3E76-E7F2-D3DF-A385640B828D}"/>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22" name="正方形/長方形 21">
            <a:extLst>
              <a:ext uri="{FF2B5EF4-FFF2-40B4-BE49-F238E27FC236}">
                <a16:creationId xmlns:a16="http://schemas.microsoft.com/office/drawing/2014/main" id="{CDC38BDB-2714-B0B5-89A8-43EE72FE13D9}"/>
              </a:ext>
            </a:extLst>
          </p:cNvPr>
          <p:cNvSpPr/>
          <p:nvPr/>
        </p:nvSpPr>
        <p:spPr>
          <a:xfrm>
            <a:off x="449263" y="6577517"/>
            <a:ext cx="9227230" cy="2653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nSpc>
                <a:spcPct val="110000"/>
              </a:lnSpc>
            </a:pPr>
            <a:r>
              <a:rPr lang="en-US" altLang="ja-JP" sz="800" dirty="0">
                <a:solidFill>
                  <a:schemeClr val="tx1"/>
                </a:solidFill>
                <a:latin typeface="+mn-ea"/>
              </a:rPr>
              <a:t>※1 </a:t>
            </a:r>
            <a:r>
              <a:rPr lang="ja-JP" altLang="en-US" sz="800" dirty="0">
                <a:solidFill>
                  <a:schemeClr val="tx1"/>
                </a:solidFill>
                <a:latin typeface="+mn-ea"/>
              </a:rPr>
              <a:t>上場企業以外の会算定は、法人税の申告のために税務会計ベースで決算書を作成していることが通常です。</a:t>
            </a:r>
            <a:endParaRPr lang="en-US" altLang="ja-JP" sz="800" dirty="0">
              <a:solidFill>
                <a:schemeClr val="tx1"/>
              </a:solidFill>
              <a:latin typeface="+mn-ea"/>
            </a:endParaRPr>
          </a:p>
          <a:p>
            <a:pPr>
              <a:lnSpc>
                <a:spcPct val="110000"/>
              </a:lnSpc>
            </a:pPr>
            <a:r>
              <a:rPr lang="en-US" altLang="ja-JP" sz="800" dirty="0">
                <a:solidFill>
                  <a:schemeClr val="tx1"/>
                </a:solidFill>
                <a:latin typeface="+mn-ea"/>
              </a:rPr>
              <a:t>※2 </a:t>
            </a:r>
            <a:r>
              <a:rPr lang="ja-JP" altLang="en-US" sz="800" dirty="0">
                <a:solidFill>
                  <a:schemeClr val="tx1"/>
                </a:solidFill>
                <a:latin typeface="+mn-ea"/>
              </a:rPr>
              <a:t>原則として、超過利益法を適用することにより営業権を算出いたします。</a:t>
            </a:r>
          </a:p>
        </p:txBody>
      </p:sp>
      <p:sp>
        <p:nvSpPr>
          <p:cNvPr id="38" name="正方形/長方形 37">
            <a:extLst>
              <a:ext uri="{FF2B5EF4-FFF2-40B4-BE49-F238E27FC236}">
                <a16:creationId xmlns:a16="http://schemas.microsoft.com/office/drawing/2014/main" id="{CF0B6BB8-1ADC-7706-81AA-61D48A3B2422}"/>
              </a:ext>
            </a:extLst>
          </p:cNvPr>
          <p:cNvSpPr/>
          <p:nvPr/>
        </p:nvSpPr>
        <p:spPr>
          <a:xfrm>
            <a:off x="449262" y="863600"/>
            <a:ext cx="2160000" cy="360000"/>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400" b="1" spc="50" dirty="0">
                <a:solidFill>
                  <a:schemeClr val="tx2"/>
                </a:solidFill>
                <a:latin typeface="+mj-ea"/>
                <a:ea typeface="+mj-ea"/>
              </a:rPr>
              <a:t>基準日の等価純資産</a:t>
            </a:r>
            <a:r>
              <a:rPr kumimoji="1" lang="en-US" altLang="ja-JP" sz="1400" b="1" spc="50" baseline="30000" dirty="0">
                <a:solidFill>
                  <a:schemeClr val="tx2"/>
                </a:solidFill>
                <a:latin typeface="+mj-ea"/>
                <a:ea typeface="+mj-ea"/>
              </a:rPr>
              <a:t>※1</a:t>
            </a:r>
            <a:endParaRPr kumimoji="1" lang="ja-JP" altLang="en-US" sz="1400" b="1" spc="50" baseline="30000" dirty="0">
              <a:solidFill>
                <a:schemeClr val="tx2"/>
              </a:solidFill>
              <a:latin typeface="+mj-ea"/>
              <a:ea typeface="+mj-ea"/>
            </a:endParaRPr>
          </a:p>
        </p:txBody>
      </p:sp>
      <p:sp>
        <p:nvSpPr>
          <p:cNvPr id="44" name="二等辺三角形 43">
            <a:extLst>
              <a:ext uri="{FF2B5EF4-FFF2-40B4-BE49-F238E27FC236}">
                <a16:creationId xmlns:a16="http://schemas.microsoft.com/office/drawing/2014/main" id="{23E780B8-47B7-B375-347B-5E89565E4738}"/>
              </a:ext>
            </a:extLst>
          </p:cNvPr>
          <p:cNvSpPr/>
          <p:nvPr/>
        </p:nvSpPr>
        <p:spPr>
          <a:xfrm rot="10800000">
            <a:off x="1378773" y="1250330"/>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1" name="二等辺三角形 50">
            <a:extLst>
              <a:ext uri="{FF2B5EF4-FFF2-40B4-BE49-F238E27FC236}">
                <a16:creationId xmlns:a16="http://schemas.microsoft.com/office/drawing/2014/main" id="{4ADB3873-F4DE-2C55-220D-17AE4BC90B83}"/>
              </a:ext>
            </a:extLst>
          </p:cNvPr>
          <p:cNvSpPr/>
          <p:nvPr/>
        </p:nvSpPr>
        <p:spPr>
          <a:xfrm rot="10800000">
            <a:off x="1378773" y="3778701"/>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5" name="正方形/長方形 54">
            <a:extLst>
              <a:ext uri="{FF2B5EF4-FFF2-40B4-BE49-F238E27FC236}">
                <a16:creationId xmlns:a16="http://schemas.microsoft.com/office/drawing/2014/main" id="{675BF77F-B135-3492-14A6-749875413865}"/>
              </a:ext>
            </a:extLst>
          </p:cNvPr>
          <p:cNvSpPr/>
          <p:nvPr/>
        </p:nvSpPr>
        <p:spPr>
          <a:xfrm>
            <a:off x="449262" y="3940342"/>
            <a:ext cx="2160000" cy="1080000"/>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108000" rIns="0" bIns="0" rtlCol="0" anchor="t" anchorCtr="0">
            <a:noAutofit/>
          </a:bodyPr>
          <a:lstStyle/>
          <a:p>
            <a:pPr algn="ctr"/>
            <a:endParaRPr kumimoji="1" lang="ja-JP" altLang="en-US" sz="1400" b="1" spc="100" dirty="0">
              <a:solidFill>
                <a:schemeClr val="tx2"/>
              </a:solidFill>
              <a:latin typeface="+mj-ea"/>
              <a:ea typeface="+mj-ea"/>
            </a:endParaRPr>
          </a:p>
        </p:txBody>
      </p:sp>
      <p:sp>
        <p:nvSpPr>
          <p:cNvPr id="60" name="正方形/長方形 59">
            <a:extLst>
              <a:ext uri="{FF2B5EF4-FFF2-40B4-BE49-F238E27FC236}">
                <a16:creationId xmlns:a16="http://schemas.microsoft.com/office/drawing/2014/main" id="{BC02F1AF-A94C-FB99-6AC9-504612FFFDD0}"/>
              </a:ext>
            </a:extLst>
          </p:cNvPr>
          <p:cNvSpPr/>
          <p:nvPr/>
        </p:nvSpPr>
        <p:spPr>
          <a:xfrm>
            <a:off x="665262" y="4366695"/>
            <a:ext cx="1728000" cy="6024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非経常的損益の除外</a:t>
            </a:r>
          </a:p>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資本構成差異の除外</a:t>
            </a:r>
          </a:p>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オーナー固有事象の修正</a:t>
            </a:r>
          </a:p>
        </p:txBody>
      </p:sp>
      <p:sp>
        <p:nvSpPr>
          <p:cNvPr id="68" name="二等辺三角形 67">
            <a:extLst>
              <a:ext uri="{FF2B5EF4-FFF2-40B4-BE49-F238E27FC236}">
                <a16:creationId xmlns:a16="http://schemas.microsoft.com/office/drawing/2014/main" id="{6CB80988-7904-BC4D-9B63-1C00E4A4A47A}"/>
              </a:ext>
            </a:extLst>
          </p:cNvPr>
          <p:cNvSpPr/>
          <p:nvPr/>
        </p:nvSpPr>
        <p:spPr>
          <a:xfrm rot="10800000">
            <a:off x="1378772" y="5047072"/>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74" name="二等辺三角形 73">
            <a:extLst>
              <a:ext uri="{FF2B5EF4-FFF2-40B4-BE49-F238E27FC236}">
                <a16:creationId xmlns:a16="http://schemas.microsoft.com/office/drawing/2014/main" id="{B5C292D9-D959-C11A-4721-3778C27C7F91}"/>
              </a:ext>
            </a:extLst>
          </p:cNvPr>
          <p:cNvSpPr/>
          <p:nvPr/>
        </p:nvSpPr>
        <p:spPr>
          <a:xfrm rot="10800000">
            <a:off x="1378772" y="5595443"/>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31" name="正方形/長方形 130">
            <a:extLst>
              <a:ext uri="{FF2B5EF4-FFF2-40B4-BE49-F238E27FC236}">
                <a16:creationId xmlns:a16="http://schemas.microsoft.com/office/drawing/2014/main" id="{E29C0A41-E751-E688-36F3-746C785575AF}"/>
              </a:ext>
            </a:extLst>
          </p:cNvPr>
          <p:cNvSpPr/>
          <p:nvPr/>
        </p:nvSpPr>
        <p:spPr>
          <a:xfrm>
            <a:off x="449262" y="5757840"/>
            <a:ext cx="2160000" cy="745311"/>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lnSpc>
                <a:spcPct val="110000"/>
              </a:lnSpc>
              <a:spcAft>
                <a:spcPts val="600"/>
              </a:spcAft>
            </a:pPr>
            <a:endParaRPr kumimoji="1" lang="en-US" altLang="zh-TW" sz="1200" b="1" spc="100" dirty="0">
              <a:solidFill>
                <a:schemeClr val="tx2"/>
              </a:solidFill>
              <a:latin typeface="+mj-ea"/>
              <a:ea typeface="+mj-ea"/>
            </a:endParaRPr>
          </a:p>
          <a:p>
            <a:pPr algn="ctr">
              <a:lnSpc>
                <a:spcPct val="110000"/>
              </a:lnSpc>
              <a:spcAft>
                <a:spcPts val="600"/>
              </a:spcAft>
            </a:pPr>
            <a:r>
              <a:rPr kumimoji="1" lang="zh-TW" altLang="en-US" sz="1400" b="1" spc="100" dirty="0">
                <a:solidFill>
                  <a:schemeClr val="tx2"/>
                </a:solidFill>
                <a:latin typeface="+mj-ea"/>
                <a:ea typeface="+mj-ea"/>
              </a:rPr>
              <a:t>企業評価</a:t>
            </a:r>
            <a:br>
              <a:rPr kumimoji="1" lang="en-US" altLang="zh-TW" sz="1200" b="1" spc="100" dirty="0">
                <a:solidFill>
                  <a:schemeClr val="tx2"/>
                </a:solidFill>
                <a:latin typeface="+mj-ea"/>
                <a:ea typeface="+mj-ea"/>
              </a:rPr>
            </a:br>
            <a:r>
              <a:rPr kumimoji="1" lang="zh-TW" altLang="en-US" sz="1000" spc="100" dirty="0">
                <a:solidFill>
                  <a:schemeClr val="tx1"/>
                </a:solidFill>
                <a:latin typeface="+mn-ea"/>
              </a:rPr>
              <a:t>時価純資産＋営業権</a:t>
            </a:r>
          </a:p>
        </p:txBody>
      </p:sp>
      <p:sp>
        <p:nvSpPr>
          <p:cNvPr id="152" name="テキスト ボックス 151">
            <a:extLst>
              <a:ext uri="{FF2B5EF4-FFF2-40B4-BE49-F238E27FC236}">
                <a16:creationId xmlns:a16="http://schemas.microsoft.com/office/drawing/2014/main" id="{E216B6BA-12BE-00AE-156D-A76B66ADE135}"/>
              </a:ext>
            </a:extLst>
          </p:cNvPr>
          <p:cNvSpPr txBox="1"/>
          <p:nvPr/>
        </p:nvSpPr>
        <p:spPr>
          <a:xfrm>
            <a:off x="1151262" y="5831148"/>
            <a:ext cx="756000" cy="216000"/>
          </a:xfrm>
          <a:prstGeom prst="roundRect">
            <a:avLst>
              <a:gd name="adj" fmla="val 50000"/>
            </a:avLst>
          </a:prstGeom>
          <a:solidFill>
            <a:schemeClr val="accent4"/>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900" spc="0" dirty="0">
                <a:solidFill>
                  <a:schemeClr val="bg1"/>
                </a:solidFill>
              </a:rPr>
              <a:t>試算完了</a:t>
            </a:r>
          </a:p>
        </p:txBody>
      </p:sp>
      <p:cxnSp>
        <p:nvCxnSpPr>
          <p:cNvPr id="184" name="直線コネクタ 183">
            <a:extLst>
              <a:ext uri="{FF2B5EF4-FFF2-40B4-BE49-F238E27FC236}">
                <a16:creationId xmlns:a16="http://schemas.microsoft.com/office/drawing/2014/main" id="{24DE04F0-60D7-CD26-F3C6-A782B82A0C1C}"/>
              </a:ext>
            </a:extLst>
          </p:cNvPr>
          <p:cNvCxnSpPr>
            <a:cxnSpLocks/>
          </p:cNvCxnSpPr>
          <p:nvPr/>
        </p:nvCxnSpPr>
        <p:spPr>
          <a:xfrm flipH="1">
            <a:off x="2439990" y="2754698"/>
            <a:ext cx="1023257" cy="0"/>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sp>
        <p:nvSpPr>
          <p:cNvPr id="249" name="フリーフォーム: 図形 248">
            <a:extLst>
              <a:ext uri="{FF2B5EF4-FFF2-40B4-BE49-F238E27FC236}">
                <a16:creationId xmlns:a16="http://schemas.microsoft.com/office/drawing/2014/main" id="{096A8249-ED73-8CCF-4BE2-868D95662347}"/>
              </a:ext>
            </a:extLst>
          </p:cNvPr>
          <p:cNvSpPr/>
          <p:nvPr/>
        </p:nvSpPr>
        <p:spPr>
          <a:xfrm>
            <a:off x="2447262" y="4484914"/>
            <a:ext cx="971989" cy="1402443"/>
          </a:xfrm>
          <a:custGeom>
            <a:avLst/>
            <a:gdLst>
              <a:gd name="connsiteX0" fmla="*/ 0 w 878115"/>
              <a:gd name="connsiteY0" fmla="*/ 0 h 1364343"/>
              <a:gd name="connsiteX1" fmla="*/ 246743 w 878115"/>
              <a:gd name="connsiteY1" fmla="*/ 0 h 1364343"/>
              <a:gd name="connsiteX2" fmla="*/ 878115 w 878115"/>
              <a:gd name="connsiteY2" fmla="*/ 1364343 h 1364343"/>
              <a:gd name="connsiteX0" fmla="*/ 0 w 884465"/>
              <a:gd name="connsiteY0" fmla="*/ 0 h 1402443"/>
              <a:gd name="connsiteX1" fmla="*/ 246743 w 884465"/>
              <a:gd name="connsiteY1" fmla="*/ 0 h 1402443"/>
              <a:gd name="connsiteX2" fmla="*/ 884465 w 884465"/>
              <a:gd name="connsiteY2" fmla="*/ 1402443 h 1402443"/>
            </a:gdLst>
            <a:ahLst/>
            <a:cxnLst>
              <a:cxn ang="0">
                <a:pos x="connsiteX0" y="connsiteY0"/>
              </a:cxn>
              <a:cxn ang="0">
                <a:pos x="connsiteX1" y="connsiteY1"/>
              </a:cxn>
              <a:cxn ang="0">
                <a:pos x="connsiteX2" y="connsiteY2"/>
              </a:cxn>
            </a:cxnLst>
            <a:rect l="l" t="t" r="r" b="b"/>
            <a:pathLst>
              <a:path w="884465" h="1402443">
                <a:moveTo>
                  <a:pt x="0" y="0"/>
                </a:moveTo>
                <a:lnTo>
                  <a:pt x="246743" y="0"/>
                </a:lnTo>
                <a:cubicBezTo>
                  <a:pt x="457200" y="454781"/>
                  <a:pt x="674008" y="947662"/>
                  <a:pt x="884465" y="1402443"/>
                </a:cubicBez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74" name="フリーフォーム: 図形 273">
            <a:extLst>
              <a:ext uri="{FF2B5EF4-FFF2-40B4-BE49-F238E27FC236}">
                <a16:creationId xmlns:a16="http://schemas.microsoft.com/office/drawing/2014/main" id="{EBD323C3-7E35-B06D-73E5-972DAB1140AC}"/>
              </a:ext>
            </a:extLst>
          </p:cNvPr>
          <p:cNvSpPr/>
          <p:nvPr/>
        </p:nvSpPr>
        <p:spPr>
          <a:xfrm flipV="1">
            <a:off x="2439990" y="1492128"/>
            <a:ext cx="971550" cy="593845"/>
          </a:xfrm>
          <a:custGeom>
            <a:avLst/>
            <a:gdLst>
              <a:gd name="connsiteX0" fmla="*/ 0 w 971550"/>
              <a:gd name="connsiteY0" fmla="*/ 0 h 1003300"/>
              <a:gd name="connsiteX1" fmla="*/ 358775 w 971550"/>
              <a:gd name="connsiteY1" fmla="*/ 0 h 1003300"/>
              <a:gd name="connsiteX2" fmla="*/ 971550 w 971550"/>
              <a:gd name="connsiteY2" fmla="*/ 1003300 h 1003300"/>
            </a:gdLst>
            <a:ahLst/>
            <a:cxnLst>
              <a:cxn ang="0">
                <a:pos x="connsiteX0" y="connsiteY0"/>
              </a:cxn>
              <a:cxn ang="0">
                <a:pos x="connsiteX1" y="connsiteY1"/>
              </a:cxn>
              <a:cxn ang="0">
                <a:pos x="connsiteX2" y="connsiteY2"/>
              </a:cxn>
            </a:cxnLst>
            <a:rect l="l" t="t" r="r" b="b"/>
            <a:pathLst>
              <a:path w="971550" h="1003300">
                <a:moveTo>
                  <a:pt x="0" y="0"/>
                </a:moveTo>
                <a:lnTo>
                  <a:pt x="358775" y="0"/>
                </a:lnTo>
                <a:lnTo>
                  <a:pt x="971550" y="1003300"/>
                </a:ln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solidFill>
            </a:endParaRPr>
          </a:p>
        </p:txBody>
      </p:sp>
      <p:grpSp>
        <p:nvGrpSpPr>
          <p:cNvPr id="275" name="グループ化 274">
            <a:extLst>
              <a:ext uri="{FF2B5EF4-FFF2-40B4-BE49-F238E27FC236}">
                <a16:creationId xmlns:a16="http://schemas.microsoft.com/office/drawing/2014/main" id="{01F55730-34F6-320B-EFBB-024029C3FCE4}"/>
              </a:ext>
            </a:extLst>
          </p:cNvPr>
          <p:cNvGrpSpPr/>
          <p:nvPr/>
        </p:nvGrpSpPr>
        <p:grpSpPr>
          <a:xfrm>
            <a:off x="3398631" y="2245750"/>
            <a:ext cx="6854864" cy="1224000"/>
            <a:chOff x="3398631" y="2245750"/>
            <a:chExt cx="6854864" cy="1224000"/>
          </a:xfrm>
        </p:grpSpPr>
        <p:grpSp>
          <p:nvGrpSpPr>
            <p:cNvPr id="174" name="グループ化 173">
              <a:extLst>
                <a:ext uri="{FF2B5EF4-FFF2-40B4-BE49-F238E27FC236}">
                  <a16:creationId xmlns:a16="http://schemas.microsoft.com/office/drawing/2014/main" id="{7059E6C1-1EBA-FD24-19AD-A06AA81A1764}"/>
                </a:ext>
              </a:extLst>
            </p:cNvPr>
            <p:cNvGrpSpPr/>
            <p:nvPr/>
          </p:nvGrpSpPr>
          <p:grpSpPr>
            <a:xfrm>
              <a:off x="3398631" y="2245750"/>
              <a:ext cx="6843918" cy="1224000"/>
              <a:chOff x="3398631" y="2458342"/>
              <a:chExt cx="6843918" cy="1660571"/>
            </a:xfrm>
          </p:grpSpPr>
          <p:sp>
            <p:nvSpPr>
              <p:cNvPr id="175" name="正方形/長方形 174">
                <a:extLst>
                  <a:ext uri="{FF2B5EF4-FFF2-40B4-BE49-F238E27FC236}">
                    <a16:creationId xmlns:a16="http://schemas.microsoft.com/office/drawing/2014/main" id="{EC6BA4C7-D768-C60C-EFF5-C9AED5E87C16}"/>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76" name="直線コネクタ 175">
                <a:extLst>
                  <a:ext uri="{FF2B5EF4-FFF2-40B4-BE49-F238E27FC236}">
                    <a16:creationId xmlns:a16="http://schemas.microsoft.com/office/drawing/2014/main" id="{49EF74E6-2CB8-E5DB-A07A-46D7C7704A5E}"/>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57" name="グループ化 256">
              <a:extLst>
                <a:ext uri="{FF2B5EF4-FFF2-40B4-BE49-F238E27FC236}">
                  <a16:creationId xmlns:a16="http://schemas.microsoft.com/office/drawing/2014/main" id="{19D3B536-B362-2D70-BC25-7D5BA31A9DB8}"/>
                </a:ext>
              </a:extLst>
            </p:cNvPr>
            <p:cNvGrpSpPr/>
            <p:nvPr/>
          </p:nvGrpSpPr>
          <p:grpSpPr>
            <a:xfrm>
              <a:off x="3499695" y="2558334"/>
              <a:ext cx="6753800" cy="834284"/>
              <a:chOff x="3499695" y="2544724"/>
              <a:chExt cx="6753800" cy="834284"/>
            </a:xfrm>
          </p:grpSpPr>
          <p:sp>
            <p:nvSpPr>
              <p:cNvPr id="177" name="正方形/長方形 176">
                <a:extLst>
                  <a:ext uri="{FF2B5EF4-FFF2-40B4-BE49-F238E27FC236}">
                    <a16:creationId xmlns:a16="http://schemas.microsoft.com/office/drawing/2014/main" id="{928288D9-913A-EA52-C363-3AAA85635796}"/>
                  </a:ext>
                </a:extLst>
              </p:cNvPr>
              <p:cNvSpPr/>
              <p:nvPr/>
            </p:nvSpPr>
            <p:spPr>
              <a:xfrm>
                <a:off x="3499695" y="2544724"/>
                <a:ext cx="3348000" cy="384592"/>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不動産の含み損益</a:t>
                </a:r>
                <a:br>
                  <a:rPr lang="en-US" altLang="ja-JP" sz="1000" b="1" dirty="0">
                    <a:solidFill>
                      <a:schemeClr val="tx1"/>
                    </a:solidFill>
                    <a:latin typeface="+mj-ea"/>
                    <a:ea typeface="+mj-ea"/>
                  </a:rPr>
                </a:br>
                <a:r>
                  <a:rPr lang="ja-JP" altLang="en-US" sz="700" dirty="0">
                    <a:solidFill>
                      <a:schemeClr val="tx1"/>
                    </a:solidFill>
                    <a:latin typeface="+mn-ea"/>
                  </a:rPr>
                  <a:t>鑑定評価書がある場合は優先します。ない場合は、提携先の簡易評価や相続税評価額等に基づき再評価を行います。</a:t>
                </a:r>
                <a:endParaRPr lang="ja-JP" altLang="en-US" sz="1000" dirty="0">
                  <a:solidFill>
                    <a:schemeClr val="tx1"/>
                  </a:solidFill>
                  <a:latin typeface="+mn-ea"/>
                </a:endParaRPr>
              </a:p>
            </p:txBody>
          </p:sp>
          <p:sp>
            <p:nvSpPr>
              <p:cNvPr id="185" name="正方形/長方形 184">
                <a:extLst>
                  <a:ext uri="{FF2B5EF4-FFF2-40B4-BE49-F238E27FC236}">
                    <a16:creationId xmlns:a16="http://schemas.microsoft.com/office/drawing/2014/main" id="{92B2C95E-4854-735C-8E17-762B6C7FDD31}"/>
                  </a:ext>
                </a:extLst>
              </p:cNvPr>
              <p:cNvSpPr/>
              <p:nvPr/>
            </p:nvSpPr>
            <p:spPr>
              <a:xfrm>
                <a:off x="3499695" y="2983008"/>
                <a:ext cx="3348000" cy="3960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ディリバティブの含み損益</a:t>
                </a:r>
                <a:br>
                  <a:rPr lang="en-US" altLang="ja-JP" sz="1000" b="1" dirty="0">
                    <a:solidFill>
                      <a:schemeClr val="tx1"/>
                    </a:solidFill>
                    <a:latin typeface="+mj-ea"/>
                    <a:ea typeface="+mj-ea"/>
                  </a:rPr>
                </a:br>
                <a:r>
                  <a:rPr lang="ja-JP" altLang="en-US" sz="700" dirty="0">
                    <a:solidFill>
                      <a:schemeClr val="tx1"/>
                    </a:solidFill>
                    <a:latin typeface="+mn-ea"/>
                  </a:rPr>
                  <a:t>多額の含み損リスクがあるため、契約資料をご提示ください。必要に</a:t>
                </a:r>
                <a:br>
                  <a:rPr lang="en-US" altLang="ja-JP" sz="700" dirty="0">
                    <a:solidFill>
                      <a:schemeClr val="tx1"/>
                    </a:solidFill>
                    <a:latin typeface="+mn-ea"/>
                  </a:rPr>
                </a:br>
                <a:r>
                  <a:rPr lang="ja-JP" altLang="en-US" sz="700" dirty="0">
                    <a:solidFill>
                      <a:schemeClr val="tx1"/>
                    </a:solidFill>
                    <a:latin typeface="+mn-ea"/>
                  </a:rPr>
                  <a:t>応じ、金融機関へ時価照会を行う場合があります。</a:t>
                </a:r>
                <a:endParaRPr lang="ja-JP" altLang="en-US" sz="800" dirty="0">
                  <a:solidFill>
                    <a:schemeClr val="tx1"/>
                  </a:solidFill>
                  <a:latin typeface="+mn-ea"/>
                </a:endParaRPr>
              </a:p>
            </p:txBody>
          </p:sp>
          <p:sp>
            <p:nvSpPr>
              <p:cNvPr id="186" name="正方形/長方形 185">
                <a:extLst>
                  <a:ext uri="{FF2B5EF4-FFF2-40B4-BE49-F238E27FC236}">
                    <a16:creationId xmlns:a16="http://schemas.microsoft.com/office/drawing/2014/main" id="{CFC77F5A-D84C-71EE-092C-ABAFA508D8E0}"/>
                  </a:ext>
                </a:extLst>
              </p:cNvPr>
              <p:cNvSpPr/>
              <p:nvPr/>
            </p:nvSpPr>
            <p:spPr>
              <a:xfrm>
                <a:off x="6725495" y="2544724"/>
                <a:ext cx="3528000" cy="384592"/>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保険積立金の含み損益</a:t>
                </a:r>
                <a:br>
                  <a:rPr lang="en-US" altLang="ja-JP" sz="1000" b="1" dirty="0">
                    <a:solidFill>
                      <a:schemeClr val="tx1"/>
                    </a:solidFill>
                    <a:latin typeface="+mj-ea"/>
                    <a:ea typeface="+mj-ea"/>
                  </a:rPr>
                </a:br>
                <a:r>
                  <a:rPr lang="ja-JP" altLang="en-US" sz="700" dirty="0">
                    <a:solidFill>
                      <a:schemeClr val="tx1"/>
                    </a:solidFill>
                    <a:latin typeface="+mn-ea"/>
                  </a:rPr>
                  <a:t>解約返戻金と帳簿価額の差額で評価します。正確な金額は保険会社へ</a:t>
                </a:r>
                <a:br>
                  <a:rPr lang="en-US" altLang="ja-JP" sz="700" dirty="0">
                    <a:solidFill>
                      <a:schemeClr val="tx1"/>
                    </a:solidFill>
                    <a:latin typeface="+mn-ea"/>
                  </a:rPr>
                </a:br>
                <a:r>
                  <a:rPr lang="ja-JP" altLang="en-US" sz="700" dirty="0">
                    <a:solidFill>
                      <a:schemeClr val="tx1"/>
                    </a:solidFill>
                    <a:latin typeface="+mn-ea"/>
                  </a:rPr>
                  <a:t>ご照会ください。</a:t>
                </a:r>
                <a:endParaRPr lang="ja-JP" altLang="en-US" sz="800" dirty="0">
                  <a:solidFill>
                    <a:schemeClr val="tx1"/>
                  </a:solidFill>
                  <a:latin typeface="+mn-ea"/>
                </a:endParaRPr>
              </a:p>
            </p:txBody>
          </p:sp>
          <p:sp>
            <p:nvSpPr>
              <p:cNvPr id="187" name="正方形/長方形 186">
                <a:extLst>
                  <a:ext uri="{FF2B5EF4-FFF2-40B4-BE49-F238E27FC236}">
                    <a16:creationId xmlns:a16="http://schemas.microsoft.com/office/drawing/2014/main" id="{755CC0D3-3A03-FC52-DA6C-493B4719C7E3}"/>
                  </a:ext>
                </a:extLst>
              </p:cNvPr>
              <p:cNvSpPr/>
              <p:nvPr/>
            </p:nvSpPr>
            <p:spPr>
              <a:xfrm>
                <a:off x="6725495" y="2983008"/>
                <a:ext cx="3528000" cy="3960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その他含み損益</a:t>
                </a:r>
                <a:endParaRPr lang="en-US" altLang="ja-JP" sz="900" b="1" dirty="0">
                  <a:solidFill>
                    <a:schemeClr val="tx1"/>
                  </a:solidFill>
                  <a:latin typeface="+mj-ea"/>
                  <a:ea typeface="+mj-ea"/>
                </a:endParaRPr>
              </a:p>
              <a:p>
                <a:pPr marL="216000" lvl="1" indent="-72000">
                  <a:lnSpc>
                    <a:spcPct val="110000"/>
                  </a:lnSpc>
                  <a:buClr>
                    <a:schemeClr val="tx2"/>
                  </a:buClr>
                  <a:buSzPct val="80000"/>
                  <a:buFont typeface="Arial" panose="020B0604020202020204" pitchFamily="34" charset="0"/>
                  <a:buChar char="•"/>
                </a:pPr>
                <a:r>
                  <a:rPr lang="ja-JP" altLang="en-US" sz="700" dirty="0">
                    <a:solidFill>
                      <a:schemeClr val="tx1"/>
                    </a:solidFill>
                    <a:latin typeface="+mn-ea"/>
                  </a:rPr>
                  <a:t>ゴルフ会員権は相場で、電話加入権はゼロで評価します。</a:t>
                </a:r>
                <a:endParaRPr lang="en-US" altLang="ja-JP" sz="700" dirty="0">
                  <a:solidFill>
                    <a:schemeClr val="tx1"/>
                  </a:solidFill>
                  <a:latin typeface="+mn-ea"/>
                </a:endParaRPr>
              </a:p>
              <a:p>
                <a:pPr marL="216000" lvl="1" indent="-72000">
                  <a:lnSpc>
                    <a:spcPct val="110000"/>
                  </a:lnSpc>
                  <a:buClr>
                    <a:schemeClr val="tx2"/>
                  </a:buClr>
                  <a:buSzPct val="80000"/>
                  <a:buFont typeface="Arial" panose="020B0604020202020204" pitchFamily="34" charset="0"/>
                  <a:buChar char="•"/>
                </a:pPr>
                <a:r>
                  <a:rPr lang="ja-JP" altLang="en-US" sz="700" dirty="0">
                    <a:solidFill>
                      <a:schemeClr val="tx1"/>
                    </a:solidFill>
                    <a:latin typeface="+mn-ea"/>
                  </a:rPr>
                  <a:t>滞留債権・在庫等は回収見込みを判断し、回収不能分はゼロ評価とします。</a:t>
                </a:r>
              </a:p>
            </p:txBody>
          </p:sp>
        </p:grpSp>
      </p:grpSp>
      <p:grpSp>
        <p:nvGrpSpPr>
          <p:cNvPr id="255" name="グループ化 254">
            <a:extLst>
              <a:ext uri="{FF2B5EF4-FFF2-40B4-BE49-F238E27FC236}">
                <a16:creationId xmlns:a16="http://schemas.microsoft.com/office/drawing/2014/main" id="{22F8E1D3-502D-53C7-F6A5-C1998B0A28A0}"/>
              </a:ext>
            </a:extLst>
          </p:cNvPr>
          <p:cNvGrpSpPr/>
          <p:nvPr/>
        </p:nvGrpSpPr>
        <p:grpSpPr>
          <a:xfrm>
            <a:off x="3398631" y="3555900"/>
            <a:ext cx="6843918" cy="1584000"/>
            <a:chOff x="3398631" y="3577677"/>
            <a:chExt cx="6843918" cy="1584000"/>
          </a:xfrm>
        </p:grpSpPr>
        <p:grpSp>
          <p:nvGrpSpPr>
            <p:cNvPr id="188" name="グループ化 187">
              <a:extLst>
                <a:ext uri="{FF2B5EF4-FFF2-40B4-BE49-F238E27FC236}">
                  <a16:creationId xmlns:a16="http://schemas.microsoft.com/office/drawing/2014/main" id="{94DB8D8A-C2F5-7507-3E2D-7B3D2C50F54A}"/>
                </a:ext>
              </a:extLst>
            </p:cNvPr>
            <p:cNvGrpSpPr/>
            <p:nvPr/>
          </p:nvGrpSpPr>
          <p:grpSpPr>
            <a:xfrm>
              <a:off x="3398631" y="3577677"/>
              <a:ext cx="6843918" cy="1584000"/>
              <a:chOff x="3398631" y="2458342"/>
              <a:chExt cx="6843918" cy="1660571"/>
            </a:xfrm>
          </p:grpSpPr>
          <p:sp>
            <p:nvSpPr>
              <p:cNvPr id="189" name="正方形/長方形 188">
                <a:extLst>
                  <a:ext uri="{FF2B5EF4-FFF2-40B4-BE49-F238E27FC236}">
                    <a16:creationId xmlns:a16="http://schemas.microsoft.com/office/drawing/2014/main" id="{B0753A83-E0F0-CE19-B04D-23A32D68F34F}"/>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endParaRPr kumimoji="1" lang="ja-JP" altLang="en-US" sz="1100" b="1" dirty="0">
                  <a:solidFill>
                    <a:schemeClr val="tx2"/>
                  </a:solidFill>
                  <a:latin typeface="+mj-ea"/>
                  <a:ea typeface="+mj-ea"/>
                </a:endParaRPr>
              </a:p>
            </p:txBody>
          </p:sp>
          <p:cxnSp>
            <p:nvCxnSpPr>
              <p:cNvPr id="190" name="直線コネクタ 189">
                <a:extLst>
                  <a:ext uri="{FF2B5EF4-FFF2-40B4-BE49-F238E27FC236}">
                    <a16:creationId xmlns:a16="http://schemas.microsoft.com/office/drawing/2014/main" id="{9F7CEC3C-56F8-4040-9CE3-B9A37ECB1444}"/>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91" name="正方形/長方形 190">
              <a:extLst>
                <a:ext uri="{FF2B5EF4-FFF2-40B4-BE49-F238E27FC236}">
                  <a16:creationId xmlns:a16="http://schemas.microsoft.com/office/drawing/2014/main" id="{6DA66039-8989-79FE-A328-3528FA10066D}"/>
                </a:ext>
              </a:extLst>
            </p:cNvPr>
            <p:cNvSpPr/>
            <p:nvPr/>
          </p:nvSpPr>
          <p:spPr>
            <a:xfrm>
              <a:off x="3499695" y="3679244"/>
              <a:ext cx="1942255" cy="451149"/>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spcAft>
                  <a:spcPts val="200"/>
                </a:spcAft>
                <a:buClr>
                  <a:schemeClr val="tx2"/>
                </a:buClr>
                <a:buSzPct val="80000"/>
                <a:buFont typeface="Wingdings" panose="05000000000000000000" pitchFamily="2" charset="2"/>
                <a:buChar char="n"/>
              </a:pPr>
              <a:r>
                <a:rPr lang="ja-JP" altLang="en-US" sz="900" b="1" dirty="0">
                  <a:solidFill>
                    <a:schemeClr val="tx1"/>
                  </a:solidFill>
                  <a:latin typeface="+mj-ea"/>
                  <a:ea typeface="+mj-ea"/>
                </a:rPr>
                <a:t>将来の税負担を織り込み、</a:t>
              </a:r>
              <a:br>
                <a:rPr lang="en-US" altLang="ja-JP" sz="900" b="1" dirty="0">
                  <a:solidFill>
                    <a:schemeClr val="tx1"/>
                  </a:solidFill>
                  <a:latin typeface="+mj-ea"/>
                  <a:ea typeface="+mj-ea"/>
                </a:rPr>
              </a:br>
              <a:r>
                <a:rPr lang="ja-JP" altLang="en-US" sz="900" b="1" dirty="0">
                  <a:solidFill>
                    <a:schemeClr val="tx1"/>
                  </a:solidFill>
                  <a:latin typeface="+mj-ea"/>
                  <a:ea typeface="+mj-ea"/>
                </a:rPr>
                <a:t>含み損益が自己資本に</a:t>
              </a:r>
              <a:br>
                <a:rPr lang="en-US" altLang="ja-JP" sz="900" b="1" dirty="0">
                  <a:solidFill>
                    <a:schemeClr val="tx1"/>
                  </a:solidFill>
                  <a:latin typeface="+mj-ea"/>
                  <a:ea typeface="+mj-ea"/>
                </a:rPr>
              </a:br>
              <a:r>
                <a:rPr lang="ja-JP" altLang="en-US" sz="900" b="1" dirty="0">
                  <a:solidFill>
                    <a:schemeClr val="tx1"/>
                  </a:solidFill>
                  <a:latin typeface="+mj-ea"/>
                  <a:ea typeface="+mj-ea"/>
                </a:rPr>
                <a:t>与える影響を緩和</a:t>
              </a:r>
            </a:p>
          </p:txBody>
        </p:sp>
      </p:grpSp>
      <p:grpSp>
        <p:nvGrpSpPr>
          <p:cNvPr id="263" name="グループ化 262">
            <a:extLst>
              <a:ext uri="{FF2B5EF4-FFF2-40B4-BE49-F238E27FC236}">
                <a16:creationId xmlns:a16="http://schemas.microsoft.com/office/drawing/2014/main" id="{F41F4B1C-9782-425E-8CD2-D1772CE20A78}"/>
              </a:ext>
            </a:extLst>
          </p:cNvPr>
          <p:cNvGrpSpPr/>
          <p:nvPr/>
        </p:nvGrpSpPr>
        <p:grpSpPr>
          <a:xfrm>
            <a:off x="5473700" y="3644017"/>
            <a:ext cx="4628129" cy="1404000"/>
            <a:chOff x="5473700" y="3644017"/>
            <a:chExt cx="4628129" cy="1404000"/>
          </a:xfrm>
        </p:grpSpPr>
        <p:sp>
          <p:nvSpPr>
            <p:cNvPr id="211" name="正方形/長方形 210">
              <a:extLst>
                <a:ext uri="{FF2B5EF4-FFF2-40B4-BE49-F238E27FC236}">
                  <a16:creationId xmlns:a16="http://schemas.microsoft.com/office/drawing/2014/main" id="{49CC4468-F167-54CF-AFA4-6EC46F16C742}"/>
                </a:ext>
              </a:extLst>
            </p:cNvPr>
            <p:cNvSpPr>
              <a:spLocks/>
            </p:cNvSpPr>
            <p:nvPr/>
          </p:nvSpPr>
          <p:spPr>
            <a:xfrm>
              <a:off x="5473700" y="3644017"/>
              <a:ext cx="4628129" cy="14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72000" rIns="144000" bIns="72000" rtlCol="0" anchor="ctr" anchorCtr="0">
              <a:noAutofit/>
            </a:bodyPr>
            <a:lstStyle/>
            <a:p>
              <a:pPr>
                <a:lnSpc>
                  <a:spcPct val="110000"/>
                </a:lnSpc>
                <a:spcAft>
                  <a:spcPts val="200"/>
                </a:spcAft>
              </a:pPr>
              <a:endParaRPr kumimoji="1" lang="ja-JP" altLang="en-US" sz="800" dirty="0">
                <a:solidFill>
                  <a:schemeClr val="tx1"/>
                </a:solidFill>
                <a:latin typeface="+mn-ea"/>
              </a:endParaRPr>
            </a:p>
          </p:txBody>
        </p:sp>
        <p:sp>
          <p:nvSpPr>
            <p:cNvPr id="195" name="正方形/長方形 194">
              <a:extLst>
                <a:ext uri="{FF2B5EF4-FFF2-40B4-BE49-F238E27FC236}">
                  <a16:creationId xmlns:a16="http://schemas.microsoft.com/office/drawing/2014/main" id="{25C7306C-678E-FBA0-2463-660AFFF1E93B}"/>
                </a:ext>
              </a:extLst>
            </p:cNvPr>
            <p:cNvSpPr/>
            <p:nvPr/>
          </p:nvSpPr>
          <p:spPr>
            <a:xfrm>
              <a:off x="5473700" y="3644017"/>
              <a:ext cx="4628129" cy="21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900" b="1" dirty="0">
                  <a:solidFill>
                    <a:schemeClr val="bg1"/>
                  </a:solidFill>
                  <a:latin typeface="+mj-ea"/>
                  <a:ea typeface="+mj-ea"/>
                </a:rPr>
                <a:t>税効果</a:t>
              </a:r>
            </a:p>
          </p:txBody>
        </p:sp>
      </p:grpSp>
      <p:sp>
        <p:nvSpPr>
          <p:cNvPr id="196" name="正方形/長方形 195">
            <a:extLst>
              <a:ext uri="{FF2B5EF4-FFF2-40B4-BE49-F238E27FC236}">
                <a16:creationId xmlns:a16="http://schemas.microsoft.com/office/drawing/2014/main" id="{4FC393E4-0E2E-028B-64EB-075547E39980}"/>
              </a:ext>
            </a:extLst>
          </p:cNvPr>
          <p:cNvSpPr/>
          <p:nvPr/>
        </p:nvSpPr>
        <p:spPr>
          <a:xfrm>
            <a:off x="5974644" y="3909597"/>
            <a:ext cx="3626240" cy="1931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800" dirty="0">
                <a:solidFill>
                  <a:schemeClr val="tx1"/>
                </a:solidFill>
                <a:latin typeface="+mn-ea"/>
              </a:rPr>
              <a:t>例）賞与引当金に関して、会社の帳簿価額がゼロ・引当不足額が</a:t>
            </a:r>
            <a:r>
              <a:rPr kumimoji="1" lang="en-US" altLang="ja-JP" sz="800" dirty="0">
                <a:solidFill>
                  <a:schemeClr val="tx1"/>
                </a:solidFill>
                <a:latin typeface="+mn-ea"/>
              </a:rPr>
              <a:t>100</a:t>
            </a:r>
            <a:r>
              <a:rPr kumimoji="1" lang="ja-JP" altLang="en-US" sz="800" dirty="0">
                <a:solidFill>
                  <a:schemeClr val="tx1"/>
                </a:solidFill>
                <a:latin typeface="+mn-ea"/>
              </a:rPr>
              <a:t>千円の場合</a:t>
            </a:r>
          </a:p>
        </p:txBody>
      </p:sp>
      <p:sp>
        <p:nvSpPr>
          <p:cNvPr id="212" name="テキスト ボックス 211">
            <a:extLst>
              <a:ext uri="{FF2B5EF4-FFF2-40B4-BE49-F238E27FC236}">
                <a16:creationId xmlns:a16="http://schemas.microsoft.com/office/drawing/2014/main" id="{8D465C0D-212D-8846-43BC-9F97F6DF1002}"/>
              </a:ext>
            </a:extLst>
          </p:cNvPr>
          <p:cNvSpPr txBox="1"/>
          <p:nvPr/>
        </p:nvSpPr>
        <p:spPr>
          <a:xfrm>
            <a:off x="5608982" y="4098043"/>
            <a:ext cx="2016000" cy="180000"/>
          </a:xfrm>
          <a:prstGeom prst="roundRect">
            <a:avLst>
              <a:gd name="adj" fmla="val 50000"/>
            </a:avLst>
          </a:prstGeom>
          <a:solidFill>
            <a:schemeClr val="bg2"/>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800" spc="0" dirty="0"/>
              <a:t>適用「する」場合</a:t>
            </a:r>
          </a:p>
        </p:txBody>
      </p:sp>
      <p:sp>
        <p:nvSpPr>
          <p:cNvPr id="213" name="テキスト ボックス 212">
            <a:extLst>
              <a:ext uri="{FF2B5EF4-FFF2-40B4-BE49-F238E27FC236}">
                <a16:creationId xmlns:a16="http://schemas.microsoft.com/office/drawing/2014/main" id="{7FE5483C-D54E-AE1D-6E7C-B4CE8C21C7AD}"/>
              </a:ext>
            </a:extLst>
          </p:cNvPr>
          <p:cNvSpPr txBox="1"/>
          <p:nvPr/>
        </p:nvSpPr>
        <p:spPr>
          <a:xfrm>
            <a:off x="7931685" y="4098043"/>
            <a:ext cx="2016000" cy="180000"/>
          </a:xfrm>
          <a:prstGeom prst="roundRect">
            <a:avLst>
              <a:gd name="adj" fmla="val 50000"/>
            </a:avLst>
          </a:prstGeom>
          <a:solidFill>
            <a:schemeClr val="bg2"/>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800" spc="0" dirty="0"/>
              <a:t>適用「しない」場合</a:t>
            </a:r>
          </a:p>
        </p:txBody>
      </p:sp>
      <p:sp>
        <p:nvSpPr>
          <p:cNvPr id="215" name="正方形/長方形 214">
            <a:extLst>
              <a:ext uri="{FF2B5EF4-FFF2-40B4-BE49-F238E27FC236}">
                <a16:creationId xmlns:a16="http://schemas.microsoft.com/office/drawing/2014/main" id="{A19E928D-17A1-2F82-3328-11288312B0A0}"/>
              </a:ext>
            </a:extLst>
          </p:cNvPr>
          <p:cNvSpPr/>
          <p:nvPr/>
        </p:nvSpPr>
        <p:spPr>
          <a:xfrm>
            <a:off x="5644982" y="4309479"/>
            <a:ext cx="1944000" cy="28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賞与支給時の節税効果（税率</a:t>
            </a:r>
            <a:r>
              <a:rPr kumimoji="1" lang="en-US" altLang="ja-JP" sz="700" dirty="0">
                <a:solidFill>
                  <a:schemeClr val="tx1"/>
                </a:solidFill>
                <a:latin typeface="+mn-ea"/>
              </a:rPr>
              <a:t>40%</a:t>
            </a:r>
            <a:r>
              <a:rPr kumimoji="1" lang="ja-JP" altLang="en-US" sz="700" dirty="0">
                <a:solidFill>
                  <a:schemeClr val="tx1"/>
                </a:solidFill>
                <a:latin typeface="+mn-ea"/>
              </a:rPr>
              <a:t>分）を資産計上し、自己資本の減少を緩和します。</a:t>
            </a:r>
          </a:p>
        </p:txBody>
      </p:sp>
      <p:sp>
        <p:nvSpPr>
          <p:cNvPr id="216" name="正方形/長方形 215">
            <a:extLst>
              <a:ext uri="{FF2B5EF4-FFF2-40B4-BE49-F238E27FC236}">
                <a16:creationId xmlns:a16="http://schemas.microsoft.com/office/drawing/2014/main" id="{A9F54F1E-682A-1E8D-A6FB-EC0200267973}"/>
              </a:ext>
            </a:extLst>
          </p:cNvPr>
          <p:cNvSpPr/>
          <p:nvPr/>
        </p:nvSpPr>
        <p:spPr>
          <a:xfrm>
            <a:off x="7967685" y="4309479"/>
            <a:ext cx="1944000" cy="28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負債が増加し、自己資本が減少する処理となります。</a:t>
            </a:r>
          </a:p>
        </p:txBody>
      </p:sp>
      <p:grpSp>
        <p:nvGrpSpPr>
          <p:cNvPr id="238" name="グループ化 237">
            <a:extLst>
              <a:ext uri="{FF2B5EF4-FFF2-40B4-BE49-F238E27FC236}">
                <a16:creationId xmlns:a16="http://schemas.microsoft.com/office/drawing/2014/main" id="{0551FFCA-E1ED-815A-4CE7-674866F74F56}"/>
              </a:ext>
            </a:extLst>
          </p:cNvPr>
          <p:cNvGrpSpPr/>
          <p:nvPr/>
        </p:nvGrpSpPr>
        <p:grpSpPr>
          <a:xfrm>
            <a:off x="5626982" y="4596561"/>
            <a:ext cx="1980000" cy="410524"/>
            <a:chOff x="5626982" y="4899284"/>
            <a:chExt cx="1980000" cy="410524"/>
          </a:xfrm>
        </p:grpSpPr>
        <p:sp>
          <p:nvSpPr>
            <p:cNvPr id="218" name="正方形/長方形 217">
              <a:extLst>
                <a:ext uri="{FF2B5EF4-FFF2-40B4-BE49-F238E27FC236}">
                  <a16:creationId xmlns:a16="http://schemas.microsoft.com/office/drawing/2014/main" id="{9168D5BF-C505-6019-D254-E67FB9228E0C}"/>
                </a:ext>
              </a:extLst>
            </p:cNvPr>
            <p:cNvSpPr/>
            <p:nvPr/>
          </p:nvSpPr>
          <p:spPr>
            <a:xfrm>
              <a:off x="5626982" y="4899284"/>
              <a:ext cx="1980000" cy="138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ja-JP" altLang="en-US" sz="700" b="1" dirty="0">
                  <a:solidFill>
                    <a:schemeClr val="tx1"/>
                  </a:solidFill>
                  <a:latin typeface="+mj-ea"/>
                  <a:ea typeface="+mj-ea"/>
                </a:rPr>
                <a:t>借方／貸方</a:t>
              </a:r>
            </a:p>
          </p:txBody>
        </p:sp>
        <p:sp>
          <p:nvSpPr>
            <p:cNvPr id="219" name="正方形/長方形 218">
              <a:extLst>
                <a:ext uri="{FF2B5EF4-FFF2-40B4-BE49-F238E27FC236}">
                  <a16:creationId xmlns:a16="http://schemas.microsoft.com/office/drawing/2014/main" id="{EDAB834F-BDD4-F710-7792-76EFE2022B79}"/>
                </a:ext>
              </a:extLst>
            </p:cNvPr>
            <p:cNvSpPr/>
            <p:nvPr/>
          </p:nvSpPr>
          <p:spPr>
            <a:xfrm>
              <a:off x="5718745" y="5057398"/>
              <a:ext cx="1796474" cy="252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zh-TW" altLang="en-US" sz="700" dirty="0">
                  <a:solidFill>
                    <a:schemeClr val="tx1"/>
                  </a:solidFill>
                  <a:latin typeface="+mn-ea"/>
                </a:rPr>
                <a:t>自己資本　</a:t>
              </a:r>
              <a:r>
                <a:rPr kumimoji="1" lang="ja-JP" altLang="en-US" sz="700" dirty="0">
                  <a:solidFill>
                    <a:schemeClr val="tx1"/>
                  </a:solidFill>
                  <a:latin typeface="+mn-ea"/>
                </a:rPr>
                <a:t>　  </a:t>
              </a:r>
              <a:r>
                <a:rPr kumimoji="1" lang="en-US" altLang="zh-TW" sz="700" dirty="0">
                  <a:solidFill>
                    <a:schemeClr val="tx1"/>
                  </a:solidFill>
                  <a:latin typeface="+mn-ea"/>
                </a:rPr>
                <a:t>60</a:t>
              </a:r>
              <a:r>
                <a:rPr kumimoji="1" lang="zh-TW" altLang="en-US" sz="700" dirty="0">
                  <a:solidFill>
                    <a:schemeClr val="tx1"/>
                  </a:solidFill>
                  <a:latin typeface="+mn-ea"/>
                </a:rPr>
                <a:t>千円／賞与引当金  </a:t>
              </a:r>
              <a:r>
                <a:rPr kumimoji="1" lang="en-US" altLang="zh-TW" sz="700" dirty="0">
                  <a:solidFill>
                    <a:schemeClr val="tx1"/>
                  </a:solidFill>
                  <a:latin typeface="+mn-ea"/>
                </a:rPr>
                <a:t>100</a:t>
              </a:r>
              <a:r>
                <a:rPr kumimoji="1" lang="zh-TW" altLang="en-US" sz="700" dirty="0">
                  <a:solidFill>
                    <a:schemeClr val="tx1"/>
                  </a:solidFill>
                  <a:latin typeface="+mn-ea"/>
                </a:rPr>
                <a:t>千円</a:t>
              </a:r>
            </a:p>
            <a:p>
              <a:pPr>
                <a:lnSpc>
                  <a:spcPct val="110000"/>
                </a:lnSpc>
                <a:buClr>
                  <a:schemeClr val="accent4"/>
                </a:buClr>
              </a:pPr>
              <a:r>
                <a:rPr kumimoji="1" lang="zh-TW" altLang="en-US" sz="700" dirty="0">
                  <a:solidFill>
                    <a:schemeClr val="tx1"/>
                  </a:solidFill>
                  <a:latin typeface="+mn-ea"/>
                </a:rPr>
                <a:t>繰延税金資産  </a:t>
              </a:r>
              <a:r>
                <a:rPr kumimoji="1" lang="en-US" altLang="zh-TW" sz="700" dirty="0">
                  <a:solidFill>
                    <a:schemeClr val="tx1"/>
                  </a:solidFill>
                  <a:latin typeface="+mn-ea"/>
                </a:rPr>
                <a:t>40</a:t>
              </a:r>
              <a:r>
                <a:rPr kumimoji="1" lang="zh-TW" altLang="en-US" sz="700" dirty="0">
                  <a:solidFill>
                    <a:schemeClr val="tx1"/>
                  </a:solidFill>
                  <a:latin typeface="+mn-ea"/>
                </a:rPr>
                <a:t>千円</a:t>
              </a:r>
            </a:p>
          </p:txBody>
        </p:sp>
        <p:cxnSp>
          <p:nvCxnSpPr>
            <p:cNvPr id="223" name="直線コネクタ 222">
              <a:extLst>
                <a:ext uri="{FF2B5EF4-FFF2-40B4-BE49-F238E27FC236}">
                  <a16:creationId xmlns:a16="http://schemas.microsoft.com/office/drawing/2014/main" id="{4CFED07D-9471-9813-4D4E-01636D532412}"/>
                </a:ext>
              </a:extLst>
            </p:cNvPr>
            <p:cNvCxnSpPr>
              <a:cxnSpLocks/>
            </p:cNvCxnSpPr>
            <p:nvPr/>
          </p:nvCxnSpPr>
          <p:spPr>
            <a:xfrm>
              <a:off x="5626982" y="5030727"/>
              <a:ext cx="1980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7" name="グループ化 236">
            <a:extLst>
              <a:ext uri="{FF2B5EF4-FFF2-40B4-BE49-F238E27FC236}">
                <a16:creationId xmlns:a16="http://schemas.microsoft.com/office/drawing/2014/main" id="{A214A794-5BA6-D6BB-DA3D-91D1E6D65264}"/>
              </a:ext>
            </a:extLst>
          </p:cNvPr>
          <p:cNvGrpSpPr/>
          <p:nvPr/>
        </p:nvGrpSpPr>
        <p:grpSpPr>
          <a:xfrm>
            <a:off x="7949685" y="4596561"/>
            <a:ext cx="1980000" cy="410524"/>
            <a:chOff x="7949685" y="4899284"/>
            <a:chExt cx="1980000" cy="410524"/>
          </a:xfrm>
        </p:grpSpPr>
        <p:sp>
          <p:nvSpPr>
            <p:cNvPr id="228" name="正方形/長方形 227">
              <a:extLst>
                <a:ext uri="{FF2B5EF4-FFF2-40B4-BE49-F238E27FC236}">
                  <a16:creationId xmlns:a16="http://schemas.microsoft.com/office/drawing/2014/main" id="{311135DA-447A-3A5F-28E4-A5B3903612DC}"/>
                </a:ext>
              </a:extLst>
            </p:cNvPr>
            <p:cNvSpPr/>
            <p:nvPr/>
          </p:nvSpPr>
          <p:spPr>
            <a:xfrm>
              <a:off x="7949685" y="4899284"/>
              <a:ext cx="1980000" cy="138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ja-JP" altLang="en-US" sz="700" b="1" dirty="0">
                  <a:solidFill>
                    <a:schemeClr val="tx1"/>
                  </a:solidFill>
                  <a:latin typeface="+mj-ea"/>
                  <a:ea typeface="+mj-ea"/>
                </a:rPr>
                <a:t>借方／貸方</a:t>
              </a:r>
            </a:p>
          </p:txBody>
        </p:sp>
        <p:sp>
          <p:nvSpPr>
            <p:cNvPr id="229" name="正方形/長方形 228">
              <a:extLst>
                <a:ext uri="{FF2B5EF4-FFF2-40B4-BE49-F238E27FC236}">
                  <a16:creationId xmlns:a16="http://schemas.microsoft.com/office/drawing/2014/main" id="{9C540B0F-7442-9D9D-9C9B-ACDEB990BE1E}"/>
                </a:ext>
              </a:extLst>
            </p:cNvPr>
            <p:cNvSpPr/>
            <p:nvPr/>
          </p:nvSpPr>
          <p:spPr>
            <a:xfrm>
              <a:off x="8041448" y="5057398"/>
              <a:ext cx="1796474" cy="252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zh-TW" altLang="en-US" sz="700" dirty="0">
                  <a:solidFill>
                    <a:schemeClr val="tx1"/>
                  </a:solidFill>
                  <a:latin typeface="+mn-ea"/>
                </a:rPr>
                <a:t>自己資本  </a:t>
              </a:r>
              <a:r>
                <a:rPr kumimoji="1" lang="en-US" altLang="zh-TW" sz="700" dirty="0">
                  <a:solidFill>
                    <a:schemeClr val="tx1"/>
                  </a:solidFill>
                  <a:latin typeface="+mn-ea"/>
                </a:rPr>
                <a:t>100</a:t>
              </a:r>
              <a:r>
                <a:rPr kumimoji="1" lang="zh-TW" altLang="en-US" sz="700" dirty="0">
                  <a:solidFill>
                    <a:schemeClr val="tx1"/>
                  </a:solidFill>
                  <a:latin typeface="+mn-ea"/>
                </a:rPr>
                <a:t>千円／賞与引当金  </a:t>
              </a:r>
              <a:r>
                <a:rPr kumimoji="1" lang="en-US" altLang="zh-TW" sz="700" dirty="0">
                  <a:solidFill>
                    <a:schemeClr val="tx1"/>
                  </a:solidFill>
                  <a:latin typeface="+mn-ea"/>
                </a:rPr>
                <a:t>100</a:t>
              </a:r>
              <a:r>
                <a:rPr kumimoji="1" lang="zh-TW" altLang="en-US" sz="700" dirty="0">
                  <a:solidFill>
                    <a:schemeClr val="tx1"/>
                  </a:solidFill>
                  <a:latin typeface="+mn-ea"/>
                </a:rPr>
                <a:t>千円</a:t>
              </a:r>
            </a:p>
          </p:txBody>
        </p:sp>
        <p:cxnSp>
          <p:nvCxnSpPr>
            <p:cNvPr id="230" name="直線コネクタ 229">
              <a:extLst>
                <a:ext uri="{FF2B5EF4-FFF2-40B4-BE49-F238E27FC236}">
                  <a16:creationId xmlns:a16="http://schemas.microsoft.com/office/drawing/2014/main" id="{6B1DE395-CF9D-E867-5835-86E414F5A0AC}"/>
                </a:ext>
              </a:extLst>
            </p:cNvPr>
            <p:cNvCxnSpPr>
              <a:cxnSpLocks/>
            </p:cNvCxnSpPr>
            <p:nvPr/>
          </p:nvCxnSpPr>
          <p:spPr>
            <a:xfrm>
              <a:off x="7949685" y="5030727"/>
              <a:ext cx="1980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233" name="直線コネクタ 232">
            <a:extLst>
              <a:ext uri="{FF2B5EF4-FFF2-40B4-BE49-F238E27FC236}">
                <a16:creationId xmlns:a16="http://schemas.microsoft.com/office/drawing/2014/main" id="{C3F844DC-3E31-BCCF-B331-0BC459727A43}"/>
              </a:ext>
            </a:extLst>
          </p:cNvPr>
          <p:cNvCxnSpPr>
            <a:cxnSpLocks/>
          </p:cNvCxnSpPr>
          <p:nvPr/>
        </p:nvCxnSpPr>
        <p:spPr>
          <a:xfrm>
            <a:off x="7787764" y="4098043"/>
            <a:ext cx="0" cy="868147"/>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197" name="グループ化 196">
            <a:extLst>
              <a:ext uri="{FF2B5EF4-FFF2-40B4-BE49-F238E27FC236}">
                <a16:creationId xmlns:a16="http://schemas.microsoft.com/office/drawing/2014/main" id="{5D5809C6-6D4D-C388-8255-F4FA5152224B}"/>
              </a:ext>
            </a:extLst>
          </p:cNvPr>
          <p:cNvGrpSpPr/>
          <p:nvPr/>
        </p:nvGrpSpPr>
        <p:grpSpPr>
          <a:xfrm>
            <a:off x="3398631" y="5226050"/>
            <a:ext cx="6843918" cy="1277101"/>
            <a:chOff x="3398631" y="2458342"/>
            <a:chExt cx="6843918" cy="1660571"/>
          </a:xfrm>
        </p:grpSpPr>
        <p:sp>
          <p:nvSpPr>
            <p:cNvPr id="198" name="正方形/長方形 197">
              <a:extLst>
                <a:ext uri="{FF2B5EF4-FFF2-40B4-BE49-F238E27FC236}">
                  <a16:creationId xmlns:a16="http://schemas.microsoft.com/office/drawing/2014/main" id="{63854129-2E27-B3D3-3400-0030BD9D3590}"/>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99" name="直線コネクタ 198">
              <a:extLst>
                <a:ext uri="{FF2B5EF4-FFF2-40B4-BE49-F238E27FC236}">
                  <a16:creationId xmlns:a16="http://schemas.microsoft.com/office/drawing/2014/main" id="{8AD0B2B6-DD1A-A082-F65D-8B9BBBE6CE7A}"/>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00" name="正方形/長方形 199">
            <a:extLst>
              <a:ext uri="{FF2B5EF4-FFF2-40B4-BE49-F238E27FC236}">
                <a16:creationId xmlns:a16="http://schemas.microsoft.com/office/drawing/2014/main" id="{A198DE67-D025-F9DD-FEBB-3F8C228413A6}"/>
              </a:ext>
            </a:extLst>
          </p:cNvPr>
          <p:cNvSpPr/>
          <p:nvPr/>
        </p:nvSpPr>
        <p:spPr>
          <a:xfrm>
            <a:off x="3499692" y="5529909"/>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特別損益</a:t>
            </a:r>
            <a:br>
              <a:rPr lang="en-US" altLang="ja-JP" sz="1000" b="1" dirty="0">
                <a:solidFill>
                  <a:schemeClr val="tx1"/>
                </a:solidFill>
                <a:latin typeface="+mj-ea"/>
                <a:ea typeface="+mj-ea"/>
              </a:rPr>
            </a:br>
            <a:r>
              <a:rPr lang="ja-JP" altLang="en-US" sz="700" dirty="0">
                <a:solidFill>
                  <a:schemeClr val="tx1"/>
                </a:solidFill>
                <a:latin typeface="+mn-ea"/>
              </a:rPr>
              <a:t>非経常的な項目として除外し、発生しなかったものとみなします。</a:t>
            </a:r>
            <a:endParaRPr lang="ja-JP" altLang="en-US" sz="1000" dirty="0">
              <a:solidFill>
                <a:schemeClr val="tx1"/>
              </a:solidFill>
              <a:latin typeface="+mn-ea"/>
            </a:endParaRPr>
          </a:p>
        </p:txBody>
      </p:sp>
      <p:sp>
        <p:nvSpPr>
          <p:cNvPr id="204" name="正方形/長方形 203">
            <a:extLst>
              <a:ext uri="{FF2B5EF4-FFF2-40B4-BE49-F238E27FC236}">
                <a16:creationId xmlns:a16="http://schemas.microsoft.com/office/drawing/2014/main" id="{4FBCCBC8-B682-7B19-4150-28E417FB88BE}"/>
              </a:ext>
            </a:extLst>
          </p:cNvPr>
          <p:cNvSpPr/>
          <p:nvPr/>
        </p:nvSpPr>
        <p:spPr>
          <a:xfrm>
            <a:off x="3499692" y="5837884"/>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支払利息等</a:t>
            </a:r>
            <a:br>
              <a:rPr lang="en-US" altLang="ja-JP" sz="1000" b="1" dirty="0">
                <a:solidFill>
                  <a:schemeClr val="tx1"/>
                </a:solidFill>
                <a:latin typeface="+mj-ea"/>
                <a:ea typeface="+mj-ea"/>
              </a:rPr>
            </a:br>
            <a:r>
              <a:rPr lang="ja-JP" altLang="en-US" sz="700" dirty="0">
                <a:solidFill>
                  <a:schemeClr val="tx1"/>
                </a:solidFill>
                <a:latin typeface="+mn-ea"/>
              </a:rPr>
              <a:t>資金調達構造の影響を除くため、無借金経営と仮定して加算します。</a:t>
            </a:r>
            <a:endParaRPr lang="ja-JP" altLang="en-US" sz="800" dirty="0">
              <a:solidFill>
                <a:schemeClr val="tx1"/>
              </a:solidFill>
              <a:latin typeface="+mn-ea"/>
            </a:endParaRPr>
          </a:p>
        </p:txBody>
      </p:sp>
      <p:sp>
        <p:nvSpPr>
          <p:cNvPr id="205" name="正方形/長方形 204">
            <a:extLst>
              <a:ext uri="{FF2B5EF4-FFF2-40B4-BE49-F238E27FC236}">
                <a16:creationId xmlns:a16="http://schemas.microsoft.com/office/drawing/2014/main" id="{5BB71978-2501-15B2-25C9-078EDCE32312}"/>
              </a:ext>
            </a:extLst>
          </p:cNvPr>
          <p:cNvSpPr/>
          <p:nvPr/>
        </p:nvSpPr>
        <p:spPr>
          <a:xfrm>
            <a:off x="3499692" y="6145859"/>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役員報酬・保険料</a:t>
            </a:r>
            <a:br>
              <a:rPr lang="en-US" altLang="ja-JP" sz="1000" b="1" dirty="0">
                <a:solidFill>
                  <a:schemeClr val="tx1"/>
                </a:solidFill>
                <a:latin typeface="+mj-ea"/>
                <a:ea typeface="+mj-ea"/>
              </a:rPr>
            </a:br>
            <a:r>
              <a:rPr lang="ja-JP" altLang="en-US" sz="700" dirty="0">
                <a:solidFill>
                  <a:schemeClr val="tx1"/>
                </a:solidFill>
                <a:latin typeface="+mn-ea"/>
              </a:rPr>
              <a:t>実質的な利益配分としての性質を考慮し、標準額への修正や節税分の調整を行います。</a:t>
            </a:r>
            <a:endParaRPr lang="ja-JP" altLang="en-US" sz="800" dirty="0">
              <a:solidFill>
                <a:schemeClr val="tx1"/>
              </a:solidFill>
              <a:latin typeface="+mn-ea"/>
            </a:endParaRPr>
          </a:p>
        </p:txBody>
      </p:sp>
      <p:grpSp>
        <p:nvGrpSpPr>
          <p:cNvPr id="259" name="グループ化 258">
            <a:extLst>
              <a:ext uri="{FF2B5EF4-FFF2-40B4-BE49-F238E27FC236}">
                <a16:creationId xmlns:a16="http://schemas.microsoft.com/office/drawing/2014/main" id="{9E911DA2-C853-8C54-A68E-56A2FDDD6CFB}"/>
              </a:ext>
            </a:extLst>
          </p:cNvPr>
          <p:cNvGrpSpPr/>
          <p:nvPr/>
        </p:nvGrpSpPr>
        <p:grpSpPr>
          <a:xfrm>
            <a:off x="3398631" y="863600"/>
            <a:ext cx="6843918" cy="1296000"/>
            <a:chOff x="3398631" y="863600"/>
            <a:chExt cx="6843918" cy="1296000"/>
          </a:xfrm>
        </p:grpSpPr>
        <p:sp>
          <p:nvSpPr>
            <p:cNvPr id="146" name="正方形/長方形 145">
              <a:extLst>
                <a:ext uri="{FF2B5EF4-FFF2-40B4-BE49-F238E27FC236}">
                  <a16:creationId xmlns:a16="http://schemas.microsoft.com/office/drawing/2014/main" id="{B85938D2-0D1F-58CD-2309-6D62CE30C7C5}"/>
                </a:ext>
              </a:extLst>
            </p:cNvPr>
            <p:cNvSpPr/>
            <p:nvPr/>
          </p:nvSpPr>
          <p:spPr>
            <a:xfrm>
              <a:off x="3398631" y="867167"/>
              <a:ext cx="6843918" cy="129243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48" name="直線コネクタ 147">
              <a:extLst>
                <a:ext uri="{FF2B5EF4-FFF2-40B4-BE49-F238E27FC236}">
                  <a16:creationId xmlns:a16="http://schemas.microsoft.com/office/drawing/2014/main" id="{1AE20F92-19E2-6A32-551F-E96BAAF3C1FE}"/>
                </a:ext>
              </a:extLst>
            </p:cNvPr>
            <p:cNvCxnSpPr>
              <a:cxnSpLocks/>
            </p:cNvCxnSpPr>
            <p:nvPr/>
          </p:nvCxnSpPr>
          <p:spPr>
            <a:xfrm>
              <a:off x="3398631" y="863600"/>
              <a:ext cx="0" cy="1292433"/>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33" name="正方形/長方形 32">
            <a:extLst>
              <a:ext uri="{FF2B5EF4-FFF2-40B4-BE49-F238E27FC236}">
                <a16:creationId xmlns:a16="http://schemas.microsoft.com/office/drawing/2014/main" id="{DD01FAD5-BDFE-9722-A2AD-D6368C9C5672}"/>
              </a:ext>
            </a:extLst>
          </p:cNvPr>
          <p:cNvSpPr/>
          <p:nvPr/>
        </p:nvSpPr>
        <p:spPr>
          <a:xfrm>
            <a:off x="3499696" y="1182900"/>
            <a:ext cx="1922967" cy="85844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現金主義で処理された</a:t>
            </a:r>
            <a:br>
              <a:rPr lang="en-US" altLang="ja-JP" sz="900" b="1" spc="30" dirty="0">
                <a:solidFill>
                  <a:schemeClr val="tx1"/>
                </a:solidFill>
                <a:latin typeface="+mj-ea"/>
                <a:ea typeface="+mj-ea"/>
              </a:rPr>
            </a:br>
            <a:r>
              <a:rPr lang="ja-JP" altLang="en-US" sz="900" b="1" spc="30" dirty="0">
                <a:solidFill>
                  <a:schemeClr val="tx1"/>
                </a:solidFill>
                <a:latin typeface="+mj-ea"/>
                <a:ea typeface="+mj-ea"/>
              </a:rPr>
              <a:t>損益項目を、発生主義基準へと修正</a:t>
            </a:r>
          </a:p>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減価償却過不足の修正</a:t>
            </a:r>
          </a:p>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有価証券の時価評価</a:t>
            </a:r>
          </a:p>
        </p:txBody>
      </p:sp>
      <p:grpSp>
        <p:nvGrpSpPr>
          <p:cNvPr id="266" name="グループ化 265">
            <a:extLst>
              <a:ext uri="{FF2B5EF4-FFF2-40B4-BE49-F238E27FC236}">
                <a16:creationId xmlns:a16="http://schemas.microsoft.com/office/drawing/2014/main" id="{F1392546-AD9C-DF40-2404-6494C898B15C}"/>
              </a:ext>
            </a:extLst>
          </p:cNvPr>
          <p:cNvGrpSpPr/>
          <p:nvPr/>
        </p:nvGrpSpPr>
        <p:grpSpPr>
          <a:xfrm>
            <a:off x="5576458" y="1050314"/>
            <a:ext cx="4283119" cy="226544"/>
            <a:chOff x="5425396" y="1050314"/>
            <a:chExt cx="4283119" cy="226544"/>
          </a:xfrm>
        </p:grpSpPr>
        <p:sp>
          <p:nvSpPr>
            <p:cNvPr id="160" name="正方形/長方形 159">
              <a:extLst>
                <a:ext uri="{FF2B5EF4-FFF2-40B4-BE49-F238E27FC236}">
                  <a16:creationId xmlns:a16="http://schemas.microsoft.com/office/drawing/2014/main" id="{4AA24E7B-5108-6C25-FF22-34818E14BC97}"/>
                </a:ext>
              </a:extLst>
            </p:cNvPr>
            <p:cNvSpPr/>
            <p:nvPr/>
          </p:nvSpPr>
          <p:spPr>
            <a:xfrm>
              <a:off x="5425396" y="1050314"/>
              <a:ext cx="991279"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未払費用の計上</a:t>
              </a:r>
            </a:p>
          </p:txBody>
        </p:sp>
        <p:sp>
          <p:nvSpPr>
            <p:cNvPr id="161" name="正方形/長方形 160">
              <a:extLst>
                <a:ext uri="{FF2B5EF4-FFF2-40B4-BE49-F238E27FC236}">
                  <a16:creationId xmlns:a16="http://schemas.microsoft.com/office/drawing/2014/main" id="{3F98411A-B885-7492-E0DD-23D9744B6714}"/>
                </a:ext>
              </a:extLst>
            </p:cNvPr>
            <p:cNvSpPr/>
            <p:nvPr/>
          </p:nvSpPr>
          <p:spPr>
            <a:xfrm>
              <a:off x="6471371" y="1060858"/>
              <a:ext cx="3237144" cy="21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例）給与が「</a:t>
              </a:r>
              <a:r>
                <a:rPr kumimoji="1" lang="en-US" altLang="ja-JP" sz="700" dirty="0">
                  <a:solidFill>
                    <a:schemeClr val="tx1"/>
                  </a:solidFill>
                  <a:latin typeface="+mn-ea"/>
                </a:rPr>
                <a:t>15</a:t>
              </a:r>
              <a:r>
                <a:rPr kumimoji="1" lang="ja-JP" altLang="en-US" sz="700" dirty="0">
                  <a:solidFill>
                    <a:schemeClr val="tx1"/>
                  </a:solidFill>
                  <a:latin typeface="+mn-ea"/>
                </a:rPr>
                <a:t>日締め・末払い」で、現金の支払い時に費用計上している場合　</a:t>
              </a:r>
            </a:p>
            <a:p>
              <a:pPr>
                <a:lnSpc>
                  <a:spcPct val="110000"/>
                </a:lnSpc>
                <a:buClr>
                  <a:schemeClr val="accent4"/>
                </a:buClr>
              </a:pPr>
              <a:r>
                <a:rPr kumimoji="1" lang="ja-JP" altLang="en-US" sz="700" dirty="0">
                  <a:solidFill>
                    <a:schemeClr val="accent1"/>
                  </a:solidFill>
                  <a:latin typeface="+mn-ea"/>
                </a:rPr>
                <a:t>➡</a:t>
              </a:r>
              <a:r>
                <a:rPr kumimoji="1" lang="en-US" altLang="ja-JP" sz="700" dirty="0">
                  <a:solidFill>
                    <a:schemeClr val="tx1"/>
                  </a:solidFill>
                  <a:latin typeface="+mn-ea"/>
                </a:rPr>
                <a:t>16</a:t>
              </a:r>
              <a:r>
                <a:rPr kumimoji="1" lang="ja-JP" altLang="en-US" sz="700" dirty="0">
                  <a:solidFill>
                    <a:schemeClr val="tx1"/>
                  </a:solidFill>
                  <a:latin typeface="+mn-ea"/>
                </a:rPr>
                <a:t>日～末日までの発生分を未払費用として認識</a:t>
              </a:r>
            </a:p>
          </p:txBody>
        </p:sp>
      </p:grpSp>
      <p:grpSp>
        <p:nvGrpSpPr>
          <p:cNvPr id="267" name="グループ化 266">
            <a:extLst>
              <a:ext uri="{FF2B5EF4-FFF2-40B4-BE49-F238E27FC236}">
                <a16:creationId xmlns:a16="http://schemas.microsoft.com/office/drawing/2014/main" id="{84234803-20AE-7D51-EC88-E221907EDE31}"/>
              </a:ext>
            </a:extLst>
          </p:cNvPr>
          <p:cNvGrpSpPr/>
          <p:nvPr/>
        </p:nvGrpSpPr>
        <p:grpSpPr>
          <a:xfrm>
            <a:off x="5576458" y="1373504"/>
            <a:ext cx="4439329" cy="334544"/>
            <a:chOff x="5425396" y="1402739"/>
            <a:chExt cx="4439329" cy="334544"/>
          </a:xfrm>
        </p:grpSpPr>
        <p:sp>
          <p:nvSpPr>
            <p:cNvPr id="162" name="正方形/長方形 161">
              <a:extLst>
                <a:ext uri="{FF2B5EF4-FFF2-40B4-BE49-F238E27FC236}">
                  <a16:creationId xmlns:a16="http://schemas.microsoft.com/office/drawing/2014/main" id="{3F81830E-44CB-C118-0456-D12A8552FF0A}"/>
                </a:ext>
              </a:extLst>
            </p:cNvPr>
            <p:cNvSpPr/>
            <p:nvPr/>
          </p:nvSpPr>
          <p:spPr>
            <a:xfrm>
              <a:off x="5425396" y="1402739"/>
              <a:ext cx="991279"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賞与引当金の計上</a:t>
              </a:r>
            </a:p>
          </p:txBody>
        </p:sp>
        <p:sp>
          <p:nvSpPr>
            <p:cNvPr id="163" name="正方形/長方形 162">
              <a:extLst>
                <a:ext uri="{FF2B5EF4-FFF2-40B4-BE49-F238E27FC236}">
                  <a16:creationId xmlns:a16="http://schemas.microsoft.com/office/drawing/2014/main" id="{A29C3195-BD84-3CE1-5F81-9A6F1AD5D247}"/>
                </a:ext>
              </a:extLst>
            </p:cNvPr>
            <p:cNvSpPr/>
            <p:nvPr/>
          </p:nvSpPr>
          <p:spPr>
            <a:xfrm>
              <a:off x="6471371" y="1413283"/>
              <a:ext cx="3393354" cy="32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例）</a:t>
              </a:r>
              <a:r>
                <a:rPr kumimoji="1" lang="en-US" altLang="ja-JP" sz="700" dirty="0">
                  <a:solidFill>
                    <a:schemeClr val="tx1"/>
                  </a:solidFill>
                  <a:latin typeface="+mn-ea"/>
                </a:rPr>
                <a:t>3</a:t>
              </a:r>
              <a:r>
                <a:rPr kumimoji="1" lang="ja-JP" altLang="en-US" sz="700" dirty="0">
                  <a:solidFill>
                    <a:schemeClr val="tx1"/>
                  </a:solidFill>
                  <a:latin typeface="+mn-ea"/>
                </a:rPr>
                <a:t>月末決算にて、</a:t>
              </a:r>
              <a:r>
                <a:rPr kumimoji="1" lang="en-US" altLang="ja-JP" sz="700" dirty="0">
                  <a:solidFill>
                    <a:schemeClr val="tx1"/>
                  </a:solidFill>
                  <a:latin typeface="+mn-ea"/>
                </a:rPr>
                <a:t>1</a:t>
              </a:r>
              <a:r>
                <a:rPr kumimoji="1" lang="ja-JP" altLang="en-US" sz="700" dirty="0">
                  <a:solidFill>
                    <a:schemeClr val="tx1"/>
                  </a:solidFill>
                  <a:latin typeface="+mn-ea"/>
                </a:rPr>
                <a:t>月～</a:t>
              </a:r>
              <a:r>
                <a:rPr kumimoji="1" lang="en-US" altLang="ja-JP" sz="700" dirty="0">
                  <a:solidFill>
                    <a:schemeClr val="tx1"/>
                  </a:solidFill>
                  <a:latin typeface="+mn-ea"/>
                </a:rPr>
                <a:t>6</a:t>
              </a:r>
              <a:r>
                <a:rPr kumimoji="1" lang="ja-JP" altLang="en-US" sz="700" dirty="0">
                  <a:solidFill>
                    <a:schemeClr val="tx1"/>
                  </a:solidFill>
                  <a:latin typeface="+mn-ea"/>
                </a:rPr>
                <a:t>月を対象期間とする賞与</a:t>
              </a:r>
              <a:r>
                <a:rPr kumimoji="1" lang="en-US" altLang="ja-JP" sz="700" dirty="0">
                  <a:solidFill>
                    <a:schemeClr val="tx1"/>
                  </a:solidFill>
                  <a:latin typeface="+mn-ea"/>
                </a:rPr>
                <a:t>200</a:t>
              </a:r>
              <a:r>
                <a:rPr kumimoji="1" lang="ja-JP" altLang="en-US" sz="700" dirty="0">
                  <a:solidFill>
                    <a:schemeClr val="tx1"/>
                  </a:solidFill>
                  <a:latin typeface="+mn-ea"/>
                </a:rPr>
                <a:t>千円を</a:t>
              </a:r>
              <a:r>
                <a:rPr kumimoji="1" lang="en-US" altLang="ja-JP" sz="700" dirty="0">
                  <a:solidFill>
                    <a:schemeClr val="tx1"/>
                  </a:solidFill>
                  <a:latin typeface="+mn-ea"/>
                </a:rPr>
                <a:t>7</a:t>
              </a:r>
              <a:r>
                <a:rPr kumimoji="1" lang="ja-JP" altLang="en-US" sz="700" dirty="0">
                  <a:solidFill>
                    <a:schemeClr val="tx1"/>
                  </a:solidFill>
                  <a:latin typeface="+mn-ea"/>
                </a:rPr>
                <a:t>月に支給する場合</a:t>
              </a:r>
            </a:p>
            <a:p>
              <a:pPr>
                <a:lnSpc>
                  <a:spcPct val="110000"/>
                </a:lnSpc>
                <a:buClr>
                  <a:schemeClr val="accent4"/>
                </a:buClr>
              </a:pPr>
              <a:r>
                <a:rPr kumimoji="1" lang="ja-JP" altLang="en-US" sz="700" dirty="0">
                  <a:solidFill>
                    <a:schemeClr val="accent1"/>
                  </a:solidFill>
                  <a:latin typeface="+mn-ea"/>
                </a:rPr>
                <a:t>➡</a:t>
              </a:r>
              <a:r>
                <a:rPr kumimoji="1" lang="ja-JP" altLang="en-US" sz="700" dirty="0">
                  <a:solidFill>
                    <a:schemeClr val="tx1"/>
                  </a:solidFill>
                  <a:latin typeface="+mn-ea"/>
                </a:rPr>
                <a:t>当期にあたる</a:t>
              </a:r>
              <a:r>
                <a:rPr kumimoji="1" lang="en-US" altLang="ja-JP" sz="700" dirty="0">
                  <a:solidFill>
                    <a:schemeClr val="tx1"/>
                  </a:solidFill>
                  <a:latin typeface="+mn-ea"/>
                </a:rPr>
                <a:t>1</a:t>
              </a:r>
              <a:r>
                <a:rPr kumimoji="1" lang="ja-JP" altLang="en-US" sz="700" dirty="0">
                  <a:solidFill>
                    <a:schemeClr val="tx1"/>
                  </a:solidFill>
                  <a:latin typeface="+mn-ea"/>
                </a:rPr>
                <a:t>月～</a:t>
              </a:r>
              <a:r>
                <a:rPr kumimoji="1" lang="en-US" altLang="ja-JP" sz="700" dirty="0">
                  <a:solidFill>
                    <a:schemeClr val="tx1"/>
                  </a:solidFill>
                  <a:latin typeface="+mn-ea"/>
                </a:rPr>
                <a:t>3</a:t>
              </a:r>
              <a:r>
                <a:rPr kumimoji="1" lang="ja-JP" altLang="en-US" sz="700" dirty="0">
                  <a:solidFill>
                    <a:schemeClr val="tx1"/>
                  </a:solidFill>
                  <a:latin typeface="+mn-ea"/>
                </a:rPr>
                <a:t>月分（</a:t>
              </a:r>
              <a:r>
                <a:rPr kumimoji="1" lang="en-US" altLang="ja-JP" sz="700" dirty="0">
                  <a:solidFill>
                    <a:schemeClr val="tx1"/>
                  </a:solidFill>
                  <a:latin typeface="+mn-ea"/>
                </a:rPr>
                <a:t>100</a:t>
              </a:r>
              <a:r>
                <a:rPr kumimoji="1" lang="ja-JP" altLang="en-US" sz="700" dirty="0">
                  <a:solidFill>
                    <a:schemeClr val="tx1"/>
                  </a:solidFill>
                  <a:latin typeface="+mn-ea"/>
                </a:rPr>
                <a:t>千円）を期間按分で引当計上し、関連する未払社会</a:t>
              </a:r>
              <a:endParaRPr kumimoji="1" lang="en-US" altLang="ja-JP" sz="700" dirty="0">
                <a:solidFill>
                  <a:schemeClr val="tx1"/>
                </a:solidFill>
                <a:latin typeface="+mn-ea"/>
              </a:endParaRPr>
            </a:p>
            <a:p>
              <a:pPr>
                <a:lnSpc>
                  <a:spcPct val="110000"/>
                </a:lnSpc>
                <a:buClr>
                  <a:schemeClr val="accent4"/>
                </a:buClr>
              </a:pPr>
              <a:r>
                <a:rPr kumimoji="1" lang="ja-JP" altLang="en-US" sz="700" dirty="0">
                  <a:solidFill>
                    <a:schemeClr val="tx1"/>
                  </a:solidFill>
                  <a:latin typeface="+mn-ea"/>
                </a:rPr>
                <a:t>　保険料も併せて計上</a:t>
              </a:r>
            </a:p>
          </p:txBody>
        </p:sp>
      </p:grpSp>
      <p:sp>
        <p:nvSpPr>
          <p:cNvPr id="164" name="正方形/長方形 163">
            <a:extLst>
              <a:ext uri="{FF2B5EF4-FFF2-40B4-BE49-F238E27FC236}">
                <a16:creationId xmlns:a16="http://schemas.microsoft.com/office/drawing/2014/main" id="{41439133-6B9F-F72C-C306-772E110860DA}"/>
              </a:ext>
            </a:extLst>
          </p:cNvPr>
          <p:cNvSpPr/>
          <p:nvPr/>
        </p:nvSpPr>
        <p:spPr>
          <a:xfrm>
            <a:off x="5576458" y="1804694"/>
            <a:ext cx="2604180"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退職給付会計に基づく従業員の退職給付引当金の計上</a:t>
            </a:r>
          </a:p>
        </p:txBody>
      </p:sp>
      <p:grpSp>
        <p:nvGrpSpPr>
          <p:cNvPr id="20" name="グループ化 19">
            <a:extLst>
              <a:ext uri="{FF2B5EF4-FFF2-40B4-BE49-F238E27FC236}">
                <a16:creationId xmlns:a16="http://schemas.microsoft.com/office/drawing/2014/main" id="{E539F89F-B7E1-945B-36BF-EB8227A54D27}"/>
              </a:ext>
            </a:extLst>
          </p:cNvPr>
          <p:cNvGrpSpPr/>
          <p:nvPr/>
        </p:nvGrpSpPr>
        <p:grpSpPr>
          <a:xfrm>
            <a:off x="5374232" y="976312"/>
            <a:ext cx="4727597" cy="1100137"/>
            <a:chOff x="5374232" y="976312"/>
            <a:chExt cx="4727597" cy="1100137"/>
          </a:xfrm>
        </p:grpSpPr>
        <p:sp>
          <p:nvSpPr>
            <p:cNvPr id="247" name="正方形/長方形 246">
              <a:extLst>
                <a:ext uri="{FF2B5EF4-FFF2-40B4-BE49-F238E27FC236}">
                  <a16:creationId xmlns:a16="http://schemas.microsoft.com/office/drawing/2014/main" id="{6BF8D047-D94A-C496-8A50-128B2FF09F5D}"/>
                </a:ext>
              </a:extLst>
            </p:cNvPr>
            <p:cNvSpPr/>
            <p:nvPr/>
          </p:nvSpPr>
          <p:spPr>
            <a:xfrm>
              <a:off x="5482590" y="976312"/>
              <a:ext cx="4619239" cy="1100137"/>
            </a:xfrm>
            <a:prstGeom prst="rect">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solidFill>
                  <a:schemeClr val="tx1"/>
                </a:solidFill>
              </a:endParaRPr>
            </a:p>
          </p:txBody>
        </p:sp>
        <p:sp>
          <p:nvSpPr>
            <p:cNvPr id="261" name="二等辺三角形 260">
              <a:extLst>
                <a:ext uri="{FF2B5EF4-FFF2-40B4-BE49-F238E27FC236}">
                  <a16:creationId xmlns:a16="http://schemas.microsoft.com/office/drawing/2014/main" id="{F1F57DAD-771C-9E94-6F55-BB56353DC819}"/>
                </a:ext>
              </a:extLst>
            </p:cNvPr>
            <p:cNvSpPr/>
            <p:nvPr/>
          </p:nvSpPr>
          <p:spPr>
            <a:xfrm rot="16200000">
              <a:off x="5374889" y="1198533"/>
              <a:ext cx="114035" cy="1153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3" name="正方形/長方形 12">
            <a:extLst>
              <a:ext uri="{FF2B5EF4-FFF2-40B4-BE49-F238E27FC236}">
                <a16:creationId xmlns:a16="http://schemas.microsoft.com/office/drawing/2014/main" id="{CEF640C4-7AD4-96AF-F240-6165535E77A2}"/>
              </a:ext>
            </a:extLst>
          </p:cNvPr>
          <p:cNvSpPr/>
          <p:nvPr/>
        </p:nvSpPr>
        <p:spPr>
          <a:xfrm>
            <a:off x="449262" y="1411971"/>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時価純資産の算定</a:t>
            </a:r>
          </a:p>
        </p:txBody>
      </p:sp>
      <p:sp>
        <p:nvSpPr>
          <p:cNvPr id="14" name="正方形/長方形 13">
            <a:extLst>
              <a:ext uri="{FF2B5EF4-FFF2-40B4-BE49-F238E27FC236}">
                <a16:creationId xmlns:a16="http://schemas.microsoft.com/office/drawing/2014/main" id="{6EA9480E-C6AD-76F9-60D0-3044FB48EF8F}"/>
              </a:ext>
            </a:extLst>
          </p:cNvPr>
          <p:cNvSpPr/>
          <p:nvPr/>
        </p:nvSpPr>
        <p:spPr>
          <a:xfrm>
            <a:off x="449262" y="3940342"/>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正常利益の算定</a:t>
            </a:r>
          </a:p>
        </p:txBody>
      </p:sp>
      <p:sp>
        <p:nvSpPr>
          <p:cNvPr id="15" name="正方形/長方形 14">
            <a:extLst>
              <a:ext uri="{FF2B5EF4-FFF2-40B4-BE49-F238E27FC236}">
                <a16:creationId xmlns:a16="http://schemas.microsoft.com/office/drawing/2014/main" id="{69EB9406-51A5-D7C1-2C6E-F905632DFB76}"/>
              </a:ext>
            </a:extLst>
          </p:cNvPr>
          <p:cNvSpPr/>
          <p:nvPr/>
        </p:nvSpPr>
        <p:spPr>
          <a:xfrm>
            <a:off x="449262" y="5208713"/>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営業権の検討</a:t>
            </a:r>
            <a:r>
              <a:rPr lang="en-US" altLang="ja-JP" sz="1400" b="1" spc="70" baseline="30000" dirty="0">
                <a:solidFill>
                  <a:schemeClr val="bg1"/>
                </a:solidFill>
                <a:latin typeface="+mj-ea"/>
                <a:ea typeface="+mj-ea"/>
              </a:rPr>
              <a:t>※2</a:t>
            </a:r>
            <a:endParaRPr lang="ja-JP" altLang="en-US" sz="1400" b="1" spc="70" baseline="30000" dirty="0">
              <a:solidFill>
                <a:schemeClr val="bg1"/>
              </a:solidFill>
              <a:latin typeface="+mj-ea"/>
              <a:ea typeface="+mj-ea"/>
            </a:endParaRPr>
          </a:p>
        </p:txBody>
      </p:sp>
      <p:grpSp>
        <p:nvGrpSpPr>
          <p:cNvPr id="21" name="グループ化 20">
            <a:extLst>
              <a:ext uri="{FF2B5EF4-FFF2-40B4-BE49-F238E27FC236}">
                <a16:creationId xmlns:a16="http://schemas.microsoft.com/office/drawing/2014/main" id="{F5B91313-09B4-432C-4195-C4E8DBC98964}"/>
              </a:ext>
            </a:extLst>
          </p:cNvPr>
          <p:cNvGrpSpPr/>
          <p:nvPr/>
        </p:nvGrpSpPr>
        <p:grpSpPr>
          <a:xfrm>
            <a:off x="6631847" y="5562401"/>
            <a:ext cx="3469982" cy="682824"/>
            <a:chOff x="6631847" y="5562401"/>
            <a:chExt cx="3469982" cy="682824"/>
          </a:xfrm>
        </p:grpSpPr>
        <p:sp>
          <p:nvSpPr>
            <p:cNvPr id="206" name="正方形/長方形 205">
              <a:extLst>
                <a:ext uri="{FF2B5EF4-FFF2-40B4-BE49-F238E27FC236}">
                  <a16:creationId xmlns:a16="http://schemas.microsoft.com/office/drawing/2014/main" id="{3B864E38-D105-2C05-A2A7-F243061AD920}"/>
                </a:ext>
              </a:extLst>
            </p:cNvPr>
            <p:cNvSpPr>
              <a:spLocks/>
            </p:cNvSpPr>
            <p:nvPr/>
          </p:nvSpPr>
          <p:spPr>
            <a:xfrm>
              <a:off x="6739504" y="5562401"/>
              <a:ext cx="3362325" cy="682824"/>
            </a:xfrm>
            <a:prstGeom prst="rect">
              <a:avLst/>
            </a:prstGeom>
            <a:noFill/>
            <a:ln w="12700">
              <a:solidFill>
                <a:schemeClr val="accent1"/>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nchorCtr="0">
              <a:noAutofit/>
            </a:bodyPr>
            <a:lstStyle/>
            <a:p>
              <a:pPr marL="72000" indent="-72000">
                <a:lnSpc>
                  <a:spcPct val="110000"/>
                </a:lnSpc>
                <a:spcAft>
                  <a:spcPts val="200"/>
                </a:spcAft>
                <a:buFont typeface="Arial" panose="020B0604020202020204" pitchFamily="34" charset="0"/>
                <a:buChar char="•"/>
              </a:pPr>
              <a:r>
                <a:rPr kumimoji="1" lang="ja-JP" altLang="en-US" sz="700" dirty="0">
                  <a:solidFill>
                    <a:schemeClr val="tx1"/>
                  </a:solidFill>
                  <a:latin typeface="+mn-ea"/>
                </a:rPr>
                <a:t>臨時的な要因や資本構成、役員報酬の多寡による影響を排除し、会社財産が持つ「本来の収益力」を正しく把握する目的で修正します。</a:t>
              </a:r>
            </a:p>
            <a:p>
              <a:pPr marL="72000" indent="-72000">
                <a:lnSpc>
                  <a:spcPct val="110000"/>
                </a:lnSpc>
                <a:spcAft>
                  <a:spcPts val="200"/>
                </a:spcAft>
                <a:buFont typeface="Arial" panose="020B0604020202020204" pitchFamily="34" charset="0"/>
                <a:buChar char="•"/>
              </a:pPr>
              <a:r>
                <a:rPr kumimoji="1" lang="ja-JP" altLang="en-US" sz="700" dirty="0">
                  <a:solidFill>
                    <a:schemeClr val="tx1"/>
                  </a:solidFill>
                  <a:latin typeface="+mn-ea"/>
                </a:rPr>
                <a:t>直近の数値ほど現在の実力を反映しているため、過去</a:t>
              </a:r>
              <a:r>
                <a:rPr kumimoji="1" lang="en-US" altLang="ja-JP" sz="700" dirty="0">
                  <a:solidFill>
                    <a:schemeClr val="tx1"/>
                  </a:solidFill>
                  <a:latin typeface="+mn-ea"/>
                </a:rPr>
                <a:t>3</a:t>
              </a:r>
              <a:r>
                <a:rPr kumimoji="1" lang="ja-JP" altLang="en-US" sz="700" dirty="0">
                  <a:solidFill>
                    <a:schemeClr val="tx1"/>
                  </a:solidFill>
                  <a:latin typeface="+mn-ea"/>
                </a:rPr>
                <a:t>期分の正常収益に対し、直近期に比重を置いた「加重平均」を用います。</a:t>
              </a:r>
            </a:p>
          </p:txBody>
        </p:sp>
        <p:sp>
          <p:nvSpPr>
            <p:cNvPr id="19" name="二等辺三角形 18">
              <a:extLst>
                <a:ext uri="{FF2B5EF4-FFF2-40B4-BE49-F238E27FC236}">
                  <a16:creationId xmlns:a16="http://schemas.microsoft.com/office/drawing/2014/main" id="{8D15B385-19A5-2FB9-9A0C-C06394CD3621}"/>
                </a:ext>
              </a:extLst>
            </p:cNvPr>
            <p:cNvSpPr/>
            <p:nvPr/>
          </p:nvSpPr>
          <p:spPr>
            <a:xfrm rot="16200000">
              <a:off x="6632504" y="5981670"/>
              <a:ext cx="114035" cy="1153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29516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52C53-7D22-B63D-3B69-182A9A9BA2BB}"/>
            </a:ext>
          </a:extLst>
        </p:cNvPr>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50833C07-A360-11D0-760A-D87E8EC1EADB}"/>
              </a:ext>
            </a:extLst>
          </p:cNvPr>
          <p:cNvSpPr/>
          <p:nvPr/>
        </p:nvSpPr>
        <p:spPr>
          <a:xfrm>
            <a:off x="5741525" y="3595117"/>
            <a:ext cx="792000" cy="1647865"/>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8" name="正方形/長方形 137">
            <a:extLst>
              <a:ext uri="{FF2B5EF4-FFF2-40B4-BE49-F238E27FC236}">
                <a16:creationId xmlns:a16="http://schemas.microsoft.com/office/drawing/2014/main" id="{5366CA82-0760-ABDC-D058-97F392012414}"/>
              </a:ext>
            </a:extLst>
          </p:cNvPr>
          <p:cNvSpPr/>
          <p:nvPr/>
        </p:nvSpPr>
        <p:spPr>
          <a:xfrm>
            <a:off x="5602817" y="5215118"/>
            <a:ext cx="2774950" cy="2307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 name="直線コネクタ 105">
            <a:extLst>
              <a:ext uri="{FF2B5EF4-FFF2-40B4-BE49-F238E27FC236}">
                <a16:creationId xmlns:a16="http://schemas.microsoft.com/office/drawing/2014/main" id="{BACC7C0E-3283-916E-EF3B-711930DD9528}"/>
              </a:ext>
            </a:extLst>
          </p:cNvPr>
          <p:cNvCxnSpPr>
            <a:cxnSpLocks/>
          </p:cNvCxnSpPr>
          <p:nvPr/>
        </p:nvCxnSpPr>
        <p:spPr>
          <a:xfrm>
            <a:off x="5741525" y="3235118"/>
            <a:ext cx="0" cy="335699"/>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85A923C8-1794-A201-FC47-21262B34F3C9}"/>
              </a:ext>
            </a:extLst>
          </p:cNvPr>
          <p:cNvSpPr/>
          <p:nvPr/>
        </p:nvSpPr>
        <p:spPr>
          <a:xfrm>
            <a:off x="7418818" y="4315118"/>
            <a:ext cx="792000" cy="900000"/>
          </a:xfrm>
          <a:prstGeom prst="rect">
            <a:avLst/>
          </a:prstGeom>
          <a:solidFill>
            <a:schemeClr val="accent2">
              <a:lumMod val="90000"/>
            </a:schemeClr>
          </a:solid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cxnSp>
        <p:nvCxnSpPr>
          <p:cNvPr id="64" name="直線矢印コネクタ 63">
            <a:extLst>
              <a:ext uri="{FF2B5EF4-FFF2-40B4-BE49-F238E27FC236}">
                <a16:creationId xmlns:a16="http://schemas.microsoft.com/office/drawing/2014/main" id="{183088DD-33FF-EB77-B101-D7EB0B3910C9}"/>
              </a:ext>
            </a:extLst>
          </p:cNvPr>
          <p:cNvCxnSpPr>
            <a:cxnSpLocks/>
          </p:cNvCxnSpPr>
          <p:nvPr/>
        </p:nvCxnSpPr>
        <p:spPr>
          <a:xfrm>
            <a:off x="7814818" y="4351118"/>
            <a:ext cx="0" cy="82800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65" name="正方形/長方形 64">
            <a:extLst>
              <a:ext uri="{FF2B5EF4-FFF2-40B4-BE49-F238E27FC236}">
                <a16:creationId xmlns:a16="http://schemas.microsoft.com/office/drawing/2014/main" id="{0D204892-5D95-DB4D-1BA2-81BD19F5FE6D}"/>
              </a:ext>
            </a:extLst>
          </p:cNvPr>
          <p:cNvSpPr/>
          <p:nvPr/>
        </p:nvSpPr>
        <p:spPr>
          <a:xfrm>
            <a:off x="7454818" y="4634768"/>
            <a:ext cx="720000" cy="252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lstStyle/>
          <a:p>
            <a:pPr algn="ctr"/>
            <a:r>
              <a:rPr kumimoji="1" lang="ja-JP" altLang="en-US" sz="1200" b="1" spc="30" dirty="0">
                <a:solidFill>
                  <a:schemeClr val="tx1"/>
                </a:solidFill>
                <a:latin typeface="+mj-ea"/>
                <a:ea typeface="+mj-ea"/>
              </a:rPr>
              <a:t>創出利益</a:t>
            </a:r>
          </a:p>
        </p:txBody>
      </p:sp>
      <p:sp>
        <p:nvSpPr>
          <p:cNvPr id="67" name="テキスト ボックス 66">
            <a:extLst>
              <a:ext uri="{FF2B5EF4-FFF2-40B4-BE49-F238E27FC236}">
                <a16:creationId xmlns:a16="http://schemas.microsoft.com/office/drawing/2014/main" id="{0676DBC0-2F9C-28F1-37AB-9246F968CE48}"/>
              </a:ext>
            </a:extLst>
          </p:cNvPr>
          <p:cNvSpPr txBox="1">
            <a:spLocks noChangeAspect="1"/>
          </p:cNvSpPr>
          <p:nvPr/>
        </p:nvSpPr>
        <p:spPr>
          <a:xfrm>
            <a:off x="8456499" y="4531118"/>
            <a:ext cx="468000" cy="468000"/>
          </a:xfrm>
          <a:prstGeom prst="ellipse">
            <a:avLst/>
          </a:prstGeom>
          <a:solidFill>
            <a:schemeClr val="accent2">
              <a:lumMod val="90000"/>
            </a:schemeClr>
          </a:solidFill>
        </p:spPr>
        <p:txBody>
          <a:bodyPr wrap="square" lIns="0" tIns="0" rIns="0" bIns="43200" rtlCol="0" anchor="ctr">
            <a:noAutofit/>
          </a:bodyPr>
          <a:lstStyle/>
          <a:p>
            <a:pPr algn="ctr"/>
            <a:r>
              <a:rPr kumimoji="1" lang="en-US" altLang="ja-JP" b="1" dirty="0">
                <a:solidFill>
                  <a:schemeClr val="accent4"/>
                </a:solidFill>
                <a:latin typeface="+mj-lt"/>
                <a:ea typeface="+mj-ea"/>
              </a:rPr>
              <a:t>n</a:t>
            </a:r>
            <a:r>
              <a:rPr kumimoji="1" lang="ja-JP" altLang="en-US" sz="1050" b="1" dirty="0">
                <a:solidFill>
                  <a:schemeClr val="accent4"/>
                </a:solidFill>
                <a:latin typeface="+mj-ea"/>
                <a:ea typeface="+mj-ea"/>
              </a:rPr>
              <a:t>年</a:t>
            </a:r>
            <a:endParaRPr kumimoji="1" lang="en-US" altLang="ja-JP" sz="1050" b="1" dirty="0">
              <a:solidFill>
                <a:schemeClr val="accent4"/>
              </a:solidFill>
              <a:latin typeface="+mj-ea"/>
              <a:ea typeface="+mj-ea"/>
            </a:endParaRPr>
          </a:p>
        </p:txBody>
      </p:sp>
      <p:grpSp>
        <p:nvGrpSpPr>
          <p:cNvPr id="68" name="グループ化 67">
            <a:extLst>
              <a:ext uri="{FF2B5EF4-FFF2-40B4-BE49-F238E27FC236}">
                <a16:creationId xmlns:a16="http://schemas.microsoft.com/office/drawing/2014/main" id="{4692C769-22DF-F269-2EDB-6711266D29AC}"/>
              </a:ext>
            </a:extLst>
          </p:cNvPr>
          <p:cNvGrpSpPr/>
          <p:nvPr/>
        </p:nvGrpSpPr>
        <p:grpSpPr>
          <a:xfrm>
            <a:off x="8269435" y="4706305"/>
            <a:ext cx="128742" cy="128742"/>
            <a:chOff x="6645166" y="4794383"/>
            <a:chExt cx="128742" cy="128742"/>
          </a:xfrm>
        </p:grpSpPr>
        <p:cxnSp>
          <p:nvCxnSpPr>
            <p:cNvPr id="85" name="直線コネクタ 84">
              <a:extLst>
                <a:ext uri="{FF2B5EF4-FFF2-40B4-BE49-F238E27FC236}">
                  <a16:creationId xmlns:a16="http://schemas.microsoft.com/office/drawing/2014/main" id="{5102112F-4378-2349-6B87-8384F75F5AC7}"/>
                </a:ext>
              </a:extLst>
            </p:cNvPr>
            <p:cNvCxnSpPr>
              <a:cxnSpLocks/>
            </p:cNvCxnSpPr>
            <p:nvPr/>
          </p:nvCxnSpPr>
          <p:spPr>
            <a:xfrm rot="5400000">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6" name="直線コネクタ 85">
              <a:extLst>
                <a:ext uri="{FF2B5EF4-FFF2-40B4-BE49-F238E27FC236}">
                  <a16:creationId xmlns:a16="http://schemas.microsoft.com/office/drawing/2014/main" id="{22FCD11F-7946-EF9F-3941-AAD42EBABF76}"/>
                </a:ext>
              </a:extLst>
            </p:cNvPr>
            <p:cNvCxnSpPr>
              <a:cxnSpLocks/>
            </p:cNvCxnSpPr>
            <p:nvPr/>
          </p:nvCxnSpPr>
          <p:spPr>
            <a:xfrm rot="5400000" flipH="1">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6" name="字幕 5">
            <a:extLst>
              <a:ext uri="{FF2B5EF4-FFF2-40B4-BE49-F238E27FC236}">
                <a16:creationId xmlns:a16="http://schemas.microsoft.com/office/drawing/2014/main" id="{52098862-563D-8F36-53D7-660F0C4EB45A}"/>
              </a:ext>
            </a:extLst>
          </p:cNvPr>
          <p:cNvSpPr>
            <a:spLocks noGrp="1"/>
          </p:cNvSpPr>
          <p:nvPr>
            <p:ph type="subTitle" idx="1"/>
          </p:nvPr>
        </p:nvSpPr>
        <p:spPr/>
        <p:txBody>
          <a:bodyPr/>
          <a:lstStyle/>
          <a:p>
            <a:r>
              <a:rPr lang="ja-JP" altLang="en-US" dirty="0"/>
              <a:t>時価純資産に営業権を加算することで継続企業価値を算定します。「営業権」の算定手法は以下の通りです</a:t>
            </a:r>
          </a:p>
        </p:txBody>
      </p:sp>
      <p:sp>
        <p:nvSpPr>
          <p:cNvPr id="2" name="タイトル 1">
            <a:extLst>
              <a:ext uri="{FF2B5EF4-FFF2-40B4-BE49-F238E27FC236}">
                <a16:creationId xmlns:a16="http://schemas.microsoft.com/office/drawing/2014/main" id="{9EDF7032-188F-7EF6-082E-5AA279858005}"/>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［年買法］</a:t>
            </a:r>
          </a:p>
        </p:txBody>
      </p:sp>
      <p:sp>
        <p:nvSpPr>
          <p:cNvPr id="4" name="タイトル 1">
            <a:extLst>
              <a:ext uri="{FF2B5EF4-FFF2-40B4-BE49-F238E27FC236}">
                <a16:creationId xmlns:a16="http://schemas.microsoft.com/office/drawing/2014/main" id="{28F5292B-6E4A-3718-3218-9E8B8EB01934}"/>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16" name="テキスト ボックス 15">
            <a:extLst>
              <a:ext uri="{FF2B5EF4-FFF2-40B4-BE49-F238E27FC236}">
                <a16:creationId xmlns:a16="http://schemas.microsoft.com/office/drawing/2014/main" id="{4721779E-D4C3-8439-9E05-2232D17897F2}"/>
              </a:ext>
            </a:extLst>
          </p:cNvPr>
          <p:cNvSpPr txBox="1"/>
          <p:nvPr/>
        </p:nvSpPr>
        <p:spPr>
          <a:xfrm>
            <a:off x="7430099" y="5215118"/>
            <a:ext cx="769441" cy="267885"/>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税引後利益</a:t>
            </a:r>
          </a:p>
        </p:txBody>
      </p:sp>
      <p:sp>
        <p:nvSpPr>
          <p:cNvPr id="20" name="テキスト ボックス 19">
            <a:extLst>
              <a:ext uri="{FF2B5EF4-FFF2-40B4-BE49-F238E27FC236}">
                <a16:creationId xmlns:a16="http://schemas.microsoft.com/office/drawing/2014/main" id="{630CBA5E-2CF8-DFFE-C5C3-8155362B2254}"/>
              </a:ext>
            </a:extLst>
          </p:cNvPr>
          <p:cNvSpPr txBox="1"/>
          <p:nvPr/>
        </p:nvSpPr>
        <p:spPr>
          <a:xfrm>
            <a:off x="5829749"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投下資本</a:t>
            </a:r>
            <a:endParaRPr kumimoji="1" lang="en-US" altLang="ja-JP" sz="1200" b="1" dirty="0">
              <a:latin typeface="+mj-ea"/>
              <a:ea typeface="+mj-ea"/>
            </a:endParaRPr>
          </a:p>
          <a:p>
            <a:pPr algn="ctr">
              <a:lnSpc>
                <a:spcPct val="110000"/>
              </a:lnSpc>
            </a:pPr>
            <a:r>
              <a:rPr kumimoji="1" lang="ja-JP" altLang="en-US" sz="1200" b="1" dirty="0">
                <a:latin typeface="+mj-ea"/>
                <a:ea typeface="+mj-ea"/>
              </a:rPr>
              <a:t>時価</a:t>
            </a:r>
          </a:p>
        </p:txBody>
      </p:sp>
      <p:sp>
        <p:nvSpPr>
          <p:cNvPr id="21" name="テキスト ボックス 20">
            <a:extLst>
              <a:ext uri="{FF2B5EF4-FFF2-40B4-BE49-F238E27FC236}">
                <a16:creationId xmlns:a16="http://schemas.microsoft.com/office/drawing/2014/main" id="{012DD388-EA36-31B3-E3A9-C22AC639819E}"/>
              </a:ext>
            </a:extLst>
          </p:cNvPr>
          <p:cNvSpPr txBox="1"/>
          <p:nvPr/>
        </p:nvSpPr>
        <p:spPr>
          <a:xfrm>
            <a:off x="6742164" y="4571519"/>
            <a:ext cx="461665"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期待</a:t>
            </a:r>
            <a:endParaRPr kumimoji="1" lang="en-US" altLang="ja-JP" sz="1200" b="1" dirty="0">
              <a:latin typeface="+mj-ea"/>
              <a:ea typeface="+mj-ea"/>
            </a:endParaRPr>
          </a:p>
          <a:p>
            <a:pPr algn="ctr">
              <a:lnSpc>
                <a:spcPct val="110000"/>
              </a:lnSpc>
            </a:pPr>
            <a:r>
              <a:rPr kumimoji="1" lang="ja-JP" altLang="en-US" sz="1200" b="1" dirty="0">
                <a:latin typeface="+mj-ea"/>
                <a:ea typeface="+mj-ea"/>
              </a:rPr>
              <a:t>利子率</a:t>
            </a:r>
          </a:p>
        </p:txBody>
      </p:sp>
      <p:cxnSp>
        <p:nvCxnSpPr>
          <p:cNvPr id="23" name="直線コネクタ 22">
            <a:extLst>
              <a:ext uri="{FF2B5EF4-FFF2-40B4-BE49-F238E27FC236}">
                <a16:creationId xmlns:a16="http://schemas.microsoft.com/office/drawing/2014/main" id="{A0EBEA37-B00D-03C0-5F77-AEC10DD6A8EC}"/>
              </a:ext>
            </a:extLst>
          </p:cNvPr>
          <p:cNvCxnSpPr>
            <a:cxnSpLocks/>
          </p:cNvCxnSpPr>
          <p:nvPr/>
        </p:nvCxnSpPr>
        <p:spPr>
          <a:xfrm>
            <a:off x="5598812" y="5215118"/>
            <a:ext cx="277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A1E560A6-15C0-37C2-6239-F17E377F0751}"/>
              </a:ext>
            </a:extLst>
          </p:cNvPr>
          <p:cNvSpPr/>
          <p:nvPr/>
        </p:nvSpPr>
        <p:spPr>
          <a:xfrm>
            <a:off x="5597525" y="1675201"/>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年買法</a:t>
            </a:r>
            <a:endParaRPr lang="en-US" altLang="ja-JP" sz="1400" b="1" spc="70" dirty="0">
              <a:solidFill>
                <a:schemeClr val="bg1"/>
              </a:solidFill>
              <a:latin typeface="+mj-ea"/>
              <a:ea typeface="+mj-ea"/>
            </a:endParaRPr>
          </a:p>
        </p:txBody>
      </p:sp>
      <p:sp>
        <p:nvSpPr>
          <p:cNvPr id="27" name="テキスト ボックス 26">
            <a:extLst>
              <a:ext uri="{FF2B5EF4-FFF2-40B4-BE49-F238E27FC236}">
                <a16:creationId xmlns:a16="http://schemas.microsoft.com/office/drawing/2014/main" id="{78378C8C-55AB-D6FF-1D83-73D45DA07582}"/>
              </a:ext>
            </a:extLst>
          </p:cNvPr>
          <p:cNvSpPr txBox="1"/>
          <p:nvPr/>
        </p:nvSpPr>
        <p:spPr>
          <a:xfrm>
            <a:off x="5597525" y="1223963"/>
            <a:ext cx="206498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営業権の算定手法</a:t>
            </a:r>
            <a:endParaRPr lang="en-US" altLang="ja-JP" dirty="0"/>
          </a:p>
        </p:txBody>
      </p:sp>
      <p:sp>
        <p:nvSpPr>
          <p:cNvPr id="28" name="テキスト ボックス 27">
            <a:extLst>
              <a:ext uri="{FF2B5EF4-FFF2-40B4-BE49-F238E27FC236}">
                <a16:creationId xmlns:a16="http://schemas.microsoft.com/office/drawing/2014/main" id="{A3147512-12E3-DF9B-7DD1-419A8D8B108B}"/>
              </a:ext>
            </a:extLst>
          </p:cNvPr>
          <p:cNvSpPr txBox="1"/>
          <p:nvPr/>
        </p:nvSpPr>
        <p:spPr>
          <a:xfrm>
            <a:off x="5597525" y="2131835"/>
            <a:ext cx="4644000" cy="4879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indent="0">
              <a:lnSpc>
                <a:spcPct val="120000"/>
              </a:lnSpc>
              <a:spcAft>
                <a:spcPts val="0"/>
              </a:spcAft>
              <a:buClr>
                <a:schemeClr val="tx2"/>
              </a:buClr>
              <a:buFont typeface="游ゴシック" panose="020B0400000000000000" pitchFamily="50" charset="-128"/>
              <a:buNone/>
              <a:defRPr sz="1200" b="1" spc="3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対象会社が創出した税引後利益を実績利回りと判断し、営業権に反映する手法</a:t>
            </a:r>
          </a:p>
        </p:txBody>
      </p:sp>
      <p:sp>
        <p:nvSpPr>
          <p:cNvPr id="29" name="正方形/長方形 28">
            <a:extLst>
              <a:ext uri="{FF2B5EF4-FFF2-40B4-BE49-F238E27FC236}">
                <a16:creationId xmlns:a16="http://schemas.microsoft.com/office/drawing/2014/main" id="{34618EE6-BB03-5E40-4735-AC76F89A3855}"/>
              </a:ext>
            </a:extLst>
          </p:cNvPr>
          <p:cNvSpPr/>
          <p:nvPr/>
        </p:nvSpPr>
        <p:spPr>
          <a:xfrm>
            <a:off x="449263" y="1223963"/>
            <a:ext cx="36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対象会社の</a:t>
            </a:r>
            <a:r>
              <a:rPr lang="en-US" altLang="ja-JP" sz="1600" b="1" spc="50" dirty="0">
                <a:solidFill>
                  <a:schemeClr val="tx1"/>
                </a:solidFill>
                <a:latin typeface="+mj-ea"/>
                <a:ea typeface="+mj-ea"/>
              </a:rPr>
              <a:t>BS</a:t>
            </a:r>
          </a:p>
        </p:txBody>
      </p:sp>
      <p:grpSp>
        <p:nvGrpSpPr>
          <p:cNvPr id="30" name="グループ化 29">
            <a:extLst>
              <a:ext uri="{FF2B5EF4-FFF2-40B4-BE49-F238E27FC236}">
                <a16:creationId xmlns:a16="http://schemas.microsoft.com/office/drawing/2014/main" id="{0CBF7E22-E4CA-DAE8-9C20-A793A75218AC}"/>
              </a:ext>
            </a:extLst>
          </p:cNvPr>
          <p:cNvGrpSpPr/>
          <p:nvPr/>
        </p:nvGrpSpPr>
        <p:grpSpPr>
          <a:xfrm>
            <a:off x="916257" y="1675201"/>
            <a:ext cx="3744905" cy="3860307"/>
            <a:chOff x="801695" y="1709068"/>
            <a:chExt cx="3744905" cy="3860307"/>
          </a:xfrm>
        </p:grpSpPr>
        <p:sp>
          <p:nvSpPr>
            <p:cNvPr id="32" name="正方形/長方形 31">
              <a:extLst>
                <a:ext uri="{FF2B5EF4-FFF2-40B4-BE49-F238E27FC236}">
                  <a16:creationId xmlns:a16="http://schemas.microsoft.com/office/drawing/2014/main" id="{929F4479-18E5-A86A-FF81-BA10E7B5A0E4}"/>
                </a:ext>
              </a:extLst>
            </p:cNvPr>
            <p:cNvSpPr/>
            <p:nvPr/>
          </p:nvSpPr>
          <p:spPr>
            <a:xfrm>
              <a:off x="2367434" y="1709068"/>
              <a:ext cx="1566261" cy="1401539"/>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負債時価</a:t>
              </a:r>
            </a:p>
          </p:txBody>
        </p:sp>
        <p:sp>
          <p:nvSpPr>
            <p:cNvPr id="33" name="正方形/長方形 32">
              <a:extLst>
                <a:ext uri="{FF2B5EF4-FFF2-40B4-BE49-F238E27FC236}">
                  <a16:creationId xmlns:a16="http://schemas.microsoft.com/office/drawing/2014/main" id="{A177A1C4-FC54-E9B7-65F1-B4E8FB5F6B66}"/>
                </a:ext>
              </a:extLst>
            </p:cNvPr>
            <p:cNvSpPr/>
            <p:nvPr/>
          </p:nvSpPr>
          <p:spPr>
            <a:xfrm>
              <a:off x="801695" y="1709068"/>
              <a:ext cx="1566261" cy="2520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資産時価</a:t>
              </a:r>
            </a:p>
          </p:txBody>
        </p:sp>
        <p:sp>
          <p:nvSpPr>
            <p:cNvPr id="34" name="正方形/長方形 33">
              <a:extLst>
                <a:ext uri="{FF2B5EF4-FFF2-40B4-BE49-F238E27FC236}">
                  <a16:creationId xmlns:a16="http://schemas.microsoft.com/office/drawing/2014/main" id="{1070974B-0CA2-7A99-03DA-7F4020622940}"/>
                </a:ext>
              </a:extLst>
            </p:cNvPr>
            <p:cNvSpPr/>
            <p:nvPr/>
          </p:nvSpPr>
          <p:spPr>
            <a:xfrm>
              <a:off x="2367434" y="3116682"/>
              <a:ext cx="1566261" cy="1112386"/>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時価純資産</a:t>
              </a:r>
            </a:p>
          </p:txBody>
        </p:sp>
        <p:sp>
          <p:nvSpPr>
            <p:cNvPr id="35" name="正方形/長方形 34">
              <a:extLst>
                <a:ext uri="{FF2B5EF4-FFF2-40B4-BE49-F238E27FC236}">
                  <a16:creationId xmlns:a16="http://schemas.microsoft.com/office/drawing/2014/main" id="{F8EBCAFF-B2CA-EC4D-1A11-44FE7A0B44D6}"/>
                </a:ext>
              </a:extLst>
            </p:cNvPr>
            <p:cNvSpPr/>
            <p:nvPr/>
          </p:nvSpPr>
          <p:spPr>
            <a:xfrm>
              <a:off x="801695" y="4489375"/>
              <a:ext cx="1566261" cy="1080000"/>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r>
                <a:rPr kumimoji="1" lang="en-US" altLang="ja-JP" sz="1400" b="1" baseline="30000" dirty="0">
                  <a:solidFill>
                    <a:schemeClr val="bg1"/>
                  </a:solidFill>
                  <a:latin typeface="+mj-ea"/>
                  <a:ea typeface="+mj-ea"/>
                </a:rPr>
                <a:t>※</a:t>
              </a:r>
              <a:endParaRPr kumimoji="1" lang="ja-JP" altLang="en-US" sz="1400" b="1" baseline="30000" dirty="0">
                <a:solidFill>
                  <a:schemeClr val="bg1"/>
                </a:solidFill>
                <a:latin typeface="+mj-ea"/>
                <a:ea typeface="+mj-ea"/>
              </a:endParaRPr>
            </a:p>
          </p:txBody>
        </p:sp>
        <p:grpSp>
          <p:nvGrpSpPr>
            <p:cNvPr id="36" name="グループ化 35">
              <a:extLst>
                <a:ext uri="{FF2B5EF4-FFF2-40B4-BE49-F238E27FC236}">
                  <a16:creationId xmlns:a16="http://schemas.microsoft.com/office/drawing/2014/main" id="{49101EB3-7DC1-EC1D-FF7B-BF1C0A079719}"/>
                </a:ext>
              </a:extLst>
            </p:cNvPr>
            <p:cNvGrpSpPr/>
            <p:nvPr/>
          </p:nvGrpSpPr>
          <p:grpSpPr>
            <a:xfrm>
              <a:off x="2484564" y="1949192"/>
              <a:ext cx="1332000" cy="252000"/>
              <a:chOff x="2916000" y="1936492"/>
              <a:chExt cx="1332000" cy="252000"/>
            </a:xfrm>
          </p:grpSpPr>
          <p:sp>
            <p:nvSpPr>
              <p:cNvPr id="45" name="四角形: 角を丸くする 44">
                <a:extLst>
                  <a:ext uri="{FF2B5EF4-FFF2-40B4-BE49-F238E27FC236}">
                    <a16:creationId xmlns:a16="http://schemas.microsoft.com/office/drawing/2014/main" id="{BFA09355-151A-06A6-584A-0FE57D79CB90}"/>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ja-JP" altLang="en-US" sz="1000" b="1" spc="30" dirty="0">
                    <a:solidFill>
                      <a:schemeClr val="tx1"/>
                    </a:solidFill>
                    <a:latin typeface="+mj-ea"/>
                    <a:ea typeface="+mj-ea"/>
                  </a:rPr>
                  <a:t>役員退職金考慮</a:t>
                </a:r>
              </a:p>
            </p:txBody>
          </p:sp>
          <p:sp>
            <p:nvSpPr>
              <p:cNvPr id="46" name="楕円 45">
                <a:extLst>
                  <a:ext uri="{FF2B5EF4-FFF2-40B4-BE49-F238E27FC236}">
                    <a16:creationId xmlns:a16="http://schemas.microsoft.com/office/drawing/2014/main" id="{492A0E1D-06C2-247E-467F-4C0ED14F8458}"/>
                  </a:ext>
                </a:extLst>
              </p:cNvPr>
              <p:cNvSpPr/>
              <p:nvPr/>
            </p:nvSpPr>
            <p:spPr>
              <a:xfrm>
                <a:off x="3989033" y="1972492"/>
                <a:ext cx="180000" cy="18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前</a:t>
                </a:r>
              </a:p>
            </p:txBody>
          </p:sp>
        </p:grpSp>
        <p:grpSp>
          <p:nvGrpSpPr>
            <p:cNvPr id="37" name="グループ化 36">
              <a:extLst>
                <a:ext uri="{FF2B5EF4-FFF2-40B4-BE49-F238E27FC236}">
                  <a16:creationId xmlns:a16="http://schemas.microsoft.com/office/drawing/2014/main" id="{C45BDB2D-6DD9-5AEA-14E6-3383701DEB22}"/>
                </a:ext>
              </a:extLst>
            </p:cNvPr>
            <p:cNvGrpSpPr/>
            <p:nvPr/>
          </p:nvGrpSpPr>
          <p:grpSpPr>
            <a:xfrm>
              <a:off x="1520454" y="4294851"/>
              <a:ext cx="128742" cy="128742"/>
              <a:chOff x="1547324" y="4294851"/>
              <a:chExt cx="128742" cy="128742"/>
            </a:xfrm>
          </p:grpSpPr>
          <p:cxnSp>
            <p:nvCxnSpPr>
              <p:cNvPr id="43" name="直線コネクタ 42">
                <a:extLst>
                  <a:ext uri="{FF2B5EF4-FFF2-40B4-BE49-F238E27FC236}">
                    <a16:creationId xmlns:a16="http://schemas.microsoft.com/office/drawing/2014/main" id="{B191A81F-9F3A-614C-E0C2-9479FF70DAF4}"/>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44" name="直線コネクタ 43">
                <a:extLst>
                  <a:ext uri="{FF2B5EF4-FFF2-40B4-BE49-F238E27FC236}">
                    <a16:creationId xmlns:a16="http://schemas.microsoft.com/office/drawing/2014/main" id="{D93ABA51-5327-4664-C07C-ECA05E7BB5CE}"/>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38" name="直線コネクタ 37">
              <a:extLst>
                <a:ext uri="{FF2B5EF4-FFF2-40B4-BE49-F238E27FC236}">
                  <a16:creationId xmlns:a16="http://schemas.microsoft.com/office/drawing/2014/main" id="{76B633B4-D2A4-0908-A0A1-17A3544F60FD}"/>
                </a:ext>
              </a:extLst>
            </p:cNvPr>
            <p:cNvCxnSpPr>
              <a:cxnSpLocks/>
            </p:cNvCxnSpPr>
            <p:nvPr/>
          </p:nvCxnSpPr>
          <p:spPr>
            <a:xfrm>
              <a:off x="2376358" y="3116682"/>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B14D6412-C8E3-C8A6-171D-71580C6029FF}"/>
                </a:ext>
              </a:extLst>
            </p:cNvPr>
            <p:cNvCxnSpPr>
              <a:cxnSpLocks/>
            </p:cNvCxnSpPr>
            <p:nvPr/>
          </p:nvCxnSpPr>
          <p:spPr>
            <a:xfrm>
              <a:off x="816772" y="5569375"/>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40" name="グループ化 39">
              <a:extLst>
                <a:ext uri="{FF2B5EF4-FFF2-40B4-BE49-F238E27FC236}">
                  <a16:creationId xmlns:a16="http://schemas.microsoft.com/office/drawing/2014/main" id="{530C0CE6-32AD-C72C-D977-E5DE4577826F}"/>
                </a:ext>
              </a:extLst>
            </p:cNvPr>
            <p:cNvGrpSpPr/>
            <p:nvPr/>
          </p:nvGrpSpPr>
          <p:grpSpPr>
            <a:xfrm>
              <a:off x="4101412" y="3155950"/>
              <a:ext cx="246221" cy="2381250"/>
              <a:chOff x="4272862" y="3155950"/>
              <a:chExt cx="246221" cy="2381250"/>
            </a:xfrm>
          </p:grpSpPr>
          <p:cxnSp>
            <p:nvCxnSpPr>
              <p:cNvPr id="41" name="直線矢印コネクタ 40">
                <a:extLst>
                  <a:ext uri="{FF2B5EF4-FFF2-40B4-BE49-F238E27FC236}">
                    <a16:creationId xmlns:a16="http://schemas.microsoft.com/office/drawing/2014/main" id="{0DA1C4EB-DAA5-1086-1480-C7F1CA4E4ADD}"/>
                  </a:ext>
                </a:extLst>
              </p:cNvPr>
              <p:cNvCxnSpPr>
                <a:cxnSpLocks/>
              </p:cNvCxnSpPr>
              <p:nvPr/>
            </p:nvCxnSpPr>
            <p:spPr>
              <a:xfrm>
                <a:off x="4404439" y="3155950"/>
                <a:ext cx="0" cy="238125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AC7FEB0F-AB2F-6EA3-5A87-78C4934B71A9}"/>
                  </a:ext>
                </a:extLst>
              </p:cNvPr>
              <p:cNvSpPr txBox="1"/>
              <p:nvPr/>
            </p:nvSpPr>
            <p:spPr>
              <a:xfrm>
                <a:off x="4272862" y="3860575"/>
                <a:ext cx="246221" cy="972000"/>
              </a:xfrm>
              <a:prstGeom prst="rect">
                <a:avLst/>
              </a:prstGeom>
              <a:solidFill>
                <a:schemeClr val="bg1"/>
              </a:solidFill>
            </p:spPr>
            <p:txBody>
              <a:bodyPr vert="eaVert" wrap="none" lIns="0" tIns="0" rIns="0" bIns="0" rtlCol="0" anchor="ctr">
                <a:noAutofit/>
              </a:bodyPr>
              <a:lstStyle/>
              <a:p>
                <a:pPr algn="ctr"/>
                <a:r>
                  <a:rPr kumimoji="1" lang="ja-JP" altLang="en-US" sz="1600" b="1" spc="30" dirty="0">
                    <a:solidFill>
                      <a:schemeClr val="accent4"/>
                    </a:solidFill>
                    <a:latin typeface="+mj-ea"/>
                    <a:ea typeface="+mj-ea"/>
                  </a:rPr>
                  <a:t>株式価値</a:t>
                </a:r>
              </a:p>
            </p:txBody>
          </p:sp>
        </p:grpSp>
      </p:grpSp>
      <p:grpSp>
        <p:nvGrpSpPr>
          <p:cNvPr id="58" name="グループ化 57">
            <a:extLst>
              <a:ext uri="{FF2B5EF4-FFF2-40B4-BE49-F238E27FC236}">
                <a16:creationId xmlns:a16="http://schemas.microsoft.com/office/drawing/2014/main" id="{A9145739-1D36-312D-3464-0EA45F3679A9}"/>
              </a:ext>
            </a:extLst>
          </p:cNvPr>
          <p:cNvGrpSpPr/>
          <p:nvPr/>
        </p:nvGrpSpPr>
        <p:grpSpPr>
          <a:xfrm>
            <a:off x="6578998" y="4706305"/>
            <a:ext cx="128742" cy="128742"/>
            <a:chOff x="6657866" y="4794383"/>
            <a:chExt cx="128742" cy="128742"/>
          </a:xfrm>
        </p:grpSpPr>
        <p:cxnSp>
          <p:nvCxnSpPr>
            <p:cNvPr id="59" name="直線コネクタ 58">
              <a:extLst>
                <a:ext uri="{FF2B5EF4-FFF2-40B4-BE49-F238E27FC236}">
                  <a16:creationId xmlns:a16="http://schemas.microsoft.com/office/drawing/2014/main" id="{58A10108-4953-DDBD-2984-B46927C9F314}"/>
                </a:ext>
              </a:extLst>
            </p:cNvPr>
            <p:cNvCxnSpPr>
              <a:cxnSpLocks/>
            </p:cNvCxnSpPr>
            <p:nvPr/>
          </p:nvCxnSpPr>
          <p:spPr>
            <a:xfrm rot="5400000">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60" name="直線コネクタ 59">
              <a:extLst>
                <a:ext uri="{FF2B5EF4-FFF2-40B4-BE49-F238E27FC236}">
                  <a16:creationId xmlns:a16="http://schemas.microsoft.com/office/drawing/2014/main" id="{0ADB130B-4996-2002-26BB-50BE6D2884D0}"/>
                </a:ext>
              </a:extLst>
            </p:cNvPr>
            <p:cNvCxnSpPr>
              <a:cxnSpLocks/>
            </p:cNvCxnSpPr>
            <p:nvPr/>
          </p:nvCxnSpPr>
          <p:spPr>
            <a:xfrm rot="5400000" flipH="1">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94" name="直線コネクタ 93">
            <a:extLst>
              <a:ext uri="{FF2B5EF4-FFF2-40B4-BE49-F238E27FC236}">
                <a16:creationId xmlns:a16="http://schemas.microsoft.com/office/drawing/2014/main" id="{D944D638-6C41-A3A7-7DD7-DA69D53B0FC0}"/>
              </a:ext>
            </a:extLst>
          </p:cNvPr>
          <p:cNvCxnSpPr>
            <a:cxnSpLocks/>
          </p:cNvCxnSpPr>
          <p:nvPr/>
        </p:nvCxnSpPr>
        <p:spPr>
          <a:xfrm>
            <a:off x="7297420" y="3235118"/>
            <a:ext cx="0" cy="198000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96" name="直線コネクタ 95">
            <a:extLst>
              <a:ext uri="{FF2B5EF4-FFF2-40B4-BE49-F238E27FC236}">
                <a16:creationId xmlns:a16="http://schemas.microsoft.com/office/drawing/2014/main" id="{993AE382-BA0B-F0B3-A321-A07D8527CAA9}"/>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104" name="直線矢印コネクタ 103">
            <a:extLst>
              <a:ext uri="{FF2B5EF4-FFF2-40B4-BE49-F238E27FC236}">
                <a16:creationId xmlns:a16="http://schemas.microsoft.com/office/drawing/2014/main" id="{154122D9-70F8-944A-69B4-CD8D9F254B88}"/>
              </a:ext>
            </a:extLst>
          </p:cNvPr>
          <p:cNvCxnSpPr>
            <a:cxnSpLocks/>
          </p:cNvCxnSpPr>
          <p:nvPr/>
        </p:nvCxnSpPr>
        <p:spPr>
          <a:xfrm flipH="1">
            <a:off x="5805854" y="3384973"/>
            <a:ext cx="1442477" cy="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125" name="グループ化 124">
            <a:extLst>
              <a:ext uri="{FF2B5EF4-FFF2-40B4-BE49-F238E27FC236}">
                <a16:creationId xmlns:a16="http://schemas.microsoft.com/office/drawing/2014/main" id="{6247FB1E-9663-5FDD-F60E-09105EE5C491}"/>
              </a:ext>
            </a:extLst>
          </p:cNvPr>
          <p:cNvGrpSpPr/>
          <p:nvPr/>
        </p:nvGrpSpPr>
        <p:grpSpPr>
          <a:xfrm>
            <a:off x="9116591" y="4757131"/>
            <a:ext cx="141867" cy="77916"/>
            <a:chOff x="9045252" y="4731718"/>
            <a:chExt cx="141867" cy="77916"/>
          </a:xfrm>
        </p:grpSpPr>
        <p:cxnSp>
          <p:nvCxnSpPr>
            <p:cNvPr id="111" name="直線コネクタ 110">
              <a:extLst>
                <a:ext uri="{FF2B5EF4-FFF2-40B4-BE49-F238E27FC236}">
                  <a16:creationId xmlns:a16="http://schemas.microsoft.com/office/drawing/2014/main" id="{DB8D5C70-3C12-2B0D-D20F-85E9FEE9C0DD}"/>
                </a:ext>
              </a:extLst>
            </p:cNvPr>
            <p:cNvCxnSpPr/>
            <p:nvPr/>
          </p:nvCxnSpPr>
          <p:spPr>
            <a:xfrm>
              <a:off x="9045252" y="4731718"/>
              <a:ext cx="141867"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2" name="直線コネクタ 111">
              <a:extLst>
                <a:ext uri="{FF2B5EF4-FFF2-40B4-BE49-F238E27FC236}">
                  <a16:creationId xmlns:a16="http://schemas.microsoft.com/office/drawing/2014/main" id="{DE6176B5-60AA-D673-DD41-EF0DE3760985}"/>
                </a:ext>
              </a:extLst>
            </p:cNvPr>
            <p:cNvCxnSpPr/>
            <p:nvPr/>
          </p:nvCxnSpPr>
          <p:spPr>
            <a:xfrm>
              <a:off x="9045252" y="4809634"/>
              <a:ext cx="141867"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30" name="テキスト ボックス 129">
            <a:extLst>
              <a:ext uri="{FF2B5EF4-FFF2-40B4-BE49-F238E27FC236}">
                <a16:creationId xmlns:a16="http://schemas.microsoft.com/office/drawing/2014/main" id="{F013E28C-1989-F03C-A090-388C177CCEF5}"/>
              </a:ext>
            </a:extLst>
          </p:cNvPr>
          <p:cNvSpPr txBox="1"/>
          <p:nvPr/>
        </p:nvSpPr>
        <p:spPr>
          <a:xfrm>
            <a:off x="5597525" y="2807454"/>
            <a:ext cx="2011680" cy="324000"/>
          </a:xfrm>
          <a:prstGeom prst="rect">
            <a:avLst/>
          </a:prstGeom>
          <a:solidFill>
            <a:schemeClr val="accent2">
              <a:lumMod val="90000"/>
            </a:schemeClr>
          </a:solidFill>
        </p:spPr>
        <p:txBody>
          <a:bodyPr wrap="square" lIns="0" tIns="10800" rIns="0" bIns="0" anchor="ctr">
            <a:noAutofit/>
          </a:bodyPr>
          <a:lstStyle/>
          <a:p>
            <a:pPr algn="ctr"/>
            <a:r>
              <a:rPr kumimoji="1" lang="ja-JP" altLang="en-US" sz="1200" b="1" dirty="0">
                <a:solidFill>
                  <a:schemeClr val="accent4"/>
                </a:solidFill>
                <a:latin typeface="+mj-ea"/>
                <a:ea typeface="+mj-ea"/>
              </a:rPr>
              <a:t>投下資本時価は考慮しない</a:t>
            </a:r>
          </a:p>
        </p:txBody>
      </p:sp>
      <p:cxnSp>
        <p:nvCxnSpPr>
          <p:cNvPr id="136" name="直線コネクタ 135">
            <a:extLst>
              <a:ext uri="{FF2B5EF4-FFF2-40B4-BE49-F238E27FC236}">
                <a16:creationId xmlns:a16="http://schemas.microsoft.com/office/drawing/2014/main" id="{614C8CC5-B428-82E5-6434-34167B47C4C7}"/>
              </a:ext>
            </a:extLst>
          </p:cNvPr>
          <p:cNvCxnSpPr>
            <a:cxnSpLocks/>
          </p:cNvCxnSpPr>
          <p:nvPr/>
        </p:nvCxnSpPr>
        <p:spPr>
          <a:xfrm flipH="1">
            <a:off x="6527092" y="3131454"/>
            <a:ext cx="0" cy="246746"/>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nvGrpSpPr>
          <p:cNvPr id="10" name="グループ化 9">
            <a:extLst>
              <a:ext uri="{FF2B5EF4-FFF2-40B4-BE49-F238E27FC236}">
                <a16:creationId xmlns:a16="http://schemas.microsoft.com/office/drawing/2014/main" id="{03671C13-885E-94BC-0472-5FD29F16E39D}"/>
              </a:ext>
            </a:extLst>
          </p:cNvPr>
          <p:cNvGrpSpPr/>
          <p:nvPr/>
        </p:nvGrpSpPr>
        <p:grpSpPr>
          <a:xfrm>
            <a:off x="3275448" y="3943318"/>
            <a:ext cx="0" cy="2088000"/>
            <a:chOff x="1699387" y="5000625"/>
            <a:chExt cx="0" cy="994693"/>
          </a:xfrm>
        </p:grpSpPr>
        <p:cxnSp>
          <p:nvCxnSpPr>
            <p:cNvPr id="11" name="直線コネクタ 10">
              <a:extLst>
                <a:ext uri="{FF2B5EF4-FFF2-40B4-BE49-F238E27FC236}">
                  <a16:creationId xmlns:a16="http://schemas.microsoft.com/office/drawing/2014/main" id="{880C672B-818A-0433-AB74-01193C6F0E07}"/>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9327F81-FE50-C387-AE34-811B54373A5E}"/>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3" name="グループ化 12">
            <a:extLst>
              <a:ext uri="{FF2B5EF4-FFF2-40B4-BE49-F238E27FC236}">
                <a16:creationId xmlns:a16="http://schemas.microsoft.com/office/drawing/2014/main" id="{11A1AFF9-2EFC-EDD6-B8CE-62A287878155}"/>
              </a:ext>
            </a:extLst>
          </p:cNvPr>
          <p:cNvGrpSpPr/>
          <p:nvPr/>
        </p:nvGrpSpPr>
        <p:grpSpPr>
          <a:xfrm>
            <a:off x="449263" y="5904538"/>
            <a:ext cx="4645025" cy="936000"/>
            <a:chOff x="449263" y="5904538"/>
            <a:chExt cx="4645025" cy="936000"/>
          </a:xfrm>
        </p:grpSpPr>
        <p:sp>
          <p:nvSpPr>
            <p:cNvPr id="48" name="正方形/長方形 47">
              <a:extLst>
                <a:ext uri="{FF2B5EF4-FFF2-40B4-BE49-F238E27FC236}">
                  <a16:creationId xmlns:a16="http://schemas.microsoft.com/office/drawing/2014/main" id="{221BCFAB-8511-4407-1425-05065A878B91}"/>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49" name="正方形/長方形 48">
              <a:extLst>
                <a:ext uri="{FF2B5EF4-FFF2-40B4-BE49-F238E27FC236}">
                  <a16:creationId xmlns:a16="http://schemas.microsoft.com/office/drawing/2014/main" id="{B395BAAA-E438-2744-BB23-DC88AE169C76}"/>
                </a:ext>
              </a:extLst>
            </p:cNvPr>
            <p:cNvSpPr/>
            <p:nvPr/>
          </p:nvSpPr>
          <p:spPr>
            <a:xfrm>
              <a:off x="2590068"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企業会計基準ベースへの調整</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含み損益の検討</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税効果の検討</a:t>
              </a:r>
              <a:endParaRPr lang="ja-JP" altLang="en-US" sz="1200" spc="30" dirty="0">
                <a:solidFill>
                  <a:schemeClr val="tx1"/>
                </a:solidFill>
                <a:latin typeface="+mj-ea"/>
                <a:ea typeface="+mj-ea"/>
              </a:endParaRPr>
            </a:p>
          </p:txBody>
        </p:sp>
        <p:sp>
          <p:nvSpPr>
            <p:cNvPr id="50" name="テキスト ボックス 49">
              <a:extLst>
                <a:ext uri="{FF2B5EF4-FFF2-40B4-BE49-F238E27FC236}">
                  <a16:creationId xmlns:a16="http://schemas.microsoft.com/office/drawing/2014/main" id="{12290726-2F91-B280-A7C0-BA9CD3E28204}"/>
                </a:ext>
              </a:extLst>
            </p:cNvPr>
            <p:cNvSpPr txBox="1"/>
            <p:nvPr/>
          </p:nvSpPr>
          <p:spPr>
            <a:xfrm>
              <a:off x="449263" y="5904538"/>
              <a:ext cx="1915530" cy="936000"/>
            </a:xfrm>
            <a:prstGeom prst="rect">
              <a:avLst/>
            </a:prstGeom>
            <a:noFill/>
          </p:spPr>
          <p:txBody>
            <a:bodyPr wrap="square" lIns="180000" tIns="18000" rIns="0" bIns="0" rtlCol="0" anchor="ctr">
              <a:noAutofit/>
            </a:bodyPr>
            <a:lstStyle/>
            <a:p>
              <a:pPr>
                <a:lnSpc>
                  <a:spcPct val="120000"/>
                </a:lnSpc>
              </a:pPr>
              <a:r>
                <a:rPr lang="ja-JP" altLang="en-US" sz="1200" spc="30" dirty="0">
                  <a:latin typeface="+mn-ea"/>
                </a:rPr>
                <a:t>基準日の簿価純資産に右記項目を調整し、基準日の時価純資産を算出</a:t>
              </a:r>
              <a:endParaRPr lang="en-US" altLang="ja-JP" sz="1200" spc="30" dirty="0">
                <a:latin typeface="+mn-ea"/>
              </a:endParaRPr>
            </a:p>
          </p:txBody>
        </p:sp>
        <p:cxnSp>
          <p:nvCxnSpPr>
            <p:cNvPr id="51" name="直線コネクタ 50">
              <a:extLst>
                <a:ext uri="{FF2B5EF4-FFF2-40B4-BE49-F238E27FC236}">
                  <a16:creationId xmlns:a16="http://schemas.microsoft.com/office/drawing/2014/main" id="{33C5A5B3-B36E-44C5-8433-E643EC29EE1B}"/>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3" name="正方形/長方形 2">
            <a:extLst>
              <a:ext uri="{FF2B5EF4-FFF2-40B4-BE49-F238E27FC236}">
                <a16:creationId xmlns:a16="http://schemas.microsoft.com/office/drawing/2014/main" id="{585684C1-0E54-7002-111A-94859716F617}"/>
              </a:ext>
            </a:extLst>
          </p:cNvPr>
          <p:cNvSpPr/>
          <p:nvPr/>
        </p:nvSpPr>
        <p:spPr>
          <a:xfrm>
            <a:off x="5596500"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5" name="正方形/長方形 4">
            <a:extLst>
              <a:ext uri="{FF2B5EF4-FFF2-40B4-BE49-F238E27FC236}">
                <a16:creationId xmlns:a16="http://schemas.microsoft.com/office/drawing/2014/main" id="{F05379B5-E46B-CB6C-10A2-B87EDCEC6551}"/>
              </a:ext>
            </a:extLst>
          </p:cNvPr>
          <p:cNvSpPr/>
          <p:nvPr/>
        </p:nvSpPr>
        <p:spPr>
          <a:xfrm>
            <a:off x="7737305"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非経常的損益の除外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資本構成差異の除外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オーナー固有事象の修正</a:t>
            </a:r>
          </a:p>
        </p:txBody>
      </p:sp>
      <p:sp>
        <p:nvSpPr>
          <p:cNvPr id="7" name="テキスト ボックス 6">
            <a:extLst>
              <a:ext uri="{FF2B5EF4-FFF2-40B4-BE49-F238E27FC236}">
                <a16:creationId xmlns:a16="http://schemas.microsoft.com/office/drawing/2014/main" id="{8C33CAFA-9279-3666-6993-368238B28126}"/>
              </a:ext>
            </a:extLst>
          </p:cNvPr>
          <p:cNvSpPr txBox="1"/>
          <p:nvPr/>
        </p:nvSpPr>
        <p:spPr>
          <a:xfrm>
            <a:off x="5596500" y="5904538"/>
            <a:ext cx="1915530" cy="936000"/>
          </a:xfrm>
          <a:prstGeom prst="rect">
            <a:avLst/>
          </a:prstGeom>
          <a:noFill/>
        </p:spPr>
        <p:txBody>
          <a:bodyPr wrap="square" lIns="180000" tIns="18000" rIns="0" bIns="0" rtlCol="0" anchor="ctr">
            <a:noAutofit/>
          </a:bodyPr>
          <a:lstStyle/>
          <a:p>
            <a:r>
              <a:rPr lang="ja-JP" altLang="en-US" sz="1200" dirty="0"/>
              <a:t>当期利益に右記項目を調整して、</a:t>
            </a:r>
            <a:r>
              <a:rPr lang="ja-JP" altLang="en-US" sz="1200" b="1" dirty="0">
                <a:solidFill>
                  <a:schemeClr val="tx2"/>
                </a:solidFill>
                <a:latin typeface="+mj-ea"/>
                <a:ea typeface="+mj-ea"/>
              </a:rPr>
              <a:t>正常利益</a:t>
            </a:r>
            <a:r>
              <a:rPr lang="ja-JP" altLang="en-US" sz="1200" dirty="0"/>
              <a:t>を算出</a:t>
            </a:r>
          </a:p>
        </p:txBody>
      </p:sp>
      <p:cxnSp>
        <p:nvCxnSpPr>
          <p:cNvPr id="8" name="直線コネクタ 7">
            <a:extLst>
              <a:ext uri="{FF2B5EF4-FFF2-40B4-BE49-F238E27FC236}">
                <a16:creationId xmlns:a16="http://schemas.microsoft.com/office/drawing/2014/main" id="{29C34B32-0E9B-78D9-CDBF-C5CAFDCD4988}"/>
              </a:ext>
            </a:extLst>
          </p:cNvPr>
          <p:cNvCxnSpPr>
            <a:cxnSpLocks/>
          </p:cNvCxnSpPr>
          <p:nvPr/>
        </p:nvCxnSpPr>
        <p:spPr>
          <a:xfrm>
            <a:off x="5597525"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9" name="フリーフォーム: 図形 8">
            <a:extLst>
              <a:ext uri="{FF2B5EF4-FFF2-40B4-BE49-F238E27FC236}">
                <a16:creationId xmlns:a16="http://schemas.microsoft.com/office/drawing/2014/main" id="{C7F7C593-B465-43E3-898A-C092C714F2F1}"/>
              </a:ext>
            </a:extLst>
          </p:cNvPr>
          <p:cNvSpPr/>
          <p:nvPr/>
        </p:nvSpPr>
        <p:spPr>
          <a:xfrm>
            <a:off x="8208208" y="5062661"/>
            <a:ext cx="427790" cy="828000"/>
          </a:xfrm>
          <a:custGeom>
            <a:avLst/>
            <a:gdLst>
              <a:gd name="csX0" fmla="*/ 1232034 w 1232034"/>
              <a:gd name="csY0" fmla="*/ 1251284 h 1251284"/>
              <a:gd name="csX1" fmla="*/ 1232034 w 1232034"/>
              <a:gd name="csY1" fmla="*/ 0 h 1251284"/>
              <a:gd name="csX2" fmla="*/ 0 w 1232034"/>
              <a:gd name="csY2" fmla="*/ 0 h 1251284"/>
            </a:gdLst>
            <a:ahLst/>
            <a:cxnLst>
              <a:cxn ang="0">
                <a:pos x="csX0" y="csY0"/>
              </a:cxn>
              <a:cxn ang="0">
                <a:pos x="csX1" y="csY1"/>
              </a:cxn>
              <a:cxn ang="0">
                <a:pos x="csX2" y="csY2"/>
              </a:cxn>
            </a:cxnLst>
            <a:rect l="l" t="t" r="r" b="b"/>
            <a:pathLst>
              <a:path w="1232034" h="1251284">
                <a:moveTo>
                  <a:pt x="1232034" y="1251284"/>
                </a:moveTo>
                <a:lnTo>
                  <a:pt x="1232034" y="0"/>
                </a:lnTo>
                <a:lnTo>
                  <a:pt x="0" y="0"/>
                </a:lnTo>
              </a:path>
            </a:pathLst>
          </a:custGeom>
          <a:ln w="12700">
            <a:solidFill>
              <a:schemeClr val="accent1"/>
            </a:solidFill>
            <a:headEnd w="sm" len="sm"/>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505C469A-79E0-5843-940B-0758E4B1A66D}"/>
              </a:ext>
            </a:extLst>
          </p:cNvPr>
          <p:cNvSpPr/>
          <p:nvPr/>
        </p:nvSpPr>
        <p:spPr>
          <a:xfrm>
            <a:off x="9450550" y="4310468"/>
            <a:ext cx="792000" cy="900000"/>
          </a:xfrm>
          <a:prstGeom prst="rect">
            <a:avLst/>
          </a:prstGeom>
          <a:solidFill>
            <a:schemeClr val="accent4"/>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endParaRPr kumimoji="1" lang="ja-JP" altLang="en-US" sz="1400" b="1" baseline="30000" dirty="0">
              <a:solidFill>
                <a:schemeClr val="bg1"/>
              </a:solidFill>
              <a:latin typeface="+mj-ea"/>
              <a:ea typeface="+mj-ea"/>
            </a:endParaRPr>
          </a:p>
        </p:txBody>
      </p:sp>
    </p:spTree>
    <p:extLst>
      <p:ext uri="{BB962C8B-B14F-4D97-AF65-F5344CB8AC3E}">
        <p14:creationId xmlns:p14="http://schemas.microsoft.com/office/powerpoint/2010/main" val="3843323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正方形/長方形 141">
            <a:extLst>
              <a:ext uri="{FF2B5EF4-FFF2-40B4-BE49-F238E27FC236}">
                <a16:creationId xmlns:a16="http://schemas.microsoft.com/office/drawing/2014/main" id="{49372B50-E235-D5A1-97DB-147DC2AAF2E5}"/>
              </a:ext>
            </a:extLst>
          </p:cNvPr>
          <p:cNvSpPr/>
          <p:nvPr/>
        </p:nvSpPr>
        <p:spPr>
          <a:xfrm>
            <a:off x="7418818" y="4315118"/>
            <a:ext cx="792000" cy="900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B54DFD8F-427A-4538-C14D-B70C53801F4F}"/>
              </a:ext>
            </a:extLst>
          </p:cNvPr>
          <p:cNvSpPr txBox="1"/>
          <p:nvPr/>
        </p:nvSpPr>
        <p:spPr>
          <a:xfrm>
            <a:off x="5597525" y="5215118"/>
            <a:ext cx="1080000" cy="488651"/>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投下資本時価</a:t>
            </a:r>
            <a:endParaRPr kumimoji="1" lang="en-US" altLang="ja-JP" sz="1200" b="1" dirty="0">
              <a:latin typeface="+mj-ea"/>
              <a:ea typeface="+mj-ea"/>
            </a:endParaRPr>
          </a:p>
          <a:p>
            <a:pPr algn="ctr">
              <a:lnSpc>
                <a:spcPct val="110000"/>
              </a:lnSpc>
            </a:pPr>
            <a:r>
              <a:rPr kumimoji="1" lang="ja-JP" altLang="en-US" sz="1200" b="1" dirty="0">
                <a:latin typeface="+mj-ea"/>
                <a:ea typeface="+mj-ea"/>
              </a:rPr>
              <a:t>（＝資産時価）</a:t>
            </a:r>
          </a:p>
        </p:txBody>
      </p:sp>
      <p:sp>
        <p:nvSpPr>
          <p:cNvPr id="28" name="正方形/長方形 27">
            <a:extLst>
              <a:ext uri="{FF2B5EF4-FFF2-40B4-BE49-F238E27FC236}">
                <a16:creationId xmlns:a16="http://schemas.microsoft.com/office/drawing/2014/main" id="{9FEB38E4-0899-ACAB-725B-6571EF1A0145}"/>
              </a:ext>
            </a:extLst>
          </p:cNvPr>
          <p:cNvSpPr/>
          <p:nvPr/>
        </p:nvSpPr>
        <p:spPr>
          <a:xfrm>
            <a:off x="5741525" y="2947118"/>
            <a:ext cx="792000" cy="226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6A182888-B49C-7E3B-3423-4E4D9347B8F6}"/>
              </a:ext>
            </a:extLst>
          </p:cNvPr>
          <p:cNvSpPr/>
          <p:nvPr/>
        </p:nvSpPr>
        <p:spPr>
          <a:xfrm>
            <a:off x="7418818" y="3415118"/>
            <a:ext cx="792000" cy="900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3" name="テキスト ボックス 32">
            <a:extLst>
              <a:ext uri="{FF2B5EF4-FFF2-40B4-BE49-F238E27FC236}">
                <a16:creationId xmlns:a16="http://schemas.microsoft.com/office/drawing/2014/main" id="{23EF3BA6-9B5F-1074-7357-D0A283C78B43}"/>
              </a:ext>
            </a:extLst>
          </p:cNvPr>
          <p:cNvSpPr txBox="1"/>
          <p:nvPr/>
        </p:nvSpPr>
        <p:spPr>
          <a:xfrm>
            <a:off x="7274818" y="5215118"/>
            <a:ext cx="1080000" cy="267885"/>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正常利益</a:t>
            </a:r>
          </a:p>
        </p:txBody>
      </p:sp>
      <p:sp>
        <p:nvSpPr>
          <p:cNvPr id="34" name="テキスト ボックス 33">
            <a:extLst>
              <a:ext uri="{FF2B5EF4-FFF2-40B4-BE49-F238E27FC236}">
                <a16:creationId xmlns:a16="http://schemas.microsoft.com/office/drawing/2014/main" id="{80BA6B3B-4CA0-B0B7-2A2C-BBAE6B1E2FD9}"/>
              </a:ext>
            </a:extLst>
          </p:cNvPr>
          <p:cNvSpPr txBox="1"/>
          <p:nvPr/>
        </p:nvSpPr>
        <p:spPr>
          <a:xfrm>
            <a:off x="5829749"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投下資本</a:t>
            </a:r>
            <a:endParaRPr kumimoji="1" lang="en-US" altLang="ja-JP" sz="1200" b="1" dirty="0">
              <a:latin typeface="+mj-ea"/>
              <a:ea typeface="+mj-ea"/>
            </a:endParaRPr>
          </a:p>
          <a:p>
            <a:pPr algn="ctr">
              <a:lnSpc>
                <a:spcPct val="110000"/>
              </a:lnSpc>
            </a:pPr>
            <a:r>
              <a:rPr kumimoji="1" lang="ja-JP" altLang="en-US" sz="1200" b="1" dirty="0">
                <a:latin typeface="+mj-ea"/>
                <a:ea typeface="+mj-ea"/>
              </a:rPr>
              <a:t>時価</a:t>
            </a:r>
          </a:p>
        </p:txBody>
      </p:sp>
      <p:sp>
        <p:nvSpPr>
          <p:cNvPr id="35" name="テキスト ボックス 34">
            <a:extLst>
              <a:ext uri="{FF2B5EF4-FFF2-40B4-BE49-F238E27FC236}">
                <a16:creationId xmlns:a16="http://schemas.microsoft.com/office/drawing/2014/main" id="{9C4C834C-C1B7-7571-5CA4-6DD8DB6C3419}"/>
              </a:ext>
            </a:extLst>
          </p:cNvPr>
          <p:cNvSpPr txBox="1"/>
          <p:nvPr/>
        </p:nvSpPr>
        <p:spPr>
          <a:xfrm>
            <a:off x="6742164" y="4571519"/>
            <a:ext cx="461665"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期待</a:t>
            </a:r>
            <a:endParaRPr kumimoji="1" lang="en-US" altLang="ja-JP" sz="1200" b="1" dirty="0">
              <a:latin typeface="+mj-ea"/>
              <a:ea typeface="+mj-ea"/>
            </a:endParaRPr>
          </a:p>
          <a:p>
            <a:pPr algn="ctr">
              <a:lnSpc>
                <a:spcPct val="110000"/>
              </a:lnSpc>
            </a:pPr>
            <a:r>
              <a:rPr kumimoji="1" lang="ja-JP" altLang="en-US" sz="1200" b="1" dirty="0">
                <a:latin typeface="+mj-ea"/>
                <a:ea typeface="+mj-ea"/>
              </a:rPr>
              <a:t>利子率</a:t>
            </a:r>
          </a:p>
        </p:txBody>
      </p:sp>
      <p:cxnSp>
        <p:nvCxnSpPr>
          <p:cNvPr id="37" name="直線コネクタ 36">
            <a:extLst>
              <a:ext uri="{FF2B5EF4-FFF2-40B4-BE49-F238E27FC236}">
                <a16:creationId xmlns:a16="http://schemas.microsoft.com/office/drawing/2014/main" id="{A6ACA7EA-608E-212B-1100-9534A08D73E3}"/>
              </a:ext>
            </a:extLst>
          </p:cNvPr>
          <p:cNvCxnSpPr>
            <a:cxnSpLocks/>
          </p:cNvCxnSpPr>
          <p:nvPr/>
        </p:nvCxnSpPr>
        <p:spPr>
          <a:xfrm>
            <a:off x="5598812" y="5215118"/>
            <a:ext cx="277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43158719-F079-ABE9-F016-FFE8B8C36B00}"/>
              </a:ext>
            </a:extLst>
          </p:cNvPr>
          <p:cNvSpPr txBox="1"/>
          <p:nvPr/>
        </p:nvSpPr>
        <p:spPr>
          <a:xfrm>
            <a:off x="7507042"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一般的</a:t>
            </a:r>
            <a:endParaRPr kumimoji="1" lang="en-US" altLang="ja-JP" sz="1200" b="1" dirty="0">
              <a:latin typeface="+mj-ea"/>
              <a:ea typeface="+mj-ea"/>
            </a:endParaRPr>
          </a:p>
          <a:p>
            <a:pPr algn="ctr">
              <a:lnSpc>
                <a:spcPct val="110000"/>
              </a:lnSpc>
            </a:pPr>
            <a:r>
              <a:rPr kumimoji="1" lang="ja-JP" altLang="en-US" sz="1200" b="1" dirty="0">
                <a:latin typeface="+mj-ea"/>
                <a:ea typeface="+mj-ea"/>
              </a:rPr>
              <a:t>期待利益</a:t>
            </a:r>
          </a:p>
        </p:txBody>
      </p:sp>
      <p:sp>
        <p:nvSpPr>
          <p:cNvPr id="60" name="テキスト ボックス 59">
            <a:extLst>
              <a:ext uri="{FF2B5EF4-FFF2-40B4-BE49-F238E27FC236}">
                <a16:creationId xmlns:a16="http://schemas.microsoft.com/office/drawing/2014/main" id="{87A27AA1-60B2-66EA-D30A-CAFAC1DC6EE4}"/>
              </a:ext>
            </a:extLst>
          </p:cNvPr>
          <p:cNvSpPr txBox="1"/>
          <p:nvPr/>
        </p:nvSpPr>
        <p:spPr>
          <a:xfrm>
            <a:off x="7204752" y="3174025"/>
            <a:ext cx="1915910" cy="123111"/>
          </a:xfrm>
          <a:prstGeom prst="rect">
            <a:avLst/>
          </a:prstGeom>
          <a:noFill/>
        </p:spPr>
        <p:txBody>
          <a:bodyPr wrap="none" lIns="0" tIns="0" rIns="0" bIns="0" rtlCol="0">
            <a:spAutoFit/>
          </a:bodyPr>
          <a:lstStyle/>
          <a:p>
            <a:pPr algn="ctr"/>
            <a:r>
              <a:rPr kumimoji="1" lang="ja-JP" altLang="en-US" sz="800" spc="30" dirty="0">
                <a:latin typeface="+mn-ea"/>
              </a:rPr>
              <a:t>（超過利益＝正常利益－般的期待利益）</a:t>
            </a:r>
          </a:p>
        </p:txBody>
      </p:sp>
      <p:sp>
        <p:nvSpPr>
          <p:cNvPr id="25" name="正方形/長方形 24">
            <a:extLst>
              <a:ext uri="{FF2B5EF4-FFF2-40B4-BE49-F238E27FC236}">
                <a16:creationId xmlns:a16="http://schemas.microsoft.com/office/drawing/2014/main" id="{3DF15511-068A-F4DE-AE56-7191AD07FFAA}"/>
              </a:ext>
            </a:extLst>
          </p:cNvPr>
          <p:cNvSpPr/>
          <p:nvPr/>
        </p:nvSpPr>
        <p:spPr>
          <a:xfrm>
            <a:off x="5597525" y="1675201"/>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超過収益還元法</a:t>
            </a:r>
          </a:p>
        </p:txBody>
      </p:sp>
      <p:sp>
        <p:nvSpPr>
          <p:cNvPr id="36" name="テキスト ボックス 35">
            <a:extLst>
              <a:ext uri="{FF2B5EF4-FFF2-40B4-BE49-F238E27FC236}">
                <a16:creationId xmlns:a16="http://schemas.microsoft.com/office/drawing/2014/main" id="{1309B04F-909C-C2DF-7146-D35E7D11287E}"/>
              </a:ext>
            </a:extLst>
          </p:cNvPr>
          <p:cNvSpPr txBox="1"/>
          <p:nvPr/>
        </p:nvSpPr>
        <p:spPr>
          <a:xfrm>
            <a:off x="5597525" y="1223963"/>
            <a:ext cx="206498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営業権の算定手法</a:t>
            </a:r>
            <a:endParaRPr lang="en-US" altLang="ja-JP" dirty="0"/>
          </a:p>
        </p:txBody>
      </p:sp>
      <p:sp>
        <p:nvSpPr>
          <p:cNvPr id="45" name="テキスト ボックス 44">
            <a:extLst>
              <a:ext uri="{FF2B5EF4-FFF2-40B4-BE49-F238E27FC236}">
                <a16:creationId xmlns:a16="http://schemas.microsoft.com/office/drawing/2014/main" id="{586A60AE-9222-7EC9-135F-88EB61B1EE83}"/>
              </a:ext>
            </a:extLst>
          </p:cNvPr>
          <p:cNvSpPr txBox="1"/>
          <p:nvPr/>
        </p:nvSpPr>
        <p:spPr>
          <a:xfrm>
            <a:off x="5597525" y="2131835"/>
            <a:ext cx="4644000" cy="4879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nSpc>
                <a:spcPct val="120000"/>
              </a:lnSpc>
              <a:spcAft>
                <a:spcPts val="0"/>
              </a:spcAft>
              <a:buNone/>
            </a:pPr>
            <a:r>
              <a:rPr lang="ja-JP" altLang="en-US" dirty="0">
                <a:solidFill>
                  <a:schemeClr val="tx1"/>
                </a:solidFill>
              </a:rPr>
              <a:t>対象会社が創出すべき利益（理論値）と一般的な期待利益の差額を営業権に反映する手法</a:t>
            </a:r>
          </a:p>
        </p:txBody>
      </p:sp>
      <p:sp>
        <p:nvSpPr>
          <p:cNvPr id="6" name="字幕 5">
            <a:extLst>
              <a:ext uri="{FF2B5EF4-FFF2-40B4-BE49-F238E27FC236}">
                <a16:creationId xmlns:a16="http://schemas.microsoft.com/office/drawing/2014/main" id="{F7E4CDF3-72F3-0143-C85D-DEB82FA43773}"/>
              </a:ext>
            </a:extLst>
          </p:cNvPr>
          <p:cNvSpPr>
            <a:spLocks noGrp="1"/>
          </p:cNvSpPr>
          <p:nvPr>
            <p:ph type="subTitle" idx="1"/>
          </p:nvPr>
        </p:nvSpPr>
        <p:spPr/>
        <p:txBody>
          <a:bodyPr/>
          <a:lstStyle/>
          <a:p>
            <a:r>
              <a:rPr lang="ja-JP" altLang="en-US" dirty="0"/>
              <a:t>時価純資産に営業権を加算することで継続企業価値を算定します。「営業権」の算定手法は以下の通りです</a:t>
            </a:r>
          </a:p>
        </p:txBody>
      </p:sp>
      <p:sp>
        <p:nvSpPr>
          <p:cNvPr id="2" name="タイトル 1">
            <a:extLst>
              <a:ext uri="{FF2B5EF4-FFF2-40B4-BE49-F238E27FC236}">
                <a16:creationId xmlns:a16="http://schemas.microsoft.com/office/drawing/2014/main" id="{5EFB6C04-DE2E-A73B-89A7-D52A554E1A8E}"/>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［超過収益還元法］</a:t>
            </a:r>
          </a:p>
        </p:txBody>
      </p:sp>
      <p:sp>
        <p:nvSpPr>
          <p:cNvPr id="4" name="タイトル 1">
            <a:extLst>
              <a:ext uri="{FF2B5EF4-FFF2-40B4-BE49-F238E27FC236}">
                <a16:creationId xmlns:a16="http://schemas.microsoft.com/office/drawing/2014/main" id="{F8E64362-8C10-BC60-39E6-E71631377432}"/>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10" name="正方形/長方形 9">
            <a:extLst>
              <a:ext uri="{FF2B5EF4-FFF2-40B4-BE49-F238E27FC236}">
                <a16:creationId xmlns:a16="http://schemas.microsoft.com/office/drawing/2014/main" id="{5C1ED3F1-59BA-05EA-AF80-B893243ECBA6}"/>
              </a:ext>
            </a:extLst>
          </p:cNvPr>
          <p:cNvSpPr/>
          <p:nvPr/>
        </p:nvSpPr>
        <p:spPr>
          <a:xfrm>
            <a:off x="449263" y="1223963"/>
            <a:ext cx="36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対象会社の</a:t>
            </a:r>
            <a:r>
              <a:rPr lang="en-US" altLang="ja-JP" sz="1600" b="1" spc="50" dirty="0">
                <a:solidFill>
                  <a:schemeClr val="tx1"/>
                </a:solidFill>
                <a:latin typeface="+mj-ea"/>
                <a:ea typeface="+mj-ea"/>
              </a:rPr>
              <a:t>BS</a:t>
            </a:r>
          </a:p>
        </p:txBody>
      </p:sp>
      <p:grpSp>
        <p:nvGrpSpPr>
          <p:cNvPr id="91" name="グループ化 90">
            <a:extLst>
              <a:ext uri="{FF2B5EF4-FFF2-40B4-BE49-F238E27FC236}">
                <a16:creationId xmlns:a16="http://schemas.microsoft.com/office/drawing/2014/main" id="{3982D9F4-7ED1-01F3-BBFD-FECFA27A42AB}"/>
              </a:ext>
            </a:extLst>
          </p:cNvPr>
          <p:cNvGrpSpPr/>
          <p:nvPr/>
        </p:nvGrpSpPr>
        <p:grpSpPr>
          <a:xfrm>
            <a:off x="916257" y="1675201"/>
            <a:ext cx="3744905" cy="3860307"/>
            <a:chOff x="801695" y="1709068"/>
            <a:chExt cx="3744905" cy="3860307"/>
          </a:xfrm>
        </p:grpSpPr>
        <p:sp>
          <p:nvSpPr>
            <p:cNvPr id="23" name="正方形/長方形 22">
              <a:extLst>
                <a:ext uri="{FF2B5EF4-FFF2-40B4-BE49-F238E27FC236}">
                  <a16:creationId xmlns:a16="http://schemas.microsoft.com/office/drawing/2014/main" id="{E9F45EDC-77CB-4944-9A84-59D36BEDC60F}"/>
                </a:ext>
              </a:extLst>
            </p:cNvPr>
            <p:cNvSpPr/>
            <p:nvPr/>
          </p:nvSpPr>
          <p:spPr>
            <a:xfrm>
              <a:off x="2367434" y="1709068"/>
              <a:ext cx="1566261" cy="1401539"/>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負債時価</a:t>
              </a:r>
            </a:p>
          </p:txBody>
        </p:sp>
        <p:sp>
          <p:nvSpPr>
            <p:cNvPr id="114" name="正方形/長方形 113">
              <a:extLst>
                <a:ext uri="{FF2B5EF4-FFF2-40B4-BE49-F238E27FC236}">
                  <a16:creationId xmlns:a16="http://schemas.microsoft.com/office/drawing/2014/main" id="{0B55DB1F-41AE-9E44-F280-91EB67C0779A}"/>
                </a:ext>
              </a:extLst>
            </p:cNvPr>
            <p:cNvSpPr/>
            <p:nvPr/>
          </p:nvSpPr>
          <p:spPr>
            <a:xfrm>
              <a:off x="801695" y="1709068"/>
              <a:ext cx="1566261" cy="2520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資産時価</a:t>
              </a:r>
            </a:p>
          </p:txBody>
        </p:sp>
        <p:sp>
          <p:nvSpPr>
            <p:cNvPr id="24" name="正方形/長方形 23">
              <a:extLst>
                <a:ext uri="{FF2B5EF4-FFF2-40B4-BE49-F238E27FC236}">
                  <a16:creationId xmlns:a16="http://schemas.microsoft.com/office/drawing/2014/main" id="{5A8F5EC1-02BE-38A1-3344-8B77E7DDBD38}"/>
                </a:ext>
              </a:extLst>
            </p:cNvPr>
            <p:cNvSpPr/>
            <p:nvPr/>
          </p:nvSpPr>
          <p:spPr>
            <a:xfrm>
              <a:off x="2367434" y="3116682"/>
              <a:ext cx="1566261" cy="1112386"/>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時価純資産</a:t>
              </a:r>
            </a:p>
          </p:txBody>
        </p:sp>
        <p:sp>
          <p:nvSpPr>
            <p:cNvPr id="59" name="正方形/長方形 58">
              <a:extLst>
                <a:ext uri="{FF2B5EF4-FFF2-40B4-BE49-F238E27FC236}">
                  <a16:creationId xmlns:a16="http://schemas.microsoft.com/office/drawing/2014/main" id="{A4472600-2CA4-36B8-8264-0FBDBE106FDC}"/>
                </a:ext>
              </a:extLst>
            </p:cNvPr>
            <p:cNvSpPr/>
            <p:nvPr/>
          </p:nvSpPr>
          <p:spPr>
            <a:xfrm>
              <a:off x="801695" y="4489375"/>
              <a:ext cx="1566261" cy="1080000"/>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r>
                <a:rPr kumimoji="1" lang="en-US" altLang="ja-JP" sz="1400" b="1" baseline="30000" dirty="0">
                  <a:solidFill>
                    <a:schemeClr val="bg1"/>
                  </a:solidFill>
                  <a:latin typeface="+mj-ea"/>
                  <a:ea typeface="+mj-ea"/>
                </a:rPr>
                <a:t>※</a:t>
              </a:r>
              <a:endParaRPr kumimoji="1" lang="ja-JP" altLang="en-US" sz="1400" b="1" baseline="30000" dirty="0">
                <a:solidFill>
                  <a:schemeClr val="bg1"/>
                </a:solidFill>
                <a:latin typeface="+mj-ea"/>
                <a:ea typeface="+mj-ea"/>
              </a:endParaRPr>
            </a:p>
          </p:txBody>
        </p:sp>
        <p:grpSp>
          <p:nvGrpSpPr>
            <p:cNvPr id="26" name="グループ化 25">
              <a:extLst>
                <a:ext uri="{FF2B5EF4-FFF2-40B4-BE49-F238E27FC236}">
                  <a16:creationId xmlns:a16="http://schemas.microsoft.com/office/drawing/2014/main" id="{48099EF7-0753-C0FA-AE78-629C52F6F951}"/>
                </a:ext>
              </a:extLst>
            </p:cNvPr>
            <p:cNvGrpSpPr/>
            <p:nvPr/>
          </p:nvGrpSpPr>
          <p:grpSpPr>
            <a:xfrm>
              <a:off x="2484564" y="1949192"/>
              <a:ext cx="1332000" cy="252000"/>
              <a:chOff x="2916000" y="1936492"/>
              <a:chExt cx="1332000" cy="252000"/>
            </a:xfrm>
          </p:grpSpPr>
          <p:sp>
            <p:nvSpPr>
              <p:cNvPr id="123" name="四角形: 角を丸くする 122">
                <a:extLst>
                  <a:ext uri="{FF2B5EF4-FFF2-40B4-BE49-F238E27FC236}">
                    <a16:creationId xmlns:a16="http://schemas.microsoft.com/office/drawing/2014/main" id="{49F4D174-E61E-93A5-F5A1-60E59CD19421}"/>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ja-JP" altLang="en-US" sz="1000" b="1" spc="30" dirty="0">
                    <a:solidFill>
                      <a:schemeClr val="tx1"/>
                    </a:solidFill>
                    <a:latin typeface="+mj-ea"/>
                    <a:ea typeface="+mj-ea"/>
                  </a:rPr>
                  <a:t>役員退職金考慮</a:t>
                </a:r>
              </a:p>
            </p:txBody>
          </p:sp>
          <p:sp>
            <p:nvSpPr>
              <p:cNvPr id="124" name="楕円 123">
                <a:extLst>
                  <a:ext uri="{FF2B5EF4-FFF2-40B4-BE49-F238E27FC236}">
                    <a16:creationId xmlns:a16="http://schemas.microsoft.com/office/drawing/2014/main" id="{583970C8-3226-E36E-06F7-3DC7B6BB865B}"/>
                  </a:ext>
                </a:extLst>
              </p:cNvPr>
              <p:cNvSpPr/>
              <p:nvPr/>
            </p:nvSpPr>
            <p:spPr>
              <a:xfrm>
                <a:off x="3989033" y="1972492"/>
                <a:ext cx="180000" cy="18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前</a:t>
                </a:r>
              </a:p>
            </p:txBody>
          </p:sp>
        </p:grpSp>
        <p:grpSp>
          <p:nvGrpSpPr>
            <p:cNvPr id="90" name="グループ化 89">
              <a:extLst>
                <a:ext uri="{FF2B5EF4-FFF2-40B4-BE49-F238E27FC236}">
                  <a16:creationId xmlns:a16="http://schemas.microsoft.com/office/drawing/2014/main" id="{73F3E573-2A66-2BB1-CC30-6291C95A4CF9}"/>
                </a:ext>
              </a:extLst>
            </p:cNvPr>
            <p:cNvGrpSpPr/>
            <p:nvPr/>
          </p:nvGrpSpPr>
          <p:grpSpPr>
            <a:xfrm>
              <a:off x="1520454" y="4294851"/>
              <a:ext cx="128742" cy="128742"/>
              <a:chOff x="1547324" y="4294851"/>
              <a:chExt cx="128742" cy="128742"/>
            </a:xfrm>
          </p:grpSpPr>
          <p:cxnSp>
            <p:nvCxnSpPr>
              <p:cNvPr id="19" name="直線コネクタ 18">
                <a:extLst>
                  <a:ext uri="{FF2B5EF4-FFF2-40B4-BE49-F238E27FC236}">
                    <a16:creationId xmlns:a16="http://schemas.microsoft.com/office/drawing/2014/main" id="{15168B41-B522-C3C1-4CA8-5B3FECEE3970}"/>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19960015-F234-92C2-DACD-A621042DAE18}"/>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19" name="直線コネクタ 118">
              <a:extLst>
                <a:ext uri="{FF2B5EF4-FFF2-40B4-BE49-F238E27FC236}">
                  <a16:creationId xmlns:a16="http://schemas.microsoft.com/office/drawing/2014/main" id="{F3F9E89E-AA06-B44A-4FFE-DA8759ECC4E0}"/>
                </a:ext>
              </a:extLst>
            </p:cNvPr>
            <p:cNvCxnSpPr>
              <a:cxnSpLocks/>
            </p:cNvCxnSpPr>
            <p:nvPr/>
          </p:nvCxnSpPr>
          <p:spPr>
            <a:xfrm>
              <a:off x="2376358" y="3116682"/>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86C7038E-6FAD-E297-51D1-0F12C3D17499}"/>
                </a:ext>
              </a:extLst>
            </p:cNvPr>
            <p:cNvCxnSpPr>
              <a:cxnSpLocks/>
            </p:cNvCxnSpPr>
            <p:nvPr/>
          </p:nvCxnSpPr>
          <p:spPr>
            <a:xfrm>
              <a:off x="816772" y="5569375"/>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88" name="グループ化 87">
              <a:extLst>
                <a:ext uri="{FF2B5EF4-FFF2-40B4-BE49-F238E27FC236}">
                  <a16:creationId xmlns:a16="http://schemas.microsoft.com/office/drawing/2014/main" id="{6F9669EA-03B7-85C8-D9AA-4630B6579E8C}"/>
                </a:ext>
              </a:extLst>
            </p:cNvPr>
            <p:cNvGrpSpPr/>
            <p:nvPr/>
          </p:nvGrpSpPr>
          <p:grpSpPr>
            <a:xfrm>
              <a:off x="4101412" y="3155950"/>
              <a:ext cx="246221" cy="2381250"/>
              <a:chOff x="4272862" y="3155950"/>
              <a:chExt cx="246221" cy="2381250"/>
            </a:xfrm>
          </p:grpSpPr>
          <p:cxnSp>
            <p:nvCxnSpPr>
              <p:cNvPr id="79" name="直線矢印コネクタ 78">
                <a:extLst>
                  <a:ext uri="{FF2B5EF4-FFF2-40B4-BE49-F238E27FC236}">
                    <a16:creationId xmlns:a16="http://schemas.microsoft.com/office/drawing/2014/main" id="{6381AD44-EF74-4B73-54A6-4BC3B6BFB7C5}"/>
                  </a:ext>
                </a:extLst>
              </p:cNvPr>
              <p:cNvCxnSpPr>
                <a:cxnSpLocks/>
              </p:cNvCxnSpPr>
              <p:nvPr/>
            </p:nvCxnSpPr>
            <p:spPr>
              <a:xfrm>
                <a:off x="4404439" y="3155950"/>
                <a:ext cx="0" cy="238125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0" name="テキスト ボックス 79">
                <a:extLst>
                  <a:ext uri="{FF2B5EF4-FFF2-40B4-BE49-F238E27FC236}">
                    <a16:creationId xmlns:a16="http://schemas.microsoft.com/office/drawing/2014/main" id="{02669D17-F568-35EE-A1AA-7A4A6ED5B38A}"/>
                  </a:ext>
                </a:extLst>
              </p:cNvPr>
              <p:cNvSpPr txBox="1"/>
              <p:nvPr/>
            </p:nvSpPr>
            <p:spPr>
              <a:xfrm>
                <a:off x="4272862" y="3860575"/>
                <a:ext cx="246221" cy="972000"/>
              </a:xfrm>
              <a:prstGeom prst="rect">
                <a:avLst/>
              </a:prstGeom>
              <a:solidFill>
                <a:schemeClr val="bg1"/>
              </a:solidFill>
            </p:spPr>
            <p:txBody>
              <a:bodyPr vert="eaVert" wrap="none" lIns="0" tIns="0" rIns="0" bIns="0" rtlCol="0" anchor="ctr">
                <a:noAutofit/>
              </a:bodyPr>
              <a:lstStyle/>
              <a:p>
                <a:pPr algn="ctr"/>
                <a:r>
                  <a:rPr kumimoji="1" lang="ja-JP" altLang="en-US" sz="1600" b="1" spc="30" dirty="0">
                    <a:solidFill>
                      <a:schemeClr val="accent4"/>
                    </a:solidFill>
                    <a:latin typeface="+mj-ea"/>
                    <a:ea typeface="+mj-ea"/>
                  </a:rPr>
                  <a:t>株式価値</a:t>
                </a:r>
              </a:p>
            </p:txBody>
          </p:sp>
        </p:grpSp>
      </p:grpSp>
      <p:sp>
        <p:nvSpPr>
          <p:cNvPr id="99" name="正方形/長方形 98">
            <a:extLst>
              <a:ext uri="{FF2B5EF4-FFF2-40B4-BE49-F238E27FC236}">
                <a16:creationId xmlns:a16="http://schemas.microsoft.com/office/drawing/2014/main" id="{943B22A0-E91E-2864-2AC9-2B1CA244277E}"/>
              </a:ext>
            </a:extLst>
          </p:cNvPr>
          <p:cNvSpPr/>
          <p:nvPr/>
        </p:nvSpPr>
        <p:spPr>
          <a:xfrm>
            <a:off x="5596500"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01" name="正方形/長方形 100">
            <a:extLst>
              <a:ext uri="{FF2B5EF4-FFF2-40B4-BE49-F238E27FC236}">
                <a16:creationId xmlns:a16="http://schemas.microsoft.com/office/drawing/2014/main" id="{C522221B-FBDC-94EF-CE21-1918688C8433}"/>
              </a:ext>
            </a:extLst>
          </p:cNvPr>
          <p:cNvSpPr/>
          <p:nvPr/>
        </p:nvSpPr>
        <p:spPr>
          <a:xfrm>
            <a:off x="7737305"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非経常的損益の除外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資本構成差異の除外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オーナー固有事象の修正</a:t>
            </a:r>
          </a:p>
        </p:txBody>
      </p:sp>
      <p:sp>
        <p:nvSpPr>
          <p:cNvPr id="102" name="テキスト ボックス 101">
            <a:extLst>
              <a:ext uri="{FF2B5EF4-FFF2-40B4-BE49-F238E27FC236}">
                <a16:creationId xmlns:a16="http://schemas.microsoft.com/office/drawing/2014/main" id="{1B83A17E-9AFA-A8F0-2F56-D93BE48359DB}"/>
              </a:ext>
            </a:extLst>
          </p:cNvPr>
          <p:cNvSpPr txBox="1"/>
          <p:nvPr/>
        </p:nvSpPr>
        <p:spPr>
          <a:xfrm>
            <a:off x="5596500" y="5904538"/>
            <a:ext cx="1915530" cy="936000"/>
          </a:xfrm>
          <a:prstGeom prst="rect">
            <a:avLst/>
          </a:prstGeom>
          <a:noFill/>
        </p:spPr>
        <p:txBody>
          <a:bodyPr wrap="square" lIns="180000" tIns="18000" rIns="0" bIns="0" rtlCol="0" anchor="ctr">
            <a:noAutofit/>
          </a:bodyPr>
          <a:lstStyle/>
          <a:p>
            <a:r>
              <a:rPr lang="ja-JP" altLang="en-US" sz="1200" dirty="0"/>
              <a:t>当期利益に右記項目を調整して、</a:t>
            </a:r>
            <a:r>
              <a:rPr lang="ja-JP" altLang="en-US" sz="1200" b="1" dirty="0">
                <a:solidFill>
                  <a:schemeClr val="tx2"/>
                </a:solidFill>
                <a:latin typeface="+mj-ea"/>
                <a:ea typeface="+mj-ea"/>
              </a:rPr>
              <a:t>正常利益</a:t>
            </a:r>
            <a:r>
              <a:rPr lang="ja-JP" altLang="en-US" sz="1200" dirty="0"/>
              <a:t>を算出</a:t>
            </a:r>
          </a:p>
        </p:txBody>
      </p:sp>
      <p:cxnSp>
        <p:nvCxnSpPr>
          <p:cNvPr id="103" name="直線コネクタ 102">
            <a:extLst>
              <a:ext uri="{FF2B5EF4-FFF2-40B4-BE49-F238E27FC236}">
                <a16:creationId xmlns:a16="http://schemas.microsoft.com/office/drawing/2014/main" id="{03F8A0A0-2A5E-5B94-474D-A9F3C882C0FD}"/>
              </a:ext>
            </a:extLst>
          </p:cNvPr>
          <p:cNvCxnSpPr>
            <a:cxnSpLocks/>
          </p:cNvCxnSpPr>
          <p:nvPr/>
        </p:nvCxnSpPr>
        <p:spPr>
          <a:xfrm>
            <a:off x="5597525"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05" name="正方形/長方形 104">
            <a:extLst>
              <a:ext uri="{FF2B5EF4-FFF2-40B4-BE49-F238E27FC236}">
                <a16:creationId xmlns:a16="http://schemas.microsoft.com/office/drawing/2014/main" id="{18C29D66-C180-3F58-6AC7-ABC918C74491}"/>
              </a:ext>
            </a:extLst>
          </p:cNvPr>
          <p:cNvSpPr/>
          <p:nvPr/>
        </p:nvSpPr>
        <p:spPr>
          <a:xfrm>
            <a:off x="9450550" y="3415118"/>
            <a:ext cx="792000" cy="900000"/>
          </a:xfrm>
          <a:prstGeom prst="rect">
            <a:avLst/>
          </a:prstGeom>
          <a:solidFill>
            <a:schemeClr val="accent4"/>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endParaRPr kumimoji="1" lang="ja-JP" altLang="en-US" sz="1400" b="1" baseline="30000" dirty="0">
              <a:solidFill>
                <a:schemeClr val="bg1"/>
              </a:solidFill>
              <a:latin typeface="+mj-ea"/>
              <a:ea typeface="+mj-ea"/>
            </a:endParaRPr>
          </a:p>
        </p:txBody>
      </p:sp>
      <p:grpSp>
        <p:nvGrpSpPr>
          <p:cNvPr id="131" name="グループ化 130">
            <a:extLst>
              <a:ext uri="{FF2B5EF4-FFF2-40B4-BE49-F238E27FC236}">
                <a16:creationId xmlns:a16="http://schemas.microsoft.com/office/drawing/2014/main" id="{9CBD69C1-B891-1B57-2C55-279A35F58DE8}"/>
              </a:ext>
            </a:extLst>
          </p:cNvPr>
          <p:cNvGrpSpPr/>
          <p:nvPr/>
        </p:nvGrpSpPr>
        <p:grpSpPr>
          <a:xfrm>
            <a:off x="6578998" y="4706305"/>
            <a:ext cx="128742" cy="128742"/>
            <a:chOff x="6657866" y="4794383"/>
            <a:chExt cx="128742" cy="128742"/>
          </a:xfrm>
        </p:grpSpPr>
        <p:cxnSp>
          <p:nvCxnSpPr>
            <p:cNvPr id="125" name="直線コネクタ 124">
              <a:extLst>
                <a:ext uri="{FF2B5EF4-FFF2-40B4-BE49-F238E27FC236}">
                  <a16:creationId xmlns:a16="http://schemas.microsoft.com/office/drawing/2014/main" id="{3839F293-0EBF-77DB-BD98-714B8EA86DE4}"/>
                </a:ext>
              </a:extLst>
            </p:cNvPr>
            <p:cNvCxnSpPr>
              <a:cxnSpLocks/>
            </p:cNvCxnSpPr>
            <p:nvPr/>
          </p:nvCxnSpPr>
          <p:spPr>
            <a:xfrm rot="5400000">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9" name="直線コネクタ 128">
              <a:extLst>
                <a:ext uri="{FF2B5EF4-FFF2-40B4-BE49-F238E27FC236}">
                  <a16:creationId xmlns:a16="http://schemas.microsoft.com/office/drawing/2014/main" id="{CADE3864-173E-2619-E001-FF2CFD94AE1D}"/>
                </a:ext>
              </a:extLst>
            </p:cNvPr>
            <p:cNvCxnSpPr>
              <a:cxnSpLocks/>
            </p:cNvCxnSpPr>
            <p:nvPr/>
          </p:nvCxnSpPr>
          <p:spPr>
            <a:xfrm rot="5400000" flipH="1">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38" name="グループ化 137">
            <a:extLst>
              <a:ext uri="{FF2B5EF4-FFF2-40B4-BE49-F238E27FC236}">
                <a16:creationId xmlns:a16="http://schemas.microsoft.com/office/drawing/2014/main" id="{AD19C647-06D0-47E4-C929-9A4CEBD59587}"/>
              </a:ext>
            </a:extLst>
          </p:cNvPr>
          <p:cNvGrpSpPr/>
          <p:nvPr/>
        </p:nvGrpSpPr>
        <p:grpSpPr>
          <a:xfrm>
            <a:off x="7236772" y="4731718"/>
            <a:ext cx="141867" cy="77916"/>
            <a:chOff x="7484533" y="4677833"/>
            <a:chExt cx="108000" cy="59316"/>
          </a:xfrm>
        </p:grpSpPr>
        <p:cxnSp>
          <p:nvCxnSpPr>
            <p:cNvPr id="136" name="直線コネクタ 135">
              <a:extLst>
                <a:ext uri="{FF2B5EF4-FFF2-40B4-BE49-F238E27FC236}">
                  <a16:creationId xmlns:a16="http://schemas.microsoft.com/office/drawing/2014/main" id="{556F9101-84EB-3AF2-9724-FB8138653429}"/>
                </a:ext>
              </a:extLst>
            </p:cNvPr>
            <p:cNvCxnSpPr/>
            <p:nvPr/>
          </p:nvCxnSpPr>
          <p:spPr>
            <a:xfrm>
              <a:off x="7484533" y="4677833"/>
              <a:ext cx="108000"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7" name="直線コネクタ 136">
              <a:extLst>
                <a:ext uri="{FF2B5EF4-FFF2-40B4-BE49-F238E27FC236}">
                  <a16:creationId xmlns:a16="http://schemas.microsoft.com/office/drawing/2014/main" id="{9CCA2B9A-8B6D-AB05-6C71-81C600423BC7}"/>
                </a:ext>
              </a:extLst>
            </p:cNvPr>
            <p:cNvCxnSpPr/>
            <p:nvPr/>
          </p:nvCxnSpPr>
          <p:spPr>
            <a:xfrm>
              <a:off x="7484533" y="4737149"/>
              <a:ext cx="108000"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41" name="直線矢印コネクタ 140">
            <a:extLst>
              <a:ext uri="{FF2B5EF4-FFF2-40B4-BE49-F238E27FC236}">
                <a16:creationId xmlns:a16="http://schemas.microsoft.com/office/drawing/2014/main" id="{4B558855-50B5-D0A6-B6D0-55594338D7BA}"/>
              </a:ext>
            </a:extLst>
          </p:cNvPr>
          <p:cNvCxnSpPr>
            <a:cxnSpLocks/>
          </p:cNvCxnSpPr>
          <p:nvPr/>
        </p:nvCxnSpPr>
        <p:spPr>
          <a:xfrm>
            <a:off x="7814818" y="3451118"/>
            <a:ext cx="0" cy="82800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0" name="正方形/長方形 139">
            <a:extLst>
              <a:ext uri="{FF2B5EF4-FFF2-40B4-BE49-F238E27FC236}">
                <a16:creationId xmlns:a16="http://schemas.microsoft.com/office/drawing/2014/main" id="{319E65E6-222F-5070-F930-673C3FF29E80}"/>
              </a:ext>
            </a:extLst>
          </p:cNvPr>
          <p:cNvSpPr/>
          <p:nvPr/>
        </p:nvSpPr>
        <p:spPr>
          <a:xfrm>
            <a:off x="7454818" y="3734768"/>
            <a:ext cx="720000" cy="252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lstStyle/>
          <a:p>
            <a:pPr algn="ctr"/>
            <a:r>
              <a:rPr kumimoji="1" lang="ja-JP" altLang="en-US" sz="1200" b="1" spc="30" dirty="0">
                <a:solidFill>
                  <a:schemeClr val="tx1"/>
                </a:solidFill>
                <a:latin typeface="+mj-ea"/>
                <a:ea typeface="+mj-ea"/>
              </a:rPr>
              <a:t>超過利益</a:t>
            </a:r>
          </a:p>
        </p:txBody>
      </p:sp>
      <p:grpSp>
        <p:nvGrpSpPr>
          <p:cNvPr id="159" name="グループ化 158">
            <a:extLst>
              <a:ext uri="{FF2B5EF4-FFF2-40B4-BE49-F238E27FC236}">
                <a16:creationId xmlns:a16="http://schemas.microsoft.com/office/drawing/2014/main" id="{7A470543-391A-7823-DDC2-85AE5E6AC15F}"/>
              </a:ext>
            </a:extLst>
          </p:cNvPr>
          <p:cNvGrpSpPr/>
          <p:nvPr/>
        </p:nvGrpSpPr>
        <p:grpSpPr>
          <a:xfrm>
            <a:off x="8269435" y="3631118"/>
            <a:ext cx="655064" cy="468000"/>
            <a:chOff x="8269435" y="3631118"/>
            <a:chExt cx="655064" cy="468000"/>
          </a:xfrm>
        </p:grpSpPr>
        <p:sp>
          <p:nvSpPr>
            <p:cNvPr id="53" name="テキスト ボックス 52">
              <a:extLst>
                <a:ext uri="{FF2B5EF4-FFF2-40B4-BE49-F238E27FC236}">
                  <a16:creationId xmlns:a16="http://schemas.microsoft.com/office/drawing/2014/main" id="{AD663F4A-F46F-9292-CAF2-A1992565C865}"/>
                </a:ext>
              </a:extLst>
            </p:cNvPr>
            <p:cNvSpPr txBox="1">
              <a:spLocks noChangeAspect="1"/>
            </p:cNvSpPr>
            <p:nvPr/>
          </p:nvSpPr>
          <p:spPr>
            <a:xfrm>
              <a:off x="8456499" y="3631118"/>
              <a:ext cx="468000" cy="468000"/>
            </a:xfrm>
            <a:prstGeom prst="ellipse">
              <a:avLst/>
            </a:prstGeom>
            <a:solidFill>
              <a:schemeClr val="accent2">
                <a:lumMod val="90000"/>
              </a:schemeClr>
            </a:solidFill>
          </p:spPr>
          <p:txBody>
            <a:bodyPr wrap="square" lIns="0" tIns="0" rIns="0" bIns="43200" rtlCol="0" anchor="ctr">
              <a:noAutofit/>
            </a:bodyPr>
            <a:lstStyle/>
            <a:p>
              <a:pPr algn="ctr"/>
              <a:r>
                <a:rPr kumimoji="1" lang="en-US" altLang="ja-JP" b="1" dirty="0">
                  <a:solidFill>
                    <a:schemeClr val="accent4"/>
                  </a:solidFill>
                  <a:latin typeface="+mj-lt"/>
                  <a:ea typeface="+mj-ea"/>
                </a:rPr>
                <a:t>n</a:t>
              </a:r>
              <a:r>
                <a:rPr kumimoji="1" lang="ja-JP" altLang="en-US" sz="1050" b="1" dirty="0">
                  <a:solidFill>
                    <a:schemeClr val="accent4"/>
                  </a:solidFill>
                  <a:latin typeface="+mj-ea"/>
                  <a:ea typeface="+mj-ea"/>
                </a:rPr>
                <a:t>年</a:t>
              </a:r>
              <a:endParaRPr kumimoji="1" lang="en-US" altLang="ja-JP" sz="1050" b="1" dirty="0">
                <a:solidFill>
                  <a:schemeClr val="accent4"/>
                </a:solidFill>
                <a:latin typeface="+mj-ea"/>
                <a:ea typeface="+mj-ea"/>
              </a:endParaRPr>
            </a:p>
          </p:txBody>
        </p:sp>
        <p:grpSp>
          <p:nvGrpSpPr>
            <p:cNvPr id="145" name="グループ化 144">
              <a:extLst>
                <a:ext uri="{FF2B5EF4-FFF2-40B4-BE49-F238E27FC236}">
                  <a16:creationId xmlns:a16="http://schemas.microsoft.com/office/drawing/2014/main" id="{325B4D7D-7C97-EE3F-854C-F98ABD19C865}"/>
                </a:ext>
              </a:extLst>
            </p:cNvPr>
            <p:cNvGrpSpPr/>
            <p:nvPr/>
          </p:nvGrpSpPr>
          <p:grpSpPr>
            <a:xfrm>
              <a:off x="8269435" y="3800747"/>
              <a:ext cx="128742" cy="128742"/>
              <a:chOff x="6645166" y="4794383"/>
              <a:chExt cx="128742" cy="128742"/>
            </a:xfrm>
          </p:grpSpPr>
          <p:cxnSp>
            <p:nvCxnSpPr>
              <p:cNvPr id="146" name="直線コネクタ 145">
                <a:extLst>
                  <a:ext uri="{FF2B5EF4-FFF2-40B4-BE49-F238E27FC236}">
                    <a16:creationId xmlns:a16="http://schemas.microsoft.com/office/drawing/2014/main" id="{917BC4CE-DCC3-C074-0B03-58F674D415FA}"/>
                  </a:ext>
                </a:extLst>
              </p:cNvPr>
              <p:cNvCxnSpPr>
                <a:cxnSpLocks/>
              </p:cNvCxnSpPr>
              <p:nvPr/>
            </p:nvCxnSpPr>
            <p:spPr>
              <a:xfrm rot="5400000">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47" name="直線コネクタ 146">
                <a:extLst>
                  <a:ext uri="{FF2B5EF4-FFF2-40B4-BE49-F238E27FC236}">
                    <a16:creationId xmlns:a16="http://schemas.microsoft.com/office/drawing/2014/main" id="{2CFB8D2E-CD45-40CE-0FBD-BD9F0831179A}"/>
                  </a:ext>
                </a:extLst>
              </p:cNvPr>
              <p:cNvCxnSpPr>
                <a:cxnSpLocks/>
              </p:cNvCxnSpPr>
              <p:nvPr/>
            </p:nvCxnSpPr>
            <p:spPr>
              <a:xfrm rot="5400000" flipH="1">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grpSp>
        <p:nvGrpSpPr>
          <p:cNvPr id="149" name="グループ化 148">
            <a:extLst>
              <a:ext uri="{FF2B5EF4-FFF2-40B4-BE49-F238E27FC236}">
                <a16:creationId xmlns:a16="http://schemas.microsoft.com/office/drawing/2014/main" id="{FE4358B6-21BA-97D1-85E5-9D299102C4C9}"/>
              </a:ext>
            </a:extLst>
          </p:cNvPr>
          <p:cNvGrpSpPr/>
          <p:nvPr/>
        </p:nvGrpSpPr>
        <p:grpSpPr>
          <a:xfrm>
            <a:off x="9040953" y="3787576"/>
            <a:ext cx="282372" cy="155084"/>
            <a:chOff x="7484533" y="4677833"/>
            <a:chExt cx="108000" cy="59316"/>
          </a:xfrm>
        </p:grpSpPr>
        <p:cxnSp>
          <p:nvCxnSpPr>
            <p:cNvPr id="150" name="直線コネクタ 149">
              <a:extLst>
                <a:ext uri="{FF2B5EF4-FFF2-40B4-BE49-F238E27FC236}">
                  <a16:creationId xmlns:a16="http://schemas.microsoft.com/office/drawing/2014/main" id="{F547C2CC-4560-2C4C-C199-C0A280D6D70D}"/>
                </a:ext>
              </a:extLst>
            </p:cNvPr>
            <p:cNvCxnSpPr/>
            <p:nvPr/>
          </p:nvCxnSpPr>
          <p:spPr>
            <a:xfrm>
              <a:off x="7484533" y="4677833"/>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51" name="直線コネクタ 150">
              <a:extLst>
                <a:ext uri="{FF2B5EF4-FFF2-40B4-BE49-F238E27FC236}">
                  <a16:creationId xmlns:a16="http://schemas.microsoft.com/office/drawing/2014/main" id="{5F8E0504-1D2A-96F4-C43F-81E7275C2CED}"/>
                </a:ext>
              </a:extLst>
            </p:cNvPr>
            <p:cNvCxnSpPr/>
            <p:nvPr/>
          </p:nvCxnSpPr>
          <p:spPr>
            <a:xfrm>
              <a:off x="7484533" y="4737149"/>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52" name="直線コネクタ 151">
            <a:extLst>
              <a:ext uri="{FF2B5EF4-FFF2-40B4-BE49-F238E27FC236}">
                <a16:creationId xmlns:a16="http://schemas.microsoft.com/office/drawing/2014/main" id="{6C07F0B8-E5DB-BD1C-68D9-D7CE614DE89F}"/>
              </a:ext>
            </a:extLst>
          </p:cNvPr>
          <p:cNvCxnSpPr>
            <a:cxnSpLocks/>
          </p:cNvCxnSpPr>
          <p:nvPr/>
        </p:nvCxnSpPr>
        <p:spPr>
          <a:xfrm>
            <a:off x="7263399" y="4315118"/>
            <a:ext cx="1107413"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154" name="直線コネクタ 153">
            <a:extLst>
              <a:ext uri="{FF2B5EF4-FFF2-40B4-BE49-F238E27FC236}">
                <a16:creationId xmlns:a16="http://schemas.microsoft.com/office/drawing/2014/main" id="{58D4F214-C628-BBA5-1330-822759A175FF}"/>
              </a:ext>
            </a:extLst>
          </p:cNvPr>
          <p:cNvCxnSpPr>
            <a:cxnSpLocks/>
          </p:cNvCxnSpPr>
          <p:nvPr/>
        </p:nvCxnSpPr>
        <p:spPr>
          <a:xfrm>
            <a:off x="6540500" y="2971800"/>
            <a:ext cx="866775" cy="130175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61" name="フリーフォーム: 図形 160">
            <a:extLst>
              <a:ext uri="{FF2B5EF4-FFF2-40B4-BE49-F238E27FC236}">
                <a16:creationId xmlns:a16="http://schemas.microsoft.com/office/drawing/2014/main" id="{E84C215E-0B7D-0048-C274-7FAFEEDDC0BD}"/>
              </a:ext>
            </a:extLst>
          </p:cNvPr>
          <p:cNvSpPr/>
          <p:nvPr/>
        </p:nvSpPr>
        <p:spPr>
          <a:xfrm>
            <a:off x="8208208" y="4801937"/>
            <a:ext cx="427790" cy="1088724"/>
          </a:xfrm>
          <a:custGeom>
            <a:avLst/>
            <a:gdLst>
              <a:gd name="csX0" fmla="*/ 1232034 w 1232034"/>
              <a:gd name="csY0" fmla="*/ 1251284 h 1251284"/>
              <a:gd name="csX1" fmla="*/ 1232034 w 1232034"/>
              <a:gd name="csY1" fmla="*/ 0 h 1251284"/>
              <a:gd name="csX2" fmla="*/ 0 w 1232034"/>
              <a:gd name="csY2" fmla="*/ 0 h 1251284"/>
            </a:gdLst>
            <a:ahLst/>
            <a:cxnLst>
              <a:cxn ang="0">
                <a:pos x="csX0" y="csY0"/>
              </a:cxn>
              <a:cxn ang="0">
                <a:pos x="csX1" y="csY1"/>
              </a:cxn>
              <a:cxn ang="0">
                <a:pos x="csX2" y="csY2"/>
              </a:cxn>
            </a:cxnLst>
            <a:rect l="l" t="t" r="r" b="b"/>
            <a:pathLst>
              <a:path w="1232034" h="1251284">
                <a:moveTo>
                  <a:pt x="1232034" y="1251284"/>
                </a:moveTo>
                <a:lnTo>
                  <a:pt x="1232034" y="0"/>
                </a:lnTo>
                <a:lnTo>
                  <a:pt x="0" y="0"/>
                </a:lnTo>
              </a:path>
            </a:pathLst>
          </a:custGeom>
          <a:ln w="12700">
            <a:solidFill>
              <a:schemeClr val="accent1"/>
            </a:solidFill>
            <a:headEnd w="sm" len="sm"/>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D1BBE786-BF04-1F09-F0C8-35A68E353AFD}"/>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8" name="グループ化 7">
            <a:extLst>
              <a:ext uri="{FF2B5EF4-FFF2-40B4-BE49-F238E27FC236}">
                <a16:creationId xmlns:a16="http://schemas.microsoft.com/office/drawing/2014/main" id="{6203841E-6664-A9FB-D056-A0A351CFFCCE}"/>
              </a:ext>
            </a:extLst>
          </p:cNvPr>
          <p:cNvGrpSpPr/>
          <p:nvPr/>
        </p:nvGrpSpPr>
        <p:grpSpPr>
          <a:xfrm>
            <a:off x="3275448" y="3943318"/>
            <a:ext cx="0" cy="2088000"/>
            <a:chOff x="1699387" y="5000625"/>
            <a:chExt cx="0" cy="994693"/>
          </a:xfrm>
        </p:grpSpPr>
        <p:cxnSp>
          <p:nvCxnSpPr>
            <p:cNvPr id="9" name="直線コネクタ 8">
              <a:extLst>
                <a:ext uri="{FF2B5EF4-FFF2-40B4-BE49-F238E27FC236}">
                  <a16:creationId xmlns:a16="http://schemas.microsoft.com/office/drawing/2014/main" id="{40142739-099C-1ABC-64CD-43DD0925B1FE}"/>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B71F18AB-10D4-D3DD-B260-EC591A5BCA18}"/>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91509230-3675-303F-EBF0-FD241F95CAA3}"/>
              </a:ext>
            </a:extLst>
          </p:cNvPr>
          <p:cNvGrpSpPr/>
          <p:nvPr/>
        </p:nvGrpSpPr>
        <p:grpSpPr>
          <a:xfrm>
            <a:off x="449263" y="5904538"/>
            <a:ext cx="4645025" cy="936000"/>
            <a:chOff x="449263" y="5904538"/>
            <a:chExt cx="4645025" cy="936000"/>
          </a:xfrm>
        </p:grpSpPr>
        <p:sp>
          <p:nvSpPr>
            <p:cNvPr id="126" name="正方形/長方形 125">
              <a:extLst>
                <a:ext uri="{FF2B5EF4-FFF2-40B4-BE49-F238E27FC236}">
                  <a16:creationId xmlns:a16="http://schemas.microsoft.com/office/drawing/2014/main" id="{2BFFCF51-EB79-2428-9B9C-18B505D64B3B}"/>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22" name="正方形/長方形 21">
              <a:extLst>
                <a:ext uri="{FF2B5EF4-FFF2-40B4-BE49-F238E27FC236}">
                  <a16:creationId xmlns:a16="http://schemas.microsoft.com/office/drawing/2014/main" id="{9540EEBC-107C-A9AE-B9AF-A24183DBAAB7}"/>
                </a:ext>
              </a:extLst>
            </p:cNvPr>
            <p:cNvSpPr/>
            <p:nvPr/>
          </p:nvSpPr>
          <p:spPr>
            <a:xfrm>
              <a:off x="2590068"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企業会計基準ベースへの調整</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含み損益の検討</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税効果の検討</a:t>
              </a:r>
              <a:endParaRPr lang="ja-JP" altLang="en-US" sz="1200" spc="30" dirty="0">
                <a:solidFill>
                  <a:schemeClr val="tx1"/>
                </a:solidFill>
                <a:latin typeface="+mj-ea"/>
                <a:ea typeface="+mj-ea"/>
              </a:endParaRPr>
            </a:p>
          </p:txBody>
        </p:sp>
        <p:sp>
          <p:nvSpPr>
            <p:cNvPr id="128" name="テキスト ボックス 127">
              <a:extLst>
                <a:ext uri="{FF2B5EF4-FFF2-40B4-BE49-F238E27FC236}">
                  <a16:creationId xmlns:a16="http://schemas.microsoft.com/office/drawing/2014/main" id="{C572B228-2069-D703-E23B-FEA9A282660F}"/>
                </a:ext>
              </a:extLst>
            </p:cNvPr>
            <p:cNvSpPr txBox="1"/>
            <p:nvPr/>
          </p:nvSpPr>
          <p:spPr>
            <a:xfrm>
              <a:off x="449263" y="5904538"/>
              <a:ext cx="1915530" cy="936000"/>
            </a:xfrm>
            <a:prstGeom prst="rect">
              <a:avLst/>
            </a:prstGeom>
            <a:noFill/>
          </p:spPr>
          <p:txBody>
            <a:bodyPr wrap="square" lIns="180000" tIns="18000" rIns="0" bIns="0" rtlCol="0" anchor="ctr">
              <a:noAutofit/>
            </a:bodyPr>
            <a:lstStyle/>
            <a:p>
              <a:pPr>
                <a:lnSpc>
                  <a:spcPct val="120000"/>
                </a:lnSpc>
              </a:pPr>
              <a:r>
                <a:rPr lang="ja-JP" altLang="en-US" sz="1200" spc="30" dirty="0">
                  <a:latin typeface="+mn-ea"/>
                </a:rPr>
                <a:t>基準日の簿価純資産に右記項目を調整し、基準日の時価純資産を算出</a:t>
              </a:r>
              <a:endParaRPr lang="en-US" altLang="ja-JP" sz="1200" spc="30" dirty="0">
                <a:latin typeface="+mn-ea"/>
              </a:endParaRPr>
            </a:p>
          </p:txBody>
        </p:sp>
        <p:cxnSp>
          <p:nvCxnSpPr>
            <p:cNvPr id="17" name="直線コネクタ 16">
              <a:extLst>
                <a:ext uri="{FF2B5EF4-FFF2-40B4-BE49-F238E27FC236}">
                  <a16:creationId xmlns:a16="http://schemas.microsoft.com/office/drawing/2014/main" id="{822F9312-0B66-340D-6353-D7FB9CE49476}"/>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47004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8631-D40C-4CB0-8BE7-70895BCF358A}"/>
            </a:ext>
          </a:extLst>
        </p:cNvPr>
        <p:cNvGrpSpPr/>
        <p:nvPr/>
      </p:nvGrpSpPr>
      <p:grpSpPr>
        <a:xfrm>
          <a:off x="0" y="0"/>
          <a:ext cx="0" cy="0"/>
          <a:chOff x="0" y="0"/>
          <a:chExt cx="0" cy="0"/>
        </a:xfrm>
      </p:grpSpPr>
      <p:sp>
        <p:nvSpPr>
          <p:cNvPr id="9" name="字幕 8">
            <a:extLst>
              <a:ext uri="{FF2B5EF4-FFF2-40B4-BE49-F238E27FC236}">
                <a16:creationId xmlns:a16="http://schemas.microsoft.com/office/drawing/2014/main" id="{D8AA0F03-7837-40A8-B3D8-DBCF69E1FC5F}"/>
              </a:ext>
            </a:extLst>
          </p:cNvPr>
          <p:cNvSpPr>
            <a:spLocks noGrp="1"/>
          </p:cNvSpPr>
          <p:nvPr>
            <p:ph type="subTitle" idx="1"/>
          </p:nvPr>
        </p:nvSpPr>
        <p:spPr/>
        <p:txBody>
          <a:bodyPr/>
          <a:lstStyle/>
          <a:p>
            <a:r>
              <a:rPr lang="ja-JP" altLang="en-US" dirty="0"/>
              <a:t>株式市場における株価に着目した評価手法です</a:t>
            </a:r>
          </a:p>
        </p:txBody>
      </p:sp>
      <p:sp>
        <p:nvSpPr>
          <p:cNvPr id="4" name="タイトル 3">
            <a:extLst>
              <a:ext uri="{FF2B5EF4-FFF2-40B4-BE49-F238E27FC236}">
                <a16:creationId xmlns:a16="http://schemas.microsoft.com/office/drawing/2014/main" id="{7311404A-19BB-B9B9-3C70-F54CE2655AC9}"/>
              </a:ext>
            </a:extLst>
          </p:cNvPr>
          <p:cNvSpPr>
            <a:spLocks noGrp="1"/>
          </p:cNvSpPr>
          <p:nvPr>
            <p:ph type="ctrTitle"/>
          </p:nvPr>
        </p:nvSpPr>
        <p:spPr/>
        <p:txBody>
          <a:bodyPr/>
          <a:lstStyle/>
          <a:p>
            <a:r>
              <a:rPr lang="ja-JP" altLang="en-US" dirty="0"/>
              <a:t>マーケットアプローチ手法</a:t>
            </a:r>
          </a:p>
        </p:txBody>
      </p:sp>
      <p:sp>
        <p:nvSpPr>
          <p:cNvPr id="2" name="タイトル 1">
            <a:extLst>
              <a:ext uri="{FF2B5EF4-FFF2-40B4-BE49-F238E27FC236}">
                <a16:creationId xmlns:a16="http://schemas.microsoft.com/office/drawing/2014/main" id="{3E0CFB3F-E86C-5A1B-74AE-F5E9841ADF7D}"/>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6" name="正方形/長方形 5">
            <a:extLst>
              <a:ext uri="{FF2B5EF4-FFF2-40B4-BE49-F238E27FC236}">
                <a16:creationId xmlns:a16="http://schemas.microsoft.com/office/drawing/2014/main" id="{0B522154-54BC-069E-6DED-CF3DD69F7D82}"/>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7" name="直線コネクタ 6">
            <a:extLst>
              <a:ext uri="{FF2B5EF4-FFF2-40B4-BE49-F238E27FC236}">
                <a16:creationId xmlns:a16="http://schemas.microsoft.com/office/drawing/2014/main" id="{9C394CE8-44C8-4356-D84C-934A777C59A5}"/>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657059F5-8047-CA65-A572-6E63BBCBD209}"/>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類似会社</a:t>
            </a:r>
            <a:br>
              <a:rPr lang="en-US" altLang="zh-TW" b="1" spc="70" dirty="0">
                <a:solidFill>
                  <a:schemeClr val="bg1"/>
                </a:solidFill>
                <a:latin typeface="+mj-ea"/>
                <a:ea typeface="+mj-ea"/>
              </a:rPr>
            </a:br>
            <a:r>
              <a:rPr lang="zh-TW" altLang="en-US" b="1" spc="70" dirty="0">
                <a:solidFill>
                  <a:schemeClr val="bg1"/>
                </a:solidFill>
                <a:latin typeface="+mj-ea"/>
                <a:ea typeface="+mj-ea"/>
              </a:rPr>
              <a:t>比準法</a:t>
            </a:r>
          </a:p>
        </p:txBody>
      </p:sp>
      <p:sp>
        <p:nvSpPr>
          <p:cNvPr id="21" name="正方形/長方形 20">
            <a:extLst>
              <a:ext uri="{FF2B5EF4-FFF2-40B4-BE49-F238E27FC236}">
                <a16:creationId xmlns:a16="http://schemas.microsoft.com/office/drawing/2014/main" id="{2C8922D6-174D-F619-FCFA-16D864F3CD53}"/>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FDD4B397-7DA4-D8AE-2123-DA4AD0F2F074}"/>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CE4B4AD9-0850-5A10-3C27-D501B0B22476}"/>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類似業種</a:t>
            </a:r>
            <a:br>
              <a:rPr lang="en-US" altLang="zh-TW" b="1" spc="70" dirty="0">
                <a:solidFill>
                  <a:schemeClr val="bg1"/>
                </a:solidFill>
                <a:latin typeface="+mj-ea"/>
                <a:ea typeface="+mj-ea"/>
              </a:rPr>
            </a:br>
            <a:r>
              <a:rPr lang="zh-TW" altLang="en-US" b="1" spc="70" dirty="0">
                <a:solidFill>
                  <a:schemeClr val="bg1"/>
                </a:solidFill>
                <a:latin typeface="+mj-ea"/>
                <a:ea typeface="+mj-ea"/>
              </a:rPr>
              <a:t>比準法</a:t>
            </a:r>
          </a:p>
        </p:txBody>
      </p:sp>
      <p:sp>
        <p:nvSpPr>
          <p:cNvPr id="24" name="正方形/長方形 23">
            <a:extLst>
              <a:ext uri="{FF2B5EF4-FFF2-40B4-BE49-F238E27FC236}">
                <a16:creationId xmlns:a16="http://schemas.microsoft.com/office/drawing/2014/main" id="{FCAB0D66-B4CD-D793-2E0D-C60E09885A21}"/>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5" name="テキスト ボックス 24">
            <a:extLst>
              <a:ext uri="{FF2B5EF4-FFF2-40B4-BE49-F238E27FC236}">
                <a16:creationId xmlns:a16="http://schemas.microsoft.com/office/drawing/2014/main" id="{24041A67-4E50-4034-0EA0-E71660401697}"/>
              </a:ext>
            </a:extLst>
          </p:cNvPr>
          <p:cNvSpPr txBox="1"/>
          <p:nvPr/>
        </p:nvSpPr>
        <p:spPr>
          <a:xfrm>
            <a:off x="3151381" y="1571719"/>
            <a:ext cx="6732000" cy="1246239"/>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株式市場における株価を基準に株式価値を算定する手法</a:t>
            </a:r>
            <a:endParaRPr lang="en-US" altLang="ja-JP" dirty="0"/>
          </a:p>
          <a:p>
            <a:r>
              <a:rPr lang="ja-JP" altLang="en-US" sz="1200" b="0" dirty="0">
                <a:solidFill>
                  <a:schemeClr val="tx1"/>
                </a:solidFill>
                <a:latin typeface="+mn-ea"/>
                <a:ea typeface="+mn-ea"/>
              </a:rPr>
              <a:t>この簿価純資産価格法は、算定プロセス自体は非常に簡単であるものの、帳簿価額は原則として取得原価に基づいているため、現時点での実質的な価値を正確に反映しているとは限りません。したがって、実際の株式取引目的で直接採用される機会は少なく、主に重要性の低い子会社株式の評価などで用いられています。</a:t>
            </a:r>
          </a:p>
        </p:txBody>
      </p:sp>
      <p:sp>
        <p:nvSpPr>
          <p:cNvPr id="27" name="テキスト ボックス 26">
            <a:extLst>
              <a:ext uri="{FF2B5EF4-FFF2-40B4-BE49-F238E27FC236}">
                <a16:creationId xmlns:a16="http://schemas.microsoft.com/office/drawing/2014/main" id="{CA54A0E5-9F4A-80E6-C8A8-90D1D256C35C}"/>
              </a:ext>
            </a:extLst>
          </p:cNvPr>
          <p:cNvSpPr txBox="1"/>
          <p:nvPr/>
        </p:nvSpPr>
        <p:spPr>
          <a:xfrm>
            <a:off x="3151381" y="5426417"/>
            <a:ext cx="6732000" cy="1243161"/>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規模・業種が類似する企業の株価指標（倍率）をもとに、</a:t>
            </a:r>
            <a:br>
              <a:rPr lang="en-US" altLang="ja-JP" dirty="0"/>
            </a:br>
            <a:r>
              <a:rPr lang="ja-JP" altLang="en-US" dirty="0"/>
              <a:t>価値を算定する手法</a:t>
            </a:r>
            <a:br>
              <a:rPr lang="en-US" altLang="ja-JP" dirty="0"/>
            </a:br>
            <a:r>
              <a:rPr lang="ja-JP" altLang="en-US" sz="1200" b="0" dirty="0">
                <a:solidFill>
                  <a:schemeClr val="tx1"/>
                </a:solidFill>
                <a:latin typeface="+mn-ea"/>
                <a:ea typeface="+mn-ea"/>
              </a:rPr>
              <a:t>具体的には株価・利益・純資産などをベンチマークとします。基本的な考え方は類似業種比準法と同様ですが、適用にあたっては、比較対象となる類似会社を複数選定できることが前提となります。実務上は</a:t>
            </a:r>
            <a:r>
              <a:rPr lang="en-US" altLang="ja-JP" sz="1200" b="0" dirty="0">
                <a:solidFill>
                  <a:schemeClr val="tx1"/>
                </a:solidFill>
                <a:latin typeface="+mn-ea"/>
                <a:ea typeface="+mn-ea"/>
              </a:rPr>
              <a:t>EV/EBITDA</a:t>
            </a:r>
            <a:r>
              <a:rPr lang="ja-JP" altLang="en-US" sz="1200" b="0" dirty="0">
                <a:solidFill>
                  <a:schemeClr val="tx1"/>
                </a:solidFill>
                <a:latin typeface="+mn-ea"/>
                <a:ea typeface="+mn-ea"/>
              </a:rPr>
              <a:t>倍率をベンチマークとする場合が多い。</a:t>
            </a:r>
          </a:p>
        </p:txBody>
      </p:sp>
      <p:cxnSp>
        <p:nvCxnSpPr>
          <p:cNvPr id="28" name="直線コネクタ 27">
            <a:extLst>
              <a:ext uri="{FF2B5EF4-FFF2-40B4-BE49-F238E27FC236}">
                <a16:creationId xmlns:a16="http://schemas.microsoft.com/office/drawing/2014/main" id="{035F5E87-13FE-5024-4F37-FA142379701F}"/>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9" name="正方形/長方形 28">
            <a:extLst>
              <a:ext uri="{FF2B5EF4-FFF2-40B4-BE49-F238E27FC236}">
                <a16:creationId xmlns:a16="http://schemas.microsoft.com/office/drawing/2014/main" id="{32B7C0E8-670D-7D47-5756-3AE01EB81B9B}"/>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市場価額法</a:t>
            </a:r>
          </a:p>
        </p:txBody>
      </p:sp>
      <p:sp>
        <p:nvSpPr>
          <p:cNvPr id="10" name="テキスト ボックス 9">
            <a:extLst>
              <a:ext uri="{FF2B5EF4-FFF2-40B4-BE49-F238E27FC236}">
                <a16:creationId xmlns:a16="http://schemas.microsoft.com/office/drawing/2014/main" id="{A1CDF31B-F81F-FCA5-E5E1-E1B9EC60724E}"/>
              </a:ext>
            </a:extLst>
          </p:cNvPr>
          <p:cNvSpPr txBox="1"/>
          <p:nvPr/>
        </p:nvSpPr>
        <p:spPr>
          <a:xfrm>
            <a:off x="3151381" y="3515833"/>
            <a:ext cx="6732000" cy="1319913"/>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国税庁が公開する業種ごとの株価指標（配当・利益・純資産）と比準し、株式価値を算定する手法</a:t>
            </a:r>
          </a:p>
          <a:p>
            <a:r>
              <a:rPr lang="ja-JP" altLang="en-US" sz="1200" b="0" dirty="0">
                <a:solidFill>
                  <a:schemeClr val="tx1"/>
                </a:solidFill>
                <a:latin typeface="+mn-ea"/>
                <a:ea typeface="+mn-ea"/>
              </a:rPr>
              <a:t>主に相続税や贈与税の算定（相続税評価通達）に用いられます。相続税の評価通達に定められた未上場株式の算定手法であるため、相続対策や同族間での株式移転には適していますが、独立した第三者間の取引価格を算定する目的には適していません。</a:t>
            </a:r>
          </a:p>
        </p:txBody>
      </p:sp>
    </p:spTree>
    <p:extLst>
      <p:ext uri="{BB962C8B-B14F-4D97-AF65-F5344CB8AC3E}">
        <p14:creationId xmlns:p14="http://schemas.microsoft.com/office/powerpoint/2010/main" val="551139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正方形/長方形 165">
            <a:extLst>
              <a:ext uri="{FF2B5EF4-FFF2-40B4-BE49-F238E27FC236}">
                <a16:creationId xmlns:a16="http://schemas.microsoft.com/office/drawing/2014/main" id="{03CC4F83-6866-8579-99BE-7566D7AEC884}"/>
              </a:ext>
            </a:extLst>
          </p:cNvPr>
          <p:cNvSpPr/>
          <p:nvPr/>
        </p:nvSpPr>
        <p:spPr>
          <a:xfrm>
            <a:off x="5597525" y="5186363"/>
            <a:ext cx="4644000" cy="165796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lstStyle/>
          <a:p>
            <a:pPr algn="ctr">
              <a:buClr>
                <a:schemeClr val="tx2"/>
              </a:buClr>
              <a:buSzPct val="80000"/>
            </a:pPr>
            <a:endParaRPr lang="ja-JP" altLang="en-US" sz="2000" b="1" dirty="0">
              <a:solidFill>
                <a:schemeClr val="tx1"/>
              </a:solidFill>
              <a:latin typeface="+mj-ea"/>
              <a:ea typeface="+mj-ea"/>
            </a:endParaRPr>
          </a:p>
        </p:txBody>
      </p:sp>
      <p:sp>
        <p:nvSpPr>
          <p:cNvPr id="297" name="正方形/長方形 296">
            <a:extLst>
              <a:ext uri="{FF2B5EF4-FFF2-40B4-BE49-F238E27FC236}">
                <a16:creationId xmlns:a16="http://schemas.microsoft.com/office/drawing/2014/main" id="{96461BA3-F494-2270-997B-222009AA2946}"/>
              </a:ext>
            </a:extLst>
          </p:cNvPr>
          <p:cNvSpPr/>
          <p:nvPr/>
        </p:nvSpPr>
        <p:spPr>
          <a:xfrm>
            <a:off x="5705525" y="6136768"/>
            <a:ext cx="864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対象会社の</a:t>
            </a:r>
          </a:p>
          <a:p>
            <a:pPr algn="ctr">
              <a:lnSpc>
                <a:spcPct val="110000"/>
              </a:lnSpc>
            </a:pPr>
            <a:r>
              <a:rPr kumimoji="1" lang="ja-JP" altLang="en-US" sz="1000" b="1" spc="30" dirty="0">
                <a:solidFill>
                  <a:schemeClr val="tx1"/>
                </a:solidFill>
                <a:latin typeface="+mj-ea"/>
                <a:ea typeface="+mj-ea"/>
              </a:rPr>
              <a:t>正常</a:t>
            </a:r>
            <a:r>
              <a:rPr kumimoji="1" lang="en-US" altLang="ja-JP" sz="1000" b="1" spc="30" dirty="0">
                <a:solidFill>
                  <a:schemeClr val="tx1"/>
                </a:solidFill>
                <a:latin typeface="+mj-ea"/>
                <a:ea typeface="+mj-ea"/>
              </a:rPr>
              <a:t>EBITDA</a:t>
            </a:r>
          </a:p>
        </p:txBody>
      </p:sp>
      <p:sp>
        <p:nvSpPr>
          <p:cNvPr id="172" name="正方形/長方形 171">
            <a:extLst>
              <a:ext uri="{FF2B5EF4-FFF2-40B4-BE49-F238E27FC236}">
                <a16:creationId xmlns:a16="http://schemas.microsoft.com/office/drawing/2014/main" id="{B86CD260-19BA-2413-34ED-83D71FDE91CB}"/>
              </a:ext>
            </a:extLst>
          </p:cNvPr>
          <p:cNvSpPr/>
          <p:nvPr/>
        </p:nvSpPr>
        <p:spPr>
          <a:xfrm>
            <a:off x="5597525"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A</a:t>
            </a:r>
            <a:r>
              <a:rPr lang="ja-JP" altLang="en-US" sz="1050" b="1" spc="70" dirty="0">
                <a:solidFill>
                  <a:schemeClr val="tx1"/>
                </a:solidFill>
                <a:latin typeface="+mj-ea"/>
                <a:ea typeface="+mj-ea"/>
              </a:rPr>
              <a:t>社</a:t>
            </a:r>
          </a:p>
        </p:txBody>
      </p:sp>
      <p:sp>
        <p:nvSpPr>
          <p:cNvPr id="199" name="正方形/長方形 198">
            <a:extLst>
              <a:ext uri="{FF2B5EF4-FFF2-40B4-BE49-F238E27FC236}">
                <a16:creationId xmlns:a16="http://schemas.microsoft.com/office/drawing/2014/main" id="{0C886ADF-B10B-217F-C8C6-8ACFF7DFEEAA}"/>
              </a:ext>
            </a:extLst>
          </p:cNvPr>
          <p:cNvSpPr/>
          <p:nvPr/>
        </p:nvSpPr>
        <p:spPr>
          <a:xfrm>
            <a:off x="6856415"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B</a:t>
            </a:r>
            <a:r>
              <a:rPr lang="ja-JP" altLang="en-US" sz="1050" b="1" spc="70" dirty="0">
                <a:solidFill>
                  <a:schemeClr val="tx1"/>
                </a:solidFill>
                <a:latin typeface="+mj-ea"/>
                <a:ea typeface="+mj-ea"/>
              </a:rPr>
              <a:t>社</a:t>
            </a:r>
          </a:p>
        </p:txBody>
      </p:sp>
      <p:sp>
        <p:nvSpPr>
          <p:cNvPr id="202" name="正方形/長方形 201">
            <a:extLst>
              <a:ext uri="{FF2B5EF4-FFF2-40B4-BE49-F238E27FC236}">
                <a16:creationId xmlns:a16="http://schemas.microsoft.com/office/drawing/2014/main" id="{11AC1A58-55E1-BE9B-8F5C-95502057900A}"/>
              </a:ext>
            </a:extLst>
          </p:cNvPr>
          <p:cNvSpPr/>
          <p:nvPr/>
        </p:nvSpPr>
        <p:spPr>
          <a:xfrm>
            <a:off x="8320866"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Z</a:t>
            </a:r>
            <a:r>
              <a:rPr lang="ja-JP" altLang="en-US" sz="1050" b="1" spc="70" dirty="0">
                <a:solidFill>
                  <a:schemeClr val="tx1"/>
                </a:solidFill>
                <a:latin typeface="+mj-ea"/>
                <a:ea typeface="+mj-ea"/>
              </a:rPr>
              <a:t>社</a:t>
            </a:r>
          </a:p>
        </p:txBody>
      </p:sp>
      <p:sp>
        <p:nvSpPr>
          <p:cNvPr id="2" name="タイトル 1">
            <a:extLst>
              <a:ext uri="{FF2B5EF4-FFF2-40B4-BE49-F238E27FC236}">
                <a16:creationId xmlns:a16="http://schemas.microsoft.com/office/drawing/2014/main" id="{208B4871-0E31-D7A0-AAEF-20C812D18393}"/>
              </a:ext>
            </a:extLst>
          </p:cNvPr>
          <p:cNvSpPr>
            <a:spLocks noGrp="1"/>
          </p:cNvSpPr>
          <p:nvPr>
            <p:ph type="ctrTitle"/>
          </p:nvPr>
        </p:nvSpPr>
        <p:spPr>
          <a:xfrm>
            <a:off x="341313" y="180653"/>
            <a:ext cx="7799917" cy="338554"/>
          </a:xfrm>
        </p:spPr>
        <p:txBody>
          <a:bodyPr/>
          <a:lstStyle/>
          <a:p>
            <a:r>
              <a:rPr lang="zh-TW" altLang="en-US" dirty="0"/>
              <a:t>類似会社比準法</a:t>
            </a:r>
            <a:r>
              <a:rPr lang="ja-JP" altLang="en-US" sz="1800" dirty="0"/>
              <a:t>［</a:t>
            </a:r>
            <a:r>
              <a:rPr lang="en-US" altLang="ja-JP" sz="1800" dirty="0"/>
              <a:t>EV/EBITDA</a:t>
            </a:r>
            <a:r>
              <a:rPr lang="ja-JP" altLang="en-US" sz="1800" dirty="0"/>
              <a:t>マルチプル法］</a:t>
            </a:r>
          </a:p>
        </p:txBody>
      </p:sp>
      <p:sp>
        <p:nvSpPr>
          <p:cNvPr id="3" name="タイトル 1">
            <a:extLst>
              <a:ext uri="{FF2B5EF4-FFF2-40B4-BE49-F238E27FC236}">
                <a16:creationId xmlns:a16="http://schemas.microsoft.com/office/drawing/2014/main" id="{76D19751-4781-0225-99AB-38E338C98DC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7" name="字幕 6">
            <a:extLst>
              <a:ext uri="{FF2B5EF4-FFF2-40B4-BE49-F238E27FC236}">
                <a16:creationId xmlns:a16="http://schemas.microsoft.com/office/drawing/2014/main" id="{E02F64AE-849F-594D-8402-02EB672E0CE0}"/>
              </a:ext>
            </a:extLst>
          </p:cNvPr>
          <p:cNvSpPr>
            <a:spLocks noGrp="1"/>
          </p:cNvSpPr>
          <p:nvPr>
            <p:ph type="subTitle" idx="1"/>
          </p:nvPr>
        </p:nvSpPr>
        <p:spPr>
          <a:xfrm>
            <a:off x="460675" y="830046"/>
            <a:ext cx="9781875" cy="243913"/>
          </a:xfrm>
        </p:spPr>
        <p:txBody>
          <a:bodyPr/>
          <a:lstStyle/>
          <a:p>
            <a:r>
              <a:rPr lang="ja-JP" altLang="en-US" spc="0" dirty="0"/>
              <a:t>規模・業種が類似する企業の株価指標（倍率）をもとに、価値を算定します。「事業価値」の算定手法は以下のとおりです</a:t>
            </a:r>
          </a:p>
        </p:txBody>
      </p:sp>
      <p:grpSp>
        <p:nvGrpSpPr>
          <p:cNvPr id="164" name="グループ化 163">
            <a:extLst>
              <a:ext uri="{FF2B5EF4-FFF2-40B4-BE49-F238E27FC236}">
                <a16:creationId xmlns:a16="http://schemas.microsoft.com/office/drawing/2014/main" id="{5650B9BE-EA9D-90B7-7842-B881F393C529}"/>
              </a:ext>
            </a:extLst>
          </p:cNvPr>
          <p:cNvGrpSpPr/>
          <p:nvPr/>
        </p:nvGrpSpPr>
        <p:grpSpPr>
          <a:xfrm>
            <a:off x="916257" y="1675201"/>
            <a:ext cx="3744905" cy="3565033"/>
            <a:chOff x="916257" y="1598847"/>
            <a:chExt cx="3744905" cy="3565033"/>
          </a:xfrm>
        </p:grpSpPr>
        <p:sp>
          <p:nvSpPr>
            <p:cNvPr id="27" name="正方形/長方形 26">
              <a:extLst>
                <a:ext uri="{FF2B5EF4-FFF2-40B4-BE49-F238E27FC236}">
                  <a16:creationId xmlns:a16="http://schemas.microsoft.com/office/drawing/2014/main" id="{410332A0-79A1-54BA-D9C4-750BE3AEC354}"/>
                </a:ext>
              </a:extLst>
            </p:cNvPr>
            <p:cNvSpPr/>
            <p:nvPr/>
          </p:nvSpPr>
          <p:spPr>
            <a:xfrm>
              <a:off x="2481996" y="1598847"/>
              <a:ext cx="1566261" cy="2081613"/>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684000" rIns="0" bIns="0" rtlCol="0" anchor="t" anchorCtr="0"/>
            <a:lstStyle/>
            <a:p>
              <a:pPr algn="ctr"/>
              <a:r>
                <a:rPr kumimoji="1" lang="ja-JP" altLang="en-US" sz="1400" b="1" dirty="0">
                  <a:solidFill>
                    <a:schemeClr val="tx1"/>
                  </a:solidFill>
                  <a:latin typeface="+mj-ea"/>
                  <a:ea typeface="+mj-ea"/>
                </a:rPr>
                <a:t>有利子負債</a:t>
              </a:r>
            </a:p>
          </p:txBody>
        </p:sp>
        <p:sp>
          <p:nvSpPr>
            <p:cNvPr id="31" name="正方形/長方形 30">
              <a:extLst>
                <a:ext uri="{FF2B5EF4-FFF2-40B4-BE49-F238E27FC236}">
                  <a16:creationId xmlns:a16="http://schemas.microsoft.com/office/drawing/2014/main" id="{9EC2EF05-046E-7FB3-7B6D-3C56716FFBD8}"/>
                </a:ext>
              </a:extLst>
            </p:cNvPr>
            <p:cNvSpPr/>
            <p:nvPr/>
          </p:nvSpPr>
          <p:spPr>
            <a:xfrm>
              <a:off x="916257" y="1598847"/>
              <a:ext cx="1566261" cy="1493625"/>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nchorCtr="0"/>
            <a:lstStyle/>
            <a:p>
              <a:pPr algn="ctr"/>
              <a:r>
                <a:rPr kumimoji="1" lang="zh-TW" altLang="en-US" sz="1400" b="1" dirty="0">
                  <a:solidFill>
                    <a:schemeClr val="tx1"/>
                  </a:solidFill>
                  <a:latin typeface="+mj-ea"/>
                  <a:ea typeface="+mj-ea"/>
                </a:rPr>
                <a:t>非事業用資産</a:t>
              </a:r>
            </a:p>
          </p:txBody>
        </p:sp>
        <p:sp>
          <p:nvSpPr>
            <p:cNvPr id="32" name="正方形/長方形 31">
              <a:extLst>
                <a:ext uri="{FF2B5EF4-FFF2-40B4-BE49-F238E27FC236}">
                  <a16:creationId xmlns:a16="http://schemas.microsoft.com/office/drawing/2014/main" id="{E355CAC9-C42A-23C8-F3B6-54E8DCA65AFA}"/>
                </a:ext>
              </a:extLst>
            </p:cNvPr>
            <p:cNvSpPr/>
            <p:nvPr/>
          </p:nvSpPr>
          <p:spPr>
            <a:xfrm>
              <a:off x="2481996" y="3693686"/>
              <a:ext cx="1566261" cy="1470194"/>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株式価値</a:t>
              </a:r>
            </a:p>
          </p:txBody>
        </p:sp>
        <p:sp>
          <p:nvSpPr>
            <p:cNvPr id="33" name="正方形/長方形 32">
              <a:extLst>
                <a:ext uri="{FF2B5EF4-FFF2-40B4-BE49-F238E27FC236}">
                  <a16:creationId xmlns:a16="http://schemas.microsoft.com/office/drawing/2014/main" id="{98478B84-7B65-3B4B-F58C-546C8AA8FB5A}"/>
                </a:ext>
              </a:extLst>
            </p:cNvPr>
            <p:cNvSpPr/>
            <p:nvPr/>
          </p:nvSpPr>
          <p:spPr>
            <a:xfrm>
              <a:off x="916257" y="3092472"/>
              <a:ext cx="1566261" cy="2071407"/>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事業価値</a:t>
              </a:r>
            </a:p>
          </p:txBody>
        </p:sp>
        <p:cxnSp>
          <p:nvCxnSpPr>
            <p:cNvPr id="36" name="直線コネクタ 35">
              <a:extLst>
                <a:ext uri="{FF2B5EF4-FFF2-40B4-BE49-F238E27FC236}">
                  <a16:creationId xmlns:a16="http://schemas.microsoft.com/office/drawing/2014/main" id="{2D597997-081E-C667-5E58-6EDBA7AB3FE1}"/>
                </a:ext>
              </a:extLst>
            </p:cNvPr>
            <p:cNvCxnSpPr>
              <a:cxnSpLocks/>
            </p:cNvCxnSpPr>
            <p:nvPr/>
          </p:nvCxnSpPr>
          <p:spPr>
            <a:xfrm>
              <a:off x="2490920" y="3687073"/>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0E112968-CBBC-8B87-D439-E34DD3DE503A}"/>
                </a:ext>
              </a:extLst>
            </p:cNvPr>
            <p:cNvCxnSpPr>
              <a:cxnSpLocks/>
            </p:cNvCxnSpPr>
            <p:nvPr/>
          </p:nvCxnSpPr>
          <p:spPr>
            <a:xfrm>
              <a:off x="931334" y="5163879"/>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67" name="グループ化 66">
              <a:extLst>
                <a:ext uri="{FF2B5EF4-FFF2-40B4-BE49-F238E27FC236}">
                  <a16:creationId xmlns:a16="http://schemas.microsoft.com/office/drawing/2014/main" id="{C64227E6-1FBB-30FA-2AE5-443658448513}"/>
                </a:ext>
              </a:extLst>
            </p:cNvPr>
            <p:cNvGrpSpPr/>
            <p:nvPr/>
          </p:nvGrpSpPr>
          <p:grpSpPr>
            <a:xfrm>
              <a:off x="4215974" y="3695700"/>
              <a:ext cx="246221" cy="1468179"/>
              <a:chOff x="4215974" y="3695700"/>
              <a:chExt cx="246221" cy="1468179"/>
            </a:xfrm>
          </p:grpSpPr>
          <p:cxnSp>
            <p:nvCxnSpPr>
              <p:cNvPr id="39" name="直線矢印コネクタ 38">
                <a:extLst>
                  <a:ext uri="{FF2B5EF4-FFF2-40B4-BE49-F238E27FC236}">
                    <a16:creationId xmlns:a16="http://schemas.microsoft.com/office/drawing/2014/main" id="{C4488DB8-0279-899A-1AA9-06544388160D}"/>
                  </a:ext>
                </a:extLst>
              </p:cNvPr>
              <p:cNvCxnSpPr>
                <a:cxnSpLocks/>
              </p:cNvCxnSpPr>
              <p:nvPr/>
            </p:nvCxnSpPr>
            <p:spPr>
              <a:xfrm>
                <a:off x="4347551" y="3695700"/>
                <a:ext cx="0" cy="1468179"/>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6AC0FF03-EB15-3329-68BC-1CFFCFF67762}"/>
                  </a:ext>
                </a:extLst>
              </p:cNvPr>
              <p:cNvSpPr txBox="1"/>
              <p:nvPr/>
            </p:nvSpPr>
            <p:spPr>
              <a:xfrm>
                <a:off x="4215974" y="4024868"/>
                <a:ext cx="246221" cy="847943"/>
              </a:xfrm>
              <a:prstGeom prst="rect">
                <a:avLst/>
              </a:prstGeom>
              <a:solidFill>
                <a:schemeClr val="bg1"/>
              </a:solidFill>
            </p:spPr>
            <p:txBody>
              <a:bodyPr vert="eaVert" wrap="none" lIns="0" tIns="0" rIns="0" bIns="0" rtlCol="0" anchor="ctr">
                <a:noAutofit/>
              </a:bodyPr>
              <a:lstStyle/>
              <a:p>
                <a:pPr algn="ctr"/>
                <a:r>
                  <a:rPr kumimoji="1" lang="ja-JP" altLang="en-US" sz="1500" b="1" spc="30" dirty="0">
                    <a:solidFill>
                      <a:schemeClr val="accent4"/>
                    </a:solidFill>
                    <a:latin typeface="+mj-ea"/>
                    <a:ea typeface="+mj-ea"/>
                  </a:rPr>
                  <a:t>株式価値</a:t>
                </a:r>
              </a:p>
            </p:txBody>
          </p:sp>
        </p:grpSp>
        <p:sp>
          <p:nvSpPr>
            <p:cNvPr id="54" name="正方形/長方形 53">
              <a:extLst>
                <a:ext uri="{FF2B5EF4-FFF2-40B4-BE49-F238E27FC236}">
                  <a16:creationId xmlns:a16="http://schemas.microsoft.com/office/drawing/2014/main" id="{B42CE94C-AA1E-7529-F74D-3E36C5E70646}"/>
                </a:ext>
              </a:extLst>
            </p:cNvPr>
            <p:cNvSpPr/>
            <p:nvPr/>
          </p:nvSpPr>
          <p:spPr>
            <a:xfrm>
              <a:off x="1004504" y="2091128"/>
              <a:ext cx="1404000" cy="8105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必要水準を上回る現預金</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事業目的以外の投資有価証券</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遊休不動産など</a:t>
              </a:r>
            </a:p>
          </p:txBody>
        </p:sp>
        <p:sp>
          <p:nvSpPr>
            <p:cNvPr id="55" name="正方形/長方形 54">
              <a:extLst>
                <a:ext uri="{FF2B5EF4-FFF2-40B4-BE49-F238E27FC236}">
                  <a16:creationId xmlns:a16="http://schemas.microsoft.com/office/drawing/2014/main" id="{623E3CCD-6892-D2DA-8733-3CBF88BBC0A9}"/>
                </a:ext>
              </a:extLst>
            </p:cNvPr>
            <p:cNvSpPr/>
            <p:nvPr/>
          </p:nvSpPr>
          <p:spPr>
            <a:xfrm>
              <a:off x="2743126" y="2575193"/>
              <a:ext cx="1044000" cy="68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借入金</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社債</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リース債務　など</a:t>
              </a:r>
            </a:p>
          </p:txBody>
        </p:sp>
      </p:grpSp>
      <p:sp>
        <p:nvSpPr>
          <p:cNvPr id="89" name="正方形/長方形 88">
            <a:extLst>
              <a:ext uri="{FF2B5EF4-FFF2-40B4-BE49-F238E27FC236}">
                <a16:creationId xmlns:a16="http://schemas.microsoft.com/office/drawing/2014/main" id="{8A2E3665-74C0-C925-0E6C-676D8DC2067D}"/>
              </a:ext>
            </a:extLst>
          </p:cNvPr>
          <p:cNvSpPr/>
          <p:nvPr/>
        </p:nvSpPr>
        <p:spPr>
          <a:xfrm>
            <a:off x="5597525" y="1673410"/>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類似会社の平均</a:t>
            </a:r>
            <a:r>
              <a:rPr lang="en-US" altLang="ja-JP" sz="1400" b="1" spc="70" dirty="0">
                <a:solidFill>
                  <a:schemeClr val="bg1"/>
                </a:solidFill>
                <a:latin typeface="+mj-ea"/>
                <a:ea typeface="+mj-ea"/>
              </a:rPr>
              <a:t>EV</a:t>
            </a:r>
            <a:r>
              <a:rPr lang="ja-JP" altLang="en-US" sz="1400" b="1" spc="70" dirty="0">
                <a:solidFill>
                  <a:schemeClr val="bg1"/>
                </a:solidFill>
                <a:latin typeface="+mj-ea"/>
                <a:ea typeface="+mj-ea"/>
              </a:rPr>
              <a:t>／</a:t>
            </a:r>
            <a:r>
              <a:rPr lang="en-US" altLang="ja-JP" sz="1400" b="1" spc="70" dirty="0">
                <a:solidFill>
                  <a:schemeClr val="bg1"/>
                </a:solidFill>
                <a:latin typeface="+mj-ea"/>
                <a:ea typeface="+mj-ea"/>
              </a:rPr>
              <a:t>EBITDA</a:t>
            </a:r>
            <a:r>
              <a:rPr lang="ja-JP" altLang="en-US" sz="1400" b="1" spc="70" dirty="0">
                <a:solidFill>
                  <a:schemeClr val="bg1"/>
                </a:solidFill>
                <a:latin typeface="+mj-ea"/>
                <a:ea typeface="+mj-ea"/>
              </a:rPr>
              <a:t>倍率を算出</a:t>
            </a:r>
          </a:p>
        </p:txBody>
      </p:sp>
      <p:sp>
        <p:nvSpPr>
          <p:cNvPr id="115" name="テキスト ボックス 114">
            <a:extLst>
              <a:ext uri="{FF2B5EF4-FFF2-40B4-BE49-F238E27FC236}">
                <a16:creationId xmlns:a16="http://schemas.microsoft.com/office/drawing/2014/main" id="{D29CB2EB-B97C-C724-BF5E-E2585F0A2278}"/>
              </a:ext>
            </a:extLst>
          </p:cNvPr>
          <p:cNvSpPr txBox="1"/>
          <p:nvPr/>
        </p:nvSpPr>
        <p:spPr>
          <a:xfrm>
            <a:off x="5597525" y="1222172"/>
            <a:ext cx="3033436"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事業価値の算定手法 </a:t>
            </a:r>
          </a:p>
        </p:txBody>
      </p:sp>
      <p:sp>
        <p:nvSpPr>
          <p:cNvPr id="165" name="二等辺三角形 164">
            <a:extLst>
              <a:ext uri="{FF2B5EF4-FFF2-40B4-BE49-F238E27FC236}">
                <a16:creationId xmlns:a16="http://schemas.microsoft.com/office/drawing/2014/main" id="{63EA99C1-821B-F352-C703-2AF2CAD63DC6}"/>
              </a:ext>
            </a:extLst>
          </p:cNvPr>
          <p:cNvSpPr/>
          <p:nvPr/>
        </p:nvSpPr>
        <p:spPr>
          <a:xfrm rot="10800000">
            <a:off x="7259248" y="4641850"/>
            <a:ext cx="1320555" cy="352148"/>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67" name="直線コネクタ 166">
            <a:extLst>
              <a:ext uri="{FF2B5EF4-FFF2-40B4-BE49-F238E27FC236}">
                <a16:creationId xmlns:a16="http://schemas.microsoft.com/office/drawing/2014/main" id="{18C01953-0AA1-165B-40FD-A24851CFCDFF}"/>
              </a:ext>
            </a:extLst>
          </p:cNvPr>
          <p:cNvCxnSpPr>
            <a:cxnSpLocks/>
          </p:cNvCxnSpPr>
          <p:nvPr/>
        </p:nvCxnSpPr>
        <p:spPr>
          <a:xfrm>
            <a:off x="5597525" y="5186363"/>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4" name="正方形/長方形 183">
            <a:extLst>
              <a:ext uri="{FF2B5EF4-FFF2-40B4-BE49-F238E27FC236}">
                <a16:creationId xmlns:a16="http://schemas.microsoft.com/office/drawing/2014/main" id="{72411AF0-05E0-23B4-CE5B-3227EBA9EA40}"/>
              </a:ext>
            </a:extLst>
          </p:cNvPr>
          <p:cNvSpPr>
            <a:spLocks/>
          </p:cNvSpPr>
          <p:nvPr/>
        </p:nvSpPr>
        <p:spPr>
          <a:xfrm>
            <a:off x="5705525"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200" name="正方形/長方形 199">
            <a:extLst>
              <a:ext uri="{FF2B5EF4-FFF2-40B4-BE49-F238E27FC236}">
                <a16:creationId xmlns:a16="http://schemas.microsoft.com/office/drawing/2014/main" id="{0D1648C3-A9FC-3D22-69F3-736DE710BBB1}"/>
              </a:ext>
            </a:extLst>
          </p:cNvPr>
          <p:cNvSpPr>
            <a:spLocks/>
          </p:cNvSpPr>
          <p:nvPr/>
        </p:nvSpPr>
        <p:spPr>
          <a:xfrm>
            <a:off x="6964415"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203" name="正方形/長方形 202">
            <a:extLst>
              <a:ext uri="{FF2B5EF4-FFF2-40B4-BE49-F238E27FC236}">
                <a16:creationId xmlns:a16="http://schemas.microsoft.com/office/drawing/2014/main" id="{51D8CE52-86DC-47E1-F7C1-422366DBB61D}"/>
              </a:ext>
            </a:extLst>
          </p:cNvPr>
          <p:cNvSpPr>
            <a:spLocks/>
          </p:cNvSpPr>
          <p:nvPr/>
        </p:nvSpPr>
        <p:spPr>
          <a:xfrm>
            <a:off x="8428866"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181" name="テキスト ボックス 180">
            <a:extLst>
              <a:ext uri="{FF2B5EF4-FFF2-40B4-BE49-F238E27FC236}">
                <a16:creationId xmlns:a16="http://schemas.microsoft.com/office/drawing/2014/main" id="{F65A308E-792F-3EF4-E138-F9DE4CD5A014}"/>
              </a:ext>
            </a:extLst>
          </p:cNvPr>
          <p:cNvSpPr txBox="1"/>
          <p:nvPr/>
        </p:nvSpPr>
        <p:spPr>
          <a:xfrm>
            <a:off x="5745921" y="3395842"/>
            <a:ext cx="3636000" cy="252000"/>
          </a:xfrm>
          <a:prstGeom prst="roundRect">
            <a:avLst>
              <a:gd name="adj" fmla="val 50000"/>
            </a:avLst>
          </a:prstGeom>
          <a:solidFill>
            <a:schemeClr val="accent2">
              <a:lumMod val="90000"/>
            </a:schemeClr>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1100" spc="0" dirty="0">
                <a:solidFill>
                  <a:schemeClr val="accent4"/>
                </a:solidFill>
                <a:latin typeface="+mj-lt"/>
              </a:rPr>
              <a:t>事業価値</a:t>
            </a:r>
            <a:r>
              <a:rPr lang="en-US" altLang="ja-JP" sz="1100" spc="0" dirty="0">
                <a:solidFill>
                  <a:schemeClr val="accent4"/>
                </a:solidFill>
                <a:latin typeface="+mj-lt"/>
              </a:rPr>
              <a:t>÷EBITDA</a:t>
            </a:r>
          </a:p>
        </p:txBody>
      </p:sp>
      <p:sp>
        <p:nvSpPr>
          <p:cNvPr id="204" name="正方形/長方形 203">
            <a:extLst>
              <a:ext uri="{FF2B5EF4-FFF2-40B4-BE49-F238E27FC236}">
                <a16:creationId xmlns:a16="http://schemas.microsoft.com/office/drawing/2014/main" id="{E1978CFD-175E-E0D8-2518-18B3F7EED184}"/>
              </a:ext>
            </a:extLst>
          </p:cNvPr>
          <p:cNvSpPr/>
          <p:nvPr/>
        </p:nvSpPr>
        <p:spPr>
          <a:xfrm>
            <a:off x="8043888" y="2682008"/>
            <a:ext cx="313504" cy="22775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ct val="110000"/>
              </a:lnSpc>
              <a:spcAft>
                <a:spcPts val="200"/>
              </a:spcAft>
              <a:buClr>
                <a:schemeClr val="tx2"/>
              </a:buClr>
              <a:buSzPct val="80000"/>
            </a:pPr>
            <a:r>
              <a:rPr lang="en-US" altLang="ja-JP" sz="1400" b="1" dirty="0">
                <a:solidFill>
                  <a:schemeClr val="tx1"/>
                </a:solidFill>
                <a:latin typeface="+mj-ea"/>
                <a:ea typeface="+mj-ea"/>
              </a:rPr>
              <a:t>…</a:t>
            </a:r>
            <a:endParaRPr lang="ja-JP" altLang="en-US" sz="1400" b="1" dirty="0">
              <a:solidFill>
                <a:schemeClr val="tx1"/>
              </a:solidFill>
              <a:latin typeface="+mj-ea"/>
              <a:ea typeface="+mj-ea"/>
            </a:endParaRPr>
          </a:p>
        </p:txBody>
      </p:sp>
      <p:sp>
        <p:nvSpPr>
          <p:cNvPr id="205" name="正方形/長方形 204">
            <a:extLst>
              <a:ext uri="{FF2B5EF4-FFF2-40B4-BE49-F238E27FC236}">
                <a16:creationId xmlns:a16="http://schemas.microsoft.com/office/drawing/2014/main" id="{EC266E99-9DE8-AC79-310C-DEAFE8550458}"/>
              </a:ext>
            </a:extLst>
          </p:cNvPr>
          <p:cNvSpPr/>
          <p:nvPr/>
        </p:nvSpPr>
        <p:spPr>
          <a:xfrm>
            <a:off x="8043888" y="3873921"/>
            <a:ext cx="313504" cy="22775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ct val="110000"/>
              </a:lnSpc>
              <a:spcAft>
                <a:spcPts val="200"/>
              </a:spcAft>
              <a:buClr>
                <a:schemeClr val="tx2"/>
              </a:buClr>
              <a:buSzPct val="80000"/>
            </a:pPr>
            <a:r>
              <a:rPr lang="en-US" altLang="ja-JP" sz="1400" b="1" dirty="0">
                <a:solidFill>
                  <a:schemeClr val="tx1"/>
                </a:solidFill>
                <a:latin typeface="+mj-ea"/>
                <a:ea typeface="+mj-ea"/>
              </a:rPr>
              <a:t>…</a:t>
            </a:r>
            <a:endParaRPr lang="ja-JP" altLang="en-US" sz="1400" b="1" dirty="0">
              <a:solidFill>
                <a:schemeClr val="tx1"/>
              </a:solidFill>
              <a:latin typeface="+mj-ea"/>
              <a:ea typeface="+mj-ea"/>
            </a:endParaRPr>
          </a:p>
        </p:txBody>
      </p:sp>
      <p:grpSp>
        <p:nvGrpSpPr>
          <p:cNvPr id="237" name="グループ化 236">
            <a:extLst>
              <a:ext uri="{FF2B5EF4-FFF2-40B4-BE49-F238E27FC236}">
                <a16:creationId xmlns:a16="http://schemas.microsoft.com/office/drawing/2014/main" id="{D3BBDAD1-B3D1-AC8C-DFE8-6774D787D2B3}"/>
              </a:ext>
            </a:extLst>
          </p:cNvPr>
          <p:cNvGrpSpPr/>
          <p:nvPr/>
        </p:nvGrpSpPr>
        <p:grpSpPr>
          <a:xfrm>
            <a:off x="5774347" y="2566365"/>
            <a:ext cx="870357" cy="650283"/>
            <a:chOff x="5774347" y="2960299"/>
            <a:chExt cx="870357" cy="650283"/>
          </a:xfrm>
        </p:grpSpPr>
        <p:sp>
          <p:nvSpPr>
            <p:cNvPr id="132" name="テキスト ボックス 131">
              <a:extLst>
                <a:ext uri="{FF2B5EF4-FFF2-40B4-BE49-F238E27FC236}">
                  <a16:creationId xmlns:a16="http://schemas.microsoft.com/office/drawing/2014/main" id="{8762C021-88C5-8C1A-D678-D29DCE6C1F50}"/>
                </a:ext>
              </a:extLst>
            </p:cNvPr>
            <p:cNvSpPr txBox="1"/>
            <p:nvPr/>
          </p:nvSpPr>
          <p:spPr>
            <a:xfrm>
              <a:off x="5774347"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140" name="正方形/長方形 139">
              <a:extLst>
                <a:ext uri="{FF2B5EF4-FFF2-40B4-BE49-F238E27FC236}">
                  <a16:creationId xmlns:a16="http://schemas.microsoft.com/office/drawing/2014/main" id="{3D67EF85-C56A-390F-0DA9-550EA42700AC}"/>
                </a:ext>
              </a:extLst>
            </p:cNvPr>
            <p:cNvSpPr/>
            <p:nvPr/>
          </p:nvSpPr>
          <p:spPr>
            <a:xfrm>
              <a:off x="5852295" y="3112101"/>
              <a:ext cx="216000" cy="3344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139" name="テキスト ボックス 138">
              <a:extLst>
                <a:ext uri="{FF2B5EF4-FFF2-40B4-BE49-F238E27FC236}">
                  <a16:creationId xmlns:a16="http://schemas.microsoft.com/office/drawing/2014/main" id="{523B4302-A4D3-AD52-3944-236F3AA49A35}"/>
                </a:ext>
              </a:extLst>
            </p:cNvPr>
            <p:cNvSpPr txBox="1"/>
            <p:nvPr/>
          </p:nvSpPr>
          <p:spPr>
            <a:xfrm>
              <a:off x="6234335"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141" name="正方形/長方形 140">
              <a:extLst>
                <a:ext uri="{FF2B5EF4-FFF2-40B4-BE49-F238E27FC236}">
                  <a16:creationId xmlns:a16="http://schemas.microsoft.com/office/drawing/2014/main" id="{28B4AC7E-4F7B-423B-FB27-DD8674A137B8}"/>
                </a:ext>
              </a:extLst>
            </p:cNvPr>
            <p:cNvSpPr/>
            <p:nvPr/>
          </p:nvSpPr>
          <p:spPr>
            <a:xfrm>
              <a:off x="6331519" y="2960299"/>
              <a:ext cx="216000" cy="486277"/>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147" name="直線コネクタ 146">
              <a:extLst>
                <a:ext uri="{FF2B5EF4-FFF2-40B4-BE49-F238E27FC236}">
                  <a16:creationId xmlns:a16="http://schemas.microsoft.com/office/drawing/2014/main" id="{F4BE651B-00F7-0E9B-1DE8-A33E919BECA0}"/>
                </a:ext>
              </a:extLst>
            </p:cNvPr>
            <p:cNvCxnSpPr>
              <a:cxnSpLocks/>
            </p:cNvCxnSpPr>
            <p:nvPr/>
          </p:nvCxnSpPr>
          <p:spPr>
            <a:xfrm flipV="1">
              <a:off x="6053657" y="2973510"/>
              <a:ext cx="292100" cy="145257"/>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grpSp>
        <p:nvGrpSpPr>
          <p:cNvPr id="238" name="グループ化 237">
            <a:extLst>
              <a:ext uri="{FF2B5EF4-FFF2-40B4-BE49-F238E27FC236}">
                <a16:creationId xmlns:a16="http://schemas.microsoft.com/office/drawing/2014/main" id="{F7C8B077-48DC-F003-D09C-27D482521F67}"/>
              </a:ext>
            </a:extLst>
          </p:cNvPr>
          <p:cNvGrpSpPr/>
          <p:nvPr/>
        </p:nvGrpSpPr>
        <p:grpSpPr>
          <a:xfrm>
            <a:off x="7033237" y="2655776"/>
            <a:ext cx="870357" cy="560872"/>
            <a:chOff x="7033237" y="3049710"/>
            <a:chExt cx="870357" cy="560872"/>
          </a:xfrm>
        </p:grpSpPr>
        <p:sp>
          <p:nvSpPr>
            <p:cNvPr id="214" name="テキスト ボックス 213">
              <a:extLst>
                <a:ext uri="{FF2B5EF4-FFF2-40B4-BE49-F238E27FC236}">
                  <a16:creationId xmlns:a16="http://schemas.microsoft.com/office/drawing/2014/main" id="{D86CD4F0-59A4-C534-98A9-909CB1783CA4}"/>
                </a:ext>
              </a:extLst>
            </p:cNvPr>
            <p:cNvSpPr txBox="1"/>
            <p:nvPr/>
          </p:nvSpPr>
          <p:spPr>
            <a:xfrm>
              <a:off x="7033237"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215" name="正方形/長方形 214">
              <a:extLst>
                <a:ext uri="{FF2B5EF4-FFF2-40B4-BE49-F238E27FC236}">
                  <a16:creationId xmlns:a16="http://schemas.microsoft.com/office/drawing/2014/main" id="{42C835EF-4521-8C83-24E1-6D3F34C1F7A8}"/>
                </a:ext>
              </a:extLst>
            </p:cNvPr>
            <p:cNvSpPr/>
            <p:nvPr/>
          </p:nvSpPr>
          <p:spPr>
            <a:xfrm>
              <a:off x="7111185" y="3251323"/>
              <a:ext cx="216000" cy="1952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212" name="テキスト ボックス 211">
              <a:extLst>
                <a:ext uri="{FF2B5EF4-FFF2-40B4-BE49-F238E27FC236}">
                  <a16:creationId xmlns:a16="http://schemas.microsoft.com/office/drawing/2014/main" id="{3D916A57-1FAD-5D39-B8FF-364899E0051F}"/>
                </a:ext>
              </a:extLst>
            </p:cNvPr>
            <p:cNvSpPr txBox="1"/>
            <p:nvPr/>
          </p:nvSpPr>
          <p:spPr>
            <a:xfrm>
              <a:off x="7493225"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213" name="正方形/長方形 212">
              <a:extLst>
                <a:ext uri="{FF2B5EF4-FFF2-40B4-BE49-F238E27FC236}">
                  <a16:creationId xmlns:a16="http://schemas.microsoft.com/office/drawing/2014/main" id="{AA8E5DB7-0B0F-250E-9F2C-DF16B8DDC22A}"/>
                </a:ext>
              </a:extLst>
            </p:cNvPr>
            <p:cNvSpPr/>
            <p:nvPr/>
          </p:nvSpPr>
          <p:spPr>
            <a:xfrm>
              <a:off x="7590409" y="3051298"/>
              <a:ext cx="216000" cy="3952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211" name="直線コネクタ 210">
              <a:extLst>
                <a:ext uri="{FF2B5EF4-FFF2-40B4-BE49-F238E27FC236}">
                  <a16:creationId xmlns:a16="http://schemas.microsoft.com/office/drawing/2014/main" id="{F0D2FCCE-B4CE-2353-8D46-5009E7F3C261}"/>
                </a:ext>
              </a:extLst>
            </p:cNvPr>
            <p:cNvCxnSpPr>
              <a:cxnSpLocks/>
            </p:cNvCxnSpPr>
            <p:nvPr/>
          </p:nvCxnSpPr>
          <p:spPr>
            <a:xfrm flipV="1">
              <a:off x="7310960" y="3049710"/>
              <a:ext cx="288403" cy="202407"/>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grpSp>
        <p:nvGrpSpPr>
          <p:cNvPr id="239" name="グループ化 238">
            <a:extLst>
              <a:ext uri="{FF2B5EF4-FFF2-40B4-BE49-F238E27FC236}">
                <a16:creationId xmlns:a16="http://schemas.microsoft.com/office/drawing/2014/main" id="{3B1A255A-F86D-BF40-C9AA-3D15AFC53241}"/>
              </a:ext>
            </a:extLst>
          </p:cNvPr>
          <p:cNvGrpSpPr/>
          <p:nvPr/>
        </p:nvGrpSpPr>
        <p:grpSpPr>
          <a:xfrm>
            <a:off x="8496649" y="2649426"/>
            <a:ext cx="870357" cy="567222"/>
            <a:chOff x="8496649" y="3043360"/>
            <a:chExt cx="870357" cy="567222"/>
          </a:xfrm>
        </p:grpSpPr>
        <p:sp>
          <p:nvSpPr>
            <p:cNvPr id="222" name="テキスト ボックス 221">
              <a:extLst>
                <a:ext uri="{FF2B5EF4-FFF2-40B4-BE49-F238E27FC236}">
                  <a16:creationId xmlns:a16="http://schemas.microsoft.com/office/drawing/2014/main" id="{D15E1A0B-F2E2-A00B-2034-E23F8C985049}"/>
                </a:ext>
              </a:extLst>
            </p:cNvPr>
            <p:cNvSpPr txBox="1"/>
            <p:nvPr/>
          </p:nvSpPr>
          <p:spPr>
            <a:xfrm>
              <a:off x="8496649"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223" name="正方形/長方形 222">
              <a:extLst>
                <a:ext uri="{FF2B5EF4-FFF2-40B4-BE49-F238E27FC236}">
                  <a16:creationId xmlns:a16="http://schemas.microsoft.com/office/drawing/2014/main" id="{C67463F6-7361-B67D-3D3F-9159E2E1ED97}"/>
                </a:ext>
              </a:extLst>
            </p:cNvPr>
            <p:cNvSpPr/>
            <p:nvPr/>
          </p:nvSpPr>
          <p:spPr>
            <a:xfrm>
              <a:off x="8574597" y="3154383"/>
              <a:ext cx="216000" cy="2921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220" name="テキスト ボックス 219">
              <a:extLst>
                <a:ext uri="{FF2B5EF4-FFF2-40B4-BE49-F238E27FC236}">
                  <a16:creationId xmlns:a16="http://schemas.microsoft.com/office/drawing/2014/main" id="{2DF28602-4B03-EAD0-ED91-3AAB6756EAE0}"/>
                </a:ext>
              </a:extLst>
            </p:cNvPr>
            <p:cNvSpPr txBox="1"/>
            <p:nvPr/>
          </p:nvSpPr>
          <p:spPr>
            <a:xfrm>
              <a:off x="8956637"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221" name="正方形/長方形 220">
              <a:extLst>
                <a:ext uri="{FF2B5EF4-FFF2-40B4-BE49-F238E27FC236}">
                  <a16:creationId xmlns:a16="http://schemas.microsoft.com/office/drawing/2014/main" id="{67FF320F-47FB-B93C-142F-C4A8E6D073B5}"/>
                </a:ext>
              </a:extLst>
            </p:cNvPr>
            <p:cNvSpPr/>
            <p:nvPr/>
          </p:nvSpPr>
          <p:spPr>
            <a:xfrm>
              <a:off x="9053821" y="3043360"/>
              <a:ext cx="216000" cy="40321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219" name="直線コネクタ 218">
              <a:extLst>
                <a:ext uri="{FF2B5EF4-FFF2-40B4-BE49-F238E27FC236}">
                  <a16:creationId xmlns:a16="http://schemas.microsoft.com/office/drawing/2014/main" id="{9BE5B387-6EAE-7493-D14A-E93CA60330FA}"/>
                </a:ext>
              </a:extLst>
            </p:cNvPr>
            <p:cNvCxnSpPr>
              <a:cxnSpLocks/>
            </p:cNvCxnSpPr>
            <p:nvPr/>
          </p:nvCxnSpPr>
          <p:spPr>
            <a:xfrm flipV="1">
              <a:off x="8773260" y="3056060"/>
              <a:ext cx="282575" cy="103188"/>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cxnSp>
        <p:nvCxnSpPr>
          <p:cNvPr id="122" name="直線コネクタ 121">
            <a:extLst>
              <a:ext uri="{FF2B5EF4-FFF2-40B4-BE49-F238E27FC236}">
                <a16:creationId xmlns:a16="http://schemas.microsoft.com/office/drawing/2014/main" id="{0683C38B-5E98-371D-F2E4-A3D621F0ABF5}"/>
              </a:ext>
            </a:extLst>
          </p:cNvPr>
          <p:cNvCxnSpPr>
            <a:cxnSpLocks/>
          </p:cNvCxnSpPr>
          <p:nvPr/>
        </p:nvCxnSpPr>
        <p:spPr>
          <a:xfrm>
            <a:off x="5753195" y="3052642"/>
            <a:ext cx="363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36" name="正方形/長方形 235">
            <a:extLst>
              <a:ext uri="{FF2B5EF4-FFF2-40B4-BE49-F238E27FC236}">
                <a16:creationId xmlns:a16="http://schemas.microsoft.com/office/drawing/2014/main" id="{2BC058D1-FDF3-6D4A-7547-8E15789E3D9B}"/>
              </a:ext>
            </a:extLst>
          </p:cNvPr>
          <p:cNvSpPr/>
          <p:nvPr/>
        </p:nvSpPr>
        <p:spPr>
          <a:xfrm>
            <a:off x="6083525" y="4016567"/>
            <a:ext cx="252000" cy="19910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a</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sp>
        <p:nvSpPr>
          <p:cNvPr id="243" name="正方形/長方形 242">
            <a:extLst>
              <a:ext uri="{FF2B5EF4-FFF2-40B4-BE49-F238E27FC236}">
                <a16:creationId xmlns:a16="http://schemas.microsoft.com/office/drawing/2014/main" id="{8CFF686F-6C68-DA96-8563-EDBE90B715FE}"/>
              </a:ext>
            </a:extLst>
          </p:cNvPr>
          <p:cNvSpPr/>
          <p:nvPr/>
        </p:nvSpPr>
        <p:spPr>
          <a:xfrm>
            <a:off x="7342415" y="3753507"/>
            <a:ext cx="252000" cy="46216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b</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sp>
        <p:nvSpPr>
          <p:cNvPr id="244" name="正方形/長方形 243">
            <a:extLst>
              <a:ext uri="{FF2B5EF4-FFF2-40B4-BE49-F238E27FC236}">
                <a16:creationId xmlns:a16="http://schemas.microsoft.com/office/drawing/2014/main" id="{3ADFEC52-BF7B-587D-8B1B-E016E4C2AB10}"/>
              </a:ext>
            </a:extLst>
          </p:cNvPr>
          <p:cNvSpPr/>
          <p:nvPr/>
        </p:nvSpPr>
        <p:spPr>
          <a:xfrm>
            <a:off x="8806866" y="3843487"/>
            <a:ext cx="252000" cy="37218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z</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cxnSp>
        <p:nvCxnSpPr>
          <p:cNvPr id="234" name="直線コネクタ 233">
            <a:extLst>
              <a:ext uri="{FF2B5EF4-FFF2-40B4-BE49-F238E27FC236}">
                <a16:creationId xmlns:a16="http://schemas.microsoft.com/office/drawing/2014/main" id="{A0458CCA-38A0-C336-4471-75C016BC95E3}"/>
              </a:ext>
            </a:extLst>
          </p:cNvPr>
          <p:cNvCxnSpPr>
            <a:cxnSpLocks/>
          </p:cNvCxnSpPr>
          <p:nvPr/>
        </p:nvCxnSpPr>
        <p:spPr>
          <a:xfrm>
            <a:off x="5753195" y="4215668"/>
            <a:ext cx="363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57" name="グループ化 256">
            <a:extLst>
              <a:ext uri="{FF2B5EF4-FFF2-40B4-BE49-F238E27FC236}">
                <a16:creationId xmlns:a16="http://schemas.microsoft.com/office/drawing/2014/main" id="{71530EB1-BA96-C72F-6B74-366B7D3ADE51}"/>
              </a:ext>
            </a:extLst>
          </p:cNvPr>
          <p:cNvGrpSpPr/>
          <p:nvPr/>
        </p:nvGrpSpPr>
        <p:grpSpPr>
          <a:xfrm rot="2700000">
            <a:off x="6797098" y="5647340"/>
            <a:ext cx="215534" cy="215534"/>
            <a:chOff x="1547324" y="4294851"/>
            <a:chExt cx="128742" cy="128742"/>
          </a:xfrm>
        </p:grpSpPr>
        <p:cxnSp>
          <p:nvCxnSpPr>
            <p:cNvPr id="258" name="直線コネクタ 257">
              <a:extLst>
                <a:ext uri="{FF2B5EF4-FFF2-40B4-BE49-F238E27FC236}">
                  <a16:creationId xmlns:a16="http://schemas.microsoft.com/office/drawing/2014/main" id="{249ADDBC-7E4C-5A04-983C-49FEA0082A5E}"/>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59" name="直線コネクタ 258">
              <a:extLst>
                <a:ext uri="{FF2B5EF4-FFF2-40B4-BE49-F238E27FC236}">
                  <a16:creationId xmlns:a16="http://schemas.microsoft.com/office/drawing/2014/main" id="{13C7B8FC-BA66-DAD4-3B8F-455FC9B6885A}"/>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62" name="グループ化 261">
            <a:extLst>
              <a:ext uri="{FF2B5EF4-FFF2-40B4-BE49-F238E27FC236}">
                <a16:creationId xmlns:a16="http://schemas.microsoft.com/office/drawing/2014/main" id="{E358CA36-B687-CF57-A9E8-F4B7AE08E060}"/>
              </a:ext>
            </a:extLst>
          </p:cNvPr>
          <p:cNvGrpSpPr/>
          <p:nvPr/>
        </p:nvGrpSpPr>
        <p:grpSpPr>
          <a:xfrm>
            <a:off x="8320866" y="5677566"/>
            <a:ext cx="282372" cy="155084"/>
            <a:chOff x="7484533" y="4677833"/>
            <a:chExt cx="108000" cy="59316"/>
          </a:xfrm>
        </p:grpSpPr>
        <p:cxnSp>
          <p:nvCxnSpPr>
            <p:cNvPr id="263" name="直線コネクタ 262">
              <a:extLst>
                <a:ext uri="{FF2B5EF4-FFF2-40B4-BE49-F238E27FC236}">
                  <a16:creationId xmlns:a16="http://schemas.microsoft.com/office/drawing/2014/main" id="{9FD1788D-6B04-98A6-3050-65AB45E958B3}"/>
                </a:ext>
              </a:extLst>
            </p:cNvPr>
            <p:cNvCxnSpPr/>
            <p:nvPr/>
          </p:nvCxnSpPr>
          <p:spPr>
            <a:xfrm>
              <a:off x="7484533" y="4677833"/>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64" name="直線コネクタ 263">
              <a:extLst>
                <a:ext uri="{FF2B5EF4-FFF2-40B4-BE49-F238E27FC236}">
                  <a16:creationId xmlns:a16="http://schemas.microsoft.com/office/drawing/2014/main" id="{57DB9453-B020-605F-8F5B-F5C69B1DFEEB}"/>
                </a:ext>
              </a:extLst>
            </p:cNvPr>
            <p:cNvCxnSpPr/>
            <p:nvPr/>
          </p:nvCxnSpPr>
          <p:spPr>
            <a:xfrm>
              <a:off x="7484533" y="4737149"/>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94" name="グループ化 293">
            <a:extLst>
              <a:ext uri="{FF2B5EF4-FFF2-40B4-BE49-F238E27FC236}">
                <a16:creationId xmlns:a16="http://schemas.microsoft.com/office/drawing/2014/main" id="{560BD7CD-32FC-767C-A62A-4EB7B336BD9D}"/>
              </a:ext>
            </a:extLst>
          </p:cNvPr>
          <p:cNvGrpSpPr/>
          <p:nvPr/>
        </p:nvGrpSpPr>
        <p:grpSpPr>
          <a:xfrm>
            <a:off x="5746499" y="5601648"/>
            <a:ext cx="782053" cy="399839"/>
            <a:chOff x="5775194" y="5620244"/>
            <a:chExt cx="782053" cy="399839"/>
          </a:xfrm>
        </p:grpSpPr>
        <p:sp>
          <p:nvSpPr>
            <p:cNvPr id="253" name="正方形/長方形 252">
              <a:extLst>
                <a:ext uri="{FF2B5EF4-FFF2-40B4-BE49-F238E27FC236}">
                  <a16:creationId xmlns:a16="http://schemas.microsoft.com/office/drawing/2014/main" id="{14574E2B-F11B-13B4-67BF-D018F697FBB8}"/>
                </a:ext>
              </a:extLst>
            </p:cNvPr>
            <p:cNvSpPr/>
            <p:nvPr/>
          </p:nvSpPr>
          <p:spPr>
            <a:xfrm>
              <a:off x="5878220" y="5620244"/>
              <a:ext cx="576000" cy="39983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endParaRPr kumimoji="1" lang="ja-JP" altLang="en-US" sz="1050" b="1" dirty="0">
                <a:solidFill>
                  <a:schemeClr val="tx1"/>
                </a:solidFill>
                <a:latin typeface="+mj-lt"/>
                <a:ea typeface="+mj-ea"/>
              </a:endParaRPr>
            </a:p>
          </p:txBody>
        </p:sp>
        <p:cxnSp>
          <p:nvCxnSpPr>
            <p:cNvPr id="254" name="直線コネクタ 253">
              <a:extLst>
                <a:ext uri="{FF2B5EF4-FFF2-40B4-BE49-F238E27FC236}">
                  <a16:creationId xmlns:a16="http://schemas.microsoft.com/office/drawing/2014/main" id="{DE4EE7F0-DAC3-08B3-C1F9-21D9A938F86C}"/>
                </a:ext>
              </a:extLst>
            </p:cNvPr>
            <p:cNvCxnSpPr>
              <a:cxnSpLocks/>
            </p:cNvCxnSpPr>
            <p:nvPr/>
          </p:nvCxnSpPr>
          <p:spPr>
            <a:xfrm>
              <a:off x="5775194" y="6020083"/>
              <a:ext cx="782053"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61" name="テキスト ボックス 260">
            <a:extLst>
              <a:ext uri="{FF2B5EF4-FFF2-40B4-BE49-F238E27FC236}">
                <a16:creationId xmlns:a16="http://schemas.microsoft.com/office/drawing/2014/main" id="{3F2FD2A9-55BD-B2CD-A03C-784EF22D72D2}"/>
              </a:ext>
            </a:extLst>
          </p:cNvPr>
          <p:cNvSpPr txBox="1">
            <a:spLocks noChangeAspect="1"/>
          </p:cNvSpPr>
          <p:nvPr/>
        </p:nvSpPr>
        <p:spPr>
          <a:xfrm>
            <a:off x="7300203" y="5391910"/>
            <a:ext cx="654052" cy="654052"/>
          </a:xfrm>
          <a:prstGeom prst="ellipse">
            <a:avLst/>
          </a:prstGeom>
          <a:solidFill>
            <a:schemeClr val="accent4"/>
          </a:solidFill>
          <a:ln w="12700">
            <a:noFill/>
          </a:ln>
        </p:spPr>
        <p:txBody>
          <a:bodyPr wrap="square" lIns="0" tIns="0" rIns="0" bIns="0" rtlCol="0" anchor="ctr">
            <a:noAutofit/>
          </a:bodyPr>
          <a:lstStyle/>
          <a:p>
            <a:pPr algn="ctr">
              <a:lnSpc>
                <a:spcPct val="90000"/>
              </a:lnSpc>
            </a:pPr>
            <a:r>
              <a:rPr kumimoji="1" lang="en-US" altLang="ja-JP" sz="2400" b="1" dirty="0">
                <a:solidFill>
                  <a:schemeClr val="bg1"/>
                </a:solidFill>
                <a:latin typeface="+mj-lt"/>
                <a:ea typeface="+mj-ea"/>
              </a:rPr>
              <a:t>n</a:t>
            </a:r>
            <a:r>
              <a:rPr kumimoji="1" lang="ja-JP" altLang="en-US" sz="1200" b="1" dirty="0">
                <a:solidFill>
                  <a:schemeClr val="bg1"/>
                </a:solidFill>
                <a:latin typeface="+mj-ea"/>
                <a:ea typeface="+mj-ea"/>
              </a:rPr>
              <a:t>年</a:t>
            </a:r>
            <a:endParaRPr kumimoji="1" lang="en-US" altLang="ja-JP" sz="1200" b="1" dirty="0">
              <a:solidFill>
                <a:schemeClr val="bg1"/>
              </a:solidFill>
              <a:latin typeface="+mj-ea"/>
              <a:ea typeface="+mj-ea"/>
            </a:endParaRPr>
          </a:p>
        </p:txBody>
      </p:sp>
      <p:grpSp>
        <p:nvGrpSpPr>
          <p:cNvPr id="295" name="グループ化 294">
            <a:extLst>
              <a:ext uri="{FF2B5EF4-FFF2-40B4-BE49-F238E27FC236}">
                <a16:creationId xmlns:a16="http://schemas.microsoft.com/office/drawing/2014/main" id="{2D998DA0-1E7B-C83F-36F4-B59881F10F46}"/>
              </a:ext>
            </a:extLst>
          </p:cNvPr>
          <p:cNvGrpSpPr/>
          <p:nvPr/>
        </p:nvGrpSpPr>
        <p:grpSpPr>
          <a:xfrm>
            <a:off x="8893710" y="5331212"/>
            <a:ext cx="782053" cy="670275"/>
            <a:chOff x="9018719" y="5376428"/>
            <a:chExt cx="782053" cy="670275"/>
          </a:xfrm>
        </p:grpSpPr>
        <p:sp>
          <p:nvSpPr>
            <p:cNvPr id="270" name="正方形/長方形 269">
              <a:extLst>
                <a:ext uri="{FF2B5EF4-FFF2-40B4-BE49-F238E27FC236}">
                  <a16:creationId xmlns:a16="http://schemas.microsoft.com/office/drawing/2014/main" id="{6E3C4AFE-DF38-452A-64DA-2A8F6C1B3A86}"/>
                </a:ext>
              </a:extLst>
            </p:cNvPr>
            <p:cNvSpPr/>
            <p:nvPr/>
          </p:nvSpPr>
          <p:spPr>
            <a:xfrm>
              <a:off x="9121745" y="5376428"/>
              <a:ext cx="576000" cy="6702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ja-JP" altLang="en-US" sz="1200" b="1" dirty="0">
                  <a:solidFill>
                    <a:schemeClr val="bg1"/>
                  </a:solidFill>
                  <a:latin typeface="+mj-ea"/>
                  <a:ea typeface="+mj-ea"/>
                </a:rPr>
                <a:t>事業</a:t>
              </a:r>
              <a:br>
                <a:rPr kumimoji="1" lang="en-US" altLang="ja-JP" sz="1200" b="1" dirty="0">
                  <a:solidFill>
                    <a:schemeClr val="bg1"/>
                  </a:solidFill>
                  <a:latin typeface="+mj-ea"/>
                  <a:ea typeface="+mj-ea"/>
                </a:rPr>
              </a:br>
              <a:r>
                <a:rPr kumimoji="1" lang="ja-JP" altLang="en-US" sz="1200" b="1" dirty="0">
                  <a:solidFill>
                    <a:schemeClr val="bg1"/>
                  </a:solidFill>
                  <a:latin typeface="+mj-ea"/>
                  <a:ea typeface="+mj-ea"/>
                </a:rPr>
                <a:t>価値</a:t>
              </a:r>
            </a:p>
          </p:txBody>
        </p:sp>
        <p:cxnSp>
          <p:nvCxnSpPr>
            <p:cNvPr id="271" name="直線コネクタ 270">
              <a:extLst>
                <a:ext uri="{FF2B5EF4-FFF2-40B4-BE49-F238E27FC236}">
                  <a16:creationId xmlns:a16="http://schemas.microsoft.com/office/drawing/2014/main" id="{45386825-B053-7140-C9CB-A9B37B563C69}"/>
                </a:ext>
              </a:extLst>
            </p:cNvPr>
            <p:cNvCxnSpPr>
              <a:cxnSpLocks/>
            </p:cNvCxnSpPr>
            <p:nvPr/>
          </p:nvCxnSpPr>
          <p:spPr>
            <a:xfrm>
              <a:off x="9018719" y="6046702"/>
              <a:ext cx="782053"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83" name="テキスト ボックス 282">
            <a:extLst>
              <a:ext uri="{FF2B5EF4-FFF2-40B4-BE49-F238E27FC236}">
                <a16:creationId xmlns:a16="http://schemas.microsoft.com/office/drawing/2014/main" id="{F912FE5E-9F3B-ADA8-8778-2C0B66C1C118}"/>
              </a:ext>
            </a:extLst>
          </p:cNvPr>
          <p:cNvSpPr txBox="1"/>
          <p:nvPr/>
        </p:nvSpPr>
        <p:spPr>
          <a:xfrm>
            <a:off x="6648366" y="6264339"/>
            <a:ext cx="180023" cy="2921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に</a:t>
            </a:r>
          </a:p>
        </p:txBody>
      </p:sp>
      <p:sp>
        <p:nvSpPr>
          <p:cNvPr id="284" name="テキスト ボックス 283">
            <a:extLst>
              <a:ext uri="{FF2B5EF4-FFF2-40B4-BE49-F238E27FC236}">
                <a16:creationId xmlns:a16="http://schemas.microsoft.com/office/drawing/2014/main" id="{50464DB0-6F1B-E593-278A-D3CEFC565D67}"/>
              </a:ext>
            </a:extLst>
          </p:cNvPr>
          <p:cNvSpPr txBox="1"/>
          <p:nvPr/>
        </p:nvSpPr>
        <p:spPr>
          <a:xfrm>
            <a:off x="8383301" y="6264634"/>
            <a:ext cx="487363" cy="291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を適用し</a:t>
            </a:r>
          </a:p>
        </p:txBody>
      </p:sp>
      <p:sp>
        <p:nvSpPr>
          <p:cNvPr id="285" name="テキスト ボックス 284">
            <a:extLst>
              <a:ext uri="{FF2B5EF4-FFF2-40B4-BE49-F238E27FC236}">
                <a16:creationId xmlns:a16="http://schemas.microsoft.com/office/drawing/2014/main" id="{FDA1FB86-E3F0-24E1-F891-E453795EA76E}"/>
              </a:ext>
            </a:extLst>
          </p:cNvPr>
          <p:cNvSpPr txBox="1"/>
          <p:nvPr/>
        </p:nvSpPr>
        <p:spPr>
          <a:xfrm>
            <a:off x="9734550" y="6264634"/>
            <a:ext cx="396875" cy="291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を算出</a:t>
            </a:r>
          </a:p>
        </p:txBody>
      </p:sp>
      <p:sp>
        <p:nvSpPr>
          <p:cNvPr id="301" name="正方形/長方形 300">
            <a:extLst>
              <a:ext uri="{FF2B5EF4-FFF2-40B4-BE49-F238E27FC236}">
                <a16:creationId xmlns:a16="http://schemas.microsoft.com/office/drawing/2014/main" id="{7BEA73C7-A62F-18AA-678D-D2C386DE32D0}"/>
              </a:ext>
            </a:extLst>
          </p:cNvPr>
          <p:cNvSpPr/>
          <p:nvPr/>
        </p:nvSpPr>
        <p:spPr>
          <a:xfrm>
            <a:off x="6907229" y="6136768"/>
            <a:ext cx="1440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類似会社の</a:t>
            </a:r>
          </a:p>
          <a:p>
            <a:pPr algn="ctr">
              <a:lnSpc>
                <a:spcPct val="110000"/>
              </a:lnSpc>
            </a:pPr>
            <a:r>
              <a:rPr kumimoji="1" lang="ja-JP" altLang="en-US" sz="1000" b="1" spc="30" dirty="0">
                <a:solidFill>
                  <a:schemeClr val="tx1"/>
                </a:solidFill>
                <a:latin typeface="+mj-ea"/>
                <a:ea typeface="+mj-ea"/>
              </a:rPr>
              <a:t>平均</a:t>
            </a:r>
            <a:r>
              <a:rPr kumimoji="1" lang="en-US" altLang="ja-JP" sz="1000" b="1" spc="30" dirty="0">
                <a:solidFill>
                  <a:schemeClr val="tx1"/>
                </a:solidFill>
                <a:latin typeface="+mj-ea"/>
                <a:ea typeface="+mj-ea"/>
              </a:rPr>
              <a:t>EV</a:t>
            </a:r>
            <a:r>
              <a:rPr kumimoji="1" lang="ja-JP" altLang="en-US" sz="1000" b="1" spc="30" dirty="0">
                <a:solidFill>
                  <a:schemeClr val="tx1"/>
                </a:solidFill>
                <a:latin typeface="+mj-ea"/>
                <a:ea typeface="+mj-ea"/>
              </a:rPr>
              <a:t>／</a:t>
            </a:r>
            <a:r>
              <a:rPr kumimoji="1" lang="en-US" altLang="ja-JP" sz="1000" b="1" spc="30" dirty="0">
                <a:solidFill>
                  <a:schemeClr val="tx1"/>
                </a:solidFill>
                <a:latin typeface="+mj-ea"/>
                <a:ea typeface="+mj-ea"/>
              </a:rPr>
              <a:t>EBITDA</a:t>
            </a:r>
            <a:r>
              <a:rPr kumimoji="1" lang="ja-JP" altLang="en-US" sz="1000" b="1" spc="30" dirty="0">
                <a:solidFill>
                  <a:schemeClr val="tx1"/>
                </a:solidFill>
                <a:latin typeface="+mj-ea"/>
                <a:ea typeface="+mj-ea"/>
              </a:rPr>
              <a:t>倍率</a:t>
            </a:r>
          </a:p>
        </p:txBody>
      </p:sp>
      <p:sp>
        <p:nvSpPr>
          <p:cNvPr id="302" name="正方形/長方形 301">
            <a:extLst>
              <a:ext uri="{FF2B5EF4-FFF2-40B4-BE49-F238E27FC236}">
                <a16:creationId xmlns:a16="http://schemas.microsoft.com/office/drawing/2014/main" id="{3CCB6D26-DA92-6A0A-789D-4339277472F5}"/>
              </a:ext>
            </a:extLst>
          </p:cNvPr>
          <p:cNvSpPr/>
          <p:nvPr/>
        </p:nvSpPr>
        <p:spPr>
          <a:xfrm>
            <a:off x="8906736" y="6136768"/>
            <a:ext cx="756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対象会社の</a:t>
            </a:r>
          </a:p>
          <a:p>
            <a:pPr algn="ctr">
              <a:lnSpc>
                <a:spcPct val="110000"/>
              </a:lnSpc>
            </a:pPr>
            <a:r>
              <a:rPr kumimoji="1" lang="ja-JP" altLang="en-US" sz="1000" b="1" spc="30" dirty="0">
                <a:solidFill>
                  <a:schemeClr val="tx1"/>
                </a:solidFill>
                <a:latin typeface="+mj-ea"/>
                <a:ea typeface="+mj-ea"/>
              </a:rPr>
              <a:t>事業価値</a:t>
            </a:r>
          </a:p>
        </p:txBody>
      </p:sp>
      <p:grpSp>
        <p:nvGrpSpPr>
          <p:cNvPr id="303" name="グループ化 302">
            <a:extLst>
              <a:ext uri="{FF2B5EF4-FFF2-40B4-BE49-F238E27FC236}">
                <a16:creationId xmlns:a16="http://schemas.microsoft.com/office/drawing/2014/main" id="{1709F410-A1E4-8222-D327-00BED4BF1A77}"/>
              </a:ext>
            </a:extLst>
          </p:cNvPr>
          <p:cNvGrpSpPr/>
          <p:nvPr/>
        </p:nvGrpSpPr>
        <p:grpSpPr>
          <a:xfrm>
            <a:off x="5772150" y="3583948"/>
            <a:ext cx="4469375" cy="609256"/>
            <a:chOff x="5772150" y="3854302"/>
            <a:chExt cx="4469375" cy="609256"/>
          </a:xfrm>
        </p:grpSpPr>
        <p:cxnSp>
          <p:nvCxnSpPr>
            <p:cNvPr id="246" name="直線コネクタ 245">
              <a:extLst>
                <a:ext uri="{FF2B5EF4-FFF2-40B4-BE49-F238E27FC236}">
                  <a16:creationId xmlns:a16="http://schemas.microsoft.com/office/drawing/2014/main" id="{09F99248-A34A-1312-FDB9-357B9B20D328}"/>
                </a:ext>
              </a:extLst>
            </p:cNvPr>
            <p:cNvCxnSpPr>
              <a:cxnSpLocks/>
            </p:cNvCxnSpPr>
            <p:nvPr/>
          </p:nvCxnSpPr>
          <p:spPr>
            <a:xfrm>
              <a:off x="5772150" y="4165495"/>
              <a:ext cx="3881438" cy="0"/>
            </a:xfrm>
            <a:prstGeom prst="line">
              <a:avLst/>
            </a:prstGeom>
            <a:ln w="1905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82" name="テキスト ボックス 181">
              <a:extLst>
                <a:ext uri="{FF2B5EF4-FFF2-40B4-BE49-F238E27FC236}">
                  <a16:creationId xmlns:a16="http://schemas.microsoft.com/office/drawing/2014/main" id="{59361F46-2AC5-0F0B-21CB-3C24D8D24529}"/>
                </a:ext>
              </a:extLst>
            </p:cNvPr>
            <p:cNvSpPr txBox="1">
              <a:spLocks noChangeAspect="1"/>
            </p:cNvSpPr>
            <p:nvPr/>
          </p:nvSpPr>
          <p:spPr>
            <a:xfrm>
              <a:off x="9632269" y="3854302"/>
              <a:ext cx="609256" cy="609256"/>
            </a:xfrm>
            <a:prstGeom prst="ellipse">
              <a:avLst/>
            </a:prstGeom>
            <a:solidFill>
              <a:schemeClr val="accent4"/>
            </a:solidFill>
            <a:ln w="12700">
              <a:noFill/>
            </a:ln>
          </p:spPr>
          <p:txBody>
            <a:bodyPr wrap="square" lIns="0" tIns="36000" rIns="0" bIns="0" rtlCol="0" anchor="ctr">
              <a:noAutofit/>
            </a:bodyPr>
            <a:lstStyle/>
            <a:p>
              <a:pPr algn="ctr">
                <a:lnSpc>
                  <a:spcPct val="90000"/>
                </a:lnSpc>
              </a:pPr>
              <a:r>
                <a:rPr kumimoji="1" lang="ja-JP" altLang="en-US" sz="1050" b="1" dirty="0">
                  <a:solidFill>
                    <a:schemeClr val="bg1"/>
                  </a:solidFill>
                  <a:latin typeface="+mj-lt"/>
                  <a:ea typeface="+mj-ea"/>
                </a:rPr>
                <a:t>平均</a:t>
              </a:r>
              <a:br>
                <a:rPr kumimoji="1" lang="en-US" altLang="ja-JP" b="1" dirty="0">
                  <a:solidFill>
                    <a:schemeClr val="bg1"/>
                  </a:solidFill>
                  <a:latin typeface="+mj-lt"/>
                  <a:ea typeface="+mj-ea"/>
                </a:rPr>
              </a:br>
              <a:r>
                <a:rPr kumimoji="1" lang="en-US" altLang="ja-JP" b="1" dirty="0">
                  <a:solidFill>
                    <a:schemeClr val="bg1"/>
                  </a:solidFill>
                  <a:latin typeface="+mj-lt"/>
                  <a:ea typeface="+mj-ea"/>
                </a:rPr>
                <a:t>n</a:t>
              </a:r>
              <a:r>
                <a:rPr kumimoji="1" lang="ja-JP" altLang="en-US" sz="1050" b="1" dirty="0">
                  <a:solidFill>
                    <a:schemeClr val="bg1"/>
                  </a:solidFill>
                  <a:latin typeface="+mj-ea"/>
                  <a:ea typeface="+mj-ea"/>
                </a:rPr>
                <a:t>年</a:t>
              </a:r>
              <a:endParaRPr kumimoji="1" lang="en-US" altLang="ja-JP" sz="1050" b="1" dirty="0">
                <a:solidFill>
                  <a:schemeClr val="bg1"/>
                </a:solidFill>
                <a:latin typeface="+mj-ea"/>
                <a:ea typeface="+mj-ea"/>
              </a:endParaRPr>
            </a:p>
          </p:txBody>
        </p:sp>
      </p:grpSp>
      <p:cxnSp>
        <p:nvCxnSpPr>
          <p:cNvPr id="5" name="直線コネクタ 4">
            <a:extLst>
              <a:ext uri="{FF2B5EF4-FFF2-40B4-BE49-F238E27FC236}">
                <a16:creationId xmlns:a16="http://schemas.microsoft.com/office/drawing/2014/main" id="{C7441830-275B-FC41-3F94-99BC6CE4E5D5}"/>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6" name="グループ化 5">
            <a:extLst>
              <a:ext uri="{FF2B5EF4-FFF2-40B4-BE49-F238E27FC236}">
                <a16:creationId xmlns:a16="http://schemas.microsoft.com/office/drawing/2014/main" id="{DA2EF6BF-0DFD-7EAF-19AC-8091AE5F786F}"/>
              </a:ext>
            </a:extLst>
          </p:cNvPr>
          <p:cNvGrpSpPr/>
          <p:nvPr/>
        </p:nvGrpSpPr>
        <p:grpSpPr>
          <a:xfrm>
            <a:off x="1699387" y="5000625"/>
            <a:ext cx="0" cy="994693"/>
            <a:chOff x="1699387" y="5000625"/>
            <a:chExt cx="0" cy="994693"/>
          </a:xfrm>
        </p:grpSpPr>
        <p:cxnSp>
          <p:nvCxnSpPr>
            <p:cNvPr id="8" name="直線コネクタ 7">
              <a:extLst>
                <a:ext uri="{FF2B5EF4-FFF2-40B4-BE49-F238E27FC236}">
                  <a16:creationId xmlns:a16="http://schemas.microsoft.com/office/drawing/2014/main" id="{13E55F82-06E8-8E27-80AB-8F85C8114B35}"/>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316AE593-58AA-CAB4-0857-694BB5E35F8D}"/>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69" name="グループ化 68">
            <a:extLst>
              <a:ext uri="{FF2B5EF4-FFF2-40B4-BE49-F238E27FC236}">
                <a16:creationId xmlns:a16="http://schemas.microsoft.com/office/drawing/2014/main" id="{F05728EE-2913-8099-E68B-C80153A16F97}"/>
              </a:ext>
            </a:extLst>
          </p:cNvPr>
          <p:cNvGrpSpPr/>
          <p:nvPr/>
        </p:nvGrpSpPr>
        <p:grpSpPr>
          <a:xfrm>
            <a:off x="449262" y="5904538"/>
            <a:ext cx="4645026" cy="936000"/>
            <a:chOff x="449262" y="5904538"/>
            <a:chExt cx="4645026" cy="936000"/>
          </a:xfrm>
        </p:grpSpPr>
        <p:sp>
          <p:nvSpPr>
            <p:cNvPr id="46" name="正方形/長方形 45">
              <a:extLst>
                <a:ext uri="{FF2B5EF4-FFF2-40B4-BE49-F238E27FC236}">
                  <a16:creationId xmlns:a16="http://schemas.microsoft.com/office/drawing/2014/main" id="{DDD246D6-760A-5F58-2A9A-6D13E5553A0A}"/>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49" name="テキスト ボックス 48">
              <a:extLst>
                <a:ext uri="{FF2B5EF4-FFF2-40B4-BE49-F238E27FC236}">
                  <a16:creationId xmlns:a16="http://schemas.microsoft.com/office/drawing/2014/main" id="{D6F959E7-7920-2955-B88B-FC38F1821698}"/>
                </a:ext>
              </a:extLst>
            </p:cNvPr>
            <p:cNvSpPr txBox="1"/>
            <p:nvPr/>
          </p:nvSpPr>
          <p:spPr>
            <a:xfrm>
              <a:off x="449262" y="5904538"/>
              <a:ext cx="4645025"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類似会社</a:t>
              </a:r>
              <a:r>
                <a:rPr lang="en-US" altLang="ja-JP" sz="1200" b="1" spc="30" dirty="0">
                  <a:latin typeface="+mj-ea"/>
                  <a:ea typeface="+mj-ea"/>
                </a:rPr>
                <a:t>EBITDA</a:t>
              </a:r>
              <a:r>
                <a:rPr lang="ja-JP" altLang="en-US" sz="1200" b="1" spc="30" dirty="0">
                  <a:latin typeface="+mj-ea"/>
                  <a:ea typeface="+mj-ea"/>
                </a:rPr>
                <a:t>と事業価値の関係（</a:t>
              </a:r>
              <a:r>
                <a:rPr lang="en-US" altLang="ja-JP" sz="1200" b="1" spc="30" dirty="0">
                  <a:latin typeface="+mj-ea"/>
                  <a:ea typeface="+mj-ea"/>
                </a:rPr>
                <a:t>EV</a:t>
              </a:r>
              <a:r>
                <a:rPr lang="ja-JP" altLang="en-US" sz="1200" b="1" spc="30" dirty="0">
                  <a:latin typeface="+mj-ea"/>
                  <a:ea typeface="+mj-ea"/>
                </a:rPr>
                <a:t>／</a:t>
              </a:r>
              <a:r>
                <a:rPr lang="en-US" altLang="ja-JP" sz="1200" b="1" spc="30" dirty="0">
                  <a:latin typeface="+mj-ea"/>
                  <a:ea typeface="+mj-ea"/>
                </a:rPr>
                <a:t>EBITDA</a:t>
              </a:r>
              <a:r>
                <a:rPr lang="ja-JP" altLang="en-US" sz="1200" b="1" spc="30" dirty="0">
                  <a:latin typeface="+mj-ea"/>
                  <a:ea typeface="+mj-ea"/>
                </a:rPr>
                <a:t>倍率）</a:t>
              </a:r>
              <a:br>
                <a:rPr lang="en-US" altLang="ja-JP" sz="1200" b="1" spc="30" dirty="0">
                  <a:latin typeface="+mj-ea"/>
                  <a:ea typeface="+mj-ea"/>
                </a:rPr>
              </a:br>
              <a:r>
                <a:rPr lang="ja-JP" altLang="en-US" sz="1200" b="1" spc="30" dirty="0">
                  <a:latin typeface="+mj-ea"/>
                  <a:ea typeface="+mj-ea"/>
                </a:rPr>
                <a:t>などを基に、対象会社の事業価値を推定</a:t>
              </a:r>
            </a:p>
            <a:p>
              <a:pPr>
                <a:lnSpc>
                  <a:spcPct val="120000"/>
                </a:lnSpc>
                <a:spcAft>
                  <a:spcPts val="300"/>
                </a:spcAft>
              </a:pPr>
              <a:r>
                <a:rPr lang="ja-JP" altLang="en-US" sz="800" spc="30" dirty="0">
                  <a:latin typeface="+mn-ea"/>
                </a:rPr>
                <a:t>注）</a:t>
              </a:r>
              <a:r>
                <a:rPr lang="en-US" altLang="ja-JP" sz="800" spc="30" dirty="0">
                  <a:latin typeface="+mn-ea"/>
                </a:rPr>
                <a:t>EBITDA = </a:t>
              </a:r>
              <a:r>
                <a:rPr lang="ja-JP" altLang="en-US" sz="800" spc="30" dirty="0">
                  <a:latin typeface="+mn-ea"/>
                </a:rPr>
                <a:t>営業利益</a:t>
              </a:r>
              <a:r>
                <a:rPr lang="en-US" altLang="ja-JP" sz="800" spc="30" dirty="0">
                  <a:latin typeface="+mn-ea"/>
                </a:rPr>
                <a:t>+</a:t>
              </a:r>
              <a:r>
                <a:rPr lang="ja-JP" altLang="en-US" sz="800" spc="30" dirty="0">
                  <a:latin typeface="+mn-ea"/>
                </a:rPr>
                <a:t>減価償却費</a:t>
              </a:r>
            </a:p>
          </p:txBody>
        </p:sp>
        <p:cxnSp>
          <p:nvCxnSpPr>
            <p:cNvPr id="50" name="直線コネクタ 49">
              <a:extLst>
                <a:ext uri="{FF2B5EF4-FFF2-40B4-BE49-F238E27FC236}">
                  <a16:creationId xmlns:a16="http://schemas.microsoft.com/office/drawing/2014/main" id="{7ED94AD9-9276-0DD1-0F07-5C0AA778CDD4}"/>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1328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02CC5-4A70-9BA5-23BB-240CCBE80DDF}"/>
            </a:ext>
          </a:extLst>
        </p:cNvPr>
        <p:cNvGrpSpPr/>
        <p:nvPr/>
      </p:nvGrpSpPr>
      <p:grpSpPr>
        <a:xfrm>
          <a:off x="0" y="0"/>
          <a:ext cx="0" cy="0"/>
          <a:chOff x="0" y="0"/>
          <a:chExt cx="0" cy="0"/>
        </a:xfrm>
      </p:grpSpPr>
      <p:sp>
        <p:nvSpPr>
          <p:cNvPr id="9" name="字幕 8">
            <a:extLst>
              <a:ext uri="{FF2B5EF4-FFF2-40B4-BE49-F238E27FC236}">
                <a16:creationId xmlns:a16="http://schemas.microsoft.com/office/drawing/2014/main" id="{5E652DDE-FC50-06D0-6007-4EFF8504B8A7}"/>
              </a:ext>
            </a:extLst>
          </p:cNvPr>
          <p:cNvSpPr>
            <a:spLocks noGrp="1"/>
          </p:cNvSpPr>
          <p:nvPr>
            <p:ph type="subTitle" idx="1"/>
          </p:nvPr>
        </p:nvSpPr>
        <p:spPr/>
        <p:txBody>
          <a:bodyPr/>
          <a:lstStyle/>
          <a:p>
            <a:r>
              <a:rPr lang="ja-JP" altLang="en-US" dirty="0"/>
              <a:t>企業の収益力に着目した評価手法です</a:t>
            </a:r>
          </a:p>
        </p:txBody>
      </p:sp>
      <p:sp>
        <p:nvSpPr>
          <p:cNvPr id="4" name="タイトル 3">
            <a:extLst>
              <a:ext uri="{FF2B5EF4-FFF2-40B4-BE49-F238E27FC236}">
                <a16:creationId xmlns:a16="http://schemas.microsoft.com/office/drawing/2014/main" id="{FFE38F29-F212-752E-6C19-CA3D96CC356E}"/>
              </a:ext>
            </a:extLst>
          </p:cNvPr>
          <p:cNvSpPr>
            <a:spLocks noGrp="1"/>
          </p:cNvSpPr>
          <p:nvPr>
            <p:ph type="ctrTitle"/>
          </p:nvPr>
        </p:nvSpPr>
        <p:spPr/>
        <p:txBody>
          <a:bodyPr/>
          <a:lstStyle/>
          <a:p>
            <a:r>
              <a:rPr lang="ja-JP" altLang="en-US" dirty="0"/>
              <a:t>インカムアプローチ手法</a:t>
            </a:r>
          </a:p>
        </p:txBody>
      </p:sp>
      <p:sp>
        <p:nvSpPr>
          <p:cNvPr id="2" name="タイトル 1">
            <a:extLst>
              <a:ext uri="{FF2B5EF4-FFF2-40B4-BE49-F238E27FC236}">
                <a16:creationId xmlns:a16="http://schemas.microsoft.com/office/drawing/2014/main" id="{AEBF88FC-3703-F3A9-D83A-1E1EBE33042A}"/>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5" name="正方形/長方形 4">
            <a:extLst>
              <a:ext uri="{FF2B5EF4-FFF2-40B4-BE49-F238E27FC236}">
                <a16:creationId xmlns:a16="http://schemas.microsoft.com/office/drawing/2014/main" id="{51757ADD-D8C2-EDEA-FE7B-B03B7CAA5DEB}"/>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 name="直線コネクタ 5">
            <a:extLst>
              <a:ext uri="{FF2B5EF4-FFF2-40B4-BE49-F238E27FC236}">
                <a16:creationId xmlns:a16="http://schemas.microsoft.com/office/drawing/2014/main" id="{9181DFED-6EBF-6AE9-32E4-635F90483513}"/>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184E77D0-4F35-4503-1CD3-C659E26576DB}"/>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配当還元法</a:t>
            </a:r>
          </a:p>
        </p:txBody>
      </p:sp>
      <p:sp>
        <p:nvSpPr>
          <p:cNvPr id="21" name="正方形/長方形 20">
            <a:extLst>
              <a:ext uri="{FF2B5EF4-FFF2-40B4-BE49-F238E27FC236}">
                <a16:creationId xmlns:a16="http://schemas.microsoft.com/office/drawing/2014/main" id="{31D361ED-E6A5-A58B-5211-3B46544A957E}"/>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8A8C5FE6-D1A6-2D3E-109B-90E96B766163}"/>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8E8F2D71-634C-D328-79A5-E70F70038AD6}"/>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10000"/>
              </a:lnSpc>
              <a:spcAft>
                <a:spcPts val="400"/>
              </a:spcAft>
              <a:buClr>
                <a:schemeClr val="tx2"/>
              </a:buClr>
              <a:buSzPct val="80000"/>
            </a:pPr>
            <a:r>
              <a:rPr lang="en-US" altLang="ja-JP" b="1" spc="70" dirty="0">
                <a:solidFill>
                  <a:schemeClr val="bg1"/>
                </a:solidFill>
                <a:latin typeface="+mj-ea"/>
                <a:ea typeface="+mj-ea"/>
              </a:rPr>
              <a:t>DCF</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a:p>
            <a:pPr algn="ctr">
              <a:lnSpc>
                <a:spcPct val="110000"/>
              </a:lnSpc>
              <a:spcAft>
                <a:spcPts val="400"/>
              </a:spcAft>
              <a:buClr>
                <a:schemeClr val="tx2"/>
              </a:buClr>
              <a:buSzPct val="80000"/>
            </a:pPr>
            <a:r>
              <a:rPr lang="ja-JP" altLang="en-US" sz="1100" b="1" dirty="0">
                <a:solidFill>
                  <a:schemeClr val="bg1"/>
                </a:solidFill>
                <a:latin typeface="+mj-ea"/>
                <a:ea typeface="+mj-ea"/>
              </a:rPr>
              <a:t>（ディスカウンティドキャッシュフロー法）</a:t>
            </a:r>
          </a:p>
        </p:txBody>
      </p:sp>
      <p:sp>
        <p:nvSpPr>
          <p:cNvPr id="24" name="正方形/長方形 23">
            <a:extLst>
              <a:ext uri="{FF2B5EF4-FFF2-40B4-BE49-F238E27FC236}">
                <a16:creationId xmlns:a16="http://schemas.microsoft.com/office/drawing/2014/main" id="{54178412-3F4F-D5FF-E407-B6CBB537C263}"/>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5" name="テキスト ボックス 24">
            <a:extLst>
              <a:ext uri="{FF2B5EF4-FFF2-40B4-BE49-F238E27FC236}">
                <a16:creationId xmlns:a16="http://schemas.microsoft.com/office/drawing/2014/main" id="{D033D084-2EF2-C8AE-242E-CCB4838611A6}"/>
              </a:ext>
            </a:extLst>
          </p:cNvPr>
          <p:cNvSpPr txBox="1"/>
          <p:nvPr/>
        </p:nvSpPr>
        <p:spPr>
          <a:xfrm>
            <a:off x="3151381" y="1793318"/>
            <a:ext cx="6732000" cy="803040"/>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企業の予想利益を資本還元率で割り戻し、株式価値を算定する手法</a:t>
            </a:r>
            <a:endParaRPr lang="en-US" altLang="ja-JP" dirty="0"/>
          </a:p>
          <a:p>
            <a:r>
              <a:rPr lang="ja-JP" altLang="en-US" sz="1200" b="0" dirty="0">
                <a:solidFill>
                  <a:schemeClr val="tx1"/>
                </a:solidFill>
                <a:latin typeface="+mn-ea"/>
                <a:ea typeface="+mn-ea"/>
              </a:rPr>
              <a:t>算出には、信頼性の高い利益またはキャッシュフローの計画値が求められます。そのため、</a:t>
            </a:r>
            <a:br>
              <a:rPr lang="en-US" altLang="ja-JP" sz="1200" b="0" dirty="0">
                <a:solidFill>
                  <a:schemeClr val="tx1"/>
                </a:solidFill>
                <a:latin typeface="+mn-ea"/>
                <a:ea typeface="+mn-ea"/>
              </a:rPr>
            </a:br>
            <a:r>
              <a:rPr lang="ja-JP" altLang="en-US" sz="1200" b="0" dirty="0">
                <a:solidFill>
                  <a:schemeClr val="tx1"/>
                </a:solidFill>
                <a:latin typeface="+mn-ea"/>
                <a:ea typeface="+mn-ea"/>
              </a:rPr>
              <a:t>詳細な事業計画が存在しない場合は適用が困難となります。</a:t>
            </a:r>
          </a:p>
        </p:txBody>
      </p:sp>
      <p:sp>
        <p:nvSpPr>
          <p:cNvPr id="26" name="テキスト ボックス 25">
            <a:extLst>
              <a:ext uri="{FF2B5EF4-FFF2-40B4-BE49-F238E27FC236}">
                <a16:creationId xmlns:a16="http://schemas.microsoft.com/office/drawing/2014/main" id="{CE667EFF-371C-5A41-258F-C16BF6E767FA}"/>
              </a:ext>
            </a:extLst>
          </p:cNvPr>
          <p:cNvSpPr txBox="1"/>
          <p:nvPr/>
        </p:nvSpPr>
        <p:spPr>
          <a:xfrm>
            <a:off x="3151381" y="3515835"/>
            <a:ext cx="6732000" cy="1319913"/>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spc="0" dirty="0"/>
              <a:t>将来のキャッシュフローを現在価値に割り引き、株式価値を算定する手法</a:t>
            </a:r>
            <a:endParaRPr lang="en-US" altLang="ja-JP" spc="0" dirty="0"/>
          </a:p>
          <a:p>
            <a:r>
              <a:rPr lang="ja-JP" altLang="en-US" sz="1200" b="0" dirty="0">
                <a:solidFill>
                  <a:schemeClr val="tx1"/>
                </a:solidFill>
                <a:latin typeface="+mn-ea"/>
                <a:ea typeface="+mn-ea"/>
              </a:rPr>
              <a:t>利益や純資産が乏しく、他手法では価値がつきにくいベンチャー企業などでも評価が可能です。事業計画に基づきリスクを織り込んで算出しますが、適用には少なくとも</a:t>
            </a:r>
            <a:r>
              <a:rPr lang="en-US" altLang="ja-JP" sz="1200" b="0" dirty="0">
                <a:solidFill>
                  <a:schemeClr val="tx1"/>
                </a:solidFill>
                <a:latin typeface="+mn-ea"/>
                <a:ea typeface="+mn-ea"/>
              </a:rPr>
              <a:t>3</a:t>
            </a:r>
            <a:r>
              <a:rPr lang="ja-JP" altLang="en-US" sz="1200" b="0" dirty="0">
                <a:solidFill>
                  <a:schemeClr val="tx1"/>
                </a:solidFill>
                <a:latin typeface="+mn-ea"/>
                <a:ea typeface="+mn-ea"/>
              </a:rPr>
              <a:t>～</a:t>
            </a:r>
            <a:r>
              <a:rPr lang="en-US" altLang="ja-JP" sz="1200" b="0" dirty="0">
                <a:solidFill>
                  <a:schemeClr val="tx1"/>
                </a:solidFill>
                <a:latin typeface="+mn-ea"/>
                <a:ea typeface="+mn-ea"/>
              </a:rPr>
              <a:t>5</a:t>
            </a:r>
            <a:r>
              <a:rPr lang="ja-JP" altLang="en-US" sz="1200" b="0" dirty="0">
                <a:solidFill>
                  <a:schemeClr val="tx1"/>
                </a:solidFill>
                <a:latin typeface="+mn-ea"/>
                <a:ea typeface="+mn-ea"/>
              </a:rPr>
              <a:t>年の信頼性ある計画が必要となります。</a:t>
            </a:r>
          </a:p>
        </p:txBody>
      </p:sp>
      <p:sp>
        <p:nvSpPr>
          <p:cNvPr id="27" name="テキスト ボックス 26">
            <a:extLst>
              <a:ext uri="{FF2B5EF4-FFF2-40B4-BE49-F238E27FC236}">
                <a16:creationId xmlns:a16="http://schemas.microsoft.com/office/drawing/2014/main" id="{D5D6F95D-4AE5-5685-6247-3989D4FCDF2C}"/>
              </a:ext>
            </a:extLst>
          </p:cNvPr>
          <p:cNvSpPr txBox="1"/>
          <p:nvPr/>
        </p:nvSpPr>
        <p:spPr>
          <a:xfrm>
            <a:off x="3151381" y="5646478"/>
            <a:ext cx="6696000" cy="803040"/>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0">
                <a:solidFill>
                  <a:schemeClr val="tx2"/>
                </a:solidFill>
                <a:latin typeface="+mj-ea"/>
                <a:ea typeface="+mj-ea"/>
              </a:defRPr>
            </a:lvl1pPr>
          </a:lstStyle>
          <a:p>
            <a:r>
              <a:rPr lang="ja-JP" altLang="en-US" spc="30" dirty="0"/>
              <a:t>企業からの配当額を資本還元率で割り戻し、株式価値を算定する手法</a:t>
            </a:r>
            <a:endParaRPr lang="en-US" altLang="ja-JP" spc="30" dirty="0"/>
          </a:p>
          <a:p>
            <a:r>
              <a:rPr lang="ja-JP" altLang="en-US" sz="1200" b="0" spc="30" dirty="0">
                <a:solidFill>
                  <a:schemeClr val="tx1"/>
                </a:solidFill>
                <a:latin typeface="+mn-ea"/>
                <a:ea typeface="+mn-ea"/>
              </a:rPr>
              <a:t>収益力ではなく、配当額（投資効率）に着目する点が特徴です。そのため、事業のシナジーを求める一般的な</a:t>
            </a:r>
            <a:r>
              <a:rPr lang="en-US" altLang="ja-JP" sz="1200" b="0" spc="30" dirty="0">
                <a:solidFill>
                  <a:schemeClr val="tx1"/>
                </a:solidFill>
                <a:latin typeface="+mn-ea"/>
                <a:ea typeface="+mn-ea"/>
              </a:rPr>
              <a:t>M&amp;A</a:t>
            </a:r>
            <a:r>
              <a:rPr lang="ja-JP" altLang="en-US" sz="1200" b="0" spc="30" dirty="0">
                <a:solidFill>
                  <a:schemeClr val="tx1"/>
                </a:solidFill>
                <a:latin typeface="+mn-ea"/>
                <a:ea typeface="+mn-ea"/>
              </a:rPr>
              <a:t>において採用されるケースは稀となります。</a:t>
            </a:r>
          </a:p>
        </p:txBody>
      </p:sp>
      <p:cxnSp>
        <p:nvCxnSpPr>
          <p:cNvPr id="28" name="直線コネクタ 27">
            <a:extLst>
              <a:ext uri="{FF2B5EF4-FFF2-40B4-BE49-F238E27FC236}">
                <a16:creationId xmlns:a16="http://schemas.microsoft.com/office/drawing/2014/main" id="{261C4654-F32C-3FEC-775B-BC5323B4861A}"/>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9" name="正方形/長方形 28">
            <a:extLst>
              <a:ext uri="{FF2B5EF4-FFF2-40B4-BE49-F238E27FC236}">
                <a16:creationId xmlns:a16="http://schemas.microsoft.com/office/drawing/2014/main" id="{E525FDFA-0BC0-214F-3326-2880FEF0CEBD}"/>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収益還元法</a:t>
            </a:r>
          </a:p>
        </p:txBody>
      </p:sp>
    </p:spTree>
    <p:extLst>
      <p:ext uri="{BB962C8B-B14F-4D97-AF65-F5344CB8AC3E}">
        <p14:creationId xmlns:p14="http://schemas.microsoft.com/office/powerpoint/2010/main" val="1087763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グループ化 32">
            <a:extLst>
              <a:ext uri="{FF2B5EF4-FFF2-40B4-BE49-F238E27FC236}">
                <a16:creationId xmlns:a16="http://schemas.microsoft.com/office/drawing/2014/main" id="{7E24A507-7EFB-6F06-9053-803591629582}"/>
              </a:ext>
            </a:extLst>
          </p:cNvPr>
          <p:cNvGrpSpPr/>
          <p:nvPr/>
        </p:nvGrpSpPr>
        <p:grpSpPr>
          <a:xfrm>
            <a:off x="5548854" y="1675201"/>
            <a:ext cx="4696871" cy="3868349"/>
            <a:chOff x="5548854" y="2127271"/>
            <a:chExt cx="4696871" cy="3391427"/>
          </a:xfrm>
        </p:grpSpPr>
        <p:sp>
          <p:nvSpPr>
            <p:cNvPr id="134" name="四角形: 角を丸くする 50">
              <a:extLst>
                <a:ext uri="{FF2B5EF4-FFF2-40B4-BE49-F238E27FC236}">
                  <a16:creationId xmlns:a16="http://schemas.microsoft.com/office/drawing/2014/main" id="{FF672963-F0DE-5552-9A64-298EB1B0AFBF}"/>
                </a:ext>
              </a:extLst>
            </p:cNvPr>
            <p:cNvSpPr/>
            <p:nvPr/>
          </p:nvSpPr>
          <p:spPr>
            <a:xfrm>
              <a:off x="7232131" y="2924175"/>
              <a:ext cx="2065178" cy="25945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kumimoji="1" lang="ja-JP" altLang="en-US" sz="1200" b="1" spc="50" dirty="0">
                  <a:solidFill>
                    <a:schemeClr val="accent4"/>
                  </a:solidFill>
                  <a:latin typeface="+mj-ea"/>
                  <a:ea typeface="+mj-ea"/>
                </a:rPr>
                <a:t>事業価値</a:t>
              </a:r>
            </a:p>
          </p:txBody>
        </p:sp>
        <p:sp>
          <p:nvSpPr>
            <p:cNvPr id="135" name="テキスト ボックス 134">
              <a:extLst>
                <a:ext uri="{FF2B5EF4-FFF2-40B4-BE49-F238E27FC236}">
                  <a16:creationId xmlns:a16="http://schemas.microsoft.com/office/drawing/2014/main" id="{32C4761A-BFFD-5050-DF3F-1FA952FBA59E}"/>
                </a:ext>
              </a:extLst>
            </p:cNvPr>
            <p:cNvSpPr txBox="1"/>
            <p:nvPr/>
          </p:nvSpPr>
          <p:spPr>
            <a:xfrm>
              <a:off x="6077821" y="5086752"/>
              <a:ext cx="403957" cy="243263"/>
            </a:xfrm>
            <a:prstGeom prst="rect">
              <a:avLst/>
            </a:prstGeom>
            <a:noFill/>
          </p:spPr>
          <p:txBody>
            <a:bodyPr wrap="none" lIns="0" tIns="72000" rIns="0" bIns="0" rtlCol="0">
              <a:spAutoFit/>
            </a:bodyPr>
            <a:lstStyle/>
            <a:p>
              <a:pPr algn="ctr">
                <a:lnSpc>
                  <a:spcPct val="110000"/>
                </a:lnSpc>
              </a:pPr>
              <a:r>
                <a:rPr kumimoji="1" lang="ja-JP" altLang="en-US" sz="1050" dirty="0">
                  <a:latin typeface="+mn-ea"/>
                </a:rPr>
                <a:t>基準日</a:t>
              </a:r>
            </a:p>
          </p:txBody>
        </p:sp>
        <p:grpSp>
          <p:nvGrpSpPr>
            <p:cNvPr id="188" name="グループ化 187">
              <a:extLst>
                <a:ext uri="{FF2B5EF4-FFF2-40B4-BE49-F238E27FC236}">
                  <a16:creationId xmlns:a16="http://schemas.microsoft.com/office/drawing/2014/main" id="{DD613AD1-A298-CD04-1E9A-0753487FD1EC}"/>
                </a:ext>
              </a:extLst>
            </p:cNvPr>
            <p:cNvGrpSpPr/>
            <p:nvPr/>
          </p:nvGrpSpPr>
          <p:grpSpPr>
            <a:xfrm>
              <a:off x="8092396" y="4472940"/>
              <a:ext cx="344646" cy="857075"/>
              <a:chOff x="8160299" y="4472940"/>
              <a:chExt cx="344646" cy="857075"/>
            </a:xfrm>
          </p:grpSpPr>
          <p:sp>
            <p:nvSpPr>
              <p:cNvPr id="168" name="正方形/長方形 167">
                <a:extLst>
                  <a:ext uri="{FF2B5EF4-FFF2-40B4-BE49-F238E27FC236}">
                    <a16:creationId xmlns:a16="http://schemas.microsoft.com/office/drawing/2014/main" id="{53B5C1DA-1C2C-7465-4B32-C087AAF180AD}"/>
                  </a:ext>
                </a:extLst>
              </p:cNvPr>
              <p:cNvSpPr/>
              <p:nvPr/>
            </p:nvSpPr>
            <p:spPr>
              <a:xfrm>
                <a:off x="8171785" y="4472940"/>
                <a:ext cx="321677" cy="61400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3</a:t>
                </a:r>
              </a:p>
            </p:txBody>
          </p:sp>
          <p:sp>
            <p:nvSpPr>
              <p:cNvPr id="169" name="テキスト ボックス 168">
                <a:extLst>
                  <a:ext uri="{FF2B5EF4-FFF2-40B4-BE49-F238E27FC236}">
                    <a16:creationId xmlns:a16="http://schemas.microsoft.com/office/drawing/2014/main" id="{7B5EE29E-92D8-BCFE-F77C-7486223D1CA8}"/>
                  </a:ext>
                </a:extLst>
              </p:cNvPr>
              <p:cNvSpPr txBox="1"/>
              <p:nvPr/>
            </p:nvSpPr>
            <p:spPr>
              <a:xfrm>
                <a:off x="8160299"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3</a:t>
                </a:r>
                <a:r>
                  <a:rPr kumimoji="1" lang="ja-JP" altLang="en-US" sz="1050" dirty="0">
                    <a:latin typeface="+mn-ea"/>
                  </a:rPr>
                  <a:t>年目</a:t>
                </a:r>
              </a:p>
            </p:txBody>
          </p:sp>
        </p:grpSp>
        <p:grpSp>
          <p:nvGrpSpPr>
            <p:cNvPr id="189" name="グループ化 188">
              <a:extLst>
                <a:ext uri="{FF2B5EF4-FFF2-40B4-BE49-F238E27FC236}">
                  <a16:creationId xmlns:a16="http://schemas.microsoft.com/office/drawing/2014/main" id="{55AAEE86-DA84-9B20-B3B0-3BC98A7FA519}"/>
                </a:ext>
              </a:extLst>
            </p:cNvPr>
            <p:cNvGrpSpPr/>
            <p:nvPr/>
          </p:nvGrpSpPr>
          <p:grpSpPr>
            <a:xfrm>
              <a:off x="8493158" y="4118610"/>
              <a:ext cx="344646" cy="1211405"/>
              <a:chOff x="8561061" y="4118610"/>
              <a:chExt cx="344646" cy="1211405"/>
            </a:xfrm>
          </p:grpSpPr>
          <p:sp>
            <p:nvSpPr>
              <p:cNvPr id="171" name="正方形/長方形 170">
                <a:extLst>
                  <a:ext uri="{FF2B5EF4-FFF2-40B4-BE49-F238E27FC236}">
                    <a16:creationId xmlns:a16="http://schemas.microsoft.com/office/drawing/2014/main" id="{B9E5DAB5-3A98-27C0-0565-B7BB65647783}"/>
                  </a:ext>
                </a:extLst>
              </p:cNvPr>
              <p:cNvSpPr/>
              <p:nvPr/>
            </p:nvSpPr>
            <p:spPr>
              <a:xfrm>
                <a:off x="8572547" y="4118610"/>
                <a:ext cx="321677" cy="96833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4</a:t>
                </a:r>
              </a:p>
            </p:txBody>
          </p:sp>
          <p:sp>
            <p:nvSpPr>
              <p:cNvPr id="172" name="テキスト ボックス 171">
                <a:extLst>
                  <a:ext uri="{FF2B5EF4-FFF2-40B4-BE49-F238E27FC236}">
                    <a16:creationId xmlns:a16="http://schemas.microsoft.com/office/drawing/2014/main" id="{C6305F74-B93E-6DBE-1BE7-5414B7A7391D}"/>
                  </a:ext>
                </a:extLst>
              </p:cNvPr>
              <p:cNvSpPr txBox="1"/>
              <p:nvPr/>
            </p:nvSpPr>
            <p:spPr>
              <a:xfrm>
                <a:off x="8561061"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4</a:t>
                </a:r>
                <a:r>
                  <a:rPr kumimoji="1" lang="ja-JP" altLang="en-US" sz="1050" dirty="0">
                    <a:latin typeface="+mn-ea"/>
                  </a:rPr>
                  <a:t>年目</a:t>
                </a:r>
              </a:p>
            </p:txBody>
          </p:sp>
        </p:grpSp>
        <p:grpSp>
          <p:nvGrpSpPr>
            <p:cNvPr id="191" name="グループ化 190">
              <a:extLst>
                <a:ext uri="{FF2B5EF4-FFF2-40B4-BE49-F238E27FC236}">
                  <a16:creationId xmlns:a16="http://schemas.microsoft.com/office/drawing/2014/main" id="{37DD0506-4A61-D916-1F07-F52EED748A4A}"/>
                </a:ext>
              </a:extLst>
            </p:cNvPr>
            <p:cNvGrpSpPr/>
            <p:nvPr/>
          </p:nvGrpSpPr>
          <p:grpSpPr>
            <a:xfrm>
              <a:off x="8893922" y="3849688"/>
              <a:ext cx="344646" cy="1480327"/>
              <a:chOff x="8961825" y="3849688"/>
              <a:chExt cx="344646" cy="1480327"/>
            </a:xfrm>
          </p:grpSpPr>
          <p:sp>
            <p:nvSpPr>
              <p:cNvPr id="174" name="正方形/長方形 173">
                <a:extLst>
                  <a:ext uri="{FF2B5EF4-FFF2-40B4-BE49-F238E27FC236}">
                    <a16:creationId xmlns:a16="http://schemas.microsoft.com/office/drawing/2014/main" id="{9A4BCA07-98E4-C214-92BA-60DC1181328F}"/>
                  </a:ext>
                </a:extLst>
              </p:cNvPr>
              <p:cNvSpPr/>
              <p:nvPr/>
            </p:nvSpPr>
            <p:spPr>
              <a:xfrm>
                <a:off x="8973311" y="3849688"/>
                <a:ext cx="321677" cy="12372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5</a:t>
                </a:r>
              </a:p>
            </p:txBody>
          </p:sp>
          <p:sp>
            <p:nvSpPr>
              <p:cNvPr id="175" name="テキスト ボックス 174">
                <a:extLst>
                  <a:ext uri="{FF2B5EF4-FFF2-40B4-BE49-F238E27FC236}">
                    <a16:creationId xmlns:a16="http://schemas.microsoft.com/office/drawing/2014/main" id="{2DB05B72-22B2-A918-2B94-EA6439494F61}"/>
                  </a:ext>
                </a:extLst>
              </p:cNvPr>
              <p:cNvSpPr txBox="1"/>
              <p:nvPr/>
            </p:nvSpPr>
            <p:spPr>
              <a:xfrm>
                <a:off x="8961825"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5</a:t>
                </a:r>
                <a:r>
                  <a:rPr kumimoji="1" lang="ja-JP" altLang="en-US" sz="1050" dirty="0">
                    <a:latin typeface="+mn-ea"/>
                  </a:rPr>
                  <a:t>年目</a:t>
                </a:r>
              </a:p>
            </p:txBody>
          </p:sp>
        </p:grpSp>
        <p:sp>
          <p:nvSpPr>
            <p:cNvPr id="178" name="右大かっこ 177">
              <a:extLst>
                <a:ext uri="{FF2B5EF4-FFF2-40B4-BE49-F238E27FC236}">
                  <a16:creationId xmlns:a16="http://schemas.microsoft.com/office/drawing/2014/main" id="{269D27AF-FF9B-F318-B012-22BF32F866B0}"/>
                </a:ext>
              </a:extLst>
            </p:cNvPr>
            <p:cNvSpPr/>
            <p:nvPr/>
          </p:nvSpPr>
          <p:spPr>
            <a:xfrm flipH="1">
              <a:off x="5676127" y="2150269"/>
              <a:ext cx="92213" cy="2936081"/>
            </a:xfrm>
            <a:prstGeom prst="rightBracket">
              <a:avLst>
                <a:gd name="adj" fmla="val 0"/>
              </a:avLst>
            </a:prstGeom>
            <a:ln w="12700">
              <a:solidFill>
                <a:schemeClr val="accent4"/>
              </a:solidFill>
              <a:prstDash val="solid"/>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82" name="テキスト ボックス 181">
              <a:extLst>
                <a:ext uri="{FF2B5EF4-FFF2-40B4-BE49-F238E27FC236}">
                  <a16:creationId xmlns:a16="http://schemas.microsoft.com/office/drawing/2014/main" id="{F90B542C-094E-0CE3-5F93-9C2B1E5FD77D}"/>
                </a:ext>
              </a:extLst>
            </p:cNvPr>
            <p:cNvSpPr txBox="1"/>
            <p:nvPr/>
          </p:nvSpPr>
          <p:spPr>
            <a:xfrm>
              <a:off x="9858980" y="2984045"/>
              <a:ext cx="319318" cy="400815"/>
            </a:xfrm>
            <a:prstGeom prst="rect">
              <a:avLst/>
            </a:prstGeom>
            <a:noFill/>
          </p:spPr>
          <p:txBody>
            <a:bodyPr wrap="none" lIns="0" tIns="0" rIns="0" bIns="0" rtlCol="0">
              <a:spAutoFit/>
            </a:bodyPr>
            <a:lstStyle/>
            <a:p>
              <a:pPr algn="ctr">
                <a:lnSpc>
                  <a:spcPct val="110000"/>
                </a:lnSpc>
              </a:pPr>
              <a:r>
                <a:rPr kumimoji="1" lang="zh-TW" altLang="en-US" sz="800" spc="30" dirty="0">
                  <a:latin typeface="+mn-ea"/>
                </a:rPr>
                <a:t>永久</a:t>
              </a:r>
            </a:p>
            <a:p>
              <a:pPr algn="ctr">
                <a:lnSpc>
                  <a:spcPct val="110000"/>
                </a:lnSpc>
              </a:pPr>
              <a:r>
                <a:rPr kumimoji="1" lang="zh-TW" altLang="en-US" sz="800" spc="30" dirty="0">
                  <a:latin typeface="+mn-ea"/>
                </a:rPr>
                <a:t>成長率</a:t>
              </a:r>
            </a:p>
            <a:p>
              <a:pPr algn="ctr">
                <a:lnSpc>
                  <a:spcPct val="110000"/>
                </a:lnSpc>
              </a:pPr>
              <a:r>
                <a:rPr kumimoji="1" lang="zh-TW" altLang="en-US" sz="800" spc="30" dirty="0">
                  <a:latin typeface="+mn-ea"/>
                </a:rPr>
                <a:t>（</a:t>
              </a:r>
              <a:r>
                <a:rPr kumimoji="1" lang="en-US" altLang="zh-TW" sz="800" spc="30" dirty="0">
                  <a:latin typeface="+mn-ea"/>
                </a:rPr>
                <a:t>g</a:t>
              </a:r>
              <a:r>
                <a:rPr kumimoji="1" lang="zh-TW" altLang="en-US" sz="800" spc="30" dirty="0">
                  <a:latin typeface="+mn-ea"/>
                </a:rPr>
                <a:t>）</a:t>
              </a:r>
            </a:p>
          </p:txBody>
        </p:sp>
        <p:cxnSp>
          <p:nvCxnSpPr>
            <p:cNvPr id="183" name="直線矢印コネクタ 182">
              <a:extLst>
                <a:ext uri="{FF2B5EF4-FFF2-40B4-BE49-F238E27FC236}">
                  <a16:creationId xmlns:a16="http://schemas.microsoft.com/office/drawing/2014/main" id="{D7C7775C-C00D-B29F-AAA5-DB56CE9F6700}"/>
                </a:ext>
              </a:extLst>
            </p:cNvPr>
            <p:cNvCxnSpPr>
              <a:cxnSpLocks/>
            </p:cNvCxnSpPr>
            <p:nvPr/>
          </p:nvCxnSpPr>
          <p:spPr>
            <a:xfrm flipH="1">
              <a:off x="9790913" y="3416434"/>
              <a:ext cx="345512" cy="141870"/>
            </a:xfrm>
            <a:prstGeom prst="straightConnector1">
              <a:avLst/>
            </a:prstGeom>
            <a:ln w="31750">
              <a:solidFill>
                <a:schemeClr val="tx2"/>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90" name="テキスト ボックス 189">
              <a:extLst>
                <a:ext uri="{FF2B5EF4-FFF2-40B4-BE49-F238E27FC236}">
                  <a16:creationId xmlns:a16="http://schemas.microsoft.com/office/drawing/2014/main" id="{B42C2D5A-BB5F-18D5-CE08-607F957AC141}"/>
                </a:ext>
              </a:extLst>
            </p:cNvPr>
            <p:cNvSpPr txBox="1"/>
            <p:nvPr/>
          </p:nvSpPr>
          <p:spPr>
            <a:xfrm>
              <a:off x="9277957" y="5086752"/>
              <a:ext cx="897682" cy="364193"/>
            </a:xfrm>
            <a:prstGeom prst="rect">
              <a:avLst/>
            </a:prstGeom>
            <a:noFill/>
          </p:spPr>
          <p:txBody>
            <a:bodyPr wrap="square" lIns="0" tIns="72000" rIns="0" bIns="0" rtlCol="0">
              <a:spAutoFit/>
            </a:bodyPr>
            <a:lstStyle/>
            <a:p>
              <a:pPr algn="ctr">
                <a:lnSpc>
                  <a:spcPct val="110000"/>
                </a:lnSpc>
              </a:pPr>
              <a:r>
                <a:rPr kumimoji="1" lang="en-US" altLang="ja-JP" sz="1050" dirty="0">
                  <a:latin typeface="+mn-ea"/>
                </a:rPr>
                <a:t>6</a:t>
              </a:r>
              <a:r>
                <a:rPr kumimoji="1" lang="ja-JP" altLang="en-US" sz="1050" dirty="0">
                  <a:latin typeface="+mn-ea"/>
                </a:rPr>
                <a:t>年目</a:t>
              </a:r>
              <a:r>
                <a:rPr kumimoji="1" lang="en-US" altLang="ja-JP" sz="1050" dirty="0">
                  <a:latin typeface="+mn-ea"/>
                </a:rPr>
                <a:t>…n</a:t>
              </a:r>
              <a:r>
                <a:rPr kumimoji="1" lang="ja-JP" altLang="en-US" sz="1050" dirty="0">
                  <a:latin typeface="+mn-ea"/>
                </a:rPr>
                <a:t>年</a:t>
              </a:r>
            </a:p>
            <a:p>
              <a:pPr algn="ctr">
                <a:lnSpc>
                  <a:spcPct val="110000"/>
                </a:lnSpc>
              </a:pPr>
              <a:r>
                <a:rPr kumimoji="1" lang="ja-JP" altLang="en-US" sz="700" dirty="0">
                  <a:latin typeface="+mn-ea"/>
                </a:rPr>
                <a:t>（計画後の予測期間）</a:t>
              </a:r>
            </a:p>
          </p:txBody>
        </p:sp>
        <p:grpSp>
          <p:nvGrpSpPr>
            <p:cNvPr id="216" name="グループ化 215">
              <a:extLst>
                <a:ext uri="{FF2B5EF4-FFF2-40B4-BE49-F238E27FC236}">
                  <a16:creationId xmlns:a16="http://schemas.microsoft.com/office/drawing/2014/main" id="{7B902E2B-81A5-C49C-6DD4-589A46FD0F4B}"/>
                </a:ext>
              </a:extLst>
            </p:cNvPr>
            <p:cNvGrpSpPr/>
            <p:nvPr/>
          </p:nvGrpSpPr>
          <p:grpSpPr>
            <a:xfrm>
              <a:off x="5824043" y="2127271"/>
              <a:ext cx="911512" cy="2966818"/>
              <a:chOff x="5899334" y="2127271"/>
              <a:chExt cx="911512" cy="2966818"/>
            </a:xfrm>
          </p:grpSpPr>
          <p:sp>
            <p:nvSpPr>
              <p:cNvPr id="137" name="正方形/長方形 136">
                <a:extLst>
                  <a:ext uri="{FF2B5EF4-FFF2-40B4-BE49-F238E27FC236}">
                    <a16:creationId xmlns:a16="http://schemas.microsoft.com/office/drawing/2014/main" id="{4BB8D333-DEF7-DD07-3D7E-4422058C85F2}"/>
                  </a:ext>
                </a:extLst>
              </p:cNvPr>
              <p:cNvSpPr/>
              <p:nvPr/>
            </p:nvSpPr>
            <p:spPr>
              <a:xfrm>
                <a:off x="5899334" y="4354742"/>
                <a:ext cx="911512" cy="502444"/>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2</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38" name="正方形/長方形 137">
                <a:extLst>
                  <a:ext uri="{FF2B5EF4-FFF2-40B4-BE49-F238E27FC236}">
                    <a16:creationId xmlns:a16="http://schemas.microsoft.com/office/drawing/2014/main" id="{0FAE26AD-311C-A134-91FC-630E7DDEB112}"/>
                  </a:ext>
                </a:extLst>
              </p:cNvPr>
              <p:cNvSpPr/>
              <p:nvPr/>
            </p:nvSpPr>
            <p:spPr>
              <a:xfrm>
                <a:off x="5899334" y="3968152"/>
                <a:ext cx="911512" cy="401901"/>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3</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39" name="正方形/長方形 138">
                <a:extLst>
                  <a:ext uri="{FF2B5EF4-FFF2-40B4-BE49-F238E27FC236}">
                    <a16:creationId xmlns:a16="http://schemas.microsoft.com/office/drawing/2014/main" id="{90C3A6F7-2812-E607-AA9B-906355DC677D}"/>
                  </a:ext>
                </a:extLst>
              </p:cNvPr>
              <p:cNvSpPr/>
              <p:nvPr/>
            </p:nvSpPr>
            <p:spPr>
              <a:xfrm>
                <a:off x="5899334" y="3492768"/>
                <a:ext cx="911512" cy="490695"/>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4</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40" name="正方形/長方形 139">
                <a:extLst>
                  <a:ext uri="{FF2B5EF4-FFF2-40B4-BE49-F238E27FC236}">
                    <a16:creationId xmlns:a16="http://schemas.microsoft.com/office/drawing/2014/main" id="{2CAF7E1F-D9F4-39E1-F387-D954FF379E86}"/>
                  </a:ext>
                </a:extLst>
              </p:cNvPr>
              <p:cNvSpPr/>
              <p:nvPr/>
            </p:nvSpPr>
            <p:spPr>
              <a:xfrm>
                <a:off x="5899334" y="2931089"/>
                <a:ext cx="911512" cy="576990"/>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5</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nvGrpSpPr>
              <p:cNvPr id="148" name="グループ化 147">
                <a:extLst>
                  <a:ext uri="{FF2B5EF4-FFF2-40B4-BE49-F238E27FC236}">
                    <a16:creationId xmlns:a16="http://schemas.microsoft.com/office/drawing/2014/main" id="{F688728B-8CAC-C809-A3DB-E22CD51ED46F}"/>
                  </a:ext>
                </a:extLst>
              </p:cNvPr>
              <p:cNvGrpSpPr/>
              <p:nvPr/>
            </p:nvGrpSpPr>
            <p:grpSpPr>
              <a:xfrm>
                <a:off x="5899334" y="2127271"/>
                <a:ext cx="911512" cy="819129"/>
                <a:chOff x="4964763" y="2298721"/>
                <a:chExt cx="911512" cy="819129"/>
              </a:xfrm>
            </p:grpSpPr>
            <p:sp>
              <p:nvSpPr>
                <p:cNvPr id="141" name="正方形/長方形 140">
                  <a:extLst>
                    <a:ext uri="{FF2B5EF4-FFF2-40B4-BE49-F238E27FC236}">
                      <a16:creationId xmlns:a16="http://schemas.microsoft.com/office/drawing/2014/main" id="{CF04B7F6-2892-2A59-6A4A-97FF51C9F37A}"/>
                    </a:ext>
                  </a:extLst>
                </p:cNvPr>
                <p:cNvSpPr/>
                <p:nvPr/>
              </p:nvSpPr>
              <p:spPr>
                <a:xfrm>
                  <a:off x="4964763" y="2298721"/>
                  <a:ext cx="911512" cy="819129"/>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43200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6</a:t>
                  </a:r>
                  <a:br>
                    <a:rPr kumimoji="1" lang="en-US" altLang="ja-JP" sz="1050" b="1" baseline="-25000" dirty="0">
                      <a:solidFill>
                        <a:schemeClr val="tx1"/>
                      </a:solidFill>
                      <a:ea typeface="+mj-ea"/>
                    </a:rPr>
                  </a:br>
                  <a:r>
                    <a:rPr kumimoji="1" lang="en-US" altLang="ja-JP" sz="1050" b="1" dirty="0">
                      <a:solidFill>
                        <a:schemeClr val="tx1"/>
                      </a:solidFill>
                      <a:ea typeface="+mj-ea"/>
                    </a:rPr>
                    <a:t>~</a:t>
                  </a:r>
                  <a:br>
                    <a:rPr kumimoji="1" lang="en-US" altLang="ja-JP" sz="1050" b="1" dirty="0">
                      <a:solidFill>
                        <a:schemeClr val="tx1"/>
                      </a:solidFill>
                      <a:ea typeface="+mj-ea"/>
                    </a:rPr>
                  </a:br>
                  <a:r>
                    <a:rPr kumimoji="1" lang="en-US" altLang="ja-JP" sz="1050" b="1" dirty="0" err="1">
                      <a:solidFill>
                        <a:schemeClr val="tx1"/>
                      </a:solidFill>
                      <a:ea typeface="+mj-ea"/>
                    </a:rPr>
                    <a:t>FCF</a:t>
                  </a:r>
                  <a:r>
                    <a:rPr kumimoji="1" lang="en-US" altLang="ja-JP" sz="1050" b="1" baseline="-25000" dirty="0" err="1">
                      <a:solidFill>
                        <a:schemeClr val="tx1"/>
                      </a:solidFill>
                      <a:ea typeface="+mj-ea"/>
                    </a:rPr>
                    <a:t>n</a:t>
                  </a:r>
                  <a:endParaRPr kumimoji="1" lang="ja-JP" altLang="en-US" sz="1050" dirty="0">
                    <a:solidFill>
                      <a:schemeClr val="tx1"/>
                    </a:solidFill>
                    <a:latin typeface="+mn-ea"/>
                  </a:endParaRPr>
                </a:p>
              </p:txBody>
            </p:sp>
            <p:sp>
              <p:nvSpPr>
                <p:cNvPr id="147" name="正方形/長方形 146">
                  <a:extLst>
                    <a:ext uri="{FF2B5EF4-FFF2-40B4-BE49-F238E27FC236}">
                      <a16:creationId xmlns:a16="http://schemas.microsoft.com/office/drawing/2014/main" id="{1FA6A790-A6ED-C1BC-F89E-9204BDC74A3D}"/>
                    </a:ext>
                  </a:extLst>
                </p:cNvPr>
                <p:cNvSpPr/>
                <p:nvPr/>
              </p:nvSpPr>
              <p:spPr>
                <a:xfrm>
                  <a:off x="5318125" y="2595721"/>
                  <a:ext cx="545450" cy="225129"/>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sp>
            <p:nvSpPr>
              <p:cNvPr id="132" name="正方形/長方形 131">
                <a:extLst>
                  <a:ext uri="{FF2B5EF4-FFF2-40B4-BE49-F238E27FC236}">
                    <a16:creationId xmlns:a16="http://schemas.microsoft.com/office/drawing/2014/main" id="{8C88FEFE-1AE0-8A23-B8C5-60E6F4B181FC}"/>
                  </a:ext>
                </a:extLst>
              </p:cNvPr>
              <p:cNvSpPr/>
              <p:nvPr/>
            </p:nvSpPr>
            <p:spPr>
              <a:xfrm>
                <a:off x="5899334" y="4841874"/>
                <a:ext cx="911512" cy="252215"/>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1</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cxnSp>
          <p:nvCxnSpPr>
            <p:cNvPr id="198" name="直線矢印コネクタ 197">
              <a:extLst>
                <a:ext uri="{FF2B5EF4-FFF2-40B4-BE49-F238E27FC236}">
                  <a16:creationId xmlns:a16="http://schemas.microsoft.com/office/drawing/2014/main" id="{85317A5D-22E7-F0F4-B452-E197850104C6}"/>
                </a:ext>
              </a:extLst>
            </p:cNvPr>
            <p:cNvCxnSpPr>
              <a:cxnSpLocks/>
              <a:endCxn id="132" idx="3"/>
            </p:cNvCxnSpPr>
            <p:nvPr/>
          </p:nvCxnSpPr>
          <p:spPr>
            <a:xfrm flipH="1">
              <a:off x="6735555" y="4967981"/>
              <a:ext cx="733735" cy="1"/>
            </a:xfrm>
            <a:prstGeom prst="straightConnector1">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0" name="直線矢印コネクタ 199">
              <a:extLst>
                <a:ext uri="{FF2B5EF4-FFF2-40B4-BE49-F238E27FC236}">
                  <a16:creationId xmlns:a16="http://schemas.microsoft.com/office/drawing/2014/main" id="{919A93E6-69F2-0B82-CC5D-AFFA9FCCABF4}"/>
                </a:ext>
              </a:extLst>
            </p:cNvPr>
            <p:cNvCxnSpPr>
              <a:cxnSpLocks/>
            </p:cNvCxnSpPr>
            <p:nvPr/>
          </p:nvCxnSpPr>
          <p:spPr>
            <a:xfrm flipH="1">
              <a:off x="6735555" y="4605965"/>
              <a:ext cx="1014767" cy="0"/>
            </a:xfrm>
            <a:prstGeom prst="straightConnector1">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grpSp>
          <p:nvGrpSpPr>
            <p:cNvPr id="187" name="グループ化 186">
              <a:extLst>
                <a:ext uri="{FF2B5EF4-FFF2-40B4-BE49-F238E27FC236}">
                  <a16:creationId xmlns:a16="http://schemas.microsoft.com/office/drawing/2014/main" id="{D6662E8F-9D88-70DD-C237-907CA944A978}"/>
                </a:ext>
              </a:extLst>
            </p:cNvPr>
            <p:cNvGrpSpPr/>
            <p:nvPr/>
          </p:nvGrpSpPr>
          <p:grpSpPr>
            <a:xfrm>
              <a:off x="7691634" y="4334807"/>
              <a:ext cx="344646" cy="995208"/>
              <a:chOff x="7759537" y="4334807"/>
              <a:chExt cx="344646" cy="995208"/>
            </a:xfrm>
          </p:grpSpPr>
          <p:sp>
            <p:nvSpPr>
              <p:cNvPr id="165" name="正方形/長方形 164">
                <a:extLst>
                  <a:ext uri="{FF2B5EF4-FFF2-40B4-BE49-F238E27FC236}">
                    <a16:creationId xmlns:a16="http://schemas.microsoft.com/office/drawing/2014/main" id="{F4EA9FE8-6DDC-D672-515E-9E32FA1D924D}"/>
                  </a:ext>
                </a:extLst>
              </p:cNvPr>
              <p:cNvSpPr/>
              <p:nvPr/>
            </p:nvSpPr>
            <p:spPr>
              <a:xfrm>
                <a:off x="7771023" y="4334807"/>
                <a:ext cx="321677" cy="75213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2</a:t>
                </a:r>
              </a:p>
            </p:txBody>
          </p:sp>
          <p:sp>
            <p:nvSpPr>
              <p:cNvPr id="166" name="テキスト ボックス 165">
                <a:extLst>
                  <a:ext uri="{FF2B5EF4-FFF2-40B4-BE49-F238E27FC236}">
                    <a16:creationId xmlns:a16="http://schemas.microsoft.com/office/drawing/2014/main" id="{92E13BEB-E7CF-F90E-8762-CC8DEE4C38D1}"/>
                  </a:ext>
                </a:extLst>
              </p:cNvPr>
              <p:cNvSpPr txBox="1"/>
              <p:nvPr/>
            </p:nvSpPr>
            <p:spPr>
              <a:xfrm>
                <a:off x="7759537"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2</a:t>
                </a:r>
                <a:r>
                  <a:rPr kumimoji="1" lang="ja-JP" altLang="en-US" sz="1050" dirty="0">
                    <a:latin typeface="+mn-ea"/>
                  </a:rPr>
                  <a:t>年目</a:t>
                </a:r>
              </a:p>
            </p:txBody>
          </p:sp>
        </p:grpSp>
        <p:grpSp>
          <p:nvGrpSpPr>
            <p:cNvPr id="186" name="グループ化 185">
              <a:extLst>
                <a:ext uri="{FF2B5EF4-FFF2-40B4-BE49-F238E27FC236}">
                  <a16:creationId xmlns:a16="http://schemas.microsoft.com/office/drawing/2014/main" id="{95DC41BF-5407-9502-2F09-318CB34DFC69}"/>
                </a:ext>
              </a:extLst>
            </p:cNvPr>
            <p:cNvGrpSpPr/>
            <p:nvPr/>
          </p:nvGrpSpPr>
          <p:grpSpPr>
            <a:xfrm>
              <a:off x="7290872" y="4719668"/>
              <a:ext cx="344646" cy="610347"/>
              <a:chOff x="7358775" y="4719668"/>
              <a:chExt cx="344646" cy="610347"/>
            </a:xfrm>
          </p:grpSpPr>
          <p:sp>
            <p:nvSpPr>
              <p:cNvPr id="91" name="正方形/長方形 90">
                <a:extLst>
                  <a:ext uri="{FF2B5EF4-FFF2-40B4-BE49-F238E27FC236}">
                    <a16:creationId xmlns:a16="http://schemas.microsoft.com/office/drawing/2014/main" id="{4CEF1CAF-AFE8-BCE5-41F4-4B6736C057B4}"/>
                  </a:ext>
                </a:extLst>
              </p:cNvPr>
              <p:cNvSpPr/>
              <p:nvPr/>
            </p:nvSpPr>
            <p:spPr>
              <a:xfrm>
                <a:off x="7370260" y="4719668"/>
                <a:ext cx="321677" cy="3672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1</a:t>
                </a:r>
              </a:p>
            </p:txBody>
          </p:sp>
          <p:sp>
            <p:nvSpPr>
              <p:cNvPr id="156" name="テキスト ボックス 155">
                <a:extLst>
                  <a:ext uri="{FF2B5EF4-FFF2-40B4-BE49-F238E27FC236}">
                    <a16:creationId xmlns:a16="http://schemas.microsoft.com/office/drawing/2014/main" id="{72B3C51C-E749-FCEC-C35B-3CC7364913E7}"/>
                  </a:ext>
                </a:extLst>
              </p:cNvPr>
              <p:cNvSpPr txBox="1"/>
              <p:nvPr/>
            </p:nvSpPr>
            <p:spPr>
              <a:xfrm>
                <a:off x="7358775"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1</a:t>
                </a:r>
                <a:r>
                  <a:rPr kumimoji="1" lang="ja-JP" altLang="en-US" sz="1050" dirty="0">
                    <a:latin typeface="+mn-ea"/>
                  </a:rPr>
                  <a:t>年目</a:t>
                </a:r>
              </a:p>
            </p:txBody>
          </p:sp>
        </p:grpSp>
        <p:cxnSp>
          <p:nvCxnSpPr>
            <p:cNvPr id="203" name="コネクタ: カギ線 202">
              <a:extLst>
                <a:ext uri="{FF2B5EF4-FFF2-40B4-BE49-F238E27FC236}">
                  <a16:creationId xmlns:a16="http://schemas.microsoft.com/office/drawing/2014/main" id="{1B122550-810C-0A50-6791-4FC1EED19C68}"/>
                </a:ext>
              </a:extLst>
            </p:cNvPr>
            <p:cNvCxnSpPr>
              <a:stCxn id="168" idx="0"/>
              <a:endCxn id="138" idx="3"/>
            </p:cNvCxnSpPr>
            <p:nvPr/>
          </p:nvCxnSpPr>
          <p:spPr>
            <a:xfrm rot="16200000" flipV="1">
              <a:off x="7348220" y="3556439"/>
              <a:ext cx="303837" cy="1529166"/>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4" name="コネクタ: カギ線 203">
              <a:extLst>
                <a:ext uri="{FF2B5EF4-FFF2-40B4-BE49-F238E27FC236}">
                  <a16:creationId xmlns:a16="http://schemas.microsoft.com/office/drawing/2014/main" id="{B69A4E3E-A5C9-F56C-B280-62188AC5AA03}"/>
                </a:ext>
              </a:extLst>
            </p:cNvPr>
            <p:cNvCxnSpPr>
              <a:cxnSpLocks/>
              <a:stCxn id="171" idx="0"/>
              <a:endCxn id="139" idx="3"/>
            </p:cNvCxnSpPr>
            <p:nvPr/>
          </p:nvCxnSpPr>
          <p:spPr>
            <a:xfrm rot="16200000" flipV="1">
              <a:off x="7510272" y="2963399"/>
              <a:ext cx="380494" cy="1929928"/>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7" name="コネクタ: カギ線 206">
              <a:extLst>
                <a:ext uri="{FF2B5EF4-FFF2-40B4-BE49-F238E27FC236}">
                  <a16:creationId xmlns:a16="http://schemas.microsoft.com/office/drawing/2014/main" id="{559BF4FC-8B76-F399-E49C-031312A52136}"/>
                </a:ext>
              </a:extLst>
            </p:cNvPr>
            <p:cNvCxnSpPr>
              <a:cxnSpLocks/>
              <a:stCxn id="174" idx="0"/>
              <a:endCxn id="140" idx="3"/>
            </p:cNvCxnSpPr>
            <p:nvPr/>
          </p:nvCxnSpPr>
          <p:spPr>
            <a:xfrm rot="16200000" flipV="1">
              <a:off x="7585849" y="2369290"/>
              <a:ext cx="630104" cy="2330692"/>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10" name="コネクタ: カギ線 209">
              <a:extLst>
                <a:ext uri="{FF2B5EF4-FFF2-40B4-BE49-F238E27FC236}">
                  <a16:creationId xmlns:a16="http://schemas.microsoft.com/office/drawing/2014/main" id="{BEA9E6DB-94DA-C93F-1D1E-00AAAF02C4E1}"/>
                </a:ext>
              </a:extLst>
            </p:cNvPr>
            <p:cNvCxnSpPr>
              <a:cxnSpLocks/>
              <a:stCxn id="111" idx="0"/>
              <a:endCxn id="141" idx="3"/>
            </p:cNvCxnSpPr>
            <p:nvPr/>
          </p:nvCxnSpPr>
          <p:spPr>
            <a:xfrm rot="16200000" flipV="1">
              <a:off x="7571384" y="1701007"/>
              <a:ext cx="1339924" cy="3011582"/>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sp>
          <p:nvSpPr>
            <p:cNvPr id="154" name="テキスト ボックス 153">
              <a:extLst>
                <a:ext uri="{FF2B5EF4-FFF2-40B4-BE49-F238E27FC236}">
                  <a16:creationId xmlns:a16="http://schemas.microsoft.com/office/drawing/2014/main" id="{9DB46168-F71D-548C-E6F0-E21A92B96AF2}"/>
                </a:ext>
              </a:extLst>
            </p:cNvPr>
            <p:cNvSpPr txBox="1"/>
            <p:nvPr/>
          </p:nvSpPr>
          <p:spPr>
            <a:xfrm>
              <a:off x="6890101" y="2167604"/>
              <a:ext cx="252000" cy="2886153"/>
            </a:xfrm>
            <a:prstGeom prst="roundRect">
              <a:avLst>
                <a:gd name="adj" fmla="val 50000"/>
              </a:avLst>
            </a:prstGeom>
            <a:solidFill>
              <a:schemeClr val="accent1"/>
            </a:solidFill>
          </p:spPr>
          <p:txBody>
            <a:bodyPr vert="eaVert" wrap="square" lIns="18000" tIns="0" rIns="0" bIns="0" rtlCol="0" anchor="ctr">
              <a:noAutofit/>
            </a:bodyPr>
            <a:lstStyle>
              <a:defPPr>
                <a:defRPr lang="en-US"/>
              </a:defPPr>
              <a:lvl1pPr algn="ctr">
                <a:lnSpc>
                  <a:spcPct val="120000"/>
                </a:lnSpc>
                <a:defRPr kumimoji="1" sz="1000" b="1" spc="30">
                  <a:latin typeface="+mj-ea"/>
                  <a:ea typeface="+mj-ea"/>
                </a:defRPr>
              </a:lvl1pPr>
            </a:lstStyle>
            <a:p>
              <a:r>
                <a:rPr lang="ja-JP" altLang="en-US" sz="1100" spc="50" dirty="0">
                  <a:solidFill>
                    <a:schemeClr val="bg1"/>
                  </a:solidFill>
                  <a:latin typeface="+mj-lt"/>
                </a:rPr>
                <a:t>割引率（ｒ）で割引算定</a:t>
              </a:r>
            </a:p>
          </p:txBody>
        </p:sp>
        <p:grpSp>
          <p:nvGrpSpPr>
            <p:cNvPr id="221" name="グループ化 220">
              <a:extLst>
                <a:ext uri="{FF2B5EF4-FFF2-40B4-BE49-F238E27FC236}">
                  <a16:creationId xmlns:a16="http://schemas.microsoft.com/office/drawing/2014/main" id="{AD5069BC-3740-97D3-D88E-DA2A42B4E4E4}"/>
                </a:ext>
              </a:extLst>
            </p:cNvPr>
            <p:cNvGrpSpPr/>
            <p:nvPr/>
          </p:nvGrpSpPr>
          <p:grpSpPr>
            <a:xfrm>
              <a:off x="9357847" y="3562673"/>
              <a:ext cx="778578" cy="1532741"/>
              <a:chOff x="9452188" y="3562673"/>
              <a:chExt cx="778578" cy="1532741"/>
            </a:xfrm>
          </p:grpSpPr>
          <p:grpSp>
            <p:nvGrpSpPr>
              <p:cNvPr id="220" name="グループ化 219">
                <a:extLst>
                  <a:ext uri="{FF2B5EF4-FFF2-40B4-BE49-F238E27FC236}">
                    <a16:creationId xmlns:a16="http://schemas.microsoft.com/office/drawing/2014/main" id="{1CA1588A-EE7E-24D8-349A-C31BAF7104FE}"/>
                  </a:ext>
                </a:extLst>
              </p:cNvPr>
              <p:cNvGrpSpPr/>
              <p:nvPr/>
            </p:nvGrpSpPr>
            <p:grpSpPr>
              <a:xfrm>
                <a:off x="9452188" y="3562673"/>
                <a:ext cx="778578" cy="1532741"/>
                <a:chOff x="9452188" y="3562673"/>
                <a:chExt cx="778578" cy="1532741"/>
              </a:xfrm>
            </p:grpSpPr>
            <p:sp>
              <p:nvSpPr>
                <p:cNvPr id="110" name="直角三角形 109">
                  <a:extLst>
                    <a:ext uri="{FF2B5EF4-FFF2-40B4-BE49-F238E27FC236}">
                      <a16:creationId xmlns:a16="http://schemas.microsoft.com/office/drawing/2014/main" id="{BB47C771-D04F-79F2-4B2E-27277B8F1510}"/>
                    </a:ext>
                  </a:extLst>
                </p:cNvPr>
                <p:cNvSpPr/>
                <p:nvPr/>
              </p:nvSpPr>
              <p:spPr>
                <a:xfrm rot="10800000" flipV="1">
                  <a:off x="9452188" y="3562673"/>
                  <a:ext cx="778577" cy="315194"/>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1" name="正方形/長方形 110">
                  <a:extLst>
                    <a:ext uri="{FF2B5EF4-FFF2-40B4-BE49-F238E27FC236}">
                      <a16:creationId xmlns:a16="http://schemas.microsoft.com/office/drawing/2014/main" id="{0EA620FA-0F35-2F85-DD92-24BF2380BE96}"/>
                    </a:ext>
                  </a:extLst>
                </p:cNvPr>
                <p:cNvSpPr/>
                <p:nvPr/>
              </p:nvSpPr>
              <p:spPr>
                <a:xfrm>
                  <a:off x="9452189" y="3876760"/>
                  <a:ext cx="778577" cy="121865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576000" rIns="36000" rtlCol="0" anchor="t" anchorCtr="0"/>
                <a:lstStyle/>
                <a:p>
                  <a:pPr algn="ctr"/>
                  <a:r>
                    <a:rPr kumimoji="1" lang="ja-JP" altLang="en-US" sz="1200" b="1" dirty="0">
                      <a:solidFill>
                        <a:schemeClr val="tx1"/>
                      </a:solidFill>
                      <a:latin typeface="+mj-ea"/>
                      <a:ea typeface="+mj-ea"/>
                    </a:rPr>
                    <a:t>継続価値</a:t>
                  </a:r>
                </a:p>
              </p:txBody>
            </p:sp>
          </p:grpSp>
          <p:sp>
            <p:nvSpPr>
              <p:cNvPr id="195" name="テキスト ボックス 194">
                <a:extLst>
                  <a:ext uri="{FF2B5EF4-FFF2-40B4-BE49-F238E27FC236}">
                    <a16:creationId xmlns:a16="http://schemas.microsoft.com/office/drawing/2014/main" id="{0A5B030A-1A72-565F-712B-794858404E14}"/>
                  </a:ext>
                </a:extLst>
              </p:cNvPr>
              <p:cNvSpPr txBox="1"/>
              <p:nvPr/>
            </p:nvSpPr>
            <p:spPr>
              <a:xfrm>
                <a:off x="9458453" y="4693185"/>
                <a:ext cx="766048" cy="325476"/>
              </a:xfrm>
              <a:prstGeom prst="rect">
                <a:avLst/>
              </a:prstGeom>
              <a:noFill/>
            </p:spPr>
            <p:txBody>
              <a:bodyPr wrap="square" lIns="0" tIns="72000" rIns="0" bIns="0" rtlCol="0">
                <a:spAutoFit/>
              </a:bodyPr>
              <a:lstStyle/>
              <a:p>
                <a:pPr algn="ctr">
                  <a:lnSpc>
                    <a:spcPct val="110000"/>
                  </a:lnSpc>
                </a:pPr>
                <a:r>
                  <a:rPr kumimoji="1" lang="en-US" altLang="ja-JP" sz="900" b="1" dirty="0">
                    <a:latin typeface="+mj-ea"/>
                    <a:ea typeface="+mj-ea"/>
                  </a:rPr>
                  <a:t>FCF</a:t>
                </a:r>
                <a:r>
                  <a:rPr kumimoji="1" lang="en-US" altLang="ja-JP" sz="900" b="1" baseline="-25000" dirty="0">
                    <a:latin typeface="+mj-ea"/>
                    <a:ea typeface="+mj-ea"/>
                  </a:rPr>
                  <a:t>6</a:t>
                </a:r>
                <a:r>
                  <a:rPr kumimoji="1" lang="en-US" altLang="ja-JP" sz="900" b="1" dirty="0">
                    <a:latin typeface="+mj-ea"/>
                    <a:ea typeface="+mj-ea"/>
                  </a:rPr>
                  <a:t>~ </a:t>
                </a:r>
                <a:r>
                  <a:rPr kumimoji="1" lang="en-US" altLang="ja-JP" sz="900" b="1" dirty="0" err="1">
                    <a:latin typeface="+mj-ea"/>
                    <a:ea typeface="+mj-ea"/>
                  </a:rPr>
                  <a:t>FCF</a:t>
                </a:r>
                <a:r>
                  <a:rPr kumimoji="1" lang="en-US" altLang="ja-JP" sz="900" b="1" baseline="-25000" dirty="0" err="1">
                    <a:latin typeface="+mj-ea"/>
                    <a:ea typeface="+mj-ea"/>
                  </a:rPr>
                  <a:t>n</a:t>
                </a:r>
                <a:endParaRPr kumimoji="1" lang="en-US" altLang="ja-JP" sz="900" b="1" baseline="-25000" dirty="0">
                  <a:latin typeface="+mj-ea"/>
                  <a:ea typeface="+mj-ea"/>
                </a:endParaRPr>
              </a:p>
              <a:p>
                <a:pPr algn="ctr">
                  <a:lnSpc>
                    <a:spcPct val="110000"/>
                  </a:lnSpc>
                </a:pPr>
                <a:r>
                  <a:rPr kumimoji="1" lang="ja-JP" altLang="en-US" sz="900" b="1" dirty="0">
                    <a:latin typeface="+mj-ea"/>
                    <a:ea typeface="+mj-ea"/>
                  </a:rPr>
                  <a:t>の総和</a:t>
                </a:r>
              </a:p>
            </p:txBody>
          </p:sp>
        </p:grpSp>
        <p:sp>
          <p:nvSpPr>
            <p:cNvPr id="222" name="テキスト ボックス 221">
              <a:extLst>
                <a:ext uri="{FF2B5EF4-FFF2-40B4-BE49-F238E27FC236}">
                  <a16:creationId xmlns:a16="http://schemas.microsoft.com/office/drawing/2014/main" id="{27640857-0EF2-93C3-BD90-764D1CC2E43C}"/>
                </a:ext>
              </a:extLst>
            </p:cNvPr>
            <p:cNvSpPr txBox="1"/>
            <p:nvPr/>
          </p:nvSpPr>
          <p:spPr>
            <a:xfrm>
              <a:off x="5548854" y="3234743"/>
              <a:ext cx="246221" cy="767132"/>
            </a:xfrm>
            <a:prstGeom prst="rect">
              <a:avLst/>
            </a:prstGeom>
            <a:solidFill>
              <a:schemeClr val="bg1"/>
            </a:solidFill>
          </p:spPr>
          <p:txBody>
            <a:bodyPr vert="eaVert" wrap="none" lIns="0" tIns="0" rIns="0" bIns="0" rtlCol="0" anchor="ctr">
              <a:noAutofit/>
            </a:bodyPr>
            <a:lstStyle/>
            <a:p>
              <a:pPr algn="ctr"/>
              <a:r>
                <a:rPr kumimoji="1" lang="ja-JP" altLang="en-US" sz="1200" b="1" spc="30" dirty="0">
                  <a:solidFill>
                    <a:schemeClr val="accent4"/>
                  </a:solidFill>
                  <a:latin typeface="+mj-ea"/>
                  <a:ea typeface="+mj-ea"/>
                </a:rPr>
                <a:t>事業価値</a:t>
              </a:r>
            </a:p>
          </p:txBody>
        </p:sp>
        <p:cxnSp>
          <p:nvCxnSpPr>
            <p:cNvPr id="25" name="直線コネクタ 24">
              <a:extLst>
                <a:ext uri="{FF2B5EF4-FFF2-40B4-BE49-F238E27FC236}">
                  <a16:creationId xmlns:a16="http://schemas.microsoft.com/office/drawing/2014/main" id="{3C1A7521-9EAD-75ED-8842-A4D7E417760E}"/>
                </a:ext>
              </a:extLst>
            </p:cNvPr>
            <p:cNvCxnSpPr>
              <a:cxnSpLocks/>
            </p:cNvCxnSpPr>
            <p:nvPr/>
          </p:nvCxnSpPr>
          <p:spPr>
            <a:xfrm>
              <a:off x="5813425" y="5086946"/>
              <a:ext cx="4432300" cy="0"/>
            </a:xfrm>
            <a:prstGeom prst="line">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6150D240-169A-A860-6276-7397AA08AC3A}"/>
              </a:ext>
            </a:extLst>
          </p:cNvPr>
          <p:cNvSpPr>
            <a:spLocks noGrp="1"/>
          </p:cNvSpPr>
          <p:nvPr>
            <p:ph type="ctrTitle"/>
          </p:nvPr>
        </p:nvSpPr>
        <p:spPr/>
        <p:txBody>
          <a:bodyPr/>
          <a:lstStyle/>
          <a:p>
            <a:r>
              <a:rPr lang="en-US" altLang="ja-JP" dirty="0"/>
              <a:t>DCF</a:t>
            </a:r>
            <a:r>
              <a:rPr lang="ja-JP" altLang="en-US" dirty="0"/>
              <a:t>法</a:t>
            </a:r>
            <a:endParaRPr lang="ja-JP" altLang="en-US" sz="1800" dirty="0"/>
          </a:p>
        </p:txBody>
      </p:sp>
      <p:sp>
        <p:nvSpPr>
          <p:cNvPr id="3" name="タイトル 1">
            <a:extLst>
              <a:ext uri="{FF2B5EF4-FFF2-40B4-BE49-F238E27FC236}">
                <a16:creationId xmlns:a16="http://schemas.microsoft.com/office/drawing/2014/main" id="{D1F19C86-847A-A917-831C-6DE60A8E37C5}"/>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9" name="字幕 8">
            <a:extLst>
              <a:ext uri="{FF2B5EF4-FFF2-40B4-BE49-F238E27FC236}">
                <a16:creationId xmlns:a16="http://schemas.microsoft.com/office/drawing/2014/main" id="{4E599C09-ABA0-4F09-A841-95E1E5DEFB4A}"/>
              </a:ext>
            </a:extLst>
          </p:cNvPr>
          <p:cNvSpPr>
            <a:spLocks noGrp="1"/>
          </p:cNvSpPr>
          <p:nvPr>
            <p:ph type="subTitle" idx="1"/>
          </p:nvPr>
        </p:nvSpPr>
        <p:spPr>
          <a:xfrm>
            <a:off x="460675" y="830046"/>
            <a:ext cx="9781875" cy="243913"/>
          </a:xfrm>
        </p:spPr>
        <p:txBody>
          <a:bodyPr/>
          <a:lstStyle/>
          <a:p>
            <a:r>
              <a:rPr lang="ja-JP" altLang="en-US" spc="0" dirty="0"/>
              <a:t>将来のキャッシュフローを現在価値に割り引き、株式価値を算定します。「事業価値」の算定手法は以下のとおりです</a:t>
            </a:r>
          </a:p>
        </p:txBody>
      </p:sp>
      <p:grpSp>
        <p:nvGrpSpPr>
          <p:cNvPr id="23" name="グループ化 22">
            <a:extLst>
              <a:ext uri="{FF2B5EF4-FFF2-40B4-BE49-F238E27FC236}">
                <a16:creationId xmlns:a16="http://schemas.microsoft.com/office/drawing/2014/main" id="{72F4E98F-13D1-927B-FB83-E7456AB05CF9}"/>
              </a:ext>
            </a:extLst>
          </p:cNvPr>
          <p:cNvGrpSpPr/>
          <p:nvPr/>
        </p:nvGrpSpPr>
        <p:grpSpPr>
          <a:xfrm>
            <a:off x="916257" y="1675201"/>
            <a:ext cx="3744905" cy="3565033"/>
            <a:chOff x="916257" y="1598847"/>
            <a:chExt cx="3744905" cy="3565033"/>
          </a:xfrm>
        </p:grpSpPr>
        <p:sp>
          <p:nvSpPr>
            <p:cNvPr id="24" name="正方形/長方形 23">
              <a:extLst>
                <a:ext uri="{FF2B5EF4-FFF2-40B4-BE49-F238E27FC236}">
                  <a16:creationId xmlns:a16="http://schemas.microsoft.com/office/drawing/2014/main" id="{8821D816-682D-50C3-1B8A-81EDF65547FB}"/>
                </a:ext>
              </a:extLst>
            </p:cNvPr>
            <p:cNvSpPr/>
            <p:nvPr/>
          </p:nvSpPr>
          <p:spPr>
            <a:xfrm>
              <a:off x="2481996" y="1598847"/>
              <a:ext cx="1566261" cy="2081613"/>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684000" rIns="0" bIns="0" rtlCol="0" anchor="t" anchorCtr="0"/>
            <a:lstStyle/>
            <a:p>
              <a:pPr algn="ctr"/>
              <a:r>
                <a:rPr kumimoji="1" lang="ja-JP" altLang="en-US" sz="1400" b="1" dirty="0">
                  <a:solidFill>
                    <a:schemeClr val="tx1"/>
                  </a:solidFill>
                  <a:latin typeface="+mj-ea"/>
                  <a:ea typeface="+mj-ea"/>
                </a:rPr>
                <a:t>有利子負債</a:t>
              </a:r>
            </a:p>
          </p:txBody>
        </p:sp>
        <p:sp>
          <p:nvSpPr>
            <p:cNvPr id="28" name="正方形/長方形 27">
              <a:extLst>
                <a:ext uri="{FF2B5EF4-FFF2-40B4-BE49-F238E27FC236}">
                  <a16:creationId xmlns:a16="http://schemas.microsoft.com/office/drawing/2014/main" id="{BA652D07-3145-502E-1C4E-3788FED75ED6}"/>
                </a:ext>
              </a:extLst>
            </p:cNvPr>
            <p:cNvSpPr/>
            <p:nvPr/>
          </p:nvSpPr>
          <p:spPr>
            <a:xfrm>
              <a:off x="916257" y="1598847"/>
              <a:ext cx="1566261" cy="1493625"/>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nchorCtr="0"/>
            <a:lstStyle/>
            <a:p>
              <a:pPr algn="ctr"/>
              <a:r>
                <a:rPr kumimoji="1" lang="zh-TW" altLang="en-US" sz="1400" b="1" dirty="0">
                  <a:solidFill>
                    <a:schemeClr val="tx1"/>
                  </a:solidFill>
                  <a:latin typeface="+mj-ea"/>
                  <a:ea typeface="+mj-ea"/>
                </a:rPr>
                <a:t>非事業用資産</a:t>
              </a:r>
            </a:p>
          </p:txBody>
        </p:sp>
        <p:sp>
          <p:nvSpPr>
            <p:cNvPr id="30" name="正方形/長方形 29">
              <a:extLst>
                <a:ext uri="{FF2B5EF4-FFF2-40B4-BE49-F238E27FC236}">
                  <a16:creationId xmlns:a16="http://schemas.microsoft.com/office/drawing/2014/main" id="{9CFCBF68-740C-89FB-A5EC-EA2862B4CE8E}"/>
                </a:ext>
              </a:extLst>
            </p:cNvPr>
            <p:cNvSpPr/>
            <p:nvPr/>
          </p:nvSpPr>
          <p:spPr>
            <a:xfrm>
              <a:off x="2481996" y="3693686"/>
              <a:ext cx="1566261" cy="1470194"/>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株式価値</a:t>
              </a:r>
            </a:p>
          </p:txBody>
        </p:sp>
        <p:sp>
          <p:nvSpPr>
            <p:cNvPr id="64" name="正方形/長方形 63">
              <a:extLst>
                <a:ext uri="{FF2B5EF4-FFF2-40B4-BE49-F238E27FC236}">
                  <a16:creationId xmlns:a16="http://schemas.microsoft.com/office/drawing/2014/main" id="{7833C0B7-343E-5503-6F0F-3B4E2BDB43E5}"/>
                </a:ext>
              </a:extLst>
            </p:cNvPr>
            <p:cNvSpPr/>
            <p:nvPr/>
          </p:nvSpPr>
          <p:spPr>
            <a:xfrm>
              <a:off x="916257" y="3092472"/>
              <a:ext cx="1566261" cy="2071407"/>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事業価値</a:t>
              </a:r>
            </a:p>
          </p:txBody>
        </p:sp>
        <p:cxnSp>
          <p:nvCxnSpPr>
            <p:cNvPr id="65" name="直線コネクタ 64">
              <a:extLst>
                <a:ext uri="{FF2B5EF4-FFF2-40B4-BE49-F238E27FC236}">
                  <a16:creationId xmlns:a16="http://schemas.microsoft.com/office/drawing/2014/main" id="{D7AFE649-7BEA-EE5A-FDA8-81F9F4D981F0}"/>
                </a:ext>
              </a:extLst>
            </p:cNvPr>
            <p:cNvCxnSpPr>
              <a:cxnSpLocks/>
            </p:cNvCxnSpPr>
            <p:nvPr/>
          </p:nvCxnSpPr>
          <p:spPr>
            <a:xfrm>
              <a:off x="2490920" y="3687073"/>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1E7FEB74-2525-9C9D-A2BA-4606B2252E17}"/>
                </a:ext>
              </a:extLst>
            </p:cNvPr>
            <p:cNvCxnSpPr>
              <a:cxnSpLocks/>
            </p:cNvCxnSpPr>
            <p:nvPr/>
          </p:nvCxnSpPr>
          <p:spPr>
            <a:xfrm>
              <a:off x="931334" y="5163879"/>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67" name="グループ化 66">
              <a:extLst>
                <a:ext uri="{FF2B5EF4-FFF2-40B4-BE49-F238E27FC236}">
                  <a16:creationId xmlns:a16="http://schemas.microsoft.com/office/drawing/2014/main" id="{28E254A0-2A5A-71AB-1A6C-E5B17D54DE60}"/>
                </a:ext>
              </a:extLst>
            </p:cNvPr>
            <p:cNvGrpSpPr/>
            <p:nvPr/>
          </p:nvGrpSpPr>
          <p:grpSpPr>
            <a:xfrm>
              <a:off x="4215974" y="3695700"/>
              <a:ext cx="246221" cy="1468179"/>
              <a:chOff x="4215974" y="3695700"/>
              <a:chExt cx="246221" cy="1468179"/>
            </a:xfrm>
          </p:grpSpPr>
          <p:cxnSp>
            <p:nvCxnSpPr>
              <p:cNvPr id="97" name="直線矢印コネクタ 96">
                <a:extLst>
                  <a:ext uri="{FF2B5EF4-FFF2-40B4-BE49-F238E27FC236}">
                    <a16:creationId xmlns:a16="http://schemas.microsoft.com/office/drawing/2014/main" id="{D90B7F30-7CD2-E4C2-7F2C-2B0A546B3A34}"/>
                  </a:ext>
                </a:extLst>
              </p:cNvPr>
              <p:cNvCxnSpPr>
                <a:cxnSpLocks/>
              </p:cNvCxnSpPr>
              <p:nvPr/>
            </p:nvCxnSpPr>
            <p:spPr>
              <a:xfrm>
                <a:off x="4347551" y="3695700"/>
                <a:ext cx="0" cy="1468179"/>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8" name="テキスト ボックス 97">
                <a:extLst>
                  <a:ext uri="{FF2B5EF4-FFF2-40B4-BE49-F238E27FC236}">
                    <a16:creationId xmlns:a16="http://schemas.microsoft.com/office/drawing/2014/main" id="{2EAA4ED7-8D33-3E7A-9A2A-7226778DEA32}"/>
                  </a:ext>
                </a:extLst>
              </p:cNvPr>
              <p:cNvSpPr txBox="1"/>
              <p:nvPr/>
            </p:nvSpPr>
            <p:spPr>
              <a:xfrm>
                <a:off x="4215974" y="4005818"/>
                <a:ext cx="246221" cy="847943"/>
              </a:xfrm>
              <a:prstGeom prst="rect">
                <a:avLst/>
              </a:prstGeom>
              <a:solidFill>
                <a:schemeClr val="bg1"/>
              </a:solidFill>
            </p:spPr>
            <p:txBody>
              <a:bodyPr vert="eaVert" wrap="none" lIns="0" tIns="0" rIns="0" bIns="0" rtlCol="0" anchor="ctr">
                <a:noAutofit/>
              </a:bodyPr>
              <a:lstStyle/>
              <a:p>
                <a:pPr algn="ctr"/>
                <a:r>
                  <a:rPr kumimoji="1" lang="ja-JP" altLang="en-US" sz="1500" b="1" spc="30" dirty="0">
                    <a:solidFill>
                      <a:schemeClr val="accent4"/>
                    </a:solidFill>
                    <a:latin typeface="+mj-ea"/>
                    <a:ea typeface="+mj-ea"/>
                  </a:rPr>
                  <a:t>株式価値</a:t>
                </a:r>
              </a:p>
            </p:txBody>
          </p:sp>
        </p:grpSp>
        <p:sp>
          <p:nvSpPr>
            <p:cNvPr id="68" name="正方形/長方形 67">
              <a:extLst>
                <a:ext uri="{FF2B5EF4-FFF2-40B4-BE49-F238E27FC236}">
                  <a16:creationId xmlns:a16="http://schemas.microsoft.com/office/drawing/2014/main" id="{BFD5D48D-2506-40FB-D8FF-9F04709EF792}"/>
                </a:ext>
              </a:extLst>
            </p:cNvPr>
            <p:cNvSpPr/>
            <p:nvPr/>
          </p:nvSpPr>
          <p:spPr>
            <a:xfrm>
              <a:off x="1004504" y="2091128"/>
              <a:ext cx="1404000" cy="8105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必要水準を上回る現預金</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事業目的以外の投資有価証券</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遊休不動産など</a:t>
              </a:r>
            </a:p>
          </p:txBody>
        </p:sp>
        <p:sp>
          <p:nvSpPr>
            <p:cNvPr id="69" name="正方形/長方形 68">
              <a:extLst>
                <a:ext uri="{FF2B5EF4-FFF2-40B4-BE49-F238E27FC236}">
                  <a16:creationId xmlns:a16="http://schemas.microsoft.com/office/drawing/2014/main" id="{CADD8BCF-0FB1-7D23-1216-CE124E9426CB}"/>
                </a:ext>
              </a:extLst>
            </p:cNvPr>
            <p:cNvSpPr/>
            <p:nvPr/>
          </p:nvSpPr>
          <p:spPr>
            <a:xfrm>
              <a:off x="2743126" y="2575193"/>
              <a:ext cx="1044000" cy="68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借入金</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社債</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リース債務　など</a:t>
              </a:r>
            </a:p>
          </p:txBody>
        </p:sp>
      </p:grpSp>
      <p:cxnSp>
        <p:nvCxnSpPr>
          <p:cNvPr id="179" name="直線コネクタ 178">
            <a:extLst>
              <a:ext uri="{FF2B5EF4-FFF2-40B4-BE49-F238E27FC236}">
                <a16:creationId xmlns:a16="http://schemas.microsoft.com/office/drawing/2014/main" id="{C9AA75EC-3D0B-76D7-D72F-BF9D9EBDC78E}"/>
              </a:ext>
            </a:extLst>
          </p:cNvPr>
          <p:cNvCxnSpPr>
            <a:cxnSpLocks/>
          </p:cNvCxnSpPr>
          <p:nvPr/>
        </p:nvCxnSpPr>
        <p:spPr>
          <a:xfrm flipV="1">
            <a:off x="8264720" y="5429250"/>
            <a:ext cx="0" cy="495300"/>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nvGrpSpPr>
          <p:cNvPr id="126" name="グループ化 125">
            <a:extLst>
              <a:ext uri="{FF2B5EF4-FFF2-40B4-BE49-F238E27FC236}">
                <a16:creationId xmlns:a16="http://schemas.microsoft.com/office/drawing/2014/main" id="{7A92DF21-747C-639F-0928-0ECCF039A2AB}"/>
              </a:ext>
            </a:extLst>
          </p:cNvPr>
          <p:cNvGrpSpPr/>
          <p:nvPr/>
        </p:nvGrpSpPr>
        <p:grpSpPr>
          <a:xfrm>
            <a:off x="5596500" y="5904538"/>
            <a:ext cx="4645025" cy="936000"/>
            <a:chOff x="449263" y="5904538"/>
            <a:chExt cx="4645025" cy="936000"/>
          </a:xfrm>
        </p:grpSpPr>
        <p:sp>
          <p:nvSpPr>
            <p:cNvPr id="127" name="正方形/長方形 126">
              <a:extLst>
                <a:ext uri="{FF2B5EF4-FFF2-40B4-BE49-F238E27FC236}">
                  <a16:creationId xmlns:a16="http://schemas.microsoft.com/office/drawing/2014/main" id="{164B5353-1B0F-C463-A6B6-656DD83FFF6D}"/>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29" name="テキスト ボックス 128">
              <a:extLst>
                <a:ext uri="{FF2B5EF4-FFF2-40B4-BE49-F238E27FC236}">
                  <a16:creationId xmlns:a16="http://schemas.microsoft.com/office/drawing/2014/main" id="{6BDC9350-DD79-A3EB-394C-15B8E4CF254C}"/>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spc="30" dirty="0">
                  <a:latin typeface="+mn-ea"/>
                </a:rPr>
                <a:t>一定の精度を有する事業計画を基に、以下の通り、キャッシュフローの構成要素ごとに財務分解</a:t>
              </a:r>
              <a:endParaRPr lang="en-US" altLang="ja-JP" sz="1200" spc="30" dirty="0">
                <a:latin typeface="+mn-ea"/>
              </a:endParaRPr>
            </a:p>
            <a:p>
              <a:pPr>
                <a:lnSpc>
                  <a:spcPct val="120000"/>
                </a:lnSpc>
                <a:spcAft>
                  <a:spcPts val="300"/>
                </a:spcAft>
              </a:pPr>
              <a:endParaRPr lang="ja-JP" altLang="en-US" sz="1200" spc="30" dirty="0">
                <a:latin typeface="+mn-ea"/>
              </a:endParaRPr>
            </a:p>
          </p:txBody>
        </p:sp>
        <p:cxnSp>
          <p:nvCxnSpPr>
            <p:cNvPr id="130" name="直線コネクタ 129">
              <a:extLst>
                <a:ext uri="{FF2B5EF4-FFF2-40B4-BE49-F238E27FC236}">
                  <a16:creationId xmlns:a16="http://schemas.microsoft.com/office/drawing/2014/main" id="{A9FF2850-0D1D-2FE8-863D-30D01A115821}"/>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31" name="正方形/長方形 130">
            <a:extLst>
              <a:ext uri="{FF2B5EF4-FFF2-40B4-BE49-F238E27FC236}">
                <a16:creationId xmlns:a16="http://schemas.microsoft.com/office/drawing/2014/main" id="{3BF5343D-64C4-E9AF-9E80-327BA20CD704}"/>
              </a:ext>
            </a:extLst>
          </p:cNvPr>
          <p:cNvSpPr/>
          <p:nvPr/>
        </p:nvSpPr>
        <p:spPr>
          <a:xfrm>
            <a:off x="5778007" y="6477491"/>
            <a:ext cx="3960000" cy="281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numCol="3"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減価償却費　</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運転資本増減　</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設備投資　など</a:t>
            </a:r>
          </a:p>
        </p:txBody>
      </p:sp>
      <p:cxnSp>
        <p:nvCxnSpPr>
          <p:cNvPr id="7" name="直線コネクタ 6">
            <a:extLst>
              <a:ext uri="{FF2B5EF4-FFF2-40B4-BE49-F238E27FC236}">
                <a16:creationId xmlns:a16="http://schemas.microsoft.com/office/drawing/2014/main" id="{51C6CB95-C4BA-2ADB-21CC-32A9B1CFC4EC}"/>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3824575C-EC40-5A34-0421-E7983847DD27}"/>
              </a:ext>
            </a:extLst>
          </p:cNvPr>
          <p:cNvSpPr txBox="1"/>
          <p:nvPr/>
        </p:nvSpPr>
        <p:spPr>
          <a:xfrm>
            <a:off x="5597525" y="1222172"/>
            <a:ext cx="3033436"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事業価値の算定手法 </a:t>
            </a:r>
          </a:p>
        </p:txBody>
      </p:sp>
      <p:grpSp>
        <p:nvGrpSpPr>
          <p:cNvPr id="35" name="グループ化 34">
            <a:extLst>
              <a:ext uri="{FF2B5EF4-FFF2-40B4-BE49-F238E27FC236}">
                <a16:creationId xmlns:a16="http://schemas.microsoft.com/office/drawing/2014/main" id="{7A5C29B4-00DA-DF11-5C57-231C04F28D2F}"/>
              </a:ext>
            </a:extLst>
          </p:cNvPr>
          <p:cNvGrpSpPr/>
          <p:nvPr/>
        </p:nvGrpSpPr>
        <p:grpSpPr>
          <a:xfrm>
            <a:off x="1699387" y="5000625"/>
            <a:ext cx="0" cy="994693"/>
            <a:chOff x="1699387" y="5000625"/>
            <a:chExt cx="0" cy="994693"/>
          </a:xfrm>
        </p:grpSpPr>
        <p:cxnSp>
          <p:nvCxnSpPr>
            <p:cNvPr id="32" name="直線コネクタ 31">
              <a:extLst>
                <a:ext uri="{FF2B5EF4-FFF2-40B4-BE49-F238E27FC236}">
                  <a16:creationId xmlns:a16="http://schemas.microsoft.com/office/drawing/2014/main" id="{8764C6E7-6141-6434-F228-5FFC9FD04E1E}"/>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8165C946-7F03-E0E2-5A15-9272F6A1CBBD}"/>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16" name="グループ化 115">
            <a:extLst>
              <a:ext uri="{FF2B5EF4-FFF2-40B4-BE49-F238E27FC236}">
                <a16:creationId xmlns:a16="http://schemas.microsoft.com/office/drawing/2014/main" id="{60B7C6B3-944A-4498-F193-EA659462F776}"/>
              </a:ext>
            </a:extLst>
          </p:cNvPr>
          <p:cNvGrpSpPr/>
          <p:nvPr/>
        </p:nvGrpSpPr>
        <p:grpSpPr>
          <a:xfrm>
            <a:off x="449263" y="5904538"/>
            <a:ext cx="4645025" cy="936000"/>
            <a:chOff x="449263" y="5904538"/>
            <a:chExt cx="4645025" cy="936000"/>
          </a:xfrm>
        </p:grpSpPr>
        <p:sp>
          <p:nvSpPr>
            <p:cNvPr id="117" name="正方形/長方形 116">
              <a:extLst>
                <a:ext uri="{FF2B5EF4-FFF2-40B4-BE49-F238E27FC236}">
                  <a16:creationId xmlns:a16="http://schemas.microsoft.com/office/drawing/2014/main" id="{EB633686-A9B3-F5AE-8729-15D9CE2B1DCA}"/>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18" name="テキスト ボックス 117">
              <a:extLst>
                <a:ext uri="{FF2B5EF4-FFF2-40B4-BE49-F238E27FC236}">
                  <a16:creationId xmlns:a16="http://schemas.microsoft.com/office/drawing/2014/main" id="{D3421C61-4B5D-1F86-349D-88B0896FE4DF}"/>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対象会社の中長期的な事業計画（</a:t>
              </a:r>
              <a:r>
                <a:rPr lang="en-US" altLang="ja-JP" sz="1200" b="1" spc="30" dirty="0">
                  <a:latin typeface="+mj-ea"/>
                  <a:ea typeface="+mj-ea"/>
                </a:rPr>
                <a:t>3</a:t>
              </a:r>
              <a:r>
                <a:rPr lang="ja-JP" altLang="en-US" sz="1200" b="1" spc="30" dirty="0">
                  <a:latin typeface="+mj-ea"/>
                  <a:ea typeface="+mj-ea"/>
                </a:rPr>
                <a:t>年～</a:t>
              </a:r>
              <a:r>
                <a:rPr lang="en-US" altLang="ja-JP" sz="1200" b="1" spc="30" dirty="0">
                  <a:latin typeface="+mj-ea"/>
                  <a:ea typeface="+mj-ea"/>
                </a:rPr>
                <a:t>5</a:t>
              </a:r>
              <a:r>
                <a:rPr lang="ja-JP" altLang="en-US" sz="1200" b="1" spc="30" dirty="0">
                  <a:latin typeface="+mj-ea"/>
                  <a:ea typeface="+mj-ea"/>
                </a:rPr>
                <a:t>年のフリー・キャッシュフローなど）に基づき、割引算定を用いて、事業価値を算出</a:t>
              </a:r>
            </a:p>
          </p:txBody>
        </p:sp>
        <p:cxnSp>
          <p:nvCxnSpPr>
            <p:cNvPr id="119" name="直線コネクタ 118">
              <a:extLst>
                <a:ext uri="{FF2B5EF4-FFF2-40B4-BE49-F238E27FC236}">
                  <a16:creationId xmlns:a16="http://schemas.microsoft.com/office/drawing/2014/main" id="{7AEBFC30-F039-122B-C5E0-8083CC4D6C3A}"/>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76675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5E42FF3-840E-86A1-8484-21DF1A3CA9AD}"/>
              </a:ext>
            </a:extLst>
          </p:cNvPr>
          <p:cNvSpPr>
            <a:spLocks noGrp="1"/>
          </p:cNvSpPr>
          <p:nvPr>
            <p:ph type="title"/>
          </p:nvPr>
        </p:nvSpPr>
        <p:spPr>
          <a:xfrm>
            <a:off x="989013" y="3348385"/>
            <a:ext cx="9221787" cy="1231106"/>
          </a:xfrm>
          <a:noFill/>
        </p:spPr>
        <p:txBody>
          <a:bodyPr wrap="square" lIns="0" tIns="0" rIns="0" bIns="0" rtlCol="0" anchor="ctr">
            <a:spAutoFit/>
          </a:bodyPr>
          <a:lstStyle/>
          <a:p>
            <a:pPr>
              <a:lnSpc>
                <a:spcPct val="120000"/>
              </a:lnSpc>
            </a:pPr>
            <a:r>
              <a:rPr lang="en-US" altLang="ja-JP" dirty="0"/>
              <a:t>Valuation Concept </a:t>
            </a:r>
            <a:r>
              <a:rPr lang="ja-JP" altLang="en-US" dirty="0"/>
              <a:t>／</a:t>
            </a:r>
            <a:br>
              <a:rPr lang="en-US" altLang="ja-JP" dirty="0"/>
            </a:br>
            <a:r>
              <a:rPr lang="ja-JP" altLang="en-US" dirty="0"/>
              <a:t>株式価値の考え方</a:t>
            </a:r>
          </a:p>
        </p:txBody>
      </p:sp>
      <p:grpSp>
        <p:nvGrpSpPr>
          <p:cNvPr id="2" name="グループ化 1">
            <a:extLst>
              <a:ext uri="{FF2B5EF4-FFF2-40B4-BE49-F238E27FC236}">
                <a16:creationId xmlns:a16="http://schemas.microsoft.com/office/drawing/2014/main" id="{15156D38-1AA9-1E71-A57E-03DFDC69ECD9}"/>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77E5C91D-DE0F-DF15-FC66-0855D18F1F90}"/>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Appendix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58666DF-97A1-2149-201F-354A2E2ED71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20370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字幕 7">
            <a:extLst>
              <a:ext uri="{FF2B5EF4-FFF2-40B4-BE49-F238E27FC236}">
                <a16:creationId xmlns:a16="http://schemas.microsoft.com/office/drawing/2014/main" id="{04C47880-FF2C-EA25-B829-3767697EC133}"/>
              </a:ext>
            </a:extLst>
          </p:cNvPr>
          <p:cNvSpPr>
            <a:spLocks noGrp="1"/>
          </p:cNvSpPr>
          <p:nvPr>
            <p:ph type="subTitle" idx="1"/>
          </p:nvPr>
        </p:nvSpPr>
        <p:spPr>
          <a:xfrm>
            <a:off x="460675" y="830046"/>
            <a:ext cx="9781875" cy="502445"/>
          </a:xfrm>
        </p:spPr>
        <p:txBody>
          <a:bodyPr/>
          <a:lstStyle/>
          <a:p>
            <a:r>
              <a:rPr lang="ja-JP" altLang="en-US" dirty="0"/>
              <a:t>実務上は株式価値の一部を退職金で受け取ることも多く、株主間の受取金額のバランスや税務面の影響等の総合的な検討や協議が必要。また、株式譲渡益・退職金へは課税がなされます</a:t>
            </a:r>
            <a:endParaRPr lang="en-US" altLang="ja-JP" dirty="0"/>
          </a:p>
        </p:txBody>
      </p:sp>
      <p:sp>
        <p:nvSpPr>
          <p:cNvPr id="2" name="タイトル 1">
            <a:extLst>
              <a:ext uri="{FF2B5EF4-FFF2-40B4-BE49-F238E27FC236}">
                <a16:creationId xmlns:a16="http://schemas.microsoft.com/office/drawing/2014/main" id="{20C903C2-6C34-9716-ACFC-6C1C6D711129}"/>
              </a:ext>
            </a:extLst>
          </p:cNvPr>
          <p:cNvSpPr>
            <a:spLocks noGrp="1"/>
          </p:cNvSpPr>
          <p:nvPr>
            <p:ph type="ctrTitle"/>
          </p:nvPr>
        </p:nvSpPr>
        <p:spPr/>
        <p:txBody>
          <a:bodyPr/>
          <a:lstStyle/>
          <a:p>
            <a:r>
              <a:rPr lang="ja-JP" altLang="en-US" dirty="0"/>
              <a:t>株式価値の考え方</a:t>
            </a:r>
          </a:p>
        </p:txBody>
      </p:sp>
      <p:sp>
        <p:nvSpPr>
          <p:cNvPr id="3" name="タイトル 1">
            <a:extLst>
              <a:ext uri="{FF2B5EF4-FFF2-40B4-BE49-F238E27FC236}">
                <a16:creationId xmlns:a16="http://schemas.microsoft.com/office/drawing/2014/main" id="{6A1B85F5-8FF3-35B1-7202-791DFD825E1C}"/>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Valuation Concept </a:t>
            </a:r>
            <a:endParaRPr lang="ja-JP" altLang="en-US" spc="0" dirty="0"/>
          </a:p>
        </p:txBody>
      </p:sp>
      <p:sp>
        <p:nvSpPr>
          <p:cNvPr id="7" name="正方形/長方形 6">
            <a:extLst>
              <a:ext uri="{FF2B5EF4-FFF2-40B4-BE49-F238E27FC236}">
                <a16:creationId xmlns:a16="http://schemas.microsoft.com/office/drawing/2014/main" id="{6938D655-5A4B-ABBE-5743-2962810DFC3D}"/>
              </a:ext>
            </a:extLst>
          </p:cNvPr>
          <p:cNvSpPr/>
          <p:nvPr/>
        </p:nvSpPr>
        <p:spPr>
          <a:xfrm>
            <a:off x="1374736"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対価の合計</a:t>
            </a:r>
          </a:p>
        </p:txBody>
      </p:sp>
      <p:sp>
        <p:nvSpPr>
          <p:cNvPr id="14" name="正方形/長方形 13">
            <a:extLst>
              <a:ext uri="{FF2B5EF4-FFF2-40B4-BE49-F238E27FC236}">
                <a16:creationId xmlns:a16="http://schemas.microsoft.com/office/drawing/2014/main" id="{7F326EE6-1DB2-E4C1-673E-2551A4E9B614}"/>
              </a:ext>
            </a:extLst>
          </p:cNvPr>
          <p:cNvSpPr/>
          <p:nvPr/>
        </p:nvSpPr>
        <p:spPr>
          <a:xfrm>
            <a:off x="1374736" y="2042987"/>
            <a:ext cx="1800000" cy="3348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株式価値</a:t>
            </a:r>
          </a:p>
        </p:txBody>
      </p:sp>
      <p:sp>
        <p:nvSpPr>
          <p:cNvPr id="9" name="正方形/長方形 8">
            <a:extLst>
              <a:ext uri="{FF2B5EF4-FFF2-40B4-BE49-F238E27FC236}">
                <a16:creationId xmlns:a16="http://schemas.microsoft.com/office/drawing/2014/main" id="{6A3CC7E7-ADE1-BFDA-4A77-04BE52103177}"/>
              </a:ext>
            </a:extLst>
          </p:cNvPr>
          <p:cNvSpPr/>
          <p:nvPr/>
        </p:nvSpPr>
        <p:spPr>
          <a:xfrm>
            <a:off x="4445907"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対価の支払手法</a:t>
            </a:r>
          </a:p>
        </p:txBody>
      </p:sp>
      <p:grpSp>
        <p:nvGrpSpPr>
          <p:cNvPr id="12" name="グループ化 11">
            <a:extLst>
              <a:ext uri="{FF2B5EF4-FFF2-40B4-BE49-F238E27FC236}">
                <a16:creationId xmlns:a16="http://schemas.microsoft.com/office/drawing/2014/main" id="{71D82406-1EFF-1E40-6999-79AD98ED48DE}"/>
              </a:ext>
            </a:extLst>
          </p:cNvPr>
          <p:cNvGrpSpPr/>
          <p:nvPr/>
        </p:nvGrpSpPr>
        <p:grpSpPr>
          <a:xfrm>
            <a:off x="4445907" y="2042987"/>
            <a:ext cx="1800000" cy="3348000"/>
            <a:chOff x="4445907" y="1785813"/>
            <a:chExt cx="1800000" cy="2889425"/>
          </a:xfrm>
        </p:grpSpPr>
        <p:sp>
          <p:nvSpPr>
            <p:cNvPr id="29" name="正方形/長方形 28">
              <a:extLst>
                <a:ext uri="{FF2B5EF4-FFF2-40B4-BE49-F238E27FC236}">
                  <a16:creationId xmlns:a16="http://schemas.microsoft.com/office/drawing/2014/main" id="{61409CC5-895B-7DBE-43C2-C752F1286A18}"/>
                </a:ext>
              </a:extLst>
            </p:cNvPr>
            <p:cNvSpPr/>
            <p:nvPr/>
          </p:nvSpPr>
          <p:spPr>
            <a:xfrm>
              <a:off x="4445907" y="1785813"/>
              <a:ext cx="1800000" cy="1038189"/>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役員退職金</a:t>
              </a:r>
            </a:p>
          </p:txBody>
        </p:sp>
        <p:sp>
          <p:nvSpPr>
            <p:cNvPr id="31" name="正方形/長方形 30">
              <a:extLst>
                <a:ext uri="{FF2B5EF4-FFF2-40B4-BE49-F238E27FC236}">
                  <a16:creationId xmlns:a16="http://schemas.microsoft.com/office/drawing/2014/main" id="{7574AC8F-4619-6708-3249-8ABDABA4D881}"/>
                </a:ext>
              </a:extLst>
            </p:cNvPr>
            <p:cNvSpPr/>
            <p:nvPr/>
          </p:nvSpPr>
          <p:spPr>
            <a:xfrm>
              <a:off x="4445907" y="2827687"/>
              <a:ext cx="1800000" cy="1847551"/>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株式価値</a:t>
              </a:r>
            </a:p>
          </p:txBody>
        </p:sp>
      </p:grpSp>
      <p:grpSp>
        <p:nvGrpSpPr>
          <p:cNvPr id="39" name="グループ化 38">
            <a:extLst>
              <a:ext uri="{FF2B5EF4-FFF2-40B4-BE49-F238E27FC236}">
                <a16:creationId xmlns:a16="http://schemas.microsoft.com/office/drawing/2014/main" id="{7CBF617C-C248-2E29-206E-882CD4BA5572}"/>
              </a:ext>
            </a:extLst>
          </p:cNvPr>
          <p:cNvGrpSpPr/>
          <p:nvPr/>
        </p:nvGrpSpPr>
        <p:grpSpPr>
          <a:xfrm>
            <a:off x="4679907" y="3894605"/>
            <a:ext cx="1332000" cy="252000"/>
            <a:chOff x="2916000" y="1936492"/>
            <a:chExt cx="1332000" cy="252000"/>
          </a:xfrm>
        </p:grpSpPr>
        <p:sp>
          <p:nvSpPr>
            <p:cNvPr id="49" name="四角形: 角を丸くする 48">
              <a:extLst>
                <a:ext uri="{FF2B5EF4-FFF2-40B4-BE49-F238E27FC236}">
                  <a16:creationId xmlns:a16="http://schemas.microsoft.com/office/drawing/2014/main" id="{7957965E-4637-3AF7-832A-54DB88F73753}"/>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zh-TW" altLang="en-US" sz="1000" b="1" spc="30" dirty="0">
                  <a:solidFill>
                    <a:schemeClr val="tx1"/>
                  </a:solidFill>
                  <a:latin typeface="+mj-ea"/>
                  <a:ea typeface="+mj-ea"/>
                </a:rPr>
                <a:t>役員退職金考慮</a:t>
              </a:r>
            </a:p>
          </p:txBody>
        </p:sp>
        <p:sp>
          <p:nvSpPr>
            <p:cNvPr id="51" name="楕円 50">
              <a:extLst>
                <a:ext uri="{FF2B5EF4-FFF2-40B4-BE49-F238E27FC236}">
                  <a16:creationId xmlns:a16="http://schemas.microsoft.com/office/drawing/2014/main" id="{0303F0B5-CDFC-2768-4D6B-1E04FB0234F8}"/>
                </a:ext>
              </a:extLst>
            </p:cNvPr>
            <p:cNvSpPr/>
            <p:nvPr/>
          </p:nvSpPr>
          <p:spPr>
            <a:xfrm>
              <a:off x="3989033" y="1972492"/>
              <a:ext cx="180000" cy="180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後</a:t>
              </a:r>
            </a:p>
          </p:txBody>
        </p:sp>
      </p:grpSp>
      <p:sp>
        <p:nvSpPr>
          <p:cNvPr id="10" name="正方形/長方形 9">
            <a:extLst>
              <a:ext uri="{FF2B5EF4-FFF2-40B4-BE49-F238E27FC236}">
                <a16:creationId xmlns:a16="http://schemas.microsoft.com/office/drawing/2014/main" id="{F1B96B4D-AEA9-99DC-AAF1-9E887D6E8B58}"/>
              </a:ext>
            </a:extLst>
          </p:cNvPr>
          <p:cNvSpPr/>
          <p:nvPr/>
        </p:nvSpPr>
        <p:spPr>
          <a:xfrm>
            <a:off x="7517077"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個人の手取り</a:t>
            </a:r>
          </a:p>
        </p:txBody>
      </p:sp>
      <p:grpSp>
        <p:nvGrpSpPr>
          <p:cNvPr id="75" name="グループ化 74">
            <a:extLst>
              <a:ext uri="{FF2B5EF4-FFF2-40B4-BE49-F238E27FC236}">
                <a16:creationId xmlns:a16="http://schemas.microsoft.com/office/drawing/2014/main" id="{033333E6-E739-D023-BC18-1BD88C2D84BE}"/>
              </a:ext>
            </a:extLst>
          </p:cNvPr>
          <p:cNvGrpSpPr/>
          <p:nvPr/>
        </p:nvGrpSpPr>
        <p:grpSpPr>
          <a:xfrm>
            <a:off x="7517077" y="2042987"/>
            <a:ext cx="1800000" cy="3348000"/>
            <a:chOff x="7908727" y="1785813"/>
            <a:chExt cx="1566261" cy="2889425"/>
          </a:xfrm>
        </p:grpSpPr>
        <p:sp>
          <p:nvSpPr>
            <p:cNvPr id="59" name="正方形/長方形 58">
              <a:extLst>
                <a:ext uri="{FF2B5EF4-FFF2-40B4-BE49-F238E27FC236}">
                  <a16:creationId xmlns:a16="http://schemas.microsoft.com/office/drawing/2014/main" id="{D4A8C3E8-94A0-BEA0-2675-03914183A8A7}"/>
                </a:ext>
              </a:extLst>
            </p:cNvPr>
            <p:cNvSpPr/>
            <p:nvPr/>
          </p:nvSpPr>
          <p:spPr>
            <a:xfrm>
              <a:off x="7908727" y="1785813"/>
              <a:ext cx="1566261" cy="435893"/>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役員退職金への課税</a:t>
              </a:r>
            </a:p>
          </p:txBody>
        </p:sp>
        <p:sp>
          <p:nvSpPr>
            <p:cNvPr id="69" name="正方形/長方形 68">
              <a:extLst>
                <a:ext uri="{FF2B5EF4-FFF2-40B4-BE49-F238E27FC236}">
                  <a16:creationId xmlns:a16="http://schemas.microsoft.com/office/drawing/2014/main" id="{9956CF12-7C58-3578-0E5D-3A305E68590C}"/>
                </a:ext>
              </a:extLst>
            </p:cNvPr>
            <p:cNvSpPr/>
            <p:nvPr/>
          </p:nvSpPr>
          <p:spPr>
            <a:xfrm>
              <a:off x="7908727" y="2248021"/>
              <a:ext cx="1566261" cy="1542809"/>
            </a:xfrm>
            <a:prstGeom prst="rect">
              <a:avLst/>
            </a:prstGeom>
            <a:solidFill>
              <a:schemeClr val="tx2"/>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最終手取額</a:t>
              </a:r>
            </a:p>
          </p:txBody>
        </p:sp>
        <p:grpSp>
          <p:nvGrpSpPr>
            <p:cNvPr id="74" name="グループ化 73">
              <a:extLst>
                <a:ext uri="{FF2B5EF4-FFF2-40B4-BE49-F238E27FC236}">
                  <a16:creationId xmlns:a16="http://schemas.microsoft.com/office/drawing/2014/main" id="{EB9C1E7D-DF6C-4EF1-2A9B-EF467AC6848F}"/>
                </a:ext>
              </a:extLst>
            </p:cNvPr>
            <p:cNvGrpSpPr/>
            <p:nvPr/>
          </p:nvGrpSpPr>
          <p:grpSpPr>
            <a:xfrm>
              <a:off x="7908727" y="3817144"/>
              <a:ext cx="1566261" cy="858094"/>
              <a:chOff x="7908727" y="3817144"/>
              <a:chExt cx="1566261" cy="858094"/>
            </a:xfrm>
          </p:grpSpPr>
          <p:sp>
            <p:nvSpPr>
              <p:cNvPr id="60" name="正方形/長方形 59">
                <a:extLst>
                  <a:ext uri="{FF2B5EF4-FFF2-40B4-BE49-F238E27FC236}">
                    <a16:creationId xmlns:a16="http://schemas.microsoft.com/office/drawing/2014/main" id="{9986611A-8A82-7388-E6F5-F0B11068C30E}"/>
                  </a:ext>
                </a:extLst>
              </p:cNvPr>
              <p:cNvSpPr/>
              <p:nvPr/>
            </p:nvSpPr>
            <p:spPr>
              <a:xfrm>
                <a:off x="7908727" y="3817144"/>
                <a:ext cx="1566261" cy="858094"/>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chemeClr val="tx1"/>
                  </a:solidFill>
                  <a:latin typeface="+mj-ea"/>
                  <a:ea typeface="+mj-ea"/>
                </a:endParaRPr>
              </a:p>
            </p:txBody>
          </p:sp>
          <p:grpSp>
            <p:nvGrpSpPr>
              <p:cNvPr id="73" name="グループ化 72">
                <a:extLst>
                  <a:ext uri="{FF2B5EF4-FFF2-40B4-BE49-F238E27FC236}">
                    <a16:creationId xmlns:a16="http://schemas.microsoft.com/office/drawing/2014/main" id="{9CA432A9-FC4A-2E6A-CBFA-14AFA49E7205}"/>
                  </a:ext>
                </a:extLst>
              </p:cNvPr>
              <p:cNvGrpSpPr/>
              <p:nvPr/>
            </p:nvGrpSpPr>
            <p:grpSpPr>
              <a:xfrm>
                <a:off x="7908727" y="3817144"/>
                <a:ext cx="1566261" cy="858094"/>
                <a:chOff x="9536133" y="3817144"/>
                <a:chExt cx="1566261" cy="858094"/>
              </a:xfrm>
            </p:grpSpPr>
            <p:sp>
              <p:nvSpPr>
                <p:cNvPr id="67" name="正方形/長方形 66">
                  <a:extLst>
                    <a:ext uri="{FF2B5EF4-FFF2-40B4-BE49-F238E27FC236}">
                      <a16:creationId xmlns:a16="http://schemas.microsoft.com/office/drawing/2014/main" id="{327CEEA1-0854-EF4F-0D81-2629EE2DDA17}"/>
                    </a:ext>
                  </a:extLst>
                </p:cNvPr>
                <p:cNvSpPr/>
                <p:nvPr/>
              </p:nvSpPr>
              <p:spPr>
                <a:xfrm>
                  <a:off x="9536133" y="3817144"/>
                  <a:ext cx="1566261" cy="442800"/>
                </a:xfrm>
                <a:prstGeom prst="rect">
                  <a:avLst/>
                </a:prstGeom>
                <a:no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株式譲渡益への課税</a:t>
                  </a:r>
                </a:p>
              </p:txBody>
            </p:sp>
            <p:cxnSp>
              <p:nvCxnSpPr>
                <p:cNvPr id="70" name="直線コネクタ 69">
                  <a:extLst>
                    <a:ext uri="{FF2B5EF4-FFF2-40B4-BE49-F238E27FC236}">
                      <a16:creationId xmlns:a16="http://schemas.microsoft.com/office/drawing/2014/main" id="{C4395409-662C-3F36-9268-6BEB8331086C}"/>
                    </a:ext>
                  </a:extLst>
                </p:cNvPr>
                <p:cNvCxnSpPr>
                  <a:cxnSpLocks/>
                </p:cNvCxnSpPr>
                <p:nvPr/>
              </p:nvCxnSpPr>
              <p:spPr>
                <a:xfrm>
                  <a:off x="9536263" y="4246191"/>
                  <a:ext cx="1566000" cy="0"/>
                </a:xfrm>
                <a:prstGeom prst="line">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cxnSp>
            <p:sp>
              <p:nvSpPr>
                <p:cNvPr id="72" name="正方形/長方形 71">
                  <a:extLst>
                    <a:ext uri="{FF2B5EF4-FFF2-40B4-BE49-F238E27FC236}">
                      <a16:creationId xmlns:a16="http://schemas.microsoft.com/office/drawing/2014/main" id="{403DE7AE-E01B-2D6A-4962-1512859592A4}"/>
                    </a:ext>
                  </a:extLst>
                </p:cNvPr>
                <p:cNvSpPr/>
                <p:nvPr/>
              </p:nvSpPr>
              <p:spPr>
                <a:xfrm>
                  <a:off x="9536133" y="4232438"/>
                  <a:ext cx="1566261" cy="442800"/>
                </a:xfrm>
                <a:prstGeom prst="rect">
                  <a:avLst/>
                </a:prstGeom>
                <a:no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成功報酬</a:t>
                  </a:r>
                </a:p>
              </p:txBody>
            </p:sp>
          </p:grpSp>
        </p:grpSp>
      </p:grpSp>
      <p:cxnSp>
        <p:nvCxnSpPr>
          <p:cNvPr id="81" name="直線コネクタ 80">
            <a:extLst>
              <a:ext uri="{FF2B5EF4-FFF2-40B4-BE49-F238E27FC236}">
                <a16:creationId xmlns:a16="http://schemas.microsoft.com/office/drawing/2014/main" id="{88539A0D-E630-9F7A-727F-A2E73CDF057A}"/>
              </a:ext>
            </a:extLst>
          </p:cNvPr>
          <p:cNvCxnSpPr>
            <a:cxnSpLocks/>
          </p:cNvCxnSpPr>
          <p:nvPr/>
        </p:nvCxnSpPr>
        <p:spPr>
          <a:xfrm flipV="1">
            <a:off x="5585587" y="4877911"/>
            <a:ext cx="0" cy="1451236"/>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nvGrpSpPr>
          <p:cNvPr id="54" name="グループ化 53">
            <a:extLst>
              <a:ext uri="{FF2B5EF4-FFF2-40B4-BE49-F238E27FC236}">
                <a16:creationId xmlns:a16="http://schemas.microsoft.com/office/drawing/2014/main" id="{BA82AF9C-2DBC-9F74-B4BF-E52814127FDB}"/>
              </a:ext>
            </a:extLst>
          </p:cNvPr>
          <p:cNvGrpSpPr/>
          <p:nvPr/>
        </p:nvGrpSpPr>
        <p:grpSpPr>
          <a:xfrm>
            <a:off x="5345906" y="5904538"/>
            <a:ext cx="4896644" cy="936000"/>
            <a:chOff x="449263" y="5904538"/>
            <a:chExt cx="4645025" cy="936000"/>
          </a:xfrm>
        </p:grpSpPr>
        <p:sp>
          <p:nvSpPr>
            <p:cNvPr id="55" name="正方形/長方形 54">
              <a:extLst>
                <a:ext uri="{FF2B5EF4-FFF2-40B4-BE49-F238E27FC236}">
                  <a16:creationId xmlns:a16="http://schemas.microsoft.com/office/drawing/2014/main" id="{9A99EF65-0238-04DA-C8C1-DBFDAA63085E}"/>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56" name="テキスト ボックス 55">
              <a:extLst>
                <a:ext uri="{FF2B5EF4-FFF2-40B4-BE49-F238E27FC236}">
                  <a16:creationId xmlns:a16="http://schemas.microsoft.com/office/drawing/2014/main" id="{C229F9DF-16CE-6336-78E1-BB1588BB0188}"/>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オーナー様への役員退職金が支払われる場合の株価は、当該役員退職金考慮前の株価から、当該役員退職金を控除した金額</a:t>
              </a:r>
            </a:p>
          </p:txBody>
        </p:sp>
        <p:cxnSp>
          <p:nvCxnSpPr>
            <p:cNvPr id="57" name="直線コネクタ 56">
              <a:extLst>
                <a:ext uri="{FF2B5EF4-FFF2-40B4-BE49-F238E27FC236}">
                  <a16:creationId xmlns:a16="http://schemas.microsoft.com/office/drawing/2014/main" id="{D67C7EB9-B15E-839C-FD12-D0229BEC7821}"/>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5" name="グループ化 24">
            <a:extLst>
              <a:ext uri="{FF2B5EF4-FFF2-40B4-BE49-F238E27FC236}">
                <a16:creationId xmlns:a16="http://schemas.microsoft.com/office/drawing/2014/main" id="{95C29024-53C8-F0A0-F8C1-0EF09E03476E}"/>
              </a:ext>
            </a:extLst>
          </p:cNvPr>
          <p:cNvGrpSpPr/>
          <p:nvPr/>
        </p:nvGrpSpPr>
        <p:grpSpPr>
          <a:xfrm>
            <a:off x="3936957" y="2393156"/>
            <a:ext cx="743420" cy="3602162"/>
            <a:chOff x="3936957" y="2393156"/>
            <a:chExt cx="743420" cy="3602162"/>
          </a:xfrm>
        </p:grpSpPr>
        <p:cxnSp>
          <p:nvCxnSpPr>
            <p:cNvPr id="22" name="直線コネクタ 21">
              <a:extLst>
                <a:ext uri="{FF2B5EF4-FFF2-40B4-BE49-F238E27FC236}">
                  <a16:creationId xmlns:a16="http://schemas.microsoft.com/office/drawing/2014/main" id="{3F820348-13AF-5FD8-2976-406B01FB59D6}"/>
                </a:ext>
              </a:extLst>
            </p:cNvPr>
            <p:cNvCxnSpPr>
              <a:cxnSpLocks/>
            </p:cNvCxnSpPr>
            <p:nvPr/>
          </p:nvCxnSpPr>
          <p:spPr>
            <a:xfrm>
              <a:off x="3988594" y="2393274"/>
              <a:ext cx="691783" cy="0"/>
            </a:xfrm>
            <a:prstGeom prst="line">
              <a:avLst/>
            </a:prstGeom>
            <a:ln w="3175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84" name="フリーフォーム: 図形 83">
              <a:extLst>
                <a:ext uri="{FF2B5EF4-FFF2-40B4-BE49-F238E27FC236}">
                  <a16:creationId xmlns:a16="http://schemas.microsoft.com/office/drawing/2014/main" id="{008AF343-C1E1-89A5-C1A1-694402F62EBB}"/>
                </a:ext>
              </a:extLst>
            </p:cNvPr>
            <p:cNvSpPr/>
            <p:nvPr/>
          </p:nvSpPr>
          <p:spPr>
            <a:xfrm>
              <a:off x="3936957" y="2393156"/>
              <a:ext cx="742950" cy="3602162"/>
            </a:xfrm>
            <a:custGeom>
              <a:avLst/>
              <a:gdLst>
                <a:gd name="connsiteX0" fmla="*/ 742950 w 742950"/>
                <a:gd name="connsiteY0" fmla="*/ 0 h 3683000"/>
                <a:gd name="connsiteX1" fmla="*/ 0 w 742950"/>
                <a:gd name="connsiteY1" fmla="*/ 0 h 3683000"/>
                <a:gd name="connsiteX2" fmla="*/ 0 w 742950"/>
                <a:gd name="connsiteY2" fmla="*/ 3683000 h 3683000"/>
              </a:gdLst>
              <a:ahLst/>
              <a:cxnLst>
                <a:cxn ang="0">
                  <a:pos x="connsiteX0" y="connsiteY0"/>
                </a:cxn>
                <a:cxn ang="0">
                  <a:pos x="connsiteX1" y="connsiteY1"/>
                </a:cxn>
                <a:cxn ang="0">
                  <a:pos x="connsiteX2" y="connsiteY2"/>
                </a:cxn>
              </a:cxnLst>
              <a:rect l="l" t="t" r="r" b="b"/>
              <a:pathLst>
                <a:path w="742950" h="3683000">
                  <a:moveTo>
                    <a:pt x="742950" y="0"/>
                  </a:moveTo>
                  <a:lnTo>
                    <a:pt x="0" y="0"/>
                  </a:lnTo>
                  <a:lnTo>
                    <a:pt x="0" y="3683000"/>
                  </a:lnTo>
                </a:path>
              </a:pathLst>
            </a:custGeom>
            <a:ln w="12700">
              <a:solidFill>
                <a:schemeClr val="accent1"/>
              </a:soli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pSp>
      <p:grpSp>
        <p:nvGrpSpPr>
          <p:cNvPr id="16" name="グループ化 15">
            <a:extLst>
              <a:ext uri="{FF2B5EF4-FFF2-40B4-BE49-F238E27FC236}">
                <a16:creationId xmlns:a16="http://schemas.microsoft.com/office/drawing/2014/main" id="{8E27EAEE-8CE1-11E2-2FEC-CF59C373F296}"/>
              </a:ext>
            </a:extLst>
          </p:cNvPr>
          <p:cNvGrpSpPr/>
          <p:nvPr/>
        </p:nvGrpSpPr>
        <p:grpSpPr>
          <a:xfrm>
            <a:off x="460675" y="5904538"/>
            <a:ext cx="4428000" cy="936000"/>
            <a:chOff x="449263" y="5904538"/>
            <a:chExt cx="4645025" cy="936000"/>
          </a:xfrm>
        </p:grpSpPr>
        <p:sp>
          <p:nvSpPr>
            <p:cNvPr id="18" name="正方形/長方形 17">
              <a:extLst>
                <a:ext uri="{FF2B5EF4-FFF2-40B4-BE49-F238E27FC236}">
                  <a16:creationId xmlns:a16="http://schemas.microsoft.com/office/drawing/2014/main" id="{667BC721-D7DD-A993-249D-2424B6A32616}"/>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9" name="テキスト ボックス 18">
              <a:extLst>
                <a:ext uri="{FF2B5EF4-FFF2-40B4-BE49-F238E27FC236}">
                  <a16:creationId xmlns:a16="http://schemas.microsoft.com/office/drawing/2014/main" id="{CE3063FD-2F1A-C9C5-0745-EDD1AF4DE8DD}"/>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役員退職金の金額は、税務上の損金算入限度額を前提としつつ、譲受側の資金調達力や対象会社の資金繰り、さらにはオーナー様の税引後手取額などを複合的に考慮して決定</a:t>
              </a:r>
            </a:p>
          </p:txBody>
        </p:sp>
        <p:cxnSp>
          <p:nvCxnSpPr>
            <p:cNvPr id="20" name="直線コネクタ 19">
              <a:extLst>
                <a:ext uri="{FF2B5EF4-FFF2-40B4-BE49-F238E27FC236}">
                  <a16:creationId xmlns:a16="http://schemas.microsoft.com/office/drawing/2014/main" id="{CC81DE2D-3C33-1EBE-D403-EB71D2DB51DB}"/>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8445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3897</TotalTime>
  <Words>5696</Words>
  <Application>Microsoft Office PowerPoint</Application>
  <PresentationFormat>ユーザー設定</PresentationFormat>
  <Paragraphs>619</Paragraphs>
  <Slides>43</Slides>
  <Notes>21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43</vt:i4>
      </vt:variant>
    </vt:vector>
  </HeadingPairs>
  <TitlesOfParts>
    <vt:vector size="48" baseType="lpstr">
      <vt:lpstr>Meiryo UI</vt:lpstr>
      <vt:lpstr>游ゴシック</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採用するアプローチの選定</vt:lpstr>
      <vt:lpstr>採用するアプローチの選定</vt:lpstr>
      <vt:lpstr>株式価値の試算結果</vt:lpstr>
      <vt:lpstr>株式価値の試算結果</vt:lpstr>
      <vt:lpstr>株式価値の試算結果</vt:lpstr>
      <vt:lpstr>Financial Analysis ／ 財務情報の分析（B/S）</vt:lpstr>
      <vt:lpstr>過去BSの推移</vt:lpstr>
      <vt:lpstr>修正BS［資産］</vt:lpstr>
      <vt:lpstr>修正BS［負債・純資産］</vt:lpstr>
      <vt:lpstr>修正内容詳細①［売掛金・棚卸資産］</vt:lpstr>
      <vt:lpstr>修正内容詳細②［減価償却資産・土地］</vt:lpstr>
      <vt:lpstr>修正内容詳細③［投資有価証券・敷金保証金・保険積立金］</vt:lpstr>
      <vt:lpstr>修正内容詳細④［未払費用・賞与引当金・退職給付引当金］</vt:lpstr>
      <vt:lpstr>税効果の調整</vt:lpstr>
      <vt:lpstr>ネットキャッシュの算定</vt:lpstr>
      <vt:lpstr>Financial Analysis ／ 財務情報の分析（P/L）</vt:lpstr>
      <vt:lpstr>過去PLの推移</vt:lpstr>
      <vt:lpstr>販管費及び一般管理費の修正</vt:lpstr>
      <vt:lpstr>修正PLの内訳①［役員報酬・退職給付金］</vt:lpstr>
      <vt:lpstr>修正PLの内訳②［減価償却資産・保険料］</vt:lpstr>
      <vt:lpstr>修正PLの算定［正常収益力の集計］</vt:lpstr>
      <vt:lpstr>Valuation Details ／ 株式価値の試算</vt:lpstr>
      <vt:lpstr>年買法（コストアプローチ）による算出</vt:lpstr>
      <vt:lpstr>EV/EBITDAマルチプル法（マーケットアプローチ）による算出</vt:lpstr>
      <vt:lpstr>マルチプル参照企業一覧</vt:lpstr>
      <vt:lpstr>Valuation Methodology ／ 評価手法について</vt:lpstr>
      <vt:lpstr>コストアプローチ手法</vt:lpstr>
      <vt:lpstr>時価純資産＋営業権法［算出プロセスの詳細］</vt:lpstr>
      <vt:lpstr>時価純資産＋営業権法［年買法］</vt:lpstr>
      <vt:lpstr>時価純資産＋営業権法［超過収益還元法］</vt:lpstr>
      <vt:lpstr>マーケットアプローチ手法</vt:lpstr>
      <vt:lpstr>類似会社比準法［EV/EBITDAマルチプル法］</vt:lpstr>
      <vt:lpstr>インカムアプローチ手法</vt:lpstr>
      <vt:lpstr>DCF法</vt:lpstr>
      <vt:lpstr>Valuation Concept ／ 株式価値の考え方</vt:lpstr>
      <vt:lpstr>株式価値の考え方</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越智 真也</cp:lastModifiedBy>
  <cp:revision>113</cp:revision>
  <dcterms:created xsi:type="dcterms:W3CDTF">2025-11-26T06:32:54Z</dcterms:created>
  <dcterms:modified xsi:type="dcterms:W3CDTF">2026-02-09T09:58:45Z</dcterms:modified>
</cp:coreProperties>
</file>