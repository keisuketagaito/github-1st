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792" r:id="rId14"/>
    <p:sldId id="779" r:id="rId15"/>
    <p:sldId id="771" r:id="rId17"/>
    <p:sldId id="780" r:id="rId18"/>
    <p:sldId id="789" r:id="rId19"/>
    <p:sldId id="781" r:id="rId20"/>
    <p:sldId id="790" r:id="rId21"/>
    <p:sldId id="793" r:id="rId22"/>
    <p:sldId id="791" r:id="rId23"/>
    <p:sldId id="795" r:id="rId24"/>
    <p:sldId id="773" r:id="rId25"/>
    <p:sldId id="784" r:id="rId26"/>
    <p:sldId id="785" r:id="rId27"/>
    <p:sldId id="787" r:id="rId29"/>
    <p:sldId id="782" r:id="rId30"/>
    <p:sldId id="783" r:id="rId31"/>
    <p:sldId id="794" r:id="rId32"/>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notesMaster" Target="notesMasters/notesMaster1.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18</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8.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rPr lang="ja-JP" altLang="en-US" dirty="0"/>
              <a:t>企業概要書 </a:t>
            </a:r>
            <a:r>
              <a:rPr lang="en-US" altLang="ja-JP" sz="2400" dirty="0"/>
              <a:t>＜洋菓子・カフェ／神奈川県＞</a:t>
            </a:r>
            <a:r>
              <a:rPr lang="ja-JP" altLang="en-US" dirty="0"/>
              <a:t>　</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ja-JP" altLang="en-US" dirty="0">
                <a:latin typeface="+mj-ea"/>
              </a:rPr>
              <a:t>鎌倉山の自社所有物件を本店に、鎌倉・東京で3店舗を展開するフランス菓子・カフェ事業。店舗売上は約2.8億円で安定し、借入金は不動産売却により約半分に圧縮されています。</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517736"/>
            <a:ext cx="5857066"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sp>
        <p:nvSpPr>
          <p:cNvPr id="16" name="Rectangle 15"/>
          <p:cNvSpPr/>
          <p:nvPr/>
        </p:nvSpPr>
        <p:spPr>
          <a:xfrm>
            <a:off x="6355080" y="1517904"/>
            <a:ext cx="4142232"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400" dirty="0" b="1">
                <a:solidFill>
                  <a:srgbClr val="FFFFFF"/>
                </a:solidFill>
                <a:latin typeface="+mn-ea"/>
                <a:ea typeface="+mn-ea"/>
              </a:rPr>
              <a:t>主要指標（令和8年3月期）</a:t>
            </a:r>
            <a:endParaRPr kumimoji="1" lang="ja-JP" altLang="en-US" sz="1400" dirty="0"/>
          </a:p>
        </p:txBody>
      </p:sp>
      <p:sp>
        <p:nvSpPr>
          <p:cNvPr id="17" name="Rectangle 16"/>
          <p:cNvSpPr/>
          <p:nvPr/>
        </p:nvSpPr>
        <p:spPr>
          <a:xfrm>
            <a:off x="6355080" y="2011680"/>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8" name="TextBox 17"/>
          <p:cNvSpPr txBox="1"/>
          <p:nvPr/>
        </p:nvSpPr>
        <p:spPr>
          <a:xfrm>
            <a:off x="6355080" y="2084832"/>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売上高</a:t>
            </a:r>
            <a:endParaRPr kumimoji="1" lang="ja-JP" altLang="en-US" sz="1100" dirty="0"/>
          </a:p>
        </p:txBody>
      </p:sp>
      <p:sp>
        <p:nvSpPr>
          <p:cNvPr id="19" name="TextBox 18"/>
          <p:cNvSpPr txBox="1"/>
          <p:nvPr/>
        </p:nvSpPr>
        <p:spPr>
          <a:xfrm>
            <a:off x="6355080" y="2395728"/>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319,338千円</a:t>
            </a:r>
            <a:endParaRPr kumimoji="1" lang="ja-JP" altLang="en-US" sz="1500" dirty="0"/>
          </a:p>
        </p:txBody>
      </p:sp>
      <p:sp>
        <p:nvSpPr>
          <p:cNvPr id="20" name="TextBox 19"/>
          <p:cNvSpPr txBox="1"/>
          <p:nvPr/>
        </p:nvSpPr>
        <p:spPr>
          <a:xfrm>
            <a:off x="6355080" y="2880360"/>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店舗売上（3店舗）279,176千円</a:t>
            </a:r>
            <a:endParaRPr kumimoji="1" lang="ja-JP" altLang="en-US" sz="900" dirty="0"/>
          </a:p>
        </p:txBody>
      </p:sp>
      <p:sp>
        <p:nvSpPr>
          <p:cNvPr id="21" name="Rectangle 20"/>
          <p:cNvSpPr/>
          <p:nvPr/>
        </p:nvSpPr>
        <p:spPr>
          <a:xfrm>
            <a:off x="8458200" y="2011680"/>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2" name="TextBox 21"/>
          <p:cNvSpPr txBox="1"/>
          <p:nvPr/>
        </p:nvSpPr>
        <p:spPr>
          <a:xfrm>
            <a:off x="8458200" y="2084832"/>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店舗数</a:t>
            </a:r>
            <a:endParaRPr kumimoji="1" lang="ja-JP" altLang="en-US" sz="1100" dirty="0"/>
          </a:p>
        </p:txBody>
      </p:sp>
      <p:sp>
        <p:nvSpPr>
          <p:cNvPr id="23" name="TextBox 22"/>
          <p:cNvSpPr txBox="1"/>
          <p:nvPr/>
        </p:nvSpPr>
        <p:spPr>
          <a:xfrm>
            <a:off x="8458200" y="2395728"/>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3店舗</a:t>
            </a:r>
            <a:endParaRPr kumimoji="1" lang="ja-JP" altLang="en-US" sz="1500" dirty="0"/>
          </a:p>
        </p:txBody>
      </p:sp>
      <p:sp>
        <p:nvSpPr>
          <p:cNvPr id="24" name="TextBox 23"/>
          <p:cNvSpPr txBox="1"/>
          <p:nvPr/>
        </p:nvSpPr>
        <p:spPr>
          <a:xfrm>
            <a:off x="8458200" y="2880360"/>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鎌倉山（本店）・紀尾井町・大船</a:t>
            </a:r>
            <a:endParaRPr kumimoji="1" lang="ja-JP" altLang="en-US" sz="900" dirty="0"/>
          </a:p>
        </p:txBody>
      </p:sp>
      <p:sp>
        <p:nvSpPr>
          <p:cNvPr id="25" name="Rectangle 24"/>
          <p:cNvSpPr/>
          <p:nvPr/>
        </p:nvSpPr>
        <p:spPr>
          <a:xfrm>
            <a:off x="6355080" y="3493008"/>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6" name="TextBox 25"/>
          <p:cNvSpPr txBox="1"/>
          <p:nvPr/>
        </p:nvSpPr>
        <p:spPr>
          <a:xfrm>
            <a:off x="6355080" y="3566160"/>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調整後EBITDA</a:t>
            </a:r>
            <a:endParaRPr kumimoji="1" lang="ja-JP" altLang="en-US" sz="1100" dirty="0"/>
          </a:p>
        </p:txBody>
      </p:sp>
      <p:sp>
        <p:nvSpPr>
          <p:cNvPr id="27" name="TextBox 26"/>
          <p:cNvSpPr txBox="1"/>
          <p:nvPr/>
        </p:nvSpPr>
        <p:spPr>
          <a:xfrm>
            <a:off x="6355080" y="3877056"/>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△2,182千円</a:t>
            </a:r>
            <a:endParaRPr kumimoji="1" lang="ja-JP" altLang="en-US" sz="1500" dirty="0"/>
          </a:p>
        </p:txBody>
      </p:sp>
      <p:sp>
        <p:nvSpPr>
          <p:cNvPr id="28" name="TextBox 27"/>
          <p:cNvSpPr txBox="1"/>
          <p:nvPr/>
        </p:nvSpPr>
        <p:spPr>
          <a:xfrm>
            <a:off x="6355080" y="4361688"/>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直近2期平均 △7,582千円</a:t>
            </a:r>
            <a:endParaRPr kumimoji="1" lang="ja-JP" altLang="en-US" sz="900" dirty="0"/>
          </a:p>
        </p:txBody>
      </p:sp>
      <p:sp>
        <p:nvSpPr>
          <p:cNvPr id="29" name="Rectangle 28"/>
          <p:cNvSpPr/>
          <p:nvPr/>
        </p:nvSpPr>
        <p:spPr>
          <a:xfrm>
            <a:off x="8458200" y="3493008"/>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0" name="TextBox 29"/>
          <p:cNvSpPr txBox="1"/>
          <p:nvPr/>
        </p:nvSpPr>
        <p:spPr>
          <a:xfrm>
            <a:off x="8458200" y="3566160"/>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純資産（簿価）</a:t>
            </a:r>
            <a:endParaRPr kumimoji="1" lang="ja-JP" altLang="en-US" sz="1100" dirty="0"/>
          </a:p>
        </p:txBody>
      </p:sp>
      <p:sp>
        <p:nvSpPr>
          <p:cNvPr id="31" name="TextBox 30"/>
          <p:cNvSpPr txBox="1"/>
          <p:nvPr/>
        </p:nvSpPr>
        <p:spPr>
          <a:xfrm>
            <a:off x="8458200" y="3877056"/>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326,909千円</a:t>
            </a:r>
            <a:endParaRPr kumimoji="1" lang="ja-JP" altLang="en-US" sz="1500" dirty="0"/>
          </a:p>
        </p:txBody>
      </p:sp>
      <p:sp>
        <p:nvSpPr>
          <p:cNvPr id="32" name="TextBox 31"/>
          <p:cNvSpPr txBox="1"/>
          <p:nvPr/>
        </p:nvSpPr>
        <p:spPr>
          <a:xfrm>
            <a:off x="8458200" y="4361688"/>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自己資本比率 41.0%</a:t>
            </a:r>
            <a:endParaRPr kumimoji="1" lang="ja-JP" altLang="en-US" sz="900" dirty="0"/>
          </a:p>
        </p:txBody>
      </p:sp>
      <p:sp>
        <p:nvSpPr>
          <p:cNvPr id="33" name="Rectangle 32"/>
          <p:cNvSpPr/>
          <p:nvPr/>
        </p:nvSpPr>
        <p:spPr>
          <a:xfrm>
            <a:off x="6355080" y="4974336"/>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4" name="TextBox 33"/>
          <p:cNvSpPr txBox="1"/>
          <p:nvPr/>
        </p:nvSpPr>
        <p:spPr>
          <a:xfrm>
            <a:off x="6355080" y="5047488"/>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現預金</a:t>
            </a:r>
            <a:endParaRPr kumimoji="1" lang="ja-JP" altLang="en-US" sz="1100" dirty="0"/>
          </a:p>
        </p:txBody>
      </p:sp>
      <p:sp>
        <p:nvSpPr>
          <p:cNvPr id="35" name="TextBox 34"/>
          <p:cNvSpPr txBox="1"/>
          <p:nvPr/>
        </p:nvSpPr>
        <p:spPr>
          <a:xfrm>
            <a:off x="6355080" y="5358384"/>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226,057千円</a:t>
            </a:r>
            <a:endParaRPr kumimoji="1" lang="ja-JP" altLang="en-US" sz="1500" dirty="0"/>
          </a:p>
        </p:txBody>
      </p:sp>
      <p:sp>
        <p:nvSpPr>
          <p:cNvPr id="36" name="TextBox 35"/>
          <p:cNvSpPr txBox="1"/>
          <p:nvPr/>
        </p:nvSpPr>
        <p:spPr>
          <a:xfrm>
            <a:off x="6355080" y="5843016"/>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借入金計 445,823千円（前期 890,278千円）</a:t>
            </a:r>
            <a:endParaRPr kumimoji="1" lang="ja-JP" altLang="en-US" sz="900" dirty="0"/>
          </a:p>
        </p:txBody>
      </p:sp>
      <p:sp>
        <p:nvSpPr>
          <p:cNvPr id="37" name="Rectangle 36"/>
          <p:cNvSpPr/>
          <p:nvPr/>
        </p:nvSpPr>
        <p:spPr>
          <a:xfrm>
            <a:off x="8458200" y="4974336"/>
            <a:ext cx="2039112" cy="13716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8" name="TextBox 37"/>
          <p:cNvSpPr txBox="1"/>
          <p:nvPr/>
        </p:nvSpPr>
        <p:spPr>
          <a:xfrm>
            <a:off x="8458200" y="5047488"/>
            <a:ext cx="2039112" cy="274320"/>
          </a:xfrm>
          <a:prstGeom prst="rect">
            <a:avLst/>
          </a:prstGeom>
          <a:noFill/>
        </p:spPr>
        <p:txBody>
          <a:bodyPr wrap="square" tIns="0" bIns="0" anchor="t">
            <a:spAutoFit/>
          </a:bodyPr>
          <a:lstStyle/>
          <a:p>
            <a:r>
              <a:rPr kumimoji="1" lang="ja-JP" altLang="en-US" sz="1100" dirty="0">
                <a:solidFill>
                  <a:srgbClr val="0B3041"/>
                </a:solidFill>
                <a:latin typeface="+mn-ea"/>
                <a:ea typeface="+mn-ea"/>
              </a:rPr>
              <a:t>自社不動産（簿価）</a:t>
            </a:r>
            <a:endParaRPr kumimoji="1" lang="ja-JP" altLang="en-US" sz="1100" dirty="0"/>
          </a:p>
        </p:txBody>
      </p:sp>
      <p:sp>
        <p:nvSpPr>
          <p:cNvPr id="39" name="TextBox 38"/>
          <p:cNvSpPr txBox="1"/>
          <p:nvPr/>
        </p:nvSpPr>
        <p:spPr>
          <a:xfrm>
            <a:off x="8458200" y="5358384"/>
            <a:ext cx="2039112" cy="457200"/>
          </a:xfrm>
          <a:prstGeom prst="rect">
            <a:avLst/>
          </a:prstGeom>
          <a:noFill/>
        </p:spPr>
        <p:txBody>
          <a:bodyPr wrap="square" tIns="0" bIns="0" anchor="t">
            <a:spAutoFit/>
          </a:bodyPr>
          <a:lstStyle/>
          <a:p>
            <a:r>
              <a:rPr kumimoji="1" lang="ja-JP" altLang="en-US" sz="1500" b="1" dirty="0">
                <a:solidFill>
                  <a:srgbClr val="0B3041"/>
                </a:solidFill>
                <a:latin typeface="+mn-ea"/>
                <a:ea typeface="+mn-ea"/>
              </a:rPr>
              <a:t>土地 345,030千円</a:t>
            </a:r>
            <a:endParaRPr kumimoji="1" lang="ja-JP" altLang="en-US" sz="1500" dirty="0"/>
          </a:p>
        </p:txBody>
      </p:sp>
      <p:sp>
        <p:nvSpPr>
          <p:cNvPr id="40" name="TextBox 39"/>
          <p:cNvSpPr txBox="1"/>
          <p:nvPr/>
        </p:nvSpPr>
        <p:spPr>
          <a:xfrm>
            <a:off x="8458200" y="5843016"/>
            <a:ext cx="2039112" cy="457200"/>
          </a:xfrm>
          <a:prstGeom prst="rect">
            <a:avLst/>
          </a:prstGeom>
          <a:noFill/>
        </p:spPr>
        <p:txBody>
          <a:bodyPr wrap="square" tIns="0" bIns="0" anchor="t">
            <a:spAutoFit/>
          </a:bodyPr>
          <a:lstStyle/>
          <a:p>
            <a:r>
              <a:rPr kumimoji="1" lang="ja-JP" altLang="en-US" sz="900" dirty="0">
                <a:solidFill>
                  <a:srgbClr val="404040"/>
                </a:solidFill>
                <a:latin typeface="+mn-ea"/>
                <a:ea typeface="+mn-ea"/>
              </a:rPr>
              <a:t>建物 118,721千円</a:t>
            </a:r>
            <a:endParaRPr kumimoji="1" lang="ja-JP" altLang="en-US" sz="900" dirty="0"/>
          </a:p>
        </p:txBody>
      </p:sp>
      <p:sp>
        <p:nvSpPr>
          <p:cNvPr id="41" name="TextBox 40"/>
          <p:cNvSpPr txBox="1"/>
          <p:nvPr/>
        </p:nvSpPr>
        <p:spPr>
          <a:xfrm>
            <a:off x="6355080" y="6492240"/>
            <a:ext cx="4142232" cy="45720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※数値は決算報告書・総勘定元帳等に基づく。調整後EBITDAの算定は財務ハイライト（P/L）参照。</a:t>
            </a:r>
            <a:endParaRPr kumimoji="1" lang="ja-JP" altLang="en-US" sz="800" dirty="0"/>
          </a:p>
        </p:txBody>
      </p:sp>
      <p:graphicFrame>
        <p:nvGraphicFramePr>
          <p:cNvPr id="42" name="Table 41"/>
          <p:cNvGraphicFramePr>
            <a:graphicFrameLocks noGrp="1"/>
          </p:cNvGraphicFramePr>
          <p:nvPr/>
        </p:nvGraphicFramePr>
        <p:xfrm>
          <a:off x="310896" y="1920240"/>
          <a:ext cx="5737391" cy="4892030"/>
        </p:xfrm>
        <a:graphic>
          <a:graphicData uri="http://schemas.openxmlformats.org/drawingml/2006/table">
            <a:tbl>
              <a:tblPr/>
              <a:tblGrid>
                <a:gridCol w="997019"/>
                <a:gridCol w="4740372"/>
              </a:tblGrid>
              <a:tr h="239284">
                <a:tc>
                  <a:txBody>
                    <a:bodyPr/>
                    <a:lstStyle/>
                    <a:p>
                      <a:pPr algn="ctr" fontAlgn="ctr">
                        <a:buNone/>
                      </a:pPr>
                      <a:r>
                        <a:rPr lang="ja-JP" altLang="en-US" sz="1150" b="1" i="0" u="none" strike="noStrike">
                          <a:solidFill>
                            <a:srgbClr val="FFFFFF"/>
                          </a:solidFill>
                          <a:latin typeface="游ゴシック"/>
                          <a:ea typeface="游ゴシック"/>
                        </a:rPr>
                        <a:t>項目</a:t>
                      </a:r>
                      <a:endParaRPr lang="ja-JP" altLang="en-US" sz="1150" b="1" i="0" u="none" strike="noStrike">
                        <a:solidFill>
                          <a:srgbClr val="FFFFFF"/>
                        </a:solidFill>
                        <a:latin typeface="游ゴシック"/>
                        <a:ea typeface="游ゴシック"/>
                      </a:endParaRPr>
                    </a:p>
                  </a:txBody>
                  <a:tcPr marL="21753" marR="21753" marT="0" marB="0" anchor="ctr">
                    <a:lnL w="6042" cap="flat" cmpd="sng" algn="ctr">
                      <a:solidFill>
                        <a:srgbClr val="FFFFFF"/>
                      </a:solidFill>
                      <a:prstDash val="solid"/>
                      <a:round/>
                      <a:headEnd type="none" w="med" len="med"/>
                      <a:tailEnd type="none" w="med" len="med"/>
                    </a:lnL>
                    <a:lnR w="12085" cap="flat" cmpd="sng" algn="ctr">
                      <a:solidFill>
                        <a:srgbClr val="FFFFFF"/>
                      </a:solidFill>
                      <a:prstDash val="solid"/>
                      <a:round/>
                      <a:headEnd type="none" w="med" len="med"/>
                      <a:tailEnd type="none" w="med" len="med"/>
                    </a:lnR>
                    <a:lnT>
                      <a:noFill/>
                    </a:lnT>
                    <a:lnB w="6042"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内容</a:t>
                      </a:r>
                      <a:endParaRPr lang="ja-JP" altLang="en-US" sz="1150" b="1" i="0" u="none" strike="noStrike">
                        <a:solidFill>
                          <a:srgbClr val="FFFFFF"/>
                        </a:solidFill>
                        <a:latin typeface="游ゴシック"/>
                        <a:ea typeface="游ゴシック"/>
                      </a:endParaRPr>
                    </a:p>
                  </a:txBody>
                  <a:tcPr marL="21753" marR="21753" marT="0" marB="0" anchor="ctr">
                    <a:lnL w="12085" cap="flat" cmpd="sng" algn="ctr">
                      <a:solidFill>
                        <a:srgbClr val="FFFFFF"/>
                      </a:solidFill>
                      <a:prstDash val="solid"/>
                      <a:round/>
                      <a:headEnd type="none" w="med" len="med"/>
                      <a:tailEnd type="none" w="med" len="med"/>
                    </a:lnL>
                    <a:lnR w="12085" cap="flat" cmpd="sng" algn="ctr">
                      <a:solidFill>
                        <a:srgbClr val="FFFFFF"/>
                      </a:solidFill>
                      <a:prstDash val="solid"/>
                      <a:round/>
                      <a:headEnd type="none" w="med" len="med"/>
                      <a:tailEnd type="none" w="med" len="med"/>
                    </a:lnR>
                    <a:lnT>
                      <a:noFill/>
                    </a:lnT>
                    <a:lnB w="6042" cap="flat" cmpd="sng" algn="ctr">
                      <a:solidFill>
                        <a:srgbClr val="A6A6A6"/>
                      </a:solidFill>
                      <a:prstDash val="solid"/>
                      <a:round/>
                      <a:headEnd type="none" w="med" len="med"/>
                      <a:tailEnd type="none" w="med" len="med"/>
                    </a:lnB>
                    <a:solidFill>
                      <a:srgbClr val="0B3041"/>
                    </a:solidFill>
                  </a:tcPr>
                </a:tc>
              </a:tr>
              <a:tr h="253786">
                <a:tc>
                  <a:txBody>
                    <a:bodyPr/>
                    <a:lstStyle/>
                    <a:p>
                      <a:pPr algn="l" fontAlgn="ctr">
                        <a:buNone/>
                      </a:pPr>
                      <a:r>
                        <a:rPr lang="ja-JP" altLang="en-US" sz="950" b="0" i="0" u="none" strike="noStrike">
                          <a:solidFill>
                            <a:srgbClr val="000000"/>
                          </a:solidFill>
                          <a:latin typeface="游ゴシック"/>
                          <a:ea typeface="游ゴシック"/>
                        </a:rPr>
                        <a:t>会社名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A6A6A6"/>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ウエスト・シークル株式会社</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A6A6A6"/>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本社所在地</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神奈川県鎌倉市鎌倉山三丁目2番31号</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761359">
                <a:tc>
                  <a:txBody>
                    <a:bodyPr/>
                    <a:lstStyle/>
                    <a:p>
                      <a:pPr algn="l" fontAlgn="ctr">
                        <a:buNone/>
                      </a:pPr>
                      <a:r>
                        <a:rPr lang="ja-JP" altLang="en-US" sz="900" b="0" i="0" u="none" strike="noStrike">
                          <a:solidFill>
                            <a:srgbClr val="000000"/>
                          </a:solidFill>
                          <a:latin typeface="游ゴシック"/>
                          <a:ea typeface="游ゴシック"/>
                        </a:rPr>
                        <a:t>その他拠点</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紀尾井町店（東京都千代田区／賃借）</a:t>
                      </a:r>
                      <a:endParaRPr lang="ja-JP" altLang="en-US" sz="950" b="0" i="0" u="none" strike="noStrike">
                        <a:solidFill>
                          <a:srgbClr val="000000"/>
                        </a:solidFill>
                        <a:latin typeface="游ゴシック"/>
                        <a:ea typeface="游ゴシック"/>
                      </a:endParaRPr>
                    </a:p>
                    <a:p>
                      <a:pPr algn="l" fontAlgn="ctr">
                        <a:buNone/>
                      </a:pPr>
                      <a:r>
                        <a:rPr lang="ja-JP" altLang="en-US" sz="950" b="0" i="0" u="none" strike="noStrike">
                          <a:solidFill>
                            <a:srgbClr val="000000"/>
                          </a:solidFill>
                          <a:latin typeface="游ゴシック"/>
                          <a:ea typeface="游ゴシック"/>
                        </a:rPr>
                        <a:t>大船店（神奈川県鎌倉市／賃借）</a:t>
                      </a:r>
                      <a:endParaRPr lang="ja-JP" altLang="en-US" sz="950" b="0" i="0" u="none" strike="noStrike">
                        <a:solidFill>
                          <a:srgbClr val="000000"/>
                        </a:solidFill>
                        <a:latin typeface="游ゴシック"/>
                        <a:ea typeface="游ゴシック"/>
                      </a:endParaRPr>
                    </a:p>
                    <a:p>
                      <a:pPr algn="l" fontAlgn="ctr">
                        <a:buNone/>
                      </a:pPr>
                      <a:r>
                        <a:rPr lang="ja-JP" altLang="en-US" sz="950" b="0" i="0" u="none" strike="noStrike">
                          <a:solidFill>
                            <a:srgbClr val="000000"/>
                          </a:solidFill>
                          <a:latin typeface="游ゴシック"/>
                          <a:ea typeface="游ゴシック"/>
                        </a:rPr>
                        <a:t>※所在地の詳細は要確認。四谷店は令和6年3月期を最後に売上計上なし（閉店と推察・要確認）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422977">
                <a:tc>
                  <a:txBody>
                    <a:bodyPr/>
                    <a:lstStyle/>
                    <a:p>
                      <a:pPr algn="l" fontAlgn="ctr">
                        <a:buNone/>
                      </a:pPr>
                      <a:r>
                        <a:rPr lang="ja-JP" altLang="en-US" sz="900" b="0" i="0" u="none" strike="noStrike">
                          <a:solidFill>
                            <a:srgbClr val="000000"/>
                          </a:solidFill>
                          <a:latin typeface="游ゴシック"/>
                          <a:ea typeface="游ゴシック"/>
                        </a:rPr>
                        <a:t>設立/創業</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要確認（登記事項証明書未受領）</a:t>
                      </a:r>
                      <a:endParaRPr lang="ja-JP" altLang="en-US" sz="950" b="0" i="0" u="none" strike="noStrike">
                        <a:solidFill>
                          <a:srgbClr val="000000"/>
                        </a:solidFill>
                        <a:latin typeface="游ゴシック"/>
                        <a:ea typeface="游ゴシック"/>
                      </a:endParaRPr>
                    </a:p>
                    <a:p>
                      <a:pPr algn="l" fontAlgn="ctr">
                        <a:buNone/>
                      </a:pPr>
                      <a:r>
                        <a:rPr lang="ja-JP" altLang="en-US" sz="950" b="0" i="0" u="none" strike="noStrike">
                          <a:solidFill>
                            <a:srgbClr val="000000"/>
                          </a:solidFill>
                          <a:latin typeface="游ゴシック"/>
                          <a:ea typeface="游ゴシック"/>
                        </a:rPr>
                        <a:t>※鎌倉山店「ル・ミリュウ」は2010年開業（Web情報・要確認）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資本金</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500千円</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代表者</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西丸 修（代表取締役）</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422977">
                <a:tc>
                  <a:txBody>
                    <a:bodyPr/>
                    <a:lstStyle/>
                    <a:p>
                      <a:pPr algn="l" fontAlgn="ctr">
                        <a:buNone/>
                      </a:pPr>
                      <a:r>
                        <a:rPr lang="ja-JP" altLang="en-US" sz="900" b="0" i="0" u="none" strike="noStrike">
                          <a:solidFill>
                            <a:srgbClr val="000000"/>
                          </a:solidFill>
                          <a:latin typeface="游ゴシック"/>
                          <a:ea typeface="游ゴシック"/>
                        </a:rPr>
                        <a:t>株主</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西丸 修（100株/100％）</a:t>
                      </a:r>
                      <a:endParaRPr lang="ja-JP" altLang="en-US" sz="950" b="0" i="0" u="none" strike="noStrike">
                        <a:solidFill>
                          <a:srgbClr val="000000"/>
                        </a:solidFill>
                        <a:latin typeface="游ゴシック"/>
                        <a:ea typeface="游ゴシック"/>
                      </a:endParaRPr>
                    </a:p>
                    <a:p>
                      <a:pPr algn="l" fontAlgn="ctr">
                        <a:buNone/>
                      </a:pPr>
                      <a:r>
                        <a:rPr lang="ja-JP" altLang="en-US" sz="950" b="0" i="0" u="none" strike="noStrike">
                          <a:solidFill>
                            <a:srgbClr val="000000"/>
                          </a:solidFill>
                          <a:latin typeface="游ゴシック"/>
                          <a:ea typeface="游ゴシック"/>
                        </a:rPr>
                        <a:t>※法人税申告書 別表二（令和8年3月期）より。株主名簿は未受領・要確認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592168">
                <a:tc>
                  <a:txBody>
                    <a:bodyPr/>
                    <a:lstStyle/>
                    <a:p>
                      <a:pPr algn="l" fontAlgn="ctr">
                        <a:buNone/>
                      </a:pPr>
                      <a:r>
                        <a:rPr lang="ja-JP" altLang="en-US" sz="900" b="0" i="0" u="none" strike="noStrike">
                          <a:solidFill>
                            <a:srgbClr val="000000"/>
                          </a:solidFill>
                          <a:latin typeface="游ゴシック"/>
                          <a:ea typeface="游ゴシック"/>
                        </a:rPr>
                        <a:t>事業内容</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フランス菓子・焼菓子・パン等の製造販売、併設カフェの運営（鎌倉山・紀尾井町・大船の3店舗）。Web情報では「ル・ミリュウ」「ラ・プレシューズ」を展開（要確認）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422977">
                <a:tc>
                  <a:txBody>
                    <a:bodyPr/>
                    <a:lstStyle/>
                    <a:p>
                      <a:pPr algn="l" fontAlgn="ctr">
                        <a:buNone/>
                      </a:pPr>
                      <a:r>
                        <a:rPr lang="ja-JP" altLang="en-US" sz="900" b="0" i="0" u="none" strike="noStrike">
                          <a:solidFill>
                            <a:srgbClr val="000000"/>
                          </a:solidFill>
                          <a:latin typeface="游ゴシック"/>
                          <a:ea typeface="游ゴシック"/>
                        </a:rPr>
                        <a:t>従業員数</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月給者6名・時給者約30名（2026年2月分給与台帳より推計）／役員1名（他の役員の有無は要確認）</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許認可等</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要確認（営業許可証・菓子製造業許可等は未受領）</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売上高</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319,338千円（令和8年3月期）</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調整後EBITDA</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△2,182千円（令和8年3月期）</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r h="253786">
                <a:tc>
                  <a:txBody>
                    <a:bodyPr/>
                    <a:lstStyle/>
                    <a:p>
                      <a:pPr algn="l" fontAlgn="ctr">
                        <a:buNone/>
                      </a:pPr>
                      <a:r>
                        <a:rPr lang="ja-JP" altLang="en-US" sz="900" b="0" i="0" u="none" strike="noStrike">
                          <a:solidFill>
                            <a:srgbClr val="000000"/>
                          </a:solidFill>
                          <a:latin typeface="游ゴシック"/>
                          <a:ea typeface="游ゴシック"/>
                        </a:rPr>
                        <a:t>譲渡理由</a:t>
                      </a:r>
                      <a:endParaRPr lang="ja-JP" altLang="en-US" sz="900" b="0" i="0" u="none" strike="noStrike">
                        <a:solidFill>
                          <a:srgbClr val="000000"/>
                        </a:solidFill>
                        <a:latin typeface="游ゴシック"/>
                        <a:ea typeface="游ゴシック"/>
                      </a:endParaRPr>
                    </a:p>
                  </a:txBody>
                  <a:tcPr marL="120485" marR="21753" marT="0" marB="0" anchor="ctr">
                    <a:lnL>
                      <a:noFill/>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950" b="0" i="0" u="none" strike="noStrike">
                          <a:solidFill>
                            <a:srgbClr val="000000"/>
                          </a:solidFill>
                          <a:latin typeface="游ゴシック"/>
                          <a:ea typeface="游ゴシック"/>
                        </a:rPr>
                        <a:t>要確認（オーナーヒアリング予定）</a:t>
                      </a:r>
                      <a:endParaRPr lang="ja-JP" altLang="en-US" sz="950" b="0" i="0" u="none" strike="noStrike">
                        <a:solidFill>
                          <a:srgbClr val="000000"/>
                        </a:solidFill>
                        <a:latin typeface="游ゴシック"/>
                        <a:ea typeface="游ゴシック"/>
                      </a:endParaRPr>
                    </a:p>
                  </a:txBody>
                  <a:tcPr marL="120485" marR="21753" marT="0" marB="0" anchor="ctr">
                    <a:lnL w="6042" cap="flat" cmpd="sng" algn="ctr">
                      <a:solidFill>
                        <a:srgbClr val="FFFFFF"/>
                      </a:solidFill>
                      <a:prstDash val="solid"/>
                      <a:round/>
                      <a:headEnd type="none" w="med" len="med"/>
                      <a:tailEnd type="none" w="med" len="med"/>
                    </a:lnL>
                    <a:lnR w="6042" cap="flat" cmpd="sng" algn="ctr">
                      <a:solidFill>
                        <a:srgbClr val="FFFFFF"/>
                      </a:solidFill>
                      <a:prstDash val="solid"/>
                      <a:round/>
                      <a:headEnd type="none" w="med" len="med"/>
                      <a:tailEnd type="none" w="med" len="med"/>
                    </a:lnR>
                    <a:lnT w="6042" cap="flat" cmpd="sng" algn="ctr">
                      <a:solidFill>
                        <a:srgbClr val="0B3041"/>
                      </a:solidFill>
                      <a:prstDash val="solid"/>
                      <a:round/>
                      <a:headEnd type="none" w="med" len="med"/>
                      <a:tailEnd type="none" w="med" len="med"/>
                    </a:lnT>
                    <a:lnB w="6042" cap="flat" cmpd="sng" algn="ctr">
                      <a:solidFill>
                        <a:srgbClr val="0B304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P/L</a:t>
            </a:r>
            <a:r>
              <a:rPr lang="ja-JP" altLang="en-US" dirty="0"/>
              <a:t>）</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mj-ea"/>
              </a:rPr>
              <a:t>店舗売上は約2.8億円で安定。令和7年3月期の利益は賃貸不動産の売却によるもので、これを除く調整後EBITDAは令和8年3月期に△2百万円まで改善しています。</a:t>
            </a:r>
            <a:endParaRPr lang="en-US" altLang="ja-JP" dirty="0">
              <a:latin typeface="+mj-ea"/>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754880"/>
            <a:ext cx="3924999" cy="2240280"/>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mn-ea"/>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382390"/>
            <a:ext cx="3924999" cy="324612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1783080"/>
            <a:ext cx="3912257" cy="2539157"/>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≪売上≫</a:t>
            </a:r>
            <a:endParaRPr kumimoji="1" lang="ja-JP" altLang="en-US" sz="900" dirty="0"/>
          </a:p>
          <a:p>
            <a:r>
              <a:rPr kumimoji="1" lang="ja-JP" altLang="en-US" sz="900" dirty="0">
                <a:solidFill>
                  <a:schemeClr val="tx1"/>
                </a:solidFill>
                <a:latin typeface="+mn-ea"/>
                <a:ea typeface="+mn-ea"/>
              </a:rPr>
              <a:t>・令和7年3月期は賃貸不動産の売却収入869百万円を含む。店舗・EC等売上は367→345→304百万円</a:t>
            </a:r>
            <a:endParaRPr kumimoji="1" lang="ja-JP" altLang="en-US" sz="900" dirty="0"/>
          </a:p>
          <a:p>
            <a:r>
              <a:rPr kumimoji="1" lang="ja-JP" altLang="en-US" sz="900" dirty="0">
                <a:solidFill>
                  <a:schemeClr val="tx1"/>
                </a:solidFill>
                <a:latin typeface="+mn-ea"/>
                <a:ea typeface="+mn-ea"/>
              </a:rPr>
              <a:t>・3店舗（鎌倉山・紀尾井町・大船）は279→279百万円と安定。四谷店閉店・ミリュウショップ減少が全体の減少要因</a:t>
            </a:r>
            <a:endParaRPr kumimoji="1" lang="ja-JP" altLang="en-US" sz="900" dirty="0"/>
          </a:p>
          <a:p>
            <a:endParaRPr kumimoji="1" lang="ja-JP" altLang="en-US" sz="900" dirty="0"/>
          </a:p>
          <a:p>
            <a:r>
              <a:rPr kumimoji="1" lang="ja-JP" altLang="en-US" sz="900" dirty="0">
                <a:solidFill>
                  <a:schemeClr val="tx1"/>
                </a:solidFill>
                <a:latin typeface="+mn-ea"/>
                <a:ea typeface="+mn-ea"/>
              </a:rPr>
              <a:t>≪売上総利益・営業利益≫</a:t>
            </a:r>
            <a:endParaRPr kumimoji="1" lang="ja-JP" altLang="en-US" sz="900" dirty="0"/>
          </a:p>
          <a:p>
            <a:r>
              <a:rPr kumimoji="1" lang="ja-JP" altLang="en-US" sz="900" dirty="0">
                <a:solidFill>
                  <a:schemeClr val="tx1"/>
                </a:solidFill>
                <a:latin typeface="+mn-ea"/>
                <a:ea typeface="+mn-ea"/>
              </a:rPr>
              <a:t>・粗利率は約7割（令和8年3月期 69.9%）</a:t>
            </a:r>
            <a:endParaRPr kumimoji="1" lang="ja-JP" altLang="en-US" sz="900" dirty="0"/>
          </a:p>
          <a:p>
            <a:r>
              <a:rPr kumimoji="1" lang="ja-JP" altLang="en-US" sz="900" dirty="0">
                <a:solidFill>
                  <a:schemeClr val="tx1"/>
                </a:solidFill>
                <a:latin typeface="+mn-ea"/>
                <a:ea typeface="+mn-ea"/>
              </a:rPr>
              <a:t>・令和7年3月期の営業利益221百万円は不動産売却益（約233百万円）による。除く営業損益は約△12百万円</a:t>
            </a:r>
            <a:endParaRPr kumimoji="1" lang="ja-JP" altLang="en-US" sz="900" dirty="0"/>
          </a:p>
          <a:p>
            <a:r>
              <a:rPr kumimoji="1" lang="ja-JP" altLang="en-US" sz="900" dirty="0">
                <a:solidFill>
                  <a:schemeClr val="tx1"/>
                </a:solidFill>
                <a:latin typeface="+mn-ea"/>
                <a:ea typeface="+mn-ea"/>
              </a:rPr>
              <a:t>・令和8年3月期の営業利益は871千円</a:t>
            </a:r>
            <a:endParaRPr kumimoji="1" lang="ja-JP" altLang="en-US" sz="900" dirty="0"/>
          </a:p>
          <a:p>
            <a:endParaRPr kumimoji="1" lang="ja-JP" altLang="en-US" sz="900" dirty="0"/>
          </a:p>
          <a:p>
            <a:r>
              <a:rPr kumimoji="1" lang="ja-JP" altLang="en-US" sz="900" dirty="0">
                <a:solidFill>
                  <a:schemeClr val="tx1"/>
                </a:solidFill>
                <a:latin typeface="+mn-ea"/>
                <a:ea typeface="+mn-ea"/>
              </a:rPr>
              <a:t>≪当期純利益≫</a:t>
            </a:r>
            <a:endParaRPr kumimoji="1" lang="ja-JP" altLang="en-US" sz="900" dirty="0"/>
          </a:p>
          <a:p>
            <a:r>
              <a:rPr kumimoji="1" lang="ja-JP" altLang="en-US" sz="900" dirty="0">
                <a:solidFill>
                  <a:schemeClr val="tx1"/>
                </a:solidFill>
                <a:latin typeface="+mn-ea"/>
                <a:ea typeface="+mn-ea"/>
              </a:rPr>
              <a:t>・令和8年3月期の△48百万円は過年度法人税等48百万円（令和3〜4年度分）の納付による（要確認）</a:t>
            </a:r>
            <a:endParaRPr kumimoji="1" lang="ja-JP" altLang="en-US" sz="900" dirty="0"/>
          </a:p>
        </p:txBody>
      </p:sp>
      <p:sp>
        <p:nvSpPr>
          <p:cNvPr id="10" name="テキスト ボックス 9">
            <a:extLst>
              <a:ext uri="{FF2B5EF4-FFF2-40B4-BE49-F238E27FC236}">
                <a16:creationId xmlns:a16="http://schemas.microsoft.com/office/drawing/2014/main" id="{9CE926BB-0658-93C0-4CB2-D9073D01110E}"/>
              </a:ext>
            </a:extLst>
          </p:cNvPr>
          <p:cNvSpPr txBox="1"/>
          <p:nvPr/>
        </p:nvSpPr>
        <p:spPr>
          <a:xfrm>
            <a:off x="6468406" y="4846320"/>
            <a:ext cx="3912257" cy="1862048"/>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【調整後EBITDAの考え方】</a:t>
            </a:r>
            <a:endParaRPr kumimoji="1" lang="ja-JP" altLang="en-US" sz="900" dirty="0"/>
          </a:p>
          <a:p>
            <a:r>
              <a:rPr kumimoji="1" lang="ja-JP" altLang="en-US" sz="900" dirty="0">
                <a:solidFill>
                  <a:schemeClr val="tx1"/>
                </a:solidFill>
                <a:latin typeface="+mn-ea"/>
                <a:ea typeface="+mn-ea"/>
              </a:rPr>
              <a:t>・売却済の賃貸不動産（令和7年3月売却）の損益、不動産管理費は継続しないため除外</a:t>
            </a:r>
            <a:endParaRPr kumimoji="1" lang="ja-JP" altLang="en-US" sz="900" dirty="0"/>
          </a:p>
          <a:p>
            <a:r>
              <a:rPr kumimoji="1" lang="ja-JP" altLang="en-US" sz="900" dirty="0">
                <a:solidFill>
                  <a:schemeClr val="tx1"/>
                </a:solidFill>
                <a:latin typeface="+mn-ea"/>
                <a:ea typeface="+mn-ea"/>
              </a:rPr>
              <a:t>・令和8年3月期のコンサル収入14百万円は単発のため除外（要確認）</a:t>
            </a:r>
            <a:endParaRPr kumimoji="1" lang="ja-JP" altLang="en-US" sz="900" dirty="0"/>
          </a:p>
          <a:p>
            <a:r>
              <a:rPr kumimoji="1" lang="ja-JP" altLang="en-US" sz="900" dirty="0">
                <a:solidFill>
                  <a:schemeClr val="tx1"/>
                </a:solidFill>
                <a:latin typeface="+mn-ea"/>
                <a:ea typeface="+mn-ea"/>
              </a:rPr>
              <a:t>・役員報酬は年1,920千円と低水準。新体制の報酬は未確認のため置換していません</a:t>
            </a:r>
            <a:endParaRPr kumimoji="1" lang="ja-JP" altLang="en-US" sz="900" dirty="0"/>
          </a:p>
          <a:p>
            <a:r>
              <a:rPr kumimoji="1" lang="ja-JP" altLang="en-US" sz="900" b="1" dirty="0">
                <a:solidFill>
                  <a:schemeClr val="tx1"/>
                </a:solidFill>
                <a:latin typeface="+mn-ea"/>
                <a:ea typeface="+mn-ea"/>
              </a:rPr>
              <a:t>✓ 調整後EBITDAは令和8年3月期△2,182千円（直近2期平均△7,582千円）</a:t>
            </a:r>
            <a:endParaRPr kumimoji="1" lang="ja-JP" altLang="en-US" sz="900" dirty="0"/>
          </a:p>
          <a:p>
            <a:r>
              <a:rPr kumimoji="1" lang="ja-JP" altLang="en-US" sz="900" dirty="0">
                <a:solidFill>
                  <a:schemeClr val="tx1"/>
                </a:solidFill>
                <a:latin typeface="+mn-ea"/>
                <a:ea typeface="+mn-ea"/>
              </a:rPr>
              <a:t>※進行期（令和9年3月期）の試算表は未受領</a:t>
            </a:r>
            <a:endParaRPr kumimoji="1" lang="ja-JP" altLang="en-US" sz="900" dirty="0"/>
          </a:p>
        </p:txBody>
      </p:sp>
      <p:graphicFrame>
        <p:nvGraphicFramePr>
          <p:cNvPr id="17" name="Table 16"/>
          <p:cNvGraphicFramePr>
            <a:graphicFrameLocks noGrp="1"/>
          </p:cNvGraphicFramePr>
          <p:nvPr/>
        </p:nvGraphicFramePr>
        <p:xfrm>
          <a:off x="310896" y="1298448"/>
          <a:ext cx="5989318" cy="5569838"/>
        </p:xfrm>
        <a:graphic>
          <a:graphicData uri="http://schemas.openxmlformats.org/drawingml/2006/table">
            <a:tbl>
              <a:tblPr/>
              <a:tblGrid>
                <a:gridCol w="1950385"/>
                <a:gridCol w="1346311"/>
                <a:gridCol w="1346311"/>
                <a:gridCol w="1346311"/>
              </a:tblGrid>
              <a:tr h="225044">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504" marR="22504"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504" marR="22504"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504" marR="22504"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504" marR="22504" marT="0" marB="0" anchor="ctr">
                    <a:lnL>
                      <a:noFill/>
                    </a:lnL>
                    <a:lnR>
                      <a:noFill/>
                    </a:lnR>
                    <a:lnT>
                      <a:noFill/>
                    </a:lnT>
                    <a:lnB>
                      <a:noFill/>
                    </a:lnB>
                    <a:noFill/>
                  </a:tcPr>
                </a:tc>
              </a:tr>
              <a:tr h="247548">
                <a:tc>
                  <a:txBody>
                    <a:bodyPr/>
                    <a:lstStyle/>
                    <a:p>
                      <a:pPr algn="ctr" fontAlgn="ctr">
                        <a:buNone/>
                      </a:pPr>
                      <a:endParaRPr lang="ja-JP" altLang="en-US" sz="1200" b="0" i="0" u="none" strike="noStrike">
                        <a:solidFill>
                          <a:srgbClr val="FFFFFF"/>
                        </a:solidFill>
                        <a:latin typeface="游ゴシック"/>
                        <a:ea typeface="游ゴシック"/>
                      </a:endParaRPr>
                    </a:p>
                  </a:txBody>
                  <a:tcPr marL="22504" marR="22504" marT="0" marB="0" anchor="ctr">
                    <a:lnL w="6251" cap="flat" cmpd="sng" algn="ctr">
                      <a:solidFill>
                        <a:srgbClr val="FFFFFF"/>
                      </a:solidFill>
                      <a:prstDash val="solid"/>
                      <a:round/>
                      <a:headEnd type="none" w="med" len="med"/>
                      <a:tailEnd type="none" w="med" len="med"/>
                    </a:lnL>
                    <a:lnR w="12502" cap="flat" cmpd="sng" algn="ctr">
                      <a:solidFill>
                        <a:srgbClr val="FFFFFF"/>
                      </a:solidFill>
                      <a:prstDash val="solid"/>
                      <a:round/>
                      <a:headEnd type="none" w="med" len="med"/>
                      <a:tailEnd type="none" w="med" len="med"/>
                    </a:lnR>
                    <a:lnT>
                      <a:noFill/>
                    </a:lnT>
                    <a:lnB w="625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0" i="0" u="none" strike="noStrike">
                          <a:solidFill>
                            <a:srgbClr val="FFFFFF"/>
                          </a:solidFill>
                          <a:latin typeface="游ゴシック"/>
                          <a:ea typeface="游ゴシック"/>
                        </a:rPr>
                        <a:t>令和6年3月期</a:t>
                      </a:r>
                      <a:endParaRPr lang="ja-JP" altLang="en-US" sz="1200" b="0" i="0" u="none" strike="noStrike">
                        <a:solidFill>
                          <a:srgbClr val="FFFFFF"/>
                        </a:solidFill>
                        <a:latin typeface="游ゴシック"/>
                        <a:ea typeface="游ゴシック"/>
                      </a:endParaRPr>
                    </a:p>
                  </a:txBody>
                  <a:tcPr marL="22504" marR="22504" marT="0" marB="0" anchor="ctr">
                    <a:lnL w="12502" cap="flat" cmpd="sng" algn="ctr">
                      <a:solidFill>
                        <a:srgbClr val="FFFFFF"/>
                      </a:solidFill>
                      <a:prstDash val="solid"/>
                      <a:round/>
                      <a:headEnd type="none" w="med" len="med"/>
                      <a:tailEnd type="none" w="med" len="med"/>
                    </a:lnL>
                    <a:lnR w="12502" cap="flat" cmpd="sng" algn="ctr">
                      <a:solidFill>
                        <a:srgbClr val="FFFFFF"/>
                      </a:solidFill>
                      <a:prstDash val="solid"/>
                      <a:round/>
                      <a:headEnd type="none" w="med" len="med"/>
                      <a:tailEnd type="none" w="med" len="med"/>
                    </a:lnR>
                    <a:lnT>
                      <a:noFill/>
                    </a:lnT>
                    <a:lnB w="625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0" i="0" u="none" strike="noStrike">
                          <a:solidFill>
                            <a:srgbClr val="FFFFFF"/>
                          </a:solidFill>
                          <a:latin typeface="游ゴシック"/>
                          <a:ea typeface="游ゴシック"/>
                        </a:rPr>
                        <a:t>令和7年3月期</a:t>
                      </a:r>
                      <a:endParaRPr lang="ja-JP" altLang="en-US" sz="1200" b="0" i="0" u="none" strike="noStrike">
                        <a:solidFill>
                          <a:srgbClr val="FFFFFF"/>
                        </a:solidFill>
                        <a:latin typeface="游ゴシック"/>
                        <a:ea typeface="游ゴシック"/>
                      </a:endParaRPr>
                    </a:p>
                  </a:txBody>
                  <a:tcPr marL="22504" marR="22504" marT="0" marB="0" anchor="ctr">
                    <a:lnL w="12502" cap="flat" cmpd="sng" algn="ctr">
                      <a:solidFill>
                        <a:srgbClr val="FFFFFF"/>
                      </a:solidFill>
                      <a:prstDash val="solid"/>
                      <a:round/>
                      <a:headEnd type="none" w="med" len="med"/>
                      <a:tailEnd type="none" w="med" len="med"/>
                    </a:lnL>
                    <a:lnR w="12502" cap="flat" cmpd="sng" algn="ctr">
                      <a:solidFill>
                        <a:srgbClr val="FFFFFF"/>
                      </a:solidFill>
                      <a:prstDash val="solid"/>
                      <a:round/>
                      <a:headEnd type="none" w="med" len="med"/>
                      <a:tailEnd type="none" w="med" len="med"/>
                    </a:lnR>
                    <a:lnT>
                      <a:noFill/>
                    </a:lnT>
                    <a:lnB w="6251"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0" i="0" u="none" strike="noStrike">
                          <a:solidFill>
                            <a:srgbClr val="FFFFFF"/>
                          </a:solidFill>
                          <a:latin typeface="游ゴシック"/>
                          <a:ea typeface="游ゴシック"/>
                        </a:rPr>
                        <a:t>令和8年3月期</a:t>
                      </a:r>
                      <a:endParaRPr lang="ja-JP" altLang="en-US" sz="1200" b="0" i="0" u="none" strike="noStrike">
                        <a:solidFill>
                          <a:srgbClr val="FFFFFF"/>
                        </a:solidFill>
                        <a:latin typeface="游ゴシック"/>
                        <a:ea typeface="游ゴシック"/>
                      </a:endParaRPr>
                    </a:p>
                  </a:txBody>
                  <a:tcPr marL="22504" marR="22504" marT="0" marB="0" anchor="ctr">
                    <a:lnL w="12502" cap="flat" cmpd="sng" algn="ctr">
                      <a:solidFill>
                        <a:srgbClr val="FFFFFF"/>
                      </a:solidFill>
                      <a:prstDash val="solid"/>
                      <a:round/>
                      <a:headEnd type="none" w="med" len="med"/>
                      <a:tailEnd type="none" w="med" len="med"/>
                    </a:lnL>
                    <a:lnR w="12502" cap="flat" cmpd="sng" algn="ctr">
                      <a:solidFill>
                        <a:srgbClr val="FFFFFF"/>
                      </a:solidFill>
                      <a:prstDash val="solid"/>
                      <a:round/>
                      <a:headEnd type="none" w="med" len="med"/>
                      <a:tailEnd type="none" w="med" len="med"/>
                    </a:lnR>
                    <a:lnT>
                      <a:noFill/>
                    </a:lnT>
                    <a:lnB w="6251" cap="flat" cmpd="sng" algn="ctr">
                      <a:solidFill>
                        <a:srgbClr val="A6A6A6"/>
                      </a:solidFill>
                      <a:prstDash val="solid"/>
                      <a:round/>
                      <a:headEnd type="none" w="med" len="med"/>
                      <a:tailEnd type="none" w="med" len="med"/>
                    </a:lnB>
                    <a:solidFill>
                      <a:srgbClr val="0B3041"/>
                    </a:solidFill>
                  </a:tcPr>
                </a:tc>
              </a:tr>
              <a:tr h="281305">
                <a:tc>
                  <a:txBody>
                    <a:bodyPr/>
                    <a:lstStyle/>
                    <a:p>
                      <a:pPr algn="l" fontAlgn="ctr">
                        <a:buNone/>
                      </a:pPr>
                      <a:r>
                        <a:rPr lang="ja-JP" altLang="en-US" sz="950" b="0" i="0" u="none" strike="noStrike">
                          <a:solidFill>
                            <a:srgbClr val="000000"/>
                          </a:solidFill>
                          <a:latin typeface="游ゴシック"/>
                          <a:ea typeface="游ゴシック"/>
                        </a:rPr>
                        <a:t>売上高</a:t>
                      </a:r>
                      <a:endParaRPr lang="ja-JP" altLang="en-US" sz="950" b="0" i="0" u="none" strike="noStrike">
                        <a:solidFill>
                          <a:srgbClr val="000000"/>
                        </a:solidFill>
                        <a:latin typeface="游ゴシック"/>
                        <a:ea typeface="游ゴシック"/>
                      </a:endParaRPr>
                    </a:p>
                  </a:txBody>
                  <a:tcPr marL="124646"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383,439</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1,230,830</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319,338</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A6A6A6"/>
                      </a:solidFill>
                      <a:prstDash val="solid"/>
                      <a:round/>
                      <a:headEnd type="none" w="med" len="med"/>
                      <a:tailEnd type="none" w="med" len="med"/>
                    </a:lnT>
                    <a:lnB>
                      <a:noFill/>
                    </a:lnB>
                    <a:noFill/>
                  </a:tcPr>
                </a:tc>
              </a:tr>
              <a:tr h="281305">
                <a:tc>
                  <a:txBody>
                    <a:bodyPr/>
                    <a:lstStyle/>
                    <a:p>
                      <a:pPr algn="r" fontAlgn="ctr">
                        <a:buNone/>
                      </a:pPr>
                      <a:r>
                        <a:rPr lang="ja-JP" altLang="en-US" sz="700" b="0" i="1" u="none" strike="noStrike">
                          <a:solidFill>
                            <a:srgbClr val="000000"/>
                          </a:solidFill>
                          <a:latin typeface="游ゴシック"/>
                          <a:ea typeface="游ゴシック"/>
                        </a:rPr>
                        <a:t>前期比</a:t>
                      </a:r>
                      <a:endParaRPr lang="ja-JP" altLang="en-US" sz="700" b="0" i="1" u="none" strike="noStrike">
                        <a:solidFill>
                          <a:srgbClr val="000000"/>
                        </a:solidFill>
                        <a:latin typeface="游ゴシック"/>
                        <a:ea typeface="游ゴシック"/>
                      </a:endParaRPr>
                    </a:p>
                  </a:txBody>
                  <a:tcPr marL="22504" marR="124646" marT="0" marB="0" anchor="ctr">
                    <a:lnL>
                      <a:noFill/>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00" b="0" i="1" u="none" strike="noStrike">
                          <a:solidFill>
                            <a:srgbClr val="000000"/>
                          </a:solidFill>
                          <a:latin typeface="Arial"/>
                          <a:ea typeface="游ゴシック Medium"/>
                        </a:rPr>
                        <a:t>-</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321.0%</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25.9%</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売上総利益</a:t>
                      </a:r>
                      <a:endParaRPr lang="ja-JP" altLang="en-US" sz="950" b="0"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278,597</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493,908</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223,132</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r>
              <a:tr h="281305">
                <a:tc>
                  <a:txBody>
                    <a:bodyPr/>
                    <a:lstStyle/>
                    <a:p>
                      <a:pPr algn="r" fontAlgn="ctr">
                        <a:buNone/>
                      </a:pPr>
                      <a:r>
                        <a:rPr lang="ja-JP" altLang="en-US" sz="700" b="0" i="1" u="none" strike="noStrike">
                          <a:solidFill>
                            <a:srgbClr val="000000"/>
                          </a:solidFill>
                          <a:latin typeface="游ゴシック"/>
                          <a:ea typeface="游ゴシック"/>
                        </a:rPr>
                        <a:t>利益率</a:t>
                      </a:r>
                      <a:endParaRPr lang="ja-JP" altLang="en-US" sz="700" b="0" i="1" u="none" strike="noStrike">
                        <a:solidFill>
                          <a:srgbClr val="000000"/>
                        </a:solidFill>
                        <a:latin typeface="游ゴシック"/>
                        <a:ea typeface="游ゴシック"/>
                      </a:endParaRPr>
                    </a:p>
                  </a:txBody>
                  <a:tcPr marL="22504" marR="124646" marT="0" marB="0" anchor="ctr">
                    <a:lnL>
                      <a:noFill/>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00" b="0" i="1" u="none" strike="noStrike">
                          <a:solidFill>
                            <a:srgbClr val="000000"/>
                          </a:solidFill>
                          <a:latin typeface="Arial"/>
                          <a:ea typeface="游ゴシック Medium"/>
                        </a:rPr>
                        <a:t>72.7%</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40.1%</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69.9%</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営業利益</a:t>
                      </a:r>
                      <a:endParaRPr lang="ja-JP" altLang="en-US" sz="950" b="0"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△4,955</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220,847</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871</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r>
              <a:tr h="281305">
                <a:tc>
                  <a:txBody>
                    <a:bodyPr/>
                    <a:lstStyle/>
                    <a:p>
                      <a:pPr algn="r" fontAlgn="ctr">
                        <a:buNone/>
                      </a:pPr>
                      <a:r>
                        <a:rPr lang="ja-JP" altLang="en-US" sz="700" b="0" i="1" u="none" strike="noStrike">
                          <a:solidFill>
                            <a:srgbClr val="000000"/>
                          </a:solidFill>
                          <a:latin typeface="游ゴシック"/>
                          <a:ea typeface="游ゴシック"/>
                        </a:rPr>
                        <a:t>利益率</a:t>
                      </a:r>
                      <a:endParaRPr lang="ja-JP" altLang="en-US" sz="700" b="0" i="1" u="none" strike="noStrike">
                        <a:solidFill>
                          <a:srgbClr val="000000"/>
                        </a:solidFill>
                        <a:latin typeface="游ゴシック"/>
                        <a:ea typeface="游ゴシック"/>
                      </a:endParaRPr>
                    </a:p>
                  </a:txBody>
                  <a:tcPr marL="22504" marR="124646" marT="0" marB="0" anchor="ctr">
                    <a:lnL>
                      <a:noFill/>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00" b="0" i="1" u="none" strike="noStrike">
                          <a:solidFill>
                            <a:srgbClr val="000000"/>
                          </a:solidFill>
                          <a:latin typeface="Arial"/>
                          <a:ea typeface="游ゴシック Medium"/>
                        </a:rPr>
                        <a:t>-1.3%</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17.9%</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0.3%</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経常利益</a:t>
                      </a:r>
                      <a:endParaRPr lang="ja-JP" altLang="en-US" sz="950" b="0"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△7,290</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211,568</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581</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r>
              <a:tr h="281305">
                <a:tc>
                  <a:txBody>
                    <a:bodyPr/>
                    <a:lstStyle/>
                    <a:p>
                      <a:pPr algn="r" fontAlgn="ctr">
                        <a:buNone/>
                      </a:pPr>
                      <a:r>
                        <a:rPr lang="ja-JP" altLang="en-US" sz="700" b="0" i="1" u="none" strike="noStrike">
                          <a:solidFill>
                            <a:srgbClr val="000000"/>
                          </a:solidFill>
                          <a:latin typeface="游ゴシック"/>
                          <a:ea typeface="游ゴシック"/>
                        </a:rPr>
                        <a:t>利益率</a:t>
                      </a:r>
                      <a:endParaRPr lang="ja-JP" altLang="en-US" sz="700" b="0" i="1" u="none" strike="noStrike">
                        <a:solidFill>
                          <a:srgbClr val="000000"/>
                        </a:solidFill>
                        <a:latin typeface="游ゴシック"/>
                        <a:ea typeface="游ゴシック"/>
                      </a:endParaRPr>
                    </a:p>
                  </a:txBody>
                  <a:tcPr marL="22504" marR="124646" marT="0" marB="0" anchor="ctr">
                    <a:lnL>
                      <a:noFill/>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00" b="0" i="1" u="none" strike="noStrike">
                          <a:solidFill>
                            <a:srgbClr val="000000"/>
                          </a:solidFill>
                          <a:latin typeface="Arial"/>
                          <a:ea typeface="游ゴシック Medium"/>
                        </a:rPr>
                        <a:t>-1.9%</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17.2%</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0.2%</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税引後当期純利益</a:t>
                      </a:r>
                      <a:endParaRPr lang="ja-JP" altLang="en-US" sz="950" b="0"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△7,485</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108,356</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△48,084</a:t>
                      </a:r>
                      <a:endParaRPr lang="ja-JP" altLang="en-US" sz="1200" b="0"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r>
              <a:tr h="281305">
                <a:tc>
                  <a:txBody>
                    <a:bodyPr/>
                    <a:lstStyle/>
                    <a:p>
                      <a:pPr algn="r" fontAlgn="ctr">
                        <a:buNone/>
                      </a:pPr>
                      <a:r>
                        <a:rPr lang="ja-JP" altLang="en-US" sz="700" b="0" i="1" u="none" strike="noStrike">
                          <a:solidFill>
                            <a:srgbClr val="000000"/>
                          </a:solidFill>
                          <a:latin typeface="游ゴシック"/>
                          <a:ea typeface="游ゴシック"/>
                        </a:rPr>
                        <a:t>利益率</a:t>
                      </a:r>
                      <a:endParaRPr lang="ja-JP" altLang="en-US" sz="700" b="0" i="1" u="none" strike="noStrike">
                        <a:solidFill>
                          <a:srgbClr val="000000"/>
                        </a:solidFill>
                        <a:latin typeface="游ゴシック"/>
                        <a:ea typeface="游ゴシック"/>
                      </a:endParaRPr>
                    </a:p>
                  </a:txBody>
                  <a:tcPr marL="22504" marR="124646" marT="0" marB="0" anchor="ctr">
                    <a:lnL>
                      <a:noFill/>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900" b="0" i="1" u="none" strike="noStrike">
                          <a:solidFill>
                            <a:srgbClr val="000000"/>
                          </a:solidFill>
                          <a:latin typeface="Arial"/>
                          <a:ea typeface="游ゴシック Medium"/>
                        </a:rPr>
                        <a:t>-2.0%</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8.8%</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1" u="none" strike="noStrike">
                          <a:solidFill>
                            <a:srgbClr val="000000"/>
                          </a:solidFill>
                          <a:latin typeface="Arial"/>
                          <a:ea typeface="游ゴシック Medium"/>
                        </a:rPr>
                        <a:t>-15.1%</a:t>
                      </a:r>
                      <a:endParaRPr lang="ja-JP" altLang="en-US" sz="900" b="0" i="1"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w="6251" cap="flat" cmpd="sng" algn="ctr">
                      <a:solidFill>
                        <a:srgbClr val="0B3041"/>
                      </a:solidFill>
                      <a:prstDash val="solid"/>
                      <a:round/>
                      <a:headEnd type="none" w="med" len="med"/>
                      <a:tailEnd type="none" w="med" len="med"/>
                    </a:lnB>
                    <a:noFill/>
                  </a:tcPr>
                </a:tc>
              </a:tr>
              <a:tr h="180035">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22504" marR="22504" marT="0" marB="0" anchor="b">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l" fontAlgn="ctr">
                        <a:buNone/>
                      </a:pPr>
                      <a:endParaRPr lang="ja-JP" altLang="en-US" sz="1100" b="0"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l" fontAlgn="ctr">
                        <a:buNone/>
                      </a:pPr>
                      <a:endParaRPr lang="ja-JP" altLang="en-US" sz="1100" b="0"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l" fontAlgn="ctr">
                        <a:buNone/>
                      </a:pPr>
                      <a:endParaRPr lang="ja-JP" altLang="en-US" sz="1100" b="0"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減価償却費</a:t>
                      </a:r>
                      <a:endParaRPr lang="ja-JP" altLang="en-US" sz="950" b="0"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4,595</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14,219</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11,896</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r>
              <a:tr h="187537">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22504" marR="22504" marT="0" marB="0" anchor="b">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200" b="0" i="0" u="none" strike="noStrike">
                        <a:solidFill>
                          <a:srgbClr val="000000"/>
                        </a:solidFill>
                        <a:latin typeface="Arial"/>
                        <a:ea typeface="游ゴシック Medium"/>
                      </a:endParaRPr>
                    </a:p>
                  </a:txBody>
                  <a:tcPr marL="22504" marR="124646"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200" b="0" i="0" u="none" strike="noStrike">
                        <a:solidFill>
                          <a:srgbClr val="000000"/>
                        </a:solidFill>
                        <a:latin typeface="Arial"/>
                        <a:ea typeface="游ゴシック Medium"/>
                      </a:endParaRPr>
                    </a:p>
                  </a:txBody>
                  <a:tcPr marL="22504" marR="124646"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200" b="0" i="0" u="none" strike="noStrike">
                        <a:solidFill>
                          <a:srgbClr val="000000"/>
                        </a:solidFill>
                        <a:latin typeface="Arial"/>
                        <a:ea typeface="游ゴシック Medium"/>
                      </a:endParaRPr>
                    </a:p>
                  </a:txBody>
                  <a:tcPr marL="22504" marR="124646"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r>
              <a:tr h="247548">
                <a:tc>
                  <a:txBody>
                    <a:bodyPr/>
                    <a:lstStyle/>
                    <a:p>
                      <a:pPr algn="l" fontAlgn="ctr">
                        <a:buNone/>
                      </a:pPr>
                      <a:r>
                        <a:rPr lang="ja-JP" altLang="en-US" sz="950" b="1" i="0" u="none" strike="noStrike">
                          <a:solidFill>
                            <a:srgbClr val="000000"/>
                          </a:solidFill>
                          <a:latin typeface="游ゴシック"/>
                          <a:ea typeface="游ゴシック"/>
                        </a:rPr>
                        <a:t>調整項目 合計</a:t>
                      </a:r>
                      <a:endParaRPr lang="ja-JP" altLang="en-US" sz="950" b="1" i="0" u="none" strike="noStrike">
                        <a:solidFill>
                          <a:srgbClr val="000000"/>
                        </a:solidFill>
                        <a:latin typeface="游ゴシック"/>
                        <a:ea typeface="游ゴシック"/>
                      </a:endParaRPr>
                    </a:p>
                  </a:txBody>
                  <a:tcPr marL="124646"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00" b="1" i="0" u="none" strike="noStrike">
                          <a:solidFill>
                            <a:srgbClr val="000000"/>
                          </a:solidFill>
                          <a:latin typeface="Arial"/>
                          <a:ea typeface="游ゴシック Medium"/>
                        </a:rPr>
                        <a:t>△12,287</a:t>
                      </a:r>
                      <a:endParaRPr lang="ja-JP" altLang="en-US" sz="1100" b="1"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1" i="0" u="none" strike="noStrike">
                          <a:solidFill>
                            <a:srgbClr val="000000"/>
                          </a:solidFill>
                          <a:latin typeface="Arial"/>
                          <a:ea typeface="游ゴシック Medium"/>
                        </a:rPr>
                        <a:t>△248,048</a:t>
                      </a:r>
                      <a:endParaRPr lang="ja-JP" altLang="en-US" sz="1100" b="1"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1" i="0" u="none" strike="noStrike">
                          <a:solidFill>
                            <a:srgbClr val="000000"/>
                          </a:solidFill>
                          <a:latin typeface="Arial"/>
                          <a:ea typeface="游ゴシック Medium"/>
                        </a:rPr>
                        <a:t>△14,949</a:t>
                      </a:r>
                      <a:endParaRPr lang="ja-JP" altLang="en-US" sz="1100" b="1" i="0" u="none" strike="noStrike">
                        <a:solidFill>
                          <a:srgbClr val="000000"/>
                        </a:solidFill>
                        <a:latin typeface="Arial"/>
                        <a:ea typeface="游ゴシック Medium"/>
                      </a:endParaRPr>
                    </a:p>
                  </a:txBody>
                  <a:tcPr marL="22504" marR="22504" marT="0" marB="0" anchor="ctr">
                    <a:lnL>
                      <a:noFill/>
                    </a:lnL>
                    <a:lnR>
                      <a:noFill/>
                    </a:lnR>
                    <a:lnT w="6251" cap="flat" cmpd="sng" algn="ctr">
                      <a:solidFill>
                        <a:srgbClr val="0B3041"/>
                      </a:solidFill>
                      <a:prstDash val="solid"/>
                      <a:round/>
                      <a:headEnd type="none" w="med" len="med"/>
                      <a:tailEnd type="none" w="med" len="med"/>
                    </a:lnT>
                    <a:lnB w="6251" cap="flat" cmpd="sng" algn="ctr">
                      <a:solidFill>
                        <a:srgbClr val="0B3041"/>
                      </a:solidFill>
                      <a:prstDash val="solid"/>
                      <a:round/>
                      <a:headEnd type="none" w="med" len="med"/>
                      <a:tailEnd type="none" w="med" len="med"/>
                    </a:lnB>
                    <a:noFill/>
                  </a:tcPr>
                </a:tc>
              </a:tr>
              <a:tr h="281305">
                <a:tc>
                  <a:txBody>
                    <a:bodyPr/>
                    <a:lstStyle/>
                    <a:p>
                      <a:pPr algn="l" fontAlgn="ctr">
                        <a:buNone/>
                      </a:pPr>
                      <a:r>
                        <a:rPr lang="ja-JP" altLang="en-US" sz="950" b="0" i="0" u="none" strike="noStrike">
                          <a:solidFill>
                            <a:srgbClr val="000000"/>
                          </a:solidFill>
                          <a:latin typeface="游ゴシック"/>
                          <a:ea typeface="游ゴシック"/>
                        </a:rPr>
                        <a:t>不動産売却損益（非継続）</a:t>
                      </a:r>
                      <a:endParaRPr lang="ja-JP" altLang="en-US" sz="950" b="0" i="0" u="none" strike="noStrike">
                        <a:solidFill>
                          <a:srgbClr val="000000"/>
                        </a:solidFill>
                        <a:latin typeface="游ゴシック"/>
                        <a:ea typeface="游ゴシック"/>
                      </a:endParaRPr>
                    </a:p>
                  </a:txBody>
                  <a:tcPr marL="226788" marR="22504" marT="0" marB="0" anchor="ctr">
                    <a:lnL>
                      <a:noFill/>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△233,144</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6251" cap="flat" cmpd="sng" algn="ctr">
                      <a:solidFill>
                        <a:srgbClr val="0B3041"/>
                      </a:solidFill>
                      <a:prstDash val="solid"/>
                      <a:round/>
                      <a:headEnd type="none" w="med" len="med"/>
                      <a:tailEnd type="none" w="med" len="med"/>
                    </a:lnT>
                    <a:lnB>
                      <a:noFill/>
                    </a:lnB>
                    <a:noFill/>
                  </a:tcPr>
                </a:tc>
              </a:tr>
              <a:tr h="281305">
                <a:tc>
                  <a:txBody>
                    <a:bodyPr/>
                    <a:lstStyle/>
                    <a:p>
                      <a:pPr algn="l" fontAlgn="ctr">
                        <a:buNone/>
                      </a:pPr>
                      <a:r>
                        <a:rPr lang="ja-JP" altLang="en-US" sz="950" b="0" i="0" u="none" strike="noStrike">
                          <a:solidFill>
                            <a:srgbClr val="000000"/>
                          </a:solidFill>
                          <a:latin typeface="游ゴシック"/>
                          <a:ea typeface="游ゴシック"/>
                        </a:rPr>
                        <a:t>不動産賃貸収入（非継続）</a:t>
                      </a:r>
                      <a:endParaRPr lang="ja-JP" altLang="en-US" sz="950" b="0" i="0" u="none" strike="noStrike">
                        <a:solidFill>
                          <a:srgbClr val="000000"/>
                        </a:solidFill>
                        <a:latin typeface="游ゴシック"/>
                        <a:ea typeface="游ゴシック"/>
                      </a:endParaRPr>
                    </a:p>
                  </a:txBody>
                  <a:tcPr marL="226788" marR="22504" marT="0" marB="0" anchor="ctr">
                    <a:lnL>
                      <a:noFill/>
                    </a:lnL>
                    <a:lnR w="625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△16,634</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△16,832</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△1,635</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r>
              <a:tr h="281305">
                <a:tc>
                  <a:txBody>
                    <a:bodyPr/>
                    <a:lstStyle/>
                    <a:p>
                      <a:pPr algn="l" fontAlgn="ctr">
                        <a:buNone/>
                      </a:pPr>
                      <a:r>
                        <a:rPr lang="ja-JP" altLang="en-US" sz="950" b="0" i="0" u="none" strike="noStrike">
                          <a:solidFill>
                            <a:srgbClr val="000000"/>
                          </a:solidFill>
                          <a:latin typeface="游ゴシック"/>
                          <a:ea typeface="游ゴシック"/>
                        </a:rPr>
                        <a:t>不動産管理費（売却物件分）</a:t>
                      </a:r>
                      <a:endParaRPr lang="ja-JP" altLang="en-US" sz="950" b="0" i="0" u="none" strike="noStrike">
                        <a:solidFill>
                          <a:srgbClr val="000000"/>
                        </a:solidFill>
                        <a:latin typeface="游ゴシック"/>
                        <a:ea typeface="游ゴシック"/>
                      </a:endParaRPr>
                    </a:p>
                  </a:txBody>
                  <a:tcPr marL="226788" marR="22504" marT="0" marB="0" anchor="ctr">
                    <a:lnL>
                      <a:noFill/>
                    </a:lnL>
                    <a:lnR w="625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4,347</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1,928</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686</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r>
              <a:tr h="281305">
                <a:tc>
                  <a:txBody>
                    <a:bodyPr/>
                    <a:lstStyle/>
                    <a:p>
                      <a:pPr algn="l" fontAlgn="ctr">
                        <a:buNone/>
                      </a:pPr>
                      <a:r>
                        <a:rPr lang="ja-JP" altLang="en-US" sz="950" b="0" i="0" u="none" strike="noStrike">
                          <a:solidFill>
                            <a:srgbClr val="000000"/>
                          </a:solidFill>
                          <a:latin typeface="游ゴシック"/>
                          <a:ea typeface="游ゴシック"/>
                        </a:rPr>
                        <a:t>コンサル収入（単発）</a:t>
                      </a:r>
                      <a:endParaRPr lang="ja-JP" altLang="en-US" sz="950" b="0" i="0" u="none" strike="noStrike">
                        <a:solidFill>
                          <a:srgbClr val="000000"/>
                        </a:solidFill>
                        <a:latin typeface="游ゴシック"/>
                        <a:ea typeface="游ゴシック"/>
                      </a:endParaRPr>
                    </a:p>
                  </a:txBody>
                  <a:tcPr marL="226788" marR="22504" marT="0" marB="0" anchor="ctr">
                    <a:lnL>
                      <a:noFill/>
                    </a:lnL>
                    <a:lnR w="6251"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0</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1200" b="0" i="0" u="none" strike="noStrike">
                          <a:solidFill>
                            <a:srgbClr val="000000"/>
                          </a:solidFill>
                          <a:latin typeface="Arial"/>
                          <a:ea typeface="游ゴシック Medium"/>
                        </a:rPr>
                        <a:t>△14,000</a:t>
                      </a:r>
                      <a:endParaRPr lang="ja-JP" altLang="en-US" sz="1200" b="0" i="0" u="none" strike="noStrike">
                        <a:solidFill>
                          <a:srgbClr val="000000"/>
                        </a:solidFill>
                        <a:latin typeface="Arial"/>
                        <a:ea typeface="游ゴシック Medium"/>
                      </a:endParaRPr>
                    </a:p>
                  </a:txBody>
                  <a:tcPr marL="22504" marR="22504"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a:noFill/>
                    </a:lnT>
                    <a:lnB>
                      <a:noFill/>
                    </a:lnB>
                    <a:noFill/>
                  </a:tcPr>
                </a:tc>
              </a:tr>
              <a:tr h="262551">
                <a:tc>
                  <a:txBody>
                    <a:bodyPr/>
                    <a:lstStyle/>
                    <a:p>
                      <a:pPr algn="l" fontAlgn="ctr">
                        <a:buNone/>
                      </a:pPr>
                      <a:r>
                        <a:rPr lang="ja-JP" altLang="en-US" sz="950" b="1" i="0" u="none" strike="noStrike">
                          <a:solidFill>
                            <a:srgbClr val="000000"/>
                          </a:solidFill>
                          <a:latin typeface="游ゴシック"/>
                          <a:ea typeface="游ゴシック"/>
                        </a:rPr>
                        <a:t>調整後EBITDA</a:t>
                      </a:r>
                      <a:endParaRPr lang="ja-JP" altLang="en-US" sz="950" b="1" i="0" u="none" strike="noStrike">
                        <a:solidFill>
                          <a:srgbClr val="000000"/>
                        </a:solidFill>
                        <a:latin typeface="游ゴシック"/>
                        <a:ea typeface="游ゴシック"/>
                      </a:endParaRPr>
                    </a:p>
                  </a:txBody>
                  <a:tcPr marL="124646" marR="22504" marT="0" marB="0" anchor="ctr">
                    <a:lnL>
                      <a:noFill/>
                    </a:lnL>
                    <a:lnR w="6251" cap="flat" cmpd="sng" algn="ctr">
                      <a:solidFill>
                        <a:srgbClr val="FFFFFF"/>
                      </a:solidFill>
                      <a:prstDash val="solid"/>
                      <a:round/>
                      <a:headEnd type="none" w="med" len="med"/>
                      <a:tailEnd type="none" w="med" len="med"/>
                    </a:lnR>
                    <a:lnT w="18753" cap="flat" cmpd="sng" algn="ctr">
                      <a:solidFill>
                        <a:srgbClr val="0889C9"/>
                      </a:solidFill>
                      <a:prstDash val="solid"/>
                      <a:round/>
                      <a:headEnd type="none" w="med" len="med"/>
                      <a:tailEnd type="none" w="med" len="med"/>
                    </a:lnT>
                    <a:lnB w="18753"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△12,647</a:t>
                      </a:r>
                      <a:endParaRPr lang="ja-JP" altLang="en-US" sz="1200" b="1"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18753" cap="flat" cmpd="sng" algn="ctr">
                      <a:solidFill>
                        <a:srgbClr val="0889C9"/>
                      </a:solidFill>
                      <a:prstDash val="solid"/>
                      <a:round/>
                      <a:headEnd type="none" w="med" len="med"/>
                      <a:tailEnd type="none" w="med" len="med"/>
                    </a:lnT>
                    <a:lnB w="18753" cap="flat" cmpd="sng" algn="ctr">
                      <a:solidFill>
                        <a:srgbClr val="0889C9"/>
                      </a:solidFill>
                      <a:prstDash val="solid"/>
                      <a:round/>
                      <a:headEnd type="none" w="med" len="med"/>
                      <a:tailEnd type="none" w="med" len="med"/>
                    </a:lnB>
                    <a:noFill/>
                  </a:tcPr>
                </a:tc>
                <a:tc>
                  <a:txBody>
                    <a:bodyPr/>
                    <a:lstStyle/>
                    <a:p>
                      <a:pPr algn="r" fontAlgn="ctr">
                        <a:buNone/>
                      </a:pPr>
                      <a:r>
                        <a:rPr lang="ja-JP" altLang="en-US" sz="1200" b="1" i="0" u="none" strike="noStrike">
                          <a:solidFill>
                            <a:srgbClr val="000000"/>
                          </a:solidFill>
                          <a:latin typeface="Arial"/>
                          <a:ea typeface="游ゴシック Medium"/>
                        </a:rPr>
                        <a:t>△12,981</a:t>
                      </a:r>
                      <a:endParaRPr lang="ja-JP" altLang="en-US" sz="1200" b="1"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18753" cap="flat" cmpd="sng" algn="ctr">
                      <a:solidFill>
                        <a:srgbClr val="0889C9"/>
                      </a:solidFill>
                      <a:prstDash val="solid"/>
                      <a:round/>
                      <a:headEnd type="none" w="med" len="med"/>
                      <a:tailEnd type="none" w="med" len="med"/>
                    </a:lnT>
                    <a:lnB w="18753" cap="flat" cmpd="sng" algn="ctr">
                      <a:solidFill>
                        <a:srgbClr val="0889C9"/>
                      </a:solidFill>
                      <a:prstDash val="solid"/>
                      <a:round/>
                      <a:headEnd type="none" w="med" len="med"/>
                      <a:tailEnd type="none" w="med" len="med"/>
                    </a:lnB>
                    <a:noFill/>
                  </a:tcPr>
                </a:tc>
                <a:tc>
                  <a:txBody>
                    <a:bodyPr/>
                    <a:lstStyle/>
                    <a:p>
                      <a:pPr algn="r" fontAlgn="ctr">
                        <a:buNone/>
                      </a:pPr>
                      <a:r>
                        <a:rPr lang="ja-JP" altLang="en-US" sz="1200" b="1" i="0" u="none" strike="noStrike">
                          <a:solidFill>
                            <a:srgbClr val="000000"/>
                          </a:solidFill>
                          <a:latin typeface="Arial"/>
                          <a:ea typeface="游ゴシック Medium"/>
                        </a:rPr>
                        <a:t>△2,182</a:t>
                      </a:r>
                      <a:endParaRPr lang="ja-JP" altLang="en-US" sz="1200" b="1" i="0" u="none" strike="noStrike">
                        <a:solidFill>
                          <a:srgbClr val="000000"/>
                        </a:solidFill>
                        <a:latin typeface="Arial"/>
                        <a:ea typeface="游ゴシック Medium"/>
                      </a:endParaRPr>
                    </a:p>
                  </a:txBody>
                  <a:tcPr marL="22504" marR="124646" marT="0" marB="0" anchor="ctr">
                    <a:lnL w="6251" cap="flat" cmpd="sng" algn="ctr">
                      <a:solidFill>
                        <a:srgbClr val="FFFFFF"/>
                      </a:solidFill>
                      <a:prstDash val="solid"/>
                      <a:round/>
                      <a:headEnd type="none" w="med" len="med"/>
                      <a:tailEnd type="none" w="med" len="med"/>
                    </a:lnL>
                    <a:lnR w="6251" cap="flat" cmpd="sng" algn="ctr">
                      <a:solidFill>
                        <a:srgbClr val="FFFFFF"/>
                      </a:solidFill>
                      <a:prstDash val="solid"/>
                      <a:round/>
                      <a:headEnd type="none" w="med" len="med"/>
                      <a:tailEnd type="none" w="med" len="med"/>
                    </a:lnR>
                    <a:lnT w="18753" cap="flat" cmpd="sng" algn="ctr">
                      <a:solidFill>
                        <a:srgbClr val="0889C9"/>
                      </a:solidFill>
                      <a:prstDash val="solid"/>
                      <a:round/>
                      <a:headEnd type="none" w="med" len="med"/>
                      <a:tailEnd type="none" w="med" len="med"/>
                    </a:lnT>
                    <a:lnB w="18753" cap="flat" cmpd="sng" algn="ctr">
                      <a:solidFill>
                        <a:srgbClr val="0889C9"/>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B/S</a:t>
            </a:r>
            <a:r>
              <a:rPr lang="ja-JP" altLang="en-US" dirty="0"/>
              <a:t>）</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6" name="正方形/長方形 5">
            <a:extLst>
              <a:ext uri="{FF2B5EF4-FFF2-40B4-BE49-F238E27FC236}">
                <a16:creationId xmlns:a16="http://schemas.microsoft.com/office/drawing/2014/main" id="{63937474-FD16-D668-CAE8-2B82EF0CD424}"/>
              </a:ext>
            </a:extLst>
          </p:cNvPr>
          <p:cNvSpPr/>
          <p:nvPr/>
        </p:nvSpPr>
        <p:spPr>
          <a:xfrm>
            <a:off x="5559668" y="4003252"/>
            <a:ext cx="4790832" cy="3140498"/>
          </a:xfrm>
          <a:prstGeom prst="rect">
            <a:avLst/>
          </a:prstGeom>
          <a:solidFill>
            <a:schemeClr val="accent2"/>
          </a:solid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indent="-171450">
              <a:lnSpc>
                <a:spcPct val="150000"/>
              </a:lnSpc>
              <a:buFont typeface="Wingdings" panose="05000000000000000000" pitchFamily="2" charset="2"/>
              <a:buChar char="ü"/>
            </a:pPr>
            <a:endParaRPr kumimoji="1" lang="en-US" altLang="ja-JP" sz="1200" b="1" dirty="0">
              <a:solidFill>
                <a:schemeClr val="tx1"/>
              </a:solidFill>
              <a:latin typeface="+mn-ea"/>
            </a:endParaRP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lang="ja-JP" altLang="en-US" dirty="0">
                <a:latin typeface="+mj-ea"/>
              </a:rPr>
              <a:t>不動産売却代金で借入金を890百万円から446百万円へ圧縮し、現預金226百万円・純資産327百万円。借入金の約8割は役員借入金です。</a:t>
            </a:r>
            <a:endParaRPr lang="en-US" altLang="ja-JP" dirty="0"/>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382390"/>
            <a:ext cx="4790832" cy="250106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7" name="テキスト ボックス 6">
            <a:extLst>
              <a:ext uri="{FF2B5EF4-FFF2-40B4-BE49-F238E27FC236}">
                <a16:creationId xmlns:a16="http://schemas.microsoft.com/office/drawing/2014/main" id="{07A18A00-4497-FBE7-D232-D583ED28CEE8}"/>
              </a:ext>
            </a:extLst>
          </p:cNvPr>
          <p:cNvSpPr txBox="1"/>
          <p:nvPr/>
        </p:nvSpPr>
        <p:spPr>
          <a:xfrm>
            <a:off x="5557024" y="1949972"/>
            <a:ext cx="4793476" cy="1523494"/>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≪現預金≫</a:t>
            </a:r>
            <a:endParaRPr kumimoji="1" lang="ja-JP" altLang="en-US" sz="900" dirty="0"/>
          </a:p>
          <a:p>
            <a:r>
              <a:rPr kumimoji="1" lang="ja-JP" altLang="en-US" sz="900" dirty="0">
                <a:solidFill>
                  <a:schemeClr val="tx1"/>
                </a:solidFill>
                <a:latin typeface="+mn-ea"/>
                <a:ea typeface="+mn-ea"/>
              </a:rPr>
              <a:t>・226百万円（前期末 32百万円）。売掛金841百万円（不動産売却代金）の回収による</a:t>
            </a:r>
            <a:endParaRPr kumimoji="1" lang="ja-JP" altLang="en-US" sz="900" dirty="0"/>
          </a:p>
          <a:p>
            <a:r>
              <a:rPr kumimoji="1" lang="ja-JP" altLang="en-US" sz="900" dirty="0">
                <a:solidFill>
                  <a:schemeClr val="tx1"/>
                </a:solidFill>
                <a:latin typeface="+mn-ea"/>
                <a:ea typeface="+mn-ea"/>
              </a:rPr>
              <a:t>≪借入金≫</a:t>
            </a:r>
            <a:endParaRPr kumimoji="1" lang="ja-JP" altLang="en-US" sz="900" dirty="0"/>
          </a:p>
          <a:p>
            <a:r>
              <a:rPr kumimoji="1" lang="ja-JP" altLang="en-US" sz="900" dirty="0">
                <a:solidFill>
                  <a:schemeClr val="tx1"/>
                </a:solidFill>
                <a:latin typeface="+mn-ea"/>
                <a:ea typeface="+mn-ea"/>
              </a:rPr>
              <a:t>・借入金計446百万円（前期 890百万円）。内訳は役員借入金360百万円、金融機関86百万円</a:t>
            </a:r>
            <a:endParaRPr kumimoji="1" lang="ja-JP" altLang="en-US" sz="900" dirty="0"/>
          </a:p>
          <a:p>
            <a:r>
              <a:rPr kumimoji="1" lang="ja-JP" altLang="en-US" sz="900" dirty="0">
                <a:solidFill>
                  <a:schemeClr val="tx1"/>
                </a:solidFill>
                <a:latin typeface="+mn-ea"/>
                <a:ea typeface="+mn-ea"/>
              </a:rPr>
              <a:t>≪土地・建物≫</a:t>
            </a:r>
            <a:endParaRPr kumimoji="1" lang="ja-JP" altLang="en-US" sz="900" dirty="0"/>
          </a:p>
          <a:p>
            <a:r>
              <a:rPr kumimoji="1" lang="ja-JP" altLang="en-US" sz="900" dirty="0">
                <a:solidFill>
                  <a:schemeClr val="tx1"/>
                </a:solidFill>
                <a:latin typeface="+mn-ea"/>
                <a:ea typeface="+mn-ea"/>
              </a:rPr>
              <a:t>・土地345百万円・建物119百万円（簿価）。鎌倉山の自社所有物件が中心</a:t>
            </a:r>
            <a:endParaRPr kumimoji="1" lang="ja-JP" altLang="en-US" sz="900" dirty="0"/>
          </a:p>
        </p:txBody>
      </p:sp>
      <p:sp>
        <p:nvSpPr>
          <p:cNvPr id="8" name="テキスト ボックス 7">
            <a:extLst>
              <a:ext uri="{FF2B5EF4-FFF2-40B4-BE49-F238E27FC236}">
                <a16:creationId xmlns:a16="http://schemas.microsoft.com/office/drawing/2014/main" id="{632197B6-9950-6937-E8F9-2140ACC03ACD}"/>
              </a:ext>
            </a:extLst>
          </p:cNvPr>
          <p:cNvSpPr txBox="1"/>
          <p:nvPr/>
        </p:nvSpPr>
        <p:spPr>
          <a:xfrm>
            <a:off x="5557024" y="4108448"/>
            <a:ext cx="4793476" cy="2937920"/>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【時価修正】</a:t>
            </a:r>
            <a:endParaRPr kumimoji="1" lang="ja-JP" altLang="en-US" sz="900" dirty="0"/>
          </a:p>
          <a:p>
            <a:r>
              <a:rPr kumimoji="1" lang="ja-JP" altLang="en-US" sz="900" dirty="0">
                <a:solidFill>
                  <a:schemeClr val="tx1"/>
                </a:solidFill>
                <a:latin typeface="+mn-ea"/>
                <a:ea typeface="+mn-ea"/>
              </a:rPr>
              <a:t>≪土地・建物≫</a:t>
            </a:r>
            <a:endParaRPr kumimoji="1" lang="ja-JP" altLang="en-US" sz="900" dirty="0"/>
          </a:p>
          <a:p>
            <a:r>
              <a:rPr kumimoji="1" lang="ja-JP" altLang="en-US" sz="900" dirty="0">
                <a:solidFill>
                  <a:schemeClr val="tx1"/>
                </a:solidFill>
                <a:latin typeface="+mn-ea"/>
                <a:ea typeface="+mn-ea"/>
              </a:rPr>
              <a:t>・登記簿・評価証明書が未受領のため時価評価は未実施（簿価評価）</a:t>
            </a:r>
            <a:endParaRPr kumimoji="1" lang="ja-JP" altLang="en-US" sz="900" dirty="0"/>
          </a:p>
          <a:p>
            <a:r>
              <a:rPr kumimoji="1" lang="ja-JP" altLang="en-US" sz="900" dirty="0">
                <a:solidFill>
                  <a:schemeClr val="tx1"/>
                </a:solidFill>
                <a:latin typeface="+mn-ea"/>
                <a:ea typeface="+mn-ea"/>
              </a:rPr>
              <a:t>≪未払人件費≫</a:t>
            </a:r>
            <a:endParaRPr kumimoji="1" lang="ja-JP" altLang="en-US" sz="900" dirty="0"/>
          </a:p>
          <a:p>
            <a:r>
              <a:rPr kumimoji="1" lang="ja-JP" altLang="en-US" sz="900" dirty="0">
                <a:solidFill>
                  <a:schemeClr val="tx1"/>
                </a:solidFill>
                <a:latin typeface="+mn-ea"/>
                <a:ea typeface="+mn-ea"/>
              </a:rPr>
              <a:t>・3月分給与の未払計上（△10百万円）と税効果（＋4百万円）</a:t>
            </a:r>
            <a:endParaRPr kumimoji="1" lang="ja-JP" altLang="en-US" sz="900" dirty="0"/>
          </a:p>
          <a:p>
            <a:r>
              <a:rPr kumimoji="1" lang="ja-JP" altLang="en-US" sz="900" dirty="0">
                <a:solidFill>
                  <a:schemeClr val="tx1"/>
                </a:solidFill>
                <a:latin typeface="+mn-ea"/>
                <a:ea typeface="+mn-ea"/>
              </a:rPr>
              <a:t>≪退職金・賞与≫</a:t>
            </a:r>
            <a:endParaRPr kumimoji="1" lang="ja-JP" altLang="en-US" sz="900" dirty="0"/>
          </a:p>
          <a:p>
            <a:r>
              <a:rPr kumimoji="1" lang="ja-JP" altLang="en-US" sz="900" dirty="0">
                <a:solidFill>
                  <a:schemeClr val="tx1"/>
                </a:solidFill>
                <a:latin typeface="+mn-ea"/>
                <a:ea typeface="+mn-ea"/>
              </a:rPr>
              <a:t>・規程未受領のため引当未計上（要確認）</a:t>
            </a:r>
            <a:endParaRPr kumimoji="1" lang="ja-JP" altLang="en-US" sz="900" dirty="0"/>
          </a:p>
          <a:p>
            <a:endParaRPr kumimoji="1" lang="ja-JP" altLang="en-US" sz="900" dirty="0"/>
          </a:p>
          <a:p>
            <a:r>
              <a:rPr kumimoji="1" lang="ja-JP" altLang="en-US" sz="900" b="1" dirty="0">
                <a:solidFill>
                  <a:schemeClr val="tx1"/>
                </a:solidFill>
                <a:latin typeface="+mn-ea"/>
                <a:ea typeface="+mn-ea"/>
              </a:rPr>
              <a:t>✓ 想定時価純資産　320,002千円</a:t>
            </a:r>
            <a:endParaRPr kumimoji="1" lang="ja-JP" altLang="en-US" sz="900" dirty="0"/>
          </a:p>
          <a:p>
            <a:r>
              <a:rPr kumimoji="1" lang="ja-JP" altLang="en-US" sz="900" b="1" dirty="0">
                <a:solidFill>
                  <a:schemeClr val="tx1"/>
                </a:solidFill>
                <a:latin typeface="+mn-ea"/>
                <a:ea typeface="+mn-ea"/>
              </a:rPr>
              <a:t>✓ ネットキャッシュ　△208,984千円（現預金等237百万円－借入金等446百万円）</a:t>
            </a:r>
            <a:endParaRPr kumimoji="1" lang="ja-JP" altLang="en-US" sz="900" dirty="0"/>
          </a:p>
        </p:txBody>
      </p:sp>
      <p:graphicFrame>
        <p:nvGraphicFramePr>
          <p:cNvPr id="14" name="Table 13"/>
          <p:cNvGraphicFramePr>
            <a:graphicFrameLocks noGrp="1"/>
          </p:cNvGraphicFramePr>
          <p:nvPr/>
        </p:nvGraphicFramePr>
        <p:xfrm>
          <a:off x="338328" y="1298448"/>
          <a:ext cx="4978616" cy="5257787"/>
        </p:xfrm>
        <a:graphic>
          <a:graphicData uri="http://schemas.openxmlformats.org/drawingml/2006/table">
            <a:tbl>
              <a:tblPr/>
              <a:tblGrid>
                <a:gridCol w="1478310"/>
                <a:gridCol w="1048029"/>
                <a:gridCol w="112953"/>
                <a:gridCol w="1291295"/>
                <a:gridCol w="1048029"/>
              </a:tblGrid>
              <a:tr h="213731">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373" marR="21373"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373" marR="21373"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373" marR="21373"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373" marR="21373"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373" marR="21373" marT="0" marB="0" anchor="ctr">
                    <a:lnL>
                      <a:noFill/>
                    </a:lnL>
                    <a:lnR>
                      <a:noFill/>
                    </a:lnR>
                    <a:lnT>
                      <a:noFill/>
                    </a:lnT>
                    <a:lnB>
                      <a:noFill/>
                    </a:lnB>
                    <a:noFill/>
                  </a:tcPr>
                </a:tc>
              </a:tr>
              <a:tr h="235104">
                <a:tc gridSpan="5">
                  <a:txBody>
                    <a:bodyPr/>
                    <a:lstStyle/>
                    <a:p>
                      <a:pPr algn="ctr" fontAlgn="ctr">
                        <a:buNone/>
                      </a:pPr>
                      <a:r>
                        <a:rPr lang="ja-JP" altLang="en-US" sz="1100" b="0" i="0" u="none" strike="noStrike">
                          <a:solidFill>
                            <a:srgbClr val="FFFFFF"/>
                          </a:solidFill>
                          <a:latin typeface="游ゴシック"/>
                          <a:ea typeface="游ゴシック"/>
                        </a:rPr>
                        <a:t>令和8年3月期</a:t>
                      </a:r>
                      <a:endParaRPr lang="ja-JP" altLang="en-US" sz="1100" b="0" i="0" u="none" strike="noStrike">
                        <a:solidFill>
                          <a:srgbClr val="FFFFFF"/>
                        </a:solidFill>
                        <a:latin typeface="游ゴシック"/>
                        <a:ea typeface="游ゴシック"/>
                      </a:endParaRPr>
                    </a:p>
                  </a:txBody>
                  <a:tcPr marL="21373" marR="21373" marT="0" marB="0" anchor="ctr">
                    <a:lnL w="5936" cap="flat" cmpd="sng" algn="ctr">
                      <a:solidFill>
                        <a:srgbClr val="FFFFFF"/>
                      </a:solidFill>
                      <a:prstDash val="solid"/>
                      <a:round/>
                      <a:headEnd type="none" w="med" len="med"/>
                      <a:tailEnd type="none" w="med" len="med"/>
                    </a:lnL>
                    <a:lnR>
                      <a:noFill/>
                    </a:lnR>
                    <a:lnT>
                      <a:noFill/>
                    </a:lnT>
                    <a:lnB w="593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100" b="0" i="0" u="none" strike="noStrike">
                        <a:solidFill>
                          <a:srgbClr val="FFFFFF"/>
                        </a:solidFill>
                        <a:latin typeface="游ゴシック"/>
                        <a:ea typeface="游ゴシック"/>
                      </a:endParaRPr>
                    </a:p>
                  </a:txBody>
                  <a:tcPr marL="21373" marR="21373" marT="0" marB="0" anchor="ctr">
                    <a:lnL>
                      <a:noFill/>
                    </a:lnL>
                    <a:lnR>
                      <a:noFill/>
                    </a:lnR>
                    <a:lnT>
                      <a:noFill/>
                    </a:lnT>
                    <a:lnB w="593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100" b="0" i="0" u="none" strike="noStrike">
                        <a:solidFill>
                          <a:srgbClr val="FFFFFF"/>
                        </a:solidFill>
                        <a:latin typeface="游ゴシック"/>
                        <a:ea typeface="游ゴシック"/>
                      </a:endParaRPr>
                    </a:p>
                  </a:txBody>
                  <a:tcPr marL="21373" marR="21373" marT="0" marB="0" anchor="ctr">
                    <a:lnL>
                      <a:noFill/>
                    </a:lnL>
                    <a:lnR>
                      <a:noFill/>
                    </a:lnR>
                    <a:lnT>
                      <a:noFill/>
                    </a:lnT>
                    <a:lnB w="593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100" b="0" i="0" u="none" strike="noStrike">
                        <a:solidFill>
                          <a:srgbClr val="FFFFFF"/>
                        </a:solidFill>
                        <a:latin typeface="游ゴシック"/>
                        <a:ea typeface="游ゴシック"/>
                      </a:endParaRPr>
                    </a:p>
                  </a:txBody>
                  <a:tcPr marL="21373" marR="21373" marT="0" marB="0" anchor="ctr">
                    <a:lnL>
                      <a:noFill/>
                    </a:lnL>
                    <a:lnR>
                      <a:noFill/>
                    </a:lnR>
                    <a:lnT>
                      <a:noFill/>
                    </a:lnT>
                    <a:lnB w="5936" cap="flat" cmpd="sng" algn="ctr">
                      <a:solidFill>
                        <a:srgbClr val="0B3041"/>
                      </a:solidFill>
                      <a:prstDash val="solid"/>
                      <a:round/>
                      <a:headEnd type="none" w="med" len="med"/>
                      <a:tailEnd type="none" w="med" len="med"/>
                    </a:lnB>
                    <a:solidFill>
                      <a:srgbClr val="0B3041"/>
                    </a:solidFill>
                  </a:tcPr>
                </a:tc>
                <a:tc hMerge="1">
                  <a:txBody>
                    <a:bodyPr/>
                    <a:lstStyle/>
                    <a:p>
                      <a:pPr algn="ctr" fontAlgn="ctr">
                        <a:buNone/>
                      </a:pPr>
                      <a:endParaRPr lang="ja-JP" altLang="en-US" sz="1100" b="0" i="0" u="none" strike="noStrike">
                        <a:solidFill>
                          <a:srgbClr val="FFFFFF"/>
                        </a:solidFill>
                        <a:latin typeface="游ゴシック"/>
                        <a:ea typeface="游ゴシック"/>
                      </a:endParaRPr>
                    </a:p>
                  </a:txBody>
                  <a:tcPr marL="21373" marR="21373" marT="0" marB="0" anchor="ctr">
                    <a:lnL>
                      <a:noFill/>
                    </a:lnL>
                    <a:lnR>
                      <a:noFill/>
                    </a:lnR>
                    <a:lnT>
                      <a:noFill/>
                    </a:lnT>
                    <a:lnB w="5936" cap="flat" cmpd="sng" algn="ctr">
                      <a:solidFill>
                        <a:srgbClr val="0B3041"/>
                      </a:solidFill>
                      <a:prstDash val="solid"/>
                      <a:round/>
                      <a:headEnd type="none" w="med" len="med"/>
                      <a:tailEnd type="none" w="med" len="med"/>
                    </a:lnB>
                    <a:solidFill>
                      <a:srgbClr val="0B3041"/>
                    </a:solidFill>
                  </a:tcPr>
                </a:tc>
              </a:tr>
              <a:tr h="267164">
                <a:tc>
                  <a:txBody>
                    <a:bodyPr/>
                    <a:lstStyle/>
                    <a:p>
                      <a:pPr algn="l" fontAlgn="ctr">
                        <a:buNone/>
                      </a:pPr>
                      <a:r>
                        <a:rPr lang="ja-JP" altLang="en-US" sz="1100" b="0" i="0" u="none" strike="noStrike">
                          <a:solidFill>
                            <a:srgbClr val="000000"/>
                          </a:solidFill>
                          <a:latin typeface="游ゴシック"/>
                          <a:ea typeface="游ゴシック"/>
                        </a:rPr>
                        <a:t>流動資産</a:t>
                      </a:r>
                      <a:endParaRPr lang="ja-JP" altLang="en-US" sz="1100" b="0" i="0" u="none" strike="noStrike">
                        <a:solidFill>
                          <a:srgbClr val="000000"/>
                        </a:solidFill>
                        <a:latin typeface="游ゴシック"/>
                        <a:ea typeface="游ゴシック"/>
                      </a:endParaRPr>
                    </a:p>
                  </a:txBody>
                  <a:tcPr marL="118380" marR="21373" marT="0" marB="0" anchor="ctr">
                    <a:lnL>
                      <a:noFill/>
                    </a:lnL>
                    <a:lnR>
                      <a:noFill/>
                    </a:lnR>
                    <a:lnT w="5936" cap="flat" cmpd="sng" algn="ctr">
                      <a:solidFill>
                        <a:srgbClr val="A6A6A6"/>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0" i="0" u="none" strike="noStrike">
                          <a:solidFill>
                            <a:srgbClr val="000000"/>
                          </a:solidFill>
                          <a:latin typeface="Arial"/>
                          <a:ea typeface="游ゴシック Medium"/>
                        </a:rPr>
                        <a:t>293,198</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w="5936" cap="flat" cmpd="sng" algn="ctr">
                      <a:solidFill>
                        <a:srgbClr val="A6A6A6"/>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w="5936" cap="flat" cmpd="sng" algn="ctr">
                      <a:solidFill>
                        <a:srgbClr val="FFFFFF"/>
                      </a:solidFill>
                      <a:prstDash val="solid"/>
                      <a:round/>
                      <a:headEnd type="none" w="med" len="med"/>
                      <a:tailEnd type="none" w="med" len="med"/>
                    </a:lnR>
                    <a:lnT w="5936" cap="flat" cmpd="sng" algn="ctr">
                      <a:solidFill>
                        <a:srgbClr val="A6A6A6"/>
                      </a:solidFill>
                      <a:prstDash val="solid"/>
                      <a:round/>
                      <a:headEnd type="none" w="med" len="med"/>
                      <a:tailEnd type="none" w="med" len="med"/>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流動負債</a:t>
                      </a:r>
                      <a:endParaRPr lang="ja-JP" altLang="en-US" sz="1000" b="0" i="0" u="none" strike="noStrike">
                        <a:solidFill>
                          <a:srgbClr val="000000"/>
                        </a:solidFill>
                        <a:latin typeface="游ゴシック"/>
                        <a:ea typeface="游ゴシック"/>
                      </a:endParaRPr>
                    </a:p>
                  </a:txBody>
                  <a:tcPr marL="118380" marR="21373" marT="0" marB="0" anchor="ctr">
                    <a:lnL w="5936" cap="flat" cmpd="sng" algn="ctr">
                      <a:solidFill>
                        <a:srgbClr val="FFFFFF"/>
                      </a:solidFill>
                      <a:prstDash val="solid"/>
                      <a:round/>
                      <a:headEnd type="none" w="med" len="med"/>
                      <a:tailEnd type="none" w="med" len="med"/>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0" i="0" u="none" strike="noStrike">
                          <a:solidFill>
                            <a:srgbClr val="000000"/>
                          </a:solidFill>
                          <a:latin typeface="Arial"/>
                          <a:ea typeface="游ゴシック Medium"/>
                        </a:rPr>
                        <a:t>196,855</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r>
              <a:tr h="267164">
                <a:tc>
                  <a:txBody>
                    <a:bodyPr/>
                    <a:lstStyle/>
                    <a:p>
                      <a:pPr algn="l" fontAlgn="ctr">
                        <a:buNone/>
                      </a:pPr>
                      <a:r>
                        <a:rPr lang="ja-JP" altLang="en-US" sz="1100" b="0" i="0" u="none" strike="noStrike">
                          <a:solidFill>
                            <a:srgbClr val="000000"/>
                          </a:solidFill>
                          <a:latin typeface="游ゴシック"/>
                          <a:ea typeface="游ゴシック"/>
                        </a:rPr>
                        <a:t>現預金</a:t>
                      </a:r>
                      <a:endParaRPr lang="ja-JP" altLang="en-US" sz="1100" b="0" i="0" u="none" strike="noStrike">
                        <a:solidFill>
                          <a:srgbClr val="000000"/>
                        </a:solidFill>
                        <a:latin typeface="游ゴシック"/>
                        <a:ea typeface="游ゴシック"/>
                      </a:endParaRPr>
                    </a:p>
                  </a:txBody>
                  <a:tcPr marL="215388" marR="21373" marT="0" marB="0" anchor="ctr">
                    <a:lnL>
                      <a:noFill/>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100" b="0" i="0" u="none" strike="noStrike">
                          <a:solidFill>
                            <a:srgbClr val="000000"/>
                          </a:solidFill>
                          <a:latin typeface="Arial"/>
                          <a:ea typeface="游ゴシック Medium"/>
                        </a:rPr>
                        <a:t>226,057</a:t>
                      </a:r>
                      <a:endParaRPr lang="ja-JP" altLang="en-US" sz="1100" b="0" i="0" u="none" strike="noStrike">
                        <a:solidFill>
                          <a:srgbClr val="000000"/>
                        </a:solidFill>
                        <a:latin typeface="Arial"/>
                        <a:ea typeface="游ゴシック Medium"/>
                      </a:endParaRPr>
                    </a:p>
                  </a:txBody>
                  <a:tcPr marL="21373" marR="118380"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買掛金</a:t>
                      </a:r>
                      <a:endParaRPr lang="ja-JP" altLang="en-US" sz="1000" b="0" i="0" u="none" strike="noStrike">
                        <a:solidFill>
                          <a:srgbClr val="000000"/>
                        </a:solidFill>
                        <a:latin typeface="游ゴシック"/>
                        <a:ea typeface="游ゴシック"/>
                      </a:endParaRPr>
                    </a:p>
                  </a:txBody>
                  <a:tcPr marL="215388" marR="21373"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100" b="0" i="0" u="none" strike="noStrike">
                          <a:solidFill>
                            <a:srgbClr val="000000"/>
                          </a:solidFill>
                          <a:latin typeface="Arial"/>
                          <a:ea typeface="游ゴシック Medium"/>
                        </a:rPr>
                        <a:t>10,297</a:t>
                      </a:r>
                      <a:endParaRPr lang="ja-JP" altLang="en-US" sz="1100" b="0" i="0" u="none" strike="noStrike">
                        <a:solidFill>
                          <a:srgbClr val="000000"/>
                        </a:solidFill>
                        <a:latin typeface="Arial"/>
                        <a:ea typeface="游ゴシック Medium"/>
                      </a:endParaRPr>
                    </a:p>
                  </a:txBody>
                  <a:tcPr marL="21373" marR="21373"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売掛金</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28,512</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短期借入金 ※</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173,077</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商品</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8,532</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未払金</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7,639</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前渡金</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18,508</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未払法人税等</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97</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未収還付法人税等</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10,878</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預り金</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794</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その他</a:t>
                      </a:r>
                      <a:endParaRPr lang="ja-JP" altLang="en-US" sz="1100" b="0" i="0" u="none" strike="noStrike">
                        <a:solidFill>
                          <a:srgbClr val="000000"/>
                        </a:solidFill>
                        <a:latin typeface="游ゴシック"/>
                        <a:ea typeface="游ゴシック"/>
                      </a:endParaRPr>
                    </a:p>
                  </a:txBody>
                  <a:tcPr marL="215388" marR="21373" marT="0" marB="0" anchor="ctr">
                    <a:lnL>
                      <a:noFill/>
                    </a:lnL>
                    <a:lnR w="5936" cap="flat" cmpd="sng" algn="ctr">
                      <a:solidFill>
                        <a:srgbClr val="FFFFFF"/>
                      </a:solidFill>
                      <a:prstDash val="solid"/>
                      <a:round/>
                      <a:headEnd type="none" w="med" len="med"/>
                      <a:tailEnd type="none" w="med" len="med"/>
                    </a:lnR>
                    <a:lnT>
                      <a:noFill/>
                    </a:lnT>
                    <a:lnB w="5936"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710</a:t>
                      </a:r>
                      <a:endParaRPr lang="ja-JP" altLang="en-US" sz="1100" b="0" i="0" u="none" strike="noStrike">
                        <a:solidFill>
                          <a:srgbClr val="000000"/>
                        </a:solidFill>
                        <a:latin typeface="Arial"/>
                        <a:ea typeface="游ゴシック Medium"/>
                      </a:endParaRPr>
                    </a:p>
                  </a:txBody>
                  <a:tcPr marL="21373" marR="118380"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w="5936"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その他</a:t>
                      </a:r>
                      <a:endParaRPr lang="ja-JP" altLang="en-US" sz="1000" b="0" i="0" u="none" strike="noStrike">
                        <a:solidFill>
                          <a:srgbClr val="000000"/>
                        </a:solidFill>
                        <a:latin typeface="游ゴシック"/>
                        <a:ea typeface="游ゴシック"/>
                      </a:endParaRPr>
                    </a:p>
                  </a:txBody>
                  <a:tcPr marL="215388" marR="21373"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w="5936"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4,950</a:t>
                      </a:r>
                      <a:endParaRPr lang="ja-JP" altLang="en-US" sz="1100" b="0" i="0" u="none" strike="noStrike">
                        <a:solidFill>
                          <a:srgbClr val="000000"/>
                        </a:solidFill>
                        <a:latin typeface="Arial"/>
                        <a:ea typeface="游ゴシック Medium"/>
                      </a:endParaRPr>
                    </a:p>
                  </a:txBody>
                  <a:tcPr marL="21373" marR="21373"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w="5936" cap="flat" cmpd="sng" algn="ctr">
                      <a:solidFill>
                        <a:srgbClr val="0B3041"/>
                      </a:solidFill>
                      <a:prstDash val="solid"/>
                      <a:round/>
                      <a:headEnd type="none" w="med" len="med"/>
                      <a:tailEnd type="none" w="med" len="med"/>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固定資産</a:t>
                      </a:r>
                      <a:endParaRPr lang="ja-JP" altLang="en-US" sz="1100" b="0" i="0" u="none" strike="noStrike">
                        <a:solidFill>
                          <a:srgbClr val="000000"/>
                        </a:solidFill>
                        <a:latin typeface="游ゴシック"/>
                        <a:ea typeface="游ゴシック"/>
                      </a:endParaRPr>
                    </a:p>
                  </a:txBody>
                  <a:tcPr marL="118380" marR="21373" marT="0" marB="0" anchor="ctr">
                    <a:lnL w="5936" cap="flat" cmpd="sng" algn="ctr">
                      <a:solidFill>
                        <a:srgbClr val="FFFFFF"/>
                      </a:solidFill>
                      <a:prstDash val="solid"/>
                      <a:round/>
                      <a:headEnd type="none" w="med" len="med"/>
                      <a:tailEnd type="none" w="med" len="med"/>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0" i="0" u="none" strike="noStrike">
                          <a:solidFill>
                            <a:srgbClr val="000000"/>
                          </a:solidFill>
                          <a:latin typeface="Arial"/>
                          <a:ea typeface="游ゴシック Medium"/>
                        </a:rPr>
                        <a:t>503,311</a:t>
                      </a:r>
                      <a:endParaRPr lang="ja-JP" altLang="en-US" sz="1100" b="0" i="0" u="none" strike="noStrike">
                        <a:solidFill>
                          <a:srgbClr val="000000"/>
                        </a:solidFill>
                        <a:latin typeface="Arial"/>
                        <a:ea typeface="游ゴシック Medium"/>
                      </a:endParaRPr>
                    </a:p>
                  </a:txBody>
                  <a:tcPr marL="21373" marR="118380" marT="0" marB="0" anchor="ctr">
                    <a:lnL>
                      <a:noFill/>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w="5936" cap="flat" cmpd="sng" algn="ctr">
                      <a:solidFill>
                        <a:srgbClr val="FFFFFF"/>
                      </a:solidFill>
                      <a:prstDash val="solid"/>
                      <a:round/>
                      <a:headEnd type="none" w="med" len="med"/>
                      <a:tailEnd type="none" w="med" len="med"/>
                    </a:lnL>
                    <a:lnR w="5936"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固定負債</a:t>
                      </a:r>
                      <a:endParaRPr lang="ja-JP" altLang="en-US" sz="1000" b="0" i="0" u="none" strike="noStrike">
                        <a:solidFill>
                          <a:srgbClr val="000000"/>
                        </a:solidFill>
                        <a:latin typeface="游ゴシック"/>
                        <a:ea typeface="游ゴシック"/>
                      </a:endParaRPr>
                    </a:p>
                  </a:txBody>
                  <a:tcPr marL="118380" marR="21373" marT="0" marB="0" anchor="ctr">
                    <a:lnL w="5936" cap="flat" cmpd="sng" algn="ctr">
                      <a:solidFill>
                        <a:srgbClr val="FFFFFF"/>
                      </a:solidFill>
                      <a:prstDash val="solid"/>
                      <a:round/>
                      <a:headEnd type="none" w="med" len="med"/>
                      <a:tailEnd type="none" w="med" len="med"/>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0" i="0" u="none" strike="noStrike">
                          <a:solidFill>
                            <a:srgbClr val="000000"/>
                          </a:solidFill>
                          <a:latin typeface="Arial"/>
                          <a:ea typeface="游ゴシック Medium"/>
                        </a:rPr>
                        <a:t>272,746</a:t>
                      </a:r>
                      <a:endParaRPr lang="ja-JP" altLang="en-US" sz="1100" b="0" i="0" u="none" strike="noStrike">
                        <a:solidFill>
                          <a:srgbClr val="000000"/>
                        </a:solidFill>
                        <a:latin typeface="Arial"/>
                        <a:ea typeface="游ゴシック Medium"/>
                      </a:endParaRPr>
                    </a:p>
                  </a:txBody>
                  <a:tcPr marL="21373" marR="21373" marT="0" marB="0" anchor="ctr">
                    <a:lnL>
                      <a:noFill/>
                    </a:lnL>
                    <a:lnR w="5936" cap="flat" cmpd="sng" algn="ctr">
                      <a:solidFill>
                        <a:srgbClr val="FFFFFF"/>
                      </a:solidFill>
                      <a:prstDash val="solid"/>
                      <a:round/>
                      <a:headEnd type="none" w="med" len="med"/>
                      <a:tailEnd type="none" w="med" len="med"/>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r>
              <a:tr h="267164">
                <a:tc>
                  <a:txBody>
                    <a:bodyPr/>
                    <a:lstStyle/>
                    <a:p>
                      <a:pPr algn="l" fontAlgn="ctr">
                        <a:buNone/>
                      </a:pPr>
                      <a:r>
                        <a:rPr lang="ja-JP" altLang="en-US" sz="1100" b="0" i="0" u="none" strike="noStrike">
                          <a:solidFill>
                            <a:srgbClr val="000000"/>
                          </a:solidFill>
                          <a:latin typeface="游ゴシック"/>
                          <a:ea typeface="游ゴシック"/>
                        </a:rPr>
                        <a:t>建物</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w="593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100" b="0" i="0" u="none" strike="noStrike">
                          <a:solidFill>
                            <a:srgbClr val="000000"/>
                          </a:solidFill>
                          <a:latin typeface="Arial"/>
                          <a:ea typeface="游ゴシック Medium"/>
                        </a:rPr>
                        <a:t>118,721</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w="5936"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長期借入金 ※</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w="593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1100" b="0" i="0" u="none" strike="noStrike">
                          <a:solidFill>
                            <a:srgbClr val="000000"/>
                          </a:solidFill>
                          <a:latin typeface="Arial"/>
                          <a:ea typeface="游ゴシック Medium"/>
                        </a:rPr>
                        <a:t>272,746</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B3041"/>
                      </a:solidFill>
                      <a:prstDash val="solid"/>
                      <a:round/>
                      <a:headEnd type="none" w="med" len="med"/>
                      <a:tailEnd type="none" w="med" len="med"/>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建物付属設備</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20,091</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車両・器具備品</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6,304</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その他</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w="5936" cap="flat" cmpd="sng" algn="ctr">
                      <a:solidFill>
                        <a:srgbClr val="000000"/>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w="5936" cap="flat" cmpd="sng" algn="ctr">
                      <a:solidFill>
                        <a:srgbClr val="000000"/>
                      </a:solidFill>
                      <a:prstDash val="solid"/>
                      <a:round/>
                      <a:headEnd type="none" w="med" len="med"/>
                      <a:tailEnd type="none" w="med" len="med"/>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土地</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345,030</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1" i="0" u="none" strike="noStrike">
                          <a:solidFill>
                            <a:srgbClr val="000000"/>
                          </a:solidFill>
                          <a:latin typeface="游ゴシック"/>
                          <a:ea typeface="游ゴシック"/>
                        </a:rPr>
                        <a:t>負債合計</a:t>
                      </a:r>
                      <a:endParaRPr lang="ja-JP" altLang="en-US" sz="1000" b="1" i="0" u="none" strike="noStrike">
                        <a:solidFill>
                          <a:srgbClr val="000000"/>
                        </a:solidFill>
                        <a:latin typeface="游ゴシック"/>
                        <a:ea typeface="游ゴシック"/>
                      </a:endParaRPr>
                    </a:p>
                  </a:txBody>
                  <a:tcPr marL="118380" marR="21373" marT="0" marB="0" anchor="ctr">
                    <a:lnL>
                      <a:noFill/>
                    </a:lnL>
                    <a:lnR>
                      <a:noFill/>
                    </a:lnR>
                    <a:lnT w="5936" cap="flat" cmpd="sng" algn="ctr">
                      <a:solidFill>
                        <a:srgbClr val="000000"/>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1" i="0" u="none" strike="noStrike">
                          <a:solidFill>
                            <a:srgbClr val="000000"/>
                          </a:solidFill>
                          <a:latin typeface="Arial"/>
                          <a:ea typeface="游ゴシック Medium"/>
                        </a:rPr>
                        <a:t>469,600</a:t>
                      </a:r>
                      <a:endParaRPr lang="ja-JP" altLang="en-US" sz="1100" b="1"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00000"/>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r>
              <a:tr h="267164">
                <a:tc>
                  <a:txBody>
                    <a:bodyPr/>
                    <a:lstStyle/>
                    <a:p>
                      <a:pPr algn="l" fontAlgn="ctr">
                        <a:buNone/>
                      </a:pPr>
                      <a:r>
                        <a:rPr lang="ja-JP" altLang="en-US" sz="1100" b="0" i="0" u="none" strike="noStrike">
                          <a:solidFill>
                            <a:srgbClr val="000000"/>
                          </a:solidFill>
                          <a:latin typeface="游ゴシック"/>
                          <a:ea typeface="游ゴシック"/>
                        </a:rPr>
                        <a:t>敷金・保証金</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13,160</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w="5936" cap="flat" cmpd="sng" algn="ctr">
                      <a:solidFill>
                        <a:srgbClr val="0B3041"/>
                      </a:solidFill>
                      <a:prstDash val="solid"/>
                      <a:round/>
                      <a:headEnd type="none" w="med" len="med"/>
                      <a:tailEnd type="none" w="med" len="med"/>
                    </a:lnT>
                    <a:lnB>
                      <a:noFill/>
                    </a:lnB>
                    <a:noFill/>
                  </a:tcPr>
                </a:tc>
                <a:tc>
                  <a:txBody>
                    <a:bodyPr/>
                    <a:lstStyle/>
                    <a:p>
                      <a:pPr algn="l" fontAlgn="ctr">
                        <a:buNone/>
                      </a:pPr>
                      <a:endParaRPr lang="ja-JP" altLang="en-US" sz="1100" b="0"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B3041"/>
                      </a:solidFill>
                      <a:prstDash val="solid"/>
                      <a:round/>
                      <a:headEnd type="none" w="med" len="med"/>
                      <a:tailEnd type="none" w="med" len="med"/>
                    </a:lnT>
                    <a:lnB>
                      <a:noFill/>
                    </a:lnB>
                    <a:noFill/>
                  </a:tcPr>
                </a:tc>
              </a:tr>
              <a:tr h="267164">
                <a:tc>
                  <a:txBody>
                    <a:bodyPr/>
                    <a:lstStyle/>
                    <a:p>
                      <a:pPr algn="l" fontAlgn="ctr">
                        <a:buNone/>
                      </a:pPr>
                      <a:r>
                        <a:rPr lang="ja-JP" altLang="en-US" sz="1100" b="0" i="0" u="none" strike="noStrike">
                          <a:solidFill>
                            <a:srgbClr val="000000"/>
                          </a:solidFill>
                          <a:latin typeface="游ゴシック"/>
                          <a:ea typeface="游ゴシック"/>
                        </a:rPr>
                        <a:t>出資金</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5</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資本金</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500</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資本剰余金</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r>
                        <a:rPr lang="ja-JP" altLang="en-US" sz="1100" b="0" i="0" u="none" strike="noStrike">
                          <a:solidFill>
                            <a:srgbClr val="000000"/>
                          </a:solidFill>
                          <a:latin typeface="Arial"/>
                          <a:ea typeface="游ゴシック Medium"/>
                        </a:rPr>
                        <a:t>5,000</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a:noFill/>
                    </a:lnB>
                    <a:noFill/>
                  </a:tcPr>
                </a:tc>
              </a:tr>
              <a:tr h="267164">
                <a:tc>
                  <a:txBody>
                    <a:bodyPr/>
                    <a:lstStyle/>
                    <a:p>
                      <a:pPr algn="l" fontAlgn="ctr">
                        <a:buNone/>
                      </a:pP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a:noFill/>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0" i="0" u="none" strike="noStrike">
                          <a:solidFill>
                            <a:srgbClr val="000000"/>
                          </a:solidFill>
                          <a:latin typeface="游ゴシック"/>
                          <a:ea typeface="游ゴシック"/>
                        </a:rPr>
                        <a:t>利益剰余金</a:t>
                      </a:r>
                      <a:endParaRPr lang="ja-JP" altLang="en-US" sz="1000" b="0" i="0" u="none" strike="noStrike">
                        <a:solidFill>
                          <a:srgbClr val="000000"/>
                        </a:solidFill>
                        <a:latin typeface="游ゴシック"/>
                        <a:ea typeface="游ゴシック"/>
                      </a:endParaRPr>
                    </a:p>
                  </a:txBody>
                  <a:tcPr marL="215388" marR="21373" marT="0" marB="0" anchor="ctr">
                    <a:lnL>
                      <a:noFill/>
                    </a:lnL>
                    <a:lnR>
                      <a:noFill/>
                    </a:lnR>
                    <a:lnT>
                      <a:noFill/>
                    </a:lnT>
                    <a:lnB w="5936"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321,409</a:t>
                      </a:r>
                      <a:endParaRPr lang="ja-JP" altLang="en-US" sz="1100" b="0" i="0" u="none" strike="noStrike">
                        <a:solidFill>
                          <a:srgbClr val="000000"/>
                        </a:solidFill>
                        <a:latin typeface="Arial"/>
                        <a:ea typeface="游ゴシック Medium"/>
                      </a:endParaRPr>
                    </a:p>
                  </a:txBody>
                  <a:tcPr marL="21373" marR="21373" marT="0" marB="0" anchor="ctr">
                    <a:lnL>
                      <a:noFill/>
                    </a:lnL>
                    <a:lnR>
                      <a:noFill/>
                    </a:lnR>
                    <a:lnT>
                      <a:noFill/>
                    </a:lnT>
                    <a:lnB w="5936" cap="flat" cmpd="sng" algn="ctr">
                      <a:solidFill>
                        <a:srgbClr val="0B3041"/>
                      </a:solidFill>
                      <a:prstDash val="solid"/>
                      <a:round/>
                      <a:headEnd type="none" w="med" len="med"/>
                      <a:tailEnd type="none" w="med" len="med"/>
                    </a:lnB>
                    <a:noFill/>
                  </a:tcPr>
                </a:tc>
              </a:tr>
              <a:tr h="267164">
                <a:tc>
                  <a:txBody>
                    <a:bodyPr/>
                    <a:lstStyle/>
                    <a:p>
                      <a:pPr algn="l" fontAlgn="ctr">
                        <a:buNone/>
                      </a:pPr>
                      <a:r>
                        <a:rPr lang="ja-JP" altLang="en-US" sz="1100" b="0" i="0" u="none" strike="noStrike">
                          <a:solidFill>
                            <a:srgbClr val="000000"/>
                          </a:solidFill>
                          <a:latin typeface="游ゴシック"/>
                          <a:ea typeface="游ゴシック"/>
                        </a:rPr>
                        <a:t>その他</a:t>
                      </a:r>
                      <a:endParaRPr lang="ja-JP" altLang="en-US" sz="1100" b="0" i="0" u="none" strike="noStrike">
                        <a:solidFill>
                          <a:srgbClr val="000000"/>
                        </a:solidFill>
                        <a:latin typeface="游ゴシック"/>
                        <a:ea typeface="游ゴシック"/>
                      </a:endParaRPr>
                    </a:p>
                  </a:txBody>
                  <a:tcPr marL="215388" marR="21373" marT="0" marB="0" anchor="ctr">
                    <a:lnL>
                      <a:noFill/>
                    </a:lnL>
                    <a:lnR>
                      <a:noFill/>
                    </a:lnR>
                    <a:lnT>
                      <a:noFill/>
                    </a:lnT>
                    <a:lnB w="5936"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a:t>
                      </a:r>
                      <a:endParaRPr lang="ja-JP" altLang="en-US" sz="1100" b="0" i="0" u="none" strike="noStrike">
                        <a:solidFill>
                          <a:srgbClr val="000000"/>
                        </a:solidFill>
                        <a:latin typeface="Arial"/>
                        <a:ea typeface="游ゴシック Medium"/>
                      </a:endParaRPr>
                    </a:p>
                  </a:txBody>
                  <a:tcPr marL="21373" marR="118380" marT="0" marB="0" anchor="ctr">
                    <a:lnL>
                      <a:noFill/>
                    </a:lnL>
                    <a:lnR>
                      <a:noFill/>
                    </a:lnR>
                    <a:lnT>
                      <a:noFill/>
                    </a:lnT>
                    <a:lnB w="5936" cap="flat" cmpd="sng" algn="ctr">
                      <a:solidFill>
                        <a:srgbClr val="0B3041"/>
                      </a:solidFill>
                      <a:prstDash val="solid"/>
                      <a:round/>
                      <a:headEnd type="none" w="med" len="med"/>
                      <a:tailEnd type="none" w="med" len="med"/>
                    </a:lnB>
                    <a:no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1" i="0" u="none" strike="noStrike">
                          <a:solidFill>
                            <a:srgbClr val="000000"/>
                          </a:solidFill>
                          <a:latin typeface="游ゴシック"/>
                          <a:ea typeface="游ゴシック"/>
                        </a:rPr>
                        <a:t>純資産合計</a:t>
                      </a:r>
                      <a:endParaRPr lang="ja-JP" altLang="en-US" sz="1000" b="1" i="0" u="none" strike="noStrike">
                        <a:solidFill>
                          <a:srgbClr val="000000"/>
                        </a:solidFill>
                        <a:latin typeface="游ゴシック"/>
                        <a:ea typeface="游ゴシック"/>
                      </a:endParaRPr>
                    </a:p>
                  </a:txBody>
                  <a:tcPr marL="118380"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1" i="0" u="none" strike="noStrike">
                          <a:solidFill>
                            <a:srgbClr val="000000"/>
                          </a:solidFill>
                          <a:latin typeface="Arial"/>
                          <a:ea typeface="游ゴシック Medium"/>
                        </a:rPr>
                        <a:t>326,909</a:t>
                      </a:r>
                      <a:endParaRPr lang="ja-JP" altLang="en-US" sz="1100" b="1"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r>
              <a:tr h="267164">
                <a:tc>
                  <a:txBody>
                    <a:bodyPr/>
                    <a:lstStyle/>
                    <a:p>
                      <a:pPr algn="l" fontAlgn="ctr">
                        <a:buNone/>
                      </a:pPr>
                      <a:r>
                        <a:rPr lang="ja-JP" altLang="en-US" sz="1100" b="1" i="0" u="none" strike="noStrike">
                          <a:solidFill>
                            <a:srgbClr val="000000"/>
                          </a:solidFill>
                          <a:latin typeface="游ゴシック"/>
                          <a:ea typeface="游ゴシック"/>
                        </a:rPr>
                        <a:t>資産合計</a:t>
                      </a:r>
                      <a:endParaRPr lang="ja-JP" altLang="en-US" sz="1100" b="1" i="0" u="none" strike="noStrike">
                        <a:solidFill>
                          <a:srgbClr val="000000"/>
                        </a:solidFill>
                        <a:latin typeface="游ゴシック"/>
                        <a:ea typeface="游ゴシック"/>
                      </a:endParaRPr>
                    </a:p>
                  </a:txBody>
                  <a:tcPr marL="118380"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1" i="0" u="none" strike="noStrike">
                          <a:solidFill>
                            <a:srgbClr val="000000"/>
                          </a:solidFill>
                          <a:latin typeface="Arial"/>
                          <a:ea typeface="游ゴシック Medium"/>
                        </a:rPr>
                        <a:t>796,509</a:t>
                      </a:r>
                      <a:endParaRPr lang="ja-JP" altLang="en-US" sz="1100" b="1" i="0" u="none" strike="noStrike">
                        <a:solidFill>
                          <a:srgbClr val="000000"/>
                        </a:solidFill>
                        <a:latin typeface="Arial"/>
                        <a:ea typeface="游ゴシック Medium"/>
                      </a:endParaRPr>
                    </a:p>
                  </a:txBody>
                  <a:tcPr marL="21373" marR="118380"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endParaRPr lang="ja-JP" altLang="en-US" sz="1100" b="0" i="0" u="none" strike="noStrike">
                        <a:solidFill>
                          <a:srgbClr val="000000"/>
                        </a:solidFill>
                        <a:latin typeface="游ゴシック"/>
                        <a:ea typeface="游ゴシック"/>
                      </a:endParaRPr>
                    </a:p>
                  </a:txBody>
                  <a:tcPr marL="21373" marR="118380" marT="0" marB="0" anchor="ctr">
                    <a:lnL>
                      <a:noFill/>
                    </a:lnL>
                    <a:lnR>
                      <a:noFill/>
                    </a:lnR>
                    <a:lnT>
                      <a:noFill/>
                    </a:lnT>
                    <a:lnB>
                      <a:noFill/>
                    </a:lnB>
                    <a:noFill/>
                  </a:tcPr>
                </a:tc>
                <a:tc>
                  <a:txBody>
                    <a:bodyPr/>
                    <a:lstStyle/>
                    <a:p>
                      <a:pPr algn="l" fontAlgn="ctr">
                        <a:buNone/>
                      </a:pPr>
                      <a:r>
                        <a:rPr lang="ja-JP" altLang="en-US" sz="1000" b="1" i="0" u="none" strike="noStrike">
                          <a:solidFill>
                            <a:srgbClr val="000000"/>
                          </a:solidFill>
                          <a:latin typeface="游ゴシック"/>
                          <a:ea typeface="游ゴシック"/>
                        </a:rPr>
                        <a:t>負債・純資産合計</a:t>
                      </a:r>
                      <a:endParaRPr lang="ja-JP" altLang="en-US" sz="1000" b="1" i="0" u="none" strike="noStrike">
                        <a:solidFill>
                          <a:srgbClr val="000000"/>
                        </a:solidFill>
                        <a:latin typeface="游ゴシック"/>
                        <a:ea typeface="游ゴシック"/>
                      </a:endParaRPr>
                    </a:p>
                  </a:txBody>
                  <a:tcPr marL="118380"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100" b="1" i="0" u="none" strike="noStrike">
                          <a:solidFill>
                            <a:srgbClr val="000000"/>
                          </a:solidFill>
                          <a:latin typeface="Arial"/>
                          <a:ea typeface="游ゴシック Medium"/>
                        </a:rPr>
                        <a:t>796,509</a:t>
                      </a:r>
                      <a:endParaRPr lang="ja-JP" altLang="en-US" sz="1100" b="1" i="0" u="none" strike="noStrike">
                        <a:solidFill>
                          <a:srgbClr val="000000"/>
                        </a:solidFill>
                        <a:latin typeface="Arial"/>
                        <a:ea typeface="游ゴシック Medium"/>
                      </a:endParaRPr>
                    </a:p>
                  </a:txBody>
                  <a:tcPr marL="21373" marR="21373" marT="0" marB="0" anchor="ctr">
                    <a:lnL>
                      <a:noFill/>
                    </a:lnL>
                    <a:lnR>
                      <a:noFill/>
                    </a:lnR>
                    <a:lnT w="5936" cap="flat" cmpd="sng" algn="ctr">
                      <a:solidFill>
                        <a:srgbClr val="0B3041"/>
                      </a:solidFill>
                      <a:prstDash val="solid"/>
                      <a:round/>
                      <a:headEnd type="none" w="med" len="med"/>
                      <a:tailEnd type="none" w="med" len="med"/>
                    </a:lnT>
                    <a:lnB w="5936" cap="flat" cmpd="sng" algn="ctr">
                      <a:solidFill>
                        <a:srgbClr val="0B3041"/>
                      </a:solidFill>
                      <a:prstDash val="solid"/>
                      <a:round/>
                      <a:headEnd type="none" w="med" len="med"/>
                      <a:tailEnd type="none" w="med" len="med"/>
                    </a:lnB>
                    <a:solidFill>
                      <a:srgbClr val="E3E7E9"/>
                    </a:solidFill>
                  </a:tcPr>
                </a:tc>
              </a:tr>
            </a:tbl>
          </a:graphicData>
        </a:graphic>
      </p:graphicFrame>
      <p:sp>
        <p:nvSpPr>
          <p:cNvPr id="15" name="TextBox 14"/>
          <p:cNvSpPr txBox="1"/>
          <p:nvPr/>
        </p:nvSpPr>
        <p:spPr>
          <a:xfrm>
            <a:off x="310896" y="6611099"/>
            <a:ext cx="5029200" cy="274320"/>
          </a:xfrm>
          <a:prstGeom prst="rect">
            <a:avLst/>
          </a:prstGeom>
          <a:noFill/>
        </p:spPr>
        <p:txBody>
          <a:bodyPr wrap="square" lIns="0" tIns="0" rIns="0" bIns="0" anchor="t">
            <a:spAutoFit/>
          </a:bodyPr>
          <a:lstStyle/>
          <a:p>
            <a:pPr>
              <a:spcAft>
                <a:spcPts val="200"/>
              </a:spcAft>
            </a:pPr>
            <a:r>
              <a:rPr kumimoji="1" lang="ja-JP" altLang="en-US" sz="800" dirty="0">
                <a:solidFill>
                  <a:srgbClr val="595959"/>
                </a:solidFill>
                <a:latin typeface="+mn-ea"/>
                <a:ea typeface="+mn-ea"/>
              </a:rPr>
              <a:t>※短期借入金・長期借入金には役員借入金359,667千円を含む。</a:t>
            </a:r>
            <a:endParaRPr kumimoji="1" lang="ja-JP" altLang="en-US" sz="800" dirty="0"/>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株式譲渡（想定）</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en-US" altLang="ja-JP" spc="50" dirty="0"/>
              <a:t>ヒアリング予定（未確認）</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pc="50" dirty="0"/>
              <a:t>従業員の雇用継続・役員借入金の取扱い</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a:t>代表者の関与（詳細はヒアリング予定）</a:t>
            </a:r>
            <a:endParaRPr lang="en-US" altLang="ja-JP"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r>
              <a:rPr lang="ja-JP" altLang="en-US" spc="50" dirty="0"/>
              <a:t>ヒアリング予定（未確認）</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chemeClr val="tx1"/>
                </a:solidFill>
                <a:latin typeface="+mj-ea"/>
                <a:ea typeface="+mj-ea"/>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2"/>
                </a:solidFill>
                <a:latin typeface="+mj-ea"/>
                <a:ea typeface="+mj-ea"/>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449263" y="3638552"/>
            <a:ext cx="216000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ea typeface="+mj-ea"/>
              </a:rPr>
              <a:t>食材・製菓材料の卸売会社（上位2社で約37%）</a:t>
            </a:r>
            <a:endParaRPr kumimoji="1" lang="en-US" altLang="ja-JP" sz="1200" b="1" spc="50" dirty="0">
              <a:solidFill>
                <a:schemeClr val="tx1"/>
              </a:solidFill>
              <a:latin typeface="+mj-ea"/>
              <a:ea typeface="+mj-ea"/>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ea typeface="+mj-ea"/>
              </a:rPr>
              <a:t>乳製品メーカー・販売会社</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ea typeface="+mj-ea"/>
              </a:rPr>
              <a:t>コーヒーメーカー</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082550" y="3638552"/>
            <a:ext cx="216000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rPr>
              <a:t>個人のお客様（店頭販売・カフェ）</a:t>
            </a:r>
            <a:endParaRPr kumimoji="1" lang="en-US" altLang="ja-JP" sz="1200" b="1" spc="50" dirty="0">
              <a:solidFill>
                <a:schemeClr val="tx1"/>
              </a:solidFill>
              <a:latin typeface="+mj-ea"/>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rPr>
              <a:t>百貨店（大船店の売上精算）</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rPr>
              <a:t>法人（ギフト卸等）</a:t>
            </a: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t>事業内容</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85906" y="3321256"/>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chemeClr val="tx2"/>
                </a:solidFill>
                <a:ea typeface="+mj-ea"/>
              </a:rPr>
              <a:t>物販・法人取引</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62901" y="3687076"/>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ミリュウショップ</a:t>
            </a:r>
            <a:endParaRPr kumimoji="1" lang="en-US" altLang="ja-JP" sz="1100" dirty="0">
              <a:solidFill>
                <a:schemeClr val="tx1"/>
              </a:solidFill>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売上 7百万円</a:t>
            </a: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91351" y="3687076"/>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法人取引（ギフト卸等）</a:t>
            </a:r>
            <a:endParaRPr kumimoji="1" lang="en-US" altLang="ja-JP" sz="1100" dirty="0">
              <a:solidFill>
                <a:schemeClr val="tx1"/>
              </a:solidFill>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売上 約10百万円</a:t>
            </a:r>
          </a:p>
        </p:txBody>
      </p:sp>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chemeClr val="tx2"/>
                </a:solidFill>
                <a:ea typeface="+mj-ea"/>
              </a:rPr>
              <a:t>店舗事業（菓子・パン・カフェ）</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鎌倉山店（本店・自社所有）</a:t>
            </a: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売上 100百万円</a:t>
            </a: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紀尾井町店・大船店（賃借）</a:t>
            </a: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売上 88・91百万円</a:t>
            </a:r>
          </a:p>
        </p:txBody>
      </p:sp>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4369959"/>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chemeClr val="tx2"/>
                </a:solidFill>
                <a:ea typeface="+mj-ea"/>
              </a:rPr>
              <a:t>不動産</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4757082"/>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鎌倉山の自社所有物件</a:t>
            </a:r>
            <a:endParaRPr kumimoji="1" lang="en-US" altLang="ja-JP" sz="1100" dirty="0">
              <a:solidFill>
                <a:schemeClr val="tx1"/>
              </a:solidFill>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土地345・建物119百万円（簿価）</a:t>
            </a: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4757082"/>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賃貸物件（松濤フラッツ）</a:t>
            </a:r>
            <a:endParaRPr kumimoji="1" lang="en-US" altLang="ja-JP" sz="1100" dirty="0">
              <a:solidFill>
                <a:schemeClr val="tx1"/>
              </a:solidFill>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chemeClr val="tx1"/>
                </a:solidFill>
              </a:rPr>
              <a:t>令和7年3月売却済</a:t>
            </a:r>
          </a:p>
        </p:txBody>
      </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46901" y="6351122"/>
            <a:ext cx="189235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rPr>
              <a:t>外注費 2,297千円（売上比0.7%）</a:t>
            </a:r>
            <a:endParaRPr kumimoji="1" lang="en-US" altLang="ja-JP" sz="1200" b="1" spc="50" dirty="0">
              <a:solidFill>
                <a:schemeClr val="tx1"/>
              </a:solidFill>
              <a:latin typeface="+mj-ea"/>
            </a:endParaRPr>
          </a:p>
        </p:txBody>
      </p:sp>
      <p:sp>
        <p:nvSpPr>
          <p:cNvPr id="26" name="正方形/長方形 25">
            <a:extLst>
              <a:ext uri="{FF2B5EF4-FFF2-40B4-BE49-F238E27FC236}">
                <a16:creationId xmlns:a16="http://schemas.microsoft.com/office/drawing/2014/main" id="{9C061C40-9401-AAF5-F431-12A37BDB4C30}"/>
              </a:ext>
            </a:extLst>
          </p:cNvPr>
          <p:cNvSpPr/>
          <p:nvPr/>
        </p:nvSpPr>
        <p:spPr>
          <a:xfrm>
            <a:off x="5306901" y="6348318"/>
            <a:ext cx="189235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200" b="1" spc="50" dirty="0">
                <a:solidFill>
                  <a:schemeClr val="tx1"/>
                </a:solidFill>
                <a:latin typeface="+mj-ea"/>
              </a:rPr>
              <a:t>主に個人外注先（要確認）</a:t>
            </a:r>
            <a:endParaRPr kumimoji="1" lang="en-US" altLang="ja-JP" sz="1200" b="1" spc="50" dirty="0">
              <a:solidFill>
                <a:schemeClr val="tx1"/>
              </a:solidFill>
              <a:latin typeface="+mj-ea"/>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mj-ea"/>
              </a:rPr>
              <a:t>鎌倉山・紀尾井町・大船の3店舗で、菓子・パン・カフェを個人のお客様へ直接販売。食材は乳製品・コーヒー・製菓材料等の卸・メーカーから調達しています。</a:t>
            </a:r>
            <a:endParaRPr lang="en-US" altLang="ja-JP" dirty="0"/>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lang="ja-JP" altLang="en-US" dirty="0"/>
              <a:t>サービス・商品概要</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sp>
        <p:nvSpPr>
          <p:cNvPr id="4" name="TextBox 3"/>
          <p:cNvSpPr txBox="1"/>
          <p:nvPr/>
        </p:nvSpPr>
        <p:spPr>
          <a:xfrm>
            <a:off x="457200" y="868680"/>
            <a:ext cx="9784080" cy="457200"/>
          </a:xfrm>
          <a:prstGeom prst="rect">
            <a:avLst/>
          </a:prstGeom>
          <a:noFill/>
        </p:spPr>
        <p:txBody>
          <a:bodyPr wrap="square" lIns="0" tIns="0" rIns="0" bIns="0" anchor="t">
            <a:spAutoFit/>
          </a:bodyPr>
          <a:lstStyle/>
          <a:p>
            <a:r>
              <a:rPr kumimoji="1" lang="ja-JP" altLang="en-US" sz="1300" dirty="0">
                <a:solidFill>
                  <a:srgbClr val="000000"/>
                </a:solidFill>
                <a:latin typeface="+mn-ea"/>
                <a:ea typeface="+mn-ea"/>
              </a:rPr>
              <a:t>鎌倉山の「ル・ミリュウ」を本店に、生菓子・焼菓子・パンの販売と併設カフェを展開。看板商品やアフタヌーンティー等で支持を得ています（Web情報・要確認）。</a:t>
            </a:r>
            <a:endParaRPr kumimoji="1" lang="ja-JP" altLang="en-US" sz="1300" dirty="0"/>
          </a:p>
        </p:txBody>
      </p:sp>
      <p:sp>
        <p:nvSpPr>
          <p:cNvPr id="5" name="Rectangle 4"/>
          <p:cNvSpPr/>
          <p:nvPr/>
        </p:nvSpPr>
        <p:spPr>
          <a:xfrm>
            <a:off x="457200" y="1554480"/>
            <a:ext cx="4800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200" dirty="0" b="1">
                <a:solidFill>
                  <a:srgbClr val="FFFFFF"/>
                </a:solidFill>
                <a:latin typeface="+mn-ea"/>
                <a:ea typeface="+mn-ea"/>
              </a:rPr>
              <a:t>■ 提供商品・サービス（Web情報・要確認）</a:t>
            </a:r>
            <a:endParaRPr kumimoji="1" lang="ja-JP" altLang="en-US" sz="1200" dirty="0"/>
          </a:p>
        </p:txBody>
      </p:sp>
      <p:sp>
        <p:nvSpPr>
          <p:cNvPr id="6" name="TextBox 5"/>
          <p:cNvSpPr txBox="1"/>
          <p:nvPr/>
        </p:nvSpPr>
        <p:spPr>
          <a:xfrm>
            <a:off x="457200" y="1965960"/>
            <a:ext cx="4800600" cy="1600200"/>
          </a:xfrm>
          <a:prstGeom prst="rect">
            <a:avLst/>
          </a:prstGeom>
          <a:solidFill>
            <a:srgbClr val="E3E7E9"/>
          </a:solidFill>
        </p:spPr>
        <p:txBody>
          <a:bodyPr wrap="square" lIns="137160" tIns="109728" rIns="137160" bIns="91440" anchor="t">
            <a:spAutoFit/>
          </a:bodyPr>
          <a:lstStyle/>
          <a:p>
            <a:pPr>
              <a:spcAft>
                <a:spcPts val="300"/>
              </a:spcAft>
            </a:pPr>
            <a:r>
              <a:rPr kumimoji="1" lang="ja-JP" altLang="en-US" sz="1100" dirty="0">
                <a:solidFill>
                  <a:srgbClr val="000000"/>
                </a:solidFill>
                <a:latin typeface="+mn-ea"/>
                <a:ea typeface="+mn-ea"/>
              </a:rPr>
              <a:t>・生菓子（ケーキ）・焼菓子・パンの販売（店頭）</a:t>
            </a:r>
            <a:endParaRPr kumimoji="1" lang="ja-JP" altLang="en-US" sz="1100" dirty="0"/>
          </a:p>
          <a:p>
            <a:pPr>
              <a:spcAft>
                <a:spcPts val="300"/>
              </a:spcAft>
            </a:pPr>
            <a:r>
              <a:rPr kumimoji="1" lang="ja-JP" altLang="en-US" sz="1100" dirty="0">
                <a:solidFill>
                  <a:srgbClr val="000000"/>
                </a:solidFill>
                <a:latin typeface="+mn-ea"/>
                <a:ea typeface="+mn-ea"/>
              </a:rPr>
              <a:t>・併設カフェでの飲食提供（アフタヌーンティー等）</a:t>
            </a:r>
            <a:endParaRPr kumimoji="1" lang="ja-JP" altLang="en-US" sz="1100" dirty="0"/>
          </a:p>
          <a:p>
            <a:pPr>
              <a:spcAft>
                <a:spcPts val="300"/>
              </a:spcAft>
            </a:pPr>
            <a:r>
              <a:rPr kumimoji="1" lang="ja-JP" altLang="en-US" sz="1100" dirty="0">
                <a:solidFill>
                  <a:srgbClr val="000000"/>
                </a:solidFill>
                <a:latin typeface="+mn-ea"/>
                <a:ea typeface="+mn-ea"/>
              </a:rPr>
              <a:t>・ギフト商品（法人向けの卸を含む）</a:t>
            </a:r>
            <a:endParaRPr kumimoji="1" lang="ja-JP" altLang="en-US" sz="1100" dirty="0"/>
          </a:p>
          <a:p>
            <a:pPr>
              <a:spcAft>
                <a:spcPts val="300"/>
              </a:spcAft>
            </a:pPr>
            <a:r>
              <a:rPr kumimoji="1" lang="ja-JP" altLang="en-US" sz="1100" dirty="0">
                <a:solidFill>
                  <a:srgbClr val="000000"/>
                </a:solidFill>
                <a:latin typeface="+mn-ea"/>
                <a:ea typeface="+mn-ea"/>
              </a:rPr>
              <a:t>・物販（ミリュウショップ）</a:t>
            </a:r>
            <a:endParaRPr kumimoji="1" lang="ja-JP" altLang="en-US" sz="1100" dirty="0"/>
          </a:p>
        </p:txBody>
      </p:sp>
      <p:sp>
        <p:nvSpPr>
          <p:cNvPr id="7" name="Rectangle 6"/>
          <p:cNvSpPr/>
          <p:nvPr/>
        </p:nvSpPr>
        <p:spPr>
          <a:xfrm>
            <a:off x="5440680" y="1554480"/>
            <a:ext cx="4800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200" dirty="0" b="1">
                <a:solidFill>
                  <a:srgbClr val="FFFFFF"/>
                </a:solidFill>
                <a:latin typeface="+mn-ea"/>
                <a:ea typeface="+mn-ea"/>
              </a:rPr>
              <a:t>■ 店舗網</a:t>
            </a:r>
            <a:endParaRPr kumimoji="1" lang="ja-JP" altLang="en-US" sz="1200" dirty="0"/>
          </a:p>
        </p:txBody>
      </p:sp>
      <p:sp>
        <p:nvSpPr>
          <p:cNvPr id="8" name="TextBox 7"/>
          <p:cNvSpPr txBox="1"/>
          <p:nvPr/>
        </p:nvSpPr>
        <p:spPr>
          <a:xfrm>
            <a:off x="5440680" y="1965960"/>
            <a:ext cx="4800600" cy="1600200"/>
          </a:xfrm>
          <a:prstGeom prst="rect">
            <a:avLst/>
          </a:prstGeom>
          <a:solidFill>
            <a:srgbClr val="E3E7E9"/>
          </a:solidFill>
        </p:spPr>
        <p:txBody>
          <a:bodyPr wrap="square" lIns="137160" tIns="109728" rIns="137160" bIns="91440" anchor="t">
            <a:spAutoFit/>
          </a:bodyPr>
          <a:lstStyle/>
          <a:p>
            <a:pPr>
              <a:spcAft>
                <a:spcPts val="300"/>
              </a:spcAft>
            </a:pPr>
            <a:r>
              <a:rPr kumimoji="1" lang="ja-JP" altLang="en-US" sz="1100" dirty="0">
                <a:solidFill>
                  <a:srgbClr val="000000"/>
                </a:solidFill>
                <a:latin typeface="+mn-ea"/>
                <a:ea typeface="+mn-ea"/>
              </a:rPr>
              <a:t>・鎌倉山店「ル・ミリュウ」（本店・自社所有）：売上 99,972千円</a:t>
            </a:r>
            <a:endParaRPr kumimoji="1" lang="ja-JP" altLang="en-US" sz="1100" dirty="0"/>
          </a:p>
          <a:p>
            <a:pPr>
              <a:spcAft>
                <a:spcPts val="300"/>
              </a:spcAft>
            </a:pPr>
            <a:r>
              <a:rPr kumimoji="1" lang="ja-JP" altLang="en-US" sz="1100" dirty="0">
                <a:solidFill>
                  <a:srgbClr val="000000"/>
                </a:solidFill>
                <a:latin typeface="+mn-ea"/>
                <a:ea typeface="+mn-ea"/>
              </a:rPr>
              <a:t>・紀尾井町店（賃借）：売上 87,918千円</a:t>
            </a:r>
            <a:endParaRPr kumimoji="1" lang="ja-JP" altLang="en-US" sz="1100" dirty="0"/>
          </a:p>
          <a:p>
            <a:pPr>
              <a:spcAft>
                <a:spcPts val="300"/>
              </a:spcAft>
            </a:pPr>
            <a:r>
              <a:rPr kumimoji="1" lang="ja-JP" altLang="en-US" sz="1100" dirty="0">
                <a:solidFill>
                  <a:srgbClr val="000000"/>
                </a:solidFill>
                <a:latin typeface="+mn-ea"/>
                <a:ea typeface="+mn-ea"/>
              </a:rPr>
              <a:t>・大船店（賃借）：売上 91,286千円</a:t>
            </a:r>
            <a:endParaRPr kumimoji="1" lang="ja-JP" altLang="en-US" sz="1100" dirty="0"/>
          </a:p>
          <a:p>
            <a:pPr>
              <a:spcAft>
                <a:spcPts val="300"/>
              </a:spcAft>
            </a:pPr>
            <a:r>
              <a:rPr kumimoji="1" lang="ja-JP" altLang="en-US" sz="1100" dirty="0">
                <a:solidFill>
                  <a:srgbClr val="000000"/>
                </a:solidFill>
                <a:latin typeface="+mn-ea"/>
                <a:ea typeface="+mn-ea"/>
              </a:rPr>
              <a:t>・四谷店：令和7年3月期以降は売上なし（閉店と推察）</a:t>
            </a:r>
            <a:endParaRPr kumimoji="1" lang="ja-JP" altLang="en-US" sz="1100" dirty="0"/>
          </a:p>
        </p:txBody>
      </p:sp>
      <p:sp>
        <p:nvSpPr>
          <p:cNvPr id="9" name="Rectangle 8"/>
          <p:cNvSpPr/>
          <p:nvPr/>
        </p:nvSpPr>
        <p:spPr>
          <a:xfrm>
            <a:off x="457200" y="3794760"/>
            <a:ext cx="4800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200" dirty="0" b="1">
                <a:solidFill>
                  <a:srgbClr val="FFFFFF"/>
                </a:solidFill>
                <a:latin typeface="+mn-ea"/>
                <a:ea typeface="+mn-ea"/>
              </a:rPr>
              <a:t>■ 調達・製造</a:t>
            </a:r>
            <a:endParaRPr kumimoji="1" lang="ja-JP" altLang="en-US" sz="1200" dirty="0"/>
          </a:p>
        </p:txBody>
      </p:sp>
      <p:sp>
        <p:nvSpPr>
          <p:cNvPr id="10" name="TextBox 9"/>
          <p:cNvSpPr txBox="1"/>
          <p:nvPr/>
        </p:nvSpPr>
        <p:spPr>
          <a:xfrm>
            <a:off x="457200" y="4206240"/>
            <a:ext cx="4800600" cy="1600200"/>
          </a:xfrm>
          <a:prstGeom prst="rect">
            <a:avLst/>
          </a:prstGeom>
          <a:solidFill>
            <a:srgbClr val="E3E7E9"/>
          </a:solidFill>
        </p:spPr>
        <p:txBody>
          <a:bodyPr wrap="square" lIns="137160" tIns="109728" rIns="137160" bIns="91440" anchor="t">
            <a:spAutoFit/>
          </a:bodyPr>
          <a:lstStyle/>
          <a:p>
            <a:pPr>
              <a:spcAft>
                <a:spcPts val="300"/>
              </a:spcAft>
            </a:pPr>
            <a:r>
              <a:rPr kumimoji="1" lang="ja-JP" altLang="en-US" sz="1100" dirty="0">
                <a:solidFill>
                  <a:srgbClr val="000000"/>
                </a:solidFill>
                <a:latin typeface="+mn-ea"/>
                <a:ea typeface="+mn-ea"/>
              </a:rPr>
              <a:t>・乳製品・コーヒー・製菓材料等を国内の卸・メーカーから調達</a:t>
            </a:r>
            <a:endParaRPr kumimoji="1" lang="ja-JP" altLang="en-US" sz="1100" dirty="0"/>
          </a:p>
          <a:p>
            <a:pPr>
              <a:spcAft>
                <a:spcPts val="300"/>
              </a:spcAft>
            </a:pPr>
            <a:r>
              <a:rPr kumimoji="1" lang="ja-JP" altLang="en-US" sz="1100" dirty="0">
                <a:solidFill>
                  <a:srgbClr val="000000"/>
                </a:solidFill>
                <a:latin typeface="+mn-ea"/>
                <a:ea typeface="+mn-ea"/>
              </a:rPr>
              <a:t>・商品仕入は年96百万円（売上高比約3割）</a:t>
            </a:r>
            <a:endParaRPr kumimoji="1" lang="ja-JP" altLang="en-US" sz="1100" dirty="0"/>
          </a:p>
          <a:p>
            <a:pPr>
              <a:spcAft>
                <a:spcPts val="300"/>
              </a:spcAft>
            </a:pPr>
            <a:r>
              <a:rPr kumimoji="1" lang="ja-JP" altLang="en-US" sz="1100" dirty="0">
                <a:solidFill>
                  <a:srgbClr val="000000"/>
                </a:solidFill>
                <a:latin typeface="+mn-ea"/>
                <a:ea typeface="+mn-ea"/>
              </a:rPr>
              <a:t>・外注費は年2百万円と小さく、店舗での内製が中心と推察（要確認）</a:t>
            </a:r>
            <a:endParaRPr kumimoji="1" lang="ja-JP" altLang="en-US" sz="1100" dirty="0"/>
          </a:p>
        </p:txBody>
      </p:sp>
      <p:sp>
        <p:nvSpPr>
          <p:cNvPr id="11" name="Rectangle 10"/>
          <p:cNvSpPr/>
          <p:nvPr/>
        </p:nvSpPr>
        <p:spPr>
          <a:xfrm>
            <a:off x="5440680" y="3794760"/>
            <a:ext cx="4800600" cy="34747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200" dirty="0" b="1">
                <a:solidFill>
                  <a:srgbClr val="FFFFFF"/>
                </a:solidFill>
                <a:latin typeface="+mn-ea"/>
                <a:ea typeface="+mn-ea"/>
              </a:rPr>
              <a:t>■ 販売チャネル</a:t>
            </a:r>
            <a:endParaRPr kumimoji="1" lang="ja-JP" altLang="en-US" sz="1200" dirty="0"/>
          </a:p>
        </p:txBody>
      </p:sp>
      <p:sp>
        <p:nvSpPr>
          <p:cNvPr id="12" name="TextBox 11"/>
          <p:cNvSpPr txBox="1"/>
          <p:nvPr/>
        </p:nvSpPr>
        <p:spPr>
          <a:xfrm>
            <a:off x="5440680" y="4206240"/>
            <a:ext cx="4800600" cy="1600200"/>
          </a:xfrm>
          <a:prstGeom prst="rect">
            <a:avLst/>
          </a:prstGeom>
          <a:solidFill>
            <a:srgbClr val="E3E7E9"/>
          </a:solidFill>
        </p:spPr>
        <p:txBody>
          <a:bodyPr wrap="square" lIns="137160" tIns="109728" rIns="137160" bIns="91440" anchor="t">
            <a:spAutoFit/>
          </a:bodyPr>
          <a:lstStyle/>
          <a:p>
            <a:pPr>
              <a:spcAft>
                <a:spcPts val="300"/>
              </a:spcAft>
            </a:pPr>
            <a:r>
              <a:rPr kumimoji="1" lang="ja-JP" altLang="en-US" sz="1100" dirty="0">
                <a:solidFill>
                  <a:srgbClr val="000000"/>
                </a:solidFill>
                <a:latin typeface="+mn-ea"/>
                <a:ea typeface="+mn-ea"/>
              </a:rPr>
              <a:t>・店頭販売・カフェ利用（個人のお客様）が中心</a:t>
            </a:r>
            <a:endParaRPr kumimoji="1" lang="ja-JP" altLang="en-US" sz="1100" dirty="0"/>
          </a:p>
          <a:p>
            <a:pPr>
              <a:spcAft>
                <a:spcPts val="300"/>
              </a:spcAft>
            </a:pPr>
            <a:r>
              <a:rPr kumimoji="1" lang="ja-JP" altLang="en-US" sz="1100" dirty="0">
                <a:solidFill>
                  <a:srgbClr val="000000"/>
                </a:solidFill>
                <a:latin typeface="+mn-ea"/>
                <a:ea typeface="+mn-ea"/>
              </a:rPr>
              <a:t>・大船店は百貨店経由の売上精算あり</a:t>
            </a:r>
            <a:endParaRPr kumimoji="1" lang="ja-JP" altLang="en-US" sz="1100" dirty="0"/>
          </a:p>
          <a:p>
            <a:pPr>
              <a:spcAft>
                <a:spcPts val="300"/>
              </a:spcAft>
            </a:pPr>
            <a:r>
              <a:rPr kumimoji="1" lang="ja-JP" altLang="en-US" sz="1100" dirty="0">
                <a:solidFill>
                  <a:srgbClr val="000000"/>
                </a:solidFill>
                <a:latin typeface="+mn-ea"/>
                <a:ea typeface="+mn-ea"/>
              </a:rPr>
              <a:t>・法人向けギフト卸（リンベル㈱ほか）は売上の約3%</a:t>
            </a:r>
            <a:endParaRPr kumimoji="1" lang="ja-JP" altLang="en-US" sz="1100" dirty="0"/>
          </a:p>
        </p:txBody>
      </p:sp>
      <p:sp>
        <p:nvSpPr>
          <p:cNvPr id="13" name="TextBox 12"/>
          <p:cNvSpPr txBox="1"/>
          <p:nvPr/>
        </p:nvSpPr>
        <p:spPr>
          <a:xfrm>
            <a:off x="457200" y="6172200"/>
            <a:ext cx="9784080" cy="274320"/>
          </a:xfrm>
          <a:prstGeom prst="rect">
            <a:avLst/>
          </a:prstGeom>
          <a:noFill/>
        </p:spPr>
        <p:txBody>
          <a:bodyPr wrap="square" lIns="0" tIns="0" rIns="0" bIns="0" anchor="t">
            <a:spAutoFit/>
          </a:bodyPr>
          <a:lstStyle/>
          <a:p>
            <a:r>
              <a:rPr kumimoji="1" lang="ja-JP" altLang="en-US" sz="900" dirty="0">
                <a:solidFill>
                  <a:srgbClr val="595959"/>
                </a:solidFill>
                <a:latin typeface="+mn-ea"/>
                <a:ea typeface="+mn-ea"/>
              </a:rPr>
              <a:t>※商品・サービス内容は公開情報（Web）に基づく。取扱商品の詳細・売上構成は未受領のためヒアリング予定。</a:t>
            </a:r>
            <a:endParaRPr kumimoji="1" lang="ja-JP" altLang="en-US" sz="900" dirty="0"/>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55426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自社所有の鎌倉山を本店に、鎌倉・東京で3店舗を展開</a:t>
            </a:r>
            <a:endParaRPr lang="en-US" altLang="ja-JP" sz="1600" b="1" spc="30" dirty="0">
              <a:solidFill>
                <a:schemeClr val="tx2"/>
              </a:solidFill>
              <a:latin typeface="+mj-ea"/>
              <a:ea typeface="+mj-ea"/>
            </a:endParaRPr>
          </a:p>
          <a:p>
            <a:pPr>
              <a:lnSpc>
                <a:spcPct val="120000"/>
              </a:lnSpc>
              <a:spcAft>
                <a:spcPts val="600"/>
              </a:spcAft>
            </a:pPr>
            <a:r>
              <a:rPr lang="ja-JP" altLang="en-US" sz="1200" spc="30" dirty="0">
                <a:latin typeface="+mn-ea"/>
                <a:ea typeface="+mn-ea"/>
              </a:rPr>
              <a:t>鎌倉山の自社所有物件（土地・建物）を本店とし、紀尾井町・大船にも出店。3店舗の売上は令和7・8年3月期とも約2.8億円で安定しています。ブランド名（ル・ミリュウ／ラ・プレシューズ）は公開情報に基づく（要確認）。</a:t>
            </a:r>
            <a:endParaRPr kumimoji="1" lang="ja-JP" altLang="en-US" sz="1200" spc="30" dirty="0">
              <a:latin typeface="+mn-ea"/>
              <a:ea typeface="+mn-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特徴、強み、成長性等</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13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賃料負担が軽く、固定費の中心は人件費</a:t>
            </a:r>
            <a:endParaRPr lang="en-US" altLang="ja-JP" sz="1600" b="1" spc="30" dirty="0">
              <a:solidFill>
                <a:schemeClr val="tx2"/>
              </a:solidFill>
              <a:latin typeface="+mj-ea"/>
              <a:ea typeface="+mj-ea"/>
            </a:endParaRPr>
          </a:p>
          <a:p>
            <a:pPr>
              <a:lnSpc>
                <a:spcPct val="120000"/>
              </a:lnSpc>
              <a:spcAft>
                <a:spcPts val="600"/>
              </a:spcAft>
            </a:pPr>
            <a:r>
              <a:rPr lang="ja-JP" altLang="en-US" sz="1200" spc="30" dirty="0">
                <a:latin typeface="+mn-ea"/>
                <a:ea typeface="+mn-ea"/>
              </a:rPr>
              <a:t>本店は自社所有のため、地代家賃は全社で年22百万円（売上高比6.8%）。人件費（給料手当＋法定福利費）は131百万円で売上高比41.2%。商品仕入は売上高比約3割で、粗利率は約7割です。</a:t>
            </a:r>
            <a:endParaRPr kumimoji="1" lang="ja-JP" altLang="en-US" sz="1200" spc="30" dirty="0">
              <a:latin typeface="+mn-ea"/>
              <a:ea typeface="+mn-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863"/>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店舗網・販路の拡張余地（仮説）</a:t>
            </a:r>
            <a:endParaRPr lang="en-US" altLang="ja-JP" sz="1600" b="1" spc="30" dirty="0">
              <a:solidFill>
                <a:schemeClr val="tx2"/>
              </a:solidFill>
              <a:latin typeface="+mj-ea"/>
              <a:ea typeface="+mj-ea"/>
            </a:endParaRPr>
          </a:p>
          <a:p>
            <a:pPr>
              <a:lnSpc>
                <a:spcPct val="120000"/>
              </a:lnSpc>
              <a:spcAft>
                <a:spcPts val="600"/>
              </a:spcAft>
            </a:pPr>
            <a:r>
              <a:rPr lang="ja-JP" altLang="en-US" sz="1200" spc="30" dirty="0">
                <a:latin typeface="+mn-ea"/>
                <a:ea typeface="+mn-ea"/>
              </a:rPr>
              <a:t>店舗売上は3店舗で安定しており、EC・ギフト・百貨店催事等の販路拡大、遊休化した不動産（鎌倉山三丁目計画）の活用等が検討余地となる可能性があります（仮説。事業計画は未受領）。</a:t>
            </a:r>
            <a:endParaRPr kumimoji="1" lang="ja-JP" altLang="en-US" sz="1200" spc="30" dirty="0">
              <a:latin typeface="+mn-ea"/>
              <a:ea typeface="+mn-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t>店舗・チャネル別売上高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mj-ea"/>
              </a:rPr>
              <a:t>鎌倉山店が約1億円と最大で、3店舗合計は約279百万円と安定。令和7年3月期の売上高には賃貸不動産の売却収入869百万円を含みます。</a:t>
            </a:r>
            <a:endParaRPr lang="en-US" altLang="ja-JP" dirty="0"/>
          </a:p>
        </p:txBody>
      </p:sp>
      <p:sp>
        <p:nvSpPr>
          <p:cNvPr id="16" name="TextBox 15"/>
          <p:cNvSpPr txBox="1"/>
          <p:nvPr/>
        </p:nvSpPr>
        <p:spPr>
          <a:xfrm>
            <a:off x="310896" y="4638839"/>
            <a:ext cx="9784080" cy="45720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※チャネル区分は総勘定元帳の部門・取引先・品目に基づく当社分類。決済代行等で店舗が特定できないものは「その他」に含む。</a:t>
            </a:r>
            <a:endParaRPr kumimoji="1" lang="ja-JP" altLang="en-US" sz="800" dirty="0"/>
          </a:p>
          <a:p>
            <a:r>
              <a:rPr kumimoji="1" lang="ja-JP" altLang="en-US" sz="800" dirty="0">
                <a:solidFill>
                  <a:srgbClr val="595959"/>
                </a:solidFill>
                <a:latin typeface="+mn-ea"/>
                <a:ea typeface="+mn-ea"/>
              </a:rPr>
              <a:t>※ミリュウショップの内容、法人取引先の取引内容は未確認（要確認）。</a:t>
            </a:r>
            <a:endParaRPr kumimoji="1" lang="ja-JP" altLang="en-US" sz="800" dirty="0"/>
          </a:p>
        </p:txBody>
      </p:sp>
      <p:graphicFrame>
        <p:nvGraphicFramePr>
          <p:cNvPr id="17" name="Table 16"/>
          <p:cNvGraphicFramePr>
            <a:graphicFrameLocks noGrp="1"/>
          </p:cNvGraphicFramePr>
          <p:nvPr/>
        </p:nvGraphicFramePr>
        <p:xfrm>
          <a:off x="310896" y="1298448"/>
          <a:ext cx="10058393" cy="3230663"/>
        </p:xfrm>
        <a:graphic>
          <a:graphicData uri="http://schemas.openxmlformats.org/drawingml/2006/table">
            <a:tbl>
              <a:tblPr/>
              <a:tblGrid>
                <a:gridCol w="257167"/>
                <a:gridCol w="1595215"/>
                <a:gridCol w="1544915"/>
                <a:gridCol w="991620"/>
                <a:gridCol w="689822"/>
                <a:gridCol w="614373"/>
                <a:gridCol w="463474"/>
                <a:gridCol w="614373"/>
                <a:gridCol w="463474"/>
                <a:gridCol w="614373"/>
                <a:gridCol w="463474"/>
                <a:gridCol w="1746113"/>
              </a:tblGrid>
              <a:tr h="172455">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gridSpan="2">
                  <a:txBody>
                    <a:bodyPr/>
                    <a:lstStyle/>
                    <a:p>
                      <a:pPr algn="r" fontAlgn="ctr">
                        <a:buNone/>
                      </a:pPr>
                      <a:r>
                        <a:rPr lang="ja-JP" altLang="en-US" sz="850" b="0" i="0" u="none" strike="noStrike">
                          <a:solidFill>
                            <a:srgbClr val="000000"/>
                          </a:solidFill>
                          <a:latin typeface="游ゴシック"/>
                          <a:ea typeface="游ゴシック"/>
                        </a:rPr>
                        <a:t>(単位：千円)</a:t>
                      </a:r>
                      <a:endParaRPr lang="ja-JP" altLang="en-US" sz="850" b="0" i="0" u="none" strike="noStrike">
                        <a:solidFill>
                          <a:srgbClr val="000000"/>
                        </a:solidFill>
                        <a:latin typeface="游ゴシック"/>
                        <a:ea typeface="游ゴシック"/>
                      </a:endParaRPr>
                    </a:p>
                  </a:txBody>
                  <a:tcPr marL="17245" marR="17245" marT="0" marB="0" anchor="ctr">
                    <a:lnL>
                      <a:noFill/>
                    </a:lnL>
                    <a:lnR>
                      <a:noFill/>
                    </a:lnR>
                    <a:lnT>
                      <a:noFill/>
                    </a:lnT>
                    <a:lnB>
                      <a:noFill/>
                    </a:lnB>
                    <a:noFill/>
                  </a:tcPr>
                </a:tc>
                <a:tc hMerge="1">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c>
                  <a:txBody>
                    <a:bodyPr/>
                    <a:lstStyle/>
                    <a:p>
                      <a:pPr algn="l" fontAlgn="ctr">
                        <a:buNone/>
                      </a:pPr>
                      <a:endParaRPr lang="ja-JP" altLang="en-US" sz="850" b="0" i="0" u="none" strike="noStrike">
                        <a:solidFill>
                          <a:srgbClr val="000000"/>
                        </a:solidFill>
                        <a:latin typeface="游ゴシック Medium"/>
                        <a:ea typeface="游ゴシック Medium"/>
                      </a:endParaRPr>
                    </a:p>
                  </a:txBody>
                  <a:tcPr marL="17245" marR="17245" marT="0" marB="0" anchor="b">
                    <a:lnL>
                      <a:noFill/>
                    </a:lnL>
                    <a:lnR>
                      <a:noFill/>
                    </a:lnR>
                    <a:lnT>
                      <a:noFill/>
                    </a:lnT>
                    <a:lnB>
                      <a:noFill/>
                    </a:lnB>
                    <a:noFill/>
                  </a:tcPr>
                </a:tc>
              </a:tr>
              <a:tr h="183952">
                <a:tc rowSpan="2">
                  <a:txBody>
                    <a:bodyPr/>
                    <a:lstStyle/>
                    <a:p>
                      <a:pPr algn="ctr" fontAlgn="ctr">
                        <a:buNone/>
                      </a:pPr>
                      <a:r>
                        <a:rPr lang="ja-JP" altLang="en-US" sz="900" b="1" i="0" u="none" strike="noStrike">
                          <a:solidFill>
                            <a:srgbClr val="FFFFFF"/>
                          </a:solidFill>
                          <a:latin typeface="游ゴシック"/>
                          <a:ea typeface="游ゴシック"/>
                        </a:rPr>
                        <a:t>№</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900" b="1" i="0" u="none" strike="noStrike">
                          <a:solidFill>
                            <a:srgbClr val="FFFFFF"/>
                          </a:solidFill>
                          <a:latin typeface="游ゴシック"/>
                          <a:ea typeface="游ゴシック"/>
                        </a:rPr>
                        <a:t>得意先</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900" b="1" i="0" u="none" strike="noStrike">
                          <a:solidFill>
                            <a:srgbClr val="FFFFFF"/>
                          </a:solidFill>
                          <a:latin typeface="游ゴシック"/>
                          <a:ea typeface="游ゴシック"/>
                        </a:rPr>
                        <a:t>取引内容</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900" b="1" i="0" u="none" strike="noStrike">
                          <a:solidFill>
                            <a:srgbClr val="FFFFFF"/>
                          </a:solidFill>
                          <a:latin typeface="游ゴシック"/>
                          <a:ea typeface="游ゴシック"/>
                        </a:rPr>
                        <a:t>本社所在地</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900" b="1" i="0" u="none" strike="noStrike">
                          <a:solidFill>
                            <a:srgbClr val="FFFFFF"/>
                          </a:solidFill>
                          <a:latin typeface="游ゴシック"/>
                          <a:ea typeface="游ゴシック"/>
                        </a:rPr>
                        <a:t>業種等</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900" b="1" i="0" u="none" strike="noStrike">
                          <a:solidFill>
                            <a:srgbClr val="FFFFFF"/>
                          </a:solidFill>
                          <a:latin typeface="游ゴシック"/>
                          <a:ea typeface="游ゴシック"/>
                        </a:rPr>
                        <a:t>令和6年3月期</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900" b="1" i="0" u="none" strike="noStrike">
                          <a:solidFill>
                            <a:srgbClr val="FFFFFF"/>
                          </a:solidFill>
                          <a:latin typeface="游ゴシック"/>
                          <a:ea typeface="游ゴシック"/>
                        </a:rPr>
                        <a:t>令和7年3月期</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900" b="1" i="0" u="none" strike="noStrike">
                          <a:solidFill>
                            <a:srgbClr val="FFFFFF"/>
                          </a:solidFill>
                          <a:latin typeface="游ゴシック"/>
                          <a:ea typeface="游ゴシック"/>
                        </a:rPr>
                        <a:t>令和8年3月期</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a:noFill/>
                    </a:lnT>
                    <a:lnB w="4790"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900" b="1" i="0" u="none" strike="noStrike">
                          <a:solidFill>
                            <a:srgbClr val="FFFFFF"/>
                          </a:solidFill>
                          <a:latin typeface="游ゴシック"/>
                          <a:ea typeface="游ゴシック"/>
                        </a:rPr>
                        <a:t>備考</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a:noFill/>
                    </a:lnR>
                    <a:lnT>
                      <a:noFill/>
                    </a:lnT>
                    <a:lnB w="4790" cap="flat" cmpd="sng" algn="ctr">
                      <a:solidFill>
                        <a:srgbClr val="FFFFFF"/>
                      </a:solidFill>
                      <a:prstDash val="solid"/>
                      <a:round/>
                      <a:headEnd type="none" w="med" len="med"/>
                      <a:tailEnd type="none" w="med" len="med"/>
                    </a:lnB>
                    <a:solidFill>
                      <a:srgbClr val="0B3041"/>
                    </a:solidFill>
                  </a:tcPr>
                </a:tc>
              </a:tr>
              <a:tr h="183952">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売上高</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構成比</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売上高</a:t>
                      </a:r>
                      <a:endParaRPr lang="ja-JP" altLang="en-US" sz="85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構成比</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売上高</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900" b="1" i="0" u="none" strike="noStrike">
                          <a:solidFill>
                            <a:srgbClr val="FFFFFF"/>
                          </a:solidFill>
                          <a:latin typeface="游ゴシック"/>
                          <a:ea typeface="游ゴシック"/>
                        </a:rPr>
                        <a:t>構成比</a:t>
                      </a: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900" b="1" i="0" u="none" strike="noStrike">
                        <a:solidFill>
                          <a:srgbClr val="FFFFFF"/>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a:noFill/>
                    </a:lnR>
                    <a:lnT w="4790" cap="flat" cmpd="sng" algn="ctr">
                      <a:solidFill>
                        <a:srgbClr val="FFFFFF"/>
                      </a:solidFill>
                      <a:prstDash val="solid"/>
                      <a:round/>
                      <a:headEnd type="none" w="med" len="med"/>
                      <a:tailEnd type="none" w="med" len="med"/>
                    </a:lnT>
                    <a:lnB w="4790" cap="flat" cmpd="sng" algn="ctr">
                      <a:solidFill>
                        <a:srgbClr val="FFFFFF"/>
                      </a:solidFill>
                      <a:prstDash val="solid"/>
                      <a:round/>
                      <a:headEnd type="none" w="med" len="med"/>
                      <a:tailEnd type="none" w="med" len="med"/>
                    </a:lnB>
                    <a:solidFill>
                      <a:srgbClr val="0B3041"/>
                    </a:solidFill>
                  </a:tcPr>
                </a:tc>
              </a:tr>
              <a:tr h="224192">
                <a:tc>
                  <a:txBody>
                    <a:bodyPr/>
                    <a:lstStyle/>
                    <a:p>
                      <a:pPr algn="ctr" fontAlgn="ctr">
                        <a:buNone/>
                      </a:pPr>
                      <a:r>
                        <a:rPr lang="ja-JP" altLang="en-US" sz="900" b="0" i="0" u="none" strike="noStrike">
                          <a:solidFill>
                            <a:srgbClr val="000000"/>
                          </a:solidFill>
                          <a:latin typeface="游ゴシック"/>
                          <a:ea typeface="游ゴシック"/>
                        </a:rPr>
                        <a:t>1</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鎌倉山店（本店）</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店頭販売・カフェ</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神奈川県鎌倉市</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飲食・小売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92,068</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24.0%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90,651</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7.4%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99,972</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31.3%</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自社所有の物件で営業</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FFFFFF"/>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2</a:t>
                      </a:r>
                      <a:endParaRPr lang="ja-JP" altLang="en-US" sz="900" b="0" i="0" u="none" strike="noStrike">
                        <a:solidFill>
                          <a:srgbClr val="000000"/>
                        </a:solidFill>
                        <a:latin typeface="游ゴシック"/>
                        <a:ea typeface="游ゴシック"/>
                      </a:endParaRPr>
                    </a:p>
                  </a:txBody>
                  <a:tcPr marL="17245" marR="17245" marT="0" marB="0" anchor="ctr">
                    <a:lnL>
                      <a:noFill/>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紀尾井町店</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店頭販売・カフェ</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東京都千代田区</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飲食・小売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88,621</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23.1%</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99,543</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8.1%</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87,918</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27.5%</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賃借</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3</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大船店</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店頭販売・カフェ</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神奈川県鎌倉市</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飲食・小売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85,043</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22.2%</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89,094</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7.2%</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91,286</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28.6%</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賃借（百貨店内。家賃支払先：三越伊勢丹）</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4</a:t>
                      </a:r>
                      <a:endParaRPr lang="ja-JP" altLang="en-US" sz="900" b="0" i="0" u="none" strike="noStrike">
                        <a:solidFill>
                          <a:srgbClr val="000000"/>
                        </a:solidFill>
                        <a:latin typeface="游ゴシック"/>
                        <a:ea typeface="游ゴシック"/>
                      </a:endParaRPr>
                    </a:p>
                  </a:txBody>
                  <a:tcPr marL="17245" marR="17245" marT="0" marB="0" anchor="ctr">
                    <a:lnL>
                      <a:noFill/>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四谷店</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店頭販売・カフェ</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東京都新宿区</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飲食・小売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54,918</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14.3%</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令和7年3月期以降は売上なし（閉店と推察）</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5</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ミリュウショップ</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物販（EC等と推察）</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小売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25,967</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6.8%</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42,088</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3.4%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7,427</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2.3%</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令和8年3月期に急減（要因は要確認）</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6</a:t>
                      </a:r>
                      <a:endParaRPr lang="ja-JP" altLang="en-US" sz="900" b="0" i="0" u="none" strike="noStrike">
                        <a:solidFill>
                          <a:srgbClr val="000000"/>
                        </a:solidFill>
                        <a:latin typeface="游ゴシック"/>
                        <a:ea typeface="游ゴシック"/>
                      </a:endParaRPr>
                    </a:p>
                  </a:txBody>
                  <a:tcPr marL="17245" marR="17245" marT="0" marB="0" anchor="ctr">
                    <a:lnL>
                      <a:noFill/>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リンベル株式会社</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ギフト商品の卸（推察）</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東京都</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卸売</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9,100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11,706</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6,032</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1.9%</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7</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株式会社ケンコーポレーション</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商品販売（内容要確認）</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5,750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1.5%</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5,673</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0.5%</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2,033</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0.6%</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8</a:t>
                      </a:r>
                      <a:endParaRPr lang="ja-JP" altLang="en-US" sz="900" b="0" i="0" u="none" strike="noStrike">
                        <a:solidFill>
                          <a:srgbClr val="000000"/>
                        </a:solidFill>
                        <a:latin typeface="游ゴシック"/>
                        <a:ea typeface="游ゴシック"/>
                      </a:endParaRPr>
                    </a:p>
                  </a:txBody>
                  <a:tcPr marL="17245" marR="17245" marT="0" marB="0" anchor="ctr">
                    <a:lnL>
                      <a:noFill/>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不動産賃貸収入</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賃貸収入（松濤フラッツ）</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東京都渋谷区</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不動産賃貸</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16,634</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4.3%</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16,832</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1,635</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0.5%</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非継続（令和7年3月末に売却）</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9</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不動産売却収入</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土地・建物（松濤フラッツ）</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東京都渋谷区</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不動産売買</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869,200</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70.6%</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非継続（令和7年3月31日売却）</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ctr" fontAlgn="ctr">
                        <a:buNone/>
                      </a:pPr>
                      <a:r>
                        <a:rPr lang="ja-JP" altLang="en-US" sz="900" b="0" i="0" u="none" strike="noStrike">
                          <a:solidFill>
                            <a:srgbClr val="000000"/>
                          </a:solidFill>
                          <a:latin typeface="游ゴシック"/>
                          <a:ea typeface="游ゴシック"/>
                        </a:rPr>
                        <a:t>10</a:t>
                      </a:r>
                      <a:endParaRPr lang="ja-JP" altLang="en-US" sz="900" b="0" i="0" u="none" strike="noStrike">
                        <a:solidFill>
                          <a:srgbClr val="000000"/>
                        </a:solidFill>
                        <a:latin typeface="游ゴシック"/>
                        <a:ea typeface="游ゴシック"/>
                      </a:endParaRPr>
                    </a:p>
                  </a:txBody>
                  <a:tcPr marL="17245" marR="17245" marT="0" marB="0" anchor="ctr">
                    <a:lnL>
                      <a:noFill/>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コンサル収入</a:t>
                      </a:r>
                      <a:endParaRPr lang="ja-JP" altLang="en-US" sz="7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コンサルティング報酬</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a:t>
                      </a:r>
                      <a:endParaRPr lang="ja-JP" altLang="en-US" sz="8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a:t>
                      </a:r>
                      <a:endParaRPr lang="ja-JP" altLang="en-US" sz="80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0</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0.0%</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14,000</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4.4%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r>
                        <a:rPr lang="ja-JP" altLang="en-US" sz="650" b="0" i="0" u="none" strike="noStrike">
                          <a:solidFill>
                            <a:srgbClr val="000000"/>
                          </a:solidFill>
                          <a:latin typeface="游ゴシック"/>
                          <a:ea typeface="游ゴシック"/>
                        </a:rPr>
                        <a:t>単発。相手先・契約内容は要確認</a:t>
                      </a: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l" fontAlgn="ctr">
                        <a:buNone/>
                      </a:pPr>
                      <a:endParaRPr lang="ja-JP" altLang="en-US" sz="900" b="1"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3E7E9"/>
                    </a:solidFill>
                  </a:tcPr>
                </a:tc>
                <a:tc gridSpan="4">
                  <a:txBody>
                    <a:bodyPr/>
                    <a:lstStyle/>
                    <a:p>
                      <a:pPr algn="ctr" fontAlgn="ctr">
                        <a:buNone/>
                      </a:pPr>
                      <a:r>
                        <a:rPr lang="ja-JP" altLang="en-US" sz="900" b="0" i="0" u="none" strike="noStrike">
                          <a:solidFill>
                            <a:srgbClr val="000000"/>
                          </a:solidFill>
                          <a:latin typeface="游ゴシック"/>
                          <a:ea typeface="游ゴシック"/>
                        </a:rPr>
                        <a:t>その他（決済代行・法人取引等）</a:t>
                      </a: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900" b="0"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5,337</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1.4%</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850" b="0" i="0" u="none" strike="noStrike">
                          <a:solidFill>
                            <a:srgbClr val="000000"/>
                          </a:solidFill>
                          <a:latin typeface="Arial"/>
                          <a:ea typeface="游ゴシック Medium"/>
                        </a:rPr>
                        <a:t>6,042</a:t>
                      </a:r>
                      <a:endParaRPr lang="ja-JP" altLang="en-US" sz="85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0.5%</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9,034</a:t>
                      </a:r>
                      <a:endParaRPr lang="ja-JP" altLang="en-US" sz="900" b="0"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r" fontAlgn="ctr">
                        <a:buNone/>
                      </a:pPr>
                      <a:r>
                        <a:rPr lang="ja-JP" altLang="en-US" sz="900" b="0" i="0" u="none" strike="noStrike">
                          <a:solidFill>
                            <a:srgbClr val="000000"/>
                          </a:solidFill>
                          <a:latin typeface="Arial"/>
                          <a:ea typeface="游ゴシック Medium"/>
                        </a:rPr>
                        <a:t>2.8%</a:t>
                      </a:r>
                      <a:endParaRPr lang="ja-JP" altLang="en-US" sz="900" b="0" i="0" u="none" strike="noStrike">
                        <a:solidFill>
                          <a:srgbClr val="000000"/>
                        </a:solidFill>
                        <a:latin typeface="Arial"/>
                        <a:ea typeface="游ゴシック Medium"/>
                      </a:endParaRPr>
                    </a:p>
                  </a:txBody>
                  <a:tcPr marL="17245" marR="95518"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noFill/>
                  </a:tcPr>
                </a:tc>
                <a:tc>
                  <a:txBody>
                    <a:bodyPr/>
                    <a:lstStyle/>
                    <a:p>
                      <a:pPr algn="l" fontAlgn="ctr">
                        <a:buNone/>
                      </a:pPr>
                      <a:endParaRPr lang="ja-JP" altLang="en-US" sz="650" b="0"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FFFFFF"/>
                    </a:solidFill>
                  </a:tcPr>
                </a:tc>
              </a:tr>
              <a:tr h="224192">
                <a:tc>
                  <a:txBody>
                    <a:bodyPr/>
                    <a:lstStyle/>
                    <a:p>
                      <a:pPr algn="l" fontAlgn="ctr">
                        <a:buNone/>
                      </a:pPr>
                      <a:endParaRPr lang="ja-JP" altLang="en-US" sz="900" b="1"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A6A6A6"/>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gridSpan="4">
                  <a:txBody>
                    <a:bodyPr/>
                    <a:lstStyle/>
                    <a:p>
                      <a:pPr algn="ctr" fontAlgn="ctr">
                        <a:buNone/>
                      </a:pPr>
                      <a:r>
                        <a:rPr lang="ja-JP" altLang="en-US" sz="900" b="1" i="0" u="none" strike="noStrike">
                          <a:solidFill>
                            <a:srgbClr val="000000"/>
                          </a:solidFill>
                          <a:latin typeface="游ゴシック"/>
                          <a:ea typeface="游ゴシック"/>
                        </a:rPr>
                        <a:t>合計</a:t>
                      </a:r>
                      <a:endParaRPr lang="ja-JP" altLang="en-US" sz="900" b="1"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900" b="1"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900" b="1"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900" b="1" i="0" u="none" strike="noStrike">
                        <a:solidFill>
                          <a:srgbClr val="000000"/>
                        </a:solidFill>
                        <a:latin typeface="游ゴシック"/>
                        <a:ea typeface="游ゴシック"/>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383,439</a:t>
                      </a:r>
                      <a:endParaRPr lang="ja-JP" altLang="en-US" sz="90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100.0%</a:t>
                      </a:r>
                      <a:endParaRPr lang="ja-JP" altLang="en-US" sz="90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50" b="1" i="0" u="none" strike="noStrike">
                          <a:solidFill>
                            <a:srgbClr val="000000"/>
                          </a:solidFill>
                          <a:latin typeface="Arial"/>
                          <a:ea typeface="游ゴシック Medium"/>
                        </a:rPr>
                        <a:t>1,230,830</a:t>
                      </a:r>
                      <a:endParaRPr lang="ja-JP" altLang="en-US" sz="85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100.0%</a:t>
                      </a:r>
                      <a:endParaRPr lang="ja-JP" altLang="en-US" sz="90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319,338</a:t>
                      </a:r>
                      <a:endParaRPr lang="ja-JP" altLang="en-US" sz="90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900" b="1" i="0" u="none" strike="noStrike">
                          <a:solidFill>
                            <a:srgbClr val="000000"/>
                          </a:solidFill>
                          <a:latin typeface="Arial"/>
                          <a:ea typeface="游ゴシック Medium"/>
                        </a:rPr>
                        <a:t>100.0%</a:t>
                      </a:r>
                      <a:endParaRPr lang="ja-JP" altLang="en-US" sz="900" b="1" i="0" u="none" strike="noStrike">
                        <a:solidFill>
                          <a:srgbClr val="000000"/>
                        </a:solidFill>
                        <a:latin typeface="Arial"/>
                        <a:ea typeface="游ゴシック Medium"/>
                      </a:endParaRPr>
                    </a:p>
                  </a:txBody>
                  <a:tcPr marL="17245" marR="17245" marT="0" marB="0" anchor="ctr">
                    <a:lnL w="4790" cap="flat" cmpd="sng" algn="ctr">
                      <a:solidFill>
                        <a:srgbClr val="FFFFFF"/>
                      </a:solidFill>
                      <a:prstDash val="solid"/>
                      <a:round/>
                      <a:headEnd type="none" w="med" len="med"/>
                      <a:tailEnd type="none" w="med" len="med"/>
                    </a:lnL>
                    <a:lnR w="4790" cap="flat" cmpd="sng" algn="ctr">
                      <a:solidFill>
                        <a:srgbClr val="FFFFFF"/>
                      </a:solidFill>
                      <a:prstDash val="solid"/>
                      <a:round/>
                      <a:headEnd type="none" w="med" len="med"/>
                      <a:tailEnd type="none" w="med" len="med"/>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c>
                  <a:txBody>
                    <a:bodyPr/>
                    <a:lstStyle/>
                    <a:p>
                      <a:pPr algn="l" fontAlgn="ctr">
                        <a:buNone/>
                      </a:pPr>
                      <a:endParaRPr lang="ja-JP" altLang="en-US" sz="650" b="1" i="0" u="none" strike="noStrike">
                        <a:solidFill>
                          <a:srgbClr val="000000"/>
                        </a:solidFill>
                        <a:latin typeface="游ゴシック"/>
                        <a:ea typeface="游ゴシック"/>
                      </a:endParaRPr>
                    </a:p>
                  </a:txBody>
                  <a:tcPr marL="95518" marR="17245" marT="0" marB="0" anchor="ctr">
                    <a:lnL w="4790" cap="flat" cmpd="sng" algn="ctr">
                      <a:solidFill>
                        <a:srgbClr val="FFFFFF"/>
                      </a:solidFill>
                      <a:prstDash val="solid"/>
                      <a:round/>
                      <a:headEnd type="none" w="med" len="med"/>
                      <a:tailEnd type="none" w="med" len="med"/>
                    </a:lnL>
                    <a:lnR>
                      <a:noFill/>
                    </a:lnR>
                    <a:lnT w="4790" cap="flat" cmpd="sng" algn="ctr">
                      <a:solidFill>
                        <a:srgbClr val="0B3041"/>
                      </a:solidFill>
                      <a:prstDash val="solid"/>
                      <a:round/>
                      <a:headEnd type="none" w="med" len="med"/>
                      <a:tailEnd type="none" w="med" len="med"/>
                    </a:lnT>
                    <a:lnB w="4790"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lang="ja-JP" altLang="en-US" dirty="0"/>
              <a:t>仕入先別取引高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lang="ja-JP" altLang="en-US" dirty="0">
                <a:latin typeface="+mj-ea"/>
              </a:rPr>
              <a:t>仕入は食材・製菓材料・乳製品・コーヒー等の卸・メーカー。最大の仕入先でも22.6%、上位2社で約37%と、特定先への過度な依存はありません。</a:t>
            </a:r>
            <a:endParaRPr lang="en-US" altLang="ja-JP" dirty="0"/>
          </a:p>
        </p:txBody>
      </p:sp>
      <p:sp>
        <p:nvSpPr>
          <p:cNvPr id="18" name="TextBox 17"/>
          <p:cNvSpPr txBox="1"/>
          <p:nvPr/>
        </p:nvSpPr>
        <p:spPr>
          <a:xfrm>
            <a:off x="310896" y="5439459"/>
            <a:ext cx="9784080" cy="45720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※商品仕入高（売上原価）の取引先別集計。令和7年3月期は不動産売却関連原価（636,056千円）を除く。</a:t>
            </a:r>
            <a:endParaRPr kumimoji="1" lang="ja-JP" altLang="en-US" sz="800" dirty="0"/>
          </a:p>
          <a:p>
            <a:r>
              <a:rPr kumimoji="1" lang="ja-JP" altLang="en-US" sz="800" dirty="0">
                <a:solidFill>
                  <a:srgbClr val="595959"/>
                </a:solidFill>
                <a:latin typeface="+mn-ea"/>
                <a:ea typeface="+mn-ea"/>
              </a:rPr>
              <a:t>※仕入内容は社名等からの推察を含み、要確認。</a:t>
            </a:r>
            <a:endParaRPr kumimoji="1" lang="ja-JP" altLang="en-US" sz="800" dirty="0"/>
          </a:p>
        </p:txBody>
      </p:sp>
      <p:graphicFrame>
        <p:nvGraphicFramePr>
          <p:cNvPr id="19" name="Table 18"/>
          <p:cNvGraphicFramePr>
            <a:graphicFrameLocks noGrp="1"/>
          </p:cNvGraphicFramePr>
          <p:nvPr/>
        </p:nvGraphicFramePr>
        <p:xfrm>
          <a:off x="310896" y="1298448"/>
          <a:ext cx="10058395" cy="4031283"/>
        </p:xfrm>
        <a:graphic>
          <a:graphicData uri="http://schemas.openxmlformats.org/drawingml/2006/table">
            <a:tbl>
              <a:tblPr/>
              <a:tblGrid>
                <a:gridCol w="320898"/>
                <a:gridCol w="1739479"/>
                <a:gridCol w="1613950"/>
                <a:gridCol w="672479"/>
                <a:gridCol w="766626"/>
                <a:gridCol w="578332"/>
                <a:gridCol w="766626"/>
                <a:gridCol w="578332"/>
                <a:gridCol w="766626"/>
                <a:gridCol w="578332"/>
                <a:gridCol w="1676715"/>
              </a:tblGrid>
              <a:tr h="215193">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gridSpan="2">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1519" marR="21519" marT="0" marB="0" anchor="ctr">
                    <a:lnL>
                      <a:noFill/>
                    </a:lnL>
                    <a:lnR>
                      <a:noFill/>
                    </a:lnR>
                    <a:lnT>
                      <a:noFill/>
                    </a:lnT>
                    <a:lnB>
                      <a:noFill/>
                    </a:lnB>
                    <a:noFill/>
                  </a:tcPr>
                </a:tc>
                <a:tc hMerge="1">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1519" marR="21519" marT="0" marB="0" anchor="b">
                    <a:lnL>
                      <a:noFill/>
                    </a:lnL>
                    <a:lnR>
                      <a:noFill/>
                    </a:lnR>
                    <a:lnT>
                      <a:noFill/>
                    </a:lnT>
                    <a:lnB>
                      <a:noFill/>
                    </a:lnB>
                    <a:noFill/>
                  </a:tcPr>
                </a:tc>
              </a:tr>
              <a:tr h="229539">
                <a:tc rowSpan="2">
                  <a:txBody>
                    <a:bodyPr/>
                    <a:lstStyle/>
                    <a:p>
                      <a:pPr algn="ctr" fontAlgn="ctr">
                        <a:buNone/>
                      </a:pPr>
                      <a:r>
                        <a:rPr lang="ja-JP" altLang="en-US" sz="1150" b="1" i="0" u="none" strike="noStrike">
                          <a:solidFill>
                            <a:srgbClr val="FFFFFF"/>
                          </a:solidFill>
                          <a:latin typeface="游ゴシック"/>
                          <a:ea typeface="游ゴシック"/>
                        </a:rPr>
                        <a:t>№</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1150" b="1" i="0" u="none" strike="noStrike">
                          <a:solidFill>
                            <a:srgbClr val="FFFFFF"/>
                          </a:solidFill>
                          <a:latin typeface="游ゴシック"/>
                          <a:ea typeface="游ゴシック"/>
                        </a:rPr>
                        <a:t>仕入先</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1150" b="1" i="0" u="none" strike="noStrike">
                          <a:solidFill>
                            <a:srgbClr val="FFFFFF"/>
                          </a:solidFill>
                          <a:latin typeface="游ゴシック"/>
                          <a:ea typeface="游ゴシック"/>
                        </a:rPr>
                        <a:t>仕入内容</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1150" b="1" i="0" u="none" strike="noStrike">
                          <a:solidFill>
                            <a:srgbClr val="FFFFFF"/>
                          </a:solidFill>
                          <a:latin typeface="游ゴシック"/>
                          <a:ea typeface="游ゴシック"/>
                        </a:rPr>
                        <a:t>本社所在地</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1150" b="1" i="0" u="none" strike="noStrike">
                          <a:solidFill>
                            <a:srgbClr val="FFFFFF"/>
                          </a:solidFill>
                          <a:latin typeface="游ゴシック"/>
                          <a:ea typeface="游ゴシック"/>
                        </a:rPr>
                        <a:t>令和6年3月期</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1150" b="1" i="0" u="none" strike="noStrike">
                          <a:solidFill>
                            <a:srgbClr val="FFFFFF"/>
                          </a:solidFill>
                          <a:latin typeface="游ゴシック"/>
                          <a:ea typeface="游ゴシック"/>
                        </a:rPr>
                        <a:t>令和7年3月期</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1150" b="1" i="0" u="none" strike="noStrike">
                          <a:solidFill>
                            <a:srgbClr val="FFFFFF"/>
                          </a:solidFill>
                          <a:latin typeface="游ゴシック"/>
                          <a:ea typeface="游ゴシック"/>
                        </a:rPr>
                        <a:t>令和8年3月期</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a:noFill/>
                    </a:lnT>
                    <a:lnB w="5977" cap="flat" cmpd="sng" algn="ctr">
                      <a:solidFill>
                        <a:srgbClr val="FFFFFF"/>
                      </a:solidFill>
                      <a:prstDash val="solid"/>
                      <a:round/>
                      <a:headEnd type="none" w="med" len="med"/>
                      <a:tailEnd type="none" w="med" len="med"/>
                    </a:lnB>
                    <a:solidFill>
                      <a:srgbClr val="0B3041"/>
                    </a:solidFill>
                  </a:tcPr>
                </a:tc>
                <a:tc rowSpan="2">
                  <a:txBody>
                    <a:bodyPr/>
                    <a:lstStyle/>
                    <a:p>
                      <a:pPr algn="ctr" fontAlgn="ctr">
                        <a:buNone/>
                      </a:pPr>
                      <a:r>
                        <a:rPr lang="ja-JP" altLang="en-US" sz="1150" b="1" i="0" u="none" strike="noStrike">
                          <a:solidFill>
                            <a:srgbClr val="FFFFFF"/>
                          </a:solidFill>
                          <a:latin typeface="游ゴシック"/>
                          <a:ea typeface="游ゴシック"/>
                        </a:rPr>
                        <a:t>備考</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a:noFill/>
                    </a:lnR>
                    <a:lnT>
                      <a:noFill/>
                    </a:lnT>
                    <a:lnB w="5977" cap="flat" cmpd="sng" algn="ctr">
                      <a:solidFill>
                        <a:srgbClr val="FFFFFF"/>
                      </a:solidFill>
                      <a:prstDash val="solid"/>
                      <a:round/>
                      <a:headEnd type="none" w="med" len="med"/>
                      <a:tailEnd type="none" w="med" len="med"/>
                    </a:lnB>
                    <a:solidFill>
                      <a:srgbClr val="0B3041"/>
                    </a:solidFill>
                  </a:tcPr>
                </a:tc>
              </a:tr>
              <a:tr h="229539">
                <a:tc v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仕入高</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構成比</a:t>
                      </a:r>
                      <a:endParaRPr lang="ja-JP" altLang="en-US" sz="110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仕入高</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構成比</a:t>
                      </a:r>
                      <a:endParaRPr lang="ja-JP" altLang="en-US" sz="110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仕入高</a:t>
                      </a: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構成比</a:t>
                      </a:r>
                      <a:endParaRPr lang="ja-JP" altLang="en-US" sz="110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c vMerge="1">
                  <a:txBody>
                    <a:bodyPr/>
                    <a:lstStyle/>
                    <a:p>
                      <a:pPr algn="ctr" fontAlgn="ctr">
                        <a:buNone/>
                      </a:pPr>
                      <a:endParaRPr lang="ja-JP" altLang="en-US" sz="1150" b="1" i="0" u="none" strike="noStrike">
                        <a:solidFill>
                          <a:srgbClr val="FFFFFF"/>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a:noFill/>
                    </a:lnR>
                    <a:lnT w="5977" cap="flat" cmpd="sng" algn="ctr">
                      <a:solidFill>
                        <a:srgbClr val="FFFFFF"/>
                      </a:solidFill>
                      <a:prstDash val="solid"/>
                      <a:round/>
                      <a:headEnd type="none" w="med" len="med"/>
                      <a:tailEnd type="none" w="med" len="med"/>
                    </a:lnT>
                    <a:lnB w="5977" cap="flat" cmpd="sng" algn="ctr">
                      <a:solidFill>
                        <a:srgbClr val="FFFFFF"/>
                      </a:solidFill>
                      <a:prstDash val="solid"/>
                      <a:round/>
                      <a:headEnd type="none" w="med" len="med"/>
                      <a:tailEnd type="none" w="med" len="med"/>
                    </a:lnB>
                    <a:solidFill>
                      <a:srgbClr val="0B3041"/>
                    </a:solidFill>
                  </a:tcPr>
                </a:tc>
              </a:tr>
              <a:tr h="279751">
                <a:tc>
                  <a:txBody>
                    <a:bodyPr/>
                    <a:lstStyle/>
                    <a:p>
                      <a:pPr algn="ctr" fontAlgn="ctr">
                        <a:buNone/>
                      </a:pPr>
                      <a:r>
                        <a:rPr lang="ja-JP" altLang="en-US" sz="1150" b="0" i="0" u="none" strike="noStrike">
                          <a:solidFill>
                            <a:srgbClr val="000000"/>
                          </a:solidFill>
                          <a:latin typeface="游ゴシック"/>
                          <a:ea typeface="游ゴシック"/>
                        </a:rPr>
                        <a:t>1</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株式会社イワセ・エスタ</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食材・製菓材料（推察）</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28,050</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26.5%</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24,442</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24.2%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21,718</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22.6%</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FFFFFF"/>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2</a:t>
                      </a:r>
                      <a:endParaRPr lang="ja-JP" altLang="en-US" sz="1150" b="0" i="0" u="none" strike="noStrike">
                        <a:solidFill>
                          <a:srgbClr val="000000"/>
                        </a:solidFill>
                        <a:latin typeface="游ゴシック"/>
                        <a:ea typeface="游ゴシック"/>
                      </a:endParaRPr>
                    </a:p>
                  </a:txBody>
                  <a:tcPr marL="21519" marR="21519" marT="0" marB="0" anchor="ctr">
                    <a:lnL>
                      <a:noFill/>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池伝株式会社</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輸入食材等（推察）</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18,269</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17.3%</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17,379</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17.2%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13,460</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14.0%</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3</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（取引先名記載なし）</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現金仕入等</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688</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0.7%</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1,598</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1.6%</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10,441</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元帳上、取引先名が空欄</a:t>
                      </a: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4</a:t>
                      </a:r>
                      <a:endParaRPr lang="ja-JP" altLang="en-US" sz="1150" b="0" i="0" u="none" strike="noStrike">
                        <a:solidFill>
                          <a:srgbClr val="000000"/>
                        </a:solidFill>
                        <a:latin typeface="游ゴシック"/>
                        <a:ea typeface="游ゴシック"/>
                      </a:endParaRPr>
                    </a:p>
                  </a:txBody>
                  <a:tcPr marL="21519" marR="21519" marT="0" marB="0" anchor="ctr">
                    <a:lnL>
                      <a:noFill/>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株式会社東光</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食材・原材料（推察）</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6,092</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5.8%</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5,500</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5.5%</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5,972</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6.2%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5</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キーコーヒー株式会社</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コーヒー豆・関連商材</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5,504</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5,612</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5.6%</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5,487</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5.7%</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6</a:t>
                      </a:r>
                      <a:endParaRPr lang="ja-JP" altLang="en-US" sz="1150" b="0" i="0" u="none" strike="noStrike">
                        <a:solidFill>
                          <a:srgbClr val="000000"/>
                        </a:solidFill>
                        <a:latin typeface="游ゴシック"/>
                        <a:ea typeface="游ゴシック"/>
                      </a:endParaRPr>
                    </a:p>
                  </a:txBody>
                  <a:tcPr marL="21519" marR="21519" marT="0" marB="0" anchor="ctr">
                    <a:lnL>
                      <a:noFill/>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タカナシ販売株式会社</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乳製品</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4,107</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2,967</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5,309</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5.5%</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7</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立替精算</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立替精算</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9,004</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8.5%</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7,160</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7.1%</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5,172</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5.4%</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a:ea typeface="游ゴシック"/>
                        </a:rPr>
                        <a:t>従業員立替等（内訳は要確認）</a:t>
                      </a: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8</a:t>
                      </a:r>
                      <a:endParaRPr lang="ja-JP" altLang="en-US" sz="1150" b="0" i="0" u="none" strike="noStrike">
                        <a:solidFill>
                          <a:srgbClr val="000000"/>
                        </a:solidFill>
                        <a:latin typeface="游ゴシック"/>
                        <a:ea typeface="游ゴシック"/>
                      </a:endParaRPr>
                    </a:p>
                  </a:txBody>
                  <a:tcPr marL="21519" marR="21519" marT="0" marB="0" anchor="ctr">
                    <a:lnL>
                      <a:noFill/>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丸叶食品有限会社</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食材・原材料（推察）</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326</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0.3%</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4,605</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4.6%</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4,179</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4.4%</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9</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株式会社ナカリ</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食材・原材料（推察）</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4,565</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4.3%</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2,964</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3,630</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3.8%</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ctr" fontAlgn="ctr">
                        <a:buNone/>
                      </a:pPr>
                      <a:r>
                        <a:rPr lang="ja-JP" altLang="en-US" sz="1150" b="0" i="0" u="none" strike="noStrike">
                          <a:solidFill>
                            <a:srgbClr val="000000"/>
                          </a:solidFill>
                          <a:latin typeface="游ゴシック"/>
                          <a:ea typeface="游ゴシック"/>
                        </a:rPr>
                        <a:t>10</a:t>
                      </a:r>
                      <a:endParaRPr lang="ja-JP" altLang="en-US" sz="1150" b="0" i="0" u="none" strike="noStrike">
                        <a:solidFill>
                          <a:srgbClr val="000000"/>
                        </a:solidFill>
                        <a:latin typeface="游ゴシック"/>
                        <a:ea typeface="游ゴシック"/>
                      </a:endParaRPr>
                    </a:p>
                  </a:txBody>
                  <a:tcPr marL="21519" marR="21519" marT="0" marB="0" anchor="ctr">
                    <a:lnL>
                      <a:noFill/>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中沢乳業株式会社</a:t>
                      </a:r>
                      <a:endParaRPr lang="ja-JP" altLang="en-US" sz="10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950" b="0" i="0" u="none" strike="noStrike">
                          <a:solidFill>
                            <a:srgbClr val="000000"/>
                          </a:solidFill>
                          <a:latin typeface="游ゴシック"/>
                          <a:ea typeface="游ゴシック"/>
                        </a:rPr>
                        <a:t>乳製品</a:t>
                      </a:r>
                      <a:endParaRPr lang="ja-JP" altLang="en-US" sz="9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3,036</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3,191</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2,534</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2.6%</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l" fontAlgn="ctr">
                        <a:buNone/>
                      </a:pPr>
                      <a:endParaRPr lang="ja-JP" altLang="en-US" sz="11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altLang="en-US" sz="1150" b="0" i="0" u="none" strike="noStrike">
                          <a:solidFill>
                            <a:srgbClr val="000000"/>
                          </a:solidFill>
                          <a:latin typeface="游ゴシック"/>
                          <a:ea typeface="游ゴシック"/>
                        </a:rPr>
                        <a:t>その他（上位10項目以外）</a:t>
                      </a: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hMerge="1">
                  <a:txBody>
                    <a:bodyPr/>
                    <a:lstStyle/>
                    <a:p>
                      <a:pPr algn="ctr" fontAlgn="ctr">
                        <a:buNone/>
                      </a:pPr>
                      <a:endParaRPr lang="ja-JP" altLang="en-US" sz="1150" b="0"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26,201</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24.8%</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25,449</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25.2%</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18,104</a:t>
                      </a:r>
                      <a:endParaRPr lang="ja-JP" altLang="en-US" sz="1150" b="0"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18.9%</a:t>
                      </a:r>
                      <a:endParaRPr lang="ja-JP" altLang="en-US" sz="1100" b="0" i="0" u="none" strike="noStrike">
                        <a:solidFill>
                          <a:srgbClr val="000000"/>
                        </a:solidFill>
                        <a:latin typeface="Arial"/>
                        <a:ea typeface="游ゴシック Medium"/>
                      </a:endParaRPr>
                    </a:p>
                  </a:txBody>
                  <a:tcPr marL="21519" marR="119190"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noFill/>
                  </a:tcPr>
                </a:tc>
                <a:tc>
                  <a:txBody>
                    <a:bodyPr/>
                    <a:lstStyle/>
                    <a:p>
                      <a:pPr algn="l" fontAlgn="ctr">
                        <a:buNone/>
                      </a:pPr>
                      <a:endParaRPr lang="ja-JP" altLang="en-US" sz="850" b="0"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FFFFFF"/>
                    </a:solidFill>
                  </a:tcPr>
                </a:tc>
              </a:tr>
              <a:tr h="279751">
                <a:tc>
                  <a:txBody>
                    <a:bodyPr/>
                    <a:lstStyle/>
                    <a:p>
                      <a:pPr algn="l" fontAlgn="ctr">
                        <a:buNone/>
                      </a:pPr>
                      <a:endParaRPr lang="ja-JP" altLang="en-US" sz="1150" b="1"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A6A6A6"/>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gridSpan="3">
                  <a:txBody>
                    <a:bodyPr/>
                    <a:lstStyle/>
                    <a:p>
                      <a:pPr algn="ctr"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1150" b="1"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1150" b="1" i="0" u="none" strike="noStrike">
                        <a:solidFill>
                          <a:srgbClr val="000000"/>
                        </a:solidFill>
                        <a:latin typeface="游ゴシック"/>
                        <a:ea typeface="游ゴシック"/>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105,842</a:t>
                      </a:r>
                      <a:endParaRPr lang="ja-JP" altLang="en-US" sz="115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00" b="1" i="0" u="none" strike="noStrike">
                          <a:solidFill>
                            <a:srgbClr val="000000"/>
                          </a:solidFill>
                          <a:latin typeface="Arial"/>
                          <a:ea typeface="游ゴシック Medium"/>
                        </a:rPr>
                        <a:t>100.0%</a:t>
                      </a:r>
                      <a:endParaRPr lang="ja-JP" altLang="en-US" sz="110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100,866</a:t>
                      </a:r>
                      <a:endParaRPr lang="ja-JP" altLang="en-US" sz="115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00" b="1" i="0" u="none" strike="noStrike">
                          <a:solidFill>
                            <a:srgbClr val="000000"/>
                          </a:solidFill>
                          <a:latin typeface="Arial"/>
                          <a:ea typeface="游ゴシック Medium"/>
                        </a:rPr>
                        <a:t>100.0%</a:t>
                      </a:r>
                      <a:endParaRPr lang="ja-JP" altLang="en-US" sz="110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96,006</a:t>
                      </a:r>
                      <a:endParaRPr lang="ja-JP" altLang="en-US" sz="115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00" b="1" i="0" u="none" strike="noStrike">
                          <a:solidFill>
                            <a:srgbClr val="000000"/>
                          </a:solidFill>
                          <a:latin typeface="Arial"/>
                          <a:ea typeface="游ゴシック Medium"/>
                        </a:rPr>
                        <a:t>100.0%</a:t>
                      </a:r>
                      <a:endParaRPr lang="ja-JP" altLang="en-US" sz="1100" b="1" i="0" u="none" strike="noStrike">
                        <a:solidFill>
                          <a:srgbClr val="000000"/>
                        </a:solidFill>
                        <a:latin typeface="Arial"/>
                        <a:ea typeface="游ゴシック Medium"/>
                      </a:endParaRPr>
                    </a:p>
                  </a:txBody>
                  <a:tcPr marL="21519" marR="21519" marT="0" marB="0" anchor="ctr">
                    <a:lnL w="5977" cap="flat" cmpd="sng" algn="ctr">
                      <a:solidFill>
                        <a:srgbClr val="FFFFFF"/>
                      </a:solidFill>
                      <a:prstDash val="solid"/>
                      <a:round/>
                      <a:headEnd type="none" w="med" len="med"/>
                      <a:tailEnd type="none" w="med" len="med"/>
                    </a:lnL>
                    <a:lnR w="5977" cap="flat" cmpd="sng" algn="ctr">
                      <a:solidFill>
                        <a:srgbClr val="FFFFFF"/>
                      </a:solidFill>
                      <a:prstDash val="solid"/>
                      <a:round/>
                      <a:headEnd type="none" w="med" len="med"/>
                      <a:tailEnd type="none" w="med" len="med"/>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c>
                  <a:txBody>
                    <a:bodyPr/>
                    <a:lstStyle/>
                    <a:p>
                      <a:pPr algn="l" fontAlgn="ctr">
                        <a:buNone/>
                      </a:pPr>
                      <a:endParaRPr lang="ja-JP" altLang="en-US" sz="850" b="1" i="0" u="none" strike="noStrike">
                        <a:solidFill>
                          <a:srgbClr val="000000"/>
                        </a:solidFill>
                        <a:latin typeface="游ゴシック"/>
                        <a:ea typeface="游ゴシック"/>
                      </a:endParaRPr>
                    </a:p>
                  </a:txBody>
                  <a:tcPr marL="119190" marR="21519" marT="0" marB="0" anchor="ctr">
                    <a:lnL w="5977" cap="flat" cmpd="sng" algn="ctr">
                      <a:solidFill>
                        <a:srgbClr val="FFFFFF"/>
                      </a:solidFill>
                      <a:prstDash val="solid"/>
                      <a:round/>
                      <a:headEnd type="none" w="med" len="med"/>
                      <a:tailEnd type="none" w="med" len="med"/>
                    </a:lnL>
                    <a:lnR>
                      <a:noFill/>
                    </a:lnR>
                    <a:lnT w="5977" cap="flat" cmpd="sng" algn="ctr">
                      <a:solidFill>
                        <a:srgbClr val="0B3041"/>
                      </a:solidFill>
                      <a:prstDash val="solid"/>
                      <a:round/>
                      <a:headEnd type="none" w="med" len="med"/>
                      <a:tailEnd type="none" w="med" len="med"/>
                    </a:lnT>
                    <a:lnB w="5977"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lang="ja-JP" altLang="en-US" dirty="0">
                <a:latin typeface="+mj-ea"/>
              </a:rPr>
              <a:t>代表取締役 西丸 修氏のもと、3店舗で運営。人員は月給者6名・時給者約30名（給与台帳ベース）で、店舗別の配置は確認中です。</a:t>
            </a:r>
            <a:endParaRPr lang="en-US" altLang="ja-JP" dirty="0">
              <a:latin typeface="+mj-ea"/>
            </a:endParaRPr>
          </a:p>
        </p:txBody>
      </p:sp>
      <p:sp>
        <p:nvSpPr>
          <p:cNvPr id="86" name="Rectangle 85"/>
          <p:cNvSpPr/>
          <p:nvPr/>
        </p:nvSpPr>
        <p:spPr>
          <a:xfrm>
            <a:off x="402336" y="1600200"/>
            <a:ext cx="1920240" cy="1234440"/>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kumimoji="1" lang="ja-JP" altLang="en-US" sz="900" dirty="0">
                <a:solidFill>
                  <a:srgbClr val="000000"/>
                </a:solidFill>
                <a:latin typeface="+mn-ea"/>
                <a:ea typeface="+mn-ea"/>
              </a:rPr>
              <a:t>【人員構成】</a:t>
            </a:r>
            <a:endParaRPr kumimoji="1" lang="ja-JP" altLang="en-US" sz="900" dirty="0"/>
          </a:p>
          <a:p>
            <a:pPr algn="l"/>
            <a:r>
              <a:rPr kumimoji="1" lang="ja-JP" altLang="en-US" sz="900" dirty="0">
                <a:solidFill>
                  <a:srgbClr val="000000"/>
                </a:solidFill>
                <a:latin typeface="+mn-ea"/>
                <a:ea typeface="+mn-ea"/>
              </a:rPr>
              <a:t>役員　：1名＋α（要確認）</a:t>
            </a:r>
            <a:endParaRPr kumimoji="1" lang="ja-JP" altLang="en-US" sz="900" dirty="0"/>
          </a:p>
          <a:p>
            <a:pPr algn="l"/>
            <a:r>
              <a:rPr kumimoji="1" lang="ja-JP" altLang="en-US" sz="900" dirty="0">
                <a:solidFill>
                  <a:srgbClr val="000000"/>
                </a:solidFill>
                <a:latin typeface="+mn-ea"/>
                <a:ea typeface="+mn-ea"/>
              </a:rPr>
              <a:t>月給者：6名</a:t>
            </a:r>
            <a:endParaRPr kumimoji="1" lang="ja-JP" altLang="en-US" sz="900" dirty="0"/>
          </a:p>
          <a:p>
            <a:pPr algn="l"/>
            <a:r>
              <a:rPr kumimoji="1" lang="ja-JP" altLang="en-US" sz="900" dirty="0">
                <a:solidFill>
                  <a:srgbClr val="000000"/>
                </a:solidFill>
                <a:latin typeface="+mn-ea"/>
                <a:ea typeface="+mn-ea"/>
              </a:rPr>
              <a:t>時給者：約30名</a:t>
            </a:r>
            <a:endParaRPr kumimoji="1" lang="ja-JP" altLang="en-US" sz="900" dirty="0"/>
          </a:p>
          <a:p>
            <a:pPr algn="l"/>
            <a:r>
              <a:rPr kumimoji="1" lang="ja-JP" altLang="en-US" sz="900" dirty="0">
                <a:solidFill>
                  <a:srgbClr val="000000"/>
                </a:solidFill>
                <a:latin typeface="+mn-ea"/>
                <a:ea typeface="+mn-ea"/>
              </a:rPr>
              <a:t>（2026年2月分給与台帳より）</a:t>
            </a:r>
            <a:endParaRPr kumimoji="1" lang="ja-JP" altLang="en-US" sz="900" dirty="0"/>
          </a:p>
        </p:txBody>
      </p:sp>
      <p:sp>
        <p:nvSpPr>
          <p:cNvPr id="87" name="Rectangle 86"/>
          <p:cNvSpPr/>
          <p:nvPr/>
        </p:nvSpPr>
        <p:spPr>
          <a:xfrm>
            <a:off x="4434840" y="1691640"/>
            <a:ext cx="1828800" cy="68580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200" dirty="0" b="1">
                <a:solidFill>
                  <a:srgbClr val="FFFFFF"/>
                </a:solidFill>
                <a:latin typeface="+mn-ea"/>
                <a:ea typeface="+mn-ea"/>
              </a:rPr>
              <a:t>代表取締役</a:t>
            </a:r>
            <a:endParaRPr kumimoji="1" lang="ja-JP" altLang="en-US" sz="1200" dirty="0"/>
          </a:p>
          <a:p>
            <a:pPr algn="ctr"/>
            <a:r>
              <a:rPr kumimoji="1" lang="ja-JP" altLang="en-US" sz="1200" dirty="0" b="1">
                <a:solidFill>
                  <a:srgbClr val="FFFFFF"/>
                </a:solidFill>
                <a:latin typeface="+mn-ea"/>
                <a:ea typeface="+mn-ea"/>
              </a:rPr>
              <a:t>西丸 修</a:t>
            </a:r>
            <a:endParaRPr kumimoji="1" lang="ja-JP" altLang="en-US" sz="1200" dirty="0"/>
          </a:p>
        </p:txBody>
      </p:sp>
      <p:cxnSp>
        <p:nvCxnSpPr>
          <p:cNvPr id="88" name="Connector 87"/>
          <p:cNvCxnSpPr/>
          <p:nvPr/>
        </p:nvCxnSpPr>
        <p:spPr>
          <a:xfrm>
            <a:off x="5349240" y="2377440"/>
            <a:ext cx="0" cy="59436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2057400" y="2971800"/>
            <a:ext cx="658368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2057400" y="297180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1" name="Rectangle 90"/>
          <p:cNvSpPr/>
          <p:nvPr/>
        </p:nvSpPr>
        <p:spPr>
          <a:xfrm>
            <a:off x="1097280" y="3291840"/>
            <a:ext cx="1920240" cy="640080"/>
          </a:xfrm>
          <a:prstGeom prst="rect">
            <a:avLst/>
          </a:prstGeom>
          <a:solidFill>
            <a:srgbClr val="E1F3FB"/>
          </a:solidFill>
          <a:ln w="9525">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100" dirty="0" b="1">
                <a:solidFill>
                  <a:srgbClr val="0B3041"/>
                </a:solidFill>
                <a:latin typeface="+mn-ea"/>
                <a:ea typeface="+mn-ea"/>
              </a:rPr>
              <a:t>鎌倉山店（本店）</a:t>
            </a:r>
            <a:endParaRPr kumimoji="1" lang="ja-JP" altLang="en-US" sz="1100" dirty="0"/>
          </a:p>
        </p:txBody>
      </p:sp>
      <p:sp>
        <p:nvSpPr>
          <p:cNvPr id="92" name="Rectangle 91"/>
          <p:cNvSpPr/>
          <p:nvPr/>
        </p:nvSpPr>
        <p:spPr>
          <a:xfrm>
            <a:off x="1097280" y="4023360"/>
            <a:ext cx="1920240" cy="868680"/>
          </a:xfrm>
          <a:prstGeom prst="rect">
            <a:avLst/>
          </a:prstGeom>
          <a:noFill/>
          <a:ln w="9525">
            <a:solidFill>
              <a:srgbClr val="B8C0C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900" dirty="0">
                <a:solidFill>
                  <a:srgbClr val="404040"/>
                </a:solidFill>
                <a:latin typeface="+mn-ea"/>
                <a:ea typeface="+mn-ea"/>
              </a:rPr>
              <a:t>店舗スタッフ数・役職：</a:t>
            </a:r>
            <a:endParaRPr kumimoji="1" lang="ja-JP" altLang="en-US" sz="900" dirty="0"/>
          </a:p>
          <a:p>
            <a:pPr algn="ctr"/>
            <a:r>
              <a:rPr kumimoji="1" lang="ja-JP" altLang="en-US" sz="900" dirty="0">
                <a:solidFill>
                  <a:srgbClr val="404040"/>
                </a:solidFill>
                <a:latin typeface="+mn-ea"/>
                <a:ea typeface="+mn-ea"/>
              </a:rPr>
              <a:t>要確認</a:t>
            </a:r>
            <a:endParaRPr kumimoji="1" lang="ja-JP" altLang="en-US" sz="900" dirty="0"/>
          </a:p>
        </p:txBody>
      </p:sp>
      <p:cxnSp>
        <p:nvCxnSpPr>
          <p:cNvPr id="93" name="Connector 92"/>
          <p:cNvCxnSpPr/>
          <p:nvPr/>
        </p:nvCxnSpPr>
        <p:spPr>
          <a:xfrm>
            <a:off x="4251960" y="297180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3291840" y="3291840"/>
            <a:ext cx="1920240" cy="640080"/>
          </a:xfrm>
          <a:prstGeom prst="rect">
            <a:avLst/>
          </a:prstGeom>
          <a:solidFill>
            <a:srgbClr val="E1F3FB"/>
          </a:solidFill>
          <a:ln w="9525">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100" dirty="0" b="1">
                <a:solidFill>
                  <a:srgbClr val="0B3041"/>
                </a:solidFill>
                <a:latin typeface="+mn-ea"/>
                <a:ea typeface="+mn-ea"/>
              </a:rPr>
              <a:t>紀尾井町店</a:t>
            </a:r>
            <a:endParaRPr kumimoji="1" lang="ja-JP" altLang="en-US" sz="1100" dirty="0"/>
          </a:p>
        </p:txBody>
      </p:sp>
      <p:sp>
        <p:nvSpPr>
          <p:cNvPr id="95" name="Rectangle 94"/>
          <p:cNvSpPr/>
          <p:nvPr/>
        </p:nvSpPr>
        <p:spPr>
          <a:xfrm>
            <a:off x="3291840" y="4023360"/>
            <a:ext cx="1920240" cy="868680"/>
          </a:xfrm>
          <a:prstGeom prst="rect">
            <a:avLst/>
          </a:prstGeom>
          <a:noFill/>
          <a:ln w="9525">
            <a:solidFill>
              <a:srgbClr val="B8C0C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900" dirty="0">
                <a:solidFill>
                  <a:srgbClr val="404040"/>
                </a:solidFill>
                <a:latin typeface="+mn-ea"/>
                <a:ea typeface="+mn-ea"/>
              </a:rPr>
              <a:t>店舗スタッフ数・役職：</a:t>
            </a:r>
            <a:endParaRPr kumimoji="1" lang="ja-JP" altLang="en-US" sz="900" dirty="0"/>
          </a:p>
          <a:p>
            <a:pPr algn="ctr"/>
            <a:r>
              <a:rPr kumimoji="1" lang="ja-JP" altLang="en-US" sz="900" dirty="0">
                <a:solidFill>
                  <a:srgbClr val="404040"/>
                </a:solidFill>
                <a:latin typeface="+mn-ea"/>
                <a:ea typeface="+mn-ea"/>
              </a:rPr>
              <a:t>要確認</a:t>
            </a:r>
            <a:endParaRPr kumimoji="1" lang="ja-JP" altLang="en-US" sz="900" dirty="0"/>
          </a:p>
        </p:txBody>
      </p:sp>
      <p:cxnSp>
        <p:nvCxnSpPr>
          <p:cNvPr id="96" name="Connector 95"/>
          <p:cNvCxnSpPr/>
          <p:nvPr/>
        </p:nvCxnSpPr>
        <p:spPr>
          <a:xfrm>
            <a:off x="6446520" y="297180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5486400" y="3291840"/>
            <a:ext cx="1920240" cy="640080"/>
          </a:xfrm>
          <a:prstGeom prst="rect">
            <a:avLst/>
          </a:prstGeom>
          <a:solidFill>
            <a:srgbClr val="E1F3FB"/>
          </a:solidFill>
          <a:ln w="9525">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100" dirty="0" b="1">
                <a:solidFill>
                  <a:srgbClr val="0B3041"/>
                </a:solidFill>
                <a:latin typeface="+mn-ea"/>
                <a:ea typeface="+mn-ea"/>
              </a:rPr>
              <a:t>大船店</a:t>
            </a:r>
            <a:endParaRPr kumimoji="1" lang="ja-JP" altLang="en-US" sz="1100" dirty="0"/>
          </a:p>
        </p:txBody>
      </p:sp>
      <p:sp>
        <p:nvSpPr>
          <p:cNvPr id="98" name="Rectangle 97"/>
          <p:cNvSpPr/>
          <p:nvPr/>
        </p:nvSpPr>
        <p:spPr>
          <a:xfrm>
            <a:off x="5486400" y="4023360"/>
            <a:ext cx="1920240" cy="868680"/>
          </a:xfrm>
          <a:prstGeom prst="rect">
            <a:avLst/>
          </a:prstGeom>
          <a:noFill/>
          <a:ln w="9525">
            <a:solidFill>
              <a:srgbClr val="B8C0C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900" dirty="0">
                <a:solidFill>
                  <a:srgbClr val="404040"/>
                </a:solidFill>
                <a:latin typeface="+mn-ea"/>
                <a:ea typeface="+mn-ea"/>
              </a:rPr>
              <a:t>店舗スタッフ数・役職：</a:t>
            </a:r>
            <a:endParaRPr kumimoji="1" lang="ja-JP" altLang="en-US" sz="900" dirty="0"/>
          </a:p>
          <a:p>
            <a:pPr algn="ctr"/>
            <a:r>
              <a:rPr kumimoji="1" lang="ja-JP" altLang="en-US" sz="900" dirty="0">
                <a:solidFill>
                  <a:srgbClr val="404040"/>
                </a:solidFill>
                <a:latin typeface="+mn-ea"/>
                <a:ea typeface="+mn-ea"/>
              </a:rPr>
              <a:t>要確認</a:t>
            </a:r>
            <a:endParaRPr kumimoji="1" lang="ja-JP" altLang="en-US" sz="900" dirty="0"/>
          </a:p>
        </p:txBody>
      </p:sp>
      <p:cxnSp>
        <p:nvCxnSpPr>
          <p:cNvPr id="99" name="Connector 98"/>
          <p:cNvCxnSpPr/>
          <p:nvPr/>
        </p:nvCxnSpPr>
        <p:spPr>
          <a:xfrm>
            <a:off x="8641080" y="2971800"/>
            <a:ext cx="0" cy="32004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100" name="Rectangle 99"/>
          <p:cNvSpPr/>
          <p:nvPr/>
        </p:nvSpPr>
        <p:spPr>
          <a:xfrm>
            <a:off x="7680960" y="3291840"/>
            <a:ext cx="1920240" cy="640080"/>
          </a:xfrm>
          <a:prstGeom prst="rect">
            <a:avLst/>
          </a:prstGeom>
          <a:solidFill>
            <a:srgbClr val="E1F3FB"/>
          </a:solidFill>
          <a:ln w="9525">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100" dirty="0" b="1">
                <a:solidFill>
                  <a:srgbClr val="0B3041"/>
                </a:solidFill>
                <a:latin typeface="+mn-ea"/>
                <a:ea typeface="+mn-ea"/>
              </a:rPr>
              <a:t>本部・管理（要確認）</a:t>
            </a:r>
            <a:endParaRPr kumimoji="1" lang="ja-JP" altLang="en-US" sz="1100" dirty="0"/>
          </a:p>
        </p:txBody>
      </p:sp>
      <p:sp>
        <p:nvSpPr>
          <p:cNvPr id="101" name="Rectangle 100"/>
          <p:cNvSpPr/>
          <p:nvPr/>
        </p:nvSpPr>
        <p:spPr>
          <a:xfrm>
            <a:off x="7680960" y="4023360"/>
            <a:ext cx="1920240" cy="868680"/>
          </a:xfrm>
          <a:prstGeom prst="rect">
            <a:avLst/>
          </a:prstGeom>
          <a:noFill/>
          <a:ln w="9525">
            <a:solidFill>
              <a:srgbClr val="B8C0C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900" dirty="0">
                <a:solidFill>
                  <a:srgbClr val="404040"/>
                </a:solidFill>
                <a:latin typeface="+mn-ea"/>
                <a:ea typeface="+mn-ea"/>
              </a:rPr>
              <a:t>店舗スタッフ数・役職：</a:t>
            </a:r>
            <a:endParaRPr kumimoji="1" lang="ja-JP" altLang="en-US" sz="900" dirty="0"/>
          </a:p>
          <a:p>
            <a:pPr algn="ctr"/>
            <a:r>
              <a:rPr kumimoji="1" lang="ja-JP" altLang="en-US" sz="900" dirty="0">
                <a:solidFill>
                  <a:srgbClr val="404040"/>
                </a:solidFill>
                <a:latin typeface="+mn-ea"/>
                <a:ea typeface="+mn-ea"/>
              </a:rPr>
              <a:t>要確認</a:t>
            </a:r>
            <a:endParaRPr kumimoji="1" lang="ja-JP" altLang="en-US" sz="900" dirty="0"/>
          </a:p>
        </p:txBody>
      </p:sp>
      <p:sp>
        <p:nvSpPr>
          <p:cNvPr id="102" name="TextBox 101"/>
          <p:cNvSpPr txBox="1"/>
          <p:nvPr/>
        </p:nvSpPr>
        <p:spPr>
          <a:xfrm>
            <a:off x="402336" y="5212080"/>
            <a:ext cx="9875520" cy="1097280"/>
          </a:xfrm>
          <a:prstGeom prst="rect">
            <a:avLst/>
          </a:prstGeom>
          <a:noFill/>
        </p:spPr>
        <p:txBody>
          <a:bodyPr wrap="square" lIns="0" tIns="0" rIns="0" bIns="0" anchor="t">
            <a:spAutoFit/>
          </a:bodyPr>
          <a:lstStyle/>
          <a:p>
            <a:pPr>
              <a:spcAft>
                <a:spcPts val="300"/>
              </a:spcAft>
            </a:pPr>
            <a:r>
              <a:rPr kumimoji="1" lang="ja-JP" altLang="en-US" sz="900" dirty="0">
                <a:solidFill>
                  <a:srgbClr val="595959"/>
                </a:solidFill>
                <a:latin typeface="+mn-ea"/>
                <a:ea typeface="+mn-ea"/>
              </a:rPr>
              <a:t>※店舗別の人員・役職・兼務の状況は個人別データ未受領のため確認中です（受領後に更新します）。</a:t>
            </a:r>
            <a:endParaRPr kumimoji="1" lang="ja-JP" altLang="en-US" sz="900" dirty="0"/>
          </a:p>
          <a:p>
            <a:pPr>
              <a:spcAft>
                <a:spcPts val="300"/>
              </a:spcAft>
            </a:pPr>
            <a:r>
              <a:rPr kumimoji="1" lang="ja-JP" altLang="en-US" sz="900" dirty="0">
                <a:solidFill>
                  <a:srgbClr val="595959"/>
                </a:solidFill>
                <a:latin typeface="+mn-ea"/>
                <a:ea typeface="+mn-ea"/>
              </a:rPr>
              <a:t>※給与台帳（2026年2月分）上、月給制6名・時給制約30名の記載。取締役会の設置有無、他の取締役・監査役は登記事項証明書の受領後に確認します。</a:t>
            </a:r>
            <a:endParaRPr kumimoji="1" lang="ja-JP" altLang="en-US" sz="900" dirty="0"/>
          </a:p>
        </p:txBody>
      </p:sp>
    </p:spTree>
    <p:extLst>
      <p:ext uri="{BB962C8B-B14F-4D97-AF65-F5344CB8AC3E}">
        <p14:creationId xmlns:p14="http://schemas.microsoft.com/office/powerpoint/2010/main" val="2728612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2" name="正方形/長方形 1">
            <a:extLst>
              <a:ext uri="{FF2B5EF4-FFF2-40B4-BE49-F238E27FC236}">
                <a16:creationId xmlns:a16="http://schemas.microsoft.com/office/drawing/2014/main" id="{F474A0FB-C4FD-5021-0996-014C9ADB8336}"/>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株主</a:t>
            </a:r>
          </a:p>
        </p:txBody>
      </p:sp>
      <p:sp>
        <p:nvSpPr>
          <p:cNvPr id="3" name="正方形/長方形 2">
            <a:extLst>
              <a:ext uri="{FF2B5EF4-FFF2-40B4-BE49-F238E27FC236}">
                <a16:creationId xmlns:a16="http://schemas.microsoft.com/office/drawing/2014/main" id="{75AD8D3D-AB28-DAEE-3CFD-D5FBA0A0A9F7}"/>
              </a:ext>
            </a:extLst>
          </p:cNvPr>
          <p:cNvSpPr/>
          <p:nvPr/>
        </p:nvSpPr>
        <p:spPr>
          <a:xfrm>
            <a:off x="311151" y="3889461"/>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lang="ja-JP" altLang="en-US" dirty="0">
                <a:latin typeface="+mj-ea"/>
              </a:rPr>
              <a:t>株主は代表取締役 西丸 修氏（100%）。登記事項証明書・株主名簿は未受領のため、役員構成の詳細は確認中です。</a:t>
            </a:r>
            <a:endParaRPr lang="en-US" altLang="ja-JP" dirty="0"/>
          </a:p>
        </p:txBody>
      </p:sp>
      <p:sp>
        <p:nvSpPr>
          <p:cNvPr id="17" name="TextBox 16"/>
          <p:cNvSpPr txBox="1"/>
          <p:nvPr/>
        </p:nvSpPr>
        <p:spPr>
          <a:xfrm>
            <a:off x="310896" y="5892038"/>
            <a:ext cx="9875520" cy="548640"/>
          </a:xfrm>
          <a:prstGeom prst="rect">
            <a:avLst/>
          </a:prstGeom>
          <a:noFill/>
        </p:spPr>
        <p:txBody>
          <a:bodyPr wrap="square" lIns="0" tIns="0" rIns="0" bIns="0" anchor="t">
            <a:spAutoFit/>
          </a:bodyPr>
          <a:lstStyle/>
          <a:p>
            <a:r>
              <a:rPr kumimoji="1" lang="ja-JP" altLang="en-US" sz="900" dirty="0">
                <a:solidFill>
                  <a:srgbClr val="595959"/>
                </a:solidFill>
                <a:latin typeface="+mn-ea"/>
                <a:ea typeface="+mn-ea"/>
              </a:rPr>
              <a:t>※役員報酬は年1,920千円。M&amp;A後の経営体制・報酬水準は未確認のため、調整後EBITDAでは置換していません。</a:t>
            </a:r>
            <a:endParaRPr kumimoji="1" lang="ja-JP" altLang="en-US" sz="900" dirty="0"/>
          </a:p>
        </p:txBody>
      </p:sp>
      <p:graphicFrame>
        <p:nvGraphicFramePr>
          <p:cNvPr id="18" name="Table 17"/>
          <p:cNvGraphicFramePr>
            <a:graphicFrameLocks noGrp="1"/>
          </p:cNvGraphicFramePr>
          <p:nvPr/>
        </p:nvGraphicFramePr>
        <p:xfrm>
          <a:off x="310896" y="1920240"/>
          <a:ext cx="9807735" cy="1692909"/>
        </p:xfrm>
        <a:graphic>
          <a:graphicData uri="http://schemas.openxmlformats.org/drawingml/2006/table">
            <a:tbl>
              <a:tblPr/>
              <a:tblGrid>
                <a:gridCol w="340890"/>
                <a:gridCol w="1494420"/>
                <a:gridCol w="1314450"/>
                <a:gridCol w="1314450"/>
                <a:gridCol w="1314450"/>
                <a:gridCol w="1314450"/>
                <a:gridCol w="2714625"/>
              </a:tblGrid>
              <a:tr h="228600">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r" fontAlgn="ctr">
                        <a:buNone/>
                      </a:pPr>
                      <a:r>
                        <a:rPr lang="ja-JP" altLang="en-US" sz="1100" b="0" i="0" u="none" strike="noStrike">
                          <a:solidFill>
                            <a:srgbClr val="000000"/>
                          </a:solidFill>
                          <a:latin typeface="游ゴシック"/>
                          <a:ea typeface="游ゴシック"/>
                        </a:rPr>
                        <a:t>(単位：千円)</a:t>
                      </a:r>
                      <a:endParaRPr lang="ja-JP" altLang="en-US" sz="1100" b="0" i="0" u="none" strike="noStrike">
                        <a:solidFill>
                          <a:srgbClr val="000000"/>
                        </a:solidFill>
                        <a:latin typeface="游ゴシック"/>
                        <a:ea typeface="游ゴシック"/>
                      </a:endParaRPr>
                    </a:p>
                  </a:txBody>
                  <a:tcPr marL="22860" marR="22860" marT="0" marB="0" anchor="ctr">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c>
                  <a:txBody>
                    <a:bodyPr/>
                    <a:lstStyle/>
                    <a:p>
                      <a:pPr algn="l" fontAlgn="ctr">
                        <a:buNone/>
                      </a:pPr>
                      <a:endParaRPr lang="ja-JP" altLang="en-US" sz="1100" b="0" i="0" u="none" strike="noStrike">
                        <a:solidFill>
                          <a:srgbClr val="000000"/>
                        </a:solidFill>
                        <a:latin typeface="游ゴシック Medium"/>
                        <a:ea typeface="游ゴシック Medium"/>
                      </a:endParaRPr>
                    </a:p>
                  </a:txBody>
                  <a:tcPr marL="22860" marR="22860" marT="0" marB="0" anchor="b">
                    <a:lnL>
                      <a:noFill/>
                    </a:lnL>
                    <a:lnR>
                      <a:noFill/>
                    </a:lnR>
                    <a:lnT>
                      <a:noFill/>
                    </a:lnT>
                    <a:lnB>
                      <a:noFill/>
                    </a:lnB>
                    <a:noFill/>
                  </a:tcPr>
                </a:tc>
              </a:tr>
              <a:tr h="487680">
                <a:tc>
                  <a:txBody>
                    <a:bodyPr/>
                    <a:lstStyle/>
                    <a:p>
                      <a:pPr algn="ctr" fontAlgn="ctr">
                        <a:buNone/>
                      </a:pPr>
                      <a:r>
                        <a:rPr lang="ja-JP" altLang="en-US" sz="1200" b="1" i="0" u="none" strike="noStrike">
                          <a:solidFill>
                            <a:srgbClr val="FFFFFF"/>
                          </a:solidFill>
                          <a:latin typeface="游ゴシック"/>
                          <a:ea typeface="游ゴシック"/>
                        </a:rPr>
                        <a:t>№</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氏名</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役職</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役員報酬</a:t>
                      </a:r>
                      <a:endParaRPr lang="ja-JP" altLang="en-US" sz="1200" b="1" i="0" u="none" strike="noStrike">
                        <a:solidFill>
                          <a:srgbClr val="FFFFFF"/>
                        </a:solidFill>
                        <a:latin typeface="游ゴシック"/>
                        <a:ea typeface="游ゴシック"/>
                      </a:endParaRPr>
                    </a:p>
                    <a:p>
                      <a:pPr algn="ctr" fontAlgn="ctr">
                        <a:buNone/>
                      </a:pPr>
                      <a:r>
                        <a:rPr lang="ja-JP" altLang="en-US" sz="1200" b="1" i="0" u="none" strike="noStrike">
                          <a:solidFill>
                            <a:srgbClr val="FFFFFF"/>
                          </a:solidFill>
                          <a:latin typeface="游ゴシック"/>
                          <a:ea typeface="游ゴシック"/>
                        </a:rPr>
                        <a:t>（令和8年3月期）</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保有株式数</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保有割合</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備考</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r>
              <a:tr h="679450">
                <a:tc>
                  <a:txBody>
                    <a:bodyPr/>
                    <a:lstStyle/>
                    <a:p>
                      <a:pPr algn="ctr" fontAlgn="ctr">
                        <a:buNone/>
                      </a:pPr>
                      <a:r>
                        <a:rPr lang="ja-JP" altLang="en-US" sz="1200" b="0" i="0" u="none" strike="noStrike">
                          <a:solidFill>
                            <a:srgbClr val="000000"/>
                          </a:solidFill>
                          <a:latin typeface="游ゴシック"/>
                          <a:ea typeface="游ゴシック"/>
                        </a:rPr>
                        <a:t>1</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200" b="0" i="0" u="none" strike="noStrike">
                          <a:solidFill>
                            <a:srgbClr val="000000"/>
                          </a:solidFill>
                          <a:latin typeface="游ゴシック"/>
                          <a:ea typeface="游ゴシック"/>
                        </a:rPr>
                        <a:t>西丸 修</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latin typeface="游ゴシック"/>
                          <a:ea typeface="游ゴシック"/>
                        </a:rPr>
                        <a:t>代表取締役</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1,920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100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100.0%</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latin typeface="游ゴシック"/>
                          <a:ea typeface="游ゴシック"/>
                        </a:rPr>
                        <a:t>法人税申告書 別表二（令和8年3月期）による。株主名簿は未受領（要確認）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r h="297179">
                <a:tc>
                  <a:txBody>
                    <a:bodyPr/>
                    <a:lstStyle/>
                    <a:p>
                      <a:pPr algn="ctr" fontAlgn="ctr">
                        <a:buNone/>
                      </a:pPr>
                      <a:endParaRPr lang="ja-JP" altLang="en-US" sz="1200" b="1" i="0" u="none" strike="noStrike">
                        <a:solidFill>
                          <a:srgbClr val="000000"/>
                        </a:solidFill>
                        <a:latin typeface="游ゴシック"/>
                        <a:ea typeface="游ゴシック"/>
                      </a:endParaRPr>
                    </a:p>
                  </a:txBody>
                  <a:tcPr marL="22860"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gridSpan="2">
                  <a:txBody>
                    <a:bodyPr/>
                    <a:lstStyle/>
                    <a:p>
                      <a:pPr algn="ctr" fontAlgn="ctr">
                        <a:buNone/>
                      </a:pPr>
                      <a:r>
                        <a:rPr lang="ja-JP" altLang="en-US" sz="1200" b="1" i="0" u="none" strike="noStrike">
                          <a:solidFill>
                            <a:srgbClr val="000000"/>
                          </a:solidFill>
                          <a:latin typeface="游ゴシック"/>
                          <a:ea typeface="游ゴシック"/>
                        </a:rPr>
                        <a:t>合計</a:t>
                      </a:r>
                      <a:endParaRPr lang="ja-JP" altLang="en-US" sz="1200" b="1"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1200" b="1"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1,920</a:t>
                      </a:r>
                      <a:endParaRPr lang="ja-JP" altLang="en-US" sz="12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100</a:t>
                      </a:r>
                      <a:endParaRPr lang="ja-JP" altLang="en-US" sz="12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200" b="1" i="0" u="none" strike="noStrike">
                          <a:solidFill>
                            <a:srgbClr val="000000"/>
                          </a:solidFill>
                          <a:latin typeface="Arial"/>
                          <a:ea typeface="游ゴシック Medium"/>
                        </a:rPr>
                        <a:t>100.0%</a:t>
                      </a:r>
                      <a:endParaRPr lang="ja-JP" altLang="en-US" sz="1200" b="1"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l" fontAlgn="ctr">
                        <a:buNone/>
                      </a:pPr>
                      <a:endParaRPr lang="ja-JP" altLang="en-US" sz="1200" b="1"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r>
            </a:tbl>
          </a:graphicData>
        </a:graphic>
      </p:graphicFrame>
      <p:graphicFrame>
        <p:nvGraphicFramePr>
          <p:cNvPr id="19" name="Table 18"/>
          <p:cNvGraphicFramePr>
            <a:graphicFrameLocks noGrp="1"/>
          </p:cNvGraphicFramePr>
          <p:nvPr/>
        </p:nvGraphicFramePr>
        <p:xfrm>
          <a:off x="310896" y="4297680"/>
          <a:ext cx="10195558" cy="1457198"/>
        </p:xfrm>
        <a:graphic>
          <a:graphicData uri="http://schemas.openxmlformats.org/drawingml/2006/table">
            <a:tbl>
              <a:tblPr/>
              <a:tblGrid>
                <a:gridCol w="332036"/>
                <a:gridCol w="1455602"/>
                <a:gridCol w="1111353"/>
                <a:gridCol w="1111353"/>
                <a:gridCol w="1111353"/>
                <a:gridCol w="2429749"/>
                <a:gridCol w="2644112"/>
              </a:tblGrid>
              <a:tr h="222662">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66" marR="22266"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66" marR="22266"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66" marR="22266" marT="0" marB="0" anchor="b">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66" marR="22266" marT="0" marB="0" anchor="b">
                    <a:lnL>
                      <a:noFill/>
                    </a:lnL>
                    <a:lnR>
                      <a:noFill/>
                    </a:lnR>
                    <a:lnT>
                      <a:noFill/>
                    </a:lnT>
                    <a:lnB>
                      <a:noFill/>
                    </a:lnB>
                    <a:noFill/>
                  </a:tcPr>
                </a:tc>
                <a:tc>
                  <a:txBody>
                    <a:bodyPr/>
                    <a:lstStyle/>
                    <a:p>
                      <a:pPr algn="r" fontAlgn="ctr">
                        <a:buNone/>
                      </a:pPr>
                      <a:r>
                        <a:rPr lang="ja-JP" altLang="en-US" sz="1050" b="0" i="0" u="none" strike="noStrike">
                          <a:solidFill>
                            <a:srgbClr val="000000"/>
                          </a:solidFill>
                          <a:latin typeface="游ゴシック"/>
                          <a:ea typeface="游ゴシック"/>
                        </a:rPr>
                        <a:t>(単位：千円)</a:t>
                      </a:r>
                      <a:endParaRPr lang="ja-JP" altLang="en-US" sz="1050" b="0" i="0" u="none" strike="noStrike">
                        <a:solidFill>
                          <a:srgbClr val="000000"/>
                        </a:solidFill>
                        <a:latin typeface="游ゴシック"/>
                        <a:ea typeface="游ゴシック"/>
                      </a:endParaRPr>
                    </a:p>
                  </a:txBody>
                  <a:tcPr marL="22266" marR="22266" marT="0" marB="0" anchor="ctr">
                    <a:lnL>
                      <a:noFill/>
                    </a:lnL>
                    <a:lnR>
                      <a:noFill/>
                    </a:lnR>
                    <a:lnT>
                      <a:noFill/>
                    </a:lnT>
                    <a:lnB>
                      <a:noFill/>
                    </a:lnB>
                    <a:noFill/>
                  </a:tcPr>
                </a:tc>
                <a:tc>
                  <a:txBody>
                    <a:bodyPr/>
                    <a:lstStyle/>
                    <a:p>
                      <a:pPr algn="r" fontAlgn="ctr">
                        <a:buNone/>
                      </a:pPr>
                      <a:endParaRPr lang="ja-JP" altLang="en-US" sz="1050" b="0" i="0" u="none" strike="noStrike">
                        <a:solidFill>
                          <a:srgbClr val="000000"/>
                        </a:solidFill>
                        <a:latin typeface="游ゴシック"/>
                        <a:ea typeface="游ゴシック"/>
                      </a:endParaRPr>
                    </a:p>
                  </a:txBody>
                  <a:tcPr marL="22266" marR="22266" marT="0" marB="0" anchor="ctr">
                    <a:lnL>
                      <a:noFill/>
                    </a:lnL>
                    <a:lnR>
                      <a:noFill/>
                    </a:lnR>
                    <a:lnT>
                      <a:noFill/>
                    </a:lnT>
                    <a:lnB>
                      <a:noFill/>
                    </a:lnB>
                    <a:noFill/>
                  </a:tcPr>
                </a:tc>
                <a:tc>
                  <a:txBody>
                    <a:bodyPr/>
                    <a:lstStyle/>
                    <a:p>
                      <a:pPr algn="l" fontAlgn="ctr">
                        <a:buNone/>
                      </a:pPr>
                      <a:endParaRPr lang="ja-JP" altLang="en-US" sz="1050" b="0" i="0" u="none" strike="noStrike">
                        <a:solidFill>
                          <a:srgbClr val="000000"/>
                        </a:solidFill>
                        <a:latin typeface="游ゴシック Medium"/>
                        <a:ea typeface="游ゴシック Medium"/>
                      </a:endParaRPr>
                    </a:p>
                  </a:txBody>
                  <a:tcPr marL="22266" marR="22266" marT="0" marB="0" anchor="b">
                    <a:lnL>
                      <a:noFill/>
                    </a:lnL>
                    <a:lnR>
                      <a:noFill/>
                    </a:lnR>
                    <a:lnT>
                      <a:noFill/>
                    </a:lnT>
                    <a:lnB>
                      <a:noFill/>
                    </a:lnB>
                    <a:noFill/>
                  </a:tcPr>
                </a:tc>
              </a:tr>
              <a:tr h="475012">
                <a:tc>
                  <a:txBody>
                    <a:bodyPr/>
                    <a:lstStyle/>
                    <a:p>
                      <a:pPr algn="ctr" fontAlgn="ctr">
                        <a:buNone/>
                      </a:pPr>
                      <a:r>
                        <a:rPr lang="ja-JP" altLang="en-US" sz="1150" b="1" i="0" u="none" strike="noStrike">
                          <a:solidFill>
                            <a:srgbClr val="FFFFFF"/>
                          </a:solidFill>
                          <a:latin typeface="游ゴシック"/>
                          <a:ea typeface="游ゴシック"/>
                        </a:rPr>
                        <a:t>№</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氏名</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役職</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代表者との関係</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役員報酬</a:t>
                      </a:r>
                      <a:endParaRPr lang="ja-JP" altLang="en-US" sz="1150" b="1" i="0" u="none" strike="noStrike">
                        <a:solidFill>
                          <a:srgbClr val="FFFFFF"/>
                        </a:solidFill>
                        <a:latin typeface="游ゴシック"/>
                        <a:ea typeface="游ゴシック"/>
                      </a:endParaRPr>
                    </a:p>
                    <a:p>
                      <a:pPr algn="ctr" fontAlgn="ctr">
                        <a:buNone/>
                      </a:pPr>
                      <a:r>
                        <a:rPr lang="ja-JP" altLang="en-US" sz="1150" b="1" i="0" u="none" strike="noStrike">
                          <a:solidFill>
                            <a:srgbClr val="FFFFFF"/>
                          </a:solidFill>
                          <a:latin typeface="游ゴシック"/>
                          <a:ea typeface="游ゴシック"/>
                        </a:rPr>
                        <a:t>（令和8年3月期）</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業務範囲</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a:noFill/>
                    </a:lnT>
                    <a:lnB w="6185"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備考</a:t>
                      </a:r>
                      <a:endParaRPr lang="ja-JP" altLang="en-US" sz="1150" b="1" i="0" u="none" strike="noStrike">
                        <a:solidFill>
                          <a:srgbClr val="FFFFFF"/>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a:noFill/>
                    </a:lnR>
                    <a:lnT>
                      <a:noFill/>
                    </a:lnT>
                    <a:lnB w="6185" cap="flat" cmpd="sng" algn="ctr">
                      <a:solidFill>
                        <a:srgbClr val="FFFFFF"/>
                      </a:solidFill>
                      <a:prstDash val="solid"/>
                      <a:round/>
                      <a:headEnd type="none" w="med" len="med"/>
                      <a:tailEnd type="none" w="med" len="med"/>
                    </a:lnB>
                    <a:solidFill>
                      <a:srgbClr val="0B3041"/>
                    </a:solidFill>
                  </a:tcPr>
                </a:tc>
              </a:tr>
              <a:tr h="470064">
                <a:tc>
                  <a:txBody>
                    <a:bodyPr/>
                    <a:lstStyle/>
                    <a:p>
                      <a:pPr algn="ctr" fontAlgn="ctr">
                        <a:buNone/>
                      </a:pPr>
                      <a:r>
                        <a:rPr lang="ja-JP" altLang="en-US" sz="1150" b="0" i="0" u="none" strike="noStrike">
                          <a:solidFill>
                            <a:srgbClr val="000000"/>
                          </a:solidFill>
                          <a:latin typeface="游ゴシック"/>
                          <a:ea typeface="游ゴシック"/>
                        </a:rPr>
                        <a:t>1</a:t>
                      </a:r>
                      <a:endParaRPr lang="ja-JP" altLang="en-US" sz="1150" b="0" i="0" u="none" strike="noStrike">
                        <a:solidFill>
                          <a:srgbClr val="000000"/>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150" b="0" i="0" u="none" strike="noStrike">
                          <a:solidFill>
                            <a:srgbClr val="000000"/>
                          </a:solidFill>
                          <a:latin typeface="游ゴシック"/>
                          <a:ea typeface="游ゴシック"/>
                        </a:rPr>
                        <a:t>西丸 修</a:t>
                      </a:r>
                      <a:endParaRPr lang="ja-JP" altLang="en-US" sz="1150" b="0"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代表取締役</a:t>
                      </a:r>
                      <a:endParaRPr lang="ja-JP" altLang="en-US" sz="1150" b="0"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本人</a:t>
                      </a:r>
                      <a:endParaRPr lang="ja-JP" altLang="en-US" sz="1150" b="0"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1,920</a:t>
                      </a:r>
                      <a:endParaRPr lang="ja-JP" altLang="en-US" sz="1150" b="0" i="0" u="none" strike="noStrike">
                        <a:solidFill>
                          <a:srgbClr val="000000"/>
                        </a:solidFill>
                        <a:latin typeface="Arial"/>
                        <a:ea typeface="游ゴシック Medium"/>
                      </a:endParaRPr>
                    </a:p>
                  </a:txBody>
                  <a:tcPr marL="22266" marR="12332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経営全般（要確認）</a:t>
                      </a:r>
                      <a:endParaRPr lang="ja-JP" altLang="en-US" sz="1150" b="0"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登記簿上の役員構成は未受領。他の役員の有無・譲渡後の関与意向は要確認</a:t>
                      </a:r>
                      <a:endParaRPr lang="ja-JP" altLang="en-US" sz="1150" b="0"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FFFFFF"/>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FFFFFF"/>
                    </a:solidFill>
                  </a:tcPr>
                </a:tc>
              </a:tr>
              <a:tr h="289460">
                <a:tc>
                  <a:txBody>
                    <a:bodyPr/>
                    <a:lstStyle/>
                    <a:p>
                      <a:pPr algn="ctr" fontAlgn="ctr">
                        <a:buNone/>
                      </a:pPr>
                      <a:endParaRPr lang="ja-JP" altLang="en-US" sz="1150" b="1" i="0" u="none" strike="noStrike">
                        <a:solidFill>
                          <a:srgbClr val="000000"/>
                        </a:solidFill>
                        <a:latin typeface="游ゴシック"/>
                        <a:ea typeface="游ゴシック"/>
                      </a:endParaRPr>
                    </a:p>
                  </a:txBody>
                  <a:tcPr marL="22266" marR="22266" marT="0" marB="0" anchor="ctr">
                    <a:lnL>
                      <a:noFill/>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gridSpan="3">
                  <a:txBody>
                    <a:bodyPr/>
                    <a:lstStyle/>
                    <a:p>
                      <a:pPr algn="ctr" fontAlgn="ctr">
                        <a:buNone/>
                      </a:pPr>
                      <a:r>
                        <a:rPr lang="ja-JP" altLang="en-US" sz="1150" b="1" i="0" u="none" strike="noStrike">
                          <a:solidFill>
                            <a:srgbClr val="000000"/>
                          </a:solidFill>
                          <a:latin typeface="游ゴシック"/>
                          <a:ea typeface="游ゴシック"/>
                        </a:rPr>
                        <a:t>合計</a:t>
                      </a:r>
                      <a:endParaRPr lang="ja-JP" altLang="en-US" sz="1150" b="1" i="0" u="none" strike="noStrike">
                        <a:solidFill>
                          <a:srgbClr val="000000"/>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1150" b="1" i="0" u="none" strike="noStrike">
                        <a:solidFill>
                          <a:srgbClr val="000000"/>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hMerge="1">
                  <a:txBody>
                    <a:bodyPr/>
                    <a:lstStyle/>
                    <a:p>
                      <a:pPr algn="ctr" fontAlgn="ctr">
                        <a:buNone/>
                      </a:pPr>
                      <a:endParaRPr lang="ja-JP" altLang="en-US" sz="1150" b="1" i="0" u="none" strike="noStrike">
                        <a:solidFill>
                          <a:srgbClr val="000000"/>
                        </a:solidFill>
                        <a:latin typeface="游ゴシック"/>
                        <a:ea typeface="游ゴシック"/>
                      </a:endParaRPr>
                    </a:p>
                  </a:txBody>
                  <a:tcPr marL="2226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1150" b="1" i="0" u="none" strike="noStrike">
                          <a:solidFill>
                            <a:srgbClr val="000000"/>
                          </a:solidFill>
                          <a:latin typeface="Arial"/>
                          <a:ea typeface="游ゴシック Medium"/>
                        </a:rPr>
                        <a:t>1,920</a:t>
                      </a:r>
                      <a:endParaRPr lang="ja-JP" altLang="en-US" sz="1150" b="1" i="0" u="none" strike="noStrike">
                        <a:solidFill>
                          <a:srgbClr val="000000"/>
                        </a:solidFill>
                        <a:latin typeface="Arial"/>
                        <a:ea typeface="游ゴシック Medium"/>
                      </a:endParaRPr>
                    </a:p>
                  </a:txBody>
                  <a:tcPr marL="22266" marR="12332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a:txBody>
                    <a:bodyPr/>
                    <a:lstStyle/>
                    <a:p>
                      <a:pPr algn="l" fontAlgn="ctr">
                        <a:buNone/>
                      </a:pPr>
                      <a:endParaRPr lang="ja-JP" altLang="en-US" sz="1150" b="1"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w="6185" cap="flat" cmpd="sng" algn="ctr">
                      <a:solidFill>
                        <a:srgbClr val="FFFFFF"/>
                      </a:solidFill>
                      <a:prstDash val="solid"/>
                      <a:round/>
                      <a:headEnd type="none" w="med" len="med"/>
                      <a:tailEnd type="none" w="med" len="med"/>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c>
                  <a:txBody>
                    <a:bodyPr/>
                    <a:lstStyle/>
                    <a:p>
                      <a:pPr algn="l" fontAlgn="ctr">
                        <a:buNone/>
                      </a:pPr>
                      <a:endParaRPr lang="ja-JP" altLang="en-US" sz="1150" b="1" i="0" u="none" strike="noStrike">
                        <a:solidFill>
                          <a:srgbClr val="000000"/>
                        </a:solidFill>
                        <a:latin typeface="游ゴシック"/>
                        <a:ea typeface="游ゴシック"/>
                      </a:endParaRPr>
                    </a:p>
                  </a:txBody>
                  <a:tcPr marL="123326" marR="22266" marT="0" marB="0" anchor="ctr">
                    <a:lnL w="6185" cap="flat" cmpd="sng" algn="ctr">
                      <a:solidFill>
                        <a:srgbClr val="FFFFFF"/>
                      </a:solidFill>
                      <a:prstDash val="solid"/>
                      <a:round/>
                      <a:headEnd type="none" w="med" len="med"/>
                      <a:tailEnd type="none" w="med" len="med"/>
                    </a:lnL>
                    <a:lnR>
                      <a:noFill/>
                    </a:lnR>
                    <a:lnT w="6185" cap="flat" cmpd="sng" algn="ctr">
                      <a:solidFill>
                        <a:srgbClr val="0B3041"/>
                      </a:solidFill>
                      <a:prstDash val="solid"/>
                      <a:round/>
                      <a:headEnd type="none" w="med" len="med"/>
                      <a:tailEnd type="none" w="med" len="med"/>
                    </a:lnT>
                    <a:lnB w="6185"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11113659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月給者6名・時給者約30名の体制（2026年2月分給与台帳ベース）。個人別データ（年齢・勤続・資格等）は未受領のため、受領後に更新します。</a:t>
            </a:r>
            <a:endParaRPr lang="en-US" altLang="ja-JP" dirty="0"/>
          </a:p>
        </p:txBody>
      </p:sp>
      <p:sp>
        <p:nvSpPr>
          <p:cNvPr id="16" name="TextBox 15"/>
          <p:cNvSpPr txBox="1"/>
          <p:nvPr/>
        </p:nvSpPr>
        <p:spPr>
          <a:xfrm>
            <a:off x="310896" y="4937760"/>
            <a:ext cx="9875520" cy="914400"/>
          </a:xfrm>
          <a:prstGeom prst="rect">
            <a:avLst/>
          </a:prstGeom>
          <a:noFill/>
        </p:spPr>
        <p:txBody>
          <a:bodyPr wrap="square" lIns="0" tIns="0" rIns="0" bIns="0" anchor="t">
            <a:spAutoFit/>
          </a:bodyPr>
          <a:lstStyle/>
          <a:p>
            <a:pPr>
              <a:spcAft>
                <a:spcPts val="300"/>
              </a:spcAft>
            </a:pPr>
            <a:r>
              <a:rPr kumimoji="1" lang="ja-JP" altLang="en-US" sz="900" dirty="0">
                <a:solidFill>
                  <a:srgbClr val="595959"/>
                </a:solidFill>
                <a:latin typeface="+mn-ea"/>
                <a:ea typeface="+mn-ea"/>
              </a:rPr>
              <a:t>※出所：給与台帳（2026年2月分）。時給者数は「時給」記載の件数からの推計であり、実人数は要確認。</a:t>
            </a:r>
            <a:endParaRPr kumimoji="1" lang="ja-JP" altLang="en-US" sz="900" dirty="0"/>
          </a:p>
          <a:p>
            <a:pPr>
              <a:spcAft>
                <a:spcPts val="300"/>
              </a:spcAft>
            </a:pPr>
            <a:r>
              <a:rPr kumimoji="1" lang="ja-JP" altLang="en-US" sz="900" dirty="0">
                <a:solidFill>
                  <a:srgbClr val="595959"/>
                </a:solidFill>
                <a:latin typeface="+mn-ea"/>
                <a:ea typeface="+mn-ea"/>
              </a:rPr>
              <a:t>※労働条件・就業規則・退職金規程・社会保険の加入状況は未受領のため、デューデリジェンスで確認予定。</a:t>
            </a:r>
            <a:endParaRPr kumimoji="1" lang="ja-JP" altLang="en-US" sz="900" dirty="0"/>
          </a:p>
        </p:txBody>
      </p:sp>
      <p:graphicFrame>
        <p:nvGraphicFramePr>
          <p:cNvPr id="17" name="Table 16"/>
          <p:cNvGraphicFramePr>
            <a:graphicFrameLocks noGrp="1"/>
          </p:cNvGraphicFramePr>
          <p:nvPr/>
        </p:nvGraphicFramePr>
        <p:xfrm>
          <a:off x="310896" y="1554480"/>
          <a:ext cx="8659973" cy="1360170"/>
        </p:xfrm>
        <a:graphic>
          <a:graphicData uri="http://schemas.openxmlformats.org/drawingml/2006/table">
            <a:tbl>
              <a:tblPr/>
              <a:tblGrid>
                <a:gridCol w="447675"/>
                <a:gridCol w="1247775"/>
                <a:gridCol w="1781175"/>
                <a:gridCol w="947737"/>
                <a:gridCol w="1120936"/>
                <a:gridCol w="3114675"/>
              </a:tblGrid>
              <a:tr h="502920">
                <a:tc>
                  <a:txBody>
                    <a:bodyPr/>
                    <a:lstStyle/>
                    <a:p>
                      <a:pPr algn="ctr" fontAlgn="ctr">
                        <a:buNone/>
                      </a:pPr>
                      <a:r>
                        <a:rPr lang="ja-JP" altLang="en-US" sz="1200" b="1" i="0" u="none" strike="noStrike">
                          <a:solidFill>
                            <a:srgbClr val="FFFFFF"/>
                          </a:solidFill>
                          <a:latin typeface="游ゴシック"/>
                          <a:ea typeface="游ゴシック"/>
                        </a:rPr>
                        <a:t>№</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区分</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雇用形態</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部署</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50" b="1" i="0" u="none" strike="noStrike">
                          <a:solidFill>
                            <a:srgbClr val="FFFFFF"/>
                          </a:solidFill>
                          <a:latin typeface="游ゴシック"/>
                          <a:ea typeface="游ゴシック"/>
                        </a:rPr>
                        <a:t>2026年2月分給与</a:t>
                      </a:r>
                      <a:endParaRPr lang="ja-JP" altLang="en-US" sz="850" b="1" i="0" u="none" strike="noStrike">
                        <a:solidFill>
                          <a:srgbClr val="FFFFFF"/>
                        </a:solidFill>
                        <a:latin typeface="游ゴシック"/>
                        <a:ea typeface="游ゴシック"/>
                      </a:endParaRPr>
                    </a:p>
                    <a:p>
                      <a:pPr algn="ctr" fontAlgn="ctr">
                        <a:buNone/>
                      </a:pPr>
                      <a:r>
                        <a:rPr lang="ja-JP" altLang="en-US" sz="850" b="1" i="0" u="none" strike="noStrike">
                          <a:solidFill>
                            <a:srgbClr val="FFFFFF"/>
                          </a:solidFill>
                          <a:latin typeface="游ゴシック"/>
                          <a:ea typeface="游ゴシック"/>
                        </a:rPr>
                        <a:t>（振込支給＋交通費）</a:t>
                      </a:r>
                      <a:endParaRPr lang="ja-JP" altLang="en-US" sz="85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備考</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285750">
                <a:tc>
                  <a:txBody>
                    <a:bodyPr/>
                    <a:lstStyle/>
                    <a:p>
                      <a:pPr algn="ctr" fontAlgn="ctr">
                        <a:buNone/>
                      </a:pPr>
                      <a:r>
                        <a:rPr lang="ja-JP" altLang="en-US" sz="1200" b="0" i="0" u="none" strike="noStrike">
                          <a:solidFill>
                            <a:srgbClr val="000000"/>
                          </a:solidFill>
                          <a:latin typeface="游ゴシック"/>
                          <a:ea typeface="游ゴシック"/>
                        </a:rPr>
                        <a:t>1</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200" b="0" i="0" u="none" strike="noStrike">
                          <a:solidFill>
                            <a:srgbClr val="000000"/>
                          </a:solidFill>
                          <a:latin typeface="游ゴシック"/>
                          <a:ea typeface="游ゴシック"/>
                        </a:rPr>
                        <a:t>月給者（6名）</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r>
                        <a:rPr lang="ja-JP" altLang="en-US" sz="1200" b="0" i="0" u="none" strike="noStrike">
                          <a:solidFill>
                            <a:srgbClr val="000000"/>
                          </a:solidFill>
                          <a:latin typeface="游ゴシック"/>
                          <a:ea typeface="游ゴシック"/>
                        </a:rPr>
                        <a:t>月給制</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r>
                        <a:rPr lang="ja-JP" altLang="en-US" sz="1200" b="0" i="0" u="none" strike="noStrike">
                          <a:solidFill>
                            <a:srgbClr val="000000"/>
                          </a:solidFill>
                          <a:latin typeface="ＭＳ Ｐゴシック"/>
                          <a:ea typeface="ＭＳ Ｐゴシック"/>
                        </a:rPr>
                        <a:t>全社</a:t>
                      </a:r>
                      <a:endParaRPr lang="ja-JP" altLang="en-US" sz="1200" b="0" i="0" u="none" strike="noStrike">
                        <a:solidFill>
                          <a:srgbClr val="000000"/>
                        </a:solidFill>
                        <a:latin typeface="ＭＳ Ｐゴシック"/>
                        <a:ea typeface="ＭＳ Ｐ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要確認</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900" b="0" i="0" u="none" strike="noStrike">
                          <a:solidFill>
                            <a:srgbClr val="000000"/>
                          </a:solidFill>
                          <a:latin typeface="游ゴシック Medium"/>
                          <a:ea typeface="游ゴシック Medium"/>
                        </a:rPr>
                        <a:t>個人別の年齢・勤続・役職は未受領（要確認）</a:t>
                      </a:r>
                      <a:endParaRPr lang="ja-JP" altLang="en-US" sz="900" b="0" i="0" u="none" strike="noStrike">
                        <a:solidFill>
                          <a:srgbClr val="000000"/>
                        </a:solidFill>
                        <a:latin typeface="游ゴシック Medium"/>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r h="285750">
                <a:tc>
                  <a:txBody>
                    <a:bodyPr/>
                    <a:lstStyle/>
                    <a:p>
                      <a:pPr algn="ctr" fontAlgn="ctr">
                        <a:buNone/>
                      </a:pPr>
                      <a:r>
                        <a:rPr lang="ja-JP" altLang="en-US" sz="1200" b="0" i="0" u="none" strike="noStrike">
                          <a:solidFill>
                            <a:srgbClr val="000000"/>
                          </a:solidFill>
                          <a:latin typeface="游ゴシック"/>
                          <a:ea typeface="游ゴシック"/>
                        </a:rPr>
                        <a:t>2</a:t>
                      </a:r>
                      <a:endParaRPr lang="ja-JP" altLang="en-US" sz="1200" b="0" i="0" u="none" strike="noStrike">
                        <a:solidFill>
                          <a:srgbClr val="000000"/>
                        </a:solidFill>
                        <a:latin typeface="游ゴシック"/>
                        <a:ea typeface="游ゴシック"/>
                      </a:endParaRPr>
                    </a:p>
                  </a:txBody>
                  <a:tcPr marL="22860"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50" b="0" i="0" u="none" strike="noStrike">
                          <a:solidFill>
                            <a:srgbClr val="000000"/>
                          </a:solidFill>
                          <a:latin typeface="游ゴシック"/>
                          <a:ea typeface="游ゴシック"/>
                        </a:rPr>
                        <a:t>時給者（約30名）</a:t>
                      </a:r>
                      <a:endParaRPr lang="ja-JP" altLang="en-US" sz="105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r>
                        <a:rPr lang="ja-JP" altLang="en-US" sz="900" b="0" i="0" u="none" strike="noStrike">
                          <a:solidFill>
                            <a:srgbClr val="000000"/>
                          </a:solidFill>
                          <a:latin typeface="游ゴシック"/>
                          <a:ea typeface="游ゴシック"/>
                        </a:rPr>
                        <a:t>時給制（パート・アルバイト）</a:t>
                      </a:r>
                      <a:endParaRPr lang="ja-JP" altLang="en-US" sz="9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r>
                        <a:rPr lang="ja-JP" altLang="en-US" sz="1200" b="0" i="0" u="none" strike="noStrike">
                          <a:solidFill>
                            <a:srgbClr val="000000"/>
                          </a:solidFill>
                          <a:latin typeface="Arial"/>
                          <a:ea typeface="游ゴシック Medium"/>
                        </a:rPr>
                        <a:t>店舗</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要確認</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時給1,225〜1,350円の記載あり。店舗別の配置は要確認</a:t>
                      </a:r>
                      <a:endParaRPr lang="ja-JP" altLang="en-US" sz="850" b="0" i="0" u="none" strike="noStrike">
                        <a:solidFill>
                          <a:srgbClr val="000000"/>
                        </a:solidFill>
                        <a:latin typeface="游ゴシック Medium"/>
                        <a:ea typeface="游ゴシック Medium"/>
                      </a:endParaRPr>
                    </a:p>
                  </a:txBody>
                  <a:tcPr marL="22860" marR="2286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r h="285750">
                <a:tc>
                  <a:txBody>
                    <a:bodyPr/>
                    <a:lstStyle/>
                    <a:p>
                      <a:pPr algn="ctr"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2">
                  <a:txBody>
                    <a:bodyPr/>
                    <a:lstStyle/>
                    <a:p>
                      <a:pPr algn="l" fontAlgn="ctr">
                        <a:buNone/>
                      </a:pPr>
                      <a:r>
                        <a:rPr lang="ja-JP" altLang="en-US" sz="1200" b="0" i="0" u="none" strike="noStrike">
                          <a:solidFill>
                            <a:srgbClr val="000000"/>
                          </a:solidFill>
                          <a:latin typeface="游ゴシック"/>
                          <a:ea typeface="游ゴシック"/>
                        </a:rPr>
                        <a:t>合計（約36名）</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7,854,008</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850" b="0" i="0" u="none" strike="noStrike">
                          <a:solidFill>
                            <a:srgbClr val="000000"/>
                          </a:solidFill>
                          <a:latin typeface="游ゴシック Medium"/>
                          <a:ea typeface="游ゴシック Medium"/>
                        </a:rPr>
                        <a:t>役員を除く。賞与の記載なし（要確認）</a:t>
                      </a:r>
                      <a:endParaRPr lang="ja-JP" altLang="en-US" sz="850" b="0" i="0" u="none" strike="noStrike">
                        <a:solidFill>
                          <a:srgbClr val="000000"/>
                        </a:solidFill>
                        <a:latin typeface="游ゴシック Medium"/>
                        <a:ea typeface="游ゴシック Medium"/>
                      </a:endParaRPr>
                    </a:p>
                  </a:txBody>
                  <a:tcPr marL="22860" marR="2286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bl>
          </a:graphicData>
        </a:graphic>
      </p:graphicFrame>
      <p:graphicFrame>
        <p:nvGraphicFramePr>
          <p:cNvPr id="18" name="Table 17"/>
          <p:cNvGraphicFramePr>
            <a:graphicFrameLocks noGrp="1"/>
          </p:cNvGraphicFramePr>
          <p:nvPr/>
        </p:nvGraphicFramePr>
        <p:xfrm>
          <a:off x="310896" y="3326130"/>
          <a:ext cx="5097623" cy="1428750"/>
        </p:xfrm>
        <a:graphic>
          <a:graphicData uri="http://schemas.openxmlformats.org/drawingml/2006/table">
            <a:tbl>
              <a:tblPr/>
              <a:tblGrid>
                <a:gridCol w="1247775"/>
                <a:gridCol w="947737"/>
                <a:gridCol w="1781175"/>
                <a:gridCol w="1120936"/>
              </a:tblGrid>
              <a:tr h="285750">
                <a:tc gridSpan="3">
                  <a:txBody>
                    <a:bodyPr/>
                    <a:lstStyle/>
                    <a:p>
                      <a:pPr algn="ctr" fontAlgn="ctr">
                        <a:buNone/>
                      </a:pPr>
                      <a:r>
                        <a:rPr lang="ja-JP" altLang="en-US" sz="1200" b="1" i="0" u="none" strike="noStrike">
                          <a:solidFill>
                            <a:srgbClr val="FFFFFF"/>
                          </a:solidFill>
                          <a:latin typeface="游ゴシック"/>
                          <a:ea typeface="游ゴシック"/>
                        </a:rPr>
                        <a:t>2026年2月分給与（給与台帳）</a:t>
                      </a:r>
                      <a:endParaRPr lang="ja-JP" altLang="en-US" sz="1200" b="1" i="0" u="none" strike="noStrike">
                        <a:solidFill>
                          <a:srgbClr val="FFFFFF"/>
                        </a:solidFill>
                        <a:latin typeface="游ゴシック"/>
                        <a:ea typeface="游ゴシック"/>
                      </a:endParaRPr>
                    </a:p>
                  </a:txBody>
                  <a:tcPr marL="22860" marR="22860" marT="0" marB="0" anchor="ctr">
                    <a:lnL>
                      <a:noFill/>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金額</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r>
              <a:tr h="285750">
                <a:tc gridSpan="3">
                  <a:txBody>
                    <a:bodyPr/>
                    <a:lstStyle/>
                    <a:p>
                      <a:pPr algn="l" fontAlgn="ctr">
                        <a:buNone/>
                      </a:pPr>
                      <a:r>
                        <a:rPr lang="ja-JP" altLang="en-US" sz="1200" b="0" i="0" u="none" strike="noStrike">
                          <a:solidFill>
                            <a:srgbClr val="000000"/>
                          </a:solidFill>
                          <a:latin typeface="游ゴシック"/>
                          <a:ea typeface="游ゴシック"/>
                        </a:rPr>
                        <a:t>振込支給合計（交通費除く）</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7,521</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285750">
                <a:tc>
                  <a:txBody>
                    <a:bodyPr/>
                    <a:lstStyle/>
                    <a:p>
                      <a:pPr algn="l" fontAlgn="ctr">
                        <a:buNone/>
                      </a:pPr>
                      <a:r>
                        <a:rPr lang="ja-JP" altLang="en-US" sz="1200" b="0" i="0" u="none" strike="noStrike">
                          <a:solidFill>
                            <a:srgbClr val="000000"/>
                          </a:solidFill>
                          <a:latin typeface="游ゴシック"/>
                          <a:ea typeface="游ゴシック"/>
                        </a:rPr>
                        <a:t>交通費合計</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333</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285750">
                <a:tc gridSpan="3">
                  <a:txBody>
                    <a:bodyPr/>
                    <a:lstStyle/>
                    <a:p>
                      <a:pPr algn="l" fontAlgn="ctr">
                        <a:buNone/>
                      </a:pPr>
                      <a:r>
                        <a:rPr lang="ja-JP" altLang="en-US" sz="1200" b="0" i="0" u="none" strike="noStrike">
                          <a:solidFill>
                            <a:srgbClr val="000000"/>
                          </a:solidFill>
                          <a:latin typeface="游ゴシック"/>
                          <a:ea typeface="游ゴシック"/>
                        </a:rPr>
                        <a:t>総支給額（振込支給＋交通費）</a:t>
                      </a:r>
                      <a:endParaRPr lang="ja-JP" altLang="en-US" sz="1200" b="0" i="0" u="none" strike="noStrike">
                        <a:solidFill>
                          <a:srgbClr val="000000"/>
                        </a:solidFill>
                        <a:latin typeface="游ゴシック"/>
                        <a:ea typeface="游ゴシック"/>
                      </a:endParaRPr>
                    </a:p>
                  </a:txBody>
                  <a:tcPr marL="22860" marR="2286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7,854</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r h="285750">
                <a:tc gridSpan="3">
                  <a:txBody>
                    <a:bodyPr/>
                    <a:lstStyle/>
                    <a:p>
                      <a:pPr algn="l" fontAlgn="ctr">
                        <a:buNone/>
                      </a:pPr>
                      <a:r>
                        <a:rPr lang="ja-JP" altLang="en-US" sz="1200" b="0" i="0" u="none" strike="noStrike">
                          <a:solidFill>
                            <a:srgbClr val="000000"/>
                          </a:solidFill>
                          <a:latin typeface="游ゴシック"/>
                          <a:ea typeface="游ゴシック"/>
                        </a:rPr>
                        <a:t>（参考）法定福利費（会社負担）</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hMerge="1">
                  <a:txBody>
                    <a:bodyPr/>
                    <a:lstStyle/>
                    <a:p>
                      <a:pPr algn="l" fontAlgn="ctr">
                        <a:buNone/>
                      </a:pP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1200" b="0" i="0" u="none" strike="noStrike">
                          <a:solidFill>
                            <a:srgbClr val="000000"/>
                          </a:solidFill>
                          <a:latin typeface="Arial"/>
                          <a:ea typeface="游ゴシック Medium"/>
                        </a:rPr>
                        <a:t>1,362</a:t>
                      </a:r>
                      <a:endParaRPr lang="ja-JP" altLang="en-US" sz="1200" b="0" i="0" u="none" strike="noStrike">
                        <a:solidFill>
                          <a:srgbClr val="000000"/>
                        </a:solidFill>
                        <a:latin typeface="Arial"/>
                        <a:ea typeface="游ゴシック Medium"/>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453025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t>拠点概要（本社）</a:t>
            </a:r>
          </a:p>
        </p:txBody>
      </p:sp>
      <p:sp>
        <p:nvSpPr>
          <p:cNvPr id="2" name="正方形/長方形 1">
            <a:extLst>
              <a:ext uri="{FF2B5EF4-FFF2-40B4-BE49-F238E27FC236}">
                <a16:creationId xmlns:a16="http://schemas.microsoft.com/office/drawing/2014/main" id="{C00DE4F3-8549-4974-DCEF-6F7481D67517}"/>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本社</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mj-ea"/>
              </a:rPr>
              <a:t>本社は鎌倉山の自社所有物件（鎌倉山店「ル・ミリュウ」と同一所在地）。東京・紀尾井町と鎌倉・大船に賃借店舗を構えています。</a:t>
            </a:r>
            <a:endParaRPr lang="en-US" altLang="ja-JP" dirty="0"/>
          </a:p>
        </p:txBody>
      </p:sp>
      <p:sp>
        <p:nvSpPr>
          <p:cNvPr id="15" name="Rectangle 14"/>
          <p:cNvSpPr/>
          <p:nvPr/>
        </p:nvSpPr>
        <p:spPr>
          <a:xfrm>
            <a:off x="310896" y="3410712"/>
            <a:ext cx="4873752" cy="3200400"/>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200" dirty="0">
                <a:solidFill>
                  <a:srgbClr val="595959"/>
                </a:solidFill>
                <a:latin typeface="+mn-ea"/>
                <a:ea typeface="+mn-ea"/>
              </a:rPr>
              <a:t>本社外観</a:t>
            </a:r>
            <a:endParaRPr kumimoji="1" lang="ja-JP" altLang="en-US" sz="1200" dirty="0"/>
          </a:p>
          <a:p>
            <a:pPr algn="ctr"/>
            <a:r>
              <a:rPr kumimoji="1" lang="ja-JP" altLang="en-US" sz="1200" dirty="0">
                <a:solidFill>
                  <a:srgbClr val="595959"/>
                </a:solidFill>
                <a:latin typeface="+mn-ea"/>
                <a:ea typeface="+mn-ea"/>
              </a:rPr>
              <a:t>（写真ご提供予定）</a:t>
            </a:r>
            <a:endParaRPr kumimoji="1" lang="ja-JP" altLang="en-US" sz="1200" dirty="0"/>
          </a:p>
        </p:txBody>
      </p:sp>
      <p:sp>
        <p:nvSpPr>
          <p:cNvPr id="16" name="Rectangle 15"/>
          <p:cNvSpPr/>
          <p:nvPr/>
        </p:nvSpPr>
        <p:spPr>
          <a:xfrm>
            <a:off x="5504688" y="3410712"/>
            <a:ext cx="5001768" cy="3200400"/>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kumimoji="1" lang="ja-JP" altLang="en-US" sz="1200" dirty="0">
                <a:solidFill>
                  <a:srgbClr val="595959"/>
                </a:solidFill>
                <a:latin typeface="+mn-ea"/>
                <a:ea typeface="+mn-ea"/>
              </a:rPr>
              <a:t>周辺地図</a:t>
            </a:r>
            <a:endParaRPr kumimoji="1" lang="ja-JP" altLang="en-US" sz="1200" dirty="0"/>
          </a:p>
          <a:p>
            <a:pPr algn="ctr"/>
            <a:r>
              <a:rPr kumimoji="1" lang="ja-JP" altLang="en-US" sz="1200" dirty="0">
                <a:solidFill>
                  <a:srgbClr val="595959"/>
                </a:solidFill>
                <a:latin typeface="+mn-ea"/>
                <a:ea typeface="+mn-ea"/>
              </a:rPr>
              <a:t>（ご提供予定）</a:t>
            </a:r>
            <a:endParaRPr kumimoji="1" lang="ja-JP" altLang="en-US" sz="1200" dirty="0"/>
          </a:p>
        </p:txBody>
      </p:sp>
      <p:graphicFrame>
        <p:nvGraphicFramePr>
          <p:cNvPr id="17" name="Table 16"/>
          <p:cNvGraphicFramePr>
            <a:graphicFrameLocks noGrp="1"/>
          </p:cNvGraphicFramePr>
          <p:nvPr/>
        </p:nvGraphicFramePr>
        <p:xfrm>
          <a:off x="310896" y="2011680"/>
          <a:ext cx="9222404" cy="1325879"/>
        </p:xfrm>
        <a:graphic>
          <a:graphicData uri="http://schemas.openxmlformats.org/drawingml/2006/table">
            <a:tbl>
              <a:tblPr/>
              <a:tblGrid>
                <a:gridCol w="2353253"/>
                <a:gridCol w="1455904"/>
                <a:gridCol w="891805"/>
                <a:gridCol w="891805"/>
                <a:gridCol w="891805"/>
                <a:gridCol w="2737832"/>
              </a:tblGrid>
              <a:tr h="483470">
                <a:tc>
                  <a:txBody>
                    <a:bodyPr/>
                    <a:lstStyle/>
                    <a:p>
                      <a:pPr algn="ctr" fontAlgn="ctr">
                        <a:buNone/>
                      </a:pPr>
                      <a:r>
                        <a:rPr lang="ja-JP" altLang="en-US" sz="1150" b="1" i="0" u="none" strike="noStrike">
                          <a:solidFill>
                            <a:srgbClr val="FFFFFF"/>
                          </a:solidFill>
                          <a:latin typeface="游ゴシック"/>
                          <a:ea typeface="游ゴシック"/>
                        </a:rPr>
                        <a:t>所在地</a:t>
                      </a:r>
                      <a:endParaRPr lang="ja-JP" altLang="en-US" sz="1150" b="1" i="0" u="none" strike="noStrike">
                        <a:solidFill>
                          <a:srgbClr val="FFFFFF"/>
                        </a:solidFill>
                        <a:latin typeface="游ゴシック"/>
                        <a:ea typeface="游ゴシック"/>
                      </a:endParaRPr>
                    </a:p>
                  </a:txBody>
                  <a:tcPr marL="21975" marR="21975" marT="0" marB="0" anchor="ctr">
                    <a:lnL w="6104" cap="flat" cmpd="sng" algn="ctr">
                      <a:solidFill>
                        <a:srgbClr val="FFFFFF"/>
                      </a:solidFill>
                      <a:prstDash val="solid"/>
                      <a:round/>
                      <a:headEnd type="none" w="med" len="med"/>
                      <a:tailEnd type="none" w="med" len="med"/>
                    </a:lnL>
                    <a:lnR w="12208" cap="flat" cmpd="sng" algn="ctr">
                      <a:solidFill>
                        <a:srgbClr val="FFFFFF"/>
                      </a:solidFill>
                      <a:prstDash val="solid"/>
                      <a:round/>
                      <a:headEnd type="none" w="med" len="med"/>
                      <a:tailEnd type="none" w="med" len="med"/>
                    </a:lnR>
                    <a:lnT>
                      <a:noFill/>
                    </a:lnT>
                    <a:lnB w="610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契約形態</a:t>
                      </a:r>
                      <a:endParaRPr lang="ja-JP" altLang="en-US" sz="1150" b="1" i="0" u="none" strike="noStrike">
                        <a:solidFill>
                          <a:srgbClr val="FFFFFF"/>
                        </a:solidFill>
                        <a:latin typeface="游ゴシック"/>
                        <a:ea typeface="游ゴシック"/>
                      </a:endParaRPr>
                    </a:p>
                  </a:txBody>
                  <a:tcPr marL="21975" marR="21975" marT="0" marB="0" anchor="ctr">
                    <a:lnL w="12208" cap="flat" cmpd="sng" algn="ctr">
                      <a:solidFill>
                        <a:srgbClr val="FFFFFF"/>
                      </a:solidFill>
                      <a:prstDash val="solid"/>
                      <a:round/>
                      <a:headEnd type="none" w="med" len="med"/>
                      <a:tailEnd type="none" w="med" len="med"/>
                    </a:lnL>
                    <a:lnR w="12208" cap="flat" cmpd="sng" algn="ctr">
                      <a:solidFill>
                        <a:srgbClr val="FFFFFF"/>
                      </a:solidFill>
                      <a:prstDash val="solid"/>
                      <a:round/>
                      <a:headEnd type="none" w="med" len="med"/>
                      <a:tailEnd type="none" w="med" len="med"/>
                    </a:lnR>
                    <a:lnT>
                      <a:noFill/>
                    </a:lnT>
                    <a:lnB w="610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延床面積</a:t>
                      </a:r>
                      <a:endParaRPr lang="ja-JP" altLang="en-US" sz="1150" b="1" i="0" u="none" strike="noStrike">
                        <a:solidFill>
                          <a:srgbClr val="FFFFFF"/>
                        </a:solidFill>
                        <a:latin typeface="游ゴシック"/>
                        <a:ea typeface="游ゴシック"/>
                      </a:endParaRPr>
                    </a:p>
                    <a:p>
                      <a:pPr algn="ctr" fontAlgn="ctr">
                        <a:buNone/>
                      </a:pPr>
                      <a:r>
                        <a:rPr lang="ja-JP" altLang="en-US" sz="1150" b="1" i="0" u="none" strike="noStrike">
                          <a:solidFill>
                            <a:srgbClr val="FFFFFF"/>
                          </a:solidFill>
                          <a:latin typeface="游ゴシック"/>
                          <a:ea typeface="游ゴシック"/>
                        </a:rPr>
                        <a:t>(㎡)</a:t>
                      </a:r>
                      <a:endParaRPr lang="ja-JP" altLang="en-US" sz="1150" b="1" i="0" u="none" strike="noStrike">
                        <a:solidFill>
                          <a:srgbClr val="FFFFFF"/>
                        </a:solidFill>
                        <a:latin typeface="游ゴシック"/>
                        <a:ea typeface="游ゴシック"/>
                      </a:endParaRPr>
                    </a:p>
                  </a:txBody>
                  <a:tcPr marL="21975" marR="21975" marT="0" marB="0" anchor="ctr">
                    <a:lnL w="12208" cap="flat" cmpd="sng" algn="ctr">
                      <a:solidFill>
                        <a:srgbClr val="FFFFFF"/>
                      </a:solidFill>
                      <a:prstDash val="solid"/>
                      <a:round/>
                      <a:headEnd type="none" w="med" len="med"/>
                      <a:tailEnd type="none" w="med" len="med"/>
                    </a:lnL>
                    <a:lnR w="12208" cap="flat" cmpd="sng" algn="ctr">
                      <a:solidFill>
                        <a:srgbClr val="FFFFFF"/>
                      </a:solidFill>
                      <a:prstDash val="solid"/>
                      <a:round/>
                      <a:headEnd type="none" w="med" len="med"/>
                      <a:tailEnd type="none" w="med" len="med"/>
                    </a:lnR>
                    <a:lnT>
                      <a:noFill/>
                    </a:lnT>
                    <a:lnB w="610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月間賃料</a:t>
                      </a:r>
                      <a:endParaRPr lang="ja-JP" altLang="en-US" sz="1150" b="1" i="0" u="none" strike="noStrike">
                        <a:solidFill>
                          <a:srgbClr val="FFFFFF"/>
                        </a:solidFill>
                        <a:latin typeface="游ゴシック"/>
                        <a:ea typeface="游ゴシック"/>
                      </a:endParaRPr>
                    </a:p>
                    <a:p>
                      <a:pPr algn="ctr" fontAlgn="ctr">
                        <a:buNone/>
                      </a:pPr>
                      <a:r>
                        <a:rPr lang="ja-JP" altLang="en-US" sz="1150" b="1" i="0" u="none" strike="noStrike">
                          <a:solidFill>
                            <a:srgbClr val="FFFFFF"/>
                          </a:solidFill>
                          <a:latin typeface="游ゴシック"/>
                          <a:ea typeface="游ゴシック"/>
                        </a:rPr>
                        <a:t>(千円)</a:t>
                      </a:r>
                      <a:endParaRPr lang="ja-JP" altLang="en-US" sz="1150" b="1" i="0" u="none" strike="noStrike">
                        <a:solidFill>
                          <a:srgbClr val="FFFFFF"/>
                        </a:solidFill>
                        <a:latin typeface="游ゴシック"/>
                        <a:ea typeface="游ゴシック"/>
                      </a:endParaRPr>
                    </a:p>
                  </a:txBody>
                  <a:tcPr marL="21975" marR="21975" marT="0" marB="0" anchor="ctr">
                    <a:lnL w="12208" cap="flat" cmpd="sng" algn="ctr">
                      <a:solidFill>
                        <a:srgbClr val="FFFFFF"/>
                      </a:solidFill>
                      <a:prstDash val="solid"/>
                      <a:round/>
                      <a:headEnd type="none" w="med" len="med"/>
                      <a:tailEnd type="none" w="med" len="med"/>
                    </a:lnL>
                    <a:lnR w="12208" cap="flat" cmpd="sng" algn="ctr">
                      <a:solidFill>
                        <a:srgbClr val="FFFFFF"/>
                      </a:solidFill>
                      <a:prstDash val="solid"/>
                      <a:round/>
                      <a:headEnd type="none" w="med" len="med"/>
                      <a:tailEnd type="none" w="med" len="med"/>
                    </a:lnR>
                    <a:lnT>
                      <a:noFill/>
                    </a:lnT>
                    <a:lnB w="610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敷金</a:t>
                      </a:r>
                      <a:endParaRPr lang="ja-JP" altLang="en-US" sz="1150" b="1" i="0" u="none" strike="noStrike">
                        <a:solidFill>
                          <a:srgbClr val="FFFFFF"/>
                        </a:solidFill>
                        <a:latin typeface="游ゴシック"/>
                        <a:ea typeface="游ゴシック"/>
                      </a:endParaRPr>
                    </a:p>
                    <a:p>
                      <a:pPr algn="ctr" fontAlgn="ctr">
                        <a:buNone/>
                      </a:pPr>
                      <a:r>
                        <a:rPr lang="ja-JP" altLang="en-US" sz="1150" b="1" i="0" u="none" strike="noStrike">
                          <a:solidFill>
                            <a:srgbClr val="FFFFFF"/>
                          </a:solidFill>
                          <a:latin typeface="游ゴシック"/>
                          <a:ea typeface="游ゴシック"/>
                        </a:rPr>
                        <a:t>(千円)</a:t>
                      </a:r>
                      <a:endParaRPr lang="ja-JP" altLang="en-US" sz="1150" b="1" i="0" u="none" strike="noStrike">
                        <a:solidFill>
                          <a:srgbClr val="FFFFFF"/>
                        </a:solidFill>
                        <a:latin typeface="游ゴシック"/>
                        <a:ea typeface="游ゴシック"/>
                      </a:endParaRPr>
                    </a:p>
                  </a:txBody>
                  <a:tcPr marL="21975" marR="21975" marT="0" marB="0" anchor="ctr">
                    <a:lnL w="12208" cap="flat" cmpd="sng" algn="ctr">
                      <a:solidFill>
                        <a:srgbClr val="FFFFFF"/>
                      </a:solidFill>
                      <a:prstDash val="solid"/>
                      <a:round/>
                      <a:headEnd type="none" w="med" len="med"/>
                      <a:tailEnd type="none" w="med" len="med"/>
                    </a:lnL>
                    <a:lnR w="12208" cap="flat" cmpd="sng" algn="ctr">
                      <a:solidFill>
                        <a:srgbClr val="FFFFFF"/>
                      </a:solidFill>
                      <a:prstDash val="solid"/>
                      <a:round/>
                      <a:headEnd type="none" w="med" len="med"/>
                      <a:tailEnd type="none" w="med" len="med"/>
                    </a:lnR>
                    <a:lnT>
                      <a:noFill/>
                    </a:lnT>
                    <a:lnB w="610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50" b="1" i="0" u="none" strike="noStrike">
                          <a:solidFill>
                            <a:srgbClr val="FFFFFF"/>
                          </a:solidFill>
                          <a:latin typeface="游ゴシック"/>
                          <a:ea typeface="游ゴシック"/>
                        </a:rPr>
                        <a:t>アクセス</a:t>
                      </a:r>
                      <a:endParaRPr lang="ja-JP" altLang="en-US" sz="1150" b="1" i="0" u="none" strike="noStrike">
                        <a:solidFill>
                          <a:srgbClr val="FFFFFF"/>
                        </a:solidFill>
                        <a:latin typeface="游ゴシック"/>
                        <a:ea typeface="游ゴシック"/>
                      </a:endParaRPr>
                    </a:p>
                  </a:txBody>
                  <a:tcPr marL="21975" marR="21975" marT="0" marB="0" anchor="ctr">
                    <a:lnL w="12208" cap="flat" cmpd="sng" algn="ctr">
                      <a:solidFill>
                        <a:srgbClr val="FFFFFF"/>
                      </a:solidFill>
                      <a:prstDash val="solid"/>
                      <a:round/>
                      <a:headEnd type="none" w="med" len="med"/>
                      <a:tailEnd type="none" w="med" len="med"/>
                    </a:lnL>
                    <a:lnR>
                      <a:noFill/>
                    </a:lnR>
                    <a:lnT>
                      <a:noFill/>
                    </a:lnT>
                    <a:lnB w="6104" cap="flat" cmpd="sng" algn="ctr">
                      <a:solidFill>
                        <a:srgbClr val="A6A6A6"/>
                      </a:solidFill>
                      <a:prstDash val="solid"/>
                      <a:round/>
                      <a:headEnd type="none" w="med" len="med"/>
                      <a:tailEnd type="none" w="med" len="med"/>
                    </a:lnB>
                    <a:solidFill>
                      <a:srgbClr val="0B3041"/>
                    </a:solidFill>
                  </a:tcPr>
                </a:tc>
              </a:tr>
              <a:tr h="842409">
                <a:tc>
                  <a:txBody>
                    <a:bodyPr/>
                    <a:lstStyle/>
                    <a:p>
                      <a:pPr algn="l" fontAlgn="ctr">
                        <a:buNone/>
                      </a:pPr>
                      <a:r>
                        <a:rPr lang="ja-JP" altLang="en-US" sz="1150" b="0" i="0" u="none" strike="noStrike">
                          <a:solidFill>
                            <a:srgbClr val="000000"/>
                          </a:solidFill>
                          <a:latin typeface="游ゴシック"/>
                          <a:ea typeface="游ゴシック"/>
                        </a:rPr>
                        <a:t>神奈川県鎌倉市鎌倉山三丁目2番31号</a:t>
                      </a:r>
                      <a:endParaRPr lang="ja-JP" altLang="en-US" sz="1150" b="0" i="0" u="none" strike="noStrike">
                        <a:solidFill>
                          <a:srgbClr val="000000"/>
                        </a:solidFill>
                        <a:latin typeface="游ゴシック"/>
                        <a:ea typeface="游ゴシック"/>
                      </a:endParaRPr>
                    </a:p>
                    <a:p>
                      <a:pPr algn="l" fontAlgn="ctr">
                        <a:buNone/>
                      </a:pPr>
                      <a:r>
                        <a:rPr lang="ja-JP" altLang="en-US" sz="1150" b="0" i="0" u="none" strike="noStrike">
                          <a:solidFill>
                            <a:srgbClr val="000000"/>
                          </a:solidFill>
                          <a:latin typeface="游ゴシック"/>
                          <a:ea typeface="游ゴシック"/>
                        </a:rPr>
                        <a:t>（本社・鎌倉山店「ル・ミリュウ」）</a:t>
                      </a:r>
                      <a:endParaRPr lang="ja-JP" altLang="en-US" sz="1150" b="0" i="0" u="none" strike="noStrike">
                        <a:solidFill>
                          <a:srgbClr val="000000"/>
                        </a:solidFill>
                        <a:latin typeface="游ゴシック"/>
                        <a:ea typeface="游ゴシック"/>
                      </a:endParaRPr>
                    </a:p>
                  </a:txBody>
                  <a:tcPr marL="121718" marR="21975"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noFill/>
                  </a:tcPr>
                </a:tc>
                <a:tc>
                  <a:txBody>
                    <a:bodyPr/>
                    <a:lstStyle/>
                    <a:p>
                      <a:pPr algn="ctr" fontAlgn="ctr">
                        <a:buNone/>
                      </a:pPr>
                      <a:r>
                        <a:rPr lang="ja-JP" altLang="en-US" sz="1150" b="0" i="0" u="none" strike="noStrike">
                          <a:solidFill>
                            <a:srgbClr val="000000"/>
                          </a:solidFill>
                          <a:latin typeface="游ゴシック"/>
                          <a:ea typeface="游ゴシック"/>
                        </a:rPr>
                        <a:t>自己所有（土地・建物）</a:t>
                      </a:r>
                      <a:endParaRPr lang="ja-JP" altLang="en-US" sz="1150" b="0" i="0" u="none" strike="noStrike">
                        <a:solidFill>
                          <a:srgbClr val="000000"/>
                        </a:solidFill>
                        <a:latin typeface="游ゴシック"/>
                        <a:ea typeface="游ゴシック"/>
                      </a:endParaRPr>
                    </a:p>
                  </a:txBody>
                  <a:tcPr marL="21975" marR="21975"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游ゴシック"/>
                          <a:ea typeface="游ゴシック"/>
                        </a:rPr>
                        <a:t>要確認</a:t>
                      </a:r>
                      <a:endParaRPr lang="ja-JP" altLang="en-US" sz="1150" b="0" i="0" u="none" strike="noStrike">
                        <a:solidFill>
                          <a:srgbClr val="000000"/>
                        </a:solidFill>
                        <a:latin typeface="游ゴシック"/>
                        <a:ea typeface="游ゴシック"/>
                      </a:endParaRPr>
                    </a:p>
                  </a:txBody>
                  <a:tcPr marL="21975" marR="121718"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a:t>
                      </a:r>
                      <a:endParaRPr lang="ja-JP" altLang="en-US" sz="1150" b="0" i="0" u="none" strike="noStrike">
                        <a:solidFill>
                          <a:srgbClr val="000000"/>
                        </a:solidFill>
                        <a:latin typeface="Arial"/>
                        <a:ea typeface="游ゴシック Medium"/>
                      </a:endParaRPr>
                    </a:p>
                  </a:txBody>
                  <a:tcPr marL="21975" marR="121718"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noFill/>
                  </a:tcPr>
                </a:tc>
                <a:tc>
                  <a:txBody>
                    <a:bodyPr/>
                    <a:lstStyle/>
                    <a:p>
                      <a:pPr algn="r" fontAlgn="ctr">
                        <a:buNone/>
                      </a:pPr>
                      <a:r>
                        <a:rPr lang="ja-JP" altLang="en-US" sz="1150" b="0" i="0" u="none" strike="noStrike">
                          <a:solidFill>
                            <a:srgbClr val="000000"/>
                          </a:solidFill>
                          <a:latin typeface="Arial"/>
                          <a:ea typeface="游ゴシック Medium"/>
                        </a:rPr>
                        <a:t>－</a:t>
                      </a:r>
                      <a:endParaRPr lang="ja-JP" altLang="en-US" sz="1150" b="0" i="0" u="none" strike="noStrike">
                        <a:solidFill>
                          <a:srgbClr val="000000"/>
                        </a:solidFill>
                        <a:latin typeface="Arial"/>
                        <a:ea typeface="游ゴシック Medium"/>
                      </a:endParaRPr>
                    </a:p>
                  </a:txBody>
                  <a:tcPr marL="21975" marR="121718"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noFill/>
                  </a:tcPr>
                </a:tc>
                <a:tc>
                  <a:txBody>
                    <a:bodyPr/>
                    <a:lstStyle/>
                    <a:p>
                      <a:pPr algn="l" fontAlgn="ctr">
                        <a:buNone/>
                      </a:pPr>
                      <a:r>
                        <a:rPr lang="ja-JP" altLang="en-US" sz="1150" b="0" i="0" u="none" strike="noStrike">
                          <a:solidFill>
                            <a:srgbClr val="000000"/>
                          </a:solidFill>
                          <a:latin typeface="游ゴシック"/>
                          <a:ea typeface="游ゴシック"/>
                        </a:rPr>
                        <a:t>大船駅からバス（見晴バス停すぐ）※Web情報・要確認</a:t>
                      </a:r>
                      <a:endParaRPr lang="ja-JP" altLang="en-US" sz="1150" b="0" i="0" u="none" strike="noStrike">
                        <a:solidFill>
                          <a:srgbClr val="000000"/>
                        </a:solidFill>
                        <a:latin typeface="游ゴシック"/>
                        <a:ea typeface="游ゴシック"/>
                      </a:endParaRPr>
                    </a:p>
                  </a:txBody>
                  <a:tcPr marL="121718" marR="21975" marT="0" marB="0" anchor="ctr">
                    <a:lnL w="6104" cap="flat" cmpd="sng" algn="ctr">
                      <a:solidFill>
                        <a:srgbClr val="FFFFFF"/>
                      </a:solidFill>
                      <a:prstDash val="solid"/>
                      <a:round/>
                      <a:headEnd type="none" w="med" len="med"/>
                      <a:tailEnd type="none" w="med" len="med"/>
                    </a:lnL>
                    <a:lnR w="6104" cap="flat" cmpd="sng" algn="ctr">
                      <a:solidFill>
                        <a:srgbClr val="FFFFFF"/>
                      </a:solidFill>
                      <a:prstDash val="solid"/>
                      <a:round/>
                      <a:headEnd type="none" w="med" len="med"/>
                      <a:tailEnd type="none" w="med" len="med"/>
                    </a:lnR>
                    <a:lnT w="6104" cap="flat" cmpd="sng" algn="ctr">
                      <a:solidFill>
                        <a:srgbClr val="A6A6A6"/>
                      </a:solidFill>
                      <a:prstDash val="solid"/>
                      <a:round/>
                      <a:headEnd type="none" w="med" len="med"/>
                      <a:tailEnd type="none" w="med" len="med"/>
                    </a:lnT>
                    <a:lnB w="6104" cap="flat" cmpd="sng" algn="ctr">
                      <a:solidFill>
                        <a:srgbClr val="0B3041"/>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630750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拠点概要（賃借店舗）</a:t>
            </a:r>
          </a:p>
        </p:txBody>
      </p:sp>
      <p:sp>
        <p:nvSpPr>
          <p:cNvPr id="2" name="正方形/長方形 1">
            <a:extLst>
              <a:ext uri="{FF2B5EF4-FFF2-40B4-BE49-F238E27FC236}">
                <a16:creationId xmlns:a16="http://schemas.microsoft.com/office/drawing/2014/main" id="{A2452CE6-C739-7DE3-4FD5-98B5EF8D7EC8}"/>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賃借店舗</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ja-JP" altLang="en-US" dirty="0">
                <a:latin typeface="+mj-ea"/>
              </a:rPr>
              <a:t>紀尾井町店・大船店はいずれも賃借。賃貸借契約書・敷金明細が未受領のため、契約条件は確認中です。</a:t>
            </a:r>
            <a:endParaRPr lang="en-US" altLang="ja-JP" dirty="0"/>
          </a:p>
        </p:txBody>
      </p:sp>
      <p:sp>
        <p:nvSpPr>
          <p:cNvPr id="15" name="TextBox 14"/>
          <p:cNvSpPr txBox="1"/>
          <p:nvPr/>
        </p:nvSpPr>
        <p:spPr>
          <a:xfrm>
            <a:off x="310896" y="3708400"/>
            <a:ext cx="10058400" cy="1097280"/>
          </a:xfrm>
          <a:prstGeom prst="rect">
            <a:avLst/>
          </a:prstGeom>
          <a:noFill/>
        </p:spPr>
        <p:txBody>
          <a:bodyPr wrap="square" lIns="0" tIns="0" rIns="0" bIns="0" anchor="t">
            <a:spAutoFit/>
          </a:bodyPr>
          <a:lstStyle/>
          <a:p>
            <a:pPr>
              <a:spcAft>
                <a:spcPts val="300"/>
              </a:spcAft>
            </a:pPr>
            <a:r>
              <a:rPr kumimoji="1" lang="ja-JP" altLang="en-US" sz="1000" dirty="0">
                <a:solidFill>
                  <a:srgbClr val="595959"/>
                </a:solidFill>
                <a:latin typeface="+mn-ea"/>
                <a:ea typeface="+mn-ea"/>
              </a:rPr>
              <a:t>※敷金等の合計は13,160千円（令和8年3月期末BS）。店舗別の内訳は未受領。</a:t>
            </a:r>
            <a:endParaRPr kumimoji="1" lang="ja-JP" altLang="en-US" sz="1000" dirty="0"/>
          </a:p>
          <a:p>
            <a:pPr>
              <a:spcAft>
                <a:spcPts val="300"/>
              </a:spcAft>
            </a:pPr>
            <a:r>
              <a:rPr kumimoji="1" lang="ja-JP" altLang="en-US" sz="1000" dirty="0">
                <a:solidFill>
                  <a:srgbClr val="595959"/>
                </a:solidFill>
                <a:latin typeface="+mn-ea"/>
                <a:ea typeface="+mn-ea"/>
              </a:rPr>
              <a:t>※大船店は百貨店経由で売上が精算される（家賃の支払先：三越伊勢丹）。契約形態（定期借家・歩合賃料等）は要確認。</a:t>
            </a:r>
            <a:endParaRPr kumimoji="1" lang="ja-JP" altLang="en-US" sz="1000" dirty="0"/>
          </a:p>
        </p:txBody>
      </p:sp>
      <p:graphicFrame>
        <p:nvGraphicFramePr>
          <p:cNvPr id="16" name="Table 15"/>
          <p:cNvGraphicFramePr>
            <a:graphicFrameLocks noGrp="1"/>
          </p:cNvGraphicFramePr>
          <p:nvPr/>
        </p:nvGraphicFramePr>
        <p:xfrm>
          <a:off x="310896" y="2011680"/>
          <a:ext cx="9593421" cy="1468120"/>
        </p:xfrm>
        <a:graphic>
          <a:graphicData uri="http://schemas.openxmlformats.org/drawingml/2006/table">
            <a:tbl>
              <a:tblPr/>
              <a:tblGrid>
                <a:gridCol w="2447925"/>
                <a:gridCol w="1514475"/>
                <a:gridCol w="927682"/>
                <a:gridCol w="927682"/>
                <a:gridCol w="927682"/>
                <a:gridCol w="2847975"/>
              </a:tblGrid>
              <a:tr h="502920">
                <a:tc>
                  <a:txBody>
                    <a:bodyPr/>
                    <a:lstStyle/>
                    <a:p>
                      <a:pPr algn="ctr" fontAlgn="ctr">
                        <a:buNone/>
                      </a:pPr>
                      <a:r>
                        <a:rPr lang="ja-JP" altLang="en-US" sz="1200" b="1" i="0" u="none" strike="noStrike">
                          <a:solidFill>
                            <a:srgbClr val="FFFFFF"/>
                          </a:solidFill>
                          <a:latin typeface="游ゴシック"/>
                          <a:ea typeface="游ゴシック"/>
                        </a:rPr>
                        <a:t>所在地</a:t>
                      </a:r>
                      <a:endParaRPr lang="ja-JP" altLang="en-US" sz="1200" b="1" i="0" u="none" strike="noStrike">
                        <a:solidFill>
                          <a:srgbClr val="FFFFFF"/>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契約形態</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延床面積</a:t>
                      </a:r>
                      <a:endParaRPr lang="ja-JP" altLang="en-US" sz="1200" b="1" i="0" u="none" strike="noStrike">
                        <a:solidFill>
                          <a:srgbClr val="FFFFFF"/>
                        </a:solidFill>
                        <a:latin typeface="游ゴシック"/>
                        <a:ea typeface="游ゴシック"/>
                      </a:endParaRPr>
                    </a:p>
                    <a:p>
                      <a:pPr algn="ctr" fontAlgn="ctr">
                        <a:buNone/>
                      </a:pPr>
                      <a:r>
                        <a:rPr lang="ja-JP" altLang="en-US" sz="1200" b="1" i="0" u="none" strike="noStrike">
                          <a:solidFill>
                            <a:srgbClr val="FFFFFF"/>
                          </a:solidFill>
                          <a:latin typeface="游ゴシック"/>
                          <a:ea typeface="游ゴシック"/>
                        </a:rPr>
                        <a:t>(㎡)</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月間賃料</a:t>
                      </a:r>
                      <a:endParaRPr lang="ja-JP" altLang="en-US" sz="1200" b="1" i="0" u="none" strike="noStrike">
                        <a:solidFill>
                          <a:srgbClr val="FFFFFF"/>
                        </a:solidFill>
                        <a:latin typeface="游ゴシック"/>
                        <a:ea typeface="游ゴシック"/>
                      </a:endParaRPr>
                    </a:p>
                    <a:p>
                      <a:pPr algn="ctr" fontAlgn="ctr">
                        <a:buNone/>
                      </a:pPr>
                      <a:r>
                        <a:rPr lang="ja-JP" altLang="en-US" sz="1200" b="1" i="0" u="none" strike="noStrike">
                          <a:solidFill>
                            <a:srgbClr val="FFFFFF"/>
                          </a:solidFill>
                          <a:latin typeface="游ゴシック"/>
                          <a:ea typeface="游ゴシック"/>
                        </a:rPr>
                        <a:t>(千円)</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敷金</a:t>
                      </a:r>
                      <a:endParaRPr lang="ja-JP" altLang="en-US" sz="1200" b="1" i="0" u="none" strike="noStrike">
                        <a:solidFill>
                          <a:srgbClr val="FFFFFF"/>
                        </a:solidFill>
                        <a:latin typeface="游ゴシック"/>
                        <a:ea typeface="游ゴシック"/>
                      </a:endParaRPr>
                    </a:p>
                    <a:p>
                      <a:pPr algn="ctr" fontAlgn="ctr">
                        <a:buNone/>
                      </a:pPr>
                      <a:r>
                        <a:rPr lang="ja-JP" altLang="en-US" sz="1200" b="1" i="0" u="none" strike="noStrike">
                          <a:solidFill>
                            <a:srgbClr val="FFFFFF"/>
                          </a:solidFill>
                          <a:latin typeface="游ゴシック"/>
                          <a:ea typeface="游ゴシック"/>
                        </a:rPr>
                        <a:t>(千円)</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200" b="1" i="0" u="none" strike="noStrike">
                          <a:solidFill>
                            <a:srgbClr val="FFFFFF"/>
                          </a:solidFill>
                          <a:latin typeface="游ゴシック"/>
                          <a:ea typeface="游ゴシック"/>
                        </a:rPr>
                        <a:t>アクセス</a:t>
                      </a:r>
                      <a:endParaRPr lang="ja-JP" altLang="en-US" sz="1200" b="1" i="0" u="none" strike="noStrike">
                        <a:solidFill>
                          <a:srgbClr val="FFFFFF"/>
                        </a:solidFill>
                        <a:latin typeface="游ゴシック"/>
                        <a:ea typeface="游ゴシック"/>
                      </a:endParaRPr>
                    </a:p>
                  </a:txBody>
                  <a:tcPr marL="22860" marR="22860" marT="0" marB="0" anchor="ctr">
                    <a:lnL w="1270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r>
              <a:tr h="482600">
                <a:tc>
                  <a:txBody>
                    <a:bodyPr/>
                    <a:lstStyle/>
                    <a:p>
                      <a:pPr algn="l" fontAlgn="ctr">
                        <a:buNone/>
                      </a:pPr>
                      <a:r>
                        <a:rPr lang="ja-JP" altLang="en-US" sz="1200" b="0" i="0" u="none" strike="noStrike">
                          <a:solidFill>
                            <a:srgbClr val="000000"/>
                          </a:solidFill>
                          <a:latin typeface="游ゴシック"/>
                          <a:ea typeface="游ゴシック"/>
                        </a:rPr>
                        <a:t>紀尾井町店（東京都千代田区）</a:t>
                      </a:r>
                      <a:endParaRPr lang="ja-JP" altLang="en-US" sz="1200" b="0" i="0" u="none" strike="noStrike">
                        <a:solidFill>
                          <a:srgbClr val="000000"/>
                        </a:solidFill>
                        <a:latin typeface="游ゴシック"/>
                        <a:ea typeface="游ゴシック"/>
                      </a:endParaRPr>
                    </a:p>
                    <a:p>
                      <a:pPr algn="l" fontAlgn="ctr">
                        <a:buNone/>
                      </a:pPr>
                      <a:r>
                        <a:rPr lang="ja-JP" altLang="en-US" sz="1200" b="0" i="0" u="none" strike="noStrike">
                          <a:solidFill>
                            <a:srgbClr val="000000"/>
                          </a:solidFill>
                          <a:latin typeface="游ゴシック"/>
                          <a:ea typeface="游ゴシック"/>
                        </a:rPr>
                        <a:t>※番地は要確認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altLang="en-US" sz="1200" b="0" i="0" u="none" strike="noStrike">
                          <a:solidFill>
                            <a:srgbClr val="000000"/>
                          </a:solidFill>
                          <a:latin typeface="游ゴシック"/>
                          <a:ea typeface="游ゴシック"/>
                        </a:rPr>
                        <a:t>賃借（契約書未受領）</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游ゴシック"/>
                          <a:ea typeface="游ゴシック"/>
                        </a:rPr>
                        <a:t>要確認</a:t>
                      </a:r>
                      <a:endParaRPr lang="ja-JP" altLang="en-US" sz="1200" b="0" i="0" u="none" strike="noStrike">
                        <a:solidFill>
                          <a:srgbClr val="000000"/>
                        </a:solidFill>
                        <a:latin typeface="游ゴシック"/>
                        <a:ea typeface="游ゴシック"/>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981</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要確認</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latin typeface="游ゴシック"/>
                          <a:ea typeface="游ゴシック"/>
                        </a:rPr>
                        <a:t>要確認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r h="482600">
                <a:tc>
                  <a:txBody>
                    <a:bodyPr/>
                    <a:lstStyle/>
                    <a:p>
                      <a:pPr algn="l" fontAlgn="ctr">
                        <a:buNone/>
                      </a:pPr>
                      <a:r>
                        <a:rPr lang="ja-JP" altLang="en-US" sz="1200" b="0" i="0" u="none" strike="noStrike">
                          <a:solidFill>
                            <a:srgbClr val="000000"/>
                          </a:solidFill>
                          <a:latin typeface="游ゴシック"/>
                          <a:ea typeface="游ゴシック"/>
                        </a:rPr>
                        <a:t>大船店（神奈川県鎌倉市）</a:t>
                      </a:r>
                      <a:endParaRPr lang="ja-JP" altLang="en-US" sz="1200" b="0" i="0" u="none" strike="noStrike">
                        <a:solidFill>
                          <a:srgbClr val="000000"/>
                        </a:solidFill>
                        <a:latin typeface="游ゴシック"/>
                        <a:ea typeface="游ゴシック"/>
                      </a:endParaRPr>
                    </a:p>
                    <a:p>
                      <a:pPr algn="l" fontAlgn="ctr">
                        <a:buNone/>
                      </a:pPr>
                      <a:r>
                        <a:rPr lang="ja-JP" altLang="en-US" sz="1200" b="0" i="0" u="none" strike="noStrike">
                          <a:solidFill>
                            <a:srgbClr val="000000"/>
                          </a:solidFill>
                          <a:latin typeface="游ゴシック"/>
                          <a:ea typeface="游ゴシック"/>
                        </a:rPr>
                        <a:t>※番地は要確認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altLang="en-US" sz="1200" b="0" i="0" u="none" strike="noStrike">
                          <a:solidFill>
                            <a:srgbClr val="000000"/>
                          </a:solidFill>
                          <a:latin typeface="游ゴシック"/>
                          <a:ea typeface="游ゴシック"/>
                        </a:rPr>
                        <a:t>賃借（家賃支払先：三越伊勢丹）</a:t>
                      </a:r>
                      <a:endParaRPr lang="ja-JP" altLang="en-US" sz="1200" b="0" i="0" u="none" strike="noStrike">
                        <a:solidFill>
                          <a:srgbClr val="000000"/>
                        </a:solidFill>
                        <a:latin typeface="游ゴシック"/>
                        <a:ea typeface="游ゴシック"/>
                      </a:endParaRPr>
                    </a:p>
                  </a:txBody>
                  <a:tcPr marL="22860"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游ゴシック"/>
                          <a:ea typeface="游ゴシック"/>
                        </a:rPr>
                        <a:t>要確認</a:t>
                      </a:r>
                      <a:endParaRPr lang="ja-JP" altLang="en-US" sz="1200" b="0" i="0" u="none" strike="noStrike">
                        <a:solidFill>
                          <a:srgbClr val="000000"/>
                        </a:solidFill>
                        <a:latin typeface="游ゴシック"/>
                        <a:ea typeface="游ゴシック"/>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615</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200" b="0" i="0" u="none" strike="noStrike">
                          <a:solidFill>
                            <a:srgbClr val="000000"/>
                          </a:solidFill>
                          <a:latin typeface="Arial"/>
                          <a:ea typeface="游ゴシック Medium"/>
                        </a:rPr>
                        <a:t>要確認</a:t>
                      </a:r>
                      <a:endParaRPr lang="ja-JP" altLang="en-US" sz="1200" b="0" i="0" u="none" strike="noStrike">
                        <a:solidFill>
                          <a:srgbClr val="000000"/>
                        </a:solidFill>
                        <a:latin typeface="Arial"/>
                        <a:ea typeface="游ゴシック Medium"/>
                      </a:endParaRPr>
                    </a:p>
                  </a:txBody>
                  <a:tcPr marL="22860" marR="12661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l" fontAlgn="ctr">
                        <a:buNone/>
                      </a:pPr>
                      <a:r>
                        <a:rPr lang="ja-JP" altLang="en-US" sz="1200" b="0" i="0" u="none" strike="noStrike">
                          <a:solidFill>
                            <a:srgbClr val="000000"/>
                          </a:solidFill>
                          <a:latin typeface="游ゴシック"/>
                          <a:ea typeface="游ゴシック"/>
                        </a:rPr>
                        <a:t>要確認</a:t>
                      </a:r>
                      <a:endParaRPr lang="ja-JP" altLang="en-US" sz="1200" b="0" i="0" u="none" strike="noStrike">
                        <a:solidFill>
                          <a:srgbClr val="000000"/>
                        </a:solidFill>
                        <a:latin typeface="游ゴシック"/>
                        <a:ea typeface="游ゴシック"/>
                      </a:endParaRPr>
                    </a:p>
                  </a:txBody>
                  <a:tcPr marL="126616" marR="2286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37072750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lang="ja-JP" altLang="en-US" dirty="0"/>
              <a:t>不動産詳細</a:t>
            </a:r>
          </a:p>
        </p:txBody>
      </p:sp>
      <p:sp>
        <p:nvSpPr>
          <p:cNvPr id="2" name="正方形/長方形 1">
            <a:extLst>
              <a:ext uri="{FF2B5EF4-FFF2-40B4-BE49-F238E27FC236}">
                <a16:creationId xmlns:a16="http://schemas.microsoft.com/office/drawing/2014/main" id="{6E2B06A4-5CE5-00C3-97BF-5F9AFAE677E3}"/>
              </a:ext>
            </a:extLst>
          </p:cNvPr>
          <p:cNvSpPr/>
          <p:nvPr/>
        </p:nvSpPr>
        <p:spPr>
          <a:xfrm>
            <a:off x="311151" y="1517736"/>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所有</a:t>
            </a:r>
          </a:p>
        </p:txBody>
      </p:sp>
      <p:sp>
        <p:nvSpPr>
          <p:cNvPr id="3" name="正方形/長方形 2">
            <a:extLst>
              <a:ext uri="{FF2B5EF4-FFF2-40B4-BE49-F238E27FC236}">
                <a16:creationId xmlns:a16="http://schemas.microsoft.com/office/drawing/2014/main" id="{75ADC88D-D2D4-EEF0-D14C-0426FECA60C3}"/>
              </a:ext>
            </a:extLst>
          </p:cNvPr>
          <p:cNvSpPr/>
          <p:nvPr/>
        </p:nvSpPr>
        <p:spPr>
          <a:xfrm>
            <a:off x="311150" y="4498848"/>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lang="ja-JP" altLang="en-US" dirty="0">
                <a:latin typeface="+mj-ea"/>
              </a:rPr>
              <a:t>所有不動産は鎌倉山の本店敷地・建物とブランズタワー大船の専有部分。時価評価は未実施のため簿価で記載しています。賃借は紀尾井町店・大船店ほか。</a:t>
            </a:r>
            <a:endParaRPr lang="en-US" altLang="ja-JP" dirty="0"/>
          </a:p>
        </p:txBody>
      </p:sp>
      <p:graphicFrame>
        <p:nvGraphicFramePr>
          <p:cNvPr id="14" name="Table 13"/>
          <p:cNvGraphicFramePr>
            <a:graphicFrameLocks noGrp="1"/>
          </p:cNvGraphicFramePr>
          <p:nvPr/>
        </p:nvGraphicFramePr>
        <p:xfrm>
          <a:off x="310896" y="1938528"/>
          <a:ext cx="10195557" cy="1978961"/>
        </p:xfrm>
        <a:graphic>
          <a:graphicData uri="http://schemas.openxmlformats.org/drawingml/2006/table">
            <a:tbl>
              <a:tblPr/>
              <a:tblGrid>
                <a:gridCol w="743660"/>
                <a:gridCol w="1231688"/>
                <a:gridCol w="1448589"/>
                <a:gridCol w="933449"/>
                <a:gridCol w="651308"/>
                <a:gridCol w="1231688"/>
                <a:gridCol w="765266"/>
                <a:gridCol w="765266"/>
                <a:gridCol w="2424643"/>
              </a:tblGrid>
              <a:tr h="409013">
                <a:tc>
                  <a:txBody>
                    <a:bodyPr/>
                    <a:lstStyle/>
                    <a:p>
                      <a:pPr algn="ctr" fontAlgn="ctr">
                        <a:buNone/>
                      </a:pPr>
                      <a:r>
                        <a:rPr lang="ja-JP" altLang="en-US" sz="1000" b="1" i="0" u="none" strike="noStrike">
                          <a:solidFill>
                            <a:srgbClr val="FFFFFF"/>
                          </a:solidFill>
                          <a:latin typeface="游ゴシック"/>
                          <a:ea typeface="游ゴシック"/>
                        </a:rPr>
                        <a:t>事業所名</a:t>
                      </a:r>
                      <a:endParaRPr lang="ja-JP" altLang="en-US" sz="1000" b="1" i="0" u="none" strike="noStrike">
                        <a:solidFill>
                          <a:srgbClr val="FFFFFF"/>
                        </a:solidFill>
                        <a:latin typeface="游ゴシック"/>
                        <a:ea typeface="游ゴシック"/>
                      </a:endParaRPr>
                    </a:p>
                  </a:txBody>
                  <a:tcPr marL="18591" marR="18591" marT="0" marB="0" anchor="ctr">
                    <a:lnL>
                      <a:noFill/>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内容</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所在地</a:t>
                      </a:r>
                      <a:endParaRPr lang="ja-JP" altLang="en-US" sz="1000" b="1" i="0" u="none" strike="noStrike">
                        <a:solidFill>
                          <a:srgbClr val="FFFFFF"/>
                        </a:solidFill>
                        <a:latin typeface="游ゴシック"/>
                        <a:ea typeface="游ゴシック"/>
                      </a:endParaRPr>
                    </a:p>
                    <a:p>
                      <a:pPr algn="ctr" fontAlgn="ctr">
                        <a:buNone/>
                      </a:pPr>
                      <a:r>
                        <a:rPr lang="ja-JP" altLang="en-US" sz="1000" b="1" i="0" u="none" strike="noStrike">
                          <a:solidFill>
                            <a:srgbClr val="FFFFFF"/>
                          </a:solidFill>
                          <a:latin typeface="游ゴシック"/>
                          <a:ea typeface="游ゴシック"/>
                        </a:rPr>
                        <a:t>地番・家屋番号</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面積</a:t>
                      </a:r>
                      <a:endParaRPr lang="ja-JP" altLang="en-US" sz="1000" b="1" i="0" u="none" strike="noStrike">
                        <a:solidFill>
                          <a:srgbClr val="FFFFFF"/>
                        </a:solidFill>
                        <a:latin typeface="游ゴシック"/>
                        <a:ea typeface="游ゴシック"/>
                      </a:endParaRPr>
                    </a:p>
                    <a:p>
                      <a:pPr algn="ctr" fontAlgn="ctr">
                        <a:buNone/>
                      </a:pPr>
                      <a:r>
                        <a:rPr lang="ja-JP" altLang="en-US" sz="1000" b="1" i="0" u="none" strike="noStrike">
                          <a:solidFill>
                            <a:srgbClr val="FFFFFF"/>
                          </a:solidFill>
                          <a:latin typeface="游ゴシック"/>
                          <a:ea typeface="游ゴシック"/>
                        </a:rPr>
                        <a:t>(㎡)</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区分</a:t>
                      </a:r>
                      <a:endParaRPr lang="ja-JP" altLang="en-US" sz="1000" b="1" i="0" u="none" strike="noStrike">
                        <a:solidFill>
                          <a:srgbClr val="FFFFFF"/>
                        </a:solidFill>
                        <a:latin typeface="游ゴシック"/>
                        <a:ea typeface="游ゴシック"/>
                      </a:endParaRPr>
                    </a:p>
                    <a:p>
                      <a:pPr algn="ctr" fontAlgn="ctr">
                        <a:buNone/>
                      </a:pPr>
                      <a:r>
                        <a:rPr lang="ja-JP" altLang="en-US" sz="1000" b="1" i="0" u="none" strike="noStrike">
                          <a:solidFill>
                            <a:srgbClr val="FFFFFF"/>
                          </a:solidFill>
                          <a:latin typeface="游ゴシック"/>
                          <a:ea typeface="游ゴシック"/>
                        </a:rPr>
                        <a:t>・構造</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所有（建築）</a:t>
                      </a:r>
                      <a:endParaRPr lang="ja-JP" altLang="en-US" sz="1000" b="1" i="0" u="none" strike="noStrike">
                        <a:solidFill>
                          <a:srgbClr val="FFFFFF"/>
                        </a:solidFill>
                        <a:latin typeface="游ゴシック"/>
                        <a:ea typeface="游ゴシック"/>
                      </a:endParaRPr>
                    </a:p>
                    <a:p>
                      <a:pPr algn="ctr" fontAlgn="ctr">
                        <a:buNone/>
                      </a:pPr>
                      <a:r>
                        <a:rPr lang="ja-JP" altLang="en-US" sz="1000" b="1" i="0" u="none" strike="noStrike">
                          <a:solidFill>
                            <a:srgbClr val="FFFFFF"/>
                          </a:solidFill>
                          <a:latin typeface="游ゴシック"/>
                          <a:ea typeface="游ゴシック"/>
                        </a:rPr>
                        <a:t>年月・事由</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前期末簿価</a:t>
                      </a:r>
                      <a:endParaRPr lang="ja-JP" altLang="en-US" sz="1000" b="1" i="0" u="none" strike="noStrike">
                        <a:solidFill>
                          <a:srgbClr val="FFFFFF"/>
                        </a:solidFill>
                        <a:latin typeface="游ゴシック"/>
                        <a:ea typeface="游ゴシック"/>
                      </a:endParaRPr>
                    </a:p>
                    <a:p>
                      <a:pPr algn="ctr" fontAlgn="ctr">
                        <a:buNone/>
                      </a:pPr>
                      <a:r>
                        <a:rPr lang="ja-JP" altLang="en-US" sz="1000" b="1" i="0" u="none" strike="noStrike">
                          <a:solidFill>
                            <a:srgbClr val="FFFFFF"/>
                          </a:solidFill>
                          <a:latin typeface="游ゴシック"/>
                          <a:ea typeface="游ゴシック"/>
                        </a:rPr>
                        <a:t>(千円)</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時価</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w="10328" cap="flat" cmpd="sng" algn="ctr">
                      <a:solidFill>
                        <a:srgbClr val="FFFFFF"/>
                      </a:solidFill>
                      <a:prstDash val="solid"/>
                      <a:round/>
                      <a:headEnd type="none" w="med" len="med"/>
                      <a:tailEnd type="none" w="med" len="med"/>
                    </a:lnR>
                    <a:lnT>
                      <a:noFill/>
                    </a:lnT>
                    <a:lnB w="516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a:solidFill>
                            <a:srgbClr val="FFFFFF"/>
                          </a:solidFill>
                          <a:latin typeface="游ゴシック"/>
                          <a:ea typeface="游ゴシック"/>
                        </a:rPr>
                        <a:t>備考</a:t>
                      </a:r>
                      <a:endParaRPr lang="ja-JP" altLang="en-US" sz="1000" b="1" i="0" u="none" strike="noStrike">
                        <a:solidFill>
                          <a:srgbClr val="FFFFFF"/>
                        </a:solidFill>
                        <a:latin typeface="游ゴシック"/>
                        <a:ea typeface="游ゴシック"/>
                      </a:endParaRPr>
                    </a:p>
                  </a:txBody>
                  <a:tcPr marL="18591" marR="18591" marT="0" marB="0" anchor="ctr">
                    <a:lnL w="10328" cap="flat" cmpd="sng" algn="ctr">
                      <a:solidFill>
                        <a:srgbClr val="FFFFFF"/>
                      </a:solidFill>
                      <a:prstDash val="solid"/>
                      <a:round/>
                      <a:headEnd type="none" w="med" len="med"/>
                      <a:tailEnd type="none" w="med" len="med"/>
                    </a:lnL>
                    <a:lnR>
                      <a:noFill/>
                    </a:lnR>
                    <a:lnT>
                      <a:noFill/>
                    </a:lnT>
                    <a:lnB w="5164" cap="flat" cmpd="sng" algn="ctr">
                      <a:solidFill>
                        <a:srgbClr val="A6A6A6"/>
                      </a:solidFill>
                      <a:prstDash val="solid"/>
                      <a:round/>
                      <a:headEnd type="none" w="med" len="med"/>
                      <a:tailEnd type="none" w="med" len="med"/>
                    </a:lnB>
                    <a:solidFill>
                      <a:srgbClr val="0B3041"/>
                    </a:solidFill>
                  </a:tcPr>
                </a:tc>
              </a:tr>
              <a:tr h="552581">
                <a:tc rowSpan="3">
                  <a:txBody>
                    <a:bodyPr/>
                    <a:lstStyle/>
                    <a:p>
                      <a:pPr algn="ctr" fontAlgn="ctr">
                        <a:buNone/>
                      </a:pPr>
                      <a:r>
                        <a:rPr lang="ja-JP" altLang="en-US" sz="1000" b="0" i="0" u="none" strike="noStrike">
                          <a:solidFill>
                            <a:srgbClr val="000000"/>
                          </a:solidFill>
                          <a:latin typeface="游ゴシック"/>
                          <a:ea typeface="游ゴシック"/>
                        </a:rPr>
                        <a:t>本社・鎌倉山店</a:t>
                      </a:r>
                      <a:endParaRPr lang="ja-JP" altLang="en-US" sz="1000" b="0" i="0" u="none" strike="noStrike">
                        <a:solidFill>
                          <a:srgbClr val="000000"/>
                        </a:solidFill>
                        <a:latin typeface="游ゴシック"/>
                        <a:ea typeface="游ゴシック"/>
                      </a:endParaRPr>
                    </a:p>
                  </a:txBody>
                  <a:tcPr marL="18591"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土地）店舗敷地ほか</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鎌倉市鎌倉山三丁目2番31（地番詳細は要確認）</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要確認</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宅地（要確認）</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游ゴシック"/>
                          <a:ea typeface="游ゴシック"/>
                        </a:rPr>
                        <a:t>平成22年12月頃 取得（建物は平成22年12月21日取得）</a:t>
                      </a:r>
                      <a:endParaRPr lang="ja-JP" altLang="en-US" sz="1000" b="0" i="0" u="none" strike="noStrike">
                        <a:solidFill>
                          <a:srgbClr val="000000"/>
                        </a:solidFill>
                        <a:latin typeface="游ゴシック"/>
                        <a:ea typeface="游ゴシック"/>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345,030</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345,030</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簿価評価（登記事項証明書・評価証明書等が未受領のため時価評価未実施）。うち約87,420千円は「鎌倉山三丁目計画」の建設仮勘定からの振替（内容要確認）</a:t>
                      </a:r>
                      <a:endParaRPr lang="ja-JP" altLang="en-US" sz="75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r>
              <a:tr h="392487">
                <a:tc vMerge="1">
                  <a:txBody>
                    <a:bodyPr/>
                    <a:lstStyle/>
                    <a:p>
                      <a:pPr algn="ctr" fontAlgn="ctr">
                        <a:buNone/>
                      </a:pPr>
                      <a:endParaRPr lang="ja-JP" altLang="en-US" sz="1000" b="0" i="0" u="none" strike="noStrike">
                        <a:solidFill>
                          <a:srgbClr val="000000"/>
                        </a:solidFill>
                        <a:latin typeface="游ゴシック"/>
                        <a:ea typeface="游ゴシック"/>
                      </a:endParaRPr>
                    </a:p>
                  </a:txBody>
                  <a:tcPr marL="18591"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a:noFill/>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建物）店舗（鎌倉店舗）</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同上</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要確認</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店舗（構造は要確認）</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游ゴシック"/>
                          <a:ea typeface="游ゴシック"/>
                        </a:rPr>
                        <a:t>平成22年12月21日取得</a:t>
                      </a:r>
                      <a:endParaRPr lang="ja-JP" altLang="en-US" sz="1000" b="0" i="0" u="none" strike="noStrike">
                        <a:solidFill>
                          <a:srgbClr val="000000"/>
                        </a:solidFill>
                        <a:latin typeface="游ゴシック"/>
                        <a:ea typeface="游ゴシック"/>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92,243</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92,243</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簿価評価（償却不足なし）。固定資産台帳より</a:t>
                      </a:r>
                      <a:endParaRPr lang="ja-JP" altLang="en-US" sz="75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r>
              <a:tr h="232393">
                <a:tc vMerge="1">
                  <a:txBody>
                    <a:bodyPr/>
                    <a:lstStyle/>
                    <a:p>
                      <a:pPr algn="ctr" fontAlgn="ctr">
                        <a:buNone/>
                      </a:pPr>
                      <a:endParaRPr lang="ja-JP" altLang="en-US" sz="1000" b="0" i="0" u="none" strike="noStrike">
                        <a:solidFill>
                          <a:srgbClr val="000000"/>
                        </a:solidFill>
                        <a:latin typeface="游ゴシック"/>
                        <a:ea typeface="游ゴシック"/>
                      </a:endParaRPr>
                    </a:p>
                  </a:txBody>
                  <a:tcPr marL="18591"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a:noFill/>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建物）螺旋階段ほか</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同上</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a:solidFill>
                            <a:srgbClr val="000000"/>
                          </a:solidFill>
                          <a:latin typeface="Arial"/>
                          <a:ea typeface="游ゴシック Medium"/>
                        </a:rPr>
                        <a:t>要確認</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a:solidFill>
                            <a:srgbClr val="000000"/>
                          </a:solidFill>
                          <a:latin typeface="游ゴシック"/>
                          <a:ea typeface="游ゴシック"/>
                        </a:rPr>
                        <a:t>平成30年1月取得</a:t>
                      </a:r>
                      <a:endParaRPr lang="ja-JP" altLang="en-US" sz="1000" b="0" i="0" u="none" strike="noStrike">
                        <a:solidFill>
                          <a:srgbClr val="000000"/>
                        </a:solidFill>
                        <a:latin typeface="游ゴシック"/>
                        <a:ea typeface="游ゴシック"/>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a:solidFill>
                            <a:srgbClr val="000000"/>
                          </a:solidFill>
                          <a:latin typeface="Arial"/>
                          <a:ea typeface="游ゴシック Medium"/>
                        </a:rPr>
                        <a:t>909</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909</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noFill/>
                  </a:tcPr>
                </a:tc>
                <a:tc>
                  <a:txBody>
                    <a:bodyPr/>
                    <a:lstStyle/>
                    <a:p>
                      <a:pPr algn="l" fontAlgn="ctr">
                        <a:buNone/>
                      </a:pPr>
                      <a:r>
                        <a:rPr lang="ja-JP" altLang="en-US" sz="750" b="0" i="0" u="none" strike="noStrike">
                          <a:solidFill>
                            <a:srgbClr val="000000"/>
                          </a:solidFill>
                          <a:latin typeface="游ゴシック"/>
                          <a:ea typeface="游ゴシック"/>
                        </a:rPr>
                        <a:t>簿価評価。固定資産台帳より</a:t>
                      </a:r>
                      <a:endParaRPr lang="ja-JP" altLang="en-US" sz="75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a:noFill/>
                    </a:lnR>
                    <a:lnT w="5164" cap="flat" cmpd="sng" algn="ctr">
                      <a:solidFill>
                        <a:srgbClr val="0B3041"/>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FFFFFF"/>
                    </a:solidFill>
                  </a:tcPr>
                </a:tc>
              </a:tr>
              <a:tr h="392487">
                <a:tc>
                  <a:txBody>
                    <a:bodyPr/>
                    <a:lstStyle/>
                    <a:p>
                      <a:pPr algn="ctr" fontAlgn="ctr">
                        <a:buNone/>
                      </a:pPr>
                      <a:r>
                        <a:rPr lang="ja-JP" altLang="en-US" sz="1000" b="0" i="0" u="none" strike="noStrike">
                          <a:solidFill>
                            <a:srgbClr val="000000"/>
                          </a:solidFill>
                          <a:latin typeface="游ゴシック"/>
                          <a:ea typeface="游ゴシック"/>
                        </a:rPr>
                        <a:t>大船</a:t>
                      </a:r>
                      <a:endParaRPr lang="ja-JP" altLang="en-US" sz="1000" b="0" i="0" u="none" strike="noStrike">
                        <a:solidFill>
                          <a:srgbClr val="000000"/>
                        </a:solidFill>
                        <a:latin typeface="游ゴシック"/>
                        <a:ea typeface="游ゴシック"/>
                      </a:endParaRPr>
                    </a:p>
                  </a:txBody>
                  <a:tcPr marL="18591"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建物）ブランズタワー大船（専有部分）</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神奈川県鎌倉市大船（住戸・地番は要確認）</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要確認</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要確認</a:t>
                      </a:r>
                      <a:endParaRPr lang="ja-JP" altLang="en-US" sz="100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游ゴシック"/>
                          <a:ea typeface="游ゴシック"/>
                        </a:rPr>
                        <a:t>令和3年3月22日取得</a:t>
                      </a:r>
                      <a:endParaRPr lang="ja-JP" altLang="en-US" sz="1000" b="0" i="0" u="none" strike="noStrike">
                        <a:solidFill>
                          <a:srgbClr val="000000"/>
                        </a:solidFill>
                        <a:latin typeface="游ゴシック"/>
                        <a:ea typeface="游ゴシック"/>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25,569</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1000" b="0" i="0" u="none" strike="noStrike">
                          <a:solidFill>
                            <a:srgbClr val="000000"/>
                          </a:solidFill>
                          <a:latin typeface="Arial"/>
                          <a:ea typeface="游ゴシック Medium"/>
                        </a:rPr>
                        <a:t>25,569</a:t>
                      </a:r>
                      <a:endParaRPr lang="ja-JP" altLang="en-US" sz="1000" b="0" i="0" u="none" strike="noStrike">
                        <a:solidFill>
                          <a:srgbClr val="000000"/>
                        </a:solidFill>
                        <a:latin typeface="Arial"/>
                        <a:ea typeface="游ゴシック Medium"/>
                      </a:endParaRPr>
                    </a:p>
                  </a:txBody>
                  <a:tcPr marL="18591" marR="102973"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750" b="0" i="0" u="none" strike="noStrike">
                          <a:solidFill>
                            <a:srgbClr val="000000"/>
                          </a:solidFill>
                          <a:latin typeface="游ゴシック"/>
                          <a:ea typeface="游ゴシック"/>
                        </a:rPr>
                        <a:t>簿価評価。大船店との関係（店舗利用か投資用か）は要確認</a:t>
                      </a:r>
                      <a:endParaRPr lang="ja-JP" altLang="en-US" sz="750" b="0" i="0" u="none" strike="noStrike">
                        <a:solidFill>
                          <a:srgbClr val="000000"/>
                        </a:solidFill>
                        <a:latin typeface="游ゴシック"/>
                        <a:ea typeface="游ゴシック"/>
                      </a:endParaRPr>
                    </a:p>
                  </a:txBody>
                  <a:tcPr marL="102973" marR="18591" marT="0" marB="0" anchor="ctr">
                    <a:lnL w="5164" cap="flat" cmpd="sng" algn="ctr">
                      <a:solidFill>
                        <a:srgbClr val="FFFFFF"/>
                      </a:solidFill>
                      <a:prstDash val="solid"/>
                      <a:round/>
                      <a:headEnd type="none" w="med" len="med"/>
                      <a:tailEnd type="none" w="med" len="med"/>
                    </a:lnL>
                    <a:lnR w="5164" cap="flat" cmpd="sng" algn="ctr">
                      <a:solidFill>
                        <a:srgbClr val="FFFFFF"/>
                      </a:solidFill>
                      <a:prstDash val="solid"/>
                      <a:round/>
                      <a:headEnd type="none" w="med" len="med"/>
                      <a:tailEnd type="none" w="med" len="med"/>
                    </a:lnR>
                    <a:lnT w="5164" cap="flat" cmpd="sng" algn="ctr">
                      <a:solidFill>
                        <a:srgbClr val="A6A6A6"/>
                      </a:solidFill>
                      <a:prstDash val="solid"/>
                      <a:round/>
                      <a:headEnd type="none" w="med" len="med"/>
                      <a:tailEnd type="none" w="med" len="med"/>
                    </a:lnT>
                    <a:lnB w="5164" cap="flat" cmpd="sng" algn="ctr">
                      <a:solidFill>
                        <a:srgbClr val="0B3041"/>
                      </a:solidFill>
                      <a:prstDash val="solid"/>
                      <a:round/>
                      <a:headEnd type="none" w="med" len="med"/>
                      <a:tailEnd type="none" w="med" len="med"/>
                    </a:lnB>
                    <a:solidFill>
                      <a:srgbClr val="E3E7E9"/>
                    </a:solidFill>
                  </a:tcPr>
                </a:tc>
              </a:tr>
            </a:tbl>
          </a:graphicData>
        </a:graphic>
      </p:graphicFrame>
      <p:graphicFrame>
        <p:nvGraphicFramePr>
          <p:cNvPr id="15" name="Table 14"/>
          <p:cNvGraphicFramePr>
            <a:graphicFrameLocks noGrp="1"/>
          </p:cNvGraphicFramePr>
          <p:nvPr/>
        </p:nvGraphicFramePr>
        <p:xfrm>
          <a:off x="310896" y="4956048"/>
          <a:ext cx="7966332" cy="1856230"/>
        </p:xfrm>
        <a:graphic>
          <a:graphicData uri="http://schemas.openxmlformats.org/drawingml/2006/table">
            <a:tbl>
              <a:tblPr/>
              <a:tblGrid>
                <a:gridCol w="542268"/>
                <a:gridCol w="829062"/>
                <a:gridCol w="1398026"/>
                <a:gridCol w="642370"/>
                <a:gridCol w="546713"/>
                <a:gridCol w="960990"/>
                <a:gridCol w="642370"/>
                <a:gridCol w="642370"/>
                <a:gridCol w="1762163"/>
              </a:tblGrid>
              <a:tr h="343329">
                <a:tc>
                  <a:txBody>
                    <a:bodyPr/>
                    <a:lstStyle/>
                    <a:p>
                      <a:pPr algn="ctr" fontAlgn="ctr">
                        <a:buNone/>
                      </a:pPr>
                      <a:r>
                        <a:rPr lang="ja-JP" altLang="en-US" sz="800" b="1" i="0" u="none" strike="noStrike">
                          <a:solidFill>
                            <a:srgbClr val="FFFFFF"/>
                          </a:solidFill>
                          <a:latin typeface="游ゴシック"/>
                          <a:ea typeface="游ゴシック"/>
                        </a:rPr>
                        <a:t>内容</a:t>
                      </a:r>
                      <a:endParaRPr lang="ja-JP" altLang="en-US" sz="800" b="1" i="0" u="none" strike="noStrike">
                        <a:solidFill>
                          <a:srgbClr val="FFFFFF"/>
                        </a:solidFill>
                        <a:latin typeface="游ゴシック"/>
                        <a:ea typeface="游ゴシック"/>
                      </a:endParaRPr>
                    </a:p>
                  </a:txBody>
                  <a:tcPr marL="15605" marR="15605" marT="0" marB="0" anchor="ctr">
                    <a:lnL>
                      <a:noFill/>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内容</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所在地</a:t>
                      </a:r>
                      <a:endParaRPr lang="ja-JP" altLang="en-US" sz="800" b="1" i="0" u="none" strike="noStrike">
                        <a:solidFill>
                          <a:srgbClr val="FFFFFF"/>
                        </a:solidFill>
                        <a:latin typeface="游ゴシック"/>
                        <a:ea typeface="游ゴシック"/>
                      </a:endParaRPr>
                    </a:p>
                    <a:p>
                      <a:pPr algn="ctr" fontAlgn="ctr">
                        <a:buNone/>
                      </a:pPr>
                      <a:r>
                        <a:rPr lang="ja-JP" altLang="en-US" sz="800" b="1" i="0" u="none" strike="noStrike">
                          <a:solidFill>
                            <a:srgbClr val="FFFFFF"/>
                          </a:solidFill>
                          <a:latin typeface="游ゴシック"/>
                          <a:ea typeface="游ゴシック"/>
                        </a:rPr>
                        <a:t>地番・家屋番号</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面積</a:t>
                      </a:r>
                      <a:endParaRPr lang="ja-JP" altLang="en-US" sz="800" b="1" i="0" u="none" strike="noStrike">
                        <a:solidFill>
                          <a:srgbClr val="FFFFFF"/>
                        </a:solidFill>
                        <a:latin typeface="游ゴシック"/>
                        <a:ea typeface="游ゴシック"/>
                      </a:endParaRPr>
                    </a:p>
                    <a:p>
                      <a:pPr algn="ctr" fontAlgn="ctr">
                        <a:buNone/>
                      </a:pPr>
                      <a:r>
                        <a:rPr lang="ja-JP" altLang="en-US" sz="800" b="1" i="0" u="none" strike="noStrike">
                          <a:solidFill>
                            <a:srgbClr val="FFFFFF"/>
                          </a:solidFill>
                          <a:latin typeface="游ゴシック"/>
                          <a:ea typeface="游ゴシック"/>
                        </a:rPr>
                        <a:t>(㎡)</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契約内容</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貸主</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月間賃料</a:t>
                      </a:r>
                      <a:endParaRPr lang="ja-JP" altLang="en-US" sz="800" b="1" i="0" u="none" strike="noStrike">
                        <a:solidFill>
                          <a:srgbClr val="FFFFFF"/>
                        </a:solidFill>
                        <a:latin typeface="游ゴシック"/>
                        <a:ea typeface="游ゴシック"/>
                      </a:endParaRPr>
                    </a:p>
                    <a:p>
                      <a:pPr algn="ctr" fontAlgn="ctr">
                        <a:buNone/>
                      </a:pPr>
                      <a:r>
                        <a:rPr lang="ja-JP" altLang="en-US" sz="800" b="1" i="0" u="none" strike="noStrike">
                          <a:solidFill>
                            <a:srgbClr val="FFFFFF"/>
                          </a:solidFill>
                          <a:latin typeface="游ゴシック"/>
                          <a:ea typeface="游ゴシック"/>
                        </a:rPr>
                        <a:t>(千円)</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敷金</a:t>
                      </a:r>
                      <a:endParaRPr lang="ja-JP" altLang="en-US" sz="800" b="1" i="0" u="none" strike="noStrike">
                        <a:solidFill>
                          <a:srgbClr val="FFFFFF"/>
                        </a:solidFill>
                        <a:latin typeface="游ゴシック"/>
                        <a:ea typeface="游ゴシック"/>
                      </a:endParaRPr>
                    </a:p>
                    <a:p>
                      <a:pPr algn="ctr" fontAlgn="ctr">
                        <a:buNone/>
                      </a:pPr>
                      <a:r>
                        <a:rPr lang="ja-JP" altLang="en-US" sz="800" b="1" i="0" u="none" strike="noStrike">
                          <a:solidFill>
                            <a:srgbClr val="FFFFFF"/>
                          </a:solidFill>
                          <a:latin typeface="游ゴシック"/>
                          <a:ea typeface="游ゴシック"/>
                        </a:rPr>
                        <a:t>(千円)</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w="8669" cap="flat" cmpd="sng" algn="ctr">
                      <a:solidFill>
                        <a:srgbClr val="FFFFFF"/>
                      </a:solidFill>
                      <a:prstDash val="solid"/>
                      <a:round/>
                      <a:headEnd type="none" w="med" len="med"/>
                      <a:tailEnd type="none" w="med" len="med"/>
                    </a:lnR>
                    <a:lnT>
                      <a:noFill/>
                    </a:lnT>
                    <a:lnB w="4334"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備考</a:t>
                      </a:r>
                      <a:endParaRPr lang="ja-JP" altLang="en-US" sz="800" b="1" i="0" u="none" strike="noStrike">
                        <a:solidFill>
                          <a:srgbClr val="FFFFFF"/>
                        </a:solidFill>
                        <a:latin typeface="游ゴシック"/>
                        <a:ea typeface="游ゴシック"/>
                      </a:endParaRPr>
                    </a:p>
                  </a:txBody>
                  <a:tcPr marL="15605" marR="15605" marT="0" marB="0" anchor="ctr">
                    <a:lnL w="8669" cap="flat" cmpd="sng" algn="ctr">
                      <a:solidFill>
                        <a:srgbClr val="FFFFFF"/>
                      </a:solidFill>
                      <a:prstDash val="solid"/>
                      <a:round/>
                      <a:headEnd type="none" w="med" len="med"/>
                      <a:tailEnd type="none" w="med" len="med"/>
                    </a:lnL>
                    <a:lnR>
                      <a:noFill/>
                    </a:lnR>
                    <a:lnT>
                      <a:noFill/>
                    </a:lnT>
                    <a:lnB w="4334" cap="flat" cmpd="sng" algn="ctr">
                      <a:solidFill>
                        <a:srgbClr val="A6A6A6"/>
                      </a:solidFill>
                      <a:prstDash val="solid"/>
                      <a:round/>
                      <a:headEnd type="none" w="med" len="med"/>
                      <a:tailEnd type="none" w="med" len="med"/>
                    </a:lnB>
                    <a:solidFill>
                      <a:srgbClr val="0B3041"/>
                    </a:solidFill>
                  </a:tcPr>
                </a:tc>
              </a:tr>
              <a:tr h="329457">
                <a:tc>
                  <a:txBody>
                    <a:bodyPr/>
                    <a:lstStyle/>
                    <a:p>
                      <a:pPr algn="ctr" fontAlgn="ctr">
                        <a:buNone/>
                      </a:pPr>
                      <a:r>
                        <a:rPr lang="ja-JP" altLang="en-US" sz="800" b="0" i="0" u="none" strike="noStrike">
                          <a:solidFill>
                            <a:srgbClr val="000000"/>
                          </a:solidFill>
                          <a:latin typeface="游ゴシック"/>
                          <a:ea typeface="游ゴシック"/>
                        </a:rPr>
                        <a:t>紀尾井町店</a:t>
                      </a:r>
                      <a:endParaRPr lang="ja-JP" altLang="en-US" sz="800" b="0" i="0" u="none" strike="noStrike">
                        <a:solidFill>
                          <a:srgbClr val="000000"/>
                        </a:solidFill>
                        <a:latin typeface="游ゴシック"/>
                        <a:ea typeface="游ゴシック"/>
                      </a:endParaRPr>
                    </a:p>
                  </a:txBody>
                  <a:tcPr marL="15605" marR="15605" marT="0" marB="0" anchor="ctr">
                    <a:lnL>
                      <a:noFill/>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800" b="0" i="0" u="none" strike="noStrike">
                          <a:solidFill>
                            <a:srgbClr val="000000"/>
                          </a:solidFill>
                          <a:latin typeface="游ゴシック"/>
                          <a:ea typeface="游ゴシック"/>
                        </a:rPr>
                        <a:t>建物）店舗</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東京都千代田区紀尾井町（番地は要確認）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ctr" fontAlgn="ctr">
                        <a:buNone/>
                      </a:pPr>
                      <a:r>
                        <a:rPr lang="ja-JP" altLang="en-US" sz="800" b="0" i="0" u="none" strike="noStrike">
                          <a:solidFill>
                            <a:srgbClr val="000000"/>
                          </a:solidFill>
                          <a:latin typeface="游ゴシック"/>
                          <a:ea typeface="游ゴシック"/>
                        </a:rPr>
                        <a:t>賃貸借契約書未受領</a:t>
                      </a:r>
                      <a:endParaRPr lang="ja-JP" altLang="en-US" sz="800" b="0" i="0" u="none" strike="noStrike">
                        <a:solidFill>
                          <a:srgbClr val="000000"/>
                        </a:solidFill>
                        <a:latin typeface="游ゴシック"/>
                        <a:ea typeface="游ゴシック"/>
                      </a:endParaRPr>
                    </a:p>
                  </a:txBody>
                  <a:tcPr marL="15605"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981</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600" b="0" i="0" u="none" strike="noStrike">
                          <a:solidFill>
                            <a:srgbClr val="000000"/>
                          </a:solidFill>
                          <a:latin typeface="游ゴシック"/>
                          <a:ea typeface="游ゴシック"/>
                        </a:rPr>
                        <a:t>地代家賃（令和8年3月期）年11,775千円の12分の1</a:t>
                      </a:r>
                      <a:endParaRPr lang="ja-JP" altLang="en-US" sz="6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FFFFFF"/>
                    </a:solidFill>
                  </a:tcPr>
                </a:tc>
              </a:tr>
              <a:tr h="329457">
                <a:tc>
                  <a:txBody>
                    <a:bodyPr/>
                    <a:lstStyle/>
                    <a:p>
                      <a:pPr algn="ctr" fontAlgn="ctr">
                        <a:buNone/>
                      </a:pPr>
                      <a:r>
                        <a:rPr lang="ja-JP" altLang="en-US" sz="800" b="0" i="0" u="none" strike="noStrike">
                          <a:solidFill>
                            <a:srgbClr val="000000"/>
                          </a:solidFill>
                          <a:latin typeface="游ゴシック"/>
                          <a:ea typeface="游ゴシック"/>
                        </a:rPr>
                        <a:t>大船店</a:t>
                      </a:r>
                      <a:endParaRPr lang="ja-JP" altLang="en-US" sz="800" b="0" i="0" u="none" strike="noStrike">
                        <a:solidFill>
                          <a:srgbClr val="000000"/>
                        </a:solidFill>
                        <a:latin typeface="游ゴシック"/>
                        <a:ea typeface="游ゴシック"/>
                      </a:endParaRPr>
                    </a:p>
                  </a:txBody>
                  <a:tcPr marL="15605" marR="15605" marT="0" marB="0" anchor="ctr">
                    <a:lnL>
                      <a:noFill/>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800" b="0" i="0" u="none" strike="noStrike">
                          <a:solidFill>
                            <a:srgbClr val="000000"/>
                          </a:solidFill>
                          <a:latin typeface="游ゴシック"/>
                          <a:ea typeface="游ゴシック"/>
                        </a:rPr>
                        <a:t>建物）店舗</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神奈川県鎌倉市大船（番地は要確認）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ctr" fontAlgn="ctr">
                        <a:buNone/>
                      </a:pPr>
                      <a:r>
                        <a:rPr lang="ja-JP" altLang="en-US" sz="800" b="0" i="0" u="none" strike="noStrike">
                          <a:solidFill>
                            <a:srgbClr val="000000"/>
                          </a:solidFill>
                          <a:latin typeface="游ゴシック"/>
                          <a:ea typeface="游ゴシック"/>
                        </a:rPr>
                        <a:t>賃貸借契約書未受領</a:t>
                      </a:r>
                      <a:endParaRPr lang="ja-JP" altLang="en-US" sz="800" b="0" i="0" u="none" strike="noStrike">
                        <a:solidFill>
                          <a:srgbClr val="000000"/>
                        </a:solidFill>
                        <a:latin typeface="游ゴシック"/>
                        <a:ea typeface="游ゴシック"/>
                      </a:endParaRPr>
                    </a:p>
                  </a:txBody>
                  <a:tcPr marL="15605"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三越伊勢丹（支払先）</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615</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600" b="0" i="0" u="none" strike="noStrike">
                          <a:solidFill>
                            <a:srgbClr val="000000"/>
                          </a:solidFill>
                          <a:latin typeface="游ゴシック"/>
                          <a:ea typeface="游ゴシック"/>
                        </a:rPr>
                        <a:t>地代家賃年7,377千円の12分の1。百貨店精算を伴う</a:t>
                      </a:r>
                      <a:endParaRPr lang="ja-JP" altLang="en-US" sz="6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FFFFFF"/>
                    </a:solidFill>
                  </a:tcPr>
                </a:tc>
              </a:tr>
              <a:tr h="329457">
                <a:tc>
                  <a:txBody>
                    <a:bodyPr/>
                    <a:lstStyle/>
                    <a:p>
                      <a:pPr algn="ctr" fontAlgn="ctr">
                        <a:buNone/>
                      </a:pPr>
                      <a:r>
                        <a:rPr lang="ja-JP" altLang="en-US" sz="800" b="0" i="0" u="none" strike="noStrike">
                          <a:solidFill>
                            <a:srgbClr val="000000"/>
                          </a:solidFill>
                          <a:latin typeface="游ゴシック"/>
                          <a:ea typeface="游ゴシック"/>
                        </a:rPr>
                        <a:t>社宅等</a:t>
                      </a:r>
                      <a:endParaRPr lang="ja-JP" altLang="en-US" sz="800" b="0" i="0" u="none" strike="noStrike">
                        <a:solidFill>
                          <a:srgbClr val="000000"/>
                        </a:solidFill>
                        <a:latin typeface="游ゴシック"/>
                        <a:ea typeface="游ゴシック"/>
                      </a:endParaRPr>
                    </a:p>
                  </a:txBody>
                  <a:tcPr marL="15605" marR="15605" marT="0" marB="0" anchor="ctr">
                    <a:lnL>
                      <a:noFill/>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800" b="0" i="0" u="none" strike="noStrike">
                          <a:solidFill>
                            <a:srgbClr val="000000"/>
                          </a:solidFill>
                          <a:latin typeface="游ゴシック"/>
                          <a:ea typeface="游ゴシック"/>
                        </a:rPr>
                        <a:t>建物）住居</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第15宮庭マンション（所在地は要確認）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ctr" fontAlgn="ctr">
                        <a:buNone/>
                      </a:pPr>
                      <a:r>
                        <a:rPr lang="ja-JP" altLang="en-US" sz="800" b="0" i="0" u="none" strike="noStrike">
                          <a:solidFill>
                            <a:srgbClr val="000000"/>
                          </a:solidFill>
                          <a:latin typeface="游ゴシック"/>
                          <a:ea typeface="游ゴシック"/>
                        </a:rPr>
                        <a:t>要確認</a:t>
                      </a:r>
                      <a:endParaRPr lang="ja-JP" altLang="en-US" sz="800" b="0" i="0" u="none" strike="noStrike">
                        <a:solidFill>
                          <a:srgbClr val="000000"/>
                        </a:solidFill>
                        <a:latin typeface="游ゴシック"/>
                        <a:ea typeface="游ゴシック"/>
                      </a:endParaRPr>
                    </a:p>
                  </a:txBody>
                  <a:tcPr marL="15605"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株式会社トシ建設</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130</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600" b="0" i="0" u="none" strike="noStrike">
                          <a:solidFill>
                            <a:srgbClr val="000000"/>
                          </a:solidFill>
                          <a:latin typeface="游ゴシック"/>
                          <a:ea typeface="游ゴシック"/>
                        </a:rPr>
                        <a:t>年1,560千円。従業員・役員の住居か要確認</a:t>
                      </a:r>
                      <a:endParaRPr lang="ja-JP" altLang="en-US" sz="6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FFFFFF"/>
                    </a:solidFill>
                  </a:tcPr>
                </a:tc>
              </a:tr>
              <a:tr h="195073">
                <a:tc>
                  <a:txBody>
                    <a:bodyPr/>
                    <a:lstStyle/>
                    <a:p>
                      <a:pPr algn="ctr" fontAlgn="ctr">
                        <a:buNone/>
                      </a:pPr>
                      <a:r>
                        <a:rPr lang="ja-JP" altLang="en-US" sz="800" b="0" i="0" u="none" strike="noStrike">
                          <a:solidFill>
                            <a:srgbClr val="000000"/>
                          </a:solidFill>
                          <a:latin typeface="游ゴシック"/>
                          <a:ea typeface="游ゴシック"/>
                        </a:rPr>
                        <a:t>事務所</a:t>
                      </a:r>
                      <a:endParaRPr lang="ja-JP" altLang="en-US" sz="800" b="0" i="0" u="none" strike="noStrike">
                        <a:solidFill>
                          <a:srgbClr val="000000"/>
                        </a:solidFill>
                        <a:latin typeface="游ゴシック"/>
                        <a:ea typeface="游ゴシック"/>
                      </a:endParaRPr>
                    </a:p>
                  </a:txBody>
                  <a:tcPr marL="15605" marR="15605" marT="0" marB="0" anchor="ctr">
                    <a:lnL>
                      <a:noFill/>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800" b="0" i="0" u="none" strike="noStrike">
                          <a:solidFill>
                            <a:srgbClr val="000000"/>
                          </a:solidFill>
                          <a:latin typeface="游ゴシック"/>
                          <a:ea typeface="游ゴシック"/>
                        </a:rPr>
                        <a:t>建物）事務所</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東京都（所在地は要確認）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ctr" fontAlgn="ctr">
                        <a:buNone/>
                      </a:pPr>
                      <a:r>
                        <a:rPr lang="ja-JP" altLang="en-US" sz="800" b="0" i="0" u="none" strike="noStrike">
                          <a:solidFill>
                            <a:srgbClr val="000000"/>
                          </a:solidFill>
                          <a:latin typeface="游ゴシック"/>
                          <a:ea typeface="游ゴシック"/>
                        </a:rPr>
                        <a:t>要確認</a:t>
                      </a:r>
                      <a:endParaRPr lang="ja-JP" altLang="en-US" sz="800" b="0" i="0" u="none" strike="noStrike">
                        <a:solidFill>
                          <a:srgbClr val="000000"/>
                        </a:solidFill>
                        <a:latin typeface="游ゴシック"/>
                        <a:ea typeface="游ゴシック"/>
                      </a:endParaRPr>
                    </a:p>
                  </a:txBody>
                  <a:tcPr marL="15605"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シーブス</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53</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600" b="0" i="0" u="none" strike="noStrike">
                          <a:solidFill>
                            <a:srgbClr val="000000"/>
                          </a:solidFill>
                          <a:latin typeface="游ゴシック"/>
                          <a:ea typeface="游ゴシック"/>
                        </a:rPr>
                        <a:t>年640千円</a:t>
                      </a:r>
                      <a:endParaRPr lang="ja-JP" altLang="en-US" sz="6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FFFFFF"/>
                    </a:solidFill>
                  </a:tcPr>
                </a:tc>
              </a:tr>
              <a:tr h="329457">
                <a:tc>
                  <a:txBody>
                    <a:bodyPr/>
                    <a:lstStyle/>
                    <a:p>
                      <a:pPr algn="ctr" fontAlgn="ctr">
                        <a:buNone/>
                      </a:pPr>
                      <a:r>
                        <a:rPr lang="ja-JP" altLang="en-US" sz="800" b="0" i="0" u="none" strike="noStrike">
                          <a:solidFill>
                            <a:srgbClr val="000000"/>
                          </a:solidFill>
                          <a:latin typeface="游ゴシック"/>
                          <a:ea typeface="游ゴシック"/>
                        </a:rPr>
                        <a:t>駐車場</a:t>
                      </a:r>
                      <a:endParaRPr lang="ja-JP" altLang="en-US" sz="800" b="0" i="0" u="none" strike="noStrike">
                        <a:solidFill>
                          <a:srgbClr val="000000"/>
                        </a:solidFill>
                        <a:latin typeface="游ゴシック"/>
                        <a:ea typeface="游ゴシック"/>
                      </a:endParaRPr>
                    </a:p>
                  </a:txBody>
                  <a:tcPr marL="15605" marR="15605" marT="0" marB="0" anchor="ctr">
                    <a:lnL>
                      <a:noFill/>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800" b="0" i="0" u="none" strike="noStrike">
                          <a:solidFill>
                            <a:srgbClr val="000000"/>
                          </a:solidFill>
                          <a:latin typeface="游ゴシック"/>
                          <a:ea typeface="游ゴシック"/>
                        </a:rPr>
                        <a:t>土地）駐車場</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0B3041"/>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中瀬（所在地は要確認）</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ctr" fontAlgn="ctr">
                        <a:buNone/>
                      </a:pPr>
                      <a:r>
                        <a:rPr lang="ja-JP" altLang="en-US" sz="800" b="0" i="0" u="none" strike="noStrike">
                          <a:solidFill>
                            <a:srgbClr val="000000"/>
                          </a:solidFill>
                          <a:latin typeface="游ゴシック"/>
                          <a:ea typeface="游ゴシック"/>
                        </a:rPr>
                        <a:t>要確認</a:t>
                      </a:r>
                      <a:endParaRPr lang="ja-JP" altLang="en-US" sz="800" b="0" i="0" u="none" strike="noStrike">
                        <a:solidFill>
                          <a:srgbClr val="000000"/>
                        </a:solidFill>
                        <a:latin typeface="游ゴシック"/>
                        <a:ea typeface="游ゴシック"/>
                      </a:endParaRPr>
                    </a:p>
                  </a:txBody>
                  <a:tcPr marL="15605"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800" b="0" i="0" u="none" strike="noStrike">
                          <a:solidFill>
                            <a:srgbClr val="000000"/>
                          </a:solidFill>
                          <a:latin typeface="游ゴシック"/>
                          <a:ea typeface="游ゴシック"/>
                        </a:rPr>
                        <a:t>有限会社野村不動産（中瀬）</a:t>
                      </a:r>
                      <a:endParaRPr lang="ja-JP" altLang="en-US" sz="8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28</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要確認</a:t>
                      </a:r>
                      <a:endParaRPr lang="ja-JP" altLang="en-US" sz="800" b="0" i="0" u="none" strike="noStrike">
                        <a:solidFill>
                          <a:srgbClr val="000000"/>
                        </a:solidFill>
                        <a:latin typeface="Arial"/>
                        <a:ea typeface="游ゴシック Medium"/>
                      </a:endParaRPr>
                    </a:p>
                  </a:txBody>
                  <a:tcPr marL="15605" marR="86436"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noFill/>
                  </a:tcPr>
                </a:tc>
                <a:tc>
                  <a:txBody>
                    <a:bodyPr/>
                    <a:lstStyle/>
                    <a:p>
                      <a:pPr algn="l" fontAlgn="ctr">
                        <a:buNone/>
                      </a:pPr>
                      <a:r>
                        <a:rPr lang="ja-JP" altLang="en-US" sz="600" b="0" i="0" u="none" strike="noStrike">
                          <a:solidFill>
                            <a:srgbClr val="000000"/>
                          </a:solidFill>
                          <a:latin typeface="游ゴシック"/>
                          <a:ea typeface="游ゴシック"/>
                        </a:rPr>
                        <a:t>年336千円</a:t>
                      </a:r>
                      <a:endParaRPr lang="ja-JP" altLang="en-US" sz="600" b="0" i="0" u="none" strike="noStrike">
                        <a:solidFill>
                          <a:srgbClr val="000000"/>
                        </a:solidFill>
                        <a:latin typeface="游ゴシック"/>
                        <a:ea typeface="游ゴシック"/>
                      </a:endParaRPr>
                    </a:p>
                  </a:txBody>
                  <a:tcPr marL="86436" marR="15605" marT="0" marB="0" anchor="ctr">
                    <a:lnL w="4334" cap="flat" cmpd="sng" algn="ctr">
                      <a:solidFill>
                        <a:srgbClr val="FFFFFF"/>
                      </a:solidFill>
                      <a:prstDash val="solid"/>
                      <a:round/>
                      <a:headEnd type="none" w="med" len="med"/>
                      <a:tailEnd type="none" w="med" len="med"/>
                    </a:lnL>
                    <a:lnR w="4334" cap="flat" cmpd="sng" algn="ctr">
                      <a:solidFill>
                        <a:srgbClr val="FFFFFF"/>
                      </a:solidFill>
                      <a:prstDash val="solid"/>
                      <a:round/>
                      <a:headEnd type="none" w="med" len="med"/>
                      <a:tailEnd type="none" w="med" len="med"/>
                    </a:lnR>
                    <a:lnT w="4334" cap="flat" cmpd="sng" algn="ctr">
                      <a:solidFill>
                        <a:srgbClr val="A6A6A6"/>
                      </a:solidFill>
                      <a:prstDash val="solid"/>
                      <a:round/>
                      <a:headEnd type="none" w="med" len="med"/>
                      <a:tailEnd type="none" w="med" len="med"/>
                    </a:lnT>
                    <a:lnB w="4334" cap="flat" cmpd="sng" algn="ctr">
                      <a:solidFill>
                        <a:srgbClr val="0B3041"/>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0041296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mj-ea"/>
              </a:rPr>
              <a:t>主な資産は店舗建物・内装設備。令和8年3月期末の有形固定資産簿価は490百万円（土地を含む）で、うち土地が345百万円を占めます。</a:t>
            </a:r>
            <a:endParaRPr lang="en-US" altLang="ja-JP" dirty="0"/>
          </a:p>
        </p:txBody>
      </p:sp>
      <p:sp>
        <p:nvSpPr>
          <p:cNvPr id="15" name="TextBox 14"/>
          <p:cNvSpPr txBox="1"/>
          <p:nvPr/>
        </p:nvSpPr>
        <p:spPr>
          <a:xfrm>
            <a:off x="310896" y="6063455"/>
            <a:ext cx="9875520" cy="274320"/>
          </a:xfrm>
          <a:prstGeom prst="rect">
            <a:avLst/>
          </a:prstGeom>
          <a:noFill/>
        </p:spPr>
        <p:txBody>
          <a:bodyPr wrap="square" lIns="0" tIns="0" rIns="0" bIns="0" anchor="t">
            <a:spAutoFit/>
          </a:bodyPr>
          <a:lstStyle/>
          <a:p>
            <a:r>
              <a:rPr kumimoji="1" lang="ja-JP" altLang="en-US" sz="800" dirty="0">
                <a:solidFill>
                  <a:srgbClr val="595959"/>
                </a:solidFill>
                <a:latin typeface="+mn-ea"/>
                <a:ea typeface="+mn-ea"/>
              </a:rPr>
              <a:t>※出所：固定資産台帳（令和8年3月期）。取得年月は台帳表記からの換算。土地（345,030千円）・建設仮勘定は別掲（不動産詳細参照）。</a:t>
            </a:r>
            <a:endParaRPr kumimoji="1" lang="ja-JP" altLang="en-US" sz="800" dirty="0"/>
          </a:p>
        </p:txBody>
      </p:sp>
      <p:graphicFrame>
        <p:nvGraphicFramePr>
          <p:cNvPr id="16" name="Table 15"/>
          <p:cNvGraphicFramePr>
            <a:graphicFrameLocks noGrp="1"/>
          </p:cNvGraphicFramePr>
          <p:nvPr/>
        </p:nvGraphicFramePr>
        <p:xfrm>
          <a:off x="310896" y="1371600"/>
          <a:ext cx="9966955" cy="4600416"/>
        </p:xfrm>
        <a:graphic>
          <a:graphicData uri="http://schemas.openxmlformats.org/drawingml/2006/table">
            <a:tbl>
              <a:tblPr/>
              <a:tblGrid>
                <a:gridCol w="355018"/>
                <a:gridCol w="1003446"/>
                <a:gridCol w="2564363"/>
                <a:gridCol w="1009309"/>
                <a:gridCol w="1009309"/>
                <a:gridCol w="1009309"/>
                <a:gridCol w="1009309"/>
                <a:gridCol w="1003446"/>
                <a:gridCol w="1003446"/>
              </a:tblGrid>
              <a:tr h="226418">
                <a:tc>
                  <a:txBody>
                    <a:bodyPr/>
                    <a:lstStyle/>
                    <a:p>
                      <a:pPr algn="ctr" fontAlgn="ctr">
                        <a:buNone/>
                      </a:pPr>
                      <a:r>
                        <a:rPr lang="ja-JP" altLang="en-US" sz="1100" b="0" i="0" u="none" strike="noStrike">
                          <a:solidFill>
                            <a:srgbClr val="FFFFFF"/>
                          </a:solidFill>
                          <a:latin typeface="游ゴシック"/>
                          <a:ea typeface="游ゴシック"/>
                        </a:rPr>
                        <a:t>№</a:t>
                      </a:r>
                      <a:endParaRPr lang="ja-JP" altLang="en-US" sz="1100" b="0" i="0" u="none" strike="noStrike">
                        <a:solidFill>
                          <a:srgbClr val="FFFFFF"/>
                        </a:solidFill>
                        <a:latin typeface="游ゴシック"/>
                        <a:ea typeface="游ゴシック"/>
                      </a:endParaRPr>
                    </a:p>
                  </a:txBody>
                  <a:tcPr marL="20583" marR="20583" marT="0" marB="0" anchor="ctr">
                    <a:lnL w="5717"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科目</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資産名</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償却方法</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取得年</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取得月</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耐用年数</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取得原価</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100" b="1" i="0" u="none" strike="noStrike">
                          <a:solidFill>
                            <a:srgbClr val="FFFFFF"/>
                          </a:solidFill>
                          <a:latin typeface="游ゴシック"/>
                          <a:ea typeface="游ゴシック"/>
                        </a:rPr>
                        <a:t>期末帳簿価額</a:t>
                      </a:r>
                      <a:endParaRPr lang="ja-JP" altLang="en-US" sz="1100" b="1" i="0" u="none" strike="noStrike">
                        <a:solidFill>
                          <a:srgbClr val="FFFFFF"/>
                        </a:solidFill>
                        <a:latin typeface="游ゴシック"/>
                        <a:ea typeface="游ゴシック"/>
                      </a:endParaRPr>
                    </a:p>
                  </a:txBody>
                  <a:tcPr marL="20583" marR="20583" marT="0" marB="0" anchor="ctr">
                    <a:lnL w="11435" cap="flat" cmpd="sng" algn="ctr">
                      <a:solidFill>
                        <a:srgbClr val="FFFFFF"/>
                      </a:solidFill>
                      <a:prstDash val="solid"/>
                      <a:round/>
                      <a:headEnd type="none" w="med" len="med"/>
                      <a:tailEnd type="none" w="med" len="med"/>
                    </a:lnL>
                    <a:lnR w="11435" cap="flat" cmpd="sng" algn="ctr">
                      <a:solidFill>
                        <a:srgbClr val="FFFFFF"/>
                      </a:solidFill>
                      <a:prstDash val="solid"/>
                      <a:round/>
                      <a:headEnd type="none" w="med" len="med"/>
                      <a:tailEnd type="none" w="med" len="med"/>
                    </a:lnR>
                    <a:lnT>
                      <a:noFill/>
                    </a:lnT>
                    <a:lnB w="5717" cap="flat" cmpd="sng" algn="ctr">
                      <a:solidFill>
                        <a:srgbClr val="A6A6A6"/>
                      </a:solidFill>
                      <a:prstDash val="solid"/>
                      <a:round/>
                      <a:headEnd type="none" w="med" len="med"/>
                      <a:tailEnd type="none" w="med" len="med"/>
                    </a:lnB>
                    <a:solidFill>
                      <a:srgbClr val="0B3041"/>
                    </a:solidFill>
                  </a:tcPr>
                </a:tc>
              </a:tr>
              <a:tr h="257294">
                <a:tc>
                  <a:txBody>
                    <a:bodyPr/>
                    <a:lstStyle/>
                    <a:p>
                      <a:pPr algn="ctr" fontAlgn="ctr">
                        <a:buNone/>
                      </a:pPr>
                      <a:r>
                        <a:rPr lang="ja-JP" altLang="en-US" sz="1100" b="0" i="0" u="none" strike="noStrike">
                          <a:solidFill>
                            <a:srgbClr val="000000"/>
                          </a:solidFill>
                          <a:latin typeface="游ゴシック"/>
                          <a:ea typeface="游ゴシック"/>
                        </a:rPr>
                        <a:t>1</a:t>
                      </a:r>
                      <a:endParaRPr lang="ja-JP" altLang="en-US" sz="1100" b="0" i="0" u="none" strike="noStrike">
                        <a:solidFill>
                          <a:srgbClr val="000000"/>
                        </a:solidFill>
                        <a:latin typeface="游ゴシック"/>
                        <a:ea typeface="游ゴシック"/>
                      </a:endParaRPr>
                    </a:p>
                  </a:txBody>
                  <a:tcPr marL="20583"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100" b="0" i="0" u="none" strike="noStrike">
                          <a:solidFill>
                            <a:srgbClr val="000000"/>
                          </a:solidFill>
                          <a:latin typeface="游ゴシック"/>
                          <a:ea typeface="游ゴシック"/>
                        </a:rPr>
                        <a:t>建物</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ブランズタワー大船</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47</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61,053,652</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25,569,001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2</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鎌倉店舗</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12</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39</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198,526,810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92,242,941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3</a:t>
                      </a:r>
                      <a:endParaRPr lang="ja-JP" altLang="en-US" sz="1100" b="0" i="0" u="none" strike="noStrike">
                        <a:solidFill>
                          <a:srgbClr val="000000"/>
                        </a:solidFill>
                        <a:latin typeface="游ゴシック"/>
                        <a:ea typeface="游ゴシック"/>
                      </a:endParaRPr>
                    </a:p>
                  </a:txBody>
                  <a:tcPr marL="20583"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A6A6A6"/>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鎌倉山店 螺旋階段</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2018</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39</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1,157,408</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909,149</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4</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鎌倉山店 螺旋階段（新設）</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5,345,456</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5,166,384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5</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大船店 B工事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2022</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6,370,320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4,556,374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6</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ルミリュウ大船 内装工事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4,822,473</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4,472,443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7</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天井照明工事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2,980,706</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1,898,960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8</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紀尾井町店 空調設備工事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4,985,956</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1,812,396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9</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鎌倉店 給排水設備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定率</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12</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23,197,737</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617,007</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10</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紀尾井町店 給排水設備工事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1,650,096</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599,814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11</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建物付属設備</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紀尾井町店 電気設備工事</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2016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1,166,730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424,115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12</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車両運搬具</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MINI F65S</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定率</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7</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4,565,855</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3,425,533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13</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車両運搬具</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垂直リフト（令和6年10月取得・2台）</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定額</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10</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3,151,000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1,969,375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14</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工具器具備品</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看板</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定率</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908,000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352,834</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15</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工具器具備品</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物置</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定率</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473,800</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235,077</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16</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altLang="en-US" sz="1000" b="0" i="0" u="none" strike="noStrike">
                          <a:solidFill>
                            <a:srgbClr val="000000"/>
                          </a:solidFill>
                          <a:latin typeface="游ゴシック"/>
                          <a:ea typeface="游ゴシック"/>
                        </a:rPr>
                        <a:t>工具器具備品</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棚什器・冷蔵庫・ワゴン 他</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定率</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2025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6</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462,982</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320,833</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r h="257294">
                <a:tc>
                  <a:txBody>
                    <a:bodyPr/>
                    <a:lstStyle/>
                    <a:p>
                      <a:pPr algn="ctr" fontAlgn="ctr">
                        <a:buNone/>
                      </a:pPr>
                      <a:r>
                        <a:rPr lang="ja-JP" altLang="en-US" sz="1100" b="0" i="0" u="none" strike="noStrike">
                          <a:solidFill>
                            <a:srgbClr val="000000"/>
                          </a:solidFill>
                          <a:latin typeface="游ゴシック"/>
                          <a:ea typeface="游ゴシック"/>
                        </a:rPr>
                        <a:t>17</a:t>
                      </a:r>
                      <a:endParaRPr lang="ja-JP" altLang="en-US" sz="1100" b="0" i="0" u="none" strike="noStrike">
                        <a:solidFill>
                          <a:srgbClr val="000000"/>
                        </a:solidFill>
                        <a:latin typeface="游ゴシック"/>
                        <a:ea typeface="游ゴシック"/>
                      </a:endParaRPr>
                    </a:p>
                  </a:txBody>
                  <a:tcPr marL="20583" marR="20583" marT="0" marB="0" anchor="ctr">
                    <a:lnL>
                      <a:noFill/>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solidFill>
                      <a:srgbClr val="E3E7E9"/>
                    </a:solidFill>
                  </a:tcPr>
                </a:tc>
                <a:tc>
                  <a:txBody>
                    <a:bodyPr/>
                    <a:lstStyle/>
                    <a:p>
                      <a:pPr algn="l" fontAlgn="ctr">
                        <a:buNone/>
                      </a:pP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000" b="0" i="0" u="none" strike="noStrike">
                          <a:solidFill>
                            <a:srgbClr val="000000"/>
                          </a:solidFill>
                          <a:latin typeface="游ゴシック"/>
                          <a:ea typeface="游ゴシック"/>
                        </a:rPr>
                        <a:t>その他（償却済・備忘価額1円）</a:t>
                      </a:r>
                      <a:endParaRPr lang="ja-JP" altLang="en-US" sz="10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l" fontAlgn="ctr">
                        <a:buNone/>
                      </a:pPr>
                      <a:r>
                        <a:rPr lang="ja-JP" altLang="en-US" sz="1100" b="0" i="0" u="none" strike="noStrike">
                          <a:solidFill>
                            <a:srgbClr val="000000"/>
                          </a:solidFill>
                          <a:latin typeface="游ゴシック"/>
                          <a:ea typeface="游ゴシック"/>
                        </a:rPr>
                        <a:t>－</a:t>
                      </a:r>
                      <a:endParaRPr lang="ja-JP" altLang="en-US" sz="1100" b="0" i="0" u="none" strike="noStrike">
                        <a:solidFill>
                          <a:srgbClr val="000000"/>
                        </a:solidFill>
                        <a:latin typeface="游ゴシック"/>
                        <a:ea typeface="游ゴシック"/>
                      </a:endParaRPr>
                    </a:p>
                  </a:txBody>
                  <a:tcPr marL="114006" marR="20583"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050" b="0" i="0" u="none" strike="noStrike">
                          <a:solidFill>
                            <a:srgbClr val="000000"/>
                          </a:solidFill>
                          <a:latin typeface="Arial"/>
                          <a:ea typeface="游ゴシック Medium"/>
                        </a:rPr>
                        <a:t>－</a:t>
                      </a:r>
                      <a:endParaRPr lang="ja-JP" altLang="en-US" sz="105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c>
                  <a:txBody>
                    <a:bodyPr/>
                    <a:lstStyle/>
                    <a:p>
                      <a:pPr algn="r" fontAlgn="ctr">
                        <a:buNone/>
                      </a:pPr>
                      <a:r>
                        <a:rPr lang="ja-JP" altLang="en-US" sz="1100" b="0" i="0" u="none" strike="noStrike">
                          <a:solidFill>
                            <a:srgbClr val="000000"/>
                          </a:solidFill>
                          <a:latin typeface="Arial"/>
                          <a:ea typeface="游ゴシック Medium"/>
                        </a:rPr>
                        <a:t>15</a:t>
                      </a:r>
                      <a:endParaRPr lang="ja-JP" altLang="en-US" sz="1100" b="0" i="0" u="none" strike="noStrike">
                        <a:solidFill>
                          <a:srgbClr val="000000"/>
                        </a:solidFill>
                        <a:latin typeface="Arial"/>
                        <a:ea typeface="游ゴシック Medium"/>
                      </a:endParaRPr>
                    </a:p>
                  </a:txBody>
                  <a:tcPr marL="20583" marR="114006" marT="0" marB="0" anchor="ctr">
                    <a:lnL w="5717" cap="flat" cmpd="sng" algn="ctr">
                      <a:solidFill>
                        <a:srgbClr val="FFFFFF"/>
                      </a:solidFill>
                      <a:prstDash val="solid"/>
                      <a:round/>
                      <a:headEnd type="none" w="med" len="med"/>
                      <a:tailEnd type="none" w="med" len="med"/>
                    </a:lnL>
                    <a:lnR w="5717" cap="flat" cmpd="sng" algn="ctr">
                      <a:solidFill>
                        <a:srgbClr val="FFFFFF"/>
                      </a:solidFill>
                      <a:prstDash val="solid"/>
                      <a:round/>
                      <a:headEnd type="none" w="med" len="med"/>
                      <a:tailEnd type="none" w="med" len="med"/>
                    </a:lnR>
                    <a:lnT w="5717" cap="flat" cmpd="sng" algn="ctr">
                      <a:solidFill>
                        <a:srgbClr val="0B3041"/>
                      </a:solidFill>
                      <a:prstDash val="solid"/>
                      <a:round/>
                      <a:headEnd type="none" w="med" len="med"/>
                      <a:tailEnd type="none" w="med" len="med"/>
                    </a:lnT>
                    <a:lnB w="5717" cap="flat" cmpd="sng" algn="ctr">
                      <a:solidFill>
                        <a:srgbClr val="0B304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915540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不動産売却代金（令和7年3月末の売掛金841百万円）の回収で、借入金を890→446百万円へ圧縮。総資産は1,408→797百万円となり、純資産は327百万円です。</a:t>
            </a:r>
            <a:endParaRPr lang="en-US" altLang="ja-JP" dirty="0"/>
          </a:p>
        </p:txBody>
      </p:sp>
      <p:graphicFrame>
        <p:nvGraphicFramePr>
          <p:cNvPr id="14" name="Table 13"/>
          <p:cNvGraphicFramePr>
            <a:graphicFrameLocks noGrp="1"/>
          </p:cNvGraphicFramePr>
          <p:nvPr/>
        </p:nvGraphicFramePr>
        <p:xfrm>
          <a:off x="310896" y="1417320"/>
          <a:ext cx="3747609" cy="5486392"/>
        </p:xfrm>
        <a:graphic>
          <a:graphicData uri="http://schemas.openxmlformats.org/drawingml/2006/table">
            <a:tbl>
              <a:tblPr/>
              <a:tblGrid>
                <a:gridCol w="1268130"/>
                <a:gridCol w="826493"/>
                <a:gridCol w="826493"/>
                <a:gridCol w="826493"/>
              </a:tblGrid>
              <a:tr h="237222">
                <a:tc gridSpan="4">
                  <a:txBody>
                    <a:bodyPr/>
                    <a:lstStyle/>
                    <a:p>
                      <a:pPr algn="ctr" fontAlgn="ctr">
                        <a:buNone/>
                      </a:pPr>
                      <a:r>
                        <a:rPr lang="ja-JP" altLang="en-US" sz="800" b="1" i="0" u="none" strike="noStrike">
                          <a:solidFill>
                            <a:srgbClr val="FFFFFF"/>
                          </a:solidFill>
                          <a:latin typeface="游ゴシック"/>
                          <a:ea typeface="游ゴシック"/>
                        </a:rPr>
                        <a:t>資産の部</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r>
              <a:tr h="333120">
                <a:tc>
                  <a:txBody>
                    <a:bodyPr/>
                    <a:lstStyle/>
                    <a:p>
                      <a:pPr algn="ctr" fontAlgn="ctr">
                        <a:buNone/>
                      </a:pPr>
                      <a:r>
                        <a:rPr lang="ja-JP" altLang="en-US" sz="800" b="1" i="0" u="none" strike="noStrike">
                          <a:solidFill>
                            <a:srgbClr val="FFFFFF"/>
                          </a:solidFill>
                          <a:latin typeface="游ゴシック"/>
                          <a:ea typeface="游ゴシック"/>
                        </a:rPr>
                        <a:t>科目</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令和6年3月期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令和7年3月期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令和8年3月期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r>
              <a:tr h="189273">
                <a:tc>
                  <a:txBody>
                    <a:bodyPr/>
                    <a:lstStyle/>
                    <a:p>
                      <a:pPr algn="l" fontAlgn="ctr">
                        <a:buNone/>
                      </a:pPr>
                      <a:r>
                        <a:rPr lang="ja-JP" altLang="en-US" sz="800" b="1" i="0" u="none" strike="noStrike">
                          <a:solidFill>
                            <a:srgbClr val="000000"/>
                          </a:solidFill>
                          <a:latin typeface="游ゴシック"/>
                          <a:ea typeface="游ゴシック"/>
                        </a:rPr>
                        <a:t>【流動資産】</a:t>
                      </a:r>
                      <a:endParaRPr lang="ja-JP" altLang="en-US" sz="800" b="1"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243,652</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899,319</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293,198</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現金及び預金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154,742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31,967</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226,057</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売掛金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2,065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841,411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28,512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前渡金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18,508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未収入金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77,753</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16,432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商品</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8,532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前払費用</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361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387</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710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立替金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391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未収還付法人税等</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10,878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1" i="0" u="none" strike="noStrike">
                          <a:solidFill>
                            <a:srgbClr val="000000"/>
                          </a:solidFill>
                          <a:latin typeface="游ゴシック"/>
                          <a:ea typeface="游ゴシック"/>
                        </a:rPr>
                        <a:t>【固定資産】</a:t>
                      </a:r>
                      <a:endParaRPr lang="ja-JP" altLang="en-US" sz="800" b="1"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1,096,641</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509,172</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503,311</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［有形固定資産］</a:t>
                      </a:r>
                      <a:endParaRPr lang="ja-JP" altLang="en-US" sz="800" b="0" i="0" u="none" strike="noStrike">
                        <a:solidFill>
                          <a:srgbClr val="000000"/>
                        </a:solidFill>
                        <a:latin typeface="游ゴシック"/>
                        <a:ea typeface="游ゴシック"/>
                      </a:endParaRPr>
                    </a:p>
                  </a:txBody>
                  <a:tcPr marL="15259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1,074,868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496,979</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490,146</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r>
              <a:tr h="189273">
                <a:tc>
                  <a:txBody>
                    <a:bodyPr/>
                    <a:lstStyle/>
                    <a:p>
                      <a:pPr algn="l" fontAlgn="ctr">
                        <a:buNone/>
                      </a:pPr>
                      <a:r>
                        <a:rPr lang="ja-JP" altLang="en-US" sz="800" b="0" i="0" u="none" strike="noStrike">
                          <a:solidFill>
                            <a:srgbClr val="000000"/>
                          </a:solidFill>
                          <a:latin typeface="游ゴシック"/>
                          <a:ea typeface="游ゴシック"/>
                        </a:rPr>
                        <a:t>建物</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160,071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125,538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118,721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建物付属設備</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64,040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22,589</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20,091</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構築物</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2,426</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機械装置</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車輛運搬具</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2,205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2,757</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5,395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工具器具備品</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1,222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766</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909</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土地</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807,630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341,830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345,030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建設仮戡定</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37,275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3,500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［無形固定資産］</a:t>
                      </a:r>
                      <a:endParaRPr lang="ja-JP" altLang="en-US" sz="800" b="0" i="0" u="none" strike="noStrike">
                        <a:solidFill>
                          <a:srgbClr val="000000"/>
                        </a:solidFill>
                        <a:latin typeface="游ゴシック"/>
                        <a:ea typeface="游ゴシック"/>
                      </a:endParaRPr>
                    </a:p>
                  </a:txBody>
                  <a:tcPr marL="15259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78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r>
              <a:tr h="186749">
                <a:tc>
                  <a:txBody>
                    <a:bodyPr/>
                    <a:lstStyle/>
                    <a:p>
                      <a:pPr algn="l" fontAlgn="ctr">
                        <a:buNone/>
                      </a:pPr>
                      <a:r>
                        <a:rPr lang="ja-JP" altLang="en-US" sz="800" b="0" i="0" u="none" strike="noStrike">
                          <a:solidFill>
                            <a:srgbClr val="000000"/>
                          </a:solidFill>
                          <a:latin typeface="游ゴシック"/>
                          <a:ea typeface="游ゴシック"/>
                        </a:rPr>
                        <a:t>施設利用権</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78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6749">
                <a:tc>
                  <a:txBody>
                    <a:bodyPr/>
                    <a:lstStyle/>
                    <a:p>
                      <a:pPr algn="l" fontAlgn="ctr">
                        <a:buNone/>
                      </a:pPr>
                      <a:r>
                        <a:rPr lang="ja-JP" altLang="en-US" sz="800" b="0" i="0" u="none" strike="noStrike">
                          <a:solidFill>
                            <a:srgbClr val="000000"/>
                          </a:solidFill>
                          <a:latin typeface="游ゴシック"/>
                          <a:ea typeface="游ゴシック"/>
                        </a:rPr>
                        <a:t>［投資その他資産］</a:t>
                      </a:r>
                      <a:endParaRPr lang="ja-JP" altLang="en-US" sz="800" b="0"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21,694</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12,193</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altLang="en-US" sz="800" b="0" i="0" u="none" strike="noStrike">
                          <a:solidFill>
                            <a:srgbClr val="000000"/>
                          </a:solidFill>
                          <a:latin typeface="Arial"/>
                          <a:ea typeface="游ゴシック Medium"/>
                        </a:rPr>
                        <a:t>13,165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FFFFFF"/>
                    </a:solidFill>
                  </a:tcPr>
                </a:tc>
              </a:tr>
              <a:tr h="189273">
                <a:tc>
                  <a:txBody>
                    <a:bodyPr/>
                    <a:lstStyle/>
                    <a:p>
                      <a:pPr algn="l" fontAlgn="ctr">
                        <a:buNone/>
                      </a:pPr>
                      <a:r>
                        <a:rPr lang="ja-JP" altLang="en-US" sz="800" b="0" i="0" u="none" strike="noStrike">
                          <a:solidFill>
                            <a:srgbClr val="000000"/>
                          </a:solidFill>
                          <a:latin typeface="游ゴシック"/>
                          <a:ea typeface="游ゴシック"/>
                        </a:rPr>
                        <a:t>出資金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敷金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15,707</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12,188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13,160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差入保証金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5,982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1" i="0" u="none" strike="noStrike">
                          <a:solidFill>
                            <a:srgbClr val="FFFFFF"/>
                          </a:solidFill>
                          <a:latin typeface="游ゴシック"/>
                          <a:ea typeface="游ゴシック"/>
                        </a:rPr>
                        <a:t>資産合計</a:t>
                      </a:r>
                      <a:endParaRPr lang="ja-JP" altLang="en-US" sz="800" b="1" i="0" u="none" strike="noStrike">
                        <a:solidFill>
                          <a:srgbClr val="FFFFFF"/>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1,340,292</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1,408,490</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796,509</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r>
            </a:tbl>
          </a:graphicData>
        </a:graphic>
      </p:graphicFrame>
      <p:graphicFrame>
        <p:nvGraphicFramePr>
          <p:cNvPr id="15" name="Table 14"/>
          <p:cNvGraphicFramePr>
            <a:graphicFrameLocks noGrp="1"/>
          </p:cNvGraphicFramePr>
          <p:nvPr/>
        </p:nvGraphicFramePr>
        <p:xfrm>
          <a:off x="5349240" y="1417320"/>
          <a:ext cx="3747609" cy="2657393"/>
        </p:xfrm>
        <a:graphic>
          <a:graphicData uri="http://schemas.openxmlformats.org/drawingml/2006/table">
            <a:tbl>
              <a:tblPr/>
              <a:tblGrid>
                <a:gridCol w="1268130"/>
                <a:gridCol w="826493"/>
                <a:gridCol w="826493"/>
                <a:gridCol w="826493"/>
              </a:tblGrid>
              <a:tr h="237222">
                <a:tc gridSpan="4">
                  <a:txBody>
                    <a:bodyPr/>
                    <a:lstStyle/>
                    <a:p>
                      <a:pPr algn="ctr" fontAlgn="ctr">
                        <a:buNone/>
                      </a:pPr>
                      <a:r>
                        <a:rPr lang="ja-JP" altLang="en-US" sz="800" b="1" i="0" u="none" strike="noStrike">
                          <a:solidFill>
                            <a:srgbClr val="FFFFFF"/>
                          </a:solidFill>
                          <a:latin typeface="游ゴシック"/>
                          <a:ea typeface="游ゴシック"/>
                        </a:rPr>
                        <a:t>負債の部</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FFFFFF"/>
                      </a:solidFill>
                      <a:prstDash val="solid"/>
                      <a:round/>
                      <a:headEnd type="none" w="med" len="med"/>
                      <a:tailEnd type="none" w="med" len="med"/>
                    </a:lnB>
                    <a:solidFill>
                      <a:srgbClr val="0B3041"/>
                    </a:solidFill>
                  </a:tcPr>
                </a:tc>
              </a:tr>
              <a:tr h="338168">
                <a:tc>
                  <a:txBody>
                    <a:bodyPr/>
                    <a:lstStyle/>
                    <a:p>
                      <a:pPr algn="ctr" fontAlgn="ctr">
                        <a:buNone/>
                      </a:pPr>
                      <a:r>
                        <a:rPr lang="ja-JP" altLang="en-US" sz="800" b="1" i="0" u="none" strike="noStrike">
                          <a:solidFill>
                            <a:srgbClr val="FFFFFF"/>
                          </a:solidFill>
                          <a:latin typeface="游ゴシック"/>
                          <a:ea typeface="游ゴシック"/>
                        </a:rPr>
                        <a:t>科目</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令和6年3月期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令和7年3月期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令和8年3月期</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r>
              <a:tr h="189273">
                <a:tc>
                  <a:txBody>
                    <a:bodyPr/>
                    <a:lstStyle/>
                    <a:p>
                      <a:pPr algn="l" fontAlgn="ctr">
                        <a:buNone/>
                      </a:pPr>
                      <a:r>
                        <a:rPr lang="ja-JP" altLang="en-US" sz="800" b="1" i="0" u="none" strike="noStrike">
                          <a:solidFill>
                            <a:srgbClr val="000000"/>
                          </a:solidFill>
                          <a:latin typeface="游ゴシック"/>
                          <a:ea typeface="游ゴシック"/>
                        </a:rPr>
                        <a:t>【流動負債】</a:t>
                      </a:r>
                      <a:endParaRPr lang="ja-JP" altLang="en-US" sz="800" b="1"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546,937</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549,868</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196,855</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買掛金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10,530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106,089</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10,297</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未払金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6,830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11,297</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7,639</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未払消費税</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4,995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3,050</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4,950</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預り金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990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831</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794</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未払法人税等</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195</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21,952</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97</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短期借入金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523,396</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406,649</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173,077</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1" i="0" u="none" strike="noStrike">
                          <a:solidFill>
                            <a:srgbClr val="000000"/>
                          </a:solidFill>
                          <a:latin typeface="游ゴシック"/>
                          <a:ea typeface="游ゴシック"/>
                        </a:rPr>
                        <a:t>【固定負債】</a:t>
                      </a:r>
                      <a:endParaRPr lang="ja-JP" altLang="en-US" sz="800" b="1"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526,720</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483,630</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272,746</a:t>
                      </a:r>
                      <a:endParaRPr lang="ja-JP" altLang="en-US" sz="800" b="1"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長期借入金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526,322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483,630</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272,746</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長期預り保証金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398</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141" marR="83866" marT="0" marB="0" anchor="ctr">
                    <a:lnL>
                      <a:noFill/>
                    </a:lnL>
                    <a:lnR>
                      <a:noFill/>
                    </a:lnR>
                    <a:lnT>
                      <a:noFill/>
                    </a:lnT>
                    <a:lnB>
                      <a:noFill/>
                    </a:lnB>
                    <a:noFill/>
                  </a:tcPr>
                </a:tc>
              </a:tr>
              <a:tr h="189273">
                <a:tc>
                  <a:txBody>
                    <a:bodyPr/>
                    <a:lstStyle/>
                    <a:p>
                      <a:pPr algn="l" fontAlgn="ctr">
                        <a:buNone/>
                      </a:pPr>
                      <a:r>
                        <a:rPr lang="ja-JP" altLang="en-US" sz="800" b="1" i="0" u="none" strike="noStrike">
                          <a:solidFill>
                            <a:srgbClr val="FFFFFF"/>
                          </a:solidFill>
                          <a:latin typeface="游ゴシック"/>
                          <a:ea typeface="游ゴシック"/>
                        </a:rPr>
                        <a:t>負債合計</a:t>
                      </a:r>
                      <a:endParaRPr lang="ja-JP" altLang="en-US" sz="800" b="1" i="0" u="none" strike="noStrike">
                        <a:solidFill>
                          <a:srgbClr val="FFFFFF"/>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1,073,656</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1,033,498</a:t>
                      </a:r>
                      <a:endParaRPr lang="ja-JP" altLang="en-US" sz="800" b="1" i="0" u="none" strike="noStrike">
                        <a:solidFill>
                          <a:srgbClr val="FFFFFF"/>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469,600</a:t>
                      </a:r>
                      <a:endParaRPr lang="ja-JP" altLang="en-US" sz="800" b="1" i="0" u="none" strike="noStrike">
                        <a:solidFill>
                          <a:srgbClr val="FFFFFF"/>
                        </a:solidFill>
                        <a:latin typeface="Arial"/>
                        <a:ea typeface="游ゴシック Medium"/>
                      </a:endParaRPr>
                    </a:p>
                  </a:txBody>
                  <a:tcPr marL="15141" marR="83866" marT="0" marB="0" anchor="ctr">
                    <a:lnL>
                      <a:noFill/>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0B3041"/>
                    </a:solidFill>
                  </a:tcPr>
                </a:tc>
              </a:tr>
            </a:tbl>
          </a:graphicData>
        </a:graphic>
      </p:graphicFrame>
      <p:graphicFrame>
        <p:nvGraphicFramePr>
          <p:cNvPr id="16" name="Table 15"/>
          <p:cNvGraphicFramePr>
            <a:graphicFrameLocks noGrp="1"/>
          </p:cNvGraphicFramePr>
          <p:nvPr/>
        </p:nvGraphicFramePr>
        <p:xfrm>
          <a:off x="5349240" y="5299266"/>
          <a:ext cx="3747609" cy="1695885"/>
        </p:xfrm>
        <a:graphic>
          <a:graphicData uri="http://schemas.openxmlformats.org/drawingml/2006/table">
            <a:tbl>
              <a:tblPr/>
              <a:tblGrid>
                <a:gridCol w="1268130"/>
                <a:gridCol w="826493"/>
                <a:gridCol w="826493"/>
                <a:gridCol w="826493"/>
              </a:tblGrid>
              <a:tr h="186749">
                <a:tc gridSpan="4">
                  <a:txBody>
                    <a:bodyPr/>
                    <a:lstStyle/>
                    <a:p>
                      <a:pPr algn="ctr" fontAlgn="ctr">
                        <a:buNone/>
                      </a:pPr>
                      <a:r>
                        <a:rPr lang="ja-JP" altLang="en-US" sz="800" b="1" i="0" u="none" strike="noStrike">
                          <a:solidFill>
                            <a:srgbClr val="FFFFFF"/>
                          </a:solidFill>
                          <a:latin typeface="游ゴシック"/>
                          <a:ea typeface="游ゴシック"/>
                        </a:rPr>
                        <a:t>純資産の部</a:t>
                      </a: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w="420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4206" cap="flat" cmpd="sng" algn="ctr">
                      <a:solidFill>
                        <a:srgbClr val="FFFFFF"/>
                      </a:solidFill>
                      <a:prstDash val="solid"/>
                      <a:round/>
                      <a:headEnd type="none" w="med" len="med"/>
                      <a:tailEnd type="none" w="med" len="med"/>
                    </a:lnL>
                    <a:lnR w="8412" cap="flat" cmpd="sng" algn="ctr">
                      <a:solidFill>
                        <a:srgbClr val="FFFFFF"/>
                      </a:solidFill>
                      <a:prstDash val="solid"/>
                      <a:round/>
                      <a:headEnd type="none" w="med" len="med"/>
                      <a:tailEnd type="none" w="med" len="med"/>
                    </a:lnR>
                    <a:lnT>
                      <a:noFill/>
                    </a:lnT>
                    <a:lnB w="420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8412" cap="flat" cmpd="sng" algn="ctr">
                      <a:solidFill>
                        <a:srgbClr val="FFFFFF"/>
                      </a:solidFill>
                      <a:prstDash val="solid"/>
                      <a:round/>
                      <a:headEnd type="none" w="med" len="med"/>
                      <a:tailEnd type="none" w="med" len="med"/>
                    </a:lnL>
                    <a:lnR w="8412" cap="flat" cmpd="sng" algn="ctr">
                      <a:solidFill>
                        <a:srgbClr val="FFFFFF"/>
                      </a:solidFill>
                      <a:prstDash val="solid"/>
                      <a:round/>
                      <a:headEnd type="none" w="med" len="med"/>
                      <a:tailEnd type="none" w="med" len="med"/>
                    </a:lnR>
                    <a:lnT>
                      <a:noFill/>
                    </a:lnT>
                    <a:lnB w="4206" cap="flat" cmpd="sng" algn="ctr">
                      <a:solidFill>
                        <a:srgbClr val="A6A6A6"/>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141" marR="15141" marT="0" marB="0" anchor="ctr">
                    <a:lnL w="8412" cap="flat" cmpd="sng" algn="ctr">
                      <a:solidFill>
                        <a:srgbClr val="FFFFFF"/>
                      </a:solidFill>
                      <a:prstDash val="solid"/>
                      <a:round/>
                      <a:headEnd type="none" w="med" len="med"/>
                      <a:tailEnd type="none" w="med" len="med"/>
                    </a:lnL>
                    <a:lnR w="8412" cap="flat" cmpd="sng" algn="ctr">
                      <a:solidFill>
                        <a:srgbClr val="FFFFFF"/>
                      </a:solidFill>
                      <a:prstDash val="solid"/>
                      <a:round/>
                      <a:headEnd type="none" w="med" len="med"/>
                      <a:tailEnd type="none" w="med" len="med"/>
                    </a:lnR>
                    <a:lnT>
                      <a:noFill/>
                    </a:lnT>
                    <a:lnB w="4206" cap="flat" cmpd="sng" algn="ctr">
                      <a:solidFill>
                        <a:srgbClr val="A6A6A6"/>
                      </a:solidFill>
                      <a:prstDash val="solid"/>
                      <a:round/>
                      <a:headEnd type="none" w="med" len="med"/>
                      <a:tailEnd type="none" w="med" len="med"/>
                    </a:lnB>
                    <a:solidFill>
                      <a:srgbClr val="0B3041"/>
                    </a:solidFill>
                  </a:tcPr>
                </a:tc>
              </a:tr>
              <a:tr h="186749">
                <a:tc>
                  <a:txBody>
                    <a:bodyPr/>
                    <a:lstStyle/>
                    <a:p>
                      <a:pPr algn="l" fontAlgn="ctr">
                        <a:buNone/>
                      </a:pPr>
                      <a:r>
                        <a:rPr lang="ja-JP" altLang="en-US" sz="800" b="0" i="0" u="none" strike="noStrike">
                          <a:solidFill>
                            <a:srgbClr val="000000"/>
                          </a:solidFill>
                          <a:latin typeface="游ゴシック"/>
                          <a:ea typeface="游ゴシック"/>
                        </a:rPr>
                        <a:t>【資本金】</a:t>
                      </a:r>
                      <a:endParaRPr lang="ja-JP" altLang="en-US" sz="800" b="0"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a:noFill/>
                    </a:lnR>
                    <a:lnT w="4206" cap="flat" cmpd="sng" algn="ctr">
                      <a:solidFill>
                        <a:srgbClr val="A6A6A6"/>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w="4206" cap="flat" cmpd="sng" algn="ctr">
                      <a:solidFill>
                        <a:srgbClr val="A6A6A6"/>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A6A6A6"/>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A6A6A6"/>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r>
              <a:tr h="186749">
                <a:tc>
                  <a:txBody>
                    <a:bodyPr/>
                    <a:lstStyle/>
                    <a:p>
                      <a:pPr algn="l" fontAlgn="ctr">
                        <a:buNone/>
                      </a:pPr>
                      <a:r>
                        <a:rPr lang="ja-JP" altLang="en-US" sz="800" b="0" i="0" u="none" strike="noStrike">
                          <a:solidFill>
                            <a:srgbClr val="000000"/>
                          </a:solidFill>
                          <a:latin typeface="游ゴシック"/>
                          <a:ea typeface="游ゴシック"/>
                        </a:rPr>
                        <a:t>資本金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【資本剰余金】</a:t>
                      </a:r>
                      <a:endParaRPr lang="ja-JP" altLang="en-US" sz="800" b="0"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その他資本剰余金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5,000</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a:noFill/>
                    </a:lnB>
                    <a:noFill/>
                  </a:tcPr>
                </a:tc>
              </a:tr>
              <a:tr h="189273">
                <a:tc>
                  <a:txBody>
                    <a:bodyPr/>
                    <a:lstStyle/>
                    <a:p>
                      <a:pPr algn="l" fontAlgn="ctr">
                        <a:buNone/>
                      </a:pPr>
                      <a:r>
                        <a:rPr lang="ja-JP" altLang="en-US" sz="800" b="0" i="0" u="none" strike="noStrike">
                          <a:solidFill>
                            <a:srgbClr val="000000"/>
                          </a:solidFill>
                          <a:latin typeface="游ゴシック"/>
                          <a:ea typeface="游ゴシック"/>
                        </a:rPr>
                        <a:t>【利益剰余金】</a:t>
                      </a:r>
                      <a:endParaRPr lang="ja-JP" altLang="en-US" sz="800" b="0" i="0" u="none" strike="noStrike">
                        <a:solidFill>
                          <a:srgbClr val="000000"/>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a:noFill/>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261,136</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369,492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0" i="0" u="none" strike="noStrike">
                          <a:solidFill>
                            <a:srgbClr val="000000"/>
                          </a:solidFill>
                          <a:latin typeface="Arial"/>
                          <a:ea typeface="游ゴシック Medium"/>
                        </a:rPr>
                        <a:t>321,409</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0B3041"/>
                      </a:solidFill>
                      <a:prstDash val="solid"/>
                      <a:round/>
                      <a:headEnd type="none" w="med" len="med"/>
                      <a:tailEnd type="none" w="med" len="med"/>
                    </a:lnT>
                    <a:lnB w="4206" cap="flat" cmpd="sng" algn="ctr">
                      <a:solidFill>
                        <a:srgbClr val="0B3041"/>
                      </a:solidFill>
                      <a:prstDash val="solid"/>
                      <a:round/>
                      <a:headEnd type="none" w="med" len="med"/>
                      <a:tailEnd type="none" w="med" len="med"/>
                    </a:lnB>
                    <a:solidFill>
                      <a:srgbClr val="E1F3FB"/>
                    </a:solidFill>
                  </a:tcPr>
                </a:tc>
              </a:tr>
              <a:tr h="189273">
                <a:tc>
                  <a:txBody>
                    <a:bodyPr/>
                    <a:lstStyle/>
                    <a:p>
                      <a:pPr algn="l" fontAlgn="ctr">
                        <a:buNone/>
                      </a:pPr>
                      <a:r>
                        <a:rPr lang="ja-JP" altLang="en-US" sz="800" b="0" i="0" u="none" strike="noStrike">
                          <a:solidFill>
                            <a:srgbClr val="000000"/>
                          </a:solidFill>
                          <a:latin typeface="游ゴシック"/>
                          <a:ea typeface="游ゴシック"/>
                        </a:rPr>
                        <a:t>繰越利益剰余金</a:t>
                      </a:r>
                      <a:endParaRPr lang="ja-JP" altLang="en-US" sz="800" b="0" i="0" u="none" strike="noStrike">
                        <a:solidFill>
                          <a:srgbClr val="000000"/>
                        </a:solidFill>
                        <a:latin typeface="游ゴシック"/>
                        <a:ea typeface="游ゴシック"/>
                      </a:endParaRPr>
                    </a:p>
                  </a:txBody>
                  <a:tcPr marL="221316" marR="15141" marT="0" marB="0" anchor="ctr">
                    <a:lnL w="4206"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261,136</a:t>
                      </a:r>
                      <a:endParaRPr lang="ja-JP" altLang="en-US" sz="800" b="0" i="0" u="none" strike="noStrike">
                        <a:solidFill>
                          <a:srgbClr val="000000"/>
                        </a:solidFill>
                        <a:latin typeface="Arial"/>
                        <a:ea typeface="游ゴシック Medium"/>
                      </a:endParaRPr>
                    </a:p>
                  </a:txBody>
                  <a:tcPr marL="15141" marR="83866" marT="0" marB="0" anchor="ctr">
                    <a:lnL>
                      <a:noFill/>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369,492</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321,409</a:t>
                      </a:r>
                      <a:endParaRPr lang="ja-JP" altLang="en-US" sz="800" b="0" i="0" u="none" strike="noStrike">
                        <a:solidFill>
                          <a:srgbClr val="000000"/>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a:noFill/>
                    </a:lnT>
                    <a:lnB>
                      <a:noFill/>
                    </a:lnB>
                    <a:noFill/>
                  </a:tcPr>
                </a:tc>
              </a:tr>
              <a:tr h="189273">
                <a:tc>
                  <a:txBody>
                    <a:bodyPr/>
                    <a:lstStyle/>
                    <a:p>
                      <a:pPr algn="l" fontAlgn="ctr">
                        <a:buNone/>
                      </a:pPr>
                      <a:r>
                        <a:rPr lang="ja-JP" altLang="en-US" sz="800" b="1" i="0" u="none" strike="noStrike">
                          <a:solidFill>
                            <a:srgbClr val="FFFFFF"/>
                          </a:solidFill>
                          <a:latin typeface="游ゴシック"/>
                          <a:ea typeface="游ゴシック"/>
                        </a:rPr>
                        <a:t>純資産合計</a:t>
                      </a:r>
                      <a:endParaRPr lang="ja-JP" altLang="en-US" sz="800" b="1" i="0" u="none" strike="noStrike">
                        <a:solidFill>
                          <a:srgbClr val="FFFFFF"/>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266,636</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374,992</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326,909</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w="4206" cap="flat" cmpd="sng" algn="ctr">
                      <a:solidFill>
                        <a:srgbClr val="FFFFFF"/>
                      </a:solidFill>
                      <a:prstDash val="solid"/>
                      <a:round/>
                      <a:headEnd type="none" w="med" len="med"/>
                      <a:tailEnd type="none" w="med" len="med"/>
                    </a:lnB>
                    <a:solidFill>
                      <a:srgbClr val="0B3041"/>
                    </a:solidFill>
                  </a:tcPr>
                </a:tc>
              </a:tr>
              <a:tr h="189273">
                <a:tc>
                  <a:txBody>
                    <a:bodyPr/>
                    <a:lstStyle/>
                    <a:p>
                      <a:pPr algn="l" fontAlgn="ctr">
                        <a:buNone/>
                      </a:pPr>
                      <a:r>
                        <a:rPr lang="ja-JP" altLang="en-US" sz="800" b="1" i="0" u="none" strike="noStrike">
                          <a:solidFill>
                            <a:srgbClr val="FFFFFF"/>
                          </a:solidFill>
                          <a:latin typeface="游ゴシック"/>
                          <a:ea typeface="游ゴシック"/>
                        </a:rPr>
                        <a:t>負債・純資産合計</a:t>
                      </a:r>
                      <a:endParaRPr lang="ja-JP" altLang="en-US" sz="800" b="1" i="0" u="none" strike="noStrike">
                        <a:solidFill>
                          <a:srgbClr val="FFFFFF"/>
                        </a:solidFill>
                        <a:latin typeface="游ゴシック"/>
                        <a:ea typeface="游ゴシック"/>
                      </a:endParaRPr>
                    </a:p>
                  </a:txBody>
                  <a:tcPr marL="83866" marR="15141"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1,340,292</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1,408,490</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c>
                  <a:txBody>
                    <a:bodyPr/>
                    <a:lstStyle/>
                    <a:p>
                      <a:pPr algn="r" fontAlgn="ctr">
                        <a:buNone/>
                      </a:pPr>
                      <a:r>
                        <a:rPr lang="ja-JP" altLang="en-US" sz="800" b="1" i="0" u="none" strike="noStrike">
                          <a:solidFill>
                            <a:srgbClr val="FFFFFF"/>
                          </a:solidFill>
                          <a:latin typeface="Arial"/>
                          <a:ea typeface="游ゴシック Medium"/>
                        </a:rPr>
                        <a:t>796,509</a:t>
                      </a:r>
                      <a:endParaRPr lang="ja-JP" altLang="en-US" sz="800" b="1" i="0" u="none" strike="noStrike">
                        <a:solidFill>
                          <a:srgbClr val="FFFFFF"/>
                        </a:solidFill>
                        <a:latin typeface="Arial"/>
                        <a:ea typeface="游ゴシック Medium"/>
                      </a:endParaRPr>
                    </a:p>
                  </a:txBody>
                  <a:tcPr marL="15141" marR="83866" marT="0" marB="0" anchor="ctr">
                    <a:lnL w="4206" cap="flat" cmpd="sng" algn="ctr">
                      <a:solidFill>
                        <a:srgbClr val="FFFFFF"/>
                      </a:solidFill>
                      <a:prstDash val="solid"/>
                      <a:round/>
                      <a:headEnd type="none" w="med" len="med"/>
                      <a:tailEnd type="none" w="med" len="med"/>
                    </a:lnL>
                    <a:lnR w="4206" cap="flat" cmpd="sng" algn="ctr">
                      <a:solidFill>
                        <a:srgbClr val="FFFFFF"/>
                      </a:solidFill>
                      <a:prstDash val="solid"/>
                      <a:round/>
                      <a:headEnd type="none" w="med" len="med"/>
                      <a:tailEnd type="none" w="med" len="med"/>
                    </a:lnR>
                    <a:lnT w="4206" cap="flat" cmpd="sng" algn="ctr">
                      <a:solidFill>
                        <a:srgbClr val="FFFFFF"/>
                      </a:solidFill>
                      <a:prstDash val="solid"/>
                      <a:round/>
                      <a:headEnd type="none" w="med" len="med"/>
                      <a:tailEnd type="none" w="med" len="med"/>
                    </a:lnT>
                    <a:lnB>
                      <a:noFill/>
                    </a:lnB>
                    <a:solidFill>
                      <a:srgbClr val="0B3041"/>
                    </a:solidFill>
                  </a:tcPr>
                </a:tc>
              </a:tr>
            </a:tbl>
          </a:graphicData>
        </a:graphic>
      </p:graphicFrame>
    </p:spTree>
    <p:extLst>
      <p:ext uri="{BB962C8B-B14F-4D97-AF65-F5344CB8AC3E}">
        <p14:creationId xmlns:p14="http://schemas.microsoft.com/office/powerpoint/2010/main" val="2877881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令和7年3月期は不動産売却を含む特殊な期。店舗等の継続事業は売上約3億円・営業損益ほぼ均衡で推移し、令和8年3月期の当期純損失は過年度法人税等の納付によるものです。</a:t>
            </a:r>
            <a:endParaRPr lang="en-US" altLang="ja-JP" dirty="0"/>
          </a:p>
        </p:txBody>
      </p:sp>
      <p:sp>
        <p:nvSpPr>
          <p:cNvPr id="2" name="正方形/長方形 1">
            <a:extLst>
              <a:ext uri="{FF2B5EF4-FFF2-40B4-BE49-F238E27FC236}">
                <a16:creationId xmlns:a16="http://schemas.microsoft.com/office/drawing/2014/main" id="{BF27BA7A-9153-58C5-3140-5975C57507B3}"/>
              </a:ext>
            </a:extLst>
          </p:cNvPr>
          <p:cNvSpPr/>
          <p:nvPr/>
        </p:nvSpPr>
        <p:spPr>
          <a:xfrm>
            <a:off x="6455664" y="1382390"/>
            <a:ext cx="3924999" cy="5596336"/>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6" name="テキスト ボックス 5">
            <a:extLst>
              <a:ext uri="{FF2B5EF4-FFF2-40B4-BE49-F238E27FC236}">
                <a16:creationId xmlns:a16="http://schemas.microsoft.com/office/drawing/2014/main" id="{A007D27D-8826-CDC6-2389-3E385CB817A8}"/>
              </a:ext>
            </a:extLst>
          </p:cNvPr>
          <p:cNvSpPr txBox="1"/>
          <p:nvPr/>
        </p:nvSpPr>
        <p:spPr>
          <a:xfrm>
            <a:off x="6455664" y="1828800"/>
            <a:ext cx="3894836" cy="3724096"/>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≪売上≫</a:t>
            </a:r>
            <a:endParaRPr kumimoji="1" lang="ja-JP" altLang="en-US" sz="900" dirty="0"/>
          </a:p>
          <a:p>
            <a:r>
              <a:rPr kumimoji="1" lang="ja-JP" altLang="en-US" sz="900" dirty="0">
                <a:solidFill>
                  <a:schemeClr val="tx1"/>
                </a:solidFill>
                <a:latin typeface="+mn-ea"/>
                <a:ea typeface="+mn-ea"/>
              </a:rPr>
              <a:t>・令和7年3月期：賃貸不動産の売却収入869百万円（土地761百万円・建物108百万円）を含む</a:t>
            </a:r>
            <a:endParaRPr kumimoji="1" lang="ja-JP" altLang="en-US" sz="900" dirty="0"/>
          </a:p>
          <a:p>
            <a:r>
              <a:rPr kumimoji="1" lang="ja-JP" altLang="en-US" sz="900" dirty="0">
                <a:solidFill>
                  <a:schemeClr val="tx1"/>
                </a:solidFill>
                <a:latin typeface="+mn-ea"/>
                <a:ea typeface="+mn-ea"/>
              </a:rPr>
              <a:t>・令和8年3月期：コンサル収入14百万円（単発・要確認）を含む</a:t>
            </a:r>
            <a:endParaRPr kumimoji="1" lang="ja-JP" altLang="en-US" sz="900" dirty="0"/>
          </a:p>
          <a:p>
            <a:r>
              <a:rPr kumimoji="1" lang="ja-JP" altLang="en-US" sz="900" dirty="0">
                <a:solidFill>
                  <a:schemeClr val="tx1"/>
                </a:solidFill>
                <a:latin typeface="+mn-ea"/>
                <a:ea typeface="+mn-ea"/>
              </a:rPr>
              <a:t>≪売上原価≫</a:t>
            </a:r>
            <a:endParaRPr kumimoji="1" lang="ja-JP" altLang="en-US" sz="900" dirty="0"/>
          </a:p>
          <a:p>
            <a:r>
              <a:rPr kumimoji="1" lang="ja-JP" altLang="en-US" sz="900" dirty="0">
                <a:solidFill>
                  <a:schemeClr val="tx1"/>
                </a:solidFill>
                <a:latin typeface="+mn-ea"/>
                <a:ea typeface="+mn-ea"/>
              </a:rPr>
              <a:t>・令和7年3月期は不動産売却関連原価636百万円（物件原価・紹介手数料・コンサル費用等）を含む</a:t>
            </a:r>
            <a:endParaRPr kumimoji="1" lang="ja-JP" altLang="en-US" sz="900" dirty="0"/>
          </a:p>
          <a:p>
            <a:r>
              <a:rPr kumimoji="1" lang="ja-JP" altLang="en-US" sz="900" dirty="0">
                <a:solidFill>
                  <a:schemeClr val="tx1"/>
                </a:solidFill>
                <a:latin typeface="+mn-ea"/>
                <a:ea typeface="+mn-ea"/>
              </a:rPr>
              <a:t>≪特別損失≫</a:t>
            </a:r>
            <a:endParaRPr kumimoji="1" lang="ja-JP" altLang="en-US" sz="900" dirty="0"/>
          </a:p>
          <a:p>
            <a:r>
              <a:rPr kumimoji="1" lang="ja-JP" altLang="en-US" sz="900" dirty="0">
                <a:solidFill>
                  <a:schemeClr val="tx1"/>
                </a:solidFill>
                <a:latin typeface="+mn-ea"/>
                <a:ea typeface="+mn-ea"/>
              </a:rPr>
              <a:t>・令和7年3月期：店舗等の設備除却損81百万円</a:t>
            </a:r>
            <a:endParaRPr kumimoji="1" lang="ja-JP" altLang="en-US" sz="900" dirty="0"/>
          </a:p>
          <a:p>
            <a:r>
              <a:rPr kumimoji="1" lang="ja-JP" altLang="en-US" sz="900" dirty="0">
                <a:solidFill>
                  <a:schemeClr val="tx1"/>
                </a:solidFill>
                <a:latin typeface="+mn-ea"/>
                <a:ea typeface="+mn-ea"/>
              </a:rPr>
              <a:t>≪法人税等≫</a:t>
            </a:r>
            <a:endParaRPr kumimoji="1" lang="ja-JP" altLang="en-US" sz="900" dirty="0"/>
          </a:p>
          <a:p>
            <a:r>
              <a:rPr kumimoji="1" lang="ja-JP" altLang="en-US" sz="900" dirty="0">
                <a:solidFill>
                  <a:schemeClr val="tx1"/>
                </a:solidFill>
                <a:latin typeface="+mn-ea"/>
                <a:ea typeface="+mn-ea"/>
              </a:rPr>
              <a:t>・令和8年3月期：過年度法人税等48百万円（令和3〜4年度分の納付）を含む</a:t>
            </a:r>
            <a:endParaRPr kumimoji="1" lang="ja-JP" altLang="en-US" sz="900" dirty="0"/>
          </a:p>
          <a:p>
            <a:r>
              <a:rPr kumimoji="1" lang="ja-JP" altLang="en-US" sz="900" dirty="0">
                <a:solidFill>
                  <a:schemeClr val="tx1"/>
                </a:solidFill>
                <a:latin typeface="+mn-ea"/>
                <a:ea typeface="+mn-ea"/>
              </a:rPr>
              <a:t>≪その他≫</a:t>
            </a:r>
            <a:endParaRPr kumimoji="1" lang="ja-JP" altLang="en-US" sz="900" dirty="0"/>
          </a:p>
          <a:p>
            <a:r>
              <a:rPr kumimoji="1" lang="ja-JP" altLang="en-US" sz="900" dirty="0">
                <a:solidFill>
                  <a:schemeClr val="tx1"/>
                </a:solidFill>
                <a:latin typeface="+mn-ea"/>
                <a:ea typeface="+mn-ea"/>
              </a:rPr>
              <a:t>・令和7年3月期の雑損失8.8百万円は消費税の確定計上による</a:t>
            </a:r>
            <a:endParaRPr kumimoji="1" lang="ja-JP" altLang="en-US" sz="900" dirty="0"/>
          </a:p>
        </p:txBody>
      </p:sp>
      <p:graphicFrame>
        <p:nvGraphicFramePr>
          <p:cNvPr id="14" name="Table 13"/>
          <p:cNvGraphicFramePr>
            <a:graphicFrameLocks noGrp="1"/>
          </p:cNvGraphicFramePr>
          <p:nvPr/>
        </p:nvGraphicFramePr>
        <p:xfrm>
          <a:off x="310896" y="1371600"/>
          <a:ext cx="5415558" cy="5577825"/>
        </p:xfrm>
        <a:graphic>
          <a:graphicData uri="http://schemas.openxmlformats.org/drawingml/2006/table">
            <a:tbl>
              <a:tblPr/>
              <a:tblGrid>
                <a:gridCol w="1264260"/>
                <a:gridCol w="691883"/>
                <a:gridCol w="691883"/>
                <a:gridCol w="691883"/>
                <a:gridCol w="691883"/>
                <a:gridCol w="691883"/>
                <a:gridCol w="691883"/>
              </a:tblGrid>
              <a:tr h="150956">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ctr">
                    <a:lnL>
                      <a:noFill/>
                    </a:lnL>
                    <a:lnR w="4193"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ctr">
                    <a:lnL w="4193"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ctr">
                    <a:lnL>
                      <a:noFill/>
                    </a:lnL>
                    <a:lnR w="4193"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b">
                    <a:lnL w="4193"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b">
                    <a:lnL>
                      <a:noFill/>
                    </a:lnL>
                    <a:lnR w="4193"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50" b="0" i="0" u="none" strike="noStrike">
                        <a:solidFill>
                          <a:srgbClr val="000000"/>
                        </a:solidFill>
                        <a:latin typeface="游ゴシック Medium"/>
                        <a:ea typeface="游ゴシック Medium"/>
                      </a:endParaRPr>
                    </a:p>
                  </a:txBody>
                  <a:tcPr marL="15095" marR="15095" marT="0" marB="0" anchor="ctr">
                    <a:lnL w="4193"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750" b="0" i="0" u="none" strike="noStrike">
                          <a:solidFill>
                            <a:srgbClr val="000000"/>
                          </a:solidFill>
                          <a:latin typeface="游ゴシック"/>
                          <a:ea typeface="游ゴシック"/>
                        </a:rPr>
                        <a:t>(単位：千円)</a:t>
                      </a:r>
                      <a:endParaRPr lang="ja-JP" altLang="en-US" sz="750" b="0" i="0" u="none" strike="noStrike">
                        <a:solidFill>
                          <a:srgbClr val="000000"/>
                        </a:solidFill>
                        <a:latin typeface="游ゴシック"/>
                        <a:ea typeface="游ゴシック"/>
                      </a:endParaRPr>
                    </a:p>
                  </a:txBody>
                  <a:tcPr marL="15095" marR="15095" marT="0" marB="0" anchor="ctr">
                    <a:lnL>
                      <a:noFill/>
                    </a:lnL>
                    <a:lnR>
                      <a:noFill/>
                    </a:lnR>
                    <a:lnT>
                      <a:noFill/>
                    </a:lnT>
                    <a:lnB>
                      <a:noFill/>
                    </a:lnB>
                    <a:noFill/>
                  </a:tcPr>
                </a:tc>
              </a:tr>
              <a:tr h="166052">
                <a:tc rowSpan="2">
                  <a:txBody>
                    <a:bodyPr/>
                    <a:lstStyle/>
                    <a:p>
                      <a:pPr algn="ctr" fontAlgn="ctr">
                        <a:buNone/>
                      </a:pPr>
                      <a:r>
                        <a:rPr lang="ja-JP" altLang="en-US" sz="800" b="1" i="0" u="none" strike="noStrike">
                          <a:solidFill>
                            <a:srgbClr val="FFFFFF"/>
                          </a:solidFill>
                          <a:latin typeface="游ゴシック"/>
                          <a:ea typeface="游ゴシック"/>
                        </a:rPr>
                        <a:t>科目</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altLang="en-US" sz="800" b="1" i="0" u="none" strike="noStrike">
                          <a:solidFill>
                            <a:srgbClr val="FFFFFF"/>
                          </a:solidFill>
                          <a:latin typeface="游ゴシック"/>
                          <a:ea typeface="游ゴシック"/>
                        </a:rPr>
                        <a:t>令和6年3月期</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8386"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095" marR="15095" marT="0" marB="0" anchor="ctr">
                    <a:lnL w="8386"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800" b="1" i="0" u="none" strike="noStrike">
                          <a:solidFill>
                            <a:srgbClr val="FFFFFF"/>
                          </a:solidFill>
                          <a:latin typeface="游ゴシック"/>
                          <a:ea typeface="游ゴシック"/>
                        </a:rPr>
                        <a:t>令和7年3月期</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8386"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095" marR="15095" marT="0" marB="0" anchor="ctr">
                    <a:lnL w="8386"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800" b="1" i="0" u="none" strike="noStrike">
                          <a:solidFill>
                            <a:srgbClr val="FFFFFF"/>
                          </a:solidFill>
                          <a:latin typeface="游ゴシック"/>
                          <a:ea typeface="游ゴシック"/>
                        </a:rPr>
                        <a:t>令和8年3月期</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8386"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800" b="1" i="0" u="none" strike="noStrike">
                        <a:solidFill>
                          <a:srgbClr val="FFFFFF"/>
                        </a:solidFill>
                        <a:latin typeface="游ゴシック"/>
                        <a:ea typeface="游ゴシック"/>
                      </a:endParaRPr>
                    </a:p>
                  </a:txBody>
                  <a:tcPr marL="15095" marR="15095" marT="0" marB="0" anchor="ctr">
                    <a:lnL w="8386"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FFFFFF"/>
                      </a:solidFill>
                      <a:prstDash val="solid"/>
                      <a:round/>
                      <a:headEnd type="none" w="med" len="med"/>
                      <a:tailEnd type="none" w="med" len="med"/>
                    </a:lnB>
                    <a:solidFill>
                      <a:srgbClr val="0B3041"/>
                    </a:solidFill>
                  </a:tcPr>
                </a:tc>
              </a:tr>
              <a:tr h="166052">
                <a:tc vMerge="1">
                  <a:txBody>
                    <a:bodyPr/>
                    <a:lstStyle/>
                    <a:p>
                      <a:pPr algn="ctr" fontAlgn="ctr">
                        <a:buNone/>
                      </a:pP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帳簿価額</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売上高比</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帳簿価額</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売上高比</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帳簿価額</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800" b="1" i="0" u="none" strike="noStrike">
                          <a:solidFill>
                            <a:srgbClr val="FFFFFF"/>
                          </a:solidFill>
                          <a:latin typeface="游ゴシック"/>
                          <a:ea typeface="游ゴシック"/>
                        </a:rPr>
                        <a:t>売上高比</a:t>
                      </a:r>
                      <a:endParaRPr lang="ja-JP" altLang="en-US" sz="800" b="1" i="0" u="none" strike="noStrike">
                        <a:solidFill>
                          <a:srgbClr val="FFFFFF"/>
                        </a:solidFill>
                        <a:latin typeface="游ゴシック"/>
                        <a:ea typeface="游ゴシック"/>
                      </a:endParaRPr>
                    </a:p>
                  </a:txBody>
                  <a:tcPr marL="1509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FFFFFF"/>
                      </a:solidFill>
                      <a:prstDash val="solid"/>
                      <a:round/>
                      <a:headEnd type="none" w="med" len="med"/>
                      <a:tailEnd type="none" w="med" len="med"/>
                    </a:lnT>
                    <a:lnB>
                      <a:noFill/>
                    </a:lnB>
                    <a:solidFill>
                      <a:srgbClr val="0B3041"/>
                    </a:solidFill>
                  </a:tcPr>
                </a:tc>
              </a:tr>
              <a:tr h="188695">
                <a:tc>
                  <a:txBody>
                    <a:bodyPr/>
                    <a:lstStyle/>
                    <a:p>
                      <a:pPr algn="l" fontAlgn="ctr">
                        <a:buNone/>
                      </a:pPr>
                      <a:r>
                        <a:rPr lang="ja-JP" altLang="en-US" sz="600" b="0" i="0" u="none" strike="noStrike">
                          <a:solidFill>
                            <a:srgbClr val="000000"/>
                          </a:solidFill>
                          <a:latin typeface="游ゴシック"/>
                          <a:ea typeface="游ゴシック"/>
                        </a:rPr>
                        <a:t>店舗・EC等売上高</a:t>
                      </a:r>
                      <a:endParaRPr lang="ja-JP" altLang="en-US" sz="600" b="0" i="0" u="none" strike="noStrike">
                        <a:solidFill>
                          <a:srgbClr val="000000"/>
                        </a:solidFill>
                        <a:latin typeface="游ゴシック"/>
                        <a:ea typeface="游ゴシック"/>
                      </a:endParaRPr>
                    </a:p>
                  </a:txBody>
                  <a:tcPr marL="15212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366,806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95.7%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344,798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28.0%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303,703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95.1%</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不動産賃貸収入</a:t>
                      </a:r>
                      <a:endParaRPr lang="ja-JP" altLang="en-US" sz="600" b="0" i="0" u="none" strike="noStrike">
                        <a:solidFill>
                          <a:srgbClr val="000000"/>
                        </a:solidFill>
                        <a:latin typeface="游ゴシック"/>
                        <a:ea typeface="游ゴシック"/>
                      </a:endParaRPr>
                    </a:p>
                  </a:txBody>
                  <a:tcPr marL="15212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16,634</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4.3%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16,832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1.4%</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1,635</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0.5%</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不動産売却収入</a:t>
                      </a:r>
                      <a:endParaRPr lang="ja-JP" altLang="en-US" sz="600" b="0" i="0" u="none" strike="noStrike">
                        <a:solidFill>
                          <a:srgbClr val="000000"/>
                        </a:solidFill>
                        <a:latin typeface="游ゴシック"/>
                        <a:ea typeface="游ゴシック"/>
                      </a:endParaRPr>
                    </a:p>
                  </a:txBody>
                  <a:tcPr marL="15212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w="4193" cap="flat" cmpd="sng" algn="ctr">
                      <a:solidFill>
                        <a:srgbClr val="A6A6A6"/>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869,200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70.6%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コンサル収入</a:t>
                      </a:r>
                      <a:endParaRPr lang="ja-JP" altLang="en-US" sz="600" b="0" i="0" u="none" strike="noStrike">
                        <a:solidFill>
                          <a:srgbClr val="000000"/>
                        </a:solidFill>
                        <a:latin typeface="游ゴシック"/>
                        <a:ea typeface="游ゴシック"/>
                      </a:endParaRPr>
                    </a:p>
                  </a:txBody>
                  <a:tcPr marL="152125" marR="15095"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14,000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4.4%</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1" i="0" u="none" strike="noStrike">
                          <a:solidFill>
                            <a:srgbClr val="000000"/>
                          </a:solidFill>
                          <a:latin typeface="游ゴシック"/>
                          <a:ea typeface="游ゴシック"/>
                        </a:rPr>
                        <a:t>売上高</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383,439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100.0%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1,230,830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100.0%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319,338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100.0%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r h="188695">
                <a:tc>
                  <a:txBody>
                    <a:bodyPr/>
                    <a:lstStyle/>
                    <a:p>
                      <a:pPr algn="l" fontAlgn="ctr">
                        <a:buNone/>
                      </a:pPr>
                      <a:r>
                        <a:rPr lang="ja-JP" altLang="en-US" sz="600" b="0" i="0" u="none" strike="noStrike">
                          <a:solidFill>
                            <a:srgbClr val="000000"/>
                          </a:solidFill>
                          <a:latin typeface="游ゴシック"/>
                          <a:ea typeface="游ゴシック"/>
                        </a:rPr>
                        <a:t>期首商品棚卸高</a:t>
                      </a:r>
                      <a:endParaRPr lang="ja-JP" altLang="en-US" sz="600" b="0"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7,733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当期商品仕入高</a:t>
                      </a:r>
                      <a:endParaRPr lang="ja-JP" altLang="en-US" sz="600" b="0"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105,842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27.6%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100,866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96,006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30.1%</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不動産売却関連原価</a:t>
                      </a:r>
                      <a:endParaRPr lang="ja-JP" altLang="en-US" sz="600" b="0"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636,056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51.7%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期末商品棚卸高</a:t>
                      </a:r>
                      <a:endParaRPr lang="ja-JP" altLang="en-US" sz="600" b="0"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-2.3%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△8,732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-0.7%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△8,532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0" i="0" u="none" strike="noStrike">
                          <a:solidFill>
                            <a:srgbClr val="000000"/>
                          </a:solidFill>
                          <a:latin typeface="Arial"/>
                          <a:ea typeface="游ゴシック Medium"/>
                        </a:rPr>
                        <a:t>-2.7%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1" i="0" u="none" strike="noStrike">
                          <a:solidFill>
                            <a:srgbClr val="000000"/>
                          </a:solidFill>
                          <a:latin typeface="游ゴシック"/>
                          <a:ea typeface="游ゴシック"/>
                        </a:rPr>
                        <a:t>売上原価</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104,842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27.3%</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736,922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59.9%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96,206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30.1%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1" i="0" u="none" strike="noStrike">
                          <a:solidFill>
                            <a:srgbClr val="000000"/>
                          </a:solidFill>
                          <a:latin typeface="游ゴシック"/>
                          <a:ea typeface="游ゴシック"/>
                        </a:rPr>
                        <a:t>売上総利益</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278,597</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72.7%</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493,908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40.1%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223,132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69.9%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r h="188695">
                <a:tc>
                  <a:txBody>
                    <a:bodyPr/>
                    <a:lstStyle/>
                    <a:p>
                      <a:pPr algn="l" fontAlgn="ctr">
                        <a:buNone/>
                      </a:pPr>
                      <a:r>
                        <a:rPr lang="ja-JP" altLang="en-US" sz="600" b="1" i="0" u="none" strike="noStrike">
                          <a:solidFill>
                            <a:srgbClr val="000000"/>
                          </a:solidFill>
                          <a:latin typeface="游ゴシック"/>
                          <a:ea typeface="游ゴシック"/>
                        </a:rPr>
                        <a:t>販売費及び一般管理費</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283,552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73.9%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273,060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22.2%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222,261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69.6%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1" i="0" u="none" strike="noStrike">
                          <a:solidFill>
                            <a:srgbClr val="000000"/>
                          </a:solidFill>
                          <a:latin typeface="游ゴシック"/>
                          <a:ea typeface="游ゴシック"/>
                        </a:rPr>
                        <a:t>営業利益</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△4,955</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-1.3%</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220,847</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17.9%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871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0.3%</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r h="188695">
                <a:tc>
                  <a:txBody>
                    <a:bodyPr/>
                    <a:lstStyle/>
                    <a:p>
                      <a:pPr algn="l" fontAlgn="ctr">
                        <a:buNone/>
                      </a:pPr>
                      <a:r>
                        <a:rPr lang="ja-JP" altLang="en-US" sz="600" b="1" i="0" u="none" strike="noStrike">
                          <a:solidFill>
                            <a:srgbClr val="000000"/>
                          </a:solidFill>
                          <a:latin typeface="游ゴシック"/>
                          <a:ea typeface="游ゴシック"/>
                        </a:rPr>
                        <a:t>営業外収益</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416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2,888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2,925</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0" i="0" u="none" strike="noStrike">
                          <a:solidFill>
                            <a:srgbClr val="000000"/>
                          </a:solidFill>
                          <a:latin typeface="游ゴシック"/>
                          <a:ea typeface="游ゴシック"/>
                        </a:rPr>
                        <a:t>受取利息</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618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雑収入</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415</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0.1%</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2,880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0.2%</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2,307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1" i="0" u="none" strike="noStrike">
                          <a:solidFill>
                            <a:srgbClr val="000000"/>
                          </a:solidFill>
                          <a:latin typeface="游ゴシック"/>
                          <a:ea typeface="游ゴシック"/>
                        </a:rPr>
                        <a:t>営業外費用</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2,752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0.7%</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12,168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1.0%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3,215</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1.0%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0" i="0" u="none" strike="noStrike">
                          <a:solidFill>
                            <a:srgbClr val="000000"/>
                          </a:solidFill>
                          <a:latin typeface="游ゴシック"/>
                          <a:ea typeface="游ゴシック"/>
                        </a:rPr>
                        <a:t>支払利息</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2,648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0.7%</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3,319</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3,190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雑損失</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104</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8,849</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26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1" i="0" u="none" strike="noStrike">
                          <a:solidFill>
                            <a:srgbClr val="000000"/>
                          </a:solidFill>
                          <a:latin typeface="游ゴシック"/>
                          <a:ea typeface="游ゴシック"/>
                        </a:rPr>
                        <a:t>経常利益</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△7,290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211,568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17.2%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581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0.2%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r h="188695">
                <a:tc>
                  <a:txBody>
                    <a:bodyPr/>
                    <a:lstStyle/>
                    <a:p>
                      <a:pPr algn="l" fontAlgn="ctr">
                        <a:buNone/>
                      </a:pPr>
                      <a:r>
                        <a:rPr lang="ja-JP" altLang="en-US" sz="600" b="1" i="0" u="none" strike="noStrike">
                          <a:solidFill>
                            <a:srgbClr val="000000"/>
                          </a:solidFill>
                          <a:latin typeface="游ゴシック"/>
                          <a:ea typeface="游ゴシック"/>
                        </a:rPr>
                        <a:t>特別損失</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81,258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6.6%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0" i="0" u="none" strike="noStrike">
                          <a:solidFill>
                            <a:srgbClr val="000000"/>
                          </a:solidFill>
                          <a:latin typeface="游ゴシック"/>
                          <a:ea typeface="游ゴシック"/>
                        </a:rPr>
                        <a:t>固定資産除却損</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81,258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6.6%</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r>
              <a:tr h="188695">
                <a:tc>
                  <a:txBody>
                    <a:bodyPr/>
                    <a:lstStyle/>
                    <a:p>
                      <a:pPr algn="l" fontAlgn="ctr">
                        <a:buNone/>
                      </a:pPr>
                      <a:r>
                        <a:rPr lang="ja-JP" altLang="en-US" sz="600" b="1" i="0" u="none" strike="noStrike">
                          <a:solidFill>
                            <a:srgbClr val="000000"/>
                          </a:solidFill>
                          <a:latin typeface="游ゴシック"/>
                          <a:ea typeface="游ゴシック"/>
                        </a:rPr>
                        <a:t>税引前当期純利益</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△7,290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-1.9%</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130,310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581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0.2%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r h="188695">
                <a:tc>
                  <a:txBody>
                    <a:bodyPr/>
                    <a:lstStyle/>
                    <a:p>
                      <a:pPr algn="l" fontAlgn="ctr">
                        <a:buNone/>
                      </a:pPr>
                      <a:r>
                        <a:rPr lang="ja-JP" altLang="en-US" sz="600" b="1" i="0" u="none" strike="noStrike">
                          <a:solidFill>
                            <a:srgbClr val="000000"/>
                          </a:solidFill>
                          <a:latin typeface="游ゴシック"/>
                          <a:ea typeface="游ゴシック"/>
                        </a:rPr>
                        <a:t>法人税等</a:t>
                      </a:r>
                      <a:endParaRPr lang="ja-JP" altLang="en-US" sz="600" b="1" i="0" u="none" strike="noStrike">
                        <a:solidFill>
                          <a:srgbClr val="000000"/>
                        </a:solidFill>
                        <a:latin typeface="游ゴシック"/>
                        <a:ea typeface="游ゴシック"/>
                      </a:endParaRPr>
                    </a:p>
                  </a:txBody>
                  <a:tcPr marL="152125"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altLang="en-US" sz="800" b="1" i="0" u="none" strike="noStrike">
                          <a:solidFill>
                            <a:srgbClr val="000000"/>
                          </a:solidFill>
                          <a:latin typeface="Arial"/>
                          <a:ea typeface="游ゴシック Medium"/>
                        </a:rPr>
                        <a:t>195</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0.1%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21,953</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1.8%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48,664</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c>
                  <a:txBody>
                    <a:bodyPr/>
                    <a:lstStyle/>
                    <a:p>
                      <a:pPr algn="r" fontAlgn="ctr">
                        <a:buNone/>
                      </a:pPr>
                      <a:r>
                        <a:rPr lang="ja-JP" altLang="en-US" sz="800" b="1" i="0" u="none" strike="noStrike">
                          <a:solidFill>
                            <a:srgbClr val="000000"/>
                          </a:solidFill>
                          <a:latin typeface="Arial"/>
                          <a:ea typeface="游ゴシック Medium"/>
                        </a:rPr>
                        <a:t>15.2%</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noFill/>
                  </a:tcPr>
                </a:tc>
              </a:tr>
              <a:tr h="188695">
                <a:tc>
                  <a:txBody>
                    <a:bodyPr/>
                    <a:lstStyle/>
                    <a:p>
                      <a:pPr algn="l" fontAlgn="ctr">
                        <a:buNone/>
                      </a:pPr>
                      <a:r>
                        <a:rPr lang="ja-JP" altLang="en-US" sz="600" b="0" i="0" u="none" strike="noStrike">
                          <a:solidFill>
                            <a:srgbClr val="000000"/>
                          </a:solidFill>
                          <a:latin typeface="游ゴシック"/>
                          <a:ea typeface="游ゴシック"/>
                        </a:rPr>
                        <a:t>法人税・住民税及び事業税（当期分）</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195</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0.1%</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21,953</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1.8%</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289</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c>
                  <a:txBody>
                    <a:bodyPr/>
                    <a:lstStyle/>
                    <a:p>
                      <a:pPr algn="r" fontAlgn="ctr">
                        <a:buNone/>
                      </a:pPr>
                      <a:r>
                        <a:rPr lang="ja-JP" altLang="en-US" sz="800" b="0" i="0" u="none" strike="noStrike">
                          <a:solidFill>
                            <a:srgbClr val="000000"/>
                          </a:solidFill>
                          <a:latin typeface="Arial"/>
                          <a:ea typeface="游ゴシック Medium"/>
                        </a:rPr>
                        <a:t>0.1%</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a:noFill/>
                    </a:lnB>
                    <a:noFill/>
                  </a:tcPr>
                </a:tc>
              </a:tr>
              <a:tr h="188695">
                <a:tc>
                  <a:txBody>
                    <a:bodyPr/>
                    <a:lstStyle/>
                    <a:p>
                      <a:pPr algn="l" fontAlgn="ctr">
                        <a:buNone/>
                      </a:pPr>
                      <a:r>
                        <a:rPr lang="ja-JP" altLang="en-US" sz="600" b="0" i="0" u="none" strike="noStrike">
                          <a:solidFill>
                            <a:srgbClr val="000000"/>
                          </a:solidFill>
                          <a:latin typeface="游ゴシック"/>
                          <a:ea typeface="游ゴシック"/>
                        </a:rPr>
                        <a:t>過年度法人税等</a:t>
                      </a:r>
                      <a:endParaRPr lang="ja-JP" altLang="en-US" sz="600" b="0" i="0" u="none" strike="noStrike">
                        <a:solidFill>
                          <a:srgbClr val="000000"/>
                        </a:solidFill>
                        <a:latin typeface="游ゴシック"/>
                        <a:ea typeface="游ゴシック"/>
                      </a:endParaRPr>
                    </a:p>
                  </a:txBody>
                  <a:tcPr marL="220641" marR="15095" marT="0" marB="0" anchor="ctr">
                    <a:lnL>
                      <a:noFill/>
                    </a:lnL>
                    <a:lnR w="4193"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0</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800" b="0" i="0" u="none" strike="noStrike">
                          <a:solidFill>
                            <a:srgbClr val="000000"/>
                          </a:solidFill>
                          <a:latin typeface="Arial"/>
                          <a:ea typeface="游ゴシック Medium"/>
                        </a:rPr>
                        <a:t>48,375</a:t>
                      </a: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endParaRPr lang="ja-JP" altLang="en-US" sz="800" b="0"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a:noFill/>
                    </a:lnT>
                    <a:lnB>
                      <a:noFill/>
                    </a:lnB>
                    <a:noFill/>
                  </a:tcPr>
                </a:tc>
              </a:tr>
              <a:tr h="188695">
                <a:tc>
                  <a:txBody>
                    <a:bodyPr/>
                    <a:lstStyle/>
                    <a:p>
                      <a:pPr algn="l" fontAlgn="ctr">
                        <a:buNone/>
                      </a:pPr>
                      <a:r>
                        <a:rPr lang="ja-JP" altLang="en-US" sz="600" b="1" i="0" u="none" strike="noStrike">
                          <a:solidFill>
                            <a:srgbClr val="000000"/>
                          </a:solidFill>
                          <a:latin typeface="游ゴシック"/>
                          <a:ea typeface="游ゴシック"/>
                        </a:rPr>
                        <a:t>税引後当期純利益</a:t>
                      </a:r>
                      <a:endParaRPr lang="ja-JP" altLang="en-US" sz="600" b="1" i="0" u="none" strike="noStrike">
                        <a:solidFill>
                          <a:srgbClr val="000000"/>
                        </a:solidFill>
                        <a:latin typeface="游ゴシック"/>
                        <a:ea typeface="游ゴシック"/>
                      </a:endParaRPr>
                    </a:p>
                  </a:txBody>
                  <a:tcPr marL="83610" marR="15095" marT="0" marB="0" anchor="ctr">
                    <a:lnL>
                      <a:noFill/>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△7,485</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-2.0%</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108,356</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8.8%</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△48,084</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800" b="1" i="0" u="none" strike="noStrike">
                          <a:solidFill>
                            <a:srgbClr val="000000"/>
                          </a:solidFill>
                          <a:latin typeface="Arial"/>
                          <a:ea typeface="游ゴシック Medium"/>
                        </a:rPr>
                        <a:t>-15.1%</a:t>
                      </a:r>
                      <a:endParaRPr lang="ja-JP" altLang="en-US" sz="800" b="1" i="0" u="none" strike="noStrike">
                        <a:solidFill>
                          <a:srgbClr val="000000"/>
                        </a:solidFill>
                        <a:latin typeface="Arial"/>
                        <a:ea typeface="游ゴシック Medium"/>
                      </a:endParaRPr>
                    </a:p>
                  </a:txBody>
                  <a:tcPr marL="15095" marR="83610" marT="0" marB="0" anchor="ctr">
                    <a:lnL w="4193" cap="flat" cmpd="sng" algn="ctr">
                      <a:solidFill>
                        <a:srgbClr val="FFFFFF"/>
                      </a:solidFill>
                      <a:prstDash val="solid"/>
                      <a:round/>
                      <a:headEnd type="none" w="med" len="med"/>
                      <a:tailEnd type="none" w="med" len="med"/>
                    </a:lnL>
                    <a:lnR w="4193" cap="flat" cmpd="sng" algn="ctr">
                      <a:solidFill>
                        <a:srgbClr val="FFFFFF"/>
                      </a:solidFill>
                      <a:prstDash val="solid"/>
                      <a:round/>
                      <a:headEnd type="none" w="med" len="med"/>
                      <a:tailEnd type="none" w="med" len="med"/>
                    </a:lnR>
                    <a:lnT w="4193" cap="flat" cmpd="sng" algn="ctr">
                      <a:solidFill>
                        <a:srgbClr val="0B3041"/>
                      </a:solidFill>
                      <a:prstDash val="solid"/>
                      <a:round/>
                      <a:headEnd type="none" w="med" len="med"/>
                      <a:tailEnd type="none" w="med" len="med"/>
                    </a:lnT>
                    <a:lnB w="4193"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37409429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販管費の中心は人件費（給料手当・法定福利費で約131百万円）。地代家賃は本店が自社所有のため売上高比6.8%にとどまります。</a:t>
            </a:r>
            <a:endParaRPr lang="en-US" altLang="ja-JP" dirty="0"/>
          </a:p>
        </p:txBody>
      </p:sp>
      <p:sp>
        <p:nvSpPr>
          <p:cNvPr id="2" name="正方形/長方形 1">
            <a:extLst>
              <a:ext uri="{FF2B5EF4-FFF2-40B4-BE49-F238E27FC236}">
                <a16:creationId xmlns:a16="http://schemas.microsoft.com/office/drawing/2014/main" id="{CBEBB478-5E89-4238-4A34-967912E35C60}"/>
              </a:ext>
            </a:extLst>
          </p:cNvPr>
          <p:cNvSpPr/>
          <p:nvPr/>
        </p:nvSpPr>
        <p:spPr>
          <a:xfrm>
            <a:off x="6455664" y="1382390"/>
            <a:ext cx="3924999" cy="5596336"/>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3" name="テキスト ボックス 2">
            <a:extLst>
              <a:ext uri="{FF2B5EF4-FFF2-40B4-BE49-F238E27FC236}">
                <a16:creationId xmlns:a16="http://schemas.microsoft.com/office/drawing/2014/main" id="{6BA87817-38E4-3F47-34EB-C9702B87B984}"/>
              </a:ext>
            </a:extLst>
          </p:cNvPr>
          <p:cNvSpPr txBox="1"/>
          <p:nvPr/>
        </p:nvSpPr>
        <p:spPr>
          <a:xfrm>
            <a:off x="6455664" y="1828800"/>
            <a:ext cx="3894836" cy="1015663"/>
          </a:xfrm>
          <a:prstGeom prst="rect">
            <a:avLst/>
          </a:prstGeom>
          <a:noFill/>
        </p:spPr>
        <p:txBody>
          <a:bodyPr wrap="square" lIns="288000" tIns="0" rIns="252000" bIns="0" rtlCol="0">
            <a:spAutoFit/>
          </a:bodyPr>
          <a:lstStyle/>
          <a:p>
            <a:r>
              <a:rPr kumimoji="1" lang="ja-JP" altLang="en-US" sz="900" dirty="0">
                <a:solidFill>
                  <a:schemeClr val="tx1"/>
                </a:solidFill>
                <a:latin typeface="+mn-ea"/>
                <a:ea typeface="+mn-ea"/>
              </a:rPr>
              <a:t>≪人件費≫</a:t>
            </a:r>
            <a:endParaRPr kumimoji="1" lang="ja-JP" altLang="en-US" sz="900" dirty="0"/>
          </a:p>
          <a:p>
            <a:r>
              <a:rPr kumimoji="1" lang="ja-JP" altLang="en-US" sz="900" dirty="0">
                <a:solidFill>
                  <a:schemeClr val="tx1"/>
                </a:solidFill>
                <a:latin typeface="+mn-ea"/>
                <a:ea typeface="+mn-ea"/>
              </a:rPr>
              <a:t>・給料手当＋法定福利費は158→125→131百万円。売上高比は約41%</a:t>
            </a:r>
            <a:endParaRPr kumimoji="1" lang="ja-JP" altLang="en-US" sz="900" dirty="0"/>
          </a:p>
          <a:p>
            <a:r>
              <a:rPr kumimoji="1" lang="ja-JP" altLang="en-US" sz="900" dirty="0">
                <a:solidFill>
                  <a:schemeClr val="tx1"/>
                </a:solidFill>
                <a:latin typeface="+mn-ea"/>
                <a:ea typeface="+mn-ea"/>
              </a:rPr>
              <a:t>・役員報酬は年1,920千円</a:t>
            </a:r>
            <a:endParaRPr kumimoji="1" lang="ja-JP" altLang="en-US" sz="900" dirty="0"/>
          </a:p>
          <a:p>
            <a:r>
              <a:rPr kumimoji="1" lang="ja-JP" altLang="en-US" sz="900" dirty="0">
                <a:solidFill>
                  <a:schemeClr val="tx1"/>
                </a:solidFill>
                <a:latin typeface="+mn-ea"/>
                <a:ea typeface="+mn-ea"/>
              </a:rPr>
              <a:t>≪賃借関連≫</a:t>
            </a:r>
            <a:endParaRPr kumimoji="1" lang="ja-JP" altLang="en-US" sz="900" dirty="0"/>
          </a:p>
          <a:p>
            <a:r>
              <a:rPr kumimoji="1" lang="ja-JP" altLang="en-US" sz="900" dirty="0">
                <a:solidFill>
                  <a:schemeClr val="tx1"/>
                </a:solidFill>
                <a:latin typeface="+mn-ea"/>
                <a:ea typeface="+mn-ea"/>
              </a:rPr>
              <a:t>・地代家賃22百万円（紀尾井町店・大船店・社宅・事務所・駐車場）、リース料10百万円</a:t>
            </a:r>
            <a:endParaRPr kumimoji="1" lang="ja-JP" altLang="en-US" sz="900" dirty="0"/>
          </a:p>
          <a:p>
            <a:r>
              <a:rPr kumimoji="1" lang="ja-JP" altLang="en-US" sz="900" dirty="0">
                <a:solidFill>
                  <a:schemeClr val="tx1"/>
                </a:solidFill>
                <a:latin typeface="+mn-ea"/>
                <a:ea typeface="+mn-ea"/>
              </a:rPr>
              <a:t>≪令和7年3月期の特徴≫</a:t>
            </a:r>
            <a:endParaRPr kumimoji="1" lang="ja-JP" altLang="en-US" sz="900" dirty="0"/>
          </a:p>
          <a:p>
            <a:r>
              <a:rPr kumimoji="1" lang="ja-JP" altLang="en-US" sz="900" dirty="0">
                <a:solidFill>
                  <a:schemeClr val="tx1"/>
                </a:solidFill>
                <a:latin typeface="+mn-ea"/>
                <a:ea typeface="+mn-ea"/>
              </a:rPr>
              <a:t>・修繕費12.7百万円、旅費交通費13.6百万円、租税公課9.6百万円等が他期比で多く、不動産売却に関連する費用か要確認</a:t>
            </a:r>
            <a:endParaRPr kumimoji="1" lang="ja-JP" altLang="en-US" sz="900" dirty="0"/>
          </a:p>
          <a:p>
            <a:r>
              <a:rPr kumimoji="1" lang="ja-JP" altLang="en-US" sz="900" dirty="0">
                <a:solidFill>
                  <a:schemeClr val="tx1"/>
                </a:solidFill>
                <a:latin typeface="+mn-ea"/>
                <a:ea typeface="+mn-ea"/>
              </a:rPr>
              <a:t>≪不動産管理費≫</a:t>
            </a:r>
            <a:endParaRPr kumimoji="1" lang="ja-JP" altLang="en-US" sz="900" dirty="0"/>
          </a:p>
          <a:p>
            <a:r>
              <a:rPr kumimoji="1" lang="ja-JP" altLang="en-US" sz="900" dirty="0">
                <a:solidFill>
                  <a:schemeClr val="tx1"/>
                </a:solidFill>
                <a:latin typeface="+mn-ea"/>
                <a:ea typeface="+mn-ea"/>
              </a:rPr>
              <a:t>・売却済物件に係る費用と推察（令和8年3月期0.7百万円）</a:t>
            </a:r>
            <a:endParaRPr kumimoji="1" lang="ja-JP" altLang="en-US" sz="900" dirty="0"/>
          </a:p>
        </p:txBody>
      </p:sp>
      <p:graphicFrame>
        <p:nvGraphicFramePr>
          <p:cNvPr id="14" name="Table 13"/>
          <p:cNvGraphicFramePr>
            <a:graphicFrameLocks noGrp="1"/>
          </p:cNvGraphicFramePr>
          <p:nvPr/>
        </p:nvGraphicFramePr>
        <p:xfrm>
          <a:off x="310896" y="1371600"/>
          <a:ext cx="5072370" cy="5577821"/>
        </p:xfrm>
        <a:graphic>
          <a:graphicData uri="http://schemas.openxmlformats.org/drawingml/2006/table">
            <a:tbl>
              <a:tblPr/>
              <a:tblGrid>
                <a:gridCol w="1184142"/>
                <a:gridCol w="648038"/>
                <a:gridCol w="648038"/>
                <a:gridCol w="648038"/>
                <a:gridCol w="648038"/>
                <a:gridCol w="648038"/>
                <a:gridCol w="648038"/>
              </a:tblGrid>
              <a:tr h="141390">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ctr">
                    <a:lnL w="3927"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b">
                    <a:lnL w="3927"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b">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altLang="en-US" sz="700" b="0" i="0" u="none" strike="noStrike">
                        <a:solidFill>
                          <a:srgbClr val="000000"/>
                        </a:solidFill>
                        <a:latin typeface="游ゴシック Medium"/>
                        <a:ea typeface="游ゴシック Medium"/>
                      </a:endParaRPr>
                    </a:p>
                  </a:txBody>
                  <a:tcPr marL="14139" marR="14139" marT="0" marB="0" anchor="ctr">
                    <a:lnL w="3927"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altLang="en-US" sz="700" b="0" i="0" u="none" strike="noStrike">
                          <a:solidFill>
                            <a:srgbClr val="000000"/>
                          </a:solidFill>
                          <a:latin typeface="游ゴシック"/>
                          <a:ea typeface="游ゴシック"/>
                        </a:rPr>
                        <a:t>(単位：千円)</a:t>
                      </a:r>
                      <a:endParaRPr lang="ja-JP" altLang="en-US" sz="700" b="0" i="0" u="none" strike="noStrike">
                        <a:solidFill>
                          <a:srgbClr val="000000"/>
                        </a:solidFill>
                        <a:latin typeface="游ゴシック"/>
                        <a:ea typeface="游ゴシック"/>
                      </a:endParaRPr>
                    </a:p>
                  </a:txBody>
                  <a:tcPr marL="14139" marR="14139" marT="0" marB="0" anchor="ctr">
                    <a:lnL>
                      <a:noFill/>
                    </a:lnL>
                    <a:lnR>
                      <a:noFill/>
                    </a:lnR>
                    <a:lnT>
                      <a:noFill/>
                    </a:lnT>
                    <a:lnB>
                      <a:noFill/>
                    </a:lnB>
                    <a:noFill/>
                  </a:tcPr>
                </a:tc>
              </a:tr>
              <a:tr h="155529">
                <a:tc rowSpan="2">
                  <a:txBody>
                    <a:bodyPr/>
                    <a:lstStyle/>
                    <a:p>
                      <a:pPr algn="ctr" fontAlgn="ctr">
                        <a:buNone/>
                      </a:pPr>
                      <a:r>
                        <a:rPr lang="ja-JP" altLang="en-US" sz="750" b="1" i="0" u="none" strike="noStrike">
                          <a:solidFill>
                            <a:srgbClr val="FFFFFF"/>
                          </a:solidFill>
                          <a:latin typeface="游ゴシック"/>
                          <a:ea typeface="游ゴシック"/>
                        </a:rPr>
                        <a:t>科目</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solidFill>
                      <a:srgbClr val="0B3041"/>
                    </a:solidFill>
                  </a:tcPr>
                </a:tc>
                <a:tc gridSpan="2">
                  <a:txBody>
                    <a:bodyPr/>
                    <a:lstStyle/>
                    <a:p>
                      <a:pPr algn="ctr" fontAlgn="ctr">
                        <a:buNone/>
                      </a:pPr>
                      <a:r>
                        <a:rPr lang="ja-JP" altLang="en-US" sz="750" b="1" i="0" u="none" strike="noStrike">
                          <a:solidFill>
                            <a:srgbClr val="FFFFFF"/>
                          </a:solidFill>
                          <a:latin typeface="游ゴシック"/>
                          <a:ea typeface="游ゴシック"/>
                        </a:rPr>
                        <a:t>令和6年3月期</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7855"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50" b="1" i="0" u="none" strike="noStrike">
                        <a:solidFill>
                          <a:srgbClr val="FFFFFF"/>
                        </a:solidFill>
                        <a:latin typeface="游ゴシック"/>
                        <a:ea typeface="游ゴシック"/>
                      </a:endParaRPr>
                    </a:p>
                  </a:txBody>
                  <a:tcPr marL="14139" marR="14139" marT="0" marB="0" anchor="ctr">
                    <a:lnL w="7855"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750" b="1" i="0" u="none" strike="noStrike">
                          <a:solidFill>
                            <a:srgbClr val="FFFFFF"/>
                          </a:solidFill>
                          <a:latin typeface="游ゴシック"/>
                          <a:ea typeface="游ゴシック"/>
                        </a:rPr>
                        <a:t>令和7年3月期</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7855"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50" b="1" i="0" u="none" strike="noStrike">
                        <a:solidFill>
                          <a:srgbClr val="FFFFFF"/>
                        </a:solidFill>
                        <a:latin typeface="游ゴシック"/>
                        <a:ea typeface="游ゴシック"/>
                      </a:endParaRPr>
                    </a:p>
                  </a:txBody>
                  <a:tcPr marL="14139" marR="14139" marT="0" marB="0" anchor="ctr">
                    <a:lnL w="7855"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altLang="en-US" sz="750" b="1" i="0" u="none" strike="noStrike">
                          <a:solidFill>
                            <a:srgbClr val="FFFFFF"/>
                          </a:solidFill>
                          <a:latin typeface="游ゴシック"/>
                          <a:ea typeface="游ゴシック"/>
                        </a:rPr>
                        <a:t>令和8年3月期</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7855"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endParaRPr lang="ja-JP" altLang="en-US" sz="750" b="1" i="0" u="none" strike="noStrike">
                        <a:solidFill>
                          <a:srgbClr val="FFFFFF"/>
                        </a:solidFill>
                        <a:latin typeface="游ゴシック"/>
                        <a:ea typeface="游ゴシック"/>
                      </a:endParaRPr>
                    </a:p>
                  </a:txBody>
                  <a:tcPr marL="14139" marR="14139" marT="0" marB="0" anchor="ctr">
                    <a:lnL w="7855"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r>
              <a:tr h="155529">
                <a:tc vMerge="1">
                  <a:txBody>
                    <a:bodyPr/>
                    <a:lstStyle/>
                    <a:p>
                      <a:pPr algn="ctr" fontAlgn="ctr">
                        <a:buNone/>
                      </a:pP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帳簿価額</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売上高比</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帳簿価額</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売上高比</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帳簿価額</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altLang="en-US" sz="750" b="1" i="0" u="none" strike="noStrike">
                          <a:solidFill>
                            <a:srgbClr val="FFFFFF"/>
                          </a:solidFill>
                          <a:latin typeface="游ゴシック"/>
                          <a:ea typeface="游ゴシック"/>
                        </a:rPr>
                        <a:t>売上高比</a:t>
                      </a:r>
                      <a:endParaRPr lang="ja-JP" altLang="en-US" sz="750" b="1" i="0" u="none" strike="noStrike">
                        <a:solidFill>
                          <a:srgbClr val="FFFFFF"/>
                        </a:solidFill>
                        <a:latin typeface="游ゴシック"/>
                        <a:ea typeface="游ゴシック"/>
                      </a:endParaRPr>
                    </a:p>
                  </a:txBody>
                  <a:tcPr marL="14139" marR="14139"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FFFFFF"/>
                      </a:solidFill>
                      <a:prstDash val="solid"/>
                      <a:round/>
                      <a:headEnd type="none" w="med" len="med"/>
                      <a:tailEnd type="none" w="med" len="med"/>
                    </a:lnT>
                    <a:lnB w="3927" cap="flat" cmpd="sng" algn="ctr">
                      <a:solidFill>
                        <a:srgbClr val="FFFFFF"/>
                      </a:solidFill>
                      <a:prstDash val="solid"/>
                      <a:round/>
                      <a:headEnd type="none" w="med" len="med"/>
                      <a:tailEnd type="none" w="med" len="med"/>
                    </a:lnB>
                    <a:solidFill>
                      <a:srgbClr val="0B3041"/>
                    </a:solidFill>
                  </a:tcPr>
                </a:tc>
              </a:tr>
              <a:tr h="176737">
                <a:tc>
                  <a:txBody>
                    <a:bodyPr/>
                    <a:lstStyle/>
                    <a:p>
                      <a:pPr algn="l" fontAlgn="ctr">
                        <a:buNone/>
                      </a:pPr>
                      <a:r>
                        <a:rPr lang="ja-JP" altLang="en-US" sz="650" b="0" i="0" u="none" strike="noStrike">
                          <a:solidFill>
                            <a:srgbClr val="000000"/>
                          </a:solidFill>
                          <a:latin typeface="游ゴシック"/>
                          <a:ea typeface="游ゴシック"/>
                        </a:rPr>
                        <a:t>役員報酬</a:t>
                      </a:r>
                      <a:endParaRPr lang="ja-JP" altLang="en-US" sz="650" b="0" i="0" u="none" strike="noStrike">
                        <a:solidFill>
                          <a:srgbClr val="000000"/>
                        </a:solidFill>
                        <a:latin typeface="游ゴシック"/>
                        <a:ea typeface="游ゴシック"/>
                      </a:endParaRPr>
                    </a:p>
                  </a:txBody>
                  <a:tcPr marL="142486" marR="14139" marT="0" marB="0" anchor="ctr">
                    <a:lnL w="3927"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1,920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1,920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1,920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給料手当</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137,395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35.8%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111,145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9.0%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113,156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35.4%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法定福利費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21,065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5.5%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14,046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18,259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5.7%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荷造運賃</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893</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813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654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減価償却費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4,595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14,219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11,896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地代家賃</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14,896</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17,605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21,688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修繕費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4,820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12,668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350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消耗品費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8,666</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3,622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3,114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水道光熱費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12,095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7,886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8,256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旅費交通費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4,459</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13,621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6,128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支払手数料</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26,497</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25,382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13,893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4.4%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租税公課</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6,755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9,642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4,554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交際接待費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3,418</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3,153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保険料</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94</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219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664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通信費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1,010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954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836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諸会費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28</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車輛費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967</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159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654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研修費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3</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雑費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1,181</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7,140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1,368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福利厚生費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292</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380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235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外注費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6,144</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3,207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0.3%</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2,297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広告宣伝費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649</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292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58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会議費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3,050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5,275</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27</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支払報酬料</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4,470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6,976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1,296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採用教育費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45</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不動産管理費</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4,347</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1,928</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686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リース料</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13,797</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10,744</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10,212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3.2%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0" i="0" u="none" strike="noStrike">
                          <a:solidFill>
                            <a:srgbClr val="000000"/>
                          </a:solidFill>
                          <a:latin typeface="游ゴシック"/>
                          <a:ea typeface="游ゴシック"/>
                        </a:rPr>
                        <a:t>寄付金</a:t>
                      </a:r>
                      <a:endParaRPr lang="ja-JP" altLang="en-US" sz="650" b="0" i="0" u="none" strike="noStrike">
                        <a:solidFill>
                          <a:srgbClr val="000000"/>
                        </a:solidFill>
                        <a:latin typeface="游ゴシック"/>
                        <a:ea typeface="游ゴシック"/>
                      </a:endParaRPr>
                    </a:p>
                  </a:txBody>
                  <a:tcPr marL="142486" marR="14139" marT="0" marB="0" anchor="ctr">
                    <a:lnL>
                      <a:noFill/>
                    </a:lnL>
                    <a:lnR>
                      <a:noFill/>
                    </a:lnR>
                    <a:lnT>
                      <a:noFill/>
                    </a:lnT>
                    <a:lnB>
                      <a:noFill/>
                    </a:lnB>
                    <a:solidFill>
                      <a:srgbClr val="E3E7E9"/>
                    </a:solid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1</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altLang="en-US" sz="750" b="0" i="0" u="none" strike="noStrike">
                          <a:solidFill>
                            <a:srgbClr val="000000"/>
                          </a:solidFill>
                          <a:latin typeface="Arial"/>
                          <a:ea typeface="游ゴシック Medium"/>
                        </a:rPr>
                        <a:t>0.0%</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a:noFill/>
                    </a:lnT>
                    <a:lnB>
                      <a:noFill/>
                    </a:lnB>
                    <a:noFill/>
                  </a:tcPr>
                </a:tc>
              </a:tr>
              <a:tr h="176737">
                <a:tc>
                  <a:txBody>
                    <a:bodyPr/>
                    <a:lstStyle/>
                    <a:p>
                      <a:pPr algn="l" fontAlgn="ctr">
                        <a:buNone/>
                      </a:pPr>
                      <a:r>
                        <a:rPr lang="ja-JP" altLang="en-US" sz="650" b="1" i="0" u="none" strike="noStrike">
                          <a:solidFill>
                            <a:srgbClr val="000000"/>
                          </a:solidFill>
                          <a:latin typeface="游ゴシック"/>
                          <a:ea typeface="游ゴシック"/>
                        </a:rPr>
                        <a:t>販売費および一般管理費合計</a:t>
                      </a:r>
                      <a:endParaRPr lang="ja-JP" altLang="en-US" sz="650" b="1" i="0" u="none" strike="noStrike">
                        <a:solidFill>
                          <a:srgbClr val="000000"/>
                        </a:solidFill>
                        <a:latin typeface="游ゴシック"/>
                        <a:ea typeface="游ゴシック"/>
                      </a:endParaRPr>
                    </a:p>
                  </a:txBody>
                  <a:tcPr marL="14139" marR="14139" marT="0" marB="0" anchor="ctr">
                    <a:lnL>
                      <a:noFill/>
                    </a:lnL>
                    <a:lnR>
                      <a:noFill/>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1" i="0" u="none" strike="noStrike">
                          <a:solidFill>
                            <a:srgbClr val="000000"/>
                          </a:solidFill>
                          <a:latin typeface="Arial"/>
                          <a:ea typeface="游ゴシック Medium"/>
                        </a:rPr>
                        <a:t>283,552</a:t>
                      </a:r>
                      <a:endParaRPr lang="ja-JP" altLang="en-US" sz="750" b="1" i="0" u="none" strike="noStrike">
                        <a:solidFill>
                          <a:srgbClr val="000000"/>
                        </a:solidFill>
                        <a:latin typeface="Arial"/>
                        <a:ea typeface="游ゴシック Medium"/>
                      </a:endParaRPr>
                    </a:p>
                  </a:txBody>
                  <a:tcPr marL="14139" marR="78312" marT="0" marB="0" anchor="ctr">
                    <a:lnL>
                      <a:noFill/>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0" i="0" u="none" strike="noStrike">
                          <a:solidFill>
                            <a:srgbClr val="000000"/>
                          </a:solidFill>
                          <a:latin typeface="Arial"/>
                          <a:ea typeface="游ゴシック Medium"/>
                        </a:rPr>
                        <a:t>73.9%</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1" i="0" u="none" strike="noStrike">
                          <a:solidFill>
                            <a:srgbClr val="000000"/>
                          </a:solidFill>
                          <a:latin typeface="Arial"/>
                          <a:ea typeface="游ゴシック Medium"/>
                        </a:rPr>
                        <a:t>273,060</a:t>
                      </a:r>
                      <a:endParaRPr lang="ja-JP" altLang="en-US" sz="750" b="1"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0" i="0" u="none" strike="noStrike">
                          <a:solidFill>
                            <a:srgbClr val="000000"/>
                          </a:solidFill>
                          <a:latin typeface="Arial"/>
                          <a:ea typeface="游ゴシック Medium"/>
                        </a:rPr>
                        <a:t>22.2%</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1" i="0" u="none" strike="noStrike">
                          <a:solidFill>
                            <a:srgbClr val="000000"/>
                          </a:solidFill>
                          <a:latin typeface="Arial"/>
                          <a:ea typeface="游ゴシック Medium"/>
                        </a:rPr>
                        <a:t>222,261</a:t>
                      </a:r>
                      <a:endParaRPr lang="ja-JP" altLang="en-US" sz="750" b="1"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altLang="en-US" sz="750" b="0" i="0" u="none" strike="noStrike">
                          <a:solidFill>
                            <a:srgbClr val="000000"/>
                          </a:solidFill>
                          <a:latin typeface="Arial"/>
                          <a:ea typeface="游ゴシック Medium"/>
                        </a:rPr>
                        <a:t>69.6%</a:t>
                      </a:r>
                      <a:endParaRPr lang="ja-JP" altLang="en-US" sz="750" b="0" i="0" u="none" strike="noStrike">
                        <a:solidFill>
                          <a:srgbClr val="000000"/>
                        </a:solidFill>
                        <a:latin typeface="Arial"/>
                        <a:ea typeface="游ゴシック Medium"/>
                      </a:endParaRPr>
                    </a:p>
                  </a:txBody>
                  <a:tcPr marL="14139" marR="78312" marT="0" marB="0" anchor="ctr">
                    <a:lnL w="3927" cap="flat" cmpd="sng" algn="ctr">
                      <a:solidFill>
                        <a:srgbClr val="FFFFFF"/>
                      </a:solidFill>
                      <a:prstDash val="solid"/>
                      <a:round/>
                      <a:headEnd type="none" w="med" len="med"/>
                      <a:tailEnd type="none" w="med" len="med"/>
                    </a:lnL>
                    <a:lnR w="3927" cap="flat" cmpd="sng" algn="ctr">
                      <a:solidFill>
                        <a:srgbClr val="FFFFFF"/>
                      </a:solidFill>
                      <a:prstDash val="solid"/>
                      <a:round/>
                      <a:headEnd type="none" w="med" len="med"/>
                      <a:tailEnd type="none" w="med" len="med"/>
                    </a:lnR>
                    <a:lnT w="3927" cap="flat" cmpd="sng" algn="ctr">
                      <a:solidFill>
                        <a:srgbClr val="0B3041"/>
                      </a:solidFill>
                      <a:prstDash val="solid"/>
                      <a:round/>
                      <a:headEnd type="none" w="med" len="med"/>
                      <a:tailEnd type="none" w="med" len="med"/>
                    </a:lnT>
                    <a:lnB w="3927" cap="flat" cmpd="sng" algn="ctr">
                      <a:solidFill>
                        <a:srgbClr val="0B3041"/>
                      </a:solidFill>
                      <a:prstDash val="solid"/>
                      <a:round/>
                      <a:headEnd type="none" w="med" len="med"/>
                      <a:tailEnd type="none" w="med" len="med"/>
                    </a:lnB>
                    <a:solidFill>
                      <a:srgbClr val="E1F3FB"/>
                    </a:solidFill>
                  </a:tcPr>
                </a:tc>
              </a:tr>
            </a:tbl>
          </a:graphicData>
        </a:graphic>
      </p:graphicFrame>
    </p:spTree>
    <p:extLst>
      <p:ext uri="{BB962C8B-B14F-4D97-AF65-F5344CB8AC3E}">
        <p14:creationId xmlns:p14="http://schemas.microsoft.com/office/powerpoint/2010/main" val="1909380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spTree>
    <p:extLst>
      <p:ext uri="{BB962C8B-B14F-4D97-AF65-F5344CB8AC3E}">
        <p14:creationId xmlns:p14="http://schemas.microsoft.com/office/powerpoint/2010/main" val="34130237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ja-JP" altLang="en-US" dirty="0">
                <a:latin typeface="+mj-ea"/>
              </a:rPr>
              <a:t>鎌倉山の店舗（ル・ミリュウ）を2010年に開業して以降、紀尾井町・大船へ出店。令和7年3月に賃貸不動産を売却し、事業を店舗運営に集約しています。</a:t>
            </a:r>
            <a:endParaRPr lang="en-US" altLang="ja-JP" dirty="0"/>
          </a:p>
        </p:txBody>
      </p:sp>
      <p:graphicFrame>
        <p:nvGraphicFramePr>
          <p:cNvPr id="14" name="Table 13"/>
          <p:cNvGraphicFramePr>
            <a:graphicFrameLocks noGrp="1"/>
          </p:cNvGraphicFramePr>
          <p:nvPr/>
        </p:nvGraphicFramePr>
        <p:xfrm>
          <a:off x="310896" y="1463040"/>
          <a:ext cx="10058400" cy="4114800"/>
        </p:xfrm>
        <a:graphic>
          <a:graphicData uri="http://schemas.openxmlformats.org/drawingml/2006/table">
            <a:tbl>
              <a:tblPr/>
              <a:tblGrid>
                <a:gridCol w="1554480"/>
                <a:gridCol w="6217920"/>
                <a:gridCol w="2286000"/>
              </a:tblGrid>
              <a:tr h="457200">
                <a:tc>
                  <a:txBody>
                    <a:bodyPr wrap="square"/>
                    <a:lstStyle/>
                    <a:p>
                      <a:pPr algn="ctr"/>
                      <a:r>
                        <a:rPr sz="1000" b="1" i="0">
                          <a:solidFill>
                            <a:srgbClr val="FFFFFF"/>
                          </a:solidFill>
                          <a:latin typeface="Arial"/>
                          <a:ea typeface="游ゴシック"/>
                        </a:rPr>
                        <a:t>年月</a:t>
                      </a:r>
                    </a:p>
                  </a:txBody>
                  <a:tcPr marL="45720" marR="45720" marT="13716" marB="13716" anchor="ctr">
                    <a:lnL w="0">
                      <a:noFill/>
                    </a:lnL>
                    <a:lnR w="0">
                      <a:noFill/>
                    </a:lnR>
                    <a:lnT w="0">
                      <a:noFill/>
                    </a:lnT>
                    <a:lnB w="0">
                      <a:noFill/>
                    </a:lnB>
                    <a:solidFill>
                      <a:srgbClr val="0B3041"/>
                    </a:solidFill>
                  </a:tcPr>
                </a:tc>
                <a:tc>
                  <a:txBody>
                    <a:bodyPr wrap="square"/>
                    <a:lstStyle/>
                    <a:p>
                      <a:pPr algn="ctr"/>
                      <a:r>
                        <a:rPr sz="1000" b="1" i="0">
                          <a:solidFill>
                            <a:srgbClr val="FFFFFF"/>
                          </a:solidFill>
                          <a:latin typeface="Arial"/>
                          <a:ea typeface="游ゴシック"/>
                        </a:rPr>
                        <a:t>内容</a:t>
                      </a:r>
                    </a:p>
                  </a:txBody>
                  <a:tcPr marL="45720" marR="45720" marT="13716" marB="13716" anchor="ctr">
                    <a:lnL w="0">
                      <a:noFill/>
                    </a:lnL>
                    <a:lnR w="0">
                      <a:noFill/>
                    </a:lnR>
                    <a:lnT w="0">
                      <a:noFill/>
                    </a:lnT>
                    <a:lnB w="0">
                      <a:noFill/>
                    </a:lnB>
                    <a:solidFill>
                      <a:srgbClr val="0B3041"/>
                    </a:solidFill>
                  </a:tcPr>
                </a:tc>
                <a:tc>
                  <a:txBody>
                    <a:bodyPr wrap="square"/>
                    <a:lstStyle/>
                    <a:p>
                      <a:pPr algn="ctr"/>
                      <a:r>
                        <a:rPr sz="1000" b="1" i="0">
                          <a:solidFill>
                            <a:srgbClr val="FFFFFF"/>
                          </a:solidFill>
                          <a:latin typeface="Arial"/>
                          <a:ea typeface="游ゴシック"/>
                        </a:rPr>
                        <a:t>出所</a:t>
                      </a:r>
                    </a:p>
                  </a:txBody>
                  <a:tcPr marL="45720" marR="45720" marT="13716" marB="13716" anchor="ctr">
                    <a:lnL w="0">
                      <a:noFill/>
                    </a:lnL>
                    <a:lnR w="0">
                      <a:noFill/>
                    </a:lnR>
                    <a:lnT w="0">
                      <a:noFill/>
                    </a:lnT>
                    <a:lnB w="0">
                      <a:noFill/>
                    </a:lnB>
                    <a:solidFill>
                      <a:srgbClr val="0B3041"/>
                    </a:solidFill>
                  </a:tcPr>
                </a:tc>
              </a:tr>
              <a:tr h="457200">
                <a:tc>
                  <a:txBody>
                    <a:bodyPr wrap="square"/>
                    <a:lstStyle/>
                    <a:p>
                      <a:pPr algn="l"/>
                      <a:r>
                        <a:rPr sz="1000" b="0" i="0">
                          <a:solidFill>
                            <a:srgbClr val="000000"/>
                          </a:solidFill>
                          <a:latin typeface="Arial"/>
                          <a:ea typeface="游ゴシック"/>
                        </a:rPr>
                        <a:t>2010年12月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鎌倉山の店舗建物を取得（「ル・ミリュウ鎌倉山」開業）</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固定資産台帳／Web情報</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2017年9月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鎌倉山店をリニューアル</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Web情報（要確認）</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2021年3月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ブランズタワー大船の専有部分を取得</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固定資産台帳</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2022年1月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大船店のB工事（内装）を実施</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固定資産台帳</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令和6年3月期</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四谷店の売上54.9百万円（以降は売上計上なし。閉店と推察・要確認）</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総勘定元帳</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2025年3月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賃貸不動産（松濤フラッツ）を売却（売却額869百万円）。ルミリュウ大船の内装工事</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総勘定元帳／固定資産台帳</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2025年10月</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鎌倉山店に螺旋階段を新設</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固定資産台帳</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000" b="0" i="0">
                          <a:solidFill>
                            <a:srgbClr val="000000"/>
                          </a:solidFill>
                          <a:latin typeface="Arial"/>
                          <a:ea typeface="游ゴシック"/>
                        </a:rPr>
                        <a:t>（確認中）</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設立年月、商号変更・代表者就任等の経緯は登記事項証明書の受領後に更新</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000" b="0" i="0">
                          <a:solidFill>
                            <a:srgbClr val="000000"/>
                          </a:solidFill>
                          <a:latin typeface="Arial"/>
                          <a:ea typeface="游ゴシック"/>
                        </a:rPr>
                        <a:t>－</a:t>
                      </a:r>
                    </a:p>
                  </a:txBody>
                  <a:tcPr marL="45720" marR="45720" marT="13716" marB="13716" anchor="ctr">
                    <a:lnL w="0">
                      <a:noFill/>
                    </a:lnL>
                    <a:lnR w="0">
                      <a:noFill/>
                    </a:lnR>
                    <a:lnT w="0">
                      <a:noFill/>
                    </a:lnT>
                    <a:lnB w="6350" cap="flat" cmpd="sng" algn="ctr">
                      <a:solidFill>
                        <a:srgbClr val="B8C0C6"/>
                      </a:solidFill>
                      <a:prstDash val="solid"/>
                    </a:lnB>
                    <a:noFill/>
                  </a:tcPr>
                </a:tc>
              </a:tr>
            </a:tbl>
          </a:graphicData>
        </a:graphic>
      </p:graphicFrame>
    </p:spTree>
    <p:extLst>
      <p:ext uri="{BB962C8B-B14F-4D97-AF65-F5344CB8AC3E}">
        <p14:creationId xmlns:p14="http://schemas.microsoft.com/office/powerpoint/2010/main" val="3914015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ja-JP" altLang="en-US" dirty="0">
                <a:latin typeface="+mj-ea"/>
              </a:rPr>
              <a:t>代表取締役 西丸 修氏が100%株主として経営を担っています。経歴の詳細はオーナーヒアリングにて補完予定です。</a:t>
            </a:r>
            <a:endParaRPr lang="en-US" altLang="ja-JP" dirty="0"/>
          </a:p>
        </p:txBody>
      </p:sp>
      <p:graphicFrame>
        <p:nvGraphicFramePr>
          <p:cNvPr id="14" name="Table 13"/>
          <p:cNvGraphicFramePr>
            <a:graphicFrameLocks noGrp="1"/>
          </p:cNvGraphicFramePr>
          <p:nvPr/>
        </p:nvGraphicFramePr>
        <p:xfrm>
          <a:off x="310896" y="1554480"/>
          <a:ext cx="10058400" cy="2743200"/>
        </p:xfrm>
        <a:graphic>
          <a:graphicData uri="http://schemas.openxmlformats.org/drawingml/2006/table">
            <a:tbl>
              <a:tblPr/>
              <a:tblGrid>
                <a:gridCol w="2377440"/>
                <a:gridCol w="7680960"/>
              </a:tblGrid>
              <a:tr h="457200">
                <a:tc>
                  <a:txBody>
                    <a:bodyPr wrap="square"/>
                    <a:lstStyle/>
                    <a:p>
                      <a:pPr algn="ctr"/>
                      <a:r>
                        <a:rPr sz="1100" b="1" i="0">
                          <a:solidFill>
                            <a:srgbClr val="FFFFFF"/>
                          </a:solidFill>
                          <a:latin typeface="Arial"/>
                          <a:ea typeface="游ゴシック"/>
                        </a:rPr>
                        <a:t>項目</a:t>
                      </a:r>
                    </a:p>
                  </a:txBody>
                  <a:tcPr marL="45720" marR="45720" marT="13716" marB="13716" anchor="ctr">
                    <a:lnL w="0">
                      <a:noFill/>
                    </a:lnL>
                    <a:lnR w="0">
                      <a:noFill/>
                    </a:lnR>
                    <a:lnT w="0">
                      <a:noFill/>
                    </a:lnT>
                    <a:lnB w="0">
                      <a:noFill/>
                    </a:lnB>
                    <a:solidFill>
                      <a:srgbClr val="0B3041"/>
                    </a:solidFill>
                  </a:tcPr>
                </a:tc>
                <a:tc>
                  <a:txBody>
                    <a:bodyPr wrap="square"/>
                    <a:lstStyle/>
                    <a:p>
                      <a:pPr algn="ctr"/>
                      <a:r>
                        <a:rPr sz="1100" b="1" i="0">
                          <a:solidFill>
                            <a:srgbClr val="FFFFFF"/>
                          </a:solidFill>
                          <a:latin typeface="Arial"/>
                          <a:ea typeface="游ゴシック"/>
                        </a:rPr>
                        <a:t>内容</a:t>
                      </a:r>
                    </a:p>
                  </a:txBody>
                  <a:tcPr marL="45720" marR="45720" marT="13716" marB="13716" anchor="ctr">
                    <a:lnL w="0">
                      <a:noFill/>
                    </a:lnL>
                    <a:lnR w="0">
                      <a:noFill/>
                    </a:lnR>
                    <a:lnT w="0">
                      <a:noFill/>
                    </a:lnT>
                    <a:lnB w="0">
                      <a:noFill/>
                    </a:lnB>
                    <a:solidFill>
                      <a:srgbClr val="0B3041"/>
                    </a:solidFill>
                  </a:tcPr>
                </a:tc>
              </a:tr>
              <a:tr h="457200">
                <a:tc>
                  <a:txBody>
                    <a:bodyPr wrap="square"/>
                    <a:lstStyle/>
                    <a:p>
                      <a:pPr algn="l"/>
                      <a:r>
                        <a:rPr sz="1100" b="0" i="0">
                          <a:solidFill>
                            <a:srgbClr val="000000"/>
                          </a:solidFill>
                          <a:latin typeface="Arial"/>
                          <a:ea typeface="游ゴシック"/>
                        </a:rPr>
                        <a:t>氏名</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100" b="0" i="0">
                          <a:solidFill>
                            <a:srgbClr val="000000"/>
                          </a:solidFill>
                          <a:latin typeface="Arial"/>
                          <a:ea typeface="游ゴシック"/>
                        </a:rPr>
                        <a:t>西丸 修</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100" b="0" i="0">
                          <a:solidFill>
                            <a:srgbClr val="000000"/>
                          </a:solidFill>
                          <a:latin typeface="Arial"/>
                          <a:ea typeface="游ゴシック"/>
                        </a:rPr>
                        <a:t>役職</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100" b="0" i="0">
                          <a:solidFill>
                            <a:srgbClr val="000000"/>
                          </a:solidFill>
                          <a:latin typeface="Arial"/>
                          <a:ea typeface="游ゴシック"/>
                        </a:rPr>
                        <a:t>代表取締役（株式100株・100%保有）</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100" b="0" i="0">
                          <a:solidFill>
                            <a:srgbClr val="000000"/>
                          </a:solidFill>
                          <a:latin typeface="Arial"/>
                          <a:ea typeface="游ゴシック"/>
                        </a:rPr>
                        <a:t>役員報酬</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100" b="0" i="0">
                          <a:solidFill>
                            <a:srgbClr val="000000"/>
                          </a:solidFill>
                          <a:latin typeface="Arial"/>
                          <a:ea typeface="游ゴシック"/>
                        </a:rPr>
                        <a:t>年1,920千円（令和8年3月期）</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100" b="0" i="0">
                          <a:solidFill>
                            <a:srgbClr val="000000"/>
                          </a:solidFill>
                          <a:latin typeface="Arial"/>
                          <a:ea typeface="游ゴシック"/>
                        </a:rPr>
                        <a:t>経歴・保有資格</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100" b="0" i="0">
                          <a:solidFill>
                            <a:srgbClr val="000000"/>
                          </a:solidFill>
                          <a:latin typeface="Arial"/>
                          <a:ea typeface="游ゴシック"/>
                        </a:rPr>
                        <a:t>未受領（要確認。オーナーヒアリングにて補完予定）</a:t>
                      </a:r>
                    </a:p>
                  </a:txBody>
                  <a:tcPr marL="45720" marR="45720" marT="13716" marB="13716" anchor="ctr">
                    <a:lnL w="0">
                      <a:noFill/>
                    </a:lnL>
                    <a:lnR w="0">
                      <a:noFill/>
                    </a:lnR>
                    <a:lnT w="0">
                      <a:noFill/>
                    </a:lnT>
                    <a:lnB w="6350" cap="flat" cmpd="sng" algn="ctr">
                      <a:solidFill>
                        <a:srgbClr val="B8C0C6"/>
                      </a:solidFill>
                      <a:prstDash val="solid"/>
                    </a:lnB>
                    <a:noFill/>
                  </a:tcPr>
                </a:tc>
              </a:tr>
              <a:tr h="457200">
                <a:tc>
                  <a:txBody>
                    <a:bodyPr wrap="square"/>
                    <a:lstStyle/>
                    <a:p>
                      <a:pPr algn="l"/>
                      <a:r>
                        <a:rPr sz="1100" b="0" i="0">
                          <a:solidFill>
                            <a:srgbClr val="000000"/>
                          </a:solidFill>
                          <a:latin typeface="Arial"/>
                          <a:ea typeface="游ゴシック"/>
                        </a:rPr>
                        <a:t>M&amp;A後の関与意向</a:t>
                      </a:r>
                    </a:p>
                  </a:txBody>
                  <a:tcPr marL="45720" marR="45720" marT="13716" marB="13716" anchor="ctr">
                    <a:lnL w="0">
                      <a:noFill/>
                    </a:lnL>
                    <a:lnR w="0">
                      <a:noFill/>
                    </a:lnR>
                    <a:lnT w="0">
                      <a:noFill/>
                    </a:lnT>
                    <a:lnB w="6350" cap="flat" cmpd="sng" algn="ctr">
                      <a:solidFill>
                        <a:srgbClr val="B8C0C6"/>
                      </a:solidFill>
                      <a:prstDash val="solid"/>
                    </a:lnB>
                    <a:noFill/>
                  </a:tcPr>
                </a:tc>
                <a:tc>
                  <a:txBody>
                    <a:bodyPr wrap="square"/>
                    <a:lstStyle/>
                    <a:p>
                      <a:pPr algn="l"/>
                      <a:r>
                        <a:rPr sz="1100" b="0" i="0">
                          <a:solidFill>
                            <a:srgbClr val="000000"/>
                          </a:solidFill>
                          <a:latin typeface="Arial"/>
                          <a:ea typeface="游ゴシック"/>
                        </a:rPr>
                        <a:t>未確認（ヒアリング予定）</a:t>
                      </a:r>
                    </a:p>
                  </a:txBody>
                  <a:tcPr marL="45720" marR="45720" marT="13716" marB="13716" anchor="ctr">
                    <a:lnL w="0">
                      <a:noFill/>
                    </a:lnL>
                    <a:lnR w="0">
                      <a:noFill/>
                    </a:lnR>
                    <a:lnT w="0">
                      <a:noFill/>
                    </a:lnT>
                    <a:lnB w="6350" cap="flat" cmpd="sng" algn="ctr">
                      <a:solidFill>
                        <a:srgbClr val="B8C0C6"/>
                      </a:solidFill>
                      <a:prstDash val="solid"/>
                    </a:lnB>
                    <a:noFill/>
                  </a:tcPr>
                </a:tc>
              </a:tr>
            </a:tbl>
          </a:graphicData>
        </a:graphic>
      </p:graphicFrame>
    </p:spTree>
    <p:extLst>
      <p:ext uri="{BB962C8B-B14F-4D97-AF65-F5344CB8AC3E}">
        <p14:creationId xmlns:p14="http://schemas.microsoft.com/office/powerpoint/2010/main" val="31702895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mj-ea"/>
              </a:rPr>
              <a:t>検討にあたっての補足情報と、現時点での主な確認事項を記載します。確認事項は今後のヒアリング・資料開示により順次補完します。</a:t>
            </a:r>
            <a:endParaRPr lang="en-US" altLang="ja-JP" dirty="0"/>
          </a:p>
        </p:txBody>
      </p:sp>
      <p:sp>
        <p:nvSpPr>
          <p:cNvPr id="14" name="Rectangle 13"/>
          <p:cNvSpPr/>
          <p:nvPr/>
        </p:nvSpPr>
        <p:spPr>
          <a:xfrm>
            <a:off x="457200" y="1508760"/>
            <a:ext cx="9784080" cy="31089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150" dirty="0" b="1">
                <a:solidFill>
                  <a:srgbClr val="FFFFFF"/>
                </a:solidFill>
                <a:latin typeface="+mn-ea"/>
                <a:ea typeface="+mn-ea"/>
              </a:rPr>
              <a:t>■ 不動産・非事業用資産</a:t>
            </a:r>
            <a:endParaRPr kumimoji="1" lang="ja-JP" altLang="en-US" sz="1150" dirty="0"/>
          </a:p>
        </p:txBody>
      </p:sp>
      <p:sp>
        <p:nvSpPr>
          <p:cNvPr id="15" name="TextBox 14"/>
          <p:cNvSpPr txBox="1"/>
          <p:nvPr/>
        </p:nvSpPr>
        <p:spPr>
          <a:xfrm>
            <a:off x="457200" y="1856231"/>
            <a:ext cx="9784080" cy="1051560"/>
          </a:xfrm>
          <a:prstGeom prst="rect">
            <a:avLst/>
          </a:prstGeom>
          <a:solidFill>
            <a:srgbClr val="E3E7E9"/>
          </a:solidFill>
        </p:spPr>
        <p:txBody>
          <a:bodyPr wrap="square" lIns="137160" tIns="73152" rIns="137160" anchor="t">
            <a:spAutoFit/>
          </a:bodyPr>
          <a:lstStyle/>
          <a:p>
            <a:pPr>
              <a:spcAft>
                <a:spcPts val="200"/>
              </a:spcAft>
            </a:pPr>
            <a:r>
              <a:rPr kumimoji="1" lang="ja-JP" altLang="en-US" sz="1100" dirty="0">
                <a:solidFill>
                  <a:srgbClr val="000000"/>
                </a:solidFill>
                <a:latin typeface="+mn-ea"/>
                <a:ea typeface="+mn-ea"/>
              </a:rPr>
              <a:t>・鎌倉山の土地345百万円・建物93百万円（簿価）。時価は未評価</a:t>
            </a:r>
            <a:endParaRPr kumimoji="1" lang="ja-JP" altLang="en-US" sz="1100" dirty="0"/>
          </a:p>
          <a:p>
            <a:pPr>
              <a:spcAft>
                <a:spcPts val="200"/>
              </a:spcAft>
            </a:pPr>
            <a:r>
              <a:rPr kumimoji="1" lang="ja-JP" altLang="en-US" sz="1100" dirty="0">
                <a:solidFill>
                  <a:srgbClr val="000000"/>
                </a:solidFill>
                <a:latin typeface="+mn-ea"/>
                <a:ea typeface="+mn-ea"/>
              </a:rPr>
              <a:t>・「鎌倉山三丁目計画」関連の約87百万円を土地へ振替済（内容要確認）</a:t>
            </a:r>
            <a:endParaRPr kumimoji="1" lang="ja-JP" altLang="en-US" sz="1100" dirty="0"/>
          </a:p>
          <a:p>
            <a:pPr>
              <a:spcAft>
                <a:spcPts val="200"/>
              </a:spcAft>
            </a:pPr>
            <a:r>
              <a:rPr kumimoji="1" lang="ja-JP" altLang="en-US" sz="1100" dirty="0">
                <a:solidFill>
                  <a:srgbClr val="000000"/>
                </a:solidFill>
                <a:latin typeface="+mn-ea"/>
                <a:ea typeface="+mn-ea"/>
              </a:rPr>
              <a:t>・ブランズタワー大船の専有部分（簿価26百万円）は事業用か投資用か要確認</a:t>
            </a:r>
            <a:endParaRPr kumimoji="1" lang="ja-JP" altLang="en-US" sz="1100" dirty="0"/>
          </a:p>
        </p:txBody>
      </p:sp>
      <p:sp>
        <p:nvSpPr>
          <p:cNvPr id="16" name="Rectangle 15"/>
          <p:cNvSpPr/>
          <p:nvPr/>
        </p:nvSpPr>
        <p:spPr>
          <a:xfrm>
            <a:off x="457200" y="3108960"/>
            <a:ext cx="9784080" cy="31089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150" dirty="0" b="1">
                <a:solidFill>
                  <a:srgbClr val="FFFFFF"/>
                </a:solidFill>
                <a:latin typeface="+mn-ea"/>
                <a:ea typeface="+mn-ea"/>
              </a:rPr>
              <a:t>■ 負債・税務</a:t>
            </a:r>
            <a:endParaRPr kumimoji="1" lang="ja-JP" altLang="en-US" sz="1150" dirty="0"/>
          </a:p>
        </p:txBody>
      </p:sp>
      <p:sp>
        <p:nvSpPr>
          <p:cNvPr id="17" name="TextBox 16"/>
          <p:cNvSpPr txBox="1"/>
          <p:nvPr/>
        </p:nvSpPr>
        <p:spPr>
          <a:xfrm>
            <a:off x="457200" y="3456432"/>
            <a:ext cx="9784080" cy="1051560"/>
          </a:xfrm>
          <a:prstGeom prst="rect">
            <a:avLst/>
          </a:prstGeom>
          <a:solidFill>
            <a:srgbClr val="E3E7E9"/>
          </a:solidFill>
        </p:spPr>
        <p:txBody>
          <a:bodyPr wrap="square" lIns="137160" tIns="73152" rIns="137160" anchor="t">
            <a:spAutoFit/>
          </a:bodyPr>
          <a:lstStyle/>
          <a:p>
            <a:pPr>
              <a:spcAft>
                <a:spcPts val="200"/>
              </a:spcAft>
            </a:pPr>
            <a:r>
              <a:rPr kumimoji="1" lang="ja-JP" altLang="en-US" sz="1100" dirty="0">
                <a:solidFill>
                  <a:srgbClr val="000000"/>
                </a:solidFill>
                <a:latin typeface="+mn-ea"/>
                <a:ea typeface="+mn-ea"/>
              </a:rPr>
              <a:t>・借入金446百万円のうち役員借入金360百万円。譲渡時の取扱いは要協議</a:t>
            </a:r>
            <a:endParaRPr kumimoji="1" lang="ja-JP" altLang="en-US" sz="1100" dirty="0"/>
          </a:p>
          <a:p>
            <a:pPr>
              <a:spcAft>
                <a:spcPts val="200"/>
              </a:spcAft>
            </a:pPr>
            <a:r>
              <a:rPr kumimoji="1" lang="ja-JP" altLang="en-US" sz="1100" dirty="0">
                <a:solidFill>
                  <a:srgbClr val="000000"/>
                </a:solidFill>
                <a:latin typeface="+mn-ea"/>
                <a:ea typeface="+mn-ea"/>
              </a:rPr>
              <a:t>・過年度法人税等48百万円（令和3〜4年度分）を令和8年3月期に納付済。対象範囲・未解決事項は要確認</a:t>
            </a:r>
            <a:endParaRPr kumimoji="1" lang="ja-JP" altLang="en-US" sz="1100" dirty="0"/>
          </a:p>
          <a:p>
            <a:pPr>
              <a:spcAft>
                <a:spcPts val="200"/>
              </a:spcAft>
            </a:pPr>
            <a:r>
              <a:rPr kumimoji="1" lang="ja-JP" altLang="en-US" sz="1100" dirty="0">
                <a:solidFill>
                  <a:srgbClr val="000000"/>
                </a:solidFill>
                <a:latin typeface="+mn-ea"/>
                <a:ea typeface="+mn-ea"/>
              </a:rPr>
              <a:t>・退職金規程・賞与規程は未受領のため引当未計上</a:t>
            </a:r>
            <a:endParaRPr kumimoji="1" lang="ja-JP" altLang="en-US" sz="1100" dirty="0"/>
          </a:p>
        </p:txBody>
      </p:sp>
      <p:sp>
        <p:nvSpPr>
          <p:cNvPr id="18" name="Rectangle 17"/>
          <p:cNvSpPr/>
          <p:nvPr/>
        </p:nvSpPr>
        <p:spPr>
          <a:xfrm>
            <a:off x="457200" y="4709160"/>
            <a:ext cx="9784080" cy="31089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kumimoji="1" lang="ja-JP" altLang="en-US" sz="1150" dirty="0" b="1">
                <a:solidFill>
                  <a:srgbClr val="FFFFFF"/>
                </a:solidFill>
                <a:latin typeface="+mn-ea"/>
                <a:ea typeface="+mn-ea"/>
              </a:rPr>
              <a:t>■ 主な確認事項（デューデリジェンス論点）</a:t>
            </a:r>
            <a:endParaRPr kumimoji="1" lang="ja-JP" altLang="en-US" sz="1150" dirty="0"/>
          </a:p>
        </p:txBody>
      </p:sp>
      <p:sp>
        <p:nvSpPr>
          <p:cNvPr id="19" name="TextBox 18"/>
          <p:cNvSpPr txBox="1"/>
          <p:nvPr/>
        </p:nvSpPr>
        <p:spPr>
          <a:xfrm>
            <a:off x="457200" y="5056632"/>
            <a:ext cx="9784080" cy="1691640"/>
          </a:xfrm>
          <a:prstGeom prst="rect">
            <a:avLst/>
          </a:prstGeom>
          <a:solidFill>
            <a:srgbClr val="E3E7E9"/>
          </a:solidFill>
        </p:spPr>
        <p:txBody>
          <a:bodyPr wrap="square" lIns="137160" tIns="73152" rIns="137160" anchor="t">
            <a:spAutoFit/>
          </a:bodyPr>
          <a:lstStyle/>
          <a:p>
            <a:pPr>
              <a:spcAft>
                <a:spcPts val="200"/>
              </a:spcAft>
            </a:pPr>
            <a:r>
              <a:rPr kumimoji="1" lang="ja-JP" altLang="en-US" sz="1100" dirty="0">
                <a:solidFill>
                  <a:srgbClr val="000000"/>
                </a:solidFill>
                <a:latin typeface="+mn-ea"/>
                <a:ea typeface="+mn-ea"/>
              </a:rPr>
              <a:t>・登記事項証明書・株主名簿・許認可（菓子製造業・飲食店営業）・商標権の帰属</a:t>
            </a:r>
            <a:endParaRPr kumimoji="1" lang="ja-JP" altLang="en-US" sz="1100" dirty="0"/>
          </a:p>
          <a:p>
            <a:pPr>
              <a:spcAft>
                <a:spcPts val="200"/>
              </a:spcAft>
            </a:pPr>
            <a:r>
              <a:rPr kumimoji="1" lang="ja-JP" altLang="en-US" sz="1100" dirty="0">
                <a:solidFill>
                  <a:srgbClr val="000000"/>
                </a:solidFill>
                <a:latin typeface="+mn-ea"/>
                <a:ea typeface="+mn-ea"/>
              </a:rPr>
              <a:t>・賃貸借契約書（紀尾井町店・大船店）、敷金13百万円の内訳</a:t>
            </a:r>
            <a:endParaRPr kumimoji="1" lang="ja-JP" altLang="en-US" sz="1100" dirty="0"/>
          </a:p>
          <a:p>
            <a:pPr>
              <a:spcAft>
                <a:spcPts val="200"/>
              </a:spcAft>
            </a:pPr>
            <a:r>
              <a:rPr kumimoji="1" lang="ja-JP" altLang="en-US" sz="1100" dirty="0">
                <a:solidFill>
                  <a:srgbClr val="000000"/>
                </a:solidFill>
                <a:latin typeface="+mn-ea"/>
                <a:ea typeface="+mn-ea"/>
              </a:rPr>
              <a:t>・令和8年3月期のコンサル収入14百万円・前渡金18.5百万円の相手先・内容</a:t>
            </a:r>
            <a:endParaRPr kumimoji="1" lang="ja-JP" altLang="en-US" sz="1100" dirty="0"/>
          </a:p>
          <a:p>
            <a:pPr>
              <a:spcAft>
                <a:spcPts val="200"/>
              </a:spcAft>
            </a:pPr>
            <a:r>
              <a:rPr kumimoji="1" lang="ja-JP" altLang="en-US" sz="1100" dirty="0">
                <a:solidFill>
                  <a:srgbClr val="000000"/>
                </a:solidFill>
                <a:latin typeface="+mn-ea"/>
                <a:ea typeface="+mn-ea"/>
              </a:rPr>
              <a:t>・四谷店の閉店経緯、ミリュウショップ売上の減少要因（42→7百万円）</a:t>
            </a:r>
            <a:endParaRPr kumimoji="1" lang="ja-JP" altLang="en-US" sz="1100" dirty="0"/>
          </a:p>
          <a:p>
            <a:pPr>
              <a:spcAft>
                <a:spcPts val="200"/>
              </a:spcAft>
            </a:pPr>
            <a:r>
              <a:rPr kumimoji="1" lang="ja-JP" altLang="en-US" sz="1100" dirty="0">
                <a:solidFill>
                  <a:srgbClr val="000000"/>
                </a:solidFill>
                <a:latin typeface="+mn-ea"/>
                <a:ea typeface="+mn-ea"/>
              </a:rPr>
              <a:t>・進行期の試算表・店舗別損益、従業員の個人別データ</a:t>
            </a:r>
            <a:endParaRPr kumimoji="1" lang="ja-JP" altLang="en-US" sz="1100" dirty="0"/>
          </a:p>
        </p:txBody>
      </p:sp>
    </p:spTree>
    <p:extLst>
      <p:ext uri="{BB962C8B-B14F-4D97-AF65-F5344CB8AC3E}">
        <p14:creationId xmlns:p14="http://schemas.microsoft.com/office/powerpoint/2010/main" val="8056887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