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7.svg" ContentType="image/svg+xml"/>
  <Override PartName="/ppt/media/image9.svg" ContentType="image/svg+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saveSubsetFonts="1" autoCompressPictures="0">
  <p:sldMasterIdLst>
    <p:sldMasterId id="2147483653" r:id="rId1"/>
  </p:sldMasterIdLst>
  <p:notesMasterIdLst>
    <p:notesMasterId r:id="rId38"/>
  </p:notesMasterIdLst>
  <p:sldIdLst>
    <p:sldId id="770" r:id="rId2"/>
    <p:sldId id="269" r:id="rId3"/>
    <p:sldId id="693" r:id="rId4"/>
    <p:sldId id="749" r:id="rId5"/>
    <p:sldId id="748" r:id="rId6"/>
    <p:sldId id="774" r:id="rId7"/>
    <p:sldId id="775" r:id="rId8"/>
    <p:sldId id="266" r:id="rId9"/>
    <p:sldId id="772" r:id="rId10"/>
    <p:sldId id="776" r:id="rId11"/>
    <p:sldId id="798" r:id="rId12"/>
    <p:sldId id="796" r:id="rId13"/>
    <p:sldId id="792" r:id="rId14"/>
    <p:sldId id="779" r:id="rId15"/>
    <p:sldId id="771" r:id="rId17"/>
    <p:sldId id="780" r:id="rId18"/>
    <p:sldId id="789" r:id="rId19"/>
    <p:sldId id="781" r:id="rId20"/>
    <p:sldId id="790" r:id="rId21"/>
    <p:sldId id="793" r:id="rId22"/>
    <p:sldId id="791" r:id="rId23"/>
    <p:sldId id="795" r:id="rId24"/>
    <p:sldId id="773" r:id="rId25"/>
    <p:sldId id="784" r:id="rId26"/>
    <p:sldId id="785" r:id="rId27"/>
    <p:sldId id="787" r:id="rId29"/>
    <p:sldId id="782" r:id="rId30"/>
    <p:sldId id="783" r:id="rId31"/>
    <p:sldId id="794" r:id="rId32"/>
    <p:sldId id="788" r:id="rId35"/>
    <p:sldId id="801" r:id="rId36"/>
    <p:sldId id="277" r:id="rId37"/>
  </p:sldIdLst>
  <p:sldSz cx="10691813" cy="7559675"/>
  <p:notesSz cx="9939338" cy="1436846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既定のセクション" id="{F15EE332-85E8-464E-BD9B-6722D42356EC}">
          <p14:sldIdLst>
            <p14:sldId id="770"/>
            <p14:sldId id="269"/>
            <p14:sldId id="693"/>
            <p14:sldId id="749"/>
            <p14:sldId id="748"/>
            <p14:sldId id="774"/>
            <p14:sldId id="775"/>
            <p14:sldId id="266"/>
            <p14:sldId id="772"/>
            <p14:sldId id="776"/>
            <p14:sldId id="798"/>
            <p14:sldId id="796"/>
            <p14:sldId id="792"/>
            <p14:sldId id="779"/>
            <p14:sldId id="797"/>
            <p14:sldId id="771"/>
            <p14:sldId id="780"/>
            <p14:sldId id="789"/>
            <p14:sldId id="781"/>
            <p14:sldId id="790"/>
            <p14:sldId id="793"/>
            <p14:sldId id="791"/>
            <p14:sldId id="795"/>
            <p14:sldId id="773"/>
            <p14:sldId id="784"/>
            <p14:sldId id="785"/>
            <p14:sldId id="786"/>
            <p14:sldId id="787"/>
            <p14:sldId id="782"/>
            <p14:sldId id="783"/>
            <p14:sldId id="794"/>
            <p14:sldId id="799"/>
            <p14:sldId id="800"/>
            <p14:sldId id="788"/>
            <p14:sldId id="801"/>
            <p14:sldId id="277"/>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4526" userDrawn="1">
          <p15:clr>
            <a:srgbClr val="A4A3A4"/>
          </p15:clr>
        </p15:guide>
        <p15:guide id="2" pos="3131" userDrawn="1">
          <p15:clr>
            <a:srgbClr val="A4A3A4"/>
          </p15:clr>
        </p15:guide>
      </p15:notes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2" roundtripDataSignature="AMtx7miHo5eoGHrZPWeT5AyeZZ6LkEE/Y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89C9"/>
    <a:srgbClr val="006AB1"/>
    <a:srgbClr val="0B3041"/>
    <a:srgbClr val="54CCB3"/>
    <a:srgbClr val="E1F2FB"/>
    <a:srgbClr val="E3E7E9"/>
    <a:srgbClr val="727F8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E9FEF8D-0F9E-4D7E-9A0F-5DDE6A6739AB}">
  <a:tblStyle styleId="{2E9FEF8D-0F9E-4D7E-9A0F-5DDE6A6739AB}" styleName="Table_0">
    <a:wholeTbl>
      <a:tcTxStyle b="off" i="off">
        <a:font>
          <a:latin typeface="游ゴシック"/>
          <a:ea typeface="游ゴシック"/>
          <a:cs typeface="游ゴシック"/>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游ゴシック"/>
          <a:ea typeface="游ゴシック"/>
          <a:cs typeface="游ゴシック"/>
        </a:font>
        <a:schemeClr val="lt1"/>
      </a:tcTxStyle>
      <a:tcStyle>
        <a:tcBdr/>
        <a:fill>
          <a:solidFill>
            <a:schemeClr val="accent5"/>
          </a:solidFill>
        </a:fill>
      </a:tcStyle>
    </a:lastCol>
    <a:firstCol>
      <a:tcTxStyle b="on" i="off">
        <a:font>
          <a:latin typeface="游ゴシック"/>
          <a:ea typeface="游ゴシック"/>
          <a:cs typeface="游ゴシック"/>
        </a:font>
        <a:schemeClr val="lt1"/>
      </a:tcTxStyle>
      <a:tcStyle>
        <a:tcBdr/>
        <a:fill>
          <a:solidFill>
            <a:schemeClr val="accent5"/>
          </a:solidFill>
        </a:fill>
      </a:tcStyle>
    </a:firstCol>
    <a:lastRow>
      <a:tcTxStyle b="on" i="off">
        <a:font>
          <a:latin typeface="游ゴシック"/>
          <a:ea typeface="游ゴシック"/>
          <a:cs typeface="游ゴシック"/>
        </a:font>
        <a:schemeClr val="lt1"/>
      </a:tcTxStyle>
      <a:tcStyle>
        <a:tcBdr>
          <a:top>
            <a:ln w="38100" cap="flat" cmpd="sng">
              <a:solidFill>
                <a:schemeClr val="lt1"/>
              </a:solidFill>
              <a:prstDash val="solid"/>
              <a:round/>
              <a:headEnd type="none" w="sm" len="sm"/>
              <a:tailEnd type="none" w="sm" len="sm"/>
            </a:ln>
          </a:top>
        </a:tcBdr>
        <a:fill>
          <a:solidFill>
            <a:schemeClr val="accent5"/>
          </a:solidFill>
        </a:fill>
      </a:tcStyle>
    </a:lastRow>
    <a:seCell>
      <a:tcTxStyle/>
      <a:tcStyle>
        <a:tcBdr/>
      </a:tcStyle>
    </a:seCell>
    <a:swCell>
      <a:tcTxStyle/>
      <a:tcStyle>
        <a:tcBdr/>
      </a:tcStyle>
    </a:swCell>
    <a:firstRow>
      <a:tcTxStyle b="on" i="off">
        <a:font>
          <a:latin typeface="游ゴシック"/>
          <a:ea typeface="游ゴシック"/>
          <a:cs typeface="游ゴシック"/>
        </a:font>
        <a:schemeClr val="lt1"/>
      </a:tcTxStyle>
      <a:tcStyle>
        <a:tcBdr>
          <a:bottom>
            <a:ln w="38100" cap="flat" cmpd="sng">
              <a:solidFill>
                <a:schemeClr val="lt1"/>
              </a:solidFill>
              <a:prstDash val="solid"/>
              <a:round/>
              <a:headEnd type="none" w="sm" len="sm"/>
              <a:tailEnd type="none" w="sm" len="sm"/>
            </a:ln>
          </a:bottom>
        </a:tcBdr>
        <a:fill>
          <a:solidFill>
            <a:schemeClr val="accent5"/>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87" d="100"/>
          <a:sy n="87" d="100"/>
        </p:scale>
        <p:origin x="907" y="58"/>
      </p:cViewPr>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100" d="100"/>
          <a:sy n="100" d="100"/>
        </p:scale>
        <p:origin x="0" y="0"/>
      </p:cViewPr>
      <p:guideLst>
        <p:guide orient="horz" pos="4526"/>
        <p:guide pos="3131"/>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42" Type="http://customschemas.google.com/relationships/presentationmetadata" Target="metadata"/><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5" y="4"/>
            <a:ext cx="4306676" cy="719872"/>
          </a:xfrm>
          <a:prstGeom prst="rect">
            <a:avLst/>
          </a:prstGeom>
          <a:noFill/>
          <a:ln>
            <a:noFill/>
          </a:ln>
        </p:spPr>
        <p:txBody>
          <a:bodyPr spcFirstLastPara="1" wrap="square" lIns="128134" tIns="64050" rIns="128134" bIns="64050" anchor="t" anchorCtr="0">
            <a:noAutofit/>
          </a:bodyPr>
          <a:lstStyle>
            <a:lvl1pPr marR="0" lvl="0" algn="l" rtl="0">
              <a:spcBef>
                <a:spcPts val="0"/>
              </a:spcBef>
              <a:spcAft>
                <a:spcPts val="0"/>
              </a:spcAft>
              <a:buSzPts val="1400"/>
              <a:buNone/>
              <a:defRPr sz="17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5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5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5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5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5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5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5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5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5630444" y="4"/>
            <a:ext cx="4306675" cy="719872"/>
          </a:xfrm>
          <a:prstGeom prst="rect">
            <a:avLst/>
          </a:prstGeom>
          <a:noFill/>
          <a:ln>
            <a:noFill/>
          </a:ln>
        </p:spPr>
        <p:txBody>
          <a:bodyPr spcFirstLastPara="1" wrap="square" lIns="128134" tIns="64050" rIns="128134" bIns="64050" anchor="t" anchorCtr="0">
            <a:noAutofit/>
          </a:bodyPr>
          <a:lstStyle>
            <a:lvl1pPr marR="0" lvl="0" algn="r" rtl="0">
              <a:spcBef>
                <a:spcPts val="0"/>
              </a:spcBef>
              <a:spcAft>
                <a:spcPts val="0"/>
              </a:spcAft>
              <a:buSzPts val="1400"/>
              <a:buNone/>
              <a:defRPr sz="17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5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5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5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5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5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5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5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5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543050" y="1797050"/>
            <a:ext cx="6856413" cy="4849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95044" y="6915677"/>
            <a:ext cx="7951470" cy="5656454"/>
          </a:xfrm>
          <a:prstGeom prst="rect">
            <a:avLst/>
          </a:prstGeom>
          <a:noFill/>
          <a:ln>
            <a:noFill/>
          </a:ln>
        </p:spPr>
        <p:txBody>
          <a:bodyPr spcFirstLastPara="1" wrap="square" lIns="128134" tIns="64050" rIns="128134" bIns="6405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5" y="13648596"/>
            <a:ext cx="4306676" cy="719872"/>
          </a:xfrm>
          <a:prstGeom prst="rect">
            <a:avLst/>
          </a:prstGeom>
          <a:noFill/>
          <a:ln>
            <a:noFill/>
          </a:ln>
        </p:spPr>
        <p:txBody>
          <a:bodyPr spcFirstLastPara="1" wrap="square" lIns="128134" tIns="64050" rIns="128134" bIns="64050" anchor="b" anchorCtr="0">
            <a:noAutofit/>
          </a:bodyPr>
          <a:lstStyle>
            <a:lvl1pPr marR="0" lvl="0" algn="l" rtl="0">
              <a:spcBef>
                <a:spcPts val="0"/>
              </a:spcBef>
              <a:spcAft>
                <a:spcPts val="0"/>
              </a:spcAft>
              <a:buSzPts val="1400"/>
              <a:buNone/>
              <a:defRPr sz="17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5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5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5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5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5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5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5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5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5630444" y="13648596"/>
            <a:ext cx="4306675" cy="719872"/>
          </a:xfrm>
          <a:prstGeom prst="rect">
            <a:avLst/>
          </a:prstGeom>
          <a:noFill/>
          <a:ln>
            <a:noFill/>
          </a:ln>
        </p:spPr>
        <p:txBody>
          <a:bodyPr spcFirstLastPara="1" wrap="square" lIns="128134" tIns="64050" rIns="128134" bIns="64050" anchor="b" anchorCtr="0">
            <a:noAutofit/>
          </a:bodyPr>
          <a:lstStyle/>
          <a:p>
            <a:pPr algn="r"/>
            <a:fld id="{00000000-1234-1234-1234-123412341234}" type="slidenum">
              <a:rPr lang="en-US" altLang="ja-JP" sz="1700" smtClean="0">
                <a:solidFill>
                  <a:schemeClr val="dk1"/>
                </a:solidFill>
              </a:rPr>
              <a:pPr algn="r"/>
              <a:t>‹#›</a:t>
            </a:fld>
            <a:endParaRPr lang="en-US" sz="1700">
              <a:solidFill>
                <a:schemeClr val="dk1"/>
              </a:solidFil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72A68-D8F2-B22E-7BFA-83527B74627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8067325-FBD2-0A2C-AAB1-F7B579EB568F}"/>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7CC41CC2-90D7-5CB1-F482-54299D366ABB}"/>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6D654142-6A85-EA5B-5409-B0B81E07C5DC}"/>
              </a:ext>
            </a:extLst>
          </p:cNvPr>
          <p:cNvSpPr>
            <a:spLocks noGrp="1"/>
          </p:cNvSpPr>
          <p:nvPr>
            <p:ph type="sldNum" sz="quarter" idx="5"/>
          </p:nvPr>
        </p:nvSpPr>
        <p:spPr/>
        <p:txBody>
          <a:bodyPr/>
          <a:lstStyle/>
          <a:p>
            <a:fld id="{30FF3BCC-1A43-4D25-8467-E40EF431E2F1}" type="slidenum">
              <a:rPr kumimoji="1" lang="ja-JP" altLang="en-US" smtClean="0"/>
              <a:t>0</a:t>
            </a:fld>
            <a:endParaRPr kumimoji="1" lang="ja-JP" altLang="en-US"/>
          </a:p>
        </p:txBody>
      </p:sp>
    </p:spTree>
    <p:extLst>
      <p:ext uri="{BB962C8B-B14F-4D97-AF65-F5344CB8AC3E}">
        <p14:creationId xmlns:p14="http://schemas.microsoft.com/office/powerpoint/2010/main" val="23596415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a:t>
            </a:fld>
            <a:endParaRPr kumimoji="1" lang="ja-JP" altLang="en-US"/>
          </a:p>
        </p:txBody>
      </p:sp>
    </p:spTree>
    <p:extLst>
      <p:ext uri="{BB962C8B-B14F-4D97-AF65-F5344CB8AC3E}">
        <p14:creationId xmlns:p14="http://schemas.microsoft.com/office/powerpoint/2010/main" val="3637167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notes"/>
          <p:cNvSpPr>
            <a:spLocks noGrp="1" noRot="1" noChangeAspect="1"/>
          </p:cNvSpPr>
          <p:nvPr>
            <p:ph type="sldImg" idx="2"/>
          </p:nvPr>
        </p:nvSpPr>
        <p:spPr>
          <a:xfrm>
            <a:off x="1038225" y="1244600"/>
            <a:ext cx="4745038"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6" name="Google Shape;256;p2:notes"/>
          <p:cNvSpPr txBox="1">
            <a:spLocks noGrp="1"/>
          </p:cNvSpPr>
          <p:nvPr>
            <p:ph type="body" idx="1"/>
          </p:nvPr>
        </p:nvSpPr>
        <p:spPr>
          <a:xfrm>
            <a:off x="682755" y="4787722"/>
            <a:ext cx="5455939" cy="3915961"/>
          </a:xfrm>
          <a:prstGeom prst="rect">
            <a:avLst/>
          </a:prstGeom>
          <a:noFill/>
          <a:ln>
            <a:noFill/>
          </a:ln>
        </p:spPr>
        <p:txBody>
          <a:bodyPr spcFirstLastPara="1" wrap="square" lIns="88335" tIns="44169" rIns="88335" bIns="44169" anchor="t" anchorCtr="0">
            <a:noAutofit/>
          </a:bodyPr>
          <a:lstStyle/>
          <a:p>
            <a:endParaRPr dirty="0"/>
          </a:p>
        </p:txBody>
      </p:sp>
      <p:sp>
        <p:nvSpPr>
          <p:cNvPr id="257" name="Google Shape;257;p2:notes"/>
          <p:cNvSpPr txBox="1">
            <a:spLocks noGrp="1"/>
          </p:cNvSpPr>
          <p:nvPr>
            <p:ph type="sldNum" idx="12"/>
          </p:nvPr>
        </p:nvSpPr>
        <p:spPr>
          <a:xfrm>
            <a:off x="3863353" y="9448918"/>
            <a:ext cx="2955046" cy="498368"/>
          </a:xfrm>
          <a:prstGeom prst="rect">
            <a:avLst/>
          </a:prstGeom>
          <a:noFill/>
          <a:ln>
            <a:noFill/>
          </a:ln>
        </p:spPr>
        <p:txBody>
          <a:bodyPr spcFirstLastPara="1" wrap="square" lIns="88335" tIns="44169" rIns="88335" bIns="44169" anchor="b" anchorCtr="0">
            <a:noAutofit/>
          </a:bodyPr>
          <a:lstStyle/>
          <a:p>
            <a:pPr algn="r"/>
            <a:fld id="{00000000-1234-1234-1234-123412341234}" type="slidenum">
              <a:rPr lang="en-US" altLang="ja-JP"/>
              <a:pPr algn="r"/>
              <a:t>2</a:t>
            </a:fld>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33463" y="1243013"/>
            <a:ext cx="4740275" cy="3352800"/>
          </a:xfrm>
        </p:spPr>
      </p:sp>
      <p:sp>
        <p:nvSpPr>
          <p:cNvPr id="3" name="ノート プレースホルダー 2"/>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p:cNvSpPr>
            <a:spLocks noGrp="1"/>
          </p:cNvSpPr>
          <p:nvPr>
            <p:ph type="sldNum" sz="quarter" idx="5"/>
          </p:nvPr>
        </p:nvSpPr>
        <p:spPr/>
        <p:txBody>
          <a:bodyPr/>
          <a:lstStyle/>
          <a:p>
            <a:fld id="{30FF3BCC-1A43-4D25-8467-E40EF431E2F1}" type="slidenum">
              <a:rPr kumimoji="1" lang="ja-JP" altLang="en-US" smtClean="0"/>
              <a:t>4</a:t>
            </a:fld>
            <a:endParaRPr kumimoji="1" lang="ja-JP" altLang="en-US"/>
          </a:p>
        </p:txBody>
      </p:sp>
    </p:spTree>
    <p:extLst>
      <p:ext uri="{BB962C8B-B14F-4D97-AF65-F5344CB8AC3E}">
        <p14:creationId xmlns:p14="http://schemas.microsoft.com/office/powerpoint/2010/main" val="38172004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D25C8-440A-2828-878D-418A0792F61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F7C3FEA-F9FD-B7DB-149F-6EC1DBA88260}"/>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3A5BB81D-E86C-9959-31EE-7B30A06B6D52}"/>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80211B70-4BC5-9F81-584A-69CFC82BF433}"/>
              </a:ext>
            </a:extLst>
          </p:cNvPr>
          <p:cNvSpPr>
            <a:spLocks noGrp="1"/>
          </p:cNvSpPr>
          <p:nvPr>
            <p:ph type="sldNum" sz="quarter" idx="5"/>
          </p:nvPr>
        </p:nvSpPr>
        <p:spPr/>
        <p:txBody>
          <a:bodyPr/>
          <a:lstStyle/>
          <a:p>
            <a:fld id="{30FF3BCC-1A43-4D25-8467-E40EF431E2F1}" type="slidenum">
              <a:rPr kumimoji="1" lang="ja-JP" altLang="en-US" smtClean="0"/>
              <a:t>5</a:t>
            </a:fld>
            <a:endParaRPr kumimoji="1" lang="ja-JP" altLang="en-US"/>
          </a:p>
        </p:txBody>
      </p:sp>
    </p:spTree>
    <p:extLst>
      <p:ext uri="{BB962C8B-B14F-4D97-AF65-F5344CB8AC3E}">
        <p14:creationId xmlns:p14="http://schemas.microsoft.com/office/powerpoint/2010/main" val="7747491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ED554-B8EF-4A9F-7D23-DA7BEB53934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71CEDC1-16A4-E7E3-6D33-36595C1E076B}"/>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07542380-129E-8965-7EF1-2B0D19ED3CF4}"/>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C20D6D73-0F3C-EDF6-E562-BBF922D0AE83}"/>
              </a:ext>
            </a:extLst>
          </p:cNvPr>
          <p:cNvSpPr>
            <a:spLocks noGrp="1"/>
          </p:cNvSpPr>
          <p:nvPr>
            <p:ph type="sldNum" sz="quarter" idx="5"/>
          </p:nvPr>
        </p:nvSpPr>
        <p:spPr/>
        <p:txBody>
          <a:bodyPr/>
          <a:lstStyle/>
          <a:p>
            <a:fld id="{30FF3BCC-1A43-4D25-8467-E40EF431E2F1}" type="slidenum">
              <a:rPr kumimoji="1" lang="ja-JP" altLang="en-US" smtClean="0"/>
              <a:t>6</a:t>
            </a:fld>
            <a:endParaRPr kumimoji="1" lang="ja-JP" altLang="en-US"/>
          </a:p>
        </p:txBody>
      </p:sp>
    </p:spTree>
    <p:extLst>
      <p:ext uri="{BB962C8B-B14F-4D97-AF65-F5344CB8AC3E}">
        <p14:creationId xmlns:p14="http://schemas.microsoft.com/office/powerpoint/2010/main" val="1899608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11:notes"/>
          <p:cNvSpPr>
            <a:spLocks noGrp="1" noRot="1" noChangeAspect="1"/>
          </p:cNvSpPr>
          <p:nvPr>
            <p:ph type="sldImg" idx="2"/>
          </p:nvPr>
        </p:nvSpPr>
        <p:spPr>
          <a:xfrm>
            <a:off x="1543050" y="1797050"/>
            <a:ext cx="6856413" cy="4849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7" name="Google Shape;267;p11:notes"/>
          <p:cNvSpPr txBox="1">
            <a:spLocks noGrp="1"/>
          </p:cNvSpPr>
          <p:nvPr>
            <p:ph type="body" idx="1"/>
          </p:nvPr>
        </p:nvSpPr>
        <p:spPr>
          <a:xfrm>
            <a:off x="995044" y="6915677"/>
            <a:ext cx="7951470" cy="5656454"/>
          </a:xfrm>
          <a:prstGeom prst="rect">
            <a:avLst/>
          </a:prstGeom>
          <a:noFill/>
          <a:ln>
            <a:noFill/>
          </a:ln>
        </p:spPr>
        <p:txBody>
          <a:bodyPr spcFirstLastPara="1" wrap="square" lIns="128134" tIns="64050" rIns="128134" bIns="64050" anchor="t" anchorCtr="0">
            <a:noAutofit/>
          </a:bodyPr>
          <a:lstStyle/>
          <a:p>
            <a:pPr marL="0" indent="0"/>
            <a:endParaRPr/>
          </a:p>
        </p:txBody>
      </p:sp>
      <p:sp>
        <p:nvSpPr>
          <p:cNvPr id="268" name="Google Shape;268;p11:notes"/>
          <p:cNvSpPr txBox="1">
            <a:spLocks noGrp="1"/>
          </p:cNvSpPr>
          <p:nvPr>
            <p:ph type="sldNum" idx="12"/>
          </p:nvPr>
        </p:nvSpPr>
        <p:spPr>
          <a:xfrm>
            <a:off x="5630444" y="13648596"/>
            <a:ext cx="4306675" cy="719872"/>
          </a:xfrm>
          <a:prstGeom prst="rect">
            <a:avLst/>
          </a:prstGeom>
          <a:noFill/>
          <a:ln>
            <a:noFill/>
          </a:ln>
        </p:spPr>
        <p:txBody>
          <a:bodyPr spcFirstLastPara="1" wrap="square" lIns="128134" tIns="64050" rIns="128134" bIns="64050" anchor="b" anchorCtr="0">
            <a:noAutofit/>
          </a:bodyPr>
          <a:lstStyle/>
          <a:p>
            <a:pPr algn="r"/>
            <a:fld id="{00000000-1234-1234-1234-123412341234}" type="slidenum">
              <a:rPr lang="en-US" altLang="ja-JP"/>
              <a:pPr algn="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255F2-72AB-FF31-01FE-A6493B0F509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381C757-4FDD-ACE7-CF68-5819651248C1}"/>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C5EE625D-8D2D-C468-280D-551D9E317BF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0DF0B3B1-489B-7B8F-FCE9-8191D341F15C}"/>
              </a:ext>
            </a:extLst>
          </p:cNvPr>
          <p:cNvSpPr>
            <a:spLocks noGrp="1"/>
          </p:cNvSpPr>
          <p:nvPr>
            <p:ph type="sldNum" sz="quarter" idx="5"/>
          </p:nvPr>
        </p:nvSpPr>
        <p:spPr/>
        <p:txBody>
          <a:bodyPr/>
          <a:lstStyle/>
          <a:p>
            <a:fld id="{CAF5A409-FE33-4202-B69D-8515A6FDCE7E}" type="slidenum">
              <a:rPr kumimoji="1" lang="ja-JP" altLang="en-US" smtClean="0"/>
              <a:t>9</a:t>
            </a:fld>
            <a:endParaRPr kumimoji="1" lang="ja-JP" altLang="en-US"/>
          </a:p>
        </p:txBody>
      </p:sp>
    </p:spTree>
    <p:extLst>
      <p:ext uri="{BB962C8B-B14F-4D97-AF65-F5344CB8AC3E}">
        <p14:creationId xmlns:p14="http://schemas.microsoft.com/office/powerpoint/2010/main" val="1806618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F2053-256C-05EB-FF6B-3E836DA88FD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EBE281C-3A22-F726-BA35-A4756E55EBE3}"/>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DB7B9342-8F57-66B0-B807-2488575A5459}"/>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00245A20-27B3-F697-2291-87BE1C3A1772}"/>
              </a:ext>
            </a:extLst>
          </p:cNvPr>
          <p:cNvSpPr>
            <a:spLocks noGrp="1"/>
          </p:cNvSpPr>
          <p:nvPr>
            <p:ph type="sldNum" sz="quarter" idx="5"/>
          </p:nvPr>
        </p:nvSpPr>
        <p:spPr/>
        <p:txBody>
          <a:bodyPr/>
          <a:lstStyle/>
          <a:p>
            <a:fld id="{CCD08276-B047-45AB-869B-6FEE4FD0AA7E}" type="slidenum">
              <a:rPr kumimoji="1" lang="ja-JP" altLang="en-US" smtClean="0"/>
              <a:t>10</a:t>
            </a:fld>
            <a:endParaRPr kumimoji="1" lang="ja-JP" altLang="en-US"/>
          </a:p>
        </p:txBody>
      </p:sp>
    </p:spTree>
    <p:extLst>
      <p:ext uri="{BB962C8B-B14F-4D97-AF65-F5344CB8AC3E}">
        <p14:creationId xmlns:p14="http://schemas.microsoft.com/office/powerpoint/2010/main" val="41460065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11</a:t>
            </a:fld>
            <a:endParaRPr kumimoji="1" lang="ja-JP" altLang="en-US"/>
          </a:p>
        </p:txBody>
      </p:sp>
    </p:spTree>
    <p:extLst>
      <p:ext uri="{BB962C8B-B14F-4D97-AF65-F5344CB8AC3E}">
        <p14:creationId xmlns:p14="http://schemas.microsoft.com/office/powerpoint/2010/main" val="37467525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C040D-60A3-F058-65D5-629296F9C77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DF3EA90-DD81-CBB9-EF73-27816BB83DE7}"/>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B54EE8A0-BFED-396D-4CAA-82A6D5708D43}"/>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91534188-0443-756D-A5E2-5F3AA4D2F28B}"/>
              </a:ext>
            </a:extLst>
          </p:cNvPr>
          <p:cNvSpPr>
            <a:spLocks noGrp="1"/>
          </p:cNvSpPr>
          <p:nvPr>
            <p:ph type="sldNum" sz="quarter" idx="5"/>
          </p:nvPr>
        </p:nvSpPr>
        <p:spPr/>
        <p:txBody>
          <a:bodyPr/>
          <a:lstStyle/>
          <a:p>
            <a:fld id="{30FF3BCC-1A43-4D25-8467-E40EF431E2F1}" type="slidenum">
              <a:rPr kumimoji="1" lang="ja-JP" altLang="en-US" smtClean="0"/>
              <a:t>12</a:t>
            </a:fld>
            <a:endParaRPr kumimoji="1" lang="ja-JP" altLang="en-US"/>
          </a:p>
        </p:txBody>
      </p:sp>
    </p:spTree>
    <p:extLst>
      <p:ext uri="{BB962C8B-B14F-4D97-AF65-F5344CB8AC3E}">
        <p14:creationId xmlns:p14="http://schemas.microsoft.com/office/powerpoint/2010/main" val="19973134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CA458-621A-F6CD-BCBF-9D132A609BE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5834A7-AD91-AB56-B63B-5F4E423CE6AE}"/>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642B7059-7F90-A560-40B9-33E684841ABF}"/>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291A80AB-D339-06B2-3E95-24ED9AB082F7}"/>
              </a:ext>
            </a:extLst>
          </p:cNvPr>
          <p:cNvSpPr>
            <a:spLocks noGrp="1"/>
          </p:cNvSpPr>
          <p:nvPr>
            <p:ph type="sldNum" sz="quarter" idx="5"/>
          </p:nvPr>
        </p:nvSpPr>
        <p:spPr/>
        <p:txBody>
          <a:bodyPr/>
          <a:lstStyle/>
          <a:p>
            <a:fld id="{30FF3BCC-1A43-4D25-8467-E40EF431E2F1}" type="slidenum">
              <a:rPr kumimoji="1" lang="ja-JP" altLang="en-US" smtClean="0"/>
              <a:t>13</a:t>
            </a:fld>
            <a:endParaRPr kumimoji="1" lang="ja-JP" altLang="en-US"/>
          </a:p>
        </p:txBody>
      </p:sp>
    </p:spTree>
    <p:extLst>
      <p:ext uri="{BB962C8B-B14F-4D97-AF65-F5344CB8AC3E}">
        <p14:creationId xmlns:p14="http://schemas.microsoft.com/office/powerpoint/2010/main" val="16268806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60B1B-8967-EB16-F654-95E71A21670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6F3223C-6CB5-B48E-4B27-2931302D029A}"/>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933B0F29-3AAB-5E14-B4D9-A017F82CA42C}"/>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E8F4B38-0355-E574-CF5F-76C145B0E13C}"/>
              </a:ext>
            </a:extLst>
          </p:cNvPr>
          <p:cNvSpPr>
            <a:spLocks noGrp="1"/>
          </p:cNvSpPr>
          <p:nvPr>
            <p:ph type="sldNum" sz="quarter" idx="5"/>
          </p:nvPr>
        </p:nvSpPr>
        <p:spPr/>
        <p:txBody>
          <a:bodyPr/>
          <a:lstStyle/>
          <a:p>
            <a:fld id="{30FF3BCC-1A43-4D25-8467-E40EF431E2F1}" type="slidenum">
              <a:rPr kumimoji="1" lang="ja-JP" altLang="en-US" smtClean="0"/>
              <a:t>16</a:t>
            </a:fld>
            <a:endParaRPr kumimoji="1" lang="ja-JP" altLang="en-US"/>
          </a:p>
        </p:txBody>
      </p:sp>
    </p:spTree>
    <p:extLst>
      <p:ext uri="{BB962C8B-B14F-4D97-AF65-F5344CB8AC3E}">
        <p14:creationId xmlns:p14="http://schemas.microsoft.com/office/powerpoint/2010/main" val="40946642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FA8DC-3B5A-8CE0-C236-C6578FA6AB0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576820E-69EC-DFBB-76F4-BBF2BC15D6DB}"/>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5041A58E-CABA-7A79-2BAA-194DDE6D0652}"/>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A0865AC2-C5B9-11C1-D7AC-9B470F32EF53}"/>
              </a:ext>
            </a:extLst>
          </p:cNvPr>
          <p:cNvSpPr>
            <a:spLocks noGrp="1"/>
          </p:cNvSpPr>
          <p:nvPr>
            <p:ph type="sldNum" sz="quarter" idx="5"/>
          </p:nvPr>
        </p:nvSpPr>
        <p:spPr/>
        <p:txBody>
          <a:bodyPr/>
          <a:lstStyle/>
          <a:p>
            <a:fld id="{30FF3BCC-1A43-4D25-8467-E40EF431E2F1}" type="slidenum">
              <a:rPr kumimoji="1" lang="ja-JP" altLang="en-US" smtClean="0"/>
              <a:t>17</a:t>
            </a:fld>
            <a:endParaRPr kumimoji="1" lang="ja-JP" altLang="en-US"/>
          </a:p>
        </p:txBody>
      </p:sp>
    </p:spTree>
    <p:extLst>
      <p:ext uri="{BB962C8B-B14F-4D97-AF65-F5344CB8AC3E}">
        <p14:creationId xmlns:p14="http://schemas.microsoft.com/office/powerpoint/2010/main" val="20264455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2E725-D7D8-17E1-4745-D0791B9111B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36A1D65-57DD-D413-2249-F85A5B421025}"/>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50982E84-E980-EAEA-3AF3-155A001191DF}"/>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35F2FC0-9ABA-38FB-BDED-E00320A10C78}"/>
              </a:ext>
            </a:extLst>
          </p:cNvPr>
          <p:cNvSpPr>
            <a:spLocks noGrp="1"/>
          </p:cNvSpPr>
          <p:nvPr>
            <p:ph type="sldNum" sz="quarter" idx="5"/>
          </p:nvPr>
        </p:nvSpPr>
        <p:spPr/>
        <p:txBody>
          <a:bodyPr/>
          <a:lstStyle/>
          <a:p>
            <a:fld id="{30FF3BCC-1A43-4D25-8467-E40EF431E2F1}" type="slidenum">
              <a:rPr kumimoji="1" lang="ja-JP" altLang="en-US" smtClean="0"/>
              <a:t>18</a:t>
            </a:fld>
            <a:endParaRPr kumimoji="1" lang="ja-JP" altLang="en-US"/>
          </a:p>
        </p:txBody>
      </p:sp>
    </p:spTree>
    <p:extLst>
      <p:ext uri="{BB962C8B-B14F-4D97-AF65-F5344CB8AC3E}">
        <p14:creationId xmlns:p14="http://schemas.microsoft.com/office/powerpoint/2010/main" val="17411098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C7B85-83C3-9DDE-4335-158CC42969A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57E6BA9-F36D-604F-3499-7C87D66ABC57}"/>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445EFA15-1CDA-B8D1-0BAC-253999A0B140}"/>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F28CD9B-652E-87FA-D240-FE835F6686E1}"/>
              </a:ext>
            </a:extLst>
          </p:cNvPr>
          <p:cNvSpPr>
            <a:spLocks noGrp="1"/>
          </p:cNvSpPr>
          <p:nvPr>
            <p:ph type="sldNum" sz="quarter" idx="5"/>
          </p:nvPr>
        </p:nvSpPr>
        <p:spPr/>
        <p:txBody>
          <a:bodyPr/>
          <a:lstStyle/>
          <a:p>
            <a:fld id="{30FF3BCC-1A43-4D25-8467-E40EF431E2F1}" type="slidenum">
              <a:rPr kumimoji="1" lang="ja-JP" altLang="en-US" smtClean="0"/>
              <a:t>19</a:t>
            </a:fld>
            <a:endParaRPr kumimoji="1" lang="ja-JP" altLang="en-US"/>
          </a:p>
        </p:txBody>
      </p:sp>
    </p:spTree>
    <p:extLst>
      <p:ext uri="{BB962C8B-B14F-4D97-AF65-F5344CB8AC3E}">
        <p14:creationId xmlns:p14="http://schemas.microsoft.com/office/powerpoint/2010/main" val="5849257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35142-7613-2F88-6DDF-0AA0B95CE30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9A89B74-D534-CC5D-3603-B157866C912A}"/>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2C5E7B25-D992-5558-9CAA-3A2BB05B7140}"/>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9540B3A9-5359-D1DF-207E-4945C3794197}"/>
              </a:ext>
            </a:extLst>
          </p:cNvPr>
          <p:cNvSpPr>
            <a:spLocks noGrp="1"/>
          </p:cNvSpPr>
          <p:nvPr>
            <p:ph type="sldNum" sz="quarter" idx="5"/>
          </p:nvPr>
        </p:nvSpPr>
        <p:spPr/>
        <p:txBody>
          <a:bodyPr/>
          <a:lstStyle/>
          <a:p>
            <a:fld id="{30FF3BCC-1A43-4D25-8467-E40EF431E2F1}" type="slidenum">
              <a:rPr kumimoji="1" lang="ja-JP" altLang="en-US" smtClean="0"/>
              <a:t>20</a:t>
            </a:fld>
            <a:endParaRPr kumimoji="1" lang="ja-JP" altLang="en-US"/>
          </a:p>
        </p:txBody>
      </p:sp>
    </p:spTree>
    <p:extLst>
      <p:ext uri="{BB962C8B-B14F-4D97-AF65-F5344CB8AC3E}">
        <p14:creationId xmlns:p14="http://schemas.microsoft.com/office/powerpoint/2010/main" val="4071856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576726-F92E-C8AC-70BE-109958028C7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AB818D-78DD-0444-71FA-AF55300919C5}"/>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CC10619B-E5D8-2E73-006F-A5FD1904CBCA}"/>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D8095705-0959-428A-F57F-B098A8BDB7DB}"/>
              </a:ext>
            </a:extLst>
          </p:cNvPr>
          <p:cNvSpPr>
            <a:spLocks noGrp="1"/>
          </p:cNvSpPr>
          <p:nvPr>
            <p:ph type="sldNum" sz="quarter" idx="5"/>
          </p:nvPr>
        </p:nvSpPr>
        <p:spPr/>
        <p:txBody>
          <a:bodyPr/>
          <a:lstStyle/>
          <a:p>
            <a:fld id="{30FF3BCC-1A43-4D25-8467-E40EF431E2F1}" type="slidenum">
              <a:rPr kumimoji="1" lang="ja-JP" altLang="en-US" smtClean="0"/>
              <a:t>21</a:t>
            </a:fld>
            <a:endParaRPr kumimoji="1" lang="ja-JP" altLang="en-US"/>
          </a:p>
        </p:txBody>
      </p:sp>
    </p:spTree>
    <p:extLst>
      <p:ext uri="{BB962C8B-B14F-4D97-AF65-F5344CB8AC3E}">
        <p14:creationId xmlns:p14="http://schemas.microsoft.com/office/powerpoint/2010/main" val="21491322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93F79-295E-F06B-7AB6-52A5A3EA393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26F7EE7-AB24-EA55-7ACE-47505BF35BAF}"/>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7BDE5B4E-F52E-8016-E763-B450F1D89C74}"/>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86271926-BBCD-B1D8-D398-CE016D9998E8}"/>
              </a:ext>
            </a:extLst>
          </p:cNvPr>
          <p:cNvSpPr>
            <a:spLocks noGrp="1"/>
          </p:cNvSpPr>
          <p:nvPr>
            <p:ph type="sldNum" sz="quarter" idx="5"/>
          </p:nvPr>
        </p:nvSpPr>
        <p:spPr/>
        <p:txBody>
          <a:bodyPr/>
          <a:lstStyle/>
          <a:p>
            <a:fld id="{30FF3BCC-1A43-4D25-8467-E40EF431E2F1}" type="slidenum">
              <a:rPr kumimoji="1" lang="ja-JP" altLang="en-US" smtClean="0"/>
              <a:t>22</a:t>
            </a:fld>
            <a:endParaRPr kumimoji="1" lang="ja-JP" altLang="en-US"/>
          </a:p>
        </p:txBody>
      </p:sp>
    </p:spTree>
    <p:extLst>
      <p:ext uri="{BB962C8B-B14F-4D97-AF65-F5344CB8AC3E}">
        <p14:creationId xmlns:p14="http://schemas.microsoft.com/office/powerpoint/2010/main" val="33173544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8BDAB-B0BC-D005-A2A7-951EBC89B4C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52DC877-776A-449C-A43E-AEB3CE94D630}"/>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9030C70C-7CA3-B8C1-0D62-4A544C5F87B2}"/>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96B92F43-F674-D334-F90F-5304787C5E7D}"/>
              </a:ext>
            </a:extLst>
          </p:cNvPr>
          <p:cNvSpPr>
            <a:spLocks noGrp="1"/>
          </p:cNvSpPr>
          <p:nvPr>
            <p:ph type="sldNum" sz="quarter" idx="5"/>
          </p:nvPr>
        </p:nvSpPr>
        <p:spPr/>
        <p:txBody>
          <a:bodyPr/>
          <a:lstStyle/>
          <a:p>
            <a:fld id="{30FF3BCC-1A43-4D25-8467-E40EF431E2F1}" type="slidenum">
              <a:rPr kumimoji="1" lang="ja-JP" altLang="en-US" smtClean="0"/>
              <a:t>24</a:t>
            </a:fld>
            <a:endParaRPr kumimoji="1" lang="ja-JP" altLang="en-US"/>
          </a:p>
        </p:txBody>
      </p:sp>
    </p:spTree>
    <p:extLst>
      <p:ext uri="{BB962C8B-B14F-4D97-AF65-F5344CB8AC3E}">
        <p14:creationId xmlns:p14="http://schemas.microsoft.com/office/powerpoint/2010/main" val="2065989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A4A82-F556-35B1-B856-FE508044492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EC3BDB4-265E-5E67-CFEA-208DBEE091A4}"/>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5BF07348-0B3E-EDA2-CC24-8961BB8EE4D3}"/>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0395BC13-068C-8F1D-24E2-48104E91BC41}"/>
              </a:ext>
            </a:extLst>
          </p:cNvPr>
          <p:cNvSpPr>
            <a:spLocks noGrp="1"/>
          </p:cNvSpPr>
          <p:nvPr>
            <p:ph type="sldNum" sz="quarter" idx="5"/>
          </p:nvPr>
        </p:nvSpPr>
        <p:spPr/>
        <p:txBody>
          <a:bodyPr/>
          <a:lstStyle/>
          <a:p>
            <a:fld id="{30FF3BCC-1A43-4D25-8467-E40EF431E2F1}" type="slidenum">
              <a:rPr kumimoji="1" lang="ja-JP" altLang="en-US" smtClean="0"/>
              <a:t>25</a:t>
            </a:fld>
            <a:endParaRPr kumimoji="1" lang="ja-JP" altLang="en-US"/>
          </a:p>
        </p:txBody>
      </p:sp>
    </p:spTree>
    <p:extLst>
      <p:ext uri="{BB962C8B-B14F-4D97-AF65-F5344CB8AC3E}">
        <p14:creationId xmlns:p14="http://schemas.microsoft.com/office/powerpoint/2010/main" val="2945788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D6D02-57FD-62EB-BC56-6E300F505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138501E-F5AF-0224-79A6-DBE6F9F7E093}"/>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F0C518C7-436D-8B71-5734-02D19443C6BA}"/>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4216A50-996C-4CF3-5119-58EFABB781F5}"/>
              </a:ext>
            </a:extLst>
          </p:cNvPr>
          <p:cNvSpPr>
            <a:spLocks noGrp="1"/>
          </p:cNvSpPr>
          <p:nvPr>
            <p:ph type="sldNum" sz="quarter" idx="5"/>
          </p:nvPr>
        </p:nvSpPr>
        <p:spPr/>
        <p:txBody>
          <a:bodyPr/>
          <a:lstStyle/>
          <a:p>
            <a:fld id="{30FF3BCC-1A43-4D25-8467-E40EF431E2F1}" type="slidenum">
              <a:rPr kumimoji="1" lang="ja-JP" altLang="en-US" smtClean="0"/>
              <a:t>27</a:t>
            </a:fld>
            <a:endParaRPr kumimoji="1" lang="ja-JP" altLang="en-US"/>
          </a:p>
        </p:txBody>
      </p:sp>
    </p:spTree>
    <p:extLst>
      <p:ext uri="{BB962C8B-B14F-4D97-AF65-F5344CB8AC3E}">
        <p14:creationId xmlns:p14="http://schemas.microsoft.com/office/powerpoint/2010/main" val="28985307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FF017-472F-0872-A57B-F89F02E4AE7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7AC265-7FBA-5DC7-99A1-03FC2F6AC04A}"/>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47597C32-1DAD-46CB-92D2-4B18BA8A3020}"/>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E3D7D21C-CA67-AD27-2D15-37084604B145}"/>
              </a:ext>
            </a:extLst>
          </p:cNvPr>
          <p:cNvSpPr>
            <a:spLocks noGrp="1"/>
          </p:cNvSpPr>
          <p:nvPr>
            <p:ph type="sldNum" sz="quarter" idx="5"/>
          </p:nvPr>
        </p:nvSpPr>
        <p:spPr/>
        <p:txBody>
          <a:bodyPr/>
          <a:lstStyle/>
          <a:p>
            <a:fld id="{30FF3BCC-1A43-4D25-8467-E40EF431E2F1}" type="slidenum">
              <a:rPr kumimoji="1" lang="ja-JP" altLang="en-US" smtClean="0"/>
              <a:t>29</a:t>
            </a:fld>
            <a:endParaRPr kumimoji="1" lang="ja-JP" altLang="en-US"/>
          </a:p>
        </p:txBody>
      </p:sp>
    </p:spTree>
    <p:extLst>
      <p:ext uri="{BB962C8B-B14F-4D97-AF65-F5344CB8AC3E}">
        <p14:creationId xmlns:p14="http://schemas.microsoft.com/office/powerpoint/2010/main" val="8899097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6276C-84CC-C215-DACE-F6ADF0BA4C5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5F6E4CA-435F-061C-18DC-1F4E9AF81BF2}"/>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360C6E64-2E0B-5929-5BC0-D5FAC2E44A22}"/>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DB9BCA0D-59ED-2244-A45B-B24BCA184C3C}"/>
              </a:ext>
            </a:extLst>
          </p:cNvPr>
          <p:cNvSpPr>
            <a:spLocks noGrp="1"/>
          </p:cNvSpPr>
          <p:nvPr>
            <p:ph type="sldNum" sz="quarter" idx="5"/>
          </p:nvPr>
        </p:nvSpPr>
        <p:spPr/>
        <p:txBody>
          <a:bodyPr/>
          <a:lstStyle/>
          <a:p>
            <a:fld id="{30FF3BCC-1A43-4D25-8467-E40EF431E2F1}" type="slidenum">
              <a:rPr kumimoji="1" lang="ja-JP" altLang="en-US" smtClean="0"/>
              <a:t>30</a:t>
            </a:fld>
            <a:endParaRPr kumimoji="1" lang="ja-JP" altLang="en-US"/>
          </a:p>
        </p:txBody>
      </p:sp>
    </p:spTree>
    <p:extLst>
      <p:ext uri="{BB962C8B-B14F-4D97-AF65-F5344CB8AC3E}">
        <p14:creationId xmlns:p14="http://schemas.microsoft.com/office/powerpoint/2010/main" val="653565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8CDCC-4499-9CC9-1F39-99083A511C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93DCC5A-4CF0-CE33-9793-735FCC81AE4E}"/>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96E4A811-4C57-E7FA-999B-3B2346969CFA}"/>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E5D9E0B5-62CD-B7FC-7619-BDD324DA7A35}"/>
              </a:ext>
            </a:extLst>
          </p:cNvPr>
          <p:cNvSpPr>
            <a:spLocks noGrp="1"/>
          </p:cNvSpPr>
          <p:nvPr>
            <p:ph type="sldNum" sz="quarter" idx="5"/>
          </p:nvPr>
        </p:nvSpPr>
        <p:spPr/>
        <p:txBody>
          <a:bodyPr/>
          <a:lstStyle/>
          <a:p>
            <a:fld id="{30FF3BCC-1A43-4D25-8467-E40EF431E2F1}" type="slidenum">
              <a:rPr kumimoji="1" lang="ja-JP" altLang="en-US" smtClean="0"/>
              <a:t>33</a:t>
            </a:fld>
            <a:endParaRPr kumimoji="1" lang="ja-JP" altLang="en-US"/>
          </a:p>
        </p:txBody>
      </p:sp>
    </p:spTree>
    <p:extLst>
      <p:ext uri="{BB962C8B-B14F-4D97-AF65-F5344CB8AC3E}">
        <p14:creationId xmlns:p14="http://schemas.microsoft.com/office/powerpoint/2010/main" val="21640625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33463" y="1243013"/>
            <a:ext cx="4740275" cy="3352800"/>
          </a:xfrm>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dirty="0"/>
          </a:p>
        </p:txBody>
      </p:sp>
      <p:sp>
        <p:nvSpPr>
          <p:cNvPr id="4" name="スライド番号プレースホルダー 3"/>
          <p:cNvSpPr>
            <a:spLocks noGrp="1"/>
          </p:cNvSpPr>
          <p:nvPr>
            <p:ph type="sldNum" sz="quarter" idx="5"/>
          </p:nvPr>
        </p:nvSpPr>
        <p:spPr/>
        <p:txBody>
          <a:bodyPr/>
          <a:lstStyle/>
          <a:p>
            <a:fld id="{CAF5A409-FE33-4202-B69D-8515A6FDCE7E}" type="slidenum">
              <a:rPr kumimoji="1" lang="ja-JP" altLang="en-US" smtClean="0"/>
              <a:t>34</a:t>
            </a:fld>
            <a:endParaRPr kumimoji="1" lang="ja-JP" altLang="en-US"/>
          </a:p>
        </p:txBody>
      </p:sp>
    </p:spTree>
    <p:extLst>
      <p:ext uri="{BB962C8B-B14F-4D97-AF65-F5344CB8AC3E}">
        <p14:creationId xmlns:p14="http://schemas.microsoft.com/office/powerpoint/2010/main" val="39096212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6.png"/><Relationship Id="rId4" Type="http://schemas.openxmlformats.org/officeDocument/2006/relationships/image" Target="../media/image7.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9974122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表紙">
    <p:spTree>
      <p:nvGrpSpPr>
        <p:cNvPr id="1" name=""/>
        <p:cNvGrpSpPr/>
        <p:nvPr/>
      </p:nvGrpSpPr>
      <p:grpSpPr>
        <a:xfrm>
          <a:off x="0" y="0"/>
          <a:ext cx="0" cy="0"/>
          <a:chOff x="0" y="0"/>
          <a:chExt cx="0" cy="0"/>
        </a:xfrm>
      </p:grpSpPr>
      <p:pic>
        <p:nvPicPr>
          <p:cNvPr id="3" name="図 2" descr="絵と文字の加工写真&#10;&#10;AI 生成コンテンツは誤りを含む可能性があります。">
            <a:extLst>
              <a:ext uri="{FF2B5EF4-FFF2-40B4-BE49-F238E27FC236}">
                <a16:creationId xmlns:a16="http://schemas.microsoft.com/office/drawing/2014/main" id="{995F6558-5E48-7ACD-5E2F-54EE4A6825B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6" name="タイトル 1">
            <a:extLst>
              <a:ext uri="{FF2B5EF4-FFF2-40B4-BE49-F238E27FC236}">
                <a16:creationId xmlns:a16="http://schemas.microsoft.com/office/drawing/2014/main" id="{7D824756-0531-3BBA-09FB-CC8ACB55A36C}"/>
              </a:ext>
            </a:extLst>
          </p:cNvPr>
          <p:cNvSpPr>
            <a:spLocks noGrp="1"/>
          </p:cNvSpPr>
          <p:nvPr>
            <p:ph type="title"/>
          </p:nvPr>
        </p:nvSpPr>
        <p:spPr>
          <a:xfrm>
            <a:off x="885526" y="3467606"/>
            <a:ext cx="9221787" cy="738664"/>
          </a:xfrm>
          <a:prstGeom prst="rect">
            <a:avLst/>
          </a:prstGeom>
          <a:noFill/>
        </p:spPr>
        <p:txBody>
          <a:bodyPr wrap="square" lIns="0" tIns="0" rIns="0" bIns="0" rtlCol="0" anchor="ctr">
            <a:spAutoFit/>
          </a:bodyPr>
          <a:lstStyle>
            <a:lvl1pPr>
              <a:lnSpc>
                <a:spcPct val="100000"/>
              </a:lnSpc>
              <a:defRPr lang="ja-JP" altLang="en-US" sz="4800" b="1" spc="200">
                <a:latin typeface="+mj-lt"/>
                <a:cs typeface="+mn-cs"/>
              </a:defRPr>
            </a:lvl1pPr>
          </a:lstStyle>
          <a:p>
            <a:pPr marL="0" lvl="0" defTabSz="503972"/>
            <a:r>
              <a:rPr kumimoji="1" lang="ja-JP" altLang="en-US" dirty="0"/>
              <a:t>マスター タイトルの書式設定</a:t>
            </a:r>
          </a:p>
        </p:txBody>
      </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7"/>
            <a:ext cx="2996516" cy="594316"/>
          </a:xfrm>
          <a:prstGeom prst="rect">
            <a:avLst/>
          </a:prstGeom>
        </p:spPr>
      </p:pic>
      <p:sp>
        <p:nvSpPr>
          <p:cNvPr id="5" name="正方形/長方形 4">
            <a:extLst>
              <a:ext uri="{FF2B5EF4-FFF2-40B4-BE49-F238E27FC236}">
                <a16:creationId xmlns:a16="http://schemas.microsoft.com/office/drawing/2014/main" id="{E7F2AB3F-4E5C-EEA1-723A-7D941C02D057}"/>
              </a:ext>
            </a:extLst>
          </p:cNvPr>
          <p:cNvSpPr/>
          <p:nvPr userDrawn="1"/>
        </p:nvSpPr>
        <p:spPr>
          <a:xfrm>
            <a:off x="-1" y="-1"/>
            <a:ext cx="108000" cy="7560000"/>
          </a:xfrm>
          <a:prstGeom prst="rect">
            <a:avLst/>
          </a:prstGeom>
          <a:gradFill>
            <a:gsLst>
              <a:gs pos="100000">
                <a:schemeClr val="accent4"/>
              </a:gs>
              <a:gs pos="1700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extLst>
      <p:ext uri="{BB962C8B-B14F-4D97-AF65-F5344CB8AC3E}">
        <p14:creationId xmlns:p14="http://schemas.microsoft.com/office/powerpoint/2010/main" val="10359687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次">
    <p:spTree>
      <p:nvGrpSpPr>
        <p:cNvPr id="1" name=""/>
        <p:cNvGrpSpPr/>
        <p:nvPr/>
      </p:nvGrpSpPr>
      <p:grpSpPr>
        <a:xfrm>
          <a:off x="0" y="0"/>
          <a:ext cx="0" cy="0"/>
          <a:chOff x="0" y="0"/>
          <a:chExt cx="0" cy="0"/>
        </a:xfrm>
      </p:grpSpPr>
      <p:pic>
        <p:nvPicPr>
          <p:cNvPr id="2" name="図 1" descr="背景パターン&#10;&#10;AI 生成コンテンツは誤りを含む可能性があります。">
            <a:extLst>
              <a:ext uri="{FF2B5EF4-FFF2-40B4-BE49-F238E27FC236}">
                <a16:creationId xmlns:a16="http://schemas.microsoft.com/office/drawing/2014/main" id="{8E967D6D-5B52-5B07-CA48-6817A5CEB27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grpSp>
        <p:nvGrpSpPr>
          <p:cNvPr id="7" name="グループ化 6">
            <a:extLst>
              <a:ext uri="{FF2B5EF4-FFF2-40B4-BE49-F238E27FC236}">
                <a16:creationId xmlns:a16="http://schemas.microsoft.com/office/drawing/2014/main" id="{01D98B25-17B2-272C-53AC-A26D9745042C}"/>
              </a:ext>
            </a:extLst>
          </p:cNvPr>
          <p:cNvGrpSpPr/>
          <p:nvPr userDrawn="1"/>
        </p:nvGrpSpPr>
        <p:grpSpPr>
          <a:xfrm>
            <a:off x="887069" y="3420377"/>
            <a:ext cx="3420000" cy="602349"/>
            <a:chOff x="887069" y="3420377"/>
            <a:chExt cx="3420000" cy="602349"/>
          </a:xfrm>
        </p:grpSpPr>
        <p:sp>
          <p:nvSpPr>
            <p:cNvPr id="9" name="テキスト ボックス 8">
              <a:extLst>
                <a:ext uri="{FF2B5EF4-FFF2-40B4-BE49-F238E27FC236}">
                  <a16:creationId xmlns:a16="http://schemas.microsoft.com/office/drawing/2014/main" id="{C5012DD8-6B05-046F-3AF1-CACA060CA370}"/>
                </a:ext>
              </a:extLst>
            </p:cNvPr>
            <p:cNvSpPr txBox="1"/>
            <p:nvPr/>
          </p:nvSpPr>
          <p:spPr>
            <a:xfrm>
              <a:off x="977069" y="3420377"/>
              <a:ext cx="3240000" cy="492443"/>
            </a:xfrm>
            <a:prstGeom prst="rect">
              <a:avLst/>
            </a:prstGeom>
            <a:noFill/>
          </p:spPr>
          <p:txBody>
            <a:bodyPr wrap="square" lIns="0" tIns="0" rIns="0" bIns="0" anchor="t">
              <a:spAutoFit/>
            </a:bodyPr>
            <a:lstStyle/>
            <a:p>
              <a:pPr algn="ctr"/>
              <a:r>
                <a:rPr lang="ja-JP" altLang="en-US" sz="3200" b="1" dirty="0">
                  <a:latin typeface="+mj-lt"/>
                </a:rPr>
                <a:t>目次</a:t>
              </a:r>
            </a:p>
          </p:txBody>
        </p:sp>
        <p:cxnSp>
          <p:nvCxnSpPr>
            <p:cNvPr id="10" name="直線コネクタ 9">
              <a:extLst>
                <a:ext uri="{FF2B5EF4-FFF2-40B4-BE49-F238E27FC236}">
                  <a16:creationId xmlns:a16="http://schemas.microsoft.com/office/drawing/2014/main" id="{268C069C-EAF1-B7E8-021B-4DF925E86141}"/>
                </a:ext>
              </a:extLst>
            </p:cNvPr>
            <p:cNvCxnSpPr>
              <a:cxnSpLocks/>
            </p:cNvCxnSpPr>
            <p:nvPr/>
          </p:nvCxnSpPr>
          <p:spPr>
            <a:xfrm>
              <a:off x="887069" y="4022726"/>
              <a:ext cx="34200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gr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8"/>
            <a:ext cx="1627200" cy="322732"/>
          </a:xfrm>
          <a:prstGeom prst="rect">
            <a:avLst/>
          </a:prstGeom>
        </p:spPr>
      </p:pic>
      <p:sp>
        <p:nvSpPr>
          <p:cNvPr id="12" name="テキスト ボックス 11">
            <a:extLst>
              <a:ext uri="{FF2B5EF4-FFF2-40B4-BE49-F238E27FC236}">
                <a16:creationId xmlns:a16="http://schemas.microsoft.com/office/drawing/2014/main" id="{1A1C1562-A331-DA82-9B95-1B4F0DA08BD0}"/>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sp>
        <p:nvSpPr>
          <p:cNvPr id="13" name="Google Shape;14;p31">
            <a:extLst>
              <a:ext uri="{FF2B5EF4-FFF2-40B4-BE49-F238E27FC236}">
                <a16:creationId xmlns:a16="http://schemas.microsoft.com/office/drawing/2014/main" id="{0CB49C29-F967-F011-F3F8-2ED176CC202F}"/>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3" name="正方形/長方形 2">
            <a:extLst>
              <a:ext uri="{FF2B5EF4-FFF2-40B4-BE49-F238E27FC236}">
                <a16:creationId xmlns:a16="http://schemas.microsoft.com/office/drawing/2014/main" id="{7493C03D-EF3C-73CD-DCFB-960D33F81124}"/>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2801445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中扉">
    <p:spTree>
      <p:nvGrpSpPr>
        <p:cNvPr id="1" name=""/>
        <p:cNvGrpSpPr/>
        <p:nvPr/>
      </p:nvGrpSpPr>
      <p:grpSpPr>
        <a:xfrm>
          <a:off x="0" y="0"/>
          <a:ext cx="0" cy="0"/>
          <a:chOff x="0" y="0"/>
          <a:chExt cx="0" cy="0"/>
        </a:xfrm>
      </p:grpSpPr>
      <p:pic>
        <p:nvPicPr>
          <p:cNvPr id="3" name="図 2" descr="背景パターン&#10;&#10;AI 生成コンテンツは誤りを含む可能性があります。">
            <a:extLst>
              <a:ext uri="{FF2B5EF4-FFF2-40B4-BE49-F238E27FC236}">
                <a16:creationId xmlns:a16="http://schemas.microsoft.com/office/drawing/2014/main" id="{FDE449C2-8B65-9409-394F-45A167C6AEA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5" name="タイトル 1">
            <a:extLst>
              <a:ext uri="{FF2B5EF4-FFF2-40B4-BE49-F238E27FC236}">
                <a16:creationId xmlns:a16="http://schemas.microsoft.com/office/drawing/2014/main" id="{07D600CD-5CAD-A0C8-1E3D-CD1EA5B04422}"/>
              </a:ext>
            </a:extLst>
          </p:cNvPr>
          <p:cNvSpPr>
            <a:spLocks noGrp="1"/>
          </p:cNvSpPr>
          <p:nvPr>
            <p:ph type="title"/>
          </p:nvPr>
        </p:nvSpPr>
        <p:spPr>
          <a:xfrm>
            <a:off x="989013" y="3656161"/>
            <a:ext cx="9221787" cy="615553"/>
          </a:xfrm>
          <a:prstGeom prst="rect">
            <a:avLst/>
          </a:prstGeom>
          <a:noFill/>
        </p:spPr>
        <p:txBody>
          <a:bodyPr wrap="square" lIns="0" tIns="0" rIns="0" bIns="0" rtlCol="0" anchor="ctr">
            <a:spAutoFit/>
          </a:bodyPr>
          <a:lstStyle>
            <a:lvl1pPr>
              <a:lnSpc>
                <a:spcPct val="100000"/>
              </a:lnSpc>
              <a:defRPr lang="ja-JP" altLang="en-US" sz="4000" b="1" spc="200" dirty="0">
                <a:solidFill>
                  <a:schemeClr val="bg1"/>
                </a:solidFill>
                <a:latin typeface="+mj-lt"/>
                <a:cs typeface="+mn-cs"/>
              </a:defRPr>
            </a:lvl1pPr>
          </a:lstStyle>
          <a:p>
            <a:pPr marL="0" lvl="0" defTabSz="503972"/>
            <a:r>
              <a:rPr kumimoji="1" lang="ja-JP" altLang="en-US" dirty="0"/>
              <a:t>マスター タイトルの書式設定</a:t>
            </a:r>
          </a:p>
        </p:txBody>
      </p:sp>
      <p:pic>
        <p:nvPicPr>
          <p:cNvPr id="4" name="グラフィックス 3">
            <a:extLst>
              <a:ext uri="{FF2B5EF4-FFF2-40B4-BE49-F238E27FC236}">
                <a16:creationId xmlns:a16="http://schemas.microsoft.com/office/drawing/2014/main" id="{8D4E6481-3D38-43CE-56D4-0766A151BDBF}"/>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97898" y="641818"/>
            <a:ext cx="1627200" cy="320105"/>
          </a:xfrm>
          <a:prstGeom prst="rect">
            <a:avLst/>
          </a:prstGeom>
        </p:spPr>
      </p:pic>
      <p:sp>
        <p:nvSpPr>
          <p:cNvPr id="7" name="テキスト ボックス 6">
            <a:extLst>
              <a:ext uri="{FF2B5EF4-FFF2-40B4-BE49-F238E27FC236}">
                <a16:creationId xmlns:a16="http://schemas.microsoft.com/office/drawing/2014/main" id="{06F9BFF4-1363-8167-1FD9-7F8105B557A4}"/>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bg1"/>
                </a:solidFill>
                <a:latin typeface="+mj-lt"/>
              </a:rPr>
              <a:pPr algn="r"/>
              <a:t>‹#›</a:t>
            </a:fld>
            <a:endParaRPr kumimoji="1" lang="ja-JP" altLang="en-US" sz="992" dirty="0">
              <a:solidFill>
                <a:schemeClr val="bg1"/>
              </a:solidFill>
              <a:latin typeface="+mj-lt"/>
            </a:endParaRPr>
          </a:p>
        </p:txBody>
      </p:sp>
      <p:sp>
        <p:nvSpPr>
          <p:cNvPr id="8" name="Google Shape;14;p31">
            <a:extLst>
              <a:ext uri="{FF2B5EF4-FFF2-40B4-BE49-F238E27FC236}">
                <a16:creationId xmlns:a16="http://schemas.microsoft.com/office/drawing/2014/main" id="{4768A1B1-9FB9-F183-2D3A-178D813DD52B}"/>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bg1"/>
                </a:solidFill>
                <a:latin typeface="Arial"/>
                <a:ea typeface="Arial"/>
                <a:cs typeface="Arial"/>
                <a:sym typeface="Arial"/>
              </a:rPr>
              <a:t>Copyright© M＆A Succession Group Inc. All Right Reserved</a:t>
            </a:r>
            <a:endParaRPr sz="700" b="0" i="0" u="none" strike="noStrike" cap="none" dirty="0">
              <a:solidFill>
                <a:schemeClr val="bg1"/>
              </a:solidFill>
              <a:latin typeface="Arial"/>
              <a:ea typeface="Arial"/>
              <a:cs typeface="Arial"/>
              <a:sym typeface="Arial"/>
            </a:endParaRPr>
          </a:p>
        </p:txBody>
      </p:sp>
      <p:sp>
        <p:nvSpPr>
          <p:cNvPr id="2" name="正方形/長方形 1">
            <a:extLst>
              <a:ext uri="{FF2B5EF4-FFF2-40B4-BE49-F238E27FC236}">
                <a16:creationId xmlns:a16="http://schemas.microsoft.com/office/drawing/2014/main" id="{00B19FBA-B74F-4E88-0389-543A882445EE}"/>
              </a:ext>
            </a:extLst>
          </p:cNvPr>
          <p:cNvSpPr/>
          <p:nvPr userDrawn="1"/>
        </p:nvSpPr>
        <p:spPr>
          <a:xfrm>
            <a:off x="6933143" y="7209190"/>
            <a:ext cx="640572" cy="144000"/>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bg1"/>
                </a:solidFill>
              </a:rPr>
              <a:t>Confidential</a:t>
            </a:r>
          </a:p>
        </p:txBody>
      </p:sp>
    </p:spTree>
    <p:extLst>
      <p:ext uri="{BB962C8B-B14F-4D97-AF65-F5344CB8AC3E}">
        <p14:creationId xmlns:p14="http://schemas.microsoft.com/office/powerpoint/2010/main" val="18809509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本編1">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BA577B03-0430-76D0-A4E3-BD118824A3F8}"/>
              </a:ext>
            </a:extLst>
          </p:cNvPr>
          <p:cNvSpPr/>
          <p:nvPr userDrawn="1"/>
        </p:nvSpPr>
        <p:spPr>
          <a:xfrm>
            <a:off x="-1" y="0"/>
            <a:ext cx="10691814" cy="666000"/>
          </a:xfrm>
          <a:prstGeom prst="rect">
            <a:avLst/>
          </a:prstGeom>
          <a:gradFill>
            <a:gsLst>
              <a:gs pos="88000">
                <a:srgbClr val="006AB1"/>
              </a:gs>
              <a:gs pos="5000">
                <a:schemeClr val="tx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dirty="0"/>
          </a:p>
        </p:txBody>
      </p:sp>
      <p:sp>
        <p:nvSpPr>
          <p:cNvPr id="31" name="フリーフォーム: 図形 30">
            <a:extLst>
              <a:ext uri="{FF2B5EF4-FFF2-40B4-BE49-F238E27FC236}">
                <a16:creationId xmlns:a16="http://schemas.microsoft.com/office/drawing/2014/main" id="{D9CC89AC-0069-75DF-7665-F8D290946A33}"/>
              </a:ext>
            </a:extLst>
          </p:cNvPr>
          <p:cNvSpPr/>
          <p:nvPr userDrawn="1"/>
        </p:nvSpPr>
        <p:spPr>
          <a:xfrm>
            <a:off x="6714554"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96000">
                <a:schemeClr val="accent4"/>
              </a:gs>
              <a:gs pos="46000">
                <a:schemeClr val="tx2">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dirty="0"/>
          </a:p>
        </p:txBody>
      </p:sp>
      <p:sp>
        <p:nvSpPr>
          <p:cNvPr id="3" name="字幕 2">
            <a:extLst>
              <a:ext uri="{FF2B5EF4-FFF2-40B4-BE49-F238E27FC236}">
                <a16:creationId xmlns:a16="http://schemas.microsoft.com/office/drawing/2014/main" id="{E4C44029-31FF-A9F7-06AC-0A055C09D50F}"/>
              </a:ext>
            </a:extLst>
          </p:cNvPr>
          <p:cNvSpPr>
            <a:spLocks noGrp="1"/>
          </p:cNvSpPr>
          <p:nvPr>
            <p:ph type="subTitle" idx="1"/>
          </p:nvPr>
        </p:nvSpPr>
        <p:spPr>
          <a:xfrm>
            <a:off x="460675" y="830046"/>
            <a:ext cx="9781875" cy="241861"/>
          </a:xfrm>
          <a:prstGeom prst="rect">
            <a:avLst/>
          </a:prstGeom>
        </p:spPr>
        <p:txBody>
          <a:bodyPr wrap="square" lIns="0" tIns="0" rIns="0" bIns="0">
            <a:spAutoFit/>
          </a:bodyPr>
          <a:lstStyle>
            <a:lvl1pPr marL="0" indent="0" algn="l">
              <a:lnSpc>
                <a:spcPct val="120000"/>
              </a:lnSpc>
              <a:spcBef>
                <a:spcPts val="0"/>
              </a:spcBef>
              <a:buNone/>
              <a:defRPr sz="1400" b="1" spc="55" baseline="0">
                <a:latin typeface="+mj-ea"/>
                <a:ea typeface="+mj-ea"/>
              </a:defRPr>
            </a:lvl1pPr>
            <a:lvl2pPr marL="503972" indent="0" algn="ctr">
              <a:buNone/>
              <a:defRPr sz="2205"/>
            </a:lvl2pPr>
            <a:lvl3pPr marL="1007943" indent="0" algn="ctr">
              <a:buNone/>
              <a:defRPr sz="1984"/>
            </a:lvl3pPr>
            <a:lvl4pPr marL="1511915" indent="0" algn="ctr">
              <a:buNone/>
              <a:defRPr sz="1764"/>
            </a:lvl4pPr>
            <a:lvl5pPr marL="2015886" indent="0" algn="ctr">
              <a:buNone/>
              <a:defRPr sz="1764"/>
            </a:lvl5pPr>
            <a:lvl6pPr marL="2519858" indent="0" algn="ctr">
              <a:buNone/>
              <a:defRPr sz="1764"/>
            </a:lvl6pPr>
            <a:lvl7pPr marL="3023829" indent="0" algn="ctr">
              <a:buNone/>
              <a:defRPr sz="1764"/>
            </a:lvl7pPr>
            <a:lvl8pPr marL="3527801" indent="0" algn="ctr">
              <a:buNone/>
              <a:defRPr sz="1764"/>
            </a:lvl8pPr>
            <a:lvl9pPr marL="4031772" indent="0" algn="ctr">
              <a:buNone/>
              <a:defRPr sz="1764"/>
            </a:lvl9pPr>
          </a:lstStyle>
          <a:p>
            <a:r>
              <a:rPr kumimoji="1" lang="ja-JP" altLang="en-US" dirty="0"/>
              <a:t>マスター サブタイトルの書式設定</a:t>
            </a:r>
          </a:p>
        </p:txBody>
      </p:sp>
      <p:sp>
        <p:nvSpPr>
          <p:cNvPr id="6" name="テキスト ボックス 5">
            <a:extLst>
              <a:ext uri="{FF2B5EF4-FFF2-40B4-BE49-F238E27FC236}">
                <a16:creationId xmlns:a16="http://schemas.microsoft.com/office/drawing/2014/main" id="{C06A0380-DE0F-1825-615F-4DBC89C8C6DB}"/>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pic>
        <p:nvPicPr>
          <p:cNvPr id="8" name="グラフィックス 7">
            <a:extLst>
              <a:ext uri="{FF2B5EF4-FFF2-40B4-BE49-F238E27FC236}">
                <a16:creationId xmlns:a16="http://schemas.microsoft.com/office/drawing/2014/main" id="{15124CEF-AA7F-DF16-7A5C-692E9AB7616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04801" y="7086114"/>
            <a:ext cx="1625600" cy="322220"/>
          </a:xfrm>
          <a:prstGeom prst="rect">
            <a:avLst/>
          </a:prstGeom>
        </p:spPr>
      </p:pic>
      <p:grpSp>
        <p:nvGrpSpPr>
          <p:cNvPr id="26" name="グループ化 25">
            <a:extLst>
              <a:ext uri="{FF2B5EF4-FFF2-40B4-BE49-F238E27FC236}">
                <a16:creationId xmlns:a16="http://schemas.microsoft.com/office/drawing/2014/main" id="{2864EB89-7DDA-1F5E-BB78-27D39C8659FC}"/>
              </a:ext>
            </a:extLst>
          </p:cNvPr>
          <p:cNvGrpSpPr/>
          <p:nvPr userDrawn="1"/>
        </p:nvGrpSpPr>
        <p:grpSpPr>
          <a:xfrm>
            <a:off x="-1" y="0"/>
            <a:ext cx="252001" cy="666000"/>
            <a:chOff x="-1" y="0"/>
            <a:chExt cx="252001" cy="666000"/>
          </a:xfrm>
        </p:grpSpPr>
        <p:cxnSp>
          <p:nvCxnSpPr>
            <p:cNvPr id="19" name="直線コネクタ 18">
              <a:extLst>
                <a:ext uri="{FF2B5EF4-FFF2-40B4-BE49-F238E27FC236}">
                  <a16:creationId xmlns:a16="http://schemas.microsoft.com/office/drawing/2014/main" id="{05B82C66-0A6E-C82F-B38C-D4495200FAA8}"/>
                </a:ext>
              </a:extLst>
            </p:cNvPr>
            <p:cNvCxnSpPr>
              <a:cxnSpLocks/>
            </p:cNvCxnSpPr>
            <p:nvPr userDrawn="1"/>
          </p:nvCxnSpPr>
          <p:spPr>
            <a:xfrm>
              <a:off x="0" y="333000"/>
              <a:ext cx="252000"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11" name="正方形/長方形 10">
              <a:extLst>
                <a:ext uri="{FF2B5EF4-FFF2-40B4-BE49-F238E27FC236}">
                  <a16:creationId xmlns:a16="http://schemas.microsoft.com/office/drawing/2014/main" id="{A6BFD29D-964D-B44D-88A5-439ACA448282}"/>
                </a:ext>
              </a:extLst>
            </p:cNvPr>
            <p:cNvSpPr/>
            <p:nvPr userDrawn="1"/>
          </p:nvSpPr>
          <p:spPr>
            <a:xfrm>
              <a:off x="-1" y="0"/>
              <a:ext cx="108000" cy="666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cxnSp>
          <p:nvCxnSpPr>
            <p:cNvPr id="18" name="直線コネクタ 17">
              <a:extLst>
                <a:ext uri="{FF2B5EF4-FFF2-40B4-BE49-F238E27FC236}">
                  <a16:creationId xmlns:a16="http://schemas.microsoft.com/office/drawing/2014/main" id="{B87BA5C7-32E9-C506-2110-1D5AFE77B082}"/>
                </a:ext>
              </a:extLst>
            </p:cNvPr>
            <p:cNvCxnSpPr>
              <a:cxnSpLocks/>
            </p:cNvCxnSpPr>
            <p:nvPr userDrawn="1"/>
          </p:nvCxnSpPr>
          <p:spPr>
            <a:xfrm>
              <a:off x="-1" y="333000"/>
              <a:ext cx="108000"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grpSp>
      <p:sp>
        <p:nvSpPr>
          <p:cNvPr id="2" name="タイトル 1">
            <a:extLst>
              <a:ext uri="{FF2B5EF4-FFF2-40B4-BE49-F238E27FC236}">
                <a16:creationId xmlns:a16="http://schemas.microsoft.com/office/drawing/2014/main" id="{1DA08165-590D-BD55-05E9-10B2D6F8DD63}"/>
              </a:ext>
            </a:extLst>
          </p:cNvPr>
          <p:cNvSpPr>
            <a:spLocks noGrp="1"/>
          </p:cNvSpPr>
          <p:nvPr userDrawn="1">
            <p:ph type="ctrTitle"/>
          </p:nvPr>
        </p:nvSpPr>
        <p:spPr>
          <a:xfrm>
            <a:off x="341313" y="180296"/>
            <a:ext cx="7799917" cy="339267"/>
          </a:xfrm>
          <a:prstGeom prst="rect">
            <a:avLst/>
          </a:prstGeom>
        </p:spPr>
        <p:txBody>
          <a:bodyPr wrap="square" lIns="0" tIns="0" rIns="0" bIns="0" anchor="ctr">
            <a:spAutoFit/>
          </a:bodyPr>
          <a:lstStyle>
            <a:lvl1pPr algn="l">
              <a:lnSpc>
                <a:spcPct val="100000"/>
              </a:lnSpc>
              <a:defRPr sz="2200" b="1" spc="77" baseline="0">
                <a:solidFill>
                  <a:schemeClr val="bg1"/>
                </a:solidFill>
                <a:latin typeface="+mj-lt"/>
              </a:defRPr>
            </a:lvl1pPr>
          </a:lstStyle>
          <a:p>
            <a:r>
              <a:rPr kumimoji="1" lang="ja-JP" altLang="en-US" dirty="0"/>
              <a:t>マスター タイトルの書式設定</a:t>
            </a:r>
          </a:p>
        </p:txBody>
      </p:sp>
      <p:sp>
        <p:nvSpPr>
          <p:cNvPr id="30" name="フリーフォーム: 図形 29">
            <a:extLst>
              <a:ext uri="{FF2B5EF4-FFF2-40B4-BE49-F238E27FC236}">
                <a16:creationId xmlns:a16="http://schemas.microsoft.com/office/drawing/2014/main" id="{0AA6A414-726D-CCFA-2EF2-5B8503BE0A88}"/>
              </a:ext>
            </a:extLst>
          </p:cNvPr>
          <p:cNvSpPr/>
          <p:nvPr userDrawn="1"/>
        </p:nvSpPr>
        <p:spPr>
          <a:xfrm>
            <a:off x="6386286"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100000">
                <a:schemeClr val="accent4"/>
              </a:gs>
              <a:gs pos="8000">
                <a:srgbClr val="0167AB">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a:p>
        </p:txBody>
      </p:sp>
      <p:sp>
        <p:nvSpPr>
          <p:cNvPr id="33" name="Google Shape;14;p31">
            <a:extLst>
              <a:ext uri="{FF2B5EF4-FFF2-40B4-BE49-F238E27FC236}">
                <a16:creationId xmlns:a16="http://schemas.microsoft.com/office/drawing/2014/main" id="{273032A6-EBE9-0147-F9C2-495CA12FDE28}"/>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5" name="正方形/長方形 4">
            <a:extLst>
              <a:ext uri="{FF2B5EF4-FFF2-40B4-BE49-F238E27FC236}">
                <a16:creationId xmlns:a16="http://schemas.microsoft.com/office/drawing/2014/main" id="{283DDC2C-ECEE-530D-9F1C-6564A5A2BAB9}"/>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2627557559"/>
      </p:ext>
    </p:extLst>
  </p:cSld>
  <p:clrMapOvr>
    <a:masterClrMapping/>
  </p:clrMapOvr>
  <p:extLst>
    <p:ext uri="{DCECCB84-F9BA-43D5-87BE-67443E8EF086}">
      <p15:sldGuideLst xmlns:p15="http://schemas.microsoft.com/office/powerpoint/2012/main">
        <p15:guide id="2" orient="horz" pos="4309">
          <p15:clr>
            <a:srgbClr val="FBAE40"/>
          </p15:clr>
        </p15:guide>
        <p15:guide id="3" pos="215">
          <p15:clr>
            <a:srgbClr val="A4A3A4"/>
          </p15:clr>
        </p15:guide>
        <p15:guide id="4" pos="6520">
          <p15:clr>
            <a:srgbClr val="A4A3A4"/>
          </p15:clr>
        </p15:guide>
        <p15:guide id="5" pos="283">
          <p15:clr>
            <a:srgbClr val="FBAE40"/>
          </p15:clr>
        </p15:guide>
        <p15:guide id="6" pos="64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表紙">
    <p:spTree>
      <p:nvGrpSpPr>
        <p:cNvPr id="1" name=""/>
        <p:cNvGrpSpPr/>
        <p:nvPr/>
      </p:nvGrpSpPr>
      <p:grpSpPr>
        <a:xfrm>
          <a:off x="0" y="0"/>
          <a:ext cx="0" cy="0"/>
          <a:chOff x="0" y="0"/>
          <a:chExt cx="0" cy="0"/>
        </a:xfrm>
      </p:grpSpPr>
      <p:pic>
        <p:nvPicPr>
          <p:cNvPr id="3" name="図 2" descr="絵と文字の加工写真&#10;&#10;AI 生成コンテンツは誤りを含む可能性があります。">
            <a:extLst>
              <a:ext uri="{FF2B5EF4-FFF2-40B4-BE49-F238E27FC236}">
                <a16:creationId xmlns:a16="http://schemas.microsoft.com/office/drawing/2014/main" id="{995F6558-5E48-7ACD-5E2F-54EE4A6825B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6" name="タイトル 1">
            <a:extLst>
              <a:ext uri="{FF2B5EF4-FFF2-40B4-BE49-F238E27FC236}">
                <a16:creationId xmlns:a16="http://schemas.microsoft.com/office/drawing/2014/main" id="{7D824756-0531-3BBA-09FB-CC8ACB55A36C}"/>
              </a:ext>
            </a:extLst>
          </p:cNvPr>
          <p:cNvSpPr>
            <a:spLocks noGrp="1"/>
          </p:cNvSpPr>
          <p:nvPr>
            <p:ph type="title"/>
          </p:nvPr>
        </p:nvSpPr>
        <p:spPr>
          <a:xfrm>
            <a:off x="885526" y="3467606"/>
            <a:ext cx="9221787" cy="738664"/>
          </a:xfrm>
          <a:prstGeom prst="rect">
            <a:avLst/>
          </a:prstGeom>
          <a:noFill/>
        </p:spPr>
        <p:txBody>
          <a:bodyPr wrap="square" lIns="0" tIns="0" rIns="0" bIns="0" rtlCol="0" anchor="ctr">
            <a:spAutoFit/>
          </a:bodyPr>
          <a:lstStyle>
            <a:lvl1pPr>
              <a:lnSpc>
                <a:spcPct val="100000"/>
              </a:lnSpc>
              <a:defRPr lang="ja-JP" altLang="en-US" sz="4800" b="1" spc="200">
                <a:latin typeface="+mj-lt"/>
                <a:cs typeface="+mn-cs"/>
              </a:defRPr>
            </a:lvl1pPr>
          </a:lstStyle>
          <a:p>
            <a:pPr marL="0" lvl="0" defTabSz="503972"/>
            <a:r>
              <a:rPr kumimoji="1" lang="ja-JP" altLang="en-US" dirty="0"/>
              <a:t>マスター タイトルの書式設定</a:t>
            </a:r>
          </a:p>
        </p:txBody>
      </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7"/>
            <a:ext cx="2996516" cy="594316"/>
          </a:xfrm>
          <a:prstGeom prst="rect">
            <a:avLst/>
          </a:prstGeom>
        </p:spPr>
      </p:pic>
      <p:sp>
        <p:nvSpPr>
          <p:cNvPr id="5" name="正方形/長方形 4">
            <a:extLst>
              <a:ext uri="{FF2B5EF4-FFF2-40B4-BE49-F238E27FC236}">
                <a16:creationId xmlns:a16="http://schemas.microsoft.com/office/drawing/2014/main" id="{E7F2AB3F-4E5C-EEA1-723A-7D941C02D057}"/>
              </a:ext>
            </a:extLst>
          </p:cNvPr>
          <p:cNvSpPr/>
          <p:nvPr userDrawn="1"/>
        </p:nvSpPr>
        <p:spPr>
          <a:xfrm>
            <a:off x="-1" y="-1"/>
            <a:ext cx="108000" cy="7560000"/>
          </a:xfrm>
          <a:prstGeom prst="rect">
            <a:avLst/>
          </a:prstGeom>
          <a:gradFill>
            <a:gsLst>
              <a:gs pos="100000">
                <a:schemeClr val="accent4"/>
              </a:gs>
              <a:gs pos="1700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extLst>
      <p:ext uri="{BB962C8B-B14F-4D97-AF65-F5344CB8AC3E}">
        <p14:creationId xmlns:p14="http://schemas.microsoft.com/office/powerpoint/2010/main" val="2111189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4F2DA376-A25F-9107-DBD3-FB81DA50B980}"/>
              </a:ext>
            </a:extLst>
          </p:cNvPr>
          <p:cNvSpPr txBox="1"/>
          <p:nvPr userDrawn="1"/>
        </p:nvSpPr>
        <p:spPr>
          <a:xfrm rot="19728456" flipH="1">
            <a:off x="1740861" y="3487450"/>
            <a:ext cx="7210090" cy="584775"/>
          </a:xfrm>
          <a:prstGeom prst="rect">
            <a:avLst/>
          </a:prstGeom>
          <a:noFill/>
        </p:spPr>
        <p:txBody>
          <a:bodyPr wrap="square" rtlCol="0">
            <a:spAutoFit/>
          </a:bodyPr>
          <a:lstStyle/>
          <a:p>
            <a:r>
              <a:rPr kumimoji="1" lang="ja-JP" altLang="en-US" sz="3200" dirty="0">
                <a:solidFill>
                  <a:schemeClr val="bg1">
                    <a:lumMod val="85000"/>
                  </a:schemeClr>
                </a:solidFill>
                <a:latin typeface="+mj-ea"/>
                <a:ea typeface="+mj-ea"/>
              </a:rPr>
              <a:t>【開示先名】 御中</a:t>
            </a:r>
          </a:p>
        </p:txBody>
      </p:sp>
    </p:spTree>
    <p:extLst>
      <p:ext uri="{BB962C8B-B14F-4D97-AF65-F5344CB8AC3E}">
        <p14:creationId xmlns:p14="http://schemas.microsoft.com/office/powerpoint/2010/main" val="1858542152"/>
      </p:ext>
    </p:extLst>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Lst>
  <p:txStyles>
    <p:titleStyle>
      <a:lvl1pPr algn="l" defTabSz="1007943" rtl="0" eaLnBrk="1" latinLnBrk="0" hangingPunct="1">
        <a:lnSpc>
          <a:spcPct val="90000"/>
        </a:lnSpc>
        <a:spcBef>
          <a:spcPct val="0"/>
        </a:spcBef>
        <a:buNone/>
        <a:defRPr kumimoji="1" sz="4850" kern="1200">
          <a:solidFill>
            <a:schemeClr val="tx1"/>
          </a:solidFill>
          <a:latin typeface="+mj-lt"/>
          <a:ea typeface="+mj-ea"/>
          <a:cs typeface="+mj-cs"/>
        </a:defRPr>
      </a:lvl1pPr>
    </p:titleStyle>
    <p:bodyStyle>
      <a:lvl1pPr marL="251986" indent="-251986" algn="l" defTabSz="1007943" rtl="0" eaLnBrk="1" latinLnBrk="0" hangingPunct="1">
        <a:lnSpc>
          <a:spcPct val="90000"/>
        </a:lnSpc>
        <a:spcBef>
          <a:spcPts val="1102"/>
        </a:spcBef>
        <a:buFont typeface="Arial" panose="020B0604020202020204" pitchFamily="34" charset="0"/>
        <a:buChar char="•"/>
        <a:defRPr kumimoji="1"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kumimoji="1"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kumimoji="1"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9pPr>
    </p:bodyStyle>
    <p:otherStyle>
      <a:defPPr>
        <a:defRPr lang="ja-JP"/>
      </a:defPPr>
      <a:lvl1pPr marL="0" algn="l" defTabSz="1007943" rtl="0" eaLnBrk="1" latinLnBrk="0" hangingPunct="1">
        <a:defRPr kumimoji="1" sz="1984" kern="1200">
          <a:solidFill>
            <a:schemeClr val="tx1"/>
          </a:solidFill>
          <a:latin typeface="+mn-lt"/>
          <a:ea typeface="+mn-ea"/>
          <a:cs typeface="+mn-cs"/>
        </a:defRPr>
      </a:lvl1pPr>
      <a:lvl2pPr marL="503972" algn="l" defTabSz="1007943" rtl="0" eaLnBrk="1" latinLnBrk="0" hangingPunct="1">
        <a:defRPr kumimoji="1" sz="1984" kern="1200">
          <a:solidFill>
            <a:schemeClr val="tx1"/>
          </a:solidFill>
          <a:latin typeface="+mn-lt"/>
          <a:ea typeface="+mn-ea"/>
          <a:cs typeface="+mn-cs"/>
        </a:defRPr>
      </a:lvl2pPr>
      <a:lvl3pPr marL="1007943" algn="l" defTabSz="1007943" rtl="0" eaLnBrk="1" latinLnBrk="0" hangingPunct="1">
        <a:defRPr kumimoji="1" sz="1984" kern="1200">
          <a:solidFill>
            <a:schemeClr val="tx1"/>
          </a:solidFill>
          <a:latin typeface="+mn-lt"/>
          <a:ea typeface="+mn-ea"/>
          <a:cs typeface="+mn-cs"/>
        </a:defRPr>
      </a:lvl3pPr>
      <a:lvl4pPr marL="1511915" algn="l" defTabSz="1007943" rtl="0" eaLnBrk="1" latinLnBrk="0" hangingPunct="1">
        <a:defRPr kumimoji="1" sz="1984" kern="1200">
          <a:solidFill>
            <a:schemeClr val="tx1"/>
          </a:solidFill>
          <a:latin typeface="+mn-lt"/>
          <a:ea typeface="+mn-ea"/>
          <a:cs typeface="+mn-cs"/>
        </a:defRPr>
      </a:lvl4pPr>
      <a:lvl5pPr marL="2015886" algn="l" defTabSz="1007943" rtl="0" eaLnBrk="1" latinLnBrk="0" hangingPunct="1">
        <a:defRPr kumimoji="1" sz="1984" kern="1200">
          <a:solidFill>
            <a:schemeClr val="tx1"/>
          </a:solidFill>
          <a:latin typeface="+mn-lt"/>
          <a:ea typeface="+mn-ea"/>
          <a:cs typeface="+mn-cs"/>
        </a:defRPr>
      </a:lvl5pPr>
      <a:lvl6pPr marL="2519858" algn="l" defTabSz="1007943" rtl="0" eaLnBrk="1" latinLnBrk="0" hangingPunct="1">
        <a:defRPr kumimoji="1" sz="1984" kern="1200">
          <a:solidFill>
            <a:schemeClr val="tx1"/>
          </a:solidFill>
          <a:latin typeface="+mn-lt"/>
          <a:ea typeface="+mn-ea"/>
          <a:cs typeface="+mn-cs"/>
        </a:defRPr>
      </a:lvl6pPr>
      <a:lvl7pPr marL="3023829" algn="l" defTabSz="1007943" rtl="0" eaLnBrk="1" latinLnBrk="0" hangingPunct="1">
        <a:defRPr kumimoji="1" sz="1984" kern="1200">
          <a:solidFill>
            <a:schemeClr val="tx1"/>
          </a:solidFill>
          <a:latin typeface="+mn-lt"/>
          <a:ea typeface="+mn-ea"/>
          <a:cs typeface="+mn-cs"/>
        </a:defRPr>
      </a:lvl7pPr>
      <a:lvl8pPr marL="3527801" algn="l" defTabSz="1007943" rtl="0" eaLnBrk="1" latinLnBrk="0" hangingPunct="1">
        <a:defRPr kumimoji="1" sz="1984" kern="1200">
          <a:solidFill>
            <a:schemeClr val="tx1"/>
          </a:solidFill>
          <a:latin typeface="+mn-lt"/>
          <a:ea typeface="+mn-ea"/>
          <a:cs typeface="+mn-cs"/>
        </a:defRPr>
      </a:lvl8pPr>
      <a:lvl9pPr marL="4031772" algn="l" defTabSz="1007943" rtl="0" eaLnBrk="1" latinLnBrk="0" hangingPunct="1">
        <a:defRPr kumimoji="1" sz="1984"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10.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1.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2.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3.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14.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16.emf"/><Relationship Id="rId4" Type="http://schemas.openxmlformats.org/officeDocument/2006/relationships/image" Target="../media/image17.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18.e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19.png"/><Relationship Id="rId4" Type="http://schemas.openxmlformats.org/officeDocument/2006/relationships/image" Target="../media/image20.png"/><Relationship Id="rId5" Type="http://schemas.microsoft.com/office/2007/relationships/hdphoto" Target="../media/hdphoto1.wdp"/><Relationship Id="rId6" Type="http://schemas.openxmlformats.org/officeDocument/2006/relationships/image" Target="../media/image21.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22.emf"/><Relationship Id="rId4" Type="http://schemas.openxmlformats.org/officeDocument/2006/relationships/image" Target="../media/image23.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4.jpeg"/><Relationship Id="rId3" Type="http://schemas.openxmlformats.org/officeDocument/2006/relationships/image" Target="../media/image8.png"/><Relationship Id="rId4" Type="http://schemas.openxmlformats.org/officeDocument/2006/relationships/image" Target="../media/image9.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E6EF2-E355-DFA0-0FDA-00C6AAD69C4F}"/>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F0EAAA34-63BD-2868-6F6F-9550B61A0EE2}"/>
              </a:ext>
            </a:extLst>
          </p:cNvPr>
          <p:cNvSpPr>
            <a:spLocks noGrp="1"/>
          </p:cNvSpPr>
          <p:nvPr>
            <p:ph type="title"/>
          </p:nvPr>
        </p:nvSpPr>
        <p:spPr/>
        <p:txBody>
          <a:bodyPr/>
          <a:lstStyle/>
          <a:p>
            <a:r>
              <a:rPr lang="ja-JP" altLang="en-US" dirty="0"/>
              <a:t>企業概要書 </a:t>
            </a:r>
            <a:r>
              <a:rPr lang="en-US" altLang="ja-JP" sz="2400" dirty="0"/>
              <a:t>＜洋菓子・カフェ／神奈川県＞</a:t>
            </a:r>
            <a:r>
              <a:rPr lang="ja-JP" altLang="en-US" dirty="0"/>
              <a:t>　</a:t>
            </a:r>
          </a:p>
        </p:txBody>
      </p:sp>
      <p:cxnSp>
        <p:nvCxnSpPr>
          <p:cNvPr id="11" name="直線コネクタ 10">
            <a:extLst>
              <a:ext uri="{FF2B5EF4-FFF2-40B4-BE49-F238E27FC236}">
                <a16:creationId xmlns:a16="http://schemas.microsoft.com/office/drawing/2014/main" id="{B552F00F-DAC8-72B9-D861-43E1B7EF96E4}"/>
              </a:ext>
            </a:extLst>
          </p:cNvPr>
          <p:cNvCxnSpPr>
            <a:cxnSpLocks/>
          </p:cNvCxnSpPr>
          <p:nvPr/>
        </p:nvCxnSpPr>
        <p:spPr>
          <a:xfrm>
            <a:off x="885526" y="4272782"/>
            <a:ext cx="6767299"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6" name="タイトル 2">
            <a:extLst>
              <a:ext uri="{FF2B5EF4-FFF2-40B4-BE49-F238E27FC236}">
                <a16:creationId xmlns:a16="http://schemas.microsoft.com/office/drawing/2014/main" id="{483B0F4A-40C8-4F5B-4490-660AE728BBA5}"/>
              </a:ext>
            </a:extLst>
          </p:cNvPr>
          <p:cNvSpPr txBox="1">
            <a:spLocks/>
          </p:cNvSpPr>
          <p:nvPr/>
        </p:nvSpPr>
        <p:spPr>
          <a:xfrm>
            <a:off x="941798" y="4043874"/>
            <a:ext cx="9221787" cy="738664"/>
          </a:xfrm>
          <a:prstGeom prst="rect">
            <a:avLst/>
          </a:prstGeom>
          <a:noFill/>
        </p:spPr>
        <p:txBody>
          <a:bodyPr wrap="square" lIns="0" tIns="0" rIns="0" bIns="0" rtlCol="0" anchor="ctr">
            <a:spAutoFit/>
          </a:bodyPr>
          <a:lstStyle>
            <a:lvl1pPr algn="l" defTabSz="1007943" rtl="0" eaLnBrk="1" latinLnBrk="0" hangingPunct="1">
              <a:lnSpc>
                <a:spcPct val="100000"/>
              </a:lnSpc>
              <a:spcBef>
                <a:spcPct val="0"/>
              </a:spcBef>
              <a:buNone/>
              <a:defRPr kumimoji="1" lang="ja-JP" altLang="en-US" sz="4800" b="1" kern="1200" spc="200">
                <a:solidFill>
                  <a:schemeClr val="tx1"/>
                </a:solidFill>
                <a:latin typeface="+mj-lt"/>
                <a:ea typeface="+mj-ea"/>
                <a:cs typeface="+mn-cs"/>
              </a:defRPr>
            </a:lvl1pPr>
          </a:lstStyle>
          <a:p>
            <a:pPr>
              <a:buClrTx/>
              <a:buFontTx/>
            </a:pPr>
            <a:r>
              <a:rPr lang="en-US" altLang="ja-JP" sz="1800" dirty="0"/>
              <a:t>Information</a:t>
            </a:r>
            <a:r>
              <a:rPr lang="ja-JP" altLang="en-US" sz="1800" dirty="0"/>
              <a:t> </a:t>
            </a:r>
            <a:r>
              <a:rPr lang="en-US" altLang="ja-JP" sz="1800" dirty="0"/>
              <a:t>Memorandum</a:t>
            </a:r>
            <a:r>
              <a:rPr lang="zh-TW" altLang="en-US" dirty="0"/>
              <a:t>　</a:t>
            </a:r>
          </a:p>
        </p:txBody>
      </p:sp>
    </p:spTree>
    <p:extLst>
      <p:ext uri="{BB962C8B-B14F-4D97-AF65-F5344CB8AC3E}">
        <p14:creationId xmlns:p14="http://schemas.microsoft.com/office/powerpoint/2010/main" val="4336838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87;p2">
            <a:extLst>
              <a:ext uri="{FF2B5EF4-FFF2-40B4-BE49-F238E27FC236}">
                <a16:creationId xmlns:a16="http://schemas.microsoft.com/office/drawing/2014/main" id="{A92DF3A4-79D3-09CF-A0AF-2A2E9BAD2537}"/>
              </a:ext>
            </a:extLst>
          </p:cNvPr>
          <p:cNvSpPr txBox="1"/>
          <p:nvPr/>
        </p:nvSpPr>
        <p:spPr>
          <a:xfrm>
            <a:off x="449263" y="5738246"/>
            <a:ext cx="3372853"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marL="180000" indent="-180000">
              <a:buClr>
                <a:schemeClr val="tx2"/>
              </a:buClr>
              <a:buSzPct val="100000"/>
              <a:buFont typeface="游ゴシック" panose="020B0400000000000000" pitchFamily="50" charset="-128"/>
              <a:buChar char="▌"/>
              <a:defRPr sz="1600" b="1" spc="5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en-US" dirty="0"/>
              <a:t>本件のご照会先</a:t>
            </a:r>
          </a:p>
        </p:txBody>
      </p:sp>
      <p:graphicFrame>
        <p:nvGraphicFramePr>
          <p:cNvPr id="3" name="Google Shape;188;p2">
            <a:extLst>
              <a:ext uri="{FF2B5EF4-FFF2-40B4-BE49-F238E27FC236}">
                <a16:creationId xmlns:a16="http://schemas.microsoft.com/office/drawing/2014/main" id="{6A5E1FF5-E790-97CE-E190-6844BCDD57F5}"/>
              </a:ext>
            </a:extLst>
          </p:cNvPr>
          <p:cNvGraphicFramePr/>
          <p:nvPr>
            <p:extLst>
              <p:ext uri="{D42A27DB-BD31-4B8C-83A1-F6EECF244321}">
                <p14:modId xmlns:p14="http://schemas.microsoft.com/office/powerpoint/2010/main" val="3713220567"/>
              </p:ext>
            </p:extLst>
          </p:nvPr>
        </p:nvGraphicFramePr>
        <p:xfrm>
          <a:off x="449264" y="6120538"/>
          <a:ext cx="9793287" cy="720000"/>
        </p:xfrm>
        <a:graphic>
          <a:graphicData uri="http://schemas.openxmlformats.org/drawingml/2006/table">
            <a:tbl>
              <a:tblPr firstRow="1" bandRow="1">
                <a:noFill/>
              </a:tblPr>
              <a:tblGrid>
                <a:gridCol w="2448322">
                  <a:extLst>
                    <a:ext uri="{9D8B030D-6E8A-4147-A177-3AD203B41FA5}">
                      <a16:colId xmlns:a16="http://schemas.microsoft.com/office/drawing/2014/main" val="20000"/>
                    </a:ext>
                  </a:extLst>
                </a:gridCol>
                <a:gridCol w="2448321">
                  <a:extLst>
                    <a:ext uri="{9D8B030D-6E8A-4147-A177-3AD203B41FA5}">
                      <a16:colId xmlns:a16="http://schemas.microsoft.com/office/drawing/2014/main" val="20001"/>
                    </a:ext>
                  </a:extLst>
                </a:gridCol>
                <a:gridCol w="2448322">
                  <a:extLst>
                    <a:ext uri="{9D8B030D-6E8A-4147-A177-3AD203B41FA5}">
                      <a16:colId xmlns:a16="http://schemas.microsoft.com/office/drawing/2014/main" val="20002"/>
                    </a:ext>
                  </a:extLst>
                </a:gridCol>
                <a:gridCol w="2448322">
                  <a:extLst>
                    <a:ext uri="{9D8B030D-6E8A-4147-A177-3AD203B41FA5}">
                      <a16:colId xmlns:a16="http://schemas.microsoft.com/office/drawing/2014/main" val="20003"/>
                    </a:ext>
                  </a:extLst>
                </a:gridCol>
              </a:tblGrid>
              <a:tr h="360000">
                <a:tc>
                  <a:txBody>
                    <a:bodyPr/>
                    <a:lstStyle/>
                    <a:p>
                      <a:pPr marL="0" marR="0" lvl="0" indent="0" algn="ctr" rtl="0">
                        <a:spcBef>
                          <a:spcPts val="0"/>
                        </a:spcBef>
                        <a:spcAft>
                          <a:spcPts val="0"/>
                        </a:spcAft>
                        <a:buNone/>
                      </a:pPr>
                      <a:r>
                        <a:rPr lang="ja-JP" sz="1200" b="1" u="none" strike="noStrike" cap="none" spc="30" baseline="0" dirty="0">
                          <a:latin typeface="+mj-lt"/>
                          <a:ea typeface="+mj-ea"/>
                        </a:rPr>
                        <a:t>弊社名</a:t>
                      </a:r>
                      <a:endParaRPr sz="1200" b="1" spc="30" baseline="0" dirty="0">
                        <a:latin typeface="+mj-lt"/>
                        <a:ea typeface="+mj-ea"/>
                      </a:endParaRPr>
                    </a:p>
                  </a:txBody>
                  <a:tcPr marL="0" marR="0" marT="0" marB="0"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担当者名</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電話番号</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E-mailアドレス</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0"/>
                  </a:ext>
                </a:extLst>
              </a:tr>
              <a:tr h="360000">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株式会社M&amp;A承継機構</a:t>
                      </a:r>
                      <a:endParaRPr sz="1200" b="1" u="none" strike="noStrike" cap="none" spc="30" baseline="0" dirty="0">
                        <a:latin typeface="+mj-ea"/>
                        <a:ea typeface="+mj-ea"/>
                      </a:endParaRPr>
                    </a:p>
                  </a:txBody>
                  <a:tcPr marL="91450" marR="91450" marT="45725" marB="45725"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中村 翔良</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en-US" sz="1200" b="1" u="none" strike="noStrike" cap="none" spc="30" baseline="0" dirty="0">
                          <a:latin typeface="+mj-ea"/>
                          <a:ea typeface="+mj-ea"/>
                        </a:rPr>
                        <a:t>070-1584-1078</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nakamura_sora@ma-sg.co.jp</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1"/>
                  </a:ext>
                </a:extLst>
              </a:tr>
            </a:tbl>
          </a:graphicData>
        </a:graphic>
      </p:graphicFrame>
      <p:sp>
        <p:nvSpPr>
          <p:cNvPr id="9" name="タイトル 8">
            <a:extLst>
              <a:ext uri="{FF2B5EF4-FFF2-40B4-BE49-F238E27FC236}">
                <a16:creationId xmlns:a16="http://schemas.microsoft.com/office/drawing/2014/main" id="{02B70F11-C06B-AE35-D3C3-0142145E5C0A}"/>
              </a:ext>
            </a:extLst>
          </p:cNvPr>
          <p:cNvSpPr>
            <a:spLocks noGrp="1"/>
          </p:cNvSpPr>
          <p:nvPr>
            <p:ph type="ctrTitle"/>
          </p:nvPr>
        </p:nvSpPr>
        <p:spPr/>
        <p:txBody>
          <a:bodyPr>
            <a:normAutofit/>
          </a:bodyPr>
          <a:lstStyle/>
          <a:p>
            <a:r>
              <a:rPr lang="ja-JP" altLang="en-US" dirty="0"/>
              <a:t>はじめに</a:t>
            </a:r>
          </a:p>
        </p:txBody>
      </p:sp>
      <p:sp>
        <p:nvSpPr>
          <p:cNvPr id="15" name="正方形/長方形 14">
            <a:extLst>
              <a:ext uri="{FF2B5EF4-FFF2-40B4-BE49-F238E27FC236}">
                <a16:creationId xmlns:a16="http://schemas.microsoft.com/office/drawing/2014/main" id="{51A174C3-B2B8-45E2-E11E-021C915BC89C}"/>
              </a:ext>
            </a:extLst>
          </p:cNvPr>
          <p:cNvSpPr/>
          <p:nvPr/>
        </p:nvSpPr>
        <p:spPr>
          <a:xfrm>
            <a:off x="449263" y="863600"/>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重要なご留意事項</a:t>
            </a:r>
          </a:p>
        </p:txBody>
      </p:sp>
      <p:sp>
        <p:nvSpPr>
          <p:cNvPr id="23" name="テキスト ボックス 22">
            <a:extLst>
              <a:ext uri="{FF2B5EF4-FFF2-40B4-BE49-F238E27FC236}">
                <a16:creationId xmlns:a16="http://schemas.microsoft.com/office/drawing/2014/main" id="{B50E1823-5D75-9C7E-3748-4C2C1C220A43}"/>
              </a:ext>
            </a:extLst>
          </p:cNvPr>
          <p:cNvSpPr txBox="1"/>
          <p:nvPr/>
        </p:nvSpPr>
        <p:spPr>
          <a:xfrm>
            <a:off x="449263" y="1234930"/>
            <a:ext cx="9793287" cy="4012958"/>
          </a:xfrm>
          <a:prstGeom prst="rect">
            <a:avLst/>
          </a:prstGeom>
          <a:noFill/>
        </p:spPr>
        <p:txBody>
          <a:bodyPr wrap="square" lIns="0" tIns="0" rIns="0" bIns="0" rtlCol="0">
            <a:spAutoFit/>
          </a:bodyPr>
          <a:lstStyle>
            <a:defPPr marR="0" lvl="0" algn="l" rtl="0">
              <a:lnSpc>
                <a:spcPct val="100000"/>
              </a:lnSpc>
              <a:spcBef>
                <a:spcPts val="0"/>
              </a:spcBef>
              <a:spcAft>
                <a:spcPts val="0"/>
              </a:spcAft>
            </a:defPPr>
            <a:lvl1pPr marL="180000" indent="-180000">
              <a:lnSpc>
                <a:spcPct val="120000"/>
              </a:lnSpc>
              <a:spcAft>
                <a:spcPts val="1200"/>
              </a:spcAft>
              <a:buClr>
                <a:schemeClr val="tx2"/>
              </a:buClr>
              <a:buSzPct val="80000"/>
              <a:buFont typeface="Wingdings" panose="05000000000000000000" pitchFamily="2" charset="2"/>
              <a:buChar char="n"/>
              <a:defRPr kumimoji="1" sz="1200" spc="50">
                <a:latin typeface="+mn-ea"/>
              </a:defRPr>
            </a:lvl1pPr>
          </a:lstStyle>
          <a:p>
            <a:pPr>
              <a:spcAft>
                <a:spcPts val="1800"/>
              </a:spcAft>
            </a:pPr>
            <a:r>
              <a:rPr lang="ja-JP" altLang="en-US" dirty="0">
                <a:ea typeface="+mn-ea"/>
              </a:rPr>
              <a:t>当該企業概要書（以下、「本概要書」といいます）は、株式会社</a:t>
            </a:r>
            <a:r>
              <a:rPr lang="en-US" altLang="ja-JP" dirty="0">
                <a:ea typeface="+mn-ea"/>
              </a:rPr>
              <a:t>M&amp;A</a:t>
            </a:r>
            <a:r>
              <a:rPr lang="ja-JP" altLang="en-US" dirty="0">
                <a:ea typeface="+mn-ea"/>
              </a:rPr>
              <a:t>承継機構（以下「弊社」といいます）が、対象会社の発行済株式の取得もしくは事業その他資産の譲受（以下「本取引」といいます）に関する仲介者として、対象会社から提供された情報に基づき、対象会社に関する情報を貴社に提供するために作成したものです。</a:t>
            </a:r>
          </a:p>
          <a:p>
            <a:pPr>
              <a:spcAft>
                <a:spcPts val="1800"/>
              </a:spcAft>
            </a:pPr>
            <a:r>
              <a:rPr lang="ja-JP" altLang="en-US" dirty="0">
                <a:ea typeface="+mn-ea"/>
              </a:rPr>
              <a:t>本概要書の存在及び記載されている情報並びに本概要書に関する全ての連絡・協議は貴社と弊社間で締結している秘密保持契約書（以下「秘密保持契約書」といいます）に定めのある秘密情報に該当致します。</a:t>
            </a:r>
          </a:p>
          <a:p>
            <a:pPr>
              <a:spcAft>
                <a:spcPts val="1800"/>
              </a:spcAft>
            </a:pPr>
            <a:r>
              <a:rPr lang="ja-JP" altLang="en-US" dirty="0">
                <a:ea typeface="+mn-ea"/>
              </a:rPr>
              <a:t>本概要書は、貴社が本取引を行うことを検討するための情報を提供することのみを目的として作成されておりますが、貴社が必要と考える全ての情報を網羅しているとは限りません。また、対象会社並びに弊社取締役、執行役員、監査役及び従業員（以下総称して「情報提供者」といいます）は、本概要書に記載されているいかなる情報及び意見に関しても、明示、黙示にかかわらず、その正確性及び完全性について表明または保証するものではありません。</a:t>
            </a:r>
          </a:p>
          <a:p>
            <a:pPr>
              <a:spcAft>
                <a:spcPts val="1800"/>
              </a:spcAft>
            </a:pPr>
            <a:r>
              <a:rPr lang="ja-JP" altLang="en-US" dirty="0">
                <a:ea typeface="+mn-ea"/>
              </a:rPr>
              <a:t>本概要書は必ずしも対象会社の現況をあらわしているものではなく、本概要書に記載されている日付または本概要書に記載されている情報の日付から、対象会社の状態が変化していないことを表明するものではありません。</a:t>
            </a:r>
          </a:p>
          <a:p>
            <a:pPr>
              <a:spcAft>
                <a:spcPts val="1800"/>
              </a:spcAft>
            </a:pPr>
            <a:r>
              <a:rPr lang="ja-JP" altLang="en-US" dirty="0">
                <a:ea typeface="+mn-ea"/>
              </a:rPr>
              <a:t>いかなる場合でも、本取引に関して、対象会社の役職員（元役職員を含む）及び取引先に対して、貴社及び貴社のアドバイザー等本取引に関与する者が直接、間接を問わずコンタクトをとることを禁止させていただくと共に、全てのご連絡は必ず弊社を介していただきますようお願い申し上げます。</a:t>
            </a:r>
          </a:p>
        </p:txBody>
      </p:sp>
    </p:spTree>
    <p:extLst>
      <p:ext uri="{BB962C8B-B14F-4D97-AF65-F5344CB8AC3E}">
        <p14:creationId xmlns:p14="http://schemas.microsoft.com/office/powerpoint/2010/main" val="2461943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2"/>
          <p:cNvSpPr txBox="1"/>
          <p:nvPr/>
        </p:nvSpPr>
        <p:spPr>
          <a:xfrm>
            <a:off x="6191813" y="2339371"/>
            <a:ext cx="4500000" cy="3570208"/>
          </a:xfrm>
          <a:prstGeom prst="rect">
            <a:avLst/>
          </a:prstGeom>
          <a:noFill/>
          <a:ln>
            <a:noFill/>
          </a:ln>
        </p:spPr>
        <p:txBody>
          <a:bodyPr spcFirstLastPara="1" wrap="square" lIns="0" tIns="0" rIns="0" bIns="0" anchor="t" anchorCtr="0">
            <a:spAutoFit/>
          </a:bodyPr>
          <a:lstStyle/>
          <a:p>
            <a:pPr>
              <a:lnSpc>
                <a:spcPct val="110000"/>
              </a:lnSpc>
              <a:spcAft>
                <a:spcPts val="2400"/>
              </a:spcAft>
              <a:buClr>
                <a:schemeClr val="dk1"/>
              </a:buClr>
              <a:buSzPts val="1400"/>
            </a:pPr>
            <a:r>
              <a:rPr lang="ja-JP" altLang="en-US" sz="2400" b="1" spc="70" dirty="0">
                <a:latin typeface="+mj-lt"/>
                <a:ea typeface="+mj-ea"/>
              </a:rPr>
              <a:t>エグゼクティブサマリー</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latin typeface="+mj-lt"/>
                <a:ea typeface="+mj-ea"/>
              </a:rPr>
              <a:t>事業概要</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latin typeface="+mj-lt"/>
                <a:ea typeface="+mj-ea"/>
              </a:rPr>
              <a:t>組織、拠点、設備等</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latin typeface="+mj-lt"/>
                <a:ea typeface="+mj-ea"/>
              </a:rPr>
              <a:t>財務情報</a:t>
            </a:r>
            <a:endParaRPr lang="en-US" altLang="ja-JP" sz="2400" b="1" spc="70" dirty="0">
              <a:latin typeface="+mj-lt"/>
              <a:ea typeface="+mj-ea"/>
            </a:endParaRPr>
          </a:p>
          <a:p>
            <a:pPr>
              <a:lnSpc>
                <a:spcPct val="110000"/>
              </a:lnSpc>
              <a:spcAft>
                <a:spcPts val="2400"/>
              </a:spcAft>
              <a:buClr>
                <a:schemeClr val="dk1"/>
              </a:buClr>
              <a:buSzPts val="1400"/>
            </a:pPr>
            <a:r>
              <a:rPr lang="en-US" altLang="ja-JP" sz="2400" b="1" spc="70" dirty="0">
                <a:latin typeface="+mj-lt"/>
                <a:ea typeface="+mj-ea"/>
              </a:rPr>
              <a:t>Appendix</a:t>
            </a:r>
          </a:p>
        </p:txBody>
      </p:sp>
      <p:sp>
        <p:nvSpPr>
          <p:cNvPr id="6" name="正方形/長方形 5">
            <a:extLst>
              <a:ext uri="{FF2B5EF4-FFF2-40B4-BE49-F238E27FC236}">
                <a16:creationId xmlns:a16="http://schemas.microsoft.com/office/drawing/2014/main" id="{7237316E-451C-1CCC-A702-B2048F3BE5F0}"/>
              </a:ext>
            </a:extLst>
          </p:cNvPr>
          <p:cNvSpPr/>
          <p:nvPr/>
        </p:nvSpPr>
        <p:spPr>
          <a:xfrm>
            <a:off x="5624542" y="235355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1</a:t>
            </a:r>
            <a:endParaRPr kumimoji="1" lang="ja-JP" altLang="en-US" b="1" dirty="0">
              <a:latin typeface="+mj-lt"/>
            </a:endParaRPr>
          </a:p>
        </p:txBody>
      </p:sp>
      <p:sp>
        <p:nvSpPr>
          <p:cNvPr id="9" name="正方形/長方形 8">
            <a:extLst>
              <a:ext uri="{FF2B5EF4-FFF2-40B4-BE49-F238E27FC236}">
                <a16:creationId xmlns:a16="http://schemas.microsoft.com/office/drawing/2014/main" id="{DDB8E843-D87E-F66B-3884-439FB909A0A7}"/>
              </a:ext>
            </a:extLst>
          </p:cNvPr>
          <p:cNvSpPr/>
          <p:nvPr/>
        </p:nvSpPr>
        <p:spPr>
          <a:xfrm>
            <a:off x="5624542" y="3060631"/>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2</a:t>
            </a:r>
            <a:endParaRPr kumimoji="1" lang="ja-JP" altLang="en-US" b="1" dirty="0">
              <a:latin typeface="+mj-lt"/>
            </a:endParaRPr>
          </a:p>
        </p:txBody>
      </p:sp>
      <p:sp>
        <p:nvSpPr>
          <p:cNvPr id="10" name="正方形/長方形 9">
            <a:extLst>
              <a:ext uri="{FF2B5EF4-FFF2-40B4-BE49-F238E27FC236}">
                <a16:creationId xmlns:a16="http://schemas.microsoft.com/office/drawing/2014/main" id="{FF90FB9F-20F8-D38F-B8AF-4A631E224A11}"/>
              </a:ext>
            </a:extLst>
          </p:cNvPr>
          <p:cNvSpPr/>
          <p:nvPr/>
        </p:nvSpPr>
        <p:spPr>
          <a:xfrm>
            <a:off x="5624542" y="376770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3</a:t>
            </a:r>
            <a:endParaRPr kumimoji="1" lang="ja-JP" altLang="en-US" b="1" dirty="0">
              <a:latin typeface="+mj-lt"/>
            </a:endParaRPr>
          </a:p>
        </p:txBody>
      </p:sp>
      <p:sp>
        <p:nvSpPr>
          <p:cNvPr id="11" name="正方形/長方形 10">
            <a:extLst>
              <a:ext uri="{FF2B5EF4-FFF2-40B4-BE49-F238E27FC236}">
                <a16:creationId xmlns:a16="http://schemas.microsoft.com/office/drawing/2014/main" id="{A76F0F70-F53A-8481-50DF-B7EEDD0BEE06}"/>
              </a:ext>
            </a:extLst>
          </p:cNvPr>
          <p:cNvSpPr/>
          <p:nvPr/>
        </p:nvSpPr>
        <p:spPr>
          <a:xfrm>
            <a:off x="5624542" y="4474781"/>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4</a:t>
            </a:r>
            <a:endParaRPr kumimoji="1" lang="ja-JP" altLang="en-US" b="1" dirty="0">
              <a:latin typeface="+mj-lt"/>
            </a:endParaRPr>
          </a:p>
        </p:txBody>
      </p:sp>
      <p:sp>
        <p:nvSpPr>
          <p:cNvPr id="3" name="正方形/長方形 2">
            <a:extLst>
              <a:ext uri="{FF2B5EF4-FFF2-40B4-BE49-F238E27FC236}">
                <a16:creationId xmlns:a16="http://schemas.microsoft.com/office/drawing/2014/main" id="{DE430CD6-B78A-5CFE-3B87-B7F6C2A9CBEA}"/>
              </a:ext>
            </a:extLst>
          </p:cNvPr>
          <p:cNvSpPr/>
          <p:nvPr/>
        </p:nvSpPr>
        <p:spPr>
          <a:xfrm>
            <a:off x="5624542" y="518185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5</a:t>
            </a:r>
            <a:endParaRPr kumimoji="1" lang="ja-JP" altLang="en-US" b="1" dirty="0">
              <a:latin typeface="+mj-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AEF2-738C-97B3-4696-F3BB344E5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6C9D74-25B9-202B-100C-14E88F8A35B4}"/>
              </a:ext>
            </a:extLst>
          </p:cNvPr>
          <p:cNvSpPr>
            <a:spLocks noGrp="1"/>
          </p:cNvSpPr>
          <p:nvPr>
            <p:ph type="title"/>
          </p:nvPr>
        </p:nvSpPr>
        <p:spPr>
          <a:xfrm>
            <a:off x="989013" y="3656161"/>
            <a:ext cx="9221787" cy="615553"/>
          </a:xfrm>
        </p:spPr>
        <p:txBody>
          <a:bodyPr/>
          <a:lstStyle/>
          <a:p>
            <a:r>
              <a:rPr lang="ja-JP" altLang="en-US" dirty="0"/>
              <a:t>エグゼクティブサマリー</a:t>
            </a:r>
            <a:endParaRPr lang="en-US" altLang="ja-JP" dirty="0"/>
          </a:p>
        </p:txBody>
      </p:sp>
    </p:spTree>
    <p:extLst>
      <p:ext uri="{BB962C8B-B14F-4D97-AF65-F5344CB8AC3E}">
        <p14:creationId xmlns:p14="http://schemas.microsoft.com/office/powerpoint/2010/main" val="5404063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字幕 13">
            <a:extLst>
              <a:ext uri="{FF2B5EF4-FFF2-40B4-BE49-F238E27FC236}">
                <a16:creationId xmlns:a16="http://schemas.microsoft.com/office/drawing/2014/main" id="{79A14348-475C-CD64-9408-407529B44C13}"/>
              </a:ext>
            </a:extLst>
          </p:cNvPr>
          <p:cNvSpPr>
            <a:spLocks noGrp="1"/>
          </p:cNvSpPr>
          <p:nvPr>
            <p:ph type="subTitle" idx="1"/>
          </p:nvPr>
        </p:nvSpPr>
        <p:spPr>
          <a:xfrm>
            <a:off x="460675" y="830046"/>
            <a:ext cx="9781875" cy="241861"/>
          </a:xfrm>
        </p:spPr>
        <p:txBody>
          <a:bodyPr>
            <a:noAutofit/>
          </a:bodyPr>
          <a:lstStyle/>
          <a:p>
            <a:r>
              <a:rPr lang="ja-JP" altLang="en-US" dirty="0">
                <a:latin typeface="+mj-ea"/>
              </a:rPr>
              <a:t>鎌倉山の自社所有物件を本店に、鎌倉・東京で3店舗を展開するフランス菓子・カフェ事業。店舗売上は約2.8億円で安定し、借入金は不動産売却により約半分に圧縮されています。</a:t>
            </a:r>
            <a:endParaRPr lang="en-US" altLang="ja-JP" dirty="0"/>
          </a:p>
        </p:txBody>
      </p:sp>
      <p:sp>
        <p:nvSpPr>
          <p:cNvPr id="13" name="タイトル 12">
            <a:extLst>
              <a:ext uri="{FF2B5EF4-FFF2-40B4-BE49-F238E27FC236}">
                <a16:creationId xmlns:a16="http://schemas.microsoft.com/office/drawing/2014/main" id="{85E2D3B1-D668-47BF-7D76-2F8709456651}"/>
              </a:ext>
            </a:extLst>
          </p:cNvPr>
          <p:cNvSpPr>
            <a:spLocks noGrp="1"/>
          </p:cNvSpPr>
          <p:nvPr>
            <p:ph type="ctrTitle"/>
          </p:nvPr>
        </p:nvSpPr>
        <p:spPr>
          <a:xfrm>
            <a:off x="311150" y="180296"/>
            <a:ext cx="7799917" cy="339267"/>
          </a:xfrm>
        </p:spPr>
        <p:txBody>
          <a:bodyPr>
            <a:normAutofit/>
          </a:bodyPr>
          <a:lstStyle/>
          <a:p>
            <a:r>
              <a:rPr lang="ja-JP" altLang="en-US" dirty="0"/>
              <a:t>基本情報</a:t>
            </a:r>
          </a:p>
        </p:txBody>
      </p:sp>
      <p:sp>
        <p:nvSpPr>
          <p:cNvPr id="5" name="タイトル 1">
            <a:extLst>
              <a:ext uri="{FF2B5EF4-FFF2-40B4-BE49-F238E27FC236}">
                <a16:creationId xmlns:a16="http://schemas.microsoft.com/office/drawing/2014/main" id="{4F103961-B26C-39D9-FB80-02B45E98D11A}"/>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エグゼクティブサマリー</a:t>
            </a:r>
          </a:p>
        </p:txBody>
      </p:sp>
      <p:sp>
        <p:nvSpPr>
          <p:cNvPr id="2" name="正方形/長方形 1">
            <a:extLst>
              <a:ext uri="{FF2B5EF4-FFF2-40B4-BE49-F238E27FC236}">
                <a16:creationId xmlns:a16="http://schemas.microsoft.com/office/drawing/2014/main" id="{A0EF9F9A-5414-64EC-48C3-D1A342DF89A8}"/>
              </a:ext>
            </a:extLst>
          </p:cNvPr>
          <p:cNvSpPr/>
          <p:nvPr/>
        </p:nvSpPr>
        <p:spPr>
          <a:xfrm>
            <a:off x="311150" y="1517736"/>
            <a:ext cx="5857066"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会社概要</a:t>
            </a:r>
          </a:p>
        </p:txBody>
      </p:sp>
      <p:graphicFrame>
        <p:nvGraphicFramePr>
          <p:cNvPr id="15" name="会社概要"/>
          <p:cNvGraphicFramePr>
            <a:graphicFrameLocks noGrp="1"/>
          </p:cNvGraphicFramePr>
          <p:nvPr/>
        </p:nvGraphicFramePr>
        <p:xfrm>
          <a:off x="310896" y="1920240"/>
          <a:ext cx="5861304" cy="4645152"/>
        </p:xfrm>
        <a:graphic>
          <a:graphicData uri="http://schemas.openxmlformats.org/drawingml/2006/table">
            <a:tbl>
              <a:tblPr/>
              <a:tblGrid>
                <a:gridCol w="1143000"/>
                <a:gridCol w="4718304"/>
              </a:tblGrid>
              <a:tr h="228600">
                <a:tc>
                  <a:txBody>
                    <a:bodyPr wrap="square"/>
                    <a:lstStyle/>
                    <a:p>
                      <a:pPr algn="ctr"/>
                      <a:r>
                        <a:rPr sz="850" b="1" i="0">
                          <a:solidFill>
                            <a:srgbClr val="FFFFFF"/>
                          </a:solidFill>
                          <a:latin typeface="Arial"/>
                          <a:ea typeface="游ゴシック"/>
                        </a:rPr>
                        <a:t>項目</a:t>
                      </a:r>
                    </a:p>
                  </a:txBody>
                  <a:tcPr marL="45720" marR="45720" marT="13716" marB="13716" anchor="ctr">
                    <a:lnL w="0">
                      <a:noFill/>
                    </a:lnL>
                    <a:lnR w="0">
                      <a:noFill/>
                    </a:lnR>
                    <a:lnT w="0">
                      <a:noFill/>
                    </a:lnT>
                    <a:lnB w="0">
                      <a:noFill/>
                    </a:lnB>
                    <a:solidFill>
                      <a:srgbClr val="0B3041"/>
                    </a:solidFill>
                  </a:tcPr>
                </a:tc>
                <a:tc>
                  <a:txBody>
                    <a:bodyPr wrap="square"/>
                    <a:lstStyle/>
                    <a:p>
                      <a:pPr algn="ctr"/>
                      <a:r>
                        <a:rPr sz="850" b="1" i="0">
                          <a:solidFill>
                            <a:srgbClr val="FFFFFF"/>
                          </a:solidFill>
                          <a:latin typeface="Arial"/>
                          <a:ea typeface="游ゴシック"/>
                        </a:rPr>
                        <a:t>内容</a:t>
                      </a:r>
                    </a:p>
                  </a:txBody>
                  <a:tcPr marL="45720" marR="45720" marT="13716" marB="13716" anchor="ctr">
                    <a:lnL w="0">
                      <a:noFill/>
                    </a:lnL>
                    <a:lnR w="0">
                      <a:noFill/>
                    </a:lnR>
                    <a:lnT w="0">
                      <a:noFill/>
                    </a:lnT>
                    <a:lnB w="0">
                      <a:noFill/>
                    </a:lnB>
                    <a:solidFill>
                      <a:srgbClr val="0B3041"/>
                    </a:solidFill>
                  </a:tcPr>
                </a:tc>
              </a:tr>
              <a:tr h="246888">
                <a:tc>
                  <a:txBody>
                    <a:bodyPr wrap="square"/>
                    <a:lstStyle/>
                    <a:p>
                      <a:pPr algn="ctr"/>
                      <a:r>
                        <a:rPr sz="850" b="0" i="0">
                          <a:solidFill>
                            <a:srgbClr val="000000"/>
                          </a:solidFill>
                          <a:latin typeface="Arial"/>
                          <a:ea typeface="游ゴシック"/>
                        </a:rPr>
                        <a:t>会社名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ウエスト・シークル株式会社</a:t>
                      </a:r>
                    </a:p>
                  </a:txBody>
                  <a:tcPr marL="45720" marR="45720" marT="13716" marB="13716" anchor="ctr">
                    <a:lnL w="0">
                      <a:noFill/>
                    </a:lnL>
                    <a:lnR w="0">
                      <a:noFill/>
                    </a:lnR>
                    <a:lnT w="0">
                      <a:noFill/>
                    </a:lnT>
                    <a:lnB w="6350" cap="flat" cmpd="sng" algn="ctr">
                      <a:solidFill>
                        <a:srgbClr val="B8C0C6"/>
                      </a:solidFill>
                      <a:prstDash val="solid"/>
                    </a:lnB>
                    <a:noFill/>
                  </a:tcPr>
                </a:tc>
              </a:tr>
              <a:tr h="246888">
                <a:tc>
                  <a:txBody>
                    <a:bodyPr wrap="square"/>
                    <a:lstStyle/>
                    <a:p>
                      <a:pPr algn="ctr"/>
                      <a:r>
                        <a:rPr sz="850" b="0" i="0">
                          <a:solidFill>
                            <a:srgbClr val="000000"/>
                          </a:solidFill>
                          <a:latin typeface="Arial"/>
                          <a:ea typeface="游ゴシック"/>
                        </a:rPr>
                        <a:t>本社所在地</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神奈川県鎌倉市鎌倉山三丁目2番31号</a:t>
                      </a:r>
                    </a:p>
                  </a:txBody>
                  <a:tcPr marL="45720" marR="45720" marT="13716" marB="13716" anchor="ctr">
                    <a:lnL w="0">
                      <a:noFill/>
                    </a:lnL>
                    <a:lnR w="0">
                      <a:noFill/>
                    </a:lnR>
                    <a:lnT w="0">
                      <a:noFill/>
                    </a:lnT>
                    <a:lnB w="6350" cap="flat" cmpd="sng" algn="ctr">
                      <a:solidFill>
                        <a:srgbClr val="B8C0C6"/>
                      </a:solidFill>
                      <a:prstDash val="solid"/>
                    </a:lnB>
                    <a:noFill/>
                  </a:tcPr>
                </a:tc>
              </a:tr>
              <a:tr h="566928">
                <a:tc>
                  <a:txBody>
                    <a:bodyPr wrap="square"/>
                    <a:lstStyle/>
                    <a:p>
                      <a:pPr algn="ctr"/>
                      <a:r>
                        <a:rPr sz="850" b="0" i="0">
                          <a:solidFill>
                            <a:srgbClr val="000000"/>
                          </a:solidFill>
                          <a:latin typeface="Arial"/>
                          <a:ea typeface="游ゴシック"/>
                        </a:rPr>
                        <a:t>その他拠点</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紀尾井町店（東京都千代田区／賃借）</a:t>
                      </a:r>
                    </a:p>
                    <a:p>
                      <a:pPr algn="l"/>
                      <a:r>
                        <a:rPr sz="850" b="0" i="0">
                          <a:solidFill>
                            <a:srgbClr val="000000"/>
                          </a:solidFill>
                          <a:latin typeface="Arial"/>
                          <a:ea typeface="游ゴシック"/>
                        </a:rPr>
                        <a:t>大船店（神奈川県鎌倉市／賃借）</a:t>
                      </a:r>
                    </a:p>
                    <a:p>
                      <a:pPr algn="l"/>
                      <a:r>
                        <a:rPr sz="850" b="0" i="0">
                          <a:solidFill>
                            <a:srgbClr val="000000"/>
                          </a:solidFill>
                          <a:latin typeface="Arial"/>
                          <a:ea typeface="游ゴシック"/>
                        </a:rPr>
                        <a:t>※所在地の詳細は要確認。四谷店は令和6年3月期を最後に売上計上なし（閉店と推察・要確認）</a:t>
                      </a:r>
                    </a:p>
                  </a:txBody>
                  <a:tcPr marL="45720" marR="45720" marT="13716" marB="13716" anchor="ctr">
                    <a:lnL w="0">
                      <a:noFill/>
                    </a:lnL>
                    <a:lnR w="0">
                      <a:noFill/>
                    </a:lnR>
                    <a:lnT w="0">
                      <a:noFill/>
                    </a:lnT>
                    <a:lnB w="6350" cap="flat" cmpd="sng" algn="ctr">
                      <a:solidFill>
                        <a:srgbClr val="B8C0C6"/>
                      </a:solidFill>
                      <a:prstDash val="solid"/>
                    </a:lnB>
                    <a:noFill/>
                  </a:tcPr>
                </a:tc>
              </a:tr>
              <a:tr h="411480">
                <a:tc>
                  <a:txBody>
                    <a:bodyPr wrap="square"/>
                    <a:lstStyle/>
                    <a:p>
                      <a:pPr algn="ctr"/>
                      <a:r>
                        <a:rPr sz="850" b="0" i="0">
                          <a:solidFill>
                            <a:srgbClr val="000000"/>
                          </a:solidFill>
                          <a:latin typeface="Arial"/>
                          <a:ea typeface="游ゴシック"/>
                        </a:rPr>
                        <a:t>設立/創業</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要確認（登記事項証明書未受領）</a:t>
                      </a:r>
                    </a:p>
                    <a:p>
                      <a:pPr algn="l"/>
                      <a:r>
                        <a:rPr sz="850" b="0" i="0">
                          <a:solidFill>
                            <a:srgbClr val="000000"/>
                          </a:solidFill>
                          <a:latin typeface="Arial"/>
                          <a:ea typeface="游ゴシック"/>
                        </a:rPr>
                        <a:t>※鎌倉山店「ル・ミリュウ」は2010年開業（Web情報・要確認）</a:t>
                      </a:r>
                    </a:p>
                  </a:txBody>
                  <a:tcPr marL="45720" marR="45720" marT="13716" marB="13716" anchor="ctr">
                    <a:lnL w="0">
                      <a:noFill/>
                    </a:lnL>
                    <a:lnR w="0">
                      <a:noFill/>
                    </a:lnR>
                    <a:lnT w="0">
                      <a:noFill/>
                    </a:lnT>
                    <a:lnB w="6350" cap="flat" cmpd="sng" algn="ctr">
                      <a:solidFill>
                        <a:srgbClr val="B8C0C6"/>
                      </a:solidFill>
                      <a:prstDash val="solid"/>
                    </a:lnB>
                    <a:noFill/>
                  </a:tcPr>
                </a:tc>
              </a:tr>
              <a:tr h="246888">
                <a:tc>
                  <a:txBody>
                    <a:bodyPr wrap="square"/>
                    <a:lstStyle/>
                    <a:p>
                      <a:pPr algn="ctr"/>
                      <a:r>
                        <a:rPr sz="850" b="0" i="0">
                          <a:solidFill>
                            <a:srgbClr val="000000"/>
                          </a:solidFill>
                          <a:latin typeface="Arial"/>
                          <a:ea typeface="游ゴシック"/>
                        </a:rPr>
                        <a:t>資本金</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500千円</a:t>
                      </a:r>
                    </a:p>
                  </a:txBody>
                  <a:tcPr marL="45720" marR="45720" marT="13716" marB="13716" anchor="ctr">
                    <a:lnL w="0">
                      <a:noFill/>
                    </a:lnL>
                    <a:lnR w="0">
                      <a:noFill/>
                    </a:lnR>
                    <a:lnT w="0">
                      <a:noFill/>
                    </a:lnT>
                    <a:lnB w="6350" cap="flat" cmpd="sng" algn="ctr">
                      <a:solidFill>
                        <a:srgbClr val="B8C0C6"/>
                      </a:solidFill>
                      <a:prstDash val="solid"/>
                    </a:lnB>
                    <a:noFill/>
                  </a:tcPr>
                </a:tc>
              </a:tr>
              <a:tr h="246888">
                <a:tc>
                  <a:txBody>
                    <a:bodyPr wrap="square"/>
                    <a:lstStyle/>
                    <a:p>
                      <a:pPr algn="ctr"/>
                      <a:r>
                        <a:rPr sz="850" b="0" i="0">
                          <a:solidFill>
                            <a:srgbClr val="000000"/>
                          </a:solidFill>
                          <a:latin typeface="Arial"/>
                          <a:ea typeface="游ゴシック"/>
                        </a:rPr>
                        <a:t>代表者</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西丸 修（代表取締役）</a:t>
                      </a:r>
                    </a:p>
                  </a:txBody>
                  <a:tcPr marL="45720" marR="45720" marT="13716" marB="13716" anchor="ctr">
                    <a:lnL w="0">
                      <a:noFill/>
                    </a:lnL>
                    <a:lnR w="0">
                      <a:noFill/>
                    </a:lnR>
                    <a:lnT w="0">
                      <a:noFill/>
                    </a:lnT>
                    <a:lnB w="6350" cap="flat" cmpd="sng" algn="ctr">
                      <a:solidFill>
                        <a:srgbClr val="B8C0C6"/>
                      </a:solidFill>
                      <a:prstDash val="solid"/>
                    </a:lnB>
                    <a:noFill/>
                  </a:tcPr>
                </a:tc>
              </a:tr>
              <a:tr h="411480">
                <a:tc>
                  <a:txBody>
                    <a:bodyPr wrap="square"/>
                    <a:lstStyle/>
                    <a:p>
                      <a:pPr algn="ctr"/>
                      <a:r>
                        <a:rPr sz="850" b="0" i="0">
                          <a:solidFill>
                            <a:srgbClr val="000000"/>
                          </a:solidFill>
                          <a:latin typeface="Arial"/>
                          <a:ea typeface="游ゴシック"/>
                        </a:rPr>
                        <a:t>株主</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西丸 修（100株/100％）</a:t>
                      </a:r>
                    </a:p>
                    <a:p>
                      <a:pPr algn="l"/>
                      <a:r>
                        <a:rPr sz="850" b="0" i="0">
                          <a:solidFill>
                            <a:srgbClr val="000000"/>
                          </a:solidFill>
                          <a:latin typeface="Arial"/>
                          <a:ea typeface="游ゴシック"/>
                        </a:rPr>
                        <a:t>※法人税申告書 別表二（令和8年3月期）より。株主名簿は未受領・要確認</a:t>
                      </a:r>
                    </a:p>
                  </a:txBody>
                  <a:tcPr marL="45720" marR="45720" marT="13716" marB="13716" anchor="ctr">
                    <a:lnL w="0">
                      <a:noFill/>
                    </a:lnL>
                    <a:lnR w="0">
                      <a:noFill/>
                    </a:lnR>
                    <a:lnT w="0">
                      <a:noFill/>
                    </a:lnT>
                    <a:lnB w="6350" cap="flat" cmpd="sng" algn="ctr">
                      <a:solidFill>
                        <a:srgbClr val="B8C0C6"/>
                      </a:solidFill>
                      <a:prstDash val="solid"/>
                    </a:lnB>
                    <a:noFill/>
                  </a:tcPr>
                </a:tc>
              </a:tr>
              <a:tr h="566928">
                <a:tc>
                  <a:txBody>
                    <a:bodyPr wrap="square"/>
                    <a:lstStyle/>
                    <a:p>
                      <a:pPr algn="ctr"/>
                      <a:r>
                        <a:rPr sz="850" b="0" i="0">
                          <a:solidFill>
                            <a:srgbClr val="000000"/>
                          </a:solidFill>
                          <a:latin typeface="Arial"/>
                          <a:ea typeface="游ゴシック"/>
                        </a:rPr>
                        <a:t>事業内容</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フランス菓子・焼菓子・パン等の製造販売、併設カフェの運営（鎌倉山・紀尾井町・大船の3店舗）。Web情報では「ル・ミリュウ」「ラ・プレシューズ」を展開（要確認）</a:t>
                      </a:r>
                    </a:p>
                  </a:txBody>
                  <a:tcPr marL="45720" marR="45720" marT="13716" marB="13716" anchor="ctr">
                    <a:lnL w="0">
                      <a:noFill/>
                    </a:lnL>
                    <a:lnR w="0">
                      <a:noFill/>
                    </a:lnR>
                    <a:lnT w="0">
                      <a:noFill/>
                    </a:lnT>
                    <a:lnB w="6350" cap="flat" cmpd="sng" algn="ctr">
                      <a:solidFill>
                        <a:srgbClr val="B8C0C6"/>
                      </a:solidFill>
                      <a:prstDash val="solid"/>
                    </a:lnB>
                    <a:noFill/>
                  </a:tcPr>
                </a:tc>
              </a:tr>
              <a:tr h="411480">
                <a:tc>
                  <a:txBody>
                    <a:bodyPr wrap="square"/>
                    <a:lstStyle/>
                    <a:p>
                      <a:pPr algn="ctr"/>
                      <a:r>
                        <a:rPr sz="850" b="0" i="0">
                          <a:solidFill>
                            <a:srgbClr val="000000"/>
                          </a:solidFill>
                          <a:latin typeface="Arial"/>
                          <a:ea typeface="游ゴシック"/>
                        </a:rPr>
                        <a:t>従業員数</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月給者6名・時給者約30名（2026年2月分給与台帳より推計）／役員1名＋α（要確認）</a:t>
                      </a:r>
                    </a:p>
                  </a:txBody>
                  <a:tcPr marL="45720" marR="45720" marT="13716" marB="13716" anchor="ctr">
                    <a:lnL w="0">
                      <a:noFill/>
                    </a:lnL>
                    <a:lnR w="0">
                      <a:noFill/>
                    </a:lnR>
                    <a:lnT w="0">
                      <a:noFill/>
                    </a:lnT>
                    <a:lnB w="6350" cap="flat" cmpd="sng" algn="ctr">
                      <a:solidFill>
                        <a:srgbClr val="B8C0C6"/>
                      </a:solidFill>
                      <a:prstDash val="solid"/>
                    </a:lnB>
                    <a:noFill/>
                  </a:tcPr>
                </a:tc>
              </a:tr>
              <a:tr h="320040">
                <a:tc>
                  <a:txBody>
                    <a:bodyPr wrap="square"/>
                    <a:lstStyle/>
                    <a:p>
                      <a:pPr algn="ctr"/>
                      <a:r>
                        <a:rPr sz="850" b="0" i="0">
                          <a:solidFill>
                            <a:srgbClr val="000000"/>
                          </a:solidFill>
                          <a:latin typeface="Arial"/>
                          <a:ea typeface="游ゴシック"/>
                        </a:rPr>
                        <a:t>許認可等</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要確認（営業許可証・菓子製造業許可等は未受領）</a:t>
                      </a:r>
                    </a:p>
                  </a:txBody>
                  <a:tcPr marL="45720" marR="45720" marT="13716" marB="13716" anchor="ctr">
                    <a:lnL w="0">
                      <a:noFill/>
                    </a:lnL>
                    <a:lnR w="0">
                      <a:noFill/>
                    </a:lnR>
                    <a:lnT w="0">
                      <a:noFill/>
                    </a:lnT>
                    <a:lnB w="6350" cap="flat" cmpd="sng" algn="ctr">
                      <a:solidFill>
                        <a:srgbClr val="B8C0C6"/>
                      </a:solidFill>
                      <a:prstDash val="solid"/>
                    </a:lnB>
                    <a:noFill/>
                  </a:tcPr>
                </a:tc>
              </a:tr>
              <a:tr h="246888">
                <a:tc>
                  <a:txBody>
                    <a:bodyPr wrap="square"/>
                    <a:lstStyle/>
                    <a:p>
                      <a:pPr algn="ctr"/>
                      <a:r>
                        <a:rPr sz="850" b="0" i="0">
                          <a:solidFill>
                            <a:srgbClr val="000000"/>
                          </a:solidFill>
                          <a:latin typeface="Arial"/>
                          <a:ea typeface="游ゴシック"/>
                        </a:rPr>
                        <a:t>売上高</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319,338千円（令和8年3月期）</a:t>
                      </a:r>
                    </a:p>
                  </a:txBody>
                  <a:tcPr marL="45720" marR="45720" marT="13716" marB="13716" anchor="ctr">
                    <a:lnL w="0">
                      <a:noFill/>
                    </a:lnL>
                    <a:lnR w="0">
                      <a:noFill/>
                    </a:lnR>
                    <a:lnT w="0">
                      <a:noFill/>
                    </a:lnT>
                    <a:lnB w="6350" cap="flat" cmpd="sng" algn="ctr">
                      <a:solidFill>
                        <a:srgbClr val="B8C0C6"/>
                      </a:solidFill>
                      <a:prstDash val="solid"/>
                    </a:lnB>
                    <a:noFill/>
                  </a:tcPr>
                </a:tc>
              </a:tr>
              <a:tr h="246888">
                <a:tc>
                  <a:txBody>
                    <a:bodyPr wrap="square"/>
                    <a:lstStyle/>
                    <a:p>
                      <a:pPr algn="ctr"/>
                      <a:r>
                        <a:rPr sz="850" b="0" i="0">
                          <a:solidFill>
                            <a:srgbClr val="000000"/>
                          </a:solidFill>
                          <a:latin typeface="Arial"/>
                          <a:ea typeface="游ゴシック"/>
                        </a:rPr>
                        <a:t>調整後EBITDA</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△2,182千円（令和8年3月期）</a:t>
                      </a:r>
                    </a:p>
                  </a:txBody>
                  <a:tcPr marL="45720" marR="45720" marT="13716" marB="13716" anchor="ctr">
                    <a:lnL w="0">
                      <a:noFill/>
                    </a:lnL>
                    <a:lnR w="0">
                      <a:noFill/>
                    </a:lnR>
                    <a:lnT w="0">
                      <a:noFill/>
                    </a:lnT>
                    <a:lnB w="6350" cap="flat" cmpd="sng" algn="ctr">
                      <a:solidFill>
                        <a:srgbClr val="B8C0C6"/>
                      </a:solidFill>
                      <a:prstDash val="solid"/>
                    </a:lnB>
                    <a:noFill/>
                  </a:tcPr>
                </a:tc>
              </a:tr>
              <a:tr h="246888">
                <a:tc>
                  <a:txBody>
                    <a:bodyPr wrap="square"/>
                    <a:lstStyle/>
                    <a:p>
                      <a:pPr algn="ctr"/>
                      <a:r>
                        <a:rPr sz="850" b="0" i="0">
                          <a:solidFill>
                            <a:srgbClr val="000000"/>
                          </a:solidFill>
                          <a:latin typeface="Arial"/>
                          <a:ea typeface="游ゴシック"/>
                        </a:rPr>
                        <a:t>譲渡理由</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要確認（オーナーヒアリング予定）</a:t>
                      </a:r>
                    </a:p>
                  </a:txBody>
                  <a:tcPr marL="45720" marR="45720" marT="13716" marB="13716" anchor="ctr">
                    <a:lnL w="0">
                      <a:noFill/>
                    </a:lnL>
                    <a:lnR w="0">
                      <a:noFill/>
                    </a:lnR>
                    <a:lnT w="0">
                      <a:noFill/>
                    </a:lnT>
                    <a:lnB w="6350" cap="flat" cmpd="sng" algn="ctr">
                      <a:solidFill>
                        <a:srgbClr val="B8C0C6"/>
                      </a:solidFill>
                      <a:prstDash val="solid"/>
                    </a:lnB>
                    <a:noFill/>
                  </a:tcPr>
                </a:tc>
              </a:tr>
            </a:tbl>
          </a:graphicData>
        </a:graphic>
      </p:graphicFrame>
      <p:sp>
        <p:nvSpPr>
          <p:cNvPr id="16" name="Rectangle 15"/>
          <p:cNvSpPr/>
          <p:nvPr/>
        </p:nvSpPr>
        <p:spPr>
          <a:xfrm>
            <a:off x="6355080" y="1517904"/>
            <a:ext cx="4142232" cy="35661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kumimoji="1" lang="ja-JP" altLang="en-US" sz="1400" dirty="0" b="1">
                <a:solidFill>
                  <a:srgbClr val="FFFFFF"/>
                </a:solidFill>
                <a:latin typeface="+mn-ea"/>
                <a:ea typeface="+mn-ea"/>
              </a:rPr>
              <a:t>主要指標（令和8年3月期）</a:t>
            </a:r>
            <a:endParaRPr kumimoji="1" lang="ja-JP" altLang="en-US" sz="1400" dirty="0"/>
          </a:p>
        </p:txBody>
      </p:sp>
      <p:sp>
        <p:nvSpPr>
          <p:cNvPr id="17" name="Rectangle 16"/>
          <p:cNvSpPr/>
          <p:nvPr/>
        </p:nvSpPr>
        <p:spPr>
          <a:xfrm>
            <a:off x="6355080" y="2011680"/>
            <a:ext cx="2039112" cy="137160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8" name="TextBox 17"/>
          <p:cNvSpPr txBox="1"/>
          <p:nvPr/>
        </p:nvSpPr>
        <p:spPr>
          <a:xfrm>
            <a:off x="6355080" y="2084832"/>
            <a:ext cx="2039112" cy="274320"/>
          </a:xfrm>
          <a:prstGeom prst="rect">
            <a:avLst/>
          </a:prstGeom>
          <a:noFill/>
        </p:spPr>
        <p:txBody>
          <a:bodyPr wrap="square" tIns="0" bIns="0" anchor="t">
            <a:spAutoFit/>
          </a:bodyPr>
          <a:lstStyle/>
          <a:p>
            <a:r>
              <a:rPr kumimoji="1" lang="ja-JP" altLang="en-US" sz="1100" dirty="0">
                <a:solidFill>
                  <a:srgbClr val="0B3041"/>
                </a:solidFill>
                <a:latin typeface="+mn-ea"/>
                <a:ea typeface="+mn-ea"/>
              </a:rPr>
              <a:t>売上高</a:t>
            </a:r>
            <a:endParaRPr kumimoji="1" lang="ja-JP" altLang="en-US" sz="1100" dirty="0"/>
          </a:p>
        </p:txBody>
      </p:sp>
      <p:sp>
        <p:nvSpPr>
          <p:cNvPr id="19" name="TextBox 18"/>
          <p:cNvSpPr txBox="1"/>
          <p:nvPr/>
        </p:nvSpPr>
        <p:spPr>
          <a:xfrm>
            <a:off x="6355080" y="2395728"/>
            <a:ext cx="2039112" cy="457200"/>
          </a:xfrm>
          <a:prstGeom prst="rect">
            <a:avLst/>
          </a:prstGeom>
          <a:noFill/>
        </p:spPr>
        <p:txBody>
          <a:bodyPr wrap="square" tIns="0" bIns="0" anchor="t">
            <a:spAutoFit/>
          </a:bodyPr>
          <a:lstStyle/>
          <a:p>
            <a:r>
              <a:rPr kumimoji="1" lang="ja-JP" altLang="en-US" sz="1500" b="1" dirty="0">
                <a:solidFill>
                  <a:srgbClr val="0B3041"/>
                </a:solidFill>
                <a:latin typeface="+mn-ea"/>
                <a:ea typeface="+mn-ea"/>
              </a:rPr>
              <a:t>319,338千円</a:t>
            </a:r>
            <a:endParaRPr kumimoji="1" lang="ja-JP" altLang="en-US" sz="1500" dirty="0"/>
          </a:p>
        </p:txBody>
      </p:sp>
      <p:sp>
        <p:nvSpPr>
          <p:cNvPr id="20" name="TextBox 19"/>
          <p:cNvSpPr txBox="1"/>
          <p:nvPr/>
        </p:nvSpPr>
        <p:spPr>
          <a:xfrm>
            <a:off x="6355080" y="2880360"/>
            <a:ext cx="2039112" cy="457200"/>
          </a:xfrm>
          <a:prstGeom prst="rect">
            <a:avLst/>
          </a:prstGeom>
          <a:noFill/>
        </p:spPr>
        <p:txBody>
          <a:bodyPr wrap="square" tIns="0" bIns="0" anchor="t">
            <a:spAutoFit/>
          </a:bodyPr>
          <a:lstStyle/>
          <a:p>
            <a:r>
              <a:rPr kumimoji="1" lang="ja-JP" altLang="en-US" sz="900" dirty="0">
                <a:solidFill>
                  <a:srgbClr val="404040"/>
                </a:solidFill>
                <a:latin typeface="+mn-ea"/>
                <a:ea typeface="+mn-ea"/>
              </a:rPr>
              <a:t>店舗売上（3店舗）279,176千円</a:t>
            </a:r>
            <a:endParaRPr kumimoji="1" lang="ja-JP" altLang="en-US" sz="900" dirty="0"/>
          </a:p>
        </p:txBody>
      </p:sp>
      <p:sp>
        <p:nvSpPr>
          <p:cNvPr id="21" name="Rectangle 20"/>
          <p:cNvSpPr/>
          <p:nvPr/>
        </p:nvSpPr>
        <p:spPr>
          <a:xfrm>
            <a:off x="8458200" y="2011680"/>
            <a:ext cx="2039112" cy="137160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22" name="TextBox 21"/>
          <p:cNvSpPr txBox="1"/>
          <p:nvPr/>
        </p:nvSpPr>
        <p:spPr>
          <a:xfrm>
            <a:off x="8458200" y="2084832"/>
            <a:ext cx="2039112" cy="274320"/>
          </a:xfrm>
          <a:prstGeom prst="rect">
            <a:avLst/>
          </a:prstGeom>
          <a:noFill/>
        </p:spPr>
        <p:txBody>
          <a:bodyPr wrap="square" tIns="0" bIns="0" anchor="t">
            <a:spAutoFit/>
          </a:bodyPr>
          <a:lstStyle/>
          <a:p>
            <a:r>
              <a:rPr kumimoji="1" lang="ja-JP" altLang="en-US" sz="1100" dirty="0">
                <a:solidFill>
                  <a:srgbClr val="0B3041"/>
                </a:solidFill>
                <a:latin typeface="+mn-ea"/>
                <a:ea typeface="+mn-ea"/>
              </a:rPr>
              <a:t>店舗数</a:t>
            </a:r>
            <a:endParaRPr kumimoji="1" lang="ja-JP" altLang="en-US" sz="1100" dirty="0"/>
          </a:p>
        </p:txBody>
      </p:sp>
      <p:sp>
        <p:nvSpPr>
          <p:cNvPr id="23" name="TextBox 22"/>
          <p:cNvSpPr txBox="1"/>
          <p:nvPr/>
        </p:nvSpPr>
        <p:spPr>
          <a:xfrm>
            <a:off x="8458200" y="2395728"/>
            <a:ext cx="2039112" cy="457200"/>
          </a:xfrm>
          <a:prstGeom prst="rect">
            <a:avLst/>
          </a:prstGeom>
          <a:noFill/>
        </p:spPr>
        <p:txBody>
          <a:bodyPr wrap="square" tIns="0" bIns="0" anchor="t">
            <a:spAutoFit/>
          </a:bodyPr>
          <a:lstStyle/>
          <a:p>
            <a:r>
              <a:rPr kumimoji="1" lang="ja-JP" altLang="en-US" sz="1500" b="1" dirty="0">
                <a:solidFill>
                  <a:srgbClr val="0B3041"/>
                </a:solidFill>
                <a:latin typeface="+mn-ea"/>
                <a:ea typeface="+mn-ea"/>
              </a:rPr>
              <a:t>3店舗</a:t>
            </a:r>
            <a:endParaRPr kumimoji="1" lang="ja-JP" altLang="en-US" sz="1500" dirty="0"/>
          </a:p>
        </p:txBody>
      </p:sp>
      <p:sp>
        <p:nvSpPr>
          <p:cNvPr id="24" name="TextBox 23"/>
          <p:cNvSpPr txBox="1"/>
          <p:nvPr/>
        </p:nvSpPr>
        <p:spPr>
          <a:xfrm>
            <a:off x="8458200" y="2880360"/>
            <a:ext cx="2039112" cy="457200"/>
          </a:xfrm>
          <a:prstGeom prst="rect">
            <a:avLst/>
          </a:prstGeom>
          <a:noFill/>
        </p:spPr>
        <p:txBody>
          <a:bodyPr wrap="square" tIns="0" bIns="0" anchor="t">
            <a:spAutoFit/>
          </a:bodyPr>
          <a:lstStyle/>
          <a:p>
            <a:r>
              <a:rPr kumimoji="1" lang="ja-JP" altLang="en-US" sz="900" dirty="0">
                <a:solidFill>
                  <a:srgbClr val="404040"/>
                </a:solidFill>
                <a:latin typeface="+mn-ea"/>
                <a:ea typeface="+mn-ea"/>
              </a:rPr>
              <a:t>鎌倉山（本店）・紀尾井町・大船</a:t>
            </a:r>
            <a:endParaRPr kumimoji="1" lang="ja-JP" altLang="en-US" sz="900" dirty="0"/>
          </a:p>
        </p:txBody>
      </p:sp>
      <p:sp>
        <p:nvSpPr>
          <p:cNvPr id="25" name="Rectangle 24"/>
          <p:cNvSpPr/>
          <p:nvPr/>
        </p:nvSpPr>
        <p:spPr>
          <a:xfrm>
            <a:off x="6355080" y="3493008"/>
            <a:ext cx="2039112" cy="137160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26" name="TextBox 25"/>
          <p:cNvSpPr txBox="1"/>
          <p:nvPr/>
        </p:nvSpPr>
        <p:spPr>
          <a:xfrm>
            <a:off x="6355080" y="3566160"/>
            <a:ext cx="2039112" cy="274320"/>
          </a:xfrm>
          <a:prstGeom prst="rect">
            <a:avLst/>
          </a:prstGeom>
          <a:noFill/>
        </p:spPr>
        <p:txBody>
          <a:bodyPr wrap="square" tIns="0" bIns="0" anchor="t">
            <a:spAutoFit/>
          </a:bodyPr>
          <a:lstStyle/>
          <a:p>
            <a:r>
              <a:rPr kumimoji="1" lang="ja-JP" altLang="en-US" sz="1100" dirty="0">
                <a:solidFill>
                  <a:srgbClr val="0B3041"/>
                </a:solidFill>
                <a:latin typeface="+mn-ea"/>
                <a:ea typeface="+mn-ea"/>
              </a:rPr>
              <a:t>調整後EBITDA</a:t>
            </a:r>
            <a:endParaRPr kumimoji="1" lang="ja-JP" altLang="en-US" sz="1100" dirty="0"/>
          </a:p>
        </p:txBody>
      </p:sp>
      <p:sp>
        <p:nvSpPr>
          <p:cNvPr id="27" name="TextBox 26"/>
          <p:cNvSpPr txBox="1"/>
          <p:nvPr/>
        </p:nvSpPr>
        <p:spPr>
          <a:xfrm>
            <a:off x="6355080" y="3877056"/>
            <a:ext cx="2039112" cy="457200"/>
          </a:xfrm>
          <a:prstGeom prst="rect">
            <a:avLst/>
          </a:prstGeom>
          <a:noFill/>
        </p:spPr>
        <p:txBody>
          <a:bodyPr wrap="square" tIns="0" bIns="0" anchor="t">
            <a:spAutoFit/>
          </a:bodyPr>
          <a:lstStyle/>
          <a:p>
            <a:r>
              <a:rPr kumimoji="1" lang="ja-JP" altLang="en-US" sz="1500" b="1" dirty="0">
                <a:solidFill>
                  <a:srgbClr val="0B3041"/>
                </a:solidFill>
                <a:latin typeface="+mn-ea"/>
                <a:ea typeface="+mn-ea"/>
              </a:rPr>
              <a:t>△2,182千円</a:t>
            </a:r>
            <a:endParaRPr kumimoji="1" lang="ja-JP" altLang="en-US" sz="1500" dirty="0"/>
          </a:p>
        </p:txBody>
      </p:sp>
      <p:sp>
        <p:nvSpPr>
          <p:cNvPr id="28" name="TextBox 27"/>
          <p:cNvSpPr txBox="1"/>
          <p:nvPr/>
        </p:nvSpPr>
        <p:spPr>
          <a:xfrm>
            <a:off x="6355080" y="4361688"/>
            <a:ext cx="2039112" cy="457200"/>
          </a:xfrm>
          <a:prstGeom prst="rect">
            <a:avLst/>
          </a:prstGeom>
          <a:noFill/>
        </p:spPr>
        <p:txBody>
          <a:bodyPr wrap="square" tIns="0" bIns="0" anchor="t">
            <a:spAutoFit/>
          </a:bodyPr>
          <a:lstStyle/>
          <a:p>
            <a:r>
              <a:rPr kumimoji="1" lang="ja-JP" altLang="en-US" sz="900" dirty="0">
                <a:solidFill>
                  <a:srgbClr val="404040"/>
                </a:solidFill>
                <a:latin typeface="+mn-ea"/>
                <a:ea typeface="+mn-ea"/>
              </a:rPr>
              <a:t>直近2期平均 △7,582千円</a:t>
            </a:r>
            <a:endParaRPr kumimoji="1" lang="ja-JP" altLang="en-US" sz="900" dirty="0"/>
          </a:p>
        </p:txBody>
      </p:sp>
      <p:sp>
        <p:nvSpPr>
          <p:cNvPr id="29" name="Rectangle 28"/>
          <p:cNvSpPr/>
          <p:nvPr/>
        </p:nvSpPr>
        <p:spPr>
          <a:xfrm>
            <a:off x="8458200" y="3493008"/>
            <a:ext cx="2039112" cy="137160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30" name="TextBox 29"/>
          <p:cNvSpPr txBox="1"/>
          <p:nvPr/>
        </p:nvSpPr>
        <p:spPr>
          <a:xfrm>
            <a:off x="8458200" y="3566160"/>
            <a:ext cx="2039112" cy="274320"/>
          </a:xfrm>
          <a:prstGeom prst="rect">
            <a:avLst/>
          </a:prstGeom>
          <a:noFill/>
        </p:spPr>
        <p:txBody>
          <a:bodyPr wrap="square" tIns="0" bIns="0" anchor="t">
            <a:spAutoFit/>
          </a:bodyPr>
          <a:lstStyle/>
          <a:p>
            <a:r>
              <a:rPr kumimoji="1" lang="ja-JP" altLang="en-US" sz="1100" dirty="0">
                <a:solidFill>
                  <a:srgbClr val="0B3041"/>
                </a:solidFill>
                <a:latin typeface="+mn-ea"/>
                <a:ea typeface="+mn-ea"/>
              </a:rPr>
              <a:t>純資産（簿価）</a:t>
            </a:r>
            <a:endParaRPr kumimoji="1" lang="ja-JP" altLang="en-US" sz="1100" dirty="0"/>
          </a:p>
        </p:txBody>
      </p:sp>
      <p:sp>
        <p:nvSpPr>
          <p:cNvPr id="31" name="TextBox 30"/>
          <p:cNvSpPr txBox="1"/>
          <p:nvPr/>
        </p:nvSpPr>
        <p:spPr>
          <a:xfrm>
            <a:off x="8458200" y="3877056"/>
            <a:ext cx="2039112" cy="457200"/>
          </a:xfrm>
          <a:prstGeom prst="rect">
            <a:avLst/>
          </a:prstGeom>
          <a:noFill/>
        </p:spPr>
        <p:txBody>
          <a:bodyPr wrap="square" tIns="0" bIns="0" anchor="t">
            <a:spAutoFit/>
          </a:bodyPr>
          <a:lstStyle/>
          <a:p>
            <a:r>
              <a:rPr kumimoji="1" lang="ja-JP" altLang="en-US" sz="1500" b="1" dirty="0">
                <a:solidFill>
                  <a:srgbClr val="0B3041"/>
                </a:solidFill>
                <a:latin typeface="+mn-ea"/>
                <a:ea typeface="+mn-ea"/>
              </a:rPr>
              <a:t>326,909千円</a:t>
            </a:r>
            <a:endParaRPr kumimoji="1" lang="ja-JP" altLang="en-US" sz="1500" dirty="0"/>
          </a:p>
        </p:txBody>
      </p:sp>
      <p:sp>
        <p:nvSpPr>
          <p:cNvPr id="32" name="TextBox 31"/>
          <p:cNvSpPr txBox="1"/>
          <p:nvPr/>
        </p:nvSpPr>
        <p:spPr>
          <a:xfrm>
            <a:off x="8458200" y="4361688"/>
            <a:ext cx="2039112" cy="457200"/>
          </a:xfrm>
          <a:prstGeom prst="rect">
            <a:avLst/>
          </a:prstGeom>
          <a:noFill/>
        </p:spPr>
        <p:txBody>
          <a:bodyPr wrap="square" tIns="0" bIns="0" anchor="t">
            <a:spAutoFit/>
          </a:bodyPr>
          <a:lstStyle/>
          <a:p>
            <a:r>
              <a:rPr kumimoji="1" lang="ja-JP" altLang="en-US" sz="900" dirty="0">
                <a:solidFill>
                  <a:srgbClr val="404040"/>
                </a:solidFill>
                <a:latin typeface="+mn-ea"/>
                <a:ea typeface="+mn-ea"/>
              </a:rPr>
              <a:t>自己資本比率 41.0%</a:t>
            </a:r>
            <a:endParaRPr kumimoji="1" lang="ja-JP" altLang="en-US" sz="900" dirty="0"/>
          </a:p>
        </p:txBody>
      </p:sp>
      <p:sp>
        <p:nvSpPr>
          <p:cNvPr id="33" name="Rectangle 32"/>
          <p:cNvSpPr/>
          <p:nvPr/>
        </p:nvSpPr>
        <p:spPr>
          <a:xfrm>
            <a:off x="6355080" y="4974336"/>
            <a:ext cx="2039112" cy="137160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34" name="TextBox 33"/>
          <p:cNvSpPr txBox="1"/>
          <p:nvPr/>
        </p:nvSpPr>
        <p:spPr>
          <a:xfrm>
            <a:off x="6355080" y="5047488"/>
            <a:ext cx="2039112" cy="274320"/>
          </a:xfrm>
          <a:prstGeom prst="rect">
            <a:avLst/>
          </a:prstGeom>
          <a:noFill/>
        </p:spPr>
        <p:txBody>
          <a:bodyPr wrap="square" tIns="0" bIns="0" anchor="t">
            <a:spAutoFit/>
          </a:bodyPr>
          <a:lstStyle/>
          <a:p>
            <a:r>
              <a:rPr kumimoji="1" lang="ja-JP" altLang="en-US" sz="1100" dirty="0">
                <a:solidFill>
                  <a:srgbClr val="0B3041"/>
                </a:solidFill>
                <a:latin typeface="+mn-ea"/>
                <a:ea typeface="+mn-ea"/>
              </a:rPr>
              <a:t>現預金</a:t>
            </a:r>
            <a:endParaRPr kumimoji="1" lang="ja-JP" altLang="en-US" sz="1100" dirty="0"/>
          </a:p>
        </p:txBody>
      </p:sp>
      <p:sp>
        <p:nvSpPr>
          <p:cNvPr id="35" name="TextBox 34"/>
          <p:cNvSpPr txBox="1"/>
          <p:nvPr/>
        </p:nvSpPr>
        <p:spPr>
          <a:xfrm>
            <a:off x="6355080" y="5358384"/>
            <a:ext cx="2039112" cy="457200"/>
          </a:xfrm>
          <a:prstGeom prst="rect">
            <a:avLst/>
          </a:prstGeom>
          <a:noFill/>
        </p:spPr>
        <p:txBody>
          <a:bodyPr wrap="square" tIns="0" bIns="0" anchor="t">
            <a:spAutoFit/>
          </a:bodyPr>
          <a:lstStyle/>
          <a:p>
            <a:r>
              <a:rPr kumimoji="1" lang="ja-JP" altLang="en-US" sz="1500" b="1" dirty="0">
                <a:solidFill>
                  <a:srgbClr val="0B3041"/>
                </a:solidFill>
                <a:latin typeface="+mn-ea"/>
                <a:ea typeface="+mn-ea"/>
              </a:rPr>
              <a:t>226,057千円</a:t>
            </a:r>
            <a:endParaRPr kumimoji="1" lang="ja-JP" altLang="en-US" sz="1500" dirty="0"/>
          </a:p>
        </p:txBody>
      </p:sp>
      <p:sp>
        <p:nvSpPr>
          <p:cNvPr id="36" name="TextBox 35"/>
          <p:cNvSpPr txBox="1"/>
          <p:nvPr/>
        </p:nvSpPr>
        <p:spPr>
          <a:xfrm>
            <a:off x="6355080" y="5843016"/>
            <a:ext cx="2039112" cy="457200"/>
          </a:xfrm>
          <a:prstGeom prst="rect">
            <a:avLst/>
          </a:prstGeom>
          <a:noFill/>
        </p:spPr>
        <p:txBody>
          <a:bodyPr wrap="square" tIns="0" bIns="0" anchor="t">
            <a:spAutoFit/>
          </a:bodyPr>
          <a:lstStyle/>
          <a:p>
            <a:r>
              <a:rPr kumimoji="1" lang="ja-JP" altLang="en-US" sz="900" dirty="0">
                <a:solidFill>
                  <a:srgbClr val="404040"/>
                </a:solidFill>
                <a:latin typeface="+mn-ea"/>
                <a:ea typeface="+mn-ea"/>
              </a:rPr>
              <a:t>借入金計 445,823千円（前期 890,278千円）</a:t>
            </a:r>
            <a:endParaRPr kumimoji="1" lang="ja-JP" altLang="en-US" sz="900" dirty="0"/>
          </a:p>
        </p:txBody>
      </p:sp>
      <p:sp>
        <p:nvSpPr>
          <p:cNvPr id="37" name="Rectangle 36"/>
          <p:cNvSpPr/>
          <p:nvPr/>
        </p:nvSpPr>
        <p:spPr>
          <a:xfrm>
            <a:off x="8458200" y="4974336"/>
            <a:ext cx="2039112" cy="137160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38" name="TextBox 37"/>
          <p:cNvSpPr txBox="1"/>
          <p:nvPr/>
        </p:nvSpPr>
        <p:spPr>
          <a:xfrm>
            <a:off x="8458200" y="5047488"/>
            <a:ext cx="2039112" cy="274320"/>
          </a:xfrm>
          <a:prstGeom prst="rect">
            <a:avLst/>
          </a:prstGeom>
          <a:noFill/>
        </p:spPr>
        <p:txBody>
          <a:bodyPr wrap="square" tIns="0" bIns="0" anchor="t">
            <a:spAutoFit/>
          </a:bodyPr>
          <a:lstStyle/>
          <a:p>
            <a:r>
              <a:rPr kumimoji="1" lang="ja-JP" altLang="en-US" sz="1100" dirty="0">
                <a:solidFill>
                  <a:srgbClr val="0B3041"/>
                </a:solidFill>
                <a:latin typeface="+mn-ea"/>
                <a:ea typeface="+mn-ea"/>
              </a:rPr>
              <a:t>自社不動産（簿価）</a:t>
            </a:r>
            <a:endParaRPr kumimoji="1" lang="ja-JP" altLang="en-US" sz="1100" dirty="0"/>
          </a:p>
        </p:txBody>
      </p:sp>
      <p:sp>
        <p:nvSpPr>
          <p:cNvPr id="39" name="TextBox 38"/>
          <p:cNvSpPr txBox="1"/>
          <p:nvPr/>
        </p:nvSpPr>
        <p:spPr>
          <a:xfrm>
            <a:off x="8458200" y="5358384"/>
            <a:ext cx="2039112" cy="457200"/>
          </a:xfrm>
          <a:prstGeom prst="rect">
            <a:avLst/>
          </a:prstGeom>
          <a:noFill/>
        </p:spPr>
        <p:txBody>
          <a:bodyPr wrap="square" tIns="0" bIns="0" anchor="t">
            <a:spAutoFit/>
          </a:bodyPr>
          <a:lstStyle/>
          <a:p>
            <a:r>
              <a:rPr kumimoji="1" lang="ja-JP" altLang="en-US" sz="1500" b="1" dirty="0">
                <a:solidFill>
                  <a:srgbClr val="0B3041"/>
                </a:solidFill>
                <a:latin typeface="+mn-ea"/>
                <a:ea typeface="+mn-ea"/>
              </a:rPr>
              <a:t>土地 345,030千円</a:t>
            </a:r>
            <a:endParaRPr kumimoji="1" lang="ja-JP" altLang="en-US" sz="1500" dirty="0"/>
          </a:p>
        </p:txBody>
      </p:sp>
      <p:sp>
        <p:nvSpPr>
          <p:cNvPr id="40" name="TextBox 39"/>
          <p:cNvSpPr txBox="1"/>
          <p:nvPr/>
        </p:nvSpPr>
        <p:spPr>
          <a:xfrm>
            <a:off x="8458200" y="5843016"/>
            <a:ext cx="2039112" cy="457200"/>
          </a:xfrm>
          <a:prstGeom prst="rect">
            <a:avLst/>
          </a:prstGeom>
          <a:noFill/>
        </p:spPr>
        <p:txBody>
          <a:bodyPr wrap="square" tIns="0" bIns="0" anchor="t">
            <a:spAutoFit/>
          </a:bodyPr>
          <a:lstStyle/>
          <a:p>
            <a:r>
              <a:rPr kumimoji="1" lang="ja-JP" altLang="en-US" sz="900" dirty="0">
                <a:solidFill>
                  <a:srgbClr val="404040"/>
                </a:solidFill>
                <a:latin typeface="+mn-ea"/>
                <a:ea typeface="+mn-ea"/>
              </a:rPr>
              <a:t>建物 118,721千円</a:t>
            </a:r>
            <a:endParaRPr kumimoji="1" lang="ja-JP" altLang="en-US" sz="900" dirty="0"/>
          </a:p>
        </p:txBody>
      </p:sp>
      <p:sp>
        <p:nvSpPr>
          <p:cNvPr id="41" name="TextBox 40"/>
          <p:cNvSpPr txBox="1"/>
          <p:nvPr/>
        </p:nvSpPr>
        <p:spPr>
          <a:xfrm>
            <a:off x="6355080" y="6492240"/>
            <a:ext cx="4142232" cy="457200"/>
          </a:xfrm>
          <a:prstGeom prst="rect">
            <a:avLst/>
          </a:prstGeom>
          <a:noFill/>
        </p:spPr>
        <p:txBody>
          <a:bodyPr wrap="square" lIns="0" tIns="0" rIns="0" bIns="0" anchor="t">
            <a:spAutoFit/>
          </a:bodyPr>
          <a:lstStyle/>
          <a:p>
            <a:r>
              <a:rPr kumimoji="1" lang="ja-JP" altLang="en-US" sz="800" dirty="0">
                <a:solidFill>
                  <a:srgbClr val="595959"/>
                </a:solidFill>
                <a:latin typeface="+mn-ea"/>
                <a:ea typeface="+mn-ea"/>
              </a:rPr>
              <a:t>※数値は決算報告書・総勘定元帳等に基づく。調整後EBITDAの算定は財務ハイライト（P/L）参照。</a:t>
            </a:r>
            <a:endParaRPr kumimoji="1" lang="ja-JP" altLang="en-US" sz="800" dirty="0"/>
          </a:p>
        </p:txBody>
      </p:sp>
    </p:spTree>
    <p:extLst>
      <p:ext uri="{BB962C8B-B14F-4D97-AF65-F5344CB8AC3E}">
        <p14:creationId xmlns:p14="http://schemas.microsoft.com/office/powerpoint/2010/main" val="2819346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8EF9F-B9BD-9E7E-BA2C-5A4B51173A7F}"/>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7780A147-C248-92F8-8F3F-25BD76E0BC3B}"/>
              </a:ext>
            </a:extLst>
          </p:cNvPr>
          <p:cNvSpPr>
            <a:spLocks noGrp="1"/>
          </p:cNvSpPr>
          <p:nvPr>
            <p:ph type="ctrTitle"/>
          </p:nvPr>
        </p:nvSpPr>
        <p:spPr>
          <a:xfrm>
            <a:off x="311150" y="180296"/>
            <a:ext cx="7799917" cy="339267"/>
          </a:xfrm>
        </p:spPr>
        <p:txBody>
          <a:bodyPr>
            <a:normAutofit/>
          </a:bodyPr>
          <a:lstStyle/>
          <a:p>
            <a:r>
              <a:rPr lang="ja-JP" altLang="en-US" dirty="0"/>
              <a:t>財務ハイライト（</a:t>
            </a:r>
            <a:r>
              <a:rPr lang="en-US" altLang="ja-JP" dirty="0"/>
              <a:t>P/L</a:t>
            </a:r>
            <a:r>
              <a:rPr lang="ja-JP" altLang="en-US" dirty="0"/>
              <a:t>）</a:t>
            </a:r>
          </a:p>
        </p:txBody>
      </p:sp>
      <p:sp>
        <p:nvSpPr>
          <p:cNvPr id="5" name="タイトル 1">
            <a:extLst>
              <a:ext uri="{FF2B5EF4-FFF2-40B4-BE49-F238E27FC236}">
                <a16:creationId xmlns:a16="http://schemas.microsoft.com/office/drawing/2014/main" id="{BE8912DE-7392-DA52-DCED-61F45ED11AC6}"/>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エグゼクティブサマリー</a:t>
            </a:r>
          </a:p>
        </p:txBody>
      </p:sp>
      <p:sp>
        <p:nvSpPr>
          <p:cNvPr id="16" name="字幕 13">
            <a:extLst>
              <a:ext uri="{FF2B5EF4-FFF2-40B4-BE49-F238E27FC236}">
                <a16:creationId xmlns:a16="http://schemas.microsoft.com/office/drawing/2014/main" id="{7A1881B5-EF3F-935A-CE45-EAB497D19AED}"/>
              </a:ext>
            </a:extLst>
          </p:cNvPr>
          <p:cNvSpPr>
            <a:spLocks noGrp="1"/>
          </p:cNvSpPr>
          <p:nvPr>
            <p:ph type="subTitle" idx="1"/>
          </p:nvPr>
        </p:nvSpPr>
        <p:spPr>
          <a:xfrm>
            <a:off x="460675" y="830046"/>
            <a:ext cx="9781875" cy="241861"/>
          </a:xfrm>
        </p:spPr>
        <p:txBody>
          <a:bodyPr>
            <a:noAutofit/>
          </a:bodyPr>
          <a:lstStyle/>
          <a:p>
            <a:r>
              <a:rPr lang="ja-JP" altLang="en-US" dirty="0">
                <a:latin typeface="+mj-ea"/>
              </a:rPr>
              <a:t>店舗売上は約2.8億円で安定。令和7年3月期の利益は賃貸不動産の売却によるもので、これを除く調整後EBITDAは令和8年3月期に△2百万円まで改善しています。</a:t>
            </a:r>
            <a:endParaRPr lang="en-US" altLang="ja-JP" dirty="0">
              <a:latin typeface="+mj-ea"/>
            </a:endParaRPr>
          </a:p>
        </p:txBody>
      </p:sp>
      <p:sp>
        <p:nvSpPr>
          <p:cNvPr id="2" name="正方形/長方形 1">
            <a:extLst>
              <a:ext uri="{FF2B5EF4-FFF2-40B4-BE49-F238E27FC236}">
                <a16:creationId xmlns:a16="http://schemas.microsoft.com/office/drawing/2014/main" id="{22D7A017-71F2-4035-677D-AF49C1C280D6}"/>
              </a:ext>
            </a:extLst>
          </p:cNvPr>
          <p:cNvSpPr/>
          <p:nvPr/>
        </p:nvSpPr>
        <p:spPr>
          <a:xfrm>
            <a:off x="6455664" y="4754880"/>
            <a:ext cx="3924999" cy="2240280"/>
          </a:xfrm>
          <a:prstGeom prst="rect">
            <a:avLst/>
          </a:prstGeom>
          <a:solidFill>
            <a:schemeClr val="accent2"/>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nSpc>
                <a:spcPct val="150000"/>
              </a:lnSpc>
            </a:pPr>
            <a:endParaRPr kumimoji="1" lang="en-US" altLang="ja-JP" sz="1200" b="1" dirty="0">
              <a:solidFill>
                <a:schemeClr val="tx1"/>
              </a:solidFill>
              <a:latin typeface="+mn-ea"/>
            </a:endParaRPr>
          </a:p>
        </p:txBody>
      </p:sp>
      <p:sp>
        <p:nvSpPr>
          <p:cNvPr id="8" name="正方形/長方形 7">
            <a:extLst>
              <a:ext uri="{FF2B5EF4-FFF2-40B4-BE49-F238E27FC236}">
                <a16:creationId xmlns:a16="http://schemas.microsoft.com/office/drawing/2014/main" id="{CBD334A9-999C-ACD4-9DD2-EF961CBA0926}"/>
              </a:ext>
            </a:extLst>
          </p:cNvPr>
          <p:cNvSpPr/>
          <p:nvPr/>
        </p:nvSpPr>
        <p:spPr>
          <a:xfrm>
            <a:off x="6455664" y="1382390"/>
            <a:ext cx="3924999" cy="324612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9" name="テキスト ボックス 8">
            <a:extLst>
              <a:ext uri="{FF2B5EF4-FFF2-40B4-BE49-F238E27FC236}">
                <a16:creationId xmlns:a16="http://schemas.microsoft.com/office/drawing/2014/main" id="{E5084622-1D6B-783F-80DE-6D9A498C7C12}"/>
              </a:ext>
            </a:extLst>
          </p:cNvPr>
          <p:cNvSpPr txBox="1"/>
          <p:nvPr/>
        </p:nvSpPr>
        <p:spPr>
          <a:xfrm>
            <a:off x="6455664" y="1783080"/>
            <a:ext cx="3912257" cy="2539157"/>
          </a:xfrm>
          <a:prstGeom prst="rect">
            <a:avLst/>
          </a:prstGeom>
          <a:noFill/>
        </p:spPr>
        <p:txBody>
          <a:bodyPr wrap="square" lIns="288000" tIns="0" rIns="252000" bIns="0" rtlCol="0">
            <a:spAutoFit/>
          </a:bodyPr>
          <a:lstStyle/>
          <a:p>
            <a:r>
              <a:rPr kumimoji="1" lang="ja-JP" altLang="en-US" sz="900" dirty="0">
                <a:solidFill>
                  <a:schemeClr val="tx1"/>
                </a:solidFill>
                <a:latin typeface="+mn-ea"/>
                <a:ea typeface="+mn-ea"/>
              </a:rPr>
              <a:t>≪売上≫</a:t>
            </a:r>
            <a:endParaRPr kumimoji="1" lang="ja-JP" altLang="en-US" sz="900" dirty="0"/>
          </a:p>
          <a:p>
            <a:r>
              <a:rPr kumimoji="1" lang="ja-JP" altLang="en-US" sz="900" dirty="0">
                <a:solidFill>
                  <a:schemeClr val="tx1"/>
                </a:solidFill>
                <a:latin typeface="+mn-ea"/>
                <a:ea typeface="+mn-ea"/>
              </a:rPr>
              <a:t>・令和7年3月期は賃貸不動産の売却収入869百万円を含む。店舗・EC等売上は367→345→304百万円</a:t>
            </a:r>
            <a:endParaRPr kumimoji="1" lang="ja-JP" altLang="en-US" sz="900" dirty="0"/>
          </a:p>
          <a:p>
            <a:r>
              <a:rPr kumimoji="1" lang="ja-JP" altLang="en-US" sz="900" dirty="0">
                <a:solidFill>
                  <a:schemeClr val="tx1"/>
                </a:solidFill>
                <a:latin typeface="+mn-ea"/>
                <a:ea typeface="+mn-ea"/>
              </a:rPr>
              <a:t>・3店舗（鎌倉山・紀尾井町・大船）は279→279百万円と安定。四谷店閉店・ミリュウショップ減少が全体の減少要因</a:t>
            </a:r>
            <a:endParaRPr kumimoji="1" lang="ja-JP" altLang="en-US" sz="900" dirty="0"/>
          </a:p>
          <a:p>
            <a:endParaRPr kumimoji="1" lang="ja-JP" altLang="en-US" sz="900" dirty="0"/>
          </a:p>
          <a:p>
            <a:r>
              <a:rPr kumimoji="1" lang="ja-JP" altLang="en-US" sz="900" dirty="0">
                <a:solidFill>
                  <a:schemeClr val="tx1"/>
                </a:solidFill>
                <a:latin typeface="+mn-ea"/>
                <a:ea typeface="+mn-ea"/>
              </a:rPr>
              <a:t>≪売上総利益・営業利益≫</a:t>
            </a:r>
            <a:endParaRPr kumimoji="1" lang="ja-JP" altLang="en-US" sz="900" dirty="0"/>
          </a:p>
          <a:p>
            <a:r>
              <a:rPr kumimoji="1" lang="ja-JP" altLang="en-US" sz="900" dirty="0">
                <a:solidFill>
                  <a:schemeClr val="tx1"/>
                </a:solidFill>
                <a:latin typeface="+mn-ea"/>
                <a:ea typeface="+mn-ea"/>
              </a:rPr>
              <a:t>・粗利率は約7割（令和8年3月期 69.9%）</a:t>
            </a:r>
            <a:endParaRPr kumimoji="1" lang="ja-JP" altLang="en-US" sz="900" dirty="0"/>
          </a:p>
          <a:p>
            <a:r>
              <a:rPr kumimoji="1" lang="ja-JP" altLang="en-US" sz="900" dirty="0">
                <a:solidFill>
                  <a:schemeClr val="tx1"/>
                </a:solidFill>
                <a:latin typeface="+mn-ea"/>
                <a:ea typeface="+mn-ea"/>
              </a:rPr>
              <a:t>・令和7年3月期の営業利益221百万円は不動産売却益（約233百万円）による。除く営業損益は約△12百万円</a:t>
            </a:r>
            <a:endParaRPr kumimoji="1" lang="ja-JP" altLang="en-US" sz="900" dirty="0"/>
          </a:p>
          <a:p>
            <a:r>
              <a:rPr kumimoji="1" lang="ja-JP" altLang="en-US" sz="900" dirty="0">
                <a:solidFill>
                  <a:schemeClr val="tx1"/>
                </a:solidFill>
                <a:latin typeface="+mn-ea"/>
                <a:ea typeface="+mn-ea"/>
              </a:rPr>
              <a:t>・令和8年3月期の営業利益は871千円</a:t>
            </a:r>
            <a:endParaRPr kumimoji="1" lang="ja-JP" altLang="en-US" sz="900" dirty="0"/>
          </a:p>
          <a:p>
            <a:endParaRPr kumimoji="1" lang="ja-JP" altLang="en-US" sz="900" dirty="0"/>
          </a:p>
          <a:p>
            <a:r>
              <a:rPr kumimoji="1" lang="ja-JP" altLang="en-US" sz="900" dirty="0">
                <a:solidFill>
                  <a:schemeClr val="tx1"/>
                </a:solidFill>
                <a:latin typeface="+mn-ea"/>
                <a:ea typeface="+mn-ea"/>
              </a:rPr>
              <a:t>≪当期純利益≫</a:t>
            </a:r>
            <a:endParaRPr kumimoji="1" lang="ja-JP" altLang="en-US" sz="900" dirty="0"/>
          </a:p>
          <a:p>
            <a:r>
              <a:rPr kumimoji="1" lang="ja-JP" altLang="en-US" sz="900" dirty="0">
                <a:solidFill>
                  <a:schemeClr val="tx1"/>
                </a:solidFill>
                <a:latin typeface="+mn-ea"/>
                <a:ea typeface="+mn-ea"/>
              </a:rPr>
              <a:t>・令和8年3月期の△48百万円は過年度法人税等48百万円（令和3〜4年度分）の納付による（要確認）</a:t>
            </a:r>
            <a:endParaRPr kumimoji="1" lang="ja-JP" altLang="en-US" sz="900" dirty="0"/>
          </a:p>
        </p:txBody>
      </p:sp>
      <p:sp>
        <p:nvSpPr>
          <p:cNvPr id="10" name="テキスト ボックス 9">
            <a:extLst>
              <a:ext uri="{FF2B5EF4-FFF2-40B4-BE49-F238E27FC236}">
                <a16:creationId xmlns:a16="http://schemas.microsoft.com/office/drawing/2014/main" id="{9CE926BB-0658-93C0-4CB2-D9073D01110E}"/>
              </a:ext>
            </a:extLst>
          </p:cNvPr>
          <p:cNvSpPr txBox="1"/>
          <p:nvPr/>
        </p:nvSpPr>
        <p:spPr>
          <a:xfrm>
            <a:off x="6468406" y="4846320"/>
            <a:ext cx="3912257" cy="1862048"/>
          </a:xfrm>
          <a:prstGeom prst="rect">
            <a:avLst/>
          </a:prstGeom>
          <a:noFill/>
        </p:spPr>
        <p:txBody>
          <a:bodyPr wrap="square" lIns="288000" tIns="0" rIns="252000" bIns="0" rtlCol="0">
            <a:spAutoFit/>
          </a:bodyPr>
          <a:lstStyle/>
          <a:p>
            <a:r>
              <a:rPr kumimoji="1" lang="ja-JP" altLang="en-US" sz="900" dirty="0">
                <a:solidFill>
                  <a:schemeClr val="tx1"/>
                </a:solidFill>
                <a:latin typeface="+mn-ea"/>
                <a:ea typeface="+mn-ea"/>
              </a:rPr>
              <a:t>【調整後EBITDAの考え方】</a:t>
            </a:r>
            <a:endParaRPr kumimoji="1" lang="ja-JP" altLang="en-US" sz="900" dirty="0"/>
          </a:p>
          <a:p>
            <a:r>
              <a:rPr kumimoji="1" lang="ja-JP" altLang="en-US" sz="900" dirty="0">
                <a:solidFill>
                  <a:schemeClr val="tx1"/>
                </a:solidFill>
                <a:latin typeface="+mn-ea"/>
                <a:ea typeface="+mn-ea"/>
              </a:rPr>
              <a:t>・売却済の賃貸不動産（令和7年3月売却）の損益、不動産管理費は継続しないため除外</a:t>
            </a:r>
            <a:endParaRPr kumimoji="1" lang="ja-JP" altLang="en-US" sz="900" dirty="0"/>
          </a:p>
          <a:p>
            <a:r>
              <a:rPr kumimoji="1" lang="ja-JP" altLang="en-US" sz="900" dirty="0">
                <a:solidFill>
                  <a:schemeClr val="tx1"/>
                </a:solidFill>
                <a:latin typeface="+mn-ea"/>
                <a:ea typeface="+mn-ea"/>
              </a:rPr>
              <a:t>・令和8年3月期のコンサル収入14百万円は単発のため除外（要確認）</a:t>
            </a:r>
            <a:endParaRPr kumimoji="1" lang="ja-JP" altLang="en-US" sz="900" dirty="0"/>
          </a:p>
          <a:p>
            <a:r>
              <a:rPr kumimoji="1" lang="ja-JP" altLang="en-US" sz="900" dirty="0">
                <a:solidFill>
                  <a:schemeClr val="tx1"/>
                </a:solidFill>
                <a:latin typeface="+mn-ea"/>
                <a:ea typeface="+mn-ea"/>
              </a:rPr>
              <a:t>・役員報酬は年1,920千円と低水準。新体制の報酬は未確認のため置換していません</a:t>
            </a:r>
            <a:endParaRPr kumimoji="1" lang="ja-JP" altLang="en-US" sz="900" dirty="0"/>
          </a:p>
          <a:p>
            <a:r>
              <a:rPr kumimoji="1" lang="ja-JP" altLang="en-US" sz="900" b="1" dirty="0">
                <a:solidFill>
                  <a:schemeClr val="tx1"/>
                </a:solidFill>
                <a:latin typeface="+mn-ea"/>
                <a:ea typeface="+mn-ea"/>
              </a:rPr>
              <a:t>✓ 調整後EBITDAは令和8年3月期△2,182千円（直近2期平均△7,582千円）</a:t>
            </a:r>
            <a:endParaRPr kumimoji="1" lang="ja-JP" altLang="en-US" sz="900" dirty="0"/>
          </a:p>
          <a:p>
            <a:r>
              <a:rPr kumimoji="1" lang="ja-JP" altLang="en-US" sz="900" dirty="0">
                <a:solidFill>
                  <a:schemeClr val="tx1"/>
                </a:solidFill>
                <a:latin typeface="+mn-ea"/>
                <a:ea typeface="+mn-ea"/>
              </a:rPr>
              <a:t>※進行期（令和9年3月期）の試算表は未受領</a:t>
            </a:r>
            <a:endParaRPr kumimoji="1" lang="ja-JP" altLang="en-US" sz="900" dirty="0"/>
          </a:p>
        </p:txBody>
      </p:sp>
      <p:graphicFrame>
        <p:nvGraphicFramePr>
          <p:cNvPr id="17" name="Table 16"/>
          <p:cNvGraphicFramePr>
            <a:graphicFrameLocks noGrp="1"/>
          </p:cNvGraphicFramePr>
          <p:nvPr/>
        </p:nvGraphicFramePr>
        <p:xfrm>
          <a:off x="310896" y="1408176"/>
          <a:ext cx="6044184" cy="5102352"/>
        </p:xfrm>
        <a:graphic>
          <a:graphicData uri="http://schemas.openxmlformats.org/drawingml/2006/table">
            <a:tbl>
              <a:tblPr/>
              <a:tblGrid>
                <a:gridCol w="2148840"/>
                <a:gridCol w="1298448"/>
                <a:gridCol w="1298448"/>
                <a:gridCol w="1298448"/>
              </a:tblGrid>
              <a:tr h="283464">
                <a:tc>
                  <a:txBody>
                    <a:bodyPr wrap="square"/>
                    <a:lstStyle/>
                    <a:p>
                      <a:pPr algn="ctr"/>
                      <a:r>
                        <a:rPr sz="900" b="1" i="0">
                          <a:solidFill>
                            <a:srgbClr val="FFFFFF"/>
                          </a:solidFill>
                          <a:latin typeface="Arial"/>
                          <a:ea typeface="游ゴシック"/>
                        </a:rPr>
                        <a:t>（単位：千円）</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令和6年3月期</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令和7年3月期</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令和8年3月期</a:t>
                      </a:r>
                    </a:p>
                  </a:txBody>
                  <a:tcPr marL="45720" marR="45720" marT="13716" marB="13716" anchor="ctr">
                    <a:lnL w="0">
                      <a:noFill/>
                    </a:lnL>
                    <a:lnR w="0">
                      <a:noFill/>
                    </a:lnR>
                    <a:lnT w="0">
                      <a:noFill/>
                    </a:lnT>
                    <a:lnB w="0">
                      <a:noFill/>
                    </a:lnB>
                    <a:solidFill>
                      <a:srgbClr val="0B3041"/>
                    </a:solidFill>
                  </a:tcPr>
                </a:tc>
              </a:tr>
              <a:tr h="283464">
                <a:tc>
                  <a:txBody>
                    <a:bodyPr wrap="square"/>
                    <a:lstStyle/>
                    <a:p>
                      <a:pPr algn="l"/>
                      <a:r>
                        <a:rPr sz="900" b="1" i="0">
                          <a:solidFill>
                            <a:srgbClr val="000000"/>
                          </a:solidFill>
                          <a:latin typeface="Arial"/>
                          <a:ea typeface="游ゴシック"/>
                        </a:rPr>
                        <a:t>売上高</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1" i="0">
                          <a:solidFill>
                            <a:srgbClr val="000000"/>
                          </a:solidFill>
                          <a:latin typeface="Arial"/>
                          <a:ea typeface="游ゴシック"/>
                        </a:rPr>
                        <a:t>383,439</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1" i="0">
                          <a:solidFill>
                            <a:srgbClr val="000000"/>
                          </a:solidFill>
                          <a:latin typeface="Arial"/>
                          <a:ea typeface="游ゴシック"/>
                        </a:rPr>
                        <a:t>1,230,830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1" i="0">
                          <a:solidFill>
                            <a:srgbClr val="000000"/>
                          </a:solidFill>
                          <a:latin typeface="Arial"/>
                          <a:ea typeface="游ゴシック"/>
                        </a:rPr>
                        <a:t>319,338</a:t>
                      </a:r>
                    </a:p>
                  </a:txBody>
                  <a:tcPr marL="45720" marR="45720" marT="13716" marB="13716" anchor="ctr">
                    <a:lnL w="0">
                      <a:noFill/>
                    </a:lnL>
                    <a:lnR w="0">
                      <a:noFill/>
                    </a:lnR>
                    <a:lnT w="0">
                      <a:noFill/>
                    </a:lnT>
                    <a:lnB w="6350" cap="flat" cmpd="sng" algn="ctr">
                      <a:solidFill>
                        <a:srgbClr val="B8C0C6"/>
                      </a:solidFill>
                      <a:prstDash val="solid"/>
                    </a:lnB>
                    <a:noFill/>
                  </a:tcPr>
                </a:tc>
              </a:tr>
              <a:tr h="283464">
                <a:tc>
                  <a:txBody>
                    <a:bodyPr wrap="square"/>
                    <a:lstStyle/>
                    <a:p>
                      <a:pPr algn="l"/>
                      <a:r>
                        <a:rPr sz="900" b="0" i="0">
                          <a:solidFill>
                            <a:srgbClr val="000000"/>
                          </a:solidFill>
                          <a:latin typeface="Arial"/>
                          <a:ea typeface="游ゴシック"/>
                        </a:rPr>
                        <a:t>　前期比</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321.0%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25.9%</a:t>
                      </a:r>
                    </a:p>
                  </a:txBody>
                  <a:tcPr marL="45720" marR="45720" marT="13716" marB="13716" anchor="ctr">
                    <a:lnL w="0">
                      <a:noFill/>
                    </a:lnL>
                    <a:lnR w="0">
                      <a:noFill/>
                    </a:lnR>
                    <a:lnT w="0">
                      <a:noFill/>
                    </a:lnT>
                    <a:lnB w="6350" cap="flat" cmpd="sng" algn="ctr">
                      <a:solidFill>
                        <a:srgbClr val="B8C0C6"/>
                      </a:solidFill>
                      <a:prstDash val="solid"/>
                    </a:lnB>
                    <a:noFill/>
                  </a:tcPr>
                </a:tc>
              </a:tr>
              <a:tr h="283464">
                <a:tc>
                  <a:txBody>
                    <a:bodyPr wrap="square"/>
                    <a:lstStyle/>
                    <a:p>
                      <a:pPr algn="l"/>
                      <a:r>
                        <a:rPr sz="900" b="1" i="0">
                          <a:solidFill>
                            <a:srgbClr val="000000"/>
                          </a:solidFill>
                          <a:latin typeface="Arial"/>
                          <a:ea typeface="游ゴシック"/>
                        </a:rPr>
                        <a:t>売上総利益</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1" i="0">
                          <a:solidFill>
                            <a:srgbClr val="000000"/>
                          </a:solidFill>
                          <a:latin typeface="Arial"/>
                          <a:ea typeface="游ゴシック"/>
                        </a:rPr>
                        <a:t>278,597</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1" i="0">
                          <a:solidFill>
                            <a:srgbClr val="000000"/>
                          </a:solidFill>
                          <a:latin typeface="Arial"/>
                          <a:ea typeface="游ゴシック"/>
                        </a:rPr>
                        <a:t>493,908</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1" i="0">
                          <a:solidFill>
                            <a:srgbClr val="000000"/>
                          </a:solidFill>
                          <a:latin typeface="Arial"/>
                          <a:ea typeface="游ゴシック"/>
                        </a:rPr>
                        <a:t>223,132</a:t>
                      </a:r>
                    </a:p>
                  </a:txBody>
                  <a:tcPr marL="45720" marR="45720" marT="13716" marB="13716" anchor="ctr">
                    <a:lnL w="0">
                      <a:noFill/>
                    </a:lnL>
                    <a:lnR w="0">
                      <a:noFill/>
                    </a:lnR>
                    <a:lnT w="0">
                      <a:noFill/>
                    </a:lnT>
                    <a:lnB w="6350" cap="flat" cmpd="sng" algn="ctr">
                      <a:solidFill>
                        <a:srgbClr val="B8C0C6"/>
                      </a:solidFill>
                      <a:prstDash val="solid"/>
                    </a:lnB>
                    <a:noFill/>
                  </a:tcPr>
                </a:tc>
              </a:tr>
              <a:tr h="283464">
                <a:tc>
                  <a:txBody>
                    <a:bodyPr wrap="square"/>
                    <a:lstStyle/>
                    <a:p>
                      <a:pPr algn="l"/>
                      <a:r>
                        <a:rPr sz="900" b="0" i="0">
                          <a:solidFill>
                            <a:srgbClr val="000000"/>
                          </a:solidFill>
                          <a:latin typeface="Arial"/>
                          <a:ea typeface="游ゴシック"/>
                        </a:rPr>
                        <a:t>　利益率</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72.7%</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40.1%</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69.9%</a:t>
                      </a:r>
                    </a:p>
                  </a:txBody>
                  <a:tcPr marL="45720" marR="45720" marT="13716" marB="13716" anchor="ctr">
                    <a:lnL w="0">
                      <a:noFill/>
                    </a:lnL>
                    <a:lnR w="0">
                      <a:noFill/>
                    </a:lnR>
                    <a:lnT w="0">
                      <a:noFill/>
                    </a:lnT>
                    <a:lnB w="6350" cap="flat" cmpd="sng" algn="ctr">
                      <a:solidFill>
                        <a:srgbClr val="B8C0C6"/>
                      </a:solidFill>
                      <a:prstDash val="solid"/>
                    </a:lnB>
                    <a:noFill/>
                  </a:tcPr>
                </a:tc>
              </a:tr>
              <a:tr h="283464">
                <a:tc>
                  <a:txBody>
                    <a:bodyPr wrap="square"/>
                    <a:lstStyle/>
                    <a:p>
                      <a:pPr algn="l"/>
                      <a:r>
                        <a:rPr sz="900" b="1" i="0">
                          <a:solidFill>
                            <a:srgbClr val="000000"/>
                          </a:solidFill>
                          <a:latin typeface="Arial"/>
                          <a:ea typeface="游ゴシック"/>
                        </a:rPr>
                        <a:t>営業利益</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1" i="0">
                          <a:solidFill>
                            <a:srgbClr val="000000"/>
                          </a:solidFill>
                          <a:latin typeface="Arial"/>
                          <a:ea typeface="游ゴシック"/>
                        </a:rPr>
                        <a:t>△4,955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1" i="0">
                          <a:solidFill>
                            <a:srgbClr val="000000"/>
                          </a:solidFill>
                          <a:latin typeface="Arial"/>
                          <a:ea typeface="游ゴシック"/>
                        </a:rPr>
                        <a:t>220,847</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1" i="0">
                          <a:solidFill>
                            <a:srgbClr val="000000"/>
                          </a:solidFill>
                          <a:latin typeface="Arial"/>
                          <a:ea typeface="游ゴシック"/>
                        </a:rPr>
                        <a:t>871</a:t>
                      </a:r>
                    </a:p>
                  </a:txBody>
                  <a:tcPr marL="45720" marR="45720" marT="13716" marB="13716" anchor="ctr">
                    <a:lnL w="0">
                      <a:noFill/>
                    </a:lnL>
                    <a:lnR w="0">
                      <a:noFill/>
                    </a:lnR>
                    <a:lnT w="0">
                      <a:noFill/>
                    </a:lnT>
                    <a:lnB w="6350" cap="flat" cmpd="sng" algn="ctr">
                      <a:solidFill>
                        <a:srgbClr val="B8C0C6"/>
                      </a:solidFill>
                      <a:prstDash val="solid"/>
                    </a:lnB>
                    <a:noFill/>
                  </a:tcPr>
                </a:tc>
              </a:tr>
              <a:tr h="283464">
                <a:tc>
                  <a:txBody>
                    <a:bodyPr wrap="square"/>
                    <a:lstStyle/>
                    <a:p>
                      <a:pPr algn="l"/>
                      <a:r>
                        <a:rPr sz="900" b="0" i="0">
                          <a:solidFill>
                            <a:srgbClr val="000000"/>
                          </a:solidFill>
                          <a:latin typeface="Arial"/>
                          <a:ea typeface="游ゴシック"/>
                        </a:rPr>
                        <a:t>　利益率</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△1.3%</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17.9%</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0.3%</a:t>
                      </a:r>
                    </a:p>
                  </a:txBody>
                  <a:tcPr marL="45720" marR="45720" marT="13716" marB="13716" anchor="ctr">
                    <a:lnL w="0">
                      <a:noFill/>
                    </a:lnL>
                    <a:lnR w="0">
                      <a:noFill/>
                    </a:lnR>
                    <a:lnT w="0">
                      <a:noFill/>
                    </a:lnT>
                    <a:lnB w="6350" cap="flat" cmpd="sng" algn="ctr">
                      <a:solidFill>
                        <a:srgbClr val="B8C0C6"/>
                      </a:solidFill>
                      <a:prstDash val="solid"/>
                    </a:lnB>
                    <a:noFill/>
                  </a:tcPr>
                </a:tc>
              </a:tr>
              <a:tr h="283464">
                <a:tc>
                  <a:txBody>
                    <a:bodyPr wrap="square"/>
                    <a:lstStyle/>
                    <a:p>
                      <a:pPr algn="l"/>
                      <a:r>
                        <a:rPr sz="900" b="1" i="0">
                          <a:solidFill>
                            <a:srgbClr val="000000"/>
                          </a:solidFill>
                          <a:latin typeface="Arial"/>
                          <a:ea typeface="游ゴシック"/>
                        </a:rPr>
                        <a:t>経常利益</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1" i="0">
                          <a:solidFill>
                            <a:srgbClr val="000000"/>
                          </a:solidFill>
                          <a:latin typeface="Arial"/>
                          <a:ea typeface="游ゴシック"/>
                        </a:rPr>
                        <a:t>△7,290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1" i="0">
                          <a:solidFill>
                            <a:srgbClr val="000000"/>
                          </a:solidFill>
                          <a:latin typeface="Arial"/>
                          <a:ea typeface="游ゴシック"/>
                        </a:rPr>
                        <a:t>211,568</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1" i="0">
                          <a:solidFill>
                            <a:srgbClr val="000000"/>
                          </a:solidFill>
                          <a:latin typeface="Arial"/>
                          <a:ea typeface="游ゴシック"/>
                        </a:rPr>
                        <a:t>581</a:t>
                      </a:r>
                    </a:p>
                  </a:txBody>
                  <a:tcPr marL="45720" marR="45720" marT="13716" marB="13716" anchor="ctr">
                    <a:lnL w="0">
                      <a:noFill/>
                    </a:lnL>
                    <a:lnR w="0">
                      <a:noFill/>
                    </a:lnR>
                    <a:lnT w="0">
                      <a:noFill/>
                    </a:lnT>
                    <a:lnB w="6350" cap="flat" cmpd="sng" algn="ctr">
                      <a:solidFill>
                        <a:srgbClr val="B8C0C6"/>
                      </a:solidFill>
                      <a:prstDash val="solid"/>
                    </a:lnB>
                    <a:noFill/>
                  </a:tcPr>
                </a:tc>
              </a:tr>
              <a:tr h="283464">
                <a:tc>
                  <a:txBody>
                    <a:bodyPr wrap="square"/>
                    <a:lstStyle/>
                    <a:p>
                      <a:pPr algn="l"/>
                      <a:r>
                        <a:rPr sz="900" b="0" i="0">
                          <a:solidFill>
                            <a:srgbClr val="000000"/>
                          </a:solidFill>
                          <a:latin typeface="Arial"/>
                          <a:ea typeface="游ゴシック"/>
                        </a:rPr>
                        <a:t>　利益率</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△1.9%</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17.2%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0.2%</a:t>
                      </a:r>
                    </a:p>
                  </a:txBody>
                  <a:tcPr marL="45720" marR="45720" marT="13716" marB="13716" anchor="ctr">
                    <a:lnL w="0">
                      <a:noFill/>
                    </a:lnL>
                    <a:lnR w="0">
                      <a:noFill/>
                    </a:lnR>
                    <a:lnT w="0">
                      <a:noFill/>
                    </a:lnT>
                    <a:lnB w="6350" cap="flat" cmpd="sng" algn="ctr">
                      <a:solidFill>
                        <a:srgbClr val="B8C0C6"/>
                      </a:solidFill>
                      <a:prstDash val="solid"/>
                    </a:lnB>
                    <a:noFill/>
                  </a:tcPr>
                </a:tc>
              </a:tr>
              <a:tr h="283464">
                <a:tc>
                  <a:txBody>
                    <a:bodyPr wrap="square"/>
                    <a:lstStyle/>
                    <a:p>
                      <a:pPr algn="l"/>
                      <a:r>
                        <a:rPr sz="900" b="1" i="0">
                          <a:solidFill>
                            <a:srgbClr val="000000"/>
                          </a:solidFill>
                          <a:latin typeface="Arial"/>
                          <a:ea typeface="游ゴシック"/>
                        </a:rPr>
                        <a:t>税引後当期純利益</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1" i="0">
                          <a:solidFill>
                            <a:srgbClr val="000000"/>
                          </a:solidFill>
                          <a:latin typeface="Arial"/>
                          <a:ea typeface="游ゴシック"/>
                        </a:rPr>
                        <a:t>△7,485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1" i="0">
                          <a:solidFill>
                            <a:srgbClr val="000000"/>
                          </a:solidFill>
                          <a:latin typeface="Arial"/>
                          <a:ea typeface="游ゴシック"/>
                        </a:rPr>
                        <a:t>108,356</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1" i="0">
                          <a:solidFill>
                            <a:srgbClr val="000000"/>
                          </a:solidFill>
                          <a:latin typeface="Arial"/>
                          <a:ea typeface="游ゴシック"/>
                        </a:rPr>
                        <a:t>△48,084</a:t>
                      </a:r>
                    </a:p>
                  </a:txBody>
                  <a:tcPr marL="45720" marR="45720" marT="13716" marB="13716" anchor="ctr">
                    <a:lnL w="0">
                      <a:noFill/>
                    </a:lnL>
                    <a:lnR w="0">
                      <a:noFill/>
                    </a:lnR>
                    <a:lnT w="0">
                      <a:noFill/>
                    </a:lnT>
                    <a:lnB w="6350" cap="flat" cmpd="sng" algn="ctr">
                      <a:solidFill>
                        <a:srgbClr val="B8C0C6"/>
                      </a:solidFill>
                      <a:prstDash val="solid"/>
                    </a:lnB>
                    <a:noFill/>
                  </a:tcPr>
                </a:tc>
              </a:tr>
              <a:tr h="283464">
                <a:tc>
                  <a:txBody>
                    <a:bodyPr wrap="square"/>
                    <a:lstStyle/>
                    <a:p>
                      <a:pPr algn="l"/>
                      <a:r>
                        <a:rPr sz="900" b="0" i="0">
                          <a:solidFill>
                            <a:srgbClr val="000000"/>
                          </a:solidFill>
                          <a:latin typeface="Arial"/>
                          <a:ea typeface="游ゴシック"/>
                        </a:rPr>
                        <a:t>　利益率</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△2.0%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8.8%</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△15.1%</a:t>
                      </a:r>
                    </a:p>
                  </a:txBody>
                  <a:tcPr marL="45720" marR="45720" marT="13716" marB="13716" anchor="ctr">
                    <a:lnL w="0">
                      <a:noFill/>
                    </a:lnL>
                    <a:lnR w="0">
                      <a:noFill/>
                    </a:lnR>
                    <a:lnT w="0">
                      <a:noFill/>
                    </a:lnT>
                    <a:lnB w="6350" cap="flat" cmpd="sng" algn="ctr">
                      <a:solidFill>
                        <a:srgbClr val="B8C0C6"/>
                      </a:solidFill>
                      <a:prstDash val="solid"/>
                    </a:lnB>
                    <a:noFill/>
                  </a:tcPr>
                </a:tc>
              </a:tr>
              <a:tr h="283464">
                <a:tc>
                  <a:txBody>
                    <a:bodyPr wrap="square"/>
                    <a:lstStyle/>
                    <a:p>
                      <a:pPr algn="l"/>
                      <a:r>
                        <a:rPr sz="900" b="0" i="0">
                          <a:solidFill>
                            <a:srgbClr val="000000"/>
                          </a:solidFill>
                          <a:latin typeface="Arial"/>
                          <a:ea typeface="游ゴシック"/>
                        </a:rPr>
                        <a:t>（参考）減価償却費</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4,595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14,219</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11,896</a:t>
                      </a:r>
                    </a:p>
                  </a:txBody>
                  <a:tcPr marL="45720" marR="45720" marT="13716" marB="13716" anchor="ctr">
                    <a:lnL w="0">
                      <a:noFill/>
                    </a:lnL>
                    <a:lnR w="0">
                      <a:noFill/>
                    </a:lnR>
                    <a:lnT w="0">
                      <a:noFill/>
                    </a:lnT>
                    <a:lnB w="6350" cap="flat" cmpd="sng" algn="ctr">
                      <a:solidFill>
                        <a:srgbClr val="B8C0C6"/>
                      </a:solidFill>
                      <a:prstDash val="solid"/>
                    </a:lnB>
                    <a:noFill/>
                  </a:tcPr>
                </a:tc>
              </a:tr>
              <a:tr h="283464">
                <a:tc>
                  <a:txBody>
                    <a:bodyPr wrap="square"/>
                    <a:lstStyle/>
                    <a:p>
                      <a:pPr algn="l"/>
                      <a:r>
                        <a:rPr sz="900" b="1" i="0">
                          <a:solidFill>
                            <a:srgbClr val="000000"/>
                          </a:solidFill>
                          <a:latin typeface="Arial"/>
                          <a:ea typeface="游ゴシック"/>
                        </a:rPr>
                        <a:t>【調整項目】</a:t>
                      </a:r>
                    </a:p>
                  </a:txBody>
                  <a:tcPr marL="45720" marR="45720" marT="13716" marB="13716" anchor="ctr">
                    <a:lnL w="0">
                      <a:noFill/>
                    </a:lnL>
                    <a:lnR w="0">
                      <a:noFill/>
                    </a:lnR>
                    <a:lnT w="0">
                      <a:noFill/>
                    </a:lnT>
                    <a:lnB w="6350" cap="flat" cmpd="sng" algn="ctr">
                      <a:solidFill>
                        <a:srgbClr val="B8C0C6"/>
                      </a:solidFill>
                      <a:prstDash val="solid"/>
                    </a:lnB>
                    <a:solidFill>
                      <a:srgbClr val="E3E7E9"/>
                    </a:solidFill>
                  </a:tcPr>
                </a:tc>
                <a:tc>
                  <a:txBody>
                    <a:bodyPr wrap="square"/>
                    <a:lstStyle/>
                    <a:p>
                      <a:pPr algn="r"/>
                      <a:r>
                        <a:rPr sz="900" b="1" i="0">
                          <a:solidFill>
                            <a:srgbClr val="000000"/>
                          </a:solidFill>
                          <a:latin typeface="Arial"/>
                          <a:ea typeface="游ゴシック"/>
                        </a:rPr>
                        <a:t>　</a:t>
                      </a:r>
                    </a:p>
                  </a:txBody>
                  <a:tcPr marL="45720" marR="45720" marT="13716" marB="13716" anchor="ctr">
                    <a:lnL w="0">
                      <a:noFill/>
                    </a:lnL>
                    <a:lnR w="0">
                      <a:noFill/>
                    </a:lnR>
                    <a:lnT w="0">
                      <a:noFill/>
                    </a:lnT>
                    <a:lnB w="6350" cap="flat" cmpd="sng" algn="ctr">
                      <a:solidFill>
                        <a:srgbClr val="B8C0C6"/>
                      </a:solidFill>
                      <a:prstDash val="solid"/>
                    </a:lnB>
                    <a:solidFill>
                      <a:srgbClr val="E3E7E9"/>
                    </a:solidFill>
                  </a:tcPr>
                </a:tc>
                <a:tc>
                  <a:txBody>
                    <a:bodyPr wrap="square"/>
                    <a:lstStyle/>
                    <a:p>
                      <a:pPr algn="r"/>
                      <a:r>
                        <a:rPr sz="900" b="1" i="0">
                          <a:solidFill>
                            <a:srgbClr val="000000"/>
                          </a:solidFill>
                          <a:latin typeface="Arial"/>
                          <a:ea typeface="游ゴシック"/>
                        </a:rPr>
                        <a:t>　</a:t>
                      </a:r>
                    </a:p>
                  </a:txBody>
                  <a:tcPr marL="45720" marR="45720" marT="13716" marB="13716" anchor="ctr">
                    <a:lnL w="0">
                      <a:noFill/>
                    </a:lnL>
                    <a:lnR w="0">
                      <a:noFill/>
                    </a:lnR>
                    <a:lnT w="0">
                      <a:noFill/>
                    </a:lnT>
                    <a:lnB w="6350" cap="flat" cmpd="sng" algn="ctr">
                      <a:solidFill>
                        <a:srgbClr val="B8C0C6"/>
                      </a:solidFill>
                      <a:prstDash val="solid"/>
                    </a:lnB>
                    <a:solidFill>
                      <a:srgbClr val="E3E7E9"/>
                    </a:solidFill>
                  </a:tcPr>
                </a:tc>
                <a:tc>
                  <a:txBody>
                    <a:bodyPr wrap="square"/>
                    <a:lstStyle/>
                    <a:p>
                      <a:pPr algn="r"/>
                      <a:r>
                        <a:rPr sz="900" b="1" i="0">
                          <a:solidFill>
                            <a:srgbClr val="000000"/>
                          </a:solidFill>
                          <a:latin typeface="Arial"/>
                          <a:ea typeface="游ゴシック"/>
                        </a:rPr>
                        <a:t>　</a:t>
                      </a:r>
                    </a:p>
                  </a:txBody>
                  <a:tcPr marL="45720" marR="45720" marT="13716" marB="13716" anchor="ctr">
                    <a:lnL w="0">
                      <a:noFill/>
                    </a:lnL>
                    <a:lnR w="0">
                      <a:noFill/>
                    </a:lnR>
                    <a:lnT w="0">
                      <a:noFill/>
                    </a:lnT>
                    <a:lnB w="6350" cap="flat" cmpd="sng" algn="ctr">
                      <a:solidFill>
                        <a:srgbClr val="B8C0C6"/>
                      </a:solidFill>
                      <a:prstDash val="solid"/>
                    </a:lnB>
                    <a:solidFill>
                      <a:srgbClr val="E3E7E9"/>
                    </a:solidFill>
                  </a:tcPr>
                </a:tc>
              </a:tr>
              <a:tr h="283464">
                <a:tc>
                  <a:txBody>
                    <a:bodyPr wrap="square"/>
                    <a:lstStyle/>
                    <a:p>
                      <a:pPr algn="l"/>
                      <a:r>
                        <a:rPr sz="900" b="0" i="0">
                          <a:solidFill>
                            <a:srgbClr val="000000"/>
                          </a:solidFill>
                          <a:latin typeface="Arial"/>
                          <a:ea typeface="游ゴシック"/>
                        </a:rPr>
                        <a:t>不動産売却損益（売却済物件）</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△233,144</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0</a:t>
                      </a:r>
                    </a:p>
                  </a:txBody>
                  <a:tcPr marL="45720" marR="45720" marT="13716" marB="13716" anchor="ctr">
                    <a:lnL w="0">
                      <a:noFill/>
                    </a:lnL>
                    <a:lnR w="0">
                      <a:noFill/>
                    </a:lnR>
                    <a:lnT w="0">
                      <a:noFill/>
                    </a:lnT>
                    <a:lnB w="6350" cap="flat" cmpd="sng" algn="ctr">
                      <a:solidFill>
                        <a:srgbClr val="B8C0C6"/>
                      </a:solidFill>
                      <a:prstDash val="solid"/>
                    </a:lnB>
                    <a:noFill/>
                  </a:tcPr>
                </a:tc>
              </a:tr>
              <a:tr h="283464">
                <a:tc>
                  <a:txBody>
                    <a:bodyPr wrap="square"/>
                    <a:lstStyle/>
                    <a:p>
                      <a:pPr algn="l"/>
                      <a:r>
                        <a:rPr sz="900" b="0" i="0">
                          <a:solidFill>
                            <a:srgbClr val="000000"/>
                          </a:solidFill>
                          <a:latin typeface="Arial"/>
                          <a:ea typeface="游ゴシック"/>
                        </a:rPr>
                        <a:t>不動産賃貸収入（売却済物件）</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△16,634</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△16,832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△1,635</a:t>
                      </a:r>
                    </a:p>
                  </a:txBody>
                  <a:tcPr marL="45720" marR="45720" marT="13716" marB="13716" anchor="ctr">
                    <a:lnL w="0">
                      <a:noFill/>
                    </a:lnL>
                    <a:lnR w="0">
                      <a:noFill/>
                    </a:lnR>
                    <a:lnT w="0">
                      <a:noFill/>
                    </a:lnT>
                    <a:lnB w="6350" cap="flat" cmpd="sng" algn="ctr">
                      <a:solidFill>
                        <a:srgbClr val="B8C0C6"/>
                      </a:solidFill>
                      <a:prstDash val="solid"/>
                    </a:lnB>
                    <a:noFill/>
                  </a:tcPr>
                </a:tc>
              </a:tr>
              <a:tr h="283464">
                <a:tc>
                  <a:txBody>
                    <a:bodyPr wrap="square"/>
                    <a:lstStyle/>
                    <a:p>
                      <a:pPr algn="l"/>
                      <a:r>
                        <a:rPr sz="900" b="0" i="0">
                          <a:solidFill>
                            <a:srgbClr val="000000"/>
                          </a:solidFill>
                          <a:latin typeface="Arial"/>
                          <a:ea typeface="游ゴシック"/>
                        </a:rPr>
                        <a:t>不動産管理費（同上と推察）</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4,347</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1,928</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686</a:t>
                      </a:r>
                    </a:p>
                  </a:txBody>
                  <a:tcPr marL="45720" marR="45720" marT="13716" marB="13716" anchor="ctr">
                    <a:lnL w="0">
                      <a:noFill/>
                    </a:lnL>
                    <a:lnR w="0">
                      <a:noFill/>
                    </a:lnR>
                    <a:lnT w="0">
                      <a:noFill/>
                    </a:lnT>
                    <a:lnB w="6350" cap="flat" cmpd="sng" algn="ctr">
                      <a:solidFill>
                        <a:srgbClr val="B8C0C6"/>
                      </a:solidFill>
                      <a:prstDash val="solid"/>
                    </a:lnB>
                    <a:noFill/>
                  </a:tcPr>
                </a:tc>
              </a:tr>
              <a:tr h="283464">
                <a:tc>
                  <a:txBody>
                    <a:bodyPr wrap="square"/>
                    <a:lstStyle/>
                    <a:p>
                      <a:pPr algn="l"/>
                      <a:r>
                        <a:rPr sz="900" b="0" i="0">
                          <a:solidFill>
                            <a:srgbClr val="000000"/>
                          </a:solidFill>
                          <a:latin typeface="Arial"/>
                          <a:ea typeface="游ゴシック"/>
                        </a:rPr>
                        <a:t>コンサル収入（単発・非経常）</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△14,000</a:t>
                      </a:r>
                    </a:p>
                  </a:txBody>
                  <a:tcPr marL="45720" marR="45720" marT="13716" marB="13716" anchor="ctr">
                    <a:lnL w="0">
                      <a:noFill/>
                    </a:lnL>
                    <a:lnR w="0">
                      <a:noFill/>
                    </a:lnR>
                    <a:lnT w="0">
                      <a:noFill/>
                    </a:lnT>
                    <a:lnB w="6350" cap="flat" cmpd="sng" algn="ctr">
                      <a:solidFill>
                        <a:srgbClr val="B8C0C6"/>
                      </a:solidFill>
                      <a:prstDash val="solid"/>
                    </a:lnB>
                    <a:noFill/>
                  </a:tcPr>
                </a:tc>
              </a:tr>
              <a:tr h="283464">
                <a:tc>
                  <a:txBody>
                    <a:bodyPr wrap="square"/>
                    <a:lstStyle/>
                    <a:p>
                      <a:pPr algn="l"/>
                      <a:r>
                        <a:rPr sz="900" b="1" i="0">
                          <a:solidFill>
                            <a:srgbClr val="000000"/>
                          </a:solidFill>
                          <a:latin typeface="Arial"/>
                          <a:ea typeface="游ゴシック"/>
                        </a:rPr>
                        <a:t>調整後EBITDA</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900" b="1" i="0">
                          <a:solidFill>
                            <a:srgbClr val="000000"/>
                          </a:solidFill>
                          <a:latin typeface="Arial"/>
                          <a:ea typeface="游ゴシック"/>
                        </a:rPr>
                        <a:t>△12,647</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900" b="1" i="0">
                          <a:solidFill>
                            <a:srgbClr val="000000"/>
                          </a:solidFill>
                          <a:latin typeface="Arial"/>
                          <a:ea typeface="游ゴシック"/>
                        </a:rPr>
                        <a:t>△12,981</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900" b="1" i="0">
                          <a:solidFill>
                            <a:srgbClr val="000000"/>
                          </a:solidFill>
                          <a:latin typeface="Arial"/>
                          <a:ea typeface="游ゴシック"/>
                        </a:rPr>
                        <a:t>△2,182</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r>
            </a:tbl>
          </a:graphicData>
        </a:graphic>
      </p:graphicFrame>
    </p:spTree>
    <p:extLst>
      <p:ext uri="{BB962C8B-B14F-4D97-AF65-F5344CB8AC3E}">
        <p14:creationId xmlns:p14="http://schemas.microsoft.com/office/powerpoint/2010/main" val="30165897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25D46-8BE9-D21F-8F78-292CE6E9B929}"/>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2AA39DD4-3E77-6023-715D-76F64D8C46A7}"/>
              </a:ext>
            </a:extLst>
          </p:cNvPr>
          <p:cNvSpPr>
            <a:spLocks noGrp="1"/>
          </p:cNvSpPr>
          <p:nvPr>
            <p:ph type="ctrTitle"/>
          </p:nvPr>
        </p:nvSpPr>
        <p:spPr>
          <a:xfrm>
            <a:off x="311150" y="180296"/>
            <a:ext cx="7799917" cy="339267"/>
          </a:xfrm>
        </p:spPr>
        <p:txBody>
          <a:bodyPr>
            <a:normAutofit/>
          </a:bodyPr>
          <a:lstStyle/>
          <a:p>
            <a:r>
              <a:rPr lang="ja-JP" altLang="en-US" dirty="0"/>
              <a:t>財務ハイライト（</a:t>
            </a:r>
            <a:r>
              <a:rPr lang="en-US" altLang="ja-JP" dirty="0"/>
              <a:t>B/S</a:t>
            </a:r>
            <a:r>
              <a:rPr lang="ja-JP" altLang="en-US" dirty="0"/>
              <a:t>）</a:t>
            </a:r>
          </a:p>
        </p:txBody>
      </p:sp>
      <p:sp>
        <p:nvSpPr>
          <p:cNvPr id="5" name="タイトル 1">
            <a:extLst>
              <a:ext uri="{FF2B5EF4-FFF2-40B4-BE49-F238E27FC236}">
                <a16:creationId xmlns:a16="http://schemas.microsoft.com/office/drawing/2014/main" id="{393BEF8A-36B7-CC08-2D29-C971912378C9}"/>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エグゼクティブサマリー</a:t>
            </a:r>
          </a:p>
        </p:txBody>
      </p:sp>
      <p:sp>
        <p:nvSpPr>
          <p:cNvPr id="6" name="正方形/長方形 5">
            <a:extLst>
              <a:ext uri="{FF2B5EF4-FFF2-40B4-BE49-F238E27FC236}">
                <a16:creationId xmlns:a16="http://schemas.microsoft.com/office/drawing/2014/main" id="{63937474-FD16-D668-CAE8-2B82EF0CD424}"/>
              </a:ext>
            </a:extLst>
          </p:cNvPr>
          <p:cNvSpPr/>
          <p:nvPr/>
        </p:nvSpPr>
        <p:spPr>
          <a:xfrm>
            <a:off x="5559668" y="4003252"/>
            <a:ext cx="4790832" cy="3140498"/>
          </a:xfrm>
          <a:prstGeom prst="rect">
            <a:avLst/>
          </a:prstGeom>
          <a:solidFill>
            <a:schemeClr val="accent2"/>
          </a:solid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indent="-171450">
              <a:lnSpc>
                <a:spcPct val="150000"/>
              </a:lnSpc>
              <a:buFont typeface="Wingdings" panose="05000000000000000000" pitchFamily="2" charset="2"/>
              <a:buChar char="ü"/>
            </a:pPr>
            <a:endParaRPr kumimoji="1" lang="en-US" altLang="ja-JP" sz="1200" b="1" dirty="0">
              <a:solidFill>
                <a:schemeClr val="tx1"/>
              </a:solidFill>
              <a:latin typeface="+mn-ea"/>
            </a:endParaRPr>
          </a:p>
        </p:txBody>
      </p:sp>
      <p:sp>
        <p:nvSpPr>
          <p:cNvPr id="11" name="字幕 13">
            <a:extLst>
              <a:ext uri="{FF2B5EF4-FFF2-40B4-BE49-F238E27FC236}">
                <a16:creationId xmlns:a16="http://schemas.microsoft.com/office/drawing/2014/main" id="{4BDEA35E-AAC5-A70B-357F-0FB600B4A83F}"/>
              </a:ext>
            </a:extLst>
          </p:cNvPr>
          <p:cNvSpPr>
            <a:spLocks noGrp="1"/>
          </p:cNvSpPr>
          <p:nvPr>
            <p:ph type="subTitle" idx="1"/>
          </p:nvPr>
        </p:nvSpPr>
        <p:spPr>
          <a:xfrm>
            <a:off x="460675" y="830046"/>
            <a:ext cx="9781875" cy="241861"/>
          </a:xfrm>
        </p:spPr>
        <p:txBody>
          <a:bodyPr>
            <a:noAutofit/>
          </a:bodyPr>
          <a:lstStyle/>
          <a:p>
            <a:r>
              <a:rPr lang="ja-JP" altLang="en-US" dirty="0">
                <a:latin typeface="+mj-ea"/>
              </a:rPr>
              <a:t>不動産売却代金で借入金を890百万円から446百万円へ圧縮し、現預金226百万円・純資産327百万円。借入金の約8割は役員借入金です。</a:t>
            </a:r>
            <a:endParaRPr lang="en-US" altLang="ja-JP" dirty="0"/>
          </a:p>
        </p:txBody>
      </p:sp>
      <p:sp>
        <p:nvSpPr>
          <p:cNvPr id="2" name="正方形/長方形 1">
            <a:extLst>
              <a:ext uri="{FF2B5EF4-FFF2-40B4-BE49-F238E27FC236}">
                <a16:creationId xmlns:a16="http://schemas.microsoft.com/office/drawing/2014/main" id="{612EABB3-CE7D-61AA-49A7-0C5A39CB2F7F}"/>
              </a:ext>
            </a:extLst>
          </p:cNvPr>
          <p:cNvSpPr/>
          <p:nvPr/>
        </p:nvSpPr>
        <p:spPr>
          <a:xfrm>
            <a:off x="5559668" y="1382390"/>
            <a:ext cx="4790832" cy="250106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7" name="テキスト ボックス 6">
            <a:extLst>
              <a:ext uri="{FF2B5EF4-FFF2-40B4-BE49-F238E27FC236}">
                <a16:creationId xmlns:a16="http://schemas.microsoft.com/office/drawing/2014/main" id="{07A18A00-4497-FBE7-D232-D583ED28CEE8}"/>
              </a:ext>
            </a:extLst>
          </p:cNvPr>
          <p:cNvSpPr txBox="1"/>
          <p:nvPr/>
        </p:nvSpPr>
        <p:spPr>
          <a:xfrm>
            <a:off x="5557024" y="1949972"/>
            <a:ext cx="4793476" cy="1523494"/>
          </a:xfrm>
          <a:prstGeom prst="rect">
            <a:avLst/>
          </a:prstGeom>
          <a:noFill/>
        </p:spPr>
        <p:txBody>
          <a:bodyPr wrap="square" lIns="288000" tIns="0" rIns="252000" bIns="0" rtlCol="0">
            <a:spAutoFit/>
          </a:bodyPr>
          <a:lstStyle/>
          <a:p>
            <a:r>
              <a:rPr kumimoji="1" lang="ja-JP" altLang="en-US" sz="900" dirty="0">
                <a:solidFill>
                  <a:schemeClr val="tx1"/>
                </a:solidFill>
                <a:latin typeface="+mn-ea"/>
                <a:ea typeface="+mn-ea"/>
              </a:rPr>
              <a:t>≪現預金≫</a:t>
            </a:r>
            <a:endParaRPr kumimoji="1" lang="ja-JP" altLang="en-US" sz="900" dirty="0"/>
          </a:p>
          <a:p>
            <a:r>
              <a:rPr kumimoji="1" lang="ja-JP" altLang="en-US" sz="900" dirty="0">
                <a:solidFill>
                  <a:schemeClr val="tx1"/>
                </a:solidFill>
                <a:latin typeface="+mn-ea"/>
                <a:ea typeface="+mn-ea"/>
              </a:rPr>
              <a:t>・226百万円（前期末 32百万円）。売掛金841百万円（不動産売却代金）の回収による</a:t>
            </a:r>
            <a:endParaRPr kumimoji="1" lang="ja-JP" altLang="en-US" sz="900" dirty="0"/>
          </a:p>
          <a:p>
            <a:r>
              <a:rPr kumimoji="1" lang="ja-JP" altLang="en-US" sz="900" dirty="0">
                <a:solidFill>
                  <a:schemeClr val="tx1"/>
                </a:solidFill>
                <a:latin typeface="+mn-ea"/>
                <a:ea typeface="+mn-ea"/>
              </a:rPr>
              <a:t>≪借入金≫</a:t>
            </a:r>
            <a:endParaRPr kumimoji="1" lang="ja-JP" altLang="en-US" sz="900" dirty="0"/>
          </a:p>
          <a:p>
            <a:r>
              <a:rPr kumimoji="1" lang="ja-JP" altLang="en-US" sz="900" dirty="0">
                <a:solidFill>
                  <a:schemeClr val="tx1"/>
                </a:solidFill>
                <a:latin typeface="+mn-ea"/>
                <a:ea typeface="+mn-ea"/>
              </a:rPr>
              <a:t>・借入金計446百万円（前期 890百万円）。内訳は役員借入金360百万円、金融機関86百万円</a:t>
            </a:r>
            <a:endParaRPr kumimoji="1" lang="ja-JP" altLang="en-US" sz="900" dirty="0"/>
          </a:p>
          <a:p>
            <a:r>
              <a:rPr kumimoji="1" lang="ja-JP" altLang="en-US" sz="900" dirty="0">
                <a:solidFill>
                  <a:schemeClr val="tx1"/>
                </a:solidFill>
                <a:latin typeface="+mn-ea"/>
                <a:ea typeface="+mn-ea"/>
              </a:rPr>
              <a:t>≪土地・建物≫</a:t>
            </a:r>
            <a:endParaRPr kumimoji="1" lang="ja-JP" altLang="en-US" sz="900" dirty="0"/>
          </a:p>
          <a:p>
            <a:r>
              <a:rPr kumimoji="1" lang="ja-JP" altLang="en-US" sz="900" dirty="0">
                <a:solidFill>
                  <a:schemeClr val="tx1"/>
                </a:solidFill>
                <a:latin typeface="+mn-ea"/>
                <a:ea typeface="+mn-ea"/>
              </a:rPr>
              <a:t>・土地345百万円・建物119百万円（簿価）。鎌倉山の自社所有物件が中心</a:t>
            </a:r>
            <a:endParaRPr kumimoji="1" lang="ja-JP" altLang="en-US" sz="900" dirty="0"/>
          </a:p>
        </p:txBody>
      </p:sp>
      <p:sp>
        <p:nvSpPr>
          <p:cNvPr id="8" name="テキスト ボックス 7">
            <a:extLst>
              <a:ext uri="{FF2B5EF4-FFF2-40B4-BE49-F238E27FC236}">
                <a16:creationId xmlns:a16="http://schemas.microsoft.com/office/drawing/2014/main" id="{632197B6-9950-6937-E8F9-2140ACC03ACD}"/>
              </a:ext>
            </a:extLst>
          </p:cNvPr>
          <p:cNvSpPr txBox="1"/>
          <p:nvPr/>
        </p:nvSpPr>
        <p:spPr>
          <a:xfrm>
            <a:off x="5557024" y="4108448"/>
            <a:ext cx="4793476" cy="2937920"/>
          </a:xfrm>
          <a:prstGeom prst="rect">
            <a:avLst/>
          </a:prstGeom>
          <a:noFill/>
        </p:spPr>
        <p:txBody>
          <a:bodyPr wrap="square" lIns="288000" tIns="0" rIns="252000" bIns="0" rtlCol="0">
            <a:spAutoFit/>
          </a:bodyPr>
          <a:lstStyle/>
          <a:p>
            <a:r>
              <a:rPr kumimoji="1" lang="ja-JP" altLang="en-US" sz="900" dirty="0">
                <a:solidFill>
                  <a:schemeClr val="tx1"/>
                </a:solidFill>
                <a:latin typeface="+mn-ea"/>
                <a:ea typeface="+mn-ea"/>
              </a:rPr>
              <a:t>【時価修正】</a:t>
            </a:r>
            <a:endParaRPr kumimoji="1" lang="ja-JP" altLang="en-US" sz="900" dirty="0"/>
          </a:p>
          <a:p>
            <a:r>
              <a:rPr kumimoji="1" lang="ja-JP" altLang="en-US" sz="900" dirty="0">
                <a:solidFill>
                  <a:schemeClr val="tx1"/>
                </a:solidFill>
                <a:latin typeface="+mn-ea"/>
                <a:ea typeface="+mn-ea"/>
              </a:rPr>
              <a:t>≪土地・建物≫</a:t>
            </a:r>
            <a:endParaRPr kumimoji="1" lang="ja-JP" altLang="en-US" sz="900" dirty="0"/>
          </a:p>
          <a:p>
            <a:r>
              <a:rPr kumimoji="1" lang="ja-JP" altLang="en-US" sz="900" dirty="0">
                <a:solidFill>
                  <a:schemeClr val="tx1"/>
                </a:solidFill>
                <a:latin typeface="+mn-ea"/>
                <a:ea typeface="+mn-ea"/>
              </a:rPr>
              <a:t>・登記簿・評価証明書が未受領のため時価評価は未実施（簿価評価）</a:t>
            </a:r>
            <a:endParaRPr kumimoji="1" lang="ja-JP" altLang="en-US" sz="900" dirty="0"/>
          </a:p>
          <a:p>
            <a:r>
              <a:rPr kumimoji="1" lang="ja-JP" altLang="en-US" sz="900" dirty="0">
                <a:solidFill>
                  <a:schemeClr val="tx1"/>
                </a:solidFill>
                <a:latin typeface="+mn-ea"/>
                <a:ea typeface="+mn-ea"/>
              </a:rPr>
              <a:t>≪未払人件費≫</a:t>
            </a:r>
            <a:endParaRPr kumimoji="1" lang="ja-JP" altLang="en-US" sz="900" dirty="0"/>
          </a:p>
          <a:p>
            <a:r>
              <a:rPr kumimoji="1" lang="ja-JP" altLang="en-US" sz="900" dirty="0">
                <a:solidFill>
                  <a:schemeClr val="tx1"/>
                </a:solidFill>
                <a:latin typeface="+mn-ea"/>
                <a:ea typeface="+mn-ea"/>
              </a:rPr>
              <a:t>・3月分給与の未払計上（△10百万円）と税効果（＋4百万円）</a:t>
            </a:r>
            <a:endParaRPr kumimoji="1" lang="ja-JP" altLang="en-US" sz="900" dirty="0"/>
          </a:p>
          <a:p>
            <a:r>
              <a:rPr kumimoji="1" lang="ja-JP" altLang="en-US" sz="900" dirty="0">
                <a:solidFill>
                  <a:schemeClr val="tx1"/>
                </a:solidFill>
                <a:latin typeface="+mn-ea"/>
                <a:ea typeface="+mn-ea"/>
              </a:rPr>
              <a:t>≪退職金・賞与≫</a:t>
            </a:r>
            <a:endParaRPr kumimoji="1" lang="ja-JP" altLang="en-US" sz="900" dirty="0"/>
          </a:p>
          <a:p>
            <a:r>
              <a:rPr kumimoji="1" lang="ja-JP" altLang="en-US" sz="900" dirty="0">
                <a:solidFill>
                  <a:schemeClr val="tx1"/>
                </a:solidFill>
                <a:latin typeface="+mn-ea"/>
                <a:ea typeface="+mn-ea"/>
              </a:rPr>
              <a:t>・規程未受領のため引当未計上（要確認）</a:t>
            </a:r>
            <a:endParaRPr kumimoji="1" lang="ja-JP" altLang="en-US" sz="900" dirty="0"/>
          </a:p>
          <a:p>
            <a:endParaRPr kumimoji="1" lang="ja-JP" altLang="en-US" sz="900" dirty="0"/>
          </a:p>
          <a:p>
            <a:r>
              <a:rPr kumimoji="1" lang="ja-JP" altLang="en-US" sz="900" b="1" dirty="0">
                <a:solidFill>
                  <a:schemeClr val="tx1"/>
                </a:solidFill>
                <a:latin typeface="+mn-ea"/>
                <a:ea typeface="+mn-ea"/>
              </a:rPr>
              <a:t>✓ 想定時価純資産　320,002千円</a:t>
            </a:r>
            <a:endParaRPr kumimoji="1" lang="ja-JP" altLang="en-US" sz="900" dirty="0"/>
          </a:p>
          <a:p>
            <a:r>
              <a:rPr kumimoji="1" lang="ja-JP" altLang="en-US" sz="900" b="1" dirty="0">
                <a:solidFill>
                  <a:schemeClr val="tx1"/>
                </a:solidFill>
                <a:latin typeface="+mn-ea"/>
                <a:ea typeface="+mn-ea"/>
              </a:rPr>
              <a:t>✓ ネットキャッシュ　△208,984千円（現預金等237百万円－借入金等446百万円）</a:t>
            </a:r>
            <a:endParaRPr kumimoji="1" lang="ja-JP" altLang="en-US" sz="900" dirty="0"/>
          </a:p>
        </p:txBody>
      </p:sp>
      <p:graphicFrame>
        <p:nvGraphicFramePr>
          <p:cNvPr id="14" name="Table 13"/>
          <p:cNvGraphicFramePr>
            <a:graphicFrameLocks noGrp="1"/>
          </p:cNvGraphicFramePr>
          <p:nvPr/>
        </p:nvGraphicFramePr>
        <p:xfrm>
          <a:off x="338328" y="1408176"/>
          <a:ext cx="4983480" cy="3566160"/>
        </p:xfrm>
        <a:graphic>
          <a:graphicData uri="http://schemas.openxmlformats.org/drawingml/2006/table">
            <a:tbl>
              <a:tblPr/>
              <a:tblGrid>
                <a:gridCol w="1691640"/>
                <a:gridCol w="731520"/>
                <a:gridCol w="1828800"/>
                <a:gridCol w="731520"/>
              </a:tblGrid>
              <a:tr h="274320">
                <a:tc>
                  <a:txBody>
                    <a:bodyPr wrap="square"/>
                    <a:lstStyle/>
                    <a:p>
                      <a:pPr algn="ctr"/>
                      <a:r>
                        <a:rPr sz="850" b="1" i="0">
                          <a:solidFill>
                            <a:srgbClr val="FFFFFF"/>
                          </a:solidFill>
                          <a:latin typeface="Arial"/>
                          <a:ea typeface="游ゴシック"/>
                        </a:rPr>
                        <a:t>（単位：千円）</a:t>
                      </a:r>
                    </a:p>
                  </a:txBody>
                  <a:tcPr marL="45720" marR="45720" marT="13716" marB="13716" anchor="ctr">
                    <a:lnL w="0">
                      <a:noFill/>
                    </a:lnL>
                    <a:lnR w="0">
                      <a:noFill/>
                    </a:lnR>
                    <a:lnT w="0">
                      <a:noFill/>
                    </a:lnT>
                    <a:lnB w="0">
                      <a:noFill/>
                    </a:lnB>
                    <a:solidFill>
                      <a:srgbClr val="0B3041"/>
                    </a:solidFill>
                  </a:tcPr>
                </a:tc>
                <a:tc>
                  <a:txBody>
                    <a:bodyPr wrap="square"/>
                    <a:lstStyle/>
                    <a:p>
                      <a:pPr algn="ctr"/>
                      <a:r>
                        <a:rPr sz="850" b="1" i="0">
                          <a:solidFill>
                            <a:srgbClr val="FFFFFF"/>
                          </a:solidFill>
                          <a:latin typeface="Arial"/>
                          <a:ea typeface="游ゴシック"/>
                        </a:rPr>
                        <a:t>令8/3期</a:t>
                      </a:r>
                    </a:p>
                  </a:txBody>
                  <a:tcPr marL="45720" marR="45720" marT="13716" marB="13716" anchor="ctr">
                    <a:lnL w="0">
                      <a:noFill/>
                    </a:lnL>
                    <a:lnR w="0">
                      <a:noFill/>
                    </a:lnR>
                    <a:lnT w="0">
                      <a:noFill/>
                    </a:lnT>
                    <a:lnB w="0">
                      <a:noFill/>
                    </a:lnB>
                    <a:solidFill>
                      <a:srgbClr val="0B3041"/>
                    </a:solidFill>
                  </a:tcPr>
                </a:tc>
                <a:tc>
                  <a:txBody>
                    <a:bodyPr wrap="square"/>
                    <a:lstStyle/>
                    <a:p>
                      <a:pPr algn="ctr"/>
                      <a:r>
                        <a:rPr sz="850" b="1" i="0">
                          <a:solidFill>
                            <a:srgbClr val="FFFFFF"/>
                          </a:solidFill>
                          <a:latin typeface="Arial"/>
                          <a:ea typeface="游ゴシック"/>
                        </a:rPr>
                        <a:t>（単位：千円）</a:t>
                      </a:r>
                    </a:p>
                  </a:txBody>
                  <a:tcPr marL="45720" marR="45720" marT="13716" marB="13716" anchor="ctr">
                    <a:lnL w="0">
                      <a:noFill/>
                    </a:lnL>
                    <a:lnR w="0">
                      <a:noFill/>
                    </a:lnR>
                    <a:lnT w="0">
                      <a:noFill/>
                    </a:lnT>
                    <a:lnB w="0">
                      <a:noFill/>
                    </a:lnB>
                    <a:solidFill>
                      <a:srgbClr val="0B3041"/>
                    </a:solidFill>
                  </a:tcPr>
                </a:tc>
                <a:tc>
                  <a:txBody>
                    <a:bodyPr wrap="square"/>
                    <a:lstStyle/>
                    <a:p>
                      <a:pPr algn="ctr"/>
                      <a:r>
                        <a:rPr sz="850" b="1" i="0">
                          <a:solidFill>
                            <a:srgbClr val="FFFFFF"/>
                          </a:solidFill>
                          <a:latin typeface="Arial"/>
                          <a:ea typeface="游ゴシック"/>
                        </a:rPr>
                        <a:t>令8/3期</a:t>
                      </a:r>
                    </a:p>
                  </a:txBody>
                  <a:tcPr marL="45720" marR="45720" marT="13716" marB="13716" anchor="ctr">
                    <a:lnL w="0">
                      <a:noFill/>
                    </a:lnL>
                    <a:lnR w="0">
                      <a:noFill/>
                    </a:lnR>
                    <a:lnT w="0">
                      <a:noFill/>
                    </a:lnT>
                    <a:lnB w="0">
                      <a:noFill/>
                    </a:lnB>
                    <a:solidFill>
                      <a:srgbClr val="0B3041"/>
                    </a:solidFill>
                  </a:tcPr>
                </a:tc>
              </a:tr>
              <a:tr h="274320">
                <a:tc>
                  <a:txBody>
                    <a:bodyPr wrap="square"/>
                    <a:lstStyle/>
                    <a:p>
                      <a:pPr algn="l"/>
                      <a:r>
                        <a:rPr sz="850" b="1" i="0">
                          <a:solidFill>
                            <a:srgbClr val="000000"/>
                          </a:solidFill>
                          <a:latin typeface="Arial"/>
                          <a:ea typeface="游ゴシック"/>
                        </a:rPr>
                        <a:t>【資産の部】</a:t>
                      </a:r>
                    </a:p>
                  </a:txBody>
                  <a:tcPr marL="45720" marR="45720" marT="13716" marB="13716" anchor="ctr">
                    <a:lnL w="0">
                      <a:noFill/>
                    </a:lnL>
                    <a:lnR w="0">
                      <a:noFill/>
                    </a:lnR>
                    <a:lnT w="0">
                      <a:noFill/>
                    </a:lnT>
                    <a:lnB w="6350" cap="flat" cmpd="sng" algn="ctr">
                      <a:solidFill>
                        <a:srgbClr val="B8C0C6"/>
                      </a:solidFill>
                      <a:prstDash val="solid"/>
                    </a:lnB>
                    <a:solidFill>
                      <a:srgbClr val="E3E7E9"/>
                    </a:solidFill>
                  </a:tcPr>
                </a:tc>
                <a:tc>
                  <a:txBody>
                    <a:bodyPr wrap="square"/>
                    <a:lstStyle/>
                    <a:p>
                      <a:pPr algn="r"/>
                      <a:r>
                        <a:rPr sz="850" b="0" i="0">
                          <a:solidFill>
                            <a:srgbClr val="000000"/>
                          </a:solidFill>
                          <a:latin typeface="Arial"/>
                          <a:ea typeface="游ゴシック"/>
                        </a:rPr>
                        <a:t>　</a:t>
                      </a:r>
                    </a:p>
                  </a:txBody>
                  <a:tcPr marL="45720" marR="45720" marT="13716" marB="13716" anchor="ctr">
                    <a:lnL w="0">
                      <a:noFill/>
                    </a:lnL>
                    <a:lnR w="0">
                      <a:noFill/>
                    </a:lnR>
                    <a:lnT w="0">
                      <a:noFill/>
                    </a:lnT>
                    <a:lnB w="6350" cap="flat" cmpd="sng" algn="ctr">
                      <a:solidFill>
                        <a:srgbClr val="B8C0C6"/>
                      </a:solidFill>
                      <a:prstDash val="solid"/>
                    </a:lnB>
                    <a:solidFill>
                      <a:srgbClr val="E3E7E9"/>
                    </a:solidFill>
                  </a:tcPr>
                </a:tc>
                <a:tc>
                  <a:txBody>
                    <a:bodyPr wrap="square"/>
                    <a:lstStyle/>
                    <a:p>
                      <a:pPr algn="l"/>
                      <a:r>
                        <a:rPr sz="850" b="1" i="0">
                          <a:solidFill>
                            <a:srgbClr val="000000"/>
                          </a:solidFill>
                          <a:latin typeface="Arial"/>
                          <a:ea typeface="游ゴシック"/>
                        </a:rPr>
                        <a:t>【負債の部】</a:t>
                      </a:r>
                    </a:p>
                  </a:txBody>
                  <a:tcPr marL="45720" marR="45720" marT="13716" marB="13716" anchor="ctr">
                    <a:lnL w="0">
                      <a:noFill/>
                    </a:lnL>
                    <a:lnR w="0">
                      <a:noFill/>
                    </a:lnR>
                    <a:lnT w="0">
                      <a:noFill/>
                    </a:lnT>
                    <a:lnB w="6350" cap="flat" cmpd="sng" algn="ctr">
                      <a:solidFill>
                        <a:srgbClr val="B8C0C6"/>
                      </a:solidFill>
                      <a:prstDash val="solid"/>
                    </a:lnB>
                    <a:solidFill>
                      <a:srgbClr val="E3E7E9"/>
                    </a:solidFill>
                  </a:tcPr>
                </a:tc>
                <a:tc>
                  <a:txBody>
                    <a:bodyPr wrap="square"/>
                    <a:lstStyle/>
                    <a:p>
                      <a:pPr algn="r"/>
                      <a:r>
                        <a:rPr sz="850" b="0" i="0">
                          <a:solidFill>
                            <a:srgbClr val="000000"/>
                          </a:solidFill>
                          <a:latin typeface="Arial"/>
                          <a:ea typeface="游ゴシック"/>
                        </a:rPr>
                        <a:t>　</a:t>
                      </a:r>
                    </a:p>
                  </a:txBody>
                  <a:tcPr marL="45720" marR="45720" marT="13716" marB="13716" anchor="ctr">
                    <a:lnL w="0">
                      <a:noFill/>
                    </a:lnL>
                    <a:lnR w="0">
                      <a:noFill/>
                    </a:lnR>
                    <a:lnT w="0">
                      <a:noFill/>
                    </a:lnT>
                    <a:lnB w="6350" cap="flat" cmpd="sng" algn="ctr">
                      <a:solidFill>
                        <a:srgbClr val="B8C0C6"/>
                      </a:solidFill>
                      <a:prstDash val="solid"/>
                    </a:lnB>
                    <a:solidFill>
                      <a:srgbClr val="E3E7E9"/>
                    </a:solidFill>
                  </a:tcPr>
                </a:tc>
              </a:tr>
              <a:tr h="274320">
                <a:tc>
                  <a:txBody>
                    <a:bodyPr wrap="square"/>
                    <a:lstStyle/>
                    <a:p>
                      <a:pPr algn="l"/>
                      <a:r>
                        <a:rPr sz="850" b="0" i="0">
                          <a:solidFill>
                            <a:srgbClr val="000000"/>
                          </a:solidFill>
                          <a:latin typeface="Arial"/>
                          <a:ea typeface="游ゴシック"/>
                        </a:rPr>
                        <a:t>現預金</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226,057</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買掛金</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10,297</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l"/>
                      <a:r>
                        <a:rPr sz="850" b="0" i="0">
                          <a:solidFill>
                            <a:srgbClr val="000000"/>
                          </a:solidFill>
                          <a:latin typeface="Arial"/>
                          <a:ea typeface="游ゴシック"/>
                        </a:rPr>
                        <a:t>売掛金</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28,512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短期借入金（役員借入含む）</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173,077</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l"/>
                      <a:r>
                        <a:rPr sz="850" b="0" i="0">
                          <a:solidFill>
                            <a:srgbClr val="000000"/>
                          </a:solidFill>
                          <a:latin typeface="Arial"/>
                          <a:ea typeface="游ゴシック"/>
                        </a:rPr>
                        <a:t>商品</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8,532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未払金・未払税等</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12,687</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l"/>
                      <a:r>
                        <a:rPr sz="850" b="0" i="0">
                          <a:solidFill>
                            <a:srgbClr val="000000"/>
                          </a:solidFill>
                          <a:latin typeface="Arial"/>
                          <a:ea typeface="游ゴシック"/>
                        </a:rPr>
                        <a:t>前渡金・前払費用・その他</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30,097</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預り金</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794</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l"/>
                      <a:r>
                        <a:rPr sz="850" b="0" i="0">
                          <a:solidFill>
                            <a:srgbClr val="000000"/>
                          </a:solidFill>
                          <a:latin typeface="Arial"/>
                          <a:ea typeface="游ゴシック"/>
                        </a:rPr>
                        <a:t>建物・附属設備</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138,813</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長期借入金（役員借入含む）</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272,746</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l"/>
                      <a:r>
                        <a:rPr sz="850" b="0" i="0">
                          <a:solidFill>
                            <a:srgbClr val="000000"/>
                          </a:solidFill>
                          <a:latin typeface="Arial"/>
                          <a:ea typeface="游ゴシック"/>
                        </a:rPr>
                        <a:t>土地</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345,030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1" i="0">
                          <a:solidFill>
                            <a:srgbClr val="000000"/>
                          </a:solidFill>
                          <a:latin typeface="Arial"/>
                          <a:ea typeface="游ゴシック"/>
                        </a:rPr>
                        <a:t>負債合計</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1" i="0">
                          <a:solidFill>
                            <a:srgbClr val="000000"/>
                          </a:solidFill>
                          <a:latin typeface="Arial"/>
                          <a:ea typeface="游ゴシック"/>
                        </a:rPr>
                        <a:t>469,600</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l"/>
                      <a:r>
                        <a:rPr sz="850" b="0" i="0">
                          <a:solidFill>
                            <a:srgbClr val="000000"/>
                          </a:solidFill>
                          <a:latin typeface="Arial"/>
                          <a:ea typeface="游ゴシック"/>
                        </a:rPr>
                        <a:t>車両・器具備品・その他有形</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6,304</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1" i="0">
                          <a:solidFill>
                            <a:srgbClr val="000000"/>
                          </a:solidFill>
                          <a:latin typeface="Arial"/>
                          <a:ea typeface="游ゴシック"/>
                        </a:rPr>
                        <a:t>【純資産の部】</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　</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l"/>
                      <a:r>
                        <a:rPr sz="850" b="0" i="0">
                          <a:solidFill>
                            <a:srgbClr val="000000"/>
                          </a:solidFill>
                          <a:latin typeface="Arial"/>
                          <a:ea typeface="游ゴシック"/>
                        </a:rPr>
                        <a:t>敷金・出資金等</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13,165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資本金・資本剰余金</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5,500</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l"/>
                      <a:r>
                        <a:rPr sz="850" b="0" i="0">
                          <a:solidFill>
                            <a:srgbClr val="000000"/>
                          </a:solidFill>
                          <a:latin typeface="Arial"/>
                          <a:ea typeface="游ゴシック"/>
                        </a:rPr>
                        <a:t>　</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　</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繰越利益剰余金</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321,409</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l"/>
                      <a:r>
                        <a:rPr sz="850" b="0" i="0">
                          <a:solidFill>
                            <a:srgbClr val="000000"/>
                          </a:solidFill>
                          <a:latin typeface="Arial"/>
                          <a:ea typeface="游ゴシック"/>
                        </a:rPr>
                        <a:t>　</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　</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1" i="0">
                          <a:solidFill>
                            <a:srgbClr val="000000"/>
                          </a:solidFill>
                          <a:latin typeface="Arial"/>
                          <a:ea typeface="游ゴシック"/>
                        </a:rPr>
                        <a:t>純資産合計</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1" i="0">
                          <a:solidFill>
                            <a:srgbClr val="000000"/>
                          </a:solidFill>
                          <a:latin typeface="Arial"/>
                          <a:ea typeface="游ゴシック"/>
                        </a:rPr>
                        <a:t>326,909</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l"/>
                      <a:r>
                        <a:rPr sz="850" b="1" i="0">
                          <a:solidFill>
                            <a:srgbClr val="000000"/>
                          </a:solidFill>
                          <a:latin typeface="Arial"/>
                          <a:ea typeface="游ゴシック"/>
                        </a:rPr>
                        <a:t>資産合計</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796,509</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l"/>
                      <a:r>
                        <a:rPr sz="850" b="1" i="0">
                          <a:solidFill>
                            <a:srgbClr val="000000"/>
                          </a:solidFill>
                          <a:latin typeface="Arial"/>
                          <a:ea typeface="游ゴシック"/>
                        </a:rPr>
                        <a:t>負債・純資産合計</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796,509</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r>
            </a:tbl>
          </a:graphicData>
        </a:graphic>
      </p:graphicFrame>
    </p:spTree>
    <p:extLst>
      <p:ext uri="{BB962C8B-B14F-4D97-AF65-F5344CB8AC3E}">
        <p14:creationId xmlns:p14="http://schemas.microsoft.com/office/powerpoint/2010/main" val="40303346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7" name="タイトル 6">
            <a:extLst>
              <a:ext uri="{FF2B5EF4-FFF2-40B4-BE49-F238E27FC236}">
                <a16:creationId xmlns:a16="http://schemas.microsoft.com/office/drawing/2014/main" id="{5297D612-8E56-9402-459F-FE068C2C5D1A}"/>
              </a:ext>
            </a:extLst>
          </p:cNvPr>
          <p:cNvSpPr>
            <a:spLocks noGrp="1"/>
          </p:cNvSpPr>
          <p:nvPr>
            <p:ph type="ctrTitle"/>
          </p:nvPr>
        </p:nvSpPr>
        <p:spPr>
          <a:xfrm>
            <a:off x="341313" y="180296"/>
            <a:ext cx="7799917" cy="339267"/>
          </a:xfrm>
        </p:spPr>
        <p:txBody>
          <a:bodyPr/>
          <a:lstStyle/>
          <a:p>
            <a:r>
              <a:rPr lang="zh-CN" altLang="en-US" dirty="0"/>
              <a:t>譲渡希望条件</a:t>
            </a:r>
          </a:p>
        </p:txBody>
      </p:sp>
      <p:sp>
        <p:nvSpPr>
          <p:cNvPr id="9" name="タイトル 1">
            <a:extLst>
              <a:ext uri="{FF2B5EF4-FFF2-40B4-BE49-F238E27FC236}">
                <a16:creationId xmlns:a16="http://schemas.microsoft.com/office/drawing/2014/main" id="{203C135E-3923-6D8E-447A-FF4DC0536B9B}"/>
              </a:ext>
            </a:extLst>
          </p:cNvPr>
          <p:cNvSpPr txBox="1">
            <a:spLocks/>
          </p:cNvSpPr>
          <p:nvPr/>
        </p:nvSpPr>
        <p:spPr>
          <a:xfrm>
            <a:off x="8366333" y="252154"/>
            <a:ext cx="1984167" cy="184666"/>
          </a:xfrm>
          <a:prstGeom prst="rect">
            <a:avLst/>
          </a:prstGeom>
        </p:spPr>
        <p:txBody>
          <a:bodyPr vert="horz" lIns="0" tIns="0" rIns="0" bIns="0" rtlCol="0" anchor="ctr">
            <a:spAutoFit/>
          </a:bodyPr>
          <a:lstStyle>
            <a:defPPr marR="0" lvl="0" algn="l" rtl="0">
              <a:lnSpc>
                <a:spcPct val="100000"/>
              </a:lnSpc>
              <a:spcBef>
                <a:spcPts val="0"/>
              </a:spcBef>
              <a:spcAft>
                <a:spcPts val="0"/>
              </a:spcAft>
              <a:defRPr/>
            </a:defPPr>
            <a:lvl1pPr algn="r" defTabSz="914400" eaLnBrk="1" latinLnBrk="0" hangingPunct="1">
              <a:spcBef>
                <a:spcPct val="0"/>
              </a:spcBef>
              <a:buClr>
                <a:schemeClr val="bg1"/>
              </a:buClr>
              <a:buNone/>
              <a:defRPr kumimoji="1" sz="1200" b="1" kern="1200" spc="55">
                <a:solidFill>
                  <a:schemeClr val="bg1"/>
                </a:solidFill>
                <a:latin typeface="+mj-lt"/>
                <a:ea typeface="+mj-ea"/>
                <a:cs typeface="+mj-cs"/>
              </a:defRPr>
            </a:lvl1pPr>
          </a:lstStyle>
          <a:p>
            <a:r>
              <a:rPr lang="ja-JP" altLang="en-US" spc="0" dirty="0"/>
              <a:t>　エグゼクティブサマリー</a:t>
            </a:r>
          </a:p>
        </p:txBody>
      </p:sp>
      <p:sp>
        <p:nvSpPr>
          <p:cNvPr id="18" name="正方形/長方形 17">
            <a:extLst>
              <a:ext uri="{FF2B5EF4-FFF2-40B4-BE49-F238E27FC236}">
                <a16:creationId xmlns:a16="http://schemas.microsoft.com/office/drawing/2014/main" id="{77AE94F8-D910-3328-173F-F4A99716CFE7}"/>
              </a:ext>
            </a:extLst>
          </p:cNvPr>
          <p:cNvSpPr/>
          <p:nvPr/>
        </p:nvSpPr>
        <p:spPr>
          <a:xfrm>
            <a:off x="449262" y="1225957"/>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22" name="直線コネクタ 21">
            <a:extLst>
              <a:ext uri="{FF2B5EF4-FFF2-40B4-BE49-F238E27FC236}">
                <a16:creationId xmlns:a16="http://schemas.microsoft.com/office/drawing/2014/main" id="{1928CBFA-2EBE-A608-C5BF-40E5AFFAF1AD}"/>
              </a:ext>
            </a:extLst>
          </p:cNvPr>
          <p:cNvCxnSpPr>
            <a:cxnSpLocks/>
          </p:cNvCxnSpPr>
          <p:nvPr/>
        </p:nvCxnSpPr>
        <p:spPr>
          <a:xfrm>
            <a:off x="3133558" y="1349963"/>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9" name="テキスト ボックス 18">
            <a:extLst>
              <a:ext uri="{FF2B5EF4-FFF2-40B4-BE49-F238E27FC236}">
                <a16:creationId xmlns:a16="http://schemas.microsoft.com/office/drawing/2014/main" id="{FFFB131C-8535-2A88-A3C8-FF60589D2A11}"/>
              </a:ext>
            </a:extLst>
          </p:cNvPr>
          <p:cNvSpPr txBox="1"/>
          <p:nvPr/>
        </p:nvSpPr>
        <p:spPr>
          <a:xfrm>
            <a:off x="3151380" y="1703936"/>
            <a:ext cx="7074659" cy="338554"/>
          </a:xfrm>
          <a:prstGeom prst="rect">
            <a:avLst/>
          </a:prstGeom>
          <a:noFill/>
        </p:spPr>
        <p:txBody>
          <a:bodyPr wrap="square" lIns="1440000" tIns="0" rIns="0" bIns="0" rtlCol="0" anchor="ctr">
            <a:spAutoFit/>
          </a:bodyPr>
          <a:lstStyle/>
          <a:p>
            <a:r>
              <a:rPr lang="ja-JP" altLang="en-US" sz="2200" b="1" spc="50" dirty="0">
                <a:solidFill>
                  <a:schemeClr val="dk1"/>
                </a:solidFill>
                <a:latin typeface="+mj-ea"/>
                <a:ea typeface="+mj-ea"/>
              </a:rPr>
              <a:t>株式譲渡（想定）</a:t>
            </a:r>
          </a:p>
        </p:txBody>
      </p:sp>
      <p:sp>
        <p:nvSpPr>
          <p:cNvPr id="23" name="正方形/長方形 22">
            <a:extLst>
              <a:ext uri="{FF2B5EF4-FFF2-40B4-BE49-F238E27FC236}">
                <a16:creationId xmlns:a16="http://schemas.microsoft.com/office/drawing/2014/main" id="{A4BC3D1B-6519-3EC6-F8C8-D12E5886EBA8}"/>
              </a:ext>
            </a:extLst>
          </p:cNvPr>
          <p:cNvSpPr/>
          <p:nvPr/>
        </p:nvSpPr>
        <p:spPr>
          <a:xfrm>
            <a:off x="908477" y="1467627"/>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条件</a:t>
            </a:r>
            <a:r>
              <a:rPr lang="en-US" altLang="ja-JP" b="1" spc="70" dirty="0">
                <a:solidFill>
                  <a:schemeClr val="bg1"/>
                </a:solidFill>
                <a:latin typeface="+mj-ea"/>
                <a:ea typeface="+mj-ea"/>
              </a:rPr>
              <a:t>1</a:t>
            </a:r>
          </a:p>
        </p:txBody>
      </p:sp>
      <p:sp>
        <p:nvSpPr>
          <p:cNvPr id="46" name="正方形/長方形 45">
            <a:extLst>
              <a:ext uri="{FF2B5EF4-FFF2-40B4-BE49-F238E27FC236}">
                <a16:creationId xmlns:a16="http://schemas.microsoft.com/office/drawing/2014/main" id="{538DA60A-A0C2-2AC4-6AFA-6E9A0A840E2F}"/>
              </a:ext>
            </a:extLst>
          </p:cNvPr>
          <p:cNvSpPr/>
          <p:nvPr/>
        </p:nvSpPr>
        <p:spPr>
          <a:xfrm>
            <a:off x="908477" y="1905968"/>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スキーム</a:t>
            </a:r>
            <a:endParaRPr lang="en-US" altLang="ja-JP" sz="1800" b="1" spc="70" dirty="0">
              <a:solidFill>
                <a:schemeClr val="tx2"/>
              </a:solidFill>
              <a:latin typeface="+mj-ea"/>
              <a:ea typeface="+mj-ea"/>
            </a:endParaRPr>
          </a:p>
        </p:txBody>
      </p:sp>
      <p:sp>
        <p:nvSpPr>
          <p:cNvPr id="47" name="二等辺三角形 46">
            <a:extLst>
              <a:ext uri="{FF2B5EF4-FFF2-40B4-BE49-F238E27FC236}">
                <a16:creationId xmlns:a16="http://schemas.microsoft.com/office/drawing/2014/main" id="{E30A0C32-ED58-E579-307E-2A50184F7621}"/>
              </a:ext>
            </a:extLst>
          </p:cNvPr>
          <p:cNvSpPr/>
          <p:nvPr/>
        </p:nvSpPr>
        <p:spPr>
          <a:xfrm rot="5400000">
            <a:off x="3953282" y="1731194"/>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54" name="正方形/長方形 53">
            <a:extLst>
              <a:ext uri="{FF2B5EF4-FFF2-40B4-BE49-F238E27FC236}">
                <a16:creationId xmlns:a16="http://schemas.microsoft.com/office/drawing/2014/main" id="{CF75FB02-E0C4-B24A-D8DD-19550648E691}"/>
              </a:ext>
            </a:extLst>
          </p:cNvPr>
          <p:cNvSpPr/>
          <p:nvPr/>
        </p:nvSpPr>
        <p:spPr>
          <a:xfrm>
            <a:off x="449262" y="2678813"/>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55" name="直線コネクタ 54">
            <a:extLst>
              <a:ext uri="{FF2B5EF4-FFF2-40B4-BE49-F238E27FC236}">
                <a16:creationId xmlns:a16="http://schemas.microsoft.com/office/drawing/2014/main" id="{031A2A35-DDED-EC21-CA05-09DA68DA2C0D}"/>
              </a:ext>
            </a:extLst>
          </p:cNvPr>
          <p:cNvCxnSpPr>
            <a:cxnSpLocks/>
          </p:cNvCxnSpPr>
          <p:nvPr/>
        </p:nvCxnSpPr>
        <p:spPr>
          <a:xfrm>
            <a:off x="3133558" y="2802819"/>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56" name="テキスト ボックス 55">
            <a:extLst>
              <a:ext uri="{FF2B5EF4-FFF2-40B4-BE49-F238E27FC236}">
                <a16:creationId xmlns:a16="http://schemas.microsoft.com/office/drawing/2014/main" id="{4F61C06A-72C7-F15D-8706-7F1E6F179BF5}"/>
              </a:ext>
            </a:extLst>
          </p:cNvPr>
          <p:cNvSpPr txBox="1"/>
          <p:nvPr/>
        </p:nvSpPr>
        <p:spPr>
          <a:xfrm>
            <a:off x="3151380" y="3156792"/>
            <a:ext cx="7074659" cy="338554"/>
          </a:xfrm>
          <a:prstGeom prst="rect">
            <a:avLst/>
          </a:prstGeom>
          <a:noFill/>
        </p:spPr>
        <p:txBody>
          <a:bodyPr wrap="square" lIns="1440000" tIns="0" rIns="0" bIns="0" rtlCol="0" anchor="ctr">
            <a:spAutoFit/>
          </a:bodyPr>
          <a:lstStyle>
            <a:defPPr marR="0" lvl="0" algn="l" rtl="0">
              <a:lnSpc>
                <a:spcPct val="100000"/>
              </a:lnSpc>
              <a:spcBef>
                <a:spcPts val="0"/>
              </a:spcBef>
              <a:spcAft>
                <a:spcPts val="0"/>
              </a:spcAft>
            </a:defPPr>
            <a:lvl1pPr algn="ctr">
              <a:defRPr sz="2200" b="1">
                <a:solidFill>
                  <a:schemeClr val="dk1"/>
                </a:solidFill>
                <a:latin typeface="+mj-ea"/>
                <a:ea typeface="+mj-ea"/>
              </a:defRPr>
            </a:lvl1pPr>
          </a:lstStyle>
          <a:p>
            <a:pPr algn="l"/>
            <a:r>
              <a:rPr lang="en-US" altLang="ja-JP" spc="50" dirty="0"/>
              <a:t>ヒアリング予定（未確認）</a:t>
            </a:r>
          </a:p>
        </p:txBody>
      </p:sp>
      <p:sp>
        <p:nvSpPr>
          <p:cNvPr id="59" name="正方形/長方形 58">
            <a:extLst>
              <a:ext uri="{FF2B5EF4-FFF2-40B4-BE49-F238E27FC236}">
                <a16:creationId xmlns:a16="http://schemas.microsoft.com/office/drawing/2014/main" id="{CFFDBAD3-865C-CB13-2F89-BB6495428292}"/>
              </a:ext>
            </a:extLst>
          </p:cNvPr>
          <p:cNvSpPr/>
          <p:nvPr/>
        </p:nvSpPr>
        <p:spPr>
          <a:xfrm>
            <a:off x="908477" y="2920483"/>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条件</a:t>
            </a:r>
            <a:r>
              <a:rPr lang="en-US" altLang="ja-JP" b="1" spc="70" dirty="0">
                <a:solidFill>
                  <a:schemeClr val="bg1"/>
                </a:solidFill>
                <a:latin typeface="+mj-ea"/>
                <a:ea typeface="+mj-ea"/>
              </a:rPr>
              <a:t>2</a:t>
            </a:r>
          </a:p>
        </p:txBody>
      </p:sp>
      <p:sp>
        <p:nvSpPr>
          <p:cNvPr id="60" name="正方形/長方形 59">
            <a:extLst>
              <a:ext uri="{FF2B5EF4-FFF2-40B4-BE49-F238E27FC236}">
                <a16:creationId xmlns:a16="http://schemas.microsoft.com/office/drawing/2014/main" id="{C0C6D277-3738-13CF-070E-BA308BBE1973}"/>
              </a:ext>
            </a:extLst>
          </p:cNvPr>
          <p:cNvSpPr/>
          <p:nvPr/>
        </p:nvSpPr>
        <p:spPr>
          <a:xfrm>
            <a:off x="908477" y="3358824"/>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希望価格</a:t>
            </a:r>
          </a:p>
        </p:txBody>
      </p:sp>
      <p:sp>
        <p:nvSpPr>
          <p:cNvPr id="58" name="二等辺三角形 57">
            <a:extLst>
              <a:ext uri="{FF2B5EF4-FFF2-40B4-BE49-F238E27FC236}">
                <a16:creationId xmlns:a16="http://schemas.microsoft.com/office/drawing/2014/main" id="{C23C8717-6A45-2543-9780-94DF43068F77}"/>
              </a:ext>
            </a:extLst>
          </p:cNvPr>
          <p:cNvSpPr/>
          <p:nvPr/>
        </p:nvSpPr>
        <p:spPr>
          <a:xfrm rot="5400000">
            <a:off x="3953282" y="3184050"/>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62" name="正方形/長方形 61">
            <a:extLst>
              <a:ext uri="{FF2B5EF4-FFF2-40B4-BE49-F238E27FC236}">
                <a16:creationId xmlns:a16="http://schemas.microsoft.com/office/drawing/2014/main" id="{7140BAFD-DDE9-DDDD-13AE-F82ADD82CD40}"/>
              </a:ext>
            </a:extLst>
          </p:cNvPr>
          <p:cNvSpPr/>
          <p:nvPr/>
        </p:nvSpPr>
        <p:spPr>
          <a:xfrm>
            <a:off x="449262" y="4131669"/>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63" name="直線コネクタ 62">
            <a:extLst>
              <a:ext uri="{FF2B5EF4-FFF2-40B4-BE49-F238E27FC236}">
                <a16:creationId xmlns:a16="http://schemas.microsoft.com/office/drawing/2014/main" id="{364A6865-94EE-F5C9-85ED-D69680FD951A}"/>
              </a:ext>
            </a:extLst>
          </p:cNvPr>
          <p:cNvCxnSpPr>
            <a:cxnSpLocks/>
          </p:cNvCxnSpPr>
          <p:nvPr/>
        </p:nvCxnSpPr>
        <p:spPr>
          <a:xfrm>
            <a:off x="3133558" y="4255675"/>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56" name="テキスト ボックス 255">
            <a:extLst>
              <a:ext uri="{FF2B5EF4-FFF2-40B4-BE49-F238E27FC236}">
                <a16:creationId xmlns:a16="http://schemas.microsoft.com/office/drawing/2014/main" id="{B6D90125-A2A7-8289-0B44-6FD810A06C6F}"/>
              </a:ext>
            </a:extLst>
          </p:cNvPr>
          <p:cNvSpPr txBox="1"/>
          <p:nvPr/>
        </p:nvSpPr>
        <p:spPr>
          <a:xfrm>
            <a:off x="3151380" y="4427548"/>
            <a:ext cx="7074659" cy="702756"/>
          </a:xfrm>
          <a:prstGeom prst="rect">
            <a:avLst/>
          </a:prstGeom>
          <a:noFill/>
        </p:spPr>
        <p:txBody>
          <a:bodyPr wrap="square" lIns="1368000" tIns="0" rIns="0" bIns="0" rtlCol="0" anchor="ctr">
            <a:spAutoFit/>
          </a:bodyPr>
          <a:lstStyle>
            <a:defPPr marR="0" lvl="0" algn="l" rtl="0">
              <a:lnSpc>
                <a:spcPct val="100000"/>
              </a:lnSpc>
              <a:spcBef>
                <a:spcPts val="0"/>
              </a:spcBef>
              <a:spcAft>
                <a:spcPts val="0"/>
              </a:spcAft>
            </a:defPPr>
            <a:lvl1pPr algn="ctr">
              <a:defRPr sz="2200" b="1">
                <a:solidFill>
                  <a:schemeClr val="dk1"/>
                </a:solidFill>
                <a:latin typeface="+mj-ea"/>
                <a:ea typeface="+mj-ea"/>
              </a:defRPr>
            </a:lvl1pPr>
          </a:lstStyle>
          <a:p>
            <a:pPr marL="324000" indent="-324000" algn="l">
              <a:spcAft>
                <a:spcPts val="200"/>
              </a:spcAft>
              <a:buClr>
                <a:schemeClr val="tx2"/>
              </a:buClr>
              <a:buFont typeface="游ゴシック" panose="020B0400000000000000" pitchFamily="50" charset="-128"/>
              <a:buChar char="▪"/>
            </a:pPr>
            <a:r>
              <a:rPr lang="ja-JP" altLang="en-US" spc="50" dirty="0"/>
              <a:t>従業員の雇用継続・役員借入金の取扱い</a:t>
            </a:r>
            <a:endParaRPr lang="en-US" altLang="ja-JP" spc="50" dirty="0"/>
          </a:p>
          <a:p>
            <a:pPr marL="324000" indent="-324000" algn="l">
              <a:spcAft>
                <a:spcPts val="200"/>
              </a:spcAft>
              <a:buClr>
                <a:schemeClr val="tx2"/>
              </a:buClr>
              <a:buFont typeface="游ゴシック" panose="020B0400000000000000" pitchFamily="50" charset="-128"/>
              <a:buChar char="▪"/>
            </a:pPr>
            <a:r>
              <a:rPr lang="ja-JP" altLang="en-US" spc="50" dirty="0"/>
              <a:t>代表者の関与（詳細はヒアリング予定）</a:t>
            </a:r>
            <a:endParaRPr lang="en-US" altLang="ja-JP" spc="50" dirty="0"/>
          </a:p>
        </p:txBody>
      </p:sp>
      <p:sp>
        <p:nvSpPr>
          <p:cNvPr id="259" name="正方形/長方形 258">
            <a:extLst>
              <a:ext uri="{FF2B5EF4-FFF2-40B4-BE49-F238E27FC236}">
                <a16:creationId xmlns:a16="http://schemas.microsoft.com/office/drawing/2014/main" id="{11BED845-77D7-96E2-7088-05671252A4BC}"/>
              </a:ext>
            </a:extLst>
          </p:cNvPr>
          <p:cNvSpPr/>
          <p:nvPr/>
        </p:nvSpPr>
        <p:spPr>
          <a:xfrm>
            <a:off x="908477" y="4373339"/>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条件</a:t>
            </a:r>
            <a:r>
              <a:rPr lang="en-US" altLang="ja-JP" b="1" spc="70" dirty="0">
                <a:solidFill>
                  <a:schemeClr val="bg1"/>
                </a:solidFill>
                <a:latin typeface="+mj-ea"/>
                <a:ea typeface="+mj-ea"/>
              </a:rPr>
              <a:t>3</a:t>
            </a:r>
          </a:p>
        </p:txBody>
      </p:sp>
      <p:sp>
        <p:nvSpPr>
          <p:cNvPr id="260" name="正方形/長方形 259">
            <a:extLst>
              <a:ext uri="{FF2B5EF4-FFF2-40B4-BE49-F238E27FC236}">
                <a16:creationId xmlns:a16="http://schemas.microsoft.com/office/drawing/2014/main" id="{6B9DA270-CEE2-C021-D23B-6674C7B58B8F}"/>
              </a:ext>
            </a:extLst>
          </p:cNvPr>
          <p:cNvSpPr/>
          <p:nvPr/>
        </p:nvSpPr>
        <p:spPr>
          <a:xfrm>
            <a:off x="908477" y="4811680"/>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付帯条件</a:t>
            </a:r>
          </a:p>
        </p:txBody>
      </p:sp>
      <p:sp>
        <p:nvSpPr>
          <p:cNvPr id="258" name="二等辺三角形 257">
            <a:extLst>
              <a:ext uri="{FF2B5EF4-FFF2-40B4-BE49-F238E27FC236}">
                <a16:creationId xmlns:a16="http://schemas.microsoft.com/office/drawing/2014/main" id="{ED431A8E-E118-9737-A89C-BA75554554F2}"/>
              </a:ext>
            </a:extLst>
          </p:cNvPr>
          <p:cNvSpPr/>
          <p:nvPr/>
        </p:nvSpPr>
        <p:spPr>
          <a:xfrm rot="5400000">
            <a:off x="3953282" y="4636906"/>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262" name="正方形/長方形 261">
            <a:extLst>
              <a:ext uri="{FF2B5EF4-FFF2-40B4-BE49-F238E27FC236}">
                <a16:creationId xmlns:a16="http://schemas.microsoft.com/office/drawing/2014/main" id="{0DA87416-6EB3-2B9D-5D99-EBF7AD989A1A}"/>
              </a:ext>
            </a:extLst>
          </p:cNvPr>
          <p:cNvSpPr/>
          <p:nvPr/>
        </p:nvSpPr>
        <p:spPr>
          <a:xfrm>
            <a:off x="449262" y="5584525"/>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263" name="直線コネクタ 262">
            <a:extLst>
              <a:ext uri="{FF2B5EF4-FFF2-40B4-BE49-F238E27FC236}">
                <a16:creationId xmlns:a16="http://schemas.microsoft.com/office/drawing/2014/main" id="{348C7A7D-E8C0-8FBA-0152-B09944A67B14}"/>
              </a:ext>
            </a:extLst>
          </p:cNvPr>
          <p:cNvCxnSpPr>
            <a:cxnSpLocks/>
          </p:cNvCxnSpPr>
          <p:nvPr/>
        </p:nvCxnSpPr>
        <p:spPr>
          <a:xfrm>
            <a:off x="3133558" y="5708531"/>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64" name="テキスト ボックス 263">
            <a:extLst>
              <a:ext uri="{FF2B5EF4-FFF2-40B4-BE49-F238E27FC236}">
                <a16:creationId xmlns:a16="http://schemas.microsoft.com/office/drawing/2014/main" id="{37AEE9E9-0B13-7FD4-A3CA-A47C7839F11C}"/>
              </a:ext>
            </a:extLst>
          </p:cNvPr>
          <p:cNvSpPr txBox="1"/>
          <p:nvPr/>
        </p:nvSpPr>
        <p:spPr>
          <a:xfrm>
            <a:off x="3151380" y="6062504"/>
            <a:ext cx="7074659" cy="338554"/>
          </a:xfrm>
          <a:prstGeom prst="rect">
            <a:avLst/>
          </a:prstGeom>
          <a:noFill/>
        </p:spPr>
        <p:txBody>
          <a:bodyPr wrap="square" lIns="1440000" tIns="0" rIns="0" bIns="0" rtlCol="0" anchor="ctr">
            <a:spAutoFit/>
          </a:bodyPr>
          <a:lstStyle>
            <a:defPPr marR="0" lvl="0" algn="l" rtl="0">
              <a:lnSpc>
                <a:spcPct val="100000"/>
              </a:lnSpc>
              <a:spcBef>
                <a:spcPts val="0"/>
              </a:spcBef>
              <a:spcAft>
                <a:spcPts val="0"/>
              </a:spcAft>
            </a:defPPr>
            <a:lvl1pPr>
              <a:defRPr sz="2200" b="1">
                <a:solidFill>
                  <a:schemeClr val="dk1"/>
                </a:solidFill>
                <a:latin typeface="+mj-ea"/>
                <a:ea typeface="+mj-ea"/>
              </a:defRPr>
            </a:lvl1pPr>
          </a:lstStyle>
          <a:p>
            <a:r>
              <a:rPr lang="ja-JP" altLang="en-US" spc="50" dirty="0"/>
              <a:t>ヒアリング予定（未確認）</a:t>
            </a:r>
          </a:p>
        </p:txBody>
      </p:sp>
      <p:sp>
        <p:nvSpPr>
          <p:cNvPr id="267" name="正方形/長方形 266">
            <a:extLst>
              <a:ext uri="{FF2B5EF4-FFF2-40B4-BE49-F238E27FC236}">
                <a16:creationId xmlns:a16="http://schemas.microsoft.com/office/drawing/2014/main" id="{5C906CE1-F422-F0CF-35F9-FA21CDF60987}"/>
              </a:ext>
            </a:extLst>
          </p:cNvPr>
          <p:cNvSpPr/>
          <p:nvPr/>
        </p:nvSpPr>
        <p:spPr>
          <a:xfrm>
            <a:off x="908477" y="5826195"/>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その他</a:t>
            </a:r>
            <a:endParaRPr lang="en-US" altLang="ja-JP" b="1" spc="70" dirty="0">
              <a:solidFill>
                <a:schemeClr val="bg1"/>
              </a:solidFill>
              <a:latin typeface="+mj-ea"/>
              <a:ea typeface="+mj-ea"/>
            </a:endParaRPr>
          </a:p>
        </p:txBody>
      </p:sp>
      <p:sp>
        <p:nvSpPr>
          <p:cNvPr id="268" name="正方形/長方形 267">
            <a:extLst>
              <a:ext uri="{FF2B5EF4-FFF2-40B4-BE49-F238E27FC236}">
                <a16:creationId xmlns:a16="http://schemas.microsoft.com/office/drawing/2014/main" id="{46529E79-2433-FBD9-6238-E748A585579E}"/>
              </a:ext>
            </a:extLst>
          </p:cNvPr>
          <p:cNvSpPr/>
          <p:nvPr/>
        </p:nvSpPr>
        <p:spPr>
          <a:xfrm>
            <a:off x="908477" y="6264536"/>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譲渡理由</a:t>
            </a:r>
          </a:p>
        </p:txBody>
      </p:sp>
      <p:sp>
        <p:nvSpPr>
          <p:cNvPr id="266" name="二等辺三角形 265">
            <a:extLst>
              <a:ext uri="{FF2B5EF4-FFF2-40B4-BE49-F238E27FC236}">
                <a16:creationId xmlns:a16="http://schemas.microsoft.com/office/drawing/2014/main" id="{94757AC3-62D5-3E6F-15D0-8CC989986978}"/>
              </a:ext>
            </a:extLst>
          </p:cNvPr>
          <p:cNvSpPr/>
          <p:nvPr/>
        </p:nvSpPr>
        <p:spPr>
          <a:xfrm rot="5400000">
            <a:off x="3953282" y="6089762"/>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AEF2-738C-97B3-4696-F3BB344E5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6C9D74-25B9-202B-100C-14E88F8A35B4}"/>
              </a:ext>
            </a:extLst>
          </p:cNvPr>
          <p:cNvSpPr>
            <a:spLocks noGrp="1"/>
          </p:cNvSpPr>
          <p:nvPr>
            <p:ph type="title"/>
          </p:nvPr>
        </p:nvSpPr>
        <p:spPr>
          <a:xfrm>
            <a:off x="989013" y="3656161"/>
            <a:ext cx="9221787" cy="615553"/>
          </a:xfrm>
        </p:spPr>
        <p:txBody>
          <a:bodyPr/>
          <a:lstStyle/>
          <a:p>
            <a:r>
              <a:rPr lang="ja-JP" altLang="en-US" dirty="0"/>
              <a:t>事業概要</a:t>
            </a:r>
            <a:endParaRPr lang="en-US" altLang="ja-JP" dirty="0"/>
          </a:p>
        </p:txBody>
      </p:sp>
    </p:spTree>
    <p:extLst>
      <p:ext uri="{BB962C8B-B14F-4D97-AF65-F5344CB8AC3E}">
        <p14:creationId xmlns:p14="http://schemas.microsoft.com/office/powerpoint/2010/main" val="40851993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DAF01-C12B-9043-B114-455CAA33D0F7}"/>
            </a:ext>
          </a:extLst>
        </p:cNvPr>
        <p:cNvGrpSpPr/>
        <p:nvPr/>
      </p:nvGrpSpPr>
      <p:grpSpPr>
        <a:xfrm>
          <a:off x="0" y="0"/>
          <a:ext cx="0" cy="0"/>
          <a:chOff x="0" y="0"/>
          <a:chExt cx="0" cy="0"/>
        </a:xfrm>
      </p:grpSpPr>
      <p:sp>
        <p:nvSpPr>
          <p:cNvPr id="5" name="正方形/長方形 4">
            <a:extLst>
              <a:ext uri="{FF2B5EF4-FFF2-40B4-BE49-F238E27FC236}">
                <a16:creationId xmlns:a16="http://schemas.microsoft.com/office/drawing/2014/main" id="{E743677C-E154-B684-80CF-3F2817127171}"/>
              </a:ext>
            </a:extLst>
          </p:cNvPr>
          <p:cNvSpPr/>
          <p:nvPr/>
        </p:nvSpPr>
        <p:spPr>
          <a:xfrm>
            <a:off x="449262" y="1481694"/>
            <a:ext cx="2160000" cy="5472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rtlCol="0" anchor="t"/>
          <a:lstStyle/>
          <a:p>
            <a:pPr algn="ctr"/>
            <a:r>
              <a:rPr kumimoji="1" lang="ja-JP" altLang="en-US" sz="1800" b="1" spc="100" dirty="0">
                <a:solidFill>
                  <a:schemeClr val="tx1"/>
                </a:solidFill>
                <a:latin typeface="+mj-ea"/>
                <a:ea typeface="+mj-ea"/>
              </a:rPr>
              <a:t>主要仕入先</a:t>
            </a:r>
          </a:p>
        </p:txBody>
      </p:sp>
      <p:sp>
        <p:nvSpPr>
          <p:cNvPr id="17" name="正方形/長方形 16">
            <a:extLst>
              <a:ext uri="{FF2B5EF4-FFF2-40B4-BE49-F238E27FC236}">
                <a16:creationId xmlns:a16="http://schemas.microsoft.com/office/drawing/2014/main" id="{6FD21BE9-2FB9-6DA0-CBB4-78D9B31143EA}"/>
              </a:ext>
            </a:extLst>
          </p:cNvPr>
          <p:cNvSpPr/>
          <p:nvPr/>
        </p:nvSpPr>
        <p:spPr>
          <a:xfrm>
            <a:off x="8082550" y="1463675"/>
            <a:ext cx="2160000" cy="5472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rtlCol="0" anchor="t"/>
          <a:lstStyle/>
          <a:p>
            <a:pPr algn="ctr"/>
            <a:r>
              <a:rPr kumimoji="1" lang="ja-JP" altLang="en-US" sz="1800" b="1" spc="100">
                <a:solidFill>
                  <a:schemeClr val="tx1"/>
                </a:solidFill>
                <a:latin typeface="+mj-ea"/>
                <a:ea typeface="+mj-ea"/>
              </a:rPr>
              <a:t>主要販売先</a:t>
            </a:r>
          </a:p>
        </p:txBody>
      </p:sp>
      <p:sp>
        <p:nvSpPr>
          <p:cNvPr id="21" name="正方形/長方形 20">
            <a:extLst>
              <a:ext uri="{FF2B5EF4-FFF2-40B4-BE49-F238E27FC236}">
                <a16:creationId xmlns:a16="http://schemas.microsoft.com/office/drawing/2014/main" id="{95D20CE9-562D-5FB0-80DD-F3BD3CE1D49C}"/>
              </a:ext>
            </a:extLst>
          </p:cNvPr>
          <p:cNvSpPr/>
          <p:nvPr/>
        </p:nvSpPr>
        <p:spPr>
          <a:xfrm>
            <a:off x="2933906" y="1487165"/>
            <a:ext cx="4824000" cy="401648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rtlCol="0" anchor="t"/>
          <a:lstStyle/>
          <a:p>
            <a:pPr algn="ctr"/>
            <a:r>
              <a:rPr kumimoji="1" lang="ja-JP" altLang="en-US" sz="1800" b="1" spc="100" dirty="0">
                <a:solidFill>
                  <a:schemeClr val="tx2"/>
                </a:solidFill>
                <a:latin typeface="+mj-ea"/>
                <a:ea typeface="+mj-ea"/>
              </a:rPr>
              <a:t>対象会社</a:t>
            </a:r>
          </a:p>
        </p:txBody>
      </p:sp>
      <p:cxnSp>
        <p:nvCxnSpPr>
          <p:cNvPr id="24" name="直線コネクタ 23">
            <a:extLst>
              <a:ext uri="{FF2B5EF4-FFF2-40B4-BE49-F238E27FC236}">
                <a16:creationId xmlns:a16="http://schemas.microsoft.com/office/drawing/2014/main" id="{F5D312B4-FD5F-5D39-501F-FA5FF893E938}"/>
              </a:ext>
            </a:extLst>
          </p:cNvPr>
          <p:cNvCxnSpPr>
            <a:cxnSpLocks/>
          </p:cNvCxnSpPr>
          <p:nvPr/>
        </p:nvCxnSpPr>
        <p:spPr>
          <a:xfrm>
            <a:off x="2933907" y="1467042"/>
            <a:ext cx="4824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8" name="正方形/長方形 7">
            <a:extLst>
              <a:ext uri="{FF2B5EF4-FFF2-40B4-BE49-F238E27FC236}">
                <a16:creationId xmlns:a16="http://schemas.microsoft.com/office/drawing/2014/main" id="{46E42F7C-FE44-EBE8-0D30-C704D342DE1D}"/>
              </a:ext>
            </a:extLst>
          </p:cNvPr>
          <p:cNvSpPr/>
          <p:nvPr/>
        </p:nvSpPr>
        <p:spPr>
          <a:xfrm>
            <a:off x="449263" y="3638552"/>
            <a:ext cx="2160000" cy="1296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288000" tIns="0" rIns="0" bIns="0" rtlCol="0" anchor="t">
            <a:noAutofit/>
          </a:bodyPr>
          <a:lstStyle/>
          <a:p>
            <a:pPr marL="180000" indent="-180000">
              <a:lnSpc>
                <a:spcPct val="120000"/>
              </a:lnSpc>
              <a:spcAft>
                <a:spcPts val="500"/>
              </a:spcAft>
              <a:buClr>
                <a:schemeClr val="tx2"/>
              </a:buClr>
              <a:buFont typeface="游ゴシック" panose="020B0400000000000000" pitchFamily="50" charset="-128"/>
              <a:buChar char="▪"/>
            </a:pPr>
            <a:r>
              <a:rPr kumimoji="1" lang="ja-JP" altLang="en-US" sz="1200" b="1" spc="50" dirty="0">
                <a:solidFill>
                  <a:schemeClr val="tx1"/>
                </a:solidFill>
                <a:latin typeface="+mj-ea"/>
                <a:ea typeface="+mj-ea"/>
              </a:rPr>
              <a:t>食材・製菓材料の卸売会社（上位2社で約37%）</a:t>
            </a:r>
            <a:endParaRPr kumimoji="1" lang="en-US" altLang="ja-JP" sz="1200" b="1" spc="50" dirty="0">
              <a:solidFill>
                <a:schemeClr val="tx1"/>
              </a:solidFill>
              <a:latin typeface="+mj-ea"/>
              <a:ea typeface="+mj-ea"/>
            </a:endParaRPr>
          </a:p>
          <a:p>
            <a:pPr marL="180000" indent="-180000">
              <a:lnSpc>
                <a:spcPct val="120000"/>
              </a:lnSpc>
              <a:spcAft>
                <a:spcPts val="500"/>
              </a:spcAft>
              <a:buClr>
                <a:schemeClr val="tx2"/>
              </a:buClr>
              <a:buFont typeface="游ゴシック" panose="020B0400000000000000" pitchFamily="50" charset="-128"/>
              <a:buChar char="▪"/>
            </a:pPr>
            <a:r>
              <a:rPr kumimoji="1" lang="ja-JP" altLang="en-US" sz="1200" b="1" spc="50" dirty="0">
                <a:solidFill>
                  <a:schemeClr val="tx1"/>
                </a:solidFill>
                <a:latin typeface="+mj-ea"/>
                <a:ea typeface="+mj-ea"/>
              </a:rPr>
              <a:t>乳製品メーカー・販売会社</a:t>
            </a:r>
          </a:p>
          <a:p>
            <a:pPr marL="180000" indent="-180000">
              <a:lnSpc>
                <a:spcPct val="120000"/>
              </a:lnSpc>
              <a:spcAft>
                <a:spcPts val="500"/>
              </a:spcAft>
              <a:buClr>
                <a:schemeClr val="tx2"/>
              </a:buClr>
              <a:buFont typeface="游ゴシック" panose="020B0400000000000000" pitchFamily="50" charset="-128"/>
              <a:buChar char="▪"/>
            </a:pPr>
            <a:r>
              <a:rPr kumimoji="1" lang="ja-JP" altLang="en-US" sz="1200" b="1" spc="50" dirty="0">
                <a:solidFill>
                  <a:schemeClr val="tx1"/>
                </a:solidFill>
                <a:latin typeface="+mj-ea"/>
                <a:ea typeface="+mj-ea"/>
              </a:rPr>
              <a:t>コーヒーメーカー</a:t>
            </a:r>
          </a:p>
          <a:p>
            <a:pPr marL="180000" indent="-180000">
              <a:lnSpc>
                <a:spcPct val="120000"/>
              </a:lnSpc>
              <a:spcAft>
                <a:spcPts val="500"/>
              </a:spcAft>
              <a:buClr>
                <a:schemeClr val="tx2"/>
              </a:buClr>
              <a:buFont typeface="游ゴシック" panose="020B0400000000000000" pitchFamily="50" charset="-128"/>
              <a:buChar char="▪"/>
            </a:pPr>
            <a:r>
              <a:rPr kumimoji="1" lang="ja-JP" altLang="en-US" sz="1200" b="1" spc="50" dirty="0">
                <a:solidFill>
                  <a:schemeClr val="tx1"/>
                </a:solidFill>
                <a:latin typeface="+mj-ea"/>
                <a:ea typeface="+mj-ea"/>
              </a:rPr>
              <a:t>※個社名は非開示</a:t>
            </a:r>
          </a:p>
        </p:txBody>
      </p:sp>
      <p:sp>
        <p:nvSpPr>
          <p:cNvPr id="13" name="正方形/長方形 12">
            <a:extLst>
              <a:ext uri="{FF2B5EF4-FFF2-40B4-BE49-F238E27FC236}">
                <a16:creationId xmlns:a16="http://schemas.microsoft.com/office/drawing/2014/main" id="{5CEF68BA-14D9-A2BB-9103-0A8466BCAE95}"/>
              </a:ext>
            </a:extLst>
          </p:cNvPr>
          <p:cNvSpPr/>
          <p:nvPr/>
        </p:nvSpPr>
        <p:spPr>
          <a:xfrm>
            <a:off x="8082550" y="3638552"/>
            <a:ext cx="2160000" cy="1296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288000" tIns="0" rIns="0" bIns="0" rtlCol="0" anchor="t">
            <a:noAutofit/>
          </a:bodyPr>
          <a:lstStyle/>
          <a:p>
            <a:pPr marL="180000" indent="-180000">
              <a:lnSpc>
                <a:spcPct val="120000"/>
              </a:lnSpc>
              <a:spcAft>
                <a:spcPts val="500"/>
              </a:spcAft>
              <a:buClr>
                <a:schemeClr val="tx2"/>
              </a:buClr>
              <a:buFont typeface="游ゴシック" panose="020B0400000000000000" pitchFamily="50" charset="-128"/>
              <a:buChar char="▪"/>
            </a:pPr>
            <a:r>
              <a:rPr kumimoji="1" lang="ja-JP" altLang="en-US" sz="1200" b="1" spc="50" dirty="0">
                <a:solidFill>
                  <a:schemeClr val="tx1"/>
                </a:solidFill>
                <a:latin typeface="+mj-ea"/>
              </a:rPr>
              <a:t>個人のお客様（店頭販売・カフェ）</a:t>
            </a:r>
            <a:endParaRPr kumimoji="1" lang="en-US" altLang="ja-JP" sz="1200" b="1" spc="50" dirty="0">
              <a:solidFill>
                <a:schemeClr val="tx1"/>
              </a:solidFill>
              <a:latin typeface="+mj-ea"/>
            </a:endParaRPr>
          </a:p>
          <a:p>
            <a:pPr marL="180000" indent="-180000">
              <a:lnSpc>
                <a:spcPct val="120000"/>
              </a:lnSpc>
              <a:spcAft>
                <a:spcPts val="500"/>
              </a:spcAft>
              <a:buClr>
                <a:schemeClr val="tx2"/>
              </a:buClr>
              <a:buFont typeface="游ゴシック" panose="020B0400000000000000" pitchFamily="50" charset="-128"/>
              <a:buChar char="▪"/>
            </a:pPr>
            <a:r>
              <a:rPr kumimoji="1" lang="ja-JP" altLang="en-US" sz="1200" b="1" spc="50" dirty="0">
                <a:solidFill>
                  <a:schemeClr val="tx1"/>
                </a:solidFill>
                <a:latin typeface="+mj-ea"/>
              </a:rPr>
              <a:t>百貨店（大船店の売上精算）</a:t>
            </a:r>
          </a:p>
          <a:p>
            <a:pPr marL="180000" indent="-180000">
              <a:lnSpc>
                <a:spcPct val="120000"/>
              </a:lnSpc>
              <a:spcAft>
                <a:spcPts val="500"/>
              </a:spcAft>
              <a:buClr>
                <a:schemeClr val="tx2"/>
              </a:buClr>
              <a:buFont typeface="游ゴシック" panose="020B0400000000000000" pitchFamily="50" charset="-128"/>
              <a:buChar char="▪"/>
            </a:pPr>
            <a:r>
              <a:rPr kumimoji="1" lang="ja-JP" altLang="en-US" sz="1200" b="1" spc="50" dirty="0">
                <a:solidFill>
                  <a:schemeClr val="tx1"/>
                </a:solidFill>
                <a:latin typeface="+mj-ea"/>
              </a:rPr>
              <a:t>法人（ギフト卸等）</a:t>
            </a:r>
          </a:p>
        </p:txBody>
      </p:sp>
      <p:sp>
        <p:nvSpPr>
          <p:cNvPr id="4" name="タイトル 3">
            <a:extLst>
              <a:ext uri="{FF2B5EF4-FFF2-40B4-BE49-F238E27FC236}">
                <a16:creationId xmlns:a16="http://schemas.microsoft.com/office/drawing/2014/main" id="{E91DD8E0-55E1-1614-7417-2E76D253FEAD}"/>
              </a:ext>
            </a:extLst>
          </p:cNvPr>
          <p:cNvSpPr>
            <a:spLocks noGrp="1"/>
          </p:cNvSpPr>
          <p:nvPr>
            <p:ph type="ctrTitle"/>
          </p:nvPr>
        </p:nvSpPr>
        <p:spPr/>
        <p:txBody>
          <a:bodyPr/>
          <a:lstStyle/>
          <a:p>
            <a:r>
              <a:rPr lang="ja-JP" altLang="en-US" dirty="0"/>
              <a:t>事業内容</a:t>
            </a:r>
          </a:p>
        </p:txBody>
      </p:sp>
      <p:sp>
        <p:nvSpPr>
          <p:cNvPr id="20" name="タイトル 1">
            <a:extLst>
              <a:ext uri="{FF2B5EF4-FFF2-40B4-BE49-F238E27FC236}">
                <a16:creationId xmlns:a16="http://schemas.microsoft.com/office/drawing/2014/main" id="{96C927CB-5A9B-C47E-368A-3579B2595C1E}"/>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dirty="0"/>
              <a:t>事業概要</a:t>
            </a:r>
          </a:p>
        </p:txBody>
      </p:sp>
      <p:cxnSp>
        <p:nvCxnSpPr>
          <p:cNvPr id="16" name="直線コネクタ 15">
            <a:extLst>
              <a:ext uri="{FF2B5EF4-FFF2-40B4-BE49-F238E27FC236}">
                <a16:creationId xmlns:a16="http://schemas.microsoft.com/office/drawing/2014/main" id="{FD5050F0-3C11-BC61-1EAA-56B714331E84}"/>
              </a:ext>
            </a:extLst>
          </p:cNvPr>
          <p:cNvCxnSpPr>
            <a:cxnSpLocks/>
          </p:cNvCxnSpPr>
          <p:nvPr/>
        </p:nvCxnSpPr>
        <p:spPr>
          <a:xfrm>
            <a:off x="449263" y="1467042"/>
            <a:ext cx="2160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9" name="直線コネクタ 18">
            <a:extLst>
              <a:ext uri="{FF2B5EF4-FFF2-40B4-BE49-F238E27FC236}">
                <a16:creationId xmlns:a16="http://schemas.microsoft.com/office/drawing/2014/main" id="{4E6E5648-22F1-DE1E-6020-D47989377CA9}"/>
              </a:ext>
            </a:extLst>
          </p:cNvPr>
          <p:cNvCxnSpPr>
            <a:cxnSpLocks/>
          </p:cNvCxnSpPr>
          <p:nvPr/>
        </p:nvCxnSpPr>
        <p:spPr>
          <a:xfrm>
            <a:off x="8082550" y="1467042"/>
            <a:ext cx="2160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46" name="正方形/長方形 45">
            <a:extLst>
              <a:ext uri="{FF2B5EF4-FFF2-40B4-BE49-F238E27FC236}">
                <a16:creationId xmlns:a16="http://schemas.microsoft.com/office/drawing/2014/main" id="{807BE902-CAE0-C2CD-4984-B11E293BA38A}"/>
              </a:ext>
            </a:extLst>
          </p:cNvPr>
          <p:cNvSpPr>
            <a:spLocks/>
          </p:cNvSpPr>
          <p:nvPr/>
        </p:nvSpPr>
        <p:spPr>
          <a:xfrm>
            <a:off x="3185906" y="3321256"/>
            <a:ext cx="4320000" cy="864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08000" rIns="0" bIns="0" rtlCol="0" anchor="t">
            <a:noAutofit/>
          </a:bodyPr>
          <a:lstStyle/>
          <a:p>
            <a:r>
              <a:rPr kumimoji="1" lang="ja-JP" altLang="en-US" sz="1400" b="1" dirty="0">
                <a:solidFill>
                  <a:schemeClr val="tx2"/>
                </a:solidFill>
                <a:ea typeface="+mj-ea"/>
              </a:rPr>
              <a:t>物販・法人取引</a:t>
            </a:r>
          </a:p>
        </p:txBody>
      </p:sp>
      <p:sp>
        <p:nvSpPr>
          <p:cNvPr id="49" name="正方形/長方形 48">
            <a:extLst>
              <a:ext uri="{FF2B5EF4-FFF2-40B4-BE49-F238E27FC236}">
                <a16:creationId xmlns:a16="http://schemas.microsoft.com/office/drawing/2014/main" id="{5003CAF4-56DA-63E6-9B55-231DF32CB689}"/>
              </a:ext>
            </a:extLst>
          </p:cNvPr>
          <p:cNvSpPr/>
          <p:nvPr/>
        </p:nvSpPr>
        <p:spPr>
          <a:xfrm>
            <a:off x="3362901" y="3687076"/>
            <a:ext cx="1944000"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180000" indent="-180000">
              <a:lnSpc>
                <a:spcPct val="120000"/>
              </a:lnSpc>
              <a:buClr>
                <a:schemeClr val="accent4"/>
              </a:buClr>
              <a:buFont typeface="游ゴシック" panose="020B0400000000000000" pitchFamily="50" charset="-128"/>
              <a:buChar char="▪"/>
            </a:pPr>
            <a:r>
              <a:rPr kumimoji="1" lang="ja-JP" altLang="en-US" sz="1100" dirty="0">
                <a:solidFill>
                  <a:schemeClr val="tx1"/>
                </a:solidFill>
              </a:rPr>
              <a:t>ミリュウショップ</a:t>
            </a:r>
            <a:endParaRPr kumimoji="1" lang="en-US" altLang="ja-JP" sz="1100" dirty="0">
              <a:solidFill>
                <a:schemeClr val="tx1"/>
              </a:solidFill>
            </a:endParaRPr>
          </a:p>
          <a:p>
            <a:pPr marL="180000" indent="-180000">
              <a:lnSpc>
                <a:spcPct val="120000"/>
              </a:lnSpc>
              <a:buClr>
                <a:schemeClr val="accent4"/>
              </a:buClr>
              <a:buFont typeface="游ゴシック" panose="020B0400000000000000" pitchFamily="50" charset="-128"/>
              <a:buChar char="▪"/>
            </a:pPr>
            <a:r>
              <a:rPr kumimoji="1" lang="ja-JP" altLang="en-US" sz="1100" dirty="0">
                <a:solidFill>
                  <a:schemeClr val="tx1"/>
                </a:solidFill>
              </a:rPr>
              <a:t>売上 7百万円</a:t>
            </a:r>
          </a:p>
        </p:txBody>
      </p:sp>
      <p:sp>
        <p:nvSpPr>
          <p:cNvPr id="50" name="正方形/長方形 49">
            <a:extLst>
              <a:ext uri="{FF2B5EF4-FFF2-40B4-BE49-F238E27FC236}">
                <a16:creationId xmlns:a16="http://schemas.microsoft.com/office/drawing/2014/main" id="{E5DD003F-2AD9-A9D3-1FD8-654750A0A7AD}"/>
              </a:ext>
            </a:extLst>
          </p:cNvPr>
          <p:cNvSpPr/>
          <p:nvPr/>
        </p:nvSpPr>
        <p:spPr>
          <a:xfrm>
            <a:off x="5391351" y="3687076"/>
            <a:ext cx="1944000" cy="43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180000" indent="-180000">
              <a:lnSpc>
                <a:spcPct val="120000"/>
              </a:lnSpc>
              <a:buClr>
                <a:schemeClr val="accent4"/>
              </a:buClr>
              <a:buFont typeface="游ゴシック" panose="020B0400000000000000" pitchFamily="50" charset="-128"/>
              <a:buChar char="▪"/>
            </a:pPr>
            <a:r>
              <a:rPr kumimoji="1" lang="ja-JP" altLang="en-US" sz="1100" dirty="0">
                <a:solidFill>
                  <a:schemeClr val="tx1"/>
                </a:solidFill>
              </a:rPr>
              <a:t>法人取引（ギフト卸等）</a:t>
            </a:r>
            <a:endParaRPr kumimoji="1" lang="en-US" altLang="ja-JP" sz="1100" dirty="0">
              <a:solidFill>
                <a:schemeClr val="tx1"/>
              </a:solidFill>
            </a:endParaRPr>
          </a:p>
          <a:p>
            <a:pPr marL="180000" indent="-180000">
              <a:lnSpc>
                <a:spcPct val="120000"/>
              </a:lnSpc>
              <a:buClr>
                <a:schemeClr val="accent4"/>
              </a:buClr>
              <a:buFont typeface="游ゴシック" panose="020B0400000000000000" pitchFamily="50" charset="-128"/>
              <a:buChar char="▪"/>
            </a:pPr>
            <a:r>
              <a:rPr kumimoji="1" lang="ja-JP" altLang="en-US" sz="1100" dirty="0">
                <a:solidFill>
                  <a:schemeClr val="tx1"/>
                </a:solidFill>
              </a:rPr>
              <a:t>売上 約10百万円</a:t>
            </a:r>
          </a:p>
        </p:txBody>
      </p:sp>
      <p:sp>
        <p:nvSpPr>
          <p:cNvPr id="39" name="正方形/長方形 38">
            <a:extLst>
              <a:ext uri="{FF2B5EF4-FFF2-40B4-BE49-F238E27FC236}">
                <a16:creationId xmlns:a16="http://schemas.microsoft.com/office/drawing/2014/main" id="{B655DFB4-3E4B-DFE0-1927-1F0AF192973F}"/>
              </a:ext>
            </a:extLst>
          </p:cNvPr>
          <p:cNvSpPr>
            <a:spLocks/>
          </p:cNvSpPr>
          <p:nvPr/>
        </p:nvSpPr>
        <p:spPr>
          <a:xfrm>
            <a:off x="3185906" y="2095628"/>
            <a:ext cx="4320000" cy="1126755"/>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08000" rIns="0" bIns="0" rtlCol="0" anchor="t">
            <a:noAutofit/>
          </a:bodyPr>
          <a:lstStyle/>
          <a:p>
            <a:r>
              <a:rPr kumimoji="1" lang="ja-JP" altLang="en-US" sz="1400" b="1" dirty="0">
                <a:solidFill>
                  <a:schemeClr val="tx2"/>
                </a:solidFill>
                <a:ea typeface="+mj-ea"/>
              </a:rPr>
              <a:t>店舗事業（菓子・パン・カフェ）</a:t>
            </a:r>
          </a:p>
        </p:txBody>
      </p:sp>
      <p:sp>
        <p:nvSpPr>
          <p:cNvPr id="51" name="正方形/長方形 50">
            <a:extLst>
              <a:ext uri="{FF2B5EF4-FFF2-40B4-BE49-F238E27FC236}">
                <a16:creationId xmlns:a16="http://schemas.microsoft.com/office/drawing/2014/main" id="{E6C0282B-CCAA-5FBD-D527-4720B8D3CD68}"/>
              </a:ext>
            </a:extLst>
          </p:cNvPr>
          <p:cNvSpPr/>
          <p:nvPr/>
        </p:nvSpPr>
        <p:spPr>
          <a:xfrm>
            <a:off x="3362901" y="2466383"/>
            <a:ext cx="1944000" cy="756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180000" indent="-180000">
              <a:lnSpc>
                <a:spcPct val="120000"/>
              </a:lnSpc>
              <a:buClr>
                <a:schemeClr val="accent4"/>
              </a:buClr>
              <a:buFont typeface="游ゴシック" panose="020B0400000000000000" pitchFamily="50" charset="-128"/>
              <a:buChar char="▪"/>
            </a:pPr>
            <a:r>
              <a:rPr kumimoji="1" lang="ja-JP" altLang="en-US" sz="1100" dirty="0">
                <a:solidFill>
                  <a:schemeClr val="tx1"/>
                </a:solidFill>
              </a:rPr>
              <a:t>鎌倉山店（本店・自社所有）</a:t>
            </a:r>
          </a:p>
          <a:p>
            <a:pPr marL="180000" indent="-180000">
              <a:lnSpc>
                <a:spcPct val="120000"/>
              </a:lnSpc>
              <a:buClr>
                <a:schemeClr val="accent4"/>
              </a:buClr>
              <a:buFont typeface="游ゴシック" panose="020B0400000000000000" pitchFamily="50" charset="-128"/>
              <a:buChar char="▪"/>
            </a:pPr>
            <a:r>
              <a:rPr kumimoji="1" lang="ja-JP" altLang="en-US" sz="1100" dirty="0">
                <a:solidFill>
                  <a:schemeClr val="tx1"/>
                </a:solidFill>
              </a:rPr>
              <a:t>売上 100百万円</a:t>
            </a:r>
          </a:p>
        </p:txBody>
      </p:sp>
      <p:sp>
        <p:nvSpPr>
          <p:cNvPr id="52" name="正方形/長方形 51">
            <a:extLst>
              <a:ext uri="{FF2B5EF4-FFF2-40B4-BE49-F238E27FC236}">
                <a16:creationId xmlns:a16="http://schemas.microsoft.com/office/drawing/2014/main" id="{88997CF3-6104-5500-60EB-0DDACA45AE6F}"/>
              </a:ext>
            </a:extLst>
          </p:cNvPr>
          <p:cNvSpPr/>
          <p:nvPr/>
        </p:nvSpPr>
        <p:spPr>
          <a:xfrm>
            <a:off x="5391351" y="2466383"/>
            <a:ext cx="1944000" cy="756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180000" indent="-180000">
              <a:lnSpc>
                <a:spcPct val="120000"/>
              </a:lnSpc>
              <a:buClr>
                <a:schemeClr val="accent4"/>
              </a:buClr>
              <a:buFont typeface="游ゴシック" panose="020B0400000000000000" pitchFamily="50" charset="-128"/>
              <a:buChar char="▪"/>
            </a:pPr>
            <a:r>
              <a:rPr kumimoji="1" lang="ja-JP" altLang="en-US" sz="1100" dirty="0">
                <a:solidFill>
                  <a:schemeClr val="tx1"/>
                </a:solidFill>
              </a:rPr>
              <a:t>紀尾井町店・大船店（賃借）</a:t>
            </a:r>
          </a:p>
          <a:p>
            <a:pPr marL="180000" indent="-180000">
              <a:lnSpc>
                <a:spcPct val="120000"/>
              </a:lnSpc>
              <a:buClr>
                <a:schemeClr val="accent4"/>
              </a:buClr>
              <a:buFont typeface="游ゴシック" panose="020B0400000000000000" pitchFamily="50" charset="-128"/>
              <a:buChar char="▪"/>
            </a:pPr>
            <a:r>
              <a:rPr kumimoji="1" lang="ja-JP" altLang="en-US" sz="1100" dirty="0">
                <a:solidFill>
                  <a:schemeClr val="tx1"/>
                </a:solidFill>
              </a:rPr>
              <a:t>売上 88・91百万円</a:t>
            </a:r>
          </a:p>
        </p:txBody>
      </p:sp>
      <p:sp>
        <p:nvSpPr>
          <p:cNvPr id="47" name="正方形/長方形 46">
            <a:extLst>
              <a:ext uri="{FF2B5EF4-FFF2-40B4-BE49-F238E27FC236}">
                <a16:creationId xmlns:a16="http://schemas.microsoft.com/office/drawing/2014/main" id="{A3FF10E9-0F90-E0AE-DF08-37E610F0395E}"/>
              </a:ext>
            </a:extLst>
          </p:cNvPr>
          <p:cNvSpPr>
            <a:spLocks/>
          </p:cNvSpPr>
          <p:nvPr/>
        </p:nvSpPr>
        <p:spPr>
          <a:xfrm>
            <a:off x="3185906" y="4369959"/>
            <a:ext cx="4320000" cy="891123"/>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08000" rIns="0" bIns="0" rtlCol="0" anchor="t">
            <a:noAutofit/>
          </a:bodyPr>
          <a:lstStyle/>
          <a:p>
            <a:r>
              <a:rPr kumimoji="1" lang="ja-JP" altLang="en-US" sz="1400" b="1" dirty="0">
                <a:solidFill>
                  <a:schemeClr val="tx2"/>
                </a:solidFill>
                <a:ea typeface="+mj-ea"/>
              </a:rPr>
              <a:t>不動産</a:t>
            </a:r>
          </a:p>
        </p:txBody>
      </p:sp>
      <p:sp>
        <p:nvSpPr>
          <p:cNvPr id="55" name="正方形/長方形 54">
            <a:extLst>
              <a:ext uri="{FF2B5EF4-FFF2-40B4-BE49-F238E27FC236}">
                <a16:creationId xmlns:a16="http://schemas.microsoft.com/office/drawing/2014/main" id="{D2B70813-B617-004E-DE79-557C34BE9081}"/>
              </a:ext>
            </a:extLst>
          </p:cNvPr>
          <p:cNvSpPr/>
          <p:nvPr/>
        </p:nvSpPr>
        <p:spPr>
          <a:xfrm>
            <a:off x="3362901" y="4757082"/>
            <a:ext cx="1944000" cy="50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180000" indent="-180000">
              <a:lnSpc>
                <a:spcPct val="120000"/>
              </a:lnSpc>
              <a:buClr>
                <a:schemeClr val="accent4"/>
              </a:buClr>
              <a:buFont typeface="游ゴシック" panose="020B0400000000000000" pitchFamily="50" charset="-128"/>
              <a:buChar char="▪"/>
            </a:pPr>
            <a:r>
              <a:rPr kumimoji="1" lang="ja-JP" altLang="en-US" sz="1100" dirty="0">
                <a:solidFill>
                  <a:schemeClr val="tx1"/>
                </a:solidFill>
              </a:rPr>
              <a:t>鎌倉山の自社所有物件</a:t>
            </a:r>
            <a:endParaRPr kumimoji="1" lang="en-US" altLang="ja-JP" sz="1100" dirty="0">
              <a:solidFill>
                <a:schemeClr val="tx1"/>
              </a:solidFill>
            </a:endParaRPr>
          </a:p>
          <a:p>
            <a:pPr marL="180000" indent="-180000">
              <a:lnSpc>
                <a:spcPct val="120000"/>
              </a:lnSpc>
              <a:buClr>
                <a:schemeClr val="accent4"/>
              </a:buClr>
              <a:buFont typeface="游ゴシック" panose="020B0400000000000000" pitchFamily="50" charset="-128"/>
              <a:buChar char="▪"/>
            </a:pPr>
            <a:r>
              <a:rPr kumimoji="1" lang="ja-JP" altLang="en-US" sz="1100" dirty="0">
                <a:solidFill>
                  <a:schemeClr val="tx1"/>
                </a:solidFill>
              </a:rPr>
              <a:t>土地345・建物119百万円（簿価）</a:t>
            </a:r>
          </a:p>
        </p:txBody>
      </p:sp>
      <p:sp>
        <p:nvSpPr>
          <p:cNvPr id="56" name="正方形/長方形 55">
            <a:extLst>
              <a:ext uri="{FF2B5EF4-FFF2-40B4-BE49-F238E27FC236}">
                <a16:creationId xmlns:a16="http://schemas.microsoft.com/office/drawing/2014/main" id="{139CC8E2-2131-C209-701F-F234CABA26CF}"/>
              </a:ext>
            </a:extLst>
          </p:cNvPr>
          <p:cNvSpPr/>
          <p:nvPr/>
        </p:nvSpPr>
        <p:spPr>
          <a:xfrm>
            <a:off x="5391351" y="4757082"/>
            <a:ext cx="1944000" cy="50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t">
            <a:noAutofit/>
          </a:bodyPr>
          <a:lstStyle/>
          <a:p>
            <a:pPr marL="180000" indent="-180000">
              <a:lnSpc>
                <a:spcPct val="120000"/>
              </a:lnSpc>
              <a:buClr>
                <a:schemeClr val="accent4"/>
              </a:buClr>
              <a:buFont typeface="游ゴシック" panose="020B0400000000000000" pitchFamily="50" charset="-128"/>
              <a:buChar char="▪"/>
            </a:pPr>
            <a:r>
              <a:rPr kumimoji="1" lang="ja-JP" altLang="en-US" sz="1100" dirty="0">
                <a:solidFill>
                  <a:schemeClr val="tx1"/>
                </a:solidFill>
              </a:rPr>
              <a:t>賃貸物件（松濤フラッツ）</a:t>
            </a:r>
            <a:endParaRPr kumimoji="1" lang="en-US" altLang="ja-JP" sz="1100" dirty="0">
              <a:solidFill>
                <a:schemeClr val="tx1"/>
              </a:solidFill>
            </a:endParaRPr>
          </a:p>
          <a:p>
            <a:pPr marL="180000" indent="-180000">
              <a:lnSpc>
                <a:spcPct val="120000"/>
              </a:lnSpc>
              <a:buClr>
                <a:schemeClr val="accent4"/>
              </a:buClr>
              <a:buFont typeface="游ゴシック" panose="020B0400000000000000" pitchFamily="50" charset="-128"/>
              <a:buChar char="▪"/>
            </a:pPr>
            <a:r>
              <a:rPr kumimoji="1" lang="ja-JP" altLang="en-US" sz="1100" dirty="0">
                <a:solidFill>
                  <a:schemeClr val="tx1"/>
                </a:solidFill>
              </a:rPr>
              <a:t>令和7年3月売却済</a:t>
            </a:r>
          </a:p>
        </p:txBody>
      </p:sp>
      <p:sp>
        <p:nvSpPr>
          <p:cNvPr id="3" name="二等辺三角形 2">
            <a:extLst>
              <a:ext uri="{FF2B5EF4-FFF2-40B4-BE49-F238E27FC236}">
                <a16:creationId xmlns:a16="http://schemas.microsoft.com/office/drawing/2014/main" id="{B557BBBE-1218-1342-7E2D-CD72F7B39D2F}"/>
              </a:ext>
            </a:extLst>
          </p:cNvPr>
          <p:cNvSpPr/>
          <p:nvPr/>
        </p:nvSpPr>
        <p:spPr>
          <a:xfrm rot="5400000">
            <a:off x="7612581" y="4076906"/>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9" name="二等辺三角形 8">
            <a:extLst>
              <a:ext uri="{FF2B5EF4-FFF2-40B4-BE49-F238E27FC236}">
                <a16:creationId xmlns:a16="http://schemas.microsoft.com/office/drawing/2014/main" id="{91745C76-6270-D9EC-0862-A4072EDFED90}"/>
              </a:ext>
            </a:extLst>
          </p:cNvPr>
          <p:cNvSpPr/>
          <p:nvPr/>
        </p:nvSpPr>
        <p:spPr>
          <a:xfrm rot="5400000">
            <a:off x="2470990" y="4076906"/>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12" name="正方形/長方形 11">
            <a:extLst>
              <a:ext uri="{FF2B5EF4-FFF2-40B4-BE49-F238E27FC236}">
                <a16:creationId xmlns:a16="http://schemas.microsoft.com/office/drawing/2014/main" id="{29C58FFC-1A01-A8F0-166D-D51C0B6A2C66}"/>
              </a:ext>
            </a:extLst>
          </p:cNvPr>
          <p:cNvSpPr/>
          <p:nvPr/>
        </p:nvSpPr>
        <p:spPr>
          <a:xfrm>
            <a:off x="2933906" y="5890769"/>
            <a:ext cx="4824000" cy="103282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rtlCol="0" anchor="t"/>
          <a:lstStyle/>
          <a:p>
            <a:pPr algn="ctr"/>
            <a:r>
              <a:rPr kumimoji="1" lang="ja-JP" altLang="en-US" sz="1800" b="1" spc="100" dirty="0">
                <a:solidFill>
                  <a:schemeClr val="tx1"/>
                </a:solidFill>
                <a:latin typeface="+mj-ea"/>
                <a:ea typeface="+mj-ea"/>
              </a:rPr>
              <a:t>主要外注先</a:t>
            </a:r>
          </a:p>
        </p:txBody>
      </p:sp>
      <p:cxnSp>
        <p:nvCxnSpPr>
          <p:cNvPr id="14" name="直線コネクタ 13">
            <a:extLst>
              <a:ext uri="{FF2B5EF4-FFF2-40B4-BE49-F238E27FC236}">
                <a16:creationId xmlns:a16="http://schemas.microsoft.com/office/drawing/2014/main" id="{0FD3DDF0-DCBD-CE14-F158-968514C4BE62}"/>
              </a:ext>
            </a:extLst>
          </p:cNvPr>
          <p:cNvCxnSpPr>
            <a:cxnSpLocks/>
          </p:cNvCxnSpPr>
          <p:nvPr/>
        </p:nvCxnSpPr>
        <p:spPr>
          <a:xfrm>
            <a:off x="2933906" y="5890769"/>
            <a:ext cx="4862558"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2" name="二等辺三角形 21">
            <a:extLst>
              <a:ext uri="{FF2B5EF4-FFF2-40B4-BE49-F238E27FC236}">
                <a16:creationId xmlns:a16="http://schemas.microsoft.com/office/drawing/2014/main" id="{E5D47B62-2C55-3FE5-A074-85C434EA220E}"/>
              </a:ext>
            </a:extLst>
          </p:cNvPr>
          <p:cNvSpPr/>
          <p:nvPr/>
        </p:nvSpPr>
        <p:spPr>
          <a:xfrm>
            <a:off x="5039253" y="5569697"/>
            <a:ext cx="613305" cy="148933"/>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25" name="正方形/長方形 24">
            <a:extLst>
              <a:ext uri="{FF2B5EF4-FFF2-40B4-BE49-F238E27FC236}">
                <a16:creationId xmlns:a16="http://schemas.microsoft.com/office/drawing/2014/main" id="{54EC9FE9-AADB-81BC-6DCA-F5354A701162}"/>
              </a:ext>
            </a:extLst>
          </p:cNvPr>
          <p:cNvSpPr/>
          <p:nvPr/>
        </p:nvSpPr>
        <p:spPr>
          <a:xfrm>
            <a:off x="3146901" y="6351122"/>
            <a:ext cx="1892352" cy="5369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288000" tIns="0" rIns="0" bIns="0" rtlCol="0" anchor="t">
            <a:noAutofit/>
          </a:bodyPr>
          <a:lstStyle/>
          <a:p>
            <a:pPr marL="180000" indent="-180000">
              <a:lnSpc>
                <a:spcPct val="120000"/>
              </a:lnSpc>
              <a:spcAft>
                <a:spcPts val="500"/>
              </a:spcAft>
              <a:buClr>
                <a:schemeClr val="tx2"/>
              </a:buClr>
              <a:buFont typeface="游ゴシック" panose="020B0400000000000000" pitchFamily="50" charset="-128"/>
              <a:buChar char="▪"/>
            </a:pPr>
            <a:r>
              <a:rPr kumimoji="1" lang="ja-JP" altLang="en-US" sz="1200" b="1" spc="50" dirty="0">
                <a:solidFill>
                  <a:schemeClr val="tx1"/>
                </a:solidFill>
                <a:latin typeface="+mj-ea"/>
              </a:rPr>
              <a:t>外注費 2,297千円（売上比0.7%）</a:t>
            </a:r>
            <a:endParaRPr kumimoji="1" lang="en-US" altLang="ja-JP" sz="1200" b="1" spc="50" dirty="0">
              <a:solidFill>
                <a:schemeClr val="tx1"/>
              </a:solidFill>
              <a:latin typeface="+mj-ea"/>
            </a:endParaRPr>
          </a:p>
        </p:txBody>
      </p:sp>
      <p:sp>
        <p:nvSpPr>
          <p:cNvPr id="26" name="正方形/長方形 25">
            <a:extLst>
              <a:ext uri="{FF2B5EF4-FFF2-40B4-BE49-F238E27FC236}">
                <a16:creationId xmlns:a16="http://schemas.microsoft.com/office/drawing/2014/main" id="{9C061C40-9401-AAF5-F431-12A37BDB4C30}"/>
              </a:ext>
            </a:extLst>
          </p:cNvPr>
          <p:cNvSpPr/>
          <p:nvPr/>
        </p:nvSpPr>
        <p:spPr>
          <a:xfrm>
            <a:off x="5306901" y="6348318"/>
            <a:ext cx="1892352" cy="5369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288000" tIns="0" rIns="0" bIns="0" rtlCol="0" anchor="t">
            <a:noAutofit/>
          </a:bodyPr>
          <a:lstStyle/>
          <a:p>
            <a:pPr marL="180000" indent="-180000">
              <a:lnSpc>
                <a:spcPct val="120000"/>
              </a:lnSpc>
              <a:spcAft>
                <a:spcPts val="500"/>
              </a:spcAft>
              <a:buClr>
                <a:schemeClr val="tx2"/>
              </a:buClr>
              <a:buFont typeface="游ゴシック" panose="020B0400000000000000" pitchFamily="50" charset="-128"/>
              <a:buChar char="▪"/>
            </a:pPr>
            <a:r>
              <a:rPr kumimoji="1" lang="ja-JP" altLang="en-US" sz="1200" b="1" spc="50" dirty="0">
                <a:solidFill>
                  <a:schemeClr val="tx1"/>
                </a:solidFill>
                <a:latin typeface="+mj-ea"/>
              </a:rPr>
              <a:t>主に個人外注先（要確認）</a:t>
            </a:r>
            <a:endParaRPr kumimoji="1" lang="en-US" altLang="ja-JP" sz="1200" b="1" spc="50" dirty="0">
              <a:solidFill>
                <a:schemeClr val="tx1"/>
              </a:solidFill>
              <a:latin typeface="+mj-ea"/>
            </a:endParaRPr>
          </a:p>
        </p:txBody>
      </p:sp>
      <p:sp>
        <p:nvSpPr>
          <p:cNvPr id="31" name="二等辺三角形 30">
            <a:extLst>
              <a:ext uri="{FF2B5EF4-FFF2-40B4-BE49-F238E27FC236}">
                <a16:creationId xmlns:a16="http://schemas.microsoft.com/office/drawing/2014/main" id="{64633052-A79E-B34E-462F-300E6FAF9F36}"/>
              </a:ext>
            </a:extLst>
          </p:cNvPr>
          <p:cNvSpPr/>
          <p:nvPr/>
        </p:nvSpPr>
        <p:spPr>
          <a:xfrm rot="10800000">
            <a:off x="5039252" y="5720533"/>
            <a:ext cx="613305" cy="148933"/>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35" name="字幕 13">
            <a:extLst>
              <a:ext uri="{FF2B5EF4-FFF2-40B4-BE49-F238E27FC236}">
                <a16:creationId xmlns:a16="http://schemas.microsoft.com/office/drawing/2014/main" id="{999986B5-FEED-86D6-9A2B-D6BEF4A1BD44}"/>
              </a:ext>
            </a:extLst>
          </p:cNvPr>
          <p:cNvSpPr>
            <a:spLocks noGrp="1"/>
          </p:cNvSpPr>
          <p:nvPr>
            <p:ph type="subTitle" idx="1"/>
          </p:nvPr>
        </p:nvSpPr>
        <p:spPr>
          <a:xfrm>
            <a:off x="460675" y="830046"/>
            <a:ext cx="9781875" cy="241861"/>
          </a:xfrm>
        </p:spPr>
        <p:txBody>
          <a:bodyPr>
            <a:noAutofit/>
          </a:bodyPr>
          <a:lstStyle/>
          <a:p>
            <a:r>
              <a:rPr lang="ja-JP" altLang="en-US" dirty="0">
                <a:latin typeface="+mj-ea"/>
              </a:rPr>
              <a:t>鎌倉山・紀尾井町・大船の3店舗で、菓子・パン・カフェを個人のお客様へ直接販売。食材は乳製品・コーヒー・製菓材料等の卸・メーカーから調達しています。</a:t>
            </a:r>
            <a:endParaRPr lang="en-US" altLang="ja-JP" dirty="0"/>
          </a:p>
        </p:txBody>
      </p:sp>
    </p:spTree>
    <p:extLst>
      <p:ext uri="{BB962C8B-B14F-4D97-AF65-F5344CB8AC3E}">
        <p14:creationId xmlns:p14="http://schemas.microsoft.com/office/powerpoint/2010/main" val="5383831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0B1C5-D3FA-B80D-FCF0-3C49EF8E798D}"/>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C98E073B-FCE4-F6FA-66A7-29E757285F77}"/>
              </a:ext>
            </a:extLst>
          </p:cNvPr>
          <p:cNvSpPr>
            <a:spLocks noGrp="1"/>
          </p:cNvSpPr>
          <p:nvPr>
            <p:ph type="ctrTitle"/>
          </p:nvPr>
        </p:nvSpPr>
        <p:spPr/>
        <p:txBody>
          <a:bodyPr/>
          <a:lstStyle/>
          <a:p>
            <a:r>
              <a:rPr lang="ja-JP" altLang="en-US" dirty="0"/>
              <a:t>サービス・商品概要</a:t>
            </a:r>
          </a:p>
        </p:txBody>
      </p:sp>
      <p:sp>
        <p:nvSpPr>
          <p:cNvPr id="2" name="タイトル 1">
            <a:extLst>
              <a:ext uri="{FF2B5EF4-FFF2-40B4-BE49-F238E27FC236}">
                <a16:creationId xmlns:a16="http://schemas.microsoft.com/office/drawing/2014/main" id="{1F33762E-23F4-8C5B-C467-2E3E3671C9B0}"/>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t>事業概要</a:t>
            </a:r>
          </a:p>
        </p:txBody>
      </p:sp>
      <p:sp>
        <p:nvSpPr>
          <p:cNvPr id="4" name="TextBox 3"/>
          <p:cNvSpPr txBox="1"/>
          <p:nvPr/>
        </p:nvSpPr>
        <p:spPr>
          <a:xfrm>
            <a:off x="457200" y="868680"/>
            <a:ext cx="9784080" cy="457200"/>
          </a:xfrm>
          <a:prstGeom prst="rect">
            <a:avLst/>
          </a:prstGeom>
          <a:noFill/>
        </p:spPr>
        <p:txBody>
          <a:bodyPr wrap="square" lIns="0" tIns="0" rIns="0" bIns="0" anchor="t">
            <a:spAutoFit/>
          </a:bodyPr>
          <a:lstStyle/>
          <a:p>
            <a:r>
              <a:rPr kumimoji="1" lang="ja-JP" altLang="en-US" sz="1300" dirty="0">
                <a:solidFill>
                  <a:srgbClr val="000000"/>
                </a:solidFill>
                <a:latin typeface="+mn-ea"/>
                <a:ea typeface="+mn-ea"/>
              </a:rPr>
              <a:t>鎌倉山の「ル・ミリュウ」を本店に、生菓子・焼菓子・パンの販売と併設カフェを展開。看板商品やアフタヌーンティー等で支持を得ています（Web情報・要確認）。</a:t>
            </a:r>
            <a:endParaRPr kumimoji="1" lang="ja-JP" altLang="en-US" sz="1300" dirty="0"/>
          </a:p>
        </p:txBody>
      </p:sp>
      <p:sp>
        <p:nvSpPr>
          <p:cNvPr id="5" name="Rectangle 4"/>
          <p:cNvSpPr/>
          <p:nvPr/>
        </p:nvSpPr>
        <p:spPr>
          <a:xfrm>
            <a:off x="457200" y="1554480"/>
            <a:ext cx="4800600" cy="347472"/>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kumimoji="1" lang="ja-JP" altLang="en-US" sz="1200" dirty="0" b="1">
                <a:solidFill>
                  <a:srgbClr val="FFFFFF"/>
                </a:solidFill>
                <a:latin typeface="+mn-ea"/>
                <a:ea typeface="+mn-ea"/>
              </a:rPr>
              <a:t>■ 提供商品・サービス（Web情報・要確認）</a:t>
            </a:r>
            <a:endParaRPr kumimoji="1" lang="ja-JP" altLang="en-US" sz="1200" dirty="0"/>
          </a:p>
        </p:txBody>
      </p:sp>
      <p:sp>
        <p:nvSpPr>
          <p:cNvPr id="6" name="TextBox 5"/>
          <p:cNvSpPr txBox="1"/>
          <p:nvPr/>
        </p:nvSpPr>
        <p:spPr>
          <a:xfrm>
            <a:off x="457200" y="1965960"/>
            <a:ext cx="4800600" cy="1600200"/>
          </a:xfrm>
          <a:prstGeom prst="rect">
            <a:avLst/>
          </a:prstGeom>
          <a:solidFill>
            <a:srgbClr val="E3E7E9"/>
          </a:solidFill>
        </p:spPr>
        <p:txBody>
          <a:bodyPr wrap="square" lIns="137160" tIns="109728" rIns="137160" bIns="91440" anchor="t">
            <a:spAutoFit/>
          </a:bodyPr>
          <a:lstStyle/>
          <a:p>
            <a:pPr>
              <a:spcAft>
                <a:spcPts val="300"/>
              </a:spcAft>
            </a:pPr>
            <a:r>
              <a:rPr kumimoji="1" lang="ja-JP" altLang="en-US" sz="1100" dirty="0">
                <a:solidFill>
                  <a:srgbClr val="000000"/>
                </a:solidFill>
                <a:latin typeface="+mn-ea"/>
                <a:ea typeface="+mn-ea"/>
              </a:rPr>
              <a:t>・生菓子（ケーキ）・焼菓子・パンの販売（店頭）</a:t>
            </a:r>
            <a:endParaRPr kumimoji="1" lang="ja-JP" altLang="en-US" sz="1100" dirty="0"/>
          </a:p>
          <a:p>
            <a:pPr>
              <a:spcAft>
                <a:spcPts val="300"/>
              </a:spcAft>
            </a:pPr>
            <a:r>
              <a:rPr kumimoji="1" lang="ja-JP" altLang="en-US" sz="1100" dirty="0">
                <a:solidFill>
                  <a:srgbClr val="000000"/>
                </a:solidFill>
                <a:latin typeface="+mn-ea"/>
                <a:ea typeface="+mn-ea"/>
              </a:rPr>
              <a:t>・併設カフェでの飲食提供（アフタヌーンティー等）</a:t>
            </a:r>
            <a:endParaRPr kumimoji="1" lang="ja-JP" altLang="en-US" sz="1100" dirty="0"/>
          </a:p>
          <a:p>
            <a:pPr>
              <a:spcAft>
                <a:spcPts val="300"/>
              </a:spcAft>
            </a:pPr>
            <a:r>
              <a:rPr kumimoji="1" lang="ja-JP" altLang="en-US" sz="1100" dirty="0">
                <a:solidFill>
                  <a:srgbClr val="000000"/>
                </a:solidFill>
                <a:latin typeface="+mn-ea"/>
                <a:ea typeface="+mn-ea"/>
              </a:rPr>
              <a:t>・ギフト商品（法人向けの卸を含む）</a:t>
            </a:r>
            <a:endParaRPr kumimoji="1" lang="ja-JP" altLang="en-US" sz="1100" dirty="0"/>
          </a:p>
          <a:p>
            <a:pPr>
              <a:spcAft>
                <a:spcPts val="300"/>
              </a:spcAft>
            </a:pPr>
            <a:r>
              <a:rPr kumimoji="1" lang="ja-JP" altLang="en-US" sz="1100" dirty="0">
                <a:solidFill>
                  <a:srgbClr val="000000"/>
                </a:solidFill>
                <a:latin typeface="+mn-ea"/>
                <a:ea typeface="+mn-ea"/>
              </a:rPr>
              <a:t>・物販（ミリュウショップ）</a:t>
            </a:r>
            <a:endParaRPr kumimoji="1" lang="ja-JP" altLang="en-US" sz="1100" dirty="0"/>
          </a:p>
        </p:txBody>
      </p:sp>
      <p:sp>
        <p:nvSpPr>
          <p:cNvPr id="7" name="Rectangle 6"/>
          <p:cNvSpPr/>
          <p:nvPr/>
        </p:nvSpPr>
        <p:spPr>
          <a:xfrm>
            <a:off x="5440680" y="1554480"/>
            <a:ext cx="4800600" cy="347472"/>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kumimoji="1" lang="ja-JP" altLang="en-US" sz="1200" dirty="0" b="1">
                <a:solidFill>
                  <a:srgbClr val="FFFFFF"/>
                </a:solidFill>
                <a:latin typeface="+mn-ea"/>
                <a:ea typeface="+mn-ea"/>
              </a:rPr>
              <a:t>■ 店舗網</a:t>
            </a:r>
            <a:endParaRPr kumimoji="1" lang="ja-JP" altLang="en-US" sz="1200" dirty="0"/>
          </a:p>
        </p:txBody>
      </p:sp>
      <p:sp>
        <p:nvSpPr>
          <p:cNvPr id="8" name="TextBox 7"/>
          <p:cNvSpPr txBox="1"/>
          <p:nvPr/>
        </p:nvSpPr>
        <p:spPr>
          <a:xfrm>
            <a:off x="5440680" y="1965960"/>
            <a:ext cx="4800600" cy="1600200"/>
          </a:xfrm>
          <a:prstGeom prst="rect">
            <a:avLst/>
          </a:prstGeom>
          <a:solidFill>
            <a:srgbClr val="E3E7E9"/>
          </a:solidFill>
        </p:spPr>
        <p:txBody>
          <a:bodyPr wrap="square" lIns="137160" tIns="109728" rIns="137160" bIns="91440" anchor="t">
            <a:spAutoFit/>
          </a:bodyPr>
          <a:lstStyle/>
          <a:p>
            <a:pPr>
              <a:spcAft>
                <a:spcPts val="300"/>
              </a:spcAft>
            </a:pPr>
            <a:r>
              <a:rPr kumimoji="1" lang="ja-JP" altLang="en-US" sz="1100" dirty="0">
                <a:solidFill>
                  <a:srgbClr val="000000"/>
                </a:solidFill>
                <a:latin typeface="+mn-ea"/>
                <a:ea typeface="+mn-ea"/>
              </a:rPr>
              <a:t>・鎌倉山店「ル・ミリュウ」（本店・自社所有）：売上 99,972千円</a:t>
            </a:r>
            <a:endParaRPr kumimoji="1" lang="ja-JP" altLang="en-US" sz="1100" dirty="0"/>
          </a:p>
          <a:p>
            <a:pPr>
              <a:spcAft>
                <a:spcPts val="300"/>
              </a:spcAft>
            </a:pPr>
            <a:r>
              <a:rPr kumimoji="1" lang="ja-JP" altLang="en-US" sz="1100" dirty="0">
                <a:solidFill>
                  <a:srgbClr val="000000"/>
                </a:solidFill>
                <a:latin typeface="+mn-ea"/>
                <a:ea typeface="+mn-ea"/>
              </a:rPr>
              <a:t>・紀尾井町店（賃借）：売上 87,918千円</a:t>
            </a:r>
            <a:endParaRPr kumimoji="1" lang="ja-JP" altLang="en-US" sz="1100" dirty="0"/>
          </a:p>
          <a:p>
            <a:pPr>
              <a:spcAft>
                <a:spcPts val="300"/>
              </a:spcAft>
            </a:pPr>
            <a:r>
              <a:rPr kumimoji="1" lang="ja-JP" altLang="en-US" sz="1100" dirty="0">
                <a:solidFill>
                  <a:srgbClr val="000000"/>
                </a:solidFill>
                <a:latin typeface="+mn-ea"/>
                <a:ea typeface="+mn-ea"/>
              </a:rPr>
              <a:t>・大船店（賃借）：売上 91,286千円</a:t>
            </a:r>
            <a:endParaRPr kumimoji="1" lang="ja-JP" altLang="en-US" sz="1100" dirty="0"/>
          </a:p>
          <a:p>
            <a:pPr>
              <a:spcAft>
                <a:spcPts val="300"/>
              </a:spcAft>
            </a:pPr>
            <a:r>
              <a:rPr kumimoji="1" lang="ja-JP" altLang="en-US" sz="1100" dirty="0">
                <a:solidFill>
                  <a:srgbClr val="000000"/>
                </a:solidFill>
                <a:latin typeface="+mn-ea"/>
                <a:ea typeface="+mn-ea"/>
              </a:rPr>
              <a:t>・四谷店：令和7年3月期以降は売上なし（閉店と推察）</a:t>
            </a:r>
            <a:endParaRPr kumimoji="1" lang="ja-JP" altLang="en-US" sz="1100" dirty="0"/>
          </a:p>
        </p:txBody>
      </p:sp>
      <p:sp>
        <p:nvSpPr>
          <p:cNvPr id="9" name="Rectangle 8"/>
          <p:cNvSpPr/>
          <p:nvPr/>
        </p:nvSpPr>
        <p:spPr>
          <a:xfrm>
            <a:off x="457200" y="3794760"/>
            <a:ext cx="4800600" cy="347472"/>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kumimoji="1" lang="ja-JP" altLang="en-US" sz="1200" dirty="0" b="1">
                <a:solidFill>
                  <a:srgbClr val="FFFFFF"/>
                </a:solidFill>
                <a:latin typeface="+mn-ea"/>
                <a:ea typeface="+mn-ea"/>
              </a:rPr>
              <a:t>■ 調達・製造</a:t>
            </a:r>
            <a:endParaRPr kumimoji="1" lang="ja-JP" altLang="en-US" sz="1200" dirty="0"/>
          </a:p>
        </p:txBody>
      </p:sp>
      <p:sp>
        <p:nvSpPr>
          <p:cNvPr id="10" name="TextBox 9"/>
          <p:cNvSpPr txBox="1"/>
          <p:nvPr/>
        </p:nvSpPr>
        <p:spPr>
          <a:xfrm>
            <a:off x="457200" y="4206240"/>
            <a:ext cx="4800600" cy="1600200"/>
          </a:xfrm>
          <a:prstGeom prst="rect">
            <a:avLst/>
          </a:prstGeom>
          <a:solidFill>
            <a:srgbClr val="E3E7E9"/>
          </a:solidFill>
        </p:spPr>
        <p:txBody>
          <a:bodyPr wrap="square" lIns="137160" tIns="109728" rIns="137160" bIns="91440" anchor="t">
            <a:spAutoFit/>
          </a:bodyPr>
          <a:lstStyle/>
          <a:p>
            <a:pPr>
              <a:spcAft>
                <a:spcPts val="300"/>
              </a:spcAft>
            </a:pPr>
            <a:r>
              <a:rPr kumimoji="1" lang="ja-JP" altLang="en-US" sz="1100" dirty="0">
                <a:solidFill>
                  <a:srgbClr val="000000"/>
                </a:solidFill>
                <a:latin typeface="+mn-ea"/>
                <a:ea typeface="+mn-ea"/>
              </a:rPr>
              <a:t>・乳製品・コーヒー・製菓材料等を国内の卸・メーカーから調達</a:t>
            </a:r>
            <a:endParaRPr kumimoji="1" lang="ja-JP" altLang="en-US" sz="1100" dirty="0"/>
          </a:p>
          <a:p>
            <a:pPr>
              <a:spcAft>
                <a:spcPts val="300"/>
              </a:spcAft>
            </a:pPr>
            <a:r>
              <a:rPr kumimoji="1" lang="ja-JP" altLang="en-US" sz="1100" dirty="0">
                <a:solidFill>
                  <a:srgbClr val="000000"/>
                </a:solidFill>
                <a:latin typeface="+mn-ea"/>
                <a:ea typeface="+mn-ea"/>
              </a:rPr>
              <a:t>・商品仕入は年96百万円（売上高比約3割）</a:t>
            </a:r>
            <a:endParaRPr kumimoji="1" lang="ja-JP" altLang="en-US" sz="1100" dirty="0"/>
          </a:p>
          <a:p>
            <a:pPr>
              <a:spcAft>
                <a:spcPts val="300"/>
              </a:spcAft>
            </a:pPr>
            <a:r>
              <a:rPr kumimoji="1" lang="ja-JP" altLang="en-US" sz="1100" dirty="0">
                <a:solidFill>
                  <a:srgbClr val="000000"/>
                </a:solidFill>
                <a:latin typeface="+mn-ea"/>
                <a:ea typeface="+mn-ea"/>
              </a:rPr>
              <a:t>・外注費は年2百万円と小さく、店舗での内製が中心と推察（要確認）</a:t>
            </a:r>
            <a:endParaRPr kumimoji="1" lang="ja-JP" altLang="en-US" sz="1100" dirty="0"/>
          </a:p>
        </p:txBody>
      </p:sp>
      <p:sp>
        <p:nvSpPr>
          <p:cNvPr id="11" name="Rectangle 10"/>
          <p:cNvSpPr/>
          <p:nvPr/>
        </p:nvSpPr>
        <p:spPr>
          <a:xfrm>
            <a:off x="5440680" y="3794760"/>
            <a:ext cx="4800600" cy="347472"/>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kumimoji="1" lang="ja-JP" altLang="en-US" sz="1200" dirty="0" b="1">
                <a:solidFill>
                  <a:srgbClr val="FFFFFF"/>
                </a:solidFill>
                <a:latin typeface="+mn-ea"/>
                <a:ea typeface="+mn-ea"/>
              </a:rPr>
              <a:t>■ 販売チャネル</a:t>
            </a:r>
            <a:endParaRPr kumimoji="1" lang="ja-JP" altLang="en-US" sz="1200" dirty="0"/>
          </a:p>
        </p:txBody>
      </p:sp>
      <p:sp>
        <p:nvSpPr>
          <p:cNvPr id="12" name="TextBox 11"/>
          <p:cNvSpPr txBox="1"/>
          <p:nvPr/>
        </p:nvSpPr>
        <p:spPr>
          <a:xfrm>
            <a:off x="5440680" y="4206240"/>
            <a:ext cx="4800600" cy="1600200"/>
          </a:xfrm>
          <a:prstGeom prst="rect">
            <a:avLst/>
          </a:prstGeom>
          <a:solidFill>
            <a:srgbClr val="E3E7E9"/>
          </a:solidFill>
        </p:spPr>
        <p:txBody>
          <a:bodyPr wrap="square" lIns="137160" tIns="109728" rIns="137160" bIns="91440" anchor="t">
            <a:spAutoFit/>
          </a:bodyPr>
          <a:lstStyle/>
          <a:p>
            <a:pPr>
              <a:spcAft>
                <a:spcPts val="300"/>
              </a:spcAft>
            </a:pPr>
            <a:r>
              <a:rPr kumimoji="1" lang="ja-JP" altLang="en-US" sz="1100" dirty="0">
                <a:solidFill>
                  <a:srgbClr val="000000"/>
                </a:solidFill>
                <a:latin typeface="+mn-ea"/>
                <a:ea typeface="+mn-ea"/>
              </a:rPr>
              <a:t>・店頭販売・カフェ利用（個人のお客様）が中心</a:t>
            </a:r>
            <a:endParaRPr kumimoji="1" lang="ja-JP" altLang="en-US" sz="1100" dirty="0"/>
          </a:p>
          <a:p>
            <a:pPr>
              <a:spcAft>
                <a:spcPts val="300"/>
              </a:spcAft>
            </a:pPr>
            <a:r>
              <a:rPr kumimoji="1" lang="ja-JP" altLang="en-US" sz="1100" dirty="0">
                <a:solidFill>
                  <a:srgbClr val="000000"/>
                </a:solidFill>
                <a:latin typeface="+mn-ea"/>
                <a:ea typeface="+mn-ea"/>
              </a:rPr>
              <a:t>・大船店は百貨店経由の売上精算あり</a:t>
            </a:r>
            <a:endParaRPr kumimoji="1" lang="ja-JP" altLang="en-US" sz="1100" dirty="0"/>
          </a:p>
          <a:p>
            <a:pPr>
              <a:spcAft>
                <a:spcPts val="300"/>
              </a:spcAft>
            </a:pPr>
            <a:r>
              <a:rPr kumimoji="1" lang="ja-JP" altLang="en-US" sz="1100" dirty="0">
                <a:solidFill>
                  <a:srgbClr val="000000"/>
                </a:solidFill>
                <a:latin typeface="+mn-ea"/>
                <a:ea typeface="+mn-ea"/>
              </a:rPr>
              <a:t>・法人向けギフト卸（リンベル㈱ほか）は売上の約3%</a:t>
            </a:r>
            <a:endParaRPr kumimoji="1" lang="ja-JP" altLang="en-US" sz="1100" dirty="0"/>
          </a:p>
        </p:txBody>
      </p:sp>
      <p:sp>
        <p:nvSpPr>
          <p:cNvPr id="13" name="TextBox 12"/>
          <p:cNvSpPr txBox="1"/>
          <p:nvPr/>
        </p:nvSpPr>
        <p:spPr>
          <a:xfrm>
            <a:off x="457200" y="6172200"/>
            <a:ext cx="9784080" cy="274320"/>
          </a:xfrm>
          <a:prstGeom prst="rect">
            <a:avLst/>
          </a:prstGeom>
          <a:noFill/>
        </p:spPr>
        <p:txBody>
          <a:bodyPr wrap="square" lIns="0" tIns="0" rIns="0" bIns="0" anchor="t">
            <a:spAutoFit/>
          </a:bodyPr>
          <a:lstStyle/>
          <a:p>
            <a:r>
              <a:rPr kumimoji="1" lang="ja-JP" altLang="en-US" sz="900" dirty="0">
                <a:solidFill>
                  <a:srgbClr val="595959"/>
                </a:solidFill>
                <a:latin typeface="+mn-ea"/>
                <a:ea typeface="+mn-ea"/>
              </a:rPr>
              <a:t>※商品・サービス内容は公開情報（Web）に基づく。取扱商品の詳細・売上構成は未受領のためヒアリング予定。</a:t>
            </a:r>
            <a:endParaRPr kumimoji="1" lang="ja-JP" altLang="en-US" sz="900" dirty="0"/>
          </a:p>
        </p:txBody>
      </p:sp>
    </p:spTree>
    <p:extLst>
      <p:ext uri="{BB962C8B-B14F-4D97-AF65-F5344CB8AC3E}">
        <p14:creationId xmlns:p14="http://schemas.microsoft.com/office/powerpoint/2010/main" val="25275136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正方形/長方形 15">
            <a:extLst>
              <a:ext uri="{FF2B5EF4-FFF2-40B4-BE49-F238E27FC236}">
                <a16:creationId xmlns:a16="http://schemas.microsoft.com/office/drawing/2014/main" id="{C40E5E72-4BCD-E861-A1A2-154E947EEC6C}"/>
              </a:ext>
            </a:extLst>
          </p:cNvPr>
          <p:cNvSpPr/>
          <p:nvPr/>
        </p:nvSpPr>
        <p:spPr>
          <a:xfrm>
            <a:off x="449262" y="1127688"/>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sp>
        <p:nvSpPr>
          <p:cNvPr id="14" name="テキスト ボックス 13">
            <a:extLst>
              <a:ext uri="{FF2B5EF4-FFF2-40B4-BE49-F238E27FC236}">
                <a16:creationId xmlns:a16="http://schemas.microsoft.com/office/drawing/2014/main" id="{E4EAC5C5-4B19-168C-44C3-D63B9FCB0292}"/>
              </a:ext>
            </a:extLst>
          </p:cNvPr>
          <p:cNvSpPr txBox="1"/>
          <p:nvPr/>
        </p:nvSpPr>
        <p:spPr>
          <a:xfrm>
            <a:off x="2114550" y="1554265"/>
            <a:ext cx="7768831" cy="802848"/>
          </a:xfrm>
          <a:prstGeom prst="rect">
            <a:avLst/>
          </a:prstGeom>
          <a:noFill/>
        </p:spPr>
        <p:txBody>
          <a:bodyPr wrap="square" lIns="0" tIns="0" rIns="0" bIns="0" rtlCol="0" anchor="ctr">
            <a:spAutoFit/>
          </a:bodyPr>
          <a:lstStyle/>
          <a:p>
            <a:pPr>
              <a:lnSpc>
                <a:spcPct val="120000"/>
              </a:lnSpc>
              <a:spcAft>
                <a:spcPts val="600"/>
              </a:spcAft>
            </a:pPr>
            <a:r>
              <a:rPr lang="ja-JP" altLang="en-US" sz="1600" b="1" spc="30" dirty="0">
                <a:solidFill>
                  <a:schemeClr val="tx2"/>
                </a:solidFill>
                <a:latin typeface="+mj-ea"/>
                <a:ea typeface="+mj-ea"/>
              </a:rPr>
              <a:t>自社所有の鎌倉山を本店に、鎌倉・東京で3店舗を展開</a:t>
            </a:r>
            <a:endParaRPr lang="en-US" altLang="ja-JP" sz="1600" b="1" spc="30" dirty="0">
              <a:solidFill>
                <a:schemeClr val="tx2"/>
              </a:solidFill>
              <a:latin typeface="+mj-ea"/>
              <a:ea typeface="+mj-ea"/>
            </a:endParaRPr>
          </a:p>
          <a:p>
            <a:pPr>
              <a:lnSpc>
                <a:spcPct val="120000"/>
              </a:lnSpc>
              <a:spcAft>
                <a:spcPts val="600"/>
              </a:spcAft>
            </a:pPr>
            <a:r>
              <a:rPr lang="ja-JP" altLang="en-US" sz="1200" spc="30" dirty="0">
                <a:latin typeface="+mn-ea"/>
                <a:ea typeface="+mn-ea"/>
              </a:rPr>
              <a:t>鎌倉山の自社所有物件（土地・建物）を本店とし、紀尾井町・大船にも出店。3店舗の売上は令和7・8年3月期とも約2.8億円で安定しています。ブランド名（ル・ミリュウ／ラ・プレシューズ）は公開情報に基づく（要確認）。</a:t>
            </a:r>
            <a:endParaRPr kumimoji="1" lang="ja-JP" altLang="en-US" sz="1200" spc="30" dirty="0">
              <a:latin typeface="+mn-ea"/>
              <a:ea typeface="+mn-ea"/>
            </a:endParaRPr>
          </a:p>
        </p:txBody>
      </p:sp>
      <p:sp>
        <p:nvSpPr>
          <p:cNvPr id="3" name="タイトル 2">
            <a:extLst>
              <a:ext uri="{FF2B5EF4-FFF2-40B4-BE49-F238E27FC236}">
                <a16:creationId xmlns:a16="http://schemas.microsoft.com/office/drawing/2014/main" id="{3DD08FDB-DE43-2BEC-7657-AFC65253B448}"/>
              </a:ext>
            </a:extLst>
          </p:cNvPr>
          <p:cNvSpPr>
            <a:spLocks noGrp="1"/>
          </p:cNvSpPr>
          <p:nvPr>
            <p:ph type="ctrTitle"/>
          </p:nvPr>
        </p:nvSpPr>
        <p:spPr/>
        <p:txBody>
          <a:bodyPr/>
          <a:lstStyle/>
          <a:p>
            <a:r>
              <a:rPr lang="ja-JP" altLang="en-US" dirty="0"/>
              <a:t>特徴、強み、成長性等</a:t>
            </a:r>
          </a:p>
        </p:txBody>
      </p:sp>
      <p:sp>
        <p:nvSpPr>
          <p:cNvPr id="2" name="タイトル 1">
            <a:extLst>
              <a:ext uri="{FF2B5EF4-FFF2-40B4-BE49-F238E27FC236}">
                <a16:creationId xmlns:a16="http://schemas.microsoft.com/office/drawing/2014/main" id="{0A4FF749-E8A2-9754-A990-0C08664F52BF}"/>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t>事業概要</a:t>
            </a:r>
          </a:p>
        </p:txBody>
      </p:sp>
      <p:cxnSp>
        <p:nvCxnSpPr>
          <p:cNvPr id="4" name="直線コネクタ 3">
            <a:extLst>
              <a:ext uri="{FF2B5EF4-FFF2-40B4-BE49-F238E27FC236}">
                <a16:creationId xmlns:a16="http://schemas.microsoft.com/office/drawing/2014/main" id="{15777771-F922-A7C4-D3CB-74B58B03FF57}"/>
              </a:ext>
            </a:extLst>
          </p:cNvPr>
          <p:cNvCxnSpPr>
            <a:cxnSpLocks/>
          </p:cNvCxnSpPr>
          <p:nvPr/>
        </p:nvCxnSpPr>
        <p:spPr>
          <a:xfrm>
            <a:off x="449263" y="1123117"/>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2" name="正方形/長方形 11">
            <a:extLst>
              <a:ext uri="{FF2B5EF4-FFF2-40B4-BE49-F238E27FC236}">
                <a16:creationId xmlns:a16="http://schemas.microsoft.com/office/drawing/2014/main" id="{4D234CEC-3A04-0F25-446A-5400388CA526}"/>
              </a:ext>
            </a:extLst>
          </p:cNvPr>
          <p:cNvSpPr/>
          <p:nvPr/>
        </p:nvSpPr>
        <p:spPr>
          <a:xfrm>
            <a:off x="647115" y="1469688"/>
            <a:ext cx="1191210"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特徴</a:t>
            </a:r>
            <a:endParaRPr lang="en-US" altLang="ja-JP" b="1" spc="70" dirty="0">
              <a:solidFill>
                <a:schemeClr val="bg1"/>
              </a:solidFill>
              <a:latin typeface="+mj-ea"/>
              <a:ea typeface="+mj-ea"/>
            </a:endParaRPr>
          </a:p>
        </p:txBody>
      </p:sp>
      <p:sp>
        <p:nvSpPr>
          <p:cNvPr id="18" name="正方形/長方形 17">
            <a:extLst>
              <a:ext uri="{FF2B5EF4-FFF2-40B4-BE49-F238E27FC236}">
                <a16:creationId xmlns:a16="http://schemas.microsoft.com/office/drawing/2014/main" id="{0C864657-FFF0-FA13-5524-DC1F4F22D1C8}"/>
              </a:ext>
            </a:extLst>
          </p:cNvPr>
          <p:cNvSpPr/>
          <p:nvPr/>
        </p:nvSpPr>
        <p:spPr>
          <a:xfrm>
            <a:off x="449262" y="3124558"/>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sp>
        <p:nvSpPr>
          <p:cNvPr id="20" name="テキスト ボックス 19">
            <a:extLst>
              <a:ext uri="{FF2B5EF4-FFF2-40B4-BE49-F238E27FC236}">
                <a16:creationId xmlns:a16="http://schemas.microsoft.com/office/drawing/2014/main" id="{48644844-8906-9AF0-5D0D-98648174194F}"/>
              </a:ext>
            </a:extLst>
          </p:cNvPr>
          <p:cNvSpPr txBox="1"/>
          <p:nvPr/>
        </p:nvSpPr>
        <p:spPr>
          <a:xfrm>
            <a:off x="2114550" y="3551135"/>
            <a:ext cx="7768831" cy="802848"/>
          </a:xfrm>
          <a:prstGeom prst="rect">
            <a:avLst/>
          </a:prstGeom>
          <a:noFill/>
        </p:spPr>
        <p:txBody>
          <a:bodyPr wrap="square" lIns="0" tIns="0" rIns="0" bIns="0" rtlCol="0" anchor="ctr">
            <a:spAutoFit/>
          </a:bodyPr>
          <a:lstStyle/>
          <a:p>
            <a:pPr>
              <a:lnSpc>
                <a:spcPct val="120000"/>
              </a:lnSpc>
              <a:spcAft>
                <a:spcPts val="600"/>
              </a:spcAft>
            </a:pPr>
            <a:r>
              <a:rPr lang="ja-JP" altLang="en-US" sz="1600" b="1" spc="30" dirty="0">
                <a:solidFill>
                  <a:schemeClr val="tx2"/>
                </a:solidFill>
                <a:latin typeface="+mj-ea"/>
                <a:ea typeface="+mj-ea"/>
              </a:rPr>
              <a:t>賃料負担が軽く、固定費の中心は人件費</a:t>
            </a:r>
            <a:endParaRPr lang="en-US" altLang="ja-JP" sz="1600" b="1" spc="30" dirty="0">
              <a:solidFill>
                <a:schemeClr val="tx2"/>
              </a:solidFill>
              <a:latin typeface="+mj-ea"/>
              <a:ea typeface="+mj-ea"/>
            </a:endParaRPr>
          </a:p>
          <a:p>
            <a:pPr>
              <a:lnSpc>
                <a:spcPct val="120000"/>
              </a:lnSpc>
              <a:spcAft>
                <a:spcPts val="600"/>
              </a:spcAft>
            </a:pPr>
            <a:r>
              <a:rPr lang="ja-JP" altLang="en-US" sz="1200" spc="30" dirty="0">
                <a:latin typeface="+mn-ea"/>
                <a:ea typeface="+mn-ea"/>
              </a:rPr>
              <a:t>本店は自社所有のため、地代家賃は全社で年22百万円（売上高比6.8%）。人件費（給料手当＋法定福利費）は131百万円で売上高比41.2%。商品仕入は売上高比約3割で、粗利率は約7割です。</a:t>
            </a:r>
            <a:endParaRPr kumimoji="1" lang="ja-JP" altLang="en-US" sz="1200" spc="30" dirty="0">
              <a:latin typeface="+mn-ea"/>
              <a:ea typeface="+mn-ea"/>
            </a:endParaRPr>
          </a:p>
        </p:txBody>
      </p:sp>
      <p:cxnSp>
        <p:nvCxnSpPr>
          <p:cNvPr id="21" name="直線コネクタ 20">
            <a:extLst>
              <a:ext uri="{FF2B5EF4-FFF2-40B4-BE49-F238E27FC236}">
                <a16:creationId xmlns:a16="http://schemas.microsoft.com/office/drawing/2014/main" id="{3CCDB214-2D0E-0EEE-88F8-7201AB775BEA}"/>
              </a:ext>
            </a:extLst>
          </p:cNvPr>
          <p:cNvCxnSpPr>
            <a:cxnSpLocks/>
          </p:cNvCxnSpPr>
          <p:nvPr/>
        </p:nvCxnSpPr>
        <p:spPr>
          <a:xfrm>
            <a:off x="449263" y="3119987"/>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7" name="正方形/長方形 26">
            <a:extLst>
              <a:ext uri="{FF2B5EF4-FFF2-40B4-BE49-F238E27FC236}">
                <a16:creationId xmlns:a16="http://schemas.microsoft.com/office/drawing/2014/main" id="{8C7E43AC-FD21-D8FF-812C-F486F11E9CD0}"/>
              </a:ext>
            </a:extLst>
          </p:cNvPr>
          <p:cNvSpPr/>
          <p:nvPr/>
        </p:nvSpPr>
        <p:spPr>
          <a:xfrm>
            <a:off x="647115" y="3466558"/>
            <a:ext cx="1191210"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強み</a:t>
            </a:r>
            <a:endParaRPr lang="en-US" altLang="ja-JP" b="1" spc="70" dirty="0">
              <a:solidFill>
                <a:schemeClr val="bg1"/>
              </a:solidFill>
              <a:latin typeface="+mj-ea"/>
              <a:ea typeface="+mj-ea"/>
            </a:endParaRPr>
          </a:p>
        </p:txBody>
      </p:sp>
      <p:sp>
        <p:nvSpPr>
          <p:cNvPr id="28" name="正方形/長方形 27">
            <a:extLst>
              <a:ext uri="{FF2B5EF4-FFF2-40B4-BE49-F238E27FC236}">
                <a16:creationId xmlns:a16="http://schemas.microsoft.com/office/drawing/2014/main" id="{0BB6E073-4046-E1C0-AB4F-403D39FF250A}"/>
              </a:ext>
            </a:extLst>
          </p:cNvPr>
          <p:cNvSpPr/>
          <p:nvPr/>
        </p:nvSpPr>
        <p:spPr>
          <a:xfrm>
            <a:off x="449262" y="5112286"/>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sp>
        <p:nvSpPr>
          <p:cNvPr id="29" name="テキスト ボックス 28">
            <a:extLst>
              <a:ext uri="{FF2B5EF4-FFF2-40B4-BE49-F238E27FC236}">
                <a16:creationId xmlns:a16="http://schemas.microsoft.com/office/drawing/2014/main" id="{91275261-EC0D-E601-4242-EE2F20F981A2}"/>
              </a:ext>
            </a:extLst>
          </p:cNvPr>
          <p:cNvSpPr txBox="1"/>
          <p:nvPr/>
        </p:nvSpPr>
        <p:spPr>
          <a:xfrm>
            <a:off x="2114550" y="5538863"/>
            <a:ext cx="7768831" cy="802848"/>
          </a:xfrm>
          <a:prstGeom prst="rect">
            <a:avLst/>
          </a:prstGeom>
          <a:noFill/>
        </p:spPr>
        <p:txBody>
          <a:bodyPr wrap="square" lIns="0" tIns="0" rIns="0" bIns="0" rtlCol="0" anchor="ctr">
            <a:spAutoFit/>
          </a:bodyPr>
          <a:lstStyle/>
          <a:p>
            <a:pPr>
              <a:lnSpc>
                <a:spcPct val="120000"/>
              </a:lnSpc>
              <a:spcAft>
                <a:spcPts val="600"/>
              </a:spcAft>
            </a:pPr>
            <a:r>
              <a:rPr lang="ja-JP" altLang="en-US" sz="1600" b="1" spc="30" dirty="0">
                <a:solidFill>
                  <a:schemeClr val="tx2"/>
                </a:solidFill>
                <a:latin typeface="+mj-ea"/>
                <a:ea typeface="+mj-ea"/>
              </a:rPr>
              <a:t>店舗網・販路の拡張余地（仮説）</a:t>
            </a:r>
            <a:endParaRPr lang="en-US" altLang="ja-JP" sz="1600" b="1" spc="30" dirty="0">
              <a:solidFill>
                <a:schemeClr val="tx2"/>
              </a:solidFill>
              <a:latin typeface="+mj-ea"/>
              <a:ea typeface="+mj-ea"/>
            </a:endParaRPr>
          </a:p>
          <a:p>
            <a:pPr>
              <a:lnSpc>
                <a:spcPct val="120000"/>
              </a:lnSpc>
              <a:spcAft>
                <a:spcPts val="600"/>
              </a:spcAft>
            </a:pPr>
            <a:r>
              <a:rPr lang="ja-JP" altLang="en-US" sz="1200" spc="30" dirty="0">
                <a:latin typeface="+mn-ea"/>
                <a:ea typeface="+mn-ea"/>
              </a:rPr>
              <a:t>店舗売上は3店舗で安定しており、EC・ギフト・百貨店催事等の販路拡大、遊休化した不動産（鎌倉山三丁目計画）の活用等が検討余地となる可能性があります（仮説。事業計画は未受領）。</a:t>
            </a:r>
            <a:endParaRPr kumimoji="1" lang="ja-JP" altLang="en-US" sz="1200" spc="30" dirty="0">
              <a:latin typeface="+mn-ea"/>
              <a:ea typeface="+mn-ea"/>
            </a:endParaRPr>
          </a:p>
        </p:txBody>
      </p:sp>
      <p:cxnSp>
        <p:nvCxnSpPr>
          <p:cNvPr id="30" name="直線コネクタ 29">
            <a:extLst>
              <a:ext uri="{FF2B5EF4-FFF2-40B4-BE49-F238E27FC236}">
                <a16:creationId xmlns:a16="http://schemas.microsoft.com/office/drawing/2014/main" id="{9E59F759-029D-ACD7-2E8B-82D0E894FB13}"/>
              </a:ext>
            </a:extLst>
          </p:cNvPr>
          <p:cNvCxnSpPr>
            <a:cxnSpLocks/>
          </p:cNvCxnSpPr>
          <p:nvPr/>
        </p:nvCxnSpPr>
        <p:spPr>
          <a:xfrm>
            <a:off x="449263" y="5107715"/>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31" name="正方形/長方形 30">
            <a:extLst>
              <a:ext uri="{FF2B5EF4-FFF2-40B4-BE49-F238E27FC236}">
                <a16:creationId xmlns:a16="http://schemas.microsoft.com/office/drawing/2014/main" id="{9F97658D-62E2-B46F-7C6B-A887412B79A8}"/>
              </a:ext>
            </a:extLst>
          </p:cNvPr>
          <p:cNvSpPr/>
          <p:nvPr/>
        </p:nvSpPr>
        <p:spPr>
          <a:xfrm>
            <a:off x="647115" y="5454286"/>
            <a:ext cx="1191210"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成長性</a:t>
            </a:r>
            <a:endParaRPr lang="en-US" altLang="ja-JP" b="1" spc="70" dirty="0">
              <a:solidFill>
                <a:schemeClr val="bg1"/>
              </a:solidFill>
              <a:latin typeface="+mj-ea"/>
              <a:ea typeface="+mj-ea"/>
            </a:endParaRPr>
          </a:p>
        </p:txBody>
      </p:sp>
    </p:spTree>
    <p:extLst>
      <p:ext uri="{BB962C8B-B14F-4D97-AF65-F5344CB8AC3E}">
        <p14:creationId xmlns:p14="http://schemas.microsoft.com/office/powerpoint/2010/main" val="27210844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F8F80-D630-2549-01F8-FD24A4744414}"/>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F701402F-4CEB-57E0-97C2-822B3C0B999E}"/>
              </a:ext>
            </a:extLst>
          </p:cNvPr>
          <p:cNvSpPr>
            <a:spLocks noGrp="1"/>
          </p:cNvSpPr>
          <p:nvPr>
            <p:ph type="ctrTitle"/>
          </p:nvPr>
        </p:nvSpPr>
        <p:spPr>
          <a:xfrm>
            <a:off x="311150" y="180296"/>
            <a:ext cx="7799917" cy="339267"/>
          </a:xfrm>
        </p:spPr>
        <p:txBody>
          <a:bodyPr>
            <a:normAutofit/>
          </a:bodyPr>
          <a:lstStyle/>
          <a:p>
            <a:r>
              <a:rPr lang="ja-JP" altLang="en-US" dirty="0"/>
              <a:t>店舗・チャネル別売上高</a:t>
            </a:r>
          </a:p>
        </p:txBody>
      </p:sp>
      <p:sp>
        <p:nvSpPr>
          <p:cNvPr id="5" name="タイトル 1">
            <a:extLst>
              <a:ext uri="{FF2B5EF4-FFF2-40B4-BE49-F238E27FC236}">
                <a16:creationId xmlns:a16="http://schemas.microsoft.com/office/drawing/2014/main" id="{AC4464AF-219D-E466-F3BC-96AEFEDBCFD7}"/>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事業概要</a:t>
            </a:r>
          </a:p>
        </p:txBody>
      </p:sp>
      <p:sp>
        <p:nvSpPr>
          <p:cNvPr id="11" name="字幕 13">
            <a:extLst>
              <a:ext uri="{FF2B5EF4-FFF2-40B4-BE49-F238E27FC236}">
                <a16:creationId xmlns:a16="http://schemas.microsoft.com/office/drawing/2014/main" id="{9BD509DC-88D9-BD2F-8F86-54221089006B}"/>
              </a:ext>
            </a:extLst>
          </p:cNvPr>
          <p:cNvSpPr>
            <a:spLocks noGrp="1"/>
          </p:cNvSpPr>
          <p:nvPr>
            <p:ph type="subTitle" idx="1"/>
          </p:nvPr>
        </p:nvSpPr>
        <p:spPr>
          <a:xfrm>
            <a:off x="460675" y="830046"/>
            <a:ext cx="9781875" cy="241861"/>
          </a:xfrm>
        </p:spPr>
        <p:txBody>
          <a:bodyPr>
            <a:noAutofit/>
          </a:bodyPr>
          <a:lstStyle/>
          <a:p>
            <a:r>
              <a:rPr lang="ja-JP" altLang="en-US" dirty="0">
                <a:latin typeface="+mj-ea"/>
              </a:rPr>
              <a:t>鎌倉山店が約1億円と最大で、3店舗合計は約279百万円と安定。令和7年3月期の売上高には賃貸不動産の売却収入869百万円を含みます。</a:t>
            </a:r>
            <a:endParaRPr lang="en-US" altLang="ja-JP" dirty="0"/>
          </a:p>
        </p:txBody>
      </p:sp>
      <p:sp>
        <p:nvSpPr>
          <p:cNvPr id="14" name="TextBox 13"/>
          <p:cNvSpPr txBox="1"/>
          <p:nvPr/>
        </p:nvSpPr>
        <p:spPr>
          <a:xfrm>
            <a:off x="8412480" y="1207008"/>
            <a:ext cx="2103120" cy="182880"/>
          </a:xfrm>
          <a:prstGeom prst="rect">
            <a:avLst/>
          </a:prstGeom>
          <a:noFill/>
        </p:spPr>
        <p:txBody>
          <a:bodyPr wrap="square" lIns="0" tIns="0" rIns="0" bIns="0" anchor="t">
            <a:spAutoFit/>
          </a:bodyPr>
          <a:lstStyle/>
          <a:p>
            <a:r>
              <a:rPr kumimoji="1" lang="ja-JP" altLang="en-US" sz="800" dirty="0">
                <a:solidFill>
                  <a:srgbClr val="595959"/>
                </a:solidFill>
                <a:latin typeface="+mn-ea"/>
                <a:ea typeface="+mn-ea"/>
              </a:rPr>
              <a:t>（単位：千円）</a:t>
            </a:r>
            <a:endParaRPr kumimoji="1" lang="ja-JP" altLang="en-US" sz="800" dirty="0"/>
          </a:p>
        </p:txBody>
      </p:sp>
      <p:graphicFrame>
        <p:nvGraphicFramePr>
          <p:cNvPr id="15" name="Table 14"/>
          <p:cNvGraphicFramePr>
            <a:graphicFrameLocks noGrp="1"/>
          </p:cNvGraphicFramePr>
          <p:nvPr/>
        </p:nvGraphicFramePr>
        <p:xfrm>
          <a:off x="310896" y="1417320"/>
          <a:ext cx="9354312" cy="4279392"/>
        </p:xfrm>
        <a:graphic>
          <a:graphicData uri="http://schemas.openxmlformats.org/drawingml/2006/table">
            <a:tbl>
              <a:tblPr/>
              <a:tblGrid>
                <a:gridCol w="274320"/>
                <a:gridCol w="2103120"/>
                <a:gridCol w="1600200"/>
                <a:gridCol w="731520"/>
                <a:gridCol w="475488"/>
                <a:gridCol w="731520"/>
                <a:gridCol w="475488"/>
                <a:gridCol w="731520"/>
                <a:gridCol w="475488"/>
                <a:gridCol w="1755648"/>
              </a:tblGrid>
              <a:tr h="329184">
                <a:tc>
                  <a:txBody>
                    <a:bodyPr wrap="square"/>
                    <a:lstStyle/>
                    <a:p>
                      <a:pPr algn="ctr"/>
                      <a:r>
                        <a:rPr sz="800" b="1" i="0">
                          <a:solidFill>
                            <a:srgbClr val="FFFFFF"/>
                          </a:solidFill>
                          <a:latin typeface="Arial"/>
                          <a:ea typeface="游ゴシック"/>
                        </a:rPr>
                        <a:t>No</a:t>
                      </a:r>
                    </a:p>
                  </a:txBody>
                  <a:tcPr marL="45720" marR="45720" marT="13716" marB="13716" anchor="ctr">
                    <a:lnL w="0">
                      <a:noFill/>
                    </a:lnL>
                    <a:lnR w="0">
                      <a:noFill/>
                    </a:lnR>
                    <a:lnT w="0">
                      <a:noFill/>
                    </a:lnT>
                    <a:lnB w="0">
                      <a:noFill/>
                    </a:lnB>
                    <a:solidFill>
                      <a:srgbClr val="0B3041"/>
                    </a:solidFill>
                  </a:tcPr>
                </a:tc>
                <a:tc>
                  <a:txBody>
                    <a:bodyPr wrap="square"/>
                    <a:lstStyle/>
                    <a:p>
                      <a:pPr algn="ctr"/>
                      <a:r>
                        <a:rPr sz="800" b="1" i="0">
                          <a:solidFill>
                            <a:srgbClr val="FFFFFF"/>
                          </a:solidFill>
                          <a:latin typeface="Arial"/>
                          <a:ea typeface="游ゴシック"/>
                        </a:rPr>
                        <a:t>チャネル／得意先</a:t>
                      </a:r>
                    </a:p>
                  </a:txBody>
                  <a:tcPr marL="45720" marR="45720" marT="13716" marB="13716" anchor="ctr">
                    <a:lnL w="0">
                      <a:noFill/>
                    </a:lnL>
                    <a:lnR w="0">
                      <a:noFill/>
                    </a:lnR>
                    <a:lnT w="0">
                      <a:noFill/>
                    </a:lnT>
                    <a:lnB w="0">
                      <a:noFill/>
                    </a:lnB>
                    <a:solidFill>
                      <a:srgbClr val="0B3041"/>
                    </a:solidFill>
                  </a:tcPr>
                </a:tc>
                <a:tc>
                  <a:txBody>
                    <a:bodyPr wrap="square"/>
                    <a:lstStyle/>
                    <a:p>
                      <a:pPr algn="ctr"/>
                      <a:r>
                        <a:rPr sz="800" b="1" i="0">
                          <a:solidFill>
                            <a:srgbClr val="FFFFFF"/>
                          </a:solidFill>
                          <a:latin typeface="Arial"/>
                          <a:ea typeface="游ゴシック"/>
                        </a:rPr>
                        <a:t>取引内容</a:t>
                      </a:r>
                    </a:p>
                  </a:txBody>
                  <a:tcPr marL="45720" marR="45720" marT="13716" marB="13716" anchor="ctr">
                    <a:lnL w="0">
                      <a:noFill/>
                    </a:lnL>
                    <a:lnR w="0">
                      <a:noFill/>
                    </a:lnR>
                    <a:lnT w="0">
                      <a:noFill/>
                    </a:lnT>
                    <a:lnB w="0">
                      <a:noFill/>
                    </a:lnB>
                    <a:solidFill>
                      <a:srgbClr val="0B3041"/>
                    </a:solidFill>
                  </a:tcPr>
                </a:tc>
                <a:tc>
                  <a:txBody>
                    <a:bodyPr wrap="square"/>
                    <a:lstStyle/>
                    <a:p>
                      <a:pPr algn="ctr"/>
                      <a:r>
                        <a:rPr sz="800" b="1" i="0">
                          <a:solidFill>
                            <a:srgbClr val="FFFFFF"/>
                          </a:solidFill>
                          <a:latin typeface="Arial"/>
                          <a:ea typeface="游ゴシック"/>
                        </a:rPr>
                        <a:t>令6/3期</a:t>
                      </a:r>
                    </a:p>
                  </a:txBody>
                  <a:tcPr marL="45720" marR="45720" marT="13716" marB="13716" anchor="ctr">
                    <a:lnL w="0">
                      <a:noFill/>
                    </a:lnL>
                    <a:lnR w="0">
                      <a:noFill/>
                    </a:lnR>
                    <a:lnT w="0">
                      <a:noFill/>
                    </a:lnT>
                    <a:lnB w="0">
                      <a:noFill/>
                    </a:lnB>
                    <a:solidFill>
                      <a:srgbClr val="0B3041"/>
                    </a:solidFill>
                  </a:tcPr>
                </a:tc>
                <a:tc>
                  <a:txBody>
                    <a:bodyPr wrap="square"/>
                    <a:lstStyle/>
                    <a:p>
                      <a:pPr algn="ctr"/>
                      <a:r>
                        <a:rPr sz="800" b="1" i="0">
                          <a:solidFill>
                            <a:srgbClr val="FFFFFF"/>
                          </a:solidFill>
                          <a:latin typeface="Arial"/>
                          <a:ea typeface="游ゴシック"/>
                        </a:rPr>
                        <a:t>構成比</a:t>
                      </a:r>
                    </a:p>
                  </a:txBody>
                  <a:tcPr marL="45720" marR="45720" marT="13716" marB="13716" anchor="ctr">
                    <a:lnL w="0">
                      <a:noFill/>
                    </a:lnL>
                    <a:lnR w="0">
                      <a:noFill/>
                    </a:lnR>
                    <a:lnT w="0">
                      <a:noFill/>
                    </a:lnT>
                    <a:lnB w="0">
                      <a:noFill/>
                    </a:lnB>
                    <a:solidFill>
                      <a:srgbClr val="0B3041"/>
                    </a:solidFill>
                  </a:tcPr>
                </a:tc>
                <a:tc>
                  <a:txBody>
                    <a:bodyPr wrap="square"/>
                    <a:lstStyle/>
                    <a:p>
                      <a:pPr algn="ctr"/>
                      <a:r>
                        <a:rPr sz="800" b="1" i="0">
                          <a:solidFill>
                            <a:srgbClr val="FFFFFF"/>
                          </a:solidFill>
                          <a:latin typeface="Arial"/>
                          <a:ea typeface="游ゴシック"/>
                        </a:rPr>
                        <a:t>令7/3期</a:t>
                      </a:r>
                    </a:p>
                  </a:txBody>
                  <a:tcPr marL="45720" marR="45720" marT="13716" marB="13716" anchor="ctr">
                    <a:lnL w="0">
                      <a:noFill/>
                    </a:lnL>
                    <a:lnR w="0">
                      <a:noFill/>
                    </a:lnR>
                    <a:lnT w="0">
                      <a:noFill/>
                    </a:lnT>
                    <a:lnB w="0">
                      <a:noFill/>
                    </a:lnB>
                    <a:solidFill>
                      <a:srgbClr val="0B3041"/>
                    </a:solidFill>
                  </a:tcPr>
                </a:tc>
                <a:tc>
                  <a:txBody>
                    <a:bodyPr wrap="square"/>
                    <a:lstStyle/>
                    <a:p>
                      <a:pPr algn="ctr"/>
                      <a:r>
                        <a:rPr sz="800" b="1" i="0">
                          <a:solidFill>
                            <a:srgbClr val="FFFFFF"/>
                          </a:solidFill>
                          <a:latin typeface="Arial"/>
                          <a:ea typeface="游ゴシック"/>
                        </a:rPr>
                        <a:t>構成比</a:t>
                      </a:r>
                    </a:p>
                  </a:txBody>
                  <a:tcPr marL="45720" marR="45720" marT="13716" marB="13716" anchor="ctr">
                    <a:lnL w="0">
                      <a:noFill/>
                    </a:lnL>
                    <a:lnR w="0">
                      <a:noFill/>
                    </a:lnR>
                    <a:lnT w="0">
                      <a:noFill/>
                    </a:lnT>
                    <a:lnB w="0">
                      <a:noFill/>
                    </a:lnB>
                    <a:solidFill>
                      <a:srgbClr val="0B3041"/>
                    </a:solidFill>
                  </a:tcPr>
                </a:tc>
                <a:tc>
                  <a:txBody>
                    <a:bodyPr wrap="square"/>
                    <a:lstStyle/>
                    <a:p>
                      <a:pPr algn="ctr"/>
                      <a:r>
                        <a:rPr sz="800" b="1" i="0">
                          <a:solidFill>
                            <a:srgbClr val="FFFFFF"/>
                          </a:solidFill>
                          <a:latin typeface="Arial"/>
                          <a:ea typeface="游ゴシック"/>
                        </a:rPr>
                        <a:t>令8/3期</a:t>
                      </a:r>
                    </a:p>
                  </a:txBody>
                  <a:tcPr marL="45720" marR="45720" marT="13716" marB="13716" anchor="ctr">
                    <a:lnL w="0">
                      <a:noFill/>
                    </a:lnL>
                    <a:lnR w="0">
                      <a:noFill/>
                    </a:lnR>
                    <a:lnT w="0">
                      <a:noFill/>
                    </a:lnT>
                    <a:lnB w="0">
                      <a:noFill/>
                    </a:lnB>
                    <a:solidFill>
                      <a:srgbClr val="0B3041"/>
                    </a:solidFill>
                  </a:tcPr>
                </a:tc>
                <a:tc>
                  <a:txBody>
                    <a:bodyPr wrap="square"/>
                    <a:lstStyle/>
                    <a:p>
                      <a:pPr algn="ctr"/>
                      <a:r>
                        <a:rPr sz="800" b="1" i="0">
                          <a:solidFill>
                            <a:srgbClr val="FFFFFF"/>
                          </a:solidFill>
                          <a:latin typeface="Arial"/>
                          <a:ea typeface="游ゴシック"/>
                        </a:rPr>
                        <a:t>構成比</a:t>
                      </a:r>
                    </a:p>
                  </a:txBody>
                  <a:tcPr marL="45720" marR="45720" marT="13716" marB="13716" anchor="ctr">
                    <a:lnL w="0">
                      <a:noFill/>
                    </a:lnL>
                    <a:lnR w="0">
                      <a:noFill/>
                    </a:lnR>
                    <a:lnT w="0">
                      <a:noFill/>
                    </a:lnT>
                    <a:lnB w="0">
                      <a:noFill/>
                    </a:lnB>
                    <a:solidFill>
                      <a:srgbClr val="0B3041"/>
                    </a:solidFill>
                  </a:tcPr>
                </a:tc>
                <a:tc>
                  <a:txBody>
                    <a:bodyPr wrap="square"/>
                    <a:lstStyle/>
                    <a:p>
                      <a:pPr algn="ctr"/>
                      <a:r>
                        <a:rPr sz="800" b="1" i="0">
                          <a:solidFill>
                            <a:srgbClr val="FFFFFF"/>
                          </a:solidFill>
                          <a:latin typeface="Arial"/>
                          <a:ea typeface="游ゴシック"/>
                        </a:rPr>
                        <a:t>備考</a:t>
                      </a:r>
                    </a:p>
                  </a:txBody>
                  <a:tcPr marL="45720" marR="45720" marT="13716" marB="13716" anchor="ctr">
                    <a:lnL w="0">
                      <a:noFill/>
                    </a:lnL>
                    <a:lnR w="0">
                      <a:noFill/>
                    </a:lnR>
                    <a:lnT w="0">
                      <a:noFill/>
                    </a:lnT>
                    <a:lnB w="0">
                      <a:noFill/>
                    </a:lnB>
                    <a:solidFill>
                      <a:srgbClr val="0B3041"/>
                    </a:solidFill>
                  </a:tcPr>
                </a:tc>
              </a:tr>
              <a:tr h="329184">
                <a:tc>
                  <a:txBody>
                    <a:bodyPr wrap="square"/>
                    <a:lstStyle/>
                    <a:p>
                      <a:pPr algn="ctr"/>
                      <a:r>
                        <a:rPr sz="800" b="0" i="0">
                          <a:solidFill>
                            <a:srgbClr val="000000"/>
                          </a:solidFill>
                          <a:latin typeface="Arial"/>
                          <a:ea typeface="游ゴシック"/>
                        </a:rPr>
                        <a:t>1</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00" b="0" i="0">
                          <a:solidFill>
                            <a:srgbClr val="000000"/>
                          </a:solidFill>
                          <a:latin typeface="Arial"/>
                          <a:ea typeface="游ゴシック"/>
                        </a:rPr>
                        <a:t>鎌倉山店（ル・ミリュウ鎌倉山／本店）</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00" b="0" i="0">
                          <a:solidFill>
                            <a:srgbClr val="000000"/>
                          </a:solidFill>
                          <a:latin typeface="Arial"/>
                          <a:ea typeface="游ゴシック"/>
                        </a:rPr>
                        <a:t>店頭販売・カフェ</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92,068</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24.0%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90,651</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7.4%</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99,972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31.3%</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700" b="0" i="0">
                          <a:solidFill>
                            <a:srgbClr val="000000"/>
                          </a:solidFill>
                          <a:latin typeface="Arial"/>
                          <a:ea typeface="游ゴシック"/>
                        </a:rPr>
                        <a:t>自社所有の物件で営業</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ctr"/>
                      <a:r>
                        <a:rPr sz="800" b="0" i="0">
                          <a:solidFill>
                            <a:srgbClr val="000000"/>
                          </a:solidFill>
                          <a:latin typeface="Arial"/>
                          <a:ea typeface="游ゴシック"/>
                        </a:rPr>
                        <a:t>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00" b="0" i="0">
                          <a:solidFill>
                            <a:srgbClr val="000000"/>
                          </a:solidFill>
                          <a:latin typeface="Arial"/>
                          <a:ea typeface="游ゴシック"/>
                        </a:rPr>
                        <a:t>紀尾井町店</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00" b="0" i="0">
                          <a:solidFill>
                            <a:srgbClr val="000000"/>
                          </a:solidFill>
                          <a:latin typeface="Arial"/>
                          <a:ea typeface="游ゴシック"/>
                        </a:rPr>
                        <a:t>店頭販売・カフェ</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88,621</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23.1%</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99,543</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8.1%</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87,918</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27.5%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700" b="0" i="0">
                          <a:solidFill>
                            <a:srgbClr val="000000"/>
                          </a:solidFill>
                          <a:latin typeface="Arial"/>
                          <a:ea typeface="游ゴシック"/>
                        </a:rPr>
                        <a:t>賃借</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ctr"/>
                      <a:r>
                        <a:rPr sz="800" b="0" i="0">
                          <a:solidFill>
                            <a:srgbClr val="000000"/>
                          </a:solidFill>
                          <a:latin typeface="Arial"/>
                          <a:ea typeface="游ゴシック"/>
                        </a:rPr>
                        <a:t>3</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00" b="0" i="0">
                          <a:solidFill>
                            <a:srgbClr val="000000"/>
                          </a:solidFill>
                          <a:latin typeface="Arial"/>
                          <a:ea typeface="游ゴシック"/>
                        </a:rPr>
                        <a:t>大船店</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00" b="0" i="0">
                          <a:solidFill>
                            <a:srgbClr val="000000"/>
                          </a:solidFill>
                          <a:latin typeface="Arial"/>
                          <a:ea typeface="游ゴシック"/>
                        </a:rPr>
                        <a:t>店頭販売・カフェ（百貨店精算を含む）</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85,043</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22.2%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89,094</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7.2%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91,286</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28.6%</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700" b="0" i="0">
                          <a:solidFill>
                            <a:srgbClr val="000000"/>
                          </a:solidFill>
                          <a:latin typeface="Arial"/>
                          <a:ea typeface="游ゴシック"/>
                        </a:rPr>
                        <a:t>賃借（家賃の支払先：三越伊勢丹）</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ctr"/>
                      <a:r>
                        <a:rPr sz="800" b="0" i="0">
                          <a:solidFill>
                            <a:srgbClr val="000000"/>
                          </a:solidFill>
                          <a:latin typeface="Arial"/>
                          <a:ea typeface="游ゴシック"/>
                        </a:rPr>
                        <a:t>4</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00" b="0" i="0">
                          <a:solidFill>
                            <a:srgbClr val="000000"/>
                          </a:solidFill>
                          <a:latin typeface="Arial"/>
                          <a:ea typeface="游ゴシック"/>
                        </a:rPr>
                        <a:t>四谷店</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00" b="0" i="0">
                          <a:solidFill>
                            <a:srgbClr val="000000"/>
                          </a:solidFill>
                          <a:latin typeface="Arial"/>
                          <a:ea typeface="游ゴシック"/>
                        </a:rPr>
                        <a:t>店頭販売・カフェ</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54,918</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14.3%</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0.0%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0.0%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700" b="0" i="0">
                          <a:solidFill>
                            <a:srgbClr val="000000"/>
                          </a:solidFill>
                          <a:latin typeface="Arial"/>
                          <a:ea typeface="游ゴシック"/>
                        </a:rPr>
                        <a:t>令和7年3月期以降は売上なし（閉店と推察・要確認）</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ctr"/>
                      <a:r>
                        <a:rPr sz="800" b="0" i="0">
                          <a:solidFill>
                            <a:srgbClr val="000000"/>
                          </a:solidFill>
                          <a:latin typeface="Arial"/>
                          <a:ea typeface="游ゴシック"/>
                        </a:rPr>
                        <a:t>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00" b="0" i="0">
                          <a:solidFill>
                            <a:srgbClr val="000000"/>
                          </a:solidFill>
                          <a:latin typeface="Arial"/>
                          <a:ea typeface="游ゴシック"/>
                        </a:rPr>
                        <a:t>ミリュウショップ</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00" b="0" i="0">
                          <a:solidFill>
                            <a:srgbClr val="000000"/>
                          </a:solidFill>
                          <a:latin typeface="Arial"/>
                          <a:ea typeface="游ゴシック"/>
                        </a:rPr>
                        <a:t>物販（EC等と推察・要確認）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25,967</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6.8%</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42,088</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3.4%</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7,427</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2.3%</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700" b="0" i="0">
                          <a:solidFill>
                            <a:srgbClr val="000000"/>
                          </a:solidFill>
                          <a:latin typeface="Arial"/>
                          <a:ea typeface="游ゴシック"/>
                        </a:rPr>
                        <a:t>令和7年3月期の42百万円から急減。要因は要確認</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ctr"/>
                      <a:r>
                        <a:rPr sz="800" b="0" i="0">
                          <a:solidFill>
                            <a:srgbClr val="000000"/>
                          </a:solidFill>
                          <a:latin typeface="Arial"/>
                          <a:ea typeface="游ゴシック"/>
                        </a:rPr>
                        <a:t>6</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00" b="0" i="0">
                          <a:solidFill>
                            <a:srgbClr val="000000"/>
                          </a:solidFill>
                          <a:latin typeface="Arial"/>
                          <a:ea typeface="游ゴシック"/>
                        </a:rPr>
                        <a:t>リンベル株式会社</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00" b="0" i="0">
                          <a:solidFill>
                            <a:srgbClr val="000000"/>
                          </a:solidFill>
                          <a:latin typeface="Arial"/>
                          <a:ea typeface="游ゴシック"/>
                        </a:rPr>
                        <a:t>ギフト商品の卸（推察・要確認）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9,100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2.4%</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11,706</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1.0%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6,032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1.9%</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700" b="0" i="0">
                          <a:solidFill>
                            <a:srgbClr val="000000"/>
                          </a:solidFill>
                          <a:latin typeface="Arial"/>
                          <a:ea typeface="游ゴシック"/>
                        </a:rPr>
                        <a:t>　</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ctr"/>
                      <a:r>
                        <a:rPr sz="800" b="0" i="0">
                          <a:solidFill>
                            <a:srgbClr val="000000"/>
                          </a:solidFill>
                          <a:latin typeface="Arial"/>
                          <a:ea typeface="游ゴシック"/>
                        </a:rPr>
                        <a:t>7</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00" b="0" i="0">
                          <a:solidFill>
                            <a:srgbClr val="000000"/>
                          </a:solidFill>
                          <a:latin typeface="Arial"/>
                          <a:ea typeface="游ゴシック"/>
                        </a:rPr>
                        <a:t>株式会社ケンコーポレーション</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00" b="0" i="0">
                          <a:solidFill>
                            <a:srgbClr val="000000"/>
                          </a:solidFill>
                          <a:latin typeface="Arial"/>
                          <a:ea typeface="游ゴシック"/>
                        </a:rPr>
                        <a:t>商品販売（内容要確認）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5,750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1.5%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5,673</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0.5%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2,033</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0.6%</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700" b="0" i="0">
                          <a:solidFill>
                            <a:srgbClr val="000000"/>
                          </a:solidFill>
                          <a:latin typeface="Arial"/>
                          <a:ea typeface="游ゴシック"/>
                        </a:rPr>
                        <a:t>　</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ctr"/>
                      <a:r>
                        <a:rPr sz="800" b="0" i="0">
                          <a:solidFill>
                            <a:srgbClr val="000000"/>
                          </a:solidFill>
                          <a:latin typeface="Arial"/>
                          <a:ea typeface="游ゴシック"/>
                        </a:rPr>
                        <a:t>8</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00" b="0" i="0">
                          <a:solidFill>
                            <a:srgbClr val="000000"/>
                          </a:solidFill>
                          <a:latin typeface="Arial"/>
                          <a:ea typeface="游ゴシック"/>
                        </a:rPr>
                        <a:t>不動産賃貸収入（売却済物件）</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00" b="0" i="0">
                          <a:solidFill>
                            <a:srgbClr val="000000"/>
                          </a:solidFill>
                          <a:latin typeface="Arial"/>
                          <a:ea typeface="游ゴシック"/>
                        </a:rPr>
                        <a:t>賃貸収入（松濤フラッツ）</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16,634</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4.3%</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16,832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1.4%</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1,635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0.5%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700" b="0" i="0">
                          <a:solidFill>
                            <a:srgbClr val="000000"/>
                          </a:solidFill>
                          <a:latin typeface="Arial"/>
                          <a:ea typeface="游ゴシック"/>
                        </a:rPr>
                        <a:t>非継続（令和7年3月末に売却）</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ctr"/>
                      <a:r>
                        <a:rPr sz="800" b="0" i="0">
                          <a:solidFill>
                            <a:srgbClr val="000000"/>
                          </a:solidFill>
                          <a:latin typeface="Arial"/>
                          <a:ea typeface="游ゴシック"/>
                        </a:rPr>
                        <a:t>9</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00" b="0" i="0">
                          <a:solidFill>
                            <a:srgbClr val="000000"/>
                          </a:solidFill>
                          <a:latin typeface="Arial"/>
                          <a:ea typeface="游ゴシック"/>
                        </a:rPr>
                        <a:t>不動産売却収入（松濤フラッツ）</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00" b="0" i="0">
                          <a:solidFill>
                            <a:srgbClr val="000000"/>
                          </a:solidFill>
                          <a:latin typeface="Arial"/>
                          <a:ea typeface="游ゴシック"/>
                        </a:rPr>
                        <a:t>土地761,200千円・建物108,000千円</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0.0%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869,200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70.6%</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0.0%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700" b="0" i="0">
                          <a:solidFill>
                            <a:srgbClr val="000000"/>
                          </a:solidFill>
                          <a:latin typeface="Arial"/>
                          <a:ea typeface="游ゴシック"/>
                        </a:rPr>
                        <a:t>非継続（令和7年3月31日売却・買主：㈱日本財託）</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ctr"/>
                      <a:r>
                        <a:rPr sz="800" b="0" i="0">
                          <a:solidFill>
                            <a:srgbClr val="000000"/>
                          </a:solidFill>
                          <a:latin typeface="Arial"/>
                          <a:ea typeface="游ゴシック"/>
                        </a:rPr>
                        <a:t>10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00" b="0" i="0">
                          <a:solidFill>
                            <a:srgbClr val="000000"/>
                          </a:solidFill>
                          <a:latin typeface="Arial"/>
                          <a:ea typeface="游ゴシック"/>
                        </a:rPr>
                        <a:t>コンサル収入</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00" b="0" i="0">
                          <a:solidFill>
                            <a:srgbClr val="000000"/>
                          </a:solidFill>
                          <a:latin typeface="Arial"/>
                          <a:ea typeface="游ゴシック"/>
                        </a:rPr>
                        <a:t>コンサルティング報酬（相手先不明）</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0.0%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0.0%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14,000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4.4%</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700" b="0" i="0">
                          <a:solidFill>
                            <a:srgbClr val="000000"/>
                          </a:solidFill>
                          <a:latin typeface="Arial"/>
                          <a:ea typeface="游ゴシック"/>
                        </a:rPr>
                        <a:t>単発・非経常と推察。相手先・契約内容は要確認</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ctr"/>
                      <a:r>
                        <a:rPr sz="800" b="0" i="0">
                          <a:solidFill>
                            <a:srgbClr val="000000"/>
                          </a:solidFill>
                          <a:latin typeface="Arial"/>
                          <a:ea typeface="游ゴシック"/>
                        </a:rPr>
                        <a:t>　</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00" b="0" i="0">
                          <a:solidFill>
                            <a:srgbClr val="000000"/>
                          </a:solidFill>
                          <a:latin typeface="Arial"/>
                          <a:ea typeface="游ゴシック"/>
                        </a:rPr>
                        <a:t>その他（㈱ケーキジェーピー・㈱西武リアルティ・決済代行等）</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00" b="0" i="0">
                          <a:solidFill>
                            <a:srgbClr val="000000"/>
                          </a:solidFill>
                          <a:latin typeface="Arial"/>
                          <a:ea typeface="游ゴシック"/>
                        </a:rPr>
                        <a:t>　</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5,337</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1.4%</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6,042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0.5%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9,034</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2.8%</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700" b="0" i="0">
                          <a:solidFill>
                            <a:srgbClr val="000000"/>
                          </a:solidFill>
                          <a:latin typeface="Arial"/>
                          <a:ea typeface="游ゴシック"/>
                        </a:rPr>
                        <a:t>　</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ctr"/>
                      <a:r>
                        <a:rPr sz="800" b="1" i="0">
                          <a:solidFill>
                            <a:srgbClr val="000000"/>
                          </a:solidFill>
                          <a:latin typeface="Arial"/>
                          <a:ea typeface="游ゴシック"/>
                        </a:rPr>
                        <a:t>　</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l"/>
                      <a:r>
                        <a:rPr sz="800" b="1" i="0">
                          <a:solidFill>
                            <a:srgbClr val="000000"/>
                          </a:solidFill>
                          <a:latin typeface="Arial"/>
                          <a:ea typeface="游ゴシック"/>
                        </a:rPr>
                        <a:t>合計</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l"/>
                      <a:r>
                        <a:rPr sz="800" b="1" i="0">
                          <a:solidFill>
                            <a:srgbClr val="000000"/>
                          </a:solidFill>
                          <a:latin typeface="Arial"/>
                          <a:ea typeface="游ゴシック"/>
                        </a:rPr>
                        <a:t>　</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00" b="1" i="0">
                          <a:solidFill>
                            <a:srgbClr val="000000"/>
                          </a:solidFill>
                          <a:latin typeface="Arial"/>
                          <a:ea typeface="游ゴシック"/>
                        </a:rPr>
                        <a:t>383,439</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00" b="1" i="0">
                          <a:solidFill>
                            <a:srgbClr val="000000"/>
                          </a:solidFill>
                          <a:latin typeface="Arial"/>
                          <a:ea typeface="游ゴシック"/>
                        </a:rPr>
                        <a:t>100.0%</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00" b="1" i="0">
                          <a:solidFill>
                            <a:srgbClr val="000000"/>
                          </a:solidFill>
                          <a:latin typeface="Arial"/>
                          <a:ea typeface="游ゴシック"/>
                        </a:rPr>
                        <a:t>1,230,830</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00" b="1" i="0">
                          <a:solidFill>
                            <a:srgbClr val="000000"/>
                          </a:solidFill>
                          <a:latin typeface="Arial"/>
                          <a:ea typeface="游ゴシック"/>
                        </a:rPr>
                        <a:t>100.0%</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00" b="1" i="0">
                          <a:solidFill>
                            <a:srgbClr val="000000"/>
                          </a:solidFill>
                          <a:latin typeface="Arial"/>
                          <a:ea typeface="游ゴシック"/>
                        </a:rPr>
                        <a:t>319,338</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00" b="1" i="0">
                          <a:solidFill>
                            <a:srgbClr val="000000"/>
                          </a:solidFill>
                          <a:latin typeface="Arial"/>
                          <a:ea typeface="游ゴシック"/>
                        </a:rPr>
                        <a:t>100.0%</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l"/>
                      <a:r>
                        <a:rPr sz="700" b="1" i="0">
                          <a:solidFill>
                            <a:srgbClr val="000000"/>
                          </a:solidFill>
                          <a:latin typeface="Arial"/>
                          <a:ea typeface="游ゴシック"/>
                        </a:rPr>
                        <a:t>　</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r>
            </a:tbl>
          </a:graphicData>
        </a:graphic>
      </p:graphicFrame>
      <p:sp>
        <p:nvSpPr>
          <p:cNvPr id="16" name="TextBox 15"/>
          <p:cNvSpPr txBox="1"/>
          <p:nvPr/>
        </p:nvSpPr>
        <p:spPr>
          <a:xfrm>
            <a:off x="310896" y="6172200"/>
            <a:ext cx="9784080" cy="457200"/>
          </a:xfrm>
          <a:prstGeom prst="rect">
            <a:avLst/>
          </a:prstGeom>
          <a:noFill/>
        </p:spPr>
        <p:txBody>
          <a:bodyPr wrap="square" lIns="0" tIns="0" rIns="0" bIns="0" anchor="t">
            <a:spAutoFit/>
          </a:bodyPr>
          <a:lstStyle/>
          <a:p>
            <a:r>
              <a:rPr kumimoji="1" lang="ja-JP" altLang="en-US" sz="800" dirty="0">
                <a:solidFill>
                  <a:srgbClr val="595959"/>
                </a:solidFill>
                <a:latin typeface="+mn-ea"/>
                <a:ea typeface="+mn-ea"/>
              </a:rPr>
              <a:t>※チャネル区分は総勘定元帳の部門・取引先・品目に基づく当社分類。決済代行等で店舗が特定できないものは「その他」に含む。</a:t>
            </a:r>
            <a:endParaRPr kumimoji="1" lang="ja-JP" altLang="en-US" sz="800" dirty="0"/>
          </a:p>
          <a:p>
            <a:r>
              <a:rPr kumimoji="1" lang="ja-JP" altLang="en-US" sz="800" dirty="0">
                <a:solidFill>
                  <a:srgbClr val="595959"/>
                </a:solidFill>
                <a:latin typeface="+mn-ea"/>
                <a:ea typeface="+mn-ea"/>
              </a:rPr>
              <a:t>※ミリュウショップの内容、法人取引先の取引内容は未確認（要確認）。</a:t>
            </a:r>
            <a:endParaRPr kumimoji="1" lang="ja-JP" altLang="en-US" sz="800" dirty="0"/>
          </a:p>
        </p:txBody>
      </p:sp>
    </p:spTree>
    <p:extLst>
      <p:ext uri="{BB962C8B-B14F-4D97-AF65-F5344CB8AC3E}">
        <p14:creationId xmlns:p14="http://schemas.microsoft.com/office/powerpoint/2010/main" val="5886346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B8376-2868-4693-0731-367BA549897E}"/>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C27F0F89-0B1D-9CEC-826A-DEB17C9DB0B7}"/>
              </a:ext>
            </a:extLst>
          </p:cNvPr>
          <p:cNvSpPr>
            <a:spLocks noGrp="1"/>
          </p:cNvSpPr>
          <p:nvPr>
            <p:ph type="ctrTitle"/>
          </p:nvPr>
        </p:nvSpPr>
        <p:spPr>
          <a:xfrm>
            <a:off x="311150" y="180296"/>
            <a:ext cx="7799917" cy="339267"/>
          </a:xfrm>
        </p:spPr>
        <p:txBody>
          <a:bodyPr>
            <a:normAutofit/>
          </a:bodyPr>
          <a:lstStyle/>
          <a:p>
            <a:r>
              <a:rPr lang="ja-JP" altLang="en-US" dirty="0"/>
              <a:t>仕入先別取引高</a:t>
            </a:r>
          </a:p>
        </p:txBody>
      </p:sp>
      <p:sp>
        <p:nvSpPr>
          <p:cNvPr id="5" name="タイトル 1">
            <a:extLst>
              <a:ext uri="{FF2B5EF4-FFF2-40B4-BE49-F238E27FC236}">
                <a16:creationId xmlns:a16="http://schemas.microsoft.com/office/drawing/2014/main" id="{2223494B-5776-7256-BAFB-772D4CDC079C}"/>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事業概要</a:t>
            </a:r>
          </a:p>
        </p:txBody>
      </p:sp>
      <p:sp>
        <p:nvSpPr>
          <p:cNvPr id="15" name="字幕 13">
            <a:extLst>
              <a:ext uri="{FF2B5EF4-FFF2-40B4-BE49-F238E27FC236}">
                <a16:creationId xmlns:a16="http://schemas.microsoft.com/office/drawing/2014/main" id="{1F008ACD-B486-E0BB-8334-06D21A697D08}"/>
              </a:ext>
            </a:extLst>
          </p:cNvPr>
          <p:cNvSpPr>
            <a:spLocks noGrp="1"/>
          </p:cNvSpPr>
          <p:nvPr>
            <p:ph type="subTitle" idx="1"/>
          </p:nvPr>
        </p:nvSpPr>
        <p:spPr>
          <a:xfrm>
            <a:off x="460675" y="830046"/>
            <a:ext cx="9781875" cy="241861"/>
          </a:xfrm>
        </p:spPr>
        <p:txBody>
          <a:bodyPr>
            <a:noAutofit/>
          </a:bodyPr>
          <a:lstStyle/>
          <a:p>
            <a:r>
              <a:rPr lang="ja-JP" altLang="en-US" dirty="0">
                <a:latin typeface="+mj-ea"/>
              </a:rPr>
              <a:t>仕入は食材・製菓材料・乳製品・コーヒー等の卸・メーカー。最大の仕入先でも22.6%、上位2社で約37%と、特定先への過度な依存はありません（個社名は非開示）。</a:t>
            </a:r>
            <a:endParaRPr lang="en-US" altLang="ja-JP" dirty="0"/>
          </a:p>
        </p:txBody>
      </p:sp>
      <p:sp>
        <p:nvSpPr>
          <p:cNvPr id="16" name="TextBox 15"/>
          <p:cNvSpPr txBox="1"/>
          <p:nvPr/>
        </p:nvSpPr>
        <p:spPr>
          <a:xfrm>
            <a:off x="8412480" y="1207008"/>
            <a:ext cx="2103120" cy="182880"/>
          </a:xfrm>
          <a:prstGeom prst="rect">
            <a:avLst/>
          </a:prstGeom>
          <a:noFill/>
        </p:spPr>
        <p:txBody>
          <a:bodyPr wrap="square" lIns="0" tIns="0" rIns="0" bIns="0" anchor="t">
            <a:spAutoFit/>
          </a:bodyPr>
          <a:lstStyle/>
          <a:p>
            <a:r>
              <a:rPr kumimoji="1" lang="ja-JP" altLang="en-US" sz="800" dirty="0">
                <a:solidFill>
                  <a:srgbClr val="595959"/>
                </a:solidFill>
                <a:latin typeface="+mn-ea"/>
                <a:ea typeface="+mn-ea"/>
              </a:rPr>
              <a:t>（単位：千円）</a:t>
            </a:r>
            <a:endParaRPr kumimoji="1" lang="ja-JP" altLang="en-US" sz="800" dirty="0"/>
          </a:p>
        </p:txBody>
      </p:sp>
      <p:graphicFrame>
        <p:nvGraphicFramePr>
          <p:cNvPr id="17" name="Table 16"/>
          <p:cNvGraphicFramePr>
            <a:graphicFrameLocks noGrp="1"/>
          </p:cNvGraphicFramePr>
          <p:nvPr/>
        </p:nvGraphicFramePr>
        <p:xfrm>
          <a:off x="310896" y="1417320"/>
          <a:ext cx="9144000" cy="4279392"/>
        </p:xfrm>
        <a:graphic>
          <a:graphicData uri="http://schemas.openxmlformats.org/drawingml/2006/table">
            <a:tbl>
              <a:tblPr/>
              <a:tblGrid>
                <a:gridCol w="320040"/>
                <a:gridCol w="2560320"/>
                <a:gridCol w="2286000"/>
                <a:gridCol w="777240"/>
                <a:gridCol w="548640"/>
                <a:gridCol w="777240"/>
                <a:gridCol w="548640"/>
                <a:gridCol w="777240"/>
                <a:gridCol w="548640"/>
              </a:tblGrid>
              <a:tr h="329184">
                <a:tc>
                  <a:txBody>
                    <a:bodyPr wrap="square"/>
                    <a:lstStyle/>
                    <a:p>
                      <a:pPr algn="ctr"/>
                      <a:r>
                        <a:rPr sz="850" b="1" i="0">
                          <a:solidFill>
                            <a:srgbClr val="FFFFFF"/>
                          </a:solidFill>
                          <a:latin typeface="Arial"/>
                          <a:ea typeface="游ゴシック"/>
                        </a:rPr>
                        <a:t>No</a:t>
                      </a:r>
                    </a:p>
                  </a:txBody>
                  <a:tcPr marL="45720" marR="45720" marT="13716" marB="13716" anchor="ctr">
                    <a:lnL w="0">
                      <a:noFill/>
                    </a:lnL>
                    <a:lnR w="0">
                      <a:noFill/>
                    </a:lnR>
                    <a:lnT w="0">
                      <a:noFill/>
                    </a:lnT>
                    <a:lnB w="0">
                      <a:noFill/>
                    </a:lnB>
                    <a:solidFill>
                      <a:srgbClr val="0B3041"/>
                    </a:solidFill>
                  </a:tcPr>
                </a:tc>
                <a:tc>
                  <a:txBody>
                    <a:bodyPr wrap="square"/>
                    <a:lstStyle/>
                    <a:p>
                      <a:pPr algn="ctr"/>
                      <a:r>
                        <a:rPr sz="850" b="1" i="0">
                          <a:solidFill>
                            <a:srgbClr val="FFFFFF"/>
                          </a:solidFill>
                          <a:latin typeface="Arial"/>
                          <a:ea typeface="游ゴシック"/>
                        </a:rPr>
                        <a:t>仕入先（個社名は非開示）</a:t>
                      </a:r>
                    </a:p>
                  </a:txBody>
                  <a:tcPr marL="45720" marR="45720" marT="13716" marB="13716" anchor="ctr">
                    <a:lnL w="0">
                      <a:noFill/>
                    </a:lnL>
                    <a:lnR w="0">
                      <a:noFill/>
                    </a:lnR>
                    <a:lnT w="0">
                      <a:noFill/>
                    </a:lnT>
                    <a:lnB w="0">
                      <a:noFill/>
                    </a:lnB>
                    <a:solidFill>
                      <a:srgbClr val="0B3041"/>
                    </a:solidFill>
                  </a:tcPr>
                </a:tc>
                <a:tc>
                  <a:txBody>
                    <a:bodyPr wrap="square"/>
                    <a:lstStyle/>
                    <a:p>
                      <a:pPr algn="ctr"/>
                      <a:r>
                        <a:rPr sz="850" b="1" i="0">
                          <a:solidFill>
                            <a:srgbClr val="FFFFFF"/>
                          </a:solidFill>
                          <a:latin typeface="Arial"/>
                          <a:ea typeface="游ゴシック"/>
                        </a:rPr>
                        <a:t>仕入内容</a:t>
                      </a:r>
                    </a:p>
                  </a:txBody>
                  <a:tcPr marL="45720" marR="45720" marT="13716" marB="13716" anchor="ctr">
                    <a:lnL w="0">
                      <a:noFill/>
                    </a:lnL>
                    <a:lnR w="0">
                      <a:noFill/>
                    </a:lnR>
                    <a:lnT w="0">
                      <a:noFill/>
                    </a:lnT>
                    <a:lnB w="0">
                      <a:noFill/>
                    </a:lnB>
                    <a:solidFill>
                      <a:srgbClr val="0B3041"/>
                    </a:solidFill>
                  </a:tcPr>
                </a:tc>
                <a:tc>
                  <a:txBody>
                    <a:bodyPr wrap="square"/>
                    <a:lstStyle/>
                    <a:p>
                      <a:pPr algn="ctr"/>
                      <a:r>
                        <a:rPr sz="850" b="1" i="0">
                          <a:solidFill>
                            <a:srgbClr val="FFFFFF"/>
                          </a:solidFill>
                          <a:latin typeface="Arial"/>
                          <a:ea typeface="游ゴシック"/>
                        </a:rPr>
                        <a:t>令6/3期</a:t>
                      </a:r>
                    </a:p>
                  </a:txBody>
                  <a:tcPr marL="45720" marR="45720" marT="13716" marB="13716" anchor="ctr">
                    <a:lnL w="0">
                      <a:noFill/>
                    </a:lnL>
                    <a:lnR w="0">
                      <a:noFill/>
                    </a:lnR>
                    <a:lnT w="0">
                      <a:noFill/>
                    </a:lnT>
                    <a:lnB w="0">
                      <a:noFill/>
                    </a:lnB>
                    <a:solidFill>
                      <a:srgbClr val="0B3041"/>
                    </a:solidFill>
                  </a:tcPr>
                </a:tc>
                <a:tc>
                  <a:txBody>
                    <a:bodyPr wrap="square"/>
                    <a:lstStyle/>
                    <a:p>
                      <a:pPr algn="ctr"/>
                      <a:r>
                        <a:rPr sz="850" b="1" i="0">
                          <a:solidFill>
                            <a:srgbClr val="FFFFFF"/>
                          </a:solidFill>
                          <a:latin typeface="Arial"/>
                          <a:ea typeface="游ゴシック"/>
                        </a:rPr>
                        <a:t>構成比</a:t>
                      </a:r>
                    </a:p>
                  </a:txBody>
                  <a:tcPr marL="45720" marR="45720" marT="13716" marB="13716" anchor="ctr">
                    <a:lnL w="0">
                      <a:noFill/>
                    </a:lnL>
                    <a:lnR w="0">
                      <a:noFill/>
                    </a:lnR>
                    <a:lnT w="0">
                      <a:noFill/>
                    </a:lnT>
                    <a:lnB w="0">
                      <a:noFill/>
                    </a:lnB>
                    <a:solidFill>
                      <a:srgbClr val="0B3041"/>
                    </a:solidFill>
                  </a:tcPr>
                </a:tc>
                <a:tc>
                  <a:txBody>
                    <a:bodyPr wrap="square"/>
                    <a:lstStyle/>
                    <a:p>
                      <a:pPr algn="ctr"/>
                      <a:r>
                        <a:rPr sz="850" b="1" i="0">
                          <a:solidFill>
                            <a:srgbClr val="FFFFFF"/>
                          </a:solidFill>
                          <a:latin typeface="Arial"/>
                          <a:ea typeface="游ゴシック"/>
                        </a:rPr>
                        <a:t>令7/3期</a:t>
                      </a:r>
                    </a:p>
                  </a:txBody>
                  <a:tcPr marL="45720" marR="45720" marT="13716" marB="13716" anchor="ctr">
                    <a:lnL w="0">
                      <a:noFill/>
                    </a:lnL>
                    <a:lnR w="0">
                      <a:noFill/>
                    </a:lnR>
                    <a:lnT w="0">
                      <a:noFill/>
                    </a:lnT>
                    <a:lnB w="0">
                      <a:noFill/>
                    </a:lnB>
                    <a:solidFill>
                      <a:srgbClr val="0B3041"/>
                    </a:solidFill>
                  </a:tcPr>
                </a:tc>
                <a:tc>
                  <a:txBody>
                    <a:bodyPr wrap="square"/>
                    <a:lstStyle/>
                    <a:p>
                      <a:pPr algn="ctr"/>
                      <a:r>
                        <a:rPr sz="850" b="1" i="0">
                          <a:solidFill>
                            <a:srgbClr val="FFFFFF"/>
                          </a:solidFill>
                          <a:latin typeface="Arial"/>
                          <a:ea typeface="游ゴシック"/>
                        </a:rPr>
                        <a:t>構成比</a:t>
                      </a:r>
                    </a:p>
                  </a:txBody>
                  <a:tcPr marL="45720" marR="45720" marT="13716" marB="13716" anchor="ctr">
                    <a:lnL w="0">
                      <a:noFill/>
                    </a:lnL>
                    <a:lnR w="0">
                      <a:noFill/>
                    </a:lnR>
                    <a:lnT w="0">
                      <a:noFill/>
                    </a:lnT>
                    <a:lnB w="0">
                      <a:noFill/>
                    </a:lnB>
                    <a:solidFill>
                      <a:srgbClr val="0B3041"/>
                    </a:solidFill>
                  </a:tcPr>
                </a:tc>
                <a:tc>
                  <a:txBody>
                    <a:bodyPr wrap="square"/>
                    <a:lstStyle/>
                    <a:p>
                      <a:pPr algn="ctr"/>
                      <a:r>
                        <a:rPr sz="850" b="1" i="0">
                          <a:solidFill>
                            <a:srgbClr val="FFFFFF"/>
                          </a:solidFill>
                          <a:latin typeface="Arial"/>
                          <a:ea typeface="游ゴシック"/>
                        </a:rPr>
                        <a:t>令8/3期</a:t>
                      </a:r>
                    </a:p>
                  </a:txBody>
                  <a:tcPr marL="45720" marR="45720" marT="13716" marB="13716" anchor="ctr">
                    <a:lnL w="0">
                      <a:noFill/>
                    </a:lnL>
                    <a:lnR w="0">
                      <a:noFill/>
                    </a:lnR>
                    <a:lnT w="0">
                      <a:noFill/>
                    </a:lnT>
                    <a:lnB w="0">
                      <a:noFill/>
                    </a:lnB>
                    <a:solidFill>
                      <a:srgbClr val="0B3041"/>
                    </a:solidFill>
                  </a:tcPr>
                </a:tc>
                <a:tc>
                  <a:txBody>
                    <a:bodyPr wrap="square"/>
                    <a:lstStyle/>
                    <a:p>
                      <a:pPr algn="ctr"/>
                      <a:r>
                        <a:rPr sz="850" b="1" i="0">
                          <a:solidFill>
                            <a:srgbClr val="FFFFFF"/>
                          </a:solidFill>
                          <a:latin typeface="Arial"/>
                          <a:ea typeface="游ゴシック"/>
                        </a:rPr>
                        <a:t>構成比</a:t>
                      </a:r>
                    </a:p>
                  </a:txBody>
                  <a:tcPr marL="45720" marR="45720" marT="13716" marB="13716" anchor="ctr">
                    <a:lnL w="0">
                      <a:noFill/>
                    </a:lnL>
                    <a:lnR w="0">
                      <a:noFill/>
                    </a:lnR>
                    <a:lnT w="0">
                      <a:noFill/>
                    </a:lnT>
                    <a:lnB w="0">
                      <a:noFill/>
                    </a:lnB>
                    <a:solidFill>
                      <a:srgbClr val="0B3041"/>
                    </a:solidFill>
                  </a:tcPr>
                </a:tc>
              </a:tr>
              <a:tr h="329184">
                <a:tc>
                  <a:txBody>
                    <a:bodyPr wrap="square"/>
                    <a:lstStyle/>
                    <a:p>
                      <a:pPr algn="ctr"/>
                      <a:r>
                        <a:rPr sz="850" b="0" i="0">
                          <a:solidFill>
                            <a:srgbClr val="000000"/>
                          </a:solidFill>
                          <a:latin typeface="Arial"/>
                          <a:ea typeface="游ゴシック"/>
                        </a:rPr>
                        <a:t>1</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仕入先A</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食材・製菓材料（推察）</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28,050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26.5%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24,442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24.2%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21,718</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22.6%</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ctr"/>
                      <a:r>
                        <a:rPr sz="850" b="0" i="0">
                          <a:solidFill>
                            <a:srgbClr val="000000"/>
                          </a:solidFill>
                          <a:latin typeface="Arial"/>
                          <a:ea typeface="游ゴシック"/>
                        </a:rPr>
                        <a:t>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仕入先B</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輸入食材等（推察）</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18,269</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17.3%</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17,379</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17.2%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13,460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14.0%</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ctr"/>
                      <a:r>
                        <a:rPr sz="850" b="0" i="0">
                          <a:solidFill>
                            <a:srgbClr val="000000"/>
                          </a:solidFill>
                          <a:latin typeface="Arial"/>
                          <a:ea typeface="游ゴシック"/>
                        </a:rPr>
                        <a:t>3</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取引先名の記載なし（現金仕入等）</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取引先名の記載なし（現金仕入等）</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688</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0.7%</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1,598</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1.6%</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10,441</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10.9%</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ctr"/>
                      <a:r>
                        <a:rPr sz="850" b="0" i="0">
                          <a:solidFill>
                            <a:srgbClr val="000000"/>
                          </a:solidFill>
                          <a:latin typeface="Arial"/>
                          <a:ea typeface="游ゴシック"/>
                        </a:rPr>
                        <a:t>4</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仕入先C</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食材・原材料（推察）</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6,092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5.8%</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5,500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5.5%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5,972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6.2%</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ctr"/>
                      <a:r>
                        <a:rPr sz="850" b="0" i="0">
                          <a:solidFill>
                            <a:srgbClr val="000000"/>
                          </a:solidFill>
                          <a:latin typeface="Arial"/>
                          <a:ea typeface="游ゴシック"/>
                        </a:rPr>
                        <a:t>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仕入先D</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コーヒー豆・関連商材</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5,504</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5.2%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5,612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5.6%</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5,487</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5.7%</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ctr"/>
                      <a:r>
                        <a:rPr sz="850" b="0" i="0">
                          <a:solidFill>
                            <a:srgbClr val="000000"/>
                          </a:solidFill>
                          <a:latin typeface="Arial"/>
                          <a:ea typeface="游ゴシック"/>
                        </a:rPr>
                        <a:t>6</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仕入先E</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乳製品</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4,107</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3.9%</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2,967</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2.9%</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5,309</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5.5%</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ctr"/>
                      <a:r>
                        <a:rPr sz="850" b="0" i="0">
                          <a:solidFill>
                            <a:srgbClr val="000000"/>
                          </a:solidFill>
                          <a:latin typeface="Arial"/>
                          <a:ea typeface="游ゴシック"/>
                        </a:rPr>
                        <a:t>7</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立替精算（従業員立替等）</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立替精算（従業員立替等）</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9,004</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8.5%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7,160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7.1%</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5,172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5.4%</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ctr"/>
                      <a:r>
                        <a:rPr sz="850" b="0" i="0">
                          <a:solidFill>
                            <a:srgbClr val="000000"/>
                          </a:solidFill>
                          <a:latin typeface="Arial"/>
                          <a:ea typeface="游ゴシック"/>
                        </a:rPr>
                        <a:t>8</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仕入先F</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食材・原材料（推察）</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326</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0.3%</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4,605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4.6%</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4,179</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4.4%</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ctr"/>
                      <a:r>
                        <a:rPr sz="850" b="0" i="0">
                          <a:solidFill>
                            <a:srgbClr val="000000"/>
                          </a:solidFill>
                          <a:latin typeface="Arial"/>
                          <a:ea typeface="游ゴシック"/>
                        </a:rPr>
                        <a:t>9</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仕入先G</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食材・原材料（推察）</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4,565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4.3%</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2,964</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2.9%</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3,630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3.8%</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ctr"/>
                      <a:r>
                        <a:rPr sz="850" b="0" i="0">
                          <a:solidFill>
                            <a:srgbClr val="000000"/>
                          </a:solidFill>
                          <a:latin typeface="Arial"/>
                          <a:ea typeface="游ゴシック"/>
                        </a:rPr>
                        <a:t>10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仕入先H</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乳製品</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3,036</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2.9%</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3,191</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3.2%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2,534</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2.6%</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ctr"/>
                      <a:r>
                        <a:rPr sz="850" b="0" i="0">
                          <a:solidFill>
                            <a:srgbClr val="000000"/>
                          </a:solidFill>
                          <a:latin typeface="Arial"/>
                          <a:ea typeface="游ゴシック"/>
                        </a:rPr>
                        <a:t>　</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その他（上位10項目以外）</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　</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26,201</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24.8%</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25,449</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25.2%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18,104</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18.9%</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ctr"/>
                      <a:r>
                        <a:rPr sz="850" b="1" i="0">
                          <a:solidFill>
                            <a:srgbClr val="000000"/>
                          </a:solidFill>
                          <a:latin typeface="Arial"/>
                          <a:ea typeface="游ゴシック"/>
                        </a:rPr>
                        <a:t>　</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l"/>
                      <a:r>
                        <a:rPr sz="850" b="1" i="0">
                          <a:solidFill>
                            <a:srgbClr val="000000"/>
                          </a:solidFill>
                          <a:latin typeface="Arial"/>
                          <a:ea typeface="游ゴシック"/>
                        </a:rPr>
                        <a:t>合計</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l"/>
                      <a:r>
                        <a:rPr sz="850" b="1" i="0">
                          <a:solidFill>
                            <a:srgbClr val="000000"/>
                          </a:solidFill>
                          <a:latin typeface="Arial"/>
                          <a:ea typeface="游ゴシック"/>
                        </a:rPr>
                        <a:t>　</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105,842</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100.0%</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100,866</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100.0%</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96,006</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100.0%</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r>
            </a:tbl>
          </a:graphicData>
        </a:graphic>
      </p:graphicFrame>
      <p:sp>
        <p:nvSpPr>
          <p:cNvPr id="18" name="TextBox 17"/>
          <p:cNvSpPr txBox="1"/>
          <p:nvPr/>
        </p:nvSpPr>
        <p:spPr>
          <a:xfrm>
            <a:off x="310896" y="5989320"/>
            <a:ext cx="9784080" cy="457200"/>
          </a:xfrm>
          <a:prstGeom prst="rect">
            <a:avLst/>
          </a:prstGeom>
          <a:noFill/>
        </p:spPr>
        <p:txBody>
          <a:bodyPr wrap="square" lIns="0" tIns="0" rIns="0" bIns="0" anchor="t">
            <a:spAutoFit/>
          </a:bodyPr>
          <a:lstStyle/>
          <a:p>
            <a:r>
              <a:rPr kumimoji="1" lang="ja-JP" altLang="en-US" sz="800" dirty="0">
                <a:solidFill>
                  <a:srgbClr val="595959"/>
                </a:solidFill>
                <a:latin typeface="+mn-ea"/>
                <a:ea typeface="+mn-ea"/>
              </a:rPr>
              <a:t>※商品仕入高（売上原価）の取引先別集計。令和7年3月期は不動産売却関連原価（636,056千円）を除く。</a:t>
            </a:r>
            <a:endParaRPr kumimoji="1" lang="ja-JP" altLang="en-US" sz="800" dirty="0"/>
          </a:p>
          <a:p>
            <a:r>
              <a:rPr kumimoji="1" lang="ja-JP" altLang="en-US" sz="800" dirty="0">
                <a:solidFill>
                  <a:srgbClr val="595959"/>
                </a:solidFill>
                <a:latin typeface="+mn-ea"/>
                <a:ea typeface="+mn-ea"/>
              </a:rPr>
              <a:t>※仕入内容は社名等からの推察を含み、要確認。</a:t>
            </a:r>
            <a:endParaRPr kumimoji="1" lang="ja-JP" altLang="en-US" sz="800" dirty="0"/>
          </a:p>
        </p:txBody>
      </p:sp>
    </p:spTree>
    <p:extLst>
      <p:ext uri="{BB962C8B-B14F-4D97-AF65-F5344CB8AC3E}">
        <p14:creationId xmlns:p14="http://schemas.microsoft.com/office/powerpoint/2010/main" val="19629684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AEF2-738C-97B3-4696-F3BB344E5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6C9D74-25B9-202B-100C-14E88F8A35B4}"/>
              </a:ext>
            </a:extLst>
          </p:cNvPr>
          <p:cNvSpPr>
            <a:spLocks noGrp="1"/>
          </p:cNvSpPr>
          <p:nvPr>
            <p:ph type="title"/>
          </p:nvPr>
        </p:nvSpPr>
        <p:spPr>
          <a:xfrm>
            <a:off x="989013" y="3656161"/>
            <a:ext cx="9221787" cy="615553"/>
          </a:xfrm>
        </p:spPr>
        <p:txBody>
          <a:bodyPr/>
          <a:lstStyle/>
          <a:p>
            <a:r>
              <a:rPr lang="ja-JP" altLang="en-US" dirty="0"/>
              <a:t>組織、拠点、設備等</a:t>
            </a:r>
            <a:endParaRPr lang="en-US" altLang="ja-JP" dirty="0"/>
          </a:p>
        </p:txBody>
      </p:sp>
    </p:spTree>
    <p:extLst>
      <p:ext uri="{BB962C8B-B14F-4D97-AF65-F5344CB8AC3E}">
        <p14:creationId xmlns:p14="http://schemas.microsoft.com/office/powerpoint/2010/main" val="1797825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DBCD3-5A3B-2BD8-C28A-632388175E8D}"/>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59B21744-4533-BD30-603B-B8A7A98290C9}"/>
              </a:ext>
            </a:extLst>
          </p:cNvPr>
          <p:cNvSpPr>
            <a:spLocks noGrp="1"/>
          </p:cNvSpPr>
          <p:nvPr>
            <p:ph type="ctrTitle"/>
          </p:nvPr>
        </p:nvSpPr>
        <p:spPr>
          <a:xfrm>
            <a:off x="311150" y="180296"/>
            <a:ext cx="7799917" cy="339267"/>
          </a:xfrm>
        </p:spPr>
        <p:txBody>
          <a:bodyPr>
            <a:normAutofit/>
          </a:bodyPr>
          <a:lstStyle/>
          <a:p>
            <a:r>
              <a:rPr lang="ja-JP" altLang="en-US" dirty="0"/>
              <a:t>組織図</a:t>
            </a:r>
          </a:p>
        </p:txBody>
      </p:sp>
      <p:sp>
        <p:nvSpPr>
          <p:cNvPr id="5" name="タイトル 1">
            <a:extLst>
              <a:ext uri="{FF2B5EF4-FFF2-40B4-BE49-F238E27FC236}">
                <a16:creationId xmlns:a16="http://schemas.microsoft.com/office/drawing/2014/main" id="{804C58BE-3C7F-3F33-BB99-084C0822899F}"/>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85" name="字幕 13">
            <a:extLst>
              <a:ext uri="{FF2B5EF4-FFF2-40B4-BE49-F238E27FC236}">
                <a16:creationId xmlns:a16="http://schemas.microsoft.com/office/drawing/2014/main" id="{AE763FA6-9689-E705-5BEC-31A36E71F8CB}"/>
              </a:ext>
            </a:extLst>
          </p:cNvPr>
          <p:cNvSpPr>
            <a:spLocks noGrp="1"/>
          </p:cNvSpPr>
          <p:nvPr>
            <p:ph type="subTitle" idx="1"/>
          </p:nvPr>
        </p:nvSpPr>
        <p:spPr>
          <a:xfrm>
            <a:off x="460675" y="830046"/>
            <a:ext cx="9781875" cy="241861"/>
          </a:xfrm>
        </p:spPr>
        <p:txBody>
          <a:bodyPr>
            <a:noAutofit/>
          </a:bodyPr>
          <a:lstStyle/>
          <a:p>
            <a:r>
              <a:rPr lang="ja-JP" altLang="en-US" dirty="0">
                <a:latin typeface="+mj-ea"/>
              </a:rPr>
              <a:t>代表取締役 西丸 修氏のもと、3店舗で運営。人員は月給者6名・時給者約30名（給与台帳ベース）で、店舗別の配置は確認中です。</a:t>
            </a:r>
            <a:endParaRPr lang="en-US" altLang="ja-JP" dirty="0">
              <a:latin typeface="+mj-ea"/>
            </a:endParaRPr>
          </a:p>
        </p:txBody>
      </p:sp>
      <p:sp>
        <p:nvSpPr>
          <p:cNvPr id="86" name="Rectangle 85"/>
          <p:cNvSpPr/>
          <p:nvPr/>
        </p:nvSpPr>
        <p:spPr>
          <a:xfrm>
            <a:off x="402336" y="1600200"/>
            <a:ext cx="1920240" cy="1234440"/>
          </a:xfrm>
          <a:prstGeom prst="rect">
            <a:avLst/>
          </a:prstGeom>
          <a:solidFill>
            <a:srgbClr val="E3E7E9"/>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54864" rIns="54864" tIns="27432" bIns="27432"/>
          <a:lstStyle/>
          <a:p>
            <a:pPr algn="l"/>
            <a:r>
              <a:rPr kumimoji="1" lang="ja-JP" altLang="en-US" sz="900" dirty="0">
                <a:solidFill>
                  <a:srgbClr val="000000"/>
                </a:solidFill>
                <a:latin typeface="+mn-ea"/>
                <a:ea typeface="+mn-ea"/>
              </a:rPr>
              <a:t>【人員構成】</a:t>
            </a:r>
            <a:endParaRPr kumimoji="1" lang="ja-JP" altLang="en-US" sz="900" dirty="0"/>
          </a:p>
          <a:p>
            <a:pPr algn="l"/>
            <a:r>
              <a:rPr kumimoji="1" lang="ja-JP" altLang="en-US" sz="900" dirty="0">
                <a:solidFill>
                  <a:srgbClr val="000000"/>
                </a:solidFill>
                <a:latin typeface="+mn-ea"/>
                <a:ea typeface="+mn-ea"/>
              </a:rPr>
              <a:t>役員　：1名＋α（要確認）</a:t>
            </a:r>
            <a:endParaRPr kumimoji="1" lang="ja-JP" altLang="en-US" sz="900" dirty="0"/>
          </a:p>
          <a:p>
            <a:pPr algn="l"/>
            <a:r>
              <a:rPr kumimoji="1" lang="ja-JP" altLang="en-US" sz="900" dirty="0">
                <a:solidFill>
                  <a:srgbClr val="000000"/>
                </a:solidFill>
                <a:latin typeface="+mn-ea"/>
                <a:ea typeface="+mn-ea"/>
              </a:rPr>
              <a:t>月給者：6名</a:t>
            </a:r>
            <a:endParaRPr kumimoji="1" lang="ja-JP" altLang="en-US" sz="900" dirty="0"/>
          </a:p>
          <a:p>
            <a:pPr algn="l"/>
            <a:r>
              <a:rPr kumimoji="1" lang="ja-JP" altLang="en-US" sz="900" dirty="0">
                <a:solidFill>
                  <a:srgbClr val="000000"/>
                </a:solidFill>
                <a:latin typeface="+mn-ea"/>
                <a:ea typeface="+mn-ea"/>
              </a:rPr>
              <a:t>時給者：約30名</a:t>
            </a:r>
            <a:endParaRPr kumimoji="1" lang="ja-JP" altLang="en-US" sz="900" dirty="0"/>
          </a:p>
          <a:p>
            <a:pPr algn="l"/>
            <a:r>
              <a:rPr kumimoji="1" lang="ja-JP" altLang="en-US" sz="900" dirty="0">
                <a:solidFill>
                  <a:srgbClr val="000000"/>
                </a:solidFill>
                <a:latin typeface="+mn-ea"/>
                <a:ea typeface="+mn-ea"/>
              </a:rPr>
              <a:t>（2026年2月分給与台帳より）</a:t>
            </a:r>
            <a:endParaRPr kumimoji="1" lang="ja-JP" altLang="en-US" sz="900" dirty="0"/>
          </a:p>
        </p:txBody>
      </p:sp>
      <p:sp>
        <p:nvSpPr>
          <p:cNvPr id="87" name="Rectangle 86"/>
          <p:cNvSpPr/>
          <p:nvPr/>
        </p:nvSpPr>
        <p:spPr>
          <a:xfrm>
            <a:off x="4434840" y="1691640"/>
            <a:ext cx="1828800" cy="685800"/>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kumimoji="1" lang="ja-JP" altLang="en-US" sz="1200" dirty="0" b="1">
                <a:solidFill>
                  <a:srgbClr val="FFFFFF"/>
                </a:solidFill>
                <a:latin typeface="+mn-ea"/>
                <a:ea typeface="+mn-ea"/>
              </a:rPr>
              <a:t>代表取締役</a:t>
            </a:r>
            <a:endParaRPr kumimoji="1" lang="ja-JP" altLang="en-US" sz="1200" dirty="0"/>
          </a:p>
          <a:p>
            <a:pPr algn="ctr"/>
            <a:r>
              <a:rPr kumimoji="1" lang="ja-JP" altLang="en-US" sz="1200" dirty="0" b="1">
                <a:solidFill>
                  <a:srgbClr val="FFFFFF"/>
                </a:solidFill>
                <a:latin typeface="+mn-ea"/>
                <a:ea typeface="+mn-ea"/>
              </a:rPr>
              <a:t>西丸 修</a:t>
            </a:r>
            <a:endParaRPr kumimoji="1" lang="ja-JP" altLang="en-US" sz="1200" dirty="0"/>
          </a:p>
        </p:txBody>
      </p:sp>
      <p:cxnSp>
        <p:nvCxnSpPr>
          <p:cNvPr id="88" name="Connector 87"/>
          <p:cNvCxnSpPr/>
          <p:nvPr/>
        </p:nvCxnSpPr>
        <p:spPr>
          <a:xfrm>
            <a:off x="5349240" y="2377440"/>
            <a:ext cx="0" cy="594360"/>
          </a:xfrm>
          <a:prstGeom prst="line">
            <a:avLst/>
          </a:prstGeom>
          <a:ln w="12700">
            <a:solidFill>
              <a:srgbClr val="0B3041"/>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2057400" y="2971800"/>
            <a:ext cx="6583680" cy="0"/>
          </a:xfrm>
          <a:prstGeom prst="line">
            <a:avLst/>
          </a:prstGeom>
          <a:ln w="12700">
            <a:solidFill>
              <a:srgbClr val="0B3041"/>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2057400" y="2971800"/>
            <a:ext cx="0" cy="320040"/>
          </a:xfrm>
          <a:prstGeom prst="line">
            <a:avLst/>
          </a:prstGeom>
          <a:ln w="12700">
            <a:solidFill>
              <a:srgbClr val="0B3041"/>
            </a:solidFill>
          </a:ln>
        </p:spPr>
        <p:style>
          <a:lnRef idx="2">
            <a:schemeClr val="accent1"/>
          </a:lnRef>
          <a:fillRef idx="0">
            <a:schemeClr val="accent1"/>
          </a:fillRef>
          <a:effectRef idx="1">
            <a:schemeClr val="accent1"/>
          </a:effectRef>
          <a:fontRef idx="minor">
            <a:schemeClr val="tx1"/>
          </a:fontRef>
        </p:style>
      </p:cxnSp>
      <p:sp>
        <p:nvSpPr>
          <p:cNvPr id="91" name="Rectangle 90"/>
          <p:cNvSpPr/>
          <p:nvPr/>
        </p:nvSpPr>
        <p:spPr>
          <a:xfrm>
            <a:off x="1097280" y="3291840"/>
            <a:ext cx="1920240" cy="640080"/>
          </a:xfrm>
          <a:prstGeom prst="rect">
            <a:avLst/>
          </a:prstGeom>
          <a:solidFill>
            <a:srgbClr val="E1F3FB"/>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kumimoji="1" lang="ja-JP" altLang="en-US" sz="1100" dirty="0" b="1">
                <a:solidFill>
                  <a:srgbClr val="0B3041"/>
                </a:solidFill>
                <a:latin typeface="+mn-ea"/>
                <a:ea typeface="+mn-ea"/>
              </a:rPr>
              <a:t>鎌倉山店（本店）</a:t>
            </a:r>
            <a:endParaRPr kumimoji="1" lang="ja-JP" altLang="en-US" sz="1100" dirty="0"/>
          </a:p>
        </p:txBody>
      </p:sp>
      <p:sp>
        <p:nvSpPr>
          <p:cNvPr id="92" name="Rectangle 91"/>
          <p:cNvSpPr/>
          <p:nvPr/>
        </p:nvSpPr>
        <p:spPr>
          <a:xfrm>
            <a:off x="1097280" y="4023360"/>
            <a:ext cx="1920240" cy="868680"/>
          </a:xfrm>
          <a:prstGeom prst="rect">
            <a:avLst/>
          </a:prstGeom>
          <a:noFill/>
          <a:ln w="9525">
            <a:solidFill>
              <a:srgbClr val="B8C0C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kumimoji="1" lang="ja-JP" altLang="en-US" sz="900" dirty="0">
                <a:solidFill>
                  <a:srgbClr val="404040"/>
                </a:solidFill>
                <a:latin typeface="+mn-ea"/>
                <a:ea typeface="+mn-ea"/>
              </a:rPr>
              <a:t>店舗スタッフ数・役職：</a:t>
            </a:r>
            <a:endParaRPr kumimoji="1" lang="ja-JP" altLang="en-US" sz="900" dirty="0"/>
          </a:p>
          <a:p>
            <a:pPr algn="ctr"/>
            <a:r>
              <a:rPr kumimoji="1" lang="ja-JP" altLang="en-US" sz="900" dirty="0">
                <a:solidFill>
                  <a:srgbClr val="404040"/>
                </a:solidFill>
                <a:latin typeface="+mn-ea"/>
                <a:ea typeface="+mn-ea"/>
              </a:rPr>
              <a:t>要確認</a:t>
            </a:r>
            <a:endParaRPr kumimoji="1" lang="ja-JP" altLang="en-US" sz="900" dirty="0"/>
          </a:p>
        </p:txBody>
      </p:sp>
      <p:cxnSp>
        <p:nvCxnSpPr>
          <p:cNvPr id="93" name="Connector 92"/>
          <p:cNvCxnSpPr/>
          <p:nvPr/>
        </p:nvCxnSpPr>
        <p:spPr>
          <a:xfrm>
            <a:off x="4251960" y="2971800"/>
            <a:ext cx="0" cy="320040"/>
          </a:xfrm>
          <a:prstGeom prst="line">
            <a:avLst/>
          </a:prstGeom>
          <a:ln w="12700">
            <a:solidFill>
              <a:srgbClr val="0B3041"/>
            </a:solidFill>
          </a:ln>
        </p:spPr>
        <p:style>
          <a:lnRef idx="2">
            <a:schemeClr val="accent1"/>
          </a:lnRef>
          <a:fillRef idx="0">
            <a:schemeClr val="accent1"/>
          </a:fillRef>
          <a:effectRef idx="1">
            <a:schemeClr val="accent1"/>
          </a:effectRef>
          <a:fontRef idx="minor">
            <a:schemeClr val="tx1"/>
          </a:fontRef>
        </p:style>
      </p:cxnSp>
      <p:sp>
        <p:nvSpPr>
          <p:cNvPr id="94" name="Rectangle 93"/>
          <p:cNvSpPr/>
          <p:nvPr/>
        </p:nvSpPr>
        <p:spPr>
          <a:xfrm>
            <a:off x="3291840" y="3291840"/>
            <a:ext cx="1920240" cy="640080"/>
          </a:xfrm>
          <a:prstGeom prst="rect">
            <a:avLst/>
          </a:prstGeom>
          <a:solidFill>
            <a:srgbClr val="E1F3FB"/>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kumimoji="1" lang="ja-JP" altLang="en-US" sz="1100" dirty="0" b="1">
                <a:solidFill>
                  <a:srgbClr val="0B3041"/>
                </a:solidFill>
                <a:latin typeface="+mn-ea"/>
                <a:ea typeface="+mn-ea"/>
              </a:rPr>
              <a:t>紀尾井町店</a:t>
            </a:r>
            <a:endParaRPr kumimoji="1" lang="ja-JP" altLang="en-US" sz="1100" dirty="0"/>
          </a:p>
        </p:txBody>
      </p:sp>
      <p:sp>
        <p:nvSpPr>
          <p:cNvPr id="95" name="Rectangle 94"/>
          <p:cNvSpPr/>
          <p:nvPr/>
        </p:nvSpPr>
        <p:spPr>
          <a:xfrm>
            <a:off x="3291840" y="4023360"/>
            <a:ext cx="1920240" cy="868680"/>
          </a:xfrm>
          <a:prstGeom prst="rect">
            <a:avLst/>
          </a:prstGeom>
          <a:noFill/>
          <a:ln w="9525">
            <a:solidFill>
              <a:srgbClr val="B8C0C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kumimoji="1" lang="ja-JP" altLang="en-US" sz="900" dirty="0">
                <a:solidFill>
                  <a:srgbClr val="404040"/>
                </a:solidFill>
                <a:latin typeface="+mn-ea"/>
                <a:ea typeface="+mn-ea"/>
              </a:rPr>
              <a:t>店舗スタッフ数・役職：</a:t>
            </a:r>
            <a:endParaRPr kumimoji="1" lang="ja-JP" altLang="en-US" sz="900" dirty="0"/>
          </a:p>
          <a:p>
            <a:pPr algn="ctr"/>
            <a:r>
              <a:rPr kumimoji="1" lang="ja-JP" altLang="en-US" sz="900" dirty="0">
                <a:solidFill>
                  <a:srgbClr val="404040"/>
                </a:solidFill>
                <a:latin typeface="+mn-ea"/>
                <a:ea typeface="+mn-ea"/>
              </a:rPr>
              <a:t>要確認</a:t>
            </a:r>
            <a:endParaRPr kumimoji="1" lang="ja-JP" altLang="en-US" sz="900" dirty="0"/>
          </a:p>
        </p:txBody>
      </p:sp>
      <p:cxnSp>
        <p:nvCxnSpPr>
          <p:cNvPr id="96" name="Connector 95"/>
          <p:cNvCxnSpPr/>
          <p:nvPr/>
        </p:nvCxnSpPr>
        <p:spPr>
          <a:xfrm>
            <a:off x="6446520" y="2971800"/>
            <a:ext cx="0" cy="320040"/>
          </a:xfrm>
          <a:prstGeom prst="line">
            <a:avLst/>
          </a:prstGeom>
          <a:ln w="12700">
            <a:solidFill>
              <a:srgbClr val="0B3041"/>
            </a:solidFill>
          </a:ln>
        </p:spPr>
        <p:style>
          <a:lnRef idx="2">
            <a:schemeClr val="accent1"/>
          </a:lnRef>
          <a:fillRef idx="0">
            <a:schemeClr val="accent1"/>
          </a:fillRef>
          <a:effectRef idx="1">
            <a:schemeClr val="accent1"/>
          </a:effectRef>
          <a:fontRef idx="minor">
            <a:schemeClr val="tx1"/>
          </a:fontRef>
        </p:style>
      </p:cxnSp>
      <p:sp>
        <p:nvSpPr>
          <p:cNvPr id="97" name="Rectangle 96"/>
          <p:cNvSpPr/>
          <p:nvPr/>
        </p:nvSpPr>
        <p:spPr>
          <a:xfrm>
            <a:off x="5486400" y="3291840"/>
            <a:ext cx="1920240" cy="640080"/>
          </a:xfrm>
          <a:prstGeom prst="rect">
            <a:avLst/>
          </a:prstGeom>
          <a:solidFill>
            <a:srgbClr val="E1F3FB"/>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kumimoji="1" lang="ja-JP" altLang="en-US" sz="1100" dirty="0" b="1">
                <a:solidFill>
                  <a:srgbClr val="0B3041"/>
                </a:solidFill>
                <a:latin typeface="+mn-ea"/>
                <a:ea typeface="+mn-ea"/>
              </a:rPr>
              <a:t>大船店</a:t>
            </a:r>
            <a:endParaRPr kumimoji="1" lang="ja-JP" altLang="en-US" sz="1100" dirty="0"/>
          </a:p>
        </p:txBody>
      </p:sp>
      <p:sp>
        <p:nvSpPr>
          <p:cNvPr id="98" name="Rectangle 97"/>
          <p:cNvSpPr/>
          <p:nvPr/>
        </p:nvSpPr>
        <p:spPr>
          <a:xfrm>
            <a:off x="5486400" y="4023360"/>
            <a:ext cx="1920240" cy="868680"/>
          </a:xfrm>
          <a:prstGeom prst="rect">
            <a:avLst/>
          </a:prstGeom>
          <a:noFill/>
          <a:ln w="9525">
            <a:solidFill>
              <a:srgbClr val="B8C0C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kumimoji="1" lang="ja-JP" altLang="en-US" sz="900" dirty="0">
                <a:solidFill>
                  <a:srgbClr val="404040"/>
                </a:solidFill>
                <a:latin typeface="+mn-ea"/>
                <a:ea typeface="+mn-ea"/>
              </a:rPr>
              <a:t>店舗スタッフ数・役職：</a:t>
            </a:r>
            <a:endParaRPr kumimoji="1" lang="ja-JP" altLang="en-US" sz="900" dirty="0"/>
          </a:p>
          <a:p>
            <a:pPr algn="ctr"/>
            <a:r>
              <a:rPr kumimoji="1" lang="ja-JP" altLang="en-US" sz="900" dirty="0">
                <a:solidFill>
                  <a:srgbClr val="404040"/>
                </a:solidFill>
                <a:latin typeface="+mn-ea"/>
                <a:ea typeface="+mn-ea"/>
              </a:rPr>
              <a:t>要確認</a:t>
            </a:r>
            <a:endParaRPr kumimoji="1" lang="ja-JP" altLang="en-US" sz="900" dirty="0"/>
          </a:p>
        </p:txBody>
      </p:sp>
      <p:cxnSp>
        <p:nvCxnSpPr>
          <p:cNvPr id="99" name="Connector 98"/>
          <p:cNvCxnSpPr/>
          <p:nvPr/>
        </p:nvCxnSpPr>
        <p:spPr>
          <a:xfrm>
            <a:off x="8641080" y="2971800"/>
            <a:ext cx="0" cy="320040"/>
          </a:xfrm>
          <a:prstGeom prst="line">
            <a:avLst/>
          </a:prstGeom>
          <a:ln w="12700">
            <a:solidFill>
              <a:srgbClr val="0B3041"/>
            </a:solidFill>
          </a:ln>
        </p:spPr>
        <p:style>
          <a:lnRef idx="2">
            <a:schemeClr val="accent1"/>
          </a:lnRef>
          <a:fillRef idx="0">
            <a:schemeClr val="accent1"/>
          </a:fillRef>
          <a:effectRef idx="1">
            <a:schemeClr val="accent1"/>
          </a:effectRef>
          <a:fontRef idx="minor">
            <a:schemeClr val="tx1"/>
          </a:fontRef>
        </p:style>
      </p:cxnSp>
      <p:sp>
        <p:nvSpPr>
          <p:cNvPr id="100" name="Rectangle 99"/>
          <p:cNvSpPr/>
          <p:nvPr/>
        </p:nvSpPr>
        <p:spPr>
          <a:xfrm>
            <a:off x="7680960" y="3291840"/>
            <a:ext cx="1920240" cy="640080"/>
          </a:xfrm>
          <a:prstGeom prst="rect">
            <a:avLst/>
          </a:prstGeom>
          <a:solidFill>
            <a:srgbClr val="E1F3FB"/>
          </a:solidFill>
          <a:ln w="9525">
            <a:solidFill>
              <a:srgbClr val="0889C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kumimoji="1" lang="ja-JP" altLang="en-US" sz="1100" dirty="0" b="1">
                <a:solidFill>
                  <a:srgbClr val="0B3041"/>
                </a:solidFill>
                <a:latin typeface="+mn-ea"/>
                <a:ea typeface="+mn-ea"/>
              </a:rPr>
              <a:t>本部・管理（要確認）</a:t>
            </a:r>
            <a:endParaRPr kumimoji="1" lang="ja-JP" altLang="en-US" sz="1100" dirty="0"/>
          </a:p>
        </p:txBody>
      </p:sp>
      <p:sp>
        <p:nvSpPr>
          <p:cNvPr id="101" name="Rectangle 100"/>
          <p:cNvSpPr/>
          <p:nvPr/>
        </p:nvSpPr>
        <p:spPr>
          <a:xfrm>
            <a:off x="7680960" y="4023360"/>
            <a:ext cx="1920240" cy="868680"/>
          </a:xfrm>
          <a:prstGeom prst="rect">
            <a:avLst/>
          </a:prstGeom>
          <a:noFill/>
          <a:ln w="9525">
            <a:solidFill>
              <a:srgbClr val="B8C0C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kumimoji="1" lang="ja-JP" altLang="en-US" sz="900" dirty="0">
                <a:solidFill>
                  <a:srgbClr val="404040"/>
                </a:solidFill>
                <a:latin typeface="+mn-ea"/>
                <a:ea typeface="+mn-ea"/>
              </a:rPr>
              <a:t>店舗スタッフ数・役職：</a:t>
            </a:r>
            <a:endParaRPr kumimoji="1" lang="ja-JP" altLang="en-US" sz="900" dirty="0"/>
          </a:p>
          <a:p>
            <a:pPr algn="ctr"/>
            <a:r>
              <a:rPr kumimoji="1" lang="ja-JP" altLang="en-US" sz="900" dirty="0">
                <a:solidFill>
                  <a:srgbClr val="404040"/>
                </a:solidFill>
                <a:latin typeface="+mn-ea"/>
                <a:ea typeface="+mn-ea"/>
              </a:rPr>
              <a:t>要確認</a:t>
            </a:r>
            <a:endParaRPr kumimoji="1" lang="ja-JP" altLang="en-US" sz="900" dirty="0"/>
          </a:p>
        </p:txBody>
      </p:sp>
      <p:sp>
        <p:nvSpPr>
          <p:cNvPr id="102" name="TextBox 101"/>
          <p:cNvSpPr txBox="1"/>
          <p:nvPr/>
        </p:nvSpPr>
        <p:spPr>
          <a:xfrm>
            <a:off x="402336" y="5212080"/>
            <a:ext cx="9875520" cy="1097280"/>
          </a:xfrm>
          <a:prstGeom prst="rect">
            <a:avLst/>
          </a:prstGeom>
          <a:noFill/>
        </p:spPr>
        <p:txBody>
          <a:bodyPr wrap="square" lIns="0" tIns="0" rIns="0" bIns="0" anchor="t">
            <a:spAutoFit/>
          </a:bodyPr>
          <a:lstStyle/>
          <a:p>
            <a:pPr>
              <a:spcAft>
                <a:spcPts val="300"/>
              </a:spcAft>
            </a:pPr>
            <a:r>
              <a:rPr kumimoji="1" lang="ja-JP" altLang="en-US" sz="900" dirty="0">
                <a:solidFill>
                  <a:srgbClr val="595959"/>
                </a:solidFill>
                <a:latin typeface="+mn-ea"/>
                <a:ea typeface="+mn-ea"/>
              </a:rPr>
              <a:t>※店舗別の人員・役職・兼務の状況は個人別データ未受領のため確認中です（受領後に更新します）。</a:t>
            </a:r>
            <a:endParaRPr kumimoji="1" lang="ja-JP" altLang="en-US" sz="900" dirty="0"/>
          </a:p>
          <a:p>
            <a:pPr>
              <a:spcAft>
                <a:spcPts val="300"/>
              </a:spcAft>
            </a:pPr>
            <a:r>
              <a:rPr kumimoji="1" lang="ja-JP" altLang="en-US" sz="900" dirty="0">
                <a:solidFill>
                  <a:srgbClr val="595959"/>
                </a:solidFill>
                <a:latin typeface="+mn-ea"/>
                <a:ea typeface="+mn-ea"/>
              </a:rPr>
              <a:t>※給与台帳（2026年2月分）上、月給制6名・時給制約30名の記載。取締役会の設置有無、他の取締役・監査役は登記事項証明書の受領後に確認します。</a:t>
            </a:r>
            <a:endParaRPr kumimoji="1" lang="ja-JP" altLang="en-US" sz="900" dirty="0"/>
          </a:p>
        </p:txBody>
      </p:sp>
    </p:spTree>
    <p:extLst>
      <p:ext uri="{BB962C8B-B14F-4D97-AF65-F5344CB8AC3E}">
        <p14:creationId xmlns:p14="http://schemas.microsoft.com/office/powerpoint/2010/main" val="27286124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B11F1-1D51-B82A-B921-6A785A325690}"/>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0FAD2F8E-0153-3144-7799-F8299088775F}"/>
              </a:ext>
            </a:extLst>
          </p:cNvPr>
          <p:cNvSpPr>
            <a:spLocks noGrp="1"/>
          </p:cNvSpPr>
          <p:nvPr>
            <p:ph type="ctrTitle"/>
          </p:nvPr>
        </p:nvSpPr>
        <p:spPr>
          <a:xfrm>
            <a:off x="311150" y="180296"/>
            <a:ext cx="7799917" cy="339267"/>
          </a:xfrm>
        </p:spPr>
        <p:txBody>
          <a:bodyPr>
            <a:normAutofit/>
          </a:bodyPr>
          <a:lstStyle/>
          <a:p>
            <a:r>
              <a:rPr lang="ja-JP" altLang="en-US" dirty="0"/>
              <a:t>株主及び役員</a:t>
            </a:r>
          </a:p>
        </p:txBody>
      </p:sp>
      <p:sp>
        <p:nvSpPr>
          <p:cNvPr id="2" name="正方形/長方形 1">
            <a:extLst>
              <a:ext uri="{FF2B5EF4-FFF2-40B4-BE49-F238E27FC236}">
                <a16:creationId xmlns:a16="http://schemas.microsoft.com/office/drawing/2014/main" id="{F474A0FB-C4FD-5021-0996-014C9ADB8336}"/>
              </a:ext>
            </a:extLst>
          </p:cNvPr>
          <p:cNvSpPr/>
          <p:nvPr/>
        </p:nvSpPr>
        <p:spPr>
          <a:xfrm>
            <a:off x="311151" y="1517736"/>
            <a:ext cx="147955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株主</a:t>
            </a:r>
          </a:p>
        </p:txBody>
      </p:sp>
      <p:sp>
        <p:nvSpPr>
          <p:cNvPr id="3" name="正方形/長方形 2">
            <a:extLst>
              <a:ext uri="{FF2B5EF4-FFF2-40B4-BE49-F238E27FC236}">
                <a16:creationId xmlns:a16="http://schemas.microsoft.com/office/drawing/2014/main" id="{75AD8D3D-AB28-DAEE-3CFD-D5FBA0A0A9F7}"/>
              </a:ext>
            </a:extLst>
          </p:cNvPr>
          <p:cNvSpPr/>
          <p:nvPr/>
        </p:nvSpPr>
        <p:spPr>
          <a:xfrm>
            <a:off x="311151" y="3889461"/>
            <a:ext cx="147955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役員</a:t>
            </a:r>
          </a:p>
        </p:txBody>
      </p:sp>
      <p:sp>
        <p:nvSpPr>
          <p:cNvPr id="4" name="タイトル 1">
            <a:extLst>
              <a:ext uri="{FF2B5EF4-FFF2-40B4-BE49-F238E27FC236}">
                <a16:creationId xmlns:a16="http://schemas.microsoft.com/office/drawing/2014/main" id="{7A477B2A-8CB0-33C5-E13F-6A9007ED2C1F}"/>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8" name="字幕 13">
            <a:extLst>
              <a:ext uri="{FF2B5EF4-FFF2-40B4-BE49-F238E27FC236}">
                <a16:creationId xmlns:a16="http://schemas.microsoft.com/office/drawing/2014/main" id="{B2B57451-0F79-4EA4-E5F7-DD3BE659A77B}"/>
              </a:ext>
            </a:extLst>
          </p:cNvPr>
          <p:cNvSpPr>
            <a:spLocks noGrp="1"/>
          </p:cNvSpPr>
          <p:nvPr>
            <p:ph type="subTitle" idx="1"/>
          </p:nvPr>
        </p:nvSpPr>
        <p:spPr>
          <a:xfrm>
            <a:off x="460675" y="830046"/>
            <a:ext cx="9781875" cy="241861"/>
          </a:xfrm>
        </p:spPr>
        <p:txBody>
          <a:bodyPr>
            <a:noAutofit/>
          </a:bodyPr>
          <a:lstStyle/>
          <a:p>
            <a:r>
              <a:rPr lang="ja-JP" altLang="en-US" dirty="0">
                <a:latin typeface="+mj-ea"/>
              </a:rPr>
              <a:t>株主は代表取締役 西丸 修氏（100%）。登記事項証明書・株主名簿は未受領のため、役員構成の詳細は確認中です。</a:t>
            </a:r>
            <a:endParaRPr lang="en-US" altLang="ja-JP" dirty="0"/>
          </a:p>
        </p:txBody>
      </p:sp>
      <p:sp>
        <p:nvSpPr>
          <p:cNvPr id="14" name="TextBox 13"/>
          <p:cNvSpPr txBox="1"/>
          <p:nvPr/>
        </p:nvSpPr>
        <p:spPr>
          <a:xfrm>
            <a:off x="8412480" y="1901952"/>
            <a:ext cx="2103120" cy="182880"/>
          </a:xfrm>
          <a:prstGeom prst="rect">
            <a:avLst/>
          </a:prstGeom>
          <a:noFill/>
        </p:spPr>
        <p:txBody>
          <a:bodyPr wrap="square" lIns="0" tIns="0" rIns="0" bIns="0" anchor="t">
            <a:spAutoFit/>
          </a:bodyPr>
          <a:lstStyle/>
          <a:p>
            <a:r>
              <a:rPr kumimoji="1" lang="ja-JP" altLang="en-US" sz="800" dirty="0">
                <a:solidFill>
                  <a:srgbClr val="595959"/>
                </a:solidFill>
                <a:latin typeface="+mn-ea"/>
                <a:ea typeface="+mn-ea"/>
              </a:rPr>
              <a:t>（単位：千円）</a:t>
            </a:r>
            <a:endParaRPr kumimoji="1" lang="ja-JP" altLang="en-US" sz="800" dirty="0"/>
          </a:p>
        </p:txBody>
      </p:sp>
      <p:graphicFrame>
        <p:nvGraphicFramePr>
          <p:cNvPr id="15" name="Table 14"/>
          <p:cNvGraphicFramePr>
            <a:graphicFrameLocks noGrp="1"/>
          </p:cNvGraphicFramePr>
          <p:nvPr/>
        </p:nvGraphicFramePr>
        <p:xfrm>
          <a:off x="310896" y="2103120"/>
          <a:ext cx="10195560" cy="1097280"/>
        </p:xfrm>
        <a:graphic>
          <a:graphicData uri="http://schemas.openxmlformats.org/drawingml/2006/table">
            <a:tbl>
              <a:tblPr/>
              <a:tblGrid>
                <a:gridCol w="365760"/>
                <a:gridCol w="1280160"/>
                <a:gridCol w="1188720"/>
                <a:gridCol w="1371600"/>
                <a:gridCol w="914400"/>
                <a:gridCol w="822960"/>
                <a:gridCol w="4251960"/>
              </a:tblGrid>
              <a:tr h="365760">
                <a:tc>
                  <a:txBody>
                    <a:bodyPr wrap="square"/>
                    <a:lstStyle/>
                    <a:p>
                      <a:pPr algn="ctr"/>
                      <a:r>
                        <a:rPr sz="900" b="1" i="0">
                          <a:solidFill>
                            <a:srgbClr val="FFFFFF"/>
                          </a:solidFill>
                          <a:latin typeface="Arial"/>
                          <a:ea typeface="游ゴシック"/>
                        </a:rPr>
                        <a:t>No</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氏名</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役職</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役員報酬</a:t>
                      </a:r>
                    </a:p>
                    <a:p>
                      <a:pPr algn="ctr"/>
                      <a:r>
                        <a:rPr sz="900" b="1" i="0">
                          <a:solidFill>
                            <a:srgbClr val="FFFFFF"/>
                          </a:solidFill>
                          <a:latin typeface="Arial"/>
                          <a:ea typeface="游ゴシック"/>
                        </a:rPr>
                        <a:t>（令8/3期・千円）</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保有株式数</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保有割合</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備考</a:t>
                      </a:r>
                    </a:p>
                  </a:txBody>
                  <a:tcPr marL="45720" marR="45720" marT="13716" marB="13716" anchor="ctr">
                    <a:lnL w="0">
                      <a:noFill/>
                    </a:lnL>
                    <a:lnR w="0">
                      <a:noFill/>
                    </a:lnR>
                    <a:lnT w="0">
                      <a:noFill/>
                    </a:lnT>
                    <a:lnB w="0">
                      <a:noFill/>
                    </a:lnB>
                    <a:solidFill>
                      <a:srgbClr val="0B3041"/>
                    </a:solidFill>
                  </a:tcPr>
                </a:tc>
              </a:tr>
              <a:tr h="365760">
                <a:tc>
                  <a:txBody>
                    <a:bodyPr wrap="square"/>
                    <a:lstStyle/>
                    <a:p>
                      <a:pPr algn="ctr"/>
                      <a:r>
                        <a:rPr sz="900" b="0" i="0">
                          <a:solidFill>
                            <a:srgbClr val="000000"/>
                          </a:solidFill>
                          <a:latin typeface="Arial"/>
                          <a:ea typeface="游ゴシック"/>
                        </a:rPr>
                        <a:t>1</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900" b="0" i="0">
                          <a:solidFill>
                            <a:srgbClr val="000000"/>
                          </a:solidFill>
                          <a:latin typeface="Arial"/>
                          <a:ea typeface="游ゴシック"/>
                        </a:rPr>
                        <a:t>西丸 修</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900" b="0" i="0">
                          <a:solidFill>
                            <a:srgbClr val="000000"/>
                          </a:solidFill>
                          <a:latin typeface="Arial"/>
                          <a:ea typeface="游ゴシック"/>
                        </a:rPr>
                        <a:t>代表取締役</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1,920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100株</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100.0%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900" b="0" i="0">
                          <a:solidFill>
                            <a:srgbClr val="000000"/>
                          </a:solidFill>
                          <a:latin typeface="Arial"/>
                          <a:ea typeface="游ゴシック"/>
                        </a:rPr>
                        <a:t>法人税申告書 別表二（令和8年3月期）に基づく。株主名簿・株式の取得経緯は未受領（要確認）</a:t>
                      </a:r>
                    </a:p>
                  </a:txBody>
                  <a:tcPr marL="45720" marR="45720" marT="13716" marB="13716" anchor="ctr">
                    <a:lnL w="0">
                      <a:noFill/>
                    </a:lnL>
                    <a:lnR w="0">
                      <a:noFill/>
                    </a:lnR>
                    <a:lnT w="0">
                      <a:noFill/>
                    </a:lnT>
                    <a:lnB w="6350" cap="flat" cmpd="sng" algn="ctr">
                      <a:solidFill>
                        <a:srgbClr val="B8C0C6"/>
                      </a:solidFill>
                      <a:prstDash val="solid"/>
                    </a:lnB>
                    <a:noFill/>
                  </a:tcPr>
                </a:tc>
              </a:tr>
              <a:tr h="365760">
                <a:tc>
                  <a:txBody>
                    <a:bodyPr wrap="square"/>
                    <a:lstStyle/>
                    <a:p>
                      <a:pPr algn="ctr"/>
                      <a:r>
                        <a:rPr sz="900" b="1" i="0">
                          <a:solidFill>
                            <a:srgbClr val="000000"/>
                          </a:solidFill>
                          <a:latin typeface="Arial"/>
                          <a:ea typeface="游ゴシック"/>
                        </a:rPr>
                        <a:t>　</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l"/>
                      <a:r>
                        <a:rPr sz="900" b="1" i="0">
                          <a:solidFill>
                            <a:srgbClr val="000000"/>
                          </a:solidFill>
                          <a:latin typeface="Arial"/>
                          <a:ea typeface="游ゴシック"/>
                        </a:rPr>
                        <a:t>合計</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l"/>
                      <a:r>
                        <a:rPr sz="900" b="1" i="0">
                          <a:solidFill>
                            <a:srgbClr val="000000"/>
                          </a:solidFill>
                          <a:latin typeface="Arial"/>
                          <a:ea typeface="游ゴシック"/>
                        </a:rPr>
                        <a:t>　</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900" b="1" i="0">
                          <a:solidFill>
                            <a:srgbClr val="000000"/>
                          </a:solidFill>
                          <a:latin typeface="Arial"/>
                          <a:ea typeface="游ゴシック"/>
                        </a:rPr>
                        <a:t>1,920</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900" b="1" i="0">
                          <a:solidFill>
                            <a:srgbClr val="000000"/>
                          </a:solidFill>
                          <a:latin typeface="Arial"/>
                          <a:ea typeface="游ゴシック"/>
                        </a:rPr>
                        <a:t>100株</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900" b="1" i="0">
                          <a:solidFill>
                            <a:srgbClr val="000000"/>
                          </a:solidFill>
                          <a:latin typeface="Arial"/>
                          <a:ea typeface="游ゴシック"/>
                        </a:rPr>
                        <a:t>100.0%</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l"/>
                      <a:r>
                        <a:rPr sz="900" b="1" i="0">
                          <a:solidFill>
                            <a:srgbClr val="000000"/>
                          </a:solidFill>
                          <a:latin typeface="Arial"/>
                          <a:ea typeface="游ゴシック"/>
                        </a:rPr>
                        <a:t>　</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r>
            </a:tbl>
          </a:graphicData>
        </a:graphic>
      </p:graphicFrame>
      <p:graphicFrame>
        <p:nvGraphicFramePr>
          <p:cNvPr id="16" name="Table 15"/>
          <p:cNvGraphicFramePr>
            <a:graphicFrameLocks noGrp="1"/>
          </p:cNvGraphicFramePr>
          <p:nvPr/>
        </p:nvGraphicFramePr>
        <p:xfrm>
          <a:off x="310896" y="4434840"/>
          <a:ext cx="10195560" cy="1097280"/>
        </p:xfrm>
        <a:graphic>
          <a:graphicData uri="http://schemas.openxmlformats.org/drawingml/2006/table">
            <a:tbl>
              <a:tblPr/>
              <a:tblGrid>
                <a:gridCol w="365760"/>
                <a:gridCol w="1188720"/>
                <a:gridCol w="1097280"/>
                <a:gridCol w="1097280"/>
                <a:gridCol w="1280160"/>
                <a:gridCol w="1371600"/>
                <a:gridCol w="3794760"/>
              </a:tblGrid>
              <a:tr h="365760">
                <a:tc>
                  <a:txBody>
                    <a:bodyPr wrap="square"/>
                    <a:lstStyle/>
                    <a:p>
                      <a:pPr algn="ctr"/>
                      <a:r>
                        <a:rPr sz="900" b="1" i="0">
                          <a:solidFill>
                            <a:srgbClr val="FFFFFF"/>
                          </a:solidFill>
                          <a:latin typeface="Arial"/>
                          <a:ea typeface="游ゴシック"/>
                        </a:rPr>
                        <a:t>No</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氏名</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役職</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代表者との関係</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役員報酬</a:t>
                      </a:r>
                    </a:p>
                    <a:p>
                      <a:pPr algn="ctr"/>
                      <a:r>
                        <a:rPr sz="900" b="1" i="0">
                          <a:solidFill>
                            <a:srgbClr val="FFFFFF"/>
                          </a:solidFill>
                          <a:latin typeface="Arial"/>
                          <a:ea typeface="游ゴシック"/>
                        </a:rPr>
                        <a:t>（令8/3期・千円）</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業務範囲</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備考</a:t>
                      </a:r>
                    </a:p>
                  </a:txBody>
                  <a:tcPr marL="45720" marR="45720" marT="13716" marB="13716" anchor="ctr">
                    <a:lnL w="0">
                      <a:noFill/>
                    </a:lnL>
                    <a:lnR w="0">
                      <a:noFill/>
                    </a:lnR>
                    <a:lnT w="0">
                      <a:noFill/>
                    </a:lnT>
                    <a:lnB w="0">
                      <a:noFill/>
                    </a:lnB>
                    <a:solidFill>
                      <a:srgbClr val="0B3041"/>
                    </a:solidFill>
                  </a:tcPr>
                </a:tc>
              </a:tr>
              <a:tr h="365760">
                <a:tc>
                  <a:txBody>
                    <a:bodyPr wrap="square"/>
                    <a:lstStyle/>
                    <a:p>
                      <a:pPr algn="ctr"/>
                      <a:r>
                        <a:rPr sz="900" b="0" i="0">
                          <a:solidFill>
                            <a:srgbClr val="000000"/>
                          </a:solidFill>
                          <a:latin typeface="Arial"/>
                          <a:ea typeface="游ゴシック"/>
                        </a:rPr>
                        <a:t>1</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900" b="0" i="0">
                          <a:solidFill>
                            <a:srgbClr val="000000"/>
                          </a:solidFill>
                          <a:latin typeface="Arial"/>
                          <a:ea typeface="游ゴシック"/>
                        </a:rPr>
                        <a:t>西丸 修</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900" b="0" i="0">
                          <a:solidFill>
                            <a:srgbClr val="000000"/>
                          </a:solidFill>
                          <a:latin typeface="Arial"/>
                          <a:ea typeface="游ゴシック"/>
                        </a:rPr>
                        <a:t>代表取締役</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900" b="0" i="0">
                          <a:solidFill>
                            <a:srgbClr val="000000"/>
                          </a:solidFill>
                          <a:latin typeface="Arial"/>
                          <a:ea typeface="游ゴシック"/>
                        </a:rPr>
                        <a:t>本人</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1,920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900" b="0" i="0">
                          <a:solidFill>
                            <a:srgbClr val="000000"/>
                          </a:solidFill>
                          <a:latin typeface="Arial"/>
                          <a:ea typeface="游ゴシック"/>
                        </a:rPr>
                        <a:t>経営全般（要確認）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900" b="0" i="0">
                          <a:solidFill>
                            <a:srgbClr val="000000"/>
                          </a:solidFill>
                          <a:latin typeface="Arial"/>
                          <a:ea typeface="游ゴシック"/>
                        </a:rPr>
                        <a:t>登記簿上の役員構成は未受領。他の取締役・監査役の有無は要確認。譲渡後の関与意向は要ヒアリング</a:t>
                      </a:r>
                    </a:p>
                  </a:txBody>
                  <a:tcPr marL="45720" marR="45720" marT="13716" marB="13716" anchor="ctr">
                    <a:lnL w="0">
                      <a:noFill/>
                    </a:lnL>
                    <a:lnR w="0">
                      <a:noFill/>
                    </a:lnR>
                    <a:lnT w="0">
                      <a:noFill/>
                    </a:lnT>
                    <a:lnB w="6350" cap="flat" cmpd="sng" algn="ctr">
                      <a:solidFill>
                        <a:srgbClr val="B8C0C6"/>
                      </a:solidFill>
                      <a:prstDash val="solid"/>
                    </a:lnB>
                    <a:noFill/>
                  </a:tcPr>
                </a:tc>
              </a:tr>
              <a:tr h="365760">
                <a:tc>
                  <a:txBody>
                    <a:bodyPr wrap="square"/>
                    <a:lstStyle/>
                    <a:p>
                      <a:pPr algn="ctr"/>
                      <a:r>
                        <a:rPr sz="900" b="1" i="0">
                          <a:solidFill>
                            <a:srgbClr val="000000"/>
                          </a:solidFill>
                          <a:latin typeface="Arial"/>
                          <a:ea typeface="游ゴシック"/>
                        </a:rPr>
                        <a:t>　</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l"/>
                      <a:r>
                        <a:rPr sz="900" b="1" i="0">
                          <a:solidFill>
                            <a:srgbClr val="000000"/>
                          </a:solidFill>
                          <a:latin typeface="Arial"/>
                          <a:ea typeface="游ゴシック"/>
                        </a:rPr>
                        <a:t>合計</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l"/>
                      <a:r>
                        <a:rPr sz="900" b="1" i="0">
                          <a:solidFill>
                            <a:srgbClr val="000000"/>
                          </a:solidFill>
                          <a:latin typeface="Arial"/>
                          <a:ea typeface="游ゴシック"/>
                        </a:rPr>
                        <a:t>　</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l"/>
                      <a:r>
                        <a:rPr sz="900" b="1" i="0">
                          <a:solidFill>
                            <a:srgbClr val="000000"/>
                          </a:solidFill>
                          <a:latin typeface="Arial"/>
                          <a:ea typeface="游ゴシック"/>
                        </a:rPr>
                        <a:t>　</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900" b="1" i="0">
                          <a:solidFill>
                            <a:srgbClr val="000000"/>
                          </a:solidFill>
                          <a:latin typeface="Arial"/>
                          <a:ea typeface="游ゴシック"/>
                        </a:rPr>
                        <a:t>1,920</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l"/>
                      <a:r>
                        <a:rPr sz="900" b="1" i="0">
                          <a:solidFill>
                            <a:srgbClr val="000000"/>
                          </a:solidFill>
                          <a:latin typeface="Arial"/>
                          <a:ea typeface="游ゴシック"/>
                        </a:rPr>
                        <a:t>　</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l"/>
                      <a:r>
                        <a:rPr sz="900" b="1" i="0">
                          <a:solidFill>
                            <a:srgbClr val="000000"/>
                          </a:solidFill>
                          <a:latin typeface="Arial"/>
                          <a:ea typeface="游ゴシック"/>
                        </a:rPr>
                        <a:t>　</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r>
            </a:tbl>
          </a:graphicData>
        </a:graphic>
      </p:graphicFrame>
      <p:sp>
        <p:nvSpPr>
          <p:cNvPr id="17" name="TextBox 16"/>
          <p:cNvSpPr txBox="1"/>
          <p:nvPr/>
        </p:nvSpPr>
        <p:spPr>
          <a:xfrm>
            <a:off x="310896" y="5943600"/>
            <a:ext cx="9875520" cy="548640"/>
          </a:xfrm>
          <a:prstGeom prst="rect">
            <a:avLst/>
          </a:prstGeom>
          <a:noFill/>
        </p:spPr>
        <p:txBody>
          <a:bodyPr wrap="square" lIns="0" tIns="0" rIns="0" bIns="0" anchor="t">
            <a:spAutoFit/>
          </a:bodyPr>
          <a:lstStyle/>
          <a:p>
            <a:r>
              <a:rPr kumimoji="1" lang="ja-JP" altLang="en-US" sz="900" dirty="0">
                <a:solidFill>
                  <a:srgbClr val="595959"/>
                </a:solidFill>
                <a:latin typeface="+mn-ea"/>
                <a:ea typeface="+mn-ea"/>
              </a:rPr>
              <a:t>※役員報酬は年1,920千円。M&amp;A後の経営体制・報酬水準は未確認のため、調整後EBITDAでは置換していません。</a:t>
            </a:r>
            <a:endParaRPr kumimoji="1" lang="ja-JP" altLang="en-US" sz="900" dirty="0"/>
          </a:p>
        </p:txBody>
      </p:sp>
    </p:spTree>
    <p:extLst>
      <p:ext uri="{BB962C8B-B14F-4D97-AF65-F5344CB8AC3E}">
        <p14:creationId xmlns:p14="http://schemas.microsoft.com/office/powerpoint/2010/main" val="11113659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5D0D1-0787-475E-2A3A-4107DB8EC8C6}"/>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87057045-99B0-78F1-349A-A7BFEFFF27C9}"/>
              </a:ext>
            </a:extLst>
          </p:cNvPr>
          <p:cNvSpPr>
            <a:spLocks noGrp="1"/>
          </p:cNvSpPr>
          <p:nvPr>
            <p:ph type="ctrTitle"/>
          </p:nvPr>
        </p:nvSpPr>
        <p:spPr>
          <a:xfrm>
            <a:off x="311150" y="180296"/>
            <a:ext cx="7799917" cy="339267"/>
          </a:xfrm>
        </p:spPr>
        <p:txBody>
          <a:bodyPr>
            <a:normAutofit/>
          </a:bodyPr>
          <a:lstStyle/>
          <a:p>
            <a:r>
              <a:rPr lang="ja-JP" altLang="en-US" dirty="0"/>
              <a:t>従業員</a:t>
            </a:r>
          </a:p>
        </p:txBody>
      </p:sp>
      <p:sp>
        <p:nvSpPr>
          <p:cNvPr id="2" name="タイトル 1">
            <a:extLst>
              <a:ext uri="{FF2B5EF4-FFF2-40B4-BE49-F238E27FC236}">
                <a16:creationId xmlns:a16="http://schemas.microsoft.com/office/drawing/2014/main" id="{221C2F7A-197F-87B3-7293-77B559F8B532}"/>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6" name="字幕 13">
            <a:extLst>
              <a:ext uri="{FF2B5EF4-FFF2-40B4-BE49-F238E27FC236}">
                <a16:creationId xmlns:a16="http://schemas.microsoft.com/office/drawing/2014/main" id="{9F39F7D2-779F-1749-1B8E-9FCB51D635CB}"/>
              </a:ext>
            </a:extLst>
          </p:cNvPr>
          <p:cNvSpPr>
            <a:spLocks noGrp="1"/>
          </p:cNvSpPr>
          <p:nvPr>
            <p:ph type="subTitle" idx="1"/>
          </p:nvPr>
        </p:nvSpPr>
        <p:spPr>
          <a:xfrm>
            <a:off x="460675" y="830046"/>
            <a:ext cx="9781875" cy="241861"/>
          </a:xfrm>
        </p:spPr>
        <p:txBody>
          <a:bodyPr>
            <a:noAutofit/>
          </a:bodyPr>
          <a:lstStyle/>
          <a:p>
            <a:r>
              <a:rPr lang="ja-JP" altLang="en-US" dirty="0">
                <a:latin typeface="+mj-ea"/>
              </a:rPr>
              <a:t>月給者6名・時給者約30名の体制（2026年2月分給与台帳ベース）。個人別データ（年齢・勤続・資格等）は未受領のため、受領後に更新します。</a:t>
            </a:r>
            <a:endParaRPr lang="en-US" altLang="ja-JP" dirty="0"/>
          </a:p>
        </p:txBody>
      </p:sp>
      <p:graphicFrame>
        <p:nvGraphicFramePr>
          <p:cNvPr id="14" name="Table 13"/>
          <p:cNvGraphicFramePr>
            <a:graphicFrameLocks noGrp="1"/>
          </p:cNvGraphicFramePr>
          <p:nvPr/>
        </p:nvGraphicFramePr>
        <p:xfrm>
          <a:off x="310896" y="1554480"/>
          <a:ext cx="10149840" cy="1536192"/>
        </p:xfrm>
        <a:graphic>
          <a:graphicData uri="http://schemas.openxmlformats.org/drawingml/2006/table">
            <a:tbl>
              <a:tblPr/>
              <a:tblGrid>
                <a:gridCol w="2377440"/>
                <a:gridCol w="914400"/>
                <a:gridCol w="2743200"/>
                <a:gridCol w="4114800"/>
              </a:tblGrid>
              <a:tr h="384048">
                <a:tc>
                  <a:txBody>
                    <a:bodyPr wrap="square"/>
                    <a:lstStyle/>
                    <a:p>
                      <a:pPr algn="ctr"/>
                      <a:r>
                        <a:rPr sz="1000" b="1" i="0">
                          <a:solidFill>
                            <a:srgbClr val="FFFFFF"/>
                          </a:solidFill>
                          <a:latin typeface="Arial"/>
                          <a:ea typeface="游ゴシック"/>
                        </a:rPr>
                        <a:t>区分</a:t>
                      </a:r>
                    </a:p>
                  </a:txBody>
                  <a:tcPr marL="45720" marR="45720" marT="13716" marB="13716" anchor="ctr">
                    <a:lnL w="0">
                      <a:noFill/>
                    </a:lnL>
                    <a:lnR w="0">
                      <a:noFill/>
                    </a:lnR>
                    <a:lnT w="0">
                      <a:noFill/>
                    </a:lnT>
                    <a:lnB w="0">
                      <a:noFill/>
                    </a:lnB>
                    <a:solidFill>
                      <a:srgbClr val="0B3041"/>
                    </a:solidFill>
                  </a:tcPr>
                </a:tc>
                <a:tc>
                  <a:txBody>
                    <a:bodyPr wrap="square"/>
                    <a:lstStyle/>
                    <a:p>
                      <a:pPr algn="ctr"/>
                      <a:r>
                        <a:rPr sz="1000" b="1" i="0">
                          <a:solidFill>
                            <a:srgbClr val="FFFFFF"/>
                          </a:solidFill>
                          <a:latin typeface="Arial"/>
                          <a:ea typeface="游ゴシック"/>
                        </a:rPr>
                        <a:t>人数</a:t>
                      </a:r>
                    </a:p>
                  </a:txBody>
                  <a:tcPr marL="45720" marR="45720" marT="13716" marB="13716" anchor="ctr">
                    <a:lnL w="0">
                      <a:noFill/>
                    </a:lnL>
                    <a:lnR w="0">
                      <a:noFill/>
                    </a:lnR>
                    <a:lnT w="0">
                      <a:noFill/>
                    </a:lnT>
                    <a:lnB w="0">
                      <a:noFill/>
                    </a:lnB>
                    <a:solidFill>
                      <a:srgbClr val="0B3041"/>
                    </a:solidFill>
                  </a:tcPr>
                </a:tc>
                <a:tc>
                  <a:txBody>
                    <a:bodyPr wrap="square"/>
                    <a:lstStyle/>
                    <a:p>
                      <a:pPr algn="ctr"/>
                      <a:r>
                        <a:rPr sz="1000" b="1" i="0">
                          <a:solidFill>
                            <a:srgbClr val="FFFFFF"/>
                          </a:solidFill>
                          <a:latin typeface="Arial"/>
                          <a:ea typeface="游ゴシック"/>
                        </a:rPr>
                        <a:t>雇用形態・給与水準</a:t>
                      </a:r>
                    </a:p>
                  </a:txBody>
                  <a:tcPr marL="45720" marR="45720" marT="13716" marB="13716" anchor="ctr">
                    <a:lnL w="0">
                      <a:noFill/>
                    </a:lnL>
                    <a:lnR w="0">
                      <a:noFill/>
                    </a:lnR>
                    <a:lnT w="0">
                      <a:noFill/>
                    </a:lnT>
                    <a:lnB w="0">
                      <a:noFill/>
                    </a:lnB>
                    <a:solidFill>
                      <a:srgbClr val="0B3041"/>
                    </a:solidFill>
                  </a:tcPr>
                </a:tc>
                <a:tc>
                  <a:txBody>
                    <a:bodyPr wrap="square"/>
                    <a:lstStyle/>
                    <a:p>
                      <a:pPr algn="ctr"/>
                      <a:r>
                        <a:rPr sz="1000" b="1" i="0">
                          <a:solidFill>
                            <a:srgbClr val="FFFFFF"/>
                          </a:solidFill>
                          <a:latin typeface="Arial"/>
                          <a:ea typeface="游ゴシック"/>
                        </a:rPr>
                        <a:t>備考</a:t>
                      </a:r>
                    </a:p>
                  </a:txBody>
                  <a:tcPr marL="45720" marR="45720" marT="13716" marB="13716" anchor="ctr">
                    <a:lnL w="0">
                      <a:noFill/>
                    </a:lnL>
                    <a:lnR w="0">
                      <a:noFill/>
                    </a:lnR>
                    <a:lnT w="0">
                      <a:noFill/>
                    </a:lnT>
                    <a:lnB w="0">
                      <a:noFill/>
                    </a:lnB>
                    <a:solidFill>
                      <a:srgbClr val="0B3041"/>
                    </a:solidFill>
                  </a:tcPr>
                </a:tc>
              </a:tr>
              <a:tr h="384048">
                <a:tc>
                  <a:txBody>
                    <a:bodyPr wrap="square"/>
                    <a:lstStyle/>
                    <a:p>
                      <a:pPr algn="l"/>
                      <a:r>
                        <a:rPr sz="1000" b="0" i="0">
                          <a:solidFill>
                            <a:srgbClr val="000000"/>
                          </a:solidFill>
                          <a:latin typeface="Arial"/>
                          <a:ea typeface="游ゴシック"/>
                        </a:rPr>
                        <a:t>月給制（社員）</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1000" b="0" i="0">
                          <a:solidFill>
                            <a:srgbClr val="000000"/>
                          </a:solidFill>
                          <a:latin typeface="Arial"/>
                          <a:ea typeface="游ゴシック"/>
                        </a:rPr>
                        <a:t>6名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1000" b="0" i="0">
                          <a:solidFill>
                            <a:srgbClr val="000000"/>
                          </a:solidFill>
                          <a:latin typeface="Arial"/>
                          <a:ea typeface="游ゴシック"/>
                        </a:rPr>
                        <a:t>月給制（基本給＋手当）</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1000" b="0" i="0">
                          <a:solidFill>
                            <a:srgbClr val="000000"/>
                          </a:solidFill>
                          <a:latin typeface="Arial"/>
                          <a:ea typeface="游ゴシック"/>
                        </a:rPr>
                        <a:t>個人別の年齢・勤続・役職は未受領（要確認）</a:t>
                      </a:r>
                    </a:p>
                  </a:txBody>
                  <a:tcPr marL="45720" marR="45720" marT="13716" marB="13716" anchor="ctr">
                    <a:lnL w="0">
                      <a:noFill/>
                    </a:lnL>
                    <a:lnR w="0">
                      <a:noFill/>
                    </a:lnR>
                    <a:lnT w="0">
                      <a:noFill/>
                    </a:lnT>
                    <a:lnB w="6350" cap="flat" cmpd="sng" algn="ctr">
                      <a:solidFill>
                        <a:srgbClr val="B8C0C6"/>
                      </a:solidFill>
                      <a:prstDash val="solid"/>
                    </a:lnB>
                    <a:noFill/>
                  </a:tcPr>
                </a:tc>
              </a:tr>
              <a:tr h="384048">
                <a:tc>
                  <a:txBody>
                    <a:bodyPr wrap="square"/>
                    <a:lstStyle/>
                    <a:p>
                      <a:pPr algn="l"/>
                      <a:r>
                        <a:rPr sz="1000" b="0" i="0">
                          <a:solidFill>
                            <a:srgbClr val="000000"/>
                          </a:solidFill>
                          <a:latin typeface="Arial"/>
                          <a:ea typeface="游ゴシック"/>
                        </a:rPr>
                        <a:t>時給制（パート・アルバイト）</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1000" b="0" i="0">
                          <a:solidFill>
                            <a:srgbClr val="000000"/>
                          </a:solidFill>
                          <a:latin typeface="Arial"/>
                          <a:ea typeface="游ゴシック"/>
                        </a:rPr>
                        <a:t>約30名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1000" b="0" i="0">
                          <a:solidFill>
                            <a:srgbClr val="000000"/>
                          </a:solidFill>
                          <a:latin typeface="Arial"/>
                          <a:ea typeface="游ゴシック"/>
                        </a:rPr>
                        <a:t>時給1,225〜1,350円の記載あり</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1000" b="0" i="0">
                          <a:solidFill>
                            <a:srgbClr val="000000"/>
                          </a:solidFill>
                          <a:latin typeface="Arial"/>
                          <a:ea typeface="游ゴシック"/>
                        </a:rPr>
                        <a:t>店舗別の配置・勤務時間は未受領（要確認）</a:t>
                      </a:r>
                    </a:p>
                  </a:txBody>
                  <a:tcPr marL="45720" marR="45720" marT="13716" marB="13716" anchor="ctr">
                    <a:lnL w="0">
                      <a:noFill/>
                    </a:lnL>
                    <a:lnR w="0">
                      <a:noFill/>
                    </a:lnR>
                    <a:lnT w="0">
                      <a:noFill/>
                    </a:lnT>
                    <a:lnB w="6350" cap="flat" cmpd="sng" algn="ctr">
                      <a:solidFill>
                        <a:srgbClr val="B8C0C6"/>
                      </a:solidFill>
                      <a:prstDash val="solid"/>
                    </a:lnB>
                    <a:noFill/>
                  </a:tcPr>
                </a:tc>
              </a:tr>
              <a:tr h="384048">
                <a:tc>
                  <a:txBody>
                    <a:bodyPr wrap="square"/>
                    <a:lstStyle/>
                    <a:p>
                      <a:pPr algn="l"/>
                      <a:r>
                        <a:rPr sz="1000" b="1" i="0">
                          <a:solidFill>
                            <a:srgbClr val="000000"/>
                          </a:solidFill>
                          <a:latin typeface="Arial"/>
                          <a:ea typeface="游ゴシック"/>
                        </a:rPr>
                        <a:t>合計</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1000" b="1" i="0">
                          <a:solidFill>
                            <a:srgbClr val="000000"/>
                          </a:solidFill>
                          <a:latin typeface="Arial"/>
                          <a:ea typeface="游ゴシック"/>
                        </a:rPr>
                        <a:t>約36名</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l"/>
                      <a:r>
                        <a:rPr sz="1000" b="1" i="0">
                          <a:solidFill>
                            <a:srgbClr val="000000"/>
                          </a:solidFill>
                          <a:latin typeface="Arial"/>
                          <a:ea typeface="游ゴシック"/>
                        </a:rPr>
                        <a:t>　</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l"/>
                      <a:r>
                        <a:rPr sz="1000" b="1" i="0">
                          <a:solidFill>
                            <a:srgbClr val="000000"/>
                          </a:solidFill>
                          <a:latin typeface="Arial"/>
                          <a:ea typeface="游ゴシック"/>
                        </a:rPr>
                        <a:t>役員を除く。賞与の記載なし（要確認）</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r>
            </a:tbl>
          </a:graphicData>
        </a:graphic>
      </p:graphicFrame>
      <p:graphicFrame>
        <p:nvGraphicFramePr>
          <p:cNvPr id="15" name="Table 14"/>
          <p:cNvGraphicFramePr>
            <a:graphicFrameLocks noGrp="1"/>
          </p:cNvGraphicFramePr>
          <p:nvPr/>
        </p:nvGraphicFramePr>
        <p:xfrm>
          <a:off x="310896" y="3566160"/>
          <a:ext cx="5852160" cy="1645920"/>
        </p:xfrm>
        <a:graphic>
          <a:graphicData uri="http://schemas.openxmlformats.org/drawingml/2006/table">
            <a:tbl>
              <a:tblPr/>
              <a:tblGrid>
                <a:gridCol w="4206240"/>
                <a:gridCol w="1645920"/>
              </a:tblGrid>
              <a:tr h="329184">
                <a:tc>
                  <a:txBody>
                    <a:bodyPr wrap="square"/>
                    <a:lstStyle/>
                    <a:p>
                      <a:pPr algn="ctr"/>
                      <a:r>
                        <a:rPr sz="1000" b="1" i="0">
                          <a:solidFill>
                            <a:srgbClr val="FFFFFF"/>
                          </a:solidFill>
                          <a:latin typeface="Arial"/>
                          <a:ea typeface="游ゴシック"/>
                        </a:rPr>
                        <a:t>2026年2月分給与（支給日：2026年3月25日）</a:t>
                      </a:r>
                    </a:p>
                  </a:txBody>
                  <a:tcPr marL="45720" marR="45720" marT="13716" marB="13716" anchor="ctr">
                    <a:lnL w="0">
                      <a:noFill/>
                    </a:lnL>
                    <a:lnR w="0">
                      <a:noFill/>
                    </a:lnR>
                    <a:lnT w="0">
                      <a:noFill/>
                    </a:lnT>
                    <a:lnB w="0">
                      <a:noFill/>
                    </a:lnB>
                    <a:solidFill>
                      <a:srgbClr val="0B3041"/>
                    </a:solidFill>
                  </a:tcPr>
                </a:tc>
                <a:tc>
                  <a:txBody>
                    <a:bodyPr wrap="square"/>
                    <a:lstStyle/>
                    <a:p>
                      <a:pPr algn="ctr"/>
                      <a:r>
                        <a:rPr sz="1000" b="1" i="0">
                          <a:solidFill>
                            <a:srgbClr val="FFFFFF"/>
                          </a:solidFill>
                          <a:latin typeface="Arial"/>
                          <a:ea typeface="游ゴシック"/>
                        </a:rPr>
                        <a:t>金額（千円）</a:t>
                      </a:r>
                    </a:p>
                  </a:txBody>
                  <a:tcPr marL="45720" marR="45720" marT="13716" marB="13716" anchor="ctr">
                    <a:lnL w="0">
                      <a:noFill/>
                    </a:lnL>
                    <a:lnR w="0">
                      <a:noFill/>
                    </a:lnR>
                    <a:lnT w="0">
                      <a:noFill/>
                    </a:lnT>
                    <a:lnB w="0">
                      <a:noFill/>
                    </a:lnB>
                    <a:solidFill>
                      <a:srgbClr val="0B3041"/>
                    </a:solidFill>
                  </a:tcPr>
                </a:tc>
              </a:tr>
              <a:tr h="329184">
                <a:tc>
                  <a:txBody>
                    <a:bodyPr wrap="square"/>
                    <a:lstStyle/>
                    <a:p>
                      <a:pPr algn="l"/>
                      <a:r>
                        <a:rPr sz="1000" b="0" i="0">
                          <a:solidFill>
                            <a:srgbClr val="000000"/>
                          </a:solidFill>
                          <a:latin typeface="Arial"/>
                          <a:ea typeface="游ゴシック"/>
                        </a:rPr>
                        <a:t>振込支給合計（交通費除く）</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1000" b="0" i="0">
                          <a:solidFill>
                            <a:srgbClr val="000000"/>
                          </a:solidFill>
                          <a:latin typeface="Arial"/>
                          <a:ea typeface="游ゴシック"/>
                        </a:rPr>
                        <a:t>7,521</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l"/>
                      <a:r>
                        <a:rPr sz="1000" b="0" i="0">
                          <a:solidFill>
                            <a:srgbClr val="000000"/>
                          </a:solidFill>
                          <a:latin typeface="Arial"/>
                          <a:ea typeface="游ゴシック"/>
                        </a:rPr>
                        <a:t>交通費合計</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1000" b="0" i="0">
                          <a:solidFill>
                            <a:srgbClr val="000000"/>
                          </a:solidFill>
                          <a:latin typeface="Arial"/>
                          <a:ea typeface="游ゴシック"/>
                        </a:rPr>
                        <a:t>333</a:t>
                      </a:r>
                    </a:p>
                  </a:txBody>
                  <a:tcPr marL="45720" marR="45720" marT="13716" marB="13716" anchor="ctr">
                    <a:lnL w="0">
                      <a:noFill/>
                    </a:lnL>
                    <a:lnR w="0">
                      <a:noFill/>
                    </a:lnR>
                    <a:lnT w="0">
                      <a:noFill/>
                    </a:lnT>
                    <a:lnB w="6350" cap="flat" cmpd="sng" algn="ctr">
                      <a:solidFill>
                        <a:srgbClr val="B8C0C6"/>
                      </a:solidFill>
                      <a:prstDash val="solid"/>
                    </a:lnB>
                    <a:noFill/>
                  </a:tcPr>
                </a:tc>
              </a:tr>
              <a:tr h="329184">
                <a:tc>
                  <a:txBody>
                    <a:bodyPr wrap="square"/>
                    <a:lstStyle/>
                    <a:p>
                      <a:pPr algn="l"/>
                      <a:r>
                        <a:rPr sz="1000" b="1" i="0">
                          <a:solidFill>
                            <a:srgbClr val="000000"/>
                          </a:solidFill>
                          <a:latin typeface="Arial"/>
                          <a:ea typeface="游ゴシック"/>
                        </a:rPr>
                        <a:t>総支給額（振込支給＋交通費）</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1000" b="1" i="0">
                          <a:solidFill>
                            <a:srgbClr val="000000"/>
                          </a:solidFill>
                          <a:latin typeface="Arial"/>
                          <a:ea typeface="游ゴシック"/>
                        </a:rPr>
                        <a:t>7,854</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r>
              <a:tr h="329184">
                <a:tc>
                  <a:txBody>
                    <a:bodyPr wrap="square"/>
                    <a:lstStyle/>
                    <a:p>
                      <a:pPr algn="l"/>
                      <a:r>
                        <a:rPr sz="1000" b="0" i="0">
                          <a:solidFill>
                            <a:srgbClr val="000000"/>
                          </a:solidFill>
                          <a:latin typeface="Arial"/>
                          <a:ea typeface="游ゴシック"/>
                        </a:rPr>
                        <a:t>（参考）法定福利費（会社負担）</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1000" b="0" i="0">
                          <a:solidFill>
                            <a:srgbClr val="000000"/>
                          </a:solidFill>
                          <a:latin typeface="Arial"/>
                          <a:ea typeface="游ゴシック"/>
                        </a:rPr>
                        <a:t>1,362</a:t>
                      </a:r>
                    </a:p>
                  </a:txBody>
                  <a:tcPr marL="45720" marR="45720" marT="13716" marB="13716" anchor="ctr">
                    <a:lnL w="0">
                      <a:noFill/>
                    </a:lnL>
                    <a:lnR w="0">
                      <a:noFill/>
                    </a:lnR>
                    <a:lnT w="0">
                      <a:noFill/>
                    </a:lnT>
                    <a:lnB w="6350" cap="flat" cmpd="sng" algn="ctr">
                      <a:solidFill>
                        <a:srgbClr val="B8C0C6"/>
                      </a:solidFill>
                      <a:prstDash val="solid"/>
                    </a:lnB>
                    <a:noFill/>
                  </a:tcPr>
                </a:tc>
              </a:tr>
            </a:tbl>
          </a:graphicData>
        </a:graphic>
      </p:graphicFrame>
      <p:sp>
        <p:nvSpPr>
          <p:cNvPr id="16" name="TextBox 15"/>
          <p:cNvSpPr txBox="1"/>
          <p:nvPr/>
        </p:nvSpPr>
        <p:spPr>
          <a:xfrm>
            <a:off x="310896" y="5394960"/>
            <a:ext cx="9875520" cy="914400"/>
          </a:xfrm>
          <a:prstGeom prst="rect">
            <a:avLst/>
          </a:prstGeom>
          <a:noFill/>
        </p:spPr>
        <p:txBody>
          <a:bodyPr wrap="square" lIns="0" tIns="0" rIns="0" bIns="0" anchor="t">
            <a:spAutoFit/>
          </a:bodyPr>
          <a:lstStyle/>
          <a:p>
            <a:pPr>
              <a:spcAft>
                <a:spcPts val="300"/>
              </a:spcAft>
            </a:pPr>
            <a:r>
              <a:rPr kumimoji="1" lang="ja-JP" altLang="en-US" sz="900" dirty="0">
                <a:solidFill>
                  <a:srgbClr val="595959"/>
                </a:solidFill>
                <a:latin typeface="+mn-ea"/>
                <a:ea typeface="+mn-ea"/>
              </a:rPr>
              <a:t>※出所：給与台帳（2026年2月分）。時給者数は「時給」記載の件数からの推計であり、実人数は要確認。</a:t>
            </a:r>
            <a:endParaRPr kumimoji="1" lang="ja-JP" altLang="en-US" sz="900" dirty="0"/>
          </a:p>
          <a:p>
            <a:pPr>
              <a:spcAft>
                <a:spcPts val="300"/>
              </a:spcAft>
            </a:pPr>
            <a:r>
              <a:rPr kumimoji="1" lang="ja-JP" altLang="en-US" sz="900" dirty="0">
                <a:solidFill>
                  <a:srgbClr val="595959"/>
                </a:solidFill>
                <a:latin typeface="+mn-ea"/>
                <a:ea typeface="+mn-ea"/>
              </a:rPr>
              <a:t>※労働条件・就業規則・退職金規程・社会保険の加入状況は未受領のため、デューデリジェンスで確認予定。</a:t>
            </a:r>
            <a:endParaRPr kumimoji="1" lang="ja-JP" altLang="en-US" sz="900" dirty="0"/>
          </a:p>
        </p:txBody>
      </p:sp>
    </p:spTree>
    <p:extLst>
      <p:ext uri="{BB962C8B-B14F-4D97-AF65-F5344CB8AC3E}">
        <p14:creationId xmlns:p14="http://schemas.microsoft.com/office/powerpoint/2010/main" val="4530259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C3BC0-753C-033E-F6BF-1E996308297A}"/>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33F37850-AD52-3D13-0C74-E00196D01FCC}"/>
              </a:ext>
            </a:extLst>
          </p:cNvPr>
          <p:cNvSpPr>
            <a:spLocks noGrp="1"/>
          </p:cNvSpPr>
          <p:nvPr>
            <p:ph type="ctrTitle"/>
          </p:nvPr>
        </p:nvSpPr>
        <p:spPr>
          <a:xfrm>
            <a:off x="311150" y="180296"/>
            <a:ext cx="7799917" cy="339267"/>
          </a:xfrm>
        </p:spPr>
        <p:txBody>
          <a:bodyPr>
            <a:normAutofit/>
          </a:bodyPr>
          <a:lstStyle/>
          <a:p>
            <a:r>
              <a:rPr lang="ja-JP" altLang="en-US" dirty="0"/>
              <a:t>拠点概要（本社）</a:t>
            </a:r>
          </a:p>
        </p:txBody>
      </p:sp>
      <p:sp>
        <p:nvSpPr>
          <p:cNvPr id="2" name="正方形/長方形 1">
            <a:extLst>
              <a:ext uri="{FF2B5EF4-FFF2-40B4-BE49-F238E27FC236}">
                <a16:creationId xmlns:a16="http://schemas.microsoft.com/office/drawing/2014/main" id="{C00DE4F3-8549-4974-DCEF-6F7481D67517}"/>
              </a:ext>
            </a:extLst>
          </p:cNvPr>
          <p:cNvSpPr/>
          <p:nvPr/>
        </p:nvSpPr>
        <p:spPr>
          <a:xfrm>
            <a:off x="311151" y="1517736"/>
            <a:ext cx="147955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本社</a:t>
            </a:r>
          </a:p>
        </p:txBody>
      </p:sp>
      <p:sp>
        <p:nvSpPr>
          <p:cNvPr id="6" name="タイトル 1">
            <a:extLst>
              <a:ext uri="{FF2B5EF4-FFF2-40B4-BE49-F238E27FC236}">
                <a16:creationId xmlns:a16="http://schemas.microsoft.com/office/drawing/2014/main" id="{C94241A7-8BCE-A268-9079-8C5AF9CFCFBF}"/>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9" name="字幕 13">
            <a:extLst>
              <a:ext uri="{FF2B5EF4-FFF2-40B4-BE49-F238E27FC236}">
                <a16:creationId xmlns:a16="http://schemas.microsoft.com/office/drawing/2014/main" id="{B8D00A9D-DB7C-195B-A6F7-0DBDF4FF7287}"/>
              </a:ext>
            </a:extLst>
          </p:cNvPr>
          <p:cNvSpPr>
            <a:spLocks noGrp="1"/>
          </p:cNvSpPr>
          <p:nvPr>
            <p:ph type="subTitle" idx="1"/>
          </p:nvPr>
        </p:nvSpPr>
        <p:spPr>
          <a:xfrm>
            <a:off x="460675" y="830046"/>
            <a:ext cx="9781875" cy="241861"/>
          </a:xfrm>
        </p:spPr>
        <p:txBody>
          <a:bodyPr>
            <a:noAutofit/>
          </a:bodyPr>
          <a:lstStyle/>
          <a:p>
            <a:r>
              <a:rPr lang="ja-JP" altLang="en-US" dirty="0">
                <a:latin typeface="+mj-ea"/>
              </a:rPr>
              <a:t>本社は鎌倉山の自社所有物件（鎌倉山店「ル・ミリュウ」と同一所在地）。東京・紀尾井町と鎌倉・大船に賃借店舗を構えています。</a:t>
            </a:r>
            <a:endParaRPr lang="en-US" altLang="ja-JP" dirty="0"/>
          </a:p>
        </p:txBody>
      </p:sp>
      <p:graphicFrame>
        <p:nvGraphicFramePr>
          <p:cNvPr id="14" name="Table 13"/>
          <p:cNvGraphicFramePr>
            <a:graphicFrameLocks noGrp="1"/>
          </p:cNvGraphicFramePr>
          <p:nvPr/>
        </p:nvGraphicFramePr>
        <p:xfrm>
          <a:off x="310896" y="2066543"/>
          <a:ext cx="10195560" cy="914400"/>
        </p:xfrm>
        <a:graphic>
          <a:graphicData uri="http://schemas.openxmlformats.org/drawingml/2006/table">
            <a:tbl>
              <a:tblPr/>
              <a:tblGrid>
                <a:gridCol w="2743200"/>
                <a:gridCol w="1371600"/>
                <a:gridCol w="914400"/>
                <a:gridCol w="914400"/>
                <a:gridCol w="914400"/>
                <a:gridCol w="3337560"/>
              </a:tblGrid>
              <a:tr h="274320">
                <a:tc>
                  <a:txBody>
                    <a:bodyPr wrap="square"/>
                    <a:lstStyle/>
                    <a:p>
                      <a:pPr algn="ctr"/>
                      <a:r>
                        <a:rPr sz="900" b="1" i="0">
                          <a:solidFill>
                            <a:srgbClr val="FFFFFF"/>
                          </a:solidFill>
                          <a:latin typeface="Arial"/>
                          <a:ea typeface="游ゴシック"/>
                        </a:rPr>
                        <a:t>所在地</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契約形態</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延床面積</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月間賃料</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敷金</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アクセス</a:t>
                      </a:r>
                    </a:p>
                  </a:txBody>
                  <a:tcPr marL="45720" marR="45720" marT="13716" marB="13716" anchor="ctr">
                    <a:lnL w="0">
                      <a:noFill/>
                    </a:lnL>
                    <a:lnR w="0">
                      <a:noFill/>
                    </a:lnR>
                    <a:lnT w="0">
                      <a:noFill/>
                    </a:lnT>
                    <a:lnB w="0">
                      <a:noFill/>
                    </a:lnB>
                    <a:solidFill>
                      <a:srgbClr val="0B3041"/>
                    </a:solidFill>
                  </a:tcPr>
                </a:tc>
              </a:tr>
              <a:tr h="640080">
                <a:tc>
                  <a:txBody>
                    <a:bodyPr wrap="square"/>
                    <a:lstStyle/>
                    <a:p>
                      <a:pPr algn="l"/>
                      <a:r>
                        <a:rPr sz="900" b="0" i="0">
                          <a:solidFill>
                            <a:srgbClr val="000000"/>
                          </a:solidFill>
                          <a:latin typeface="Arial"/>
                          <a:ea typeface="游ゴシック"/>
                        </a:rPr>
                        <a:t>神奈川県鎌倉市鎌倉山三丁目2番31号</a:t>
                      </a:r>
                    </a:p>
                    <a:p>
                      <a:pPr algn="l"/>
                      <a:r>
                        <a:rPr sz="900" b="0" i="0">
                          <a:solidFill>
                            <a:srgbClr val="000000"/>
                          </a:solidFill>
                          <a:latin typeface="Arial"/>
                          <a:ea typeface="游ゴシック"/>
                        </a:rPr>
                        <a:t>（本社・鎌倉山店「ル・ミリュウ」）</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900" b="0" i="0">
                          <a:solidFill>
                            <a:srgbClr val="000000"/>
                          </a:solidFill>
                          <a:latin typeface="Arial"/>
                          <a:ea typeface="游ゴシック"/>
                        </a:rPr>
                        <a:t>自己所有（土地・建物）</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900" b="0" i="0">
                          <a:solidFill>
                            <a:srgbClr val="000000"/>
                          </a:solidFill>
                          <a:latin typeface="Arial"/>
                          <a:ea typeface="游ゴシック"/>
                        </a:rPr>
                        <a:t>要確認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90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90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900" b="0" i="0">
                          <a:solidFill>
                            <a:srgbClr val="000000"/>
                          </a:solidFill>
                          <a:latin typeface="Arial"/>
                          <a:ea typeface="游ゴシック"/>
                        </a:rPr>
                        <a:t>大船駅からバス（見晴バス停すぐ）※Web情報・要確認</a:t>
                      </a:r>
                    </a:p>
                  </a:txBody>
                  <a:tcPr marL="45720" marR="45720" marT="13716" marB="13716" anchor="ctr">
                    <a:lnL w="0">
                      <a:noFill/>
                    </a:lnL>
                    <a:lnR w="0">
                      <a:noFill/>
                    </a:lnR>
                    <a:lnT w="0">
                      <a:noFill/>
                    </a:lnT>
                    <a:lnB w="6350" cap="flat" cmpd="sng" algn="ctr">
                      <a:solidFill>
                        <a:srgbClr val="B8C0C6"/>
                      </a:solidFill>
                      <a:prstDash val="solid"/>
                    </a:lnB>
                    <a:noFill/>
                  </a:tcPr>
                </a:tc>
              </a:tr>
            </a:tbl>
          </a:graphicData>
        </a:graphic>
      </p:graphicFrame>
      <p:sp>
        <p:nvSpPr>
          <p:cNvPr id="15" name="Rectangle 14"/>
          <p:cNvSpPr/>
          <p:nvPr/>
        </p:nvSpPr>
        <p:spPr>
          <a:xfrm>
            <a:off x="310896" y="3410712"/>
            <a:ext cx="4873752" cy="3200400"/>
          </a:xfrm>
          <a:prstGeom prst="rect">
            <a:avLst/>
          </a:prstGeom>
          <a:solidFill>
            <a:srgbClr val="E3E7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kumimoji="1" lang="ja-JP" altLang="en-US" sz="1200" dirty="0">
                <a:solidFill>
                  <a:srgbClr val="595959"/>
                </a:solidFill>
                <a:latin typeface="+mn-ea"/>
                <a:ea typeface="+mn-ea"/>
              </a:rPr>
              <a:t>本社外観</a:t>
            </a:r>
            <a:endParaRPr kumimoji="1" lang="ja-JP" altLang="en-US" sz="1200" dirty="0"/>
          </a:p>
          <a:p>
            <a:pPr algn="ctr"/>
            <a:r>
              <a:rPr kumimoji="1" lang="ja-JP" altLang="en-US" sz="1200" dirty="0">
                <a:solidFill>
                  <a:srgbClr val="595959"/>
                </a:solidFill>
                <a:latin typeface="+mn-ea"/>
                <a:ea typeface="+mn-ea"/>
              </a:rPr>
              <a:t>（写真ご提供予定）</a:t>
            </a:r>
            <a:endParaRPr kumimoji="1" lang="ja-JP" altLang="en-US" sz="1200" dirty="0"/>
          </a:p>
        </p:txBody>
      </p:sp>
      <p:sp>
        <p:nvSpPr>
          <p:cNvPr id="16" name="Rectangle 15"/>
          <p:cNvSpPr/>
          <p:nvPr/>
        </p:nvSpPr>
        <p:spPr>
          <a:xfrm>
            <a:off x="5504688" y="3410712"/>
            <a:ext cx="5001768" cy="3200400"/>
          </a:xfrm>
          <a:prstGeom prst="rect">
            <a:avLst/>
          </a:prstGeom>
          <a:solidFill>
            <a:srgbClr val="E3E7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kumimoji="1" lang="ja-JP" altLang="en-US" sz="1200" dirty="0">
                <a:solidFill>
                  <a:srgbClr val="595959"/>
                </a:solidFill>
                <a:latin typeface="+mn-ea"/>
                <a:ea typeface="+mn-ea"/>
              </a:rPr>
              <a:t>周辺地図</a:t>
            </a:r>
            <a:endParaRPr kumimoji="1" lang="ja-JP" altLang="en-US" sz="1200" dirty="0"/>
          </a:p>
          <a:p>
            <a:pPr algn="ctr"/>
            <a:r>
              <a:rPr kumimoji="1" lang="ja-JP" altLang="en-US" sz="1200" dirty="0">
                <a:solidFill>
                  <a:srgbClr val="595959"/>
                </a:solidFill>
                <a:latin typeface="+mn-ea"/>
                <a:ea typeface="+mn-ea"/>
              </a:rPr>
              <a:t>（ご提供予定）</a:t>
            </a:r>
            <a:endParaRPr kumimoji="1" lang="ja-JP" altLang="en-US" sz="1200" dirty="0"/>
          </a:p>
        </p:txBody>
      </p:sp>
    </p:spTree>
    <p:extLst>
      <p:ext uri="{BB962C8B-B14F-4D97-AF65-F5344CB8AC3E}">
        <p14:creationId xmlns:p14="http://schemas.microsoft.com/office/powerpoint/2010/main" val="6307501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12D40-6E48-E93D-4FC9-F10D333C1CB4}"/>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8F9793F7-DC5F-E269-D0AF-CEA1591E82A7}"/>
              </a:ext>
            </a:extLst>
          </p:cNvPr>
          <p:cNvSpPr>
            <a:spLocks noGrp="1"/>
          </p:cNvSpPr>
          <p:nvPr>
            <p:ph type="ctrTitle"/>
          </p:nvPr>
        </p:nvSpPr>
        <p:spPr>
          <a:xfrm>
            <a:off x="311150" y="180296"/>
            <a:ext cx="7799917" cy="339267"/>
          </a:xfrm>
        </p:spPr>
        <p:txBody>
          <a:bodyPr>
            <a:normAutofit/>
          </a:bodyPr>
          <a:lstStyle/>
          <a:p>
            <a:r>
              <a:rPr lang="ja-JP" altLang="en-US" dirty="0"/>
              <a:t>拠点概要（賃借店舗）</a:t>
            </a:r>
          </a:p>
        </p:txBody>
      </p:sp>
      <p:sp>
        <p:nvSpPr>
          <p:cNvPr id="2" name="正方形/長方形 1">
            <a:extLst>
              <a:ext uri="{FF2B5EF4-FFF2-40B4-BE49-F238E27FC236}">
                <a16:creationId xmlns:a16="http://schemas.microsoft.com/office/drawing/2014/main" id="{A2452CE6-C739-7DE3-4FD5-98B5EF8D7EC8}"/>
              </a:ext>
            </a:extLst>
          </p:cNvPr>
          <p:cNvSpPr/>
          <p:nvPr/>
        </p:nvSpPr>
        <p:spPr>
          <a:xfrm>
            <a:off x="311151" y="1517736"/>
            <a:ext cx="147955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賃借店舗</a:t>
            </a:r>
          </a:p>
        </p:txBody>
      </p:sp>
      <p:sp>
        <p:nvSpPr>
          <p:cNvPr id="6" name="タイトル 1">
            <a:extLst>
              <a:ext uri="{FF2B5EF4-FFF2-40B4-BE49-F238E27FC236}">
                <a16:creationId xmlns:a16="http://schemas.microsoft.com/office/drawing/2014/main" id="{541F4B75-7B8F-E770-E8BD-648B0D9A1125}"/>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9" name="字幕 13">
            <a:extLst>
              <a:ext uri="{FF2B5EF4-FFF2-40B4-BE49-F238E27FC236}">
                <a16:creationId xmlns:a16="http://schemas.microsoft.com/office/drawing/2014/main" id="{C67BBAB2-F39C-2CF9-AEE1-8D09DEE08EBD}"/>
              </a:ext>
            </a:extLst>
          </p:cNvPr>
          <p:cNvSpPr>
            <a:spLocks noGrp="1"/>
          </p:cNvSpPr>
          <p:nvPr>
            <p:ph type="subTitle" idx="1"/>
          </p:nvPr>
        </p:nvSpPr>
        <p:spPr>
          <a:xfrm>
            <a:off x="460675" y="830046"/>
            <a:ext cx="9781875" cy="241861"/>
          </a:xfrm>
        </p:spPr>
        <p:txBody>
          <a:bodyPr>
            <a:noAutofit/>
          </a:bodyPr>
          <a:lstStyle/>
          <a:p>
            <a:r>
              <a:rPr lang="ja-JP" altLang="en-US" dirty="0">
                <a:latin typeface="+mj-ea"/>
              </a:rPr>
              <a:t>紀尾井町店・大船店はいずれも賃借。賃貸借契約書・敷金明細が未受領のため、契約条件は確認中です。</a:t>
            </a:r>
            <a:endParaRPr lang="en-US" altLang="ja-JP" dirty="0"/>
          </a:p>
        </p:txBody>
      </p:sp>
      <p:graphicFrame>
        <p:nvGraphicFramePr>
          <p:cNvPr id="14" name="Table 13"/>
          <p:cNvGraphicFramePr>
            <a:graphicFrameLocks noGrp="1"/>
          </p:cNvGraphicFramePr>
          <p:nvPr/>
        </p:nvGraphicFramePr>
        <p:xfrm>
          <a:off x="310896" y="2066543"/>
          <a:ext cx="10195560" cy="1737360"/>
        </p:xfrm>
        <a:graphic>
          <a:graphicData uri="http://schemas.openxmlformats.org/drawingml/2006/table">
            <a:tbl>
              <a:tblPr/>
              <a:tblGrid>
                <a:gridCol w="3291840"/>
                <a:gridCol w="2560320"/>
                <a:gridCol w="1463040"/>
                <a:gridCol w="914400"/>
                <a:gridCol w="1965960"/>
              </a:tblGrid>
              <a:tr h="457200">
                <a:tc>
                  <a:txBody>
                    <a:bodyPr wrap="square"/>
                    <a:lstStyle/>
                    <a:p>
                      <a:pPr algn="ctr"/>
                      <a:r>
                        <a:rPr sz="900" b="1" i="0">
                          <a:solidFill>
                            <a:srgbClr val="FFFFFF"/>
                          </a:solidFill>
                          <a:latin typeface="Arial"/>
                          <a:ea typeface="游ゴシック"/>
                        </a:rPr>
                        <a:t>店舗</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契約形態</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月間賃料</a:t>
                      </a:r>
                    </a:p>
                    <a:p>
                      <a:pPr algn="ctr"/>
                      <a:r>
                        <a:rPr sz="900" b="1" i="0">
                          <a:solidFill>
                            <a:srgbClr val="FFFFFF"/>
                          </a:solidFill>
                          <a:latin typeface="Arial"/>
                          <a:ea typeface="游ゴシック"/>
                        </a:rPr>
                        <a:t>（千円・年額÷12）</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敷金</a:t>
                      </a:r>
                    </a:p>
                  </a:txBody>
                  <a:tcPr marL="45720" marR="45720" marT="13716" marB="13716" anchor="ctr">
                    <a:lnL w="0">
                      <a:noFill/>
                    </a:lnL>
                    <a:lnR w="0">
                      <a:noFill/>
                    </a:lnR>
                    <a:lnT w="0">
                      <a:noFill/>
                    </a:lnT>
                    <a:lnB w="0">
                      <a:noFill/>
                    </a:lnB>
                    <a:solidFill>
                      <a:srgbClr val="0B3041"/>
                    </a:solidFill>
                  </a:tcPr>
                </a:tc>
                <a:tc>
                  <a:txBody>
                    <a:bodyPr wrap="square"/>
                    <a:lstStyle/>
                    <a:p>
                      <a:pPr algn="ctr"/>
                      <a:r>
                        <a:rPr sz="900" b="1" i="0">
                          <a:solidFill>
                            <a:srgbClr val="FFFFFF"/>
                          </a:solidFill>
                          <a:latin typeface="Arial"/>
                          <a:ea typeface="游ゴシック"/>
                        </a:rPr>
                        <a:t>その他</a:t>
                      </a:r>
                    </a:p>
                  </a:txBody>
                  <a:tcPr marL="45720" marR="45720" marT="13716" marB="13716" anchor="ctr">
                    <a:lnL w="0">
                      <a:noFill/>
                    </a:lnL>
                    <a:lnR w="0">
                      <a:noFill/>
                    </a:lnR>
                    <a:lnT w="0">
                      <a:noFill/>
                    </a:lnT>
                    <a:lnB w="0">
                      <a:noFill/>
                    </a:lnB>
                    <a:solidFill>
                      <a:srgbClr val="0B3041"/>
                    </a:solidFill>
                  </a:tcPr>
                </a:tc>
              </a:tr>
              <a:tr h="640080">
                <a:tc>
                  <a:txBody>
                    <a:bodyPr wrap="square"/>
                    <a:lstStyle/>
                    <a:p>
                      <a:pPr algn="l"/>
                      <a:r>
                        <a:rPr sz="900" b="0" i="0">
                          <a:solidFill>
                            <a:srgbClr val="000000"/>
                          </a:solidFill>
                          <a:latin typeface="Arial"/>
                          <a:ea typeface="游ゴシック"/>
                        </a:rPr>
                        <a:t>紀尾井町店（東京都千代田区）※所在地の詳細は要確認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900" b="0" i="0">
                          <a:solidFill>
                            <a:srgbClr val="000000"/>
                          </a:solidFill>
                          <a:latin typeface="Arial"/>
                          <a:ea typeface="游ゴシック"/>
                        </a:rPr>
                        <a:t>賃借（契約書未受領）</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981</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900" b="0" i="0">
                          <a:solidFill>
                            <a:srgbClr val="000000"/>
                          </a:solidFill>
                          <a:latin typeface="Arial"/>
                          <a:ea typeface="游ゴシック"/>
                        </a:rPr>
                        <a:t>要確認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900" b="0" i="0">
                          <a:solidFill>
                            <a:srgbClr val="000000"/>
                          </a:solidFill>
                          <a:latin typeface="Arial"/>
                          <a:ea typeface="游ゴシック"/>
                        </a:rPr>
                        <a:t>所在地・面積・契約期間は要確認</a:t>
                      </a:r>
                    </a:p>
                  </a:txBody>
                  <a:tcPr marL="45720" marR="45720" marT="13716" marB="13716" anchor="ctr">
                    <a:lnL w="0">
                      <a:noFill/>
                    </a:lnL>
                    <a:lnR w="0">
                      <a:noFill/>
                    </a:lnR>
                    <a:lnT w="0">
                      <a:noFill/>
                    </a:lnT>
                    <a:lnB w="6350" cap="flat" cmpd="sng" algn="ctr">
                      <a:solidFill>
                        <a:srgbClr val="B8C0C6"/>
                      </a:solidFill>
                      <a:prstDash val="solid"/>
                    </a:lnB>
                    <a:noFill/>
                  </a:tcPr>
                </a:tc>
              </a:tr>
              <a:tr h="640080">
                <a:tc>
                  <a:txBody>
                    <a:bodyPr wrap="square"/>
                    <a:lstStyle/>
                    <a:p>
                      <a:pPr algn="l"/>
                      <a:r>
                        <a:rPr sz="900" b="0" i="0">
                          <a:solidFill>
                            <a:srgbClr val="000000"/>
                          </a:solidFill>
                          <a:latin typeface="Arial"/>
                          <a:ea typeface="游ゴシック"/>
                        </a:rPr>
                        <a:t>大船店（神奈川県鎌倉市）※所在地の詳細は要確認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900" b="0" i="0">
                          <a:solidFill>
                            <a:srgbClr val="000000"/>
                          </a:solidFill>
                          <a:latin typeface="Arial"/>
                          <a:ea typeface="游ゴシック"/>
                        </a:rPr>
                        <a:t>賃借（家賃の支払先：三越伊勢丹）</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900" b="0" i="0">
                          <a:solidFill>
                            <a:srgbClr val="000000"/>
                          </a:solidFill>
                          <a:latin typeface="Arial"/>
                          <a:ea typeface="游ゴシック"/>
                        </a:rPr>
                        <a:t>615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900" b="0" i="0">
                          <a:solidFill>
                            <a:srgbClr val="000000"/>
                          </a:solidFill>
                          <a:latin typeface="Arial"/>
                          <a:ea typeface="游ゴシック"/>
                        </a:rPr>
                        <a:t>要確認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900" b="0" i="0">
                          <a:solidFill>
                            <a:srgbClr val="000000"/>
                          </a:solidFill>
                          <a:latin typeface="Arial"/>
                          <a:ea typeface="游ゴシック"/>
                        </a:rPr>
                        <a:t>所在地・面積・契約期間は要確認</a:t>
                      </a:r>
                    </a:p>
                  </a:txBody>
                  <a:tcPr marL="45720" marR="45720" marT="13716" marB="13716" anchor="ctr">
                    <a:lnL w="0">
                      <a:noFill/>
                    </a:lnL>
                    <a:lnR w="0">
                      <a:noFill/>
                    </a:lnR>
                    <a:lnT w="0">
                      <a:noFill/>
                    </a:lnT>
                    <a:lnB w="6350" cap="flat" cmpd="sng" algn="ctr">
                      <a:solidFill>
                        <a:srgbClr val="B8C0C6"/>
                      </a:solidFill>
                      <a:prstDash val="solid"/>
                    </a:lnB>
                    <a:noFill/>
                  </a:tcPr>
                </a:tc>
              </a:tr>
            </a:tbl>
          </a:graphicData>
        </a:graphic>
      </p:graphicFrame>
      <p:sp>
        <p:nvSpPr>
          <p:cNvPr id="15" name="TextBox 14"/>
          <p:cNvSpPr txBox="1"/>
          <p:nvPr/>
        </p:nvSpPr>
        <p:spPr>
          <a:xfrm>
            <a:off x="310896" y="4389120"/>
            <a:ext cx="10058400" cy="1097280"/>
          </a:xfrm>
          <a:prstGeom prst="rect">
            <a:avLst/>
          </a:prstGeom>
          <a:noFill/>
        </p:spPr>
        <p:txBody>
          <a:bodyPr wrap="square" lIns="0" tIns="0" rIns="0" bIns="0" anchor="t">
            <a:spAutoFit/>
          </a:bodyPr>
          <a:lstStyle/>
          <a:p>
            <a:pPr>
              <a:spcAft>
                <a:spcPts val="300"/>
              </a:spcAft>
            </a:pPr>
            <a:r>
              <a:rPr kumimoji="1" lang="ja-JP" altLang="en-US" sz="1000" dirty="0">
                <a:solidFill>
                  <a:srgbClr val="595959"/>
                </a:solidFill>
                <a:latin typeface="+mn-ea"/>
                <a:ea typeface="+mn-ea"/>
              </a:rPr>
              <a:t>※敷金等の合計は13,160千円（令和8年3月期末BS）。店舗別の内訳は未受領。</a:t>
            </a:r>
            <a:endParaRPr kumimoji="1" lang="ja-JP" altLang="en-US" sz="1000" dirty="0"/>
          </a:p>
          <a:p>
            <a:pPr>
              <a:spcAft>
                <a:spcPts val="300"/>
              </a:spcAft>
            </a:pPr>
            <a:r>
              <a:rPr kumimoji="1" lang="ja-JP" altLang="en-US" sz="1000" dirty="0">
                <a:solidFill>
                  <a:srgbClr val="595959"/>
                </a:solidFill>
                <a:latin typeface="+mn-ea"/>
                <a:ea typeface="+mn-ea"/>
              </a:rPr>
              <a:t>※大船店は百貨店経由で売上が精算される（家賃の支払先：三越伊勢丹）。契約形態（定期借家・歩合賃料等）は要確認。</a:t>
            </a:r>
            <a:endParaRPr kumimoji="1" lang="ja-JP" altLang="en-US" sz="1000" dirty="0"/>
          </a:p>
        </p:txBody>
      </p:sp>
    </p:spTree>
    <p:extLst>
      <p:ext uri="{BB962C8B-B14F-4D97-AF65-F5344CB8AC3E}">
        <p14:creationId xmlns:p14="http://schemas.microsoft.com/office/powerpoint/2010/main" val="37072750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6CA44-E527-07A7-EABE-FD69A9CC2754}"/>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676FF1C4-EA62-3485-4D28-7C17FD9DDA7D}"/>
              </a:ext>
            </a:extLst>
          </p:cNvPr>
          <p:cNvSpPr>
            <a:spLocks noGrp="1"/>
          </p:cNvSpPr>
          <p:nvPr>
            <p:ph type="ctrTitle"/>
          </p:nvPr>
        </p:nvSpPr>
        <p:spPr>
          <a:xfrm>
            <a:off x="311150" y="180296"/>
            <a:ext cx="7799917" cy="339267"/>
          </a:xfrm>
        </p:spPr>
        <p:txBody>
          <a:bodyPr>
            <a:normAutofit/>
          </a:bodyPr>
          <a:lstStyle/>
          <a:p>
            <a:r>
              <a:rPr lang="ja-JP" altLang="en-US" dirty="0"/>
              <a:t>不動産詳細</a:t>
            </a:r>
          </a:p>
        </p:txBody>
      </p:sp>
      <p:sp>
        <p:nvSpPr>
          <p:cNvPr id="2" name="正方形/長方形 1">
            <a:extLst>
              <a:ext uri="{FF2B5EF4-FFF2-40B4-BE49-F238E27FC236}">
                <a16:creationId xmlns:a16="http://schemas.microsoft.com/office/drawing/2014/main" id="{6E2B06A4-5CE5-00C3-97BF-5F9AFAE677E3}"/>
              </a:ext>
            </a:extLst>
          </p:cNvPr>
          <p:cNvSpPr/>
          <p:nvPr/>
        </p:nvSpPr>
        <p:spPr>
          <a:xfrm>
            <a:off x="311151" y="1517736"/>
            <a:ext cx="147955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所有</a:t>
            </a:r>
          </a:p>
        </p:txBody>
      </p:sp>
      <p:sp>
        <p:nvSpPr>
          <p:cNvPr id="3" name="正方形/長方形 2">
            <a:extLst>
              <a:ext uri="{FF2B5EF4-FFF2-40B4-BE49-F238E27FC236}">
                <a16:creationId xmlns:a16="http://schemas.microsoft.com/office/drawing/2014/main" id="{75ADC88D-D2D4-EEF0-D14C-0426FECA60C3}"/>
              </a:ext>
            </a:extLst>
          </p:cNvPr>
          <p:cNvSpPr/>
          <p:nvPr/>
        </p:nvSpPr>
        <p:spPr>
          <a:xfrm>
            <a:off x="311150" y="4499061"/>
            <a:ext cx="147955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賃借</a:t>
            </a:r>
          </a:p>
        </p:txBody>
      </p:sp>
      <p:sp>
        <p:nvSpPr>
          <p:cNvPr id="4" name="タイトル 1">
            <a:extLst>
              <a:ext uri="{FF2B5EF4-FFF2-40B4-BE49-F238E27FC236}">
                <a16:creationId xmlns:a16="http://schemas.microsoft.com/office/drawing/2014/main" id="{DAA41D5B-A131-C808-ADF3-2DAFD20777F6}"/>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8" name="字幕 13">
            <a:extLst>
              <a:ext uri="{FF2B5EF4-FFF2-40B4-BE49-F238E27FC236}">
                <a16:creationId xmlns:a16="http://schemas.microsoft.com/office/drawing/2014/main" id="{A751CA4D-CB14-CD08-826F-75C234B5BA9A}"/>
              </a:ext>
            </a:extLst>
          </p:cNvPr>
          <p:cNvSpPr>
            <a:spLocks noGrp="1"/>
          </p:cNvSpPr>
          <p:nvPr>
            <p:ph type="subTitle" idx="1"/>
          </p:nvPr>
        </p:nvSpPr>
        <p:spPr>
          <a:xfrm>
            <a:off x="460675" y="830046"/>
            <a:ext cx="9781875" cy="241861"/>
          </a:xfrm>
        </p:spPr>
        <p:txBody>
          <a:bodyPr>
            <a:noAutofit/>
          </a:bodyPr>
          <a:lstStyle/>
          <a:p>
            <a:r>
              <a:rPr lang="ja-JP" altLang="en-US" dirty="0">
                <a:latin typeface="+mj-ea"/>
              </a:rPr>
              <a:t>所有不動産は鎌倉山の本店敷地・建物とブランズタワー大船の専有部分。時価評価は未実施のため簿価で記載しています。賃借は紀尾井町店・大船店ほか。</a:t>
            </a:r>
            <a:endParaRPr lang="en-US" altLang="ja-JP" dirty="0"/>
          </a:p>
        </p:txBody>
      </p:sp>
      <p:graphicFrame>
        <p:nvGraphicFramePr>
          <p:cNvPr id="14" name="Table 13"/>
          <p:cNvGraphicFramePr>
            <a:graphicFrameLocks noGrp="1"/>
          </p:cNvGraphicFramePr>
          <p:nvPr/>
        </p:nvGraphicFramePr>
        <p:xfrm>
          <a:off x="310896" y="1938528"/>
          <a:ext cx="10195560" cy="2386584"/>
        </p:xfrm>
        <a:graphic>
          <a:graphicData uri="http://schemas.openxmlformats.org/drawingml/2006/table">
            <a:tbl>
              <a:tblPr/>
              <a:tblGrid>
                <a:gridCol w="822960"/>
                <a:gridCol w="1280160"/>
                <a:gridCol w="1737360"/>
                <a:gridCol w="502920"/>
                <a:gridCol w="868680"/>
                <a:gridCol w="1371600"/>
                <a:gridCol w="685800"/>
                <a:gridCol w="2926080"/>
              </a:tblGrid>
              <a:tr h="365760">
                <a:tc>
                  <a:txBody>
                    <a:bodyPr wrap="square"/>
                    <a:lstStyle/>
                    <a:p>
                      <a:pPr algn="ctr"/>
                      <a:r>
                        <a:rPr sz="750" b="1" i="0">
                          <a:solidFill>
                            <a:srgbClr val="FFFFFF"/>
                          </a:solidFill>
                          <a:latin typeface="Arial"/>
                          <a:ea typeface="游ゴシック"/>
                        </a:rPr>
                        <a:t>事業所</a:t>
                      </a:r>
                    </a:p>
                  </a:txBody>
                  <a:tcPr marL="45720" marR="45720" marT="13716" marB="13716" anchor="ctr">
                    <a:lnL w="0">
                      <a:noFill/>
                    </a:lnL>
                    <a:lnR w="0">
                      <a:noFill/>
                    </a:lnR>
                    <a:lnT w="0">
                      <a:noFill/>
                    </a:lnT>
                    <a:lnB w="0">
                      <a:noFill/>
                    </a:lnB>
                    <a:solidFill>
                      <a:srgbClr val="0B3041"/>
                    </a:solidFill>
                  </a:tcPr>
                </a:tc>
                <a:tc>
                  <a:txBody>
                    <a:bodyPr wrap="square"/>
                    <a:lstStyle/>
                    <a:p>
                      <a:pPr algn="ctr"/>
                      <a:r>
                        <a:rPr sz="750" b="1" i="0">
                          <a:solidFill>
                            <a:srgbClr val="FFFFFF"/>
                          </a:solidFill>
                          <a:latin typeface="Arial"/>
                          <a:ea typeface="游ゴシック"/>
                        </a:rPr>
                        <a:t>内容</a:t>
                      </a:r>
                    </a:p>
                  </a:txBody>
                  <a:tcPr marL="45720" marR="45720" marT="13716" marB="13716" anchor="ctr">
                    <a:lnL w="0">
                      <a:noFill/>
                    </a:lnL>
                    <a:lnR w="0">
                      <a:noFill/>
                    </a:lnR>
                    <a:lnT w="0">
                      <a:noFill/>
                    </a:lnT>
                    <a:lnB w="0">
                      <a:noFill/>
                    </a:lnB>
                    <a:solidFill>
                      <a:srgbClr val="0B3041"/>
                    </a:solidFill>
                  </a:tcPr>
                </a:tc>
                <a:tc>
                  <a:txBody>
                    <a:bodyPr wrap="square"/>
                    <a:lstStyle/>
                    <a:p>
                      <a:pPr algn="ctr"/>
                      <a:r>
                        <a:rPr sz="750" b="1" i="0">
                          <a:solidFill>
                            <a:srgbClr val="FFFFFF"/>
                          </a:solidFill>
                          <a:latin typeface="Arial"/>
                          <a:ea typeface="游ゴシック"/>
                        </a:rPr>
                        <a:t>所在地</a:t>
                      </a:r>
                    </a:p>
                  </a:txBody>
                  <a:tcPr marL="45720" marR="45720" marT="13716" marB="13716" anchor="ctr">
                    <a:lnL w="0">
                      <a:noFill/>
                    </a:lnL>
                    <a:lnR w="0">
                      <a:noFill/>
                    </a:lnR>
                    <a:lnT w="0">
                      <a:noFill/>
                    </a:lnT>
                    <a:lnB w="0">
                      <a:noFill/>
                    </a:lnB>
                    <a:solidFill>
                      <a:srgbClr val="0B3041"/>
                    </a:solidFill>
                  </a:tcPr>
                </a:tc>
                <a:tc>
                  <a:txBody>
                    <a:bodyPr wrap="square"/>
                    <a:lstStyle/>
                    <a:p>
                      <a:pPr algn="ctr"/>
                      <a:r>
                        <a:rPr sz="750" b="1" i="0">
                          <a:solidFill>
                            <a:srgbClr val="FFFFFF"/>
                          </a:solidFill>
                          <a:latin typeface="Arial"/>
                          <a:ea typeface="游ゴシック"/>
                        </a:rPr>
                        <a:t>面積</a:t>
                      </a:r>
                    </a:p>
                    <a:p>
                      <a:pPr algn="ctr"/>
                      <a:r>
                        <a:rPr sz="750" b="1" i="0">
                          <a:solidFill>
                            <a:srgbClr val="FFFFFF"/>
                          </a:solidFill>
                          <a:latin typeface="Arial"/>
                          <a:ea typeface="游ゴシック"/>
                        </a:rPr>
                        <a:t>(㎡)</a:t>
                      </a:r>
                    </a:p>
                  </a:txBody>
                  <a:tcPr marL="45720" marR="45720" marT="13716" marB="13716" anchor="ctr">
                    <a:lnL w="0">
                      <a:noFill/>
                    </a:lnL>
                    <a:lnR w="0">
                      <a:noFill/>
                    </a:lnR>
                    <a:lnT w="0">
                      <a:noFill/>
                    </a:lnT>
                    <a:lnB w="0">
                      <a:noFill/>
                    </a:lnB>
                    <a:solidFill>
                      <a:srgbClr val="0B3041"/>
                    </a:solidFill>
                  </a:tcPr>
                </a:tc>
                <a:tc>
                  <a:txBody>
                    <a:bodyPr wrap="square"/>
                    <a:lstStyle/>
                    <a:p>
                      <a:pPr algn="ctr"/>
                      <a:r>
                        <a:rPr sz="750" b="1" i="0">
                          <a:solidFill>
                            <a:srgbClr val="FFFFFF"/>
                          </a:solidFill>
                          <a:latin typeface="Arial"/>
                          <a:ea typeface="游ゴシック"/>
                        </a:rPr>
                        <a:t>区分・構造</a:t>
                      </a:r>
                    </a:p>
                  </a:txBody>
                  <a:tcPr marL="45720" marR="45720" marT="13716" marB="13716" anchor="ctr">
                    <a:lnL w="0">
                      <a:noFill/>
                    </a:lnL>
                    <a:lnR w="0">
                      <a:noFill/>
                    </a:lnR>
                    <a:lnT w="0">
                      <a:noFill/>
                    </a:lnT>
                    <a:lnB w="0">
                      <a:noFill/>
                    </a:lnB>
                    <a:solidFill>
                      <a:srgbClr val="0B3041"/>
                    </a:solidFill>
                  </a:tcPr>
                </a:tc>
                <a:tc>
                  <a:txBody>
                    <a:bodyPr wrap="square"/>
                    <a:lstStyle/>
                    <a:p>
                      <a:pPr algn="ctr"/>
                      <a:r>
                        <a:rPr sz="750" b="1" i="0">
                          <a:solidFill>
                            <a:srgbClr val="FFFFFF"/>
                          </a:solidFill>
                          <a:latin typeface="Arial"/>
                          <a:ea typeface="游ゴシック"/>
                        </a:rPr>
                        <a:t>所有（建築）</a:t>
                      </a:r>
                    </a:p>
                    <a:p>
                      <a:pPr algn="ctr"/>
                      <a:r>
                        <a:rPr sz="750" b="1" i="0">
                          <a:solidFill>
                            <a:srgbClr val="FFFFFF"/>
                          </a:solidFill>
                          <a:latin typeface="Arial"/>
                          <a:ea typeface="游ゴシック"/>
                        </a:rPr>
                        <a:t>年月・事由</a:t>
                      </a:r>
                    </a:p>
                  </a:txBody>
                  <a:tcPr marL="45720" marR="45720" marT="13716" marB="13716" anchor="ctr">
                    <a:lnL w="0">
                      <a:noFill/>
                    </a:lnL>
                    <a:lnR w="0">
                      <a:noFill/>
                    </a:lnR>
                    <a:lnT w="0">
                      <a:noFill/>
                    </a:lnT>
                    <a:lnB w="0">
                      <a:noFill/>
                    </a:lnB>
                    <a:solidFill>
                      <a:srgbClr val="0B3041"/>
                    </a:solidFill>
                  </a:tcPr>
                </a:tc>
                <a:tc>
                  <a:txBody>
                    <a:bodyPr wrap="square"/>
                    <a:lstStyle/>
                    <a:p>
                      <a:pPr algn="ctr"/>
                      <a:r>
                        <a:rPr sz="750" b="1" i="0">
                          <a:solidFill>
                            <a:srgbClr val="FFFFFF"/>
                          </a:solidFill>
                          <a:latin typeface="Arial"/>
                          <a:ea typeface="游ゴシック"/>
                        </a:rPr>
                        <a:t>簿価</a:t>
                      </a:r>
                    </a:p>
                    <a:p>
                      <a:pPr algn="ctr"/>
                      <a:r>
                        <a:rPr sz="750" b="1" i="0">
                          <a:solidFill>
                            <a:srgbClr val="FFFFFF"/>
                          </a:solidFill>
                          <a:latin typeface="Arial"/>
                          <a:ea typeface="游ゴシック"/>
                        </a:rPr>
                        <a:t>(千円)</a:t>
                      </a:r>
                    </a:p>
                  </a:txBody>
                  <a:tcPr marL="45720" marR="45720" marT="13716" marB="13716" anchor="ctr">
                    <a:lnL w="0">
                      <a:noFill/>
                    </a:lnL>
                    <a:lnR w="0">
                      <a:noFill/>
                    </a:lnR>
                    <a:lnT w="0">
                      <a:noFill/>
                    </a:lnT>
                    <a:lnB w="0">
                      <a:noFill/>
                    </a:lnB>
                    <a:solidFill>
                      <a:srgbClr val="0B3041"/>
                    </a:solidFill>
                  </a:tcPr>
                </a:tc>
                <a:tc>
                  <a:txBody>
                    <a:bodyPr wrap="square"/>
                    <a:lstStyle/>
                    <a:p>
                      <a:pPr algn="ctr"/>
                      <a:r>
                        <a:rPr sz="750" b="1" i="0">
                          <a:solidFill>
                            <a:srgbClr val="FFFFFF"/>
                          </a:solidFill>
                          <a:latin typeface="Arial"/>
                          <a:ea typeface="游ゴシック"/>
                        </a:rPr>
                        <a:t>備考</a:t>
                      </a:r>
                    </a:p>
                  </a:txBody>
                  <a:tcPr marL="45720" marR="45720" marT="13716" marB="13716" anchor="ctr">
                    <a:lnL w="0">
                      <a:noFill/>
                    </a:lnL>
                    <a:lnR w="0">
                      <a:noFill/>
                    </a:lnR>
                    <a:lnT w="0">
                      <a:noFill/>
                    </a:lnT>
                    <a:lnB w="0">
                      <a:noFill/>
                    </a:lnB>
                    <a:solidFill>
                      <a:srgbClr val="0B3041"/>
                    </a:solidFill>
                  </a:tcPr>
                </a:tc>
              </a:tr>
              <a:tr h="868680">
                <a:tc>
                  <a:txBody>
                    <a:bodyPr wrap="square"/>
                    <a:lstStyle/>
                    <a:p>
                      <a:pPr algn="l"/>
                      <a:r>
                        <a:rPr sz="750" b="0" i="0">
                          <a:solidFill>
                            <a:srgbClr val="000000"/>
                          </a:solidFill>
                          <a:latin typeface="Arial"/>
                          <a:ea typeface="游ゴシック"/>
                        </a:rPr>
                        <a:t>本社・鎌倉山店</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750" b="0" i="0">
                          <a:solidFill>
                            <a:srgbClr val="000000"/>
                          </a:solidFill>
                          <a:latin typeface="Arial"/>
                          <a:ea typeface="游ゴシック"/>
                        </a:rPr>
                        <a:t>土地）店舗敷地ほか</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750" b="0" i="0">
                          <a:solidFill>
                            <a:srgbClr val="000000"/>
                          </a:solidFill>
                          <a:latin typeface="Arial"/>
                          <a:ea typeface="游ゴシック"/>
                        </a:rPr>
                        <a:t>鎌倉市鎌倉山三丁目2番31（地番詳細は要確認）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750" b="0" i="0">
                          <a:solidFill>
                            <a:srgbClr val="000000"/>
                          </a:solidFill>
                          <a:latin typeface="Arial"/>
                          <a:ea typeface="游ゴシック"/>
                        </a:rPr>
                        <a:t>要確認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750" b="0" i="0">
                          <a:solidFill>
                            <a:srgbClr val="000000"/>
                          </a:solidFill>
                          <a:latin typeface="Arial"/>
                          <a:ea typeface="游ゴシック"/>
                        </a:rPr>
                        <a:t>宅地（要確認）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750" b="0" i="0">
                          <a:solidFill>
                            <a:srgbClr val="000000"/>
                          </a:solidFill>
                          <a:latin typeface="Arial"/>
                          <a:ea typeface="游ゴシック"/>
                        </a:rPr>
                        <a:t>平成22年12月頃 取得（建物は平成22年12月21日取得）</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750" b="0" i="0">
                          <a:solidFill>
                            <a:srgbClr val="000000"/>
                          </a:solidFill>
                          <a:latin typeface="Arial"/>
                          <a:ea typeface="游ゴシック"/>
                        </a:rPr>
                        <a:t>345,030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750" b="0" i="0">
                          <a:solidFill>
                            <a:srgbClr val="000000"/>
                          </a:solidFill>
                          <a:latin typeface="Arial"/>
                          <a:ea typeface="游ゴシック"/>
                        </a:rPr>
                        <a:t>簿価評価。登記事項証明書・固定資産税評価証明書・路線価が未受領のため時価評価未実施。うち約87,420千円は「鎌倉山三丁目計画」に係る建設仮勘定からの振替額（内容要確認）</a:t>
                      </a:r>
                    </a:p>
                  </a:txBody>
                  <a:tcPr marL="45720" marR="45720" marT="13716" marB="13716" anchor="ctr">
                    <a:lnL w="0">
                      <a:noFill/>
                    </a:lnL>
                    <a:lnR w="0">
                      <a:noFill/>
                    </a:lnR>
                    <a:lnT w="0">
                      <a:noFill/>
                    </a:lnT>
                    <a:lnB w="6350" cap="flat" cmpd="sng" algn="ctr">
                      <a:solidFill>
                        <a:srgbClr val="B8C0C6"/>
                      </a:solidFill>
                      <a:prstDash val="solid"/>
                    </a:lnB>
                    <a:noFill/>
                  </a:tcPr>
                </a:tc>
              </a:tr>
              <a:tr h="347472">
                <a:tc>
                  <a:txBody>
                    <a:bodyPr wrap="square"/>
                    <a:lstStyle/>
                    <a:p>
                      <a:pPr algn="l"/>
                      <a:r>
                        <a:rPr sz="750" b="0" i="0">
                          <a:solidFill>
                            <a:srgbClr val="000000"/>
                          </a:solidFill>
                          <a:latin typeface="Arial"/>
                          <a:ea typeface="游ゴシック"/>
                        </a:rPr>
                        <a:t>　</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750" b="0" i="0">
                          <a:solidFill>
                            <a:srgbClr val="000000"/>
                          </a:solidFill>
                          <a:latin typeface="Arial"/>
                          <a:ea typeface="游ゴシック"/>
                        </a:rPr>
                        <a:t>建物）店舗（鎌倉店舗）</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750" b="0" i="0">
                          <a:solidFill>
                            <a:srgbClr val="000000"/>
                          </a:solidFill>
                          <a:latin typeface="Arial"/>
                          <a:ea typeface="游ゴシック"/>
                        </a:rPr>
                        <a:t>同上</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750" b="0" i="0">
                          <a:solidFill>
                            <a:srgbClr val="000000"/>
                          </a:solidFill>
                          <a:latin typeface="Arial"/>
                          <a:ea typeface="游ゴシック"/>
                        </a:rPr>
                        <a:t>要確認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750" b="0" i="0">
                          <a:solidFill>
                            <a:srgbClr val="000000"/>
                          </a:solidFill>
                          <a:latin typeface="Arial"/>
                          <a:ea typeface="游ゴシック"/>
                        </a:rPr>
                        <a:t>店舗（構造は要確認）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750" b="0" i="0">
                          <a:solidFill>
                            <a:srgbClr val="000000"/>
                          </a:solidFill>
                          <a:latin typeface="Arial"/>
                          <a:ea typeface="游ゴシック"/>
                        </a:rPr>
                        <a:t>平成22年12月21日取得</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750" b="0" i="0">
                          <a:solidFill>
                            <a:srgbClr val="000000"/>
                          </a:solidFill>
                          <a:latin typeface="Arial"/>
                          <a:ea typeface="游ゴシック"/>
                        </a:rPr>
                        <a:t>92,243</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750" b="0" i="0">
                          <a:solidFill>
                            <a:srgbClr val="000000"/>
                          </a:solidFill>
                          <a:latin typeface="Arial"/>
                          <a:ea typeface="游ゴシック"/>
                        </a:rPr>
                        <a:t>簿価評価（償却不足なし）。固定資産台帳より</a:t>
                      </a:r>
                    </a:p>
                  </a:txBody>
                  <a:tcPr marL="45720" marR="45720" marT="13716" marB="13716" anchor="ctr">
                    <a:lnL w="0">
                      <a:noFill/>
                    </a:lnL>
                    <a:lnR w="0">
                      <a:noFill/>
                    </a:lnR>
                    <a:lnT w="0">
                      <a:noFill/>
                    </a:lnT>
                    <a:lnB w="6350" cap="flat" cmpd="sng" algn="ctr">
                      <a:solidFill>
                        <a:srgbClr val="B8C0C6"/>
                      </a:solidFill>
                      <a:prstDash val="solid"/>
                    </a:lnB>
                    <a:noFill/>
                  </a:tcPr>
                </a:tc>
              </a:tr>
              <a:tr h="347472">
                <a:tc>
                  <a:txBody>
                    <a:bodyPr wrap="square"/>
                    <a:lstStyle/>
                    <a:p>
                      <a:pPr algn="l"/>
                      <a:r>
                        <a:rPr sz="750" b="0" i="0">
                          <a:solidFill>
                            <a:srgbClr val="000000"/>
                          </a:solidFill>
                          <a:latin typeface="Arial"/>
                          <a:ea typeface="游ゴシック"/>
                        </a:rPr>
                        <a:t>　</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750" b="0" i="0">
                          <a:solidFill>
                            <a:srgbClr val="000000"/>
                          </a:solidFill>
                          <a:latin typeface="Arial"/>
                          <a:ea typeface="游ゴシック"/>
                        </a:rPr>
                        <a:t>建物）螺旋階段ほか</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750" b="0" i="0">
                          <a:solidFill>
                            <a:srgbClr val="000000"/>
                          </a:solidFill>
                          <a:latin typeface="Arial"/>
                          <a:ea typeface="游ゴシック"/>
                        </a:rPr>
                        <a:t>同上</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750" b="0" i="0">
                          <a:solidFill>
                            <a:srgbClr val="000000"/>
                          </a:solidFill>
                          <a:latin typeface="Arial"/>
                          <a:ea typeface="游ゴシック"/>
                        </a:rPr>
                        <a:t>要確認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7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750" b="0" i="0">
                          <a:solidFill>
                            <a:srgbClr val="000000"/>
                          </a:solidFill>
                          <a:latin typeface="Arial"/>
                          <a:ea typeface="游ゴシック"/>
                        </a:rPr>
                        <a:t>平成30年1月取得</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750" b="0" i="0">
                          <a:solidFill>
                            <a:srgbClr val="000000"/>
                          </a:solidFill>
                          <a:latin typeface="Arial"/>
                          <a:ea typeface="游ゴシック"/>
                        </a:rPr>
                        <a:t>909</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750" b="0" i="0">
                          <a:solidFill>
                            <a:srgbClr val="000000"/>
                          </a:solidFill>
                          <a:latin typeface="Arial"/>
                          <a:ea typeface="游ゴシック"/>
                        </a:rPr>
                        <a:t>簿価評価。固定資産台帳より</a:t>
                      </a:r>
                    </a:p>
                  </a:txBody>
                  <a:tcPr marL="45720" marR="45720" marT="13716" marB="13716" anchor="ctr">
                    <a:lnL w="0">
                      <a:noFill/>
                    </a:lnL>
                    <a:lnR w="0">
                      <a:noFill/>
                    </a:lnR>
                    <a:lnT w="0">
                      <a:noFill/>
                    </a:lnT>
                    <a:lnB w="6350" cap="flat" cmpd="sng" algn="ctr">
                      <a:solidFill>
                        <a:srgbClr val="B8C0C6"/>
                      </a:solidFill>
                      <a:prstDash val="solid"/>
                    </a:lnB>
                    <a:noFill/>
                  </a:tcPr>
                </a:tc>
              </a:tr>
              <a:tr h="457200">
                <a:tc>
                  <a:txBody>
                    <a:bodyPr wrap="square"/>
                    <a:lstStyle/>
                    <a:p>
                      <a:pPr algn="l"/>
                      <a:r>
                        <a:rPr sz="750" b="0" i="0">
                          <a:solidFill>
                            <a:srgbClr val="000000"/>
                          </a:solidFill>
                          <a:latin typeface="Arial"/>
                          <a:ea typeface="游ゴシック"/>
                        </a:rPr>
                        <a:t>大船</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750" b="0" i="0">
                          <a:solidFill>
                            <a:srgbClr val="000000"/>
                          </a:solidFill>
                          <a:latin typeface="Arial"/>
                          <a:ea typeface="游ゴシック"/>
                        </a:rPr>
                        <a:t>建物）ブランズタワー大船（専有部分）</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750" b="0" i="0">
                          <a:solidFill>
                            <a:srgbClr val="000000"/>
                          </a:solidFill>
                          <a:latin typeface="Arial"/>
                          <a:ea typeface="游ゴシック"/>
                        </a:rPr>
                        <a:t>神奈川県鎌倉市大船（住戸・地番は要確認）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750" b="0" i="0">
                          <a:solidFill>
                            <a:srgbClr val="000000"/>
                          </a:solidFill>
                          <a:latin typeface="Arial"/>
                          <a:ea typeface="游ゴシック"/>
                        </a:rPr>
                        <a:t>要確認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750" b="0" i="0">
                          <a:solidFill>
                            <a:srgbClr val="000000"/>
                          </a:solidFill>
                          <a:latin typeface="Arial"/>
                          <a:ea typeface="游ゴシック"/>
                        </a:rPr>
                        <a:t>要確認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750" b="0" i="0">
                          <a:solidFill>
                            <a:srgbClr val="000000"/>
                          </a:solidFill>
                          <a:latin typeface="Arial"/>
                          <a:ea typeface="游ゴシック"/>
                        </a:rPr>
                        <a:t>令和3年3月22日取得</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750" b="0" i="0">
                          <a:solidFill>
                            <a:srgbClr val="000000"/>
                          </a:solidFill>
                          <a:latin typeface="Arial"/>
                          <a:ea typeface="游ゴシック"/>
                        </a:rPr>
                        <a:t>25,569</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750" b="0" i="0">
                          <a:solidFill>
                            <a:srgbClr val="000000"/>
                          </a:solidFill>
                          <a:latin typeface="Arial"/>
                          <a:ea typeface="游ゴシック"/>
                        </a:rPr>
                        <a:t>簿価評価。大船店との関係（店舗利用か投資用か）は要確認</a:t>
                      </a:r>
                    </a:p>
                  </a:txBody>
                  <a:tcPr marL="45720" marR="45720" marT="13716" marB="13716" anchor="ctr">
                    <a:lnL w="0">
                      <a:noFill/>
                    </a:lnL>
                    <a:lnR w="0">
                      <a:noFill/>
                    </a:lnR>
                    <a:lnT w="0">
                      <a:noFill/>
                    </a:lnT>
                    <a:lnB w="6350" cap="flat" cmpd="sng" algn="ctr">
                      <a:solidFill>
                        <a:srgbClr val="B8C0C6"/>
                      </a:solidFill>
                      <a:prstDash val="solid"/>
                    </a:lnB>
                    <a:noFill/>
                  </a:tcPr>
                </a:tc>
              </a:tr>
            </a:tbl>
          </a:graphicData>
        </a:graphic>
      </p:graphicFrame>
      <p:graphicFrame>
        <p:nvGraphicFramePr>
          <p:cNvPr id="15" name="Table 14"/>
          <p:cNvGraphicFramePr>
            <a:graphicFrameLocks noGrp="1"/>
          </p:cNvGraphicFramePr>
          <p:nvPr/>
        </p:nvGraphicFramePr>
        <p:xfrm>
          <a:off x="310896" y="5074920"/>
          <a:ext cx="9555480" cy="1719072"/>
        </p:xfrm>
        <a:graphic>
          <a:graphicData uri="http://schemas.openxmlformats.org/drawingml/2006/table">
            <a:tbl>
              <a:tblPr/>
              <a:tblGrid>
                <a:gridCol w="731520"/>
                <a:gridCol w="1005840"/>
                <a:gridCol w="2468880"/>
                <a:gridCol w="640080"/>
                <a:gridCol w="1463040"/>
                <a:gridCol w="1828800"/>
                <a:gridCol w="777240"/>
                <a:gridCol w="640080"/>
              </a:tblGrid>
              <a:tr h="347472">
                <a:tc>
                  <a:txBody>
                    <a:bodyPr wrap="square"/>
                    <a:lstStyle/>
                    <a:p>
                      <a:pPr algn="ctr"/>
                      <a:r>
                        <a:rPr sz="750" b="1" i="0">
                          <a:solidFill>
                            <a:srgbClr val="FFFFFF"/>
                          </a:solidFill>
                          <a:latin typeface="Arial"/>
                          <a:ea typeface="游ゴシック"/>
                        </a:rPr>
                        <a:t>区分</a:t>
                      </a:r>
                    </a:p>
                  </a:txBody>
                  <a:tcPr marL="45720" marR="45720" marT="13716" marB="13716" anchor="ctr">
                    <a:lnL w="0">
                      <a:noFill/>
                    </a:lnL>
                    <a:lnR w="0">
                      <a:noFill/>
                    </a:lnR>
                    <a:lnT w="0">
                      <a:noFill/>
                    </a:lnT>
                    <a:lnB w="0">
                      <a:noFill/>
                    </a:lnB>
                    <a:solidFill>
                      <a:srgbClr val="0B3041"/>
                    </a:solidFill>
                  </a:tcPr>
                </a:tc>
                <a:tc>
                  <a:txBody>
                    <a:bodyPr wrap="square"/>
                    <a:lstStyle/>
                    <a:p>
                      <a:pPr algn="ctr"/>
                      <a:r>
                        <a:rPr sz="750" b="1" i="0">
                          <a:solidFill>
                            <a:srgbClr val="FFFFFF"/>
                          </a:solidFill>
                          <a:latin typeface="Arial"/>
                          <a:ea typeface="游ゴシック"/>
                        </a:rPr>
                        <a:t>内容</a:t>
                      </a:r>
                    </a:p>
                  </a:txBody>
                  <a:tcPr marL="45720" marR="45720" marT="13716" marB="13716" anchor="ctr">
                    <a:lnL w="0">
                      <a:noFill/>
                    </a:lnL>
                    <a:lnR w="0">
                      <a:noFill/>
                    </a:lnR>
                    <a:lnT w="0">
                      <a:noFill/>
                    </a:lnT>
                    <a:lnB w="0">
                      <a:noFill/>
                    </a:lnB>
                    <a:solidFill>
                      <a:srgbClr val="0B3041"/>
                    </a:solidFill>
                  </a:tcPr>
                </a:tc>
                <a:tc>
                  <a:txBody>
                    <a:bodyPr wrap="square"/>
                    <a:lstStyle/>
                    <a:p>
                      <a:pPr algn="ctr"/>
                      <a:r>
                        <a:rPr sz="750" b="1" i="0">
                          <a:solidFill>
                            <a:srgbClr val="FFFFFF"/>
                          </a:solidFill>
                          <a:latin typeface="Arial"/>
                          <a:ea typeface="游ゴシック"/>
                        </a:rPr>
                        <a:t>所在地</a:t>
                      </a:r>
                    </a:p>
                  </a:txBody>
                  <a:tcPr marL="45720" marR="45720" marT="13716" marB="13716" anchor="ctr">
                    <a:lnL w="0">
                      <a:noFill/>
                    </a:lnL>
                    <a:lnR w="0">
                      <a:noFill/>
                    </a:lnR>
                    <a:lnT w="0">
                      <a:noFill/>
                    </a:lnT>
                    <a:lnB w="0">
                      <a:noFill/>
                    </a:lnB>
                    <a:solidFill>
                      <a:srgbClr val="0B3041"/>
                    </a:solidFill>
                  </a:tcPr>
                </a:tc>
                <a:tc>
                  <a:txBody>
                    <a:bodyPr wrap="square"/>
                    <a:lstStyle/>
                    <a:p>
                      <a:pPr algn="ctr"/>
                      <a:r>
                        <a:rPr sz="750" b="1" i="0">
                          <a:solidFill>
                            <a:srgbClr val="FFFFFF"/>
                          </a:solidFill>
                          <a:latin typeface="Arial"/>
                          <a:ea typeface="游ゴシック"/>
                        </a:rPr>
                        <a:t>面積</a:t>
                      </a:r>
                    </a:p>
                  </a:txBody>
                  <a:tcPr marL="45720" marR="45720" marT="13716" marB="13716" anchor="ctr">
                    <a:lnL w="0">
                      <a:noFill/>
                    </a:lnL>
                    <a:lnR w="0">
                      <a:noFill/>
                    </a:lnR>
                    <a:lnT w="0">
                      <a:noFill/>
                    </a:lnT>
                    <a:lnB w="0">
                      <a:noFill/>
                    </a:lnB>
                    <a:solidFill>
                      <a:srgbClr val="0B3041"/>
                    </a:solidFill>
                  </a:tcPr>
                </a:tc>
                <a:tc>
                  <a:txBody>
                    <a:bodyPr wrap="square"/>
                    <a:lstStyle/>
                    <a:p>
                      <a:pPr algn="ctr"/>
                      <a:r>
                        <a:rPr sz="750" b="1" i="0">
                          <a:solidFill>
                            <a:srgbClr val="FFFFFF"/>
                          </a:solidFill>
                          <a:latin typeface="Arial"/>
                          <a:ea typeface="游ゴシック"/>
                        </a:rPr>
                        <a:t>契約内容</a:t>
                      </a:r>
                    </a:p>
                  </a:txBody>
                  <a:tcPr marL="45720" marR="45720" marT="13716" marB="13716" anchor="ctr">
                    <a:lnL w="0">
                      <a:noFill/>
                    </a:lnL>
                    <a:lnR w="0">
                      <a:noFill/>
                    </a:lnR>
                    <a:lnT w="0">
                      <a:noFill/>
                    </a:lnT>
                    <a:lnB w="0">
                      <a:noFill/>
                    </a:lnB>
                    <a:solidFill>
                      <a:srgbClr val="0B3041"/>
                    </a:solidFill>
                  </a:tcPr>
                </a:tc>
                <a:tc>
                  <a:txBody>
                    <a:bodyPr wrap="square"/>
                    <a:lstStyle/>
                    <a:p>
                      <a:pPr algn="ctr"/>
                      <a:r>
                        <a:rPr sz="750" b="1" i="0">
                          <a:solidFill>
                            <a:srgbClr val="FFFFFF"/>
                          </a:solidFill>
                          <a:latin typeface="Arial"/>
                          <a:ea typeface="游ゴシック"/>
                        </a:rPr>
                        <a:t>貸主</a:t>
                      </a:r>
                    </a:p>
                  </a:txBody>
                  <a:tcPr marL="45720" marR="45720" marT="13716" marB="13716" anchor="ctr">
                    <a:lnL w="0">
                      <a:noFill/>
                    </a:lnL>
                    <a:lnR w="0">
                      <a:noFill/>
                    </a:lnR>
                    <a:lnT w="0">
                      <a:noFill/>
                    </a:lnT>
                    <a:lnB w="0">
                      <a:noFill/>
                    </a:lnB>
                    <a:solidFill>
                      <a:srgbClr val="0B3041"/>
                    </a:solidFill>
                  </a:tcPr>
                </a:tc>
                <a:tc>
                  <a:txBody>
                    <a:bodyPr wrap="square"/>
                    <a:lstStyle/>
                    <a:p>
                      <a:pPr algn="ctr"/>
                      <a:r>
                        <a:rPr sz="750" b="1" i="0">
                          <a:solidFill>
                            <a:srgbClr val="FFFFFF"/>
                          </a:solidFill>
                          <a:latin typeface="Arial"/>
                          <a:ea typeface="游ゴシック"/>
                        </a:rPr>
                        <a:t>月間賃料</a:t>
                      </a:r>
                    </a:p>
                    <a:p>
                      <a:pPr algn="ctr"/>
                      <a:r>
                        <a:rPr sz="750" b="1" i="0">
                          <a:solidFill>
                            <a:srgbClr val="FFFFFF"/>
                          </a:solidFill>
                          <a:latin typeface="Arial"/>
                          <a:ea typeface="游ゴシック"/>
                        </a:rPr>
                        <a:t>(千円)</a:t>
                      </a:r>
                    </a:p>
                  </a:txBody>
                  <a:tcPr marL="45720" marR="45720" marT="13716" marB="13716" anchor="ctr">
                    <a:lnL w="0">
                      <a:noFill/>
                    </a:lnL>
                    <a:lnR w="0">
                      <a:noFill/>
                    </a:lnR>
                    <a:lnT w="0">
                      <a:noFill/>
                    </a:lnT>
                    <a:lnB w="0">
                      <a:noFill/>
                    </a:lnB>
                    <a:solidFill>
                      <a:srgbClr val="0B3041"/>
                    </a:solidFill>
                  </a:tcPr>
                </a:tc>
                <a:tc>
                  <a:txBody>
                    <a:bodyPr wrap="square"/>
                    <a:lstStyle/>
                    <a:p>
                      <a:pPr algn="ctr"/>
                      <a:r>
                        <a:rPr sz="750" b="1" i="0">
                          <a:solidFill>
                            <a:srgbClr val="FFFFFF"/>
                          </a:solidFill>
                          <a:latin typeface="Arial"/>
                          <a:ea typeface="游ゴシック"/>
                        </a:rPr>
                        <a:t>敷金</a:t>
                      </a:r>
                    </a:p>
                    <a:p>
                      <a:pPr algn="ctr"/>
                      <a:r>
                        <a:rPr sz="750" b="1" i="0">
                          <a:solidFill>
                            <a:srgbClr val="FFFFFF"/>
                          </a:solidFill>
                          <a:latin typeface="Arial"/>
                          <a:ea typeface="游ゴシック"/>
                        </a:rPr>
                        <a:t>(千円)</a:t>
                      </a:r>
                    </a:p>
                  </a:txBody>
                  <a:tcPr marL="45720" marR="45720" marT="13716" marB="13716" anchor="ctr">
                    <a:lnL w="0">
                      <a:noFill/>
                    </a:lnL>
                    <a:lnR w="0">
                      <a:noFill/>
                    </a:lnR>
                    <a:lnT w="0">
                      <a:noFill/>
                    </a:lnT>
                    <a:lnB w="0">
                      <a:noFill/>
                    </a:lnB>
                    <a:solidFill>
                      <a:srgbClr val="0B3041"/>
                    </a:solidFill>
                  </a:tcPr>
                </a:tc>
              </a:tr>
              <a:tr h="274320">
                <a:tc>
                  <a:txBody>
                    <a:bodyPr wrap="square"/>
                    <a:lstStyle/>
                    <a:p>
                      <a:pPr algn="l"/>
                      <a:r>
                        <a:rPr sz="750" b="0" i="0">
                          <a:solidFill>
                            <a:srgbClr val="000000"/>
                          </a:solidFill>
                          <a:latin typeface="Arial"/>
                          <a:ea typeface="游ゴシック"/>
                        </a:rPr>
                        <a:t>紀尾井町店</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750" b="0" i="0">
                          <a:solidFill>
                            <a:srgbClr val="000000"/>
                          </a:solidFill>
                          <a:latin typeface="Arial"/>
                          <a:ea typeface="游ゴシック"/>
                        </a:rPr>
                        <a:t>建物）店舗</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750" b="0" i="0">
                          <a:solidFill>
                            <a:srgbClr val="000000"/>
                          </a:solidFill>
                          <a:latin typeface="Arial"/>
                          <a:ea typeface="游ゴシック"/>
                        </a:rPr>
                        <a:t>東京都千代田区紀尾井町（番地は要確認）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750" b="0" i="0">
                          <a:solidFill>
                            <a:srgbClr val="000000"/>
                          </a:solidFill>
                          <a:latin typeface="Arial"/>
                          <a:ea typeface="游ゴシック"/>
                        </a:rPr>
                        <a:t>要確認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750" b="0" i="0">
                          <a:solidFill>
                            <a:srgbClr val="000000"/>
                          </a:solidFill>
                          <a:latin typeface="Arial"/>
                          <a:ea typeface="游ゴシック"/>
                        </a:rPr>
                        <a:t>賃貸借契約書未受領</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750" b="0" i="0">
                          <a:solidFill>
                            <a:srgbClr val="000000"/>
                          </a:solidFill>
                          <a:latin typeface="Arial"/>
                          <a:ea typeface="游ゴシック"/>
                        </a:rPr>
                        <a:t>要確認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750" b="0" i="0">
                          <a:solidFill>
                            <a:srgbClr val="000000"/>
                          </a:solidFill>
                          <a:latin typeface="Arial"/>
                          <a:ea typeface="游ゴシック"/>
                        </a:rPr>
                        <a:t>981</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750" b="0" i="0">
                          <a:solidFill>
                            <a:srgbClr val="000000"/>
                          </a:solidFill>
                          <a:latin typeface="Arial"/>
                          <a:ea typeface="游ゴシック"/>
                        </a:rPr>
                        <a:t>要確認</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l"/>
                      <a:r>
                        <a:rPr sz="750" b="0" i="0">
                          <a:solidFill>
                            <a:srgbClr val="000000"/>
                          </a:solidFill>
                          <a:latin typeface="Arial"/>
                          <a:ea typeface="游ゴシック"/>
                        </a:rPr>
                        <a:t>大船店</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750" b="0" i="0">
                          <a:solidFill>
                            <a:srgbClr val="000000"/>
                          </a:solidFill>
                          <a:latin typeface="Arial"/>
                          <a:ea typeface="游ゴシック"/>
                        </a:rPr>
                        <a:t>建物）店舗</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750" b="0" i="0">
                          <a:solidFill>
                            <a:srgbClr val="000000"/>
                          </a:solidFill>
                          <a:latin typeface="Arial"/>
                          <a:ea typeface="游ゴシック"/>
                        </a:rPr>
                        <a:t>神奈川県鎌倉市大船（番地は要確認）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750" b="0" i="0">
                          <a:solidFill>
                            <a:srgbClr val="000000"/>
                          </a:solidFill>
                          <a:latin typeface="Arial"/>
                          <a:ea typeface="游ゴシック"/>
                        </a:rPr>
                        <a:t>要確認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750" b="0" i="0">
                          <a:solidFill>
                            <a:srgbClr val="000000"/>
                          </a:solidFill>
                          <a:latin typeface="Arial"/>
                          <a:ea typeface="游ゴシック"/>
                        </a:rPr>
                        <a:t>賃貸借契約書未受領</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750" b="0" i="0">
                          <a:solidFill>
                            <a:srgbClr val="000000"/>
                          </a:solidFill>
                          <a:latin typeface="Arial"/>
                          <a:ea typeface="游ゴシック"/>
                        </a:rPr>
                        <a:t>三越伊勢丹（支払先）</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750" b="0" i="0">
                          <a:solidFill>
                            <a:srgbClr val="000000"/>
                          </a:solidFill>
                          <a:latin typeface="Arial"/>
                          <a:ea typeface="游ゴシック"/>
                        </a:rPr>
                        <a:t>615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750" b="0" i="0">
                          <a:solidFill>
                            <a:srgbClr val="000000"/>
                          </a:solidFill>
                          <a:latin typeface="Arial"/>
                          <a:ea typeface="游ゴシック"/>
                        </a:rPr>
                        <a:t>要確認</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l"/>
                      <a:r>
                        <a:rPr sz="750" b="0" i="0">
                          <a:solidFill>
                            <a:srgbClr val="000000"/>
                          </a:solidFill>
                          <a:latin typeface="Arial"/>
                          <a:ea typeface="游ゴシック"/>
                        </a:rPr>
                        <a:t>社宅等</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750" b="0" i="0">
                          <a:solidFill>
                            <a:srgbClr val="000000"/>
                          </a:solidFill>
                          <a:latin typeface="Arial"/>
                          <a:ea typeface="游ゴシック"/>
                        </a:rPr>
                        <a:t>建物）住居</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750" b="0" i="0">
                          <a:solidFill>
                            <a:srgbClr val="000000"/>
                          </a:solidFill>
                          <a:latin typeface="Arial"/>
                          <a:ea typeface="游ゴシック"/>
                        </a:rPr>
                        <a:t>第15宮庭マンション（所在地は要確認）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750" b="0" i="0">
                          <a:solidFill>
                            <a:srgbClr val="000000"/>
                          </a:solidFill>
                          <a:latin typeface="Arial"/>
                          <a:ea typeface="游ゴシック"/>
                        </a:rPr>
                        <a:t>要確認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750" b="0" i="0">
                          <a:solidFill>
                            <a:srgbClr val="000000"/>
                          </a:solidFill>
                          <a:latin typeface="Arial"/>
                          <a:ea typeface="游ゴシック"/>
                        </a:rPr>
                        <a:t>要確認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750" b="0" i="0">
                          <a:solidFill>
                            <a:srgbClr val="000000"/>
                          </a:solidFill>
                          <a:latin typeface="Arial"/>
                          <a:ea typeface="游ゴシック"/>
                        </a:rPr>
                        <a:t>株式会社トシ建設</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750" b="0" i="0">
                          <a:solidFill>
                            <a:srgbClr val="000000"/>
                          </a:solidFill>
                          <a:latin typeface="Arial"/>
                          <a:ea typeface="游ゴシック"/>
                        </a:rPr>
                        <a:t>130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750" b="0" i="0">
                          <a:solidFill>
                            <a:srgbClr val="000000"/>
                          </a:solidFill>
                          <a:latin typeface="Arial"/>
                          <a:ea typeface="游ゴシック"/>
                        </a:rPr>
                        <a:t>要確認</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l"/>
                      <a:r>
                        <a:rPr sz="750" b="0" i="0">
                          <a:solidFill>
                            <a:srgbClr val="000000"/>
                          </a:solidFill>
                          <a:latin typeface="Arial"/>
                          <a:ea typeface="游ゴシック"/>
                        </a:rPr>
                        <a:t>事務所</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750" b="0" i="0">
                          <a:solidFill>
                            <a:srgbClr val="000000"/>
                          </a:solidFill>
                          <a:latin typeface="Arial"/>
                          <a:ea typeface="游ゴシック"/>
                        </a:rPr>
                        <a:t>建物）事務所</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750" b="0" i="0">
                          <a:solidFill>
                            <a:srgbClr val="000000"/>
                          </a:solidFill>
                          <a:latin typeface="Arial"/>
                          <a:ea typeface="游ゴシック"/>
                        </a:rPr>
                        <a:t>東京都（所在地は要確認）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750" b="0" i="0">
                          <a:solidFill>
                            <a:srgbClr val="000000"/>
                          </a:solidFill>
                          <a:latin typeface="Arial"/>
                          <a:ea typeface="游ゴシック"/>
                        </a:rPr>
                        <a:t>要確認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750" b="0" i="0">
                          <a:solidFill>
                            <a:srgbClr val="000000"/>
                          </a:solidFill>
                          <a:latin typeface="Arial"/>
                          <a:ea typeface="游ゴシック"/>
                        </a:rPr>
                        <a:t>要確認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750" b="0" i="0">
                          <a:solidFill>
                            <a:srgbClr val="000000"/>
                          </a:solidFill>
                          <a:latin typeface="Arial"/>
                          <a:ea typeface="游ゴシック"/>
                        </a:rPr>
                        <a:t>シーブス</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750" b="0" i="0">
                          <a:solidFill>
                            <a:srgbClr val="000000"/>
                          </a:solidFill>
                          <a:latin typeface="Arial"/>
                          <a:ea typeface="游ゴシック"/>
                        </a:rPr>
                        <a:t>53</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750" b="0" i="0">
                          <a:solidFill>
                            <a:srgbClr val="000000"/>
                          </a:solidFill>
                          <a:latin typeface="Arial"/>
                          <a:ea typeface="游ゴシック"/>
                        </a:rPr>
                        <a:t>要確認</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l"/>
                      <a:r>
                        <a:rPr sz="750" b="0" i="0">
                          <a:solidFill>
                            <a:srgbClr val="000000"/>
                          </a:solidFill>
                          <a:latin typeface="Arial"/>
                          <a:ea typeface="游ゴシック"/>
                        </a:rPr>
                        <a:t>駐車場</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750" b="0" i="0">
                          <a:solidFill>
                            <a:srgbClr val="000000"/>
                          </a:solidFill>
                          <a:latin typeface="Arial"/>
                          <a:ea typeface="游ゴシック"/>
                        </a:rPr>
                        <a:t>土地）駐車場</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750" b="0" i="0">
                          <a:solidFill>
                            <a:srgbClr val="000000"/>
                          </a:solidFill>
                          <a:latin typeface="Arial"/>
                          <a:ea typeface="游ゴシック"/>
                        </a:rPr>
                        <a:t>中瀬（所在地は要確認）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750" b="0" i="0">
                          <a:solidFill>
                            <a:srgbClr val="000000"/>
                          </a:solidFill>
                          <a:latin typeface="Arial"/>
                          <a:ea typeface="游ゴシック"/>
                        </a:rPr>
                        <a:t>要確認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750" b="0" i="0">
                          <a:solidFill>
                            <a:srgbClr val="000000"/>
                          </a:solidFill>
                          <a:latin typeface="Arial"/>
                          <a:ea typeface="游ゴシック"/>
                        </a:rPr>
                        <a:t>要確認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750" b="0" i="0">
                          <a:solidFill>
                            <a:srgbClr val="000000"/>
                          </a:solidFill>
                          <a:latin typeface="Arial"/>
                          <a:ea typeface="游ゴシック"/>
                        </a:rPr>
                        <a:t>有限会社野村不動産（中瀬）</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750" b="0" i="0">
                          <a:solidFill>
                            <a:srgbClr val="000000"/>
                          </a:solidFill>
                          <a:latin typeface="Arial"/>
                          <a:ea typeface="游ゴシック"/>
                        </a:rPr>
                        <a:t>28</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750" b="0" i="0">
                          <a:solidFill>
                            <a:srgbClr val="000000"/>
                          </a:solidFill>
                          <a:latin typeface="Arial"/>
                          <a:ea typeface="游ゴシック"/>
                        </a:rPr>
                        <a:t>要確認</a:t>
                      </a:r>
                    </a:p>
                  </a:txBody>
                  <a:tcPr marL="45720" marR="45720" marT="13716" marB="13716" anchor="ctr">
                    <a:lnL w="0">
                      <a:noFill/>
                    </a:lnL>
                    <a:lnR w="0">
                      <a:noFill/>
                    </a:lnR>
                    <a:lnT w="0">
                      <a:noFill/>
                    </a:lnT>
                    <a:lnB w="6350" cap="flat" cmpd="sng" algn="ctr">
                      <a:solidFill>
                        <a:srgbClr val="B8C0C6"/>
                      </a:solidFill>
                      <a:prstDash val="solid"/>
                    </a:lnB>
                    <a:noFill/>
                  </a:tcPr>
                </a:tc>
              </a:tr>
            </a:tbl>
          </a:graphicData>
        </a:graphic>
      </p:graphicFrame>
    </p:spTree>
    <p:extLst>
      <p:ext uri="{BB962C8B-B14F-4D97-AF65-F5344CB8AC3E}">
        <p14:creationId xmlns:p14="http://schemas.microsoft.com/office/powerpoint/2010/main" val="20041296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83CB5-D66B-9D1A-A660-C02FFA666B7D}"/>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B1EDBB24-67BB-E96E-B74B-D3EB5F75EDA4}"/>
              </a:ext>
            </a:extLst>
          </p:cNvPr>
          <p:cNvSpPr>
            <a:spLocks noGrp="1"/>
          </p:cNvSpPr>
          <p:nvPr>
            <p:ph type="ctrTitle"/>
          </p:nvPr>
        </p:nvSpPr>
        <p:spPr>
          <a:xfrm>
            <a:off x="311150" y="180296"/>
            <a:ext cx="7799917" cy="339267"/>
          </a:xfrm>
        </p:spPr>
        <p:txBody>
          <a:bodyPr>
            <a:normAutofit/>
          </a:bodyPr>
          <a:lstStyle/>
          <a:p>
            <a:r>
              <a:rPr lang="ja-JP" altLang="en-US" dirty="0"/>
              <a:t>保有設備一覧</a:t>
            </a:r>
          </a:p>
        </p:txBody>
      </p:sp>
      <p:sp>
        <p:nvSpPr>
          <p:cNvPr id="4" name="タイトル 1">
            <a:extLst>
              <a:ext uri="{FF2B5EF4-FFF2-40B4-BE49-F238E27FC236}">
                <a16:creationId xmlns:a16="http://schemas.microsoft.com/office/drawing/2014/main" id="{9A038C7C-FDC6-3DA9-FB86-371BEF2D480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7" name="字幕 13">
            <a:extLst>
              <a:ext uri="{FF2B5EF4-FFF2-40B4-BE49-F238E27FC236}">
                <a16:creationId xmlns:a16="http://schemas.microsoft.com/office/drawing/2014/main" id="{AF62B1A2-0C69-2A17-FF69-1256D98EBEC7}"/>
              </a:ext>
            </a:extLst>
          </p:cNvPr>
          <p:cNvSpPr>
            <a:spLocks noGrp="1"/>
          </p:cNvSpPr>
          <p:nvPr>
            <p:ph type="subTitle" idx="1"/>
          </p:nvPr>
        </p:nvSpPr>
        <p:spPr>
          <a:xfrm>
            <a:off x="460675" y="830046"/>
            <a:ext cx="9781875" cy="241861"/>
          </a:xfrm>
        </p:spPr>
        <p:txBody>
          <a:bodyPr>
            <a:noAutofit/>
          </a:bodyPr>
          <a:lstStyle/>
          <a:p>
            <a:r>
              <a:rPr lang="ja-JP" altLang="en-US" dirty="0">
                <a:latin typeface="+mj-ea"/>
              </a:rPr>
              <a:t>主な資産は店舗建物・内装設備。令和8年3月期末の有形固定資産簿価は490百万円（土地を含む）で、うち土地が345百万円を占めます。</a:t>
            </a:r>
            <a:endParaRPr lang="en-US" altLang="ja-JP" dirty="0"/>
          </a:p>
        </p:txBody>
      </p:sp>
      <p:graphicFrame>
        <p:nvGraphicFramePr>
          <p:cNvPr id="14" name="Table 13"/>
          <p:cNvGraphicFramePr>
            <a:graphicFrameLocks noGrp="1"/>
          </p:cNvGraphicFramePr>
          <p:nvPr/>
        </p:nvGraphicFramePr>
        <p:xfrm>
          <a:off x="310896" y="1417320"/>
          <a:ext cx="9829800" cy="4937760"/>
        </p:xfrm>
        <a:graphic>
          <a:graphicData uri="http://schemas.openxmlformats.org/drawingml/2006/table">
            <a:tbl>
              <a:tblPr/>
              <a:tblGrid>
                <a:gridCol w="365760"/>
                <a:gridCol w="1188720"/>
                <a:gridCol w="3108960"/>
                <a:gridCol w="685800"/>
                <a:gridCol w="548640"/>
                <a:gridCol w="548640"/>
                <a:gridCol w="731520"/>
                <a:gridCol w="1280160"/>
                <a:gridCol w="1371600"/>
              </a:tblGrid>
              <a:tr h="274320">
                <a:tc>
                  <a:txBody>
                    <a:bodyPr wrap="square"/>
                    <a:lstStyle/>
                    <a:p>
                      <a:pPr algn="ctr"/>
                      <a:r>
                        <a:rPr sz="850" b="1" i="0">
                          <a:solidFill>
                            <a:srgbClr val="FFFFFF"/>
                          </a:solidFill>
                          <a:latin typeface="Arial"/>
                          <a:ea typeface="游ゴシック"/>
                        </a:rPr>
                        <a:t>No</a:t>
                      </a:r>
                    </a:p>
                  </a:txBody>
                  <a:tcPr marL="45720" marR="45720" marT="13716" marB="13716" anchor="ctr">
                    <a:lnL w="0">
                      <a:noFill/>
                    </a:lnL>
                    <a:lnR w="0">
                      <a:noFill/>
                    </a:lnR>
                    <a:lnT w="0">
                      <a:noFill/>
                    </a:lnT>
                    <a:lnB w="0">
                      <a:noFill/>
                    </a:lnB>
                    <a:solidFill>
                      <a:srgbClr val="0B3041"/>
                    </a:solidFill>
                  </a:tcPr>
                </a:tc>
                <a:tc>
                  <a:txBody>
                    <a:bodyPr wrap="square"/>
                    <a:lstStyle/>
                    <a:p>
                      <a:pPr algn="ctr"/>
                      <a:r>
                        <a:rPr sz="850" b="1" i="0">
                          <a:solidFill>
                            <a:srgbClr val="FFFFFF"/>
                          </a:solidFill>
                          <a:latin typeface="Arial"/>
                          <a:ea typeface="游ゴシック"/>
                        </a:rPr>
                        <a:t>科目</a:t>
                      </a:r>
                    </a:p>
                  </a:txBody>
                  <a:tcPr marL="45720" marR="45720" marT="13716" marB="13716" anchor="ctr">
                    <a:lnL w="0">
                      <a:noFill/>
                    </a:lnL>
                    <a:lnR w="0">
                      <a:noFill/>
                    </a:lnR>
                    <a:lnT w="0">
                      <a:noFill/>
                    </a:lnT>
                    <a:lnB w="0">
                      <a:noFill/>
                    </a:lnB>
                    <a:solidFill>
                      <a:srgbClr val="0B3041"/>
                    </a:solidFill>
                  </a:tcPr>
                </a:tc>
                <a:tc>
                  <a:txBody>
                    <a:bodyPr wrap="square"/>
                    <a:lstStyle/>
                    <a:p>
                      <a:pPr algn="ctr"/>
                      <a:r>
                        <a:rPr sz="850" b="1" i="0">
                          <a:solidFill>
                            <a:srgbClr val="FFFFFF"/>
                          </a:solidFill>
                          <a:latin typeface="Arial"/>
                          <a:ea typeface="游ゴシック"/>
                        </a:rPr>
                        <a:t>資産名</a:t>
                      </a:r>
                    </a:p>
                  </a:txBody>
                  <a:tcPr marL="45720" marR="45720" marT="13716" marB="13716" anchor="ctr">
                    <a:lnL w="0">
                      <a:noFill/>
                    </a:lnL>
                    <a:lnR w="0">
                      <a:noFill/>
                    </a:lnR>
                    <a:lnT w="0">
                      <a:noFill/>
                    </a:lnT>
                    <a:lnB w="0">
                      <a:noFill/>
                    </a:lnB>
                    <a:solidFill>
                      <a:srgbClr val="0B3041"/>
                    </a:solidFill>
                  </a:tcPr>
                </a:tc>
                <a:tc>
                  <a:txBody>
                    <a:bodyPr wrap="square"/>
                    <a:lstStyle/>
                    <a:p>
                      <a:pPr algn="ctr"/>
                      <a:r>
                        <a:rPr sz="850" b="1" i="0">
                          <a:solidFill>
                            <a:srgbClr val="FFFFFF"/>
                          </a:solidFill>
                          <a:latin typeface="Arial"/>
                          <a:ea typeface="游ゴシック"/>
                        </a:rPr>
                        <a:t>償却方法</a:t>
                      </a:r>
                    </a:p>
                  </a:txBody>
                  <a:tcPr marL="45720" marR="45720" marT="13716" marB="13716" anchor="ctr">
                    <a:lnL w="0">
                      <a:noFill/>
                    </a:lnL>
                    <a:lnR w="0">
                      <a:noFill/>
                    </a:lnR>
                    <a:lnT w="0">
                      <a:noFill/>
                    </a:lnT>
                    <a:lnB w="0">
                      <a:noFill/>
                    </a:lnB>
                    <a:solidFill>
                      <a:srgbClr val="0B3041"/>
                    </a:solidFill>
                  </a:tcPr>
                </a:tc>
                <a:tc>
                  <a:txBody>
                    <a:bodyPr wrap="square"/>
                    <a:lstStyle/>
                    <a:p>
                      <a:pPr algn="ctr"/>
                      <a:r>
                        <a:rPr sz="850" b="1" i="0">
                          <a:solidFill>
                            <a:srgbClr val="FFFFFF"/>
                          </a:solidFill>
                          <a:latin typeface="Arial"/>
                          <a:ea typeface="游ゴシック"/>
                        </a:rPr>
                        <a:t>取得年</a:t>
                      </a:r>
                    </a:p>
                  </a:txBody>
                  <a:tcPr marL="45720" marR="45720" marT="13716" marB="13716" anchor="ctr">
                    <a:lnL w="0">
                      <a:noFill/>
                    </a:lnL>
                    <a:lnR w="0">
                      <a:noFill/>
                    </a:lnR>
                    <a:lnT w="0">
                      <a:noFill/>
                    </a:lnT>
                    <a:lnB w="0">
                      <a:noFill/>
                    </a:lnB>
                    <a:solidFill>
                      <a:srgbClr val="0B3041"/>
                    </a:solidFill>
                  </a:tcPr>
                </a:tc>
                <a:tc>
                  <a:txBody>
                    <a:bodyPr wrap="square"/>
                    <a:lstStyle/>
                    <a:p>
                      <a:pPr algn="ctr"/>
                      <a:r>
                        <a:rPr sz="850" b="1" i="0">
                          <a:solidFill>
                            <a:srgbClr val="FFFFFF"/>
                          </a:solidFill>
                          <a:latin typeface="Arial"/>
                          <a:ea typeface="游ゴシック"/>
                        </a:rPr>
                        <a:t>取得月</a:t>
                      </a:r>
                    </a:p>
                  </a:txBody>
                  <a:tcPr marL="45720" marR="45720" marT="13716" marB="13716" anchor="ctr">
                    <a:lnL w="0">
                      <a:noFill/>
                    </a:lnL>
                    <a:lnR w="0">
                      <a:noFill/>
                    </a:lnR>
                    <a:lnT w="0">
                      <a:noFill/>
                    </a:lnT>
                    <a:lnB w="0">
                      <a:noFill/>
                    </a:lnB>
                    <a:solidFill>
                      <a:srgbClr val="0B3041"/>
                    </a:solidFill>
                  </a:tcPr>
                </a:tc>
                <a:tc>
                  <a:txBody>
                    <a:bodyPr wrap="square"/>
                    <a:lstStyle/>
                    <a:p>
                      <a:pPr algn="ctr"/>
                      <a:r>
                        <a:rPr sz="850" b="1" i="0">
                          <a:solidFill>
                            <a:srgbClr val="FFFFFF"/>
                          </a:solidFill>
                          <a:latin typeface="Arial"/>
                          <a:ea typeface="游ゴシック"/>
                        </a:rPr>
                        <a:t>耐用年数</a:t>
                      </a:r>
                    </a:p>
                  </a:txBody>
                  <a:tcPr marL="45720" marR="45720" marT="13716" marB="13716" anchor="ctr">
                    <a:lnL w="0">
                      <a:noFill/>
                    </a:lnL>
                    <a:lnR w="0">
                      <a:noFill/>
                    </a:lnR>
                    <a:lnT w="0">
                      <a:noFill/>
                    </a:lnT>
                    <a:lnB w="0">
                      <a:noFill/>
                    </a:lnB>
                    <a:solidFill>
                      <a:srgbClr val="0B3041"/>
                    </a:solidFill>
                  </a:tcPr>
                </a:tc>
                <a:tc>
                  <a:txBody>
                    <a:bodyPr wrap="square"/>
                    <a:lstStyle/>
                    <a:p>
                      <a:pPr algn="ctr"/>
                      <a:r>
                        <a:rPr sz="850" b="1" i="0">
                          <a:solidFill>
                            <a:srgbClr val="FFFFFF"/>
                          </a:solidFill>
                          <a:latin typeface="Arial"/>
                          <a:ea typeface="游ゴシック"/>
                        </a:rPr>
                        <a:t>取得原価(円)</a:t>
                      </a:r>
                    </a:p>
                  </a:txBody>
                  <a:tcPr marL="45720" marR="45720" marT="13716" marB="13716" anchor="ctr">
                    <a:lnL w="0">
                      <a:noFill/>
                    </a:lnL>
                    <a:lnR w="0">
                      <a:noFill/>
                    </a:lnR>
                    <a:lnT w="0">
                      <a:noFill/>
                    </a:lnT>
                    <a:lnB w="0">
                      <a:noFill/>
                    </a:lnB>
                    <a:solidFill>
                      <a:srgbClr val="0B3041"/>
                    </a:solidFill>
                  </a:tcPr>
                </a:tc>
                <a:tc>
                  <a:txBody>
                    <a:bodyPr wrap="square"/>
                    <a:lstStyle/>
                    <a:p>
                      <a:pPr algn="ctr"/>
                      <a:r>
                        <a:rPr sz="850" b="1" i="0">
                          <a:solidFill>
                            <a:srgbClr val="FFFFFF"/>
                          </a:solidFill>
                          <a:latin typeface="Arial"/>
                          <a:ea typeface="游ゴシック"/>
                        </a:rPr>
                        <a:t>期末帳簿価額(円)</a:t>
                      </a:r>
                    </a:p>
                  </a:txBody>
                  <a:tcPr marL="45720" marR="45720" marT="13716" marB="13716" anchor="ctr">
                    <a:lnL w="0">
                      <a:noFill/>
                    </a:lnL>
                    <a:lnR w="0">
                      <a:noFill/>
                    </a:lnR>
                    <a:lnT w="0">
                      <a:noFill/>
                    </a:lnT>
                    <a:lnB w="0">
                      <a:noFill/>
                    </a:lnB>
                    <a:solidFill>
                      <a:srgbClr val="0B3041"/>
                    </a:solidFill>
                  </a:tcPr>
                </a:tc>
              </a:tr>
              <a:tr h="274320">
                <a:tc>
                  <a:txBody>
                    <a:bodyPr wrap="square"/>
                    <a:lstStyle/>
                    <a:p>
                      <a:pPr algn="ctr"/>
                      <a:r>
                        <a:rPr sz="850" b="0" i="0">
                          <a:solidFill>
                            <a:srgbClr val="000000"/>
                          </a:solidFill>
                          <a:latin typeface="Arial"/>
                          <a:ea typeface="游ゴシック"/>
                        </a:rPr>
                        <a:t>1</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建物</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ブランズタワー大船</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定額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2021</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3</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47</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61,053,652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25,569,001</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ctr"/>
                      <a:r>
                        <a:rPr sz="850" b="0" i="0">
                          <a:solidFill>
                            <a:srgbClr val="000000"/>
                          </a:solidFill>
                          <a:latin typeface="Arial"/>
                          <a:ea typeface="游ゴシック"/>
                        </a:rPr>
                        <a:t>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建物</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鎌倉店舗</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定額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2010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12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39</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198,526,810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92,242,941</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ctr"/>
                      <a:r>
                        <a:rPr sz="850" b="0" i="0">
                          <a:solidFill>
                            <a:srgbClr val="000000"/>
                          </a:solidFill>
                          <a:latin typeface="Arial"/>
                          <a:ea typeface="游ゴシック"/>
                        </a:rPr>
                        <a:t>3</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建物</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鎌倉山店 螺旋階段</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定額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2018</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1</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39</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1,157,408</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909,149</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ctr"/>
                      <a:r>
                        <a:rPr sz="850" b="0" i="0">
                          <a:solidFill>
                            <a:srgbClr val="000000"/>
                          </a:solidFill>
                          <a:latin typeface="Arial"/>
                          <a:ea typeface="游ゴシック"/>
                        </a:rPr>
                        <a:t>4</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建物付属設備</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鎌倉山店 螺旋階段（新設）</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定額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2025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10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15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5,345,456</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5,166,384</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ctr"/>
                      <a:r>
                        <a:rPr sz="850" b="0" i="0">
                          <a:solidFill>
                            <a:srgbClr val="000000"/>
                          </a:solidFill>
                          <a:latin typeface="Arial"/>
                          <a:ea typeface="游ゴシック"/>
                        </a:rPr>
                        <a:t>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建物付属設備</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大船店 B工事</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定額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2022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1</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15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6,370,320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4,556,374</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ctr"/>
                      <a:r>
                        <a:rPr sz="850" b="0" i="0">
                          <a:solidFill>
                            <a:srgbClr val="000000"/>
                          </a:solidFill>
                          <a:latin typeface="Arial"/>
                          <a:ea typeface="游ゴシック"/>
                        </a:rPr>
                        <a:t>6</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建物付属設備</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ルミリュウ大船 内装工事</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定額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2025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3</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15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4,822,473</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4,472,443</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ctr"/>
                      <a:r>
                        <a:rPr sz="850" b="0" i="0">
                          <a:solidFill>
                            <a:srgbClr val="000000"/>
                          </a:solidFill>
                          <a:latin typeface="Arial"/>
                          <a:ea typeface="游ゴシック"/>
                        </a:rPr>
                        <a:t>7</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建物付属設備</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天井照明工事</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定額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2020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11</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15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2,980,706</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1,898,960</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ctr"/>
                      <a:r>
                        <a:rPr sz="850" b="0" i="0">
                          <a:solidFill>
                            <a:srgbClr val="000000"/>
                          </a:solidFill>
                          <a:latin typeface="Arial"/>
                          <a:ea typeface="游ゴシック"/>
                        </a:rPr>
                        <a:t>8</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建物付属設備</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紀尾井町店 空調設備工事</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定額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2016</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10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15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4,985,956</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1,812,396</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ctr"/>
                      <a:r>
                        <a:rPr sz="850" b="0" i="0">
                          <a:solidFill>
                            <a:srgbClr val="000000"/>
                          </a:solidFill>
                          <a:latin typeface="Arial"/>
                          <a:ea typeface="游ゴシック"/>
                        </a:rPr>
                        <a:t>9</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建物付属設備</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鎌倉店 給排水設備</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定率</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2010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12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15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23,197,737</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617,007</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ctr"/>
                      <a:r>
                        <a:rPr sz="850" b="0" i="0">
                          <a:solidFill>
                            <a:srgbClr val="000000"/>
                          </a:solidFill>
                          <a:latin typeface="Arial"/>
                          <a:ea typeface="游ゴシック"/>
                        </a:rPr>
                        <a:t>10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建物付属設備</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紀尾井町店 給排水設備工事</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定額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2016</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10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15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1,650,096</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599,814</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ctr"/>
                      <a:r>
                        <a:rPr sz="850" b="0" i="0">
                          <a:solidFill>
                            <a:srgbClr val="000000"/>
                          </a:solidFill>
                          <a:latin typeface="Arial"/>
                          <a:ea typeface="游ゴシック"/>
                        </a:rPr>
                        <a:t>11</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建物付属設備</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紀尾井町店 電気設備工事</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定額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2016</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10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15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1,166,730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424,115</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ctr"/>
                      <a:r>
                        <a:rPr sz="850" b="0" i="0">
                          <a:solidFill>
                            <a:srgbClr val="000000"/>
                          </a:solidFill>
                          <a:latin typeface="Arial"/>
                          <a:ea typeface="游ゴシック"/>
                        </a:rPr>
                        <a:t>12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車両運搬具</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MINI F65S</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定率</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2025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7</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6</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4,565,855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3,425,533</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ctr"/>
                      <a:r>
                        <a:rPr sz="850" b="0" i="0">
                          <a:solidFill>
                            <a:srgbClr val="000000"/>
                          </a:solidFill>
                          <a:latin typeface="Arial"/>
                          <a:ea typeface="游ゴシック"/>
                        </a:rPr>
                        <a:t>13</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車両運搬具</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垂直リフト（令和6年10月取得・2台）</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定額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2024</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10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4</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3,151,000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1,969,375</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ctr"/>
                      <a:r>
                        <a:rPr sz="850" b="0" i="0">
                          <a:solidFill>
                            <a:srgbClr val="000000"/>
                          </a:solidFill>
                          <a:latin typeface="Arial"/>
                          <a:ea typeface="游ゴシック"/>
                        </a:rPr>
                        <a:t>14</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工具器具備品</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看板</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定率</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2025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3</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908,000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352,834</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ctr"/>
                      <a:r>
                        <a:rPr sz="850" b="0" i="0">
                          <a:solidFill>
                            <a:srgbClr val="000000"/>
                          </a:solidFill>
                          <a:latin typeface="Arial"/>
                          <a:ea typeface="游ゴシック"/>
                        </a:rPr>
                        <a:t>15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工具器具備品</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物置</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定率</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2021</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15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473,800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235,077</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ctr"/>
                      <a:r>
                        <a:rPr sz="850" b="0" i="0">
                          <a:solidFill>
                            <a:srgbClr val="000000"/>
                          </a:solidFill>
                          <a:latin typeface="Arial"/>
                          <a:ea typeface="游ゴシック"/>
                        </a:rPr>
                        <a:t>16</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工具器具備品</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棚什器・冷蔵庫・ワゴン 他</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定率</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2025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1</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6</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462,982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320,833</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ctr"/>
                      <a:r>
                        <a:rPr sz="850" b="0" i="0">
                          <a:solidFill>
                            <a:srgbClr val="000000"/>
                          </a:solidFill>
                          <a:latin typeface="Arial"/>
                          <a:ea typeface="游ゴシック"/>
                        </a:rPr>
                        <a:t>17</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　</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850" b="0" i="0">
                          <a:solidFill>
                            <a:srgbClr val="000000"/>
                          </a:solidFill>
                          <a:latin typeface="Arial"/>
                          <a:ea typeface="游ゴシック"/>
                        </a:rPr>
                        <a:t>その他（償却済・備忘価額1円）</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ct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15</a:t>
                      </a:r>
                    </a:p>
                  </a:txBody>
                  <a:tcPr marL="45720" marR="45720" marT="13716" marB="13716" anchor="ctr">
                    <a:lnL w="0">
                      <a:noFill/>
                    </a:lnL>
                    <a:lnR w="0">
                      <a:noFill/>
                    </a:lnR>
                    <a:lnT w="0">
                      <a:noFill/>
                    </a:lnT>
                    <a:lnB w="6350" cap="flat" cmpd="sng" algn="ctr">
                      <a:solidFill>
                        <a:srgbClr val="B8C0C6"/>
                      </a:solidFill>
                      <a:prstDash val="solid"/>
                    </a:lnB>
                    <a:noFill/>
                  </a:tcPr>
                </a:tc>
              </a:tr>
            </a:tbl>
          </a:graphicData>
        </a:graphic>
      </p:graphicFrame>
      <p:sp>
        <p:nvSpPr>
          <p:cNvPr id="15" name="TextBox 14"/>
          <p:cNvSpPr txBox="1"/>
          <p:nvPr/>
        </p:nvSpPr>
        <p:spPr>
          <a:xfrm>
            <a:off x="310896" y="6583680"/>
            <a:ext cx="9875520" cy="274320"/>
          </a:xfrm>
          <a:prstGeom prst="rect">
            <a:avLst/>
          </a:prstGeom>
          <a:noFill/>
        </p:spPr>
        <p:txBody>
          <a:bodyPr wrap="square" lIns="0" tIns="0" rIns="0" bIns="0" anchor="t">
            <a:spAutoFit/>
          </a:bodyPr>
          <a:lstStyle/>
          <a:p>
            <a:r>
              <a:rPr kumimoji="1" lang="ja-JP" altLang="en-US" sz="800" dirty="0">
                <a:solidFill>
                  <a:srgbClr val="595959"/>
                </a:solidFill>
                <a:latin typeface="+mn-ea"/>
                <a:ea typeface="+mn-ea"/>
              </a:rPr>
              <a:t>※出所：固定資産台帳（令和8年3月期）。取得年月は台帳表記からの換算。土地（345,030千円）・建設仮勘定は別掲（不動産詳細参照）。</a:t>
            </a:r>
            <a:endParaRPr kumimoji="1" lang="ja-JP" altLang="en-US" sz="800" dirty="0"/>
          </a:p>
        </p:txBody>
      </p:sp>
    </p:spTree>
    <p:extLst>
      <p:ext uri="{BB962C8B-B14F-4D97-AF65-F5344CB8AC3E}">
        <p14:creationId xmlns:p14="http://schemas.microsoft.com/office/powerpoint/2010/main" val="9155409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7F8BB-F852-9D0D-47DC-B75AAADC3F2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2D80B5D-88ED-D63E-E6F8-E5830356F6CE}"/>
              </a:ext>
            </a:extLst>
          </p:cNvPr>
          <p:cNvSpPr>
            <a:spLocks noGrp="1"/>
          </p:cNvSpPr>
          <p:nvPr>
            <p:ph type="title"/>
          </p:nvPr>
        </p:nvSpPr>
        <p:spPr>
          <a:xfrm>
            <a:off x="989013" y="3656161"/>
            <a:ext cx="9221787" cy="615553"/>
          </a:xfrm>
        </p:spPr>
        <p:txBody>
          <a:bodyPr/>
          <a:lstStyle/>
          <a:p>
            <a:r>
              <a:rPr lang="ja-JP" altLang="en-US" dirty="0"/>
              <a:t>財務情報詳細</a:t>
            </a:r>
            <a:endParaRPr lang="en-US" altLang="ja-JP" dirty="0"/>
          </a:p>
        </p:txBody>
      </p:sp>
    </p:spTree>
    <p:extLst>
      <p:ext uri="{BB962C8B-B14F-4D97-AF65-F5344CB8AC3E}">
        <p14:creationId xmlns:p14="http://schemas.microsoft.com/office/powerpoint/2010/main" val="15844496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B347B-E74F-2AA1-D695-C8F2C57E0D27}"/>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8AB158FB-2AD5-0994-A1DD-08907F35E57B}"/>
              </a:ext>
            </a:extLst>
          </p:cNvPr>
          <p:cNvSpPr>
            <a:spLocks noGrp="1"/>
          </p:cNvSpPr>
          <p:nvPr>
            <p:ph type="ctrTitle"/>
          </p:nvPr>
        </p:nvSpPr>
        <p:spPr>
          <a:xfrm>
            <a:off x="311150" y="180296"/>
            <a:ext cx="7799917" cy="339267"/>
          </a:xfrm>
        </p:spPr>
        <p:txBody>
          <a:bodyPr>
            <a:normAutofit/>
          </a:bodyPr>
          <a:lstStyle/>
          <a:p>
            <a:r>
              <a:rPr lang="ja-JP" altLang="en-US" dirty="0"/>
              <a:t>貸借対照表</a:t>
            </a:r>
          </a:p>
        </p:txBody>
      </p:sp>
      <p:sp>
        <p:nvSpPr>
          <p:cNvPr id="5" name="タイトル 1">
            <a:extLst>
              <a:ext uri="{FF2B5EF4-FFF2-40B4-BE49-F238E27FC236}">
                <a16:creationId xmlns:a16="http://schemas.microsoft.com/office/drawing/2014/main" id="{CB37C797-A02B-4ADD-85CA-EEB0AC88114E}"/>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財務情報詳細</a:t>
            </a:r>
          </a:p>
        </p:txBody>
      </p:sp>
      <p:sp>
        <p:nvSpPr>
          <p:cNvPr id="4" name="字幕 13">
            <a:extLst>
              <a:ext uri="{FF2B5EF4-FFF2-40B4-BE49-F238E27FC236}">
                <a16:creationId xmlns:a16="http://schemas.microsoft.com/office/drawing/2014/main" id="{9FB86E35-A8A4-6E80-826F-9FF288E82A13}"/>
              </a:ext>
            </a:extLst>
          </p:cNvPr>
          <p:cNvSpPr>
            <a:spLocks noGrp="1"/>
          </p:cNvSpPr>
          <p:nvPr>
            <p:ph type="subTitle" idx="1"/>
          </p:nvPr>
        </p:nvSpPr>
        <p:spPr>
          <a:xfrm>
            <a:off x="460675" y="830046"/>
            <a:ext cx="9781875" cy="241861"/>
          </a:xfrm>
        </p:spPr>
        <p:txBody>
          <a:bodyPr>
            <a:noAutofit/>
          </a:bodyPr>
          <a:lstStyle/>
          <a:p>
            <a:r>
              <a:rPr lang="ja-JP" altLang="en-US" dirty="0">
                <a:latin typeface="+mj-ea"/>
              </a:rPr>
              <a:t>不動産売却代金（令和7年3月末の売掛金841百万円）の回収で、借入金を890→446百万円へ圧縮。総資産は1,408→797百万円となり、純資産は327百万円です。</a:t>
            </a:r>
            <a:endParaRPr lang="en-US" altLang="ja-JP" dirty="0"/>
          </a:p>
        </p:txBody>
      </p:sp>
      <p:sp>
        <p:nvSpPr>
          <p:cNvPr id="6" name="正方形/長方形 5">
            <a:extLst>
              <a:ext uri="{FF2B5EF4-FFF2-40B4-BE49-F238E27FC236}">
                <a16:creationId xmlns:a16="http://schemas.microsoft.com/office/drawing/2014/main" id="{459ED3B3-2643-F089-6138-4F38531AC97C}"/>
              </a:ext>
            </a:extLst>
          </p:cNvPr>
          <p:cNvSpPr/>
          <p:nvPr/>
        </p:nvSpPr>
        <p:spPr>
          <a:xfrm>
            <a:off x="6455664" y="1382390"/>
            <a:ext cx="3924999" cy="5596336"/>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7" name="テキスト ボックス 6">
            <a:extLst>
              <a:ext uri="{FF2B5EF4-FFF2-40B4-BE49-F238E27FC236}">
                <a16:creationId xmlns:a16="http://schemas.microsoft.com/office/drawing/2014/main" id="{65F118E4-B074-E5EF-B0BB-107FCB6D6051}"/>
              </a:ext>
            </a:extLst>
          </p:cNvPr>
          <p:cNvSpPr txBox="1"/>
          <p:nvPr/>
        </p:nvSpPr>
        <p:spPr>
          <a:xfrm>
            <a:off x="6455664" y="1828800"/>
            <a:ext cx="3912257" cy="2539157"/>
          </a:xfrm>
          <a:prstGeom prst="rect">
            <a:avLst/>
          </a:prstGeom>
          <a:noFill/>
        </p:spPr>
        <p:txBody>
          <a:bodyPr wrap="square" lIns="288000" tIns="0" rIns="252000" bIns="0" rtlCol="0">
            <a:spAutoFit/>
          </a:bodyPr>
          <a:lstStyle/>
          <a:p>
            <a:r>
              <a:rPr kumimoji="1" lang="ja-JP" altLang="en-US" sz="900" dirty="0">
                <a:solidFill>
                  <a:schemeClr val="tx1"/>
                </a:solidFill>
                <a:latin typeface="+mn-ea"/>
                <a:ea typeface="+mn-ea"/>
              </a:rPr>
              <a:t>≪現預金・売掛金≫</a:t>
            </a:r>
            <a:endParaRPr kumimoji="1" lang="ja-JP" altLang="en-US" sz="900" dirty="0"/>
          </a:p>
          <a:p>
            <a:r>
              <a:rPr kumimoji="1" lang="ja-JP" altLang="en-US" sz="900" dirty="0">
                <a:solidFill>
                  <a:schemeClr val="tx1"/>
                </a:solidFill>
                <a:latin typeface="+mn-ea"/>
                <a:ea typeface="+mn-ea"/>
              </a:rPr>
              <a:t>・令和7年3月期末の売掛金841百万円は不動産売却代金（買主：㈱日本財託）で、令和8年3月期に回収</a:t>
            </a:r>
            <a:endParaRPr kumimoji="1" lang="ja-JP" altLang="en-US" sz="900" dirty="0"/>
          </a:p>
          <a:p>
            <a:r>
              <a:rPr kumimoji="1" lang="ja-JP" altLang="en-US" sz="900" dirty="0">
                <a:solidFill>
                  <a:schemeClr val="tx1"/>
                </a:solidFill>
                <a:latin typeface="+mn-ea"/>
                <a:ea typeface="+mn-ea"/>
              </a:rPr>
              <a:t>≪土地・建物≫</a:t>
            </a:r>
            <a:endParaRPr kumimoji="1" lang="ja-JP" altLang="en-US" sz="900" dirty="0"/>
          </a:p>
          <a:p>
            <a:r>
              <a:rPr kumimoji="1" lang="ja-JP" altLang="en-US" sz="900" dirty="0">
                <a:solidFill>
                  <a:schemeClr val="tx1"/>
                </a:solidFill>
                <a:latin typeface="+mn-ea"/>
                <a:ea typeface="+mn-ea"/>
              </a:rPr>
              <a:t>・令和7年3月期に賃貸不動産を売却し、土地は342→345百万円（令和6年3月期は808百万円）</a:t>
            </a:r>
            <a:endParaRPr kumimoji="1" lang="ja-JP" altLang="en-US" sz="900" dirty="0"/>
          </a:p>
          <a:p>
            <a:r>
              <a:rPr kumimoji="1" lang="ja-JP" altLang="en-US" sz="900" dirty="0">
                <a:solidFill>
                  <a:schemeClr val="tx1"/>
                </a:solidFill>
                <a:latin typeface="+mn-ea"/>
                <a:ea typeface="+mn-ea"/>
              </a:rPr>
              <a:t>≪借入金≫</a:t>
            </a:r>
            <a:endParaRPr kumimoji="1" lang="ja-JP" altLang="en-US" sz="900" dirty="0"/>
          </a:p>
          <a:p>
            <a:r>
              <a:rPr kumimoji="1" lang="ja-JP" altLang="en-US" sz="900" dirty="0">
                <a:solidFill>
                  <a:schemeClr val="tx1"/>
                </a:solidFill>
                <a:latin typeface="+mn-ea"/>
                <a:ea typeface="+mn-ea"/>
              </a:rPr>
              <a:t>・借入金計 446百万円（令和6年3月期 1,050百万円）。うち役員借入金 360百万円</a:t>
            </a:r>
            <a:endParaRPr kumimoji="1" lang="ja-JP" altLang="en-US" sz="900" dirty="0"/>
          </a:p>
          <a:p>
            <a:r>
              <a:rPr kumimoji="1" lang="ja-JP" altLang="en-US" sz="900" dirty="0">
                <a:solidFill>
                  <a:schemeClr val="tx1"/>
                </a:solidFill>
                <a:latin typeface="+mn-ea"/>
                <a:ea typeface="+mn-ea"/>
              </a:rPr>
              <a:t>≪純資産≫</a:t>
            </a:r>
            <a:endParaRPr kumimoji="1" lang="ja-JP" altLang="en-US" sz="900" dirty="0"/>
          </a:p>
          <a:p>
            <a:r>
              <a:rPr kumimoji="1" lang="ja-JP" altLang="en-US" sz="900" dirty="0">
                <a:solidFill>
                  <a:schemeClr val="tx1"/>
                </a:solidFill>
                <a:latin typeface="+mn-ea"/>
                <a:ea typeface="+mn-ea"/>
              </a:rPr>
              <a:t>・令和8年3月期は過年度法人税等の納付により繰越利益剰余金が369→321百万円に減少</a:t>
            </a:r>
            <a:endParaRPr kumimoji="1" lang="ja-JP" altLang="en-US" sz="900" dirty="0"/>
          </a:p>
          <a:p>
            <a:r>
              <a:rPr kumimoji="1" lang="ja-JP" altLang="en-US" sz="900" dirty="0">
                <a:solidFill>
                  <a:schemeClr val="tx1"/>
                </a:solidFill>
                <a:latin typeface="+mn-ea"/>
                <a:ea typeface="+mn-ea"/>
              </a:rPr>
              <a:t>≪その他≫</a:t>
            </a:r>
            <a:endParaRPr kumimoji="1" lang="ja-JP" altLang="en-US" sz="900" dirty="0"/>
          </a:p>
          <a:p>
            <a:r>
              <a:rPr kumimoji="1" lang="ja-JP" altLang="en-US" sz="900" dirty="0">
                <a:solidFill>
                  <a:schemeClr val="tx1"/>
                </a:solidFill>
                <a:latin typeface="+mn-ea"/>
                <a:ea typeface="+mn-ea"/>
              </a:rPr>
              <a:t>・前渡金18.5百万円（コンサル紹介費用）の内容は要確認</a:t>
            </a:r>
            <a:endParaRPr kumimoji="1" lang="ja-JP" altLang="en-US" sz="900" dirty="0"/>
          </a:p>
        </p:txBody>
      </p:sp>
      <p:graphicFrame>
        <p:nvGraphicFramePr>
          <p:cNvPr id="14" name="Table 13"/>
          <p:cNvGraphicFramePr>
            <a:graphicFrameLocks noGrp="1"/>
          </p:cNvGraphicFramePr>
          <p:nvPr/>
        </p:nvGraphicFramePr>
        <p:xfrm>
          <a:off x="310896" y="1371600"/>
          <a:ext cx="6035040" cy="5129784"/>
        </p:xfrm>
        <a:graphic>
          <a:graphicData uri="http://schemas.openxmlformats.org/drawingml/2006/table">
            <a:tbl>
              <a:tblPr/>
              <a:tblGrid>
                <a:gridCol w="2331720"/>
                <a:gridCol w="1234440"/>
                <a:gridCol w="1234440"/>
                <a:gridCol w="1234440"/>
              </a:tblGrid>
              <a:tr h="233172">
                <a:tc>
                  <a:txBody>
                    <a:bodyPr wrap="square"/>
                    <a:lstStyle/>
                    <a:p>
                      <a:pPr algn="ctr"/>
                      <a:r>
                        <a:rPr sz="800" b="1" i="0">
                          <a:solidFill>
                            <a:srgbClr val="FFFFFF"/>
                          </a:solidFill>
                          <a:latin typeface="Arial"/>
                          <a:ea typeface="游ゴシック"/>
                        </a:rPr>
                        <a:t>（単位：千円）</a:t>
                      </a:r>
                    </a:p>
                  </a:txBody>
                  <a:tcPr marL="45720" marR="45720" marT="13716" marB="13716" anchor="ctr">
                    <a:lnL w="0">
                      <a:noFill/>
                    </a:lnL>
                    <a:lnR w="0">
                      <a:noFill/>
                    </a:lnR>
                    <a:lnT w="0">
                      <a:noFill/>
                    </a:lnT>
                    <a:lnB w="0">
                      <a:noFill/>
                    </a:lnB>
                    <a:solidFill>
                      <a:srgbClr val="0B3041"/>
                    </a:solidFill>
                  </a:tcPr>
                </a:tc>
                <a:tc>
                  <a:txBody>
                    <a:bodyPr wrap="square"/>
                    <a:lstStyle/>
                    <a:p>
                      <a:pPr algn="ctr"/>
                      <a:r>
                        <a:rPr sz="800" b="1" i="0">
                          <a:solidFill>
                            <a:srgbClr val="FFFFFF"/>
                          </a:solidFill>
                          <a:latin typeface="Arial"/>
                          <a:ea typeface="游ゴシック"/>
                        </a:rPr>
                        <a:t>令和6年3月期</a:t>
                      </a:r>
                    </a:p>
                  </a:txBody>
                  <a:tcPr marL="45720" marR="45720" marT="13716" marB="13716" anchor="ctr">
                    <a:lnL w="0">
                      <a:noFill/>
                    </a:lnL>
                    <a:lnR w="0">
                      <a:noFill/>
                    </a:lnR>
                    <a:lnT w="0">
                      <a:noFill/>
                    </a:lnT>
                    <a:lnB w="0">
                      <a:noFill/>
                    </a:lnB>
                    <a:solidFill>
                      <a:srgbClr val="0B3041"/>
                    </a:solidFill>
                  </a:tcPr>
                </a:tc>
                <a:tc>
                  <a:txBody>
                    <a:bodyPr wrap="square"/>
                    <a:lstStyle/>
                    <a:p>
                      <a:pPr algn="ctr"/>
                      <a:r>
                        <a:rPr sz="800" b="1" i="0">
                          <a:solidFill>
                            <a:srgbClr val="FFFFFF"/>
                          </a:solidFill>
                          <a:latin typeface="Arial"/>
                          <a:ea typeface="游ゴシック"/>
                        </a:rPr>
                        <a:t>令和7年3月期</a:t>
                      </a:r>
                    </a:p>
                  </a:txBody>
                  <a:tcPr marL="45720" marR="45720" marT="13716" marB="13716" anchor="ctr">
                    <a:lnL w="0">
                      <a:noFill/>
                    </a:lnL>
                    <a:lnR w="0">
                      <a:noFill/>
                    </a:lnR>
                    <a:lnT w="0">
                      <a:noFill/>
                    </a:lnT>
                    <a:lnB w="0">
                      <a:noFill/>
                    </a:lnB>
                    <a:solidFill>
                      <a:srgbClr val="0B3041"/>
                    </a:solidFill>
                  </a:tcPr>
                </a:tc>
                <a:tc>
                  <a:txBody>
                    <a:bodyPr wrap="square"/>
                    <a:lstStyle/>
                    <a:p>
                      <a:pPr algn="ctr"/>
                      <a:r>
                        <a:rPr sz="800" b="1" i="0">
                          <a:solidFill>
                            <a:srgbClr val="FFFFFF"/>
                          </a:solidFill>
                          <a:latin typeface="Arial"/>
                          <a:ea typeface="游ゴシック"/>
                        </a:rPr>
                        <a:t>令和8年3月期</a:t>
                      </a:r>
                    </a:p>
                  </a:txBody>
                  <a:tcPr marL="45720" marR="45720" marT="13716" marB="13716" anchor="ctr">
                    <a:lnL w="0">
                      <a:noFill/>
                    </a:lnL>
                    <a:lnR w="0">
                      <a:noFill/>
                    </a:lnR>
                    <a:lnT w="0">
                      <a:noFill/>
                    </a:lnT>
                    <a:lnB w="0">
                      <a:noFill/>
                    </a:lnB>
                    <a:solidFill>
                      <a:srgbClr val="0B3041"/>
                    </a:solidFill>
                  </a:tcPr>
                </a:tc>
              </a:tr>
              <a:tr h="233172">
                <a:tc>
                  <a:txBody>
                    <a:bodyPr wrap="square"/>
                    <a:lstStyle/>
                    <a:p>
                      <a:pPr algn="l"/>
                      <a:r>
                        <a:rPr sz="800" b="1" i="0">
                          <a:solidFill>
                            <a:srgbClr val="000000"/>
                          </a:solidFill>
                          <a:latin typeface="Arial"/>
                          <a:ea typeface="游ゴシック"/>
                        </a:rPr>
                        <a:t>流動資産</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1" i="0">
                          <a:solidFill>
                            <a:srgbClr val="000000"/>
                          </a:solidFill>
                          <a:latin typeface="Arial"/>
                          <a:ea typeface="游ゴシック"/>
                        </a:rPr>
                        <a:t>243,652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1" i="0">
                          <a:solidFill>
                            <a:srgbClr val="000000"/>
                          </a:solidFill>
                          <a:latin typeface="Arial"/>
                          <a:ea typeface="游ゴシック"/>
                        </a:rPr>
                        <a:t>899,319</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1" i="0">
                          <a:solidFill>
                            <a:srgbClr val="000000"/>
                          </a:solidFill>
                          <a:latin typeface="Arial"/>
                          <a:ea typeface="游ゴシック"/>
                        </a:rPr>
                        <a:t>293,198</a:t>
                      </a:r>
                    </a:p>
                  </a:txBody>
                  <a:tcPr marL="45720" marR="45720" marT="13716" marB="13716" anchor="ctr">
                    <a:lnL w="0">
                      <a:noFill/>
                    </a:lnL>
                    <a:lnR w="0">
                      <a:noFill/>
                    </a:lnR>
                    <a:lnT w="0">
                      <a:noFill/>
                    </a:lnT>
                    <a:lnB w="6350" cap="flat" cmpd="sng" algn="ctr">
                      <a:solidFill>
                        <a:srgbClr val="B8C0C6"/>
                      </a:solidFill>
                      <a:prstDash val="solid"/>
                    </a:lnB>
                    <a:noFill/>
                  </a:tcPr>
                </a:tc>
              </a:tr>
              <a:tr h="233172">
                <a:tc>
                  <a:txBody>
                    <a:bodyPr wrap="square"/>
                    <a:lstStyle/>
                    <a:p>
                      <a:pPr algn="l"/>
                      <a:r>
                        <a:rPr sz="800" b="0" i="0">
                          <a:solidFill>
                            <a:srgbClr val="000000"/>
                          </a:solidFill>
                          <a:latin typeface="Arial"/>
                          <a:ea typeface="游ゴシック"/>
                        </a:rPr>
                        <a:t>　現預金</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154,742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31,967</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226,057</a:t>
                      </a:r>
                    </a:p>
                  </a:txBody>
                  <a:tcPr marL="45720" marR="45720" marT="13716" marB="13716" anchor="ctr">
                    <a:lnL w="0">
                      <a:noFill/>
                    </a:lnL>
                    <a:lnR w="0">
                      <a:noFill/>
                    </a:lnR>
                    <a:lnT w="0">
                      <a:noFill/>
                    </a:lnT>
                    <a:lnB w="6350" cap="flat" cmpd="sng" algn="ctr">
                      <a:solidFill>
                        <a:srgbClr val="B8C0C6"/>
                      </a:solidFill>
                      <a:prstDash val="solid"/>
                    </a:lnB>
                    <a:noFill/>
                  </a:tcPr>
                </a:tc>
              </a:tr>
              <a:tr h="233172">
                <a:tc>
                  <a:txBody>
                    <a:bodyPr wrap="square"/>
                    <a:lstStyle/>
                    <a:p>
                      <a:pPr algn="l"/>
                      <a:r>
                        <a:rPr sz="800" b="0" i="0">
                          <a:solidFill>
                            <a:srgbClr val="000000"/>
                          </a:solidFill>
                          <a:latin typeface="Arial"/>
                          <a:ea typeface="游ゴシック"/>
                        </a:rPr>
                        <a:t>　売掛金</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2,065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841,411</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28,512</a:t>
                      </a:r>
                    </a:p>
                  </a:txBody>
                  <a:tcPr marL="45720" marR="45720" marT="13716" marB="13716" anchor="ctr">
                    <a:lnL w="0">
                      <a:noFill/>
                    </a:lnL>
                    <a:lnR w="0">
                      <a:noFill/>
                    </a:lnR>
                    <a:lnT w="0">
                      <a:noFill/>
                    </a:lnT>
                    <a:lnB w="6350" cap="flat" cmpd="sng" algn="ctr">
                      <a:solidFill>
                        <a:srgbClr val="B8C0C6"/>
                      </a:solidFill>
                      <a:prstDash val="solid"/>
                    </a:lnB>
                    <a:noFill/>
                  </a:tcPr>
                </a:tc>
              </a:tr>
              <a:tr h="233172">
                <a:tc>
                  <a:txBody>
                    <a:bodyPr wrap="square"/>
                    <a:lstStyle/>
                    <a:p>
                      <a:pPr algn="l"/>
                      <a:r>
                        <a:rPr sz="800" b="0" i="0">
                          <a:solidFill>
                            <a:srgbClr val="000000"/>
                          </a:solidFill>
                          <a:latin typeface="Arial"/>
                          <a:ea typeface="游ゴシック"/>
                        </a:rPr>
                        <a:t>　未収入金・未収還付法人税等</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77,753</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16,432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10,878</a:t>
                      </a:r>
                    </a:p>
                  </a:txBody>
                  <a:tcPr marL="45720" marR="45720" marT="13716" marB="13716" anchor="ctr">
                    <a:lnL w="0">
                      <a:noFill/>
                    </a:lnL>
                    <a:lnR w="0">
                      <a:noFill/>
                    </a:lnR>
                    <a:lnT w="0">
                      <a:noFill/>
                    </a:lnT>
                    <a:lnB w="6350" cap="flat" cmpd="sng" algn="ctr">
                      <a:solidFill>
                        <a:srgbClr val="B8C0C6"/>
                      </a:solidFill>
                      <a:prstDash val="solid"/>
                    </a:lnB>
                    <a:noFill/>
                  </a:tcPr>
                </a:tc>
              </a:tr>
              <a:tr h="233172">
                <a:tc>
                  <a:txBody>
                    <a:bodyPr wrap="square"/>
                    <a:lstStyle/>
                    <a:p>
                      <a:pPr algn="l"/>
                      <a:r>
                        <a:rPr sz="800" b="0" i="0">
                          <a:solidFill>
                            <a:srgbClr val="000000"/>
                          </a:solidFill>
                          <a:latin typeface="Arial"/>
                          <a:ea typeface="游ゴシック"/>
                        </a:rPr>
                        <a:t>　商品・前渡金・その他</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9,093</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9,509</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27,750</a:t>
                      </a:r>
                    </a:p>
                  </a:txBody>
                  <a:tcPr marL="45720" marR="45720" marT="13716" marB="13716" anchor="ctr">
                    <a:lnL w="0">
                      <a:noFill/>
                    </a:lnL>
                    <a:lnR w="0">
                      <a:noFill/>
                    </a:lnR>
                    <a:lnT w="0">
                      <a:noFill/>
                    </a:lnT>
                    <a:lnB w="6350" cap="flat" cmpd="sng" algn="ctr">
                      <a:solidFill>
                        <a:srgbClr val="B8C0C6"/>
                      </a:solidFill>
                      <a:prstDash val="solid"/>
                    </a:lnB>
                    <a:noFill/>
                  </a:tcPr>
                </a:tc>
              </a:tr>
              <a:tr h="233172">
                <a:tc>
                  <a:txBody>
                    <a:bodyPr wrap="square"/>
                    <a:lstStyle/>
                    <a:p>
                      <a:pPr algn="l"/>
                      <a:r>
                        <a:rPr sz="800" b="1" i="0">
                          <a:solidFill>
                            <a:srgbClr val="000000"/>
                          </a:solidFill>
                          <a:latin typeface="Arial"/>
                          <a:ea typeface="游ゴシック"/>
                        </a:rPr>
                        <a:t>固定資産</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1" i="0">
                          <a:solidFill>
                            <a:srgbClr val="000000"/>
                          </a:solidFill>
                          <a:latin typeface="Arial"/>
                          <a:ea typeface="游ゴシック"/>
                        </a:rPr>
                        <a:t>1,096,641</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1" i="0">
                          <a:solidFill>
                            <a:srgbClr val="000000"/>
                          </a:solidFill>
                          <a:latin typeface="Arial"/>
                          <a:ea typeface="游ゴシック"/>
                        </a:rPr>
                        <a:t>509,172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1" i="0">
                          <a:solidFill>
                            <a:srgbClr val="000000"/>
                          </a:solidFill>
                          <a:latin typeface="Arial"/>
                          <a:ea typeface="游ゴシック"/>
                        </a:rPr>
                        <a:t>503,311</a:t>
                      </a:r>
                    </a:p>
                  </a:txBody>
                  <a:tcPr marL="45720" marR="45720" marT="13716" marB="13716" anchor="ctr">
                    <a:lnL w="0">
                      <a:noFill/>
                    </a:lnL>
                    <a:lnR w="0">
                      <a:noFill/>
                    </a:lnR>
                    <a:lnT w="0">
                      <a:noFill/>
                    </a:lnT>
                    <a:lnB w="6350" cap="flat" cmpd="sng" algn="ctr">
                      <a:solidFill>
                        <a:srgbClr val="B8C0C6"/>
                      </a:solidFill>
                      <a:prstDash val="solid"/>
                    </a:lnB>
                    <a:noFill/>
                  </a:tcPr>
                </a:tc>
              </a:tr>
              <a:tr h="233172">
                <a:tc>
                  <a:txBody>
                    <a:bodyPr wrap="square"/>
                    <a:lstStyle/>
                    <a:p>
                      <a:pPr algn="l"/>
                      <a:r>
                        <a:rPr sz="800" b="0" i="0">
                          <a:solidFill>
                            <a:srgbClr val="000000"/>
                          </a:solidFill>
                          <a:latin typeface="Arial"/>
                          <a:ea typeface="游ゴシック"/>
                        </a:rPr>
                        <a:t>　建物・附属設備</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224,111</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148,127</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138,813</a:t>
                      </a:r>
                    </a:p>
                  </a:txBody>
                  <a:tcPr marL="45720" marR="45720" marT="13716" marB="13716" anchor="ctr">
                    <a:lnL w="0">
                      <a:noFill/>
                    </a:lnL>
                    <a:lnR w="0">
                      <a:noFill/>
                    </a:lnR>
                    <a:lnT w="0">
                      <a:noFill/>
                    </a:lnT>
                    <a:lnB w="6350" cap="flat" cmpd="sng" algn="ctr">
                      <a:solidFill>
                        <a:srgbClr val="B8C0C6"/>
                      </a:solidFill>
                      <a:prstDash val="solid"/>
                    </a:lnB>
                    <a:noFill/>
                  </a:tcPr>
                </a:tc>
              </a:tr>
              <a:tr h="233172">
                <a:tc>
                  <a:txBody>
                    <a:bodyPr wrap="square"/>
                    <a:lstStyle/>
                    <a:p>
                      <a:pPr algn="l"/>
                      <a:r>
                        <a:rPr sz="800" b="0" i="0">
                          <a:solidFill>
                            <a:srgbClr val="000000"/>
                          </a:solidFill>
                          <a:latin typeface="Arial"/>
                          <a:ea typeface="游ゴシック"/>
                        </a:rPr>
                        <a:t>　土地</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807,630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341,830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345,030</a:t>
                      </a:r>
                    </a:p>
                  </a:txBody>
                  <a:tcPr marL="45720" marR="45720" marT="13716" marB="13716" anchor="ctr">
                    <a:lnL w="0">
                      <a:noFill/>
                    </a:lnL>
                    <a:lnR w="0">
                      <a:noFill/>
                    </a:lnR>
                    <a:lnT w="0">
                      <a:noFill/>
                    </a:lnT>
                    <a:lnB w="6350" cap="flat" cmpd="sng" algn="ctr">
                      <a:solidFill>
                        <a:srgbClr val="B8C0C6"/>
                      </a:solidFill>
                      <a:prstDash val="solid"/>
                    </a:lnB>
                    <a:noFill/>
                  </a:tcPr>
                </a:tc>
              </a:tr>
              <a:tr h="233172">
                <a:tc>
                  <a:txBody>
                    <a:bodyPr wrap="square"/>
                    <a:lstStyle/>
                    <a:p>
                      <a:pPr algn="l"/>
                      <a:r>
                        <a:rPr sz="800" b="0" i="0">
                          <a:solidFill>
                            <a:srgbClr val="000000"/>
                          </a:solidFill>
                          <a:latin typeface="Arial"/>
                          <a:ea typeface="游ゴシック"/>
                        </a:rPr>
                        <a:t>　建設仮勘定・その他有形</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43,128</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7,023</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6,304</a:t>
                      </a:r>
                    </a:p>
                  </a:txBody>
                  <a:tcPr marL="45720" marR="45720" marT="13716" marB="13716" anchor="ctr">
                    <a:lnL w="0">
                      <a:noFill/>
                    </a:lnL>
                    <a:lnR w="0">
                      <a:noFill/>
                    </a:lnR>
                    <a:lnT w="0">
                      <a:noFill/>
                    </a:lnT>
                    <a:lnB w="6350" cap="flat" cmpd="sng" algn="ctr">
                      <a:solidFill>
                        <a:srgbClr val="B8C0C6"/>
                      </a:solidFill>
                      <a:prstDash val="solid"/>
                    </a:lnB>
                    <a:noFill/>
                  </a:tcPr>
                </a:tc>
              </a:tr>
              <a:tr h="233172">
                <a:tc>
                  <a:txBody>
                    <a:bodyPr wrap="square"/>
                    <a:lstStyle/>
                    <a:p>
                      <a:pPr algn="l"/>
                      <a:r>
                        <a:rPr sz="800" b="0" i="0">
                          <a:solidFill>
                            <a:srgbClr val="000000"/>
                          </a:solidFill>
                          <a:latin typeface="Arial"/>
                          <a:ea typeface="游ゴシック"/>
                        </a:rPr>
                        <a:t>　無形・投資その他</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21,773</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12,192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13,165</a:t>
                      </a:r>
                    </a:p>
                  </a:txBody>
                  <a:tcPr marL="45720" marR="45720" marT="13716" marB="13716" anchor="ctr">
                    <a:lnL w="0">
                      <a:noFill/>
                    </a:lnL>
                    <a:lnR w="0">
                      <a:noFill/>
                    </a:lnR>
                    <a:lnT w="0">
                      <a:noFill/>
                    </a:lnT>
                    <a:lnB w="6350" cap="flat" cmpd="sng" algn="ctr">
                      <a:solidFill>
                        <a:srgbClr val="B8C0C6"/>
                      </a:solidFill>
                      <a:prstDash val="solid"/>
                    </a:lnB>
                    <a:noFill/>
                  </a:tcPr>
                </a:tc>
              </a:tr>
              <a:tr h="233172">
                <a:tc>
                  <a:txBody>
                    <a:bodyPr wrap="square"/>
                    <a:lstStyle/>
                    <a:p>
                      <a:pPr algn="l"/>
                      <a:r>
                        <a:rPr sz="800" b="1" i="0">
                          <a:solidFill>
                            <a:srgbClr val="000000"/>
                          </a:solidFill>
                          <a:latin typeface="Arial"/>
                          <a:ea typeface="游ゴシック"/>
                        </a:rPr>
                        <a:t>資産合計</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00" b="1" i="0">
                          <a:solidFill>
                            <a:srgbClr val="000000"/>
                          </a:solidFill>
                          <a:latin typeface="Arial"/>
                          <a:ea typeface="游ゴシック"/>
                        </a:rPr>
                        <a:t>1,340,292</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00" b="1" i="0">
                          <a:solidFill>
                            <a:srgbClr val="000000"/>
                          </a:solidFill>
                          <a:latin typeface="Arial"/>
                          <a:ea typeface="游ゴシック"/>
                        </a:rPr>
                        <a:t>1,408,490</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00" b="1" i="0">
                          <a:solidFill>
                            <a:srgbClr val="000000"/>
                          </a:solidFill>
                          <a:latin typeface="Arial"/>
                          <a:ea typeface="游ゴシック"/>
                        </a:rPr>
                        <a:t>796,509</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r>
              <a:tr h="233172">
                <a:tc>
                  <a:txBody>
                    <a:bodyPr wrap="square"/>
                    <a:lstStyle/>
                    <a:p>
                      <a:pPr algn="l"/>
                      <a:r>
                        <a:rPr sz="800" b="1" i="0">
                          <a:solidFill>
                            <a:srgbClr val="000000"/>
                          </a:solidFill>
                          <a:latin typeface="Arial"/>
                          <a:ea typeface="游ゴシック"/>
                        </a:rPr>
                        <a:t>流動負債</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1" i="0">
                          <a:solidFill>
                            <a:srgbClr val="000000"/>
                          </a:solidFill>
                          <a:latin typeface="Arial"/>
                          <a:ea typeface="游ゴシック"/>
                        </a:rPr>
                        <a:t>546,937</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1" i="0">
                          <a:solidFill>
                            <a:srgbClr val="000000"/>
                          </a:solidFill>
                          <a:latin typeface="Arial"/>
                          <a:ea typeface="游ゴシック"/>
                        </a:rPr>
                        <a:t>549,868</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1" i="0">
                          <a:solidFill>
                            <a:srgbClr val="000000"/>
                          </a:solidFill>
                          <a:latin typeface="Arial"/>
                          <a:ea typeface="游ゴシック"/>
                        </a:rPr>
                        <a:t>196,855</a:t>
                      </a:r>
                    </a:p>
                  </a:txBody>
                  <a:tcPr marL="45720" marR="45720" marT="13716" marB="13716" anchor="ctr">
                    <a:lnL w="0">
                      <a:noFill/>
                    </a:lnL>
                    <a:lnR w="0">
                      <a:noFill/>
                    </a:lnR>
                    <a:lnT w="0">
                      <a:noFill/>
                    </a:lnT>
                    <a:lnB w="6350" cap="flat" cmpd="sng" algn="ctr">
                      <a:solidFill>
                        <a:srgbClr val="B8C0C6"/>
                      </a:solidFill>
                      <a:prstDash val="solid"/>
                    </a:lnB>
                    <a:noFill/>
                  </a:tcPr>
                </a:tc>
              </a:tr>
              <a:tr h="233172">
                <a:tc>
                  <a:txBody>
                    <a:bodyPr wrap="square"/>
                    <a:lstStyle/>
                    <a:p>
                      <a:pPr algn="l"/>
                      <a:r>
                        <a:rPr sz="800" b="0" i="0">
                          <a:solidFill>
                            <a:srgbClr val="000000"/>
                          </a:solidFill>
                          <a:latin typeface="Arial"/>
                          <a:ea typeface="游ゴシック"/>
                        </a:rPr>
                        <a:t>　買掛金</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10,530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106,089</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10,297</a:t>
                      </a:r>
                    </a:p>
                  </a:txBody>
                  <a:tcPr marL="45720" marR="45720" marT="13716" marB="13716" anchor="ctr">
                    <a:lnL w="0">
                      <a:noFill/>
                    </a:lnL>
                    <a:lnR w="0">
                      <a:noFill/>
                    </a:lnR>
                    <a:lnT w="0">
                      <a:noFill/>
                    </a:lnT>
                    <a:lnB w="6350" cap="flat" cmpd="sng" algn="ctr">
                      <a:solidFill>
                        <a:srgbClr val="B8C0C6"/>
                      </a:solidFill>
                      <a:prstDash val="solid"/>
                    </a:lnB>
                    <a:noFill/>
                  </a:tcPr>
                </a:tc>
              </a:tr>
              <a:tr h="233172">
                <a:tc>
                  <a:txBody>
                    <a:bodyPr wrap="square"/>
                    <a:lstStyle/>
                    <a:p>
                      <a:pPr algn="l"/>
                      <a:r>
                        <a:rPr sz="800" b="0" i="0">
                          <a:solidFill>
                            <a:srgbClr val="000000"/>
                          </a:solidFill>
                          <a:latin typeface="Arial"/>
                          <a:ea typeface="游ゴシック"/>
                        </a:rPr>
                        <a:t>　短期借入金（役員借入含む）</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523,396</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406,649</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173,077</a:t>
                      </a:r>
                    </a:p>
                  </a:txBody>
                  <a:tcPr marL="45720" marR="45720" marT="13716" marB="13716" anchor="ctr">
                    <a:lnL w="0">
                      <a:noFill/>
                    </a:lnL>
                    <a:lnR w="0">
                      <a:noFill/>
                    </a:lnR>
                    <a:lnT w="0">
                      <a:noFill/>
                    </a:lnT>
                    <a:lnB w="6350" cap="flat" cmpd="sng" algn="ctr">
                      <a:solidFill>
                        <a:srgbClr val="B8C0C6"/>
                      </a:solidFill>
                      <a:prstDash val="solid"/>
                    </a:lnB>
                    <a:noFill/>
                  </a:tcPr>
                </a:tc>
              </a:tr>
              <a:tr h="233172">
                <a:tc>
                  <a:txBody>
                    <a:bodyPr wrap="square"/>
                    <a:lstStyle/>
                    <a:p>
                      <a:pPr algn="l"/>
                      <a:r>
                        <a:rPr sz="800" b="0" i="0">
                          <a:solidFill>
                            <a:srgbClr val="000000"/>
                          </a:solidFill>
                          <a:latin typeface="Arial"/>
                          <a:ea typeface="游ゴシック"/>
                        </a:rPr>
                        <a:t>　未払金・未払税等・預り金</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13,010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37,130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13,481</a:t>
                      </a:r>
                    </a:p>
                  </a:txBody>
                  <a:tcPr marL="45720" marR="45720" marT="13716" marB="13716" anchor="ctr">
                    <a:lnL w="0">
                      <a:noFill/>
                    </a:lnL>
                    <a:lnR w="0">
                      <a:noFill/>
                    </a:lnR>
                    <a:lnT w="0">
                      <a:noFill/>
                    </a:lnT>
                    <a:lnB w="6350" cap="flat" cmpd="sng" algn="ctr">
                      <a:solidFill>
                        <a:srgbClr val="B8C0C6"/>
                      </a:solidFill>
                      <a:prstDash val="solid"/>
                    </a:lnB>
                    <a:noFill/>
                  </a:tcPr>
                </a:tc>
              </a:tr>
              <a:tr h="233172">
                <a:tc>
                  <a:txBody>
                    <a:bodyPr wrap="square"/>
                    <a:lstStyle/>
                    <a:p>
                      <a:pPr algn="l"/>
                      <a:r>
                        <a:rPr sz="800" b="1" i="0">
                          <a:solidFill>
                            <a:srgbClr val="000000"/>
                          </a:solidFill>
                          <a:latin typeface="Arial"/>
                          <a:ea typeface="游ゴシック"/>
                        </a:rPr>
                        <a:t>固定負債（長期借入金等）</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1" i="0">
                          <a:solidFill>
                            <a:srgbClr val="000000"/>
                          </a:solidFill>
                          <a:latin typeface="Arial"/>
                          <a:ea typeface="游ゴシック"/>
                        </a:rPr>
                        <a:t>526,720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1" i="0">
                          <a:solidFill>
                            <a:srgbClr val="000000"/>
                          </a:solidFill>
                          <a:latin typeface="Arial"/>
                          <a:ea typeface="游ゴシック"/>
                        </a:rPr>
                        <a:t>483,630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1" i="0">
                          <a:solidFill>
                            <a:srgbClr val="000000"/>
                          </a:solidFill>
                          <a:latin typeface="Arial"/>
                          <a:ea typeface="游ゴシック"/>
                        </a:rPr>
                        <a:t>272,746</a:t>
                      </a:r>
                    </a:p>
                  </a:txBody>
                  <a:tcPr marL="45720" marR="45720" marT="13716" marB="13716" anchor="ctr">
                    <a:lnL w="0">
                      <a:noFill/>
                    </a:lnL>
                    <a:lnR w="0">
                      <a:noFill/>
                    </a:lnR>
                    <a:lnT w="0">
                      <a:noFill/>
                    </a:lnT>
                    <a:lnB w="6350" cap="flat" cmpd="sng" algn="ctr">
                      <a:solidFill>
                        <a:srgbClr val="B8C0C6"/>
                      </a:solidFill>
                      <a:prstDash val="solid"/>
                    </a:lnB>
                    <a:noFill/>
                  </a:tcPr>
                </a:tc>
              </a:tr>
              <a:tr h="233172">
                <a:tc>
                  <a:txBody>
                    <a:bodyPr wrap="square"/>
                    <a:lstStyle/>
                    <a:p>
                      <a:pPr algn="l"/>
                      <a:r>
                        <a:rPr sz="800" b="1" i="0">
                          <a:solidFill>
                            <a:srgbClr val="000000"/>
                          </a:solidFill>
                          <a:latin typeface="Arial"/>
                          <a:ea typeface="游ゴシック"/>
                        </a:rPr>
                        <a:t>負債合計</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1" i="0">
                          <a:solidFill>
                            <a:srgbClr val="000000"/>
                          </a:solidFill>
                          <a:latin typeface="Arial"/>
                          <a:ea typeface="游ゴシック"/>
                        </a:rPr>
                        <a:t>1,073,656</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1" i="0">
                          <a:solidFill>
                            <a:srgbClr val="000000"/>
                          </a:solidFill>
                          <a:latin typeface="Arial"/>
                          <a:ea typeface="游ゴシック"/>
                        </a:rPr>
                        <a:t>1,033,498</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1" i="0">
                          <a:solidFill>
                            <a:srgbClr val="000000"/>
                          </a:solidFill>
                          <a:latin typeface="Arial"/>
                          <a:ea typeface="游ゴシック"/>
                        </a:rPr>
                        <a:t>469,600</a:t>
                      </a:r>
                    </a:p>
                  </a:txBody>
                  <a:tcPr marL="45720" marR="45720" marT="13716" marB="13716" anchor="ctr">
                    <a:lnL w="0">
                      <a:noFill/>
                    </a:lnL>
                    <a:lnR w="0">
                      <a:noFill/>
                    </a:lnR>
                    <a:lnT w="0">
                      <a:noFill/>
                    </a:lnT>
                    <a:lnB w="6350" cap="flat" cmpd="sng" algn="ctr">
                      <a:solidFill>
                        <a:srgbClr val="B8C0C6"/>
                      </a:solidFill>
                      <a:prstDash val="solid"/>
                    </a:lnB>
                    <a:noFill/>
                  </a:tcPr>
                </a:tc>
              </a:tr>
              <a:tr h="233172">
                <a:tc>
                  <a:txBody>
                    <a:bodyPr wrap="square"/>
                    <a:lstStyle/>
                    <a:p>
                      <a:pPr algn="l"/>
                      <a:r>
                        <a:rPr sz="800" b="0" i="0">
                          <a:solidFill>
                            <a:srgbClr val="000000"/>
                          </a:solidFill>
                          <a:latin typeface="Arial"/>
                          <a:ea typeface="游ゴシック"/>
                        </a:rPr>
                        <a:t>　資本金・資本剰余金</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5,500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5,500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5,500</a:t>
                      </a:r>
                    </a:p>
                  </a:txBody>
                  <a:tcPr marL="45720" marR="45720" marT="13716" marB="13716" anchor="ctr">
                    <a:lnL w="0">
                      <a:noFill/>
                    </a:lnL>
                    <a:lnR w="0">
                      <a:noFill/>
                    </a:lnR>
                    <a:lnT w="0">
                      <a:noFill/>
                    </a:lnT>
                    <a:lnB w="6350" cap="flat" cmpd="sng" algn="ctr">
                      <a:solidFill>
                        <a:srgbClr val="B8C0C6"/>
                      </a:solidFill>
                      <a:prstDash val="solid"/>
                    </a:lnB>
                    <a:noFill/>
                  </a:tcPr>
                </a:tc>
              </a:tr>
              <a:tr h="233172">
                <a:tc>
                  <a:txBody>
                    <a:bodyPr wrap="square"/>
                    <a:lstStyle/>
                    <a:p>
                      <a:pPr algn="l"/>
                      <a:r>
                        <a:rPr sz="800" b="0" i="0">
                          <a:solidFill>
                            <a:srgbClr val="000000"/>
                          </a:solidFill>
                          <a:latin typeface="Arial"/>
                          <a:ea typeface="游ゴシック"/>
                        </a:rPr>
                        <a:t>　繰越利益剰余金</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261,136</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369,492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0" i="0">
                          <a:solidFill>
                            <a:srgbClr val="000000"/>
                          </a:solidFill>
                          <a:latin typeface="Arial"/>
                          <a:ea typeface="游ゴシック"/>
                        </a:rPr>
                        <a:t>321,409</a:t>
                      </a:r>
                    </a:p>
                  </a:txBody>
                  <a:tcPr marL="45720" marR="45720" marT="13716" marB="13716" anchor="ctr">
                    <a:lnL w="0">
                      <a:noFill/>
                    </a:lnL>
                    <a:lnR w="0">
                      <a:noFill/>
                    </a:lnR>
                    <a:lnT w="0">
                      <a:noFill/>
                    </a:lnT>
                    <a:lnB w="6350" cap="flat" cmpd="sng" algn="ctr">
                      <a:solidFill>
                        <a:srgbClr val="B8C0C6"/>
                      </a:solidFill>
                      <a:prstDash val="solid"/>
                    </a:lnB>
                    <a:noFill/>
                  </a:tcPr>
                </a:tc>
              </a:tr>
              <a:tr h="233172">
                <a:tc>
                  <a:txBody>
                    <a:bodyPr wrap="square"/>
                    <a:lstStyle/>
                    <a:p>
                      <a:pPr algn="l"/>
                      <a:r>
                        <a:rPr sz="800" b="1" i="0">
                          <a:solidFill>
                            <a:srgbClr val="000000"/>
                          </a:solidFill>
                          <a:latin typeface="Arial"/>
                          <a:ea typeface="游ゴシック"/>
                        </a:rPr>
                        <a:t>純資産合計</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1" i="0">
                          <a:solidFill>
                            <a:srgbClr val="000000"/>
                          </a:solidFill>
                          <a:latin typeface="Arial"/>
                          <a:ea typeface="游ゴシック"/>
                        </a:rPr>
                        <a:t>266,636</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1" i="0">
                          <a:solidFill>
                            <a:srgbClr val="000000"/>
                          </a:solidFill>
                          <a:latin typeface="Arial"/>
                          <a:ea typeface="游ゴシック"/>
                        </a:rPr>
                        <a:t>374,992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00" b="1" i="0">
                          <a:solidFill>
                            <a:srgbClr val="000000"/>
                          </a:solidFill>
                          <a:latin typeface="Arial"/>
                          <a:ea typeface="游ゴシック"/>
                        </a:rPr>
                        <a:t>326,909</a:t>
                      </a:r>
                    </a:p>
                  </a:txBody>
                  <a:tcPr marL="45720" marR="45720" marT="13716" marB="13716" anchor="ctr">
                    <a:lnL w="0">
                      <a:noFill/>
                    </a:lnL>
                    <a:lnR w="0">
                      <a:noFill/>
                    </a:lnR>
                    <a:lnT w="0">
                      <a:noFill/>
                    </a:lnT>
                    <a:lnB w="6350" cap="flat" cmpd="sng" algn="ctr">
                      <a:solidFill>
                        <a:srgbClr val="B8C0C6"/>
                      </a:solidFill>
                      <a:prstDash val="solid"/>
                    </a:lnB>
                    <a:noFill/>
                  </a:tcPr>
                </a:tc>
              </a:tr>
              <a:tr h="233172">
                <a:tc>
                  <a:txBody>
                    <a:bodyPr wrap="square"/>
                    <a:lstStyle/>
                    <a:p>
                      <a:pPr algn="l"/>
                      <a:r>
                        <a:rPr sz="800" b="1" i="0">
                          <a:solidFill>
                            <a:srgbClr val="000000"/>
                          </a:solidFill>
                          <a:latin typeface="Arial"/>
                          <a:ea typeface="游ゴシック"/>
                        </a:rPr>
                        <a:t>負債・純資産合計</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00" b="1" i="0">
                          <a:solidFill>
                            <a:srgbClr val="000000"/>
                          </a:solidFill>
                          <a:latin typeface="Arial"/>
                          <a:ea typeface="游ゴシック"/>
                        </a:rPr>
                        <a:t>1,340,292</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00" b="1" i="0">
                          <a:solidFill>
                            <a:srgbClr val="000000"/>
                          </a:solidFill>
                          <a:latin typeface="Arial"/>
                          <a:ea typeface="游ゴシック"/>
                        </a:rPr>
                        <a:t>1,408,490</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00" b="1" i="0">
                          <a:solidFill>
                            <a:srgbClr val="000000"/>
                          </a:solidFill>
                          <a:latin typeface="Arial"/>
                          <a:ea typeface="游ゴシック"/>
                        </a:rPr>
                        <a:t>796,509</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r>
            </a:tbl>
          </a:graphicData>
        </a:graphic>
      </p:graphicFrame>
    </p:spTree>
    <p:extLst>
      <p:ext uri="{BB962C8B-B14F-4D97-AF65-F5344CB8AC3E}">
        <p14:creationId xmlns:p14="http://schemas.microsoft.com/office/powerpoint/2010/main" val="28778819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83D88-B54F-0820-A617-759035C5FFCE}"/>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2C2D39CC-0147-8513-46F0-368EBE22D97C}"/>
              </a:ext>
            </a:extLst>
          </p:cNvPr>
          <p:cNvSpPr>
            <a:spLocks noGrp="1"/>
          </p:cNvSpPr>
          <p:nvPr>
            <p:ph type="ctrTitle"/>
          </p:nvPr>
        </p:nvSpPr>
        <p:spPr>
          <a:xfrm>
            <a:off x="311150" y="180296"/>
            <a:ext cx="7799917" cy="339267"/>
          </a:xfrm>
        </p:spPr>
        <p:txBody>
          <a:bodyPr>
            <a:normAutofit/>
          </a:bodyPr>
          <a:lstStyle/>
          <a:p>
            <a:r>
              <a:rPr lang="ja-JP" altLang="en-US" dirty="0"/>
              <a:t>損益計算書</a:t>
            </a:r>
          </a:p>
        </p:txBody>
      </p:sp>
      <p:sp>
        <p:nvSpPr>
          <p:cNvPr id="5" name="タイトル 1">
            <a:extLst>
              <a:ext uri="{FF2B5EF4-FFF2-40B4-BE49-F238E27FC236}">
                <a16:creationId xmlns:a16="http://schemas.microsoft.com/office/drawing/2014/main" id="{B1382B80-EF7F-718A-0685-302C41A8531B}"/>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財務情報詳細</a:t>
            </a:r>
          </a:p>
        </p:txBody>
      </p:sp>
      <p:sp>
        <p:nvSpPr>
          <p:cNvPr id="4" name="字幕 13">
            <a:extLst>
              <a:ext uri="{FF2B5EF4-FFF2-40B4-BE49-F238E27FC236}">
                <a16:creationId xmlns:a16="http://schemas.microsoft.com/office/drawing/2014/main" id="{C391002A-F61E-39B7-D75D-796D17928C17}"/>
              </a:ext>
            </a:extLst>
          </p:cNvPr>
          <p:cNvSpPr>
            <a:spLocks noGrp="1"/>
          </p:cNvSpPr>
          <p:nvPr>
            <p:ph type="subTitle" idx="1"/>
          </p:nvPr>
        </p:nvSpPr>
        <p:spPr>
          <a:xfrm>
            <a:off x="460675" y="830046"/>
            <a:ext cx="9781875" cy="241861"/>
          </a:xfrm>
        </p:spPr>
        <p:txBody>
          <a:bodyPr>
            <a:noAutofit/>
          </a:bodyPr>
          <a:lstStyle/>
          <a:p>
            <a:r>
              <a:rPr lang="ja-JP" altLang="en-US" dirty="0">
                <a:latin typeface="+mj-ea"/>
              </a:rPr>
              <a:t>令和7年3月期は不動産売却を含む特殊な期。店舗等の継続事業は売上約3億円・営業損益ほぼ均衡で推移し、令和8年3月期の当期純損失は過年度法人税等の納付によるものです。</a:t>
            </a:r>
            <a:endParaRPr lang="en-US" altLang="ja-JP" dirty="0"/>
          </a:p>
        </p:txBody>
      </p:sp>
      <p:sp>
        <p:nvSpPr>
          <p:cNvPr id="2" name="正方形/長方形 1">
            <a:extLst>
              <a:ext uri="{FF2B5EF4-FFF2-40B4-BE49-F238E27FC236}">
                <a16:creationId xmlns:a16="http://schemas.microsoft.com/office/drawing/2014/main" id="{BF27BA7A-9153-58C5-3140-5975C57507B3}"/>
              </a:ext>
            </a:extLst>
          </p:cNvPr>
          <p:cNvSpPr/>
          <p:nvPr/>
        </p:nvSpPr>
        <p:spPr>
          <a:xfrm>
            <a:off x="6455664" y="1382390"/>
            <a:ext cx="3924999" cy="5596336"/>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6" name="テキスト ボックス 5">
            <a:extLst>
              <a:ext uri="{FF2B5EF4-FFF2-40B4-BE49-F238E27FC236}">
                <a16:creationId xmlns:a16="http://schemas.microsoft.com/office/drawing/2014/main" id="{A007D27D-8826-CDC6-2389-3E385CB817A8}"/>
              </a:ext>
            </a:extLst>
          </p:cNvPr>
          <p:cNvSpPr txBox="1"/>
          <p:nvPr/>
        </p:nvSpPr>
        <p:spPr>
          <a:xfrm>
            <a:off x="6455664" y="1828800"/>
            <a:ext cx="3894836" cy="3724096"/>
          </a:xfrm>
          <a:prstGeom prst="rect">
            <a:avLst/>
          </a:prstGeom>
          <a:noFill/>
        </p:spPr>
        <p:txBody>
          <a:bodyPr wrap="square" lIns="288000" tIns="0" rIns="252000" bIns="0" rtlCol="0">
            <a:spAutoFit/>
          </a:bodyPr>
          <a:lstStyle/>
          <a:p>
            <a:r>
              <a:rPr kumimoji="1" lang="ja-JP" altLang="en-US" sz="900" dirty="0">
                <a:solidFill>
                  <a:schemeClr val="tx1"/>
                </a:solidFill>
                <a:latin typeface="+mn-ea"/>
                <a:ea typeface="+mn-ea"/>
              </a:rPr>
              <a:t>≪売上≫</a:t>
            </a:r>
            <a:endParaRPr kumimoji="1" lang="ja-JP" altLang="en-US" sz="900" dirty="0"/>
          </a:p>
          <a:p>
            <a:r>
              <a:rPr kumimoji="1" lang="ja-JP" altLang="en-US" sz="900" dirty="0">
                <a:solidFill>
                  <a:schemeClr val="tx1"/>
                </a:solidFill>
                <a:latin typeface="+mn-ea"/>
                <a:ea typeface="+mn-ea"/>
              </a:rPr>
              <a:t>・令和7年3月期：賃貸不動産の売却収入869百万円（土地761百万円・建物108百万円）を含む</a:t>
            </a:r>
            <a:endParaRPr kumimoji="1" lang="ja-JP" altLang="en-US" sz="900" dirty="0"/>
          </a:p>
          <a:p>
            <a:r>
              <a:rPr kumimoji="1" lang="ja-JP" altLang="en-US" sz="900" dirty="0">
                <a:solidFill>
                  <a:schemeClr val="tx1"/>
                </a:solidFill>
                <a:latin typeface="+mn-ea"/>
                <a:ea typeface="+mn-ea"/>
              </a:rPr>
              <a:t>・令和8年3月期：コンサル収入14百万円（単発・要確認）を含む</a:t>
            </a:r>
            <a:endParaRPr kumimoji="1" lang="ja-JP" altLang="en-US" sz="900" dirty="0"/>
          </a:p>
          <a:p>
            <a:r>
              <a:rPr kumimoji="1" lang="ja-JP" altLang="en-US" sz="900" dirty="0">
                <a:solidFill>
                  <a:schemeClr val="tx1"/>
                </a:solidFill>
                <a:latin typeface="+mn-ea"/>
                <a:ea typeface="+mn-ea"/>
              </a:rPr>
              <a:t>≪売上原価≫</a:t>
            </a:r>
            <a:endParaRPr kumimoji="1" lang="ja-JP" altLang="en-US" sz="900" dirty="0"/>
          </a:p>
          <a:p>
            <a:r>
              <a:rPr kumimoji="1" lang="ja-JP" altLang="en-US" sz="900" dirty="0">
                <a:solidFill>
                  <a:schemeClr val="tx1"/>
                </a:solidFill>
                <a:latin typeface="+mn-ea"/>
                <a:ea typeface="+mn-ea"/>
              </a:rPr>
              <a:t>・令和7年3月期は不動産売却関連原価636百万円（物件原価・紹介手数料・コンサル費用等）を含む</a:t>
            </a:r>
            <a:endParaRPr kumimoji="1" lang="ja-JP" altLang="en-US" sz="900" dirty="0"/>
          </a:p>
          <a:p>
            <a:r>
              <a:rPr kumimoji="1" lang="ja-JP" altLang="en-US" sz="900" dirty="0">
                <a:solidFill>
                  <a:schemeClr val="tx1"/>
                </a:solidFill>
                <a:latin typeface="+mn-ea"/>
                <a:ea typeface="+mn-ea"/>
              </a:rPr>
              <a:t>≪特別損失≫</a:t>
            </a:r>
            <a:endParaRPr kumimoji="1" lang="ja-JP" altLang="en-US" sz="900" dirty="0"/>
          </a:p>
          <a:p>
            <a:r>
              <a:rPr kumimoji="1" lang="ja-JP" altLang="en-US" sz="900" dirty="0">
                <a:solidFill>
                  <a:schemeClr val="tx1"/>
                </a:solidFill>
                <a:latin typeface="+mn-ea"/>
                <a:ea typeface="+mn-ea"/>
              </a:rPr>
              <a:t>・令和7年3月期：店舗等の設備除却損81百万円</a:t>
            </a:r>
            <a:endParaRPr kumimoji="1" lang="ja-JP" altLang="en-US" sz="900" dirty="0"/>
          </a:p>
          <a:p>
            <a:r>
              <a:rPr kumimoji="1" lang="ja-JP" altLang="en-US" sz="900" dirty="0">
                <a:solidFill>
                  <a:schemeClr val="tx1"/>
                </a:solidFill>
                <a:latin typeface="+mn-ea"/>
                <a:ea typeface="+mn-ea"/>
              </a:rPr>
              <a:t>≪法人税等≫</a:t>
            </a:r>
            <a:endParaRPr kumimoji="1" lang="ja-JP" altLang="en-US" sz="900" dirty="0"/>
          </a:p>
          <a:p>
            <a:r>
              <a:rPr kumimoji="1" lang="ja-JP" altLang="en-US" sz="900" dirty="0">
                <a:solidFill>
                  <a:schemeClr val="tx1"/>
                </a:solidFill>
                <a:latin typeface="+mn-ea"/>
                <a:ea typeface="+mn-ea"/>
              </a:rPr>
              <a:t>・令和8年3月期：過年度法人税等48百万円（令和3〜4年度分の納付）を含む</a:t>
            </a:r>
            <a:endParaRPr kumimoji="1" lang="ja-JP" altLang="en-US" sz="900" dirty="0"/>
          </a:p>
          <a:p>
            <a:r>
              <a:rPr kumimoji="1" lang="ja-JP" altLang="en-US" sz="900" dirty="0">
                <a:solidFill>
                  <a:schemeClr val="tx1"/>
                </a:solidFill>
                <a:latin typeface="+mn-ea"/>
                <a:ea typeface="+mn-ea"/>
              </a:rPr>
              <a:t>≪その他≫</a:t>
            </a:r>
            <a:endParaRPr kumimoji="1" lang="ja-JP" altLang="en-US" sz="900" dirty="0"/>
          </a:p>
          <a:p>
            <a:r>
              <a:rPr kumimoji="1" lang="ja-JP" altLang="en-US" sz="900" dirty="0">
                <a:solidFill>
                  <a:schemeClr val="tx1"/>
                </a:solidFill>
                <a:latin typeface="+mn-ea"/>
                <a:ea typeface="+mn-ea"/>
              </a:rPr>
              <a:t>・令和7年3月期の雑損失8.8百万円は消費税の確定計上による</a:t>
            </a:r>
            <a:endParaRPr kumimoji="1" lang="ja-JP" altLang="en-US" sz="900" dirty="0"/>
          </a:p>
        </p:txBody>
      </p:sp>
      <p:graphicFrame>
        <p:nvGraphicFramePr>
          <p:cNvPr id="14" name="Table 13"/>
          <p:cNvGraphicFramePr>
            <a:graphicFrameLocks noGrp="1"/>
          </p:cNvGraphicFramePr>
          <p:nvPr/>
        </p:nvGraphicFramePr>
        <p:xfrm>
          <a:off x="310896" y="1371600"/>
          <a:ext cx="6035040" cy="4937760"/>
        </p:xfrm>
        <a:graphic>
          <a:graphicData uri="http://schemas.openxmlformats.org/drawingml/2006/table">
            <a:tbl>
              <a:tblPr/>
              <a:tblGrid>
                <a:gridCol w="2331720"/>
                <a:gridCol w="1234440"/>
                <a:gridCol w="1234440"/>
                <a:gridCol w="1234440"/>
              </a:tblGrid>
              <a:tr h="274320">
                <a:tc>
                  <a:txBody>
                    <a:bodyPr wrap="square"/>
                    <a:lstStyle/>
                    <a:p>
                      <a:pPr algn="ctr"/>
                      <a:r>
                        <a:rPr sz="850" b="1" i="0">
                          <a:solidFill>
                            <a:srgbClr val="FFFFFF"/>
                          </a:solidFill>
                          <a:latin typeface="Arial"/>
                          <a:ea typeface="游ゴシック"/>
                        </a:rPr>
                        <a:t>（単位：千円）</a:t>
                      </a:r>
                    </a:p>
                  </a:txBody>
                  <a:tcPr marL="45720" marR="45720" marT="13716" marB="13716" anchor="ctr">
                    <a:lnL w="0">
                      <a:noFill/>
                    </a:lnL>
                    <a:lnR w="0">
                      <a:noFill/>
                    </a:lnR>
                    <a:lnT w="0">
                      <a:noFill/>
                    </a:lnT>
                    <a:lnB w="0">
                      <a:noFill/>
                    </a:lnB>
                    <a:solidFill>
                      <a:srgbClr val="0B3041"/>
                    </a:solidFill>
                  </a:tcPr>
                </a:tc>
                <a:tc>
                  <a:txBody>
                    <a:bodyPr wrap="square"/>
                    <a:lstStyle/>
                    <a:p>
                      <a:pPr algn="ctr"/>
                      <a:r>
                        <a:rPr sz="850" b="1" i="0">
                          <a:solidFill>
                            <a:srgbClr val="FFFFFF"/>
                          </a:solidFill>
                          <a:latin typeface="Arial"/>
                          <a:ea typeface="游ゴシック"/>
                        </a:rPr>
                        <a:t>令和6年3月期</a:t>
                      </a:r>
                    </a:p>
                  </a:txBody>
                  <a:tcPr marL="45720" marR="45720" marT="13716" marB="13716" anchor="ctr">
                    <a:lnL w="0">
                      <a:noFill/>
                    </a:lnL>
                    <a:lnR w="0">
                      <a:noFill/>
                    </a:lnR>
                    <a:lnT w="0">
                      <a:noFill/>
                    </a:lnT>
                    <a:lnB w="0">
                      <a:noFill/>
                    </a:lnB>
                    <a:solidFill>
                      <a:srgbClr val="0B3041"/>
                    </a:solidFill>
                  </a:tcPr>
                </a:tc>
                <a:tc>
                  <a:txBody>
                    <a:bodyPr wrap="square"/>
                    <a:lstStyle/>
                    <a:p>
                      <a:pPr algn="ctr"/>
                      <a:r>
                        <a:rPr sz="850" b="1" i="0">
                          <a:solidFill>
                            <a:srgbClr val="FFFFFF"/>
                          </a:solidFill>
                          <a:latin typeface="Arial"/>
                          <a:ea typeface="游ゴシック"/>
                        </a:rPr>
                        <a:t>令和7年3月期</a:t>
                      </a:r>
                    </a:p>
                  </a:txBody>
                  <a:tcPr marL="45720" marR="45720" marT="13716" marB="13716" anchor="ctr">
                    <a:lnL w="0">
                      <a:noFill/>
                    </a:lnL>
                    <a:lnR w="0">
                      <a:noFill/>
                    </a:lnR>
                    <a:lnT w="0">
                      <a:noFill/>
                    </a:lnT>
                    <a:lnB w="0">
                      <a:noFill/>
                    </a:lnB>
                    <a:solidFill>
                      <a:srgbClr val="0B3041"/>
                    </a:solidFill>
                  </a:tcPr>
                </a:tc>
                <a:tc>
                  <a:txBody>
                    <a:bodyPr wrap="square"/>
                    <a:lstStyle/>
                    <a:p>
                      <a:pPr algn="ctr"/>
                      <a:r>
                        <a:rPr sz="850" b="1" i="0">
                          <a:solidFill>
                            <a:srgbClr val="FFFFFF"/>
                          </a:solidFill>
                          <a:latin typeface="Arial"/>
                          <a:ea typeface="游ゴシック"/>
                        </a:rPr>
                        <a:t>令和8年3月期</a:t>
                      </a:r>
                    </a:p>
                  </a:txBody>
                  <a:tcPr marL="45720" marR="45720" marT="13716" marB="13716" anchor="ctr">
                    <a:lnL w="0">
                      <a:noFill/>
                    </a:lnL>
                    <a:lnR w="0">
                      <a:noFill/>
                    </a:lnR>
                    <a:lnT w="0">
                      <a:noFill/>
                    </a:lnT>
                    <a:lnB w="0">
                      <a:noFill/>
                    </a:lnB>
                    <a:solidFill>
                      <a:srgbClr val="0B3041"/>
                    </a:solidFill>
                  </a:tcPr>
                </a:tc>
              </a:tr>
              <a:tr h="274320">
                <a:tc>
                  <a:txBody>
                    <a:bodyPr wrap="square"/>
                    <a:lstStyle/>
                    <a:p>
                      <a:pPr algn="l"/>
                      <a:r>
                        <a:rPr sz="850" b="1" i="0">
                          <a:solidFill>
                            <a:srgbClr val="000000"/>
                          </a:solidFill>
                          <a:latin typeface="Arial"/>
                          <a:ea typeface="游ゴシック"/>
                        </a:rPr>
                        <a:t>売上高</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383,439</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1,230,830</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319,338</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r>
              <a:tr h="274320">
                <a:tc>
                  <a:txBody>
                    <a:bodyPr wrap="square"/>
                    <a:lstStyle/>
                    <a:p>
                      <a:pPr algn="l"/>
                      <a:r>
                        <a:rPr sz="850" b="0" i="0">
                          <a:solidFill>
                            <a:srgbClr val="000000"/>
                          </a:solidFill>
                          <a:latin typeface="Arial"/>
                          <a:ea typeface="游ゴシック"/>
                        </a:rPr>
                        <a:t>　店舗・EC等売上高</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366,806</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344,798</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303,703</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l"/>
                      <a:r>
                        <a:rPr sz="850" b="0" i="0">
                          <a:solidFill>
                            <a:srgbClr val="000000"/>
                          </a:solidFill>
                          <a:latin typeface="Arial"/>
                          <a:ea typeface="游ゴシック"/>
                        </a:rPr>
                        <a:t>　不動産賃貸収入</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16,634</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16,832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1,635</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l"/>
                      <a:r>
                        <a:rPr sz="850" b="0" i="0">
                          <a:solidFill>
                            <a:srgbClr val="000000"/>
                          </a:solidFill>
                          <a:latin typeface="Arial"/>
                          <a:ea typeface="游ゴシック"/>
                        </a:rPr>
                        <a:t>　不動産売却収入</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869,200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0</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l"/>
                      <a:r>
                        <a:rPr sz="850" b="0" i="0">
                          <a:solidFill>
                            <a:srgbClr val="000000"/>
                          </a:solidFill>
                          <a:latin typeface="Arial"/>
                          <a:ea typeface="游ゴシック"/>
                        </a:rPr>
                        <a:t>　コンサル収入</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14,000</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l"/>
                      <a:r>
                        <a:rPr sz="850" b="0" i="0">
                          <a:solidFill>
                            <a:srgbClr val="000000"/>
                          </a:solidFill>
                          <a:latin typeface="Arial"/>
                          <a:ea typeface="游ゴシック"/>
                        </a:rPr>
                        <a:t>売上原価</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104,842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736,922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96,206</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l"/>
                      <a:r>
                        <a:rPr sz="850" b="1" i="0">
                          <a:solidFill>
                            <a:srgbClr val="000000"/>
                          </a:solidFill>
                          <a:latin typeface="Arial"/>
                          <a:ea typeface="游ゴシック"/>
                        </a:rPr>
                        <a:t>売上総利益</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278,597</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493,908</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223,132</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r>
              <a:tr h="274320">
                <a:tc>
                  <a:txBody>
                    <a:bodyPr wrap="square"/>
                    <a:lstStyle/>
                    <a:p>
                      <a:pPr algn="l"/>
                      <a:r>
                        <a:rPr sz="850" b="0" i="0">
                          <a:solidFill>
                            <a:srgbClr val="000000"/>
                          </a:solidFill>
                          <a:latin typeface="Arial"/>
                          <a:ea typeface="游ゴシック"/>
                        </a:rPr>
                        <a:t>販売費及び一般管理費</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283,552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273,060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222,261</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l"/>
                      <a:r>
                        <a:rPr sz="850" b="1" i="0">
                          <a:solidFill>
                            <a:srgbClr val="000000"/>
                          </a:solidFill>
                          <a:latin typeface="Arial"/>
                          <a:ea typeface="游ゴシック"/>
                        </a:rPr>
                        <a:t>営業利益</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△4,955</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220,847</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871</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r>
              <a:tr h="274320">
                <a:tc>
                  <a:txBody>
                    <a:bodyPr wrap="square"/>
                    <a:lstStyle/>
                    <a:p>
                      <a:pPr algn="l"/>
                      <a:r>
                        <a:rPr sz="850" b="0" i="0">
                          <a:solidFill>
                            <a:srgbClr val="000000"/>
                          </a:solidFill>
                          <a:latin typeface="Arial"/>
                          <a:ea typeface="游ゴシック"/>
                        </a:rPr>
                        <a:t>営業外収益</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416</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2,888</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2,925</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l"/>
                      <a:r>
                        <a:rPr sz="850" b="0" i="0">
                          <a:solidFill>
                            <a:srgbClr val="000000"/>
                          </a:solidFill>
                          <a:latin typeface="Arial"/>
                          <a:ea typeface="游ゴシック"/>
                        </a:rPr>
                        <a:t>営業外費用</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2,752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12,168</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3,215</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l"/>
                      <a:r>
                        <a:rPr sz="850" b="1" i="0">
                          <a:solidFill>
                            <a:srgbClr val="000000"/>
                          </a:solidFill>
                          <a:latin typeface="Arial"/>
                          <a:ea typeface="游ゴシック"/>
                        </a:rPr>
                        <a:t>経常利益</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△7,290</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211,568</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581</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r>
              <a:tr h="274320">
                <a:tc>
                  <a:txBody>
                    <a:bodyPr wrap="square"/>
                    <a:lstStyle/>
                    <a:p>
                      <a:pPr algn="l"/>
                      <a:r>
                        <a:rPr sz="850" b="0" i="0">
                          <a:solidFill>
                            <a:srgbClr val="000000"/>
                          </a:solidFill>
                          <a:latin typeface="Arial"/>
                          <a:ea typeface="游ゴシック"/>
                        </a:rPr>
                        <a:t>特別損失（固定資産除却損）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81,258</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0</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l"/>
                      <a:r>
                        <a:rPr sz="850" b="1" i="0">
                          <a:solidFill>
                            <a:srgbClr val="000000"/>
                          </a:solidFill>
                          <a:latin typeface="Arial"/>
                          <a:ea typeface="游ゴシック"/>
                        </a:rPr>
                        <a:t>税引前当期純利益</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1" i="0">
                          <a:solidFill>
                            <a:srgbClr val="000000"/>
                          </a:solidFill>
                          <a:latin typeface="Arial"/>
                          <a:ea typeface="游ゴシック"/>
                        </a:rPr>
                        <a:t>△7,290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1" i="0">
                          <a:solidFill>
                            <a:srgbClr val="000000"/>
                          </a:solidFill>
                          <a:latin typeface="Arial"/>
                          <a:ea typeface="游ゴシック"/>
                        </a:rPr>
                        <a:t>130,310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1" i="0">
                          <a:solidFill>
                            <a:srgbClr val="000000"/>
                          </a:solidFill>
                          <a:latin typeface="Arial"/>
                          <a:ea typeface="游ゴシック"/>
                        </a:rPr>
                        <a:t>581</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l"/>
                      <a:r>
                        <a:rPr sz="850" b="0" i="0">
                          <a:solidFill>
                            <a:srgbClr val="000000"/>
                          </a:solidFill>
                          <a:latin typeface="Arial"/>
                          <a:ea typeface="游ゴシック"/>
                        </a:rPr>
                        <a:t>法人税等</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195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21,953</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48,664</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l"/>
                      <a:r>
                        <a:rPr sz="850" b="0" i="0">
                          <a:solidFill>
                            <a:srgbClr val="000000"/>
                          </a:solidFill>
                          <a:latin typeface="Arial"/>
                          <a:ea typeface="游ゴシック"/>
                        </a:rPr>
                        <a:t>　うち過年度法人税等</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48,375</a:t>
                      </a:r>
                    </a:p>
                  </a:txBody>
                  <a:tcPr marL="45720" marR="45720" marT="13716" marB="13716" anchor="ctr">
                    <a:lnL w="0">
                      <a:noFill/>
                    </a:lnL>
                    <a:lnR w="0">
                      <a:noFill/>
                    </a:lnR>
                    <a:lnT w="0">
                      <a:noFill/>
                    </a:lnT>
                    <a:lnB w="6350" cap="flat" cmpd="sng" algn="ctr">
                      <a:solidFill>
                        <a:srgbClr val="B8C0C6"/>
                      </a:solidFill>
                      <a:prstDash val="solid"/>
                    </a:lnB>
                    <a:noFill/>
                  </a:tcPr>
                </a:tc>
              </a:tr>
              <a:tr h="274320">
                <a:tc>
                  <a:txBody>
                    <a:bodyPr wrap="square"/>
                    <a:lstStyle/>
                    <a:p>
                      <a:pPr algn="l"/>
                      <a:r>
                        <a:rPr sz="850" b="1" i="0">
                          <a:solidFill>
                            <a:srgbClr val="000000"/>
                          </a:solidFill>
                          <a:latin typeface="Arial"/>
                          <a:ea typeface="游ゴシック"/>
                        </a:rPr>
                        <a:t>税引後当期純利益</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△7,485</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108,356</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△48,084</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r>
            </a:tbl>
          </a:graphicData>
        </a:graphic>
      </p:graphicFrame>
    </p:spTree>
    <p:extLst>
      <p:ext uri="{BB962C8B-B14F-4D97-AF65-F5344CB8AC3E}">
        <p14:creationId xmlns:p14="http://schemas.microsoft.com/office/powerpoint/2010/main" val="37409429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11451-02A5-56C7-8AF6-DBDAA7CFCC10}"/>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F326988B-EA79-EED8-C9CB-DD122747A00F}"/>
              </a:ext>
            </a:extLst>
          </p:cNvPr>
          <p:cNvSpPr>
            <a:spLocks noGrp="1"/>
          </p:cNvSpPr>
          <p:nvPr>
            <p:ph type="ctrTitle"/>
          </p:nvPr>
        </p:nvSpPr>
        <p:spPr>
          <a:xfrm>
            <a:off x="311150" y="180296"/>
            <a:ext cx="7799917" cy="339267"/>
          </a:xfrm>
        </p:spPr>
        <p:txBody>
          <a:bodyPr>
            <a:normAutofit/>
          </a:bodyPr>
          <a:lstStyle/>
          <a:p>
            <a:r>
              <a:rPr lang="ja-JP" altLang="en-US" dirty="0"/>
              <a:t>販売費及び一般管理費</a:t>
            </a:r>
          </a:p>
        </p:txBody>
      </p:sp>
      <p:sp>
        <p:nvSpPr>
          <p:cNvPr id="5" name="タイトル 1">
            <a:extLst>
              <a:ext uri="{FF2B5EF4-FFF2-40B4-BE49-F238E27FC236}">
                <a16:creationId xmlns:a16="http://schemas.microsoft.com/office/drawing/2014/main" id="{7691939A-6180-3920-2B7D-F305819429C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財務情報詳細</a:t>
            </a:r>
          </a:p>
        </p:txBody>
      </p:sp>
      <p:sp>
        <p:nvSpPr>
          <p:cNvPr id="4" name="字幕 13">
            <a:extLst>
              <a:ext uri="{FF2B5EF4-FFF2-40B4-BE49-F238E27FC236}">
                <a16:creationId xmlns:a16="http://schemas.microsoft.com/office/drawing/2014/main" id="{7F8A1EE0-ADF4-993B-FF72-FBEC016B826B}"/>
              </a:ext>
            </a:extLst>
          </p:cNvPr>
          <p:cNvSpPr>
            <a:spLocks noGrp="1"/>
          </p:cNvSpPr>
          <p:nvPr>
            <p:ph type="subTitle" idx="1"/>
          </p:nvPr>
        </p:nvSpPr>
        <p:spPr>
          <a:xfrm>
            <a:off x="460675" y="830046"/>
            <a:ext cx="9781875" cy="241861"/>
          </a:xfrm>
        </p:spPr>
        <p:txBody>
          <a:bodyPr>
            <a:noAutofit/>
          </a:bodyPr>
          <a:lstStyle/>
          <a:p>
            <a:r>
              <a:rPr lang="ja-JP" altLang="en-US" dirty="0">
                <a:latin typeface="+mj-ea"/>
              </a:rPr>
              <a:t>販管費の中心は人件費（給料手当・法定福利費で約131百万円）。地代家賃は本店が自社所有のため売上高比6.8%にとどまります。</a:t>
            </a:r>
            <a:endParaRPr lang="en-US" altLang="ja-JP" dirty="0"/>
          </a:p>
        </p:txBody>
      </p:sp>
      <p:sp>
        <p:nvSpPr>
          <p:cNvPr id="2" name="正方形/長方形 1">
            <a:extLst>
              <a:ext uri="{FF2B5EF4-FFF2-40B4-BE49-F238E27FC236}">
                <a16:creationId xmlns:a16="http://schemas.microsoft.com/office/drawing/2014/main" id="{CBEBB478-5E89-4238-4A34-967912E35C60}"/>
              </a:ext>
            </a:extLst>
          </p:cNvPr>
          <p:cNvSpPr/>
          <p:nvPr/>
        </p:nvSpPr>
        <p:spPr>
          <a:xfrm>
            <a:off x="6455664" y="1382390"/>
            <a:ext cx="3924999" cy="5596336"/>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3" name="テキスト ボックス 2">
            <a:extLst>
              <a:ext uri="{FF2B5EF4-FFF2-40B4-BE49-F238E27FC236}">
                <a16:creationId xmlns:a16="http://schemas.microsoft.com/office/drawing/2014/main" id="{6BA87817-38E4-3F47-34EB-C9702B87B984}"/>
              </a:ext>
            </a:extLst>
          </p:cNvPr>
          <p:cNvSpPr txBox="1"/>
          <p:nvPr/>
        </p:nvSpPr>
        <p:spPr>
          <a:xfrm>
            <a:off x="6455664" y="1828800"/>
            <a:ext cx="3894836" cy="1015663"/>
          </a:xfrm>
          <a:prstGeom prst="rect">
            <a:avLst/>
          </a:prstGeom>
          <a:noFill/>
        </p:spPr>
        <p:txBody>
          <a:bodyPr wrap="square" lIns="288000" tIns="0" rIns="252000" bIns="0" rtlCol="0">
            <a:spAutoFit/>
          </a:bodyPr>
          <a:lstStyle/>
          <a:p>
            <a:r>
              <a:rPr kumimoji="1" lang="ja-JP" altLang="en-US" sz="900" dirty="0">
                <a:solidFill>
                  <a:schemeClr val="tx1"/>
                </a:solidFill>
                <a:latin typeface="+mn-ea"/>
                <a:ea typeface="+mn-ea"/>
              </a:rPr>
              <a:t>≪人件費≫</a:t>
            </a:r>
            <a:endParaRPr kumimoji="1" lang="ja-JP" altLang="en-US" sz="900" dirty="0"/>
          </a:p>
          <a:p>
            <a:r>
              <a:rPr kumimoji="1" lang="ja-JP" altLang="en-US" sz="900" dirty="0">
                <a:solidFill>
                  <a:schemeClr val="tx1"/>
                </a:solidFill>
                <a:latin typeface="+mn-ea"/>
                <a:ea typeface="+mn-ea"/>
              </a:rPr>
              <a:t>・給料手当＋法定福利費は158→125→131百万円。売上高比は約41%</a:t>
            </a:r>
            <a:endParaRPr kumimoji="1" lang="ja-JP" altLang="en-US" sz="900" dirty="0"/>
          </a:p>
          <a:p>
            <a:r>
              <a:rPr kumimoji="1" lang="ja-JP" altLang="en-US" sz="900" dirty="0">
                <a:solidFill>
                  <a:schemeClr val="tx1"/>
                </a:solidFill>
                <a:latin typeface="+mn-ea"/>
                <a:ea typeface="+mn-ea"/>
              </a:rPr>
              <a:t>・役員報酬は年1,920千円</a:t>
            </a:r>
            <a:endParaRPr kumimoji="1" lang="ja-JP" altLang="en-US" sz="900" dirty="0"/>
          </a:p>
          <a:p>
            <a:r>
              <a:rPr kumimoji="1" lang="ja-JP" altLang="en-US" sz="900" dirty="0">
                <a:solidFill>
                  <a:schemeClr val="tx1"/>
                </a:solidFill>
                <a:latin typeface="+mn-ea"/>
                <a:ea typeface="+mn-ea"/>
              </a:rPr>
              <a:t>≪賃借関連≫</a:t>
            </a:r>
            <a:endParaRPr kumimoji="1" lang="ja-JP" altLang="en-US" sz="900" dirty="0"/>
          </a:p>
          <a:p>
            <a:r>
              <a:rPr kumimoji="1" lang="ja-JP" altLang="en-US" sz="900" dirty="0">
                <a:solidFill>
                  <a:schemeClr val="tx1"/>
                </a:solidFill>
                <a:latin typeface="+mn-ea"/>
                <a:ea typeface="+mn-ea"/>
              </a:rPr>
              <a:t>・地代家賃22百万円（紀尾井町店・大船店・社宅・事務所・駐車場）、リース料10百万円</a:t>
            </a:r>
            <a:endParaRPr kumimoji="1" lang="ja-JP" altLang="en-US" sz="900" dirty="0"/>
          </a:p>
          <a:p>
            <a:r>
              <a:rPr kumimoji="1" lang="ja-JP" altLang="en-US" sz="900" dirty="0">
                <a:solidFill>
                  <a:schemeClr val="tx1"/>
                </a:solidFill>
                <a:latin typeface="+mn-ea"/>
                <a:ea typeface="+mn-ea"/>
              </a:rPr>
              <a:t>≪令和7年3月期の特徴≫</a:t>
            </a:r>
            <a:endParaRPr kumimoji="1" lang="ja-JP" altLang="en-US" sz="900" dirty="0"/>
          </a:p>
          <a:p>
            <a:r>
              <a:rPr kumimoji="1" lang="ja-JP" altLang="en-US" sz="900" dirty="0">
                <a:solidFill>
                  <a:schemeClr val="tx1"/>
                </a:solidFill>
                <a:latin typeface="+mn-ea"/>
                <a:ea typeface="+mn-ea"/>
              </a:rPr>
              <a:t>・修繕費12.7百万円、旅費交通費13.6百万円、租税公課9.6百万円等が他期比で多く、不動産売却に関連する費用か要確認</a:t>
            </a:r>
            <a:endParaRPr kumimoji="1" lang="ja-JP" altLang="en-US" sz="900" dirty="0"/>
          </a:p>
          <a:p>
            <a:r>
              <a:rPr kumimoji="1" lang="ja-JP" altLang="en-US" sz="900" dirty="0">
                <a:solidFill>
                  <a:schemeClr val="tx1"/>
                </a:solidFill>
                <a:latin typeface="+mn-ea"/>
                <a:ea typeface="+mn-ea"/>
              </a:rPr>
              <a:t>≪不動産管理費≫</a:t>
            </a:r>
            <a:endParaRPr kumimoji="1" lang="ja-JP" altLang="en-US" sz="900" dirty="0"/>
          </a:p>
          <a:p>
            <a:r>
              <a:rPr kumimoji="1" lang="ja-JP" altLang="en-US" sz="900" dirty="0">
                <a:solidFill>
                  <a:schemeClr val="tx1"/>
                </a:solidFill>
                <a:latin typeface="+mn-ea"/>
                <a:ea typeface="+mn-ea"/>
              </a:rPr>
              <a:t>・売却済物件に係る費用と推察（令和8年3月期0.7百万円）</a:t>
            </a:r>
            <a:endParaRPr kumimoji="1" lang="ja-JP" altLang="en-US" sz="900" dirty="0"/>
          </a:p>
        </p:txBody>
      </p:sp>
      <p:graphicFrame>
        <p:nvGraphicFramePr>
          <p:cNvPr id="14" name="Table 13"/>
          <p:cNvGraphicFramePr>
            <a:graphicFrameLocks noGrp="1"/>
          </p:cNvGraphicFramePr>
          <p:nvPr/>
        </p:nvGraphicFramePr>
        <p:xfrm>
          <a:off x="310896" y="1371600"/>
          <a:ext cx="5897880" cy="4636008"/>
        </p:xfrm>
        <a:graphic>
          <a:graphicData uri="http://schemas.openxmlformats.org/drawingml/2006/table">
            <a:tbl>
              <a:tblPr/>
              <a:tblGrid>
                <a:gridCol w="2103120"/>
                <a:gridCol w="1005840"/>
                <a:gridCol w="1005840"/>
                <a:gridCol w="1005840"/>
                <a:gridCol w="777240"/>
              </a:tblGrid>
              <a:tr h="384048">
                <a:tc>
                  <a:txBody>
                    <a:bodyPr wrap="square"/>
                    <a:lstStyle/>
                    <a:p>
                      <a:pPr algn="ctr"/>
                      <a:r>
                        <a:rPr sz="850" b="1" i="0">
                          <a:solidFill>
                            <a:srgbClr val="FFFFFF"/>
                          </a:solidFill>
                          <a:latin typeface="Arial"/>
                          <a:ea typeface="游ゴシック"/>
                        </a:rPr>
                        <a:t>（単位：千円）</a:t>
                      </a:r>
                    </a:p>
                  </a:txBody>
                  <a:tcPr marL="45720" marR="45720" marT="13716" marB="13716" anchor="ctr">
                    <a:lnL w="0">
                      <a:noFill/>
                    </a:lnL>
                    <a:lnR w="0">
                      <a:noFill/>
                    </a:lnR>
                    <a:lnT w="0">
                      <a:noFill/>
                    </a:lnT>
                    <a:lnB w="0">
                      <a:noFill/>
                    </a:lnB>
                    <a:solidFill>
                      <a:srgbClr val="0B3041"/>
                    </a:solidFill>
                  </a:tcPr>
                </a:tc>
                <a:tc>
                  <a:txBody>
                    <a:bodyPr wrap="square"/>
                    <a:lstStyle/>
                    <a:p>
                      <a:pPr algn="ctr"/>
                      <a:r>
                        <a:rPr sz="850" b="1" i="0">
                          <a:solidFill>
                            <a:srgbClr val="FFFFFF"/>
                          </a:solidFill>
                          <a:latin typeface="Arial"/>
                          <a:ea typeface="游ゴシック"/>
                        </a:rPr>
                        <a:t>令和6年3月期</a:t>
                      </a:r>
                    </a:p>
                  </a:txBody>
                  <a:tcPr marL="45720" marR="45720" marT="13716" marB="13716" anchor="ctr">
                    <a:lnL w="0">
                      <a:noFill/>
                    </a:lnL>
                    <a:lnR w="0">
                      <a:noFill/>
                    </a:lnR>
                    <a:lnT w="0">
                      <a:noFill/>
                    </a:lnT>
                    <a:lnB w="0">
                      <a:noFill/>
                    </a:lnB>
                    <a:solidFill>
                      <a:srgbClr val="0B3041"/>
                    </a:solidFill>
                  </a:tcPr>
                </a:tc>
                <a:tc>
                  <a:txBody>
                    <a:bodyPr wrap="square"/>
                    <a:lstStyle/>
                    <a:p>
                      <a:pPr algn="ctr"/>
                      <a:r>
                        <a:rPr sz="850" b="1" i="0">
                          <a:solidFill>
                            <a:srgbClr val="FFFFFF"/>
                          </a:solidFill>
                          <a:latin typeface="Arial"/>
                          <a:ea typeface="游ゴシック"/>
                        </a:rPr>
                        <a:t>令和7年3月期</a:t>
                      </a:r>
                    </a:p>
                  </a:txBody>
                  <a:tcPr marL="45720" marR="45720" marT="13716" marB="13716" anchor="ctr">
                    <a:lnL w="0">
                      <a:noFill/>
                    </a:lnL>
                    <a:lnR w="0">
                      <a:noFill/>
                    </a:lnR>
                    <a:lnT w="0">
                      <a:noFill/>
                    </a:lnT>
                    <a:lnB w="0">
                      <a:noFill/>
                    </a:lnB>
                    <a:solidFill>
                      <a:srgbClr val="0B3041"/>
                    </a:solidFill>
                  </a:tcPr>
                </a:tc>
                <a:tc>
                  <a:txBody>
                    <a:bodyPr wrap="square"/>
                    <a:lstStyle/>
                    <a:p>
                      <a:pPr algn="ctr"/>
                      <a:r>
                        <a:rPr sz="850" b="1" i="0">
                          <a:solidFill>
                            <a:srgbClr val="FFFFFF"/>
                          </a:solidFill>
                          <a:latin typeface="Arial"/>
                          <a:ea typeface="游ゴシック"/>
                        </a:rPr>
                        <a:t>令和8年3月期</a:t>
                      </a:r>
                    </a:p>
                  </a:txBody>
                  <a:tcPr marL="45720" marR="45720" marT="13716" marB="13716" anchor="ctr">
                    <a:lnL w="0">
                      <a:noFill/>
                    </a:lnL>
                    <a:lnR w="0">
                      <a:noFill/>
                    </a:lnR>
                    <a:lnT w="0">
                      <a:noFill/>
                    </a:lnT>
                    <a:lnB w="0">
                      <a:noFill/>
                    </a:lnB>
                    <a:solidFill>
                      <a:srgbClr val="0B3041"/>
                    </a:solidFill>
                  </a:tcPr>
                </a:tc>
                <a:tc>
                  <a:txBody>
                    <a:bodyPr wrap="square"/>
                    <a:lstStyle/>
                    <a:p>
                      <a:pPr algn="ctr"/>
                      <a:r>
                        <a:rPr sz="850" b="1" i="0">
                          <a:solidFill>
                            <a:srgbClr val="FFFFFF"/>
                          </a:solidFill>
                          <a:latin typeface="Arial"/>
                          <a:ea typeface="游ゴシック"/>
                        </a:rPr>
                        <a:t>売上高比</a:t>
                      </a:r>
                    </a:p>
                    <a:p>
                      <a:pPr algn="ctr"/>
                      <a:r>
                        <a:rPr sz="850" b="1" i="0">
                          <a:solidFill>
                            <a:srgbClr val="FFFFFF"/>
                          </a:solidFill>
                          <a:latin typeface="Arial"/>
                          <a:ea typeface="游ゴシック"/>
                        </a:rPr>
                        <a:t>（令8/3期）</a:t>
                      </a:r>
                    </a:p>
                  </a:txBody>
                  <a:tcPr marL="45720" marR="45720" marT="13716" marB="13716" anchor="ctr">
                    <a:lnL w="0">
                      <a:noFill/>
                    </a:lnL>
                    <a:lnR w="0">
                      <a:noFill/>
                    </a:lnR>
                    <a:lnT w="0">
                      <a:noFill/>
                    </a:lnT>
                    <a:lnB w="0">
                      <a:noFill/>
                    </a:lnB>
                    <a:solidFill>
                      <a:srgbClr val="0B3041"/>
                    </a:solidFill>
                  </a:tcPr>
                </a:tc>
              </a:tr>
              <a:tr h="283464">
                <a:tc>
                  <a:txBody>
                    <a:bodyPr wrap="square"/>
                    <a:lstStyle/>
                    <a:p>
                      <a:pPr algn="l"/>
                      <a:r>
                        <a:rPr sz="850" b="0" i="0">
                          <a:solidFill>
                            <a:srgbClr val="000000"/>
                          </a:solidFill>
                          <a:latin typeface="Arial"/>
                          <a:ea typeface="游ゴシック"/>
                        </a:rPr>
                        <a:t>役員報酬</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1,920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1,920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1,920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0.6%</a:t>
                      </a:r>
                    </a:p>
                  </a:txBody>
                  <a:tcPr marL="45720" marR="45720" marT="13716" marB="13716" anchor="ctr">
                    <a:lnL w="0">
                      <a:noFill/>
                    </a:lnL>
                    <a:lnR w="0">
                      <a:noFill/>
                    </a:lnR>
                    <a:lnT w="0">
                      <a:noFill/>
                    </a:lnT>
                    <a:lnB w="6350" cap="flat" cmpd="sng" algn="ctr">
                      <a:solidFill>
                        <a:srgbClr val="B8C0C6"/>
                      </a:solidFill>
                      <a:prstDash val="solid"/>
                    </a:lnB>
                    <a:noFill/>
                  </a:tcPr>
                </a:tc>
              </a:tr>
              <a:tr h="283464">
                <a:tc>
                  <a:txBody>
                    <a:bodyPr wrap="square"/>
                    <a:lstStyle/>
                    <a:p>
                      <a:pPr algn="l"/>
                      <a:r>
                        <a:rPr sz="850" b="0" i="0">
                          <a:solidFill>
                            <a:srgbClr val="000000"/>
                          </a:solidFill>
                          <a:latin typeface="Arial"/>
                          <a:ea typeface="游ゴシック"/>
                        </a:rPr>
                        <a:t>給料手当</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137,395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111,145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113,156</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35.4%</a:t>
                      </a:r>
                    </a:p>
                  </a:txBody>
                  <a:tcPr marL="45720" marR="45720" marT="13716" marB="13716" anchor="ctr">
                    <a:lnL w="0">
                      <a:noFill/>
                    </a:lnL>
                    <a:lnR w="0">
                      <a:noFill/>
                    </a:lnR>
                    <a:lnT w="0">
                      <a:noFill/>
                    </a:lnT>
                    <a:lnB w="6350" cap="flat" cmpd="sng" algn="ctr">
                      <a:solidFill>
                        <a:srgbClr val="B8C0C6"/>
                      </a:solidFill>
                      <a:prstDash val="solid"/>
                    </a:lnB>
                    <a:noFill/>
                  </a:tcPr>
                </a:tc>
              </a:tr>
              <a:tr h="283464">
                <a:tc>
                  <a:txBody>
                    <a:bodyPr wrap="square"/>
                    <a:lstStyle/>
                    <a:p>
                      <a:pPr algn="l"/>
                      <a:r>
                        <a:rPr sz="850" b="0" i="0">
                          <a:solidFill>
                            <a:srgbClr val="000000"/>
                          </a:solidFill>
                          <a:latin typeface="Arial"/>
                          <a:ea typeface="游ゴシック"/>
                        </a:rPr>
                        <a:t>法定福利費</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21,065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14,046</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18,259</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5.7%</a:t>
                      </a:r>
                    </a:p>
                  </a:txBody>
                  <a:tcPr marL="45720" marR="45720" marT="13716" marB="13716" anchor="ctr">
                    <a:lnL w="0">
                      <a:noFill/>
                    </a:lnL>
                    <a:lnR w="0">
                      <a:noFill/>
                    </a:lnR>
                    <a:lnT w="0">
                      <a:noFill/>
                    </a:lnT>
                    <a:lnB w="6350" cap="flat" cmpd="sng" algn="ctr">
                      <a:solidFill>
                        <a:srgbClr val="B8C0C6"/>
                      </a:solidFill>
                      <a:prstDash val="solid"/>
                    </a:lnB>
                    <a:noFill/>
                  </a:tcPr>
                </a:tc>
              </a:tr>
              <a:tr h="283464">
                <a:tc>
                  <a:txBody>
                    <a:bodyPr wrap="square"/>
                    <a:lstStyle/>
                    <a:p>
                      <a:pPr algn="l"/>
                      <a:r>
                        <a:rPr sz="850" b="0" i="0">
                          <a:solidFill>
                            <a:srgbClr val="000000"/>
                          </a:solidFill>
                          <a:latin typeface="Arial"/>
                          <a:ea typeface="游ゴシック"/>
                        </a:rPr>
                        <a:t>福利厚生費</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292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380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235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0.1%</a:t>
                      </a:r>
                    </a:p>
                  </a:txBody>
                  <a:tcPr marL="45720" marR="45720" marT="13716" marB="13716" anchor="ctr">
                    <a:lnL w="0">
                      <a:noFill/>
                    </a:lnL>
                    <a:lnR w="0">
                      <a:noFill/>
                    </a:lnR>
                    <a:lnT w="0">
                      <a:noFill/>
                    </a:lnT>
                    <a:lnB w="6350" cap="flat" cmpd="sng" algn="ctr">
                      <a:solidFill>
                        <a:srgbClr val="B8C0C6"/>
                      </a:solidFill>
                      <a:prstDash val="solid"/>
                    </a:lnB>
                    <a:noFill/>
                  </a:tcPr>
                </a:tc>
              </a:tr>
              <a:tr h="283464">
                <a:tc>
                  <a:txBody>
                    <a:bodyPr wrap="square"/>
                    <a:lstStyle/>
                    <a:p>
                      <a:pPr algn="l"/>
                      <a:r>
                        <a:rPr sz="850" b="0" i="0">
                          <a:solidFill>
                            <a:srgbClr val="000000"/>
                          </a:solidFill>
                          <a:latin typeface="Arial"/>
                          <a:ea typeface="游ゴシック"/>
                        </a:rPr>
                        <a:t>外注費</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6,144</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3,207</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2,297</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0.7%</a:t>
                      </a:r>
                    </a:p>
                  </a:txBody>
                  <a:tcPr marL="45720" marR="45720" marT="13716" marB="13716" anchor="ctr">
                    <a:lnL w="0">
                      <a:noFill/>
                    </a:lnL>
                    <a:lnR w="0">
                      <a:noFill/>
                    </a:lnR>
                    <a:lnT w="0">
                      <a:noFill/>
                    </a:lnT>
                    <a:lnB w="6350" cap="flat" cmpd="sng" algn="ctr">
                      <a:solidFill>
                        <a:srgbClr val="B8C0C6"/>
                      </a:solidFill>
                      <a:prstDash val="solid"/>
                    </a:lnB>
                    <a:noFill/>
                  </a:tcPr>
                </a:tc>
              </a:tr>
              <a:tr h="283464">
                <a:tc>
                  <a:txBody>
                    <a:bodyPr wrap="square"/>
                    <a:lstStyle/>
                    <a:p>
                      <a:pPr algn="l"/>
                      <a:r>
                        <a:rPr sz="850" b="0" i="0">
                          <a:solidFill>
                            <a:srgbClr val="000000"/>
                          </a:solidFill>
                          <a:latin typeface="Arial"/>
                          <a:ea typeface="游ゴシック"/>
                        </a:rPr>
                        <a:t>地代家賃</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14,896</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17,605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21,688</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6.8%</a:t>
                      </a:r>
                    </a:p>
                  </a:txBody>
                  <a:tcPr marL="45720" marR="45720" marT="13716" marB="13716" anchor="ctr">
                    <a:lnL w="0">
                      <a:noFill/>
                    </a:lnL>
                    <a:lnR w="0">
                      <a:noFill/>
                    </a:lnR>
                    <a:lnT w="0">
                      <a:noFill/>
                    </a:lnT>
                    <a:lnB w="6350" cap="flat" cmpd="sng" algn="ctr">
                      <a:solidFill>
                        <a:srgbClr val="B8C0C6"/>
                      </a:solidFill>
                      <a:prstDash val="solid"/>
                    </a:lnB>
                    <a:noFill/>
                  </a:tcPr>
                </a:tc>
              </a:tr>
              <a:tr h="283464">
                <a:tc>
                  <a:txBody>
                    <a:bodyPr wrap="square"/>
                    <a:lstStyle/>
                    <a:p>
                      <a:pPr algn="l"/>
                      <a:r>
                        <a:rPr sz="850" b="0" i="0">
                          <a:solidFill>
                            <a:srgbClr val="000000"/>
                          </a:solidFill>
                          <a:latin typeface="Arial"/>
                          <a:ea typeface="游ゴシック"/>
                        </a:rPr>
                        <a:t>リース料</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13,797</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10,744</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10,212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3.2%</a:t>
                      </a:r>
                    </a:p>
                  </a:txBody>
                  <a:tcPr marL="45720" marR="45720" marT="13716" marB="13716" anchor="ctr">
                    <a:lnL w="0">
                      <a:noFill/>
                    </a:lnL>
                    <a:lnR w="0">
                      <a:noFill/>
                    </a:lnR>
                    <a:lnT w="0">
                      <a:noFill/>
                    </a:lnT>
                    <a:lnB w="6350" cap="flat" cmpd="sng" algn="ctr">
                      <a:solidFill>
                        <a:srgbClr val="B8C0C6"/>
                      </a:solidFill>
                      <a:prstDash val="solid"/>
                    </a:lnB>
                    <a:noFill/>
                  </a:tcPr>
                </a:tc>
              </a:tr>
              <a:tr h="283464">
                <a:tc>
                  <a:txBody>
                    <a:bodyPr wrap="square"/>
                    <a:lstStyle/>
                    <a:p>
                      <a:pPr algn="l"/>
                      <a:r>
                        <a:rPr sz="850" b="0" i="0">
                          <a:solidFill>
                            <a:srgbClr val="000000"/>
                          </a:solidFill>
                          <a:latin typeface="Arial"/>
                          <a:ea typeface="游ゴシック"/>
                        </a:rPr>
                        <a:t>支払手数料</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26,497</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25,382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13,893</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4.4%</a:t>
                      </a:r>
                    </a:p>
                  </a:txBody>
                  <a:tcPr marL="45720" marR="45720" marT="13716" marB="13716" anchor="ctr">
                    <a:lnL w="0">
                      <a:noFill/>
                    </a:lnL>
                    <a:lnR w="0">
                      <a:noFill/>
                    </a:lnR>
                    <a:lnT w="0">
                      <a:noFill/>
                    </a:lnT>
                    <a:lnB w="6350" cap="flat" cmpd="sng" algn="ctr">
                      <a:solidFill>
                        <a:srgbClr val="B8C0C6"/>
                      </a:solidFill>
                      <a:prstDash val="solid"/>
                    </a:lnB>
                    <a:noFill/>
                  </a:tcPr>
                </a:tc>
              </a:tr>
              <a:tr h="283464">
                <a:tc>
                  <a:txBody>
                    <a:bodyPr wrap="square"/>
                    <a:lstStyle/>
                    <a:p>
                      <a:pPr algn="l"/>
                      <a:r>
                        <a:rPr sz="850" b="0" i="0">
                          <a:solidFill>
                            <a:srgbClr val="000000"/>
                          </a:solidFill>
                          <a:latin typeface="Arial"/>
                          <a:ea typeface="游ゴシック"/>
                        </a:rPr>
                        <a:t>水道光熱費</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12,095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7,886</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8,256</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2.6%</a:t>
                      </a:r>
                    </a:p>
                  </a:txBody>
                  <a:tcPr marL="45720" marR="45720" marT="13716" marB="13716" anchor="ctr">
                    <a:lnL w="0">
                      <a:noFill/>
                    </a:lnL>
                    <a:lnR w="0">
                      <a:noFill/>
                    </a:lnR>
                    <a:lnT w="0">
                      <a:noFill/>
                    </a:lnT>
                    <a:lnB w="6350" cap="flat" cmpd="sng" algn="ctr">
                      <a:solidFill>
                        <a:srgbClr val="B8C0C6"/>
                      </a:solidFill>
                      <a:prstDash val="solid"/>
                    </a:lnB>
                    <a:noFill/>
                  </a:tcPr>
                </a:tc>
              </a:tr>
              <a:tr h="283464">
                <a:tc>
                  <a:txBody>
                    <a:bodyPr wrap="square"/>
                    <a:lstStyle/>
                    <a:p>
                      <a:pPr algn="l"/>
                      <a:r>
                        <a:rPr sz="850" b="0" i="0">
                          <a:solidFill>
                            <a:srgbClr val="000000"/>
                          </a:solidFill>
                          <a:latin typeface="Arial"/>
                          <a:ea typeface="游ゴシック"/>
                        </a:rPr>
                        <a:t>減価償却費</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4,595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14,219</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11,896</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3.7%</a:t>
                      </a:r>
                    </a:p>
                  </a:txBody>
                  <a:tcPr marL="45720" marR="45720" marT="13716" marB="13716" anchor="ctr">
                    <a:lnL w="0">
                      <a:noFill/>
                    </a:lnL>
                    <a:lnR w="0">
                      <a:noFill/>
                    </a:lnR>
                    <a:lnT w="0">
                      <a:noFill/>
                    </a:lnT>
                    <a:lnB w="6350" cap="flat" cmpd="sng" algn="ctr">
                      <a:solidFill>
                        <a:srgbClr val="B8C0C6"/>
                      </a:solidFill>
                      <a:prstDash val="solid"/>
                    </a:lnB>
                    <a:noFill/>
                  </a:tcPr>
                </a:tc>
              </a:tr>
              <a:tr h="283464">
                <a:tc>
                  <a:txBody>
                    <a:bodyPr wrap="square"/>
                    <a:lstStyle/>
                    <a:p>
                      <a:pPr algn="l"/>
                      <a:r>
                        <a:rPr sz="850" b="0" i="0">
                          <a:solidFill>
                            <a:srgbClr val="000000"/>
                          </a:solidFill>
                          <a:latin typeface="Arial"/>
                          <a:ea typeface="游ゴシック"/>
                        </a:rPr>
                        <a:t>旅費交通費</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4,459</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13,621</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6,128</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1.9%</a:t>
                      </a:r>
                    </a:p>
                  </a:txBody>
                  <a:tcPr marL="45720" marR="45720" marT="13716" marB="13716" anchor="ctr">
                    <a:lnL w="0">
                      <a:noFill/>
                    </a:lnL>
                    <a:lnR w="0">
                      <a:noFill/>
                    </a:lnR>
                    <a:lnT w="0">
                      <a:noFill/>
                    </a:lnT>
                    <a:lnB w="6350" cap="flat" cmpd="sng" algn="ctr">
                      <a:solidFill>
                        <a:srgbClr val="B8C0C6"/>
                      </a:solidFill>
                      <a:prstDash val="solid"/>
                    </a:lnB>
                    <a:noFill/>
                  </a:tcPr>
                </a:tc>
              </a:tr>
              <a:tr h="283464">
                <a:tc>
                  <a:txBody>
                    <a:bodyPr wrap="square"/>
                    <a:lstStyle/>
                    <a:p>
                      <a:pPr algn="l"/>
                      <a:r>
                        <a:rPr sz="850" b="0" i="0">
                          <a:solidFill>
                            <a:srgbClr val="000000"/>
                          </a:solidFill>
                          <a:latin typeface="Arial"/>
                          <a:ea typeface="游ゴシック"/>
                        </a:rPr>
                        <a:t>修繕費</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4,820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12,668</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350</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0.1%</a:t>
                      </a:r>
                    </a:p>
                  </a:txBody>
                  <a:tcPr marL="45720" marR="45720" marT="13716" marB="13716" anchor="ctr">
                    <a:lnL w="0">
                      <a:noFill/>
                    </a:lnL>
                    <a:lnR w="0">
                      <a:noFill/>
                    </a:lnR>
                    <a:lnT w="0">
                      <a:noFill/>
                    </a:lnT>
                    <a:lnB w="6350" cap="flat" cmpd="sng" algn="ctr">
                      <a:solidFill>
                        <a:srgbClr val="B8C0C6"/>
                      </a:solidFill>
                      <a:prstDash val="solid"/>
                    </a:lnB>
                    <a:noFill/>
                  </a:tcPr>
                </a:tc>
              </a:tr>
              <a:tr h="283464">
                <a:tc>
                  <a:txBody>
                    <a:bodyPr wrap="square"/>
                    <a:lstStyle/>
                    <a:p>
                      <a:pPr algn="l"/>
                      <a:r>
                        <a:rPr sz="850" b="0" i="0">
                          <a:solidFill>
                            <a:srgbClr val="000000"/>
                          </a:solidFill>
                          <a:latin typeface="Arial"/>
                          <a:ea typeface="游ゴシック"/>
                        </a:rPr>
                        <a:t>租税公課</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6,755</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9,642</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4,554</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1.4%</a:t>
                      </a:r>
                    </a:p>
                  </a:txBody>
                  <a:tcPr marL="45720" marR="45720" marT="13716" marB="13716" anchor="ctr">
                    <a:lnL w="0">
                      <a:noFill/>
                    </a:lnL>
                    <a:lnR w="0">
                      <a:noFill/>
                    </a:lnR>
                    <a:lnT w="0">
                      <a:noFill/>
                    </a:lnT>
                    <a:lnB w="6350" cap="flat" cmpd="sng" algn="ctr">
                      <a:solidFill>
                        <a:srgbClr val="B8C0C6"/>
                      </a:solidFill>
                      <a:prstDash val="solid"/>
                    </a:lnB>
                    <a:noFill/>
                  </a:tcPr>
                </a:tc>
              </a:tr>
              <a:tr h="283464">
                <a:tc>
                  <a:txBody>
                    <a:bodyPr wrap="square"/>
                    <a:lstStyle/>
                    <a:p>
                      <a:pPr algn="l"/>
                      <a:r>
                        <a:rPr sz="850" b="0" i="0">
                          <a:solidFill>
                            <a:srgbClr val="000000"/>
                          </a:solidFill>
                          <a:latin typeface="Arial"/>
                          <a:ea typeface="游ゴシック"/>
                        </a:rPr>
                        <a:t>その他</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28,821</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30,594</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9,418</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r"/>
                      <a:r>
                        <a:rPr sz="850" b="0" i="0">
                          <a:solidFill>
                            <a:srgbClr val="000000"/>
                          </a:solidFill>
                          <a:latin typeface="Arial"/>
                          <a:ea typeface="游ゴシック"/>
                        </a:rPr>
                        <a:t>2.9%</a:t>
                      </a:r>
                    </a:p>
                  </a:txBody>
                  <a:tcPr marL="45720" marR="45720" marT="13716" marB="13716" anchor="ctr">
                    <a:lnL w="0">
                      <a:noFill/>
                    </a:lnL>
                    <a:lnR w="0">
                      <a:noFill/>
                    </a:lnR>
                    <a:lnT w="0">
                      <a:noFill/>
                    </a:lnT>
                    <a:lnB w="6350" cap="flat" cmpd="sng" algn="ctr">
                      <a:solidFill>
                        <a:srgbClr val="B8C0C6"/>
                      </a:solidFill>
                      <a:prstDash val="solid"/>
                    </a:lnB>
                    <a:noFill/>
                  </a:tcPr>
                </a:tc>
              </a:tr>
              <a:tr h="283464">
                <a:tc>
                  <a:txBody>
                    <a:bodyPr wrap="square"/>
                    <a:lstStyle/>
                    <a:p>
                      <a:pPr algn="l"/>
                      <a:r>
                        <a:rPr sz="850" b="1" i="0">
                          <a:solidFill>
                            <a:srgbClr val="000000"/>
                          </a:solidFill>
                          <a:latin typeface="Arial"/>
                          <a:ea typeface="游ゴシック"/>
                        </a:rPr>
                        <a:t>販売費及び一般管理費 合計</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283,552</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273,060</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222,261</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c>
                  <a:txBody>
                    <a:bodyPr wrap="square"/>
                    <a:lstStyle/>
                    <a:p>
                      <a:pPr algn="r"/>
                      <a:r>
                        <a:rPr sz="850" b="1" i="0">
                          <a:solidFill>
                            <a:srgbClr val="000000"/>
                          </a:solidFill>
                          <a:latin typeface="Arial"/>
                          <a:ea typeface="游ゴシック"/>
                        </a:rPr>
                        <a:t>69.6%</a:t>
                      </a:r>
                    </a:p>
                  </a:txBody>
                  <a:tcPr marL="45720" marR="45720" marT="13716" marB="13716" anchor="ctr">
                    <a:lnL w="0">
                      <a:noFill/>
                    </a:lnL>
                    <a:lnR w="0">
                      <a:noFill/>
                    </a:lnR>
                    <a:lnT w="6350" cap="flat" cmpd="sng" algn="ctr">
                      <a:solidFill>
                        <a:srgbClr val="0B3041"/>
                      </a:solidFill>
                      <a:prstDash val="solid"/>
                    </a:lnT>
                    <a:lnB w="6350" cap="flat" cmpd="sng" algn="ctr">
                      <a:solidFill>
                        <a:srgbClr val="B8C0C6"/>
                      </a:solidFill>
                      <a:prstDash val="solid"/>
                    </a:lnB>
                    <a:solidFill>
                      <a:srgbClr val="E1F3FB"/>
                    </a:solidFill>
                  </a:tcPr>
                </a:tc>
              </a:tr>
            </a:tbl>
          </a:graphicData>
        </a:graphic>
      </p:graphicFrame>
    </p:spTree>
    <p:extLst>
      <p:ext uri="{BB962C8B-B14F-4D97-AF65-F5344CB8AC3E}">
        <p14:creationId xmlns:p14="http://schemas.microsoft.com/office/powerpoint/2010/main" val="19093800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E9481-F171-6C11-CA74-858754CED30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1067C0B-FDBB-DAD1-C4BF-FB866758BEC6}"/>
              </a:ext>
            </a:extLst>
          </p:cNvPr>
          <p:cNvSpPr>
            <a:spLocks noGrp="1"/>
          </p:cNvSpPr>
          <p:nvPr>
            <p:ph type="title"/>
          </p:nvPr>
        </p:nvSpPr>
        <p:spPr>
          <a:xfrm>
            <a:off x="989013" y="3656161"/>
            <a:ext cx="9221787" cy="615553"/>
          </a:xfrm>
        </p:spPr>
        <p:txBody>
          <a:bodyPr/>
          <a:lstStyle/>
          <a:p>
            <a:r>
              <a:rPr lang="en-US" altLang="ja-JP" dirty="0"/>
              <a:t>Appendix</a:t>
            </a:r>
          </a:p>
        </p:txBody>
      </p:sp>
    </p:spTree>
    <p:extLst>
      <p:ext uri="{BB962C8B-B14F-4D97-AF65-F5344CB8AC3E}">
        <p14:creationId xmlns:p14="http://schemas.microsoft.com/office/powerpoint/2010/main" val="34130237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2E3EC-2048-079E-7643-70D2CF76772A}"/>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02E27983-8C8F-AAE9-9CF2-1036574B4BDE}"/>
              </a:ext>
            </a:extLst>
          </p:cNvPr>
          <p:cNvSpPr>
            <a:spLocks noGrp="1"/>
          </p:cNvSpPr>
          <p:nvPr>
            <p:ph type="ctrTitle"/>
          </p:nvPr>
        </p:nvSpPr>
        <p:spPr>
          <a:xfrm>
            <a:off x="311150" y="180296"/>
            <a:ext cx="7799917" cy="339267"/>
          </a:xfrm>
        </p:spPr>
        <p:txBody>
          <a:bodyPr>
            <a:normAutofit/>
          </a:bodyPr>
          <a:lstStyle/>
          <a:p>
            <a:r>
              <a:rPr lang="ja-JP" altLang="en-US" dirty="0"/>
              <a:t>沿革</a:t>
            </a:r>
          </a:p>
        </p:txBody>
      </p:sp>
      <p:sp>
        <p:nvSpPr>
          <p:cNvPr id="5" name="タイトル 1">
            <a:extLst>
              <a:ext uri="{FF2B5EF4-FFF2-40B4-BE49-F238E27FC236}">
                <a16:creationId xmlns:a16="http://schemas.microsoft.com/office/drawing/2014/main" id="{7C6D20B5-6E7B-D773-483A-3D3213A63C3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en-US" altLang="ja-JP" sz="1200" b="1" spc="55" dirty="0">
                <a:solidFill>
                  <a:schemeClr val="bg1"/>
                </a:solidFill>
              </a:rPr>
              <a:t>Appendix</a:t>
            </a:r>
            <a:endParaRPr lang="ja-JP" altLang="en-US" sz="1200" b="1" spc="55" dirty="0">
              <a:solidFill>
                <a:schemeClr val="bg1"/>
              </a:solidFill>
            </a:endParaRPr>
          </a:p>
        </p:txBody>
      </p:sp>
      <p:sp>
        <p:nvSpPr>
          <p:cNvPr id="4" name="字幕 13">
            <a:extLst>
              <a:ext uri="{FF2B5EF4-FFF2-40B4-BE49-F238E27FC236}">
                <a16:creationId xmlns:a16="http://schemas.microsoft.com/office/drawing/2014/main" id="{16508C02-2E69-432A-5CCB-7583CED20D5E}"/>
              </a:ext>
            </a:extLst>
          </p:cNvPr>
          <p:cNvSpPr>
            <a:spLocks noGrp="1"/>
          </p:cNvSpPr>
          <p:nvPr>
            <p:ph type="subTitle" idx="1"/>
          </p:nvPr>
        </p:nvSpPr>
        <p:spPr>
          <a:xfrm>
            <a:off x="460675" y="830046"/>
            <a:ext cx="9781875" cy="241861"/>
          </a:xfrm>
        </p:spPr>
        <p:txBody>
          <a:bodyPr>
            <a:noAutofit/>
          </a:bodyPr>
          <a:lstStyle/>
          <a:p>
            <a:r>
              <a:rPr lang="ja-JP" altLang="en-US" dirty="0">
                <a:latin typeface="+mj-ea"/>
              </a:rPr>
              <a:t>鎌倉山の店舗（ル・ミリュウ）を2010年に開業して以降、紀尾井町・大船へ出店。令和7年3月に賃貸不動産を売却し、事業を店舗運営に集約しています。</a:t>
            </a:r>
            <a:endParaRPr lang="en-US" altLang="ja-JP" dirty="0"/>
          </a:p>
        </p:txBody>
      </p:sp>
      <p:graphicFrame>
        <p:nvGraphicFramePr>
          <p:cNvPr id="14" name="Table 13"/>
          <p:cNvGraphicFramePr>
            <a:graphicFrameLocks noGrp="1"/>
          </p:cNvGraphicFramePr>
          <p:nvPr/>
        </p:nvGraphicFramePr>
        <p:xfrm>
          <a:off x="310896" y="1463040"/>
          <a:ext cx="10058400" cy="4114800"/>
        </p:xfrm>
        <a:graphic>
          <a:graphicData uri="http://schemas.openxmlformats.org/drawingml/2006/table">
            <a:tbl>
              <a:tblPr/>
              <a:tblGrid>
                <a:gridCol w="1554480"/>
                <a:gridCol w="6217920"/>
                <a:gridCol w="2286000"/>
              </a:tblGrid>
              <a:tr h="457200">
                <a:tc>
                  <a:txBody>
                    <a:bodyPr wrap="square"/>
                    <a:lstStyle/>
                    <a:p>
                      <a:pPr algn="ctr"/>
                      <a:r>
                        <a:rPr sz="1000" b="1" i="0">
                          <a:solidFill>
                            <a:srgbClr val="FFFFFF"/>
                          </a:solidFill>
                          <a:latin typeface="Arial"/>
                          <a:ea typeface="游ゴシック"/>
                        </a:rPr>
                        <a:t>年月</a:t>
                      </a:r>
                    </a:p>
                  </a:txBody>
                  <a:tcPr marL="45720" marR="45720" marT="13716" marB="13716" anchor="ctr">
                    <a:lnL w="0">
                      <a:noFill/>
                    </a:lnL>
                    <a:lnR w="0">
                      <a:noFill/>
                    </a:lnR>
                    <a:lnT w="0">
                      <a:noFill/>
                    </a:lnT>
                    <a:lnB w="0">
                      <a:noFill/>
                    </a:lnB>
                    <a:solidFill>
                      <a:srgbClr val="0B3041"/>
                    </a:solidFill>
                  </a:tcPr>
                </a:tc>
                <a:tc>
                  <a:txBody>
                    <a:bodyPr wrap="square"/>
                    <a:lstStyle/>
                    <a:p>
                      <a:pPr algn="ctr"/>
                      <a:r>
                        <a:rPr sz="1000" b="1" i="0">
                          <a:solidFill>
                            <a:srgbClr val="FFFFFF"/>
                          </a:solidFill>
                          <a:latin typeface="Arial"/>
                          <a:ea typeface="游ゴシック"/>
                        </a:rPr>
                        <a:t>内容</a:t>
                      </a:r>
                    </a:p>
                  </a:txBody>
                  <a:tcPr marL="45720" marR="45720" marT="13716" marB="13716" anchor="ctr">
                    <a:lnL w="0">
                      <a:noFill/>
                    </a:lnL>
                    <a:lnR w="0">
                      <a:noFill/>
                    </a:lnR>
                    <a:lnT w="0">
                      <a:noFill/>
                    </a:lnT>
                    <a:lnB w="0">
                      <a:noFill/>
                    </a:lnB>
                    <a:solidFill>
                      <a:srgbClr val="0B3041"/>
                    </a:solidFill>
                  </a:tcPr>
                </a:tc>
                <a:tc>
                  <a:txBody>
                    <a:bodyPr wrap="square"/>
                    <a:lstStyle/>
                    <a:p>
                      <a:pPr algn="ctr"/>
                      <a:r>
                        <a:rPr sz="1000" b="1" i="0">
                          <a:solidFill>
                            <a:srgbClr val="FFFFFF"/>
                          </a:solidFill>
                          <a:latin typeface="Arial"/>
                          <a:ea typeface="游ゴシック"/>
                        </a:rPr>
                        <a:t>出所</a:t>
                      </a:r>
                    </a:p>
                  </a:txBody>
                  <a:tcPr marL="45720" marR="45720" marT="13716" marB="13716" anchor="ctr">
                    <a:lnL w="0">
                      <a:noFill/>
                    </a:lnL>
                    <a:lnR w="0">
                      <a:noFill/>
                    </a:lnR>
                    <a:lnT w="0">
                      <a:noFill/>
                    </a:lnT>
                    <a:lnB w="0">
                      <a:noFill/>
                    </a:lnB>
                    <a:solidFill>
                      <a:srgbClr val="0B3041"/>
                    </a:solidFill>
                  </a:tcPr>
                </a:tc>
              </a:tr>
              <a:tr h="457200">
                <a:tc>
                  <a:txBody>
                    <a:bodyPr wrap="square"/>
                    <a:lstStyle/>
                    <a:p>
                      <a:pPr algn="l"/>
                      <a:r>
                        <a:rPr sz="1000" b="0" i="0">
                          <a:solidFill>
                            <a:srgbClr val="000000"/>
                          </a:solidFill>
                          <a:latin typeface="Arial"/>
                          <a:ea typeface="游ゴシック"/>
                        </a:rPr>
                        <a:t>2010年12月</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1000" b="0" i="0">
                          <a:solidFill>
                            <a:srgbClr val="000000"/>
                          </a:solidFill>
                          <a:latin typeface="Arial"/>
                          <a:ea typeface="游ゴシック"/>
                        </a:rPr>
                        <a:t>鎌倉山の店舗建物を取得（「ル・ミリュウ鎌倉山」開業）</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1000" b="0" i="0">
                          <a:solidFill>
                            <a:srgbClr val="000000"/>
                          </a:solidFill>
                          <a:latin typeface="Arial"/>
                          <a:ea typeface="游ゴシック"/>
                        </a:rPr>
                        <a:t>固定資産台帳／Web情報</a:t>
                      </a:r>
                    </a:p>
                  </a:txBody>
                  <a:tcPr marL="45720" marR="45720" marT="13716" marB="13716" anchor="ctr">
                    <a:lnL w="0">
                      <a:noFill/>
                    </a:lnL>
                    <a:lnR w="0">
                      <a:noFill/>
                    </a:lnR>
                    <a:lnT w="0">
                      <a:noFill/>
                    </a:lnT>
                    <a:lnB w="6350" cap="flat" cmpd="sng" algn="ctr">
                      <a:solidFill>
                        <a:srgbClr val="B8C0C6"/>
                      </a:solidFill>
                      <a:prstDash val="solid"/>
                    </a:lnB>
                    <a:noFill/>
                  </a:tcPr>
                </a:tc>
              </a:tr>
              <a:tr h="457200">
                <a:tc>
                  <a:txBody>
                    <a:bodyPr wrap="square"/>
                    <a:lstStyle/>
                    <a:p>
                      <a:pPr algn="l"/>
                      <a:r>
                        <a:rPr sz="1000" b="0" i="0">
                          <a:solidFill>
                            <a:srgbClr val="000000"/>
                          </a:solidFill>
                          <a:latin typeface="Arial"/>
                          <a:ea typeface="游ゴシック"/>
                        </a:rPr>
                        <a:t>2017年9月</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1000" b="0" i="0">
                          <a:solidFill>
                            <a:srgbClr val="000000"/>
                          </a:solidFill>
                          <a:latin typeface="Arial"/>
                          <a:ea typeface="游ゴシック"/>
                        </a:rPr>
                        <a:t>鎌倉山店をリニューアル</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1000" b="0" i="0">
                          <a:solidFill>
                            <a:srgbClr val="000000"/>
                          </a:solidFill>
                          <a:latin typeface="Arial"/>
                          <a:ea typeface="游ゴシック"/>
                        </a:rPr>
                        <a:t>Web情報（要確認）</a:t>
                      </a:r>
                    </a:p>
                  </a:txBody>
                  <a:tcPr marL="45720" marR="45720" marT="13716" marB="13716" anchor="ctr">
                    <a:lnL w="0">
                      <a:noFill/>
                    </a:lnL>
                    <a:lnR w="0">
                      <a:noFill/>
                    </a:lnR>
                    <a:lnT w="0">
                      <a:noFill/>
                    </a:lnT>
                    <a:lnB w="6350" cap="flat" cmpd="sng" algn="ctr">
                      <a:solidFill>
                        <a:srgbClr val="B8C0C6"/>
                      </a:solidFill>
                      <a:prstDash val="solid"/>
                    </a:lnB>
                    <a:noFill/>
                  </a:tcPr>
                </a:tc>
              </a:tr>
              <a:tr h="457200">
                <a:tc>
                  <a:txBody>
                    <a:bodyPr wrap="square"/>
                    <a:lstStyle/>
                    <a:p>
                      <a:pPr algn="l"/>
                      <a:r>
                        <a:rPr sz="1000" b="0" i="0">
                          <a:solidFill>
                            <a:srgbClr val="000000"/>
                          </a:solidFill>
                          <a:latin typeface="Arial"/>
                          <a:ea typeface="游ゴシック"/>
                        </a:rPr>
                        <a:t>2021年3月</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1000" b="0" i="0">
                          <a:solidFill>
                            <a:srgbClr val="000000"/>
                          </a:solidFill>
                          <a:latin typeface="Arial"/>
                          <a:ea typeface="游ゴシック"/>
                        </a:rPr>
                        <a:t>ブランズタワー大船の専有部分を取得</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1000" b="0" i="0">
                          <a:solidFill>
                            <a:srgbClr val="000000"/>
                          </a:solidFill>
                          <a:latin typeface="Arial"/>
                          <a:ea typeface="游ゴシック"/>
                        </a:rPr>
                        <a:t>固定資産台帳</a:t>
                      </a:r>
                    </a:p>
                  </a:txBody>
                  <a:tcPr marL="45720" marR="45720" marT="13716" marB="13716" anchor="ctr">
                    <a:lnL w="0">
                      <a:noFill/>
                    </a:lnL>
                    <a:lnR w="0">
                      <a:noFill/>
                    </a:lnR>
                    <a:lnT w="0">
                      <a:noFill/>
                    </a:lnT>
                    <a:lnB w="6350" cap="flat" cmpd="sng" algn="ctr">
                      <a:solidFill>
                        <a:srgbClr val="B8C0C6"/>
                      </a:solidFill>
                      <a:prstDash val="solid"/>
                    </a:lnB>
                    <a:noFill/>
                  </a:tcPr>
                </a:tc>
              </a:tr>
              <a:tr h="457200">
                <a:tc>
                  <a:txBody>
                    <a:bodyPr wrap="square"/>
                    <a:lstStyle/>
                    <a:p>
                      <a:pPr algn="l"/>
                      <a:r>
                        <a:rPr sz="1000" b="0" i="0">
                          <a:solidFill>
                            <a:srgbClr val="000000"/>
                          </a:solidFill>
                          <a:latin typeface="Arial"/>
                          <a:ea typeface="游ゴシック"/>
                        </a:rPr>
                        <a:t>2022年1月</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1000" b="0" i="0">
                          <a:solidFill>
                            <a:srgbClr val="000000"/>
                          </a:solidFill>
                          <a:latin typeface="Arial"/>
                          <a:ea typeface="游ゴシック"/>
                        </a:rPr>
                        <a:t>大船店のB工事（内装）を実施</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1000" b="0" i="0">
                          <a:solidFill>
                            <a:srgbClr val="000000"/>
                          </a:solidFill>
                          <a:latin typeface="Arial"/>
                          <a:ea typeface="游ゴシック"/>
                        </a:rPr>
                        <a:t>固定資産台帳</a:t>
                      </a:r>
                    </a:p>
                  </a:txBody>
                  <a:tcPr marL="45720" marR="45720" marT="13716" marB="13716" anchor="ctr">
                    <a:lnL w="0">
                      <a:noFill/>
                    </a:lnL>
                    <a:lnR w="0">
                      <a:noFill/>
                    </a:lnR>
                    <a:lnT w="0">
                      <a:noFill/>
                    </a:lnT>
                    <a:lnB w="6350" cap="flat" cmpd="sng" algn="ctr">
                      <a:solidFill>
                        <a:srgbClr val="B8C0C6"/>
                      </a:solidFill>
                      <a:prstDash val="solid"/>
                    </a:lnB>
                    <a:noFill/>
                  </a:tcPr>
                </a:tc>
              </a:tr>
              <a:tr h="457200">
                <a:tc>
                  <a:txBody>
                    <a:bodyPr wrap="square"/>
                    <a:lstStyle/>
                    <a:p>
                      <a:pPr algn="l"/>
                      <a:r>
                        <a:rPr sz="1000" b="0" i="0">
                          <a:solidFill>
                            <a:srgbClr val="000000"/>
                          </a:solidFill>
                          <a:latin typeface="Arial"/>
                          <a:ea typeface="游ゴシック"/>
                        </a:rPr>
                        <a:t>令和6年3月期</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1000" b="0" i="0">
                          <a:solidFill>
                            <a:srgbClr val="000000"/>
                          </a:solidFill>
                          <a:latin typeface="Arial"/>
                          <a:ea typeface="游ゴシック"/>
                        </a:rPr>
                        <a:t>四谷店の売上54.9百万円（以降は売上計上なし。閉店と推察・要確認）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1000" b="0" i="0">
                          <a:solidFill>
                            <a:srgbClr val="000000"/>
                          </a:solidFill>
                          <a:latin typeface="Arial"/>
                          <a:ea typeface="游ゴシック"/>
                        </a:rPr>
                        <a:t>総勘定元帳</a:t>
                      </a:r>
                    </a:p>
                  </a:txBody>
                  <a:tcPr marL="45720" marR="45720" marT="13716" marB="13716" anchor="ctr">
                    <a:lnL w="0">
                      <a:noFill/>
                    </a:lnL>
                    <a:lnR w="0">
                      <a:noFill/>
                    </a:lnR>
                    <a:lnT w="0">
                      <a:noFill/>
                    </a:lnT>
                    <a:lnB w="6350" cap="flat" cmpd="sng" algn="ctr">
                      <a:solidFill>
                        <a:srgbClr val="B8C0C6"/>
                      </a:solidFill>
                      <a:prstDash val="solid"/>
                    </a:lnB>
                    <a:noFill/>
                  </a:tcPr>
                </a:tc>
              </a:tr>
              <a:tr h="457200">
                <a:tc>
                  <a:txBody>
                    <a:bodyPr wrap="square"/>
                    <a:lstStyle/>
                    <a:p>
                      <a:pPr algn="l"/>
                      <a:r>
                        <a:rPr sz="1000" b="0" i="0">
                          <a:solidFill>
                            <a:srgbClr val="000000"/>
                          </a:solidFill>
                          <a:latin typeface="Arial"/>
                          <a:ea typeface="游ゴシック"/>
                        </a:rPr>
                        <a:t>2025年3月</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1000" b="0" i="0">
                          <a:solidFill>
                            <a:srgbClr val="000000"/>
                          </a:solidFill>
                          <a:latin typeface="Arial"/>
                          <a:ea typeface="游ゴシック"/>
                        </a:rPr>
                        <a:t>賃貸不動産（松濤フラッツ）を売却（売却額869百万円）。ルミリュウ大船の内装工事</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1000" b="0" i="0">
                          <a:solidFill>
                            <a:srgbClr val="000000"/>
                          </a:solidFill>
                          <a:latin typeface="Arial"/>
                          <a:ea typeface="游ゴシック"/>
                        </a:rPr>
                        <a:t>総勘定元帳／固定資産台帳</a:t>
                      </a:r>
                    </a:p>
                  </a:txBody>
                  <a:tcPr marL="45720" marR="45720" marT="13716" marB="13716" anchor="ctr">
                    <a:lnL w="0">
                      <a:noFill/>
                    </a:lnL>
                    <a:lnR w="0">
                      <a:noFill/>
                    </a:lnR>
                    <a:lnT w="0">
                      <a:noFill/>
                    </a:lnT>
                    <a:lnB w="6350" cap="flat" cmpd="sng" algn="ctr">
                      <a:solidFill>
                        <a:srgbClr val="B8C0C6"/>
                      </a:solidFill>
                      <a:prstDash val="solid"/>
                    </a:lnB>
                    <a:noFill/>
                  </a:tcPr>
                </a:tc>
              </a:tr>
              <a:tr h="457200">
                <a:tc>
                  <a:txBody>
                    <a:bodyPr wrap="square"/>
                    <a:lstStyle/>
                    <a:p>
                      <a:pPr algn="l"/>
                      <a:r>
                        <a:rPr sz="1000" b="0" i="0">
                          <a:solidFill>
                            <a:srgbClr val="000000"/>
                          </a:solidFill>
                          <a:latin typeface="Arial"/>
                          <a:ea typeface="游ゴシック"/>
                        </a:rPr>
                        <a:t>2025年10月</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1000" b="0" i="0">
                          <a:solidFill>
                            <a:srgbClr val="000000"/>
                          </a:solidFill>
                          <a:latin typeface="Arial"/>
                          <a:ea typeface="游ゴシック"/>
                        </a:rPr>
                        <a:t>鎌倉山店に螺旋階段を新設</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1000" b="0" i="0">
                          <a:solidFill>
                            <a:srgbClr val="000000"/>
                          </a:solidFill>
                          <a:latin typeface="Arial"/>
                          <a:ea typeface="游ゴシック"/>
                        </a:rPr>
                        <a:t>固定資産台帳</a:t>
                      </a:r>
                    </a:p>
                  </a:txBody>
                  <a:tcPr marL="45720" marR="45720" marT="13716" marB="13716" anchor="ctr">
                    <a:lnL w="0">
                      <a:noFill/>
                    </a:lnL>
                    <a:lnR w="0">
                      <a:noFill/>
                    </a:lnR>
                    <a:lnT w="0">
                      <a:noFill/>
                    </a:lnT>
                    <a:lnB w="6350" cap="flat" cmpd="sng" algn="ctr">
                      <a:solidFill>
                        <a:srgbClr val="B8C0C6"/>
                      </a:solidFill>
                      <a:prstDash val="solid"/>
                    </a:lnB>
                    <a:noFill/>
                  </a:tcPr>
                </a:tc>
              </a:tr>
              <a:tr h="457200">
                <a:tc>
                  <a:txBody>
                    <a:bodyPr wrap="square"/>
                    <a:lstStyle/>
                    <a:p>
                      <a:pPr algn="l"/>
                      <a:r>
                        <a:rPr sz="1000" b="0" i="0">
                          <a:solidFill>
                            <a:srgbClr val="000000"/>
                          </a:solidFill>
                          <a:latin typeface="Arial"/>
                          <a:ea typeface="游ゴシック"/>
                        </a:rPr>
                        <a:t>（確認中）</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1000" b="0" i="0">
                          <a:solidFill>
                            <a:srgbClr val="000000"/>
                          </a:solidFill>
                          <a:latin typeface="Arial"/>
                          <a:ea typeface="游ゴシック"/>
                        </a:rPr>
                        <a:t>設立年月、商号変更・代表者就任等の経緯は登記事項証明書の受領後に更新</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1000" b="0" i="0">
                          <a:solidFill>
                            <a:srgbClr val="000000"/>
                          </a:solidFill>
                          <a:latin typeface="Arial"/>
                          <a:ea typeface="游ゴシック"/>
                        </a:rPr>
                        <a:t>－</a:t>
                      </a:r>
                    </a:p>
                  </a:txBody>
                  <a:tcPr marL="45720" marR="45720" marT="13716" marB="13716" anchor="ctr">
                    <a:lnL w="0">
                      <a:noFill/>
                    </a:lnL>
                    <a:lnR w="0">
                      <a:noFill/>
                    </a:lnR>
                    <a:lnT w="0">
                      <a:noFill/>
                    </a:lnT>
                    <a:lnB w="6350" cap="flat" cmpd="sng" algn="ctr">
                      <a:solidFill>
                        <a:srgbClr val="B8C0C6"/>
                      </a:solidFill>
                      <a:prstDash val="solid"/>
                    </a:lnB>
                    <a:noFill/>
                  </a:tcPr>
                </a:tc>
              </a:tr>
            </a:tbl>
          </a:graphicData>
        </a:graphic>
      </p:graphicFrame>
    </p:spTree>
    <p:extLst>
      <p:ext uri="{BB962C8B-B14F-4D97-AF65-F5344CB8AC3E}">
        <p14:creationId xmlns:p14="http://schemas.microsoft.com/office/powerpoint/2010/main" val="3914015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C83CD-8F2B-A456-D63E-667BDA8864FE}"/>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6ECAC2D0-8CC0-B4C9-19B7-FFEA448BA129}"/>
              </a:ext>
            </a:extLst>
          </p:cNvPr>
          <p:cNvSpPr>
            <a:spLocks noGrp="1"/>
          </p:cNvSpPr>
          <p:nvPr>
            <p:ph type="ctrTitle"/>
          </p:nvPr>
        </p:nvSpPr>
        <p:spPr>
          <a:xfrm>
            <a:off x="311150" y="180296"/>
            <a:ext cx="7799917" cy="339267"/>
          </a:xfrm>
        </p:spPr>
        <p:txBody>
          <a:bodyPr>
            <a:normAutofit/>
          </a:bodyPr>
          <a:lstStyle/>
          <a:p>
            <a:r>
              <a:rPr lang="ja-JP" altLang="en-US" dirty="0"/>
              <a:t>代表者経歴</a:t>
            </a:r>
          </a:p>
        </p:txBody>
      </p:sp>
      <p:sp>
        <p:nvSpPr>
          <p:cNvPr id="5" name="タイトル 1">
            <a:extLst>
              <a:ext uri="{FF2B5EF4-FFF2-40B4-BE49-F238E27FC236}">
                <a16:creationId xmlns:a16="http://schemas.microsoft.com/office/drawing/2014/main" id="{B2954D03-DD0B-9909-BBC6-EB4264689F16}"/>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en-US" altLang="ja-JP" sz="1200" b="1" spc="55" dirty="0">
                <a:solidFill>
                  <a:schemeClr val="bg1"/>
                </a:solidFill>
              </a:rPr>
              <a:t>Appendix</a:t>
            </a:r>
            <a:endParaRPr lang="ja-JP" altLang="en-US" sz="1200" b="1" spc="55" dirty="0">
              <a:solidFill>
                <a:schemeClr val="bg1"/>
              </a:solidFill>
            </a:endParaRPr>
          </a:p>
        </p:txBody>
      </p:sp>
      <p:sp>
        <p:nvSpPr>
          <p:cNvPr id="4" name="字幕 13">
            <a:extLst>
              <a:ext uri="{FF2B5EF4-FFF2-40B4-BE49-F238E27FC236}">
                <a16:creationId xmlns:a16="http://schemas.microsoft.com/office/drawing/2014/main" id="{44A78BE3-8FEA-62DF-2E04-90B59A7097B8}"/>
              </a:ext>
            </a:extLst>
          </p:cNvPr>
          <p:cNvSpPr>
            <a:spLocks noGrp="1"/>
          </p:cNvSpPr>
          <p:nvPr>
            <p:ph type="subTitle" idx="1"/>
          </p:nvPr>
        </p:nvSpPr>
        <p:spPr>
          <a:xfrm>
            <a:off x="460675" y="830046"/>
            <a:ext cx="9781875" cy="241861"/>
          </a:xfrm>
        </p:spPr>
        <p:txBody>
          <a:bodyPr>
            <a:noAutofit/>
          </a:bodyPr>
          <a:lstStyle/>
          <a:p>
            <a:r>
              <a:rPr lang="ja-JP" altLang="en-US" dirty="0">
                <a:latin typeface="+mj-ea"/>
              </a:rPr>
              <a:t>代表取締役 西丸 修氏が100%株主として経営を担っています。経歴の詳細はオーナーヒアリングにて補完予定です。</a:t>
            </a:r>
            <a:endParaRPr lang="en-US" altLang="ja-JP" dirty="0"/>
          </a:p>
        </p:txBody>
      </p:sp>
      <p:graphicFrame>
        <p:nvGraphicFramePr>
          <p:cNvPr id="14" name="Table 13"/>
          <p:cNvGraphicFramePr>
            <a:graphicFrameLocks noGrp="1"/>
          </p:cNvGraphicFramePr>
          <p:nvPr/>
        </p:nvGraphicFramePr>
        <p:xfrm>
          <a:off x="310896" y="1554480"/>
          <a:ext cx="10058400" cy="2743200"/>
        </p:xfrm>
        <a:graphic>
          <a:graphicData uri="http://schemas.openxmlformats.org/drawingml/2006/table">
            <a:tbl>
              <a:tblPr/>
              <a:tblGrid>
                <a:gridCol w="2377440"/>
                <a:gridCol w="7680960"/>
              </a:tblGrid>
              <a:tr h="457200">
                <a:tc>
                  <a:txBody>
                    <a:bodyPr wrap="square"/>
                    <a:lstStyle/>
                    <a:p>
                      <a:pPr algn="ctr"/>
                      <a:r>
                        <a:rPr sz="1100" b="1" i="0">
                          <a:solidFill>
                            <a:srgbClr val="FFFFFF"/>
                          </a:solidFill>
                          <a:latin typeface="Arial"/>
                          <a:ea typeface="游ゴシック"/>
                        </a:rPr>
                        <a:t>項目</a:t>
                      </a:r>
                    </a:p>
                  </a:txBody>
                  <a:tcPr marL="45720" marR="45720" marT="13716" marB="13716" anchor="ctr">
                    <a:lnL w="0">
                      <a:noFill/>
                    </a:lnL>
                    <a:lnR w="0">
                      <a:noFill/>
                    </a:lnR>
                    <a:lnT w="0">
                      <a:noFill/>
                    </a:lnT>
                    <a:lnB w="0">
                      <a:noFill/>
                    </a:lnB>
                    <a:solidFill>
                      <a:srgbClr val="0B3041"/>
                    </a:solidFill>
                  </a:tcPr>
                </a:tc>
                <a:tc>
                  <a:txBody>
                    <a:bodyPr wrap="square"/>
                    <a:lstStyle/>
                    <a:p>
                      <a:pPr algn="ctr"/>
                      <a:r>
                        <a:rPr sz="1100" b="1" i="0">
                          <a:solidFill>
                            <a:srgbClr val="FFFFFF"/>
                          </a:solidFill>
                          <a:latin typeface="Arial"/>
                          <a:ea typeface="游ゴシック"/>
                        </a:rPr>
                        <a:t>内容</a:t>
                      </a:r>
                    </a:p>
                  </a:txBody>
                  <a:tcPr marL="45720" marR="45720" marT="13716" marB="13716" anchor="ctr">
                    <a:lnL w="0">
                      <a:noFill/>
                    </a:lnL>
                    <a:lnR w="0">
                      <a:noFill/>
                    </a:lnR>
                    <a:lnT w="0">
                      <a:noFill/>
                    </a:lnT>
                    <a:lnB w="0">
                      <a:noFill/>
                    </a:lnB>
                    <a:solidFill>
                      <a:srgbClr val="0B3041"/>
                    </a:solidFill>
                  </a:tcPr>
                </a:tc>
              </a:tr>
              <a:tr h="457200">
                <a:tc>
                  <a:txBody>
                    <a:bodyPr wrap="square"/>
                    <a:lstStyle/>
                    <a:p>
                      <a:pPr algn="l"/>
                      <a:r>
                        <a:rPr sz="1100" b="0" i="0">
                          <a:solidFill>
                            <a:srgbClr val="000000"/>
                          </a:solidFill>
                          <a:latin typeface="Arial"/>
                          <a:ea typeface="游ゴシック"/>
                        </a:rPr>
                        <a:t>氏名</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1100" b="0" i="0">
                          <a:solidFill>
                            <a:srgbClr val="000000"/>
                          </a:solidFill>
                          <a:latin typeface="Arial"/>
                          <a:ea typeface="游ゴシック"/>
                        </a:rPr>
                        <a:t>西丸 修</a:t>
                      </a:r>
                    </a:p>
                  </a:txBody>
                  <a:tcPr marL="45720" marR="45720" marT="13716" marB="13716" anchor="ctr">
                    <a:lnL w="0">
                      <a:noFill/>
                    </a:lnL>
                    <a:lnR w="0">
                      <a:noFill/>
                    </a:lnR>
                    <a:lnT w="0">
                      <a:noFill/>
                    </a:lnT>
                    <a:lnB w="6350" cap="flat" cmpd="sng" algn="ctr">
                      <a:solidFill>
                        <a:srgbClr val="B8C0C6"/>
                      </a:solidFill>
                      <a:prstDash val="solid"/>
                    </a:lnB>
                    <a:noFill/>
                  </a:tcPr>
                </a:tc>
              </a:tr>
              <a:tr h="457200">
                <a:tc>
                  <a:txBody>
                    <a:bodyPr wrap="square"/>
                    <a:lstStyle/>
                    <a:p>
                      <a:pPr algn="l"/>
                      <a:r>
                        <a:rPr sz="1100" b="0" i="0">
                          <a:solidFill>
                            <a:srgbClr val="000000"/>
                          </a:solidFill>
                          <a:latin typeface="Arial"/>
                          <a:ea typeface="游ゴシック"/>
                        </a:rPr>
                        <a:t>役職</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1100" b="0" i="0">
                          <a:solidFill>
                            <a:srgbClr val="000000"/>
                          </a:solidFill>
                          <a:latin typeface="Arial"/>
                          <a:ea typeface="游ゴシック"/>
                        </a:rPr>
                        <a:t>代表取締役（株式100株・100%保有）</a:t>
                      </a:r>
                    </a:p>
                  </a:txBody>
                  <a:tcPr marL="45720" marR="45720" marT="13716" marB="13716" anchor="ctr">
                    <a:lnL w="0">
                      <a:noFill/>
                    </a:lnL>
                    <a:lnR w="0">
                      <a:noFill/>
                    </a:lnR>
                    <a:lnT w="0">
                      <a:noFill/>
                    </a:lnT>
                    <a:lnB w="6350" cap="flat" cmpd="sng" algn="ctr">
                      <a:solidFill>
                        <a:srgbClr val="B8C0C6"/>
                      </a:solidFill>
                      <a:prstDash val="solid"/>
                    </a:lnB>
                    <a:noFill/>
                  </a:tcPr>
                </a:tc>
              </a:tr>
              <a:tr h="457200">
                <a:tc>
                  <a:txBody>
                    <a:bodyPr wrap="square"/>
                    <a:lstStyle/>
                    <a:p>
                      <a:pPr algn="l"/>
                      <a:r>
                        <a:rPr sz="1100" b="0" i="0">
                          <a:solidFill>
                            <a:srgbClr val="000000"/>
                          </a:solidFill>
                          <a:latin typeface="Arial"/>
                          <a:ea typeface="游ゴシック"/>
                        </a:rPr>
                        <a:t>役員報酬</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1100" b="0" i="0">
                          <a:solidFill>
                            <a:srgbClr val="000000"/>
                          </a:solidFill>
                          <a:latin typeface="Arial"/>
                          <a:ea typeface="游ゴシック"/>
                        </a:rPr>
                        <a:t>年1,920千円（令和8年3月期）</a:t>
                      </a:r>
                    </a:p>
                  </a:txBody>
                  <a:tcPr marL="45720" marR="45720" marT="13716" marB="13716" anchor="ctr">
                    <a:lnL w="0">
                      <a:noFill/>
                    </a:lnL>
                    <a:lnR w="0">
                      <a:noFill/>
                    </a:lnR>
                    <a:lnT w="0">
                      <a:noFill/>
                    </a:lnT>
                    <a:lnB w="6350" cap="flat" cmpd="sng" algn="ctr">
                      <a:solidFill>
                        <a:srgbClr val="B8C0C6"/>
                      </a:solidFill>
                      <a:prstDash val="solid"/>
                    </a:lnB>
                    <a:noFill/>
                  </a:tcPr>
                </a:tc>
              </a:tr>
              <a:tr h="457200">
                <a:tc>
                  <a:txBody>
                    <a:bodyPr wrap="square"/>
                    <a:lstStyle/>
                    <a:p>
                      <a:pPr algn="l"/>
                      <a:r>
                        <a:rPr sz="1100" b="0" i="0">
                          <a:solidFill>
                            <a:srgbClr val="000000"/>
                          </a:solidFill>
                          <a:latin typeface="Arial"/>
                          <a:ea typeface="游ゴシック"/>
                        </a:rPr>
                        <a:t>経歴・保有資格</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1100" b="0" i="0">
                          <a:solidFill>
                            <a:srgbClr val="000000"/>
                          </a:solidFill>
                          <a:latin typeface="Arial"/>
                          <a:ea typeface="游ゴシック"/>
                        </a:rPr>
                        <a:t>未受領（要確認。オーナーヒアリングにて補完予定）</a:t>
                      </a:r>
                    </a:p>
                  </a:txBody>
                  <a:tcPr marL="45720" marR="45720" marT="13716" marB="13716" anchor="ctr">
                    <a:lnL w="0">
                      <a:noFill/>
                    </a:lnL>
                    <a:lnR w="0">
                      <a:noFill/>
                    </a:lnR>
                    <a:lnT w="0">
                      <a:noFill/>
                    </a:lnT>
                    <a:lnB w="6350" cap="flat" cmpd="sng" algn="ctr">
                      <a:solidFill>
                        <a:srgbClr val="B8C0C6"/>
                      </a:solidFill>
                      <a:prstDash val="solid"/>
                    </a:lnB>
                    <a:noFill/>
                  </a:tcPr>
                </a:tc>
              </a:tr>
              <a:tr h="457200">
                <a:tc>
                  <a:txBody>
                    <a:bodyPr wrap="square"/>
                    <a:lstStyle/>
                    <a:p>
                      <a:pPr algn="l"/>
                      <a:r>
                        <a:rPr sz="1100" b="0" i="0">
                          <a:solidFill>
                            <a:srgbClr val="000000"/>
                          </a:solidFill>
                          <a:latin typeface="Arial"/>
                          <a:ea typeface="游ゴシック"/>
                        </a:rPr>
                        <a:t>M&amp;A後の関与意向</a:t>
                      </a:r>
                    </a:p>
                  </a:txBody>
                  <a:tcPr marL="45720" marR="45720" marT="13716" marB="13716" anchor="ctr">
                    <a:lnL w="0">
                      <a:noFill/>
                    </a:lnL>
                    <a:lnR w="0">
                      <a:noFill/>
                    </a:lnR>
                    <a:lnT w="0">
                      <a:noFill/>
                    </a:lnT>
                    <a:lnB w="6350" cap="flat" cmpd="sng" algn="ctr">
                      <a:solidFill>
                        <a:srgbClr val="B8C0C6"/>
                      </a:solidFill>
                      <a:prstDash val="solid"/>
                    </a:lnB>
                    <a:noFill/>
                  </a:tcPr>
                </a:tc>
                <a:tc>
                  <a:txBody>
                    <a:bodyPr wrap="square"/>
                    <a:lstStyle/>
                    <a:p>
                      <a:pPr algn="l"/>
                      <a:r>
                        <a:rPr sz="1100" b="0" i="0">
                          <a:solidFill>
                            <a:srgbClr val="000000"/>
                          </a:solidFill>
                          <a:latin typeface="Arial"/>
                          <a:ea typeface="游ゴシック"/>
                        </a:rPr>
                        <a:t>未確認（ヒアリング予定）</a:t>
                      </a:r>
                    </a:p>
                  </a:txBody>
                  <a:tcPr marL="45720" marR="45720" marT="13716" marB="13716" anchor="ctr">
                    <a:lnL w="0">
                      <a:noFill/>
                    </a:lnL>
                    <a:lnR w="0">
                      <a:noFill/>
                    </a:lnR>
                    <a:lnT w="0">
                      <a:noFill/>
                    </a:lnT>
                    <a:lnB w="6350" cap="flat" cmpd="sng" algn="ctr">
                      <a:solidFill>
                        <a:srgbClr val="B8C0C6"/>
                      </a:solidFill>
                      <a:prstDash val="solid"/>
                    </a:lnB>
                    <a:noFill/>
                  </a:tcPr>
                </a:tc>
              </a:tr>
            </a:tbl>
          </a:graphicData>
        </a:graphic>
      </p:graphicFrame>
    </p:spTree>
    <p:extLst>
      <p:ext uri="{BB962C8B-B14F-4D97-AF65-F5344CB8AC3E}">
        <p14:creationId xmlns:p14="http://schemas.microsoft.com/office/powerpoint/2010/main" val="31702895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75621-FF75-0C7B-591E-C5EBD950595B}"/>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7E874B4C-2D5E-166C-B8B9-0164D0AAEFB9}"/>
              </a:ext>
            </a:extLst>
          </p:cNvPr>
          <p:cNvSpPr>
            <a:spLocks noGrp="1"/>
          </p:cNvSpPr>
          <p:nvPr>
            <p:ph type="ctrTitle"/>
          </p:nvPr>
        </p:nvSpPr>
        <p:spPr>
          <a:xfrm>
            <a:off x="311150" y="180296"/>
            <a:ext cx="7799917" cy="339267"/>
          </a:xfrm>
        </p:spPr>
        <p:txBody>
          <a:bodyPr>
            <a:normAutofit/>
          </a:bodyPr>
          <a:lstStyle/>
          <a:p>
            <a:r>
              <a:rPr lang="ja-JP" altLang="en-US" dirty="0"/>
              <a:t>その他補足情報</a:t>
            </a:r>
          </a:p>
        </p:txBody>
      </p:sp>
      <p:sp>
        <p:nvSpPr>
          <p:cNvPr id="5" name="タイトル 1">
            <a:extLst>
              <a:ext uri="{FF2B5EF4-FFF2-40B4-BE49-F238E27FC236}">
                <a16:creationId xmlns:a16="http://schemas.microsoft.com/office/drawing/2014/main" id="{8B300F08-EE1D-F462-B949-D3B040FD0277}"/>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en-US" altLang="ja-JP" sz="1200" b="1" spc="55" dirty="0">
                <a:solidFill>
                  <a:schemeClr val="bg1"/>
                </a:solidFill>
              </a:rPr>
              <a:t>Appendix</a:t>
            </a:r>
            <a:endParaRPr lang="ja-JP" altLang="en-US" sz="1200" b="1" spc="55" dirty="0">
              <a:solidFill>
                <a:schemeClr val="bg1"/>
              </a:solidFill>
            </a:endParaRPr>
          </a:p>
        </p:txBody>
      </p:sp>
      <p:sp>
        <p:nvSpPr>
          <p:cNvPr id="4" name="字幕 13">
            <a:extLst>
              <a:ext uri="{FF2B5EF4-FFF2-40B4-BE49-F238E27FC236}">
                <a16:creationId xmlns:a16="http://schemas.microsoft.com/office/drawing/2014/main" id="{FCA9575B-1240-BC5B-38CA-16FCB838E8D8}"/>
              </a:ext>
            </a:extLst>
          </p:cNvPr>
          <p:cNvSpPr>
            <a:spLocks noGrp="1"/>
          </p:cNvSpPr>
          <p:nvPr>
            <p:ph type="subTitle" idx="1"/>
          </p:nvPr>
        </p:nvSpPr>
        <p:spPr>
          <a:xfrm>
            <a:off x="460675" y="830046"/>
            <a:ext cx="9781875" cy="241861"/>
          </a:xfrm>
        </p:spPr>
        <p:txBody>
          <a:bodyPr>
            <a:noAutofit/>
          </a:bodyPr>
          <a:lstStyle/>
          <a:p>
            <a:r>
              <a:rPr lang="ja-JP" altLang="en-US" dirty="0">
                <a:latin typeface="+mj-ea"/>
              </a:rPr>
              <a:t>検討にあたっての補足情報と、現時点での主な確認事項を記載します。確認事項は今後のヒアリング・資料開示により順次補完します。</a:t>
            </a:r>
            <a:endParaRPr lang="en-US" altLang="ja-JP" dirty="0"/>
          </a:p>
        </p:txBody>
      </p:sp>
      <p:sp>
        <p:nvSpPr>
          <p:cNvPr id="14" name="Rectangle 13"/>
          <p:cNvSpPr/>
          <p:nvPr/>
        </p:nvSpPr>
        <p:spPr>
          <a:xfrm>
            <a:off x="457200" y="1508760"/>
            <a:ext cx="9784080" cy="31089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kumimoji="1" lang="ja-JP" altLang="en-US" sz="1150" dirty="0" b="1">
                <a:solidFill>
                  <a:srgbClr val="FFFFFF"/>
                </a:solidFill>
                <a:latin typeface="+mn-ea"/>
                <a:ea typeface="+mn-ea"/>
              </a:rPr>
              <a:t>■ 不動産・非事業用資産</a:t>
            </a:r>
            <a:endParaRPr kumimoji="1" lang="ja-JP" altLang="en-US" sz="1150" dirty="0"/>
          </a:p>
        </p:txBody>
      </p:sp>
      <p:sp>
        <p:nvSpPr>
          <p:cNvPr id="15" name="TextBox 14"/>
          <p:cNvSpPr txBox="1"/>
          <p:nvPr/>
        </p:nvSpPr>
        <p:spPr>
          <a:xfrm>
            <a:off x="457200" y="1856231"/>
            <a:ext cx="9784080" cy="1051560"/>
          </a:xfrm>
          <a:prstGeom prst="rect">
            <a:avLst/>
          </a:prstGeom>
          <a:solidFill>
            <a:srgbClr val="E3E7E9"/>
          </a:solidFill>
        </p:spPr>
        <p:txBody>
          <a:bodyPr wrap="square" lIns="137160" tIns="73152" rIns="137160" anchor="t">
            <a:spAutoFit/>
          </a:bodyPr>
          <a:lstStyle/>
          <a:p>
            <a:pPr>
              <a:spcAft>
                <a:spcPts val="200"/>
              </a:spcAft>
            </a:pPr>
            <a:r>
              <a:rPr kumimoji="1" lang="ja-JP" altLang="en-US" sz="1100" dirty="0">
                <a:solidFill>
                  <a:srgbClr val="000000"/>
                </a:solidFill>
                <a:latin typeface="+mn-ea"/>
                <a:ea typeface="+mn-ea"/>
              </a:rPr>
              <a:t>・鎌倉山の土地345百万円・建物93百万円（簿価）。時価は未評価</a:t>
            </a:r>
            <a:endParaRPr kumimoji="1" lang="ja-JP" altLang="en-US" sz="1100" dirty="0"/>
          </a:p>
          <a:p>
            <a:pPr>
              <a:spcAft>
                <a:spcPts val="200"/>
              </a:spcAft>
            </a:pPr>
            <a:r>
              <a:rPr kumimoji="1" lang="ja-JP" altLang="en-US" sz="1100" dirty="0">
                <a:solidFill>
                  <a:srgbClr val="000000"/>
                </a:solidFill>
                <a:latin typeface="+mn-ea"/>
                <a:ea typeface="+mn-ea"/>
              </a:rPr>
              <a:t>・「鎌倉山三丁目計画」関連の約87百万円を土地へ振替済（内容要確認）</a:t>
            </a:r>
            <a:endParaRPr kumimoji="1" lang="ja-JP" altLang="en-US" sz="1100" dirty="0"/>
          </a:p>
          <a:p>
            <a:pPr>
              <a:spcAft>
                <a:spcPts val="200"/>
              </a:spcAft>
            </a:pPr>
            <a:r>
              <a:rPr kumimoji="1" lang="ja-JP" altLang="en-US" sz="1100" dirty="0">
                <a:solidFill>
                  <a:srgbClr val="000000"/>
                </a:solidFill>
                <a:latin typeface="+mn-ea"/>
                <a:ea typeface="+mn-ea"/>
              </a:rPr>
              <a:t>・ブランズタワー大船の専有部分（簿価26百万円）は事業用か投資用か要確認</a:t>
            </a:r>
            <a:endParaRPr kumimoji="1" lang="ja-JP" altLang="en-US" sz="1100" dirty="0"/>
          </a:p>
        </p:txBody>
      </p:sp>
      <p:sp>
        <p:nvSpPr>
          <p:cNvPr id="16" name="Rectangle 15"/>
          <p:cNvSpPr/>
          <p:nvPr/>
        </p:nvSpPr>
        <p:spPr>
          <a:xfrm>
            <a:off x="457200" y="3108960"/>
            <a:ext cx="9784080" cy="31089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kumimoji="1" lang="ja-JP" altLang="en-US" sz="1150" dirty="0" b="1">
                <a:solidFill>
                  <a:srgbClr val="FFFFFF"/>
                </a:solidFill>
                <a:latin typeface="+mn-ea"/>
                <a:ea typeface="+mn-ea"/>
              </a:rPr>
              <a:t>■ 負債・税務</a:t>
            </a:r>
            <a:endParaRPr kumimoji="1" lang="ja-JP" altLang="en-US" sz="1150" dirty="0"/>
          </a:p>
        </p:txBody>
      </p:sp>
      <p:sp>
        <p:nvSpPr>
          <p:cNvPr id="17" name="TextBox 16"/>
          <p:cNvSpPr txBox="1"/>
          <p:nvPr/>
        </p:nvSpPr>
        <p:spPr>
          <a:xfrm>
            <a:off x="457200" y="3456432"/>
            <a:ext cx="9784080" cy="1051560"/>
          </a:xfrm>
          <a:prstGeom prst="rect">
            <a:avLst/>
          </a:prstGeom>
          <a:solidFill>
            <a:srgbClr val="E3E7E9"/>
          </a:solidFill>
        </p:spPr>
        <p:txBody>
          <a:bodyPr wrap="square" lIns="137160" tIns="73152" rIns="137160" anchor="t">
            <a:spAutoFit/>
          </a:bodyPr>
          <a:lstStyle/>
          <a:p>
            <a:pPr>
              <a:spcAft>
                <a:spcPts val="200"/>
              </a:spcAft>
            </a:pPr>
            <a:r>
              <a:rPr kumimoji="1" lang="ja-JP" altLang="en-US" sz="1100" dirty="0">
                <a:solidFill>
                  <a:srgbClr val="000000"/>
                </a:solidFill>
                <a:latin typeface="+mn-ea"/>
                <a:ea typeface="+mn-ea"/>
              </a:rPr>
              <a:t>・借入金446百万円のうち役員借入金360百万円。譲渡時の取扱いは要協議</a:t>
            </a:r>
            <a:endParaRPr kumimoji="1" lang="ja-JP" altLang="en-US" sz="1100" dirty="0"/>
          </a:p>
          <a:p>
            <a:pPr>
              <a:spcAft>
                <a:spcPts val="200"/>
              </a:spcAft>
            </a:pPr>
            <a:r>
              <a:rPr kumimoji="1" lang="ja-JP" altLang="en-US" sz="1100" dirty="0">
                <a:solidFill>
                  <a:srgbClr val="000000"/>
                </a:solidFill>
                <a:latin typeface="+mn-ea"/>
                <a:ea typeface="+mn-ea"/>
              </a:rPr>
              <a:t>・過年度法人税等48百万円（令和3〜4年度分）を令和8年3月期に納付済。対象範囲・未解決事項は要確認</a:t>
            </a:r>
            <a:endParaRPr kumimoji="1" lang="ja-JP" altLang="en-US" sz="1100" dirty="0"/>
          </a:p>
          <a:p>
            <a:pPr>
              <a:spcAft>
                <a:spcPts val="200"/>
              </a:spcAft>
            </a:pPr>
            <a:r>
              <a:rPr kumimoji="1" lang="ja-JP" altLang="en-US" sz="1100" dirty="0">
                <a:solidFill>
                  <a:srgbClr val="000000"/>
                </a:solidFill>
                <a:latin typeface="+mn-ea"/>
                <a:ea typeface="+mn-ea"/>
              </a:rPr>
              <a:t>・退職金規程・賞与規程は未受領のため引当未計上</a:t>
            </a:r>
            <a:endParaRPr kumimoji="1" lang="ja-JP" altLang="en-US" sz="1100" dirty="0"/>
          </a:p>
        </p:txBody>
      </p:sp>
      <p:sp>
        <p:nvSpPr>
          <p:cNvPr id="18" name="Rectangle 17"/>
          <p:cNvSpPr/>
          <p:nvPr/>
        </p:nvSpPr>
        <p:spPr>
          <a:xfrm>
            <a:off x="457200" y="4709160"/>
            <a:ext cx="9784080" cy="310896"/>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l"/>
            <a:r>
              <a:rPr kumimoji="1" lang="ja-JP" altLang="en-US" sz="1150" dirty="0" b="1">
                <a:solidFill>
                  <a:srgbClr val="FFFFFF"/>
                </a:solidFill>
                <a:latin typeface="+mn-ea"/>
                <a:ea typeface="+mn-ea"/>
              </a:rPr>
              <a:t>■ 主な確認事項（デューデリジェンス論点）</a:t>
            </a:r>
            <a:endParaRPr kumimoji="1" lang="ja-JP" altLang="en-US" sz="1150" dirty="0"/>
          </a:p>
        </p:txBody>
      </p:sp>
      <p:sp>
        <p:nvSpPr>
          <p:cNvPr id="19" name="TextBox 18"/>
          <p:cNvSpPr txBox="1"/>
          <p:nvPr/>
        </p:nvSpPr>
        <p:spPr>
          <a:xfrm>
            <a:off x="457200" y="5056632"/>
            <a:ext cx="9784080" cy="1691640"/>
          </a:xfrm>
          <a:prstGeom prst="rect">
            <a:avLst/>
          </a:prstGeom>
          <a:solidFill>
            <a:srgbClr val="E3E7E9"/>
          </a:solidFill>
        </p:spPr>
        <p:txBody>
          <a:bodyPr wrap="square" lIns="137160" tIns="73152" rIns="137160" anchor="t">
            <a:spAutoFit/>
          </a:bodyPr>
          <a:lstStyle/>
          <a:p>
            <a:pPr>
              <a:spcAft>
                <a:spcPts val="200"/>
              </a:spcAft>
            </a:pPr>
            <a:r>
              <a:rPr kumimoji="1" lang="ja-JP" altLang="en-US" sz="1100" dirty="0">
                <a:solidFill>
                  <a:srgbClr val="000000"/>
                </a:solidFill>
                <a:latin typeface="+mn-ea"/>
                <a:ea typeface="+mn-ea"/>
              </a:rPr>
              <a:t>・登記事項証明書・株主名簿・許認可（菓子製造業・飲食店営業）・商標権の帰属</a:t>
            </a:r>
            <a:endParaRPr kumimoji="1" lang="ja-JP" altLang="en-US" sz="1100" dirty="0"/>
          </a:p>
          <a:p>
            <a:pPr>
              <a:spcAft>
                <a:spcPts val="200"/>
              </a:spcAft>
            </a:pPr>
            <a:r>
              <a:rPr kumimoji="1" lang="ja-JP" altLang="en-US" sz="1100" dirty="0">
                <a:solidFill>
                  <a:srgbClr val="000000"/>
                </a:solidFill>
                <a:latin typeface="+mn-ea"/>
                <a:ea typeface="+mn-ea"/>
              </a:rPr>
              <a:t>・賃貸借契約書（紀尾井町店・大船店）、敷金13百万円の内訳</a:t>
            </a:r>
            <a:endParaRPr kumimoji="1" lang="ja-JP" altLang="en-US" sz="1100" dirty="0"/>
          </a:p>
          <a:p>
            <a:pPr>
              <a:spcAft>
                <a:spcPts val="200"/>
              </a:spcAft>
            </a:pPr>
            <a:r>
              <a:rPr kumimoji="1" lang="ja-JP" altLang="en-US" sz="1100" dirty="0">
                <a:solidFill>
                  <a:srgbClr val="000000"/>
                </a:solidFill>
                <a:latin typeface="+mn-ea"/>
                <a:ea typeface="+mn-ea"/>
              </a:rPr>
              <a:t>・令和8年3月期のコンサル収入14百万円・前渡金18.5百万円の相手先・内容</a:t>
            </a:r>
            <a:endParaRPr kumimoji="1" lang="ja-JP" altLang="en-US" sz="1100" dirty="0"/>
          </a:p>
          <a:p>
            <a:pPr>
              <a:spcAft>
                <a:spcPts val="200"/>
              </a:spcAft>
            </a:pPr>
            <a:r>
              <a:rPr kumimoji="1" lang="ja-JP" altLang="en-US" sz="1100" dirty="0">
                <a:solidFill>
                  <a:srgbClr val="000000"/>
                </a:solidFill>
                <a:latin typeface="+mn-ea"/>
                <a:ea typeface="+mn-ea"/>
              </a:rPr>
              <a:t>・四谷店の閉店経緯、ミリュウショップ売上の減少要因（42→7百万円）</a:t>
            </a:r>
            <a:endParaRPr kumimoji="1" lang="ja-JP" altLang="en-US" sz="1100" dirty="0"/>
          </a:p>
          <a:p>
            <a:pPr>
              <a:spcAft>
                <a:spcPts val="200"/>
              </a:spcAft>
            </a:pPr>
            <a:r>
              <a:rPr kumimoji="1" lang="ja-JP" altLang="en-US" sz="1100" dirty="0">
                <a:solidFill>
                  <a:srgbClr val="000000"/>
                </a:solidFill>
                <a:latin typeface="+mn-ea"/>
                <a:ea typeface="+mn-ea"/>
              </a:rPr>
              <a:t>・進行期の試算表・店舗別損益、従業員の個人別データ</a:t>
            </a:r>
            <a:endParaRPr kumimoji="1" lang="ja-JP" altLang="en-US" sz="1100" dirty="0"/>
          </a:p>
        </p:txBody>
      </p:sp>
    </p:spTree>
    <p:extLst>
      <p:ext uri="{BB962C8B-B14F-4D97-AF65-F5344CB8AC3E}">
        <p14:creationId xmlns:p14="http://schemas.microsoft.com/office/powerpoint/2010/main" val="8056887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正方形/長方形 12">
            <a:extLst>
              <a:ext uri="{FF2B5EF4-FFF2-40B4-BE49-F238E27FC236}">
                <a16:creationId xmlns:a16="http://schemas.microsoft.com/office/drawing/2014/main" id="{89F2FC56-6ADD-9704-B514-62FD74DE3ED5}"/>
              </a:ext>
            </a:extLst>
          </p:cNvPr>
          <p:cNvSpPr/>
          <p:nvPr/>
        </p:nvSpPr>
        <p:spPr>
          <a:xfrm>
            <a:off x="449263" y="1362266"/>
            <a:ext cx="3816000" cy="366383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360000" rIns="180000" bIns="0" rtlCol="0" anchor="t"/>
          <a:lstStyle/>
          <a:p>
            <a:pPr algn="ctr">
              <a:buClr>
                <a:schemeClr val="tx2"/>
              </a:buClr>
              <a:buSzPct val="80000"/>
            </a:pPr>
            <a:endParaRPr kumimoji="1" lang="zh-TW" altLang="en-US" sz="2000" b="1" spc="110" dirty="0">
              <a:solidFill>
                <a:schemeClr val="tx2"/>
              </a:solidFill>
              <a:latin typeface="+mj-ea"/>
              <a:ea typeface="+mj-ea"/>
            </a:endParaRPr>
          </a:p>
        </p:txBody>
      </p:sp>
      <p:sp>
        <p:nvSpPr>
          <p:cNvPr id="34" name="正方形/長方形 33">
            <a:extLst>
              <a:ext uri="{FF2B5EF4-FFF2-40B4-BE49-F238E27FC236}">
                <a16:creationId xmlns:a16="http://schemas.microsoft.com/office/drawing/2014/main" id="{F2057333-40C8-2D4A-60A4-202E9B7B444C}"/>
              </a:ext>
            </a:extLst>
          </p:cNvPr>
          <p:cNvSpPr/>
          <p:nvPr/>
        </p:nvSpPr>
        <p:spPr>
          <a:xfrm>
            <a:off x="4522064" y="1362266"/>
            <a:ext cx="5724000" cy="572432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0" rtlCol="0" anchor="t"/>
          <a:lstStyle/>
          <a:p>
            <a:pPr algn="ctr">
              <a:buClr>
                <a:schemeClr val="tx2"/>
              </a:buClr>
              <a:buSzPct val="80000"/>
            </a:pPr>
            <a:r>
              <a:rPr kumimoji="1" lang="ja-JP" altLang="en-US" sz="1800" b="1" spc="110" dirty="0">
                <a:solidFill>
                  <a:schemeClr val="tx1"/>
                </a:solidFill>
                <a:latin typeface="+mj-ea"/>
                <a:ea typeface="+mj-ea"/>
              </a:rPr>
              <a:t>成功報酬</a:t>
            </a:r>
            <a:r>
              <a:rPr kumimoji="1" lang="en-US" altLang="ja-JP" sz="1800" spc="110" baseline="30000" dirty="0">
                <a:solidFill>
                  <a:schemeClr val="tx1"/>
                </a:solidFill>
                <a:latin typeface="+mj-ea"/>
                <a:ea typeface="+mj-ea"/>
              </a:rPr>
              <a:t>※2</a:t>
            </a:r>
            <a:r>
              <a:rPr kumimoji="1" lang="ja-JP" altLang="en-US" sz="1800" b="1" spc="110" dirty="0">
                <a:solidFill>
                  <a:schemeClr val="tx1"/>
                </a:solidFill>
                <a:latin typeface="+mj-ea"/>
                <a:ea typeface="+mj-ea"/>
              </a:rPr>
              <a:t>の算定方法</a:t>
            </a:r>
          </a:p>
        </p:txBody>
      </p:sp>
      <p:sp>
        <p:nvSpPr>
          <p:cNvPr id="6" name="字幕 5">
            <a:extLst>
              <a:ext uri="{FF2B5EF4-FFF2-40B4-BE49-F238E27FC236}">
                <a16:creationId xmlns:a16="http://schemas.microsoft.com/office/drawing/2014/main" id="{8B635CAA-C777-BCBD-D6CB-D6FE9099ED6B}"/>
              </a:ext>
            </a:extLst>
          </p:cNvPr>
          <p:cNvSpPr>
            <a:spLocks noGrp="1"/>
          </p:cNvSpPr>
          <p:nvPr>
            <p:ph type="subTitle" idx="1"/>
          </p:nvPr>
        </p:nvSpPr>
        <p:spPr>
          <a:xfrm>
            <a:off x="460675" y="830046"/>
            <a:ext cx="9781875" cy="241861"/>
          </a:xfrm>
        </p:spPr>
        <p:txBody>
          <a:bodyPr/>
          <a:lstStyle/>
          <a:p>
            <a:r>
              <a:rPr lang="ja-JP" altLang="en-US" dirty="0"/>
              <a:t>時価総資産</a:t>
            </a:r>
            <a:r>
              <a:rPr lang="en-US" altLang="ja-JP" dirty="0"/>
              <a:t>(</a:t>
            </a:r>
            <a:r>
              <a:rPr lang="ja-JP" altLang="en-US" dirty="0"/>
              <a:t>営業権含む</a:t>
            </a:r>
            <a:r>
              <a:rPr lang="en-US" altLang="ja-JP" dirty="0"/>
              <a:t>)</a:t>
            </a:r>
            <a:r>
              <a:rPr lang="ja-JP" altLang="en-US" dirty="0"/>
              <a:t>を基準とした報酬体系であり、独占交渉権獲得の段階まで費用は発生しません</a:t>
            </a:r>
            <a:endParaRPr lang="en-US" altLang="ja-JP" dirty="0"/>
          </a:p>
        </p:txBody>
      </p:sp>
      <p:sp>
        <p:nvSpPr>
          <p:cNvPr id="2" name="タイトル 1">
            <a:extLst>
              <a:ext uri="{FF2B5EF4-FFF2-40B4-BE49-F238E27FC236}">
                <a16:creationId xmlns:a16="http://schemas.microsoft.com/office/drawing/2014/main" id="{D080ECA5-1EC6-E0DA-1045-7623DC8B0517}"/>
              </a:ext>
            </a:extLst>
          </p:cNvPr>
          <p:cNvSpPr>
            <a:spLocks noGrp="1"/>
          </p:cNvSpPr>
          <p:nvPr>
            <p:ph type="ctrTitle"/>
          </p:nvPr>
        </p:nvSpPr>
        <p:spPr/>
        <p:txBody>
          <a:bodyPr/>
          <a:lstStyle/>
          <a:p>
            <a:r>
              <a:rPr lang="ja-JP" altLang="en-US" dirty="0"/>
              <a:t>報酬体系</a:t>
            </a:r>
          </a:p>
        </p:txBody>
      </p:sp>
      <p:sp>
        <p:nvSpPr>
          <p:cNvPr id="7" name="タイトル 1">
            <a:extLst>
              <a:ext uri="{FF2B5EF4-FFF2-40B4-BE49-F238E27FC236}">
                <a16:creationId xmlns:a16="http://schemas.microsoft.com/office/drawing/2014/main" id="{0DF55F9A-C4D7-02A8-F804-D2CAF9784F10}"/>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dirty="0"/>
              <a:t>　</a:t>
            </a:r>
            <a:r>
              <a:rPr lang="en-US" altLang="ja-JP" dirty="0"/>
              <a:t>Appendix</a:t>
            </a:r>
            <a:endParaRPr lang="ja-JP" altLang="en-US" dirty="0"/>
          </a:p>
        </p:txBody>
      </p:sp>
      <p:cxnSp>
        <p:nvCxnSpPr>
          <p:cNvPr id="15" name="直線コネクタ 14">
            <a:extLst>
              <a:ext uri="{FF2B5EF4-FFF2-40B4-BE49-F238E27FC236}">
                <a16:creationId xmlns:a16="http://schemas.microsoft.com/office/drawing/2014/main" id="{CB8BC532-89AB-609B-2D65-2652067D6567}"/>
              </a:ext>
            </a:extLst>
          </p:cNvPr>
          <p:cNvCxnSpPr>
            <a:cxnSpLocks/>
          </p:cNvCxnSpPr>
          <p:nvPr/>
        </p:nvCxnSpPr>
        <p:spPr>
          <a:xfrm>
            <a:off x="449263" y="1362267"/>
            <a:ext cx="3816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8" name="正方形/長方形 17">
            <a:extLst>
              <a:ext uri="{FF2B5EF4-FFF2-40B4-BE49-F238E27FC236}">
                <a16:creationId xmlns:a16="http://schemas.microsoft.com/office/drawing/2014/main" id="{6E720941-89DA-5B24-F4D1-711BB1F814EF}"/>
              </a:ext>
            </a:extLst>
          </p:cNvPr>
          <p:cNvSpPr>
            <a:spLocks/>
          </p:cNvSpPr>
          <p:nvPr/>
        </p:nvSpPr>
        <p:spPr>
          <a:xfrm>
            <a:off x="768087" y="2452713"/>
            <a:ext cx="2412000" cy="612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288000" tIns="0" rIns="144000" bIns="0" rtlCol="0" anchor="ctr"/>
          <a:lstStyle/>
          <a:p>
            <a:pPr marL="180000" indent="-180000">
              <a:lnSpc>
                <a:spcPct val="120000"/>
              </a:lnSpc>
              <a:spcAft>
                <a:spcPts val="600"/>
              </a:spcAft>
              <a:buClr>
                <a:schemeClr val="tx2"/>
              </a:buClr>
              <a:buSzPct val="100000"/>
              <a:buFont typeface="游ゴシック" panose="020B0400000000000000" pitchFamily="50" charset="-128"/>
              <a:buChar char="▪"/>
            </a:pPr>
            <a:r>
              <a:rPr kumimoji="1" lang="zh-TW" altLang="en-US" sz="1600" b="1" spc="110" dirty="0">
                <a:solidFill>
                  <a:schemeClr val="tx2"/>
                </a:solidFill>
                <a:latin typeface="+mj-ea"/>
                <a:ea typeface="+mj-ea"/>
              </a:rPr>
              <a:t>着手金</a:t>
            </a:r>
            <a:endParaRPr kumimoji="1" lang="zh-TW" altLang="en-US" sz="1600" spc="110" baseline="30000" dirty="0">
              <a:solidFill>
                <a:schemeClr val="tx2"/>
              </a:solidFill>
              <a:latin typeface="+mj-ea"/>
              <a:ea typeface="+mj-ea"/>
            </a:endParaRPr>
          </a:p>
        </p:txBody>
      </p:sp>
      <p:sp>
        <p:nvSpPr>
          <p:cNvPr id="20" name="正方形/長方形 19">
            <a:extLst>
              <a:ext uri="{FF2B5EF4-FFF2-40B4-BE49-F238E27FC236}">
                <a16:creationId xmlns:a16="http://schemas.microsoft.com/office/drawing/2014/main" id="{C770662D-0186-159D-6B20-6AADFFE9CBBA}"/>
              </a:ext>
            </a:extLst>
          </p:cNvPr>
          <p:cNvSpPr>
            <a:spLocks/>
          </p:cNvSpPr>
          <p:nvPr/>
        </p:nvSpPr>
        <p:spPr>
          <a:xfrm>
            <a:off x="768087" y="3965025"/>
            <a:ext cx="2412000" cy="612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288000" tIns="0" rIns="144000" bIns="0" rtlCol="0" anchor="ctr"/>
          <a:lstStyle/>
          <a:p>
            <a:pPr marL="180000" indent="-180000">
              <a:lnSpc>
                <a:spcPct val="120000"/>
              </a:lnSpc>
              <a:spcAft>
                <a:spcPts val="600"/>
              </a:spcAft>
              <a:buClr>
                <a:schemeClr val="tx2"/>
              </a:buClr>
              <a:buSzPct val="100000"/>
              <a:buFont typeface="游ゴシック" panose="020B0400000000000000" pitchFamily="50" charset="-128"/>
              <a:buChar char="▪"/>
            </a:pPr>
            <a:r>
              <a:rPr kumimoji="1" lang="ja-JP" altLang="en-US" sz="1600" b="1" spc="110" dirty="0">
                <a:solidFill>
                  <a:schemeClr val="tx2"/>
                </a:solidFill>
                <a:latin typeface="+mj-ea"/>
                <a:ea typeface="+mj-ea"/>
              </a:rPr>
              <a:t>リテイナーフィー</a:t>
            </a:r>
            <a:endParaRPr kumimoji="1" lang="zh-TW" altLang="en-US" sz="1600" spc="110" baseline="30000" dirty="0">
              <a:solidFill>
                <a:schemeClr val="tx2"/>
              </a:solidFill>
              <a:latin typeface="+mj-ea"/>
              <a:ea typeface="+mj-ea"/>
            </a:endParaRPr>
          </a:p>
        </p:txBody>
      </p:sp>
      <p:sp>
        <p:nvSpPr>
          <p:cNvPr id="21" name="正方形/長方形 20">
            <a:extLst>
              <a:ext uri="{FF2B5EF4-FFF2-40B4-BE49-F238E27FC236}">
                <a16:creationId xmlns:a16="http://schemas.microsoft.com/office/drawing/2014/main" id="{E00098F5-AD27-787B-FFFF-9D575BB76654}"/>
              </a:ext>
            </a:extLst>
          </p:cNvPr>
          <p:cNvSpPr>
            <a:spLocks/>
          </p:cNvSpPr>
          <p:nvPr/>
        </p:nvSpPr>
        <p:spPr>
          <a:xfrm>
            <a:off x="768087" y="3208869"/>
            <a:ext cx="2412000" cy="612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288000" tIns="0" rIns="144000" bIns="0" rtlCol="0" anchor="ctr"/>
          <a:lstStyle/>
          <a:p>
            <a:pPr marL="180000" indent="-180000">
              <a:lnSpc>
                <a:spcPct val="120000"/>
              </a:lnSpc>
              <a:spcAft>
                <a:spcPts val="600"/>
              </a:spcAft>
              <a:buClr>
                <a:schemeClr val="tx2"/>
              </a:buClr>
              <a:buSzPct val="100000"/>
              <a:buFont typeface="游ゴシック" panose="020B0400000000000000" pitchFamily="50" charset="-128"/>
              <a:buChar char="▪"/>
            </a:pPr>
            <a:r>
              <a:rPr kumimoji="1" lang="ja-JP" altLang="en-US" sz="1600" b="1" spc="110" dirty="0">
                <a:solidFill>
                  <a:schemeClr val="tx2"/>
                </a:solidFill>
                <a:latin typeface="+mj-ea"/>
                <a:ea typeface="+mj-ea"/>
              </a:rPr>
              <a:t>情報提供料</a:t>
            </a:r>
            <a:endParaRPr kumimoji="1" lang="zh-TW" altLang="en-US" sz="1600" b="1" spc="110" dirty="0">
              <a:solidFill>
                <a:schemeClr val="tx2"/>
              </a:solidFill>
              <a:latin typeface="+mj-ea"/>
              <a:ea typeface="+mj-ea"/>
            </a:endParaRPr>
          </a:p>
        </p:txBody>
      </p:sp>
      <p:sp>
        <p:nvSpPr>
          <p:cNvPr id="24" name="テキスト ボックス 23">
            <a:extLst>
              <a:ext uri="{FF2B5EF4-FFF2-40B4-BE49-F238E27FC236}">
                <a16:creationId xmlns:a16="http://schemas.microsoft.com/office/drawing/2014/main" id="{732BB496-90B0-3CEC-6685-2DABCCD36309}"/>
              </a:ext>
            </a:extLst>
          </p:cNvPr>
          <p:cNvSpPr txBox="1"/>
          <p:nvPr/>
        </p:nvSpPr>
        <p:spPr>
          <a:xfrm>
            <a:off x="3604575" y="3422948"/>
            <a:ext cx="428323" cy="278731"/>
          </a:xfrm>
          <a:prstGeom prst="rect">
            <a:avLst/>
          </a:prstGeom>
          <a:noFill/>
        </p:spPr>
        <p:txBody>
          <a:bodyPr wrap="none" lIns="0" tIns="0" rIns="0" bIns="0" rtlCol="0">
            <a:spAutoFit/>
          </a:bodyPr>
          <a:lstStyle/>
          <a:p>
            <a:pPr algn="ctr">
              <a:lnSpc>
                <a:spcPct val="120000"/>
              </a:lnSpc>
              <a:buClr>
                <a:schemeClr val="tx2"/>
              </a:buClr>
              <a:buSzPct val="80000"/>
            </a:pPr>
            <a:r>
              <a:rPr lang="ja-JP" altLang="en-US" sz="1600" b="1" spc="70" dirty="0">
                <a:latin typeface="+mj-ea"/>
                <a:ea typeface="+mj-ea"/>
              </a:rPr>
              <a:t>無料</a:t>
            </a:r>
          </a:p>
        </p:txBody>
      </p:sp>
      <p:sp>
        <p:nvSpPr>
          <p:cNvPr id="30" name="右大かっこ 29">
            <a:extLst>
              <a:ext uri="{FF2B5EF4-FFF2-40B4-BE49-F238E27FC236}">
                <a16:creationId xmlns:a16="http://schemas.microsoft.com/office/drawing/2014/main" id="{3B1D8EBE-EC59-B246-AF6C-841872564D9C}"/>
              </a:ext>
            </a:extLst>
          </p:cNvPr>
          <p:cNvSpPr/>
          <p:nvPr/>
        </p:nvSpPr>
        <p:spPr>
          <a:xfrm>
            <a:off x="3324087" y="2479728"/>
            <a:ext cx="174824" cy="2097297"/>
          </a:xfrm>
          <a:prstGeom prst="rightBracket">
            <a:avLst>
              <a:gd name="adj" fmla="val 0"/>
            </a:avLst>
          </a:prstGeom>
          <a:ln w="12700">
            <a:solidFill>
              <a:schemeClr val="tx2"/>
            </a:solidFill>
            <a:prstDash val="sysDot"/>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36" name="正方形/長方形 35">
            <a:extLst>
              <a:ext uri="{FF2B5EF4-FFF2-40B4-BE49-F238E27FC236}">
                <a16:creationId xmlns:a16="http://schemas.microsoft.com/office/drawing/2014/main" id="{9AE04EFA-8A89-729B-C209-CDC92D8F408B}"/>
              </a:ext>
            </a:extLst>
          </p:cNvPr>
          <p:cNvSpPr/>
          <p:nvPr/>
        </p:nvSpPr>
        <p:spPr>
          <a:xfrm>
            <a:off x="4766690" y="6067960"/>
            <a:ext cx="4411464" cy="942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spAutoFit/>
          </a:bodyPr>
          <a:lstStyle/>
          <a:p>
            <a:pPr>
              <a:lnSpc>
                <a:spcPct val="110000"/>
              </a:lnSpc>
            </a:pPr>
            <a:r>
              <a:rPr lang="en-US" altLang="ja-JP" sz="800" dirty="0">
                <a:solidFill>
                  <a:schemeClr val="tx1"/>
                </a:solidFill>
                <a:latin typeface="+mn-ea"/>
              </a:rPr>
              <a:t>※2</a:t>
            </a:r>
            <a:r>
              <a:rPr lang="ja-JP" altLang="en-US" sz="800" dirty="0">
                <a:solidFill>
                  <a:schemeClr val="tx1"/>
                </a:solidFill>
                <a:latin typeface="+mn-ea"/>
              </a:rPr>
              <a:t>　以下の項目については上記報酬には含まれておりません。</a:t>
            </a:r>
          </a:p>
          <a:p>
            <a:pPr>
              <a:lnSpc>
                <a:spcPct val="110000"/>
              </a:lnSpc>
            </a:pPr>
            <a:r>
              <a:rPr lang="ja-JP" altLang="en-US" sz="800" dirty="0">
                <a:solidFill>
                  <a:schemeClr val="tx1"/>
                </a:solidFill>
                <a:latin typeface="+mn-ea"/>
              </a:rPr>
              <a:t>　　・買収監査、特殊な市場調査や技術評価、経営計画作成のための費用</a:t>
            </a:r>
          </a:p>
          <a:p>
            <a:pPr>
              <a:lnSpc>
                <a:spcPct val="110000"/>
              </a:lnSpc>
            </a:pPr>
            <a:r>
              <a:rPr lang="ja-JP" altLang="en-US" sz="800" dirty="0">
                <a:solidFill>
                  <a:schemeClr val="tx1"/>
                </a:solidFill>
                <a:latin typeface="+mn-ea"/>
              </a:rPr>
              <a:t>　　・登記費用および公認会計士、税理士、弁護士、不動産鑑定士等の専門家費用の実費</a:t>
            </a:r>
          </a:p>
          <a:p>
            <a:pPr>
              <a:lnSpc>
                <a:spcPct val="110000"/>
              </a:lnSpc>
            </a:pPr>
            <a:r>
              <a:rPr lang="ja-JP" altLang="en-US" sz="800" dirty="0">
                <a:solidFill>
                  <a:schemeClr val="tx1"/>
                </a:solidFill>
                <a:latin typeface="+mn-ea"/>
              </a:rPr>
              <a:t>　　・譲渡企業の海外事業所等訪問時の通訳費、当社および貴社関係者の交通費、宿泊費、日当</a:t>
            </a:r>
            <a:endParaRPr lang="en-US" altLang="ja-JP" sz="800" dirty="0">
              <a:solidFill>
                <a:schemeClr val="tx1"/>
              </a:solidFill>
              <a:latin typeface="+mn-ea"/>
            </a:endParaRPr>
          </a:p>
          <a:p>
            <a:pPr>
              <a:lnSpc>
                <a:spcPct val="110000"/>
              </a:lnSpc>
            </a:pPr>
            <a:r>
              <a:rPr lang="ja-JP" altLang="en-US" sz="800" dirty="0">
                <a:solidFill>
                  <a:schemeClr val="tx1"/>
                </a:solidFill>
                <a:latin typeface="+mn-ea"/>
              </a:rPr>
              <a:t>　　以下の場合、上記の各種報酬について別途ご相談いたします。</a:t>
            </a:r>
          </a:p>
          <a:p>
            <a:pPr>
              <a:lnSpc>
                <a:spcPct val="110000"/>
              </a:lnSpc>
            </a:pPr>
            <a:r>
              <a:rPr lang="ja-JP" altLang="en-US" sz="800" dirty="0">
                <a:solidFill>
                  <a:schemeClr val="tx1"/>
                </a:solidFill>
                <a:latin typeface="+mn-ea"/>
              </a:rPr>
              <a:t>　　・譲渡企業が関係会社を保有する場合や事業所を複数持つ場合</a:t>
            </a:r>
          </a:p>
          <a:p>
            <a:pPr>
              <a:lnSpc>
                <a:spcPct val="110000"/>
              </a:lnSpc>
            </a:pPr>
            <a:r>
              <a:rPr lang="ja-JP" altLang="en-US" sz="800" dirty="0">
                <a:solidFill>
                  <a:schemeClr val="tx1"/>
                </a:solidFill>
                <a:latin typeface="+mn-ea"/>
              </a:rPr>
              <a:t>　　・譲渡企業が海外に関係会社・事業所・工場を保有する場合</a:t>
            </a:r>
          </a:p>
        </p:txBody>
      </p:sp>
      <p:sp>
        <p:nvSpPr>
          <p:cNvPr id="37" name="正方形/長方形 36">
            <a:extLst>
              <a:ext uri="{FF2B5EF4-FFF2-40B4-BE49-F238E27FC236}">
                <a16:creationId xmlns:a16="http://schemas.microsoft.com/office/drawing/2014/main" id="{F22E4C30-8FC3-B869-53BD-9D8860037344}"/>
              </a:ext>
            </a:extLst>
          </p:cNvPr>
          <p:cNvSpPr/>
          <p:nvPr/>
        </p:nvSpPr>
        <p:spPr>
          <a:xfrm>
            <a:off x="683263" y="1669542"/>
            <a:ext cx="3348000" cy="468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zh-TW" altLang="en-US" sz="1800" b="1" spc="70" dirty="0">
                <a:solidFill>
                  <a:schemeClr val="bg1"/>
                </a:solidFill>
                <a:latin typeface="+mj-ea"/>
                <a:ea typeface="+mj-ea"/>
              </a:rPr>
              <a:t>料金体系｜成功報酬型</a:t>
            </a:r>
          </a:p>
        </p:txBody>
      </p:sp>
      <p:sp>
        <p:nvSpPr>
          <p:cNvPr id="38" name="正方形/長方形 37">
            <a:extLst>
              <a:ext uri="{FF2B5EF4-FFF2-40B4-BE49-F238E27FC236}">
                <a16:creationId xmlns:a16="http://schemas.microsoft.com/office/drawing/2014/main" id="{A662A524-58DF-E539-7CF9-2CCAAD4E7CAF}"/>
              </a:ext>
            </a:extLst>
          </p:cNvPr>
          <p:cNvSpPr>
            <a:spLocks/>
          </p:cNvSpPr>
          <p:nvPr/>
        </p:nvSpPr>
        <p:spPr>
          <a:xfrm>
            <a:off x="4752550" y="1974789"/>
            <a:ext cx="5256000" cy="3051315"/>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08000" rIns="0" bIns="0" rtlCol="0" anchor="t">
            <a:noAutofit/>
          </a:bodyPr>
          <a:lstStyle/>
          <a:p>
            <a:r>
              <a:rPr kumimoji="1" lang="en-US" altLang="ja-JP" sz="1543" b="1">
                <a:solidFill>
                  <a:schemeClr val="tx2"/>
                </a:solidFill>
                <a:ea typeface="+mj-ea"/>
              </a:rPr>
              <a:t>1. M</a:t>
            </a:r>
            <a:r>
              <a:rPr kumimoji="1" lang="ja-JP" altLang="en-US" sz="1543" b="1">
                <a:solidFill>
                  <a:schemeClr val="tx2"/>
                </a:solidFill>
                <a:ea typeface="+mj-ea"/>
              </a:rPr>
              <a:t>＆</a:t>
            </a:r>
            <a:r>
              <a:rPr kumimoji="1" lang="en-US" altLang="ja-JP" sz="1543" b="1">
                <a:solidFill>
                  <a:schemeClr val="tx2"/>
                </a:solidFill>
                <a:ea typeface="+mj-ea"/>
              </a:rPr>
              <a:t>A</a:t>
            </a:r>
            <a:r>
              <a:rPr kumimoji="1" lang="ja-JP" altLang="en-US" sz="1543" b="1">
                <a:solidFill>
                  <a:schemeClr val="tx2"/>
                </a:solidFill>
                <a:ea typeface="+mj-ea"/>
              </a:rPr>
              <a:t>（株式・事業譲渡）の場合</a:t>
            </a:r>
            <a:endParaRPr kumimoji="1" lang="ja-JP" altLang="en-US" sz="1543" b="1" dirty="0">
              <a:solidFill>
                <a:schemeClr val="tx2"/>
              </a:solidFill>
              <a:ea typeface="+mj-ea"/>
            </a:endParaRPr>
          </a:p>
        </p:txBody>
      </p:sp>
      <p:sp>
        <p:nvSpPr>
          <p:cNvPr id="39" name="正方形/長方形 38">
            <a:extLst>
              <a:ext uri="{FF2B5EF4-FFF2-40B4-BE49-F238E27FC236}">
                <a16:creationId xmlns:a16="http://schemas.microsoft.com/office/drawing/2014/main" id="{3005CCDB-36FD-4152-9A26-F18CB327D833}"/>
              </a:ext>
            </a:extLst>
          </p:cNvPr>
          <p:cNvSpPr>
            <a:spLocks/>
          </p:cNvSpPr>
          <p:nvPr/>
        </p:nvSpPr>
        <p:spPr>
          <a:xfrm>
            <a:off x="4752550" y="5145149"/>
            <a:ext cx="5256000" cy="855016"/>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08000" rIns="0" bIns="0" rtlCol="0" anchor="t">
            <a:noAutofit/>
          </a:bodyPr>
          <a:lstStyle/>
          <a:p>
            <a:r>
              <a:rPr kumimoji="1" lang="en-US" altLang="ja-JP" sz="1543" b="1" dirty="0">
                <a:solidFill>
                  <a:schemeClr val="tx2"/>
                </a:solidFill>
                <a:ea typeface="+mj-ea"/>
              </a:rPr>
              <a:t>2. </a:t>
            </a:r>
            <a:r>
              <a:rPr kumimoji="1" lang="ja-JP" altLang="en-US" sz="1543" b="1" dirty="0">
                <a:solidFill>
                  <a:schemeClr val="tx2"/>
                </a:solidFill>
                <a:ea typeface="+mj-ea"/>
              </a:rPr>
              <a:t>合併・会社分割・業務提携などの場合</a:t>
            </a:r>
          </a:p>
        </p:txBody>
      </p:sp>
      <p:sp>
        <p:nvSpPr>
          <p:cNvPr id="43" name="正方形/長方形 42">
            <a:extLst>
              <a:ext uri="{FF2B5EF4-FFF2-40B4-BE49-F238E27FC236}">
                <a16:creationId xmlns:a16="http://schemas.microsoft.com/office/drawing/2014/main" id="{45F9569B-84C3-F6AA-8270-6F2A0C5A48FE}"/>
              </a:ext>
            </a:extLst>
          </p:cNvPr>
          <p:cNvSpPr/>
          <p:nvPr/>
        </p:nvSpPr>
        <p:spPr>
          <a:xfrm>
            <a:off x="4968550" y="5594330"/>
            <a:ext cx="4824000" cy="286791"/>
          </a:xfrm>
          <a:prstGeom prst="rect">
            <a:avLst/>
          </a:prstGeom>
          <a:solidFill>
            <a:schemeClr val="bg1"/>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kumimoji="1" lang="ja-JP" altLang="en-US" sz="1600" b="1" spc="30" dirty="0">
                <a:solidFill>
                  <a:schemeClr val="tx1"/>
                </a:solidFill>
                <a:latin typeface="+mj-ea"/>
                <a:ea typeface="+mj-ea"/>
              </a:rPr>
              <a:t>形態、規模に応じてお見積り</a:t>
            </a:r>
          </a:p>
        </p:txBody>
      </p:sp>
      <p:sp>
        <p:nvSpPr>
          <p:cNvPr id="44" name="テキスト ボックス 43">
            <a:extLst>
              <a:ext uri="{FF2B5EF4-FFF2-40B4-BE49-F238E27FC236}">
                <a16:creationId xmlns:a16="http://schemas.microsoft.com/office/drawing/2014/main" id="{1E78D870-E1BA-6FCD-62FA-37BB1F2E0B3D}"/>
              </a:ext>
            </a:extLst>
          </p:cNvPr>
          <p:cNvSpPr txBox="1"/>
          <p:nvPr/>
        </p:nvSpPr>
        <p:spPr>
          <a:xfrm>
            <a:off x="4968550" y="4554047"/>
            <a:ext cx="3546805" cy="191399"/>
          </a:xfrm>
          <a:prstGeom prst="rect">
            <a:avLst/>
          </a:prstGeom>
          <a:noFill/>
        </p:spPr>
        <p:txBody>
          <a:bodyPr wrap="none" lIns="0" tIns="0" rIns="0" bIns="0" rtlCol="0">
            <a:spAutoFit/>
          </a:bodyPr>
          <a:lstStyle/>
          <a:p>
            <a:pPr>
              <a:lnSpc>
                <a:spcPct val="120000"/>
              </a:lnSpc>
              <a:buClr>
                <a:schemeClr val="tx2"/>
              </a:buClr>
              <a:buSzPct val="80000"/>
            </a:pPr>
            <a:r>
              <a:rPr lang="ja-JP" altLang="en-US" sz="1100" spc="70" dirty="0">
                <a:latin typeface="+mn-ea"/>
              </a:rPr>
              <a:t>成功報酬の最低額は</a:t>
            </a:r>
            <a:r>
              <a:rPr lang="en-US" altLang="ja-JP" sz="1100" spc="70" dirty="0">
                <a:latin typeface="+mn-ea"/>
              </a:rPr>
              <a:t>1,500</a:t>
            </a:r>
            <a:r>
              <a:rPr lang="ja-JP" altLang="en-US" sz="1100" spc="70" dirty="0">
                <a:latin typeface="+mn-ea"/>
              </a:rPr>
              <a:t>万円を設定しております。</a:t>
            </a:r>
          </a:p>
        </p:txBody>
      </p:sp>
      <p:graphicFrame>
        <p:nvGraphicFramePr>
          <p:cNvPr id="45" name="表 44">
            <a:extLst>
              <a:ext uri="{FF2B5EF4-FFF2-40B4-BE49-F238E27FC236}">
                <a16:creationId xmlns:a16="http://schemas.microsoft.com/office/drawing/2014/main" id="{43BEAE47-9189-F306-0E9E-F73105167DC7}"/>
              </a:ext>
            </a:extLst>
          </p:cNvPr>
          <p:cNvGraphicFramePr>
            <a:graphicFrameLocks noGrp="1"/>
          </p:cNvGraphicFramePr>
          <p:nvPr/>
        </p:nvGraphicFramePr>
        <p:xfrm>
          <a:off x="4968550" y="2395845"/>
          <a:ext cx="4824000" cy="2448000"/>
        </p:xfrm>
        <a:graphic>
          <a:graphicData uri="http://schemas.openxmlformats.org/drawingml/2006/table">
            <a:tbl>
              <a:tblPr firstRow="1" bandRow="1">
                <a:tableStyleId>{F2DE63D5-997A-4646-A377-4702673A728D}</a:tableStyleId>
              </a:tblPr>
              <a:tblGrid>
                <a:gridCol w="2952000">
                  <a:extLst>
                    <a:ext uri="{9D8B030D-6E8A-4147-A177-3AD203B41FA5}">
                      <a16:colId xmlns:a16="http://schemas.microsoft.com/office/drawing/2014/main" val="4012313631"/>
                    </a:ext>
                  </a:extLst>
                </a:gridCol>
                <a:gridCol w="1872000">
                  <a:extLst>
                    <a:ext uri="{9D8B030D-6E8A-4147-A177-3AD203B41FA5}">
                      <a16:colId xmlns:a16="http://schemas.microsoft.com/office/drawing/2014/main" val="1332805218"/>
                    </a:ext>
                  </a:extLst>
                </a:gridCol>
              </a:tblGrid>
              <a:tr h="396000">
                <a:tc>
                  <a:txBody>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1" lang="ja-JP" altLang="en-US" sz="1100" b="1" i="0" u="none" strike="noStrike" kern="1200" cap="none" spc="50" normalizeH="0" baseline="0" noProof="0" dirty="0">
                          <a:ln>
                            <a:noFill/>
                          </a:ln>
                          <a:solidFill>
                            <a:schemeClr val="bg1"/>
                          </a:solidFill>
                          <a:effectLst/>
                          <a:uLnTx/>
                          <a:uFillTx/>
                          <a:latin typeface="+mj-ea"/>
                          <a:ea typeface="+mj-ea"/>
                        </a:rPr>
                        <a:t>譲渡企業の時価総資産額</a:t>
                      </a:r>
                      <a:endParaRPr kumimoji="1" lang="en-US" altLang="ja-JP" sz="1100" b="1" i="0" u="none" strike="noStrike" kern="1200" cap="none" spc="50" normalizeH="0" baseline="0" noProof="0" dirty="0">
                        <a:ln>
                          <a:noFill/>
                        </a:ln>
                        <a:solidFill>
                          <a:schemeClr val="bg1"/>
                        </a:solidFill>
                        <a:effectLst/>
                        <a:uLnTx/>
                        <a:uFillTx/>
                        <a:latin typeface="+mj-ea"/>
                        <a:ea typeface="+mj-ea"/>
                      </a:endParaRPr>
                    </a:p>
                    <a:p>
                      <a:pPr marL="0" marR="0" lvl="0" indent="0" algn="ctr" defTabSz="914400" rtl="0" eaLnBrk="1" fontAlgn="auto" latinLnBrk="0" hangingPunct="1">
                        <a:lnSpc>
                          <a:spcPct val="110000"/>
                        </a:lnSpc>
                        <a:spcBef>
                          <a:spcPts val="0"/>
                        </a:spcBef>
                        <a:spcAft>
                          <a:spcPts val="0"/>
                        </a:spcAft>
                        <a:buClrTx/>
                        <a:buSzTx/>
                        <a:buFontTx/>
                        <a:buNone/>
                        <a:tabLst/>
                        <a:defRPr/>
                      </a:pPr>
                      <a:r>
                        <a:rPr kumimoji="1" lang="ja-JP" altLang="en-US" sz="800" b="1" i="0" u="none" strike="noStrike" kern="1200" cap="none" spc="50" normalizeH="0" baseline="0" noProof="0" dirty="0">
                          <a:ln>
                            <a:noFill/>
                          </a:ln>
                          <a:solidFill>
                            <a:schemeClr val="bg1"/>
                          </a:solidFill>
                          <a:effectLst/>
                          <a:uLnTx/>
                          <a:uFillTx/>
                          <a:latin typeface="+mj-ea"/>
                          <a:ea typeface="+mj-ea"/>
                        </a:rPr>
                        <a:t>（営業権を含む）</a:t>
                      </a:r>
                    </a:p>
                  </a:txBody>
                  <a:tcPr marL="0" marR="0" marT="0" marB="0" anchor="ctr" anchorCtr="1">
                    <a:lnL w="3175"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nSpc>
                          <a:spcPct val="110000"/>
                        </a:lnSpc>
                      </a:pPr>
                      <a:r>
                        <a:rPr kumimoji="1" lang="ja-JP" altLang="en-US" sz="1100" b="1" spc="50" baseline="0" dirty="0">
                          <a:latin typeface="+mj-ea"/>
                          <a:ea typeface="+mj-ea"/>
                        </a:rPr>
                        <a:t>手数料率</a:t>
                      </a:r>
                    </a:p>
                  </a:txBody>
                  <a:tcPr marL="0" marR="0" marT="0" marB="0" anchor="ctr" anchorCtr="1">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3552892255"/>
                  </a:ext>
                </a:extLst>
              </a:tr>
              <a:tr h="342000">
                <a:tc>
                  <a:txBody>
                    <a:bodyPr/>
                    <a:lstStyle/>
                    <a:p>
                      <a:pPr algn="l">
                        <a:lnSpc>
                          <a:spcPct val="110000"/>
                        </a:lnSpc>
                      </a:pPr>
                      <a:r>
                        <a:rPr kumimoji="1" lang="en-US" altLang="ja-JP" sz="1200" b="1" spc="50" baseline="0" dirty="0">
                          <a:latin typeface="+mj-lt"/>
                          <a:ea typeface="+mj-ea"/>
                        </a:rPr>
                        <a:t>2</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accent2">
                          <a:lumMod val="10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2,000</a:t>
                      </a:r>
                      <a:r>
                        <a:rPr kumimoji="1" lang="ja-JP" altLang="en-US" sz="1100" b="1" spc="50" baseline="0" dirty="0">
                          <a:solidFill>
                            <a:schemeClr val="tx1"/>
                          </a:solidFill>
                          <a:latin typeface="+mn-lt"/>
                          <a:ea typeface="+mn-ea"/>
                        </a:rPr>
                        <a:t>万円</a:t>
                      </a:r>
                      <a:endParaRPr kumimoji="1" lang="ja-JP" altLang="en-US" sz="1100" b="0" spc="50" baseline="0" dirty="0">
                        <a:solidFill>
                          <a:schemeClr val="tx1"/>
                        </a:solidFill>
                        <a:latin typeface="+mn-lt"/>
                        <a:ea typeface="+mn-ea"/>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accent2">
                          <a:lumMod val="1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21334838"/>
                  </a:ext>
                </a:extLst>
              </a:tr>
              <a:tr h="342000">
                <a:tc>
                  <a:txBody>
                    <a:bodyPr/>
                    <a:lstStyle/>
                    <a:p>
                      <a:pPr marL="0" marR="0" lvl="0" indent="0" algn="l" defTabSz="1007943" rtl="0" eaLnBrk="1" fontAlgn="auto" latinLnBrk="0" hangingPunct="1">
                        <a:lnSpc>
                          <a:spcPct val="110000"/>
                        </a:lnSpc>
                        <a:spcBef>
                          <a:spcPts val="0"/>
                        </a:spcBef>
                        <a:spcAft>
                          <a:spcPts val="0"/>
                        </a:spcAft>
                        <a:buClrTx/>
                        <a:buSzTx/>
                        <a:buFontTx/>
                        <a:buNone/>
                        <a:tabLst/>
                        <a:defRPr/>
                      </a:pPr>
                      <a:r>
                        <a:rPr kumimoji="1" lang="en-US" altLang="ja-JP" sz="1200" b="1" kern="1200" spc="50" baseline="0" dirty="0">
                          <a:solidFill>
                            <a:schemeClr val="tx1"/>
                          </a:solidFill>
                          <a:latin typeface="+mn-lt"/>
                          <a:ea typeface="+mn-ea"/>
                          <a:cs typeface="+mn-cs"/>
                        </a:rPr>
                        <a:t>2</a:t>
                      </a:r>
                      <a:r>
                        <a:rPr kumimoji="1" lang="ja-JP" altLang="en-US" sz="1200" b="1" kern="1200" spc="50" baseline="0" dirty="0">
                          <a:solidFill>
                            <a:schemeClr val="tx1"/>
                          </a:solidFill>
                          <a:latin typeface="+mn-lt"/>
                          <a:ea typeface="+mn-ea"/>
                          <a:cs typeface="+mn-cs"/>
                        </a:rPr>
                        <a:t>億円超　</a:t>
                      </a:r>
                      <a:r>
                        <a:rPr kumimoji="1" lang="en-US" altLang="ja-JP" sz="1200" b="1" kern="1200" spc="50" baseline="0" dirty="0">
                          <a:solidFill>
                            <a:schemeClr val="tx1"/>
                          </a:solidFill>
                          <a:latin typeface="+mn-lt"/>
                          <a:ea typeface="+mn-ea"/>
                          <a:cs typeface="+mn-cs"/>
                        </a:rPr>
                        <a:t>5</a:t>
                      </a:r>
                      <a:r>
                        <a:rPr kumimoji="1" lang="ja-JP" altLang="en-US" sz="1200" b="1" kern="1200" spc="50" baseline="0" dirty="0">
                          <a:solidFill>
                            <a:schemeClr val="tx1"/>
                          </a:solidFill>
                          <a:latin typeface="+mn-lt"/>
                          <a:ea typeface="+mn-ea"/>
                          <a:cs typeface="+mn-cs"/>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2">
                          <a:lumMod val="10000"/>
                        </a:schemeClr>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nSpc>
                          <a:spcPct val="110000"/>
                        </a:lnSpc>
                      </a:pPr>
                      <a:r>
                        <a:rPr kumimoji="1" lang="en-US" altLang="ja-JP" sz="1800" b="1" spc="50" baseline="0" dirty="0">
                          <a:solidFill>
                            <a:schemeClr val="tx1"/>
                          </a:solidFill>
                          <a:latin typeface="+mn-lt"/>
                          <a:ea typeface="+mn-ea"/>
                        </a:rPr>
                        <a:t>5</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2">
                          <a:lumMod val="10000"/>
                        </a:schemeClr>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0064655"/>
                  </a:ext>
                </a:extLst>
              </a:tr>
              <a:tr h="342000">
                <a:tc>
                  <a:txBody>
                    <a:bodyPr/>
                    <a:lstStyle/>
                    <a:p>
                      <a:pPr algn="l">
                        <a:lnSpc>
                          <a:spcPct val="110000"/>
                        </a:lnSpc>
                      </a:pPr>
                      <a:r>
                        <a:rPr kumimoji="1" lang="en-US" altLang="ja-JP" sz="1200" b="1" spc="50" baseline="0" dirty="0">
                          <a:latin typeface="+mj-lt"/>
                          <a:ea typeface="+mj-ea"/>
                        </a:rPr>
                        <a:t>5</a:t>
                      </a:r>
                      <a:r>
                        <a:rPr kumimoji="1" lang="ja-JP" altLang="en-US" sz="1200" b="1" spc="50" baseline="0" dirty="0">
                          <a:latin typeface="+mj-lt"/>
                          <a:ea typeface="+mj-ea"/>
                        </a:rPr>
                        <a:t>億円超　</a:t>
                      </a:r>
                      <a:r>
                        <a:rPr kumimoji="1" lang="en-US" altLang="ja-JP" sz="1200" b="1" spc="50" baseline="0" dirty="0">
                          <a:latin typeface="+mj-lt"/>
                          <a:ea typeface="+mj-ea"/>
                        </a:rPr>
                        <a:t>10</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4</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45221436"/>
                  </a:ext>
                </a:extLst>
              </a:tr>
              <a:tr h="342000">
                <a:tc>
                  <a:txBody>
                    <a:bodyPr/>
                    <a:lstStyle/>
                    <a:p>
                      <a:pPr algn="l">
                        <a:lnSpc>
                          <a:spcPct val="110000"/>
                        </a:lnSpc>
                      </a:pPr>
                      <a:r>
                        <a:rPr kumimoji="1" lang="en-US" altLang="ja-JP" sz="1200" b="1" spc="50" baseline="0" dirty="0">
                          <a:latin typeface="+mj-lt"/>
                          <a:ea typeface="+mj-ea"/>
                        </a:rPr>
                        <a:t>10</a:t>
                      </a:r>
                      <a:r>
                        <a:rPr kumimoji="1" lang="ja-JP" altLang="en-US" sz="1200" b="1" spc="50" baseline="0" dirty="0">
                          <a:latin typeface="+mj-lt"/>
                          <a:ea typeface="+mj-ea"/>
                        </a:rPr>
                        <a:t>億円超　</a:t>
                      </a:r>
                      <a:r>
                        <a:rPr kumimoji="1" lang="en-US" altLang="ja-JP" sz="1200" b="1" spc="50" baseline="0" dirty="0">
                          <a:latin typeface="+mj-lt"/>
                          <a:ea typeface="+mj-ea"/>
                        </a:rPr>
                        <a:t>50</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3</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54929017"/>
                  </a:ext>
                </a:extLst>
              </a:tr>
              <a:tr h="342000">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200" b="1" spc="50" baseline="0" dirty="0">
                          <a:latin typeface="+mj-lt"/>
                          <a:ea typeface="+mj-ea"/>
                        </a:rPr>
                        <a:t>50</a:t>
                      </a:r>
                      <a:r>
                        <a:rPr kumimoji="1" lang="ja-JP" altLang="en-US" sz="1200" b="1" spc="50" baseline="0" dirty="0">
                          <a:latin typeface="+mj-lt"/>
                          <a:ea typeface="+mj-ea"/>
                        </a:rPr>
                        <a:t>億円超　</a:t>
                      </a:r>
                      <a:r>
                        <a:rPr kumimoji="1" lang="en-US" altLang="ja-JP" sz="1200" b="1" spc="50" baseline="0" dirty="0">
                          <a:latin typeface="+mj-lt"/>
                          <a:ea typeface="+mj-ea"/>
                        </a:rPr>
                        <a:t>100</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2</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96813135"/>
                  </a:ext>
                </a:extLst>
              </a:tr>
              <a:tr h="342000">
                <a:tc>
                  <a:txBody>
                    <a:bodyPr/>
                    <a:lstStyle/>
                    <a:p>
                      <a:pPr algn="l">
                        <a:lnSpc>
                          <a:spcPct val="110000"/>
                        </a:lnSpc>
                      </a:pPr>
                      <a:r>
                        <a:rPr kumimoji="1" lang="en-US" altLang="ja-JP" sz="1200" b="1" spc="50" baseline="0" dirty="0">
                          <a:latin typeface="+mj-lt"/>
                          <a:ea typeface="+mj-ea"/>
                        </a:rPr>
                        <a:t>100</a:t>
                      </a:r>
                      <a:r>
                        <a:rPr kumimoji="1" lang="ja-JP" altLang="en-US" sz="1200" b="1" spc="50" baseline="0" dirty="0">
                          <a:latin typeface="+mj-lt"/>
                          <a:ea typeface="+mj-ea"/>
                        </a:rPr>
                        <a:t>億円超の部分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1</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50759054"/>
                  </a:ext>
                </a:extLst>
              </a:tr>
            </a:tbl>
          </a:graphicData>
        </a:graphic>
      </p:graphicFrame>
      <p:sp>
        <p:nvSpPr>
          <p:cNvPr id="3" name="テキスト ボックス 2">
            <a:extLst>
              <a:ext uri="{FF2B5EF4-FFF2-40B4-BE49-F238E27FC236}">
                <a16:creationId xmlns:a16="http://schemas.microsoft.com/office/drawing/2014/main" id="{08F1693B-FFF1-ED80-7351-7BBDED97C92F}"/>
              </a:ext>
            </a:extLst>
          </p:cNvPr>
          <p:cNvSpPr txBox="1"/>
          <p:nvPr/>
        </p:nvSpPr>
        <p:spPr>
          <a:xfrm>
            <a:off x="8985126" y="2145278"/>
            <a:ext cx="788036" cy="209545"/>
          </a:xfrm>
          <a:prstGeom prst="rect">
            <a:avLst/>
          </a:prstGeom>
          <a:noFill/>
        </p:spPr>
        <p:txBody>
          <a:bodyPr wrap="none" lIns="0" tIns="0" rIns="0" bIns="0" rtlCol="0">
            <a:spAutoFit/>
          </a:bodyPr>
          <a:lstStyle/>
          <a:p>
            <a:pPr algn="ctr">
              <a:lnSpc>
                <a:spcPct val="120000"/>
              </a:lnSpc>
              <a:buClr>
                <a:schemeClr val="tx2"/>
              </a:buClr>
              <a:buSzPct val="80000"/>
            </a:pPr>
            <a:r>
              <a:rPr lang="en-US" altLang="ja-JP" sz="1200" spc="70" dirty="0">
                <a:latin typeface="+mj-ea"/>
                <a:ea typeface="+mj-ea"/>
              </a:rPr>
              <a:t>(</a:t>
            </a:r>
            <a:r>
              <a:rPr lang="ja-JP" altLang="en-US" sz="1200" spc="70" dirty="0">
                <a:latin typeface="+mj-ea"/>
                <a:ea typeface="+mj-ea"/>
              </a:rPr>
              <a:t>消費税別</a:t>
            </a:r>
            <a:r>
              <a:rPr lang="en-US" altLang="ja-JP" sz="1200" spc="70" dirty="0">
                <a:latin typeface="+mj-ea"/>
                <a:ea typeface="+mj-ea"/>
              </a:rPr>
              <a:t>)</a:t>
            </a:r>
            <a:endParaRPr lang="ja-JP" altLang="en-US" sz="1200" spc="70" dirty="0">
              <a:latin typeface="+mj-ea"/>
              <a:ea typeface="+mj-ea"/>
            </a:endParaRPr>
          </a:p>
        </p:txBody>
      </p:sp>
      <p:sp>
        <p:nvSpPr>
          <p:cNvPr id="4" name="正方形/長方形 3">
            <a:extLst>
              <a:ext uri="{FF2B5EF4-FFF2-40B4-BE49-F238E27FC236}">
                <a16:creationId xmlns:a16="http://schemas.microsoft.com/office/drawing/2014/main" id="{021EBBB3-E8D6-A883-4081-72409664F3A2}"/>
              </a:ext>
            </a:extLst>
          </p:cNvPr>
          <p:cNvSpPr/>
          <p:nvPr/>
        </p:nvSpPr>
        <p:spPr>
          <a:xfrm>
            <a:off x="449264" y="5224403"/>
            <a:ext cx="3816000" cy="186218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0" rtlCol="0" anchor="t"/>
          <a:lstStyle/>
          <a:p>
            <a:pPr algn="ctr">
              <a:buClr>
                <a:schemeClr val="tx2"/>
              </a:buClr>
              <a:buSzPct val="80000"/>
            </a:pPr>
            <a:r>
              <a:rPr kumimoji="1" lang="ja-JP" altLang="en-US" sz="1800" b="1" spc="110" dirty="0">
                <a:solidFill>
                  <a:schemeClr val="tx1"/>
                </a:solidFill>
                <a:latin typeface="+mj-ea"/>
                <a:ea typeface="+mj-ea"/>
              </a:rPr>
              <a:t>中間報酬</a:t>
            </a:r>
            <a:r>
              <a:rPr kumimoji="1" lang="en-US" altLang="ja-JP" sz="1800" spc="110" baseline="30000" dirty="0">
                <a:solidFill>
                  <a:schemeClr val="tx1"/>
                </a:solidFill>
                <a:latin typeface="+mj-ea"/>
                <a:ea typeface="+mj-ea"/>
              </a:rPr>
              <a:t>※1</a:t>
            </a:r>
            <a:r>
              <a:rPr kumimoji="1" lang="ja-JP" altLang="en-US" sz="1800" b="1" spc="110" dirty="0">
                <a:solidFill>
                  <a:schemeClr val="tx1"/>
                </a:solidFill>
                <a:latin typeface="+mj-ea"/>
                <a:ea typeface="+mj-ea"/>
              </a:rPr>
              <a:t>の算定方法</a:t>
            </a:r>
          </a:p>
        </p:txBody>
      </p:sp>
      <p:sp>
        <p:nvSpPr>
          <p:cNvPr id="5" name="正方形/長方形 4">
            <a:extLst>
              <a:ext uri="{FF2B5EF4-FFF2-40B4-BE49-F238E27FC236}">
                <a16:creationId xmlns:a16="http://schemas.microsoft.com/office/drawing/2014/main" id="{0A844F69-2E35-9611-A4E1-15256E6FA8E2}"/>
              </a:ext>
            </a:extLst>
          </p:cNvPr>
          <p:cNvSpPr/>
          <p:nvPr/>
        </p:nvSpPr>
        <p:spPr>
          <a:xfrm>
            <a:off x="615951" y="5812442"/>
            <a:ext cx="3482623" cy="916330"/>
          </a:xfrm>
          <a:prstGeom prst="rect">
            <a:avLst/>
          </a:prstGeom>
          <a:solidFill>
            <a:schemeClr val="bg1"/>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kumimoji="1" lang="ja-JP" altLang="en-US" sz="1600" b="1" spc="30" dirty="0">
                <a:solidFill>
                  <a:schemeClr val="tx1"/>
                </a:solidFill>
                <a:latin typeface="+mj-ea"/>
                <a:ea typeface="+mj-ea"/>
              </a:rPr>
              <a:t>成功報酬の</a:t>
            </a:r>
            <a:r>
              <a:rPr kumimoji="1" lang="en-US" altLang="ja-JP" sz="1600" b="1" spc="30" dirty="0">
                <a:solidFill>
                  <a:schemeClr val="tx1"/>
                </a:solidFill>
                <a:latin typeface="+mj-ea"/>
                <a:ea typeface="+mj-ea"/>
              </a:rPr>
              <a:t>10</a:t>
            </a:r>
            <a:r>
              <a:rPr kumimoji="1" lang="ja-JP" altLang="en-US" sz="1600" b="1" spc="30" dirty="0">
                <a:solidFill>
                  <a:schemeClr val="tx1"/>
                </a:solidFill>
                <a:latin typeface="+mj-ea"/>
                <a:ea typeface="+mj-ea"/>
              </a:rPr>
              <a:t>％</a:t>
            </a:r>
            <a:endParaRPr kumimoji="1" lang="en-US" altLang="ja-JP" sz="1600" b="1" spc="30" dirty="0">
              <a:solidFill>
                <a:schemeClr val="tx1"/>
              </a:solidFill>
              <a:latin typeface="+mj-ea"/>
              <a:ea typeface="+mj-ea"/>
            </a:endParaRPr>
          </a:p>
          <a:p>
            <a:pPr algn="ctr">
              <a:lnSpc>
                <a:spcPct val="120000"/>
              </a:lnSpc>
            </a:pPr>
            <a:r>
              <a:rPr kumimoji="1" lang="ja-JP" altLang="en-US" sz="1200" b="1" spc="30" dirty="0">
                <a:solidFill>
                  <a:schemeClr val="tx1"/>
                </a:solidFill>
                <a:latin typeface="+mj-ea"/>
                <a:ea typeface="+mj-ea"/>
              </a:rPr>
              <a:t>（但し最低額は</a:t>
            </a:r>
            <a:r>
              <a:rPr kumimoji="1" lang="en-US" altLang="ja-JP" sz="1200" b="1" spc="30" dirty="0">
                <a:solidFill>
                  <a:schemeClr val="tx1"/>
                </a:solidFill>
                <a:latin typeface="+mj-ea"/>
                <a:ea typeface="+mj-ea"/>
              </a:rPr>
              <a:t>300</a:t>
            </a:r>
            <a:r>
              <a:rPr kumimoji="1" lang="ja-JP" altLang="en-US" sz="1200" b="1" spc="30" dirty="0">
                <a:solidFill>
                  <a:schemeClr val="tx1"/>
                </a:solidFill>
                <a:latin typeface="+mj-ea"/>
                <a:ea typeface="+mj-ea"/>
              </a:rPr>
              <a:t>万円とします）</a:t>
            </a:r>
          </a:p>
        </p:txBody>
      </p:sp>
      <p:sp>
        <p:nvSpPr>
          <p:cNvPr id="8" name="正方形/長方形 7">
            <a:extLst>
              <a:ext uri="{FF2B5EF4-FFF2-40B4-BE49-F238E27FC236}">
                <a16:creationId xmlns:a16="http://schemas.microsoft.com/office/drawing/2014/main" id="{6EED8059-D8E2-0DAF-A350-928100484E14}"/>
              </a:ext>
            </a:extLst>
          </p:cNvPr>
          <p:cNvSpPr/>
          <p:nvPr/>
        </p:nvSpPr>
        <p:spPr>
          <a:xfrm>
            <a:off x="615951" y="6812925"/>
            <a:ext cx="3135474" cy="1299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spAutoFit/>
          </a:bodyPr>
          <a:lstStyle/>
          <a:p>
            <a:pPr>
              <a:lnSpc>
                <a:spcPct val="110000"/>
              </a:lnSpc>
            </a:pPr>
            <a:r>
              <a:rPr lang="en-US" altLang="ja-JP" sz="800" dirty="0">
                <a:solidFill>
                  <a:schemeClr val="tx1"/>
                </a:solidFill>
                <a:latin typeface="+mn-ea"/>
              </a:rPr>
              <a:t>※1</a:t>
            </a:r>
            <a:r>
              <a:rPr lang="ja-JP" altLang="en-US" sz="800" dirty="0">
                <a:solidFill>
                  <a:schemeClr val="tx1"/>
                </a:solidFill>
                <a:latin typeface="+mn-ea"/>
              </a:rPr>
              <a:t>　中間報酬は成約した場合、成功報酬に含め、充当いたします。</a:t>
            </a:r>
          </a:p>
        </p:txBody>
      </p:sp>
    </p:spTree>
    <p:extLst>
      <p:ext uri="{BB962C8B-B14F-4D97-AF65-F5344CB8AC3E}">
        <p14:creationId xmlns:p14="http://schemas.microsoft.com/office/powerpoint/2010/main" val="2577499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図 16" descr="背景パターン&#10;&#10;AI 生成コンテンツは誤りを含む可能性があります。">
            <a:extLst>
              <a:ext uri="{FF2B5EF4-FFF2-40B4-BE49-F238E27FC236}">
                <a16:creationId xmlns:a16="http://schemas.microsoft.com/office/drawing/2014/main" id="{38E11F1F-6089-6877-97F2-46DAB0493C33}"/>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8" name="テキスト ボックス 7">
            <a:extLst>
              <a:ext uri="{FF2B5EF4-FFF2-40B4-BE49-F238E27FC236}">
                <a16:creationId xmlns:a16="http://schemas.microsoft.com/office/drawing/2014/main" id="{9DC24A9B-5E33-B3B6-B79B-2D6D5E5AF179}"/>
              </a:ext>
            </a:extLst>
          </p:cNvPr>
          <p:cNvSpPr txBox="1"/>
          <p:nvPr/>
        </p:nvSpPr>
        <p:spPr>
          <a:xfrm>
            <a:off x="2626785" y="4635223"/>
            <a:ext cx="5604098" cy="276999"/>
          </a:xfrm>
          <a:prstGeom prst="rect">
            <a:avLst/>
          </a:prstGeom>
          <a:noFill/>
        </p:spPr>
        <p:txBody>
          <a:bodyPr wrap="none" lIns="0" tIns="0" rIns="0" bIns="0" rtlCol="0">
            <a:spAutoFit/>
          </a:bodyPr>
          <a:lstStyle/>
          <a:p>
            <a:pPr algn="ctr"/>
            <a:r>
              <a:rPr lang="ja-JP" altLang="en-US" b="1" spc="100" dirty="0">
                <a:latin typeface="+mj-ea"/>
                <a:ea typeface="+mj-ea"/>
              </a:rPr>
              <a:t>企業価値の最大化を通じて、経済に正しい循環を。</a:t>
            </a:r>
          </a:p>
        </p:txBody>
      </p:sp>
      <p:pic>
        <p:nvPicPr>
          <p:cNvPr id="4" name="グラフィックス 3">
            <a:extLst>
              <a:ext uri="{FF2B5EF4-FFF2-40B4-BE49-F238E27FC236}">
                <a16:creationId xmlns:a16="http://schemas.microsoft.com/office/drawing/2014/main" id="{549C4F39-0611-3D63-A333-95F8642EF8D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18588" y="3080873"/>
            <a:ext cx="5502236" cy="1090632"/>
          </a:xfrm>
          <a:prstGeom prst="rect">
            <a:avLst/>
          </a:prstGeom>
        </p:spPr>
      </p:pic>
    </p:spTree>
    <p:extLst>
      <p:ext uri="{BB962C8B-B14F-4D97-AF65-F5344CB8AC3E}">
        <p14:creationId xmlns:p14="http://schemas.microsoft.com/office/powerpoint/2010/main" val="3135229745"/>
      </p:ext>
    </p:extLst>
  </p:cSld>
  <p:clrMapOvr>
    <a:masterClrMapping/>
  </p:clrMapOvr>
</p:sld>
</file>

<file path=ppt/theme/theme1.xml><?xml version="1.0" encoding="utf-8"?>
<a:theme xmlns:a="http://schemas.openxmlformats.org/drawingml/2006/main" name="SL_2026">
  <a:themeElements>
    <a:clrScheme name="M&amp;A">
      <a:dk1>
        <a:srgbClr val="000000"/>
      </a:dk1>
      <a:lt1>
        <a:srgbClr val="FFFFFF"/>
      </a:lt1>
      <a:dk2>
        <a:srgbClr val="0B3041"/>
      </a:dk2>
      <a:lt2>
        <a:srgbClr val="E3E7E9"/>
      </a:lt2>
      <a:accent1>
        <a:srgbClr val="727F88"/>
      </a:accent1>
      <a:accent2>
        <a:srgbClr val="E1F3FB"/>
      </a:accent2>
      <a:accent3>
        <a:srgbClr val="54CCB3"/>
      </a:accent3>
      <a:accent4>
        <a:srgbClr val="0889C9"/>
      </a:accent4>
      <a:accent5>
        <a:srgbClr val="FFFFFF"/>
      </a:accent5>
      <a:accent6>
        <a:srgbClr val="FFFFFF"/>
      </a:accent6>
      <a:hlink>
        <a:srgbClr val="FFFFFF"/>
      </a:hlink>
      <a:folHlink>
        <a:srgbClr val="FFFFFF"/>
      </a:folHlink>
    </a:clrScheme>
    <a:fontScheme name="游ゴシック&amp;Arial">
      <a:majorFont>
        <a:latin typeface="Arial"/>
        <a:ea typeface="游ゴシック"/>
        <a:cs typeface=""/>
      </a:majorFont>
      <a:minorFont>
        <a:latin typeface="Arial"/>
        <a:ea typeface="游ゴシック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7717</TotalTime>
  <Words>3079</Words>
  <Application>Microsoft Office PowerPoint</Application>
  <PresentationFormat>ユーザー設定</PresentationFormat>
  <Paragraphs>384</Paragraphs>
  <Slides>36</Slides>
  <Notes>30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36</vt:i4>
      </vt:variant>
    </vt:vector>
  </HeadingPairs>
  <TitlesOfParts>
    <vt:vector size="40" baseType="lpstr">
      <vt:lpstr>游ゴシック</vt:lpstr>
      <vt:lpstr>Arial</vt:lpstr>
      <vt:lpstr>Wingdings</vt:lpstr>
      <vt:lpstr>SL_2026</vt:lpstr>
      <vt:lpstr>企業概要書 &lt;●●業/●●地区&gt;　</vt:lpstr>
      <vt:lpstr>はじめに</vt:lpstr>
      <vt:lpstr>PowerPoint プレゼンテーション</vt:lpstr>
      <vt:lpstr>エグゼクティブサマリー</vt:lpstr>
      <vt:lpstr>基本情報</vt:lpstr>
      <vt:lpstr>財務ハイライト（P/L）</vt:lpstr>
      <vt:lpstr>財務ハイライト（B/S）</vt:lpstr>
      <vt:lpstr>譲渡希望条件</vt:lpstr>
      <vt:lpstr>事業概要</vt:lpstr>
      <vt:lpstr>事業内容</vt:lpstr>
      <vt:lpstr>サービス概要、製品一例、工事実績、など</vt:lpstr>
      <vt:lpstr>特徴、強み、成長性等</vt:lpstr>
      <vt:lpstr>●●別売上高</vt:lpstr>
      <vt:lpstr>仕入先別取引高</vt:lpstr>
      <vt:lpstr>外注費</vt:lpstr>
      <vt:lpstr>組織、拠点、設備等</vt:lpstr>
      <vt:lpstr>組織図</vt:lpstr>
      <vt:lpstr>株主及び役員</vt:lpstr>
      <vt:lpstr>従業員</vt:lpstr>
      <vt:lpstr>拠点概要（本社）</vt:lpstr>
      <vt:lpstr>拠点概要（●●工場）</vt:lpstr>
      <vt:lpstr>不動産詳細</vt:lpstr>
      <vt:lpstr>保有設備一覧</vt:lpstr>
      <vt:lpstr>財務情報詳細</vt:lpstr>
      <vt:lpstr>貸借対照表</vt:lpstr>
      <vt:lpstr>損益計算書</vt:lpstr>
      <vt:lpstr>製造原価報告書</vt:lpstr>
      <vt:lpstr>販売費及び一般管理費</vt:lpstr>
      <vt:lpstr>Appendix</vt:lpstr>
      <vt:lpstr>沿革</vt:lpstr>
      <vt:lpstr>代表者経歴</vt:lpstr>
      <vt:lpstr>事業計画</vt:lpstr>
      <vt:lpstr>今期予算</vt:lpstr>
      <vt:lpstr>その他補足情報</vt:lpstr>
      <vt:lpstr>報酬体系</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宮本 健</dc:creator>
  <cp:lastModifiedBy>越智 真也</cp:lastModifiedBy>
  <cp:revision>176</cp:revision>
  <cp:lastPrinted>2025-10-23T01:12:16Z</cp:lastPrinted>
  <dcterms:created xsi:type="dcterms:W3CDTF">2022-11-09T11:25:01Z</dcterms:created>
  <dcterms:modified xsi:type="dcterms:W3CDTF">2026-02-10T11:59:22Z</dcterms:modified>
</cp:coreProperties>
</file>