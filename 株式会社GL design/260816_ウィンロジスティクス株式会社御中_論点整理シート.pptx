
<file path=[Content_Types].xml><?xml version="1.0" encoding="utf-8"?>
<Types xmlns="http://schemas.openxmlformats.org/package/2006/content-types">
  <Default Extension="png" ContentType="image/png"/>
  <Default Extension="rels" ContentType="application/vnd.openxmlformats-package.relationships+xml"/>
  <Default Extension="wdp" ContentType="image/vnd.ms-photo"/>
  <Default Extension="xml" ContentType="application/xml"/>
  <Override PartName="/docProps/app.xml" ContentType="application/vnd.openxmlformats-officedocument.extended-properties+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trictFirstAndLastChars="0" saveSubsetFonts="1" autoCompressPictures="0">
  <p:sldMasterIdLst>
    <p:sldMasterId id="2147483648" r:id="rId1"/>
  </p:sldMasterIdLst>
  <p:notesMasterIdLst>
    <p:notesMasterId r:id="rId12"/>
  </p:notesMasterIdLst>
  <p:sldIdLst>
    <p:sldId id="267" r:id="rId2"/>
    <p:sldId id="257" r:id="rId3"/>
    <p:sldId id="272" r:id="rId17"/>
    <p:sldId id="258" r:id="rId4"/>
    <p:sldId id="273" r:id="rId16"/>
    <p:sldId id="274" r:id="rId15"/>
    <p:sldId id="270" r:id="rId7"/>
    <p:sldId id="271" r:id="rId8"/>
    <p:sldId id="275" r:id="rId14"/>
    <p:sldId id="276" r:id="rId13"/>
    <p:sldId id="277" r:id="rId23"/>
    <p:sldId id="259" r:id="rId9"/>
    <p:sldId id="278" r:id="rId24"/>
    <p:sldId id="261" r:id="rId10"/>
    <p:sldId id="279" r:id="rId25"/>
    <p:sldId id="266" r:id="rId11"/>
  </p:sldIdLst>
  <p:sldSz cx="9144000" cy="6858000" type="screen4x3"/>
  <p:notesSz cx="6794500" cy="99314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15:clr>
            <a:srgbClr val="A4A3A4"/>
          </p15:clr>
        </p15:guide>
        <p15:guide id="2" pos="544">
          <p15:clr>
            <a:srgbClr val="A4A3A4"/>
          </p15:clr>
        </p15:guide>
        <p15:guide id="3" pos="4830">
          <p15:clr>
            <a:srgbClr val="A4A3A4"/>
          </p15:clr>
        </p15:guide>
        <p15:guide id="4" orient="horz" pos="3634">
          <p15:clr>
            <a:srgbClr val="A4A3A4"/>
          </p15:clr>
        </p15:guide>
        <p15:guide id="5" pos="4014">
          <p15:clr>
            <a:srgbClr val="A4A3A4"/>
          </p15:clr>
        </p15:guide>
        <p15:guide id="6" pos="1882">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8" roundtripDataSignature="AMtx7mjiAUO8oj/B8Y2YCkMKoHUmkZ4y+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EF7C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A6B9113-0DA6-4419-ABC6-697280B0F4CE}">
  <a:tblStyle styleId="{FA6B9113-0DA6-4419-ABC6-697280B0F4CE}"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75" d="100"/>
          <a:sy n="75" d="100"/>
        </p:scale>
        <p:origin x="948" y="-280"/>
      </p:cViewPr>
      <p:guideLst>
        <p:guide orient="horz"/>
        <p:guide pos="544"/>
        <p:guide pos="4830"/>
        <p:guide orient="horz" pos="3634"/>
        <p:guide pos="4014"/>
        <p:guide pos="1882"/>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slide" Target="slides/slide15.xml"/><Relationship Id="rId14" Type="http://schemas.openxmlformats.org/officeDocument/2006/relationships/slide" Target="slides/slide14.xml"/><Relationship Id="rId15" Type="http://schemas.openxmlformats.org/officeDocument/2006/relationships/slide" Target="slides/slide13.xml"/><Relationship Id="rId16" Type="http://schemas.openxmlformats.org/officeDocument/2006/relationships/slide" Target="slides/slide12.xml"/><Relationship Id="rId17" Type="http://schemas.openxmlformats.org/officeDocument/2006/relationships/slide" Target="slides/slide11.xml"/><Relationship Id="rId18" Type="http://customschemas.google.com/relationships/presentationmetadata" Target="metadata"/><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1" y="0"/>
            <a:ext cx="2944072" cy="496491"/>
          </a:xfrm>
          <a:prstGeom prst="rect">
            <a:avLst/>
          </a:prstGeom>
          <a:noFill/>
          <a:ln>
            <a:noFill/>
          </a:ln>
        </p:spPr>
        <p:txBody>
          <a:bodyPr spcFirstLastPara="1" wrap="square" lIns="91281" tIns="45641" rIns="91281" bIns="45641" anchor="t"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200" b="0" i="0" u="none" strike="noStrike" cap="none">
                <a:solidFill>
                  <a:schemeClr val="dk2"/>
                </a:solidFill>
                <a:latin typeface="Arial"/>
                <a:ea typeface="Arial"/>
                <a:cs typeface="Arial"/>
                <a:sym typeface="Arial"/>
              </a:defRPr>
            </a:lvl2pPr>
            <a:lvl3pPr marR="0" lvl="2" algn="l" rtl="0">
              <a:spcBef>
                <a:spcPts val="0"/>
              </a:spcBef>
              <a:spcAft>
                <a:spcPts val="0"/>
              </a:spcAft>
              <a:buSzPts val="1400"/>
              <a:buNone/>
              <a:defRPr sz="1200" b="0" i="0" u="none" strike="noStrike" cap="none">
                <a:solidFill>
                  <a:schemeClr val="dk2"/>
                </a:solidFill>
                <a:latin typeface="Arial"/>
                <a:ea typeface="Arial"/>
                <a:cs typeface="Arial"/>
                <a:sym typeface="Arial"/>
              </a:defRPr>
            </a:lvl3pPr>
            <a:lvl4pPr marR="0" lvl="3" algn="l" rtl="0">
              <a:spcBef>
                <a:spcPts val="0"/>
              </a:spcBef>
              <a:spcAft>
                <a:spcPts val="0"/>
              </a:spcAft>
              <a:buSzPts val="1400"/>
              <a:buNone/>
              <a:defRPr sz="1200" b="0" i="0" u="none" strike="noStrike" cap="none">
                <a:solidFill>
                  <a:schemeClr val="dk2"/>
                </a:solidFill>
                <a:latin typeface="Arial"/>
                <a:ea typeface="Arial"/>
                <a:cs typeface="Arial"/>
                <a:sym typeface="Arial"/>
              </a:defRPr>
            </a:lvl4pPr>
            <a:lvl5pPr marR="0" lvl="4" algn="l" rtl="0">
              <a:spcBef>
                <a:spcPts val="0"/>
              </a:spcBef>
              <a:spcAft>
                <a:spcPts val="0"/>
              </a:spcAft>
              <a:buSzPts val="1400"/>
              <a:buNone/>
              <a:defRPr sz="1200" b="0" i="0" u="none" strike="noStrike" cap="none">
                <a:solidFill>
                  <a:schemeClr val="dk2"/>
                </a:solidFill>
                <a:latin typeface="Arial"/>
                <a:ea typeface="Arial"/>
                <a:cs typeface="Arial"/>
                <a:sym typeface="Arial"/>
              </a:defRPr>
            </a:lvl5pPr>
            <a:lvl6pPr marR="0" lvl="5" algn="l" rtl="0">
              <a:spcBef>
                <a:spcPts val="0"/>
              </a:spcBef>
              <a:spcAft>
                <a:spcPts val="0"/>
              </a:spcAft>
              <a:buSzPts val="1400"/>
              <a:buNone/>
              <a:defRPr sz="1200" b="0" i="0" u="none" strike="noStrike" cap="none">
                <a:solidFill>
                  <a:schemeClr val="dk2"/>
                </a:solidFill>
                <a:latin typeface="Arial"/>
                <a:ea typeface="Arial"/>
                <a:cs typeface="Arial"/>
                <a:sym typeface="Arial"/>
              </a:defRPr>
            </a:lvl6pPr>
            <a:lvl7pPr marR="0" lvl="6" algn="l" rtl="0">
              <a:spcBef>
                <a:spcPts val="0"/>
              </a:spcBef>
              <a:spcAft>
                <a:spcPts val="0"/>
              </a:spcAft>
              <a:buSzPts val="1400"/>
              <a:buNone/>
              <a:defRPr sz="1200" b="0" i="0" u="none" strike="noStrike" cap="none">
                <a:solidFill>
                  <a:schemeClr val="dk2"/>
                </a:solidFill>
                <a:latin typeface="Arial"/>
                <a:ea typeface="Arial"/>
                <a:cs typeface="Arial"/>
                <a:sym typeface="Arial"/>
              </a:defRPr>
            </a:lvl7pPr>
            <a:lvl8pPr marR="0" lvl="7" algn="l" rtl="0">
              <a:spcBef>
                <a:spcPts val="0"/>
              </a:spcBef>
              <a:spcAft>
                <a:spcPts val="0"/>
              </a:spcAft>
              <a:buSzPts val="1400"/>
              <a:buNone/>
              <a:defRPr sz="1200" b="0" i="0" u="none" strike="noStrike" cap="none">
                <a:solidFill>
                  <a:schemeClr val="dk2"/>
                </a:solidFill>
                <a:latin typeface="Arial"/>
                <a:ea typeface="Arial"/>
                <a:cs typeface="Arial"/>
                <a:sym typeface="Arial"/>
              </a:defRPr>
            </a:lvl8pPr>
            <a:lvl9pPr marR="0" lvl="8" algn="l" rtl="0">
              <a:spcBef>
                <a:spcPts val="0"/>
              </a:spcBef>
              <a:spcAft>
                <a:spcPts val="0"/>
              </a:spcAft>
              <a:buSzPts val="1400"/>
              <a:buNone/>
              <a:defRPr sz="1200" b="0" i="0" u="none" strike="noStrike" cap="none">
                <a:solidFill>
                  <a:schemeClr val="dk2"/>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48844" y="0"/>
            <a:ext cx="2944072" cy="496491"/>
          </a:xfrm>
          <a:prstGeom prst="rect">
            <a:avLst/>
          </a:prstGeom>
          <a:noFill/>
          <a:ln>
            <a:noFill/>
          </a:ln>
        </p:spPr>
        <p:txBody>
          <a:bodyPr spcFirstLastPara="1" wrap="square" lIns="91281" tIns="45641" rIns="91281" bIns="45641" anchor="t" anchorCtr="0">
            <a:noAutofit/>
          </a:bodyPr>
          <a:lstStyle>
            <a:lvl1pPr marR="0" lvl="0" algn="r"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200" b="0" i="0" u="none" strike="noStrike" cap="none">
                <a:solidFill>
                  <a:schemeClr val="dk2"/>
                </a:solidFill>
                <a:latin typeface="Arial"/>
                <a:ea typeface="Arial"/>
                <a:cs typeface="Arial"/>
                <a:sym typeface="Arial"/>
              </a:defRPr>
            </a:lvl2pPr>
            <a:lvl3pPr marR="0" lvl="2" algn="l" rtl="0">
              <a:spcBef>
                <a:spcPts val="0"/>
              </a:spcBef>
              <a:spcAft>
                <a:spcPts val="0"/>
              </a:spcAft>
              <a:buSzPts val="1400"/>
              <a:buNone/>
              <a:defRPr sz="1200" b="0" i="0" u="none" strike="noStrike" cap="none">
                <a:solidFill>
                  <a:schemeClr val="dk2"/>
                </a:solidFill>
                <a:latin typeface="Arial"/>
                <a:ea typeface="Arial"/>
                <a:cs typeface="Arial"/>
                <a:sym typeface="Arial"/>
              </a:defRPr>
            </a:lvl3pPr>
            <a:lvl4pPr marR="0" lvl="3" algn="l" rtl="0">
              <a:spcBef>
                <a:spcPts val="0"/>
              </a:spcBef>
              <a:spcAft>
                <a:spcPts val="0"/>
              </a:spcAft>
              <a:buSzPts val="1400"/>
              <a:buNone/>
              <a:defRPr sz="1200" b="0" i="0" u="none" strike="noStrike" cap="none">
                <a:solidFill>
                  <a:schemeClr val="dk2"/>
                </a:solidFill>
                <a:latin typeface="Arial"/>
                <a:ea typeface="Arial"/>
                <a:cs typeface="Arial"/>
                <a:sym typeface="Arial"/>
              </a:defRPr>
            </a:lvl4pPr>
            <a:lvl5pPr marR="0" lvl="4" algn="l" rtl="0">
              <a:spcBef>
                <a:spcPts val="0"/>
              </a:spcBef>
              <a:spcAft>
                <a:spcPts val="0"/>
              </a:spcAft>
              <a:buSzPts val="1400"/>
              <a:buNone/>
              <a:defRPr sz="1200" b="0" i="0" u="none" strike="noStrike" cap="none">
                <a:solidFill>
                  <a:schemeClr val="dk2"/>
                </a:solidFill>
                <a:latin typeface="Arial"/>
                <a:ea typeface="Arial"/>
                <a:cs typeface="Arial"/>
                <a:sym typeface="Arial"/>
              </a:defRPr>
            </a:lvl5pPr>
            <a:lvl6pPr marR="0" lvl="5" algn="l" rtl="0">
              <a:spcBef>
                <a:spcPts val="0"/>
              </a:spcBef>
              <a:spcAft>
                <a:spcPts val="0"/>
              </a:spcAft>
              <a:buSzPts val="1400"/>
              <a:buNone/>
              <a:defRPr sz="1200" b="0" i="0" u="none" strike="noStrike" cap="none">
                <a:solidFill>
                  <a:schemeClr val="dk2"/>
                </a:solidFill>
                <a:latin typeface="Arial"/>
                <a:ea typeface="Arial"/>
                <a:cs typeface="Arial"/>
                <a:sym typeface="Arial"/>
              </a:defRPr>
            </a:lvl6pPr>
            <a:lvl7pPr marR="0" lvl="6" algn="l" rtl="0">
              <a:spcBef>
                <a:spcPts val="0"/>
              </a:spcBef>
              <a:spcAft>
                <a:spcPts val="0"/>
              </a:spcAft>
              <a:buSzPts val="1400"/>
              <a:buNone/>
              <a:defRPr sz="1200" b="0" i="0" u="none" strike="noStrike" cap="none">
                <a:solidFill>
                  <a:schemeClr val="dk2"/>
                </a:solidFill>
                <a:latin typeface="Arial"/>
                <a:ea typeface="Arial"/>
                <a:cs typeface="Arial"/>
                <a:sym typeface="Arial"/>
              </a:defRPr>
            </a:lvl7pPr>
            <a:lvl8pPr marR="0" lvl="7" algn="l" rtl="0">
              <a:spcBef>
                <a:spcPts val="0"/>
              </a:spcBef>
              <a:spcAft>
                <a:spcPts val="0"/>
              </a:spcAft>
              <a:buSzPts val="1400"/>
              <a:buNone/>
              <a:defRPr sz="1200" b="0" i="0" u="none" strike="noStrike" cap="none">
                <a:solidFill>
                  <a:schemeClr val="dk2"/>
                </a:solidFill>
                <a:latin typeface="Arial"/>
                <a:ea typeface="Arial"/>
                <a:cs typeface="Arial"/>
                <a:sym typeface="Arial"/>
              </a:defRPr>
            </a:lvl8pPr>
            <a:lvl9pPr marR="0" lvl="8" algn="l" rtl="0">
              <a:spcBef>
                <a:spcPts val="0"/>
              </a:spcBef>
              <a:spcAft>
                <a:spcPts val="0"/>
              </a:spcAft>
              <a:buSzPts val="1400"/>
              <a:buNone/>
              <a:defRPr sz="1200" b="0" i="0" u="none" strike="noStrike" cap="none">
                <a:solidFill>
                  <a:schemeClr val="dk2"/>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919163" y="746125"/>
            <a:ext cx="4960937" cy="372268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6" name="Google Shape;6;n"/>
          <p:cNvSpPr txBox="1">
            <a:spLocks noGrp="1"/>
          </p:cNvSpPr>
          <p:nvPr>
            <p:ph type="body" idx="1"/>
          </p:nvPr>
        </p:nvSpPr>
        <p:spPr>
          <a:xfrm>
            <a:off x="679768" y="4717455"/>
            <a:ext cx="5434966" cy="4468416"/>
          </a:xfrm>
          <a:prstGeom prst="rect">
            <a:avLst/>
          </a:prstGeom>
          <a:noFill/>
          <a:ln>
            <a:noFill/>
          </a:ln>
        </p:spPr>
        <p:txBody>
          <a:bodyPr spcFirstLastPara="1" wrap="square" lIns="91281" tIns="45641" rIns="91281" bIns="45641" anchor="t" anchorCtr="0">
            <a:noAutofit/>
          </a:bodyPr>
          <a:lstStyle>
            <a:lvl1pPr marL="457200" marR="0" lvl="0" indent="-228600" algn="l" rtl="0">
              <a:spcBef>
                <a:spcPts val="360"/>
              </a:spcBef>
              <a:spcAft>
                <a:spcPts val="0"/>
              </a:spcAft>
              <a:buSzPts val="1400"/>
              <a:buNone/>
              <a:defRPr sz="1200" b="0" i="0" u="none" strike="noStrike" cap="none">
                <a:solidFill>
                  <a:schemeClr val="dk1"/>
                </a:solidFill>
                <a:latin typeface="Arial"/>
                <a:ea typeface="Arial"/>
                <a:cs typeface="Arial"/>
                <a:sym typeface="Arial"/>
              </a:defRPr>
            </a:lvl1pPr>
            <a:lvl2pPr marL="914400" marR="0" lvl="1" indent="-228600" algn="l" rtl="0">
              <a:spcBef>
                <a:spcPts val="360"/>
              </a:spcBef>
              <a:spcAft>
                <a:spcPts val="0"/>
              </a:spcAft>
              <a:buSzPts val="1400"/>
              <a:buNone/>
              <a:defRPr sz="1200" b="0" i="0" u="none" strike="noStrike" cap="none">
                <a:solidFill>
                  <a:schemeClr val="dk1"/>
                </a:solidFill>
                <a:latin typeface="Arial"/>
                <a:ea typeface="Arial"/>
                <a:cs typeface="Arial"/>
                <a:sym typeface="Arial"/>
              </a:defRPr>
            </a:lvl2pPr>
            <a:lvl3pPr marL="1371600" marR="0" lvl="2" indent="-228600" algn="l" rtl="0">
              <a:spcBef>
                <a:spcPts val="360"/>
              </a:spcBef>
              <a:spcAft>
                <a:spcPts val="0"/>
              </a:spcAft>
              <a:buSzPts val="1400"/>
              <a:buNone/>
              <a:defRPr sz="1200" b="0" i="0" u="none" strike="noStrike" cap="none">
                <a:solidFill>
                  <a:schemeClr val="dk1"/>
                </a:solidFill>
                <a:latin typeface="Arial"/>
                <a:ea typeface="Arial"/>
                <a:cs typeface="Arial"/>
                <a:sym typeface="Arial"/>
              </a:defRPr>
            </a:lvl3pPr>
            <a:lvl4pPr marL="1828800" marR="0" lvl="3" indent="-228600" algn="l" rtl="0">
              <a:spcBef>
                <a:spcPts val="360"/>
              </a:spcBef>
              <a:spcAft>
                <a:spcPts val="0"/>
              </a:spcAft>
              <a:buSzPts val="1400"/>
              <a:buNone/>
              <a:defRPr sz="1200" b="0" i="0" u="none" strike="noStrike" cap="none">
                <a:solidFill>
                  <a:schemeClr val="dk1"/>
                </a:solidFill>
                <a:latin typeface="Arial"/>
                <a:ea typeface="Arial"/>
                <a:cs typeface="Arial"/>
                <a:sym typeface="Arial"/>
              </a:defRPr>
            </a:lvl4pPr>
            <a:lvl5pPr marL="2286000" marR="0" lvl="4" indent="-228600" algn="l" rtl="0">
              <a:spcBef>
                <a:spcPts val="360"/>
              </a:spcBef>
              <a:spcAft>
                <a:spcPts val="0"/>
              </a:spcAft>
              <a:buSzPts val="1400"/>
              <a:buNone/>
              <a:defRPr sz="1200" b="0" i="0" u="none" strike="noStrike" cap="none">
                <a:solidFill>
                  <a:schemeClr val="dk1"/>
                </a:solidFill>
                <a:latin typeface="Arial"/>
                <a:ea typeface="Arial"/>
                <a:cs typeface="Arial"/>
                <a:sym typeface="Arial"/>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1" y="9433324"/>
            <a:ext cx="2944072" cy="496490"/>
          </a:xfrm>
          <a:prstGeom prst="rect">
            <a:avLst/>
          </a:prstGeom>
          <a:noFill/>
          <a:ln>
            <a:noFill/>
          </a:ln>
        </p:spPr>
        <p:txBody>
          <a:bodyPr spcFirstLastPara="1" wrap="square" lIns="91281" tIns="45641" rIns="91281" bIns="45641" anchor="b"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200" b="0" i="0" u="none" strike="noStrike" cap="none">
                <a:solidFill>
                  <a:schemeClr val="dk2"/>
                </a:solidFill>
                <a:latin typeface="Arial"/>
                <a:ea typeface="Arial"/>
                <a:cs typeface="Arial"/>
                <a:sym typeface="Arial"/>
              </a:defRPr>
            </a:lvl2pPr>
            <a:lvl3pPr marR="0" lvl="2" algn="l" rtl="0">
              <a:spcBef>
                <a:spcPts val="0"/>
              </a:spcBef>
              <a:spcAft>
                <a:spcPts val="0"/>
              </a:spcAft>
              <a:buSzPts val="1400"/>
              <a:buNone/>
              <a:defRPr sz="1200" b="0" i="0" u="none" strike="noStrike" cap="none">
                <a:solidFill>
                  <a:schemeClr val="dk2"/>
                </a:solidFill>
                <a:latin typeface="Arial"/>
                <a:ea typeface="Arial"/>
                <a:cs typeface="Arial"/>
                <a:sym typeface="Arial"/>
              </a:defRPr>
            </a:lvl3pPr>
            <a:lvl4pPr marR="0" lvl="3" algn="l" rtl="0">
              <a:spcBef>
                <a:spcPts val="0"/>
              </a:spcBef>
              <a:spcAft>
                <a:spcPts val="0"/>
              </a:spcAft>
              <a:buSzPts val="1400"/>
              <a:buNone/>
              <a:defRPr sz="1200" b="0" i="0" u="none" strike="noStrike" cap="none">
                <a:solidFill>
                  <a:schemeClr val="dk2"/>
                </a:solidFill>
                <a:latin typeface="Arial"/>
                <a:ea typeface="Arial"/>
                <a:cs typeface="Arial"/>
                <a:sym typeface="Arial"/>
              </a:defRPr>
            </a:lvl4pPr>
            <a:lvl5pPr marR="0" lvl="4" algn="l" rtl="0">
              <a:spcBef>
                <a:spcPts val="0"/>
              </a:spcBef>
              <a:spcAft>
                <a:spcPts val="0"/>
              </a:spcAft>
              <a:buSzPts val="1400"/>
              <a:buNone/>
              <a:defRPr sz="1200" b="0" i="0" u="none" strike="noStrike" cap="none">
                <a:solidFill>
                  <a:schemeClr val="dk2"/>
                </a:solidFill>
                <a:latin typeface="Arial"/>
                <a:ea typeface="Arial"/>
                <a:cs typeface="Arial"/>
                <a:sym typeface="Arial"/>
              </a:defRPr>
            </a:lvl5pPr>
            <a:lvl6pPr marR="0" lvl="5" algn="l" rtl="0">
              <a:spcBef>
                <a:spcPts val="0"/>
              </a:spcBef>
              <a:spcAft>
                <a:spcPts val="0"/>
              </a:spcAft>
              <a:buSzPts val="1400"/>
              <a:buNone/>
              <a:defRPr sz="1200" b="0" i="0" u="none" strike="noStrike" cap="none">
                <a:solidFill>
                  <a:schemeClr val="dk2"/>
                </a:solidFill>
                <a:latin typeface="Arial"/>
                <a:ea typeface="Arial"/>
                <a:cs typeface="Arial"/>
                <a:sym typeface="Arial"/>
              </a:defRPr>
            </a:lvl6pPr>
            <a:lvl7pPr marR="0" lvl="6" algn="l" rtl="0">
              <a:spcBef>
                <a:spcPts val="0"/>
              </a:spcBef>
              <a:spcAft>
                <a:spcPts val="0"/>
              </a:spcAft>
              <a:buSzPts val="1400"/>
              <a:buNone/>
              <a:defRPr sz="1200" b="0" i="0" u="none" strike="noStrike" cap="none">
                <a:solidFill>
                  <a:schemeClr val="dk2"/>
                </a:solidFill>
                <a:latin typeface="Arial"/>
                <a:ea typeface="Arial"/>
                <a:cs typeface="Arial"/>
                <a:sym typeface="Arial"/>
              </a:defRPr>
            </a:lvl7pPr>
            <a:lvl8pPr marR="0" lvl="7" algn="l" rtl="0">
              <a:spcBef>
                <a:spcPts val="0"/>
              </a:spcBef>
              <a:spcAft>
                <a:spcPts val="0"/>
              </a:spcAft>
              <a:buSzPts val="1400"/>
              <a:buNone/>
              <a:defRPr sz="1200" b="0" i="0" u="none" strike="noStrike" cap="none">
                <a:solidFill>
                  <a:schemeClr val="dk2"/>
                </a:solidFill>
                <a:latin typeface="Arial"/>
                <a:ea typeface="Arial"/>
                <a:cs typeface="Arial"/>
                <a:sym typeface="Arial"/>
              </a:defRPr>
            </a:lvl8pPr>
            <a:lvl9pPr marR="0" lvl="8" algn="l" rtl="0">
              <a:spcBef>
                <a:spcPts val="0"/>
              </a:spcBef>
              <a:spcAft>
                <a:spcPts val="0"/>
              </a:spcAft>
              <a:buSzPts val="1400"/>
              <a:buNone/>
              <a:defRPr sz="1200" b="0" i="0" u="none" strike="noStrike" cap="none">
                <a:solidFill>
                  <a:schemeClr val="dk2"/>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48844" y="9433324"/>
            <a:ext cx="2944072" cy="496490"/>
          </a:xfrm>
          <a:prstGeom prst="rect">
            <a:avLst/>
          </a:prstGeom>
          <a:noFill/>
          <a:ln>
            <a:noFill/>
          </a:ln>
        </p:spPr>
        <p:txBody>
          <a:bodyPr spcFirstLastPara="1" wrap="square" lIns="91281" tIns="45641" rIns="91281" bIns="45641" anchor="b" anchorCtr="0">
            <a:noAutofit/>
          </a:bodyPr>
          <a:lstStyle/>
          <a:p>
            <a:pPr algn="r"/>
            <a:fld id="{00000000-1234-1234-1234-123412341234}" type="slidenum">
              <a:rPr lang="en-US" altLang="ja-JP" sz="1200" smtClean="0">
                <a:solidFill>
                  <a:schemeClr val="dk1"/>
                </a:solidFill>
              </a:rPr>
              <a:pPr algn="r"/>
              <a:t>‹#›</a:t>
            </a:fld>
            <a:endParaRPr lang="en-US" sz="1200">
              <a:solidFill>
                <a:schemeClr val="dk1"/>
              </a:solidFil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p2:notes"/>
          <p:cNvSpPr txBox="1">
            <a:spLocks noGrp="1"/>
          </p:cNvSpPr>
          <p:nvPr>
            <p:ph type="body" idx="1"/>
          </p:nvPr>
        </p:nvSpPr>
        <p:spPr>
          <a:xfrm>
            <a:off x="679768" y="4717455"/>
            <a:ext cx="5434966" cy="4468416"/>
          </a:xfrm>
          <a:prstGeom prst="rect">
            <a:avLst/>
          </a:prstGeom>
        </p:spPr>
        <p:txBody>
          <a:bodyPr spcFirstLastPara="1" wrap="square" lIns="91281" tIns="45641" rIns="91281" bIns="45641" anchor="t" anchorCtr="0">
            <a:noAutofit/>
          </a:bodyPr>
          <a:lstStyle/>
          <a:p>
            <a:pPr marL="0" indent="0"/>
            <a:endParaRPr/>
          </a:p>
        </p:txBody>
      </p:sp>
      <p:sp>
        <p:nvSpPr>
          <p:cNvPr id="194" name="Google Shape;194;p2:notes"/>
          <p:cNvSpPr>
            <a:spLocks noGrp="1" noRot="1" noChangeAspect="1"/>
          </p:cNvSpPr>
          <p:nvPr>
            <p:ph type="sldImg" idx="2"/>
          </p:nvPr>
        </p:nvSpPr>
        <p:spPr>
          <a:xfrm>
            <a:off x="919163" y="746125"/>
            <a:ext cx="4960937" cy="37226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p3:notes"/>
          <p:cNvSpPr>
            <a:spLocks noGrp="1" noRot="1" noChangeAspect="1"/>
          </p:cNvSpPr>
          <p:nvPr>
            <p:ph type="sldImg" idx="2"/>
          </p:nvPr>
        </p:nvSpPr>
        <p:spPr>
          <a:xfrm>
            <a:off x="919163" y="746125"/>
            <a:ext cx="4960937" cy="372268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201" name="Google Shape;201;p3:notes"/>
          <p:cNvSpPr txBox="1">
            <a:spLocks noGrp="1"/>
          </p:cNvSpPr>
          <p:nvPr>
            <p:ph type="body" idx="1"/>
          </p:nvPr>
        </p:nvSpPr>
        <p:spPr>
          <a:xfrm>
            <a:off x="679768" y="4717455"/>
            <a:ext cx="5434966" cy="4468416"/>
          </a:xfrm>
          <a:prstGeom prst="rect">
            <a:avLst/>
          </a:prstGeom>
          <a:noFill/>
          <a:ln>
            <a:noFill/>
          </a:ln>
        </p:spPr>
        <p:txBody>
          <a:bodyPr spcFirstLastPara="1" wrap="square" lIns="91281" tIns="45641" rIns="91281" bIns="45641" anchor="t" anchorCtr="0">
            <a:noAutofit/>
          </a:bodyPr>
          <a:lstStyle/>
          <a:p>
            <a:pPr marL="0" indent="0">
              <a:spcBef>
                <a:spcPts val="0"/>
              </a:spcBef>
            </a:pPr>
            <a:endParaRPr/>
          </a:p>
        </p:txBody>
      </p:sp>
      <p:sp>
        <p:nvSpPr>
          <p:cNvPr id="202" name="Google Shape;202;p3:notes"/>
          <p:cNvSpPr txBox="1">
            <a:spLocks noGrp="1"/>
          </p:cNvSpPr>
          <p:nvPr>
            <p:ph type="sldNum" idx="12"/>
          </p:nvPr>
        </p:nvSpPr>
        <p:spPr>
          <a:xfrm>
            <a:off x="3848844" y="9433324"/>
            <a:ext cx="2944072" cy="496490"/>
          </a:xfrm>
          <a:prstGeom prst="rect">
            <a:avLst/>
          </a:prstGeom>
          <a:noFill/>
          <a:ln>
            <a:noFill/>
          </a:ln>
        </p:spPr>
        <p:txBody>
          <a:bodyPr spcFirstLastPara="1" wrap="square" lIns="91281" tIns="45641" rIns="91281" bIns="45641" anchor="b" anchorCtr="0">
            <a:noAutofit/>
          </a:bodyPr>
          <a:lstStyle/>
          <a:p>
            <a:pPr algn="r"/>
            <a:fld id="{00000000-1234-1234-1234-123412341234}" type="slidenum">
              <a:rPr lang="en-US" altLang="ja-JP"/>
              <a:pPr algn="r"/>
              <a:t>2</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a:extLst>
            <a:ext uri="{FF2B5EF4-FFF2-40B4-BE49-F238E27FC236}">
              <a16:creationId xmlns:a16="http://schemas.microsoft.com/office/drawing/2014/main" id="{B2F41690-D6A0-65BD-15FF-C385F37FEB5A}"/>
            </a:ext>
          </a:extLst>
        </p:cNvPr>
        <p:cNvGrpSpPr/>
        <p:nvPr/>
      </p:nvGrpSpPr>
      <p:grpSpPr>
        <a:xfrm>
          <a:off x="0" y="0"/>
          <a:ext cx="0" cy="0"/>
          <a:chOff x="0" y="0"/>
          <a:chExt cx="0" cy="0"/>
        </a:xfrm>
      </p:grpSpPr>
      <p:sp>
        <p:nvSpPr>
          <p:cNvPr id="200" name="Google Shape;200;p3:notes">
            <a:extLst>
              <a:ext uri="{FF2B5EF4-FFF2-40B4-BE49-F238E27FC236}">
                <a16:creationId xmlns:a16="http://schemas.microsoft.com/office/drawing/2014/main" id="{B8D33891-959D-819A-AA03-E3D13D3CC229}"/>
              </a:ext>
            </a:extLst>
          </p:cNvPr>
          <p:cNvSpPr>
            <a:spLocks noGrp="1" noRot="1" noChangeAspect="1"/>
          </p:cNvSpPr>
          <p:nvPr>
            <p:ph type="sldImg" idx="2"/>
          </p:nvPr>
        </p:nvSpPr>
        <p:spPr>
          <a:xfrm>
            <a:off x="919163" y="746125"/>
            <a:ext cx="4960937" cy="372268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201" name="Google Shape;201;p3:notes">
            <a:extLst>
              <a:ext uri="{FF2B5EF4-FFF2-40B4-BE49-F238E27FC236}">
                <a16:creationId xmlns:a16="http://schemas.microsoft.com/office/drawing/2014/main" id="{B1D4F4EF-7358-288E-E7B0-E460169833D8}"/>
              </a:ext>
            </a:extLst>
          </p:cNvPr>
          <p:cNvSpPr txBox="1">
            <a:spLocks noGrp="1"/>
          </p:cNvSpPr>
          <p:nvPr>
            <p:ph type="body" idx="1"/>
          </p:nvPr>
        </p:nvSpPr>
        <p:spPr>
          <a:xfrm>
            <a:off x="679768" y="4717455"/>
            <a:ext cx="5434966" cy="4468416"/>
          </a:xfrm>
          <a:prstGeom prst="rect">
            <a:avLst/>
          </a:prstGeom>
          <a:noFill/>
          <a:ln>
            <a:noFill/>
          </a:ln>
        </p:spPr>
        <p:txBody>
          <a:bodyPr spcFirstLastPara="1" wrap="square" lIns="91281" tIns="45641" rIns="91281" bIns="45641" anchor="t" anchorCtr="0">
            <a:noAutofit/>
          </a:bodyPr>
          <a:lstStyle/>
          <a:p>
            <a:pPr marL="0" indent="0">
              <a:spcBef>
                <a:spcPts val="0"/>
              </a:spcBef>
            </a:pPr>
            <a:endParaRPr/>
          </a:p>
        </p:txBody>
      </p:sp>
      <p:sp>
        <p:nvSpPr>
          <p:cNvPr id="202" name="Google Shape;202;p3:notes">
            <a:extLst>
              <a:ext uri="{FF2B5EF4-FFF2-40B4-BE49-F238E27FC236}">
                <a16:creationId xmlns:a16="http://schemas.microsoft.com/office/drawing/2014/main" id="{62F2E315-2F52-4109-EFFF-D27625E50661}"/>
              </a:ext>
            </a:extLst>
          </p:cNvPr>
          <p:cNvSpPr txBox="1">
            <a:spLocks noGrp="1"/>
          </p:cNvSpPr>
          <p:nvPr>
            <p:ph type="sldNum" idx="12"/>
          </p:nvPr>
        </p:nvSpPr>
        <p:spPr>
          <a:xfrm>
            <a:off x="3848844" y="9433324"/>
            <a:ext cx="2944072" cy="496490"/>
          </a:xfrm>
          <a:prstGeom prst="rect">
            <a:avLst/>
          </a:prstGeom>
          <a:noFill/>
          <a:ln>
            <a:noFill/>
          </a:ln>
        </p:spPr>
        <p:txBody>
          <a:bodyPr spcFirstLastPara="1" wrap="square" lIns="91281" tIns="45641" rIns="91281" bIns="45641" anchor="b" anchorCtr="0">
            <a:noAutofit/>
          </a:bodyPr>
          <a:lstStyle/>
          <a:p>
            <a:pPr algn="r"/>
            <a:fld id="{00000000-1234-1234-1234-123412341234}" type="slidenum">
              <a:rPr lang="en-US" altLang="ja-JP"/>
              <a:pPr algn="r"/>
              <a:t>5</a:t>
            </a:fld>
            <a:endParaRPr/>
          </a:p>
        </p:txBody>
      </p:sp>
    </p:spTree>
    <p:extLst>
      <p:ext uri="{BB962C8B-B14F-4D97-AF65-F5344CB8AC3E}">
        <p14:creationId xmlns:p14="http://schemas.microsoft.com/office/powerpoint/2010/main" val="260213419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a:extLst>
            <a:ext uri="{FF2B5EF4-FFF2-40B4-BE49-F238E27FC236}">
              <a16:creationId xmlns:a16="http://schemas.microsoft.com/office/drawing/2014/main" id="{EBAF5E89-3BFC-A5DB-7B0E-009C3733E999}"/>
            </a:ext>
          </a:extLst>
        </p:cNvPr>
        <p:cNvGrpSpPr/>
        <p:nvPr/>
      </p:nvGrpSpPr>
      <p:grpSpPr>
        <a:xfrm>
          <a:off x="0" y="0"/>
          <a:ext cx="0" cy="0"/>
          <a:chOff x="0" y="0"/>
          <a:chExt cx="0" cy="0"/>
        </a:xfrm>
      </p:grpSpPr>
      <p:sp>
        <p:nvSpPr>
          <p:cNvPr id="200" name="Google Shape;200;p3:notes">
            <a:extLst>
              <a:ext uri="{FF2B5EF4-FFF2-40B4-BE49-F238E27FC236}">
                <a16:creationId xmlns:a16="http://schemas.microsoft.com/office/drawing/2014/main" id="{0916B331-ECF9-6131-294B-26851A4288C1}"/>
              </a:ext>
            </a:extLst>
          </p:cNvPr>
          <p:cNvSpPr>
            <a:spLocks noGrp="1" noRot="1" noChangeAspect="1"/>
          </p:cNvSpPr>
          <p:nvPr>
            <p:ph type="sldImg" idx="2"/>
          </p:nvPr>
        </p:nvSpPr>
        <p:spPr>
          <a:xfrm>
            <a:off x="919163" y="746125"/>
            <a:ext cx="4960937" cy="372268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201" name="Google Shape;201;p3:notes">
            <a:extLst>
              <a:ext uri="{FF2B5EF4-FFF2-40B4-BE49-F238E27FC236}">
                <a16:creationId xmlns:a16="http://schemas.microsoft.com/office/drawing/2014/main" id="{C12094A0-AD5D-1815-3706-214D1EA914C3}"/>
              </a:ext>
            </a:extLst>
          </p:cNvPr>
          <p:cNvSpPr txBox="1">
            <a:spLocks noGrp="1"/>
          </p:cNvSpPr>
          <p:nvPr>
            <p:ph type="body" idx="1"/>
          </p:nvPr>
        </p:nvSpPr>
        <p:spPr>
          <a:xfrm>
            <a:off x="679768" y="4717455"/>
            <a:ext cx="5434966" cy="4468416"/>
          </a:xfrm>
          <a:prstGeom prst="rect">
            <a:avLst/>
          </a:prstGeom>
          <a:noFill/>
          <a:ln>
            <a:noFill/>
          </a:ln>
        </p:spPr>
        <p:txBody>
          <a:bodyPr spcFirstLastPara="1" wrap="square" lIns="91281" tIns="45641" rIns="91281" bIns="45641" anchor="t" anchorCtr="0">
            <a:noAutofit/>
          </a:bodyPr>
          <a:lstStyle/>
          <a:p>
            <a:pPr marL="0" indent="0">
              <a:spcBef>
                <a:spcPts val="0"/>
              </a:spcBef>
            </a:pPr>
            <a:endParaRPr dirty="0"/>
          </a:p>
        </p:txBody>
      </p:sp>
      <p:sp>
        <p:nvSpPr>
          <p:cNvPr id="202" name="Google Shape;202;p3:notes">
            <a:extLst>
              <a:ext uri="{FF2B5EF4-FFF2-40B4-BE49-F238E27FC236}">
                <a16:creationId xmlns:a16="http://schemas.microsoft.com/office/drawing/2014/main" id="{826AF828-DEA4-C177-0C53-009758A744C0}"/>
              </a:ext>
            </a:extLst>
          </p:cNvPr>
          <p:cNvSpPr txBox="1">
            <a:spLocks noGrp="1"/>
          </p:cNvSpPr>
          <p:nvPr>
            <p:ph type="sldNum" idx="12"/>
          </p:nvPr>
        </p:nvSpPr>
        <p:spPr>
          <a:xfrm>
            <a:off x="3848844" y="9433324"/>
            <a:ext cx="2944072" cy="496490"/>
          </a:xfrm>
          <a:prstGeom prst="rect">
            <a:avLst/>
          </a:prstGeom>
          <a:noFill/>
          <a:ln>
            <a:noFill/>
          </a:ln>
        </p:spPr>
        <p:txBody>
          <a:bodyPr spcFirstLastPara="1" wrap="square" lIns="91281" tIns="45641" rIns="91281" bIns="45641" anchor="b" anchorCtr="0">
            <a:noAutofit/>
          </a:bodyPr>
          <a:lstStyle/>
          <a:p>
            <a:pPr algn="r"/>
            <a:fld id="{00000000-1234-1234-1234-123412341234}" type="slidenum">
              <a:rPr lang="en-US" altLang="ja-JP"/>
              <a:pPr algn="r"/>
              <a:t>6</a:t>
            </a:fld>
            <a:endParaRPr/>
          </a:p>
        </p:txBody>
      </p:sp>
    </p:spTree>
    <p:extLst>
      <p:ext uri="{BB962C8B-B14F-4D97-AF65-F5344CB8AC3E}">
        <p14:creationId xmlns:p14="http://schemas.microsoft.com/office/powerpoint/2010/main" val="180072009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p4:notes"/>
          <p:cNvSpPr>
            <a:spLocks noGrp="1" noRot="1" noChangeAspect="1"/>
          </p:cNvSpPr>
          <p:nvPr>
            <p:ph type="sldImg" idx="2"/>
          </p:nvPr>
        </p:nvSpPr>
        <p:spPr>
          <a:xfrm>
            <a:off x="919163" y="746125"/>
            <a:ext cx="4960937" cy="372268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211" name="Google Shape;211;p4:notes"/>
          <p:cNvSpPr txBox="1">
            <a:spLocks noGrp="1"/>
          </p:cNvSpPr>
          <p:nvPr>
            <p:ph type="body" idx="1"/>
          </p:nvPr>
        </p:nvSpPr>
        <p:spPr>
          <a:xfrm>
            <a:off x="679768" y="4717455"/>
            <a:ext cx="5434966" cy="4468416"/>
          </a:xfrm>
          <a:prstGeom prst="rect">
            <a:avLst/>
          </a:prstGeom>
          <a:noFill/>
          <a:ln>
            <a:noFill/>
          </a:ln>
        </p:spPr>
        <p:txBody>
          <a:bodyPr spcFirstLastPara="1" wrap="square" lIns="91281" tIns="45641" rIns="91281" bIns="45641" anchor="t" anchorCtr="0">
            <a:noAutofit/>
          </a:bodyPr>
          <a:lstStyle/>
          <a:p>
            <a:pPr marL="0" indent="0">
              <a:spcBef>
                <a:spcPts val="0"/>
              </a:spcBef>
            </a:pPr>
            <a:endParaRPr/>
          </a:p>
          <a:p>
            <a:pPr marL="0" indent="0"/>
            <a:endParaRPr/>
          </a:p>
          <a:p>
            <a:pPr marL="0" indent="0"/>
            <a:endParaRPr/>
          </a:p>
        </p:txBody>
      </p:sp>
      <p:sp>
        <p:nvSpPr>
          <p:cNvPr id="212" name="Google Shape;212;p4:notes"/>
          <p:cNvSpPr txBox="1">
            <a:spLocks noGrp="1"/>
          </p:cNvSpPr>
          <p:nvPr>
            <p:ph type="sldNum" idx="12"/>
          </p:nvPr>
        </p:nvSpPr>
        <p:spPr>
          <a:xfrm>
            <a:off x="3848844" y="9433324"/>
            <a:ext cx="2944072" cy="496490"/>
          </a:xfrm>
          <a:prstGeom prst="rect">
            <a:avLst/>
          </a:prstGeom>
          <a:noFill/>
          <a:ln>
            <a:noFill/>
          </a:ln>
        </p:spPr>
        <p:txBody>
          <a:bodyPr spcFirstLastPara="1" wrap="square" lIns="91281" tIns="45641" rIns="91281" bIns="45641" anchor="b" anchorCtr="0">
            <a:noAutofit/>
          </a:bodyPr>
          <a:lstStyle/>
          <a:p>
            <a:pPr algn="r"/>
            <a:fld id="{00000000-1234-1234-1234-123412341234}" type="slidenum">
              <a:rPr lang="en-US" altLang="ja-JP"/>
              <a:pPr algn="r"/>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p6:notes"/>
          <p:cNvSpPr>
            <a:spLocks noGrp="1" noRot="1" noChangeAspect="1"/>
          </p:cNvSpPr>
          <p:nvPr>
            <p:ph type="sldImg" idx="2"/>
          </p:nvPr>
        </p:nvSpPr>
        <p:spPr>
          <a:xfrm>
            <a:off x="919163" y="746125"/>
            <a:ext cx="4960937" cy="372268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231" name="Google Shape;231;p6:notes"/>
          <p:cNvSpPr txBox="1">
            <a:spLocks noGrp="1"/>
          </p:cNvSpPr>
          <p:nvPr>
            <p:ph type="body" idx="1"/>
          </p:nvPr>
        </p:nvSpPr>
        <p:spPr>
          <a:xfrm>
            <a:off x="679768" y="4717455"/>
            <a:ext cx="5434966" cy="4468416"/>
          </a:xfrm>
          <a:prstGeom prst="rect">
            <a:avLst/>
          </a:prstGeom>
          <a:noFill/>
          <a:ln>
            <a:noFill/>
          </a:ln>
        </p:spPr>
        <p:txBody>
          <a:bodyPr spcFirstLastPara="1" wrap="square" lIns="91281" tIns="45641" rIns="91281" bIns="45641" anchor="t" anchorCtr="0">
            <a:noAutofit/>
          </a:bodyPr>
          <a:lstStyle/>
          <a:p>
            <a:pPr marL="0" indent="0">
              <a:spcBef>
                <a:spcPts val="0"/>
              </a:spcBef>
            </a:pPr>
            <a:r>
              <a:rPr lang="ja-JP" altLang="en-US" sz="800"/>
              <a:t>３の下に</a:t>
            </a:r>
            <a:endParaRPr sz="800"/>
          </a:p>
          <a:p>
            <a:pPr marL="0" indent="0">
              <a:spcBef>
                <a:spcPts val="240"/>
              </a:spcBef>
            </a:pPr>
            <a:r>
              <a:rPr lang="ja-JP" altLang="en-US" sz="800"/>
              <a:t>現在の株主になった経緯とそのエビデンスの有無を書いてもらうのはどうか？</a:t>
            </a:r>
            <a:endParaRPr sz="800"/>
          </a:p>
          <a:p>
            <a:pPr marL="0" indent="0">
              <a:spcBef>
                <a:spcPts val="240"/>
              </a:spcBef>
            </a:pPr>
            <a:r>
              <a:rPr lang="ja-JP" altLang="en-US" sz="800"/>
              <a:t>５　個人から買い取る不動産について三友調査をいれていないことが多いため、ちゃんと把握できていないこともリスクではある（入れるかは検討）</a:t>
            </a:r>
            <a:endParaRPr/>
          </a:p>
        </p:txBody>
      </p:sp>
      <p:sp>
        <p:nvSpPr>
          <p:cNvPr id="232" name="Google Shape;232;p6:notes"/>
          <p:cNvSpPr txBox="1">
            <a:spLocks noGrp="1"/>
          </p:cNvSpPr>
          <p:nvPr>
            <p:ph type="sldNum" idx="12"/>
          </p:nvPr>
        </p:nvSpPr>
        <p:spPr>
          <a:xfrm>
            <a:off x="3848844" y="9433324"/>
            <a:ext cx="2944072" cy="496490"/>
          </a:xfrm>
          <a:prstGeom prst="rect">
            <a:avLst/>
          </a:prstGeom>
          <a:noFill/>
          <a:ln>
            <a:noFill/>
          </a:ln>
        </p:spPr>
        <p:txBody>
          <a:bodyPr spcFirstLastPara="1" wrap="square" lIns="91281" tIns="45641" rIns="91281" bIns="45641" anchor="b" anchorCtr="0">
            <a:noAutofit/>
          </a:bodyPr>
          <a:lstStyle/>
          <a:p>
            <a:pPr algn="r"/>
            <a:fld id="{00000000-1234-1234-1234-123412341234}" type="slidenum">
              <a:rPr lang="en-US" altLang="ja-JP"/>
              <a:pPr algn="r"/>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4"/>
        <p:cNvGrpSpPr/>
        <p:nvPr/>
      </p:nvGrpSpPr>
      <p:grpSpPr>
        <a:xfrm>
          <a:off x="0" y="0"/>
          <a:ext cx="0" cy="0"/>
          <a:chOff x="0" y="0"/>
          <a:chExt cx="0" cy="0"/>
        </a:xfrm>
      </p:grpSpPr>
      <p:sp>
        <p:nvSpPr>
          <p:cNvPr id="285" name="Google Shape;285;p11:notes"/>
          <p:cNvSpPr>
            <a:spLocks noGrp="1" noRot="1" noChangeAspect="1"/>
          </p:cNvSpPr>
          <p:nvPr>
            <p:ph type="sldImg" idx="2"/>
          </p:nvPr>
        </p:nvSpPr>
        <p:spPr>
          <a:xfrm>
            <a:off x="919163" y="746125"/>
            <a:ext cx="4960937" cy="372268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286" name="Google Shape;286;p11:notes"/>
          <p:cNvSpPr txBox="1">
            <a:spLocks noGrp="1"/>
          </p:cNvSpPr>
          <p:nvPr>
            <p:ph type="body" idx="1"/>
          </p:nvPr>
        </p:nvSpPr>
        <p:spPr>
          <a:xfrm>
            <a:off x="679768" y="4717455"/>
            <a:ext cx="5434966" cy="4468416"/>
          </a:xfrm>
          <a:prstGeom prst="rect">
            <a:avLst/>
          </a:prstGeom>
          <a:noFill/>
          <a:ln>
            <a:noFill/>
          </a:ln>
        </p:spPr>
        <p:txBody>
          <a:bodyPr spcFirstLastPara="1" wrap="square" lIns="91281" tIns="45641" rIns="91281" bIns="45641" anchor="t" anchorCtr="0">
            <a:noAutofit/>
          </a:bodyPr>
          <a:lstStyle/>
          <a:p>
            <a:pPr marL="0" indent="0">
              <a:spcBef>
                <a:spcPts val="0"/>
              </a:spcBef>
            </a:pPr>
            <a:endParaRPr/>
          </a:p>
        </p:txBody>
      </p:sp>
      <p:sp>
        <p:nvSpPr>
          <p:cNvPr id="287" name="Google Shape;287;p11:notes"/>
          <p:cNvSpPr txBox="1">
            <a:spLocks noGrp="1"/>
          </p:cNvSpPr>
          <p:nvPr>
            <p:ph type="sldNum" idx="12"/>
          </p:nvPr>
        </p:nvSpPr>
        <p:spPr>
          <a:xfrm>
            <a:off x="3848844" y="9433324"/>
            <a:ext cx="2944072" cy="496490"/>
          </a:xfrm>
          <a:prstGeom prst="rect">
            <a:avLst/>
          </a:prstGeom>
          <a:noFill/>
          <a:ln>
            <a:noFill/>
          </a:ln>
        </p:spPr>
        <p:txBody>
          <a:bodyPr spcFirstLastPara="1" wrap="square" lIns="91281" tIns="45641" rIns="91281" bIns="45641" anchor="b" anchorCtr="0">
            <a:noAutofit/>
          </a:bodyPr>
          <a:lstStyle/>
          <a:p>
            <a:pPr algn="r"/>
            <a:fld id="{00000000-1234-1234-1234-123412341234}" type="slidenum">
              <a:rPr lang="en-US" altLang="ja-JP"/>
              <a:pPr algn="r"/>
              <a:t>9</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microsoft.com/office/2007/relationships/hdphoto" Target="../media/hdphoto1.wdp"/><Relationship Id="rId4"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ja-JP" altLang="en-US"/>
              <a:t>マスター タイトルの書式設定</a:t>
            </a:r>
            <a:endParaRPr lang="en-US" dirty="0"/>
          </a:p>
        </p:txBody>
      </p:sp>
      <p:sp>
        <p:nvSpPr>
          <p:cNvPr id="3" name="Subtitle 2"/>
          <p:cNvSpPr>
            <a:spLocks noGrp="1"/>
          </p:cNvSpPr>
          <p:nvPr>
            <p:ph type="subTitle" idx="1"/>
          </p:nvPr>
        </p:nvSpPr>
        <p:spPr>
          <a:xfrm>
            <a:off x="628650" y="1825625"/>
            <a:ext cx="78867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a:xfrm>
            <a:off x="628650" y="6356351"/>
            <a:ext cx="2057400" cy="365125"/>
          </a:xfrm>
          <a:prstGeom prst="rect">
            <a:avLst/>
          </a:prstGeom>
        </p:spPr>
        <p:txBody>
          <a:bodyPr vert="horz" lIns="91440" tIns="45720" rIns="91440" bIns="45720" rtlCol="0" anchor="ctr"/>
          <a:lstStyle>
            <a:defPPr>
              <a:defRPr lang="en-US"/>
            </a:defPPr>
            <a:lvl1pPr marL="0" algn="l"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4A8C01E1-DC73-47CA-8AB3-0AF12820F4D0}" type="datetime1">
              <a:rPr kumimoji="1" lang="ja-JP" altLang="en-US" smtClean="0"/>
              <a:pPr/>
              <a:t>2026/7/30</a:t>
            </a:fld>
            <a:endParaRPr kumimoji="1" lang="ja-JP" altLang="en-US"/>
          </a:p>
        </p:txBody>
      </p:sp>
      <p:sp>
        <p:nvSpPr>
          <p:cNvPr id="5" name="Footer Placeholder 4"/>
          <p:cNvSpPr>
            <a:spLocks noGrp="1"/>
          </p:cNvSpPr>
          <p:nvPr>
            <p:ph type="ftr" sz="quarter" idx="11"/>
          </p:nvPr>
        </p:nvSpPr>
        <p:spPr>
          <a:xfrm>
            <a:off x="3028950" y="6356351"/>
            <a:ext cx="3086100" cy="365125"/>
          </a:xfrm>
          <a:prstGeom prst="rect">
            <a:avLst/>
          </a:prstGeom>
        </p:spPr>
        <p:txBody>
          <a:bodyPr vert="horz" lIns="91440" tIns="45720" rIns="91440" bIns="45720" rtlCol="0" anchor="ctr"/>
          <a:lstStyle>
            <a:defPPr>
              <a:defRPr lang="en-US"/>
            </a:defPPr>
            <a:lvl1pPr marL="0" algn="ct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kumimoji="1" lang="ja-JP" altLang="en-US"/>
          </a:p>
        </p:txBody>
      </p:sp>
      <p:sp>
        <p:nvSpPr>
          <p:cNvPr id="6" name="Slide Number Placeholder 5"/>
          <p:cNvSpPr>
            <a:spLocks noGrp="1"/>
          </p:cNvSpPr>
          <p:nvPr>
            <p:ph type="sldNum" sz="quarter" idx="12"/>
          </p:nvPr>
        </p:nvSpPr>
        <p:spPr>
          <a:xfrm>
            <a:off x="6457950" y="6356351"/>
            <a:ext cx="20574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1532FAFD-9931-440E-831C-5FB57402A186}" type="slidenum">
              <a:rPr kumimoji="1" lang="ja-JP" altLang="en-US" smtClean="0"/>
              <a:pPr/>
              <a:t>‹#›</a:t>
            </a:fld>
            <a:endParaRPr kumimoji="1" lang="ja-JP" altLang="en-US"/>
          </a:p>
        </p:txBody>
      </p:sp>
      <p:sp>
        <p:nvSpPr>
          <p:cNvPr id="7" name="正方形/長方形 6">
            <a:extLst>
              <a:ext uri="{FF2B5EF4-FFF2-40B4-BE49-F238E27FC236}">
                <a16:creationId xmlns:a16="http://schemas.microsoft.com/office/drawing/2014/main" id="{53A5FD5A-0BDD-4A81-9722-D58D9DC7A6CB}"/>
              </a:ext>
            </a:extLst>
          </p:cNvPr>
          <p:cNvSpPr/>
          <p:nvPr userDrawn="1"/>
        </p:nvSpPr>
        <p:spPr bwMode="gray">
          <a:xfrm>
            <a:off x="-908" y="6095965"/>
            <a:ext cx="9149670" cy="77041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b" anchorCtr="0"/>
          <a:lstStyle/>
          <a:p>
            <a:pPr algn="r">
              <a:lnSpc>
                <a:spcPts val="900"/>
              </a:lnSpc>
            </a:pPr>
            <a:endParaRPr kumimoji="1" lang="ja-JP" altLang="en-US" sz="950" dirty="0">
              <a:solidFill>
                <a:srgbClr val="404E0A"/>
              </a:solidFill>
              <a:latin typeface="Arial" panose="020B0604020202020204" pitchFamily="34" charset="0"/>
              <a:ea typeface="Meiryo UI"/>
              <a:cs typeface="Arial" panose="020B0604020202020204" pitchFamily="34" charset="0"/>
            </a:endParaRPr>
          </a:p>
        </p:txBody>
      </p:sp>
      <p:pic>
        <p:nvPicPr>
          <p:cNvPr id="8" name="図 7">
            <a:extLst>
              <a:ext uri="{FF2B5EF4-FFF2-40B4-BE49-F238E27FC236}">
                <a16:creationId xmlns:a16="http://schemas.microsoft.com/office/drawing/2014/main" id="{BE0725ED-E3D5-40AF-86AE-6DF05682A332}"/>
              </a:ext>
            </a:extLst>
          </p:cNvPr>
          <p:cNvPicPr>
            <a:picLocks noChangeAspect="1"/>
          </p:cNvPicPr>
          <p:nvPr userDrawn="1"/>
        </p:nvPicPr>
        <p:blipFill>
          <a:blip r:embed="rId2" cstate="print">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a:ext>
            </a:extLst>
          </a:blip>
          <a:stretch>
            <a:fillRect/>
          </a:stretch>
        </p:blipFill>
        <p:spPr bwMode="gray">
          <a:xfrm>
            <a:off x="-1587" y="-2704"/>
            <a:ext cx="9144000" cy="6096000"/>
          </a:xfrm>
          <a:prstGeom prst="rect">
            <a:avLst/>
          </a:prstGeom>
        </p:spPr>
      </p:pic>
      <p:sp>
        <p:nvSpPr>
          <p:cNvPr id="9" name="フリーフォーム 14">
            <a:extLst>
              <a:ext uri="{FF2B5EF4-FFF2-40B4-BE49-F238E27FC236}">
                <a16:creationId xmlns:a16="http://schemas.microsoft.com/office/drawing/2014/main" id="{777E065D-7ABE-4B71-94D8-7961F25F23F3}"/>
              </a:ext>
            </a:extLst>
          </p:cNvPr>
          <p:cNvSpPr/>
          <p:nvPr userDrawn="1"/>
        </p:nvSpPr>
        <p:spPr bwMode="gray">
          <a:xfrm>
            <a:off x="-3" y="3288845"/>
            <a:ext cx="9149444" cy="3566886"/>
          </a:xfrm>
          <a:custGeom>
            <a:avLst/>
            <a:gdLst>
              <a:gd name="connsiteX0" fmla="*/ 0 w 9144000"/>
              <a:gd name="connsiteY0" fmla="*/ 0 h 5167086"/>
              <a:gd name="connsiteX1" fmla="*/ 9144000 w 9144000"/>
              <a:gd name="connsiteY1" fmla="*/ 3454400 h 5167086"/>
              <a:gd name="connsiteX2" fmla="*/ 9144000 w 9144000"/>
              <a:gd name="connsiteY2" fmla="*/ 5167086 h 5167086"/>
              <a:gd name="connsiteX3" fmla="*/ 14514 w 9144000"/>
              <a:gd name="connsiteY3" fmla="*/ 5167086 h 5167086"/>
              <a:gd name="connsiteX4" fmla="*/ 0 w 9144000"/>
              <a:gd name="connsiteY4" fmla="*/ 0 h 5167086"/>
              <a:gd name="connsiteX0" fmla="*/ 4550241 w 9129486"/>
              <a:gd name="connsiteY0" fmla="*/ 0 h 3439886"/>
              <a:gd name="connsiteX1" fmla="*/ 9129486 w 9129486"/>
              <a:gd name="connsiteY1" fmla="*/ 1727200 h 3439886"/>
              <a:gd name="connsiteX2" fmla="*/ 9129486 w 9129486"/>
              <a:gd name="connsiteY2" fmla="*/ 3439886 h 3439886"/>
              <a:gd name="connsiteX3" fmla="*/ 0 w 9129486"/>
              <a:gd name="connsiteY3" fmla="*/ 3439886 h 3439886"/>
              <a:gd name="connsiteX4" fmla="*/ 4550241 w 9129486"/>
              <a:gd name="connsiteY4" fmla="*/ 0 h 3439886"/>
              <a:gd name="connsiteX0" fmla="*/ 4550241 w 9129486"/>
              <a:gd name="connsiteY0" fmla="*/ 0 h 3439886"/>
              <a:gd name="connsiteX1" fmla="*/ 9129486 w 9129486"/>
              <a:gd name="connsiteY1" fmla="*/ 1727200 h 3439886"/>
              <a:gd name="connsiteX2" fmla="*/ 9129486 w 9129486"/>
              <a:gd name="connsiteY2" fmla="*/ 3439886 h 3439886"/>
              <a:gd name="connsiteX3" fmla="*/ 0 w 9129486"/>
              <a:gd name="connsiteY3" fmla="*/ 3439886 h 3439886"/>
              <a:gd name="connsiteX4" fmla="*/ 1394763 w 9129486"/>
              <a:gd name="connsiteY4" fmla="*/ 2416629 h 3439886"/>
              <a:gd name="connsiteX5" fmla="*/ 4550241 w 9129486"/>
              <a:gd name="connsiteY5" fmla="*/ 0 h 3439886"/>
              <a:gd name="connsiteX0" fmla="*/ 4550264 w 9129509"/>
              <a:gd name="connsiteY0" fmla="*/ 0 h 3439886"/>
              <a:gd name="connsiteX1" fmla="*/ 9129509 w 9129509"/>
              <a:gd name="connsiteY1" fmla="*/ 1727200 h 3439886"/>
              <a:gd name="connsiteX2" fmla="*/ 9129509 w 9129509"/>
              <a:gd name="connsiteY2" fmla="*/ 3439886 h 3439886"/>
              <a:gd name="connsiteX3" fmla="*/ 23 w 9129509"/>
              <a:gd name="connsiteY3" fmla="*/ 3439886 h 3439886"/>
              <a:gd name="connsiteX4" fmla="*/ 0 w 9129509"/>
              <a:gd name="connsiteY4" fmla="*/ 2073729 h 3439886"/>
              <a:gd name="connsiteX5" fmla="*/ 4550264 w 9129509"/>
              <a:gd name="connsiteY5" fmla="*/ 0 h 3439886"/>
              <a:gd name="connsiteX0" fmla="*/ 4195228 w 9129509"/>
              <a:gd name="connsiteY0" fmla="*/ 0 h 3566886"/>
              <a:gd name="connsiteX1" fmla="*/ 9129509 w 9129509"/>
              <a:gd name="connsiteY1" fmla="*/ 1854200 h 3566886"/>
              <a:gd name="connsiteX2" fmla="*/ 9129509 w 9129509"/>
              <a:gd name="connsiteY2" fmla="*/ 3566886 h 3566886"/>
              <a:gd name="connsiteX3" fmla="*/ 23 w 9129509"/>
              <a:gd name="connsiteY3" fmla="*/ 3566886 h 3566886"/>
              <a:gd name="connsiteX4" fmla="*/ 0 w 9129509"/>
              <a:gd name="connsiteY4" fmla="*/ 2200729 h 3566886"/>
              <a:gd name="connsiteX5" fmla="*/ 4195228 w 9129509"/>
              <a:gd name="connsiteY5" fmla="*/ 0 h 3566886"/>
              <a:gd name="connsiteX0" fmla="*/ 4207908 w 9142189"/>
              <a:gd name="connsiteY0" fmla="*/ 0 h 3566886"/>
              <a:gd name="connsiteX1" fmla="*/ 9142189 w 9142189"/>
              <a:gd name="connsiteY1" fmla="*/ 1854200 h 3566886"/>
              <a:gd name="connsiteX2" fmla="*/ 9142189 w 9142189"/>
              <a:gd name="connsiteY2" fmla="*/ 3566886 h 3566886"/>
              <a:gd name="connsiteX3" fmla="*/ 12703 w 9142189"/>
              <a:gd name="connsiteY3" fmla="*/ 3566886 h 3566886"/>
              <a:gd name="connsiteX4" fmla="*/ 0 w 9142189"/>
              <a:gd name="connsiteY4" fmla="*/ 2784929 h 3566886"/>
              <a:gd name="connsiteX5" fmla="*/ 4207908 w 9142189"/>
              <a:gd name="connsiteY5" fmla="*/ 0 h 3566886"/>
              <a:gd name="connsiteX0" fmla="*/ 4207908 w 9142189"/>
              <a:gd name="connsiteY0" fmla="*/ 0 h 3566886"/>
              <a:gd name="connsiteX1" fmla="*/ 9142189 w 9142189"/>
              <a:gd name="connsiteY1" fmla="*/ 1854200 h 3566886"/>
              <a:gd name="connsiteX2" fmla="*/ 9142189 w 9142189"/>
              <a:gd name="connsiteY2" fmla="*/ 3566886 h 3566886"/>
              <a:gd name="connsiteX3" fmla="*/ 6363 w 9142189"/>
              <a:gd name="connsiteY3" fmla="*/ 3563711 h 3566886"/>
              <a:gd name="connsiteX4" fmla="*/ 0 w 9142189"/>
              <a:gd name="connsiteY4" fmla="*/ 2784929 h 3566886"/>
              <a:gd name="connsiteX5" fmla="*/ 4207908 w 9142189"/>
              <a:gd name="connsiteY5" fmla="*/ 0 h 35668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42189" h="3566886">
                <a:moveTo>
                  <a:pt x="4207908" y="0"/>
                </a:moveTo>
                <a:lnTo>
                  <a:pt x="9142189" y="1854200"/>
                </a:lnTo>
                <a:lnTo>
                  <a:pt x="9142189" y="3566886"/>
                </a:lnTo>
                <a:lnTo>
                  <a:pt x="6363" y="3563711"/>
                </a:lnTo>
                <a:cubicBezTo>
                  <a:pt x="6355" y="3108325"/>
                  <a:pt x="8" y="3240315"/>
                  <a:pt x="0" y="2784929"/>
                </a:cubicBezTo>
                <a:lnTo>
                  <a:pt x="4207908" y="0"/>
                </a:lnTo>
                <a:close/>
              </a:path>
            </a:pathLst>
          </a:custGeom>
          <a:solidFill>
            <a:schemeClr val="accent1">
              <a:lumMod val="75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b" anchorCtr="0"/>
          <a:lstStyle/>
          <a:p>
            <a:pPr algn="r">
              <a:lnSpc>
                <a:spcPts val="900"/>
              </a:lnSpc>
            </a:pPr>
            <a:endParaRPr lang="ja-JP" altLang="en-US" sz="950" dirty="0">
              <a:solidFill>
                <a:srgbClr val="404E0A"/>
              </a:solidFill>
              <a:latin typeface="Arial" panose="020B0604020202020204" pitchFamily="34" charset="0"/>
              <a:ea typeface="Meiryo UI"/>
              <a:cs typeface="Arial" panose="020B0604020202020204" pitchFamily="34" charset="0"/>
            </a:endParaRPr>
          </a:p>
        </p:txBody>
      </p:sp>
      <p:sp>
        <p:nvSpPr>
          <p:cNvPr id="10" name="フリーフォーム 15">
            <a:extLst>
              <a:ext uri="{FF2B5EF4-FFF2-40B4-BE49-F238E27FC236}">
                <a16:creationId xmlns:a16="http://schemas.microsoft.com/office/drawing/2014/main" id="{926D8226-CCF4-4B52-89D3-BA412321F7D6}"/>
              </a:ext>
            </a:extLst>
          </p:cNvPr>
          <p:cNvSpPr/>
          <p:nvPr userDrawn="1"/>
        </p:nvSpPr>
        <p:spPr bwMode="gray">
          <a:xfrm>
            <a:off x="-9693" y="1696954"/>
            <a:ext cx="4206240" cy="4388367"/>
          </a:xfrm>
          <a:custGeom>
            <a:avLst/>
            <a:gdLst>
              <a:gd name="connsiteX0" fmla="*/ 4572000 w 4572000"/>
              <a:gd name="connsiteY0" fmla="*/ 1741715 h 5138058"/>
              <a:gd name="connsiteX1" fmla="*/ 0 w 4572000"/>
              <a:gd name="connsiteY1" fmla="*/ 5138058 h 5138058"/>
              <a:gd name="connsiteX2" fmla="*/ 0 w 4572000"/>
              <a:gd name="connsiteY2" fmla="*/ 0 h 5138058"/>
              <a:gd name="connsiteX3" fmla="*/ 4572000 w 4572000"/>
              <a:gd name="connsiteY3" fmla="*/ 1741715 h 5138058"/>
              <a:gd name="connsiteX0" fmla="*/ 4572000 w 4572000"/>
              <a:gd name="connsiteY0" fmla="*/ 1741715 h 5161504"/>
              <a:gd name="connsiteX1" fmla="*/ 0 w 4572000"/>
              <a:gd name="connsiteY1" fmla="*/ 5161504 h 5161504"/>
              <a:gd name="connsiteX2" fmla="*/ 0 w 4572000"/>
              <a:gd name="connsiteY2" fmla="*/ 0 h 5161504"/>
              <a:gd name="connsiteX3" fmla="*/ 4572000 w 4572000"/>
              <a:gd name="connsiteY3" fmla="*/ 1741715 h 5161504"/>
              <a:gd name="connsiteX0" fmla="*/ 4572000 w 4572000"/>
              <a:gd name="connsiteY0" fmla="*/ 1741715 h 5173227"/>
              <a:gd name="connsiteX1" fmla="*/ 0 w 4572000"/>
              <a:gd name="connsiteY1" fmla="*/ 5173227 h 5173227"/>
              <a:gd name="connsiteX2" fmla="*/ 0 w 4572000"/>
              <a:gd name="connsiteY2" fmla="*/ 0 h 5173227"/>
              <a:gd name="connsiteX3" fmla="*/ 4572000 w 4572000"/>
              <a:gd name="connsiteY3" fmla="*/ 1741715 h 5173227"/>
              <a:gd name="connsiteX0" fmla="*/ 4572000 w 4572000"/>
              <a:gd name="connsiteY0" fmla="*/ 1741715 h 3801627"/>
              <a:gd name="connsiteX1" fmla="*/ 0 w 4572000"/>
              <a:gd name="connsiteY1" fmla="*/ 3801627 h 3801627"/>
              <a:gd name="connsiteX2" fmla="*/ 0 w 4572000"/>
              <a:gd name="connsiteY2" fmla="*/ 0 h 3801627"/>
              <a:gd name="connsiteX3" fmla="*/ 4572000 w 4572000"/>
              <a:gd name="connsiteY3" fmla="*/ 1741715 h 3801627"/>
              <a:gd name="connsiteX0" fmla="*/ 4191000 w 4191000"/>
              <a:gd name="connsiteY0" fmla="*/ 1589315 h 3801627"/>
              <a:gd name="connsiteX1" fmla="*/ 0 w 4191000"/>
              <a:gd name="connsiteY1" fmla="*/ 3801627 h 3801627"/>
              <a:gd name="connsiteX2" fmla="*/ 0 w 4191000"/>
              <a:gd name="connsiteY2" fmla="*/ 0 h 3801627"/>
              <a:gd name="connsiteX3" fmla="*/ 4191000 w 4191000"/>
              <a:gd name="connsiteY3" fmla="*/ 1589315 h 3801627"/>
              <a:gd name="connsiteX0" fmla="*/ 4191000 w 4191000"/>
              <a:gd name="connsiteY0" fmla="*/ 1589315 h 4373127"/>
              <a:gd name="connsiteX1" fmla="*/ 0 w 4191000"/>
              <a:gd name="connsiteY1" fmla="*/ 4373127 h 4373127"/>
              <a:gd name="connsiteX2" fmla="*/ 0 w 4191000"/>
              <a:gd name="connsiteY2" fmla="*/ 0 h 4373127"/>
              <a:gd name="connsiteX3" fmla="*/ 4191000 w 4191000"/>
              <a:gd name="connsiteY3" fmla="*/ 1589315 h 4373127"/>
              <a:gd name="connsiteX0" fmla="*/ 4206240 w 4206240"/>
              <a:gd name="connsiteY0" fmla="*/ 1596935 h 4373127"/>
              <a:gd name="connsiteX1" fmla="*/ 0 w 4206240"/>
              <a:gd name="connsiteY1" fmla="*/ 4373127 h 4373127"/>
              <a:gd name="connsiteX2" fmla="*/ 0 w 4206240"/>
              <a:gd name="connsiteY2" fmla="*/ 0 h 4373127"/>
              <a:gd name="connsiteX3" fmla="*/ 4206240 w 4206240"/>
              <a:gd name="connsiteY3" fmla="*/ 1596935 h 4373127"/>
              <a:gd name="connsiteX0" fmla="*/ 4206240 w 4206240"/>
              <a:gd name="connsiteY0" fmla="*/ 1596935 h 4388367"/>
              <a:gd name="connsiteX1" fmla="*/ 0 w 4206240"/>
              <a:gd name="connsiteY1" fmla="*/ 4388367 h 4388367"/>
              <a:gd name="connsiteX2" fmla="*/ 0 w 4206240"/>
              <a:gd name="connsiteY2" fmla="*/ 0 h 4388367"/>
              <a:gd name="connsiteX3" fmla="*/ 4206240 w 4206240"/>
              <a:gd name="connsiteY3" fmla="*/ 1596935 h 4388367"/>
            </a:gdLst>
            <a:ahLst/>
            <a:cxnLst>
              <a:cxn ang="0">
                <a:pos x="connsiteX0" y="connsiteY0"/>
              </a:cxn>
              <a:cxn ang="0">
                <a:pos x="connsiteX1" y="connsiteY1"/>
              </a:cxn>
              <a:cxn ang="0">
                <a:pos x="connsiteX2" y="connsiteY2"/>
              </a:cxn>
              <a:cxn ang="0">
                <a:pos x="connsiteX3" y="connsiteY3"/>
              </a:cxn>
            </a:cxnLst>
            <a:rect l="l" t="t" r="r" b="b"/>
            <a:pathLst>
              <a:path w="4206240" h="4388367">
                <a:moveTo>
                  <a:pt x="4206240" y="1596935"/>
                </a:moveTo>
                <a:lnTo>
                  <a:pt x="0" y="4388367"/>
                </a:lnTo>
                <a:lnTo>
                  <a:pt x="0" y="0"/>
                </a:lnTo>
                <a:lnTo>
                  <a:pt x="4206240" y="1596935"/>
                </a:lnTo>
                <a:close/>
              </a:path>
            </a:pathLst>
          </a:custGeom>
          <a:solidFill>
            <a:schemeClr val="accent1">
              <a:lumMod val="60000"/>
              <a:lumOff val="4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b" anchorCtr="0"/>
          <a:lstStyle/>
          <a:p>
            <a:pPr algn="r">
              <a:lnSpc>
                <a:spcPts val="900"/>
              </a:lnSpc>
            </a:pPr>
            <a:endParaRPr kumimoji="1" lang="ja-JP" altLang="en-US" sz="950" dirty="0">
              <a:solidFill>
                <a:srgbClr val="404E0A"/>
              </a:solidFill>
              <a:latin typeface="Arial" panose="020B0604020202020204" pitchFamily="34" charset="0"/>
              <a:ea typeface="Meiryo UI"/>
              <a:cs typeface="Arial" panose="020B0604020202020204" pitchFamily="34" charset="0"/>
            </a:endParaRPr>
          </a:p>
        </p:txBody>
      </p:sp>
      <p:sp>
        <p:nvSpPr>
          <p:cNvPr id="11" name="フリーフォーム 16">
            <a:extLst>
              <a:ext uri="{FF2B5EF4-FFF2-40B4-BE49-F238E27FC236}">
                <a16:creationId xmlns:a16="http://schemas.microsoft.com/office/drawing/2014/main" id="{11B64292-33AE-44EA-BA23-685311A8C144}"/>
              </a:ext>
            </a:extLst>
          </p:cNvPr>
          <p:cNvSpPr/>
          <p:nvPr userDrawn="1"/>
        </p:nvSpPr>
        <p:spPr bwMode="gray">
          <a:xfrm>
            <a:off x="12698" y="-5518"/>
            <a:ext cx="9110863" cy="3307645"/>
          </a:xfrm>
          <a:custGeom>
            <a:avLst/>
            <a:gdLst>
              <a:gd name="connsiteX0" fmla="*/ 0 w 9173029"/>
              <a:gd name="connsiteY0" fmla="*/ 1712686 h 3439886"/>
              <a:gd name="connsiteX1" fmla="*/ 2235200 w 9173029"/>
              <a:gd name="connsiteY1" fmla="*/ 29029 h 3439886"/>
              <a:gd name="connsiteX2" fmla="*/ 9173029 w 9173029"/>
              <a:gd name="connsiteY2" fmla="*/ 0 h 3439886"/>
              <a:gd name="connsiteX3" fmla="*/ 4601029 w 9173029"/>
              <a:gd name="connsiteY3" fmla="*/ 3439886 h 3439886"/>
              <a:gd name="connsiteX4" fmla="*/ 0 w 9173029"/>
              <a:gd name="connsiteY4" fmla="*/ 1712686 h 3439886"/>
              <a:gd name="connsiteX0" fmla="*/ 0 w 9173029"/>
              <a:gd name="connsiteY0" fmla="*/ 1712686 h 3468914"/>
              <a:gd name="connsiteX1" fmla="*/ 2235200 w 9173029"/>
              <a:gd name="connsiteY1" fmla="*/ 29029 h 3468914"/>
              <a:gd name="connsiteX2" fmla="*/ 9173029 w 9173029"/>
              <a:gd name="connsiteY2" fmla="*/ 0 h 3468914"/>
              <a:gd name="connsiteX3" fmla="*/ 4528458 w 9173029"/>
              <a:gd name="connsiteY3" fmla="*/ 3468914 h 3468914"/>
              <a:gd name="connsiteX4" fmla="*/ 0 w 9173029"/>
              <a:gd name="connsiteY4" fmla="*/ 1712686 h 3468914"/>
              <a:gd name="connsiteX0" fmla="*/ 0 w 9173029"/>
              <a:gd name="connsiteY0" fmla="*/ 1741714 h 3468914"/>
              <a:gd name="connsiteX1" fmla="*/ 2235200 w 9173029"/>
              <a:gd name="connsiteY1" fmla="*/ 29029 h 3468914"/>
              <a:gd name="connsiteX2" fmla="*/ 9173029 w 9173029"/>
              <a:gd name="connsiteY2" fmla="*/ 0 h 3468914"/>
              <a:gd name="connsiteX3" fmla="*/ 4528458 w 9173029"/>
              <a:gd name="connsiteY3" fmla="*/ 3468914 h 3468914"/>
              <a:gd name="connsiteX4" fmla="*/ 0 w 9173029"/>
              <a:gd name="connsiteY4" fmla="*/ 1741714 h 3468914"/>
              <a:gd name="connsiteX0" fmla="*/ 0 w 9173029"/>
              <a:gd name="connsiteY0" fmla="*/ 1741714 h 3468914"/>
              <a:gd name="connsiteX1" fmla="*/ 2235200 w 9173029"/>
              <a:gd name="connsiteY1" fmla="*/ 29029 h 3468914"/>
              <a:gd name="connsiteX2" fmla="*/ 9173029 w 9173029"/>
              <a:gd name="connsiteY2" fmla="*/ 0 h 3468914"/>
              <a:gd name="connsiteX3" fmla="*/ 7762304 w 9173029"/>
              <a:gd name="connsiteY3" fmla="*/ 1017946 h 3468914"/>
              <a:gd name="connsiteX4" fmla="*/ 4528458 w 9173029"/>
              <a:gd name="connsiteY4" fmla="*/ 3468914 h 3468914"/>
              <a:gd name="connsiteX5" fmla="*/ 0 w 9173029"/>
              <a:gd name="connsiteY5" fmla="*/ 1741714 h 3468914"/>
              <a:gd name="connsiteX0" fmla="*/ 0 w 9173029"/>
              <a:gd name="connsiteY0" fmla="*/ 1741714 h 3468914"/>
              <a:gd name="connsiteX1" fmla="*/ 2235200 w 9173029"/>
              <a:gd name="connsiteY1" fmla="*/ 29029 h 3468914"/>
              <a:gd name="connsiteX2" fmla="*/ 9173029 w 9173029"/>
              <a:gd name="connsiteY2" fmla="*/ 0 h 3468914"/>
              <a:gd name="connsiteX3" fmla="*/ 9108504 w 9173029"/>
              <a:gd name="connsiteY3" fmla="*/ 1386246 h 3468914"/>
              <a:gd name="connsiteX4" fmla="*/ 4528458 w 9173029"/>
              <a:gd name="connsiteY4" fmla="*/ 3468914 h 3468914"/>
              <a:gd name="connsiteX5" fmla="*/ 0 w 9173029"/>
              <a:gd name="connsiteY5" fmla="*/ 1741714 h 3468914"/>
              <a:gd name="connsiteX0" fmla="*/ 0 w 9147629"/>
              <a:gd name="connsiteY0" fmla="*/ 1716314 h 3443514"/>
              <a:gd name="connsiteX1" fmla="*/ 2235200 w 9147629"/>
              <a:gd name="connsiteY1" fmla="*/ 3629 h 3443514"/>
              <a:gd name="connsiteX2" fmla="*/ 9147629 w 9147629"/>
              <a:gd name="connsiteY2" fmla="*/ 0 h 3443514"/>
              <a:gd name="connsiteX3" fmla="*/ 9108504 w 9147629"/>
              <a:gd name="connsiteY3" fmla="*/ 1360846 h 3443514"/>
              <a:gd name="connsiteX4" fmla="*/ 4528458 w 9147629"/>
              <a:gd name="connsiteY4" fmla="*/ 3443514 h 3443514"/>
              <a:gd name="connsiteX5" fmla="*/ 0 w 9147629"/>
              <a:gd name="connsiteY5" fmla="*/ 1716314 h 3443514"/>
              <a:gd name="connsiteX0" fmla="*/ 0 w 9147629"/>
              <a:gd name="connsiteY0" fmla="*/ 1716314 h 3443514"/>
              <a:gd name="connsiteX1" fmla="*/ 2235200 w 9147629"/>
              <a:gd name="connsiteY1" fmla="*/ 3629 h 3443514"/>
              <a:gd name="connsiteX2" fmla="*/ 9147629 w 9147629"/>
              <a:gd name="connsiteY2" fmla="*/ 0 h 3443514"/>
              <a:gd name="connsiteX3" fmla="*/ 9133904 w 9147629"/>
              <a:gd name="connsiteY3" fmla="*/ 1360846 h 3443514"/>
              <a:gd name="connsiteX4" fmla="*/ 4528458 w 9147629"/>
              <a:gd name="connsiteY4" fmla="*/ 3443514 h 3443514"/>
              <a:gd name="connsiteX5" fmla="*/ 0 w 9147629"/>
              <a:gd name="connsiteY5" fmla="*/ 1716314 h 3443514"/>
              <a:gd name="connsiteX0" fmla="*/ 0 w 9134929"/>
              <a:gd name="connsiteY0" fmla="*/ 1716314 h 3443514"/>
              <a:gd name="connsiteX1" fmla="*/ 2235200 w 9134929"/>
              <a:gd name="connsiteY1" fmla="*/ 3629 h 3443514"/>
              <a:gd name="connsiteX2" fmla="*/ 9134929 w 9134929"/>
              <a:gd name="connsiteY2" fmla="*/ 0 h 3443514"/>
              <a:gd name="connsiteX3" fmla="*/ 9133904 w 9134929"/>
              <a:gd name="connsiteY3" fmla="*/ 1360846 h 3443514"/>
              <a:gd name="connsiteX4" fmla="*/ 4528458 w 9134929"/>
              <a:gd name="connsiteY4" fmla="*/ 3443514 h 3443514"/>
              <a:gd name="connsiteX5" fmla="*/ 0 w 9134929"/>
              <a:gd name="connsiteY5" fmla="*/ 1716314 h 3443514"/>
              <a:gd name="connsiteX0" fmla="*/ 0 w 9134929"/>
              <a:gd name="connsiteY0" fmla="*/ 1716314 h 3443514"/>
              <a:gd name="connsiteX1" fmla="*/ 3771900 w 9134929"/>
              <a:gd name="connsiteY1" fmla="*/ 16329 h 3443514"/>
              <a:gd name="connsiteX2" fmla="*/ 9134929 w 9134929"/>
              <a:gd name="connsiteY2" fmla="*/ 0 h 3443514"/>
              <a:gd name="connsiteX3" fmla="*/ 9133904 w 9134929"/>
              <a:gd name="connsiteY3" fmla="*/ 1360846 h 3443514"/>
              <a:gd name="connsiteX4" fmla="*/ 4528458 w 9134929"/>
              <a:gd name="connsiteY4" fmla="*/ 3443514 h 3443514"/>
              <a:gd name="connsiteX5" fmla="*/ 0 w 9134929"/>
              <a:gd name="connsiteY5" fmla="*/ 1716314 h 3443514"/>
              <a:gd name="connsiteX0" fmla="*/ 0 w 9134929"/>
              <a:gd name="connsiteY0" fmla="*/ 1716314 h 1716314"/>
              <a:gd name="connsiteX1" fmla="*/ 3771900 w 9134929"/>
              <a:gd name="connsiteY1" fmla="*/ 16329 h 1716314"/>
              <a:gd name="connsiteX2" fmla="*/ 9134929 w 9134929"/>
              <a:gd name="connsiteY2" fmla="*/ 0 h 1716314"/>
              <a:gd name="connsiteX3" fmla="*/ 9133904 w 9134929"/>
              <a:gd name="connsiteY3" fmla="*/ 1360846 h 1716314"/>
              <a:gd name="connsiteX4" fmla="*/ 0 w 9134929"/>
              <a:gd name="connsiteY4" fmla="*/ 1716314 h 1716314"/>
              <a:gd name="connsiteX0" fmla="*/ 0 w 9134929"/>
              <a:gd name="connsiteY0" fmla="*/ 1716314 h 3316646"/>
              <a:gd name="connsiteX1" fmla="*/ 3771900 w 9134929"/>
              <a:gd name="connsiteY1" fmla="*/ 16329 h 3316646"/>
              <a:gd name="connsiteX2" fmla="*/ 9134929 w 9134929"/>
              <a:gd name="connsiteY2" fmla="*/ 0 h 3316646"/>
              <a:gd name="connsiteX3" fmla="*/ 4193604 w 9134929"/>
              <a:gd name="connsiteY3" fmla="*/ 3316646 h 3316646"/>
              <a:gd name="connsiteX4" fmla="*/ 0 w 9134929"/>
              <a:gd name="connsiteY4" fmla="*/ 1716314 h 3316646"/>
              <a:gd name="connsiteX0" fmla="*/ 0 w 9134929"/>
              <a:gd name="connsiteY0" fmla="*/ 1716314 h 3316646"/>
              <a:gd name="connsiteX1" fmla="*/ 3771900 w 9134929"/>
              <a:gd name="connsiteY1" fmla="*/ 16329 h 3316646"/>
              <a:gd name="connsiteX2" fmla="*/ 9134929 w 9134929"/>
              <a:gd name="connsiteY2" fmla="*/ 0 h 3316646"/>
              <a:gd name="connsiteX3" fmla="*/ 4193604 w 9134929"/>
              <a:gd name="connsiteY3" fmla="*/ 3316646 h 3316646"/>
              <a:gd name="connsiteX4" fmla="*/ 0 w 9134929"/>
              <a:gd name="connsiteY4" fmla="*/ 1716314 h 3316646"/>
              <a:gd name="connsiteX0" fmla="*/ 0 w 9134929"/>
              <a:gd name="connsiteY0" fmla="*/ 1716314 h 3316646"/>
              <a:gd name="connsiteX1" fmla="*/ 3771900 w 9134929"/>
              <a:gd name="connsiteY1" fmla="*/ 16329 h 3316646"/>
              <a:gd name="connsiteX2" fmla="*/ 9134929 w 9134929"/>
              <a:gd name="connsiteY2" fmla="*/ 0 h 3316646"/>
              <a:gd name="connsiteX3" fmla="*/ 4193604 w 9134929"/>
              <a:gd name="connsiteY3" fmla="*/ 3316646 h 3316646"/>
              <a:gd name="connsiteX4" fmla="*/ 0 w 9134929"/>
              <a:gd name="connsiteY4" fmla="*/ 1716314 h 3316646"/>
              <a:gd name="connsiteX0" fmla="*/ 0 w 9134929"/>
              <a:gd name="connsiteY0" fmla="*/ 1725385 h 3325717"/>
              <a:gd name="connsiteX1" fmla="*/ 2590800 w 9134929"/>
              <a:gd name="connsiteY1" fmla="*/ 0 h 3325717"/>
              <a:gd name="connsiteX2" fmla="*/ 9134929 w 9134929"/>
              <a:gd name="connsiteY2" fmla="*/ 9071 h 3325717"/>
              <a:gd name="connsiteX3" fmla="*/ 4193604 w 9134929"/>
              <a:gd name="connsiteY3" fmla="*/ 3325717 h 3325717"/>
              <a:gd name="connsiteX4" fmla="*/ 0 w 9134929"/>
              <a:gd name="connsiteY4" fmla="*/ 1725385 h 3325717"/>
              <a:gd name="connsiteX0" fmla="*/ 0 w 9147629"/>
              <a:gd name="connsiteY0" fmla="*/ 1712685 h 3325717"/>
              <a:gd name="connsiteX1" fmla="*/ 2603500 w 9147629"/>
              <a:gd name="connsiteY1" fmla="*/ 0 h 3325717"/>
              <a:gd name="connsiteX2" fmla="*/ 9147629 w 9147629"/>
              <a:gd name="connsiteY2" fmla="*/ 9071 h 3325717"/>
              <a:gd name="connsiteX3" fmla="*/ 4206304 w 9147629"/>
              <a:gd name="connsiteY3" fmla="*/ 3325717 h 3325717"/>
              <a:gd name="connsiteX4" fmla="*/ 0 w 9147629"/>
              <a:gd name="connsiteY4" fmla="*/ 1712685 h 3325717"/>
              <a:gd name="connsiteX0" fmla="*/ 0 w 9155249"/>
              <a:gd name="connsiteY0" fmla="*/ 1720305 h 3325717"/>
              <a:gd name="connsiteX1" fmla="*/ 2611120 w 9155249"/>
              <a:gd name="connsiteY1" fmla="*/ 0 h 3325717"/>
              <a:gd name="connsiteX2" fmla="*/ 9155249 w 9155249"/>
              <a:gd name="connsiteY2" fmla="*/ 9071 h 3325717"/>
              <a:gd name="connsiteX3" fmla="*/ 4213924 w 9155249"/>
              <a:gd name="connsiteY3" fmla="*/ 3325717 h 3325717"/>
              <a:gd name="connsiteX4" fmla="*/ 0 w 9155249"/>
              <a:gd name="connsiteY4" fmla="*/ 1720305 h 3325717"/>
              <a:gd name="connsiteX0" fmla="*/ 0 w 9170489"/>
              <a:gd name="connsiteY0" fmla="*/ 1720305 h 3325717"/>
              <a:gd name="connsiteX1" fmla="*/ 2626360 w 9170489"/>
              <a:gd name="connsiteY1" fmla="*/ 0 h 3325717"/>
              <a:gd name="connsiteX2" fmla="*/ 9170489 w 9170489"/>
              <a:gd name="connsiteY2" fmla="*/ 9071 h 3325717"/>
              <a:gd name="connsiteX3" fmla="*/ 4229164 w 9170489"/>
              <a:gd name="connsiteY3" fmla="*/ 3325717 h 3325717"/>
              <a:gd name="connsiteX4" fmla="*/ 0 w 9170489"/>
              <a:gd name="connsiteY4" fmla="*/ 1720305 h 3325717"/>
              <a:gd name="connsiteX0" fmla="*/ 0 w 9141914"/>
              <a:gd name="connsiteY0" fmla="*/ 1720305 h 3325717"/>
              <a:gd name="connsiteX1" fmla="*/ 2626360 w 9141914"/>
              <a:gd name="connsiteY1" fmla="*/ 0 h 3325717"/>
              <a:gd name="connsiteX2" fmla="*/ 9141914 w 9141914"/>
              <a:gd name="connsiteY2" fmla="*/ 9071 h 3325717"/>
              <a:gd name="connsiteX3" fmla="*/ 4229164 w 9141914"/>
              <a:gd name="connsiteY3" fmla="*/ 3325717 h 3325717"/>
              <a:gd name="connsiteX4" fmla="*/ 0 w 9141914"/>
              <a:gd name="connsiteY4" fmla="*/ 1720305 h 3325717"/>
              <a:gd name="connsiteX0" fmla="*/ 0 w 9141914"/>
              <a:gd name="connsiteY0" fmla="*/ 1730284 h 3335696"/>
              <a:gd name="connsiteX1" fmla="*/ 2626360 w 9141914"/>
              <a:gd name="connsiteY1" fmla="*/ 9979 h 3335696"/>
              <a:gd name="connsiteX2" fmla="*/ 9141914 w 9141914"/>
              <a:gd name="connsiteY2" fmla="*/ 0 h 3335696"/>
              <a:gd name="connsiteX3" fmla="*/ 4229164 w 9141914"/>
              <a:gd name="connsiteY3" fmla="*/ 3335696 h 3335696"/>
              <a:gd name="connsiteX4" fmla="*/ 0 w 9141914"/>
              <a:gd name="connsiteY4" fmla="*/ 1730284 h 3335696"/>
              <a:gd name="connsiteX0" fmla="*/ 0 w 9141914"/>
              <a:gd name="connsiteY0" fmla="*/ 1730284 h 3335696"/>
              <a:gd name="connsiteX1" fmla="*/ 2626361 w 9141914"/>
              <a:gd name="connsiteY1" fmla="*/ 3570 h 3335696"/>
              <a:gd name="connsiteX2" fmla="*/ 9141914 w 9141914"/>
              <a:gd name="connsiteY2" fmla="*/ 0 h 3335696"/>
              <a:gd name="connsiteX3" fmla="*/ 4229164 w 9141914"/>
              <a:gd name="connsiteY3" fmla="*/ 3335696 h 3335696"/>
              <a:gd name="connsiteX4" fmla="*/ 0 w 9141914"/>
              <a:gd name="connsiteY4" fmla="*/ 1730284 h 3335696"/>
              <a:gd name="connsiteX0" fmla="*/ 0 w 9141914"/>
              <a:gd name="connsiteY0" fmla="*/ 1733123 h 3338535"/>
              <a:gd name="connsiteX1" fmla="*/ 2626362 w 9141914"/>
              <a:gd name="connsiteY1" fmla="*/ 0 h 3338535"/>
              <a:gd name="connsiteX2" fmla="*/ 9141914 w 9141914"/>
              <a:gd name="connsiteY2" fmla="*/ 2839 h 3338535"/>
              <a:gd name="connsiteX3" fmla="*/ 4229164 w 9141914"/>
              <a:gd name="connsiteY3" fmla="*/ 3338535 h 3338535"/>
              <a:gd name="connsiteX4" fmla="*/ 0 w 9141914"/>
              <a:gd name="connsiteY4" fmla="*/ 1733123 h 33385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1914" h="3338535">
                <a:moveTo>
                  <a:pt x="0" y="1733123"/>
                </a:moveTo>
                <a:lnTo>
                  <a:pt x="2626362" y="0"/>
                </a:lnTo>
                <a:lnTo>
                  <a:pt x="9141914" y="2839"/>
                </a:lnTo>
                <a:cubicBezTo>
                  <a:pt x="8176372" y="672354"/>
                  <a:pt x="4902606" y="2872220"/>
                  <a:pt x="4229164" y="3338535"/>
                </a:cubicBezTo>
                <a:lnTo>
                  <a:pt x="0" y="1733123"/>
                </a:lnTo>
                <a:close/>
              </a:path>
            </a:pathLst>
          </a:custGeom>
          <a:solidFill>
            <a:schemeClr val="accent5">
              <a:lumMod val="20000"/>
              <a:lumOff val="8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b" anchorCtr="0"/>
          <a:lstStyle/>
          <a:p>
            <a:pPr algn="r">
              <a:lnSpc>
                <a:spcPts val="900"/>
              </a:lnSpc>
            </a:pPr>
            <a:endParaRPr kumimoji="1" lang="ja-JP" altLang="en-US" sz="950" dirty="0">
              <a:solidFill>
                <a:srgbClr val="404E0A"/>
              </a:solidFill>
              <a:latin typeface="Arial" panose="020B0604020202020204" pitchFamily="34" charset="0"/>
              <a:ea typeface="Meiryo UI"/>
              <a:cs typeface="Arial" panose="020B0604020202020204" pitchFamily="34" charset="0"/>
            </a:endParaRPr>
          </a:p>
        </p:txBody>
      </p:sp>
      <p:pic>
        <p:nvPicPr>
          <p:cNvPr id="16" name="図 15">
            <a:extLst>
              <a:ext uri="{FF2B5EF4-FFF2-40B4-BE49-F238E27FC236}">
                <a16:creationId xmlns:a16="http://schemas.microsoft.com/office/drawing/2014/main" id="{685FB373-B5FA-79B7-0E96-E4888A83273D}"/>
              </a:ext>
            </a:extLst>
          </p:cNvPr>
          <p:cNvPicPr>
            <a:picLocks noChangeAspect="1"/>
          </p:cNvPicPr>
          <p:nvPr userDrawn="1"/>
        </p:nvPicPr>
        <p:blipFill>
          <a:blip r:embed="rId4"/>
          <a:stretch>
            <a:fillRect/>
          </a:stretch>
        </p:blipFill>
        <p:spPr>
          <a:xfrm>
            <a:off x="6010455" y="6169428"/>
            <a:ext cx="2807022" cy="552048"/>
          </a:xfrm>
          <a:prstGeom prst="rect">
            <a:avLst/>
          </a:prstGeom>
        </p:spPr>
      </p:pic>
    </p:spTree>
    <p:extLst>
      <p:ext uri="{BB962C8B-B14F-4D97-AF65-F5344CB8AC3E}">
        <p14:creationId xmlns:p14="http://schemas.microsoft.com/office/powerpoint/2010/main" val="34176137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matchingName="2_ユーザー設定レイアウト">
  <p:cSld name="2_ユーザー設定レイアウト">
    <p:spTree>
      <p:nvGrpSpPr>
        <p:cNvPr id="1" name="Shape 20"/>
        <p:cNvGrpSpPr/>
        <p:nvPr/>
      </p:nvGrpSpPr>
      <p:grpSpPr>
        <a:xfrm>
          <a:off x="0" y="0"/>
          <a:ext cx="0" cy="0"/>
          <a:chOff x="0" y="0"/>
          <a:chExt cx="0" cy="0"/>
        </a:xfrm>
      </p:grpSpPr>
      <p:pic>
        <p:nvPicPr>
          <p:cNvPr id="21" name="Google Shape;21;p14"/>
          <p:cNvPicPr preferRelativeResize="0"/>
          <p:nvPr/>
        </p:nvPicPr>
        <p:blipFill rotWithShape="1">
          <a:blip r:embed="rId2">
            <a:alphaModFix/>
          </a:blip>
          <a:srcRect/>
          <a:stretch/>
        </p:blipFill>
        <p:spPr>
          <a:xfrm>
            <a:off x="-2046" y="2276475"/>
            <a:ext cx="1008000" cy="4581525"/>
          </a:xfrm>
          <a:prstGeom prst="rect">
            <a:avLst/>
          </a:prstGeom>
          <a:noFill/>
          <a:ln>
            <a:noFill/>
          </a:ln>
        </p:spPr>
      </p:pic>
      <p:sp>
        <p:nvSpPr>
          <p:cNvPr id="22" name="Google Shape;22;p14"/>
          <p:cNvSpPr/>
          <p:nvPr/>
        </p:nvSpPr>
        <p:spPr>
          <a:xfrm>
            <a:off x="999116" y="-11151"/>
            <a:ext cx="1008000" cy="6863082"/>
          </a:xfrm>
          <a:prstGeom prst="rect">
            <a:avLst/>
          </a:prstGeom>
          <a:solidFill>
            <a:schemeClr val="accent5">
              <a:lumMod val="75000"/>
            </a:schemeClr>
          </a:solidFill>
          <a:ln>
            <a:noFill/>
          </a:ln>
        </p:spPr>
        <p:txBody>
          <a:bodyPr spcFirstLastPara="1" wrap="square" lIns="0" tIns="0" rIns="0" bIns="0" anchor="b" anchorCtr="0">
            <a:noAutofit/>
          </a:bodyPr>
          <a:lstStyle/>
          <a:p>
            <a:pPr marL="0" marR="0" lvl="0" indent="0" algn="r" rtl="0">
              <a:lnSpc>
                <a:spcPct val="94736"/>
              </a:lnSpc>
              <a:spcBef>
                <a:spcPts val="0"/>
              </a:spcBef>
              <a:spcAft>
                <a:spcPts val="0"/>
              </a:spcAft>
              <a:buNone/>
            </a:pPr>
            <a:endParaRPr sz="950" b="0" i="0" u="none" strike="noStrike" cap="none">
              <a:solidFill>
                <a:srgbClr val="404E0A"/>
              </a:solidFill>
              <a:latin typeface="Arial"/>
              <a:ea typeface="Arial"/>
              <a:cs typeface="Arial"/>
              <a:sym typeface="Arial"/>
            </a:endParaRPr>
          </a:p>
        </p:txBody>
      </p:sp>
      <p:sp>
        <p:nvSpPr>
          <p:cNvPr id="23" name="Google Shape;23;p14"/>
          <p:cNvSpPr/>
          <p:nvPr/>
        </p:nvSpPr>
        <p:spPr>
          <a:xfrm>
            <a:off x="-2046" y="0"/>
            <a:ext cx="1008112" cy="6858000"/>
          </a:xfrm>
          <a:prstGeom prst="rect">
            <a:avLst/>
          </a:prstGeom>
          <a:gradFill>
            <a:gsLst>
              <a:gs pos="0">
                <a:srgbClr val="D8D8D8"/>
              </a:gs>
              <a:gs pos="46000">
                <a:srgbClr val="FFFFFF">
                  <a:alpha val="40000"/>
                </a:srgbClr>
              </a:gs>
              <a:gs pos="100000">
                <a:srgbClr val="FFFFFF">
                  <a:alpha val="40000"/>
                </a:srgbClr>
              </a:gs>
            </a:gsLst>
            <a:lin ang="5400000" scaled="0"/>
          </a:gradFill>
          <a:ln>
            <a:noFill/>
          </a:ln>
        </p:spPr>
        <p:txBody>
          <a:bodyPr spcFirstLastPara="1" wrap="square" lIns="0" tIns="0" rIns="0" bIns="0" anchor="b" anchorCtr="0">
            <a:noAutofit/>
          </a:bodyPr>
          <a:lstStyle/>
          <a:p>
            <a:pPr marL="0" marR="0" lvl="0" indent="0" algn="r" rtl="0">
              <a:lnSpc>
                <a:spcPct val="94736"/>
              </a:lnSpc>
              <a:spcBef>
                <a:spcPts val="0"/>
              </a:spcBef>
              <a:spcAft>
                <a:spcPts val="0"/>
              </a:spcAft>
              <a:buNone/>
            </a:pPr>
            <a:endParaRPr sz="950" b="0" i="0" u="none" strike="noStrike" cap="none">
              <a:solidFill>
                <a:srgbClr val="404E0A"/>
              </a:solidFill>
              <a:latin typeface="Arial"/>
              <a:ea typeface="Arial"/>
              <a:cs typeface="Arial"/>
              <a:sym typeface="Arial"/>
            </a:endParaRPr>
          </a:p>
        </p:txBody>
      </p:sp>
      <p:sp>
        <p:nvSpPr>
          <p:cNvPr id="24" name="Google Shape;24;p14"/>
          <p:cNvSpPr/>
          <p:nvPr/>
        </p:nvSpPr>
        <p:spPr>
          <a:xfrm>
            <a:off x="1283924" y="2105561"/>
            <a:ext cx="2379177" cy="1323439"/>
          </a:xfrm>
          <a:prstGeom prst="rect">
            <a:avLst/>
          </a:prstGeom>
          <a:noFill/>
          <a:ln>
            <a:noFill/>
          </a:ln>
        </p:spPr>
        <p:txBody>
          <a:bodyPr spcFirstLastPara="1" wrap="square" lIns="91425" tIns="45700" rIns="91425" bIns="45700" anchor="b" anchorCtr="0">
            <a:spAutoFit/>
          </a:bodyPr>
          <a:lstStyle/>
          <a:p>
            <a:pPr marL="0" marR="0" lvl="0" indent="0" algn="l" rtl="0">
              <a:spcBef>
                <a:spcPts val="0"/>
              </a:spcBef>
              <a:spcAft>
                <a:spcPts val="0"/>
              </a:spcAft>
              <a:buNone/>
            </a:pPr>
            <a:r>
              <a:rPr lang="ja-JP" sz="8000" b="1" i="0" u="none" strike="noStrike" cap="none">
                <a:solidFill>
                  <a:schemeClr val="lt1"/>
                </a:solidFill>
                <a:latin typeface="Arial"/>
                <a:ea typeface="Arial"/>
                <a:cs typeface="Arial"/>
                <a:sym typeface="Arial"/>
              </a:rPr>
              <a:t>S</a:t>
            </a:r>
            <a:r>
              <a:rPr lang="ja-JP" sz="4000" b="1" i="0" u="none" strike="noStrike" cap="none">
                <a:solidFill>
                  <a:srgbClr val="7F7F7F"/>
                </a:solidFill>
                <a:latin typeface="Arial"/>
                <a:ea typeface="Arial"/>
                <a:cs typeface="Arial"/>
                <a:sym typeface="Arial"/>
              </a:rPr>
              <a:t>ection</a:t>
            </a:r>
            <a:endParaRPr sz="8000" b="1" i="0" u="none" strike="noStrike" cap="none">
              <a:solidFill>
                <a:srgbClr val="7F7F7F"/>
              </a:solidFill>
              <a:latin typeface="Arial"/>
              <a:ea typeface="Arial"/>
              <a:cs typeface="Arial"/>
              <a:sym typeface="Arial"/>
            </a:endParaRPr>
          </a:p>
        </p:txBody>
      </p:sp>
      <p:cxnSp>
        <p:nvCxnSpPr>
          <p:cNvPr id="25" name="Google Shape;25;p14"/>
          <p:cNvCxnSpPr/>
          <p:nvPr/>
        </p:nvCxnSpPr>
        <p:spPr>
          <a:xfrm>
            <a:off x="2007005" y="3155538"/>
            <a:ext cx="7136995" cy="0"/>
          </a:xfrm>
          <a:prstGeom prst="straightConnector1">
            <a:avLst/>
          </a:prstGeom>
          <a:noFill/>
          <a:ln w="12700" cap="flat" cmpd="sng">
            <a:solidFill>
              <a:srgbClr val="7F7F7F"/>
            </a:solidFill>
            <a:prstDash val="solid"/>
            <a:round/>
            <a:headEnd type="none" w="sm" len="sm"/>
            <a:tailEnd type="none" w="sm" len="sm"/>
          </a:ln>
        </p:spPr>
      </p:cxnSp>
      <p:sp>
        <p:nvSpPr>
          <p:cNvPr id="26" name="Google Shape;26;p14"/>
          <p:cNvSpPr txBox="1"/>
          <p:nvPr/>
        </p:nvSpPr>
        <p:spPr>
          <a:xfrm>
            <a:off x="2123728" y="3162548"/>
            <a:ext cx="6696744" cy="588392"/>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endParaRPr sz="2300" b="0" i="0" u="none" strike="noStrike" cap="none">
              <a:solidFill>
                <a:srgbClr val="5C5C5C"/>
              </a:solidFill>
              <a:latin typeface="Arial"/>
              <a:ea typeface="Arial"/>
              <a:cs typeface="Arial"/>
              <a:sym typeface="Arial"/>
            </a:endParaRPr>
          </a:p>
        </p:txBody>
      </p:sp>
      <p:sp>
        <p:nvSpPr>
          <p:cNvPr id="27" name="Google Shape;27;p14"/>
          <p:cNvSpPr txBox="1">
            <a:spLocks noGrp="1"/>
          </p:cNvSpPr>
          <p:nvPr>
            <p:ph type="subTitle" idx="1"/>
          </p:nvPr>
        </p:nvSpPr>
        <p:spPr>
          <a:xfrm>
            <a:off x="2007005" y="3163812"/>
            <a:ext cx="6813467" cy="841252"/>
          </a:xfrm>
          <a:prstGeom prst="rect">
            <a:avLst/>
          </a:prstGeom>
          <a:noFill/>
          <a:ln>
            <a:noFill/>
          </a:ln>
        </p:spPr>
        <p:txBody>
          <a:bodyPr spcFirstLastPara="1" wrap="square" lIns="91425" tIns="45700" rIns="91425" bIns="45700" anchor="t" anchorCtr="0">
            <a:noAutofit/>
          </a:bodyPr>
          <a:lstStyle>
            <a:lvl1pPr marR="0" lvl="0" algn="r" rtl="0">
              <a:lnSpc>
                <a:spcPct val="120000"/>
              </a:lnSpc>
              <a:spcBef>
                <a:spcPts val="460"/>
              </a:spcBef>
              <a:spcAft>
                <a:spcPts val="0"/>
              </a:spcAft>
              <a:buClr>
                <a:schemeClr val="dk2"/>
              </a:buClr>
              <a:buSzPts val="1725"/>
              <a:buFont typeface="Noto Sans Symbols"/>
              <a:buNone/>
              <a:defRPr sz="2300" b="0" i="0" u="none" strike="noStrike" cap="none">
                <a:solidFill>
                  <a:schemeClr val="dk1"/>
                </a:solidFill>
                <a:latin typeface="Arial"/>
                <a:ea typeface="Arial"/>
                <a:cs typeface="Arial"/>
                <a:sym typeface="Arial"/>
              </a:defRPr>
            </a:lvl1pPr>
            <a:lvl2pPr marR="0" lvl="1" algn="ctr" rtl="0">
              <a:lnSpc>
                <a:spcPct val="120000"/>
              </a:lnSpc>
              <a:spcBef>
                <a:spcPts val="460"/>
              </a:spcBef>
              <a:spcAft>
                <a:spcPts val="0"/>
              </a:spcAft>
              <a:buClr>
                <a:schemeClr val="dk2"/>
              </a:buClr>
              <a:buSzPts val="986"/>
              <a:buFont typeface="Arial"/>
              <a:buNone/>
              <a:defRPr sz="1315" b="0" i="0" u="none" strike="noStrike" cap="none">
                <a:solidFill>
                  <a:srgbClr val="8A8A8A"/>
                </a:solidFill>
                <a:latin typeface="Arial"/>
                <a:ea typeface="Arial"/>
                <a:cs typeface="Arial"/>
                <a:sym typeface="Arial"/>
              </a:defRPr>
            </a:lvl2pPr>
            <a:lvl3pPr marR="0" lvl="2" algn="ctr" rtl="0">
              <a:lnSpc>
                <a:spcPct val="120000"/>
              </a:lnSpc>
              <a:spcBef>
                <a:spcPts val="263"/>
              </a:spcBef>
              <a:spcAft>
                <a:spcPts val="0"/>
              </a:spcAft>
              <a:buClr>
                <a:schemeClr val="dk2"/>
              </a:buClr>
              <a:buSzPts val="564"/>
              <a:buFont typeface="Noto Sans Symbols"/>
              <a:buNone/>
              <a:defRPr sz="1128" b="0" i="0" u="none" strike="noStrike" cap="none">
                <a:solidFill>
                  <a:srgbClr val="8A8A8A"/>
                </a:solidFill>
                <a:latin typeface="Arial"/>
                <a:ea typeface="Arial"/>
                <a:cs typeface="Arial"/>
                <a:sym typeface="Arial"/>
              </a:defRPr>
            </a:lvl3pPr>
            <a:lvl4pPr marR="0" lvl="3" algn="ctr" rtl="0">
              <a:spcBef>
                <a:spcPts val="376"/>
              </a:spcBef>
              <a:spcAft>
                <a:spcPts val="0"/>
              </a:spcAft>
              <a:buClr>
                <a:srgbClr val="8A8A8A"/>
              </a:buClr>
              <a:buSzPts val="1880"/>
              <a:buFont typeface="Arial"/>
              <a:buNone/>
              <a:defRPr sz="1880" b="0" i="0" u="none" strike="noStrike" cap="none">
                <a:solidFill>
                  <a:srgbClr val="8A8A8A"/>
                </a:solidFill>
                <a:latin typeface="Arial"/>
                <a:ea typeface="Arial"/>
                <a:cs typeface="Arial"/>
                <a:sym typeface="Arial"/>
              </a:defRPr>
            </a:lvl4pPr>
            <a:lvl5pPr marR="0" lvl="4" algn="ctr" rtl="0">
              <a:spcBef>
                <a:spcPts val="376"/>
              </a:spcBef>
              <a:spcAft>
                <a:spcPts val="0"/>
              </a:spcAft>
              <a:buClr>
                <a:srgbClr val="8A8A8A"/>
              </a:buClr>
              <a:buSzPts val="1880"/>
              <a:buFont typeface="Arial"/>
              <a:buNone/>
              <a:defRPr sz="1880" b="0" i="0" u="none" strike="noStrike" cap="none">
                <a:solidFill>
                  <a:srgbClr val="8A8A8A"/>
                </a:solidFill>
                <a:latin typeface="Arial"/>
                <a:ea typeface="Arial"/>
                <a:cs typeface="Arial"/>
                <a:sym typeface="Arial"/>
              </a:defRPr>
            </a:lvl5pPr>
            <a:lvl6pPr marR="0" lvl="5" algn="ctr" rtl="0">
              <a:spcBef>
                <a:spcPts val="376"/>
              </a:spcBef>
              <a:spcAft>
                <a:spcPts val="0"/>
              </a:spcAft>
              <a:buClr>
                <a:srgbClr val="8A8A8A"/>
              </a:buClr>
              <a:buSzPts val="1880"/>
              <a:buFont typeface="Arial"/>
              <a:buNone/>
              <a:defRPr sz="1880" b="0" i="0" u="none" strike="noStrike" cap="none">
                <a:solidFill>
                  <a:srgbClr val="8A8A8A"/>
                </a:solidFill>
                <a:latin typeface="Arial"/>
                <a:ea typeface="Arial"/>
                <a:cs typeface="Arial"/>
                <a:sym typeface="Arial"/>
              </a:defRPr>
            </a:lvl6pPr>
            <a:lvl7pPr marR="0" lvl="6" algn="ctr" rtl="0">
              <a:spcBef>
                <a:spcPts val="376"/>
              </a:spcBef>
              <a:spcAft>
                <a:spcPts val="0"/>
              </a:spcAft>
              <a:buClr>
                <a:srgbClr val="8A8A8A"/>
              </a:buClr>
              <a:buSzPts val="1880"/>
              <a:buFont typeface="Arial"/>
              <a:buNone/>
              <a:defRPr sz="1880" b="0" i="0" u="none" strike="noStrike" cap="none">
                <a:solidFill>
                  <a:srgbClr val="8A8A8A"/>
                </a:solidFill>
                <a:latin typeface="Arial"/>
                <a:ea typeface="Arial"/>
                <a:cs typeface="Arial"/>
                <a:sym typeface="Arial"/>
              </a:defRPr>
            </a:lvl7pPr>
            <a:lvl8pPr marR="0" lvl="7" algn="ctr" rtl="0">
              <a:spcBef>
                <a:spcPts val="376"/>
              </a:spcBef>
              <a:spcAft>
                <a:spcPts val="0"/>
              </a:spcAft>
              <a:buClr>
                <a:srgbClr val="8A8A8A"/>
              </a:buClr>
              <a:buSzPts val="1880"/>
              <a:buFont typeface="Arial"/>
              <a:buNone/>
              <a:defRPr sz="1880" b="0" i="0" u="none" strike="noStrike" cap="none">
                <a:solidFill>
                  <a:srgbClr val="8A8A8A"/>
                </a:solidFill>
                <a:latin typeface="Arial"/>
                <a:ea typeface="Arial"/>
                <a:cs typeface="Arial"/>
                <a:sym typeface="Arial"/>
              </a:defRPr>
            </a:lvl8pPr>
            <a:lvl9pPr marR="0" lvl="8" algn="ctr" rtl="0">
              <a:spcBef>
                <a:spcPts val="376"/>
              </a:spcBef>
              <a:spcAft>
                <a:spcPts val="0"/>
              </a:spcAft>
              <a:buClr>
                <a:srgbClr val="8A8A8A"/>
              </a:buClr>
              <a:buSzPts val="1880"/>
              <a:buFont typeface="Arial"/>
              <a:buNone/>
              <a:defRPr sz="1880" b="0" i="0" u="none" strike="noStrike" cap="none">
                <a:solidFill>
                  <a:srgbClr val="8A8A8A"/>
                </a:solidFill>
                <a:latin typeface="Arial"/>
                <a:ea typeface="Arial"/>
                <a:cs typeface="Arial"/>
                <a:sym typeface="Arial"/>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8_タイトルとコンテンツ">
  <p:cSld name="8_タイトルとコンテンツ">
    <p:spTree>
      <p:nvGrpSpPr>
        <p:cNvPr id="1" name="Shape 28"/>
        <p:cNvGrpSpPr/>
        <p:nvPr/>
      </p:nvGrpSpPr>
      <p:grpSpPr>
        <a:xfrm>
          <a:off x="0" y="0"/>
          <a:ext cx="0" cy="0"/>
          <a:chOff x="0" y="0"/>
          <a:chExt cx="0" cy="0"/>
        </a:xfrm>
      </p:grpSpPr>
      <p:sp>
        <p:nvSpPr>
          <p:cNvPr id="29" name="Google Shape;29;p15"/>
          <p:cNvSpPr txBox="1"/>
          <p:nvPr/>
        </p:nvSpPr>
        <p:spPr>
          <a:xfrm>
            <a:off x="7010402" y="6583365"/>
            <a:ext cx="2133600" cy="274636"/>
          </a:xfrm>
          <a:prstGeom prst="rect">
            <a:avLst/>
          </a:prstGeom>
          <a:noFill/>
          <a:ln>
            <a:noFill/>
          </a:ln>
        </p:spPr>
        <p:txBody>
          <a:bodyPr spcFirstLastPara="1" wrap="square" lIns="85900" tIns="42950" rIns="85900" bIns="42950" anchor="t" anchorCtr="0">
            <a:noAutofit/>
          </a:bodyPr>
          <a:lstStyle/>
          <a:p>
            <a:pPr marL="0" marR="0" lvl="0" indent="0" algn="r" rtl="0">
              <a:lnSpc>
                <a:spcPct val="100000"/>
              </a:lnSpc>
              <a:spcBef>
                <a:spcPts val="0"/>
              </a:spcBef>
              <a:spcAft>
                <a:spcPts val="0"/>
              </a:spcAft>
              <a:buClr>
                <a:schemeClr val="dk2"/>
              </a:buClr>
              <a:buSzPts val="850"/>
              <a:buFont typeface="Arial"/>
              <a:buNone/>
            </a:pPr>
            <a:endParaRPr sz="850" b="0" i="0" u="none" strike="noStrike" cap="none">
              <a:solidFill>
                <a:srgbClr val="5A5A5A"/>
              </a:solidFill>
              <a:latin typeface="Trebuchet MS"/>
              <a:ea typeface="Trebuchet MS"/>
              <a:cs typeface="Trebuchet MS"/>
              <a:sym typeface="Trebuchet MS"/>
            </a:endParaRPr>
          </a:p>
        </p:txBody>
      </p:sp>
      <p:sp>
        <p:nvSpPr>
          <p:cNvPr id="30" name="Google Shape;30;p15"/>
          <p:cNvSpPr txBox="1"/>
          <p:nvPr/>
        </p:nvSpPr>
        <p:spPr>
          <a:xfrm>
            <a:off x="395536" y="332655"/>
            <a:ext cx="8280920" cy="288033"/>
          </a:xfrm>
          <a:prstGeom prst="rect">
            <a:avLst/>
          </a:prstGeom>
          <a:noFill/>
          <a:ln>
            <a:noFill/>
          </a:ln>
        </p:spPr>
        <p:txBody>
          <a:bodyPr spcFirstLastPara="1" wrap="square" lIns="108000" tIns="0" rIns="0" bIns="0" anchor="ctr" anchorCtr="0">
            <a:noAutofit/>
          </a:bodyPr>
          <a:lstStyle/>
          <a:p>
            <a:pPr marL="0" marR="0" lvl="0" indent="0" algn="l" rtl="0">
              <a:lnSpc>
                <a:spcPct val="100000"/>
              </a:lnSpc>
              <a:spcBef>
                <a:spcPts val="0"/>
              </a:spcBef>
              <a:spcAft>
                <a:spcPts val="0"/>
              </a:spcAft>
              <a:buClr>
                <a:schemeClr val="dk2"/>
              </a:buClr>
              <a:buSzPts val="1900"/>
              <a:buFont typeface="Arial"/>
              <a:buNone/>
            </a:pPr>
            <a:endParaRPr sz="1900" b="1" i="0" u="none" strike="noStrike" cap="none">
              <a:solidFill>
                <a:srgbClr val="5A5A5A"/>
              </a:solidFill>
              <a:latin typeface="Arial"/>
              <a:ea typeface="Arial"/>
              <a:cs typeface="Arial"/>
              <a:sym typeface="Arial"/>
            </a:endParaRPr>
          </a:p>
        </p:txBody>
      </p:sp>
      <p:sp>
        <p:nvSpPr>
          <p:cNvPr id="31" name="Google Shape;31;p15"/>
          <p:cNvSpPr txBox="1">
            <a:spLocks noGrp="1"/>
          </p:cNvSpPr>
          <p:nvPr>
            <p:ph type="title"/>
          </p:nvPr>
        </p:nvSpPr>
        <p:spPr>
          <a:xfrm>
            <a:off x="395536" y="332655"/>
            <a:ext cx="6696744" cy="288033"/>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b="1"/>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15"/>
          <p:cNvSpPr/>
          <p:nvPr/>
        </p:nvSpPr>
        <p:spPr>
          <a:xfrm>
            <a:off x="0" y="116632"/>
            <a:ext cx="251520" cy="180000"/>
          </a:xfrm>
          <a:prstGeom prst="parallelogram">
            <a:avLst>
              <a:gd name="adj" fmla="val 0"/>
            </a:avLst>
          </a:prstGeom>
          <a:solidFill>
            <a:srgbClr val="66A09A"/>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chemeClr val="dk2"/>
              </a:buClr>
              <a:buSzPts val="1000"/>
              <a:buFont typeface="Arial"/>
              <a:buNone/>
            </a:pPr>
            <a:endParaRPr sz="1000" b="0" i="0" u="none" strike="noStrike" cap="none">
              <a:solidFill>
                <a:srgbClr val="FFFFFF"/>
              </a:solidFill>
              <a:latin typeface="Arial"/>
              <a:ea typeface="Arial"/>
              <a:cs typeface="Arial"/>
              <a:sym typeface="Arial"/>
            </a:endParaRPr>
          </a:p>
        </p:txBody>
      </p:sp>
      <p:sp>
        <p:nvSpPr>
          <p:cNvPr id="33" name="Google Shape;33;p15"/>
          <p:cNvSpPr/>
          <p:nvPr/>
        </p:nvSpPr>
        <p:spPr>
          <a:xfrm>
            <a:off x="0" y="116632"/>
            <a:ext cx="323528" cy="180000"/>
          </a:xfrm>
          <a:prstGeom prst="parallelogram">
            <a:avLst>
              <a:gd name="adj" fmla="val 32938"/>
            </a:avLst>
          </a:prstGeom>
          <a:solidFill>
            <a:srgbClr val="66A09A"/>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chemeClr val="dk2"/>
              </a:buClr>
              <a:buSzPts val="1000"/>
              <a:buFont typeface="Arial"/>
              <a:buNone/>
            </a:pPr>
            <a:endParaRPr sz="1000" b="0" i="0" u="none" strike="noStrike" cap="none">
              <a:solidFill>
                <a:srgbClr val="FFFFFF"/>
              </a:solidFill>
              <a:latin typeface="Arial"/>
              <a:ea typeface="Arial"/>
              <a:cs typeface="Arial"/>
              <a:sym typeface="Arial"/>
            </a:endParaRPr>
          </a:p>
        </p:txBody>
      </p:sp>
      <p:sp>
        <p:nvSpPr>
          <p:cNvPr id="34" name="Google Shape;34;p15"/>
          <p:cNvSpPr/>
          <p:nvPr/>
        </p:nvSpPr>
        <p:spPr>
          <a:xfrm>
            <a:off x="7231533" y="136824"/>
            <a:ext cx="1476000" cy="400050"/>
          </a:xfrm>
          <a:prstGeom prst="rect">
            <a:avLst/>
          </a:prstGeom>
          <a:solidFill>
            <a:schemeClr val="lt1"/>
          </a:solidFill>
          <a:ln w="38100" cap="flat" cmpd="dbl">
            <a:solidFill>
              <a:srgbClr val="F14040"/>
            </a:solidFill>
            <a:prstDash val="solid"/>
            <a:miter lim="800000"/>
            <a:headEnd type="none" w="sm" len="sm"/>
            <a:tailEnd type="none" w="sm" len="sm"/>
          </a:ln>
        </p:spPr>
        <p:txBody>
          <a:bodyPr spcFirstLastPara="1" wrap="square" lIns="0" tIns="0" rIns="0" bIns="25200" anchor="ctr" anchorCtr="0">
            <a:noAutofit/>
          </a:bodyPr>
          <a:lstStyle/>
          <a:p>
            <a:pPr marL="0" marR="0" lvl="0" indent="0" algn="ctr" rtl="0">
              <a:spcBef>
                <a:spcPts val="0"/>
              </a:spcBef>
              <a:spcAft>
                <a:spcPts val="0"/>
              </a:spcAft>
              <a:buNone/>
            </a:pPr>
            <a:r>
              <a:rPr lang="ja-JP" sz="1300" b="1" i="0" u="none" strike="noStrike" cap="none">
                <a:solidFill>
                  <a:srgbClr val="F14040"/>
                </a:solidFill>
                <a:latin typeface="Arial"/>
                <a:ea typeface="Arial"/>
                <a:cs typeface="Arial"/>
                <a:sym typeface="Arial"/>
              </a:rPr>
              <a:t>秘・貴社限り</a:t>
            </a:r>
            <a:endParaRPr sz="1300" b="1" i="0" u="none" strike="noStrike" cap="none">
              <a:solidFill>
                <a:srgbClr val="F14040"/>
              </a:solidFill>
              <a:latin typeface="Arial"/>
              <a:ea typeface="Arial"/>
              <a:cs typeface="Arial"/>
              <a:sym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matchingName="3_ユーザー設定レイアウト">
  <p:cSld name="3_ユーザー設定レイアウト">
    <p:spTree>
      <p:nvGrpSpPr>
        <p:cNvPr id="1" name="Shape 35"/>
        <p:cNvGrpSpPr/>
        <p:nvPr/>
      </p:nvGrpSpPr>
      <p:grpSpPr>
        <a:xfrm>
          <a:off x="0" y="0"/>
          <a:ext cx="0" cy="0"/>
          <a:chOff x="0" y="0"/>
          <a:chExt cx="0" cy="0"/>
        </a:xfrm>
      </p:grpSpPr>
      <p:pic>
        <p:nvPicPr>
          <p:cNvPr id="2" name="図 1">
            <a:extLst>
              <a:ext uri="{FF2B5EF4-FFF2-40B4-BE49-F238E27FC236}">
                <a16:creationId xmlns:a16="http://schemas.microsoft.com/office/drawing/2014/main" id="{605BB4BF-543F-A367-8E13-697CF7E15331}"/>
              </a:ext>
            </a:extLst>
          </p:cNvPr>
          <p:cNvPicPr>
            <a:picLocks noChangeAspect="1"/>
          </p:cNvPicPr>
          <p:nvPr userDrawn="1"/>
        </p:nvPicPr>
        <p:blipFill>
          <a:blip r:embed="rId2"/>
          <a:stretch>
            <a:fillRect/>
          </a:stretch>
        </p:blipFill>
        <p:spPr>
          <a:xfrm>
            <a:off x="1282431" y="2795061"/>
            <a:ext cx="6446837" cy="1267878"/>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2_タイトルとコンテンツ">
  <p:cSld name="2_タイトルとコンテンツ">
    <p:spTree>
      <p:nvGrpSpPr>
        <p:cNvPr id="1" name="Shape 37"/>
        <p:cNvGrpSpPr/>
        <p:nvPr/>
      </p:nvGrpSpPr>
      <p:grpSpPr>
        <a:xfrm>
          <a:off x="0" y="0"/>
          <a:ext cx="0" cy="0"/>
          <a:chOff x="0" y="0"/>
          <a:chExt cx="0" cy="0"/>
        </a:xfrm>
      </p:grpSpPr>
      <p:sp>
        <p:nvSpPr>
          <p:cNvPr id="38" name="Google Shape;38;p17"/>
          <p:cNvSpPr txBox="1"/>
          <p:nvPr/>
        </p:nvSpPr>
        <p:spPr>
          <a:xfrm>
            <a:off x="7010402" y="6583365"/>
            <a:ext cx="2133600" cy="274636"/>
          </a:xfrm>
          <a:prstGeom prst="rect">
            <a:avLst/>
          </a:prstGeom>
          <a:noFill/>
          <a:ln>
            <a:noFill/>
          </a:ln>
        </p:spPr>
        <p:txBody>
          <a:bodyPr spcFirstLastPara="1" wrap="square" lIns="85900" tIns="42950" rIns="85900" bIns="42950" anchor="t" anchorCtr="0">
            <a:noAutofit/>
          </a:bodyPr>
          <a:lstStyle/>
          <a:p>
            <a:pPr marL="0" marR="0" lvl="0" indent="0" algn="r" rtl="0">
              <a:lnSpc>
                <a:spcPct val="100000"/>
              </a:lnSpc>
              <a:spcBef>
                <a:spcPts val="0"/>
              </a:spcBef>
              <a:spcAft>
                <a:spcPts val="0"/>
              </a:spcAft>
              <a:buClr>
                <a:schemeClr val="dk2"/>
              </a:buClr>
              <a:buSzPts val="850"/>
              <a:buFont typeface="Arial"/>
              <a:buNone/>
            </a:pPr>
            <a:endParaRPr sz="850" b="0" i="0" u="none" strike="noStrike" cap="none">
              <a:solidFill>
                <a:srgbClr val="5A5A5A"/>
              </a:solidFill>
              <a:latin typeface="Trebuchet MS"/>
              <a:ea typeface="Trebuchet MS"/>
              <a:cs typeface="Trebuchet MS"/>
              <a:sym typeface="Trebuchet MS"/>
            </a:endParaRPr>
          </a:p>
        </p:txBody>
      </p:sp>
      <p:sp>
        <p:nvSpPr>
          <p:cNvPr id="39" name="Google Shape;39;p17"/>
          <p:cNvSpPr txBox="1"/>
          <p:nvPr/>
        </p:nvSpPr>
        <p:spPr>
          <a:xfrm>
            <a:off x="395536" y="332655"/>
            <a:ext cx="8280920" cy="288033"/>
          </a:xfrm>
          <a:prstGeom prst="rect">
            <a:avLst/>
          </a:prstGeom>
          <a:noFill/>
          <a:ln>
            <a:noFill/>
          </a:ln>
        </p:spPr>
        <p:txBody>
          <a:bodyPr spcFirstLastPara="1" wrap="square" lIns="108000" tIns="0" rIns="0" bIns="0" anchor="ctr" anchorCtr="0">
            <a:noAutofit/>
          </a:bodyPr>
          <a:lstStyle/>
          <a:p>
            <a:pPr marL="0" marR="0" lvl="0" indent="0" algn="l" rtl="0">
              <a:lnSpc>
                <a:spcPct val="100000"/>
              </a:lnSpc>
              <a:spcBef>
                <a:spcPts val="0"/>
              </a:spcBef>
              <a:spcAft>
                <a:spcPts val="0"/>
              </a:spcAft>
              <a:buClr>
                <a:schemeClr val="dk2"/>
              </a:buClr>
              <a:buSzPts val="1900"/>
              <a:buFont typeface="Arial"/>
              <a:buNone/>
            </a:pPr>
            <a:endParaRPr sz="1900" b="1" i="0" u="none" strike="noStrike" cap="none">
              <a:solidFill>
                <a:srgbClr val="5A5A5A"/>
              </a:solidFill>
              <a:latin typeface="Arial"/>
              <a:ea typeface="Arial"/>
              <a:cs typeface="Arial"/>
              <a:sym typeface="Arial"/>
            </a:endParaRPr>
          </a:p>
        </p:txBody>
      </p:sp>
      <p:sp>
        <p:nvSpPr>
          <p:cNvPr id="40" name="Google Shape;40;p17"/>
          <p:cNvSpPr txBox="1">
            <a:spLocks noGrp="1"/>
          </p:cNvSpPr>
          <p:nvPr>
            <p:ph type="title"/>
          </p:nvPr>
        </p:nvSpPr>
        <p:spPr>
          <a:xfrm>
            <a:off x="395536" y="332655"/>
            <a:ext cx="6696744" cy="288033"/>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b="1"/>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4_タイトルとコンテンツ">
  <p:cSld name="4_タイトルとコンテンツ">
    <p:spTree>
      <p:nvGrpSpPr>
        <p:cNvPr id="1" name="Shape 41"/>
        <p:cNvGrpSpPr/>
        <p:nvPr/>
      </p:nvGrpSpPr>
      <p:grpSpPr>
        <a:xfrm>
          <a:off x="0" y="0"/>
          <a:ext cx="0" cy="0"/>
          <a:chOff x="0" y="0"/>
          <a:chExt cx="0" cy="0"/>
        </a:xfrm>
      </p:grpSpPr>
      <p:sp>
        <p:nvSpPr>
          <p:cNvPr id="42" name="Google Shape;42;p18"/>
          <p:cNvSpPr txBox="1"/>
          <p:nvPr/>
        </p:nvSpPr>
        <p:spPr>
          <a:xfrm>
            <a:off x="7010402" y="6583365"/>
            <a:ext cx="2133600" cy="274636"/>
          </a:xfrm>
          <a:prstGeom prst="rect">
            <a:avLst/>
          </a:prstGeom>
          <a:noFill/>
          <a:ln>
            <a:noFill/>
          </a:ln>
        </p:spPr>
        <p:txBody>
          <a:bodyPr spcFirstLastPara="1" wrap="square" lIns="85900" tIns="42950" rIns="85900" bIns="42950" anchor="t" anchorCtr="0">
            <a:noAutofit/>
          </a:bodyPr>
          <a:lstStyle/>
          <a:p>
            <a:pPr marL="0" marR="0" lvl="0" indent="0" algn="r" rtl="0">
              <a:lnSpc>
                <a:spcPct val="100000"/>
              </a:lnSpc>
              <a:spcBef>
                <a:spcPts val="0"/>
              </a:spcBef>
              <a:spcAft>
                <a:spcPts val="0"/>
              </a:spcAft>
              <a:buClr>
                <a:schemeClr val="dk2"/>
              </a:buClr>
              <a:buSzPts val="850"/>
              <a:buFont typeface="Arial"/>
              <a:buNone/>
            </a:pPr>
            <a:endParaRPr sz="850" b="0" i="0" u="none" strike="noStrike" cap="none">
              <a:solidFill>
                <a:srgbClr val="5A5A5A"/>
              </a:solidFill>
              <a:latin typeface="Trebuchet MS"/>
              <a:ea typeface="Trebuchet MS"/>
              <a:cs typeface="Trebuchet MS"/>
              <a:sym typeface="Trebuchet MS"/>
            </a:endParaRPr>
          </a:p>
        </p:txBody>
      </p:sp>
      <p:sp>
        <p:nvSpPr>
          <p:cNvPr id="43" name="Google Shape;43;p18"/>
          <p:cNvSpPr txBox="1"/>
          <p:nvPr/>
        </p:nvSpPr>
        <p:spPr>
          <a:xfrm>
            <a:off x="395536" y="332655"/>
            <a:ext cx="8280920" cy="288033"/>
          </a:xfrm>
          <a:prstGeom prst="rect">
            <a:avLst/>
          </a:prstGeom>
          <a:noFill/>
          <a:ln>
            <a:noFill/>
          </a:ln>
        </p:spPr>
        <p:txBody>
          <a:bodyPr spcFirstLastPara="1" wrap="square" lIns="108000" tIns="0" rIns="0" bIns="0" anchor="ctr" anchorCtr="0">
            <a:noAutofit/>
          </a:bodyPr>
          <a:lstStyle/>
          <a:p>
            <a:pPr marL="0" marR="0" lvl="0" indent="0" algn="l" rtl="0">
              <a:lnSpc>
                <a:spcPct val="100000"/>
              </a:lnSpc>
              <a:spcBef>
                <a:spcPts val="0"/>
              </a:spcBef>
              <a:spcAft>
                <a:spcPts val="0"/>
              </a:spcAft>
              <a:buClr>
                <a:schemeClr val="dk2"/>
              </a:buClr>
              <a:buSzPts val="1900"/>
              <a:buFont typeface="Arial"/>
              <a:buNone/>
            </a:pPr>
            <a:endParaRPr sz="1900" b="1" i="0" u="none" strike="noStrike" cap="none">
              <a:solidFill>
                <a:srgbClr val="5A5A5A"/>
              </a:solidFill>
              <a:latin typeface="Arial"/>
              <a:ea typeface="Arial"/>
              <a:cs typeface="Arial"/>
              <a:sym typeface="Arial"/>
            </a:endParaRPr>
          </a:p>
        </p:txBody>
      </p:sp>
      <p:sp>
        <p:nvSpPr>
          <p:cNvPr id="44" name="Google Shape;44;p18"/>
          <p:cNvSpPr txBox="1">
            <a:spLocks noGrp="1"/>
          </p:cNvSpPr>
          <p:nvPr>
            <p:ph type="title"/>
          </p:nvPr>
        </p:nvSpPr>
        <p:spPr>
          <a:xfrm>
            <a:off x="395536" y="332655"/>
            <a:ext cx="6696744" cy="288033"/>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b="1"/>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5" name="Google Shape;45;p18"/>
          <p:cNvSpPr/>
          <p:nvPr/>
        </p:nvSpPr>
        <p:spPr>
          <a:xfrm>
            <a:off x="7231533" y="136824"/>
            <a:ext cx="1476000" cy="400050"/>
          </a:xfrm>
          <a:prstGeom prst="rect">
            <a:avLst/>
          </a:prstGeom>
          <a:solidFill>
            <a:schemeClr val="lt1"/>
          </a:solidFill>
          <a:ln w="38100" cap="flat" cmpd="dbl">
            <a:solidFill>
              <a:srgbClr val="F14040"/>
            </a:solidFill>
            <a:prstDash val="solid"/>
            <a:miter lim="800000"/>
            <a:headEnd type="none" w="sm" len="sm"/>
            <a:tailEnd type="none" w="sm" len="sm"/>
          </a:ln>
        </p:spPr>
        <p:txBody>
          <a:bodyPr spcFirstLastPara="1" wrap="square" lIns="0" tIns="0" rIns="0" bIns="25200" anchor="ctr" anchorCtr="0">
            <a:noAutofit/>
          </a:bodyPr>
          <a:lstStyle/>
          <a:p>
            <a:pPr marL="0" marR="0" lvl="0" indent="0" algn="ctr" rtl="0">
              <a:spcBef>
                <a:spcPts val="0"/>
              </a:spcBef>
              <a:spcAft>
                <a:spcPts val="0"/>
              </a:spcAft>
              <a:buNone/>
            </a:pPr>
            <a:r>
              <a:rPr lang="ja-JP" sz="1300" b="1">
                <a:solidFill>
                  <a:srgbClr val="F14040"/>
                </a:solidFill>
                <a:latin typeface="Arial"/>
                <a:ea typeface="Arial"/>
                <a:cs typeface="Arial"/>
                <a:sym typeface="Arial"/>
              </a:rPr>
              <a:t>秘・貴社限り</a:t>
            </a:r>
            <a:endParaRPr sz="1300" b="1">
              <a:solidFill>
                <a:srgbClr val="F14040"/>
              </a:solidFill>
              <a:latin typeface="Arial"/>
              <a:ea typeface="Arial"/>
              <a:cs typeface="Arial"/>
              <a:sym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タイトルとコンテンツ">
  <p:cSld name="タイトルとコンテンツ">
    <p:spTree>
      <p:nvGrpSpPr>
        <p:cNvPr id="1" name="Shape 46"/>
        <p:cNvGrpSpPr/>
        <p:nvPr/>
      </p:nvGrpSpPr>
      <p:grpSpPr>
        <a:xfrm>
          <a:off x="0" y="0"/>
          <a:ext cx="0" cy="0"/>
          <a:chOff x="0" y="0"/>
          <a:chExt cx="0" cy="0"/>
        </a:xfrm>
      </p:grpSpPr>
      <p:sp>
        <p:nvSpPr>
          <p:cNvPr id="47" name="Google Shape;47;p19"/>
          <p:cNvSpPr txBox="1"/>
          <p:nvPr/>
        </p:nvSpPr>
        <p:spPr>
          <a:xfrm>
            <a:off x="7010402" y="6583365"/>
            <a:ext cx="2133600" cy="274636"/>
          </a:xfrm>
          <a:prstGeom prst="rect">
            <a:avLst/>
          </a:prstGeom>
          <a:noFill/>
          <a:ln>
            <a:noFill/>
          </a:ln>
        </p:spPr>
        <p:txBody>
          <a:bodyPr spcFirstLastPara="1" wrap="square" lIns="85900" tIns="42950" rIns="85900" bIns="42950" anchor="t" anchorCtr="0">
            <a:noAutofit/>
          </a:bodyPr>
          <a:lstStyle/>
          <a:p>
            <a:pPr marL="0" marR="0" lvl="0" indent="0" algn="r" rtl="0">
              <a:lnSpc>
                <a:spcPct val="100000"/>
              </a:lnSpc>
              <a:spcBef>
                <a:spcPts val="0"/>
              </a:spcBef>
              <a:spcAft>
                <a:spcPts val="0"/>
              </a:spcAft>
              <a:buClr>
                <a:schemeClr val="dk2"/>
              </a:buClr>
              <a:buSzPts val="850"/>
              <a:buFont typeface="Arial"/>
              <a:buNone/>
            </a:pPr>
            <a:endParaRPr sz="850" b="0" i="0" u="none" strike="noStrike" cap="none">
              <a:solidFill>
                <a:srgbClr val="5A5A5A"/>
              </a:solidFill>
              <a:latin typeface="Trebuchet MS"/>
              <a:ea typeface="Trebuchet MS"/>
              <a:cs typeface="Trebuchet MS"/>
              <a:sym typeface="Trebuchet MS"/>
            </a:endParaRPr>
          </a:p>
        </p:txBody>
      </p:sp>
      <p:sp>
        <p:nvSpPr>
          <p:cNvPr id="48" name="Google Shape;48;p19"/>
          <p:cNvSpPr txBox="1"/>
          <p:nvPr/>
        </p:nvSpPr>
        <p:spPr>
          <a:xfrm>
            <a:off x="395536" y="332655"/>
            <a:ext cx="8280920" cy="288033"/>
          </a:xfrm>
          <a:prstGeom prst="rect">
            <a:avLst/>
          </a:prstGeom>
          <a:noFill/>
          <a:ln>
            <a:noFill/>
          </a:ln>
        </p:spPr>
        <p:txBody>
          <a:bodyPr spcFirstLastPara="1" wrap="square" lIns="108000" tIns="0" rIns="0" bIns="0" anchor="ctr" anchorCtr="0">
            <a:noAutofit/>
          </a:bodyPr>
          <a:lstStyle/>
          <a:p>
            <a:pPr marL="0" marR="0" lvl="0" indent="0" algn="l" rtl="0">
              <a:lnSpc>
                <a:spcPct val="100000"/>
              </a:lnSpc>
              <a:spcBef>
                <a:spcPts val="0"/>
              </a:spcBef>
              <a:spcAft>
                <a:spcPts val="0"/>
              </a:spcAft>
              <a:buClr>
                <a:schemeClr val="dk2"/>
              </a:buClr>
              <a:buSzPts val="1900"/>
              <a:buFont typeface="Arial"/>
              <a:buNone/>
            </a:pPr>
            <a:endParaRPr sz="1900" b="1" i="0" u="none" strike="noStrike" cap="none">
              <a:solidFill>
                <a:srgbClr val="5A5A5A"/>
              </a:solidFill>
              <a:latin typeface="Arial"/>
              <a:ea typeface="Arial"/>
              <a:cs typeface="Arial"/>
              <a:sym typeface="Arial"/>
            </a:endParaRPr>
          </a:p>
        </p:txBody>
      </p:sp>
      <p:sp>
        <p:nvSpPr>
          <p:cNvPr id="49" name="Google Shape;49;p19"/>
          <p:cNvSpPr txBox="1">
            <a:spLocks noGrp="1"/>
          </p:cNvSpPr>
          <p:nvPr>
            <p:ph type="title"/>
          </p:nvPr>
        </p:nvSpPr>
        <p:spPr>
          <a:xfrm>
            <a:off x="395536" y="332655"/>
            <a:ext cx="6696744" cy="288033"/>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b="1"/>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0" name="Google Shape;50;p19"/>
          <p:cNvSpPr/>
          <p:nvPr/>
        </p:nvSpPr>
        <p:spPr>
          <a:xfrm>
            <a:off x="0" y="116632"/>
            <a:ext cx="251520" cy="180000"/>
          </a:xfrm>
          <a:prstGeom prst="parallelogram">
            <a:avLst>
              <a:gd name="adj" fmla="val 0"/>
            </a:avLst>
          </a:prstGeom>
          <a:solidFill>
            <a:srgbClr val="66A09A"/>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chemeClr val="dk2"/>
              </a:buClr>
              <a:buSzPts val="1000"/>
              <a:buFont typeface="Arial"/>
              <a:buNone/>
            </a:pPr>
            <a:endParaRPr sz="1000" b="0" i="0" u="none" strike="noStrike" cap="none">
              <a:solidFill>
                <a:srgbClr val="FFFFFF"/>
              </a:solidFill>
              <a:latin typeface="Arial"/>
              <a:ea typeface="Arial"/>
              <a:cs typeface="Arial"/>
              <a:sym typeface="Arial"/>
            </a:endParaRPr>
          </a:p>
        </p:txBody>
      </p:sp>
      <p:sp>
        <p:nvSpPr>
          <p:cNvPr id="51" name="Google Shape;51;p19"/>
          <p:cNvSpPr/>
          <p:nvPr/>
        </p:nvSpPr>
        <p:spPr>
          <a:xfrm>
            <a:off x="0" y="116632"/>
            <a:ext cx="323528" cy="180000"/>
          </a:xfrm>
          <a:prstGeom prst="parallelogram">
            <a:avLst>
              <a:gd name="adj" fmla="val 32938"/>
            </a:avLst>
          </a:prstGeom>
          <a:solidFill>
            <a:srgbClr val="66A09A"/>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chemeClr val="dk2"/>
              </a:buClr>
              <a:buSzPts val="1000"/>
              <a:buFont typeface="Arial"/>
              <a:buNone/>
            </a:pPr>
            <a:endParaRPr sz="1000" b="0" i="0" u="none" strike="noStrike" cap="none">
              <a:solidFill>
                <a:srgbClr val="FFFFFF"/>
              </a:solidFill>
              <a:latin typeface="Arial"/>
              <a:ea typeface="Arial"/>
              <a:cs typeface="Arial"/>
              <a:sym typeface="Arial"/>
            </a:endParaRPr>
          </a:p>
        </p:txBody>
      </p:sp>
      <p:cxnSp>
        <p:nvCxnSpPr>
          <p:cNvPr id="52" name="Google Shape;52;p19"/>
          <p:cNvCxnSpPr/>
          <p:nvPr/>
        </p:nvCxnSpPr>
        <p:spPr>
          <a:xfrm>
            <a:off x="367281" y="1124744"/>
            <a:ext cx="8424613" cy="0"/>
          </a:xfrm>
          <a:prstGeom prst="straightConnector1">
            <a:avLst/>
          </a:prstGeom>
          <a:noFill/>
          <a:ln w="12700" cap="flat" cmpd="sng">
            <a:solidFill>
              <a:srgbClr val="5A5A5A"/>
            </a:solidFill>
            <a:prstDash val="solid"/>
            <a:round/>
            <a:headEnd type="none" w="sm" len="sm"/>
            <a:tailEnd type="none" w="sm" len="sm"/>
          </a:ln>
        </p:spPr>
      </p:cxnSp>
      <p:grpSp>
        <p:nvGrpSpPr>
          <p:cNvPr id="53" name="Google Shape;53;p19"/>
          <p:cNvGrpSpPr/>
          <p:nvPr/>
        </p:nvGrpSpPr>
        <p:grpSpPr>
          <a:xfrm>
            <a:off x="467544" y="764600"/>
            <a:ext cx="577253" cy="284455"/>
            <a:chOff x="467544" y="764600"/>
            <a:chExt cx="577253" cy="284455"/>
          </a:xfrm>
        </p:grpSpPr>
        <p:sp>
          <p:nvSpPr>
            <p:cNvPr id="54" name="Google Shape;54;p19"/>
            <p:cNvSpPr txBox="1"/>
            <p:nvPr/>
          </p:nvSpPr>
          <p:spPr>
            <a:xfrm>
              <a:off x="467544" y="764600"/>
              <a:ext cx="576064" cy="284455"/>
            </a:xfrm>
            <a:prstGeom prst="rect">
              <a:avLst/>
            </a:prstGeom>
            <a:noFill/>
            <a:ln w="12700" cap="flat" cmpd="sng">
              <a:solidFill>
                <a:schemeClr val="lt1"/>
              </a:solidFill>
              <a:prstDash val="solid"/>
              <a:round/>
              <a:headEnd type="none" w="sm" len="sm"/>
              <a:tailEnd type="none" w="sm" len="sm"/>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A20000"/>
                </a:buClr>
                <a:buSzPts val="1400"/>
                <a:buFont typeface="Trebuchet MS"/>
                <a:buNone/>
              </a:pPr>
              <a:r>
                <a:rPr lang="ja-JP" sz="1400" b="1" i="0" u="none" strike="noStrike" cap="none">
                  <a:solidFill>
                    <a:srgbClr val="A20000"/>
                  </a:solidFill>
                  <a:latin typeface="Trebuchet MS"/>
                  <a:ea typeface="Trebuchet MS"/>
                  <a:cs typeface="Trebuchet MS"/>
                  <a:sym typeface="Trebuchet MS"/>
                </a:rPr>
                <a:t>POINT</a:t>
              </a:r>
              <a:endParaRPr sz="1400" b="1" i="0" u="none" strike="noStrike" cap="none">
                <a:solidFill>
                  <a:srgbClr val="252525"/>
                </a:solidFill>
                <a:latin typeface="Arial"/>
                <a:ea typeface="Arial"/>
                <a:cs typeface="Arial"/>
                <a:sym typeface="Arial"/>
              </a:endParaRPr>
            </a:p>
          </p:txBody>
        </p:sp>
        <p:cxnSp>
          <p:nvCxnSpPr>
            <p:cNvPr id="55" name="Google Shape;55;p19"/>
            <p:cNvCxnSpPr/>
            <p:nvPr/>
          </p:nvCxnSpPr>
          <p:spPr>
            <a:xfrm>
              <a:off x="1043608" y="816196"/>
              <a:ext cx="1189" cy="174404"/>
            </a:xfrm>
            <a:prstGeom prst="straightConnector1">
              <a:avLst/>
            </a:prstGeom>
            <a:noFill/>
            <a:ln w="12700" cap="flat" cmpd="sng">
              <a:solidFill>
                <a:schemeClr val="accent6"/>
              </a:solidFill>
              <a:prstDash val="solid"/>
              <a:round/>
              <a:headEnd type="none" w="sm" len="sm"/>
              <a:tailEnd type="none" w="sm" len="sm"/>
            </a:ln>
          </p:spPr>
        </p:cxnSp>
      </p:grpSp>
      <p:sp>
        <p:nvSpPr>
          <p:cNvPr id="56" name="Google Shape;56;p19"/>
          <p:cNvSpPr/>
          <p:nvPr/>
        </p:nvSpPr>
        <p:spPr>
          <a:xfrm>
            <a:off x="7231533" y="136824"/>
            <a:ext cx="1476000" cy="400050"/>
          </a:xfrm>
          <a:prstGeom prst="rect">
            <a:avLst/>
          </a:prstGeom>
          <a:solidFill>
            <a:schemeClr val="lt1"/>
          </a:solidFill>
          <a:ln w="38100" cap="flat" cmpd="dbl">
            <a:solidFill>
              <a:srgbClr val="F14040"/>
            </a:solidFill>
            <a:prstDash val="solid"/>
            <a:miter lim="800000"/>
            <a:headEnd type="none" w="sm" len="sm"/>
            <a:tailEnd type="none" w="sm" len="sm"/>
          </a:ln>
        </p:spPr>
        <p:txBody>
          <a:bodyPr spcFirstLastPara="1" wrap="square" lIns="0" tIns="0" rIns="0" bIns="25200" anchor="ctr" anchorCtr="0">
            <a:noAutofit/>
          </a:bodyPr>
          <a:lstStyle/>
          <a:p>
            <a:pPr marL="0" marR="0" lvl="0" indent="0" algn="ctr" rtl="0">
              <a:spcBef>
                <a:spcPts val="0"/>
              </a:spcBef>
              <a:spcAft>
                <a:spcPts val="0"/>
              </a:spcAft>
              <a:buNone/>
            </a:pPr>
            <a:r>
              <a:rPr lang="ja-JP" sz="1300" b="1">
                <a:solidFill>
                  <a:srgbClr val="F14040"/>
                </a:solidFill>
                <a:latin typeface="Arial"/>
                <a:ea typeface="Arial"/>
                <a:cs typeface="Arial"/>
                <a:sym typeface="Arial"/>
              </a:rPr>
              <a:t>秘・貴社限り</a:t>
            </a:r>
            <a:endParaRPr sz="1300" b="1">
              <a:solidFill>
                <a:srgbClr val="F14040"/>
              </a:solidFill>
              <a:latin typeface="Arial"/>
              <a:ea typeface="Arial"/>
              <a:cs typeface="Arial"/>
              <a:sym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matchingName="1_タイトル スライド">
  <p:cSld name="1_タイトル スライド">
    <p:spTree>
      <p:nvGrpSpPr>
        <p:cNvPr id="1" name="Shape 57"/>
        <p:cNvGrpSpPr/>
        <p:nvPr/>
      </p:nvGrpSpPr>
      <p:grpSpPr>
        <a:xfrm>
          <a:off x="0" y="0"/>
          <a:ext cx="0" cy="0"/>
          <a:chOff x="0" y="0"/>
          <a:chExt cx="0" cy="0"/>
        </a:xfrm>
      </p:grpSpPr>
      <p:sp>
        <p:nvSpPr>
          <p:cNvPr id="58" name="Google Shape;58;p20"/>
          <p:cNvSpPr/>
          <p:nvPr/>
        </p:nvSpPr>
        <p:spPr>
          <a:xfrm>
            <a:off x="7231533" y="136824"/>
            <a:ext cx="1476000" cy="400050"/>
          </a:xfrm>
          <a:prstGeom prst="rect">
            <a:avLst/>
          </a:prstGeom>
          <a:solidFill>
            <a:schemeClr val="lt1"/>
          </a:solidFill>
          <a:ln w="38100" cap="flat" cmpd="dbl">
            <a:solidFill>
              <a:srgbClr val="F14040"/>
            </a:solidFill>
            <a:prstDash val="solid"/>
            <a:miter lim="800000"/>
            <a:headEnd type="none" w="sm" len="sm"/>
            <a:tailEnd type="none" w="sm" len="sm"/>
          </a:ln>
        </p:spPr>
        <p:txBody>
          <a:bodyPr spcFirstLastPara="1" wrap="square" lIns="0" tIns="0" rIns="0" bIns="25200" anchor="ctr" anchorCtr="0">
            <a:noAutofit/>
          </a:bodyPr>
          <a:lstStyle/>
          <a:p>
            <a:pPr marL="0" marR="0" lvl="0" indent="0" algn="ctr" rtl="0">
              <a:spcBef>
                <a:spcPts val="0"/>
              </a:spcBef>
              <a:spcAft>
                <a:spcPts val="0"/>
              </a:spcAft>
              <a:buNone/>
            </a:pPr>
            <a:r>
              <a:rPr lang="ja-JP" sz="1300" b="1">
                <a:solidFill>
                  <a:srgbClr val="F14040"/>
                </a:solidFill>
                <a:latin typeface="Arial"/>
                <a:ea typeface="Arial"/>
                <a:cs typeface="Arial"/>
                <a:sym typeface="Arial"/>
              </a:rPr>
              <a:t>秘・貴社限り</a:t>
            </a:r>
            <a:endParaRPr sz="1300" b="1">
              <a:solidFill>
                <a:srgbClr val="F14040"/>
              </a:solidFill>
              <a:latin typeface="Arial"/>
              <a:ea typeface="Arial"/>
              <a:cs typeface="Arial"/>
              <a:sym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matchingName="2_タイトル スライド">
  <p:cSld name="2_タイトル スライド">
    <p:spTree>
      <p:nvGrpSpPr>
        <p:cNvPr id="1" name="Shape 59"/>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3_タイトルとコンテンツ">
  <p:cSld name="3_タイトルとコンテンツ">
    <p:bg>
      <p:bgPr>
        <a:solidFill>
          <a:schemeClr val="lt1"/>
        </a:solidFill>
        <a:effectLst/>
      </p:bgPr>
    </p:bg>
    <p:spTree>
      <p:nvGrpSpPr>
        <p:cNvPr id="1" name="Shape 60"/>
        <p:cNvGrpSpPr/>
        <p:nvPr/>
      </p:nvGrpSpPr>
      <p:grpSpPr>
        <a:xfrm>
          <a:off x="0" y="0"/>
          <a:ext cx="0" cy="0"/>
          <a:chOff x="0" y="0"/>
          <a:chExt cx="0" cy="0"/>
        </a:xfrm>
      </p:grpSpPr>
      <p:grpSp>
        <p:nvGrpSpPr>
          <p:cNvPr id="61" name="Google Shape;61;p22"/>
          <p:cNvGrpSpPr/>
          <p:nvPr/>
        </p:nvGrpSpPr>
        <p:grpSpPr>
          <a:xfrm>
            <a:off x="395536" y="836710"/>
            <a:ext cx="8352929" cy="5688633"/>
            <a:chOff x="395536" y="836710"/>
            <a:chExt cx="8352929" cy="5688633"/>
          </a:xfrm>
        </p:grpSpPr>
        <p:cxnSp>
          <p:nvCxnSpPr>
            <p:cNvPr id="62" name="Google Shape;62;p22"/>
            <p:cNvCxnSpPr/>
            <p:nvPr/>
          </p:nvCxnSpPr>
          <p:spPr>
            <a:xfrm>
              <a:off x="4716016" y="836710"/>
              <a:ext cx="0" cy="5687994"/>
            </a:xfrm>
            <a:prstGeom prst="straightConnector1">
              <a:avLst/>
            </a:prstGeom>
            <a:noFill/>
            <a:ln w="9525" cap="flat" cmpd="sng">
              <a:solidFill>
                <a:srgbClr val="D8D8D8"/>
              </a:solidFill>
              <a:prstDash val="solid"/>
              <a:round/>
              <a:headEnd type="none" w="sm" len="sm"/>
              <a:tailEnd type="none" w="sm" len="sm"/>
            </a:ln>
          </p:spPr>
        </p:cxnSp>
        <p:cxnSp>
          <p:nvCxnSpPr>
            <p:cNvPr id="63" name="Google Shape;63;p22"/>
            <p:cNvCxnSpPr/>
            <p:nvPr/>
          </p:nvCxnSpPr>
          <p:spPr>
            <a:xfrm>
              <a:off x="4860032" y="836710"/>
              <a:ext cx="0" cy="5687994"/>
            </a:xfrm>
            <a:prstGeom prst="straightConnector1">
              <a:avLst/>
            </a:prstGeom>
            <a:noFill/>
            <a:ln w="9525" cap="flat" cmpd="sng">
              <a:solidFill>
                <a:srgbClr val="D8D8D8"/>
              </a:solidFill>
              <a:prstDash val="solid"/>
              <a:round/>
              <a:headEnd type="none" w="sm" len="sm"/>
              <a:tailEnd type="none" w="sm" len="sm"/>
            </a:ln>
          </p:spPr>
        </p:cxnSp>
        <p:cxnSp>
          <p:nvCxnSpPr>
            <p:cNvPr id="64" name="Google Shape;64;p22"/>
            <p:cNvCxnSpPr/>
            <p:nvPr/>
          </p:nvCxnSpPr>
          <p:spPr>
            <a:xfrm>
              <a:off x="5004048" y="836710"/>
              <a:ext cx="0" cy="5687994"/>
            </a:xfrm>
            <a:prstGeom prst="straightConnector1">
              <a:avLst/>
            </a:prstGeom>
            <a:noFill/>
            <a:ln w="9525" cap="flat" cmpd="sng">
              <a:solidFill>
                <a:srgbClr val="D8D8D8"/>
              </a:solidFill>
              <a:prstDash val="solid"/>
              <a:round/>
              <a:headEnd type="none" w="sm" len="sm"/>
              <a:tailEnd type="none" w="sm" len="sm"/>
            </a:ln>
          </p:spPr>
        </p:cxnSp>
        <p:cxnSp>
          <p:nvCxnSpPr>
            <p:cNvPr id="65" name="Google Shape;65;p22"/>
            <p:cNvCxnSpPr/>
            <p:nvPr/>
          </p:nvCxnSpPr>
          <p:spPr>
            <a:xfrm>
              <a:off x="5148064" y="836710"/>
              <a:ext cx="0" cy="5687994"/>
            </a:xfrm>
            <a:prstGeom prst="straightConnector1">
              <a:avLst/>
            </a:prstGeom>
            <a:noFill/>
            <a:ln w="9525" cap="flat" cmpd="sng">
              <a:solidFill>
                <a:srgbClr val="D8D8D8"/>
              </a:solidFill>
              <a:prstDash val="solid"/>
              <a:round/>
              <a:headEnd type="none" w="sm" len="sm"/>
              <a:tailEnd type="none" w="sm" len="sm"/>
            </a:ln>
          </p:spPr>
        </p:cxnSp>
        <p:cxnSp>
          <p:nvCxnSpPr>
            <p:cNvPr id="66" name="Google Shape;66;p22"/>
            <p:cNvCxnSpPr/>
            <p:nvPr/>
          </p:nvCxnSpPr>
          <p:spPr>
            <a:xfrm>
              <a:off x="5292080" y="836710"/>
              <a:ext cx="0" cy="5687994"/>
            </a:xfrm>
            <a:prstGeom prst="straightConnector1">
              <a:avLst/>
            </a:prstGeom>
            <a:noFill/>
            <a:ln w="9525" cap="flat" cmpd="sng">
              <a:solidFill>
                <a:srgbClr val="D8D8D8"/>
              </a:solidFill>
              <a:prstDash val="solid"/>
              <a:round/>
              <a:headEnd type="none" w="sm" len="sm"/>
              <a:tailEnd type="none" w="sm" len="sm"/>
            </a:ln>
          </p:spPr>
        </p:cxnSp>
        <p:cxnSp>
          <p:nvCxnSpPr>
            <p:cNvPr id="67" name="Google Shape;67;p22"/>
            <p:cNvCxnSpPr/>
            <p:nvPr/>
          </p:nvCxnSpPr>
          <p:spPr>
            <a:xfrm>
              <a:off x="5436096" y="836710"/>
              <a:ext cx="0" cy="5687994"/>
            </a:xfrm>
            <a:prstGeom prst="straightConnector1">
              <a:avLst/>
            </a:prstGeom>
            <a:noFill/>
            <a:ln w="9525" cap="flat" cmpd="sng">
              <a:solidFill>
                <a:srgbClr val="D8D8D8"/>
              </a:solidFill>
              <a:prstDash val="solid"/>
              <a:round/>
              <a:headEnd type="none" w="sm" len="sm"/>
              <a:tailEnd type="none" w="sm" len="sm"/>
            </a:ln>
          </p:spPr>
        </p:cxnSp>
        <p:cxnSp>
          <p:nvCxnSpPr>
            <p:cNvPr id="68" name="Google Shape;68;p22"/>
            <p:cNvCxnSpPr/>
            <p:nvPr/>
          </p:nvCxnSpPr>
          <p:spPr>
            <a:xfrm>
              <a:off x="5580112" y="836710"/>
              <a:ext cx="0" cy="5687994"/>
            </a:xfrm>
            <a:prstGeom prst="straightConnector1">
              <a:avLst/>
            </a:prstGeom>
            <a:noFill/>
            <a:ln w="9525" cap="flat" cmpd="sng">
              <a:solidFill>
                <a:srgbClr val="D8D8D8"/>
              </a:solidFill>
              <a:prstDash val="solid"/>
              <a:round/>
              <a:headEnd type="none" w="sm" len="sm"/>
              <a:tailEnd type="none" w="sm" len="sm"/>
            </a:ln>
          </p:spPr>
        </p:cxnSp>
        <p:cxnSp>
          <p:nvCxnSpPr>
            <p:cNvPr id="69" name="Google Shape;69;p22"/>
            <p:cNvCxnSpPr/>
            <p:nvPr/>
          </p:nvCxnSpPr>
          <p:spPr>
            <a:xfrm>
              <a:off x="5724128" y="836710"/>
              <a:ext cx="0" cy="5687994"/>
            </a:xfrm>
            <a:prstGeom prst="straightConnector1">
              <a:avLst/>
            </a:prstGeom>
            <a:noFill/>
            <a:ln w="9525" cap="flat" cmpd="sng">
              <a:solidFill>
                <a:srgbClr val="D8D8D8"/>
              </a:solidFill>
              <a:prstDash val="solid"/>
              <a:round/>
              <a:headEnd type="none" w="sm" len="sm"/>
              <a:tailEnd type="none" w="sm" len="sm"/>
            </a:ln>
          </p:spPr>
        </p:cxnSp>
        <p:cxnSp>
          <p:nvCxnSpPr>
            <p:cNvPr id="70" name="Google Shape;70;p22"/>
            <p:cNvCxnSpPr/>
            <p:nvPr/>
          </p:nvCxnSpPr>
          <p:spPr>
            <a:xfrm>
              <a:off x="5868144" y="836710"/>
              <a:ext cx="0" cy="5687994"/>
            </a:xfrm>
            <a:prstGeom prst="straightConnector1">
              <a:avLst/>
            </a:prstGeom>
            <a:noFill/>
            <a:ln w="9525" cap="flat" cmpd="sng">
              <a:solidFill>
                <a:srgbClr val="D8D8D8"/>
              </a:solidFill>
              <a:prstDash val="solid"/>
              <a:round/>
              <a:headEnd type="none" w="sm" len="sm"/>
              <a:tailEnd type="none" w="sm" len="sm"/>
            </a:ln>
          </p:spPr>
        </p:cxnSp>
        <p:cxnSp>
          <p:nvCxnSpPr>
            <p:cNvPr id="71" name="Google Shape;71;p22"/>
            <p:cNvCxnSpPr/>
            <p:nvPr/>
          </p:nvCxnSpPr>
          <p:spPr>
            <a:xfrm>
              <a:off x="6012160" y="836710"/>
              <a:ext cx="0" cy="5687994"/>
            </a:xfrm>
            <a:prstGeom prst="straightConnector1">
              <a:avLst/>
            </a:prstGeom>
            <a:noFill/>
            <a:ln w="9525" cap="flat" cmpd="sng">
              <a:solidFill>
                <a:srgbClr val="D8D8D8"/>
              </a:solidFill>
              <a:prstDash val="solid"/>
              <a:round/>
              <a:headEnd type="none" w="sm" len="sm"/>
              <a:tailEnd type="none" w="sm" len="sm"/>
            </a:ln>
          </p:spPr>
        </p:cxnSp>
        <p:cxnSp>
          <p:nvCxnSpPr>
            <p:cNvPr id="72" name="Google Shape;72;p22"/>
            <p:cNvCxnSpPr/>
            <p:nvPr/>
          </p:nvCxnSpPr>
          <p:spPr>
            <a:xfrm>
              <a:off x="6156176" y="836710"/>
              <a:ext cx="0" cy="5687994"/>
            </a:xfrm>
            <a:prstGeom prst="straightConnector1">
              <a:avLst/>
            </a:prstGeom>
            <a:noFill/>
            <a:ln w="9525" cap="flat" cmpd="sng">
              <a:solidFill>
                <a:srgbClr val="D8D8D8"/>
              </a:solidFill>
              <a:prstDash val="solid"/>
              <a:round/>
              <a:headEnd type="none" w="sm" len="sm"/>
              <a:tailEnd type="none" w="sm" len="sm"/>
            </a:ln>
          </p:spPr>
        </p:cxnSp>
        <p:cxnSp>
          <p:nvCxnSpPr>
            <p:cNvPr id="73" name="Google Shape;73;p22"/>
            <p:cNvCxnSpPr/>
            <p:nvPr/>
          </p:nvCxnSpPr>
          <p:spPr>
            <a:xfrm>
              <a:off x="6300192" y="836710"/>
              <a:ext cx="0" cy="5687994"/>
            </a:xfrm>
            <a:prstGeom prst="straightConnector1">
              <a:avLst/>
            </a:prstGeom>
            <a:noFill/>
            <a:ln w="9525" cap="flat" cmpd="sng">
              <a:solidFill>
                <a:srgbClr val="D8D8D8"/>
              </a:solidFill>
              <a:prstDash val="solid"/>
              <a:round/>
              <a:headEnd type="none" w="sm" len="sm"/>
              <a:tailEnd type="none" w="sm" len="sm"/>
            </a:ln>
          </p:spPr>
        </p:cxnSp>
        <p:cxnSp>
          <p:nvCxnSpPr>
            <p:cNvPr id="74" name="Google Shape;74;p22"/>
            <p:cNvCxnSpPr/>
            <p:nvPr/>
          </p:nvCxnSpPr>
          <p:spPr>
            <a:xfrm>
              <a:off x="6444208" y="836710"/>
              <a:ext cx="0" cy="5687994"/>
            </a:xfrm>
            <a:prstGeom prst="straightConnector1">
              <a:avLst/>
            </a:prstGeom>
            <a:noFill/>
            <a:ln w="9525" cap="flat" cmpd="sng">
              <a:solidFill>
                <a:srgbClr val="D8D8D8"/>
              </a:solidFill>
              <a:prstDash val="solid"/>
              <a:round/>
              <a:headEnd type="none" w="sm" len="sm"/>
              <a:tailEnd type="none" w="sm" len="sm"/>
            </a:ln>
          </p:spPr>
        </p:cxnSp>
        <p:cxnSp>
          <p:nvCxnSpPr>
            <p:cNvPr id="75" name="Google Shape;75;p22"/>
            <p:cNvCxnSpPr/>
            <p:nvPr/>
          </p:nvCxnSpPr>
          <p:spPr>
            <a:xfrm>
              <a:off x="6588224" y="836710"/>
              <a:ext cx="0" cy="5687994"/>
            </a:xfrm>
            <a:prstGeom prst="straightConnector1">
              <a:avLst/>
            </a:prstGeom>
            <a:noFill/>
            <a:ln w="9525" cap="flat" cmpd="sng">
              <a:solidFill>
                <a:srgbClr val="D8D8D8"/>
              </a:solidFill>
              <a:prstDash val="solid"/>
              <a:round/>
              <a:headEnd type="none" w="sm" len="sm"/>
              <a:tailEnd type="none" w="sm" len="sm"/>
            </a:ln>
          </p:spPr>
        </p:cxnSp>
        <p:cxnSp>
          <p:nvCxnSpPr>
            <p:cNvPr id="76" name="Google Shape;76;p22"/>
            <p:cNvCxnSpPr/>
            <p:nvPr/>
          </p:nvCxnSpPr>
          <p:spPr>
            <a:xfrm>
              <a:off x="6732240" y="836710"/>
              <a:ext cx="0" cy="5687994"/>
            </a:xfrm>
            <a:prstGeom prst="straightConnector1">
              <a:avLst/>
            </a:prstGeom>
            <a:noFill/>
            <a:ln w="9525" cap="flat" cmpd="sng">
              <a:solidFill>
                <a:srgbClr val="D8D8D8"/>
              </a:solidFill>
              <a:prstDash val="solid"/>
              <a:round/>
              <a:headEnd type="none" w="sm" len="sm"/>
              <a:tailEnd type="none" w="sm" len="sm"/>
            </a:ln>
          </p:spPr>
        </p:cxnSp>
        <p:cxnSp>
          <p:nvCxnSpPr>
            <p:cNvPr id="77" name="Google Shape;77;p22"/>
            <p:cNvCxnSpPr/>
            <p:nvPr/>
          </p:nvCxnSpPr>
          <p:spPr>
            <a:xfrm>
              <a:off x="6876256" y="836710"/>
              <a:ext cx="0" cy="5687994"/>
            </a:xfrm>
            <a:prstGeom prst="straightConnector1">
              <a:avLst/>
            </a:prstGeom>
            <a:noFill/>
            <a:ln w="9525" cap="flat" cmpd="sng">
              <a:solidFill>
                <a:srgbClr val="D8D8D8"/>
              </a:solidFill>
              <a:prstDash val="solid"/>
              <a:round/>
              <a:headEnd type="none" w="sm" len="sm"/>
              <a:tailEnd type="none" w="sm" len="sm"/>
            </a:ln>
          </p:spPr>
        </p:cxnSp>
        <p:cxnSp>
          <p:nvCxnSpPr>
            <p:cNvPr id="78" name="Google Shape;78;p22"/>
            <p:cNvCxnSpPr/>
            <p:nvPr/>
          </p:nvCxnSpPr>
          <p:spPr>
            <a:xfrm>
              <a:off x="7020272" y="836710"/>
              <a:ext cx="0" cy="5687994"/>
            </a:xfrm>
            <a:prstGeom prst="straightConnector1">
              <a:avLst/>
            </a:prstGeom>
            <a:noFill/>
            <a:ln w="9525" cap="flat" cmpd="sng">
              <a:solidFill>
                <a:srgbClr val="D8D8D8"/>
              </a:solidFill>
              <a:prstDash val="solid"/>
              <a:round/>
              <a:headEnd type="none" w="sm" len="sm"/>
              <a:tailEnd type="none" w="sm" len="sm"/>
            </a:ln>
          </p:spPr>
        </p:cxnSp>
        <p:cxnSp>
          <p:nvCxnSpPr>
            <p:cNvPr id="79" name="Google Shape;79;p22"/>
            <p:cNvCxnSpPr/>
            <p:nvPr/>
          </p:nvCxnSpPr>
          <p:spPr>
            <a:xfrm>
              <a:off x="7164288" y="836710"/>
              <a:ext cx="0" cy="5687994"/>
            </a:xfrm>
            <a:prstGeom prst="straightConnector1">
              <a:avLst/>
            </a:prstGeom>
            <a:noFill/>
            <a:ln w="9525" cap="flat" cmpd="sng">
              <a:solidFill>
                <a:srgbClr val="D8D8D8"/>
              </a:solidFill>
              <a:prstDash val="solid"/>
              <a:round/>
              <a:headEnd type="none" w="sm" len="sm"/>
              <a:tailEnd type="none" w="sm" len="sm"/>
            </a:ln>
          </p:spPr>
        </p:cxnSp>
        <p:cxnSp>
          <p:nvCxnSpPr>
            <p:cNvPr id="80" name="Google Shape;80;p22"/>
            <p:cNvCxnSpPr/>
            <p:nvPr/>
          </p:nvCxnSpPr>
          <p:spPr>
            <a:xfrm>
              <a:off x="7308304" y="836710"/>
              <a:ext cx="0" cy="5687994"/>
            </a:xfrm>
            <a:prstGeom prst="straightConnector1">
              <a:avLst/>
            </a:prstGeom>
            <a:noFill/>
            <a:ln w="9525" cap="flat" cmpd="sng">
              <a:solidFill>
                <a:srgbClr val="D8D8D8"/>
              </a:solidFill>
              <a:prstDash val="solid"/>
              <a:round/>
              <a:headEnd type="none" w="sm" len="sm"/>
              <a:tailEnd type="none" w="sm" len="sm"/>
            </a:ln>
          </p:spPr>
        </p:cxnSp>
        <p:cxnSp>
          <p:nvCxnSpPr>
            <p:cNvPr id="81" name="Google Shape;81;p22"/>
            <p:cNvCxnSpPr/>
            <p:nvPr/>
          </p:nvCxnSpPr>
          <p:spPr>
            <a:xfrm>
              <a:off x="7452320" y="836710"/>
              <a:ext cx="0" cy="5687994"/>
            </a:xfrm>
            <a:prstGeom prst="straightConnector1">
              <a:avLst/>
            </a:prstGeom>
            <a:noFill/>
            <a:ln w="9525" cap="flat" cmpd="sng">
              <a:solidFill>
                <a:srgbClr val="D8D8D8"/>
              </a:solidFill>
              <a:prstDash val="solid"/>
              <a:round/>
              <a:headEnd type="none" w="sm" len="sm"/>
              <a:tailEnd type="none" w="sm" len="sm"/>
            </a:ln>
          </p:spPr>
        </p:cxnSp>
        <p:cxnSp>
          <p:nvCxnSpPr>
            <p:cNvPr id="82" name="Google Shape;82;p22"/>
            <p:cNvCxnSpPr/>
            <p:nvPr/>
          </p:nvCxnSpPr>
          <p:spPr>
            <a:xfrm>
              <a:off x="7596336" y="836710"/>
              <a:ext cx="0" cy="5687994"/>
            </a:xfrm>
            <a:prstGeom prst="straightConnector1">
              <a:avLst/>
            </a:prstGeom>
            <a:noFill/>
            <a:ln w="9525" cap="flat" cmpd="sng">
              <a:solidFill>
                <a:srgbClr val="D8D8D8"/>
              </a:solidFill>
              <a:prstDash val="solid"/>
              <a:round/>
              <a:headEnd type="none" w="sm" len="sm"/>
              <a:tailEnd type="none" w="sm" len="sm"/>
            </a:ln>
          </p:spPr>
        </p:cxnSp>
        <p:cxnSp>
          <p:nvCxnSpPr>
            <p:cNvPr id="83" name="Google Shape;83;p22"/>
            <p:cNvCxnSpPr/>
            <p:nvPr/>
          </p:nvCxnSpPr>
          <p:spPr>
            <a:xfrm>
              <a:off x="7740352" y="836710"/>
              <a:ext cx="0" cy="5687994"/>
            </a:xfrm>
            <a:prstGeom prst="straightConnector1">
              <a:avLst/>
            </a:prstGeom>
            <a:noFill/>
            <a:ln w="9525" cap="flat" cmpd="sng">
              <a:solidFill>
                <a:srgbClr val="D8D8D8"/>
              </a:solidFill>
              <a:prstDash val="solid"/>
              <a:round/>
              <a:headEnd type="none" w="sm" len="sm"/>
              <a:tailEnd type="none" w="sm" len="sm"/>
            </a:ln>
          </p:spPr>
        </p:cxnSp>
        <p:cxnSp>
          <p:nvCxnSpPr>
            <p:cNvPr id="84" name="Google Shape;84;p22"/>
            <p:cNvCxnSpPr/>
            <p:nvPr/>
          </p:nvCxnSpPr>
          <p:spPr>
            <a:xfrm>
              <a:off x="7884368" y="836710"/>
              <a:ext cx="0" cy="5687994"/>
            </a:xfrm>
            <a:prstGeom prst="straightConnector1">
              <a:avLst/>
            </a:prstGeom>
            <a:noFill/>
            <a:ln w="9525" cap="flat" cmpd="sng">
              <a:solidFill>
                <a:srgbClr val="D8D8D8"/>
              </a:solidFill>
              <a:prstDash val="solid"/>
              <a:round/>
              <a:headEnd type="none" w="sm" len="sm"/>
              <a:tailEnd type="none" w="sm" len="sm"/>
            </a:ln>
          </p:spPr>
        </p:cxnSp>
        <p:cxnSp>
          <p:nvCxnSpPr>
            <p:cNvPr id="85" name="Google Shape;85;p22"/>
            <p:cNvCxnSpPr/>
            <p:nvPr/>
          </p:nvCxnSpPr>
          <p:spPr>
            <a:xfrm>
              <a:off x="8028384" y="836710"/>
              <a:ext cx="0" cy="5687994"/>
            </a:xfrm>
            <a:prstGeom prst="straightConnector1">
              <a:avLst/>
            </a:prstGeom>
            <a:noFill/>
            <a:ln w="9525" cap="flat" cmpd="sng">
              <a:solidFill>
                <a:srgbClr val="D8D8D8"/>
              </a:solidFill>
              <a:prstDash val="solid"/>
              <a:round/>
              <a:headEnd type="none" w="sm" len="sm"/>
              <a:tailEnd type="none" w="sm" len="sm"/>
            </a:ln>
          </p:spPr>
        </p:cxnSp>
        <p:cxnSp>
          <p:nvCxnSpPr>
            <p:cNvPr id="86" name="Google Shape;86;p22"/>
            <p:cNvCxnSpPr/>
            <p:nvPr/>
          </p:nvCxnSpPr>
          <p:spPr>
            <a:xfrm>
              <a:off x="8172400" y="836710"/>
              <a:ext cx="0" cy="5687994"/>
            </a:xfrm>
            <a:prstGeom prst="straightConnector1">
              <a:avLst/>
            </a:prstGeom>
            <a:noFill/>
            <a:ln w="9525" cap="flat" cmpd="sng">
              <a:solidFill>
                <a:srgbClr val="D8D8D8"/>
              </a:solidFill>
              <a:prstDash val="solid"/>
              <a:round/>
              <a:headEnd type="none" w="sm" len="sm"/>
              <a:tailEnd type="none" w="sm" len="sm"/>
            </a:ln>
          </p:spPr>
        </p:cxnSp>
        <p:cxnSp>
          <p:nvCxnSpPr>
            <p:cNvPr id="87" name="Google Shape;87;p22"/>
            <p:cNvCxnSpPr/>
            <p:nvPr/>
          </p:nvCxnSpPr>
          <p:spPr>
            <a:xfrm>
              <a:off x="8316416" y="836710"/>
              <a:ext cx="0" cy="5687994"/>
            </a:xfrm>
            <a:prstGeom prst="straightConnector1">
              <a:avLst/>
            </a:prstGeom>
            <a:noFill/>
            <a:ln w="9525" cap="flat" cmpd="sng">
              <a:solidFill>
                <a:srgbClr val="D8D8D8"/>
              </a:solidFill>
              <a:prstDash val="solid"/>
              <a:round/>
              <a:headEnd type="none" w="sm" len="sm"/>
              <a:tailEnd type="none" w="sm" len="sm"/>
            </a:ln>
          </p:spPr>
        </p:cxnSp>
        <p:cxnSp>
          <p:nvCxnSpPr>
            <p:cNvPr id="88" name="Google Shape;88;p22"/>
            <p:cNvCxnSpPr/>
            <p:nvPr/>
          </p:nvCxnSpPr>
          <p:spPr>
            <a:xfrm>
              <a:off x="8604448" y="836710"/>
              <a:ext cx="0" cy="5687994"/>
            </a:xfrm>
            <a:prstGeom prst="straightConnector1">
              <a:avLst/>
            </a:prstGeom>
            <a:noFill/>
            <a:ln w="9525" cap="flat" cmpd="sng">
              <a:solidFill>
                <a:srgbClr val="D8D8D8"/>
              </a:solidFill>
              <a:prstDash val="solid"/>
              <a:round/>
              <a:headEnd type="none" w="sm" len="sm"/>
              <a:tailEnd type="none" w="sm" len="sm"/>
            </a:ln>
          </p:spPr>
        </p:cxnSp>
        <p:cxnSp>
          <p:nvCxnSpPr>
            <p:cNvPr id="89" name="Google Shape;89;p22"/>
            <p:cNvCxnSpPr/>
            <p:nvPr/>
          </p:nvCxnSpPr>
          <p:spPr>
            <a:xfrm>
              <a:off x="8460432" y="836710"/>
              <a:ext cx="0" cy="5687994"/>
            </a:xfrm>
            <a:prstGeom prst="straightConnector1">
              <a:avLst/>
            </a:prstGeom>
            <a:noFill/>
            <a:ln w="9525" cap="flat" cmpd="sng">
              <a:solidFill>
                <a:srgbClr val="D8D8D8"/>
              </a:solidFill>
              <a:prstDash val="solid"/>
              <a:round/>
              <a:headEnd type="none" w="sm" len="sm"/>
              <a:tailEnd type="none" w="sm" len="sm"/>
            </a:ln>
          </p:spPr>
        </p:cxnSp>
        <p:cxnSp>
          <p:nvCxnSpPr>
            <p:cNvPr id="90" name="Google Shape;90;p22"/>
            <p:cNvCxnSpPr/>
            <p:nvPr/>
          </p:nvCxnSpPr>
          <p:spPr>
            <a:xfrm>
              <a:off x="539552" y="836710"/>
              <a:ext cx="0" cy="5687994"/>
            </a:xfrm>
            <a:prstGeom prst="straightConnector1">
              <a:avLst/>
            </a:prstGeom>
            <a:noFill/>
            <a:ln w="9525" cap="flat" cmpd="sng">
              <a:solidFill>
                <a:srgbClr val="D8D8D8"/>
              </a:solidFill>
              <a:prstDash val="solid"/>
              <a:round/>
              <a:headEnd type="none" w="sm" len="sm"/>
              <a:tailEnd type="none" w="sm" len="sm"/>
            </a:ln>
          </p:spPr>
        </p:cxnSp>
        <p:cxnSp>
          <p:nvCxnSpPr>
            <p:cNvPr id="91" name="Google Shape;91;p22"/>
            <p:cNvCxnSpPr/>
            <p:nvPr/>
          </p:nvCxnSpPr>
          <p:spPr>
            <a:xfrm>
              <a:off x="683568" y="836710"/>
              <a:ext cx="0" cy="5687994"/>
            </a:xfrm>
            <a:prstGeom prst="straightConnector1">
              <a:avLst/>
            </a:prstGeom>
            <a:noFill/>
            <a:ln w="9525" cap="flat" cmpd="sng">
              <a:solidFill>
                <a:srgbClr val="D8D8D8"/>
              </a:solidFill>
              <a:prstDash val="solid"/>
              <a:round/>
              <a:headEnd type="none" w="sm" len="sm"/>
              <a:tailEnd type="none" w="sm" len="sm"/>
            </a:ln>
          </p:spPr>
        </p:cxnSp>
        <p:cxnSp>
          <p:nvCxnSpPr>
            <p:cNvPr id="92" name="Google Shape;92;p22"/>
            <p:cNvCxnSpPr/>
            <p:nvPr/>
          </p:nvCxnSpPr>
          <p:spPr>
            <a:xfrm>
              <a:off x="827584" y="836710"/>
              <a:ext cx="0" cy="5687994"/>
            </a:xfrm>
            <a:prstGeom prst="straightConnector1">
              <a:avLst/>
            </a:prstGeom>
            <a:noFill/>
            <a:ln w="9525" cap="flat" cmpd="sng">
              <a:solidFill>
                <a:srgbClr val="D8D8D8"/>
              </a:solidFill>
              <a:prstDash val="solid"/>
              <a:round/>
              <a:headEnd type="none" w="sm" len="sm"/>
              <a:tailEnd type="none" w="sm" len="sm"/>
            </a:ln>
          </p:spPr>
        </p:cxnSp>
        <p:cxnSp>
          <p:nvCxnSpPr>
            <p:cNvPr id="93" name="Google Shape;93;p22"/>
            <p:cNvCxnSpPr/>
            <p:nvPr/>
          </p:nvCxnSpPr>
          <p:spPr>
            <a:xfrm>
              <a:off x="971600" y="836710"/>
              <a:ext cx="0" cy="5687994"/>
            </a:xfrm>
            <a:prstGeom prst="straightConnector1">
              <a:avLst/>
            </a:prstGeom>
            <a:noFill/>
            <a:ln w="9525" cap="flat" cmpd="sng">
              <a:solidFill>
                <a:srgbClr val="D8D8D8"/>
              </a:solidFill>
              <a:prstDash val="solid"/>
              <a:round/>
              <a:headEnd type="none" w="sm" len="sm"/>
              <a:tailEnd type="none" w="sm" len="sm"/>
            </a:ln>
          </p:spPr>
        </p:cxnSp>
        <p:cxnSp>
          <p:nvCxnSpPr>
            <p:cNvPr id="94" name="Google Shape;94;p22"/>
            <p:cNvCxnSpPr/>
            <p:nvPr/>
          </p:nvCxnSpPr>
          <p:spPr>
            <a:xfrm>
              <a:off x="1115616" y="836710"/>
              <a:ext cx="0" cy="5687994"/>
            </a:xfrm>
            <a:prstGeom prst="straightConnector1">
              <a:avLst/>
            </a:prstGeom>
            <a:noFill/>
            <a:ln w="9525" cap="flat" cmpd="sng">
              <a:solidFill>
                <a:srgbClr val="D8D8D8"/>
              </a:solidFill>
              <a:prstDash val="solid"/>
              <a:round/>
              <a:headEnd type="none" w="sm" len="sm"/>
              <a:tailEnd type="none" w="sm" len="sm"/>
            </a:ln>
          </p:spPr>
        </p:cxnSp>
        <p:cxnSp>
          <p:nvCxnSpPr>
            <p:cNvPr id="95" name="Google Shape;95;p22"/>
            <p:cNvCxnSpPr/>
            <p:nvPr/>
          </p:nvCxnSpPr>
          <p:spPr>
            <a:xfrm>
              <a:off x="1259632" y="836710"/>
              <a:ext cx="0" cy="5687994"/>
            </a:xfrm>
            <a:prstGeom prst="straightConnector1">
              <a:avLst/>
            </a:prstGeom>
            <a:noFill/>
            <a:ln w="9525" cap="flat" cmpd="sng">
              <a:solidFill>
                <a:srgbClr val="D8D8D8"/>
              </a:solidFill>
              <a:prstDash val="solid"/>
              <a:round/>
              <a:headEnd type="none" w="sm" len="sm"/>
              <a:tailEnd type="none" w="sm" len="sm"/>
            </a:ln>
          </p:spPr>
        </p:cxnSp>
        <p:cxnSp>
          <p:nvCxnSpPr>
            <p:cNvPr id="96" name="Google Shape;96;p22"/>
            <p:cNvCxnSpPr/>
            <p:nvPr/>
          </p:nvCxnSpPr>
          <p:spPr>
            <a:xfrm>
              <a:off x="1403648" y="836710"/>
              <a:ext cx="0" cy="5687994"/>
            </a:xfrm>
            <a:prstGeom prst="straightConnector1">
              <a:avLst/>
            </a:prstGeom>
            <a:noFill/>
            <a:ln w="9525" cap="flat" cmpd="sng">
              <a:solidFill>
                <a:srgbClr val="D8D8D8"/>
              </a:solidFill>
              <a:prstDash val="solid"/>
              <a:round/>
              <a:headEnd type="none" w="sm" len="sm"/>
              <a:tailEnd type="none" w="sm" len="sm"/>
            </a:ln>
          </p:spPr>
        </p:cxnSp>
        <p:cxnSp>
          <p:nvCxnSpPr>
            <p:cNvPr id="97" name="Google Shape;97;p22"/>
            <p:cNvCxnSpPr/>
            <p:nvPr/>
          </p:nvCxnSpPr>
          <p:spPr>
            <a:xfrm>
              <a:off x="1547664" y="836710"/>
              <a:ext cx="0" cy="5687994"/>
            </a:xfrm>
            <a:prstGeom prst="straightConnector1">
              <a:avLst/>
            </a:prstGeom>
            <a:noFill/>
            <a:ln w="9525" cap="flat" cmpd="sng">
              <a:solidFill>
                <a:srgbClr val="D8D8D8"/>
              </a:solidFill>
              <a:prstDash val="solid"/>
              <a:round/>
              <a:headEnd type="none" w="sm" len="sm"/>
              <a:tailEnd type="none" w="sm" len="sm"/>
            </a:ln>
          </p:spPr>
        </p:cxnSp>
        <p:cxnSp>
          <p:nvCxnSpPr>
            <p:cNvPr id="98" name="Google Shape;98;p22"/>
            <p:cNvCxnSpPr/>
            <p:nvPr/>
          </p:nvCxnSpPr>
          <p:spPr>
            <a:xfrm>
              <a:off x="1691680" y="836710"/>
              <a:ext cx="0" cy="5687994"/>
            </a:xfrm>
            <a:prstGeom prst="straightConnector1">
              <a:avLst/>
            </a:prstGeom>
            <a:noFill/>
            <a:ln w="9525" cap="flat" cmpd="sng">
              <a:solidFill>
                <a:srgbClr val="D8D8D8"/>
              </a:solidFill>
              <a:prstDash val="solid"/>
              <a:round/>
              <a:headEnd type="none" w="sm" len="sm"/>
              <a:tailEnd type="none" w="sm" len="sm"/>
            </a:ln>
          </p:spPr>
        </p:cxnSp>
        <p:cxnSp>
          <p:nvCxnSpPr>
            <p:cNvPr id="99" name="Google Shape;99;p22"/>
            <p:cNvCxnSpPr/>
            <p:nvPr/>
          </p:nvCxnSpPr>
          <p:spPr>
            <a:xfrm>
              <a:off x="1835696" y="836710"/>
              <a:ext cx="0" cy="5687994"/>
            </a:xfrm>
            <a:prstGeom prst="straightConnector1">
              <a:avLst/>
            </a:prstGeom>
            <a:noFill/>
            <a:ln w="9525" cap="flat" cmpd="sng">
              <a:solidFill>
                <a:srgbClr val="D8D8D8"/>
              </a:solidFill>
              <a:prstDash val="solid"/>
              <a:round/>
              <a:headEnd type="none" w="sm" len="sm"/>
              <a:tailEnd type="none" w="sm" len="sm"/>
            </a:ln>
          </p:spPr>
        </p:cxnSp>
        <p:cxnSp>
          <p:nvCxnSpPr>
            <p:cNvPr id="100" name="Google Shape;100;p22"/>
            <p:cNvCxnSpPr/>
            <p:nvPr/>
          </p:nvCxnSpPr>
          <p:spPr>
            <a:xfrm>
              <a:off x="1979712" y="836710"/>
              <a:ext cx="0" cy="5687994"/>
            </a:xfrm>
            <a:prstGeom prst="straightConnector1">
              <a:avLst/>
            </a:prstGeom>
            <a:noFill/>
            <a:ln w="9525" cap="flat" cmpd="sng">
              <a:solidFill>
                <a:srgbClr val="D8D8D8"/>
              </a:solidFill>
              <a:prstDash val="solid"/>
              <a:round/>
              <a:headEnd type="none" w="sm" len="sm"/>
              <a:tailEnd type="none" w="sm" len="sm"/>
            </a:ln>
          </p:spPr>
        </p:cxnSp>
        <p:cxnSp>
          <p:nvCxnSpPr>
            <p:cNvPr id="101" name="Google Shape;101;p22"/>
            <p:cNvCxnSpPr/>
            <p:nvPr/>
          </p:nvCxnSpPr>
          <p:spPr>
            <a:xfrm>
              <a:off x="2123728" y="836710"/>
              <a:ext cx="0" cy="5687994"/>
            </a:xfrm>
            <a:prstGeom prst="straightConnector1">
              <a:avLst/>
            </a:prstGeom>
            <a:noFill/>
            <a:ln w="9525" cap="flat" cmpd="sng">
              <a:solidFill>
                <a:srgbClr val="D8D8D8"/>
              </a:solidFill>
              <a:prstDash val="solid"/>
              <a:round/>
              <a:headEnd type="none" w="sm" len="sm"/>
              <a:tailEnd type="none" w="sm" len="sm"/>
            </a:ln>
          </p:spPr>
        </p:cxnSp>
        <p:cxnSp>
          <p:nvCxnSpPr>
            <p:cNvPr id="102" name="Google Shape;102;p22"/>
            <p:cNvCxnSpPr/>
            <p:nvPr/>
          </p:nvCxnSpPr>
          <p:spPr>
            <a:xfrm>
              <a:off x="2267744" y="836710"/>
              <a:ext cx="0" cy="5687994"/>
            </a:xfrm>
            <a:prstGeom prst="straightConnector1">
              <a:avLst/>
            </a:prstGeom>
            <a:noFill/>
            <a:ln w="9525" cap="flat" cmpd="sng">
              <a:solidFill>
                <a:srgbClr val="D8D8D8"/>
              </a:solidFill>
              <a:prstDash val="solid"/>
              <a:round/>
              <a:headEnd type="none" w="sm" len="sm"/>
              <a:tailEnd type="none" w="sm" len="sm"/>
            </a:ln>
          </p:spPr>
        </p:cxnSp>
        <p:cxnSp>
          <p:nvCxnSpPr>
            <p:cNvPr id="103" name="Google Shape;103;p22"/>
            <p:cNvCxnSpPr/>
            <p:nvPr/>
          </p:nvCxnSpPr>
          <p:spPr>
            <a:xfrm>
              <a:off x="2411760" y="836710"/>
              <a:ext cx="0" cy="5687994"/>
            </a:xfrm>
            <a:prstGeom prst="straightConnector1">
              <a:avLst/>
            </a:prstGeom>
            <a:noFill/>
            <a:ln w="9525" cap="flat" cmpd="sng">
              <a:solidFill>
                <a:srgbClr val="D8D8D8"/>
              </a:solidFill>
              <a:prstDash val="solid"/>
              <a:round/>
              <a:headEnd type="none" w="sm" len="sm"/>
              <a:tailEnd type="none" w="sm" len="sm"/>
            </a:ln>
          </p:spPr>
        </p:cxnSp>
        <p:cxnSp>
          <p:nvCxnSpPr>
            <p:cNvPr id="104" name="Google Shape;104;p22"/>
            <p:cNvCxnSpPr/>
            <p:nvPr/>
          </p:nvCxnSpPr>
          <p:spPr>
            <a:xfrm>
              <a:off x="2555776" y="836710"/>
              <a:ext cx="0" cy="5687994"/>
            </a:xfrm>
            <a:prstGeom prst="straightConnector1">
              <a:avLst/>
            </a:prstGeom>
            <a:noFill/>
            <a:ln w="9525" cap="flat" cmpd="sng">
              <a:solidFill>
                <a:srgbClr val="D8D8D8"/>
              </a:solidFill>
              <a:prstDash val="solid"/>
              <a:round/>
              <a:headEnd type="none" w="sm" len="sm"/>
              <a:tailEnd type="none" w="sm" len="sm"/>
            </a:ln>
          </p:spPr>
        </p:cxnSp>
        <p:cxnSp>
          <p:nvCxnSpPr>
            <p:cNvPr id="105" name="Google Shape;105;p22"/>
            <p:cNvCxnSpPr/>
            <p:nvPr/>
          </p:nvCxnSpPr>
          <p:spPr>
            <a:xfrm>
              <a:off x="2699792" y="836710"/>
              <a:ext cx="0" cy="5687994"/>
            </a:xfrm>
            <a:prstGeom prst="straightConnector1">
              <a:avLst/>
            </a:prstGeom>
            <a:noFill/>
            <a:ln w="9525" cap="flat" cmpd="sng">
              <a:solidFill>
                <a:srgbClr val="D8D8D8"/>
              </a:solidFill>
              <a:prstDash val="solid"/>
              <a:round/>
              <a:headEnd type="none" w="sm" len="sm"/>
              <a:tailEnd type="none" w="sm" len="sm"/>
            </a:ln>
          </p:spPr>
        </p:cxnSp>
        <p:cxnSp>
          <p:nvCxnSpPr>
            <p:cNvPr id="106" name="Google Shape;106;p22"/>
            <p:cNvCxnSpPr/>
            <p:nvPr/>
          </p:nvCxnSpPr>
          <p:spPr>
            <a:xfrm>
              <a:off x="2843808" y="836710"/>
              <a:ext cx="0" cy="5687994"/>
            </a:xfrm>
            <a:prstGeom prst="straightConnector1">
              <a:avLst/>
            </a:prstGeom>
            <a:noFill/>
            <a:ln w="9525" cap="flat" cmpd="sng">
              <a:solidFill>
                <a:srgbClr val="D8D8D8"/>
              </a:solidFill>
              <a:prstDash val="solid"/>
              <a:round/>
              <a:headEnd type="none" w="sm" len="sm"/>
              <a:tailEnd type="none" w="sm" len="sm"/>
            </a:ln>
          </p:spPr>
        </p:cxnSp>
        <p:cxnSp>
          <p:nvCxnSpPr>
            <p:cNvPr id="107" name="Google Shape;107;p22"/>
            <p:cNvCxnSpPr/>
            <p:nvPr/>
          </p:nvCxnSpPr>
          <p:spPr>
            <a:xfrm>
              <a:off x="2987824" y="836710"/>
              <a:ext cx="0" cy="5687994"/>
            </a:xfrm>
            <a:prstGeom prst="straightConnector1">
              <a:avLst/>
            </a:prstGeom>
            <a:noFill/>
            <a:ln w="9525" cap="flat" cmpd="sng">
              <a:solidFill>
                <a:srgbClr val="D8D8D8"/>
              </a:solidFill>
              <a:prstDash val="solid"/>
              <a:round/>
              <a:headEnd type="none" w="sm" len="sm"/>
              <a:tailEnd type="none" w="sm" len="sm"/>
            </a:ln>
          </p:spPr>
        </p:cxnSp>
        <p:cxnSp>
          <p:nvCxnSpPr>
            <p:cNvPr id="108" name="Google Shape;108;p22"/>
            <p:cNvCxnSpPr/>
            <p:nvPr/>
          </p:nvCxnSpPr>
          <p:spPr>
            <a:xfrm>
              <a:off x="3131840" y="836710"/>
              <a:ext cx="0" cy="5687994"/>
            </a:xfrm>
            <a:prstGeom prst="straightConnector1">
              <a:avLst/>
            </a:prstGeom>
            <a:noFill/>
            <a:ln w="9525" cap="flat" cmpd="sng">
              <a:solidFill>
                <a:srgbClr val="D8D8D8"/>
              </a:solidFill>
              <a:prstDash val="solid"/>
              <a:round/>
              <a:headEnd type="none" w="sm" len="sm"/>
              <a:tailEnd type="none" w="sm" len="sm"/>
            </a:ln>
          </p:spPr>
        </p:cxnSp>
        <p:cxnSp>
          <p:nvCxnSpPr>
            <p:cNvPr id="109" name="Google Shape;109;p22"/>
            <p:cNvCxnSpPr/>
            <p:nvPr/>
          </p:nvCxnSpPr>
          <p:spPr>
            <a:xfrm>
              <a:off x="3275856" y="836710"/>
              <a:ext cx="0" cy="5687994"/>
            </a:xfrm>
            <a:prstGeom prst="straightConnector1">
              <a:avLst/>
            </a:prstGeom>
            <a:noFill/>
            <a:ln w="9525" cap="flat" cmpd="sng">
              <a:solidFill>
                <a:srgbClr val="D8D8D8"/>
              </a:solidFill>
              <a:prstDash val="solid"/>
              <a:round/>
              <a:headEnd type="none" w="sm" len="sm"/>
              <a:tailEnd type="none" w="sm" len="sm"/>
            </a:ln>
          </p:spPr>
        </p:cxnSp>
        <p:cxnSp>
          <p:nvCxnSpPr>
            <p:cNvPr id="110" name="Google Shape;110;p22"/>
            <p:cNvCxnSpPr/>
            <p:nvPr/>
          </p:nvCxnSpPr>
          <p:spPr>
            <a:xfrm>
              <a:off x="3419872" y="836710"/>
              <a:ext cx="0" cy="5687994"/>
            </a:xfrm>
            <a:prstGeom prst="straightConnector1">
              <a:avLst/>
            </a:prstGeom>
            <a:noFill/>
            <a:ln w="9525" cap="flat" cmpd="sng">
              <a:solidFill>
                <a:srgbClr val="D8D8D8"/>
              </a:solidFill>
              <a:prstDash val="solid"/>
              <a:round/>
              <a:headEnd type="none" w="sm" len="sm"/>
              <a:tailEnd type="none" w="sm" len="sm"/>
            </a:ln>
          </p:spPr>
        </p:cxnSp>
        <p:cxnSp>
          <p:nvCxnSpPr>
            <p:cNvPr id="111" name="Google Shape;111;p22"/>
            <p:cNvCxnSpPr/>
            <p:nvPr/>
          </p:nvCxnSpPr>
          <p:spPr>
            <a:xfrm>
              <a:off x="3563888" y="836710"/>
              <a:ext cx="0" cy="5687994"/>
            </a:xfrm>
            <a:prstGeom prst="straightConnector1">
              <a:avLst/>
            </a:prstGeom>
            <a:noFill/>
            <a:ln w="9525" cap="flat" cmpd="sng">
              <a:solidFill>
                <a:srgbClr val="D8D8D8"/>
              </a:solidFill>
              <a:prstDash val="solid"/>
              <a:round/>
              <a:headEnd type="none" w="sm" len="sm"/>
              <a:tailEnd type="none" w="sm" len="sm"/>
            </a:ln>
          </p:spPr>
        </p:cxnSp>
        <p:cxnSp>
          <p:nvCxnSpPr>
            <p:cNvPr id="112" name="Google Shape;112;p22"/>
            <p:cNvCxnSpPr/>
            <p:nvPr/>
          </p:nvCxnSpPr>
          <p:spPr>
            <a:xfrm>
              <a:off x="3707904" y="836710"/>
              <a:ext cx="0" cy="5687994"/>
            </a:xfrm>
            <a:prstGeom prst="straightConnector1">
              <a:avLst/>
            </a:prstGeom>
            <a:noFill/>
            <a:ln w="9525" cap="flat" cmpd="sng">
              <a:solidFill>
                <a:srgbClr val="D8D8D8"/>
              </a:solidFill>
              <a:prstDash val="solid"/>
              <a:round/>
              <a:headEnd type="none" w="sm" len="sm"/>
              <a:tailEnd type="none" w="sm" len="sm"/>
            </a:ln>
          </p:spPr>
        </p:cxnSp>
        <p:cxnSp>
          <p:nvCxnSpPr>
            <p:cNvPr id="113" name="Google Shape;113;p22"/>
            <p:cNvCxnSpPr/>
            <p:nvPr/>
          </p:nvCxnSpPr>
          <p:spPr>
            <a:xfrm>
              <a:off x="3851920" y="836710"/>
              <a:ext cx="0" cy="5687994"/>
            </a:xfrm>
            <a:prstGeom prst="straightConnector1">
              <a:avLst/>
            </a:prstGeom>
            <a:noFill/>
            <a:ln w="9525" cap="flat" cmpd="sng">
              <a:solidFill>
                <a:srgbClr val="D8D8D8"/>
              </a:solidFill>
              <a:prstDash val="solid"/>
              <a:round/>
              <a:headEnd type="none" w="sm" len="sm"/>
              <a:tailEnd type="none" w="sm" len="sm"/>
            </a:ln>
          </p:spPr>
        </p:cxnSp>
        <p:cxnSp>
          <p:nvCxnSpPr>
            <p:cNvPr id="114" name="Google Shape;114;p22"/>
            <p:cNvCxnSpPr/>
            <p:nvPr/>
          </p:nvCxnSpPr>
          <p:spPr>
            <a:xfrm>
              <a:off x="3995936" y="836710"/>
              <a:ext cx="0" cy="5687994"/>
            </a:xfrm>
            <a:prstGeom prst="straightConnector1">
              <a:avLst/>
            </a:prstGeom>
            <a:noFill/>
            <a:ln w="9525" cap="flat" cmpd="sng">
              <a:solidFill>
                <a:srgbClr val="D8D8D8"/>
              </a:solidFill>
              <a:prstDash val="solid"/>
              <a:round/>
              <a:headEnd type="none" w="sm" len="sm"/>
              <a:tailEnd type="none" w="sm" len="sm"/>
            </a:ln>
          </p:spPr>
        </p:cxnSp>
        <p:cxnSp>
          <p:nvCxnSpPr>
            <p:cNvPr id="115" name="Google Shape;115;p22"/>
            <p:cNvCxnSpPr/>
            <p:nvPr/>
          </p:nvCxnSpPr>
          <p:spPr>
            <a:xfrm>
              <a:off x="4283968" y="836710"/>
              <a:ext cx="0" cy="5687994"/>
            </a:xfrm>
            <a:prstGeom prst="straightConnector1">
              <a:avLst/>
            </a:prstGeom>
            <a:noFill/>
            <a:ln w="9525" cap="flat" cmpd="sng">
              <a:solidFill>
                <a:srgbClr val="D8D8D8"/>
              </a:solidFill>
              <a:prstDash val="solid"/>
              <a:round/>
              <a:headEnd type="none" w="sm" len="sm"/>
              <a:tailEnd type="none" w="sm" len="sm"/>
            </a:ln>
          </p:spPr>
        </p:cxnSp>
        <p:cxnSp>
          <p:nvCxnSpPr>
            <p:cNvPr id="116" name="Google Shape;116;p22"/>
            <p:cNvCxnSpPr/>
            <p:nvPr/>
          </p:nvCxnSpPr>
          <p:spPr>
            <a:xfrm>
              <a:off x="4139952" y="836710"/>
              <a:ext cx="0" cy="5687994"/>
            </a:xfrm>
            <a:prstGeom prst="straightConnector1">
              <a:avLst/>
            </a:prstGeom>
            <a:noFill/>
            <a:ln w="9525" cap="flat" cmpd="sng">
              <a:solidFill>
                <a:srgbClr val="D8D8D8"/>
              </a:solidFill>
              <a:prstDash val="solid"/>
              <a:round/>
              <a:headEnd type="none" w="sm" len="sm"/>
              <a:tailEnd type="none" w="sm" len="sm"/>
            </a:ln>
          </p:spPr>
        </p:cxnSp>
        <p:cxnSp>
          <p:nvCxnSpPr>
            <p:cNvPr id="117" name="Google Shape;117;p22"/>
            <p:cNvCxnSpPr/>
            <p:nvPr/>
          </p:nvCxnSpPr>
          <p:spPr>
            <a:xfrm>
              <a:off x="4427984" y="836710"/>
              <a:ext cx="0" cy="5687994"/>
            </a:xfrm>
            <a:prstGeom prst="straightConnector1">
              <a:avLst/>
            </a:prstGeom>
            <a:noFill/>
            <a:ln w="9525" cap="flat" cmpd="sng">
              <a:solidFill>
                <a:srgbClr val="D8D8D8"/>
              </a:solidFill>
              <a:prstDash val="solid"/>
              <a:round/>
              <a:headEnd type="none" w="sm" len="sm"/>
              <a:tailEnd type="none" w="sm" len="sm"/>
            </a:ln>
          </p:spPr>
        </p:cxnSp>
        <p:cxnSp>
          <p:nvCxnSpPr>
            <p:cNvPr id="118" name="Google Shape;118;p22"/>
            <p:cNvCxnSpPr/>
            <p:nvPr/>
          </p:nvCxnSpPr>
          <p:spPr>
            <a:xfrm rot="10800000">
              <a:off x="396464" y="3501008"/>
              <a:ext cx="8352000" cy="0"/>
            </a:xfrm>
            <a:prstGeom prst="straightConnector1">
              <a:avLst/>
            </a:prstGeom>
            <a:noFill/>
            <a:ln w="9525" cap="flat" cmpd="sng">
              <a:solidFill>
                <a:srgbClr val="D8D8D8"/>
              </a:solidFill>
              <a:prstDash val="solid"/>
              <a:round/>
              <a:headEnd type="none" w="sm" len="sm"/>
              <a:tailEnd type="none" w="sm" len="sm"/>
            </a:ln>
          </p:spPr>
        </p:cxnSp>
        <p:cxnSp>
          <p:nvCxnSpPr>
            <p:cNvPr id="119" name="Google Shape;119;p22"/>
            <p:cNvCxnSpPr/>
            <p:nvPr/>
          </p:nvCxnSpPr>
          <p:spPr>
            <a:xfrm rot="10800000">
              <a:off x="396464" y="3356992"/>
              <a:ext cx="8352000" cy="0"/>
            </a:xfrm>
            <a:prstGeom prst="straightConnector1">
              <a:avLst/>
            </a:prstGeom>
            <a:noFill/>
            <a:ln w="9525" cap="flat" cmpd="sng">
              <a:solidFill>
                <a:srgbClr val="D8D8D8"/>
              </a:solidFill>
              <a:prstDash val="solid"/>
              <a:round/>
              <a:headEnd type="none" w="sm" len="sm"/>
              <a:tailEnd type="none" w="sm" len="sm"/>
            </a:ln>
          </p:spPr>
        </p:cxnSp>
        <p:cxnSp>
          <p:nvCxnSpPr>
            <p:cNvPr id="120" name="Google Shape;120;p22"/>
            <p:cNvCxnSpPr/>
            <p:nvPr/>
          </p:nvCxnSpPr>
          <p:spPr>
            <a:xfrm rot="10800000">
              <a:off x="396464" y="3212976"/>
              <a:ext cx="8352000" cy="0"/>
            </a:xfrm>
            <a:prstGeom prst="straightConnector1">
              <a:avLst/>
            </a:prstGeom>
            <a:noFill/>
            <a:ln w="9525" cap="flat" cmpd="sng">
              <a:solidFill>
                <a:srgbClr val="D8D8D8"/>
              </a:solidFill>
              <a:prstDash val="solid"/>
              <a:round/>
              <a:headEnd type="none" w="sm" len="sm"/>
              <a:tailEnd type="none" w="sm" len="sm"/>
            </a:ln>
          </p:spPr>
        </p:cxnSp>
        <p:cxnSp>
          <p:nvCxnSpPr>
            <p:cNvPr id="121" name="Google Shape;121;p22"/>
            <p:cNvCxnSpPr/>
            <p:nvPr/>
          </p:nvCxnSpPr>
          <p:spPr>
            <a:xfrm rot="10800000">
              <a:off x="396464" y="3068960"/>
              <a:ext cx="8352000" cy="0"/>
            </a:xfrm>
            <a:prstGeom prst="straightConnector1">
              <a:avLst/>
            </a:prstGeom>
            <a:noFill/>
            <a:ln w="9525" cap="flat" cmpd="sng">
              <a:solidFill>
                <a:srgbClr val="D8D8D8"/>
              </a:solidFill>
              <a:prstDash val="solid"/>
              <a:round/>
              <a:headEnd type="none" w="sm" len="sm"/>
              <a:tailEnd type="none" w="sm" len="sm"/>
            </a:ln>
          </p:spPr>
        </p:cxnSp>
        <p:cxnSp>
          <p:nvCxnSpPr>
            <p:cNvPr id="122" name="Google Shape;122;p22"/>
            <p:cNvCxnSpPr/>
            <p:nvPr/>
          </p:nvCxnSpPr>
          <p:spPr>
            <a:xfrm rot="10800000">
              <a:off x="396464" y="2924944"/>
              <a:ext cx="8352000" cy="0"/>
            </a:xfrm>
            <a:prstGeom prst="straightConnector1">
              <a:avLst/>
            </a:prstGeom>
            <a:noFill/>
            <a:ln w="9525" cap="flat" cmpd="sng">
              <a:solidFill>
                <a:srgbClr val="D8D8D8"/>
              </a:solidFill>
              <a:prstDash val="solid"/>
              <a:round/>
              <a:headEnd type="none" w="sm" len="sm"/>
              <a:tailEnd type="none" w="sm" len="sm"/>
            </a:ln>
          </p:spPr>
        </p:cxnSp>
        <p:cxnSp>
          <p:nvCxnSpPr>
            <p:cNvPr id="123" name="Google Shape;123;p22"/>
            <p:cNvCxnSpPr/>
            <p:nvPr/>
          </p:nvCxnSpPr>
          <p:spPr>
            <a:xfrm rot="10800000">
              <a:off x="396464" y="2780928"/>
              <a:ext cx="8352000" cy="0"/>
            </a:xfrm>
            <a:prstGeom prst="straightConnector1">
              <a:avLst/>
            </a:prstGeom>
            <a:noFill/>
            <a:ln w="9525" cap="flat" cmpd="sng">
              <a:solidFill>
                <a:srgbClr val="D8D8D8"/>
              </a:solidFill>
              <a:prstDash val="solid"/>
              <a:round/>
              <a:headEnd type="none" w="sm" len="sm"/>
              <a:tailEnd type="none" w="sm" len="sm"/>
            </a:ln>
          </p:spPr>
        </p:cxnSp>
        <p:cxnSp>
          <p:nvCxnSpPr>
            <p:cNvPr id="124" name="Google Shape;124;p22"/>
            <p:cNvCxnSpPr/>
            <p:nvPr/>
          </p:nvCxnSpPr>
          <p:spPr>
            <a:xfrm rot="10800000">
              <a:off x="396464" y="2636912"/>
              <a:ext cx="8352000" cy="0"/>
            </a:xfrm>
            <a:prstGeom prst="straightConnector1">
              <a:avLst/>
            </a:prstGeom>
            <a:noFill/>
            <a:ln w="9525" cap="flat" cmpd="sng">
              <a:solidFill>
                <a:srgbClr val="D8D8D8"/>
              </a:solidFill>
              <a:prstDash val="solid"/>
              <a:round/>
              <a:headEnd type="none" w="sm" len="sm"/>
              <a:tailEnd type="none" w="sm" len="sm"/>
            </a:ln>
          </p:spPr>
        </p:cxnSp>
        <p:cxnSp>
          <p:nvCxnSpPr>
            <p:cNvPr id="125" name="Google Shape;125;p22"/>
            <p:cNvCxnSpPr/>
            <p:nvPr/>
          </p:nvCxnSpPr>
          <p:spPr>
            <a:xfrm rot="10800000">
              <a:off x="396464" y="2492896"/>
              <a:ext cx="8352000" cy="0"/>
            </a:xfrm>
            <a:prstGeom prst="straightConnector1">
              <a:avLst/>
            </a:prstGeom>
            <a:noFill/>
            <a:ln w="9525" cap="flat" cmpd="sng">
              <a:solidFill>
                <a:srgbClr val="D8D8D8"/>
              </a:solidFill>
              <a:prstDash val="solid"/>
              <a:round/>
              <a:headEnd type="none" w="sm" len="sm"/>
              <a:tailEnd type="none" w="sm" len="sm"/>
            </a:ln>
          </p:spPr>
        </p:cxnSp>
        <p:cxnSp>
          <p:nvCxnSpPr>
            <p:cNvPr id="126" name="Google Shape;126;p22"/>
            <p:cNvCxnSpPr/>
            <p:nvPr/>
          </p:nvCxnSpPr>
          <p:spPr>
            <a:xfrm rot="10800000">
              <a:off x="396464" y="2348880"/>
              <a:ext cx="8352000" cy="0"/>
            </a:xfrm>
            <a:prstGeom prst="straightConnector1">
              <a:avLst/>
            </a:prstGeom>
            <a:noFill/>
            <a:ln w="9525" cap="flat" cmpd="sng">
              <a:solidFill>
                <a:srgbClr val="D8D8D8"/>
              </a:solidFill>
              <a:prstDash val="solid"/>
              <a:round/>
              <a:headEnd type="none" w="sm" len="sm"/>
              <a:tailEnd type="none" w="sm" len="sm"/>
            </a:ln>
          </p:spPr>
        </p:cxnSp>
        <p:cxnSp>
          <p:nvCxnSpPr>
            <p:cNvPr id="127" name="Google Shape;127;p22"/>
            <p:cNvCxnSpPr/>
            <p:nvPr/>
          </p:nvCxnSpPr>
          <p:spPr>
            <a:xfrm rot="10800000">
              <a:off x="396464" y="2204864"/>
              <a:ext cx="8352000" cy="0"/>
            </a:xfrm>
            <a:prstGeom prst="straightConnector1">
              <a:avLst/>
            </a:prstGeom>
            <a:noFill/>
            <a:ln w="9525" cap="flat" cmpd="sng">
              <a:solidFill>
                <a:srgbClr val="D8D8D8"/>
              </a:solidFill>
              <a:prstDash val="solid"/>
              <a:round/>
              <a:headEnd type="none" w="sm" len="sm"/>
              <a:tailEnd type="none" w="sm" len="sm"/>
            </a:ln>
          </p:spPr>
        </p:cxnSp>
        <p:cxnSp>
          <p:nvCxnSpPr>
            <p:cNvPr id="128" name="Google Shape;128;p22"/>
            <p:cNvCxnSpPr/>
            <p:nvPr/>
          </p:nvCxnSpPr>
          <p:spPr>
            <a:xfrm rot="10800000">
              <a:off x="396464" y="2060848"/>
              <a:ext cx="8352000" cy="0"/>
            </a:xfrm>
            <a:prstGeom prst="straightConnector1">
              <a:avLst/>
            </a:prstGeom>
            <a:noFill/>
            <a:ln w="9525" cap="flat" cmpd="sng">
              <a:solidFill>
                <a:srgbClr val="D8D8D8"/>
              </a:solidFill>
              <a:prstDash val="solid"/>
              <a:round/>
              <a:headEnd type="none" w="sm" len="sm"/>
              <a:tailEnd type="none" w="sm" len="sm"/>
            </a:ln>
          </p:spPr>
        </p:cxnSp>
        <p:cxnSp>
          <p:nvCxnSpPr>
            <p:cNvPr id="129" name="Google Shape;129;p22"/>
            <p:cNvCxnSpPr/>
            <p:nvPr/>
          </p:nvCxnSpPr>
          <p:spPr>
            <a:xfrm rot="10800000">
              <a:off x="396464" y="1916832"/>
              <a:ext cx="8352000" cy="0"/>
            </a:xfrm>
            <a:prstGeom prst="straightConnector1">
              <a:avLst/>
            </a:prstGeom>
            <a:noFill/>
            <a:ln w="9525" cap="flat" cmpd="sng">
              <a:solidFill>
                <a:srgbClr val="D8D8D8"/>
              </a:solidFill>
              <a:prstDash val="solid"/>
              <a:round/>
              <a:headEnd type="none" w="sm" len="sm"/>
              <a:tailEnd type="none" w="sm" len="sm"/>
            </a:ln>
          </p:spPr>
        </p:cxnSp>
        <p:cxnSp>
          <p:nvCxnSpPr>
            <p:cNvPr id="130" name="Google Shape;130;p22"/>
            <p:cNvCxnSpPr/>
            <p:nvPr/>
          </p:nvCxnSpPr>
          <p:spPr>
            <a:xfrm rot="10800000">
              <a:off x="396464" y="1772816"/>
              <a:ext cx="8352000" cy="0"/>
            </a:xfrm>
            <a:prstGeom prst="straightConnector1">
              <a:avLst/>
            </a:prstGeom>
            <a:noFill/>
            <a:ln w="9525" cap="flat" cmpd="sng">
              <a:solidFill>
                <a:srgbClr val="D8D8D8"/>
              </a:solidFill>
              <a:prstDash val="solid"/>
              <a:round/>
              <a:headEnd type="none" w="sm" len="sm"/>
              <a:tailEnd type="none" w="sm" len="sm"/>
            </a:ln>
          </p:spPr>
        </p:cxnSp>
        <p:cxnSp>
          <p:nvCxnSpPr>
            <p:cNvPr id="131" name="Google Shape;131;p22"/>
            <p:cNvCxnSpPr/>
            <p:nvPr/>
          </p:nvCxnSpPr>
          <p:spPr>
            <a:xfrm rot="10800000">
              <a:off x="396464" y="1628800"/>
              <a:ext cx="8352000" cy="0"/>
            </a:xfrm>
            <a:prstGeom prst="straightConnector1">
              <a:avLst/>
            </a:prstGeom>
            <a:noFill/>
            <a:ln w="9525" cap="flat" cmpd="sng">
              <a:solidFill>
                <a:srgbClr val="D8D8D8"/>
              </a:solidFill>
              <a:prstDash val="solid"/>
              <a:round/>
              <a:headEnd type="none" w="sm" len="sm"/>
              <a:tailEnd type="none" w="sm" len="sm"/>
            </a:ln>
          </p:spPr>
        </p:cxnSp>
        <p:cxnSp>
          <p:nvCxnSpPr>
            <p:cNvPr id="132" name="Google Shape;132;p22"/>
            <p:cNvCxnSpPr/>
            <p:nvPr/>
          </p:nvCxnSpPr>
          <p:spPr>
            <a:xfrm rot="10800000">
              <a:off x="396464" y="1484784"/>
              <a:ext cx="8352000" cy="0"/>
            </a:xfrm>
            <a:prstGeom prst="straightConnector1">
              <a:avLst/>
            </a:prstGeom>
            <a:noFill/>
            <a:ln w="9525" cap="flat" cmpd="sng">
              <a:solidFill>
                <a:srgbClr val="D8D8D8"/>
              </a:solidFill>
              <a:prstDash val="solid"/>
              <a:round/>
              <a:headEnd type="none" w="sm" len="sm"/>
              <a:tailEnd type="none" w="sm" len="sm"/>
            </a:ln>
          </p:spPr>
        </p:cxnSp>
        <p:cxnSp>
          <p:nvCxnSpPr>
            <p:cNvPr id="133" name="Google Shape;133;p22"/>
            <p:cNvCxnSpPr/>
            <p:nvPr/>
          </p:nvCxnSpPr>
          <p:spPr>
            <a:xfrm rot="10800000">
              <a:off x="396464" y="1340768"/>
              <a:ext cx="8352000" cy="0"/>
            </a:xfrm>
            <a:prstGeom prst="straightConnector1">
              <a:avLst/>
            </a:prstGeom>
            <a:noFill/>
            <a:ln w="9525" cap="flat" cmpd="sng">
              <a:solidFill>
                <a:srgbClr val="D8D8D8"/>
              </a:solidFill>
              <a:prstDash val="solid"/>
              <a:round/>
              <a:headEnd type="none" w="sm" len="sm"/>
              <a:tailEnd type="none" w="sm" len="sm"/>
            </a:ln>
          </p:spPr>
        </p:cxnSp>
        <p:cxnSp>
          <p:nvCxnSpPr>
            <p:cNvPr id="134" name="Google Shape;134;p22"/>
            <p:cNvCxnSpPr/>
            <p:nvPr/>
          </p:nvCxnSpPr>
          <p:spPr>
            <a:xfrm rot="10800000">
              <a:off x="396464" y="1196752"/>
              <a:ext cx="8352000" cy="0"/>
            </a:xfrm>
            <a:prstGeom prst="straightConnector1">
              <a:avLst/>
            </a:prstGeom>
            <a:noFill/>
            <a:ln w="9525" cap="flat" cmpd="sng">
              <a:solidFill>
                <a:srgbClr val="D8D8D8"/>
              </a:solidFill>
              <a:prstDash val="solid"/>
              <a:round/>
              <a:headEnd type="none" w="sm" len="sm"/>
              <a:tailEnd type="none" w="sm" len="sm"/>
            </a:ln>
          </p:spPr>
        </p:cxnSp>
        <p:cxnSp>
          <p:nvCxnSpPr>
            <p:cNvPr id="135" name="Google Shape;135;p22"/>
            <p:cNvCxnSpPr/>
            <p:nvPr/>
          </p:nvCxnSpPr>
          <p:spPr>
            <a:xfrm rot="10800000">
              <a:off x="396464" y="1052736"/>
              <a:ext cx="8352000" cy="0"/>
            </a:xfrm>
            <a:prstGeom prst="straightConnector1">
              <a:avLst/>
            </a:prstGeom>
            <a:noFill/>
            <a:ln w="9525" cap="flat" cmpd="sng">
              <a:solidFill>
                <a:srgbClr val="D8D8D8"/>
              </a:solidFill>
              <a:prstDash val="solid"/>
              <a:round/>
              <a:headEnd type="none" w="sm" len="sm"/>
              <a:tailEnd type="none" w="sm" len="sm"/>
            </a:ln>
          </p:spPr>
        </p:cxnSp>
        <p:cxnSp>
          <p:nvCxnSpPr>
            <p:cNvPr id="136" name="Google Shape;136;p22"/>
            <p:cNvCxnSpPr/>
            <p:nvPr/>
          </p:nvCxnSpPr>
          <p:spPr>
            <a:xfrm rot="10800000">
              <a:off x="395536" y="3789040"/>
              <a:ext cx="8351992" cy="0"/>
            </a:xfrm>
            <a:prstGeom prst="straightConnector1">
              <a:avLst/>
            </a:prstGeom>
            <a:noFill/>
            <a:ln w="9525" cap="flat" cmpd="sng">
              <a:solidFill>
                <a:srgbClr val="D8D8D8"/>
              </a:solidFill>
              <a:prstDash val="solid"/>
              <a:round/>
              <a:headEnd type="none" w="sm" len="sm"/>
              <a:tailEnd type="none" w="sm" len="sm"/>
            </a:ln>
          </p:spPr>
        </p:cxnSp>
        <p:cxnSp>
          <p:nvCxnSpPr>
            <p:cNvPr id="137" name="Google Shape;137;p22"/>
            <p:cNvCxnSpPr/>
            <p:nvPr/>
          </p:nvCxnSpPr>
          <p:spPr>
            <a:xfrm rot="10800000">
              <a:off x="395536" y="4221088"/>
              <a:ext cx="8351992" cy="0"/>
            </a:xfrm>
            <a:prstGeom prst="straightConnector1">
              <a:avLst/>
            </a:prstGeom>
            <a:noFill/>
            <a:ln w="9525" cap="flat" cmpd="sng">
              <a:solidFill>
                <a:srgbClr val="D8D8D8"/>
              </a:solidFill>
              <a:prstDash val="solid"/>
              <a:round/>
              <a:headEnd type="none" w="sm" len="sm"/>
              <a:tailEnd type="none" w="sm" len="sm"/>
            </a:ln>
          </p:spPr>
        </p:cxnSp>
        <p:cxnSp>
          <p:nvCxnSpPr>
            <p:cNvPr id="138" name="Google Shape;138;p22"/>
            <p:cNvCxnSpPr/>
            <p:nvPr/>
          </p:nvCxnSpPr>
          <p:spPr>
            <a:xfrm rot="10800000">
              <a:off x="395536" y="4077072"/>
              <a:ext cx="8351992" cy="0"/>
            </a:xfrm>
            <a:prstGeom prst="straightConnector1">
              <a:avLst/>
            </a:prstGeom>
            <a:noFill/>
            <a:ln w="9525" cap="flat" cmpd="sng">
              <a:solidFill>
                <a:srgbClr val="D8D8D8"/>
              </a:solidFill>
              <a:prstDash val="solid"/>
              <a:round/>
              <a:headEnd type="none" w="sm" len="sm"/>
              <a:tailEnd type="none" w="sm" len="sm"/>
            </a:ln>
          </p:spPr>
        </p:cxnSp>
        <p:cxnSp>
          <p:nvCxnSpPr>
            <p:cNvPr id="139" name="Google Shape;139;p22"/>
            <p:cNvCxnSpPr/>
            <p:nvPr/>
          </p:nvCxnSpPr>
          <p:spPr>
            <a:xfrm rot="10800000">
              <a:off x="395536" y="3933056"/>
              <a:ext cx="8351992" cy="0"/>
            </a:xfrm>
            <a:prstGeom prst="straightConnector1">
              <a:avLst/>
            </a:prstGeom>
            <a:noFill/>
            <a:ln w="9525" cap="flat" cmpd="sng">
              <a:solidFill>
                <a:srgbClr val="D8D8D8"/>
              </a:solidFill>
              <a:prstDash val="solid"/>
              <a:round/>
              <a:headEnd type="none" w="sm" len="sm"/>
              <a:tailEnd type="none" w="sm" len="sm"/>
            </a:ln>
          </p:spPr>
        </p:cxnSp>
        <p:cxnSp>
          <p:nvCxnSpPr>
            <p:cNvPr id="140" name="Google Shape;140;p22"/>
            <p:cNvCxnSpPr/>
            <p:nvPr/>
          </p:nvCxnSpPr>
          <p:spPr>
            <a:xfrm rot="10800000">
              <a:off x="395536" y="4653136"/>
              <a:ext cx="8351992" cy="0"/>
            </a:xfrm>
            <a:prstGeom prst="straightConnector1">
              <a:avLst/>
            </a:prstGeom>
            <a:noFill/>
            <a:ln w="9525" cap="flat" cmpd="sng">
              <a:solidFill>
                <a:srgbClr val="D8D8D8"/>
              </a:solidFill>
              <a:prstDash val="solid"/>
              <a:round/>
              <a:headEnd type="none" w="sm" len="sm"/>
              <a:tailEnd type="none" w="sm" len="sm"/>
            </a:ln>
          </p:spPr>
        </p:cxnSp>
        <p:cxnSp>
          <p:nvCxnSpPr>
            <p:cNvPr id="141" name="Google Shape;141;p22"/>
            <p:cNvCxnSpPr/>
            <p:nvPr/>
          </p:nvCxnSpPr>
          <p:spPr>
            <a:xfrm rot="10800000">
              <a:off x="395536" y="4509120"/>
              <a:ext cx="8351992" cy="0"/>
            </a:xfrm>
            <a:prstGeom prst="straightConnector1">
              <a:avLst/>
            </a:prstGeom>
            <a:noFill/>
            <a:ln w="9525" cap="flat" cmpd="sng">
              <a:solidFill>
                <a:srgbClr val="D8D8D8"/>
              </a:solidFill>
              <a:prstDash val="solid"/>
              <a:round/>
              <a:headEnd type="none" w="sm" len="sm"/>
              <a:tailEnd type="none" w="sm" len="sm"/>
            </a:ln>
          </p:spPr>
        </p:cxnSp>
        <p:cxnSp>
          <p:nvCxnSpPr>
            <p:cNvPr id="142" name="Google Shape;142;p22"/>
            <p:cNvCxnSpPr/>
            <p:nvPr/>
          </p:nvCxnSpPr>
          <p:spPr>
            <a:xfrm rot="10800000">
              <a:off x="395536" y="4365104"/>
              <a:ext cx="8351992" cy="0"/>
            </a:xfrm>
            <a:prstGeom prst="straightConnector1">
              <a:avLst/>
            </a:prstGeom>
            <a:noFill/>
            <a:ln w="9525" cap="flat" cmpd="sng">
              <a:solidFill>
                <a:srgbClr val="D8D8D8"/>
              </a:solidFill>
              <a:prstDash val="solid"/>
              <a:round/>
              <a:headEnd type="none" w="sm" len="sm"/>
              <a:tailEnd type="none" w="sm" len="sm"/>
            </a:ln>
          </p:spPr>
        </p:cxnSp>
        <p:cxnSp>
          <p:nvCxnSpPr>
            <p:cNvPr id="143" name="Google Shape;143;p22"/>
            <p:cNvCxnSpPr/>
            <p:nvPr/>
          </p:nvCxnSpPr>
          <p:spPr>
            <a:xfrm rot="10800000">
              <a:off x="395536" y="5085184"/>
              <a:ext cx="8351992" cy="0"/>
            </a:xfrm>
            <a:prstGeom prst="straightConnector1">
              <a:avLst/>
            </a:prstGeom>
            <a:noFill/>
            <a:ln w="9525" cap="flat" cmpd="sng">
              <a:solidFill>
                <a:srgbClr val="D8D8D8"/>
              </a:solidFill>
              <a:prstDash val="solid"/>
              <a:round/>
              <a:headEnd type="none" w="sm" len="sm"/>
              <a:tailEnd type="none" w="sm" len="sm"/>
            </a:ln>
          </p:spPr>
        </p:cxnSp>
        <p:cxnSp>
          <p:nvCxnSpPr>
            <p:cNvPr id="144" name="Google Shape;144;p22"/>
            <p:cNvCxnSpPr/>
            <p:nvPr/>
          </p:nvCxnSpPr>
          <p:spPr>
            <a:xfrm rot="10800000">
              <a:off x="395536" y="4941168"/>
              <a:ext cx="8351992" cy="0"/>
            </a:xfrm>
            <a:prstGeom prst="straightConnector1">
              <a:avLst/>
            </a:prstGeom>
            <a:noFill/>
            <a:ln w="9525" cap="flat" cmpd="sng">
              <a:solidFill>
                <a:srgbClr val="D8D8D8"/>
              </a:solidFill>
              <a:prstDash val="solid"/>
              <a:round/>
              <a:headEnd type="none" w="sm" len="sm"/>
              <a:tailEnd type="none" w="sm" len="sm"/>
            </a:ln>
          </p:spPr>
        </p:cxnSp>
        <p:cxnSp>
          <p:nvCxnSpPr>
            <p:cNvPr id="145" name="Google Shape;145;p22"/>
            <p:cNvCxnSpPr/>
            <p:nvPr/>
          </p:nvCxnSpPr>
          <p:spPr>
            <a:xfrm rot="10800000">
              <a:off x="395536" y="4797152"/>
              <a:ext cx="8351992" cy="0"/>
            </a:xfrm>
            <a:prstGeom prst="straightConnector1">
              <a:avLst/>
            </a:prstGeom>
            <a:noFill/>
            <a:ln w="9525" cap="flat" cmpd="sng">
              <a:solidFill>
                <a:srgbClr val="D8D8D8"/>
              </a:solidFill>
              <a:prstDash val="solid"/>
              <a:round/>
              <a:headEnd type="none" w="sm" len="sm"/>
              <a:tailEnd type="none" w="sm" len="sm"/>
            </a:ln>
          </p:spPr>
        </p:cxnSp>
        <p:cxnSp>
          <p:nvCxnSpPr>
            <p:cNvPr id="146" name="Google Shape;146;p22"/>
            <p:cNvCxnSpPr/>
            <p:nvPr/>
          </p:nvCxnSpPr>
          <p:spPr>
            <a:xfrm rot="10800000">
              <a:off x="395536" y="5517232"/>
              <a:ext cx="8351992" cy="0"/>
            </a:xfrm>
            <a:prstGeom prst="straightConnector1">
              <a:avLst/>
            </a:prstGeom>
            <a:noFill/>
            <a:ln w="9525" cap="flat" cmpd="sng">
              <a:solidFill>
                <a:srgbClr val="D8D8D8"/>
              </a:solidFill>
              <a:prstDash val="solid"/>
              <a:round/>
              <a:headEnd type="none" w="sm" len="sm"/>
              <a:tailEnd type="none" w="sm" len="sm"/>
            </a:ln>
          </p:spPr>
        </p:cxnSp>
        <p:cxnSp>
          <p:nvCxnSpPr>
            <p:cNvPr id="147" name="Google Shape;147;p22"/>
            <p:cNvCxnSpPr/>
            <p:nvPr/>
          </p:nvCxnSpPr>
          <p:spPr>
            <a:xfrm rot="10800000">
              <a:off x="395536" y="5373216"/>
              <a:ext cx="8351992" cy="0"/>
            </a:xfrm>
            <a:prstGeom prst="straightConnector1">
              <a:avLst/>
            </a:prstGeom>
            <a:noFill/>
            <a:ln w="9525" cap="flat" cmpd="sng">
              <a:solidFill>
                <a:srgbClr val="D8D8D8"/>
              </a:solidFill>
              <a:prstDash val="solid"/>
              <a:round/>
              <a:headEnd type="none" w="sm" len="sm"/>
              <a:tailEnd type="none" w="sm" len="sm"/>
            </a:ln>
          </p:spPr>
        </p:cxnSp>
        <p:cxnSp>
          <p:nvCxnSpPr>
            <p:cNvPr id="148" name="Google Shape;148;p22"/>
            <p:cNvCxnSpPr/>
            <p:nvPr/>
          </p:nvCxnSpPr>
          <p:spPr>
            <a:xfrm rot="10800000">
              <a:off x="395536" y="5229200"/>
              <a:ext cx="8351992" cy="0"/>
            </a:xfrm>
            <a:prstGeom prst="straightConnector1">
              <a:avLst/>
            </a:prstGeom>
            <a:noFill/>
            <a:ln w="9525" cap="flat" cmpd="sng">
              <a:solidFill>
                <a:srgbClr val="D8D8D8"/>
              </a:solidFill>
              <a:prstDash val="solid"/>
              <a:round/>
              <a:headEnd type="none" w="sm" len="sm"/>
              <a:tailEnd type="none" w="sm" len="sm"/>
            </a:ln>
          </p:spPr>
        </p:cxnSp>
        <p:cxnSp>
          <p:nvCxnSpPr>
            <p:cNvPr id="149" name="Google Shape;149;p22"/>
            <p:cNvCxnSpPr/>
            <p:nvPr/>
          </p:nvCxnSpPr>
          <p:spPr>
            <a:xfrm rot="10800000">
              <a:off x="395536" y="5949280"/>
              <a:ext cx="8351992" cy="0"/>
            </a:xfrm>
            <a:prstGeom prst="straightConnector1">
              <a:avLst/>
            </a:prstGeom>
            <a:noFill/>
            <a:ln w="9525" cap="flat" cmpd="sng">
              <a:solidFill>
                <a:srgbClr val="D8D8D8"/>
              </a:solidFill>
              <a:prstDash val="solid"/>
              <a:round/>
              <a:headEnd type="none" w="sm" len="sm"/>
              <a:tailEnd type="none" w="sm" len="sm"/>
            </a:ln>
          </p:spPr>
        </p:cxnSp>
        <p:cxnSp>
          <p:nvCxnSpPr>
            <p:cNvPr id="150" name="Google Shape;150;p22"/>
            <p:cNvCxnSpPr/>
            <p:nvPr/>
          </p:nvCxnSpPr>
          <p:spPr>
            <a:xfrm rot="10800000">
              <a:off x="395536" y="5805264"/>
              <a:ext cx="8351992" cy="0"/>
            </a:xfrm>
            <a:prstGeom prst="straightConnector1">
              <a:avLst/>
            </a:prstGeom>
            <a:noFill/>
            <a:ln w="9525" cap="flat" cmpd="sng">
              <a:solidFill>
                <a:srgbClr val="D8D8D8"/>
              </a:solidFill>
              <a:prstDash val="solid"/>
              <a:round/>
              <a:headEnd type="none" w="sm" len="sm"/>
              <a:tailEnd type="none" w="sm" len="sm"/>
            </a:ln>
          </p:spPr>
        </p:cxnSp>
        <p:cxnSp>
          <p:nvCxnSpPr>
            <p:cNvPr id="151" name="Google Shape;151;p22"/>
            <p:cNvCxnSpPr/>
            <p:nvPr/>
          </p:nvCxnSpPr>
          <p:spPr>
            <a:xfrm rot="10800000">
              <a:off x="395536" y="5661248"/>
              <a:ext cx="8351992" cy="0"/>
            </a:xfrm>
            <a:prstGeom prst="straightConnector1">
              <a:avLst/>
            </a:prstGeom>
            <a:noFill/>
            <a:ln w="9525" cap="flat" cmpd="sng">
              <a:solidFill>
                <a:srgbClr val="D8D8D8"/>
              </a:solidFill>
              <a:prstDash val="solid"/>
              <a:round/>
              <a:headEnd type="none" w="sm" len="sm"/>
              <a:tailEnd type="none" w="sm" len="sm"/>
            </a:ln>
          </p:spPr>
        </p:cxnSp>
        <p:cxnSp>
          <p:nvCxnSpPr>
            <p:cNvPr id="152" name="Google Shape;152;p22"/>
            <p:cNvCxnSpPr/>
            <p:nvPr/>
          </p:nvCxnSpPr>
          <p:spPr>
            <a:xfrm rot="10800000">
              <a:off x="395536" y="6381328"/>
              <a:ext cx="8351992" cy="0"/>
            </a:xfrm>
            <a:prstGeom prst="straightConnector1">
              <a:avLst/>
            </a:prstGeom>
            <a:noFill/>
            <a:ln w="9525" cap="flat" cmpd="sng">
              <a:solidFill>
                <a:srgbClr val="D8D8D8"/>
              </a:solidFill>
              <a:prstDash val="solid"/>
              <a:round/>
              <a:headEnd type="none" w="sm" len="sm"/>
              <a:tailEnd type="none" w="sm" len="sm"/>
            </a:ln>
          </p:spPr>
        </p:cxnSp>
        <p:cxnSp>
          <p:nvCxnSpPr>
            <p:cNvPr id="153" name="Google Shape;153;p22"/>
            <p:cNvCxnSpPr/>
            <p:nvPr/>
          </p:nvCxnSpPr>
          <p:spPr>
            <a:xfrm rot="10800000">
              <a:off x="395536" y="6237312"/>
              <a:ext cx="8351992" cy="0"/>
            </a:xfrm>
            <a:prstGeom prst="straightConnector1">
              <a:avLst/>
            </a:prstGeom>
            <a:noFill/>
            <a:ln w="9525" cap="flat" cmpd="sng">
              <a:solidFill>
                <a:srgbClr val="D8D8D8"/>
              </a:solidFill>
              <a:prstDash val="solid"/>
              <a:round/>
              <a:headEnd type="none" w="sm" len="sm"/>
              <a:tailEnd type="none" w="sm" len="sm"/>
            </a:ln>
          </p:spPr>
        </p:cxnSp>
        <p:cxnSp>
          <p:nvCxnSpPr>
            <p:cNvPr id="154" name="Google Shape;154;p22"/>
            <p:cNvCxnSpPr/>
            <p:nvPr/>
          </p:nvCxnSpPr>
          <p:spPr>
            <a:xfrm rot="10800000">
              <a:off x="395536" y="6093296"/>
              <a:ext cx="8351992" cy="0"/>
            </a:xfrm>
            <a:prstGeom prst="straightConnector1">
              <a:avLst/>
            </a:prstGeom>
            <a:noFill/>
            <a:ln w="9525" cap="flat" cmpd="sng">
              <a:solidFill>
                <a:srgbClr val="D8D8D8"/>
              </a:solidFill>
              <a:prstDash val="solid"/>
              <a:round/>
              <a:headEnd type="none" w="sm" len="sm"/>
              <a:tailEnd type="none" w="sm" len="sm"/>
            </a:ln>
          </p:spPr>
        </p:cxnSp>
        <p:cxnSp>
          <p:nvCxnSpPr>
            <p:cNvPr id="155" name="Google Shape;155;p22"/>
            <p:cNvCxnSpPr/>
            <p:nvPr/>
          </p:nvCxnSpPr>
          <p:spPr>
            <a:xfrm rot="10800000">
              <a:off x="396464" y="908720"/>
              <a:ext cx="8352000" cy="0"/>
            </a:xfrm>
            <a:prstGeom prst="straightConnector1">
              <a:avLst/>
            </a:prstGeom>
            <a:noFill/>
            <a:ln w="9525" cap="flat" cmpd="sng">
              <a:solidFill>
                <a:srgbClr val="D8D8D8"/>
              </a:solidFill>
              <a:prstDash val="solid"/>
              <a:round/>
              <a:headEnd type="none" w="sm" len="sm"/>
              <a:tailEnd type="none" w="sm" len="sm"/>
            </a:ln>
          </p:spPr>
        </p:cxnSp>
        <p:sp>
          <p:nvSpPr>
            <p:cNvPr id="156" name="Google Shape;156;p22"/>
            <p:cNvSpPr/>
            <p:nvPr/>
          </p:nvSpPr>
          <p:spPr>
            <a:xfrm>
              <a:off x="395536" y="836710"/>
              <a:ext cx="8352929" cy="5688633"/>
            </a:xfrm>
            <a:prstGeom prst="rect">
              <a:avLst/>
            </a:prstGeom>
            <a:noFill/>
            <a:ln w="12700" cap="flat" cmpd="sng">
              <a:solidFill>
                <a:srgbClr val="D8D8D8"/>
              </a:solidFill>
              <a:prstDash val="solid"/>
              <a:round/>
              <a:headEnd type="none" w="sm" len="sm"/>
              <a:tailEnd type="none" w="sm" len="sm"/>
            </a:ln>
          </p:spPr>
          <p:txBody>
            <a:bodyPr spcFirstLastPara="1" wrap="square" lIns="0" tIns="0" rIns="0" bIns="0" anchor="b" anchorCtr="0">
              <a:noAutofit/>
            </a:bodyPr>
            <a:lstStyle/>
            <a:p>
              <a:pPr marL="0" marR="0" lvl="0" indent="0" algn="r" rtl="0">
                <a:lnSpc>
                  <a:spcPct val="94736"/>
                </a:lnSpc>
                <a:spcBef>
                  <a:spcPts val="0"/>
                </a:spcBef>
                <a:spcAft>
                  <a:spcPts val="0"/>
                </a:spcAft>
                <a:buNone/>
              </a:pPr>
              <a:endParaRPr sz="950">
                <a:solidFill>
                  <a:srgbClr val="404E0A"/>
                </a:solidFill>
                <a:latin typeface="Arial"/>
                <a:ea typeface="Arial"/>
                <a:cs typeface="Arial"/>
                <a:sym typeface="Arial"/>
              </a:endParaRPr>
            </a:p>
          </p:txBody>
        </p:sp>
        <p:cxnSp>
          <p:nvCxnSpPr>
            <p:cNvPr id="157" name="Google Shape;157;p22"/>
            <p:cNvCxnSpPr>
              <a:stCxn id="156" idx="0"/>
              <a:endCxn id="156" idx="2"/>
            </p:cNvCxnSpPr>
            <p:nvPr/>
          </p:nvCxnSpPr>
          <p:spPr>
            <a:xfrm>
              <a:off x="4572001" y="836710"/>
              <a:ext cx="0" cy="5688600"/>
            </a:xfrm>
            <a:prstGeom prst="straightConnector1">
              <a:avLst/>
            </a:prstGeom>
            <a:noFill/>
            <a:ln w="12700" cap="flat" cmpd="sng">
              <a:solidFill>
                <a:srgbClr val="D8D8D8"/>
              </a:solidFill>
              <a:prstDash val="solid"/>
              <a:round/>
              <a:headEnd type="none" w="sm" len="sm"/>
              <a:tailEnd type="none" w="sm" len="sm"/>
            </a:ln>
          </p:spPr>
        </p:cxnSp>
        <p:cxnSp>
          <p:nvCxnSpPr>
            <p:cNvPr id="158" name="Google Shape;158;p22"/>
            <p:cNvCxnSpPr/>
            <p:nvPr/>
          </p:nvCxnSpPr>
          <p:spPr>
            <a:xfrm rot="10800000">
              <a:off x="396464" y="3645344"/>
              <a:ext cx="8352000" cy="0"/>
            </a:xfrm>
            <a:prstGeom prst="straightConnector1">
              <a:avLst/>
            </a:prstGeom>
            <a:noFill/>
            <a:ln w="12700" cap="flat" cmpd="sng">
              <a:solidFill>
                <a:srgbClr val="D8D8D8"/>
              </a:solidFill>
              <a:prstDash val="solid"/>
              <a:round/>
              <a:headEnd type="none" w="sm" len="sm"/>
              <a:tailEnd type="none" w="sm" len="sm"/>
            </a:ln>
          </p:spPr>
        </p:cxnSp>
      </p:grpSp>
      <p:sp>
        <p:nvSpPr>
          <p:cNvPr id="159" name="Google Shape;159;p22"/>
          <p:cNvSpPr txBox="1">
            <a:spLocks noGrp="1"/>
          </p:cNvSpPr>
          <p:nvPr>
            <p:ph type="title"/>
          </p:nvPr>
        </p:nvSpPr>
        <p:spPr>
          <a:xfrm>
            <a:off x="395536" y="332655"/>
            <a:ext cx="6696744" cy="288033"/>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b="1"/>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matchingName="33_タイトルとコンテンツ">
  <p:cSld name="33_タイトルとコンテンツ">
    <p:spTree>
      <p:nvGrpSpPr>
        <p:cNvPr id="1" name="Shape 169"/>
        <p:cNvGrpSpPr/>
        <p:nvPr/>
      </p:nvGrpSpPr>
      <p:grpSpPr>
        <a:xfrm>
          <a:off x="0" y="0"/>
          <a:ext cx="0" cy="0"/>
          <a:chOff x="0" y="0"/>
          <a:chExt cx="0" cy="0"/>
        </a:xfrm>
      </p:grpSpPr>
      <p:pic>
        <p:nvPicPr>
          <p:cNvPr id="170" name="Google Shape;170;p24"/>
          <p:cNvPicPr preferRelativeResize="0"/>
          <p:nvPr/>
        </p:nvPicPr>
        <p:blipFill rotWithShape="1">
          <a:blip r:embed="rId2">
            <a:alphaModFix/>
          </a:blip>
          <a:srcRect/>
          <a:stretch/>
        </p:blipFill>
        <p:spPr>
          <a:xfrm>
            <a:off x="-1587" y="-2704"/>
            <a:ext cx="9144000" cy="6096000"/>
          </a:xfrm>
          <a:prstGeom prst="rect">
            <a:avLst/>
          </a:prstGeom>
          <a:noFill/>
          <a:ln>
            <a:noFill/>
          </a:ln>
        </p:spPr>
      </p:pic>
      <p:sp>
        <p:nvSpPr>
          <p:cNvPr id="171" name="Google Shape;171;p24"/>
          <p:cNvSpPr/>
          <p:nvPr/>
        </p:nvSpPr>
        <p:spPr>
          <a:xfrm>
            <a:off x="-4749" y="3293608"/>
            <a:ext cx="9147839" cy="3570058"/>
          </a:xfrm>
          <a:custGeom>
            <a:avLst/>
            <a:gdLst/>
            <a:ahLst/>
            <a:cxnLst/>
            <a:rect l="l" t="t" r="r" b="b"/>
            <a:pathLst>
              <a:path w="9147839" h="3570058" extrusionOk="0">
                <a:moveTo>
                  <a:pt x="4209642" y="0"/>
                </a:moveTo>
                <a:lnTo>
                  <a:pt x="9147839" y="1854200"/>
                </a:lnTo>
                <a:lnTo>
                  <a:pt x="9147839" y="3566886"/>
                </a:lnTo>
                <a:lnTo>
                  <a:pt x="0" y="3570058"/>
                </a:lnTo>
                <a:lnTo>
                  <a:pt x="0" y="2794989"/>
                </a:lnTo>
                <a:lnTo>
                  <a:pt x="4209642" y="0"/>
                </a:lnTo>
                <a:close/>
              </a:path>
            </a:pathLst>
          </a:custGeom>
          <a:gradFill>
            <a:gsLst>
              <a:gs pos="0">
                <a:srgbClr val="176E65">
                  <a:alpha val="90196"/>
                </a:srgbClr>
              </a:gs>
              <a:gs pos="51000">
                <a:srgbClr val="176E65">
                  <a:alpha val="90196"/>
                </a:srgbClr>
              </a:gs>
              <a:gs pos="79000">
                <a:srgbClr val="006057"/>
              </a:gs>
              <a:gs pos="93000">
                <a:srgbClr val="005C55"/>
              </a:gs>
              <a:gs pos="100000">
                <a:srgbClr val="005C55"/>
              </a:gs>
            </a:gsLst>
            <a:lin ang="5400000" scaled="0"/>
          </a:gradFill>
          <a:ln>
            <a:noFill/>
          </a:ln>
        </p:spPr>
        <p:txBody>
          <a:bodyPr spcFirstLastPara="1" wrap="square" lIns="72000" tIns="36000" rIns="72000" bIns="36000" anchor="ctr" anchorCtr="0">
            <a:noAutofit/>
          </a:bodyPr>
          <a:lstStyle/>
          <a:p>
            <a:pPr marL="0" marR="0" lvl="0" indent="0" algn="ctr" rtl="0">
              <a:spcBef>
                <a:spcPts val="0"/>
              </a:spcBef>
              <a:spcAft>
                <a:spcPts val="0"/>
              </a:spcAft>
              <a:buNone/>
            </a:pPr>
            <a:endParaRPr sz="1200">
              <a:solidFill>
                <a:schemeClr val="dk1"/>
              </a:solidFill>
              <a:latin typeface="Arial"/>
              <a:ea typeface="Arial"/>
              <a:cs typeface="Arial"/>
              <a:sym typeface="Arial"/>
            </a:endParaRPr>
          </a:p>
        </p:txBody>
      </p:sp>
      <p:sp>
        <p:nvSpPr>
          <p:cNvPr id="172" name="Google Shape;172;p24"/>
          <p:cNvSpPr/>
          <p:nvPr/>
        </p:nvSpPr>
        <p:spPr>
          <a:xfrm>
            <a:off x="0" y="1698171"/>
            <a:ext cx="4206240" cy="4388367"/>
          </a:xfrm>
          <a:custGeom>
            <a:avLst/>
            <a:gdLst/>
            <a:ahLst/>
            <a:cxnLst/>
            <a:rect l="l" t="t" r="r" b="b"/>
            <a:pathLst>
              <a:path w="4206240" h="4388367" extrusionOk="0">
                <a:moveTo>
                  <a:pt x="4206240" y="1596935"/>
                </a:moveTo>
                <a:lnTo>
                  <a:pt x="0" y="4388367"/>
                </a:lnTo>
                <a:lnTo>
                  <a:pt x="0" y="0"/>
                </a:lnTo>
                <a:lnTo>
                  <a:pt x="4206240" y="1596935"/>
                </a:lnTo>
                <a:close/>
              </a:path>
            </a:pathLst>
          </a:custGeom>
          <a:solidFill>
            <a:srgbClr val="66A09A">
              <a:alpha val="90196"/>
            </a:srgbClr>
          </a:solidFill>
          <a:ln>
            <a:noFill/>
          </a:ln>
        </p:spPr>
        <p:txBody>
          <a:bodyPr spcFirstLastPara="1" wrap="square" lIns="0" tIns="0" rIns="0" bIns="0" anchor="b" anchorCtr="0">
            <a:noAutofit/>
          </a:bodyPr>
          <a:lstStyle/>
          <a:p>
            <a:pPr marL="0" marR="0" lvl="0" indent="0" algn="r" rtl="0">
              <a:lnSpc>
                <a:spcPct val="94736"/>
              </a:lnSpc>
              <a:spcBef>
                <a:spcPts val="0"/>
              </a:spcBef>
              <a:spcAft>
                <a:spcPts val="0"/>
              </a:spcAft>
              <a:buNone/>
            </a:pPr>
            <a:endParaRPr sz="950">
              <a:solidFill>
                <a:srgbClr val="404E0A"/>
              </a:solidFill>
              <a:latin typeface="Arial"/>
              <a:ea typeface="Arial"/>
              <a:cs typeface="Arial"/>
              <a:sym typeface="Arial"/>
            </a:endParaRPr>
          </a:p>
        </p:txBody>
      </p:sp>
      <p:sp>
        <p:nvSpPr>
          <p:cNvPr id="173" name="Google Shape;173;p24"/>
          <p:cNvSpPr/>
          <p:nvPr/>
        </p:nvSpPr>
        <p:spPr>
          <a:xfrm>
            <a:off x="12698" y="-5518"/>
            <a:ext cx="9110863" cy="3307645"/>
          </a:xfrm>
          <a:custGeom>
            <a:avLst/>
            <a:gdLst/>
            <a:ahLst/>
            <a:cxnLst/>
            <a:rect l="l" t="t" r="r" b="b"/>
            <a:pathLst>
              <a:path w="9141914" h="3338535" extrusionOk="0">
                <a:moveTo>
                  <a:pt x="0" y="1733123"/>
                </a:moveTo>
                <a:lnTo>
                  <a:pt x="2626362" y="0"/>
                </a:lnTo>
                <a:lnTo>
                  <a:pt x="9141914" y="2839"/>
                </a:lnTo>
                <a:cubicBezTo>
                  <a:pt x="8176372" y="672354"/>
                  <a:pt x="4902606" y="2872220"/>
                  <a:pt x="4229164" y="3338535"/>
                </a:cubicBezTo>
                <a:lnTo>
                  <a:pt x="0" y="1733123"/>
                </a:lnTo>
                <a:close/>
              </a:path>
            </a:pathLst>
          </a:custGeom>
          <a:solidFill>
            <a:schemeClr val="lt1">
              <a:alpha val="40000"/>
            </a:schemeClr>
          </a:solidFill>
          <a:ln>
            <a:noFill/>
          </a:ln>
        </p:spPr>
        <p:txBody>
          <a:bodyPr spcFirstLastPara="1" wrap="square" lIns="0" tIns="0" rIns="0" bIns="0" anchor="b" anchorCtr="0">
            <a:noAutofit/>
          </a:bodyPr>
          <a:lstStyle/>
          <a:p>
            <a:pPr marL="0" marR="0" lvl="0" indent="0" algn="r" rtl="0">
              <a:lnSpc>
                <a:spcPct val="94736"/>
              </a:lnSpc>
              <a:spcBef>
                <a:spcPts val="0"/>
              </a:spcBef>
              <a:spcAft>
                <a:spcPts val="0"/>
              </a:spcAft>
              <a:buNone/>
            </a:pPr>
            <a:endParaRPr sz="950">
              <a:solidFill>
                <a:srgbClr val="404E0A"/>
              </a:solidFill>
              <a:latin typeface="Arial"/>
              <a:ea typeface="Arial"/>
              <a:cs typeface="Arial"/>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cxnSp>
        <p:nvCxnSpPr>
          <p:cNvPr id="10" name="Google Shape;10;p12"/>
          <p:cNvCxnSpPr/>
          <p:nvPr/>
        </p:nvCxnSpPr>
        <p:spPr>
          <a:xfrm>
            <a:off x="360464" y="669925"/>
            <a:ext cx="8424000" cy="0"/>
          </a:xfrm>
          <a:prstGeom prst="straightConnector1">
            <a:avLst/>
          </a:prstGeom>
          <a:noFill/>
          <a:ln w="12700" cap="flat" cmpd="sng">
            <a:solidFill>
              <a:srgbClr val="5A5A5A"/>
            </a:solidFill>
            <a:prstDash val="solid"/>
            <a:round/>
            <a:headEnd type="none" w="sm" len="sm"/>
            <a:tailEnd type="none" w="sm" len="sm"/>
          </a:ln>
        </p:spPr>
      </p:cxnSp>
      <p:sp>
        <p:nvSpPr>
          <p:cNvPr id="12" name="Google Shape;12;p12"/>
          <p:cNvSpPr/>
          <p:nvPr/>
        </p:nvSpPr>
        <p:spPr>
          <a:xfrm>
            <a:off x="8820472" y="6597352"/>
            <a:ext cx="287992" cy="216000"/>
          </a:xfrm>
          <a:prstGeom prst="rect">
            <a:avLst/>
          </a:prstGeom>
          <a:noFill/>
          <a:ln>
            <a:noFill/>
          </a:ln>
        </p:spPr>
        <p:txBody>
          <a:bodyPr spcFirstLastPara="1" wrap="square" lIns="0" tIns="45700" rIns="0" bIns="45700" anchor="ctr" anchorCtr="0">
            <a:noAutofit/>
          </a:bodyPr>
          <a:lstStyle/>
          <a:p>
            <a:pPr marL="0" marR="0" lvl="0" indent="0" algn="ctr" rtl="0">
              <a:lnSpc>
                <a:spcPct val="100000"/>
              </a:lnSpc>
              <a:spcBef>
                <a:spcPts val="0"/>
              </a:spcBef>
              <a:spcAft>
                <a:spcPts val="0"/>
              </a:spcAft>
              <a:buClr>
                <a:srgbClr val="5A5A5A"/>
              </a:buClr>
              <a:buSzPts val="900"/>
              <a:buFont typeface="Trebuchet MS"/>
              <a:buNone/>
            </a:pPr>
            <a:fld id="{00000000-1234-1234-1234-123412341234}" type="slidenum">
              <a:rPr lang="ja-JP" sz="900" b="0" i="0" u="none" strike="noStrike" cap="none">
                <a:solidFill>
                  <a:srgbClr val="5A5A5A"/>
                </a:solidFill>
                <a:latin typeface="Trebuchet MS"/>
                <a:ea typeface="Trebuchet MS"/>
                <a:cs typeface="Trebuchet MS"/>
                <a:sym typeface="Trebuchet MS"/>
              </a:rPr>
              <a:t>‹#›</a:t>
            </a:fld>
            <a:endParaRPr sz="900" b="0" i="0" u="none" strike="noStrike" cap="none">
              <a:solidFill>
                <a:srgbClr val="5A5A5A"/>
              </a:solidFill>
              <a:latin typeface="Trebuchet MS"/>
              <a:ea typeface="Trebuchet MS"/>
              <a:cs typeface="Trebuchet MS"/>
              <a:sym typeface="Trebuchet MS"/>
            </a:endParaRPr>
          </a:p>
        </p:txBody>
      </p:sp>
      <p:cxnSp>
        <p:nvCxnSpPr>
          <p:cNvPr id="13" name="Google Shape;13;p12"/>
          <p:cNvCxnSpPr/>
          <p:nvPr/>
        </p:nvCxnSpPr>
        <p:spPr>
          <a:xfrm>
            <a:off x="8820472" y="6655074"/>
            <a:ext cx="0" cy="108000"/>
          </a:xfrm>
          <a:prstGeom prst="straightConnector1">
            <a:avLst/>
          </a:prstGeom>
          <a:noFill/>
          <a:ln w="25400" cap="flat" cmpd="sng">
            <a:solidFill>
              <a:schemeClr val="lt2"/>
            </a:solidFill>
            <a:prstDash val="solid"/>
            <a:round/>
            <a:headEnd type="none" w="sm" len="sm"/>
            <a:tailEnd type="none" w="sm" len="sm"/>
          </a:ln>
        </p:spPr>
      </p:cxnSp>
      <p:sp>
        <p:nvSpPr>
          <p:cNvPr id="14" name="Google Shape;14;p12"/>
          <p:cNvSpPr txBox="1">
            <a:spLocks noGrp="1"/>
          </p:cNvSpPr>
          <p:nvPr>
            <p:ph type="title"/>
          </p:nvPr>
        </p:nvSpPr>
        <p:spPr>
          <a:xfrm>
            <a:off x="395536" y="332655"/>
            <a:ext cx="6696744" cy="288033"/>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800" b="1" i="0" u="none" strike="noStrike" cap="none">
                <a:solidFill>
                  <a:srgbClr val="5C5C5C"/>
                </a:solidFill>
                <a:latin typeface="Arial"/>
                <a:ea typeface="Arial"/>
                <a:cs typeface="Arial"/>
                <a:sym typeface="Arial"/>
              </a:defRPr>
            </a:lvl1pPr>
            <a:lvl2pPr marR="0" lvl="1" algn="l" rtl="0">
              <a:spcBef>
                <a:spcPts val="0"/>
              </a:spcBef>
              <a:spcAft>
                <a:spcPts val="0"/>
              </a:spcAft>
              <a:buSzPts val="1400"/>
              <a:buNone/>
              <a:defRPr sz="1880" b="0" i="0" u="none" strike="noStrike" cap="none">
                <a:solidFill>
                  <a:srgbClr val="191919"/>
                </a:solidFill>
                <a:latin typeface="Arial"/>
                <a:ea typeface="Arial"/>
                <a:cs typeface="Arial"/>
                <a:sym typeface="Arial"/>
              </a:defRPr>
            </a:lvl2pPr>
            <a:lvl3pPr marR="0" lvl="2" algn="l" rtl="0">
              <a:spcBef>
                <a:spcPts val="0"/>
              </a:spcBef>
              <a:spcAft>
                <a:spcPts val="0"/>
              </a:spcAft>
              <a:buSzPts val="1400"/>
              <a:buNone/>
              <a:defRPr sz="1880" b="0" i="0" u="none" strike="noStrike" cap="none">
                <a:solidFill>
                  <a:srgbClr val="191919"/>
                </a:solidFill>
                <a:latin typeface="Arial"/>
                <a:ea typeface="Arial"/>
                <a:cs typeface="Arial"/>
                <a:sym typeface="Arial"/>
              </a:defRPr>
            </a:lvl3pPr>
            <a:lvl4pPr marR="0" lvl="3" algn="l" rtl="0">
              <a:spcBef>
                <a:spcPts val="0"/>
              </a:spcBef>
              <a:spcAft>
                <a:spcPts val="0"/>
              </a:spcAft>
              <a:buSzPts val="1400"/>
              <a:buNone/>
              <a:defRPr sz="1880" b="0" i="0" u="none" strike="noStrike" cap="none">
                <a:solidFill>
                  <a:srgbClr val="191919"/>
                </a:solidFill>
                <a:latin typeface="Arial"/>
                <a:ea typeface="Arial"/>
                <a:cs typeface="Arial"/>
                <a:sym typeface="Arial"/>
              </a:defRPr>
            </a:lvl4pPr>
            <a:lvl5pPr marR="0" lvl="4" algn="l" rtl="0">
              <a:spcBef>
                <a:spcPts val="0"/>
              </a:spcBef>
              <a:spcAft>
                <a:spcPts val="0"/>
              </a:spcAft>
              <a:buSzPts val="1400"/>
              <a:buNone/>
              <a:defRPr sz="1880" b="0" i="0" u="none" strike="noStrike" cap="none">
                <a:solidFill>
                  <a:srgbClr val="191919"/>
                </a:solidFill>
                <a:latin typeface="Arial"/>
                <a:ea typeface="Arial"/>
                <a:cs typeface="Arial"/>
                <a:sym typeface="Arial"/>
              </a:defRPr>
            </a:lvl5pPr>
            <a:lvl6pPr marR="0" lvl="5" algn="l" rtl="0">
              <a:spcBef>
                <a:spcPts val="0"/>
              </a:spcBef>
              <a:spcAft>
                <a:spcPts val="0"/>
              </a:spcAft>
              <a:buSzPts val="1400"/>
              <a:buNone/>
              <a:defRPr sz="2631" b="1" i="0" u="none" strike="noStrike" cap="none">
                <a:solidFill>
                  <a:srgbClr val="455765"/>
                </a:solidFill>
                <a:latin typeface="MS PGothic"/>
                <a:ea typeface="MS PGothic"/>
                <a:cs typeface="MS PGothic"/>
                <a:sym typeface="MS PGothic"/>
              </a:defRPr>
            </a:lvl6pPr>
            <a:lvl7pPr marR="0" lvl="6" algn="l" rtl="0">
              <a:spcBef>
                <a:spcPts val="0"/>
              </a:spcBef>
              <a:spcAft>
                <a:spcPts val="0"/>
              </a:spcAft>
              <a:buSzPts val="1400"/>
              <a:buNone/>
              <a:defRPr sz="2631" b="1" i="0" u="none" strike="noStrike" cap="none">
                <a:solidFill>
                  <a:srgbClr val="455765"/>
                </a:solidFill>
                <a:latin typeface="MS PGothic"/>
                <a:ea typeface="MS PGothic"/>
                <a:cs typeface="MS PGothic"/>
                <a:sym typeface="MS PGothic"/>
              </a:defRPr>
            </a:lvl7pPr>
            <a:lvl8pPr marR="0" lvl="7" algn="l" rtl="0">
              <a:spcBef>
                <a:spcPts val="0"/>
              </a:spcBef>
              <a:spcAft>
                <a:spcPts val="0"/>
              </a:spcAft>
              <a:buSzPts val="1400"/>
              <a:buNone/>
              <a:defRPr sz="2631" b="1" i="0" u="none" strike="noStrike" cap="none">
                <a:solidFill>
                  <a:srgbClr val="455765"/>
                </a:solidFill>
                <a:latin typeface="MS PGothic"/>
                <a:ea typeface="MS PGothic"/>
                <a:cs typeface="MS PGothic"/>
                <a:sym typeface="MS PGothic"/>
              </a:defRPr>
            </a:lvl8pPr>
            <a:lvl9pPr marR="0" lvl="8" algn="l" rtl="0">
              <a:spcBef>
                <a:spcPts val="0"/>
              </a:spcBef>
              <a:spcAft>
                <a:spcPts val="0"/>
              </a:spcAft>
              <a:buSzPts val="1400"/>
              <a:buNone/>
              <a:defRPr sz="2631" b="1" i="0" u="none" strike="noStrike" cap="none">
                <a:solidFill>
                  <a:srgbClr val="455765"/>
                </a:solidFill>
                <a:latin typeface="MS PGothic"/>
                <a:ea typeface="MS PGothic"/>
                <a:cs typeface="MS PGothic"/>
                <a:sym typeface="MS PGothic"/>
              </a:defRPr>
            </a:lvl9pPr>
          </a:lstStyle>
          <a:p>
            <a:endParaRPr/>
          </a:p>
        </p:txBody>
      </p:sp>
    </p:spTree>
  </p:cSld>
  <p:clrMap bg1="lt1" tx1="dk1" bg2="dk2" tx2="lt2" accent1="accent1" accent2="accent2" accent3="accent3" accent4="accent4" accent5="accent5" accent6="accent6" hlink="hlink" folHlink="folHlink"/>
  <p:sldLayoutIdLst>
    <p:sldLayoutId id="2147483661"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60"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296">
          <p15:clr>
            <a:srgbClr val="F26B43"/>
          </p15:clr>
        </p15:guide>
        <p15:guide id="2" pos="2880">
          <p15:clr>
            <a:srgbClr val="F26B43"/>
          </p15:clr>
        </p15:guide>
        <p15:guide id="3" pos="249">
          <p15:clr>
            <a:srgbClr val="F26B43"/>
          </p15:clr>
        </p15:guide>
        <p15:guide id="4" pos="5511">
          <p15:clr>
            <a:srgbClr val="F26B43"/>
          </p15:clr>
        </p15:guide>
        <p15:guide id="5" orient="horz" pos="527">
          <p15:clr>
            <a:srgbClr val="F26B43"/>
          </p15:clr>
        </p15:guide>
        <p15:guide id="6" orient="horz" pos="411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180;p1">
            <a:extLst>
              <a:ext uri="{FF2B5EF4-FFF2-40B4-BE49-F238E27FC236}">
                <a16:creationId xmlns:a16="http://schemas.microsoft.com/office/drawing/2014/main" id="{31BC779B-1A2F-3FAA-3491-C2DFDB9541FD}"/>
              </a:ext>
            </a:extLst>
          </p:cNvPr>
          <p:cNvSpPr txBox="1"/>
          <p:nvPr/>
        </p:nvSpPr>
        <p:spPr>
          <a:xfrm>
            <a:off x="361950" y="3717032"/>
            <a:ext cx="8314506" cy="998780"/>
          </a:xfrm>
          <a:prstGeom prst="rect">
            <a:avLst/>
          </a:prstGeom>
          <a:noFill/>
          <a:ln>
            <a:noFill/>
          </a:ln>
        </p:spPr>
        <p:txBody>
          <a:bodyPr spcFirstLastPara="1" wrap="square" lIns="91425" tIns="45700" rIns="0" bIns="45700" anchor="b" anchorCtr="0">
            <a:noAutofit/>
          </a:bodyPr>
          <a:lstStyle/>
          <a:p>
            <a:pPr marL="0" marR="0" lvl="0" indent="0" algn="l" rtl="0">
              <a:spcBef>
                <a:spcPts val="0"/>
              </a:spcBef>
              <a:spcAft>
                <a:spcPts val="0"/>
              </a:spcAft>
              <a:buNone/>
            </a:pPr>
            <a:r>
              <a:rPr sz="2400" b="1">
                <a:latin typeface="Meiryo UI"/>
                <a:ea typeface="Meiryo UI"/>
              </a:rPr>
              <a:t>今後のスケジュールと論点整理</a:t>
            </a:r>
            <a:endParaRPr sz="3200" b="1" i="0" u="none" strike="noStrike" cap="none">
              <a:solidFill>
                <a:schemeClr val="lt1"/>
              </a:solidFill>
              <a:latin typeface="Meiryo UI" panose="020B0604030504040204" pitchFamily="50" charset="-128"/>
              <a:ea typeface="Meiryo UI" panose="020B0604030504040204" pitchFamily="50" charset="-128"/>
              <a:sym typeface="Arial"/>
            </a:endParaRPr>
          </a:p>
        </p:txBody>
      </p:sp>
      <p:sp>
        <p:nvSpPr>
          <p:cNvPr id="5" name="Google Shape;181;p1">
            <a:extLst>
              <a:ext uri="{FF2B5EF4-FFF2-40B4-BE49-F238E27FC236}">
                <a16:creationId xmlns:a16="http://schemas.microsoft.com/office/drawing/2014/main" id="{96ACA2D1-2F49-09BE-FE99-3346A4F37EE8}"/>
              </a:ext>
            </a:extLst>
          </p:cNvPr>
          <p:cNvSpPr txBox="1"/>
          <p:nvPr/>
        </p:nvSpPr>
        <p:spPr>
          <a:xfrm>
            <a:off x="361949" y="5517232"/>
            <a:ext cx="3816000" cy="540000"/>
          </a:xfrm>
          <a:prstGeom prst="rect">
            <a:avLst/>
          </a:prstGeom>
          <a:noFill/>
          <a:ln>
            <a:noFill/>
          </a:ln>
        </p:spPr>
        <p:txBody>
          <a:bodyPr spcFirstLastPara="1" wrap="square" lIns="99050" tIns="49525" rIns="99050" bIns="49525" anchor="ctr" anchorCtr="0">
            <a:noAutofit/>
          </a:bodyPr>
          <a:lstStyle/>
          <a:p>
            <a:pPr marL="0" marR="0" lvl="0" indent="0" algn="l" rtl="0">
              <a:lnSpc>
                <a:spcPct val="100000"/>
              </a:lnSpc>
              <a:spcBef>
                <a:spcPts val="0"/>
              </a:spcBef>
              <a:spcAft>
                <a:spcPts val="0"/>
              </a:spcAft>
              <a:buClr>
                <a:srgbClr val="FFFFFF"/>
              </a:buClr>
              <a:buSzPts val="1400"/>
              <a:buFont typeface="Arial"/>
              <a:buNone/>
            </a:pPr>
            <a:r>
              <a:rPr sz="1100" b="0">
                <a:latin typeface="Meiryo UI"/>
                <a:ea typeface="Meiryo UI"/>
              </a:rPr>
              <a:t>企業情報部</a:t>
            </a:r>
            <a:endParaRPr sz="1400" b="1" i="0" u="none" strike="noStrike" cap="none" dirty="0">
              <a:solidFill>
                <a:srgbClr val="FFFFFF"/>
              </a:solidFill>
              <a:latin typeface="Meiryo UI" panose="020B0604030504040204" pitchFamily="50" charset="-128"/>
              <a:ea typeface="Meiryo UI" panose="020B0604030504040204" pitchFamily="50" charset="-128"/>
              <a:sym typeface="Arial"/>
            </a:endParaRPr>
          </a:p>
          <a:p>
            <a:pPr algn="l"/>
            <a:r>
              <a:rPr sz="1100" b="0">
                <a:latin typeface="Meiryo UI"/>
                <a:ea typeface="Meiryo UI"/>
              </a:rPr>
              <a:t>田垣内　啓介</a:t>
            </a:r>
          </a:p>
        </p:txBody>
      </p:sp>
      <p:sp>
        <p:nvSpPr>
          <p:cNvPr id="6" name="Google Shape;182;p1">
            <a:extLst>
              <a:ext uri="{FF2B5EF4-FFF2-40B4-BE49-F238E27FC236}">
                <a16:creationId xmlns:a16="http://schemas.microsoft.com/office/drawing/2014/main" id="{792F0345-6D09-C84A-AD32-06D94B9E9287}"/>
              </a:ext>
            </a:extLst>
          </p:cNvPr>
          <p:cNvSpPr txBox="1"/>
          <p:nvPr/>
        </p:nvSpPr>
        <p:spPr>
          <a:xfrm>
            <a:off x="288368" y="3341451"/>
            <a:ext cx="3963162"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FFFFFF"/>
              </a:buClr>
              <a:buSzPts val="1800"/>
              <a:buFont typeface="Arial"/>
              <a:buNone/>
            </a:pPr>
            <a:r>
              <a:rPr sz="1400" b="0">
                <a:latin typeface="Meiryo UI"/>
                <a:ea typeface="Meiryo UI"/>
              </a:rPr>
              <a:t>ウィン ロジスティクス株式会社　御中</a:t>
            </a:r>
          </a:p>
        </p:txBody>
      </p:sp>
      <p:sp>
        <p:nvSpPr>
          <p:cNvPr id="7" name="Google Shape;183;p1">
            <a:extLst>
              <a:ext uri="{FF2B5EF4-FFF2-40B4-BE49-F238E27FC236}">
                <a16:creationId xmlns:a16="http://schemas.microsoft.com/office/drawing/2014/main" id="{6F3F9F3A-D75E-8ACA-12F1-136DD1993DD7}"/>
              </a:ext>
            </a:extLst>
          </p:cNvPr>
          <p:cNvSpPr txBox="1"/>
          <p:nvPr/>
        </p:nvSpPr>
        <p:spPr>
          <a:xfrm>
            <a:off x="361950" y="5157192"/>
            <a:ext cx="2122488" cy="360000"/>
          </a:xfrm>
          <a:prstGeom prst="rect">
            <a:avLst/>
          </a:prstGeom>
          <a:noFill/>
          <a:ln>
            <a:noFill/>
          </a:ln>
        </p:spPr>
        <p:txBody>
          <a:bodyPr spcFirstLastPara="1" wrap="square" lIns="99050" tIns="49525" rIns="99050" bIns="49525" anchor="ctr" anchorCtr="0">
            <a:noAutofit/>
          </a:bodyPr>
          <a:lstStyle/>
          <a:p>
            <a:pPr marL="0" marR="0" lvl="0" indent="0" algn="l" rtl="0">
              <a:lnSpc>
                <a:spcPct val="80000"/>
              </a:lnSpc>
              <a:spcBef>
                <a:spcPts val="0"/>
              </a:spcBef>
              <a:spcAft>
                <a:spcPts val="0"/>
              </a:spcAft>
              <a:buClr>
                <a:schemeClr val="lt1"/>
              </a:buClr>
              <a:buSzPts val="1200"/>
              <a:buFont typeface="Arial"/>
              <a:buNone/>
            </a:pPr>
            <a:r>
              <a:rPr sz="1100" b="0">
                <a:latin typeface="Meiryo UI"/>
                <a:ea typeface="Meiryo UI"/>
              </a:rPr>
              <a:t>2026年8月16日</a:t>
            </a:r>
          </a:p>
        </p:txBody>
      </p:sp>
      <p:sp>
        <p:nvSpPr>
          <p:cNvPr id="8" name="Google Shape;184;p1">
            <a:extLst>
              <a:ext uri="{FF2B5EF4-FFF2-40B4-BE49-F238E27FC236}">
                <a16:creationId xmlns:a16="http://schemas.microsoft.com/office/drawing/2014/main" id="{63C143C5-4722-1CCD-58AE-58D820F723AA}"/>
              </a:ext>
            </a:extLst>
          </p:cNvPr>
          <p:cNvSpPr/>
          <p:nvPr/>
        </p:nvSpPr>
        <p:spPr>
          <a:xfrm>
            <a:off x="7492789" y="155485"/>
            <a:ext cx="1476000" cy="400050"/>
          </a:xfrm>
          <a:prstGeom prst="rect">
            <a:avLst/>
          </a:prstGeom>
          <a:solidFill>
            <a:schemeClr val="lt1"/>
          </a:solidFill>
          <a:ln w="38100" cap="flat" cmpd="dbl">
            <a:solidFill>
              <a:srgbClr val="F14040"/>
            </a:solidFill>
            <a:prstDash val="solid"/>
            <a:miter lim="800000"/>
            <a:headEnd type="none" w="sm" len="sm"/>
            <a:tailEnd type="none" w="sm" len="sm"/>
          </a:ln>
        </p:spPr>
        <p:txBody>
          <a:bodyPr spcFirstLastPara="1" wrap="square" lIns="0" tIns="0" rIns="0" bIns="25200" anchor="ctr" anchorCtr="0">
            <a:noAutofit/>
          </a:bodyPr>
          <a:lstStyle/>
          <a:p>
            <a:pPr marL="0" marR="0" lvl="0" indent="0" algn="ctr" rtl="0">
              <a:spcBef>
                <a:spcPts val="0"/>
              </a:spcBef>
              <a:spcAft>
                <a:spcPts val="0"/>
              </a:spcAft>
              <a:buNone/>
            </a:pPr>
            <a:r>
              <a:rPr lang="ja-JP" sz="1300" b="1" i="0" u="none" strike="noStrike" cap="none">
                <a:solidFill>
                  <a:srgbClr val="F14040"/>
                </a:solidFill>
                <a:latin typeface="Meiryo UI" panose="020B0604030504040204" pitchFamily="50" charset="-128"/>
                <a:ea typeface="Meiryo UI" panose="020B0604030504040204" pitchFamily="50" charset="-128"/>
                <a:sym typeface="Arial"/>
              </a:rPr>
              <a:t>秘・貴社限り</a:t>
            </a:r>
            <a:endParaRPr sz="1300" b="1" i="0" u="none" strike="noStrike" cap="none">
              <a:solidFill>
                <a:srgbClr val="F14040"/>
              </a:solidFill>
              <a:latin typeface="Meiryo UI" panose="020B0604030504040204" pitchFamily="50" charset="-128"/>
              <a:ea typeface="Meiryo UI" panose="020B0604030504040204" pitchFamily="50" charset="-128"/>
              <a:sym typeface="Arial"/>
            </a:endParaRPr>
          </a:p>
        </p:txBody>
      </p:sp>
    </p:spTree>
    <p:extLst>
      <p:ext uri="{BB962C8B-B14F-4D97-AF65-F5344CB8AC3E}">
        <p14:creationId xmlns:p14="http://schemas.microsoft.com/office/powerpoint/2010/main" val="6767832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6" name="Google Shape;196;p2"/>
          <p:cNvSpPr txBox="1">
            <a:spLocks noGrp="1"/>
          </p:cNvSpPr>
          <p:nvPr>
            <p:ph type="subTitle" idx="1"/>
          </p:nvPr>
        </p:nvSpPr>
        <p:spPr>
          <a:xfrm>
            <a:off x="2007005" y="3163812"/>
            <a:ext cx="6813467" cy="841252"/>
          </a:xfrm>
          <a:prstGeom prst="rect">
            <a:avLst/>
          </a:prstGeom>
          <a:noFill/>
          <a:ln>
            <a:noFill/>
          </a:ln>
        </p:spPr>
        <p:txBody>
          <a:bodyPr spcFirstLastPara="1" wrap="square" lIns="91425" tIns="45700" rIns="91425" bIns="45700" anchor="t" anchorCtr="0">
            <a:noAutofit/>
          </a:bodyPr>
          <a:lstStyle/>
          <a:p>
            <a:pPr marL="0" lvl="0" indent="0" algn="l" rtl="0">
              <a:lnSpc>
                <a:spcPct val="120000"/>
              </a:lnSpc>
              <a:spcBef>
                <a:spcPts val="0"/>
              </a:spcBef>
              <a:spcAft>
                <a:spcPts val="0"/>
              </a:spcAft>
              <a:buSzPts val="1725"/>
              <a:buNone/>
            </a:pPr>
            <a:r>
              <a:rPr sz="2400" b="0">
                <a:latin typeface="Meiryo UI"/>
                <a:ea typeface="Meiryo UI"/>
              </a:rPr>
              <a:t>各種条件と論点について</a:t>
            </a:r>
            <a:endParaRPr dirty="0">
              <a:latin typeface="Meiryo UI" panose="020B0604030504040204" pitchFamily="50" charset="-128"/>
              <a:ea typeface="Meiryo UI" panose="020B0604030504040204" pitchFamily="50" charset="-128"/>
            </a:endParaRPr>
          </a:p>
        </p:txBody>
      </p:sp>
      <p:cxnSp>
        <p:nvCxnSpPr>
          <p:cNvPr id="197" name="Google Shape;197;p2"/>
          <p:cNvCxnSpPr/>
          <p:nvPr/>
        </p:nvCxnSpPr>
        <p:spPr>
          <a:xfrm>
            <a:off x="2018267" y="3155538"/>
            <a:ext cx="7125733" cy="0"/>
          </a:xfrm>
          <a:prstGeom prst="straightConnector1">
            <a:avLst/>
          </a:prstGeom>
          <a:noFill/>
          <a:ln w="12700" cap="flat" cmpd="sng">
            <a:solidFill>
              <a:srgbClr val="7F7F7F"/>
            </a:solidFill>
            <a:prstDash val="solid"/>
            <a:round/>
            <a:headEnd type="none" w="sm" len="sm"/>
            <a:tailEnd type="none" w="sm" len="sm"/>
          </a:ln>
        </p:spPr>
      </p:cxnSp>
      <p:sp>
        <p:nvSpPr>
          <p:cNvPr id="198" name="Google Shape;198;p2"/>
          <p:cNvSpPr/>
          <p:nvPr/>
        </p:nvSpPr>
        <p:spPr>
          <a:xfrm>
            <a:off x="3491880" y="2105561"/>
            <a:ext cx="1728192" cy="1323439"/>
          </a:xfrm>
          <a:prstGeom prst="rect">
            <a:avLst/>
          </a:prstGeom>
          <a:noFill/>
          <a:ln>
            <a:noFill/>
          </a:ln>
        </p:spPr>
        <p:txBody>
          <a:bodyPr spcFirstLastPara="1" wrap="square" lIns="91425" tIns="45700" rIns="91425" bIns="45700" anchor="b" anchorCtr="0">
            <a:spAutoFit/>
          </a:bodyPr>
          <a:lstStyle/>
          <a:p>
            <a:pPr marL="0" marR="0" lvl="0" indent="0" algn="l" rtl="0">
              <a:spcBef>
                <a:spcPts val="0"/>
              </a:spcBef>
              <a:spcAft>
                <a:spcPts val="0"/>
              </a:spcAft>
              <a:buNone/>
            </a:pPr>
            <a:r>
              <a:rPr lang="ja-JP" sz="8000" b="1" i="0" u="none" strike="noStrike" cap="none" dirty="0">
                <a:solidFill>
                  <a:schemeClr val="accent5">
                    <a:lumMod val="75000"/>
                  </a:schemeClr>
                </a:solidFill>
                <a:latin typeface="Meiryo UI" panose="020B0604030504040204" pitchFamily="50" charset="-128"/>
                <a:ea typeface="Meiryo UI" panose="020B0604030504040204" pitchFamily="50" charset="-128"/>
                <a:sym typeface="Arial"/>
              </a:rPr>
              <a:t>1</a:t>
            </a:r>
            <a:endParaRPr sz="8000" b="1" i="0" u="none" strike="noStrike" cap="none" dirty="0">
              <a:solidFill>
                <a:schemeClr val="accent5">
                  <a:lumMod val="75000"/>
                </a:schemeClr>
              </a:solidFill>
              <a:latin typeface="Meiryo UI" panose="020B0604030504040204" pitchFamily="50" charset="-128"/>
              <a:ea typeface="Meiryo UI" panose="020B0604030504040204" pitchFamily="50" charset="-128"/>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4" name="Google Shape;204;p3"/>
          <p:cNvSpPr txBox="1">
            <a:spLocks noGrp="1"/>
          </p:cNvSpPr>
          <p:nvPr>
            <p:ph type="title"/>
          </p:nvPr>
        </p:nvSpPr>
        <p:spPr>
          <a:xfrm>
            <a:off x="395536" y="332655"/>
            <a:ext cx="6696744" cy="288033"/>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sz="1400" b="1">
                <a:solidFill>
                  <a:srgbClr val="5A5A5A"/>
                </a:solidFill>
                <a:latin typeface="Meiryo UI"/>
                <a:ea typeface="Meiryo UI"/>
              </a:rPr>
              <a:t>各種条件について</a:t>
            </a:r>
            <a:endParaRPr b="1" dirty="0">
              <a:solidFill>
                <a:srgbClr val="5A5A5A"/>
              </a:solidFill>
              <a:latin typeface="Meiryo UI" panose="020B0604030504040204" pitchFamily="50" charset="-128"/>
              <a:ea typeface="Meiryo UI" panose="020B0604030504040204" pitchFamily="50" charset="-128"/>
              <a:sym typeface="Arial"/>
            </a:endParaRPr>
          </a:p>
        </p:txBody>
      </p:sp>
      <p:sp>
        <p:nvSpPr>
          <p:cNvPr id="205" name="Google Shape;205;p3"/>
          <p:cNvSpPr txBox="1"/>
          <p:nvPr/>
        </p:nvSpPr>
        <p:spPr>
          <a:xfrm>
            <a:off x="323528" y="116632"/>
            <a:ext cx="2376264" cy="188640"/>
          </a:xfrm>
          <a:prstGeom prst="rect">
            <a:avLst/>
          </a:prstGeom>
          <a:noFill/>
          <a:ln>
            <a:noFill/>
          </a:ln>
        </p:spPr>
        <p:txBody>
          <a:bodyPr spcFirstLastPara="1" wrap="square" lIns="36000" tIns="0" rIns="0" bIns="0" anchor="ctr" anchorCtr="0">
            <a:noAutofit/>
          </a:bodyPr>
          <a:lstStyle/>
          <a:p>
            <a:pPr marL="0" marR="0" lvl="0" indent="0" algn="l" rtl="0">
              <a:lnSpc>
                <a:spcPct val="100000"/>
              </a:lnSpc>
              <a:spcBef>
                <a:spcPts val="0"/>
              </a:spcBef>
              <a:spcAft>
                <a:spcPts val="0"/>
              </a:spcAft>
              <a:buClr>
                <a:srgbClr val="5A5A5A"/>
              </a:buClr>
              <a:buSzPts val="1000"/>
              <a:buFont typeface="Arial"/>
              <a:buNone/>
            </a:pPr>
            <a:r>
              <a:rPr sz="1000" b="0">
                <a:solidFill>
                  <a:srgbClr val="5A5A5A"/>
                </a:solidFill>
                <a:latin typeface="Meiryo UI"/>
                <a:ea typeface="Meiryo UI"/>
              </a:rPr>
              <a:t>本件の論点整理</a:t>
            </a:r>
            <a:endParaRPr>
              <a:latin typeface="Meiryo UI" panose="020B0604030504040204" pitchFamily="50" charset="-128"/>
              <a:ea typeface="Meiryo UI" panose="020B0604030504040204" pitchFamily="50" charset="-128"/>
            </a:endParaRPr>
          </a:p>
        </p:txBody>
      </p:sp>
      <p:sp>
        <p:nvSpPr>
          <p:cNvPr id="206" name="Google Shape;206;p3"/>
          <p:cNvSpPr/>
          <p:nvPr/>
        </p:nvSpPr>
        <p:spPr>
          <a:xfrm>
            <a:off x="0" y="116632"/>
            <a:ext cx="323528" cy="180000"/>
          </a:xfrm>
          <a:prstGeom prst="parallelogram">
            <a:avLst>
              <a:gd name="adj" fmla="val 32938"/>
            </a:avLst>
          </a:prstGeom>
          <a:solidFill>
            <a:srgbClr val="66A09A"/>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Arial"/>
              <a:buNone/>
            </a:pPr>
            <a:r>
              <a:rPr sz="1000" b="0">
                <a:solidFill>
                  <a:srgbClr val="FFFFFF"/>
                </a:solidFill>
                <a:latin typeface="Meiryo UI"/>
                <a:ea typeface="Meiryo UI"/>
              </a:rPr>
              <a:t>1</a:t>
            </a:r>
            <a:endParaRPr sz="1000" b="0" i="0" u="none" strike="noStrike" cap="none">
              <a:solidFill>
                <a:srgbClr val="FFFFFF"/>
              </a:solidFill>
              <a:latin typeface="Arial"/>
              <a:ea typeface="Arial"/>
              <a:cs typeface="Arial"/>
              <a:sym typeface="Arial"/>
            </a:endParaRPr>
          </a:p>
        </p:txBody>
      </p:sp>
      <p:graphicFrame>
        <p:nvGraphicFramePr>
          <p:cNvPr id="207" name="Google Shape;207;p3"/>
          <p:cNvGraphicFramePr/>
          <p:nvPr>
            <p:extLst>
              <p:ext uri="{D42A27DB-BD31-4B8C-83A1-F6EECF244321}">
                <p14:modId xmlns:p14="http://schemas.microsoft.com/office/powerpoint/2010/main" val="2721619109"/>
              </p:ext>
            </p:extLst>
          </p:nvPr>
        </p:nvGraphicFramePr>
        <p:xfrm>
          <a:off x="398462" y="839788"/>
          <a:ext cx="8348471" cy="5660136"/>
        </p:xfrm>
        <a:graphic>
          <a:graphicData uri="http://schemas.openxmlformats.org/drawingml/2006/table">
            <a:tbl>
              <a:tblPr>
                <a:noFill/>
                <a:tableStyleId>{FA6B9113-0DA6-4419-ABC6-697280B0F4CE}</a:tableStyleId>
              </a:tblPr>
              <a:tblGrid>
                <a:gridCol w="429768">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gridCol w="5385816">
                  <a:extLst>
                    <a:ext uri="{9D8B030D-6E8A-4147-A177-3AD203B41FA5}">
                      <a16:colId xmlns:a16="http://schemas.microsoft.com/office/drawing/2014/main" val="20002"/>
                    </a:ext>
                  </a:extLst>
                </a:gridCol>
                <a:gridCol w="932688">
                  <a:extLst>
                    <a:ext uri="{9D8B030D-6E8A-4147-A177-3AD203B41FA5}">
                      <a16:colId xmlns:a16="http://schemas.microsoft.com/office/drawing/2014/main" val="20003"/>
                    </a:ext>
                  </a:extLst>
                </a:gridCol>
              </a:tblGrid>
              <a:tr h="347472">
                <a:tc>
                  <a:txBody>
                    <a:bodyPr/>
                    <a:lstStyle/>
                    <a:p>
                      <a:pPr marL="0" marR="0" lvl="0" indent="0" algn="ctr" rtl="0">
                        <a:spcBef>
                          <a:spcPts val="0"/>
                        </a:spcBef>
                        <a:spcAft>
                          <a:spcPts val="0"/>
                        </a:spcAft>
                        <a:buNone/>
                      </a:pPr>
                      <a:r>
                        <a:rPr sz="1100" b="1">
                          <a:latin typeface="Meiryo UI"/>
                          <a:ea typeface="Meiryo UI"/>
                        </a:rPr>
                        <a:t>No.</a:t>
                      </a:r>
                      <a:endParaRPr sz="1400" b="1" u="none" strike="noStrike" cap="none" dirty="0">
                        <a:solidFill>
                          <a:schemeClr val="lt1"/>
                        </a:solidFill>
                        <a:latin typeface="Meiryo UI" panose="020B0604030504040204" pitchFamily="50" charset="-128"/>
                        <a:ea typeface="Meiryo UI" panose="020B0604030504040204" pitchFamily="50" charset="-128"/>
                      </a:endParaRPr>
                    </a:p>
                  </a:txBody>
                  <a:tcPr marL="18000" marR="36000" marT="18000" marB="18000" anchor="ctr">
                    <a:lnL w="9525" cap="flat" cmpd="sng">
                      <a:solidFill>
                        <a:srgbClr val="000000">
                          <a:alpha val="0"/>
                        </a:srgbClr>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accent1">
                        <a:lumMod val="50000"/>
                      </a:schemeClr>
                    </a:solidFill>
                  </a:tcPr>
                </a:tc>
                <a:tc>
                  <a:txBody>
                    <a:bodyPr/>
                    <a:lstStyle/>
                    <a:p>
                      <a:pPr marL="0" marR="0" lvl="0" indent="0" algn="ctr" rtl="0">
                        <a:spcBef>
                          <a:spcPts val="0"/>
                        </a:spcBef>
                        <a:spcAft>
                          <a:spcPts val="0"/>
                        </a:spcAft>
                        <a:buNone/>
                      </a:pPr>
                      <a:r>
                        <a:rPr sz="1100" b="1">
                          <a:latin typeface="Meiryo UI"/>
                          <a:ea typeface="Meiryo UI"/>
                        </a:rPr>
                        <a:t>項目</a:t>
                      </a:r>
                      <a:endParaRPr dirty="0">
                        <a:latin typeface="Meiryo UI" panose="020B0604030504040204" pitchFamily="50" charset="-128"/>
                        <a:ea typeface="Meiryo UI" panose="020B0604030504040204" pitchFamily="50" charset="-128"/>
                      </a:endParaRPr>
                    </a:p>
                  </a:txBody>
                  <a:tcPr marL="18000" marR="36000" marT="18000" marB="1800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accent1">
                        <a:lumMod val="50000"/>
                      </a:schemeClr>
                    </a:solidFill>
                  </a:tcPr>
                </a:tc>
                <a:tc>
                  <a:txBody>
                    <a:bodyPr/>
                    <a:lstStyle/>
                    <a:p>
                      <a:pPr marL="0" marR="0" lvl="0" indent="0" algn="ctr" rtl="0">
                        <a:spcBef>
                          <a:spcPts val="0"/>
                        </a:spcBef>
                        <a:spcAft>
                          <a:spcPts val="0"/>
                        </a:spcAft>
                        <a:buNone/>
                      </a:pPr>
                      <a:r>
                        <a:rPr sz="1100" b="1">
                          <a:latin typeface="Meiryo UI"/>
                          <a:ea typeface="Meiryo UI"/>
                        </a:rPr>
                        <a:t>内容</a:t>
                      </a:r>
                      <a:endParaRPr dirty="0">
                        <a:latin typeface="Meiryo UI" panose="020B0604030504040204" pitchFamily="50" charset="-128"/>
                        <a:ea typeface="Meiryo UI" panose="020B0604030504040204" pitchFamily="50" charset="-128"/>
                      </a:endParaRPr>
                    </a:p>
                  </a:txBody>
                  <a:tcPr marL="18000" marR="36000" marT="18000" marB="1800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accent1">
                        <a:lumMod val="50000"/>
                      </a:schemeClr>
                    </a:solidFill>
                  </a:tcPr>
                </a:tc>
                <a:tc>
                  <a:txBody>
                    <a:bodyPr/>
                    <a:lstStyle/>
                    <a:p>
                      <a:pPr marL="0" marR="0" lvl="0" indent="0" algn="ctr" rtl="0">
                        <a:spcBef>
                          <a:spcPts val="0"/>
                        </a:spcBef>
                        <a:spcAft>
                          <a:spcPts val="0"/>
                        </a:spcAft>
                        <a:buNone/>
                      </a:pPr>
                      <a:r>
                        <a:rPr sz="1100" b="1">
                          <a:latin typeface="Meiryo UI"/>
                          <a:ea typeface="Meiryo UI"/>
                        </a:rPr>
                        <a:t>確認状況</a:t>
                      </a:r>
                      <a:endParaRPr dirty="0">
                        <a:latin typeface="Meiryo UI" panose="020B0604030504040204" pitchFamily="50" charset="-128"/>
                        <a:ea typeface="Meiryo UI" panose="020B0604030504040204" pitchFamily="50" charset="-128"/>
                      </a:endParaRPr>
                    </a:p>
                  </a:txBody>
                  <a:tcPr marL="18000" marR="36000" marT="18000" marB="18000" anchor="ctr">
                    <a:lnL w="9525" cap="flat" cmpd="sng">
                      <a:solidFill>
                        <a:schemeClr val="lt1"/>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accent1">
                        <a:lumMod val="50000"/>
                      </a:schemeClr>
                    </a:solidFill>
                  </a:tcPr>
                </a:tc>
                <a:extLst>
                  <a:ext uri="{0D108BD9-81ED-4DB2-BD59-A6C34878D82A}">
                    <a16:rowId xmlns:a16="http://schemas.microsoft.com/office/drawing/2014/main" val="10000"/>
                  </a:ext>
                </a:extLst>
              </a:tr>
              <a:tr h="758952">
                <a:tc>
                  <a:txBody>
                    <a:bodyPr/>
                    <a:lstStyle/>
                    <a:p>
                      <a:pPr marL="0" marR="0" lvl="0" indent="0" algn="ctr" rtl="0">
                        <a:spcBef>
                          <a:spcPts val="0"/>
                        </a:spcBef>
                        <a:spcAft>
                          <a:spcPts val="0"/>
                        </a:spcAft>
                        <a:buNone/>
                      </a:pPr>
                      <a:r>
                        <a:rPr sz="1300" b="1">
                          <a:latin typeface="Meiryo UI"/>
                          <a:ea typeface="Meiryo UI"/>
                        </a:rPr>
                        <a:t>1</a:t>
                      </a:r>
                    </a:p>
                  </a:txBody>
                  <a:tcPr marL="54000" marR="36000" marT="18000" marB="18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60000"/>
                        <a:lumOff val="40000"/>
                      </a:schemeClr>
                    </a:solidFill>
                  </a:tcPr>
                </a:tc>
                <a:tc>
                  <a:txBody>
                    <a:bodyPr/>
                    <a:lstStyle/>
                    <a:p>
                      <a:pPr marL="0" marR="0" lvl="0" indent="0" algn="ctr" rtl="0">
                        <a:spcBef>
                          <a:spcPts val="0"/>
                        </a:spcBef>
                        <a:spcAft>
                          <a:spcPts val="0"/>
                        </a:spcAft>
                        <a:buNone/>
                      </a:pPr>
                      <a:r>
                        <a:rPr sz="1100" b="0">
                          <a:latin typeface="Meiryo UI"/>
                          <a:ea typeface="Meiryo UI"/>
                        </a:rPr>
                        <a:t>譲渡スキーム</a:t>
                      </a:r>
                    </a:p>
                  </a:txBody>
                  <a:tcPr marL="54000" marR="36000" marT="18000" marB="18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20000"/>
                        <a:lumOff val="80000"/>
                      </a:schemeClr>
                    </a:solidFill>
                  </a:tcPr>
                </a:tc>
                <a:tc>
                  <a:txBody>
                    <a:bodyPr/>
                    <a:lstStyle/>
                    <a:p>
                      <a:pPr marL="0" marR="0" lvl="0" indent="0" algn="l" rtl="0">
                        <a:spcBef>
                          <a:spcPts val="0"/>
                        </a:spcBef>
                        <a:spcAft>
                          <a:spcPts val="0"/>
                        </a:spcAft>
                        <a:buClr>
                          <a:srgbClr val="66A09A"/>
                        </a:buClr>
                        <a:buSzPts val="1120"/>
                        <a:buFont typeface="Arial"/>
                        <a:buNone/>
                      </a:pPr>
                      <a:r>
                        <a:rPr sz="900" b="0">
                          <a:latin typeface="Meiryo UI"/>
                          <a:ea typeface="Meiryo UI"/>
                        </a:rPr>
                        <a:t>現時点で未確定。①株式譲渡（軽配送事業を切り出した後の株式会社GL design 株式100%）、②事業譲渡（フォワーダー事業の資産・負債を選択承継）の2案を併記して協議中。</a:t>
                      </a:r>
                      <a:endParaRPr lang="en-US" altLang="ja-JP" sz="1050" u="none" strike="noStrike" cap="none" dirty="0">
                        <a:solidFill>
                          <a:schemeClr val="dk1"/>
                        </a:solidFill>
                        <a:latin typeface="Meiryo UI" panose="020B0604030504040204" pitchFamily="50" charset="-128"/>
                        <a:ea typeface="Meiryo UI" panose="020B0604030504040204" pitchFamily="50" charset="-128"/>
                      </a:endParaRPr>
                    </a:p>
                    <a:p>
                      <a:pPr algn="l"/>
                      <a:r>
                        <a:rPr sz="900" b="0">
                          <a:latin typeface="Meiryo UI"/>
                          <a:ea typeface="Meiryo UI"/>
                        </a:rPr>
                        <a:t>※スキーム比較・手出し資金の比較は後掲ページをご参照ください。</a:t>
                      </a:r>
                    </a:p>
                  </a:txBody>
                  <a:tcPr marL="54000" marR="36000" marT="18000" marB="18000" anchor="ctr">
                    <a:lnL w="9525" cap="flat" cmpd="sng">
                      <a:solidFill>
                        <a:srgbClr val="000000">
                          <a:alpha val="0"/>
                        </a:srgbClr>
                      </a:solidFill>
                      <a:prstDash val="solid"/>
                      <a:round/>
                      <a:headEnd type="none" w="sm" len="sm"/>
                      <a:tailEnd type="none" w="sm" len="sm"/>
                    </a:lnL>
                    <a:lnR w="12700" cap="flat" cmpd="sng">
                      <a:solidFill>
                        <a:srgbClr val="C8C8C8"/>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rgbClr val="C8C8C8"/>
                      </a:solidFill>
                      <a:prstDash val="solid"/>
                      <a:round/>
                      <a:headEnd type="none" w="sm" len="sm"/>
                      <a:tailEnd type="none" w="sm" len="sm"/>
                    </a:lnB>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
                          <a:prstClr val="black"/>
                        </a:buClr>
                        <a:buSzPts val="1600"/>
                        <a:buFont typeface="Arial"/>
                        <a:buNone/>
                        <a:tabLst/>
                        <a:defRPr/>
                      </a:pPr>
                      <a:r>
                        <a:rPr sz="1200" b="1">
                          <a:latin typeface="Meiryo UI"/>
                          <a:ea typeface="Meiryo UI"/>
                        </a:rPr>
                        <a:t>要確認</a:t>
                      </a:r>
                      <a:endParaRPr kumimoji="0" lang="ja-JP" altLang="ja-JP" sz="1600" b="1"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Arial"/>
                        <a:sym typeface="Arial"/>
                      </a:endParaRPr>
                    </a:p>
                  </a:txBody>
                  <a:tcPr marL="54000" marR="36000" marT="18000" marB="18000" anchor="ctr">
                    <a:lnL w="12700" cap="flat" cmpd="sng">
                      <a:solidFill>
                        <a:srgbClr val="C8C8C8"/>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rgbClr val="C8C8C8"/>
                      </a:solidFill>
                      <a:prstDash val="solid"/>
                      <a:round/>
                      <a:headEnd type="none" w="sm" len="sm"/>
                      <a:tailEnd type="none" w="sm" len="sm"/>
                    </a:lnB>
                    <a:solidFill>
                      <a:srgbClr val="ECF2D9"/>
                    </a:solidFill>
                  </a:tcPr>
                </a:tc>
                <a:extLst>
                  <a:ext uri="{0D108BD9-81ED-4DB2-BD59-A6C34878D82A}">
                    <a16:rowId xmlns:a16="http://schemas.microsoft.com/office/drawing/2014/main" val="10001"/>
                  </a:ext>
                </a:extLst>
              </a:tr>
              <a:tr h="758952">
                <a:tc>
                  <a:txBody>
                    <a:bodyPr/>
                    <a:lstStyle/>
                    <a:p>
                      <a:pPr marL="0" marR="0" lvl="0" indent="0" algn="ctr" rtl="0">
                        <a:spcBef>
                          <a:spcPts val="0"/>
                        </a:spcBef>
                        <a:spcAft>
                          <a:spcPts val="0"/>
                        </a:spcAft>
                        <a:buNone/>
                      </a:pPr>
                      <a:r>
                        <a:rPr sz="1300" b="1">
                          <a:latin typeface="Meiryo UI"/>
                          <a:ea typeface="Meiryo UI"/>
                        </a:rPr>
                        <a:t>2</a:t>
                      </a:r>
                    </a:p>
                  </a:txBody>
                  <a:tcPr marL="54000" marR="36000" marT="18000" marB="18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60000"/>
                        <a:lumOff val="40000"/>
                      </a:schemeClr>
                    </a:solidFill>
                  </a:tcPr>
                </a:tc>
                <a:tc>
                  <a:txBody>
                    <a:bodyPr/>
                    <a:lstStyle/>
                    <a:p>
                      <a:pPr marL="0" marR="0" lvl="0" indent="0" algn="ctr" rtl="0">
                        <a:spcBef>
                          <a:spcPts val="0"/>
                        </a:spcBef>
                        <a:spcAft>
                          <a:spcPts val="0"/>
                        </a:spcAft>
                        <a:buNone/>
                      </a:pPr>
                      <a:r>
                        <a:rPr sz="1100" b="0">
                          <a:latin typeface="Meiryo UI"/>
                          <a:ea typeface="Meiryo UI"/>
                        </a:rPr>
                        <a:t>譲渡対象事業</a:t>
                      </a:r>
                      <a:endParaRPr lang="en-US" altLang="ja-JP" sz="1300" u="none" strike="noStrike" cap="none" dirty="0">
                        <a:solidFill>
                          <a:schemeClr val="dk1"/>
                        </a:solidFill>
                        <a:latin typeface="Meiryo UI" panose="020B0604030504040204" pitchFamily="50" charset="-128"/>
                        <a:ea typeface="Meiryo UI" panose="020B0604030504040204" pitchFamily="50" charset="-128"/>
                      </a:endParaRPr>
                    </a:p>
                  </a:txBody>
                  <a:tcPr marL="54000" marR="36000" marT="18000" marB="18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chemeClr val="accent1">
                        <a:lumMod val="20000"/>
                        <a:lumOff val="80000"/>
                      </a:schemeClr>
                    </a:solidFill>
                  </a:tcPr>
                </a:tc>
                <a:tc>
                  <a:txBody>
                    <a:bodyPr/>
                    <a:lstStyle/>
                    <a:p>
                      <a:pPr marL="0" marR="0" lvl="0" indent="0" algn="l" rtl="0">
                        <a:spcBef>
                          <a:spcPts val="0"/>
                        </a:spcBef>
                        <a:spcAft>
                          <a:spcPts val="0"/>
                        </a:spcAft>
                        <a:buClr>
                          <a:srgbClr val="66A09A"/>
                        </a:buClr>
                        <a:buSzPts val="1120"/>
                        <a:buFont typeface="Arial"/>
                        <a:buNone/>
                      </a:pPr>
                      <a:r>
                        <a:rPr sz="900" b="0">
                          <a:latin typeface="Meiryo UI"/>
                          <a:ea typeface="Meiryo UI"/>
                        </a:rPr>
                        <a:t>フォワーダー事業（外航海運・外航空運の利用運送、通関・貿易実務、輸出入代行、納品代行）。中国・東南アジア－日本間が中心。</a:t>
                      </a:r>
                    </a:p>
                  </a:txBody>
                  <a:tcPr marL="54000" marR="36000" marT="18000" marB="18000" anchor="ctr">
                    <a:lnL w="9525" cap="flat" cmpd="sng">
                      <a:solidFill>
                        <a:srgbClr val="000000">
                          <a:alpha val="0"/>
                        </a:srgbClr>
                      </a:solidFill>
                      <a:prstDash val="solid"/>
                      <a:round/>
                      <a:headEnd type="none" w="sm" len="sm"/>
                      <a:tailEnd type="none" w="sm" len="sm"/>
                    </a:lnL>
                    <a:lnR w="12700" cap="flat" cmpd="sng">
                      <a:solidFill>
                        <a:srgbClr val="C8C8C8"/>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lgn="ctr">
                      <a:solidFill>
                        <a:srgbClr val="C8C8C8"/>
                      </a:solidFill>
                      <a:prstDash val="solid"/>
                      <a:round/>
                      <a:headEnd type="none" w="sm" len="sm"/>
                      <a:tailEnd type="none" w="sm" len="sm"/>
                    </a:lnB>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
                          <a:prstClr val="black"/>
                        </a:buClr>
                        <a:buSzPts val="1600"/>
                        <a:buFont typeface="Arial"/>
                        <a:buNone/>
                        <a:tabLst/>
                        <a:defRPr/>
                      </a:pPr>
                      <a:r>
                        <a:rPr sz="1200" b="1">
                          <a:latin typeface="Meiryo UI"/>
                          <a:ea typeface="Meiryo UI"/>
                        </a:rPr>
                        <a:t>確認済</a:t>
                      </a:r>
                      <a:endParaRPr kumimoji="0" lang="ja-JP" altLang="ja-JP" sz="1600" b="1"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Arial"/>
                        <a:sym typeface="Arial"/>
                      </a:endParaRPr>
                    </a:p>
                  </a:txBody>
                  <a:tcPr marL="54000" marR="36000" marT="18000" marB="18000" anchor="ctr">
                    <a:lnL w="12700" cap="flat" cmpd="sng">
                      <a:solidFill>
                        <a:srgbClr val="C8C8C8"/>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lgn="ctr">
                      <a:solidFill>
                        <a:srgbClr val="C8C8C8"/>
                      </a:solidFill>
                      <a:prstDash val="solid"/>
                      <a:round/>
                      <a:headEnd type="none" w="sm" len="sm"/>
                      <a:tailEnd type="none" w="sm" len="sm"/>
                    </a:lnB>
                    <a:solidFill>
                      <a:srgbClr val="ECF2D9"/>
                    </a:solidFill>
                  </a:tcPr>
                </a:tc>
                <a:extLst>
                  <a:ext uri="{0D108BD9-81ED-4DB2-BD59-A6C34878D82A}">
                    <a16:rowId xmlns:a16="http://schemas.microsoft.com/office/drawing/2014/main" val="10002"/>
                  </a:ext>
                </a:extLst>
              </a:tr>
              <a:tr h="758952">
                <a:tc>
                  <a:txBody>
                    <a:bodyPr/>
                    <a:lstStyle/>
                    <a:p>
                      <a:pPr marL="0" marR="0" lvl="0" indent="0" algn="ctr" rtl="0">
                        <a:spcBef>
                          <a:spcPts val="0"/>
                        </a:spcBef>
                        <a:spcAft>
                          <a:spcPts val="0"/>
                        </a:spcAft>
                        <a:buNone/>
                      </a:pPr>
                      <a:r>
                        <a:rPr sz="1300" b="1">
                          <a:latin typeface="Meiryo UI"/>
                          <a:ea typeface="Meiryo UI"/>
                        </a:rPr>
                        <a:t>3</a:t>
                      </a:r>
                    </a:p>
                  </a:txBody>
                  <a:tcPr marL="54000" marR="36000" marT="18000" marB="18000" anchor="ctr">
                    <a:lnL w="9525" cap="flat" cmpd="sng">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60000"/>
                        <a:lumOff val="40000"/>
                      </a:schemeClr>
                    </a:solidFill>
                  </a:tcPr>
                </a:tc>
                <a:tc>
                  <a:txBody>
                    <a:bodyPr/>
                    <a:lstStyle/>
                    <a:p>
                      <a:pPr marL="0" marR="0" lvl="0" indent="0" algn="ctr" rtl="0">
                        <a:spcBef>
                          <a:spcPts val="0"/>
                        </a:spcBef>
                        <a:spcAft>
                          <a:spcPts val="0"/>
                        </a:spcAft>
                        <a:buNone/>
                      </a:pPr>
                      <a:r>
                        <a:rPr sz="1100" b="0">
                          <a:latin typeface="Meiryo UI"/>
                          <a:ea typeface="Meiryo UI"/>
                        </a:rPr>
                        <a:t>譲渡対象外</a:t>
                      </a:r>
                    </a:p>
                  </a:txBody>
                  <a:tcPr marL="54000" marR="36000" marT="18000" marB="18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chemeClr val="accent1">
                        <a:lumMod val="20000"/>
                        <a:lumOff val="80000"/>
                      </a:schemeClr>
                    </a:solidFill>
                  </a:tcPr>
                </a:tc>
                <a:tc>
                  <a:txBody>
                    <a:bodyPr/>
                    <a:lstStyle/>
                    <a:p>
                      <a:pPr marL="0" marR="0" lvl="0" indent="0" algn="l" rtl="0">
                        <a:spcBef>
                          <a:spcPts val="0"/>
                        </a:spcBef>
                        <a:spcAft>
                          <a:spcPts val="0"/>
                        </a:spcAft>
                        <a:buClr>
                          <a:srgbClr val="66A09A"/>
                        </a:buClr>
                        <a:buSzPts val="1120"/>
                        <a:buFont typeface="Arial"/>
                        <a:buNone/>
                      </a:pPr>
                      <a:r>
                        <a:rPr sz="900" b="0">
                          <a:latin typeface="Meiryo UI"/>
                          <a:ea typeface="Meiryo UI"/>
                        </a:rPr>
                        <a:t>軽配送事業（貨物軽自動車運送）。代表が保有する休眠会社へ切り出す想定。</a:t>
                      </a:r>
                    </a:p>
                    <a:p>
                      <a:pPr algn="l"/>
                      <a:r>
                        <a:rPr sz="900" b="0">
                          <a:latin typeface="Meiryo UI"/>
                          <a:ea typeface="Meiryo UI"/>
                        </a:rPr>
                        <a:t>※切出しの実行状況・対象範囲・法形式は要確認。</a:t>
                      </a:r>
                    </a:p>
                  </a:txBody>
                  <a:tcPr marL="54000" marR="36000" marT="18000" marB="18000" anchor="ctr">
                    <a:lnL w="9525" cap="flat" cmpd="sng">
                      <a:solidFill>
                        <a:srgbClr val="000000">
                          <a:alpha val="0"/>
                        </a:srgbClr>
                      </a:solidFill>
                      <a:prstDash val="solid"/>
                      <a:round/>
                      <a:headEnd type="none" w="sm" len="sm"/>
                      <a:tailEnd type="none" w="sm" len="sm"/>
                    </a:lnL>
                    <a:lnR w="12700" cap="flat" cmpd="sng">
                      <a:solidFill>
                        <a:srgbClr val="C8C8C8"/>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lgn="ctr">
                      <a:solidFill>
                        <a:srgbClr val="C8C8C8"/>
                      </a:solidFill>
                      <a:prstDash val="solid"/>
                      <a:round/>
                      <a:headEnd type="none" w="sm" len="sm"/>
                      <a:tailEnd type="none" w="sm" len="sm"/>
                    </a:lnB>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
                          <a:prstClr val="black"/>
                        </a:buClr>
                        <a:buSzPts val="1600"/>
                        <a:buFont typeface="Arial"/>
                        <a:buNone/>
                        <a:tabLst/>
                        <a:defRPr/>
                      </a:pPr>
                      <a:r>
                        <a:rPr sz="1200" b="1">
                          <a:latin typeface="Meiryo UI"/>
                          <a:ea typeface="Meiryo UI"/>
                        </a:rPr>
                        <a:t>要確認</a:t>
                      </a:r>
                      <a:endParaRPr kumimoji="0" lang="ja-JP" altLang="ja-JP" sz="1600" b="1"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Arial"/>
                        <a:sym typeface="Arial"/>
                      </a:endParaRPr>
                    </a:p>
                  </a:txBody>
                  <a:tcPr marL="54000" marR="36000" marT="18000" marB="18000" anchor="ctr">
                    <a:lnL w="12700" cap="flat" cmpd="sng">
                      <a:solidFill>
                        <a:srgbClr val="C8C8C8"/>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lgn="ctr">
                      <a:solidFill>
                        <a:srgbClr val="C8C8C8"/>
                      </a:solidFill>
                      <a:prstDash val="solid"/>
                      <a:round/>
                      <a:headEnd type="none" w="sm" len="sm"/>
                      <a:tailEnd type="none" w="sm" len="sm"/>
                    </a:lnB>
                    <a:solidFill>
                      <a:srgbClr val="ECF2D9"/>
                    </a:solidFill>
                  </a:tcPr>
                </a:tc>
                <a:extLst>
                  <a:ext uri="{0D108BD9-81ED-4DB2-BD59-A6C34878D82A}">
                    <a16:rowId xmlns:a16="http://schemas.microsoft.com/office/drawing/2014/main" val="10003"/>
                  </a:ext>
                </a:extLst>
              </a:tr>
              <a:tr h="758952">
                <a:tc>
                  <a:txBody>
                    <a:bodyPr/>
                    <a:lstStyle/>
                    <a:p>
                      <a:pPr marL="0" marR="0" lvl="0" indent="0" algn="ctr" rtl="0">
                        <a:spcBef>
                          <a:spcPts val="0"/>
                        </a:spcBef>
                        <a:spcAft>
                          <a:spcPts val="0"/>
                        </a:spcAft>
                        <a:buNone/>
                      </a:pPr>
                      <a:r>
                        <a:rPr sz="1300" b="1">
                          <a:latin typeface="Meiryo UI"/>
                          <a:ea typeface="Meiryo UI"/>
                        </a:rPr>
                        <a:t>4</a:t>
                      </a:r>
                    </a:p>
                  </a:txBody>
                  <a:tcPr marL="54000" marR="36000" marT="18000" marB="18000" anchor="ctr">
                    <a:lnL w="9525" cap="flat" cmpd="sng">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chemeClr val="accent1">
                        <a:lumMod val="60000"/>
                        <a:lumOff val="40000"/>
                      </a:schemeClr>
                    </a:solidFill>
                  </a:tcPr>
                </a:tc>
                <a:tc>
                  <a:txBody>
                    <a:bodyPr/>
                    <a:lstStyle/>
                    <a:p>
                      <a:pPr marL="0" marR="0" lvl="0" indent="0" algn="ctr" rtl="0">
                        <a:spcBef>
                          <a:spcPts val="0"/>
                        </a:spcBef>
                        <a:spcAft>
                          <a:spcPts val="0"/>
                        </a:spcAft>
                        <a:buNone/>
                      </a:pPr>
                      <a:r>
                        <a:rPr sz="1100" b="0">
                          <a:latin typeface="Meiryo UI"/>
                          <a:ea typeface="Meiryo UI"/>
                        </a:rPr>
                        <a:t>金額面の条件</a:t>
                      </a:r>
                    </a:p>
                    <a:p>
                      <a:pPr algn="ctr"/>
                      <a:r>
                        <a:rPr sz="1100" b="0">
                          <a:latin typeface="Meiryo UI"/>
                          <a:ea typeface="Meiryo UI"/>
                        </a:rPr>
                        <a:t>（譲渡対価）</a:t>
                      </a:r>
                    </a:p>
                  </a:txBody>
                  <a:tcPr marL="54000" marR="36000" marT="18000" marB="18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chemeClr val="accent1">
                        <a:lumMod val="20000"/>
                        <a:lumOff val="80000"/>
                      </a:schemeClr>
                    </a:solidFill>
                  </a:tcPr>
                </a:tc>
                <a:tc>
                  <a:txBody>
                    <a:bodyPr/>
                    <a:lstStyle/>
                    <a:p>
                      <a:pPr marL="0" marR="0" lvl="0" indent="0" algn="l" rtl="0">
                        <a:spcBef>
                          <a:spcPts val="0"/>
                        </a:spcBef>
                        <a:spcAft>
                          <a:spcPts val="0"/>
                        </a:spcAft>
                        <a:buClr>
                          <a:srgbClr val="66A09A"/>
                        </a:buClr>
                        <a:buSzPts val="1120"/>
                        <a:buFont typeface="Arial"/>
                        <a:buNone/>
                      </a:pPr>
                      <a:r>
                        <a:rPr sz="900" b="0">
                          <a:latin typeface="Meiryo UI"/>
                          <a:ea typeface="Meiryo UI"/>
                        </a:rPr>
                        <a:t>・譲渡希望価格：15,000千円（株式100%譲渡ベース）</a:t>
                      </a:r>
                      <a:endParaRPr lang="en-US" altLang="ja-JP" sz="1000" b="0" u="none" strike="noStrike" cap="none" dirty="0">
                        <a:solidFill>
                          <a:schemeClr val="dk1"/>
                        </a:solidFill>
                        <a:latin typeface="Meiryo UI" panose="020B0604030504040204" pitchFamily="50" charset="-128"/>
                        <a:ea typeface="Meiryo UI" panose="020B0604030504040204" pitchFamily="50" charset="-128"/>
                      </a:endParaRPr>
                    </a:p>
                    <a:p>
                      <a:pPr algn="l"/>
                      <a:r>
                        <a:rPr sz="900" b="0">
                          <a:latin typeface="Meiryo UI"/>
                          <a:ea typeface="Meiryo UI"/>
                        </a:rPr>
                        <a:t>・基準EBITDA 18,760千円に対するEV/EBITDAマルチプル法（3〜5倍）では 56,280〜93,800千円</a:t>
                      </a:r>
                    </a:p>
                    <a:p>
                      <a:pPr algn="l"/>
                      <a:r>
                        <a:rPr sz="900" b="0">
                          <a:latin typeface="Meiryo UI"/>
                          <a:ea typeface="Meiryo UI"/>
                        </a:rPr>
                        <a:t>　→ 有利子負債156,317千円の取扱いにより、スキーム間で対価水準が大きく異なります（後掲）。</a:t>
                      </a:r>
                    </a:p>
                  </a:txBody>
                  <a:tcPr marL="54000" marR="36000" marT="18000" marB="18000" anchor="ctr">
                    <a:lnL w="9525" cap="flat" cmpd="sng">
                      <a:solidFill>
                        <a:srgbClr val="000000">
                          <a:alpha val="0"/>
                        </a:srgbClr>
                      </a:solidFill>
                      <a:prstDash val="solid"/>
                      <a:round/>
                      <a:headEnd type="none" w="sm" len="sm"/>
                      <a:tailEnd type="none" w="sm" len="sm"/>
                    </a:lnL>
                    <a:lnR w="12700" cap="flat" cmpd="sng">
                      <a:solidFill>
                        <a:srgbClr val="C8C8C8"/>
                      </a:solidFill>
                      <a:prstDash val="solid"/>
                      <a:round/>
                      <a:headEnd type="none" w="sm" len="sm"/>
                      <a:tailEnd type="none" w="sm" len="sm"/>
                    </a:lnR>
                    <a:lnT w="12700" cap="flat" cmpd="sng" algn="ctr">
                      <a:solidFill>
                        <a:srgbClr val="C8C8C8"/>
                      </a:solidFill>
                      <a:prstDash val="solid"/>
                      <a:round/>
                      <a:headEnd type="none" w="sm" len="sm"/>
                      <a:tailEnd type="none" w="sm" len="sm"/>
                    </a:lnT>
                    <a:lnB w="12700" cap="flat" cmpd="sng" algn="ctr">
                      <a:solidFill>
                        <a:srgbClr val="C8C8C8"/>
                      </a:solidFill>
                      <a:prstDash val="solid"/>
                      <a:round/>
                      <a:headEnd type="none" w="sm" len="sm"/>
                      <a:tailEnd type="none" w="sm" len="sm"/>
                    </a:lnB>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
                          <a:prstClr val="black"/>
                        </a:buClr>
                        <a:buSzPts val="1600"/>
                        <a:buFont typeface="Arial"/>
                        <a:buNone/>
                        <a:tabLst/>
                        <a:defRPr/>
                      </a:pPr>
                      <a:r>
                        <a:rPr sz="1200" b="1">
                          <a:latin typeface="Meiryo UI"/>
                          <a:ea typeface="Meiryo UI"/>
                        </a:rPr>
                        <a:t>要協議</a:t>
                      </a:r>
                      <a:endParaRPr kumimoji="0" lang="ja-JP" altLang="ja-JP" sz="1600" b="1"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Arial"/>
                        <a:sym typeface="Arial"/>
                      </a:endParaRPr>
                    </a:p>
                  </a:txBody>
                  <a:tcPr marL="54000" marR="36000" marT="18000" marB="18000" anchor="ctr">
                    <a:lnL w="12700" cap="flat" cmpd="sng">
                      <a:solidFill>
                        <a:srgbClr val="C8C8C8"/>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lgn="ctr">
                      <a:solidFill>
                        <a:srgbClr val="C8C8C8"/>
                      </a:solidFill>
                      <a:prstDash val="solid"/>
                      <a:round/>
                      <a:headEnd type="none" w="sm" len="sm"/>
                      <a:tailEnd type="none" w="sm" len="sm"/>
                    </a:lnT>
                    <a:lnB w="12700" cap="flat" cmpd="sng" algn="ctr">
                      <a:solidFill>
                        <a:srgbClr val="C8C8C8"/>
                      </a:solidFill>
                      <a:prstDash val="solid"/>
                      <a:round/>
                      <a:headEnd type="none" w="sm" len="sm"/>
                      <a:tailEnd type="none" w="sm" len="sm"/>
                    </a:lnB>
                    <a:solidFill>
                      <a:srgbClr val="ECF2D9"/>
                    </a:solidFill>
                  </a:tcPr>
                </a:tc>
                <a:extLst>
                  <a:ext uri="{0D108BD9-81ED-4DB2-BD59-A6C34878D82A}">
                    <a16:rowId xmlns:a16="http://schemas.microsoft.com/office/drawing/2014/main" val="10004"/>
                  </a:ext>
                </a:extLst>
              </a:tr>
              <a:tr h="758952">
                <a:tc>
                  <a:txBody>
                    <a:bodyPr/>
                    <a:lstStyle/>
                    <a:p>
                      <a:pPr marL="0" marR="0" lvl="0" indent="0" algn="ctr" rtl="0">
                        <a:spcBef>
                          <a:spcPts val="0"/>
                        </a:spcBef>
                        <a:spcAft>
                          <a:spcPts val="0"/>
                        </a:spcAft>
                        <a:buNone/>
                      </a:pPr>
                      <a:r>
                        <a:rPr sz="1300" b="1">
                          <a:latin typeface="Meiryo UI"/>
                          <a:ea typeface="Meiryo UI"/>
                        </a:rPr>
                        <a:t>5</a:t>
                      </a:r>
                    </a:p>
                  </a:txBody>
                  <a:tcPr marL="54000" marR="36000" marT="18000" marB="18000" anchor="ctr">
                    <a:lnL w="9525" cap="flat" cmpd="sng">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60000"/>
                        <a:lumOff val="40000"/>
                      </a:schemeClr>
                    </a:solidFill>
                  </a:tcPr>
                </a:tc>
                <a:tc>
                  <a:txBody>
                    <a:bodyPr/>
                    <a:lstStyle/>
                    <a:p>
                      <a:pPr marL="0" marR="0" lvl="0" indent="0" algn="ctr" rtl="0">
                        <a:spcBef>
                          <a:spcPts val="0"/>
                        </a:spcBef>
                        <a:spcAft>
                          <a:spcPts val="0"/>
                        </a:spcAft>
                        <a:buNone/>
                      </a:pPr>
                      <a:r>
                        <a:rPr sz="1100" b="0">
                          <a:latin typeface="Meiryo UI"/>
                          <a:ea typeface="Meiryo UI"/>
                        </a:rPr>
                        <a:t>付帯条件</a:t>
                      </a:r>
                    </a:p>
                  </a:txBody>
                  <a:tcPr marL="54000" marR="36000" marT="18000" marB="18000" anchor="ctr">
                    <a:lnL w="9525" cap="flat" cmpd="sng" algn="ctr">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20000"/>
                        <a:lumOff val="80000"/>
                      </a:schemeClr>
                    </a:solidFill>
                  </a:tcPr>
                </a:tc>
                <a:tc>
                  <a:txBody>
                    <a:bodyPr/>
                    <a:lstStyle/>
                    <a:p>
                      <a:pPr marL="0" marR="0" lvl="0" indent="0" algn="l" rtl="0">
                        <a:spcBef>
                          <a:spcPts val="0"/>
                        </a:spcBef>
                        <a:spcAft>
                          <a:spcPts val="0"/>
                        </a:spcAft>
                        <a:buClr>
                          <a:srgbClr val="66A09A"/>
                        </a:buClr>
                        <a:buSzPts val="1120"/>
                        <a:buFont typeface="Arial"/>
                        <a:buNone/>
                      </a:pPr>
                      <a:r>
                        <a:rPr sz="900" b="0">
                          <a:latin typeface="Meiryo UI"/>
                          <a:ea typeface="Meiryo UI"/>
                        </a:rPr>
                        <a:t>・従業員の継続雇用</a:t>
                      </a:r>
                    </a:p>
                    <a:p>
                      <a:pPr algn="l"/>
                      <a:r>
                        <a:rPr sz="900" b="0">
                          <a:latin typeface="Meiryo UI"/>
                          <a:ea typeface="Meiryo UI"/>
                        </a:rPr>
                        <a:t>・代表（松永社長）の連帯保証の解除</a:t>
                      </a:r>
                    </a:p>
                    <a:p>
                      <a:pPr algn="l"/>
                      <a:r>
                        <a:rPr sz="900" b="0">
                          <a:latin typeface="Meiryo UI"/>
                          <a:ea typeface="Meiryo UI"/>
                        </a:rPr>
                        <a:t>・役員借入金（約10,000千円）の返済</a:t>
                      </a:r>
                    </a:p>
                  </a:txBody>
                  <a:tcPr marL="54000" marR="36000" marT="18000" marB="18000" anchor="ctr">
                    <a:lnL w="9525" cap="flat" cmpd="sng" algn="ctr">
                      <a:solidFill>
                        <a:srgbClr val="000000">
                          <a:alpha val="0"/>
                        </a:srgbClr>
                      </a:solidFill>
                      <a:prstDash val="solid"/>
                      <a:round/>
                      <a:headEnd type="none" w="sm" len="sm"/>
                      <a:tailEnd type="none" w="sm" len="sm"/>
                    </a:lnL>
                    <a:lnR w="12700" cap="flat" cmpd="sng" algn="ctr">
                      <a:solidFill>
                        <a:srgbClr val="C8C8C8"/>
                      </a:solidFill>
                      <a:prstDash val="solid"/>
                      <a:round/>
                      <a:headEnd type="none" w="sm" len="sm"/>
                      <a:tailEnd type="none" w="sm" len="sm"/>
                    </a:lnR>
                    <a:lnT w="12700" cap="flat" cmpd="sng" algn="ctr">
                      <a:solidFill>
                        <a:srgbClr val="C8C8C8"/>
                      </a:solidFill>
                      <a:prstDash val="solid"/>
                      <a:round/>
                      <a:headEnd type="none" w="sm" len="sm"/>
                      <a:tailEnd type="none" w="sm" len="sm"/>
                    </a:lnT>
                    <a:lnB w="12700" cap="flat" cmpd="sng">
                      <a:solidFill>
                        <a:srgbClr val="C8C8C8"/>
                      </a:solidFill>
                      <a:prstDash val="solid"/>
                      <a:round/>
                      <a:headEnd type="none" w="sm" len="sm"/>
                      <a:tailEnd type="none" w="sm" len="sm"/>
                    </a:lnB>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
                          <a:prstClr val="black"/>
                        </a:buClr>
                        <a:buSzPts val="1600"/>
                        <a:buFont typeface="Arial"/>
                        <a:buNone/>
                        <a:tabLst/>
                        <a:defRPr/>
                      </a:pPr>
                      <a:r>
                        <a:rPr sz="1200" b="1">
                          <a:latin typeface="Meiryo UI"/>
                          <a:ea typeface="Meiryo UI"/>
                        </a:rPr>
                        <a:t>確認済</a:t>
                      </a:r>
                      <a:endParaRPr kumimoji="0" lang="en-US" altLang="ja-JP" sz="1600" b="1"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Arial"/>
                        <a:sym typeface="Arial"/>
                      </a:endParaRPr>
                    </a:p>
                  </a:txBody>
                  <a:tcPr marL="54000" marR="36000" marT="18000" marB="18000" anchor="ctr">
                    <a:lnL w="12700" cap="flat" cmpd="sng" algn="ctr">
                      <a:solidFill>
                        <a:srgbClr val="C8C8C8"/>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lgn="ctr">
                      <a:solidFill>
                        <a:srgbClr val="C8C8C8"/>
                      </a:solidFill>
                      <a:prstDash val="solid"/>
                      <a:round/>
                      <a:headEnd type="none" w="sm" len="sm"/>
                      <a:tailEnd type="none" w="sm" len="sm"/>
                    </a:lnT>
                    <a:lnB w="12700" cap="flat" cmpd="sng">
                      <a:solidFill>
                        <a:srgbClr val="C8C8C8"/>
                      </a:solidFill>
                      <a:prstDash val="solid"/>
                      <a:round/>
                      <a:headEnd type="none" w="sm" len="sm"/>
                      <a:tailEnd type="none" w="sm" len="sm"/>
                    </a:lnB>
                    <a:solidFill>
                      <a:srgbClr val="ECF2D9"/>
                    </a:solidFill>
                  </a:tcPr>
                </a:tc>
                <a:extLst>
                  <a:ext uri="{0D108BD9-81ED-4DB2-BD59-A6C34878D82A}">
                    <a16:rowId xmlns:a16="http://schemas.microsoft.com/office/drawing/2014/main" val="10007"/>
                  </a:ext>
                </a:extLst>
              </a:tr>
              <a:tr h="758952">
                <a:tc>
                  <a:txBody>
                    <a:bodyPr/>
                    <a:lstStyle/>
                    <a:p>
                      <a:pPr marL="0" marR="0" lvl="0" indent="0" algn="ctr" rtl="0">
                        <a:spcBef>
                          <a:spcPts val="0"/>
                        </a:spcBef>
                        <a:spcAft>
                          <a:spcPts val="0"/>
                        </a:spcAft>
                        <a:buNone/>
                      </a:pPr>
                      <a:r>
                        <a:rPr sz="1300" b="1">
                          <a:latin typeface="Meiryo UI"/>
                          <a:ea typeface="Meiryo UI"/>
                        </a:rPr>
                        <a:t>6</a:t>
                      </a:r>
                    </a:p>
                  </a:txBody>
                  <a:tcPr marL="54000" marR="36000" marT="18000" marB="18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60000"/>
                        <a:lumOff val="40000"/>
                      </a:schemeClr>
                    </a:solidFill>
                  </a:tcPr>
                </a:tc>
                <a:tc>
                  <a:txBody>
                    <a:bodyPr/>
                    <a:lstStyle/>
                    <a:p>
                      <a:pPr marL="0" marR="0" lvl="0" indent="0" algn="ctr" rtl="0">
                        <a:lnSpc>
                          <a:spcPct val="100000"/>
                        </a:lnSpc>
                        <a:spcBef>
                          <a:spcPts val="0"/>
                        </a:spcBef>
                        <a:spcAft>
                          <a:spcPts val="0"/>
                        </a:spcAft>
                        <a:buClr>
                          <a:schemeClr val="dk1"/>
                        </a:buClr>
                        <a:buSzPts val="1500"/>
                        <a:buFont typeface="Arial"/>
                        <a:buNone/>
                      </a:pPr>
                      <a:r>
                        <a:rPr sz="1100" b="0">
                          <a:latin typeface="Meiryo UI"/>
                          <a:ea typeface="Meiryo UI"/>
                        </a:rPr>
                        <a:t>従業員の雇用</a:t>
                      </a:r>
                    </a:p>
                  </a:txBody>
                  <a:tcPr marL="54000" marR="36000" marT="18000" marB="18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20000"/>
                        <a:lumOff val="80000"/>
                      </a:schemeClr>
                    </a:solidFill>
                  </a:tcPr>
                </a:tc>
                <a:tc>
                  <a:txBody>
                    <a:bodyPr/>
                    <a:lstStyle/>
                    <a:p>
                      <a:pPr marL="0" marR="0" lvl="0" indent="0" algn="l" rtl="0">
                        <a:lnSpc>
                          <a:spcPct val="100000"/>
                        </a:lnSpc>
                        <a:spcBef>
                          <a:spcPts val="0"/>
                        </a:spcBef>
                        <a:spcAft>
                          <a:spcPts val="0"/>
                        </a:spcAft>
                        <a:buClr>
                          <a:schemeClr val="dk1"/>
                        </a:buClr>
                        <a:buSzPts val="1400"/>
                        <a:buFont typeface="Arial"/>
                        <a:buNone/>
                      </a:pPr>
                      <a:r>
                        <a:rPr sz="900" b="0">
                          <a:latin typeface="Meiryo UI"/>
                          <a:ea typeface="Meiryo UI"/>
                        </a:rPr>
                        <a:t>譲渡対象事業の従業員6名（正社員4名・パート2名）。株式譲渡の場合は雇用契約が継続し転籍手続は不要。事業譲渡の場合は個別の転籍同意が必要。</a:t>
                      </a:r>
                    </a:p>
                  </a:txBody>
                  <a:tcPr marL="54000" marR="36000" marT="18000" marB="18000" anchor="ctr">
                    <a:lnL w="9525" cap="flat" cmpd="sng">
                      <a:solidFill>
                        <a:srgbClr val="000000">
                          <a:alpha val="0"/>
                        </a:srgbClr>
                      </a:solidFill>
                      <a:prstDash val="solid"/>
                      <a:round/>
                      <a:headEnd type="none" w="sm" len="sm"/>
                      <a:tailEnd type="none" w="sm" len="sm"/>
                    </a:lnL>
                    <a:lnR w="12700" cap="flat" cmpd="sng">
                      <a:solidFill>
                        <a:srgbClr val="C8C8C8"/>
                      </a:solidFill>
                      <a:prstDash val="solid"/>
                      <a:round/>
                      <a:headEnd type="none" w="sm" len="sm"/>
                      <a:tailEnd type="none" w="sm" len="sm"/>
                    </a:lnR>
                    <a:lnT w="12700" cap="flat" cmpd="sng" algn="ctr">
                      <a:solidFill>
                        <a:srgbClr val="C8C8C8"/>
                      </a:solidFill>
                      <a:prstDash val="solid"/>
                      <a:round/>
                      <a:headEnd type="none" w="sm" len="sm"/>
                      <a:tailEnd type="none" w="sm" len="sm"/>
                    </a:lnT>
                    <a:lnB w="12700" cap="flat" cmpd="sng">
                      <a:solidFill>
                        <a:srgbClr val="C8C8C8"/>
                      </a:solidFill>
                      <a:prstDash val="solid"/>
                      <a:round/>
                      <a:headEnd type="none" w="sm" len="sm"/>
                      <a:tailEnd type="none" w="sm" len="sm"/>
                    </a:lnB>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
                          <a:prstClr val="black"/>
                        </a:buClr>
                        <a:buSzPts val="1600"/>
                        <a:buFont typeface="Arial"/>
                        <a:buNone/>
                        <a:tabLst/>
                        <a:defRPr/>
                      </a:pPr>
                      <a:r>
                        <a:rPr sz="1200" b="1">
                          <a:latin typeface="Meiryo UI"/>
                          <a:ea typeface="Meiryo UI"/>
                        </a:rPr>
                        <a:t>要協議</a:t>
                      </a:r>
                      <a:endParaRPr kumimoji="0" lang="ja-JP" altLang="ja-JP" sz="1600" b="1"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Arial"/>
                        <a:sym typeface="Arial"/>
                      </a:endParaRPr>
                    </a:p>
                  </a:txBody>
                  <a:tcPr marL="54000" marR="36000" marT="18000" marB="18000" anchor="ctr">
                    <a:lnL w="12700" cap="flat" cmpd="sng">
                      <a:solidFill>
                        <a:srgbClr val="C8C8C8"/>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lgn="ctr">
                      <a:solidFill>
                        <a:srgbClr val="C8C8C8"/>
                      </a:solidFill>
                      <a:prstDash val="solid"/>
                      <a:round/>
                      <a:headEnd type="none" w="sm" len="sm"/>
                      <a:tailEnd type="none" w="sm" len="sm"/>
                    </a:lnT>
                    <a:lnB w="12700" cap="flat" cmpd="sng">
                      <a:solidFill>
                        <a:srgbClr val="C8C8C8"/>
                      </a:solidFill>
                      <a:prstDash val="solid"/>
                      <a:round/>
                      <a:headEnd type="none" w="sm" len="sm"/>
                      <a:tailEnd type="none" w="sm" len="sm"/>
                    </a:lnB>
                    <a:solidFill>
                      <a:srgbClr val="ECF2D9"/>
                    </a:solidFill>
                  </a:tcPr>
                </a:tc>
                <a:extLst>
                  <a:ext uri="{0D108BD9-81ED-4DB2-BD59-A6C34878D82A}">
                    <a16:rowId xmlns:a16="http://schemas.microsoft.com/office/drawing/2014/main" val="10008"/>
                  </a:ext>
                </a:extLst>
              </a:tr>
              <a:tr h="758952">
                <a:tc>
                  <a:txBody>
                    <a:bodyPr/>
                    <a:lstStyle/>
                    <a:p>
                      <a:pPr marL="0" marR="0" lvl="0" indent="0" algn="ctr" rtl="0">
                        <a:spcBef>
                          <a:spcPts val="0"/>
                        </a:spcBef>
                        <a:spcAft>
                          <a:spcPts val="0"/>
                        </a:spcAft>
                        <a:buNone/>
                      </a:pPr>
                      <a:r>
                        <a:rPr sz="1300" b="1">
                          <a:latin typeface="Meiryo UI"/>
                          <a:ea typeface="Meiryo UI"/>
                        </a:rPr>
                        <a:t>7</a:t>
                      </a:r>
                    </a:p>
                  </a:txBody>
                  <a:tcPr marL="54000" marR="36000" marT="18000" marB="18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60000"/>
                        <a:lumOff val="40000"/>
                      </a:schemeClr>
                    </a:solidFill>
                  </a:tcPr>
                </a:tc>
                <a:tc>
                  <a:txBody>
                    <a:bodyPr/>
                    <a:lstStyle/>
                    <a:p>
                      <a:pPr marL="0" marR="0" lvl="0" indent="0" algn="ctr" rtl="0">
                        <a:spcBef>
                          <a:spcPts val="0"/>
                        </a:spcBef>
                        <a:spcAft>
                          <a:spcPts val="0"/>
                        </a:spcAft>
                        <a:buNone/>
                      </a:pPr>
                      <a:r>
                        <a:rPr sz="1100" b="0">
                          <a:latin typeface="Meiryo UI"/>
                          <a:ea typeface="Meiryo UI"/>
                        </a:rPr>
                        <a:t>許認可</a:t>
                      </a:r>
                    </a:p>
                  </a:txBody>
                  <a:tcPr marL="54000" marR="36000" marT="18000" marB="18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20000"/>
                        <a:lumOff val="80000"/>
                      </a:schemeClr>
                    </a:solidFill>
                  </a:tcPr>
                </a:tc>
                <a:tc>
                  <a:txBody>
                    <a:bodyPr/>
                    <a:lstStyle/>
                    <a:p>
                      <a:pPr marL="0" marR="0" lvl="0" indent="0" algn="l" rtl="0">
                        <a:spcBef>
                          <a:spcPts val="0"/>
                        </a:spcBef>
                        <a:spcAft>
                          <a:spcPts val="0"/>
                        </a:spcAft>
                        <a:buClr>
                          <a:srgbClr val="66A09A"/>
                        </a:buClr>
                        <a:buSzPts val="1120"/>
                        <a:buFont typeface="Arial"/>
                        <a:buNone/>
                      </a:pPr>
                      <a:r>
                        <a:rPr sz="900" b="0">
                          <a:latin typeface="Meiryo UI"/>
                          <a:ea typeface="Meiryo UI"/>
                        </a:rPr>
                        <a:t>第一種貨物利用運送事業（外航海運）。株式譲渡であれば法人格に変更がないため原則継続。事業譲渡・会社分割の場合は承継手続・再取得の要否を所管官庁へ確認する必要。</a:t>
                      </a:r>
                      <a:endParaRPr lang="en-US" altLang="ja-JP" sz="1050" u="none" strike="noStrike" cap="none" dirty="0">
                        <a:solidFill>
                          <a:schemeClr val="dk1"/>
                        </a:solidFill>
                        <a:latin typeface="Meiryo UI" panose="020B0604030504040204" pitchFamily="50" charset="-128"/>
                        <a:ea typeface="Meiryo UI" panose="020B0604030504040204" pitchFamily="50" charset="-128"/>
                      </a:endParaRPr>
                    </a:p>
                  </a:txBody>
                  <a:tcPr marL="54000" marR="36000" marT="18000" marB="18000" anchor="ctr">
                    <a:lnL w="9525" cap="flat" cmpd="sng">
                      <a:solidFill>
                        <a:srgbClr val="000000">
                          <a:alpha val="0"/>
                        </a:srgbClr>
                      </a:solidFill>
                      <a:prstDash val="solid"/>
                      <a:round/>
                      <a:headEnd type="none" w="sm" len="sm"/>
                      <a:tailEnd type="none" w="sm" len="sm"/>
                    </a:lnL>
                    <a:lnR w="12700" cap="flat" cmpd="sng">
                      <a:solidFill>
                        <a:srgbClr val="C8C8C8"/>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rgbClr val="C8C8C8"/>
                      </a:solidFill>
                      <a:prstDash val="solid"/>
                      <a:round/>
                      <a:headEnd type="none" w="sm" len="sm"/>
                      <a:tailEnd type="none" w="sm" len="sm"/>
                    </a:lnB>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
                          <a:prstClr val="black"/>
                        </a:buClr>
                        <a:buSzPts val="1600"/>
                        <a:buFont typeface="Arial"/>
                        <a:buNone/>
                        <a:tabLst/>
                        <a:defRPr/>
                      </a:pPr>
                      <a:r>
                        <a:rPr sz="1200" b="1">
                          <a:latin typeface="Meiryo UI"/>
                          <a:ea typeface="Meiryo UI"/>
                        </a:rPr>
                        <a:t>要確認</a:t>
                      </a:r>
                      <a:endParaRPr kumimoji="0" lang="ja-JP" altLang="ja-JP" sz="1600" b="1"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Arial"/>
                        <a:sym typeface="Arial"/>
                      </a:endParaRPr>
                    </a:p>
                  </a:txBody>
                  <a:tcPr marL="54000" marR="36000" marT="18000" marB="18000" anchor="ctr">
                    <a:lnL w="12700" cap="flat" cmpd="sng">
                      <a:solidFill>
                        <a:srgbClr val="C8C8C8"/>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rgbClr val="C8C8C8"/>
                      </a:solidFill>
                      <a:prstDash val="solid"/>
                      <a:round/>
                      <a:headEnd type="none" w="sm" len="sm"/>
                      <a:tailEnd type="none" w="sm" len="sm"/>
                    </a:lnB>
                    <a:solidFill>
                      <a:srgbClr val="ECF2D9"/>
                    </a:solidFill>
                  </a:tcPr>
                </a:tc>
                <a:extLst>
                  <a:ext uri="{0D108BD9-81ED-4DB2-BD59-A6C34878D82A}">
                    <a16:rowId xmlns:a16="http://schemas.microsoft.com/office/drawing/2014/main" val="10001"/>
                  </a:ext>
                </a:extLst>
              </a:tr>
            </a:tbl>
          </a:graphicData>
        </a:graphic>
      </p:graphicFrame>
      <p:sp>
        <p:nvSpPr>
          <p:cNvPr id="208" name="Google Shape;208;p3"/>
          <p:cNvSpPr txBox="1"/>
          <p:nvPr/>
        </p:nvSpPr>
        <p:spPr>
          <a:xfrm>
            <a:off x="9450000" y="0"/>
            <a:ext cx="3400000" cy="6858000"/>
          </a:xfrm>
          <a:prstGeom prst="rect">
            <a:avLst/>
          </a:prstGeom>
          <a:solidFill>
            <a:srgbClr val="EEF7CD"/>
          </a:solidFill>
          <a:ln>
            <a:noFill/>
          </a:ln>
        </p:spPr>
        <p:txBody>
          <a:bodyPr spcFirstLastPara="1" wrap="square" lIns="72000" tIns="36000" rIns="72000" bIns="36000" anchor="ctr" anchorCtr="0">
            <a:noAutofit/>
          </a:bodyPr>
          <a:lstStyle/>
          <a:p>
            <a:pPr marL="0" marR="0" lvl="0" indent="0" algn="l" rtl="0">
              <a:lnSpc>
                <a:spcPct val="110000"/>
              </a:lnSpc>
              <a:spcBef>
                <a:spcPts val="0"/>
              </a:spcBef>
              <a:spcAft>
                <a:spcPts val="0"/>
              </a:spcAft>
              <a:buNone/>
            </a:pPr>
            <a:r>
              <a:rPr sz="900" b="0">
                <a:latin typeface="Meiryo UI"/>
                <a:ea typeface="Meiryo UI"/>
              </a:rPr>
              <a:t>【社内メモ｜本資料作成時の留意事項】</a:t>
            </a:r>
            <a:endParaRPr dirty="0"/>
          </a:p>
          <a:p>
            <a:pPr algn="l">
              <a:lnSpc>
                <a:spcPct val="110000"/>
              </a:lnSpc>
            </a:pPr>
            <a:r>
              <a:rPr sz="900" b="0">
                <a:latin typeface="Meiryo UI"/>
                <a:ea typeface="Meiryo UI"/>
              </a:rPr>
              <a:t>※本テキストボックスはスライド範囲外に配置しており、スライドショー・PDF出力には表示されません。買手候補への提示前に内容をご確認ください。</a:t>
            </a:r>
          </a:p>
          <a:p>
            <a:pPr algn="l">
              <a:lnSpc>
                <a:spcPct val="110000"/>
              </a:lnSpc>
            </a:pPr>
            <a:r>
              <a:rPr sz="900" b="0">
                <a:latin typeface="Meiryo UI"/>
                <a:ea typeface="Meiryo UI"/>
              </a:rPr>
              <a:t>　</a:t>
            </a:r>
          </a:p>
          <a:p>
            <a:pPr algn="l">
              <a:lnSpc>
                <a:spcPct val="110000"/>
              </a:lnSpc>
            </a:pPr>
            <a:r>
              <a:rPr sz="900" b="0">
                <a:latin typeface="Meiryo UI"/>
                <a:ea typeface="Meiryo UI"/>
              </a:rPr>
              <a:t>１．基準EBITDA 18,760千円は株式価値試算報告書（2026年4月17日付）の記載値。修正後EBITDA（14,806／14,410／22,952）を1:2:3で加重平均すると18,747千円となり13千円の差が生じるため、案件マスターで算定根拠を確定すること。</a:t>
            </a:r>
          </a:p>
          <a:p>
            <a:pPr algn="l">
              <a:lnSpc>
                <a:spcPct val="110000"/>
              </a:lnSpc>
            </a:pPr>
            <a:r>
              <a:rPr sz="900" b="0">
                <a:latin typeface="Meiryo UI"/>
                <a:ea typeface="Meiryo UI"/>
              </a:rPr>
              <a:t>　</a:t>
            </a:r>
          </a:p>
          <a:p>
            <a:pPr algn="l">
              <a:lnSpc>
                <a:spcPct val="110000"/>
              </a:lnSpc>
            </a:pPr>
            <a:r>
              <a:rPr sz="900" b="0">
                <a:latin typeface="Meiryo UI"/>
                <a:ea typeface="Meiryo UI"/>
              </a:rPr>
              <a:t>２．「スキーム比較のご提案」（2026年5月29日付）では基準EBITDA 18,512千円・倍率4〜6倍（EV 74,046〜111,069千円）と記載されており、株式価値試算報告書（18,760千円・3〜5倍）と数値・倍率がいずれも異なる。買手候補ごとに提示数値が食い違わないよう、提示前に統一すること。本資料は株式価値試算報告書の数値に統一している。</a:t>
            </a:r>
          </a:p>
          <a:p>
            <a:pPr algn="l">
              <a:lnSpc>
                <a:spcPct val="110000"/>
              </a:lnSpc>
            </a:pPr>
            <a:r>
              <a:rPr sz="900" b="0">
                <a:latin typeface="Meiryo UI"/>
                <a:ea typeface="Meiryo UI"/>
              </a:rPr>
              <a:t>　</a:t>
            </a:r>
          </a:p>
          <a:p>
            <a:pPr algn="l">
              <a:lnSpc>
                <a:spcPct val="110000"/>
              </a:lnSpc>
            </a:pPr>
            <a:r>
              <a:rPr sz="900" b="0">
                <a:latin typeface="Meiryo UI"/>
                <a:ea typeface="Meiryo UI"/>
              </a:rPr>
              <a:t>３．株式価値試算報告書の「販管費及び一般管理費の修正」の修正後合計（2025年12月期 47,260千円）と、PLハイライトから逆算した販管費（44,780千円＝売上総利益67,190－営業利益22,410）に2,480千円の差異がある。案件マスターで整合を確認すること。</a:t>
            </a:r>
          </a:p>
          <a:p>
            <a:pPr algn="l">
              <a:lnSpc>
                <a:spcPct val="110000"/>
              </a:lnSpc>
            </a:pPr>
            <a:r>
              <a:rPr sz="900" b="0">
                <a:latin typeface="Meiryo UI"/>
                <a:ea typeface="Meiryo UI"/>
              </a:rPr>
              <a:t>　</a:t>
            </a:r>
          </a:p>
          <a:p>
            <a:pPr algn="l">
              <a:lnSpc>
                <a:spcPct val="110000"/>
              </a:lnSpc>
            </a:pPr>
            <a:r>
              <a:rPr sz="900" b="0">
                <a:latin typeface="Meiryo UI"/>
                <a:ea typeface="Meiryo UI"/>
              </a:rPr>
              <a:t>４．企業概要書の売上高（2024年12月期252,085／2025年12月期375,521千円）と分析資料の売上高（201,668／356,909千円）が異なる。前者は軽配送事業を含む全社ベース、後者はフォワーダー事業単体ベースと理解しているが、2023年12月期のみ両者が一致（282,040千円）しており、同期の軽配送事業売上の除外が未反映の可能性がある。要検証。</a:t>
            </a:r>
          </a:p>
          <a:p>
            <a:pPr algn="l">
              <a:lnSpc>
                <a:spcPct val="110000"/>
              </a:lnSpc>
            </a:pPr>
            <a:r>
              <a:rPr sz="900" b="0">
                <a:latin typeface="Meiryo UI"/>
                <a:ea typeface="Meiryo UI"/>
              </a:rPr>
              <a:t>　</a:t>
            </a:r>
          </a:p>
          <a:p>
            <a:pPr algn="l">
              <a:lnSpc>
                <a:spcPct val="110000"/>
              </a:lnSpc>
            </a:pPr>
            <a:r>
              <a:rPr sz="900" b="0">
                <a:latin typeface="Meiryo UI"/>
                <a:ea typeface="Meiryo UI"/>
              </a:rPr>
              <a:t>５．P10の「＋6,920千円（軽配送事業の切離し・販管費の部門別賦課）」は、企業概要書の調整後EBITDA 9,922千円と本資料の22,952千円の差額13,030千円から役員報酬差6,110千円を控除した残差として算出したもの。内訳を案件マスターで分解し、確定させること。</a:t>
            </a:r>
          </a:p>
          <a:p>
            <a:pPr algn="l">
              <a:lnSpc>
                <a:spcPct val="110000"/>
              </a:lnSpc>
            </a:pPr>
            <a:r>
              <a:rPr sz="900" b="0">
                <a:latin typeface="Meiryo UI"/>
                <a:ea typeface="Meiryo UI"/>
              </a:rPr>
              <a:t>　</a:t>
            </a:r>
          </a:p>
          <a:p>
            <a:pPr algn="l">
              <a:lnSpc>
                <a:spcPct val="110000"/>
              </a:lnSpc>
            </a:pPr>
            <a:r>
              <a:rPr sz="900" b="0">
                <a:latin typeface="Meiryo UI"/>
                <a:ea typeface="Meiryo UI"/>
              </a:rPr>
              <a:t>６．弊社成功報酬について、企業概要書の報酬体系では「時価総資産（営業権含む）2億円以下の部分＝2,000万円、最低額1,500万円」、「スキーム比較のご提案」では「アドバイザリー報酬10,000千円」と記載が異なる。提示前の統一が必要なため、本資料では金額を記載せず「別途ご提示」としている。</a:t>
            </a:r>
          </a:p>
          <a:p>
            <a:pPr algn="l">
              <a:lnSpc>
                <a:spcPct val="110000"/>
              </a:lnSpc>
            </a:pPr>
            <a:r>
              <a:rPr sz="900" b="0">
                <a:latin typeface="Meiryo UI"/>
                <a:ea typeface="Meiryo UI"/>
              </a:rPr>
              <a:t>　</a:t>
            </a:r>
          </a:p>
          <a:p>
            <a:pPr algn="l">
              <a:lnSpc>
                <a:spcPct val="110000"/>
              </a:lnSpc>
            </a:pPr>
            <a:r>
              <a:rPr sz="900" b="0">
                <a:latin typeface="Meiryo UI"/>
                <a:ea typeface="Meiryo UI"/>
              </a:rPr>
              <a:t>７．他の買手候補（ジャパン・バン・ラインズ株式会社）への提示資料の存在および提示条件については、本資料および面談において一切言及しないこと。</a:t>
            </a:r>
          </a:p>
          <a:p>
            <a:pPr algn="l">
              <a:lnSpc>
                <a:spcPct val="110000"/>
              </a:lnSpc>
            </a:pPr>
            <a:r>
              <a:rPr sz="900" b="0">
                <a:latin typeface="Meiryo UI"/>
                <a:ea typeface="Meiryo UI"/>
              </a:rPr>
              <a:t>　</a:t>
            </a:r>
          </a:p>
          <a:p>
            <a:pPr algn="l">
              <a:lnSpc>
                <a:spcPct val="110000"/>
              </a:lnSpc>
            </a:pPr>
            <a:r>
              <a:rPr sz="900" b="0">
                <a:latin typeface="Meiryo UI"/>
                <a:ea typeface="Meiryo UI"/>
              </a:rPr>
              <a:t>８．「2026年4月中に代表保有の休眠会社へ軽配送事業を切り分ける想定」（企業概要書P6）は同年4月時点の記載。本日（2026年8月16日）時点の実行状況を売主に確認のうえ、面談前にP7・P8を更新すること。</a:t>
            </a:r>
          </a:p>
          <a:p>
            <a:pPr algn="l">
              <a:lnSpc>
                <a:spcPct val="110000"/>
              </a:lnSpc>
            </a:pPr>
            <a:r>
              <a:rPr sz="900" b="0">
                <a:latin typeface="Meiryo UI"/>
                <a:ea typeface="Meiryo UI"/>
              </a:rPr>
              <a:t>　</a:t>
            </a:r>
          </a:p>
          <a:p>
            <a:pPr algn="l">
              <a:lnSpc>
                <a:spcPct val="110000"/>
              </a:lnSpc>
            </a:pPr>
            <a:r>
              <a:rPr sz="900" b="0">
                <a:latin typeface="Meiryo UI"/>
                <a:ea typeface="Meiryo UI"/>
              </a:rPr>
              <a:t>９．役員借入金 約10,000千円の貸借対照表上の計上区分が未確定。短期借入金15,321千円に含まれる場合、P6の手出し資金表（③と⑤）で二重計上となるため要修正。</a:t>
            </a:r>
          </a:p>
          <a:p>
            <a:pPr algn="l">
              <a:lnSpc>
                <a:spcPct val="110000"/>
              </a:lnSpc>
            </a:pPr>
            <a:r>
              <a:rPr sz="900" b="0">
                <a:latin typeface="Meiryo UI"/>
                <a:ea typeface="Meiryo UI"/>
              </a:rPr>
              <a:t>　</a:t>
            </a:r>
          </a:p>
          <a:p>
            <a:pPr algn="l">
              <a:lnSpc>
                <a:spcPct val="110000"/>
              </a:lnSpc>
            </a:pPr>
            <a:r>
              <a:rPr sz="900" b="0">
                <a:latin typeface="Meiryo UI"/>
                <a:ea typeface="Meiryo UI"/>
              </a:rPr>
              <a:t>10．第一種貨物利用運送事業（外航海運）の事業譲渡・会社分割時の承継手続については、所管官庁（国土交通省）への確認が必要。本資料では「要確認」としている。</a:t>
            </a:r>
          </a:p>
          <a:p>
            <a:pPr algn="l">
              <a:lnSpc>
                <a:spcPct val="110000"/>
              </a:lnSpc>
            </a:pPr>
            <a:r>
              <a:rPr sz="900" b="0">
                <a:latin typeface="Meiryo UI"/>
                <a:ea typeface="Meiryo UI"/>
              </a:rPr>
              <a:t>　</a:t>
            </a:r>
          </a:p>
          <a:p>
            <a:pPr algn="l">
              <a:lnSpc>
                <a:spcPct val="110000"/>
              </a:lnSpc>
            </a:pPr>
            <a:r>
              <a:rPr sz="900" b="0">
                <a:latin typeface="Meiryo UI"/>
                <a:ea typeface="Meiryo UI"/>
              </a:rPr>
              <a:t>11．発行済株式数は企業概要書内で「3,000株」（基本情報）と「300株」（株主及び役員）の2通りの記載。登記簿で確定のうえ、企業概要書も修正すること。</a:t>
            </a:r>
          </a:p>
          <a:p>
            <a:pPr algn="l">
              <a:lnSpc>
                <a:spcPct val="110000"/>
              </a:lnSpc>
            </a:pPr>
            <a:r>
              <a:rPr sz="900" b="0">
                <a:latin typeface="Meiryo UI"/>
                <a:ea typeface="Meiryo UI"/>
              </a:rPr>
              <a:t>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03">
          <a:extLst>
            <a:ext uri="{FF2B5EF4-FFF2-40B4-BE49-F238E27FC236}">
              <a16:creationId xmlns:a16="http://schemas.microsoft.com/office/drawing/2014/main" id="{E060CC70-4C07-22C4-4441-531594981EE0}"/>
            </a:ext>
          </a:extLst>
        </p:cNvPr>
        <p:cNvGrpSpPr/>
        <p:nvPr/>
      </p:nvGrpSpPr>
      <p:grpSpPr>
        <a:xfrm>
          <a:off x="0" y="0"/>
          <a:ext cx="0" cy="0"/>
          <a:chOff x="0" y="0"/>
          <a:chExt cx="0" cy="0"/>
        </a:xfrm>
      </p:grpSpPr>
      <p:sp>
        <p:nvSpPr>
          <p:cNvPr id="204" name="Google Shape;204;p3">
            <a:extLst>
              <a:ext uri="{FF2B5EF4-FFF2-40B4-BE49-F238E27FC236}">
                <a16:creationId xmlns:a16="http://schemas.microsoft.com/office/drawing/2014/main" id="{4EC6EFC1-ACE6-BC29-270A-1AE778498429}"/>
              </a:ext>
            </a:extLst>
          </p:cNvPr>
          <p:cNvSpPr txBox="1">
            <a:spLocks noGrp="1"/>
          </p:cNvSpPr>
          <p:nvPr>
            <p:ph type="title"/>
          </p:nvPr>
        </p:nvSpPr>
        <p:spPr>
          <a:xfrm>
            <a:off x="395536" y="332655"/>
            <a:ext cx="6696744" cy="288033"/>
          </a:xfrm>
          <a:prstGeom prst="rect">
            <a:avLst/>
          </a:prstGeom>
          <a:noFill/>
          <a:ln>
            <a:noFill/>
          </a:ln>
        </p:spPr>
        <p:txBody>
          <a:bodyPr spcFirstLastPara="1" wrap="square" lIns="91425" tIns="45700" rIns="91425" bIns="45700" anchor="ctr" anchorCtr="0">
            <a:noAutofit/>
          </a:bodyPr>
          <a:lstStyle/>
          <a:p>
            <a:pPr lvl="0" algn="l"/>
            <a:r>
              <a:rPr sz="1400" b="1">
                <a:solidFill>
                  <a:srgbClr val="5A5A5A"/>
                </a:solidFill>
                <a:latin typeface="Meiryo UI"/>
                <a:ea typeface="Meiryo UI"/>
              </a:rPr>
              <a:t>軽配送事業の切り分けと譲渡スキーム</a:t>
            </a:r>
            <a:endParaRPr b="1" dirty="0">
              <a:solidFill>
                <a:srgbClr val="5A5A5A"/>
              </a:solidFill>
              <a:latin typeface="Meiryo UI" panose="020B0604030504040204" pitchFamily="50" charset="-128"/>
              <a:ea typeface="Meiryo UI" panose="020B0604030504040204" pitchFamily="50" charset="-128"/>
              <a:sym typeface="Arial"/>
            </a:endParaRPr>
          </a:p>
        </p:txBody>
      </p:sp>
      <p:sp>
        <p:nvSpPr>
          <p:cNvPr id="205" name="Google Shape;205;p3">
            <a:extLst>
              <a:ext uri="{FF2B5EF4-FFF2-40B4-BE49-F238E27FC236}">
                <a16:creationId xmlns:a16="http://schemas.microsoft.com/office/drawing/2014/main" id="{B83F51F1-B261-0626-851A-31131A041479}"/>
              </a:ext>
            </a:extLst>
          </p:cNvPr>
          <p:cNvSpPr txBox="1"/>
          <p:nvPr/>
        </p:nvSpPr>
        <p:spPr>
          <a:xfrm>
            <a:off x="323528" y="116632"/>
            <a:ext cx="2376264" cy="188640"/>
          </a:xfrm>
          <a:prstGeom prst="rect">
            <a:avLst/>
          </a:prstGeom>
          <a:noFill/>
          <a:ln>
            <a:noFill/>
          </a:ln>
        </p:spPr>
        <p:txBody>
          <a:bodyPr spcFirstLastPara="1" wrap="square" lIns="36000" tIns="0" rIns="0" bIns="0" anchor="ctr" anchorCtr="0">
            <a:noAutofit/>
          </a:bodyPr>
          <a:lstStyle/>
          <a:p>
            <a:pPr marL="0" marR="0" lvl="0" indent="0" algn="l" rtl="0">
              <a:lnSpc>
                <a:spcPct val="100000"/>
              </a:lnSpc>
              <a:spcBef>
                <a:spcPts val="0"/>
              </a:spcBef>
              <a:spcAft>
                <a:spcPts val="0"/>
              </a:spcAft>
              <a:buClr>
                <a:srgbClr val="5A5A5A"/>
              </a:buClr>
              <a:buSzPts val="1000"/>
              <a:buFont typeface="Arial"/>
              <a:buNone/>
            </a:pPr>
            <a:r>
              <a:rPr sz="1000" b="0">
                <a:solidFill>
                  <a:srgbClr val="5A5A5A"/>
                </a:solidFill>
                <a:latin typeface="Meiryo UI"/>
                <a:ea typeface="Meiryo UI"/>
              </a:rPr>
              <a:t>本件の論点整理</a:t>
            </a:r>
            <a:endParaRPr>
              <a:latin typeface="Meiryo UI" panose="020B0604030504040204" pitchFamily="50" charset="-128"/>
              <a:ea typeface="Meiryo UI" panose="020B0604030504040204" pitchFamily="50" charset="-128"/>
            </a:endParaRPr>
          </a:p>
        </p:txBody>
      </p:sp>
      <p:sp>
        <p:nvSpPr>
          <p:cNvPr id="206" name="Google Shape;206;p3">
            <a:extLst>
              <a:ext uri="{FF2B5EF4-FFF2-40B4-BE49-F238E27FC236}">
                <a16:creationId xmlns:a16="http://schemas.microsoft.com/office/drawing/2014/main" id="{05AD748F-3EFD-92FD-98FA-7D2ACBDDA092}"/>
              </a:ext>
            </a:extLst>
          </p:cNvPr>
          <p:cNvSpPr/>
          <p:nvPr/>
        </p:nvSpPr>
        <p:spPr>
          <a:xfrm>
            <a:off x="0" y="116632"/>
            <a:ext cx="323528" cy="180000"/>
          </a:xfrm>
          <a:prstGeom prst="parallelogram">
            <a:avLst>
              <a:gd name="adj" fmla="val 32938"/>
            </a:avLst>
          </a:prstGeom>
          <a:solidFill>
            <a:srgbClr val="66A09A"/>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Arial"/>
              <a:buNone/>
            </a:pPr>
            <a:r>
              <a:rPr sz="1000" b="0">
                <a:solidFill>
                  <a:srgbClr val="FFFFFF"/>
                </a:solidFill>
                <a:latin typeface="Meiryo UI"/>
                <a:ea typeface="Meiryo UI"/>
              </a:rPr>
              <a:t>1</a:t>
            </a:r>
            <a:endParaRPr sz="1000" b="0" i="0" u="none" strike="noStrike" cap="none">
              <a:solidFill>
                <a:srgbClr val="FFFFFF"/>
              </a:solidFill>
              <a:latin typeface="Arial"/>
              <a:ea typeface="Arial"/>
              <a:cs typeface="Arial"/>
              <a:sym typeface="Arial"/>
            </a:endParaRPr>
          </a:p>
        </p:txBody>
      </p:sp>
      <p:sp>
        <p:nvSpPr>
          <p:cNvPr id="208" name="Google Shape;208;p3">
            <a:extLst>
              <a:ext uri="{FF2B5EF4-FFF2-40B4-BE49-F238E27FC236}">
                <a16:creationId xmlns:a16="http://schemas.microsoft.com/office/drawing/2014/main" id="{FEFA887B-BAB0-4A91-060D-6EB5B38CA70D}"/>
              </a:ext>
            </a:extLst>
          </p:cNvPr>
          <p:cNvSpPr txBox="1"/>
          <p:nvPr/>
        </p:nvSpPr>
        <p:spPr>
          <a:xfrm>
            <a:off x="9450000" y="0"/>
            <a:ext cx="3400000" cy="6858000"/>
          </a:xfrm>
          <a:prstGeom prst="rect">
            <a:avLst/>
          </a:prstGeom>
          <a:solidFill>
            <a:srgbClr val="EEF7CD"/>
          </a:solidFill>
          <a:ln>
            <a:noFill/>
          </a:ln>
        </p:spPr>
        <p:txBody>
          <a:bodyPr spcFirstLastPara="1" wrap="square" lIns="72000" tIns="36000" rIns="72000" bIns="36000" anchor="ctr" anchorCtr="0">
            <a:noAutofit/>
          </a:bodyPr>
          <a:lstStyle/>
          <a:p>
            <a:pPr marL="0" marR="0" lvl="0" indent="0" algn="l" rtl="0">
              <a:lnSpc>
                <a:spcPct val="110000"/>
              </a:lnSpc>
              <a:spcBef>
                <a:spcPts val="0"/>
              </a:spcBef>
              <a:spcAft>
                <a:spcPts val="0"/>
              </a:spcAft>
              <a:buNone/>
            </a:pPr>
            <a:r>
              <a:rPr sz="900" b="0">
                <a:latin typeface="Meiryo UI"/>
                <a:ea typeface="Meiryo UI"/>
              </a:rPr>
              <a:t>【社内メモ｜本資料作成時の留意事項】</a:t>
            </a:r>
            <a:endParaRPr dirty="0"/>
          </a:p>
          <a:p>
            <a:pPr algn="l">
              <a:lnSpc>
                <a:spcPct val="110000"/>
              </a:lnSpc>
            </a:pPr>
            <a:r>
              <a:rPr sz="900" b="0">
                <a:latin typeface="Meiryo UI"/>
                <a:ea typeface="Meiryo UI"/>
              </a:rPr>
              <a:t>※本テキストボックスはスライド範囲外に配置しており、スライドショー・PDF出力には表示されません。買手候補への提示前に内容をご確認ください。</a:t>
            </a:r>
          </a:p>
          <a:p>
            <a:pPr algn="l">
              <a:lnSpc>
                <a:spcPct val="110000"/>
              </a:lnSpc>
            </a:pPr>
            <a:r>
              <a:rPr sz="900" b="0">
                <a:latin typeface="Meiryo UI"/>
                <a:ea typeface="Meiryo UI"/>
              </a:rPr>
              <a:t>　</a:t>
            </a:r>
          </a:p>
          <a:p>
            <a:pPr algn="l">
              <a:lnSpc>
                <a:spcPct val="110000"/>
              </a:lnSpc>
            </a:pPr>
            <a:r>
              <a:rPr sz="900" b="0">
                <a:latin typeface="Meiryo UI"/>
                <a:ea typeface="Meiryo UI"/>
              </a:rPr>
              <a:t>１．基準EBITDA 18,760千円は株式価値試算報告書（2026年4月17日付）の記載値。修正後EBITDA（14,806／14,410／22,952）を1:2:3で加重平均すると18,747千円となり13千円の差が生じるため、案件マスターで算定根拠を確定すること。</a:t>
            </a:r>
          </a:p>
          <a:p>
            <a:pPr algn="l">
              <a:lnSpc>
                <a:spcPct val="110000"/>
              </a:lnSpc>
            </a:pPr>
            <a:r>
              <a:rPr sz="900" b="0">
                <a:latin typeface="Meiryo UI"/>
                <a:ea typeface="Meiryo UI"/>
              </a:rPr>
              <a:t>　</a:t>
            </a:r>
          </a:p>
          <a:p>
            <a:pPr algn="l">
              <a:lnSpc>
                <a:spcPct val="110000"/>
              </a:lnSpc>
            </a:pPr>
            <a:r>
              <a:rPr sz="900" b="0">
                <a:latin typeface="Meiryo UI"/>
                <a:ea typeface="Meiryo UI"/>
              </a:rPr>
              <a:t>２．「スキーム比較のご提案」（2026年5月29日付）では基準EBITDA 18,512千円・倍率4〜6倍（EV 74,046〜111,069千円）と記載されており、株式価値試算報告書（18,760千円・3〜5倍）と数値・倍率がいずれも異なる。買手候補ごとに提示数値が食い違わないよう、提示前に統一すること。本資料は株式価値試算報告書の数値に統一している。</a:t>
            </a:r>
          </a:p>
          <a:p>
            <a:pPr algn="l">
              <a:lnSpc>
                <a:spcPct val="110000"/>
              </a:lnSpc>
            </a:pPr>
            <a:r>
              <a:rPr sz="900" b="0">
                <a:latin typeface="Meiryo UI"/>
                <a:ea typeface="Meiryo UI"/>
              </a:rPr>
              <a:t>　</a:t>
            </a:r>
          </a:p>
          <a:p>
            <a:pPr algn="l">
              <a:lnSpc>
                <a:spcPct val="110000"/>
              </a:lnSpc>
            </a:pPr>
            <a:r>
              <a:rPr sz="900" b="0">
                <a:latin typeface="Meiryo UI"/>
                <a:ea typeface="Meiryo UI"/>
              </a:rPr>
              <a:t>３．株式価値試算報告書の「販管費及び一般管理費の修正」の修正後合計（2025年12月期 47,260千円）と、PLハイライトから逆算した販管費（44,780千円＝売上総利益67,190－営業利益22,410）に2,480千円の差異がある。案件マスターで整合を確認すること。</a:t>
            </a:r>
          </a:p>
          <a:p>
            <a:pPr algn="l">
              <a:lnSpc>
                <a:spcPct val="110000"/>
              </a:lnSpc>
            </a:pPr>
            <a:r>
              <a:rPr sz="900" b="0">
                <a:latin typeface="Meiryo UI"/>
                <a:ea typeface="Meiryo UI"/>
              </a:rPr>
              <a:t>　</a:t>
            </a:r>
          </a:p>
          <a:p>
            <a:pPr algn="l">
              <a:lnSpc>
                <a:spcPct val="110000"/>
              </a:lnSpc>
            </a:pPr>
            <a:r>
              <a:rPr sz="900" b="0">
                <a:latin typeface="Meiryo UI"/>
                <a:ea typeface="Meiryo UI"/>
              </a:rPr>
              <a:t>４．企業概要書の売上高（2024年12月期252,085／2025年12月期375,521千円）と分析資料の売上高（201,668／356,909千円）が異なる。前者は軽配送事業を含む全社ベース、後者はフォワーダー事業単体ベースと理解しているが、2023年12月期のみ両者が一致（282,040千円）しており、同期の軽配送事業売上の除外が未反映の可能性がある。要検証。</a:t>
            </a:r>
          </a:p>
          <a:p>
            <a:pPr algn="l">
              <a:lnSpc>
                <a:spcPct val="110000"/>
              </a:lnSpc>
            </a:pPr>
            <a:r>
              <a:rPr sz="900" b="0">
                <a:latin typeface="Meiryo UI"/>
                <a:ea typeface="Meiryo UI"/>
              </a:rPr>
              <a:t>　</a:t>
            </a:r>
          </a:p>
          <a:p>
            <a:pPr algn="l">
              <a:lnSpc>
                <a:spcPct val="110000"/>
              </a:lnSpc>
            </a:pPr>
            <a:r>
              <a:rPr sz="900" b="0">
                <a:latin typeface="Meiryo UI"/>
                <a:ea typeface="Meiryo UI"/>
              </a:rPr>
              <a:t>５．P10の「＋6,920千円（軽配送事業の切離し・販管費の部門別賦課）」は、企業概要書の調整後EBITDA 9,922千円と本資料の22,952千円の差額13,030千円から役員報酬差6,110千円を控除した残差として算出したもの。内訳を案件マスターで分解し、確定させること。</a:t>
            </a:r>
          </a:p>
          <a:p>
            <a:pPr algn="l">
              <a:lnSpc>
                <a:spcPct val="110000"/>
              </a:lnSpc>
            </a:pPr>
            <a:r>
              <a:rPr sz="900" b="0">
                <a:latin typeface="Meiryo UI"/>
                <a:ea typeface="Meiryo UI"/>
              </a:rPr>
              <a:t>　</a:t>
            </a:r>
          </a:p>
          <a:p>
            <a:pPr algn="l">
              <a:lnSpc>
                <a:spcPct val="110000"/>
              </a:lnSpc>
            </a:pPr>
            <a:r>
              <a:rPr sz="900" b="0">
                <a:latin typeface="Meiryo UI"/>
                <a:ea typeface="Meiryo UI"/>
              </a:rPr>
              <a:t>６．弊社成功報酬について、企業概要書の報酬体系では「時価総資産（営業権含む）2億円以下の部分＝2,000万円、最低額1,500万円」、「スキーム比較のご提案」では「アドバイザリー報酬10,000千円」と記載が異なる。提示前の統一が必要なため、本資料では金額を記載せず「別途ご提示」としている。</a:t>
            </a:r>
          </a:p>
          <a:p>
            <a:pPr algn="l">
              <a:lnSpc>
                <a:spcPct val="110000"/>
              </a:lnSpc>
            </a:pPr>
            <a:r>
              <a:rPr sz="900" b="0">
                <a:latin typeface="Meiryo UI"/>
                <a:ea typeface="Meiryo UI"/>
              </a:rPr>
              <a:t>　</a:t>
            </a:r>
          </a:p>
          <a:p>
            <a:pPr algn="l">
              <a:lnSpc>
                <a:spcPct val="110000"/>
              </a:lnSpc>
            </a:pPr>
            <a:r>
              <a:rPr sz="900" b="0">
                <a:latin typeface="Meiryo UI"/>
                <a:ea typeface="Meiryo UI"/>
              </a:rPr>
              <a:t>７．他の買手候補（ジャパン・バン・ラインズ株式会社）への提示資料の存在および提示条件については、本資料および面談において一切言及しないこと。</a:t>
            </a:r>
          </a:p>
          <a:p>
            <a:pPr algn="l">
              <a:lnSpc>
                <a:spcPct val="110000"/>
              </a:lnSpc>
            </a:pPr>
            <a:r>
              <a:rPr sz="900" b="0">
                <a:latin typeface="Meiryo UI"/>
                <a:ea typeface="Meiryo UI"/>
              </a:rPr>
              <a:t>　</a:t>
            </a:r>
          </a:p>
          <a:p>
            <a:pPr algn="l">
              <a:lnSpc>
                <a:spcPct val="110000"/>
              </a:lnSpc>
            </a:pPr>
            <a:r>
              <a:rPr sz="900" b="0">
                <a:latin typeface="Meiryo UI"/>
                <a:ea typeface="Meiryo UI"/>
              </a:rPr>
              <a:t>８．「2026年4月中に代表保有の休眠会社へ軽配送事業を切り分ける想定」（企業概要書P6）は同年4月時点の記載。本日（2026年8月16日）時点の実行状況を売主に確認のうえ、面談前にP7・P8を更新すること。</a:t>
            </a:r>
          </a:p>
          <a:p>
            <a:pPr algn="l">
              <a:lnSpc>
                <a:spcPct val="110000"/>
              </a:lnSpc>
            </a:pPr>
            <a:r>
              <a:rPr sz="900" b="0">
                <a:latin typeface="Meiryo UI"/>
                <a:ea typeface="Meiryo UI"/>
              </a:rPr>
              <a:t>　</a:t>
            </a:r>
          </a:p>
          <a:p>
            <a:pPr algn="l">
              <a:lnSpc>
                <a:spcPct val="110000"/>
              </a:lnSpc>
            </a:pPr>
            <a:r>
              <a:rPr sz="900" b="0">
                <a:latin typeface="Meiryo UI"/>
                <a:ea typeface="Meiryo UI"/>
              </a:rPr>
              <a:t>９．役員借入金 約10,000千円の貸借対照表上の計上区分が未確定。短期借入金15,321千円に含まれる場合、P6の手出し資金表（③と⑤）で二重計上となるため要修正。</a:t>
            </a:r>
          </a:p>
          <a:p>
            <a:pPr algn="l">
              <a:lnSpc>
                <a:spcPct val="110000"/>
              </a:lnSpc>
            </a:pPr>
            <a:r>
              <a:rPr sz="900" b="0">
                <a:latin typeface="Meiryo UI"/>
                <a:ea typeface="Meiryo UI"/>
              </a:rPr>
              <a:t>　</a:t>
            </a:r>
          </a:p>
          <a:p>
            <a:pPr algn="l">
              <a:lnSpc>
                <a:spcPct val="110000"/>
              </a:lnSpc>
            </a:pPr>
            <a:r>
              <a:rPr sz="900" b="0">
                <a:latin typeface="Meiryo UI"/>
                <a:ea typeface="Meiryo UI"/>
              </a:rPr>
              <a:t>10．第一種貨物利用運送事業（外航海運）の事業譲渡・会社分割時の承継手続については、所管官庁（国土交通省）への確認が必要。本資料では「要確認」としている。</a:t>
            </a:r>
          </a:p>
          <a:p>
            <a:pPr algn="l">
              <a:lnSpc>
                <a:spcPct val="110000"/>
              </a:lnSpc>
            </a:pPr>
            <a:r>
              <a:rPr sz="900" b="0">
                <a:latin typeface="Meiryo UI"/>
                <a:ea typeface="Meiryo UI"/>
              </a:rPr>
              <a:t>　</a:t>
            </a:r>
          </a:p>
          <a:p>
            <a:pPr algn="l">
              <a:lnSpc>
                <a:spcPct val="110000"/>
              </a:lnSpc>
            </a:pPr>
            <a:r>
              <a:rPr sz="900" b="0">
                <a:latin typeface="Meiryo UI"/>
                <a:ea typeface="Meiryo UI"/>
              </a:rPr>
              <a:t>11．発行済株式数は企業概要書内で「3,000株」（基本情報）と「300株」（株主及び役員）の2通りの記載。登記簿で確定のうえ、企業概要書も修正すること。</a:t>
            </a:r>
          </a:p>
          <a:p>
            <a:pPr algn="l">
              <a:lnSpc>
                <a:spcPct val="110000"/>
              </a:lnSpc>
            </a:pPr>
            <a:r>
              <a:rPr sz="900" b="0">
                <a:latin typeface="Meiryo UI"/>
                <a:ea typeface="Meiryo UI"/>
              </a:rPr>
              <a:t>　</a:t>
            </a:r>
          </a:p>
        </p:txBody>
      </p:sp>
      <p:sp>
        <p:nvSpPr>
          <p:cNvPr id="5" name="TextBox 209">
            <a:extLst>
              <a:ext uri="{FF2B5EF4-FFF2-40B4-BE49-F238E27FC236}">
                <a16:creationId xmlns:a16="http://schemas.microsoft.com/office/drawing/2014/main" id="{503165E7-17CD-D25F-9777-A78472EC3C28}"/>
              </a:ext>
            </a:extLst>
          </p:cNvPr>
          <p:cNvSpPr txBox="1"/>
          <p:nvPr/>
        </p:nvSpPr>
        <p:spPr>
          <a:xfrm>
            <a:off x="265176" y="836613"/>
            <a:ext cx="8631936" cy="461665"/>
          </a:xfrm>
          <a:prstGeom prst="rect">
            <a:avLst/>
          </a:prstGeom>
          <a:noFill/>
        </p:spPr>
        <p:txBody>
          <a:bodyPr wrap="square">
            <a:spAutoFit/>
          </a:bodyPr>
          <a:lstStyle/>
          <a:p>
            <a:pPr algn="l"/>
            <a:r>
              <a:rPr sz="950" b="0">
                <a:latin typeface="Meiryo UI"/>
                <a:ea typeface="Meiryo UI"/>
              </a:rPr>
              <a:t>譲渡対象はフォワーダー事業のみ。軽配送事業を代表保有の休眠会社へ切り出したうえで、A案：株式会社GL designの株式100%を譲渡（株式譲渡）、または B案：フォワーダー事業を譲渡（事業譲渡）のいずれかを選択する想定です。</a:t>
            </a:r>
          </a:p>
        </p:txBody>
      </p:sp>
      <p:sp>
        <p:nvSpPr>
          <p:cNvPr id="7" name="Rectangle 207">
            <a:extLst>
              <a:ext uri="{FF2B5EF4-FFF2-40B4-BE49-F238E27FC236}">
                <a16:creationId xmlns:a16="http://schemas.microsoft.com/office/drawing/2014/main" id="{1F6C2968-23D0-08B8-2589-19533BC71975}"/>
              </a:ext>
            </a:extLst>
          </p:cNvPr>
          <p:cNvSpPr/>
          <p:nvPr/>
        </p:nvSpPr>
        <p:spPr>
          <a:xfrm>
            <a:off x="411480" y="1600200"/>
            <a:ext cx="2514600" cy="4023360"/>
          </a:xfrm>
          <a:prstGeom prst="rect">
            <a:avLst/>
          </a:prstGeom>
          <a:solidFill>
            <a:srgbClr val="FFFFFF"/>
          </a:solidFill>
          <a:ln w="15875">
            <a:solidFill>
              <a:srgbClr val="203864"/>
            </a:solidFill>
          </a:ln>
          <a:effectLst/>
        </p:spPr>
        <p:style>
          <a:lnRef idx="1">
            <a:schemeClr val="accent1"/>
          </a:lnRef>
          <a:fillRef idx="3">
            <a:schemeClr val="accent1"/>
          </a:fillRef>
          <a:effectRef idx="2">
            <a:schemeClr val="accent1"/>
          </a:effectRef>
          <a:fontRef idx="minor">
            <a:schemeClr val="lt1"/>
          </a:fontRef>
        </p:style>
        <p:txBody>
          <a:bodyPr wrap="square" lIns="54000" tIns="27000" rIns="54000" bIns="27000" rtlCol="0" anchor="t"/>
          <a:lstStyle/>
          <a:p>
            <a:pPr algn="l"/>
            <a:endParaRPr/>
          </a:p>
        </p:txBody>
      </p:sp>
      <p:sp>
        <p:nvSpPr>
          <p:cNvPr id="9" name="Rectangle 208">
            <a:extLst>
              <a:ext uri="{FF2B5EF4-FFF2-40B4-BE49-F238E27FC236}">
                <a16:creationId xmlns:a16="http://schemas.microsoft.com/office/drawing/2014/main" id="{B8626540-0E1B-740C-73DC-712E1D18583A}"/>
              </a:ext>
            </a:extLst>
          </p:cNvPr>
          <p:cNvSpPr/>
          <p:nvPr/>
        </p:nvSpPr>
        <p:spPr>
          <a:xfrm>
            <a:off x="411480" y="1600200"/>
            <a:ext cx="2514600" cy="384048"/>
          </a:xfrm>
          <a:prstGeom prst="rect">
            <a:avLst/>
          </a:prstGeom>
          <a:solidFill>
            <a:srgbClr val="203864"/>
          </a:solidFill>
          <a:ln w="12700">
            <a:solidFill>
              <a:srgbClr val="203864"/>
            </a:solidFill>
          </a:ln>
          <a:effectLst/>
        </p:spPr>
        <p:style>
          <a:lnRef idx="1">
            <a:schemeClr val="accent1"/>
          </a:lnRef>
          <a:fillRef idx="3">
            <a:schemeClr val="accent1"/>
          </a:fillRef>
          <a:effectRef idx="2">
            <a:schemeClr val="accent1"/>
          </a:effectRef>
          <a:fontRef idx="minor">
            <a:schemeClr val="lt1"/>
          </a:fontRef>
        </p:style>
        <p:txBody>
          <a:bodyPr wrap="square" lIns="54000" tIns="27000" rIns="54000" bIns="27000" rtlCol="0" anchor="ctr"/>
          <a:lstStyle/>
          <a:p>
            <a:pPr algn="ctr"/>
            <a:r>
              <a:rPr sz="1050" b="1">
                <a:solidFill>
                  <a:srgbClr val="FFFFFF"/>
                </a:solidFill>
                <a:latin typeface="Meiryo UI"/>
                <a:ea typeface="Meiryo UI"/>
              </a:rPr>
              <a:t>現状｜株式会社GL design</a:t>
            </a:r>
          </a:p>
        </p:txBody>
      </p:sp>
      <p:sp>
        <p:nvSpPr>
          <p:cNvPr id="11" name="TextBox 209">
            <a:extLst>
              <a:ext uri="{FF2B5EF4-FFF2-40B4-BE49-F238E27FC236}">
                <a16:creationId xmlns:a16="http://schemas.microsoft.com/office/drawing/2014/main" id="{ED42AF1F-F165-3A14-72B4-935E943E23E1}"/>
              </a:ext>
            </a:extLst>
          </p:cNvPr>
          <p:cNvSpPr txBox="1"/>
          <p:nvPr/>
        </p:nvSpPr>
        <p:spPr>
          <a:xfrm>
            <a:off x="530352" y="2103120"/>
            <a:ext cx="2331720" cy="3383280"/>
          </a:xfrm>
          <a:prstGeom prst="rect">
            <a:avLst/>
          </a:prstGeom>
          <a:noFill/>
        </p:spPr>
        <p:txBody>
          <a:bodyPr wrap="square" lIns="54000" tIns="27000" rIns="54000" bIns="27000" anchor="t">
            <a:spAutoFit/>
          </a:bodyPr>
          <a:lstStyle/>
          <a:p>
            <a:pPr algn="l">
              <a:lnSpc>
                <a:spcPct val="125000"/>
              </a:lnSpc>
            </a:pPr>
            <a:r>
              <a:rPr sz="900" b="0">
                <a:solidFill>
                  <a:srgbClr val="000000"/>
                </a:solidFill>
                <a:latin typeface="Meiryo UI"/>
                <a:ea typeface="Meiryo UI"/>
              </a:rPr>
              <a:t>① フォワーダー事業</a:t>
            </a:r>
          </a:p>
          <a:p>
            <a:pPr algn="l">
              <a:lnSpc>
                <a:spcPct val="125000"/>
              </a:lnSpc>
            </a:pPr>
            <a:r>
              <a:rPr sz="900" b="0">
                <a:solidFill>
                  <a:srgbClr val="000000"/>
                </a:solidFill>
                <a:latin typeface="Meiryo UI"/>
                <a:ea typeface="Meiryo UI"/>
              </a:rPr>
              <a:t>　（国際物流・利用運送・貿易実務）</a:t>
            </a:r>
          </a:p>
          <a:p>
            <a:pPr algn="l">
              <a:lnSpc>
                <a:spcPct val="125000"/>
              </a:lnSpc>
            </a:pPr>
            <a:r>
              <a:rPr sz="900" b="0">
                <a:solidFill>
                  <a:srgbClr val="000000"/>
                </a:solidFill>
                <a:latin typeface="Meiryo UI"/>
                <a:ea typeface="Meiryo UI"/>
              </a:rPr>
              <a:t>② 軽配送事業</a:t>
            </a:r>
          </a:p>
          <a:p>
            <a:pPr algn="l">
              <a:lnSpc>
                <a:spcPct val="125000"/>
              </a:lnSpc>
            </a:pPr>
            <a:r>
              <a:rPr sz="900" b="0">
                <a:solidFill>
                  <a:srgbClr val="000000"/>
                </a:solidFill>
                <a:latin typeface="Meiryo UI"/>
                <a:ea typeface="Meiryo UI"/>
              </a:rPr>
              <a:t>　（貨物軽自動車運送）</a:t>
            </a:r>
          </a:p>
          <a:p>
            <a:pPr algn="l">
              <a:lnSpc>
                <a:spcPct val="125000"/>
              </a:lnSpc>
            </a:pPr>
            <a:r>
              <a:rPr sz="900" b="0">
                <a:solidFill>
                  <a:srgbClr val="000000"/>
                </a:solidFill>
                <a:latin typeface="Meiryo UI"/>
                <a:ea typeface="Meiryo UI"/>
              </a:rPr>
              <a:t>─────────────</a:t>
            </a:r>
          </a:p>
          <a:p>
            <a:pPr algn="l">
              <a:lnSpc>
                <a:spcPct val="125000"/>
              </a:lnSpc>
            </a:pPr>
            <a:r>
              <a:rPr sz="900" b="0">
                <a:solidFill>
                  <a:srgbClr val="000000"/>
                </a:solidFill>
                <a:latin typeface="Meiryo UI"/>
                <a:ea typeface="Meiryo UI"/>
              </a:rPr>
              <a:t>【2025年12月期】</a:t>
            </a:r>
          </a:p>
          <a:p>
            <a:pPr algn="l">
              <a:lnSpc>
                <a:spcPct val="125000"/>
              </a:lnSpc>
            </a:pPr>
            <a:r>
              <a:rPr sz="900" b="0">
                <a:solidFill>
                  <a:srgbClr val="000000"/>
                </a:solidFill>
                <a:latin typeface="Meiryo UI"/>
                <a:ea typeface="Meiryo UI"/>
              </a:rPr>
              <a:t>現預金　　　　　　　 17,748</a:t>
            </a:r>
          </a:p>
          <a:p>
            <a:pPr algn="l">
              <a:lnSpc>
                <a:spcPct val="125000"/>
              </a:lnSpc>
            </a:pPr>
            <a:r>
              <a:rPr sz="900" b="0">
                <a:solidFill>
                  <a:srgbClr val="000000"/>
                </a:solidFill>
                <a:latin typeface="Meiryo UI"/>
                <a:ea typeface="Meiryo UI"/>
              </a:rPr>
              <a:t>売掛金　　　　　　　 61,055</a:t>
            </a:r>
          </a:p>
          <a:p>
            <a:pPr algn="l">
              <a:lnSpc>
                <a:spcPct val="125000"/>
              </a:lnSpc>
            </a:pPr>
            <a:r>
              <a:rPr sz="900" b="0">
                <a:solidFill>
                  <a:srgbClr val="000000"/>
                </a:solidFill>
                <a:latin typeface="Meiryo UI"/>
                <a:ea typeface="Meiryo UI"/>
              </a:rPr>
              <a:t>前渡金・立替金等　　 75,075</a:t>
            </a:r>
          </a:p>
          <a:p>
            <a:pPr algn="l">
              <a:lnSpc>
                <a:spcPct val="125000"/>
              </a:lnSpc>
            </a:pPr>
            <a:r>
              <a:rPr sz="900" b="0">
                <a:solidFill>
                  <a:srgbClr val="000000"/>
                </a:solidFill>
                <a:latin typeface="Meiryo UI"/>
                <a:ea typeface="Meiryo UI"/>
              </a:rPr>
              <a:t>有利子負債　　　　　156,317</a:t>
            </a:r>
          </a:p>
          <a:p>
            <a:pPr algn="l">
              <a:lnSpc>
                <a:spcPct val="125000"/>
              </a:lnSpc>
            </a:pPr>
            <a:r>
              <a:rPr sz="900" b="0">
                <a:solidFill>
                  <a:srgbClr val="000000"/>
                </a:solidFill>
                <a:latin typeface="Meiryo UI"/>
                <a:ea typeface="Meiryo UI"/>
              </a:rPr>
              <a:t>純資産　　　　　　　  5,896</a:t>
            </a:r>
          </a:p>
          <a:p>
            <a:pPr algn="l">
              <a:lnSpc>
                <a:spcPct val="125000"/>
              </a:lnSpc>
            </a:pPr>
            <a:r>
              <a:rPr sz="900" b="0">
                <a:solidFill>
                  <a:srgbClr val="000000"/>
                </a:solidFill>
                <a:latin typeface="Meiryo UI"/>
                <a:ea typeface="Meiryo UI"/>
              </a:rPr>
              <a:t>（単位：千円）</a:t>
            </a:r>
          </a:p>
        </p:txBody>
      </p:sp>
      <p:sp>
        <p:nvSpPr>
          <p:cNvPr id="13" name="Right Arrow 210">
            <a:extLst>
              <a:ext uri="{FF2B5EF4-FFF2-40B4-BE49-F238E27FC236}">
                <a16:creationId xmlns:a16="http://schemas.microsoft.com/office/drawing/2014/main" id="{FF15E4F8-9F53-A15C-B68E-64E159215B7A}"/>
              </a:ext>
            </a:extLst>
          </p:cNvPr>
          <p:cNvSpPr/>
          <p:nvPr/>
        </p:nvSpPr>
        <p:spPr>
          <a:xfrm>
            <a:off x="3063240" y="3246120"/>
            <a:ext cx="868680" cy="685800"/>
          </a:xfrm>
          <a:prstGeom prst="rightArrow">
            <a:avLst/>
          </a:prstGeom>
          <a:solidFill>
            <a:srgbClr val="D9E2F3"/>
          </a:solidFill>
          <a:ln w="12700">
            <a:solidFill>
              <a:srgbClr val="203864"/>
            </a:solidFill>
          </a:ln>
          <a:effectLst/>
        </p:spPr>
        <p:style>
          <a:lnRef idx="1">
            <a:schemeClr val="accent1"/>
          </a:lnRef>
          <a:fillRef idx="3">
            <a:schemeClr val="accent1"/>
          </a:fillRef>
          <a:effectRef idx="2">
            <a:schemeClr val="accent1"/>
          </a:effectRef>
          <a:fontRef idx="minor">
            <a:schemeClr val="lt1"/>
          </a:fontRef>
        </p:style>
        <p:txBody>
          <a:bodyPr wrap="square" lIns="54000" tIns="27000" rIns="54000" bIns="27000" rtlCol="0" anchor="ctr"/>
          <a:lstStyle/>
          <a:p>
            <a:pPr algn="ctr"/>
            <a:r>
              <a:rPr sz="850" b="1">
                <a:solidFill>
                  <a:srgbClr val="203864"/>
                </a:solidFill>
                <a:latin typeface="Meiryo UI"/>
                <a:ea typeface="Meiryo UI"/>
              </a:rPr>
              <a:t>事業の</a:t>
            </a:r>
          </a:p>
          <a:p>
            <a:pPr algn="ctr"/>
            <a:r>
              <a:rPr sz="850" b="1">
                <a:solidFill>
                  <a:srgbClr val="203864"/>
                </a:solidFill>
                <a:latin typeface="Meiryo UI"/>
                <a:ea typeface="Meiryo UI"/>
              </a:rPr>
              <a:t>切出し</a:t>
            </a:r>
          </a:p>
        </p:txBody>
      </p:sp>
      <p:sp>
        <p:nvSpPr>
          <p:cNvPr id="15" name="Rectangle 211">
            <a:extLst>
              <a:ext uri="{FF2B5EF4-FFF2-40B4-BE49-F238E27FC236}">
                <a16:creationId xmlns:a16="http://schemas.microsoft.com/office/drawing/2014/main" id="{D2DE299A-D820-1D49-CFD7-B1582CCFE55F}"/>
              </a:ext>
            </a:extLst>
          </p:cNvPr>
          <p:cNvSpPr/>
          <p:nvPr/>
        </p:nvSpPr>
        <p:spPr>
          <a:xfrm>
            <a:off x="4069080" y="1600200"/>
            <a:ext cx="4663440" cy="2103120"/>
          </a:xfrm>
          <a:prstGeom prst="rect">
            <a:avLst/>
          </a:prstGeom>
          <a:solidFill>
            <a:srgbClr val="D9E2F3"/>
          </a:solidFill>
          <a:ln w="19050">
            <a:solidFill>
              <a:srgbClr val="203864"/>
            </a:solidFill>
          </a:ln>
          <a:effectLst/>
        </p:spPr>
        <p:style>
          <a:lnRef idx="1">
            <a:schemeClr val="accent1"/>
          </a:lnRef>
          <a:fillRef idx="3">
            <a:schemeClr val="accent1"/>
          </a:fillRef>
          <a:effectRef idx="2">
            <a:schemeClr val="accent1"/>
          </a:effectRef>
          <a:fontRef idx="minor">
            <a:schemeClr val="lt1"/>
          </a:fontRef>
        </p:style>
        <p:txBody>
          <a:bodyPr wrap="square" lIns="54000" tIns="27000" rIns="54000" bIns="27000" rtlCol="0" anchor="t"/>
          <a:lstStyle/>
          <a:p>
            <a:pPr algn="l"/>
            <a:endParaRPr/>
          </a:p>
        </p:txBody>
      </p:sp>
      <p:sp>
        <p:nvSpPr>
          <p:cNvPr id="17" name="Rectangle 212">
            <a:extLst>
              <a:ext uri="{FF2B5EF4-FFF2-40B4-BE49-F238E27FC236}">
                <a16:creationId xmlns:a16="http://schemas.microsoft.com/office/drawing/2014/main" id="{868696E2-E177-7722-970A-D79625123DD8}"/>
              </a:ext>
            </a:extLst>
          </p:cNvPr>
          <p:cNvSpPr/>
          <p:nvPr/>
        </p:nvSpPr>
        <p:spPr>
          <a:xfrm>
            <a:off x="4069080" y="1600200"/>
            <a:ext cx="4663440" cy="384048"/>
          </a:xfrm>
          <a:prstGeom prst="rect">
            <a:avLst/>
          </a:prstGeom>
          <a:solidFill>
            <a:srgbClr val="203864"/>
          </a:solidFill>
          <a:ln w="12700">
            <a:solidFill>
              <a:srgbClr val="203864"/>
            </a:solidFill>
          </a:ln>
          <a:effectLst/>
        </p:spPr>
        <p:style>
          <a:lnRef idx="1">
            <a:schemeClr val="accent1"/>
          </a:lnRef>
          <a:fillRef idx="3">
            <a:schemeClr val="accent1"/>
          </a:fillRef>
          <a:effectRef idx="2">
            <a:schemeClr val="accent1"/>
          </a:effectRef>
          <a:fontRef idx="minor">
            <a:schemeClr val="lt1"/>
          </a:fontRef>
        </p:style>
        <p:txBody>
          <a:bodyPr wrap="square" lIns="54000" tIns="27000" rIns="54000" bIns="27000" rtlCol="0" anchor="ctr"/>
          <a:lstStyle/>
          <a:p>
            <a:pPr algn="ctr"/>
            <a:r>
              <a:rPr sz="1000" b="1">
                <a:solidFill>
                  <a:srgbClr val="FFFFFF"/>
                </a:solidFill>
                <a:latin typeface="Meiryo UI"/>
                <a:ea typeface="Meiryo UI"/>
              </a:rPr>
              <a:t>切出し後｜株式会社GL design（譲渡対象）</a:t>
            </a:r>
          </a:p>
        </p:txBody>
      </p:sp>
      <p:sp>
        <p:nvSpPr>
          <p:cNvPr id="19" name="TextBox 213">
            <a:extLst>
              <a:ext uri="{FF2B5EF4-FFF2-40B4-BE49-F238E27FC236}">
                <a16:creationId xmlns:a16="http://schemas.microsoft.com/office/drawing/2014/main" id="{1B19AD1E-6226-1E23-5D70-96453057B1ED}"/>
              </a:ext>
            </a:extLst>
          </p:cNvPr>
          <p:cNvSpPr txBox="1"/>
          <p:nvPr/>
        </p:nvSpPr>
        <p:spPr>
          <a:xfrm>
            <a:off x="4206240" y="2057400"/>
            <a:ext cx="4434840" cy="1600200"/>
          </a:xfrm>
          <a:prstGeom prst="rect">
            <a:avLst/>
          </a:prstGeom>
          <a:noFill/>
        </p:spPr>
        <p:txBody>
          <a:bodyPr wrap="square" lIns="54000" tIns="27000" rIns="54000" bIns="27000" anchor="t">
            <a:spAutoFit/>
          </a:bodyPr>
          <a:lstStyle/>
          <a:p>
            <a:pPr algn="l">
              <a:lnSpc>
                <a:spcPct val="120000"/>
              </a:lnSpc>
            </a:pPr>
            <a:r>
              <a:rPr sz="950" b="0">
                <a:solidFill>
                  <a:srgbClr val="000000"/>
                </a:solidFill>
                <a:latin typeface="Meiryo UI"/>
                <a:ea typeface="Meiryo UI"/>
              </a:rPr>
              <a:t>・フォワーダー事業（従業員6名・取引先契約・外注先契約）</a:t>
            </a:r>
          </a:p>
          <a:p>
            <a:pPr algn="l">
              <a:lnSpc>
                <a:spcPct val="120000"/>
              </a:lnSpc>
            </a:pPr>
            <a:r>
              <a:rPr sz="950" b="0">
                <a:solidFill>
                  <a:srgbClr val="000000"/>
                </a:solidFill>
                <a:latin typeface="Meiryo UI"/>
                <a:ea typeface="Meiryo UI"/>
              </a:rPr>
              <a:t>・第一種貨物利用運送事業（外航海運）の登録</a:t>
            </a:r>
          </a:p>
          <a:p>
            <a:pPr algn="l">
              <a:lnSpc>
                <a:spcPct val="120000"/>
              </a:lnSpc>
            </a:pPr>
            <a:r>
              <a:rPr sz="950" b="0">
                <a:solidFill>
                  <a:srgbClr val="000000"/>
                </a:solidFill>
                <a:latin typeface="Meiryo UI"/>
                <a:ea typeface="Meiryo UI"/>
              </a:rPr>
              <a:t>・事業用資産・負債（純額 約144,500千円）</a:t>
            </a:r>
          </a:p>
          <a:p>
            <a:pPr algn="l">
              <a:lnSpc>
                <a:spcPct val="120000"/>
              </a:lnSpc>
            </a:pPr>
            <a:r>
              <a:rPr sz="950" b="0">
                <a:solidFill>
                  <a:srgbClr val="000000"/>
                </a:solidFill>
                <a:latin typeface="Meiryo UI"/>
                <a:ea typeface="Meiryo UI"/>
              </a:rPr>
              <a:t>・有利子負債 156,317千円を継続して保有</a:t>
            </a:r>
          </a:p>
          <a:p>
            <a:pPr algn="l">
              <a:lnSpc>
                <a:spcPct val="120000"/>
              </a:lnSpc>
            </a:pPr>
            <a:r>
              <a:rPr sz="950" b="0">
                <a:solidFill>
                  <a:srgbClr val="000000"/>
                </a:solidFill>
                <a:latin typeface="Meiryo UI"/>
                <a:ea typeface="Meiryo UI"/>
              </a:rPr>
              <a:t>　→　A案：本社株式100%を譲渡（株式譲渡）</a:t>
            </a:r>
          </a:p>
          <a:p>
            <a:pPr algn="l">
              <a:lnSpc>
                <a:spcPct val="120000"/>
              </a:lnSpc>
            </a:pPr>
            <a:r>
              <a:rPr sz="950" b="0">
                <a:solidFill>
                  <a:srgbClr val="000000"/>
                </a:solidFill>
                <a:latin typeface="Meiryo UI"/>
                <a:ea typeface="Meiryo UI"/>
              </a:rPr>
              <a:t>　→　B案：フォワーダー事業を譲渡（事業譲渡）</a:t>
            </a:r>
          </a:p>
        </p:txBody>
      </p:sp>
      <p:sp>
        <p:nvSpPr>
          <p:cNvPr id="21" name="Rectangle 214">
            <a:extLst>
              <a:ext uri="{FF2B5EF4-FFF2-40B4-BE49-F238E27FC236}">
                <a16:creationId xmlns:a16="http://schemas.microsoft.com/office/drawing/2014/main" id="{8ADC3D96-F652-5BE4-9817-ACF34CFC7F59}"/>
              </a:ext>
            </a:extLst>
          </p:cNvPr>
          <p:cNvSpPr/>
          <p:nvPr/>
        </p:nvSpPr>
        <p:spPr>
          <a:xfrm>
            <a:off x="4069080" y="3931920"/>
            <a:ext cx="4663440" cy="1691640"/>
          </a:xfrm>
          <a:prstGeom prst="rect">
            <a:avLst/>
          </a:prstGeom>
          <a:solidFill>
            <a:srgbClr val="F2F2F2"/>
          </a:solidFill>
          <a:ln w="15875">
            <a:solidFill>
              <a:srgbClr val="808080"/>
            </a:solidFill>
          </a:ln>
          <a:effectLst/>
        </p:spPr>
        <p:style>
          <a:lnRef idx="1">
            <a:schemeClr val="accent1"/>
          </a:lnRef>
          <a:fillRef idx="3">
            <a:schemeClr val="accent1"/>
          </a:fillRef>
          <a:effectRef idx="2">
            <a:schemeClr val="accent1"/>
          </a:effectRef>
          <a:fontRef idx="minor">
            <a:schemeClr val="lt1"/>
          </a:fontRef>
        </p:style>
        <p:txBody>
          <a:bodyPr wrap="square" lIns="54000" tIns="27000" rIns="54000" bIns="27000" rtlCol="0" anchor="t"/>
          <a:lstStyle/>
          <a:p>
            <a:pPr algn="l"/>
            <a:endParaRPr/>
          </a:p>
        </p:txBody>
      </p:sp>
      <p:sp>
        <p:nvSpPr>
          <p:cNvPr id="23" name="Rectangle 215">
            <a:extLst>
              <a:ext uri="{FF2B5EF4-FFF2-40B4-BE49-F238E27FC236}">
                <a16:creationId xmlns:a16="http://schemas.microsoft.com/office/drawing/2014/main" id="{347B4512-0D20-8027-127B-9DD80C63F810}"/>
              </a:ext>
            </a:extLst>
          </p:cNvPr>
          <p:cNvSpPr/>
          <p:nvPr/>
        </p:nvSpPr>
        <p:spPr>
          <a:xfrm>
            <a:off x="4069080" y="3931920"/>
            <a:ext cx="4663440" cy="384048"/>
          </a:xfrm>
          <a:prstGeom prst="rect">
            <a:avLst/>
          </a:prstGeom>
          <a:solidFill>
            <a:srgbClr val="595959"/>
          </a:solidFill>
          <a:ln w="12700">
            <a:solidFill>
              <a:srgbClr val="595959"/>
            </a:solidFill>
          </a:ln>
          <a:effectLst/>
        </p:spPr>
        <p:style>
          <a:lnRef idx="1">
            <a:schemeClr val="accent1"/>
          </a:lnRef>
          <a:fillRef idx="3">
            <a:schemeClr val="accent1"/>
          </a:fillRef>
          <a:effectRef idx="2">
            <a:schemeClr val="accent1"/>
          </a:effectRef>
          <a:fontRef idx="minor">
            <a:schemeClr val="lt1"/>
          </a:fontRef>
        </p:style>
        <p:txBody>
          <a:bodyPr wrap="square" lIns="54000" tIns="27000" rIns="54000" bIns="27000" rtlCol="0" anchor="ctr"/>
          <a:lstStyle/>
          <a:p>
            <a:pPr algn="ctr"/>
            <a:r>
              <a:rPr sz="1000" b="1">
                <a:solidFill>
                  <a:srgbClr val="FFFFFF"/>
                </a:solidFill>
                <a:latin typeface="Meiryo UI"/>
                <a:ea typeface="Meiryo UI"/>
              </a:rPr>
              <a:t>新会社（代表保有の休眠会社）｜譲渡対象外</a:t>
            </a:r>
          </a:p>
        </p:txBody>
      </p:sp>
      <p:sp>
        <p:nvSpPr>
          <p:cNvPr id="25" name="TextBox 216">
            <a:extLst>
              <a:ext uri="{FF2B5EF4-FFF2-40B4-BE49-F238E27FC236}">
                <a16:creationId xmlns:a16="http://schemas.microsoft.com/office/drawing/2014/main" id="{078E71D1-0F70-6A36-3B9C-95BA2FFDC8DF}"/>
              </a:ext>
            </a:extLst>
          </p:cNvPr>
          <p:cNvSpPr txBox="1"/>
          <p:nvPr/>
        </p:nvSpPr>
        <p:spPr>
          <a:xfrm>
            <a:off x="4206240" y="4389120"/>
            <a:ext cx="4434840" cy="785497"/>
          </a:xfrm>
          <a:prstGeom prst="rect">
            <a:avLst/>
          </a:prstGeom>
          <a:noFill/>
        </p:spPr>
        <p:txBody>
          <a:bodyPr wrap="square" lIns="54000" tIns="27000" rIns="54000" bIns="27000" anchor="t">
            <a:spAutoFit/>
          </a:bodyPr>
          <a:lstStyle/>
          <a:p>
            <a:pPr algn="l">
              <a:lnSpc>
                <a:spcPct val="120000"/>
              </a:lnSpc>
            </a:pPr>
            <a:r>
              <a:rPr sz="950" b="0">
                <a:solidFill>
                  <a:srgbClr val="000000"/>
                </a:solidFill>
                <a:latin typeface="Meiryo UI"/>
                <a:ea typeface="Meiryo UI"/>
              </a:rPr>
              <a:t>・軽配送事業（貨物軽自動車運送）</a:t>
            </a:r>
          </a:p>
          <a:p>
            <a:pPr algn="l">
              <a:lnSpc>
                <a:spcPct val="120000"/>
              </a:lnSpc>
            </a:pPr>
            <a:r>
              <a:rPr sz="950" b="0">
                <a:solidFill>
                  <a:srgbClr val="000000"/>
                </a:solidFill>
                <a:latin typeface="Meiryo UI"/>
                <a:ea typeface="Meiryo UI"/>
              </a:rPr>
              <a:t>・関連する車両・倉庫賃借契約・業務委託先</a:t>
            </a:r>
          </a:p>
          <a:p>
            <a:pPr algn="l">
              <a:lnSpc>
                <a:spcPct val="120000"/>
              </a:lnSpc>
            </a:pPr>
            <a:r>
              <a:rPr sz="950" b="0">
                <a:solidFill>
                  <a:srgbClr val="000000"/>
                </a:solidFill>
                <a:latin typeface="Meiryo UI"/>
                <a:ea typeface="Meiryo UI"/>
              </a:rPr>
              <a:t>・切出しの法形式（事業譲渡／会社分割）、実行時期、対象資産負債の範囲は要確認</a:t>
            </a:r>
          </a:p>
        </p:txBody>
      </p:sp>
      <p:sp>
        <p:nvSpPr>
          <p:cNvPr id="27" name="TextBox 209">
            <a:extLst>
              <a:ext uri="{FF2B5EF4-FFF2-40B4-BE49-F238E27FC236}">
                <a16:creationId xmlns:a16="http://schemas.microsoft.com/office/drawing/2014/main" id="{20A63D63-6BE0-49DB-AA2E-DCAC11E850C9}"/>
              </a:ext>
            </a:extLst>
          </p:cNvPr>
          <p:cNvSpPr txBox="1"/>
          <p:nvPr/>
        </p:nvSpPr>
        <p:spPr>
          <a:xfrm>
            <a:off x="265176" y="5897880"/>
            <a:ext cx="8631936" cy="323165"/>
          </a:xfrm>
          <a:prstGeom prst="rect">
            <a:avLst/>
          </a:prstGeom>
          <a:noFill/>
        </p:spPr>
        <p:txBody>
          <a:bodyPr wrap="square">
            <a:spAutoFit/>
          </a:bodyPr>
          <a:lstStyle/>
          <a:p>
            <a:pPr algn="l">
              <a:lnSpc>
                <a:spcPct val="115000"/>
              </a:lnSpc>
            </a:pPr>
            <a:r>
              <a:rPr sz="750" b="0">
                <a:latin typeface="Meiryo UI"/>
                <a:ea typeface="Meiryo UI"/>
              </a:rPr>
              <a:t>※企業概要書には「2026年4月中に代表保有の休眠会社へ軽配送事業を切り分ける想定」と記載されておりますが、現時点の実行状況は確認中です。</a:t>
            </a:r>
          </a:p>
          <a:p>
            <a:pPr algn="l">
              <a:lnSpc>
                <a:spcPct val="115000"/>
              </a:lnSpc>
            </a:pPr>
            <a:r>
              <a:rPr sz="750" b="0">
                <a:latin typeface="Meiryo UI"/>
                <a:ea typeface="Meiryo UI"/>
              </a:rPr>
              <a:t>※切出しの法形式（事業譲渡／会社分割）により、対象会社に生じる税負担および許認可の取扱いが異なります。</a:t>
            </a:r>
          </a:p>
          <a:p>
            <a:pPr algn="l">
              <a:lnSpc>
                <a:spcPct val="115000"/>
              </a:lnSpc>
            </a:pPr>
            <a:r>
              <a:rPr sz="750" b="0">
                <a:latin typeface="Meiryo UI"/>
                <a:ea typeface="Meiryo UI"/>
              </a:rPr>
              <a:t>※軽配送事業の切出し完了が、本件実行の前提条件となります。</a:t>
            </a:r>
          </a:p>
        </p:txBody>
      </p:sp>
    </p:spTree>
    <p:extLst>
      <p:ext uri="{BB962C8B-B14F-4D97-AF65-F5344CB8AC3E}">
        <p14:creationId xmlns:p14="http://schemas.microsoft.com/office/powerpoint/2010/main" val="5028550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03">
          <a:extLst>
            <a:ext uri="{FF2B5EF4-FFF2-40B4-BE49-F238E27FC236}">
              <a16:creationId xmlns:a16="http://schemas.microsoft.com/office/drawing/2014/main" id="{95BC019A-7F9F-28DC-1F66-8C7798117E1F}"/>
            </a:ext>
          </a:extLst>
        </p:cNvPr>
        <p:cNvGrpSpPr/>
        <p:nvPr/>
      </p:nvGrpSpPr>
      <p:grpSpPr>
        <a:xfrm>
          <a:off x="0" y="0"/>
          <a:ext cx="0" cy="0"/>
          <a:chOff x="0" y="0"/>
          <a:chExt cx="0" cy="0"/>
        </a:xfrm>
      </p:grpSpPr>
      <p:sp>
        <p:nvSpPr>
          <p:cNvPr id="204" name="Google Shape;204;p3">
            <a:extLst>
              <a:ext uri="{FF2B5EF4-FFF2-40B4-BE49-F238E27FC236}">
                <a16:creationId xmlns:a16="http://schemas.microsoft.com/office/drawing/2014/main" id="{2D1ED253-F40D-FF0C-6733-FB293BC49945}"/>
              </a:ext>
            </a:extLst>
          </p:cNvPr>
          <p:cNvSpPr txBox="1">
            <a:spLocks noGrp="1"/>
          </p:cNvSpPr>
          <p:nvPr>
            <p:ph type="title"/>
          </p:nvPr>
        </p:nvSpPr>
        <p:spPr>
          <a:xfrm>
            <a:off x="395536" y="332655"/>
            <a:ext cx="6696744" cy="288033"/>
          </a:xfrm>
          <a:prstGeom prst="rect">
            <a:avLst/>
          </a:prstGeom>
          <a:noFill/>
          <a:ln>
            <a:noFill/>
          </a:ln>
        </p:spPr>
        <p:txBody>
          <a:bodyPr spcFirstLastPara="1" wrap="square" lIns="91425" tIns="45700" rIns="91425" bIns="45700" anchor="ctr" anchorCtr="0">
            <a:noAutofit/>
          </a:bodyPr>
          <a:lstStyle/>
          <a:p>
            <a:pPr lvl="0" algn="l"/>
            <a:r>
              <a:rPr sz="1400" b="1">
                <a:solidFill>
                  <a:srgbClr val="5A5A5A"/>
                </a:solidFill>
                <a:latin typeface="Meiryo UI"/>
                <a:ea typeface="Meiryo UI"/>
              </a:rPr>
              <a:t>譲渡対象BSの構造とスキーム別の承継範囲（2025年12月期）</a:t>
            </a:r>
            <a:endParaRPr b="1" dirty="0">
              <a:solidFill>
                <a:srgbClr val="5A5A5A"/>
              </a:solidFill>
              <a:latin typeface="Meiryo UI" panose="020B0604030504040204" pitchFamily="50" charset="-128"/>
              <a:ea typeface="Meiryo UI" panose="020B0604030504040204" pitchFamily="50" charset="-128"/>
              <a:sym typeface="Arial"/>
            </a:endParaRPr>
          </a:p>
        </p:txBody>
      </p:sp>
      <p:sp>
        <p:nvSpPr>
          <p:cNvPr id="205" name="Google Shape;205;p3">
            <a:extLst>
              <a:ext uri="{FF2B5EF4-FFF2-40B4-BE49-F238E27FC236}">
                <a16:creationId xmlns:a16="http://schemas.microsoft.com/office/drawing/2014/main" id="{E50847C0-091C-291B-273F-333A519640AC}"/>
              </a:ext>
            </a:extLst>
          </p:cNvPr>
          <p:cNvSpPr txBox="1"/>
          <p:nvPr/>
        </p:nvSpPr>
        <p:spPr>
          <a:xfrm>
            <a:off x="323528" y="116632"/>
            <a:ext cx="2376264" cy="188640"/>
          </a:xfrm>
          <a:prstGeom prst="rect">
            <a:avLst/>
          </a:prstGeom>
          <a:noFill/>
          <a:ln>
            <a:noFill/>
          </a:ln>
        </p:spPr>
        <p:txBody>
          <a:bodyPr spcFirstLastPara="1" wrap="square" lIns="36000" tIns="0" rIns="0" bIns="0" anchor="ctr" anchorCtr="0">
            <a:noAutofit/>
          </a:bodyPr>
          <a:lstStyle/>
          <a:p>
            <a:pPr marL="0" marR="0" lvl="0" indent="0" algn="l" rtl="0">
              <a:lnSpc>
                <a:spcPct val="100000"/>
              </a:lnSpc>
              <a:spcBef>
                <a:spcPts val="0"/>
              </a:spcBef>
              <a:spcAft>
                <a:spcPts val="0"/>
              </a:spcAft>
              <a:buClr>
                <a:srgbClr val="5A5A5A"/>
              </a:buClr>
              <a:buSzPts val="1000"/>
              <a:buFont typeface="Arial"/>
              <a:buNone/>
            </a:pPr>
            <a:r>
              <a:rPr sz="1000" b="0">
                <a:solidFill>
                  <a:srgbClr val="5A5A5A"/>
                </a:solidFill>
                <a:latin typeface="Meiryo UI"/>
                <a:ea typeface="Meiryo UI"/>
              </a:rPr>
              <a:t>本件の論点整理</a:t>
            </a:r>
            <a:endParaRPr>
              <a:latin typeface="Meiryo UI" panose="020B0604030504040204" pitchFamily="50" charset="-128"/>
              <a:ea typeface="Meiryo UI" panose="020B0604030504040204" pitchFamily="50" charset="-128"/>
            </a:endParaRPr>
          </a:p>
        </p:txBody>
      </p:sp>
      <p:sp>
        <p:nvSpPr>
          <p:cNvPr id="206" name="Google Shape;206;p3">
            <a:extLst>
              <a:ext uri="{FF2B5EF4-FFF2-40B4-BE49-F238E27FC236}">
                <a16:creationId xmlns:a16="http://schemas.microsoft.com/office/drawing/2014/main" id="{B227A796-C9B0-4950-E952-065264CBF78E}"/>
              </a:ext>
            </a:extLst>
          </p:cNvPr>
          <p:cNvSpPr/>
          <p:nvPr/>
        </p:nvSpPr>
        <p:spPr>
          <a:xfrm>
            <a:off x="0" y="116632"/>
            <a:ext cx="323528" cy="180000"/>
          </a:xfrm>
          <a:prstGeom prst="parallelogram">
            <a:avLst>
              <a:gd name="adj" fmla="val 32938"/>
            </a:avLst>
          </a:prstGeom>
          <a:solidFill>
            <a:srgbClr val="66A09A"/>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Arial"/>
              <a:buNone/>
            </a:pPr>
            <a:r>
              <a:rPr sz="1000" b="0">
                <a:solidFill>
                  <a:srgbClr val="FFFFFF"/>
                </a:solidFill>
                <a:latin typeface="Meiryo UI"/>
                <a:ea typeface="Meiryo UI"/>
              </a:rPr>
              <a:t>1</a:t>
            </a:r>
            <a:endParaRPr sz="1000" b="0" i="0" u="none" strike="noStrike" cap="none">
              <a:solidFill>
                <a:srgbClr val="FFFFFF"/>
              </a:solidFill>
              <a:latin typeface="Arial"/>
              <a:ea typeface="Arial"/>
              <a:cs typeface="Arial"/>
              <a:sym typeface="Arial"/>
            </a:endParaRPr>
          </a:p>
        </p:txBody>
      </p:sp>
      <p:sp>
        <p:nvSpPr>
          <p:cNvPr id="208" name="Google Shape;208;p3">
            <a:extLst>
              <a:ext uri="{FF2B5EF4-FFF2-40B4-BE49-F238E27FC236}">
                <a16:creationId xmlns:a16="http://schemas.microsoft.com/office/drawing/2014/main" id="{A7E1A7B2-DD1F-D7B7-9B14-CD1190DF38BE}"/>
              </a:ext>
            </a:extLst>
          </p:cNvPr>
          <p:cNvSpPr txBox="1"/>
          <p:nvPr/>
        </p:nvSpPr>
        <p:spPr>
          <a:xfrm>
            <a:off x="9450000" y="0"/>
            <a:ext cx="3400000" cy="6858000"/>
          </a:xfrm>
          <a:prstGeom prst="rect">
            <a:avLst/>
          </a:prstGeom>
          <a:solidFill>
            <a:srgbClr val="EEF7CD"/>
          </a:solidFill>
          <a:ln>
            <a:noFill/>
          </a:ln>
        </p:spPr>
        <p:txBody>
          <a:bodyPr spcFirstLastPara="1" wrap="square" lIns="72000" tIns="36000" rIns="72000" bIns="36000" anchor="ctr" anchorCtr="0">
            <a:noAutofit/>
          </a:bodyPr>
          <a:lstStyle/>
          <a:p>
            <a:pPr marL="0" marR="0" lvl="0" indent="0" algn="l" rtl="0">
              <a:lnSpc>
                <a:spcPct val="110000"/>
              </a:lnSpc>
              <a:spcBef>
                <a:spcPts val="0"/>
              </a:spcBef>
              <a:spcAft>
                <a:spcPts val="0"/>
              </a:spcAft>
              <a:buNone/>
            </a:pPr>
            <a:r>
              <a:rPr sz="900" b="0">
                <a:latin typeface="Meiryo UI"/>
                <a:ea typeface="Meiryo UI"/>
              </a:rPr>
              <a:t>【社内メモ｜本資料作成時の留意事項】</a:t>
            </a:r>
            <a:endParaRPr dirty="0"/>
          </a:p>
          <a:p>
            <a:pPr algn="l">
              <a:lnSpc>
                <a:spcPct val="110000"/>
              </a:lnSpc>
            </a:pPr>
            <a:r>
              <a:rPr sz="900" b="0">
                <a:latin typeface="Meiryo UI"/>
                <a:ea typeface="Meiryo UI"/>
              </a:rPr>
              <a:t>※本テキストボックスはスライド範囲外に配置しており、スライドショー・PDF出力には表示されません。買手候補への提示前に内容をご確認ください。</a:t>
            </a:r>
          </a:p>
          <a:p>
            <a:pPr algn="l">
              <a:lnSpc>
                <a:spcPct val="110000"/>
              </a:lnSpc>
            </a:pPr>
            <a:r>
              <a:rPr sz="900" b="0">
                <a:latin typeface="Meiryo UI"/>
                <a:ea typeface="Meiryo UI"/>
              </a:rPr>
              <a:t>　</a:t>
            </a:r>
          </a:p>
          <a:p>
            <a:pPr algn="l">
              <a:lnSpc>
                <a:spcPct val="110000"/>
              </a:lnSpc>
            </a:pPr>
            <a:r>
              <a:rPr sz="900" b="0">
                <a:latin typeface="Meiryo UI"/>
                <a:ea typeface="Meiryo UI"/>
              </a:rPr>
              <a:t>１．基準EBITDA 18,760千円は株式価値試算報告書（2026年4月17日付）の記載値。修正後EBITDA（14,806／14,410／22,952）を1:2:3で加重平均すると18,747千円となり13千円の差が生じるため、案件マスターで算定根拠を確定すること。</a:t>
            </a:r>
          </a:p>
          <a:p>
            <a:pPr algn="l">
              <a:lnSpc>
                <a:spcPct val="110000"/>
              </a:lnSpc>
            </a:pPr>
            <a:r>
              <a:rPr sz="900" b="0">
                <a:latin typeface="Meiryo UI"/>
                <a:ea typeface="Meiryo UI"/>
              </a:rPr>
              <a:t>　</a:t>
            </a:r>
          </a:p>
          <a:p>
            <a:pPr algn="l">
              <a:lnSpc>
                <a:spcPct val="110000"/>
              </a:lnSpc>
            </a:pPr>
            <a:r>
              <a:rPr sz="900" b="0">
                <a:latin typeface="Meiryo UI"/>
                <a:ea typeface="Meiryo UI"/>
              </a:rPr>
              <a:t>２．「スキーム比較のご提案」（2026年5月29日付）では基準EBITDA 18,512千円・倍率4〜6倍（EV 74,046〜111,069千円）と記載されており、株式価値試算報告書（18,760千円・3〜5倍）と数値・倍率がいずれも異なる。買手候補ごとに提示数値が食い違わないよう、提示前に統一すること。本資料は株式価値試算報告書の数値に統一している。</a:t>
            </a:r>
          </a:p>
          <a:p>
            <a:pPr algn="l">
              <a:lnSpc>
                <a:spcPct val="110000"/>
              </a:lnSpc>
            </a:pPr>
            <a:r>
              <a:rPr sz="900" b="0">
                <a:latin typeface="Meiryo UI"/>
                <a:ea typeface="Meiryo UI"/>
              </a:rPr>
              <a:t>　</a:t>
            </a:r>
          </a:p>
          <a:p>
            <a:pPr algn="l">
              <a:lnSpc>
                <a:spcPct val="110000"/>
              </a:lnSpc>
            </a:pPr>
            <a:r>
              <a:rPr sz="900" b="0">
                <a:latin typeface="Meiryo UI"/>
                <a:ea typeface="Meiryo UI"/>
              </a:rPr>
              <a:t>３．株式価値試算報告書の「販管費及び一般管理費の修正」の修正後合計（2025年12月期 47,260千円）と、PLハイライトから逆算した販管費（44,780千円＝売上総利益67,190－営業利益22,410）に2,480千円の差異がある。案件マスターで整合を確認すること。</a:t>
            </a:r>
          </a:p>
          <a:p>
            <a:pPr algn="l">
              <a:lnSpc>
                <a:spcPct val="110000"/>
              </a:lnSpc>
            </a:pPr>
            <a:r>
              <a:rPr sz="900" b="0">
                <a:latin typeface="Meiryo UI"/>
                <a:ea typeface="Meiryo UI"/>
              </a:rPr>
              <a:t>　</a:t>
            </a:r>
          </a:p>
          <a:p>
            <a:pPr algn="l">
              <a:lnSpc>
                <a:spcPct val="110000"/>
              </a:lnSpc>
            </a:pPr>
            <a:r>
              <a:rPr sz="900" b="0">
                <a:latin typeface="Meiryo UI"/>
                <a:ea typeface="Meiryo UI"/>
              </a:rPr>
              <a:t>４．企業概要書の売上高（2024年12月期252,085／2025年12月期375,521千円）と分析資料の売上高（201,668／356,909千円）が異なる。前者は軽配送事業を含む全社ベース、後者はフォワーダー事業単体ベースと理解しているが、2023年12月期のみ両者が一致（282,040千円）しており、同期の軽配送事業売上の除外が未反映の可能性がある。要検証。</a:t>
            </a:r>
          </a:p>
          <a:p>
            <a:pPr algn="l">
              <a:lnSpc>
                <a:spcPct val="110000"/>
              </a:lnSpc>
            </a:pPr>
            <a:r>
              <a:rPr sz="900" b="0">
                <a:latin typeface="Meiryo UI"/>
                <a:ea typeface="Meiryo UI"/>
              </a:rPr>
              <a:t>　</a:t>
            </a:r>
          </a:p>
          <a:p>
            <a:pPr algn="l">
              <a:lnSpc>
                <a:spcPct val="110000"/>
              </a:lnSpc>
            </a:pPr>
            <a:r>
              <a:rPr sz="900" b="0">
                <a:latin typeface="Meiryo UI"/>
                <a:ea typeface="Meiryo UI"/>
              </a:rPr>
              <a:t>５．P10の「＋6,920千円（軽配送事業の切離し・販管費の部門別賦課）」は、企業概要書の調整後EBITDA 9,922千円と本資料の22,952千円の差額13,030千円から役員報酬差6,110千円を控除した残差として算出したもの。内訳を案件マスターで分解し、確定させること。</a:t>
            </a:r>
          </a:p>
          <a:p>
            <a:pPr algn="l">
              <a:lnSpc>
                <a:spcPct val="110000"/>
              </a:lnSpc>
            </a:pPr>
            <a:r>
              <a:rPr sz="900" b="0">
                <a:latin typeface="Meiryo UI"/>
                <a:ea typeface="Meiryo UI"/>
              </a:rPr>
              <a:t>　</a:t>
            </a:r>
          </a:p>
          <a:p>
            <a:pPr algn="l">
              <a:lnSpc>
                <a:spcPct val="110000"/>
              </a:lnSpc>
            </a:pPr>
            <a:r>
              <a:rPr sz="900" b="0">
                <a:latin typeface="Meiryo UI"/>
                <a:ea typeface="Meiryo UI"/>
              </a:rPr>
              <a:t>６．弊社成功報酬について、企業概要書の報酬体系では「時価総資産（営業権含む）2億円以下の部分＝2,000万円、最低額1,500万円」、「スキーム比較のご提案」では「アドバイザリー報酬10,000千円」と記載が異なる。提示前の統一が必要なため、本資料では金額を記載せず「別途ご提示」としている。</a:t>
            </a:r>
          </a:p>
          <a:p>
            <a:pPr algn="l">
              <a:lnSpc>
                <a:spcPct val="110000"/>
              </a:lnSpc>
            </a:pPr>
            <a:r>
              <a:rPr sz="900" b="0">
                <a:latin typeface="Meiryo UI"/>
                <a:ea typeface="Meiryo UI"/>
              </a:rPr>
              <a:t>　</a:t>
            </a:r>
          </a:p>
          <a:p>
            <a:pPr algn="l">
              <a:lnSpc>
                <a:spcPct val="110000"/>
              </a:lnSpc>
            </a:pPr>
            <a:r>
              <a:rPr sz="900" b="0">
                <a:latin typeface="Meiryo UI"/>
                <a:ea typeface="Meiryo UI"/>
              </a:rPr>
              <a:t>７．他の買手候補（ジャパン・バン・ラインズ株式会社）への提示資料の存在および提示条件については、本資料および面談において一切言及しないこと。</a:t>
            </a:r>
          </a:p>
          <a:p>
            <a:pPr algn="l">
              <a:lnSpc>
                <a:spcPct val="110000"/>
              </a:lnSpc>
            </a:pPr>
            <a:r>
              <a:rPr sz="900" b="0">
                <a:latin typeface="Meiryo UI"/>
                <a:ea typeface="Meiryo UI"/>
              </a:rPr>
              <a:t>　</a:t>
            </a:r>
          </a:p>
          <a:p>
            <a:pPr algn="l">
              <a:lnSpc>
                <a:spcPct val="110000"/>
              </a:lnSpc>
            </a:pPr>
            <a:r>
              <a:rPr sz="900" b="0">
                <a:latin typeface="Meiryo UI"/>
                <a:ea typeface="Meiryo UI"/>
              </a:rPr>
              <a:t>８．「2026年4月中に代表保有の休眠会社へ軽配送事業を切り分ける想定」（企業概要書P6）は同年4月時点の記載。本日（2026年8月16日）時点の実行状況を売主に確認のうえ、面談前にP7・P8を更新すること。</a:t>
            </a:r>
          </a:p>
          <a:p>
            <a:pPr algn="l">
              <a:lnSpc>
                <a:spcPct val="110000"/>
              </a:lnSpc>
            </a:pPr>
            <a:r>
              <a:rPr sz="900" b="0">
                <a:latin typeface="Meiryo UI"/>
                <a:ea typeface="Meiryo UI"/>
              </a:rPr>
              <a:t>　</a:t>
            </a:r>
          </a:p>
          <a:p>
            <a:pPr algn="l">
              <a:lnSpc>
                <a:spcPct val="110000"/>
              </a:lnSpc>
            </a:pPr>
            <a:r>
              <a:rPr sz="900" b="0">
                <a:latin typeface="Meiryo UI"/>
                <a:ea typeface="Meiryo UI"/>
              </a:rPr>
              <a:t>９．役員借入金 約10,000千円の貸借対照表上の計上区分が未確定。短期借入金15,321千円に含まれる場合、P6の手出し資金表（③と⑤）で二重計上となるため要修正。</a:t>
            </a:r>
          </a:p>
          <a:p>
            <a:pPr algn="l">
              <a:lnSpc>
                <a:spcPct val="110000"/>
              </a:lnSpc>
            </a:pPr>
            <a:r>
              <a:rPr sz="900" b="0">
                <a:latin typeface="Meiryo UI"/>
                <a:ea typeface="Meiryo UI"/>
              </a:rPr>
              <a:t>　</a:t>
            </a:r>
          </a:p>
          <a:p>
            <a:pPr algn="l">
              <a:lnSpc>
                <a:spcPct val="110000"/>
              </a:lnSpc>
            </a:pPr>
            <a:r>
              <a:rPr sz="900" b="0">
                <a:latin typeface="Meiryo UI"/>
                <a:ea typeface="Meiryo UI"/>
              </a:rPr>
              <a:t>10．第一種貨物利用運送事業（外航海運）の事業譲渡・会社分割時の承継手続については、所管官庁（国土交通省）への確認が必要。本資料では「要確認」としている。</a:t>
            </a:r>
          </a:p>
          <a:p>
            <a:pPr algn="l">
              <a:lnSpc>
                <a:spcPct val="110000"/>
              </a:lnSpc>
            </a:pPr>
            <a:r>
              <a:rPr sz="900" b="0">
                <a:latin typeface="Meiryo UI"/>
                <a:ea typeface="Meiryo UI"/>
              </a:rPr>
              <a:t>　</a:t>
            </a:r>
          </a:p>
          <a:p>
            <a:pPr algn="l">
              <a:lnSpc>
                <a:spcPct val="110000"/>
              </a:lnSpc>
            </a:pPr>
            <a:r>
              <a:rPr sz="900" b="0">
                <a:latin typeface="Meiryo UI"/>
                <a:ea typeface="Meiryo UI"/>
              </a:rPr>
              <a:t>11．発行済株式数は企業概要書内で「3,000株」（基本情報）と「300株」（株主及び役員）の2通りの記載。登記簿で確定のうえ、企業概要書も修正すること。</a:t>
            </a:r>
          </a:p>
          <a:p>
            <a:pPr algn="l">
              <a:lnSpc>
                <a:spcPct val="110000"/>
              </a:lnSpc>
            </a:pPr>
            <a:r>
              <a:rPr sz="900" b="0">
                <a:latin typeface="Meiryo UI"/>
                <a:ea typeface="Meiryo UI"/>
              </a:rPr>
              <a:t>　</a:t>
            </a:r>
          </a:p>
        </p:txBody>
      </p:sp>
      <p:sp>
        <p:nvSpPr>
          <p:cNvPr id="5" name="TextBox 209">
            <a:extLst>
              <a:ext uri="{FF2B5EF4-FFF2-40B4-BE49-F238E27FC236}">
                <a16:creationId xmlns:a16="http://schemas.microsoft.com/office/drawing/2014/main" id="{6213C1B4-1DB8-B498-3A28-5942E4D4003E}"/>
              </a:ext>
            </a:extLst>
          </p:cNvPr>
          <p:cNvSpPr txBox="1"/>
          <p:nvPr/>
        </p:nvSpPr>
        <p:spPr>
          <a:xfrm>
            <a:off x="265176" y="836613"/>
            <a:ext cx="8631936" cy="646331"/>
          </a:xfrm>
          <a:prstGeom prst="rect">
            <a:avLst/>
          </a:prstGeom>
          <a:noFill/>
        </p:spPr>
        <p:txBody>
          <a:bodyPr wrap="square">
            <a:spAutoFit/>
          </a:bodyPr>
          <a:lstStyle/>
          <a:p>
            <a:pPr algn="l">
              <a:lnSpc>
                <a:spcPct val="120000"/>
              </a:lnSpc>
            </a:pPr>
            <a:r>
              <a:rPr sz="900" b="0">
                <a:latin typeface="Meiryo UI"/>
                <a:ea typeface="Meiryo UI"/>
              </a:rPr>
              <a:t>▪ 株式譲渡の場合、純有利子負債138,569千円と事業用資産・負債（純額144,464千円）を一体で承継</a:t>
            </a:r>
          </a:p>
          <a:p>
            <a:pPr algn="l">
              <a:lnSpc>
                <a:spcPct val="120000"/>
              </a:lnSpc>
            </a:pPr>
            <a:r>
              <a:rPr sz="900" b="0">
                <a:latin typeface="Meiryo UI"/>
                <a:ea typeface="Meiryo UI"/>
              </a:rPr>
              <a:t>▪ 事業譲渡の場合、承継対象は双方協議により決定。事業用資産・負債を承継しない場合、事業運営に必要な資金を別途手当てする必要</a:t>
            </a:r>
          </a:p>
          <a:p>
            <a:pPr algn="l">
              <a:lnSpc>
                <a:spcPct val="120000"/>
              </a:lnSpc>
            </a:pPr>
            <a:r>
              <a:rPr sz="900" b="0">
                <a:latin typeface="Meiryo UI"/>
                <a:ea typeface="Meiryo UI"/>
              </a:rPr>
              <a:t>▪ 前渡金・立替金・仮払金 計75,075千円（総資産の45%）の実体性・回収可能性が、いずれのスキームでも価額の前提となります</a:t>
            </a:r>
          </a:p>
        </p:txBody>
      </p:sp>
      <p:sp>
        <p:nvSpPr>
          <p:cNvPr id="27" name="TextBox 209">
            <a:extLst>
              <a:ext uri="{FF2B5EF4-FFF2-40B4-BE49-F238E27FC236}">
                <a16:creationId xmlns:a16="http://schemas.microsoft.com/office/drawing/2014/main" id="{E8D35E91-51BA-570D-CC34-14FB5A0E533C}"/>
              </a:ext>
            </a:extLst>
          </p:cNvPr>
          <p:cNvSpPr txBox="1"/>
          <p:nvPr/>
        </p:nvSpPr>
        <p:spPr>
          <a:xfrm>
            <a:off x="265176" y="5897880"/>
            <a:ext cx="8631936" cy="438582"/>
          </a:xfrm>
          <a:prstGeom prst="rect">
            <a:avLst/>
          </a:prstGeom>
          <a:noFill/>
        </p:spPr>
        <p:txBody>
          <a:bodyPr wrap="square">
            <a:spAutoFit/>
          </a:bodyPr>
          <a:lstStyle/>
          <a:p>
            <a:pPr algn="l">
              <a:lnSpc>
                <a:spcPct val="115000"/>
              </a:lnSpc>
            </a:pPr>
            <a:r>
              <a:rPr sz="750" b="0">
                <a:latin typeface="Meiryo UI"/>
                <a:ea typeface="Meiryo UI"/>
              </a:rPr>
              <a:t>※企業概要書記載の2025年12月期実績BSに基づき、科目を組み替えて記載しております。※千円未満の端数処理により合計が一致しない場合があります。</a:t>
            </a:r>
          </a:p>
          <a:p>
            <a:pPr algn="l">
              <a:lnSpc>
                <a:spcPct val="115000"/>
              </a:lnSpc>
            </a:pPr>
            <a:r>
              <a:rPr sz="750" b="0">
                <a:latin typeface="Meiryo UI"/>
                <a:ea typeface="Meiryo UI"/>
              </a:rPr>
              <a:t>※B. 事業譲渡における承継対象資産・負債は双方協議のうえ決定されるため、上表は承継しうる最大範囲を示したものです（純資産欄は差引の承継純資産）。</a:t>
            </a:r>
          </a:p>
          <a:p>
            <a:pPr algn="l">
              <a:lnSpc>
                <a:spcPct val="115000"/>
              </a:lnSpc>
            </a:pPr>
            <a:r>
              <a:rPr sz="750" b="0">
                <a:latin typeface="Meiryo UI"/>
                <a:ea typeface="Meiryo UI"/>
              </a:rPr>
              <a:t>※役員借入金 約10,000千円は貸借対照表上の計上区分が確認中であり、有利子負債に含まれる可能性がございます。</a:t>
            </a:r>
          </a:p>
        </p:txBody>
      </p:sp>
      <p:graphicFrame>
        <p:nvGraphicFramePr>
          <p:cNvPr id="3" name="Table 207">
            <a:extLst>
              <a:ext uri="{FF2B5EF4-FFF2-40B4-BE49-F238E27FC236}">
                <a16:creationId xmlns:a16="http://schemas.microsoft.com/office/drawing/2014/main" id="{58956B21-0138-AFE7-9E0E-9DDFA2F7643F}"/>
              </a:ext>
            </a:extLst>
          </p:cNvPr>
          <p:cNvGraphicFramePr>
            <a:graphicFrameLocks noGrp="1"/>
          </p:cNvGraphicFramePr>
          <p:nvPr/>
        </p:nvGraphicFramePr>
        <p:xfrm>
          <a:off x="365760" y="1828800"/>
          <a:ext cx="2633472" cy="3268980"/>
        </p:xfrm>
        <a:graphic>
          <a:graphicData uri="http://schemas.openxmlformats.org/drawingml/2006/table">
            <a:tbl>
              <a:tblPr>
                <a:tableStyleId>{5C22544A-7EE6-4342-B048-85BDC9FD1C3A}</a:tableStyleId>
              </a:tblPr>
              <a:tblGrid>
                <a:gridCol w="1764792">
                  <a:extLst>
                    <a:ext uri="{9D8B030D-6E8A-4147-A177-3AD203B41FA5}">
                      <a16:colId xmlns:a16="http://schemas.microsoft.com/office/drawing/2014/main" val="20000"/>
                    </a:ext>
                  </a:extLst>
                </a:gridCol>
                <a:gridCol w="868680">
                  <a:extLst>
                    <a:ext uri="{9D8B030D-6E8A-4147-A177-3AD203B41FA5}">
                      <a16:colId xmlns:a16="http://schemas.microsoft.com/office/drawing/2014/main" val="20001"/>
                    </a:ext>
                  </a:extLst>
                </a:gridCol>
              </a:tblGrid>
              <a:tr h="251460">
                <a:tc gridSpan="2">
                  <a:txBody>
                    <a:bodyPr/>
                    <a:lstStyle/>
                    <a:p>
                      <a:pPr algn="ctr"/>
                      <a:r>
                        <a:rPr sz="800" b="1">
                          <a:solidFill>
                            <a:srgbClr val="FFFFFF"/>
                          </a:solidFill>
                          <a:latin typeface="Meiryo UI"/>
                          <a:ea typeface="Meiryo UI"/>
                        </a:rPr>
                        <a:t>2025年12月期BS（実績）</a:t>
                      </a:r>
                    </a:p>
                  </a:txBody>
                  <a:tcPr marL="27000" marR="36000" marT="18000" marB="1800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203864"/>
                    </a:solidFill>
                  </a:tcPr>
                </a:tc>
                <a:tc hMerge="1">
                  <a:txBody>
                    <a:bodyPr/>
                    <a:lstStyle/>
                    <a:p>
                      <a:pPr algn="ctr"/>
                      <a:r>
                        <a:rPr sz="800" b="1">
                          <a:latin typeface="Meiryo UI"/>
                          <a:ea typeface="Meiryo UI"/>
                        </a:rPr>
                        <a:t>　</a:t>
                      </a:r>
                      <a:endParaRPr/>
                    </a:p>
                  </a:txBody>
                  <a:tcPr marL="72000" marR="36000" marT="18000" marB="1800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203864"/>
                    </a:solidFill>
                  </a:tcPr>
                </a:tc>
                <a:extLst>
                  <a:ext uri="{0D108BD9-81ED-4DB2-BD59-A6C34878D82A}">
                    <a16:rowId xmlns:a16="http://schemas.microsoft.com/office/drawing/2014/main" val="10000"/>
                  </a:ext>
                </a:extLst>
              </a:tr>
              <a:tr h="251460">
                <a:tc>
                  <a:txBody>
                    <a:bodyPr/>
                    <a:lstStyle/>
                    <a:p>
                      <a:pPr algn="l"/>
                      <a:r>
                        <a:rPr sz="850" b="1">
                          <a:solidFill>
                            <a:srgbClr val="000000"/>
                          </a:solidFill>
                          <a:latin typeface="Meiryo UI"/>
                          <a:ea typeface="Meiryo UI"/>
                        </a:rPr>
                        <a:t>資産の部</a:t>
                      </a:r>
                    </a:p>
                  </a:txBody>
                  <a:tcPr marL="45000" marR="36000" marT="18000" marB="1800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E8EDF7"/>
                    </a:solidFill>
                  </a:tcPr>
                </a:tc>
                <a:tc>
                  <a:txBody>
                    <a:bodyPr/>
                    <a:lstStyle/>
                    <a:p>
                      <a:pPr algn="l"/>
                      <a:r>
                        <a:rPr sz="900" b="0">
                          <a:latin typeface="Meiryo UI"/>
                          <a:ea typeface="Meiryo UI"/>
                        </a:rPr>
                        <a:t>　</a:t>
                      </a:r>
                      <a:endParaRPr/>
                    </a:p>
                  </a:txBody>
                  <a:tcPr marL="72000" marR="36000" marT="18000" marB="1800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E8EDF7"/>
                    </a:solidFill>
                  </a:tcPr>
                </a:tc>
                <a:extLst>
                  <a:ext uri="{0D108BD9-81ED-4DB2-BD59-A6C34878D82A}">
                    <a16:rowId xmlns:a16="http://schemas.microsoft.com/office/drawing/2014/main" val="10001"/>
                  </a:ext>
                </a:extLst>
              </a:tr>
              <a:tr h="251460">
                <a:tc>
                  <a:txBody>
                    <a:bodyPr/>
                    <a:lstStyle/>
                    <a:p>
                      <a:pPr algn="l"/>
                      <a:r>
                        <a:rPr sz="850" b="0">
                          <a:solidFill>
                            <a:srgbClr val="000000"/>
                          </a:solidFill>
                          <a:latin typeface="Meiryo UI"/>
                          <a:ea typeface="Meiryo UI"/>
                        </a:rPr>
                        <a:t>現金及び預金</a:t>
                      </a:r>
                    </a:p>
                  </a:txBody>
                  <a:tcPr marL="45000" marR="36000" marT="18000" marB="1800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tc>
                  <a:txBody>
                    <a:bodyPr/>
                    <a:lstStyle/>
                    <a:p>
                      <a:pPr algn="r"/>
                      <a:r>
                        <a:rPr sz="900" b="0">
                          <a:solidFill>
                            <a:srgbClr val="000000"/>
                          </a:solidFill>
                          <a:latin typeface="Meiryo UI"/>
                          <a:ea typeface="Meiryo UI"/>
                        </a:rPr>
                        <a:t>17,748</a:t>
                      </a:r>
                    </a:p>
                  </a:txBody>
                  <a:tcPr marL="27000" marR="36000" marT="18000" marB="1800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extLst>
                  <a:ext uri="{0D108BD9-81ED-4DB2-BD59-A6C34878D82A}">
                    <a16:rowId xmlns:a16="http://schemas.microsoft.com/office/drawing/2014/main" val="10002"/>
                  </a:ext>
                </a:extLst>
              </a:tr>
              <a:tr h="251460">
                <a:tc>
                  <a:txBody>
                    <a:bodyPr/>
                    <a:lstStyle/>
                    <a:p>
                      <a:pPr algn="l"/>
                      <a:r>
                        <a:rPr sz="850" b="0">
                          <a:solidFill>
                            <a:srgbClr val="000000"/>
                          </a:solidFill>
                          <a:latin typeface="Meiryo UI"/>
                          <a:ea typeface="Meiryo UI"/>
                        </a:rPr>
                        <a:t>売掛金</a:t>
                      </a:r>
                    </a:p>
                  </a:txBody>
                  <a:tcPr marL="45000" marR="36000" marT="18000" marB="1800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tc>
                  <a:txBody>
                    <a:bodyPr/>
                    <a:lstStyle/>
                    <a:p>
                      <a:pPr algn="r"/>
                      <a:r>
                        <a:rPr sz="900" b="0">
                          <a:solidFill>
                            <a:srgbClr val="000000"/>
                          </a:solidFill>
                          <a:latin typeface="Meiryo UI"/>
                          <a:ea typeface="Meiryo UI"/>
                        </a:rPr>
                        <a:t>61,055</a:t>
                      </a:r>
                    </a:p>
                  </a:txBody>
                  <a:tcPr marL="27000" marR="36000" marT="18000" marB="1800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extLst>
                  <a:ext uri="{0D108BD9-81ED-4DB2-BD59-A6C34878D82A}">
                    <a16:rowId xmlns:a16="http://schemas.microsoft.com/office/drawing/2014/main" val="10003"/>
                  </a:ext>
                </a:extLst>
              </a:tr>
              <a:tr h="251460">
                <a:tc>
                  <a:txBody>
                    <a:bodyPr/>
                    <a:lstStyle/>
                    <a:p>
                      <a:pPr algn="l"/>
                      <a:r>
                        <a:rPr sz="850" b="0">
                          <a:solidFill>
                            <a:srgbClr val="000000"/>
                          </a:solidFill>
                          <a:latin typeface="Meiryo UI"/>
                          <a:ea typeface="Meiryo UI"/>
                        </a:rPr>
                        <a:t>前渡金・立替金・仮払金</a:t>
                      </a:r>
                    </a:p>
                  </a:txBody>
                  <a:tcPr marL="45000" marR="36000" marT="18000" marB="1800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tc>
                  <a:txBody>
                    <a:bodyPr/>
                    <a:lstStyle/>
                    <a:p>
                      <a:pPr algn="r"/>
                      <a:r>
                        <a:rPr sz="900" b="0">
                          <a:solidFill>
                            <a:srgbClr val="000000"/>
                          </a:solidFill>
                          <a:latin typeface="Meiryo UI"/>
                          <a:ea typeface="Meiryo UI"/>
                        </a:rPr>
                        <a:t>75,075</a:t>
                      </a:r>
                    </a:p>
                  </a:txBody>
                  <a:tcPr marL="27000" marR="36000" marT="18000" marB="1800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extLst>
                  <a:ext uri="{0D108BD9-81ED-4DB2-BD59-A6C34878D82A}">
                    <a16:rowId xmlns:a16="http://schemas.microsoft.com/office/drawing/2014/main" val="10004"/>
                  </a:ext>
                </a:extLst>
              </a:tr>
              <a:tr h="251460">
                <a:tc>
                  <a:txBody>
                    <a:bodyPr/>
                    <a:lstStyle/>
                    <a:p>
                      <a:pPr algn="l"/>
                      <a:r>
                        <a:rPr sz="850" b="0">
                          <a:solidFill>
                            <a:srgbClr val="000000"/>
                          </a:solidFill>
                          <a:latin typeface="Meiryo UI"/>
                          <a:ea typeface="Meiryo UI"/>
                        </a:rPr>
                        <a:t>その他流動資産</a:t>
                      </a:r>
                    </a:p>
                  </a:txBody>
                  <a:tcPr marL="45000" marR="36000" marT="18000" marB="1800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tc>
                  <a:txBody>
                    <a:bodyPr/>
                    <a:lstStyle/>
                    <a:p>
                      <a:pPr algn="r"/>
                      <a:r>
                        <a:rPr sz="900" b="0">
                          <a:solidFill>
                            <a:srgbClr val="000000"/>
                          </a:solidFill>
                          <a:latin typeface="Meiryo UI"/>
                          <a:ea typeface="Meiryo UI"/>
                        </a:rPr>
                        <a:t>6,605</a:t>
                      </a:r>
                    </a:p>
                  </a:txBody>
                  <a:tcPr marL="27000" marR="36000" marT="18000" marB="1800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extLst>
                  <a:ext uri="{0D108BD9-81ED-4DB2-BD59-A6C34878D82A}">
                    <a16:rowId xmlns:a16="http://schemas.microsoft.com/office/drawing/2014/main" val="10005"/>
                  </a:ext>
                </a:extLst>
              </a:tr>
              <a:tr h="251460">
                <a:tc>
                  <a:txBody>
                    <a:bodyPr/>
                    <a:lstStyle/>
                    <a:p>
                      <a:pPr algn="l"/>
                      <a:r>
                        <a:rPr sz="850" b="0">
                          <a:solidFill>
                            <a:srgbClr val="000000"/>
                          </a:solidFill>
                          <a:latin typeface="Meiryo UI"/>
                          <a:ea typeface="Meiryo UI"/>
                        </a:rPr>
                        <a:t>固定資産・繰延資産</a:t>
                      </a:r>
                    </a:p>
                  </a:txBody>
                  <a:tcPr marL="45000" marR="36000" marT="18000" marB="1800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ECF1F9"/>
                    </a:solidFill>
                  </a:tcPr>
                </a:tc>
                <a:tc>
                  <a:txBody>
                    <a:bodyPr/>
                    <a:lstStyle/>
                    <a:p>
                      <a:pPr algn="r"/>
                      <a:r>
                        <a:rPr sz="900" b="0">
                          <a:solidFill>
                            <a:srgbClr val="000000"/>
                          </a:solidFill>
                          <a:latin typeface="Meiryo UI"/>
                          <a:ea typeface="Meiryo UI"/>
                        </a:rPr>
                        <a:t>4,773</a:t>
                      </a:r>
                    </a:p>
                  </a:txBody>
                  <a:tcPr marL="27000" marR="36000" marT="18000" marB="1800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ECF1F9"/>
                    </a:solidFill>
                  </a:tcPr>
                </a:tc>
                <a:extLst>
                  <a:ext uri="{0D108BD9-81ED-4DB2-BD59-A6C34878D82A}">
                    <a16:rowId xmlns:a16="http://schemas.microsoft.com/office/drawing/2014/main" val="10006"/>
                  </a:ext>
                </a:extLst>
              </a:tr>
              <a:tr h="251460">
                <a:tc>
                  <a:txBody>
                    <a:bodyPr/>
                    <a:lstStyle/>
                    <a:p>
                      <a:pPr algn="l"/>
                      <a:r>
                        <a:rPr sz="850" b="1">
                          <a:solidFill>
                            <a:srgbClr val="000000"/>
                          </a:solidFill>
                          <a:latin typeface="Meiryo UI"/>
                          <a:ea typeface="Meiryo UI"/>
                        </a:rPr>
                        <a:t>資産合計</a:t>
                      </a:r>
                    </a:p>
                  </a:txBody>
                  <a:tcPr marL="45000" marR="36000" marT="18000" marB="1800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E8EDF7"/>
                    </a:solidFill>
                  </a:tcPr>
                </a:tc>
                <a:tc>
                  <a:txBody>
                    <a:bodyPr/>
                    <a:lstStyle/>
                    <a:p>
                      <a:pPr algn="r"/>
                      <a:r>
                        <a:rPr sz="900" b="1">
                          <a:solidFill>
                            <a:srgbClr val="000000"/>
                          </a:solidFill>
                          <a:latin typeface="Meiryo UI"/>
                          <a:ea typeface="Meiryo UI"/>
                        </a:rPr>
                        <a:t>165,256</a:t>
                      </a:r>
                      <a:endParaRPr/>
                    </a:p>
                  </a:txBody>
                  <a:tcPr marL="27000" marR="36000" marT="18000" marB="1800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E8EDF7"/>
                    </a:solidFill>
                  </a:tcPr>
                </a:tc>
                <a:extLst>
                  <a:ext uri="{0D108BD9-81ED-4DB2-BD59-A6C34878D82A}">
                    <a16:rowId xmlns:a16="http://schemas.microsoft.com/office/drawing/2014/main" val="10007"/>
                  </a:ext>
                </a:extLst>
              </a:tr>
              <a:tr h="251460">
                <a:tc>
                  <a:txBody>
                    <a:bodyPr/>
                    <a:lstStyle/>
                    <a:p>
                      <a:pPr algn="l"/>
                      <a:r>
                        <a:rPr sz="850" b="1">
                          <a:solidFill>
                            <a:srgbClr val="000000"/>
                          </a:solidFill>
                          <a:latin typeface="Meiryo UI"/>
                          <a:ea typeface="Meiryo UI"/>
                        </a:rPr>
                        <a:t>負債・純資産の部</a:t>
                      </a:r>
                    </a:p>
                  </a:txBody>
                  <a:tcPr marL="45000" marR="36000" marT="18000" marB="1800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tc>
                  <a:txBody>
                    <a:bodyPr/>
                    <a:lstStyle/>
                    <a:p>
                      <a:pPr algn="l"/>
                      <a:r>
                        <a:rPr sz="900" b="0">
                          <a:latin typeface="Meiryo UI"/>
                          <a:ea typeface="Meiryo UI"/>
                        </a:rPr>
                        <a:t>　</a:t>
                      </a:r>
                    </a:p>
                  </a:txBody>
                  <a:tcPr marL="72000" marR="36000" marT="18000" marB="1800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extLst>
                  <a:ext uri="{0D108BD9-81ED-4DB2-BD59-A6C34878D82A}">
                    <a16:rowId xmlns:a16="http://schemas.microsoft.com/office/drawing/2014/main" val="10008"/>
                  </a:ext>
                </a:extLst>
              </a:tr>
              <a:tr h="251460">
                <a:tc>
                  <a:txBody>
                    <a:bodyPr/>
                    <a:lstStyle/>
                    <a:p>
                      <a:pPr algn="l"/>
                      <a:r>
                        <a:rPr sz="850" b="0">
                          <a:solidFill>
                            <a:srgbClr val="000000"/>
                          </a:solidFill>
                          <a:latin typeface="Meiryo UI"/>
                          <a:ea typeface="Meiryo UI"/>
                        </a:rPr>
                        <a:t>有利子負債</a:t>
                      </a:r>
                    </a:p>
                  </a:txBody>
                  <a:tcPr marL="45000" marR="36000" marT="18000" marB="1800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tc>
                  <a:txBody>
                    <a:bodyPr/>
                    <a:lstStyle/>
                    <a:p>
                      <a:pPr algn="r"/>
                      <a:r>
                        <a:rPr sz="900" b="0">
                          <a:solidFill>
                            <a:srgbClr val="000000"/>
                          </a:solidFill>
                          <a:latin typeface="Meiryo UI"/>
                          <a:ea typeface="Meiryo UI"/>
                        </a:rPr>
                        <a:t>156,317</a:t>
                      </a:r>
                    </a:p>
                  </a:txBody>
                  <a:tcPr marL="27000" marR="36000" marT="18000" marB="1800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extLst>
                  <a:ext uri="{0D108BD9-81ED-4DB2-BD59-A6C34878D82A}">
                    <a16:rowId xmlns:a16="http://schemas.microsoft.com/office/drawing/2014/main" val="10009"/>
                  </a:ext>
                </a:extLst>
              </a:tr>
              <a:tr h="251460">
                <a:tc>
                  <a:txBody>
                    <a:bodyPr/>
                    <a:lstStyle/>
                    <a:p>
                      <a:pPr algn="l"/>
                      <a:r>
                        <a:rPr sz="850" b="0">
                          <a:solidFill>
                            <a:srgbClr val="000000"/>
                          </a:solidFill>
                          <a:latin typeface="Meiryo UI"/>
                          <a:ea typeface="Meiryo UI"/>
                        </a:rPr>
                        <a:t>その他負債</a:t>
                      </a:r>
                    </a:p>
                  </a:txBody>
                  <a:tcPr marL="45000" marR="36000" marT="18000" marB="1800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tc>
                  <a:txBody>
                    <a:bodyPr/>
                    <a:lstStyle/>
                    <a:p>
                      <a:pPr algn="r"/>
                      <a:r>
                        <a:rPr sz="900" b="0">
                          <a:solidFill>
                            <a:srgbClr val="000000"/>
                          </a:solidFill>
                          <a:latin typeface="Meiryo UI"/>
                          <a:ea typeface="Meiryo UI"/>
                        </a:rPr>
                        <a:t>3,044</a:t>
                      </a:r>
                    </a:p>
                  </a:txBody>
                  <a:tcPr marL="27000" marR="36000" marT="18000" marB="1800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extLst>
                  <a:ext uri="{0D108BD9-81ED-4DB2-BD59-A6C34878D82A}">
                    <a16:rowId xmlns:a16="http://schemas.microsoft.com/office/drawing/2014/main" val="10010"/>
                  </a:ext>
                </a:extLst>
              </a:tr>
              <a:tr h="251460">
                <a:tc>
                  <a:txBody>
                    <a:bodyPr/>
                    <a:lstStyle/>
                    <a:p>
                      <a:pPr algn="l"/>
                      <a:r>
                        <a:rPr sz="850" b="0">
                          <a:solidFill>
                            <a:srgbClr val="000000"/>
                          </a:solidFill>
                          <a:latin typeface="Meiryo UI"/>
                          <a:ea typeface="Meiryo UI"/>
                        </a:rPr>
                        <a:t>純資産</a:t>
                      </a:r>
                    </a:p>
                  </a:txBody>
                  <a:tcPr marL="45000" marR="36000" marT="18000" marB="1800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ECF1F9"/>
                    </a:solidFill>
                  </a:tcPr>
                </a:tc>
                <a:tc>
                  <a:txBody>
                    <a:bodyPr/>
                    <a:lstStyle/>
                    <a:p>
                      <a:pPr algn="r"/>
                      <a:r>
                        <a:rPr sz="900" b="0">
                          <a:solidFill>
                            <a:srgbClr val="000000"/>
                          </a:solidFill>
                          <a:latin typeface="Meiryo UI"/>
                          <a:ea typeface="Meiryo UI"/>
                        </a:rPr>
                        <a:t>5,896</a:t>
                      </a:r>
                    </a:p>
                  </a:txBody>
                  <a:tcPr marL="27000" marR="36000" marT="18000" marB="1800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ECF1F9"/>
                    </a:solidFill>
                  </a:tcPr>
                </a:tc>
                <a:extLst>
                  <a:ext uri="{0D108BD9-81ED-4DB2-BD59-A6C34878D82A}">
                    <a16:rowId xmlns:a16="http://schemas.microsoft.com/office/drawing/2014/main" val="10011"/>
                  </a:ext>
                </a:extLst>
              </a:tr>
              <a:tr h="251460">
                <a:tc>
                  <a:txBody>
                    <a:bodyPr/>
                    <a:lstStyle/>
                    <a:p>
                      <a:pPr algn="l"/>
                      <a:r>
                        <a:rPr sz="850" b="1">
                          <a:solidFill>
                            <a:srgbClr val="000000"/>
                          </a:solidFill>
                          <a:latin typeface="Meiryo UI"/>
                          <a:ea typeface="Meiryo UI"/>
                        </a:rPr>
                        <a:t>負債・純資産合計</a:t>
                      </a:r>
                    </a:p>
                  </a:txBody>
                  <a:tcPr marL="45000" marR="36000" marT="18000" marB="1800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tc>
                  <a:txBody>
                    <a:bodyPr/>
                    <a:lstStyle/>
                    <a:p>
                      <a:pPr algn="r"/>
                      <a:r>
                        <a:rPr sz="900" b="1">
                          <a:solidFill>
                            <a:srgbClr val="000000"/>
                          </a:solidFill>
                          <a:latin typeface="Meiryo UI"/>
                          <a:ea typeface="Meiryo UI"/>
                        </a:rPr>
                        <a:t>165,256</a:t>
                      </a:r>
                    </a:p>
                  </a:txBody>
                  <a:tcPr marL="27000" marR="36000" marT="18000" marB="1800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extLst>
                  <a:ext uri="{0D108BD9-81ED-4DB2-BD59-A6C34878D82A}">
                    <a16:rowId xmlns:a16="http://schemas.microsoft.com/office/drawing/2014/main" val="10002"/>
                  </a:ext>
                </a:extLst>
              </a:tr>
            </a:tbl>
          </a:graphicData>
        </a:graphic>
      </p:graphicFrame>
      <p:graphicFrame>
        <p:nvGraphicFramePr>
          <p:cNvPr id="6" name="Table 208">
            <a:extLst>
              <a:ext uri="{FF2B5EF4-FFF2-40B4-BE49-F238E27FC236}">
                <a16:creationId xmlns:a16="http://schemas.microsoft.com/office/drawing/2014/main" id="{1AB5F810-F6F6-D59C-6B8E-40DC1141319D}"/>
              </a:ext>
            </a:extLst>
          </p:cNvPr>
          <p:cNvGraphicFramePr>
            <a:graphicFrameLocks noGrp="1"/>
          </p:cNvGraphicFramePr>
          <p:nvPr>
            <p:extLst>
              <p:ext uri="{D42A27DB-BD31-4B8C-83A1-F6EECF244321}">
                <p14:modId xmlns:p14="http://schemas.microsoft.com/office/powerpoint/2010/main" val="3080918089"/>
              </p:ext>
            </p:extLst>
          </p:nvPr>
        </p:nvGraphicFramePr>
        <p:xfrm>
          <a:off x="3456432" y="1828800"/>
          <a:ext cx="2633472" cy="3268980"/>
        </p:xfrm>
        <a:graphic>
          <a:graphicData uri="http://schemas.openxmlformats.org/drawingml/2006/table">
            <a:tbl>
              <a:tblPr>
                <a:tableStyleId>{5C22544A-7EE6-4342-B048-85BDC9FD1C3A}</a:tableStyleId>
              </a:tblPr>
              <a:tblGrid>
                <a:gridCol w="1764792">
                  <a:extLst>
                    <a:ext uri="{9D8B030D-6E8A-4147-A177-3AD203B41FA5}">
                      <a16:colId xmlns:a16="http://schemas.microsoft.com/office/drawing/2014/main" val="20000"/>
                    </a:ext>
                  </a:extLst>
                </a:gridCol>
                <a:gridCol w="868680">
                  <a:extLst>
                    <a:ext uri="{9D8B030D-6E8A-4147-A177-3AD203B41FA5}">
                      <a16:colId xmlns:a16="http://schemas.microsoft.com/office/drawing/2014/main" val="20001"/>
                    </a:ext>
                  </a:extLst>
                </a:gridCol>
              </a:tblGrid>
              <a:tr h="251460">
                <a:tc gridSpan="2">
                  <a:txBody>
                    <a:bodyPr/>
                    <a:lstStyle/>
                    <a:p>
                      <a:pPr algn="ctr"/>
                      <a:r>
                        <a:rPr sz="800" b="1">
                          <a:solidFill>
                            <a:srgbClr val="FFFFFF"/>
                          </a:solidFill>
                          <a:latin typeface="Meiryo UI"/>
                          <a:ea typeface="Meiryo UI"/>
                        </a:rPr>
                        <a:t>A. 株式譲渡｜承継範囲</a:t>
                      </a:r>
                    </a:p>
                  </a:txBody>
                  <a:tcPr marL="27000" marR="36000" marT="18000" marB="1800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203864"/>
                    </a:solidFill>
                  </a:tcPr>
                </a:tc>
                <a:tc hMerge="1">
                  <a:txBody>
                    <a:bodyPr/>
                    <a:lstStyle/>
                    <a:p>
                      <a:pPr algn="ctr"/>
                      <a:r>
                        <a:rPr sz="800" b="1">
                          <a:latin typeface="Meiryo UI"/>
                          <a:ea typeface="Meiryo UI"/>
                        </a:rPr>
                        <a:t>　</a:t>
                      </a:r>
                      <a:endParaRPr/>
                    </a:p>
                  </a:txBody>
                  <a:tcPr marL="72000" marR="36000" marT="18000" marB="1800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203864"/>
                    </a:solidFill>
                  </a:tcPr>
                </a:tc>
                <a:extLst>
                  <a:ext uri="{0D108BD9-81ED-4DB2-BD59-A6C34878D82A}">
                    <a16:rowId xmlns:a16="http://schemas.microsoft.com/office/drawing/2014/main" val="10000"/>
                  </a:ext>
                </a:extLst>
              </a:tr>
              <a:tr h="251460">
                <a:tc>
                  <a:txBody>
                    <a:bodyPr/>
                    <a:lstStyle/>
                    <a:p>
                      <a:pPr algn="l"/>
                      <a:r>
                        <a:rPr sz="850" b="1">
                          <a:solidFill>
                            <a:srgbClr val="000000"/>
                          </a:solidFill>
                          <a:latin typeface="Meiryo UI"/>
                          <a:ea typeface="Meiryo UI"/>
                        </a:rPr>
                        <a:t>資産の部</a:t>
                      </a:r>
                    </a:p>
                  </a:txBody>
                  <a:tcPr marL="45000" marR="36000" marT="18000" marB="1800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E8EDF7"/>
                    </a:solidFill>
                  </a:tcPr>
                </a:tc>
                <a:tc>
                  <a:txBody>
                    <a:bodyPr/>
                    <a:lstStyle/>
                    <a:p>
                      <a:pPr algn="l"/>
                      <a:r>
                        <a:rPr sz="900" b="0">
                          <a:latin typeface="Meiryo UI"/>
                          <a:ea typeface="Meiryo UI"/>
                        </a:rPr>
                        <a:t>　</a:t>
                      </a:r>
                      <a:endParaRPr/>
                    </a:p>
                  </a:txBody>
                  <a:tcPr marL="72000" marR="36000" marT="18000" marB="1800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E8EDF7"/>
                    </a:solidFill>
                  </a:tcPr>
                </a:tc>
                <a:extLst>
                  <a:ext uri="{0D108BD9-81ED-4DB2-BD59-A6C34878D82A}">
                    <a16:rowId xmlns:a16="http://schemas.microsoft.com/office/drawing/2014/main" val="10001"/>
                  </a:ext>
                </a:extLst>
              </a:tr>
              <a:tr h="251460">
                <a:tc>
                  <a:txBody>
                    <a:bodyPr/>
                    <a:lstStyle/>
                    <a:p>
                      <a:pPr algn="l"/>
                      <a:r>
                        <a:rPr sz="850" b="0">
                          <a:solidFill>
                            <a:srgbClr val="000000"/>
                          </a:solidFill>
                          <a:latin typeface="Meiryo UI"/>
                          <a:ea typeface="Meiryo UI"/>
                        </a:rPr>
                        <a:t>現金及び預金</a:t>
                      </a:r>
                    </a:p>
                  </a:txBody>
                  <a:tcPr marL="45000" marR="36000" marT="18000" marB="1800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tc>
                  <a:txBody>
                    <a:bodyPr/>
                    <a:lstStyle/>
                    <a:p>
                      <a:pPr algn="r"/>
                      <a:r>
                        <a:rPr sz="900" b="0">
                          <a:solidFill>
                            <a:srgbClr val="000000"/>
                          </a:solidFill>
                          <a:latin typeface="Meiryo UI"/>
                          <a:ea typeface="Meiryo UI"/>
                        </a:rPr>
                        <a:t>17,748</a:t>
                      </a:r>
                    </a:p>
                  </a:txBody>
                  <a:tcPr marL="27000" marR="36000" marT="18000" marB="1800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extLst>
                  <a:ext uri="{0D108BD9-81ED-4DB2-BD59-A6C34878D82A}">
                    <a16:rowId xmlns:a16="http://schemas.microsoft.com/office/drawing/2014/main" val="10002"/>
                  </a:ext>
                </a:extLst>
              </a:tr>
              <a:tr h="251460">
                <a:tc>
                  <a:txBody>
                    <a:bodyPr/>
                    <a:lstStyle/>
                    <a:p>
                      <a:pPr algn="l"/>
                      <a:r>
                        <a:rPr sz="850" b="0">
                          <a:solidFill>
                            <a:srgbClr val="000000"/>
                          </a:solidFill>
                          <a:latin typeface="Meiryo UI"/>
                          <a:ea typeface="Meiryo UI"/>
                        </a:rPr>
                        <a:t>売掛金</a:t>
                      </a:r>
                    </a:p>
                  </a:txBody>
                  <a:tcPr marL="45000" marR="36000" marT="18000" marB="1800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tc>
                  <a:txBody>
                    <a:bodyPr/>
                    <a:lstStyle/>
                    <a:p>
                      <a:pPr algn="r"/>
                      <a:r>
                        <a:rPr sz="900" b="0">
                          <a:solidFill>
                            <a:srgbClr val="000000"/>
                          </a:solidFill>
                          <a:latin typeface="Meiryo UI"/>
                          <a:ea typeface="Meiryo UI"/>
                        </a:rPr>
                        <a:t>61,055</a:t>
                      </a:r>
                    </a:p>
                  </a:txBody>
                  <a:tcPr marL="27000" marR="36000" marT="18000" marB="1800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extLst>
                  <a:ext uri="{0D108BD9-81ED-4DB2-BD59-A6C34878D82A}">
                    <a16:rowId xmlns:a16="http://schemas.microsoft.com/office/drawing/2014/main" val="10003"/>
                  </a:ext>
                </a:extLst>
              </a:tr>
              <a:tr h="251460">
                <a:tc>
                  <a:txBody>
                    <a:bodyPr/>
                    <a:lstStyle/>
                    <a:p>
                      <a:pPr algn="l"/>
                      <a:r>
                        <a:rPr sz="850" b="0">
                          <a:solidFill>
                            <a:srgbClr val="000000"/>
                          </a:solidFill>
                          <a:latin typeface="Meiryo UI"/>
                          <a:ea typeface="Meiryo UI"/>
                        </a:rPr>
                        <a:t>前渡金・立替金・仮払金</a:t>
                      </a:r>
                    </a:p>
                  </a:txBody>
                  <a:tcPr marL="45000" marR="36000" marT="18000" marB="1800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tc>
                  <a:txBody>
                    <a:bodyPr/>
                    <a:lstStyle/>
                    <a:p>
                      <a:pPr algn="r"/>
                      <a:r>
                        <a:rPr sz="900" b="0">
                          <a:solidFill>
                            <a:srgbClr val="000000"/>
                          </a:solidFill>
                          <a:latin typeface="Meiryo UI"/>
                          <a:ea typeface="Meiryo UI"/>
                        </a:rPr>
                        <a:t>75,075</a:t>
                      </a:r>
                    </a:p>
                  </a:txBody>
                  <a:tcPr marL="27000" marR="36000" marT="18000" marB="1800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extLst>
                  <a:ext uri="{0D108BD9-81ED-4DB2-BD59-A6C34878D82A}">
                    <a16:rowId xmlns:a16="http://schemas.microsoft.com/office/drawing/2014/main" val="10004"/>
                  </a:ext>
                </a:extLst>
              </a:tr>
              <a:tr h="251460">
                <a:tc>
                  <a:txBody>
                    <a:bodyPr/>
                    <a:lstStyle/>
                    <a:p>
                      <a:pPr algn="l"/>
                      <a:r>
                        <a:rPr sz="850" b="0">
                          <a:solidFill>
                            <a:srgbClr val="000000"/>
                          </a:solidFill>
                          <a:latin typeface="Meiryo UI"/>
                          <a:ea typeface="Meiryo UI"/>
                        </a:rPr>
                        <a:t>その他流動資産</a:t>
                      </a:r>
                    </a:p>
                  </a:txBody>
                  <a:tcPr marL="45000" marR="36000" marT="18000" marB="1800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tc>
                  <a:txBody>
                    <a:bodyPr/>
                    <a:lstStyle/>
                    <a:p>
                      <a:pPr algn="r"/>
                      <a:r>
                        <a:rPr sz="900" b="0">
                          <a:solidFill>
                            <a:srgbClr val="000000"/>
                          </a:solidFill>
                          <a:latin typeface="Meiryo UI"/>
                          <a:ea typeface="Meiryo UI"/>
                        </a:rPr>
                        <a:t>6,605</a:t>
                      </a:r>
                    </a:p>
                  </a:txBody>
                  <a:tcPr marL="27000" marR="36000" marT="18000" marB="1800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extLst>
                  <a:ext uri="{0D108BD9-81ED-4DB2-BD59-A6C34878D82A}">
                    <a16:rowId xmlns:a16="http://schemas.microsoft.com/office/drawing/2014/main" val="10005"/>
                  </a:ext>
                </a:extLst>
              </a:tr>
              <a:tr h="251460">
                <a:tc>
                  <a:txBody>
                    <a:bodyPr/>
                    <a:lstStyle/>
                    <a:p>
                      <a:pPr algn="l"/>
                      <a:r>
                        <a:rPr sz="850" b="0">
                          <a:solidFill>
                            <a:srgbClr val="000000"/>
                          </a:solidFill>
                          <a:latin typeface="Meiryo UI"/>
                          <a:ea typeface="Meiryo UI"/>
                        </a:rPr>
                        <a:t>固定資産・繰延資産</a:t>
                      </a:r>
                    </a:p>
                  </a:txBody>
                  <a:tcPr marL="45000" marR="36000" marT="18000" marB="1800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ECF1F9"/>
                    </a:solidFill>
                  </a:tcPr>
                </a:tc>
                <a:tc>
                  <a:txBody>
                    <a:bodyPr/>
                    <a:lstStyle/>
                    <a:p>
                      <a:pPr algn="r"/>
                      <a:r>
                        <a:rPr sz="900" b="0">
                          <a:solidFill>
                            <a:srgbClr val="000000"/>
                          </a:solidFill>
                          <a:latin typeface="Meiryo UI"/>
                          <a:ea typeface="Meiryo UI"/>
                        </a:rPr>
                        <a:t>4,773</a:t>
                      </a:r>
                      <a:endParaRPr lang="ja-JP" sz="900" b="1" dirty="0">
                        <a:solidFill>
                          <a:srgbClr val="000000"/>
                        </a:solidFill>
                        <a:latin typeface="Meiryo UI"/>
                        <a:ea typeface="Meiryo UI"/>
                      </a:endParaRPr>
                    </a:p>
                  </a:txBody>
                  <a:tcPr marL="27000" marR="36000" marT="18000" marB="1800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ECF1F9"/>
                    </a:solidFill>
                  </a:tcPr>
                </a:tc>
                <a:extLst>
                  <a:ext uri="{0D108BD9-81ED-4DB2-BD59-A6C34878D82A}">
                    <a16:rowId xmlns:a16="http://schemas.microsoft.com/office/drawing/2014/main" val="10006"/>
                  </a:ext>
                </a:extLst>
              </a:tr>
              <a:tr h="251460">
                <a:tc>
                  <a:txBody>
                    <a:bodyPr/>
                    <a:lstStyle/>
                    <a:p>
                      <a:pPr algn="l"/>
                      <a:r>
                        <a:rPr sz="850" b="1">
                          <a:solidFill>
                            <a:srgbClr val="000000"/>
                          </a:solidFill>
                          <a:latin typeface="Meiryo UI"/>
                          <a:ea typeface="Meiryo UI"/>
                        </a:rPr>
                        <a:t>資産合計</a:t>
                      </a:r>
                    </a:p>
                  </a:txBody>
                  <a:tcPr marL="45000" marR="36000" marT="18000" marB="1800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E8EDF7"/>
                    </a:solidFill>
                  </a:tcPr>
                </a:tc>
                <a:tc>
                  <a:txBody>
                    <a:bodyPr/>
                    <a:lstStyle/>
                    <a:p>
                      <a:pPr algn="r"/>
                      <a:r>
                        <a:rPr sz="900" b="1">
                          <a:solidFill>
                            <a:srgbClr val="000000"/>
                          </a:solidFill>
                          <a:latin typeface="Meiryo UI"/>
                          <a:ea typeface="Meiryo UI"/>
                        </a:rPr>
                        <a:t>165,256</a:t>
                      </a:r>
                      <a:endParaRPr/>
                    </a:p>
                  </a:txBody>
                  <a:tcPr marL="27000" marR="36000" marT="18000" marB="1800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E8EDF7"/>
                    </a:solidFill>
                  </a:tcPr>
                </a:tc>
                <a:extLst>
                  <a:ext uri="{0D108BD9-81ED-4DB2-BD59-A6C34878D82A}">
                    <a16:rowId xmlns:a16="http://schemas.microsoft.com/office/drawing/2014/main" val="10007"/>
                  </a:ext>
                </a:extLst>
              </a:tr>
              <a:tr h="251460">
                <a:tc>
                  <a:txBody>
                    <a:bodyPr/>
                    <a:lstStyle/>
                    <a:p>
                      <a:pPr algn="l"/>
                      <a:r>
                        <a:rPr sz="850" b="1">
                          <a:solidFill>
                            <a:srgbClr val="000000"/>
                          </a:solidFill>
                          <a:latin typeface="Meiryo UI"/>
                          <a:ea typeface="Meiryo UI"/>
                        </a:rPr>
                        <a:t>負債・純資産の部</a:t>
                      </a:r>
                    </a:p>
                  </a:txBody>
                  <a:tcPr marL="45000" marR="36000" marT="18000" marB="1800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tc>
                  <a:txBody>
                    <a:bodyPr/>
                    <a:lstStyle/>
                    <a:p>
                      <a:pPr algn="l"/>
                      <a:r>
                        <a:rPr sz="900" b="0">
                          <a:latin typeface="Meiryo UI"/>
                          <a:ea typeface="Meiryo UI"/>
                        </a:rPr>
                        <a:t>　</a:t>
                      </a:r>
                    </a:p>
                  </a:txBody>
                  <a:tcPr marL="72000" marR="36000" marT="18000" marB="1800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extLst>
                  <a:ext uri="{0D108BD9-81ED-4DB2-BD59-A6C34878D82A}">
                    <a16:rowId xmlns:a16="http://schemas.microsoft.com/office/drawing/2014/main" val="10008"/>
                  </a:ext>
                </a:extLst>
              </a:tr>
              <a:tr h="251460">
                <a:tc>
                  <a:txBody>
                    <a:bodyPr/>
                    <a:lstStyle/>
                    <a:p>
                      <a:pPr algn="l"/>
                      <a:r>
                        <a:rPr sz="850" b="0">
                          <a:solidFill>
                            <a:srgbClr val="000000"/>
                          </a:solidFill>
                          <a:latin typeface="Meiryo UI"/>
                          <a:ea typeface="Meiryo UI"/>
                        </a:rPr>
                        <a:t>有利子負債</a:t>
                      </a:r>
                    </a:p>
                  </a:txBody>
                  <a:tcPr marL="45000" marR="36000" marT="18000" marB="1800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tc>
                  <a:txBody>
                    <a:bodyPr/>
                    <a:lstStyle/>
                    <a:p>
                      <a:pPr algn="r"/>
                      <a:r>
                        <a:rPr sz="900" b="0">
                          <a:solidFill>
                            <a:srgbClr val="000000"/>
                          </a:solidFill>
                          <a:latin typeface="Meiryo UI"/>
                          <a:ea typeface="Meiryo UI"/>
                        </a:rPr>
                        <a:t>156,317</a:t>
                      </a:r>
                    </a:p>
                  </a:txBody>
                  <a:tcPr marL="27000" marR="36000" marT="18000" marB="1800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extLst>
                  <a:ext uri="{0D108BD9-81ED-4DB2-BD59-A6C34878D82A}">
                    <a16:rowId xmlns:a16="http://schemas.microsoft.com/office/drawing/2014/main" val="10009"/>
                  </a:ext>
                </a:extLst>
              </a:tr>
              <a:tr h="251460">
                <a:tc>
                  <a:txBody>
                    <a:bodyPr/>
                    <a:lstStyle/>
                    <a:p>
                      <a:pPr algn="l"/>
                      <a:r>
                        <a:rPr sz="850" b="0">
                          <a:solidFill>
                            <a:srgbClr val="000000"/>
                          </a:solidFill>
                          <a:latin typeface="Meiryo UI"/>
                          <a:ea typeface="Meiryo UI"/>
                        </a:rPr>
                        <a:t>その他負債</a:t>
                      </a:r>
                    </a:p>
                  </a:txBody>
                  <a:tcPr marL="45000" marR="36000" marT="18000" marB="1800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tc>
                  <a:txBody>
                    <a:bodyPr/>
                    <a:lstStyle/>
                    <a:p>
                      <a:pPr algn="r"/>
                      <a:r>
                        <a:rPr sz="900" b="0">
                          <a:solidFill>
                            <a:srgbClr val="000000"/>
                          </a:solidFill>
                          <a:latin typeface="Meiryo UI"/>
                          <a:ea typeface="Meiryo UI"/>
                        </a:rPr>
                        <a:t>3,044</a:t>
                      </a:r>
                      <a:endParaRPr lang="ja-JP" sz="900" b="0" dirty="0">
                        <a:solidFill>
                          <a:srgbClr val="000000"/>
                        </a:solidFill>
                        <a:latin typeface="Meiryo UI"/>
                        <a:ea typeface="Meiryo UI"/>
                      </a:endParaRPr>
                    </a:p>
                  </a:txBody>
                  <a:tcPr marL="27000" marR="36000" marT="18000" marB="1800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extLst>
                  <a:ext uri="{0D108BD9-81ED-4DB2-BD59-A6C34878D82A}">
                    <a16:rowId xmlns:a16="http://schemas.microsoft.com/office/drawing/2014/main" val="10010"/>
                  </a:ext>
                </a:extLst>
              </a:tr>
              <a:tr h="251460">
                <a:tc>
                  <a:txBody>
                    <a:bodyPr/>
                    <a:lstStyle/>
                    <a:p>
                      <a:pPr algn="l"/>
                      <a:r>
                        <a:rPr sz="850" b="0">
                          <a:solidFill>
                            <a:srgbClr val="000000"/>
                          </a:solidFill>
                          <a:latin typeface="Meiryo UI"/>
                          <a:ea typeface="Meiryo UI"/>
                        </a:rPr>
                        <a:t>純資産</a:t>
                      </a:r>
                    </a:p>
                  </a:txBody>
                  <a:tcPr marL="45000" marR="36000" marT="18000" marB="1800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ECF1F9"/>
                    </a:solidFill>
                  </a:tcPr>
                </a:tc>
                <a:tc>
                  <a:txBody>
                    <a:bodyPr/>
                    <a:lstStyle/>
                    <a:p>
                      <a:pPr algn="r"/>
                      <a:r>
                        <a:rPr sz="900" b="0">
                          <a:solidFill>
                            <a:srgbClr val="000000"/>
                          </a:solidFill>
                          <a:latin typeface="Meiryo UI"/>
                          <a:ea typeface="Meiryo UI"/>
                        </a:rPr>
                        <a:t>5,896</a:t>
                      </a:r>
                      <a:endParaRPr lang="ja-JP" sz="900" b="1" dirty="0">
                        <a:solidFill>
                          <a:srgbClr val="000000"/>
                        </a:solidFill>
                        <a:latin typeface="Meiryo UI"/>
                        <a:ea typeface="Meiryo UI"/>
                      </a:endParaRPr>
                    </a:p>
                  </a:txBody>
                  <a:tcPr marL="27000" marR="36000" marT="18000" marB="1800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ECF1F9"/>
                    </a:solidFill>
                  </a:tcPr>
                </a:tc>
                <a:extLst>
                  <a:ext uri="{0D108BD9-81ED-4DB2-BD59-A6C34878D82A}">
                    <a16:rowId xmlns:a16="http://schemas.microsoft.com/office/drawing/2014/main" val="10011"/>
                  </a:ext>
                </a:extLst>
              </a:tr>
              <a:tr h="251460">
                <a:tc>
                  <a:txBody>
                    <a:bodyPr/>
                    <a:lstStyle/>
                    <a:p>
                      <a:pPr algn="l"/>
                      <a:r>
                        <a:rPr sz="850" b="1">
                          <a:solidFill>
                            <a:srgbClr val="000000"/>
                          </a:solidFill>
                          <a:latin typeface="Meiryo UI"/>
                          <a:ea typeface="Meiryo UI"/>
                        </a:rPr>
                        <a:t>負債・純資産合計</a:t>
                      </a:r>
                    </a:p>
                  </a:txBody>
                  <a:tcPr marL="45000" marR="36000" marT="18000" marB="1800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tc>
                  <a:txBody>
                    <a:bodyPr/>
                    <a:lstStyle/>
                    <a:p>
                      <a:pPr algn="r"/>
                      <a:r>
                        <a:rPr sz="900" b="1">
                          <a:solidFill>
                            <a:srgbClr val="000000"/>
                          </a:solidFill>
                          <a:latin typeface="Meiryo UI"/>
                          <a:ea typeface="Meiryo UI"/>
                        </a:rPr>
                        <a:t>165,256</a:t>
                      </a:r>
                    </a:p>
                  </a:txBody>
                  <a:tcPr marL="27000" marR="36000" marT="18000" marB="1800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extLst>
                  <a:ext uri="{0D108BD9-81ED-4DB2-BD59-A6C34878D82A}">
                    <a16:rowId xmlns:a16="http://schemas.microsoft.com/office/drawing/2014/main" val="10002"/>
                  </a:ext>
                </a:extLst>
              </a:tr>
            </a:tbl>
          </a:graphicData>
        </a:graphic>
      </p:graphicFrame>
      <p:graphicFrame>
        <p:nvGraphicFramePr>
          <p:cNvPr id="10" name="Table 209">
            <a:extLst>
              <a:ext uri="{FF2B5EF4-FFF2-40B4-BE49-F238E27FC236}">
                <a16:creationId xmlns:a16="http://schemas.microsoft.com/office/drawing/2014/main" id="{CC585B31-3F47-6688-0A1C-DF236F70517D}"/>
              </a:ext>
            </a:extLst>
          </p:cNvPr>
          <p:cNvGraphicFramePr>
            <a:graphicFrameLocks noGrp="1"/>
          </p:cNvGraphicFramePr>
          <p:nvPr>
            <p:extLst>
              <p:ext uri="{D42A27DB-BD31-4B8C-83A1-F6EECF244321}">
                <p14:modId xmlns:p14="http://schemas.microsoft.com/office/powerpoint/2010/main" val="3653447"/>
              </p:ext>
            </p:extLst>
          </p:nvPr>
        </p:nvGraphicFramePr>
        <p:xfrm>
          <a:off x="6272784" y="1828800"/>
          <a:ext cx="2633472" cy="3268980"/>
        </p:xfrm>
        <a:graphic>
          <a:graphicData uri="http://schemas.openxmlformats.org/drawingml/2006/table">
            <a:tbl>
              <a:tblPr>
                <a:tableStyleId>{5C22544A-7EE6-4342-B048-85BDC9FD1C3A}</a:tableStyleId>
              </a:tblPr>
              <a:tblGrid>
                <a:gridCol w="1764792">
                  <a:extLst>
                    <a:ext uri="{9D8B030D-6E8A-4147-A177-3AD203B41FA5}">
                      <a16:colId xmlns:a16="http://schemas.microsoft.com/office/drawing/2014/main" val="20000"/>
                    </a:ext>
                  </a:extLst>
                </a:gridCol>
                <a:gridCol w="868680">
                  <a:extLst>
                    <a:ext uri="{9D8B030D-6E8A-4147-A177-3AD203B41FA5}">
                      <a16:colId xmlns:a16="http://schemas.microsoft.com/office/drawing/2014/main" val="20001"/>
                    </a:ext>
                  </a:extLst>
                </a:gridCol>
              </a:tblGrid>
              <a:tr h="251460">
                <a:tc gridSpan="2">
                  <a:txBody>
                    <a:bodyPr/>
                    <a:lstStyle/>
                    <a:p>
                      <a:pPr algn="ctr"/>
                      <a:r>
                        <a:rPr sz="800" b="1">
                          <a:solidFill>
                            <a:srgbClr val="FFFFFF"/>
                          </a:solidFill>
                          <a:latin typeface="Meiryo UI"/>
                          <a:ea typeface="Meiryo UI"/>
                        </a:rPr>
                        <a:t>B. 事業譲渡｜承継対象となりうる範囲</a:t>
                      </a:r>
                    </a:p>
                  </a:txBody>
                  <a:tcPr marL="27000" marR="36000" marT="18000" marB="1800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595959"/>
                    </a:solidFill>
                  </a:tcPr>
                </a:tc>
                <a:tc hMerge="1">
                  <a:txBody>
                    <a:bodyPr/>
                    <a:lstStyle/>
                    <a:p>
                      <a:pPr algn="ctr"/>
                      <a:r>
                        <a:rPr sz="800" b="1">
                          <a:latin typeface="Meiryo UI"/>
                          <a:ea typeface="Meiryo UI"/>
                        </a:rPr>
                        <a:t>　</a:t>
                      </a:r>
                      <a:endParaRPr/>
                    </a:p>
                  </a:txBody>
                  <a:tcPr marL="72000" marR="36000" marT="18000" marB="1800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595959"/>
                    </a:solidFill>
                  </a:tcPr>
                </a:tc>
                <a:extLst>
                  <a:ext uri="{0D108BD9-81ED-4DB2-BD59-A6C34878D82A}">
                    <a16:rowId xmlns:a16="http://schemas.microsoft.com/office/drawing/2014/main" val="10000"/>
                  </a:ext>
                </a:extLst>
              </a:tr>
              <a:tr h="251460">
                <a:tc>
                  <a:txBody>
                    <a:bodyPr/>
                    <a:lstStyle/>
                    <a:p>
                      <a:pPr algn="l"/>
                      <a:r>
                        <a:rPr sz="850" b="1">
                          <a:solidFill>
                            <a:srgbClr val="000000"/>
                          </a:solidFill>
                          <a:latin typeface="Meiryo UI"/>
                          <a:ea typeface="Meiryo UI"/>
                        </a:rPr>
                        <a:t>資産の部</a:t>
                      </a:r>
                    </a:p>
                  </a:txBody>
                  <a:tcPr marL="45000" marR="36000" marT="18000" marB="1800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E8EDF7"/>
                    </a:solidFill>
                  </a:tcPr>
                </a:tc>
                <a:tc>
                  <a:txBody>
                    <a:bodyPr/>
                    <a:lstStyle/>
                    <a:p>
                      <a:pPr algn="l"/>
                      <a:r>
                        <a:rPr sz="900" b="0">
                          <a:latin typeface="Meiryo UI"/>
                          <a:ea typeface="Meiryo UI"/>
                        </a:rPr>
                        <a:t>　</a:t>
                      </a:r>
                      <a:endParaRPr/>
                    </a:p>
                  </a:txBody>
                  <a:tcPr marL="72000" marR="36000" marT="18000" marB="1800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E8EDF7"/>
                    </a:solidFill>
                  </a:tcPr>
                </a:tc>
                <a:extLst>
                  <a:ext uri="{0D108BD9-81ED-4DB2-BD59-A6C34878D82A}">
                    <a16:rowId xmlns:a16="http://schemas.microsoft.com/office/drawing/2014/main" val="10001"/>
                  </a:ext>
                </a:extLst>
              </a:tr>
              <a:tr h="251460">
                <a:tc>
                  <a:txBody>
                    <a:bodyPr/>
                    <a:lstStyle/>
                    <a:p>
                      <a:pPr algn="l"/>
                      <a:r>
                        <a:rPr sz="850" b="0">
                          <a:solidFill>
                            <a:srgbClr val="000000"/>
                          </a:solidFill>
                          <a:latin typeface="Meiryo UI"/>
                          <a:ea typeface="Meiryo UI"/>
                        </a:rPr>
                        <a:t>現金及び預金</a:t>
                      </a:r>
                    </a:p>
                  </a:txBody>
                  <a:tcPr marL="45000" marR="36000" marT="18000" marB="1800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tc>
                  <a:txBody>
                    <a:bodyPr/>
                    <a:lstStyle/>
                    <a:p>
                      <a:pPr algn="r"/>
                      <a:r>
                        <a:rPr sz="900" b="0">
                          <a:solidFill>
                            <a:srgbClr val="000000"/>
                          </a:solidFill>
                          <a:latin typeface="Meiryo UI"/>
                          <a:ea typeface="Meiryo UI"/>
                        </a:rPr>
                        <a:t>－</a:t>
                      </a:r>
                    </a:p>
                  </a:txBody>
                  <a:tcPr marL="27000" marR="36000" marT="18000" marB="1800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extLst>
                  <a:ext uri="{0D108BD9-81ED-4DB2-BD59-A6C34878D82A}">
                    <a16:rowId xmlns:a16="http://schemas.microsoft.com/office/drawing/2014/main" val="10002"/>
                  </a:ext>
                </a:extLst>
              </a:tr>
              <a:tr h="251460">
                <a:tc>
                  <a:txBody>
                    <a:bodyPr/>
                    <a:lstStyle/>
                    <a:p>
                      <a:pPr algn="l"/>
                      <a:r>
                        <a:rPr sz="850" b="0">
                          <a:solidFill>
                            <a:srgbClr val="000000"/>
                          </a:solidFill>
                          <a:latin typeface="Meiryo UI"/>
                          <a:ea typeface="Meiryo UI"/>
                        </a:rPr>
                        <a:t>売掛金</a:t>
                      </a:r>
                      <a:endParaRPr lang="ja-JP" sz="900" b="0" dirty="0">
                        <a:solidFill>
                          <a:srgbClr val="000000"/>
                        </a:solidFill>
                        <a:latin typeface="Meiryo UI"/>
                        <a:ea typeface="Meiryo UI"/>
                      </a:endParaRPr>
                    </a:p>
                  </a:txBody>
                  <a:tcPr marL="45000" marR="36000" marT="18000" marB="1800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tc>
                  <a:txBody>
                    <a:bodyPr/>
                    <a:lstStyle/>
                    <a:p>
                      <a:pPr algn="r"/>
                      <a:r>
                        <a:rPr sz="900" b="0">
                          <a:solidFill>
                            <a:srgbClr val="000000"/>
                          </a:solidFill>
                          <a:latin typeface="Meiryo UI"/>
                          <a:ea typeface="Meiryo UI"/>
                        </a:rPr>
                        <a:t>61,055</a:t>
                      </a:r>
                      <a:endParaRPr lang="ja-JP" sz="900" b="0" dirty="0">
                        <a:solidFill>
                          <a:srgbClr val="000000"/>
                        </a:solidFill>
                        <a:latin typeface="Meiryo UI"/>
                        <a:ea typeface="Meiryo UI"/>
                      </a:endParaRPr>
                    </a:p>
                  </a:txBody>
                  <a:tcPr marL="27000" marR="36000" marT="18000" marB="1800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extLst>
                  <a:ext uri="{0D108BD9-81ED-4DB2-BD59-A6C34878D82A}">
                    <a16:rowId xmlns:a16="http://schemas.microsoft.com/office/drawing/2014/main" val="10003"/>
                  </a:ext>
                </a:extLst>
              </a:tr>
              <a:tr h="251460">
                <a:tc>
                  <a:txBody>
                    <a:bodyPr/>
                    <a:lstStyle/>
                    <a:p>
                      <a:pPr algn="l"/>
                      <a:r>
                        <a:rPr sz="850" b="0">
                          <a:solidFill>
                            <a:srgbClr val="000000"/>
                          </a:solidFill>
                          <a:latin typeface="Meiryo UI"/>
                          <a:ea typeface="Meiryo UI"/>
                        </a:rPr>
                        <a:t>前渡金・立替金・仮払金</a:t>
                      </a:r>
                    </a:p>
                  </a:txBody>
                  <a:tcPr marL="45000" marR="36000" marT="18000" marB="1800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tc>
                  <a:txBody>
                    <a:bodyPr/>
                    <a:lstStyle/>
                    <a:p>
                      <a:pPr algn="r"/>
                      <a:r>
                        <a:rPr sz="900" b="0">
                          <a:solidFill>
                            <a:srgbClr val="000000"/>
                          </a:solidFill>
                          <a:latin typeface="Meiryo UI"/>
                          <a:ea typeface="Meiryo UI"/>
                        </a:rPr>
                        <a:t>75,075</a:t>
                      </a:r>
                    </a:p>
                  </a:txBody>
                  <a:tcPr marL="27000" marR="36000" marT="18000" marB="1800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extLst>
                  <a:ext uri="{0D108BD9-81ED-4DB2-BD59-A6C34878D82A}">
                    <a16:rowId xmlns:a16="http://schemas.microsoft.com/office/drawing/2014/main" val="10004"/>
                  </a:ext>
                </a:extLst>
              </a:tr>
              <a:tr h="251460">
                <a:tc>
                  <a:txBody>
                    <a:bodyPr/>
                    <a:lstStyle/>
                    <a:p>
                      <a:pPr algn="l"/>
                      <a:r>
                        <a:rPr sz="850" b="0">
                          <a:solidFill>
                            <a:srgbClr val="000000"/>
                          </a:solidFill>
                          <a:latin typeface="Meiryo UI"/>
                          <a:ea typeface="Meiryo UI"/>
                        </a:rPr>
                        <a:t>その他流動資産</a:t>
                      </a:r>
                    </a:p>
                  </a:txBody>
                  <a:tcPr marL="45000" marR="36000" marT="18000" marB="1800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tc>
                  <a:txBody>
                    <a:bodyPr/>
                    <a:lstStyle/>
                    <a:p>
                      <a:pPr algn="r"/>
                      <a:r>
                        <a:rPr sz="900" b="0">
                          <a:solidFill>
                            <a:srgbClr val="000000"/>
                          </a:solidFill>
                          <a:latin typeface="Meiryo UI"/>
                          <a:ea typeface="Meiryo UI"/>
                        </a:rPr>
                        <a:t>6,605</a:t>
                      </a:r>
                    </a:p>
                  </a:txBody>
                  <a:tcPr marL="27000" marR="36000" marT="18000" marB="1800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extLst>
                  <a:ext uri="{0D108BD9-81ED-4DB2-BD59-A6C34878D82A}">
                    <a16:rowId xmlns:a16="http://schemas.microsoft.com/office/drawing/2014/main" val="10005"/>
                  </a:ext>
                </a:extLst>
              </a:tr>
              <a:tr h="251460">
                <a:tc>
                  <a:txBody>
                    <a:bodyPr/>
                    <a:lstStyle/>
                    <a:p>
                      <a:pPr algn="l"/>
                      <a:r>
                        <a:rPr sz="850" b="0">
                          <a:solidFill>
                            <a:srgbClr val="000000"/>
                          </a:solidFill>
                          <a:latin typeface="Meiryo UI"/>
                          <a:ea typeface="Meiryo UI"/>
                        </a:rPr>
                        <a:t>固定資産・繰延資産</a:t>
                      </a:r>
                    </a:p>
                  </a:txBody>
                  <a:tcPr marL="45000" marR="36000" marT="18000" marB="1800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ECF1F9"/>
                    </a:solidFill>
                  </a:tcPr>
                </a:tc>
                <a:tc>
                  <a:txBody>
                    <a:bodyPr/>
                    <a:lstStyle/>
                    <a:p>
                      <a:pPr algn="r"/>
                      <a:r>
                        <a:rPr sz="900" b="0">
                          <a:solidFill>
                            <a:srgbClr val="000000"/>
                          </a:solidFill>
                          <a:latin typeface="Meiryo UI"/>
                          <a:ea typeface="Meiryo UI"/>
                        </a:rPr>
                        <a:t>4,773</a:t>
                      </a:r>
                    </a:p>
                  </a:txBody>
                  <a:tcPr marL="27000" marR="36000" marT="18000" marB="1800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ECF1F9"/>
                    </a:solidFill>
                  </a:tcPr>
                </a:tc>
                <a:extLst>
                  <a:ext uri="{0D108BD9-81ED-4DB2-BD59-A6C34878D82A}">
                    <a16:rowId xmlns:a16="http://schemas.microsoft.com/office/drawing/2014/main" val="10006"/>
                  </a:ext>
                </a:extLst>
              </a:tr>
              <a:tr h="251460">
                <a:tc>
                  <a:txBody>
                    <a:bodyPr/>
                    <a:lstStyle/>
                    <a:p>
                      <a:pPr algn="l"/>
                      <a:r>
                        <a:rPr sz="850" b="1">
                          <a:solidFill>
                            <a:srgbClr val="000000"/>
                          </a:solidFill>
                          <a:latin typeface="Meiryo UI"/>
                          <a:ea typeface="Meiryo UI"/>
                        </a:rPr>
                        <a:t>資産合計</a:t>
                      </a:r>
                    </a:p>
                  </a:txBody>
                  <a:tcPr marL="45000" marR="36000" marT="18000" marB="1800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E8EDF7"/>
                    </a:solidFill>
                  </a:tcPr>
                </a:tc>
                <a:tc>
                  <a:txBody>
                    <a:bodyPr/>
                    <a:lstStyle/>
                    <a:p>
                      <a:pPr algn="r"/>
                      <a:r>
                        <a:rPr sz="900" b="1">
                          <a:solidFill>
                            <a:srgbClr val="000000"/>
                          </a:solidFill>
                          <a:latin typeface="Meiryo UI"/>
                          <a:ea typeface="Meiryo UI"/>
                        </a:rPr>
                        <a:t>147,508</a:t>
                      </a:r>
                      <a:endParaRPr dirty="0"/>
                    </a:p>
                  </a:txBody>
                  <a:tcPr marL="27000" marR="36000" marT="18000" marB="1800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E8EDF7"/>
                    </a:solidFill>
                  </a:tcPr>
                </a:tc>
                <a:extLst>
                  <a:ext uri="{0D108BD9-81ED-4DB2-BD59-A6C34878D82A}">
                    <a16:rowId xmlns:a16="http://schemas.microsoft.com/office/drawing/2014/main" val="10007"/>
                  </a:ext>
                </a:extLst>
              </a:tr>
              <a:tr h="251460">
                <a:tc>
                  <a:txBody>
                    <a:bodyPr/>
                    <a:lstStyle/>
                    <a:p>
                      <a:pPr algn="l"/>
                      <a:r>
                        <a:rPr sz="850" b="1">
                          <a:solidFill>
                            <a:srgbClr val="000000"/>
                          </a:solidFill>
                          <a:latin typeface="Meiryo UI"/>
                          <a:ea typeface="Meiryo UI"/>
                        </a:rPr>
                        <a:t>負債・純資産の部</a:t>
                      </a:r>
                    </a:p>
                  </a:txBody>
                  <a:tcPr marL="45000" marR="36000" marT="18000" marB="1800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tc>
                  <a:txBody>
                    <a:bodyPr/>
                    <a:lstStyle/>
                    <a:p>
                      <a:pPr algn="l"/>
                      <a:r>
                        <a:rPr sz="900" b="0">
                          <a:latin typeface="Meiryo UI"/>
                          <a:ea typeface="Meiryo UI"/>
                        </a:rPr>
                        <a:t>　</a:t>
                      </a:r>
                    </a:p>
                  </a:txBody>
                  <a:tcPr marL="72000" marR="36000" marT="18000" marB="1800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extLst>
                  <a:ext uri="{0D108BD9-81ED-4DB2-BD59-A6C34878D82A}">
                    <a16:rowId xmlns:a16="http://schemas.microsoft.com/office/drawing/2014/main" val="10008"/>
                  </a:ext>
                </a:extLst>
              </a:tr>
              <a:tr h="251460">
                <a:tc>
                  <a:txBody>
                    <a:bodyPr/>
                    <a:lstStyle/>
                    <a:p>
                      <a:pPr algn="l"/>
                      <a:r>
                        <a:rPr sz="850" b="0">
                          <a:solidFill>
                            <a:srgbClr val="000000"/>
                          </a:solidFill>
                          <a:latin typeface="Meiryo UI"/>
                          <a:ea typeface="Meiryo UI"/>
                        </a:rPr>
                        <a:t>有利子負債</a:t>
                      </a:r>
                    </a:p>
                  </a:txBody>
                  <a:tcPr marL="45000" marR="36000" marT="18000" marB="1800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tc>
                  <a:txBody>
                    <a:bodyPr/>
                    <a:lstStyle/>
                    <a:p>
                      <a:pPr algn="r"/>
                      <a:r>
                        <a:rPr sz="900" b="0">
                          <a:solidFill>
                            <a:srgbClr val="000000"/>
                          </a:solidFill>
                          <a:latin typeface="Meiryo UI"/>
                          <a:ea typeface="Meiryo UI"/>
                        </a:rPr>
                        <a:t>－</a:t>
                      </a:r>
                    </a:p>
                  </a:txBody>
                  <a:tcPr marL="27000" marR="36000" marT="18000" marB="1800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extLst>
                  <a:ext uri="{0D108BD9-81ED-4DB2-BD59-A6C34878D82A}">
                    <a16:rowId xmlns:a16="http://schemas.microsoft.com/office/drawing/2014/main" val="10009"/>
                  </a:ext>
                </a:extLst>
              </a:tr>
              <a:tr h="251460">
                <a:tc>
                  <a:txBody>
                    <a:bodyPr/>
                    <a:lstStyle/>
                    <a:p>
                      <a:pPr algn="l"/>
                      <a:r>
                        <a:rPr sz="850" b="0">
                          <a:solidFill>
                            <a:srgbClr val="000000"/>
                          </a:solidFill>
                          <a:latin typeface="Meiryo UI"/>
                          <a:ea typeface="Meiryo UI"/>
                        </a:rPr>
                        <a:t>その他負債</a:t>
                      </a:r>
                    </a:p>
                  </a:txBody>
                  <a:tcPr marL="45000" marR="36000" marT="18000" marB="1800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tc>
                  <a:txBody>
                    <a:bodyPr/>
                    <a:lstStyle/>
                    <a:p>
                      <a:pPr algn="r"/>
                      <a:r>
                        <a:rPr sz="900" b="0">
                          <a:solidFill>
                            <a:srgbClr val="000000"/>
                          </a:solidFill>
                          <a:latin typeface="Meiryo UI"/>
                          <a:ea typeface="Meiryo UI"/>
                        </a:rPr>
                        <a:t>3,044</a:t>
                      </a:r>
                    </a:p>
                  </a:txBody>
                  <a:tcPr marL="27000" marR="36000" marT="18000" marB="1800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extLst>
                  <a:ext uri="{0D108BD9-81ED-4DB2-BD59-A6C34878D82A}">
                    <a16:rowId xmlns:a16="http://schemas.microsoft.com/office/drawing/2014/main" val="10010"/>
                  </a:ext>
                </a:extLst>
              </a:tr>
              <a:tr h="251460">
                <a:tc>
                  <a:txBody>
                    <a:bodyPr/>
                    <a:lstStyle/>
                    <a:p>
                      <a:pPr algn="l"/>
                      <a:r>
                        <a:rPr sz="850" b="0">
                          <a:solidFill>
                            <a:srgbClr val="000000"/>
                          </a:solidFill>
                          <a:latin typeface="Meiryo UI"/>
                          <a:ea typeface="Meiryo UI"/>
                        </a:rPr>
                        <a:t>純資産</a:t>
                      </a:r>
                    </a:p>
                  </a:txBody>
                  <a:tcPr marL="45000" marR="36000" marT="18000" marB="1800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ECF1F9"/>
                    </a:solidFill>
                  </a:tcPr>
                </a:tc>
                <a:tc>
                  <a:txBody>
                    <a:bodyPr/>
                    <a:lstStyle/>
                    <a:p>
                      <a:pPr algn="r"/>
                      <a:r>
                        <a:rPr sz="900" b="0">
                          <a:solidFill>
                            <a:srgbClr val="000000"/>
                          </a:solidFill>
                          <a:latin typeface="Meiryo UI"/>
                          <a:ea typeface="Meiryo UI"/>
                        </a:rPr>
                        <a:t>144,464</a:t>
                      </a:r>
                    </a:p>
                  </a:txBody>
                  <a:tcPr marL="27000" marR="36000" marT="18000" marB="1800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ECF1F9"/>
                    </a:solidFill>
                  </a:tcPr>
                </a:tc>
                <a:extLst>
                  <a:ext uri="{0D108BD9-81ED-4DB2-BD59-A6C34878D82A}">
                    <a16:rowId xmlns:a16="http://schemas.microsoft.com/office/drawing/2014/main" val="10011"/>
                  </a:ext>
                </a:extLst>
              </a:tr>
              <a:tr h="251460">
                <a:tc>
                  <a:txBody>
                    <a:bodyPr/>
                    <a:lstStyle/>
                    <a:p>
                      <a:pPr algn="l"/>
                      <a:r>
                        <a:rPr sz="850" b="1">
                          <a:solidFill>
                            <a:srgbClr val="000000"/>
                          </a:solidFill>
                          <a:latin typeface="Meiryo UI"/>
                          <a:ea typeface="Meiryo UI"/>
                        </a:rPr>
                        <a:t>負債・純資産合計</a:t>
                      </a:r>
                    </a:p>
                  </a:txBody>
                  <a:tcPr marL="45000" marR="36000" marT="18000" marB="1800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tc>
                  <a:txBody>
                    <a:bodyPr/>
                    <a:lstStyle/>
                    <a:p>
                      <a:pPr algn="r"/>
                      <a:r>
                        <a:rPr sz="900" b="1">
                          <a:solidFill>
                            <a:srgbClr val="000000"/>
                          </a:solidFill>
                          <a:latin typeface="Meiryo UI"/>
                          <a:ea typeface="Meiryo UI"/>
                        </a:rPr>
                        <a:t>147,508</a:t>
                      </a:r>
                    </a:p>
                  </a:txBody>
                  <a:tcPr marL="27000" marR="36000" marT="18000" marB="1800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extLst>
                  <a:ext uri="{0D108BD9-81ED-4DB2-BD59-A6C34878D82A}">
                    <a16:rowId xmlns:a16="http://schemas.microsoft.com/office/drawing/2014/main" val="10002"/>
                  </a:ext>
                </a:extLst>
              </a:tr>
            </a:tbl>
          </a:graphicData>
        </a:graphic>
      </p:graphicFrame>
      <p:sp>
        <p:nvSpPr>
          <p:cNvPr id="14" name="Right Arrow 210">
            <a:extLst>
              <a:ext uri="{FF2B5EF4-FFF2-40B4-BE49-F238E27FC236}">
                <a16:creationId xmlns:a16="http://schemas.microsoft.com/office/drawing/2014/main" id="{34C1A436-C5B1-2637-2D34-9990695F7889}"/>
              </a:ext>
            </a:extLst>
          </p:cNvPr>
          <p:cNvSpPr/>
          <p:nvPr/>
        </p:nvSpPr>
        <p:spPr>
          <a:xfrm>
            <a:off x="3035808" y="3246120"/>
            <a:ext cx="384048" cy="457200"/>
          </a:xfrm>
          <a:prstGeom prst="rightArrow">
            <a:avLst/>
          </a:prstGeom>
          <a:solidFill>
            <a:srgbClr val="D9E2F3"/>
          </a:solidFill>
          <a:ln w="12700">
            <a:solidFill>
              <a:srgbClr val="2038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212">
            <a:extLst>
              <a:ext uri="{FF2B5EF4-FFF2-40B4-BE49-F238E27FC236}">
                <a16:creationId xmlns:a16="http://schemas.microsoft.com/office/drawing/2014/main" id="{6FDB3BEE-EE19-94ED-14FC-4C51828F5E54}"/>
              </a:ext>
            </a:extLst>
          </p:cNvPr>
          <p:cNvSpPr/>
          <p:nvPr/>
        </p:nvSpPr>
        <p:spPr>
          <a:xfrm>
            <a:off x="3456432" y="5300000"/>
            <a:ext cx="2633472" cy="384048"/>
          </a:xfrm>
          <a:prstGeom prst="rect">
            <a:avLst/>
          </a:prstGeom>
          <a:solidFill>
            <a:srgbClr val="ECF1F9"/>
          </a:solidFill>
          <a:ln w="12700">
            <a:solidFill>
              <a:srgbClr val="203864"/>
            </a:solidFill>
          </a:ln>
          <a:effectLst/>
        </p:spPr>
        <p:style>
          <a:lnRef idx="1">
            <a:schemeClr val="accent1"/>
          </a:lnRef>
          <a:fillRef idx="3">
            <a:schemeClr val="accent1"/>
          </a:fillRef>
          <a:effectRef idx="2">
            <a:schemeClr val="accent1"/>
          </a:effectRef>
          <a:fontRef idx="minor">
            <a:schemeClr val="lt1"/>
          </a:fontRef>
        </p:style>
        <p:txBody>
          <a:bodyPr wrap="square" lIns="54000" tIns="27000" rIns="54000" bIns="27000" rtlCol="0" anchor="ctr"/>
          <a:lstStyle/>
          <a:p>
            <a:pPr algn="ctr"/>
            <a:r>
              <a:rPr sz="850" b="1">
                <a:solidFill>
                  <a:srgbClr val="203864"/>
                </a:solidFill>
                <a:latin typeface="Meiryo UI"/>
                <a:ea typeface="Meiryo UI"/>
              </a:rPr>
              <a:t>有利子負債 156,317 － 現預金 17,748</a:t>
            </a:r>
          </a:p>
          <a:p>
            <a:pPr algn="ctr"/>
            <a:r>
              <a:rPr sz="850" b="1">
                <a:solidFill>
                  <a:srgbClr val="203864"/>
                </a:solidFill>
                <a:latin typeface="Meiryo UI"/>
                <a:ea typeface="Meiryo UI"/>
              </a:rPr>
              <a:t>＝ 純有利子負債 138,569 千円</a:t>
            </a:r>
          </a:p>
        </p:txBody>
      </p:sp>
      <p:sp>
        <p:nvSpPr>
          <p:cNvPr id="22" name="テキスト ボックス 21">
            <a:extLst>
              <a:ext uri="{FF2B5EF4-FFF2-40B4-BE49-F238E27FC236}">
                <a16:creationId xmlns:a16="http://schemas.microsoft.com/office/drawing/2014/main" id="{55399AA7-9FE0-C458-58D3-47B63EB7E9C6}"/>
              </a:ext>
            </a:extLst>
          </p:cNvPr>
          <p:cNvSpPr txBox="1"/>
          <p:nvPr/>
        </p:nvSpPr>
        <p:spPr>
          <a:xfrm>
            <a:off x="7996619" y="1525316"/>
            <a:ext cx="1036086" cy="230832"/>
          </a:xfrm>
          <a:prstGeom prst="rect">
            <a:avLst/>
          </a:prstGeom>
          <a:noFill/>
        </p:spPr>
        <p:txBody>
          <a:bodyPr wrap="square" rtlCol="0">
            <a:spAutoFit/>
          </a:bodyPr>
          <a:lstStyle/>
          <a:p>
            <a:r>
              <a:rPr kumimoji="1" lang="ja-JP" altLang="en-US" sz="900" dirty="0">
                <a:latin typeface="Meiryo UI" panose="020B0604030504040204" pitchFamily="50" charset="-128"/>
                <a:ea typeface="Meiryo UI" panose="020B0604030504040204" pitchFamily="50" charset="-128"/>
              </a:rPr>
              <a:t>（単位：千円）</a:t>
            </a:r>
          </a:p>
        </p:txBody>
      </p:sp>
    </p:spTree>
    <p:extLst>
      <p:ext uri="{BB962C8B-B14F-4D97-AF65-F5344CB8AC3E}">
        <p14:creationId xmlns:p14="http://schemas.microsoft.com/office/powerpoint/2010/main" val="28486868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sp>
        <p:nvSpPr>
          <p:cNvPr id="214" name="Google Shape;214;p4"/>
          <p:cNvSpPr txBox="1">
            <a:spLocks noGrp="1"/>
          </p:cNvSpPr>
          <p:nvPr>
            <p:ph type="title"/>
          </p:nvPr>
        </p:nvSpPr>
        <p:spPr>
          <a:xfrm>
            <a:off x="395536" y="332655"/>
            <a:ext cx="6696744" cy="288033"/>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sz="1400" b="1">
                <a:solidFill>
                  <a:srgbClr val="5A5A5A"/>
                </a:solidFill>
                <a:latin typeface="Meiryo UI"/>
                <a:ea typeface="Meiryo UI"/>
              </a:rPr>
              <a:t>その他の論点 ①｜財務・貸借対照表</a:t>
            </a:r>
            <a:endParaRPr b="1" dirty="0">
              <a:solidFill>
                <a:srgbClr val="5A5A5A"/>
              </a:solidFill>
              <a:latin typeface="Meiryo UI" panose="020B0604030504040204" pitchFamily="50" charset="-128"/>
              <a:ea typeface="Meiryo UI" panose="020B0604030504040204" pitchFamily="50" charset="-128"/>
              <a:sym typeface="Arial"/>
            </a:endParaRPr>
          </a:p>
        </p:txBody>
      </p:sp>
      <p:sp>
        <p:nvSpPr>
          <p:cNvPr id="215" name="Google Shape;215;p4"/>
          <p:cNvSpPr txBox="1"/>
          <p:nvPr/>
        </p:nvSpPr>
        <p:spPr>
          <a:xfrm>
            <a:off x="323528" y="116632"/>
            <a:ext cx="2376264" cy="188640"/>
          </a:xfrm>
          <a:prstGeom prst="rect">
            <a:avLst/>
          </a:prstGeom>
          <a:noFill/>
          <a:ln>
            <a:noFill/>
          </a:ln>
        </p:spPr>
        <p:txBody>
          <a:bodyPr spcFirstLastPara="1" wrap="square" lIns="36000" tIns="0" rIns="0" bIns="0" anchor="ctr" anchorCtr="0">
            <a:noAutofit/>
          </a:bodyPr>
          <a:lstStyle/>
          <a:p>
            <a:pPr marL="0" marR="0" lvl="0" indent="0" algn="l" rtl="0">
              <a:lnSpc>
                <a:spcPct val="100000"/>
              </a:lnSpc>
              <a:spcBef>
                <a:spcPts val="0"/>
              </a:spcBef>
              <a:spcAft>
                <a:spcPts val="0"/>
              </a:spcAft>
              <a:buClr>
                <a:srgbClr val="5A5A5A"/>
              </a:buClr>
              <a:buSzPts val="1000"/>
              <a:buFont typeface="Arial"/>
              <a:buNone/>
            </a:pPr>
            <a:r>
              <a:rPr sz="1000" b="0">
                <a:solidFill>
                  <a:srgbClr val="5A5A5A"/>
                </a:solidFill>
                <a:latin typeface="Meiryo UI"/>
                <a:ea typeface="Meiryo UI"/>
              </a:rPr>
              <a:t>本件の論点整理</a:t>
            </a:r>
            <a:endParaRPr dirty="0">
              <a:latin typeface="Meiryo UI" panose="020B0604030504040204" pitchFamily="50" charset="-128"/>
              <a:ea typeface="Meiryo UI" panose="020B0604030504040204" pitchFamily="50" charset="-128"/>
            </a:endParaRPr>
          </a:p>
        </p:txBody>
      </p:sp>
      <p:sp>
        <p:nvSpPr>
          <p:cNvPr id="216" name="Google Shape;216;p4"/>
          <p:cNvSpPr/>
          <p:nvPr/>
        </p:nvSpPr>
        <p:spPr>
          <a:xfrm>
            <a:off x="0" y="116632"/>
            <a:ext cx="323528" cy="180000"/>
          </a:xfrm>
          <a:prstGeom prst="parallelogram">
            <a:avLst>
              <a:gd name="adj" fmla="val 32938"/>
            </a:avLst>
          </a:prstGeom>
          <a:solidFill>
            <a:srgbClr val="66A09A"/>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Arial"/>
              <a:buNone/>
            </a:pPr>
            <a:r>
              <a:rPr sz="1000" b="0">
                <a:solidFill>
                  <a:srgbClr val="FFFFFF"/>
                </a:solidFill>
                <a:latin typeface="Meiryo UI"/>
                <a:ea typeface="Meiryo UI"/>
              </a:rPr>
              <a:t>1</a:t>
            </a:r>
            <a:endParaRPr sz="1000" b="0" i="0" u="none" strike="noStrike" cap="none">
              <a:solidFill>
                <a:srgbClr val="FFFFFF"/>
              </a:solidFill>
              <a:latin typeface="Arial"/>
              <a:ea typeface="Arial"/>
              <a:cs typeface="Arial"/>
              <a:sym typeface="Arial"/>
            </a:endParaRPr>
          </a:p>
        </p:txBody>
      </p:sp>
      <p:graphicFrame>
        <p:nvGraphicFramePr>
          <p:cNvPr id="217" name="Google Shape;217;p4"/>
          <p:cNvGraphicFramePr/>
          <p:nvPr>
            <p:extLst>
              <p:ext uri="{D42A27DB-BD31-4B8C-83A1-F6EECF244321}">
                <p14:modId xmlns:p14="http://schemas.microsoft.com/office/powerpoint/2010/main" val="1165932223"/>
              </p:ext>
            </p:extLst>
          </p:nvPr>
        </p:nvGraphicFramePr>
        <p:xfrm>
          <a:off x="398462" y="838712"/>
          <a:ext cx="8348471" cy="5660136"/>
        </p:xfrm>
        <a:graphic>
          <a:graphicData uri="http://schemas.openxmlformats.org/drawingml/2006/table">
            <a:tbl>
              <a:tblPr>
                <a:noFill/>
                <a:tableStyleId>{FA6B9113-0DA6-4419-ABC6-697280B0F4CE}</a:tableStyleId>
              </a:tblPr>
              <a:tblGrid>
                <a:gridCol w="429768">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gridCol w="5385816">
                  <a:extLst>
                    <a:ext uri="{9D8B030D-6E8A-4147-A177-3AD203B41FA5}">
                      <a16:colId xmlns:a16="http://schemas.microsoft.com/office/drawing/2014/main" val="20002"/>
                    </a:ext>
                  </a:extLst>
                </a:gridCol>
                <a:gridCol w="932688">
                  <a:extLst>
                    <a:ext uri="{9D8B030D-6E8A-4147-A177-3AD203B41FA5}">
                      <a16:colId xmlns:a16="http://schemas.microsoft.com/office/drawing/2014/main" val="20003"/>
                    </a:ext>
                  </a:extLst>
                </a:gridCol>
              </a:tblGrid>
              <a:tr h="347472">
                <a:tc>
                  <a:txBody>
                    <a:bodyPr/>
                    <a:lstStyle/>
                    <a:p>
                      <a:pPr marL="0" marR="0" lvl="0" indent="0" algn="ctr" rtl="0">
                        <a:spcBef>
                          <a:spcPts val="0"/>
                        </a:spcBef>
                        <a:spcAft>
                          <a:spcPts val="0"/>
                        </a:spcAft>
                        <a:buNone/>
                      </a:pPr>
                      <a:r>
                        <a:rPr sz="1100" b="1">
                          <a:latin typeface="Meiryo UI"/>
                          <a:ea typeface="Meiryo UI"/>
                        </a:rPr>
                        <a:t>No.</a:t>
                      </a:r>
                      <a:endParaRPr sz="1400" b="1" dirty="0">
                        <a:solidFill>
                          <a:schemeClr val="lt1"/>
                        </a:solidFill>
                        <a:latin typeface="Meiryo UI" panose="020B0604030504040204" pitchFamily="50" charset="-128"/>
                        <a:ea typeface="Meiryo UI" panose="020B0604030504040204" pitchFamily="50" charset="-128"/>
                        <a:cs typeface="Arial"/>
                        <a:sym typeface="Arial"/>
                      </a:endParaRPr>
                    </a:p>
                  </a:txBody>
                  <a:tcPr marL="18000" marR="36000" marT="18000" marB="18000" anchor="ctr">
                    <a:lnL w="9525" cap="flat" cmpd="sng">
                      <a:solidFill>
                        <a:srgbClr val="000000">
                          <a:alpha val="0"/>
                        </a:srgbClr>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accent1">
                        <a:lumMod val="50000"/>
                      </a:schemeClr>
                    </a:solidFill>
                  </a:tcPr>
                </a:tc>
                <a:tc>
                  <a:txBody>
                    <a:bodyPr/>
                    <a:lstStyle/>
                    <a:p>
                      <a:pPr marL="0" marR="0" lvl="0" indent="0" algn="ctr" rtl="0">
                        <a:spcBef>
                          <a:spcPts val="0"/>
                        </a:spcBef>
                        <a:spcAft>
                          <a:spcPts val="0"/>
                        </a:spcAft>
                        <a:buNone/>
                      </a:pPr>
                      <a:r>
                        <a:rPr sz="1100" b="1">
                          <a:latin typeface="Meiryo UI"/>
                          <a:ea typeface="Meiryo UI"/>
                        </a:rPr>
                        <a:t>項目</a:t>
                      </a:r>
                      <a:endParaRPr dirty="0">
                        <a:latin typeface="Meiryo UI" panose="020B0604030504040204" pitchFamily="50" charset="-128"/>
                        <a:ea typeface="Meiryo UI" panose="020B0604030504040204" pitchFamily="50" charset="-128"/>
                      </a:endParaRPr>
                    </a:p>
                  </a:txBody>
                  <a:tcPr marL="18000" marR="36000" marT="18000" marB="1800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accent1">
                        <a:lumMod val="50000"/>
                      </a:schemeClr>
                    </a:solidFill>
                  </a:tcPr>
                </a:tc>
                <a:tc>
                  <a:txBody>
                    <a:bodyPr/>
                    <a:lstStyle/>
                    <a:p>
                      <a:pPr marL="0" marR="0" lvl="0" indent="0" algn="ctr" rtl="0">
                        <a:spcBef>
                          <a:spcPts val="0"/>
                        </a:spcBef>
                        <a:spcAft>
                          <a:spcPts val="0"/>
                        </a:spcAft>
                        <a:buNone/>
                      </a:pPr>
                      <a:r>
                        <a:rPr sz="1100" b="1">
                          <a:latin typeface="Meiryo UI"/>
                          <a:ea typeface="Meiryo UI"/>
                        </a:rPr>
                        <a:t>内容</a:t>
                      </a:r>
                      <a:endParaRPr dirty="0">
                        <a:latin typeface="Meiryo UI" panose="020B0604030504040204" pitchFamily="50" charset="-128"/>
                        <a:ea typeface="Meiryo UI" panose="020B0604030504040204" pitchFamily="50" charset="-128"/>
                      </a:endParaRPr>
                    </a:p>
                  </a:txBody>
                  <a:tcPr marL="18000" marR="36000" marT="18000" marB="1800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accent1">
                        <a:lumMod val="50000"/>
                      </a:schemeClr>
                    </a:solidFill>
                  </a:tcPr>
                </a:tc>
                <a:tc>
                  <a:txBody>
                    <a:bodyPr/>
                    <a:lstStyle/>
                    <a:p>
                      <a:pPr marL="0" marR="0" lvl="0" indent="0" algn="ctr" rtl="0">
                        <a:spcBef>
                          <a:spcPts val="0"/>
                        </a:spcBef>
                        <a:spcAft>
                          <a:spcPts val="0"/>
                        </a:spcAft>
                        <a:buNone/>
                      </a:pPr>
                      <a:r>
                        <a:rPr sz="1100" b="1">
                          <a:latin typeface="Meiryo UI"/>
                          <a:ea typeface="Meiryo UI"/>
                        </a:rPr>
                        <a:t>確認状況</a:t>
                      </a:r>
                      <a:endParaRPr dirty="0">
                        <a:latin typeface="Meiryo UI" panose="020B0604030504040204" pitchFamily="50" charset="-128"/>
                        <a:ea typeface="Meiryo UI" panose="020B0604030504040204" pitchFamily="50" charset="-128"/>
                      </a:endParaRPr>
                    </a:p>
                  </a:txBody>
                  <a:tcPr marL="18000" marR="36000" marT="18000" marB="18000" anchor="ctr">
                    <a:lnL w="9525" cap="flat" cmpd="sng">
                      <a:solidFill>
                        <a:schemeClr val="lt1"/>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accent1">
                        <a:lumMod val="50000"/>
                      </a:schemeClr>
                    </a:solidFill>
                  </a:tcPr>
                </a:tc>
                <a:extLst>
                  <a:ext uri="{0D108BD9-81ED-4DB2-BD59-A6C34878D82A}">
                    <a16:rowId xmlns:a16="http://schemas.microsoft.com/office/drawing/2014/main" val="10000"/>
                  </a:ext>
                </a:extLst>
              </a:tr>
              <a:tr h="758952">
                <a:tc>
                  <a:txBody>
                    <a:bodyPr/>
                    <a:lstStyle/>
                    <a:p>
                      <a:pPr marL="0" marR="0" lvl="0" indent="0" algn="ctr" rtl="0">
                        <a:spcBef>
                          <a:spcPts val="0"/>
                        </a:spcBef>
                        <a:spcAft>
                          <a:spcPts val="0"/>
                        </a:spcAft>
                        <a:buNone/>
                      </a:pPr>
                      <a:r>
                        <a:rPr sz="1300" b="1">
                          <a:latin typeface="Meiryo UI"/>
                          <a:ea typeface="Meiryo UI"/>
                        </a:rPr>
                        <a:t>1</a:t>
                      </a:r>
                    </a:p>
                  </a:txBody>
                  <a:tcPr marL="54000" marR="36000" marT="18000" marB="18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60000"/>
                        <a:lumOff val="40000"/>
                      </a:schemeClr>
                    </a:solidFill>
                  </a:tcPr>
                </a:tc>
                <a:tc>
                  <a:txBody>
                    <a:bodyPr/>
                    <a:lstStyle/>
                    <a:p>
                      <a:pPr marL="0" marR="0" lvl="0" indent="0" algn="ctr" rtl="0">
                        <a:spcBef>
                          <a:spcPts val="0"/>
                        </a:spcBef>
                        <a:spcAft>
                          <a:spcPts val="0"/>
                        </a:spcAft>
                        <a:buNone/>
                      </a:pPr>
                      <a:r>
                        <a:rPr sz="1100" b="0">
                          <a:latin typeface="Meiryo UI"/>
                          <a:ea typeface="Meiryo UI"/>
                        </a:rPr>
                        <a:t>前渡金・立替金・</a:t>
                      </a:r>
                    </a:p>
                    <a:p>
                      <a:pPr algn="ctr"/>
                      <a:r>
                        <a:rPr sz="1100" b="0">
                          <a:latin typeface="Meiryo UI"/>
                          <a:ea typeface="Meiryo UI"/>
                        </a:rPr>
                        <a:t>仮払金</a:t>
                      </a:r>
                    </a:p>
                  </a:txBody>
                  <a:tcPr marL="54000" marR="36000" marT="18000" marB="18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20000"/>
                        <a:lumOff val="80000"/>
                      </a:schemeClr>
                    </a:solidFill>
                  </a:tcPr>
                </a:tc>
                <a:tc>
                  <a:txBody>
                    <a:bodyPr/>
                    <a:lstStyle/>
                    <a:p>
                      <a:pPr marL="0" marR="0" lvl="0" indent="0" algn="l" rtl="0">
                        <a:lnSpc>
                          <a:spcPct val="100000"/>
                        </a:lnSpc>
                        <a:spcBef>
                          <a:spcPts val="0"/>
                        </a:spcBef>
                        <a:spcAft>
                          <a:spcPts val="0"/>
                        </a:spcAft>
                        <a:buClr>
                          <a:srgbClr val="66A09A"/>
                        </a:buClr>
                        <a:buSzPts val="1120"/>
                        <a:buFont typeface="Arial"/>
                        <a:buNone/>
                      </a:pPr>
                      <a:r>
                        <a:rPr sz="900" b="0">
                          <a:latin typeface="Meiryo UI"/>
                          <a:ea typeface="Meiryo UI"/>
                        </a:rPr>
                        <a:t>計75,075千円（前渡金31,076・立替金37,749・仮払金6,250）と総資産の45%を占める。輸入取引に係る立替と推察されるが、内容・年齢調べ・回収可能性の精査が必要。いずれのスキームでも価額の前提となる。</a:t>
                      </a:r>
                      <a:endParaRPr lang="en-US" altLang="ja-JP" sz="1100" b="0" dirty="0">
                        <a:solidFill>
                          <a:schemeClr val="dk1"/>
                        </a:solidFill>
                        <a:latin typeface="Meiryo UI" panose="020B0604030504040204" pitchFamily="50" charset="-128"/>
                        <a:ea typeface="Meiryo UI" panose="020B0604030504040204" pitchFamily="50" charset="-128"/>
                      </a:endParaRPr>
                    </a:p>
                  </a:txBody>
                  <a:tcPr marL="54000" marR="36000" marT="18000" marB="18000" anchor="ctr">
                    <a:lnL w="9525" cap="flat" cmpd="sng">
                      <a:solidFill>
                        <a:srgbClr val="000000">
                          <a:alpha val="0"/>
                        </a:srgbClr>
                      </a:solidFill>
                      <a:prstDash val="solid"/>
                      <a:round/>
                      <a:headEnd type="none" w="sm" len="sm"/>
                      <a:tailEnd type="none" w="sm" len="sm"/>
                    </a:lnL>
                    <a:lnR w="12700" cap="flat" cmpd="sng">
                      <a:solidFill>
                        <a:srgbClr val="C8C8C8"/>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rgbClr val="C8C8C8"/>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252525"/>
                        </a:buClr>
                        <a:buSzPts val="1600"/>
                        <a:buFont typeface="Arial"/>
                        <a:buNone/>
                      </a:pPr>
                      <a:r>
                        <a:rPr sz="1200" b="1">
                          <a:latin typeface="Meiryo UI"/>
                          <a:ea typeface="Meiryo UI"/>
                        </a:rPr>
                        <a:t>要確認</a:t>
                      </a:r>
                      <a:endParaRPr lang="ja-JP" sz="1600" b="1" i="0" u="none" strike="noStrike" cap="none" dirty="0">
                        <a:solidFill>
                          <a:srgbClr val="252525"/>
                        </a:solidFill>
                        <a:latin typeface="Meiryo UI" panose="020B0604030504040204" pitchFamily="50" charset="-128"/>
                        <a:ea typeface="Meiryo UI" panose="020B0604030504040204" pitchFamily="50" charset="-128"/>
                        <a:cs typeface="Arial"/>
                        <a:sym typeface="Arial"/>
                      </a:endParaRPr>
                    </a:p>
                  </a:txBody>
                  <a:tcPr marL="54000" marR="36000" marT="18000" marB="18000" anchor="ctr">
                    <a:lnL w="12700" cap="flat" cmpd="sng">
                      <a:solidFill>
                        <a:srgbClr val="C8C8C8"/>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rgbClr val="C8C8C8"/>
                      </a:solidFill>
                      <a:prstDash val="solid"/>
                      <a:round/>
                      <a:headEnd type="none" w="sm" len="sm"/>
                      <a:tailEnd type="none" w="sm" len="sm"/>
                    </a:lnB>
                    <a:solidFill>
                      <a:srgbClr val="ECF2D9"/>
                    </a:solidFill>
                  </a:tcPr>
                </a:tc>
                <a:extLst>
                  <a:ext uri="{0D108BD9-81ED-4DB2-BD59-A6C34878D82A}">
                    <a16:rowId xmlns:a16="http://schemas.microsoft.com/office/drawing/2014/main" val="10001"/>
                  </a:ext>
                </a:extLst>
              </a:tr>
              <a:tr h="758952">
                <a:tc>
                  <a:txBody>
                    <a:bodyPr/>
                    <a:lstStyle/>
                    <a:p>
                      <a:pPr marL="0" marR="0" lvl="0" indent="0" algn="ctr" rtl="0">
                        <a:lnSpc>
                          <a:spcPct val="100000"/>
                        </a:lnSpc>
                        <a:spcBef>
                          <a:spcPts val="0"/>
                        </a:spcBef>
                        <a:spcAft>
                          <a:spcPts val="0"/>
                        </a:spcAft>
                        <a:buClr>
                          <a:schemeClr val="dk1"/>
                        </a:buClr>
                        <a:buSzPts val="1500"/>
                        <a:buFont typeface="Arial"/>
                        <a:buNone/>
                      </a:pPr>
                      <a:r>
                        <a:rPr sz="1300" b="1">
                          <a:latin typeface="Meiryo UI"/>
                          <a:ea typeface="Meiryo UI"/>
                        </a:rPr>
                        <a:t>2</a:t>
                      </a:r>
                    </a:p>
                  </a:txBody>
                  <a:tcPr marL="54000" marR="36000" marT="18000" marB="18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60000"/>
                        <a:lumOff val="40000"/>
                      </a:schemeClr>
                    </a:solidFill>
                  </a:tcPr>
                </a:tc>
                <a:tc>
                  <a:txBody>
                    <a:bodyPr/>
                    <a:lstStyle/>
                    <a:p>
                      <a:pPr marL="0" marR="0" lvl="0" indent="0" algn="ctr" rtl="0">
                        <a:spcBef>
                          <a:spcPts val="0"/>
                        </a:spcBef>
                        <a:spcAft>
                          <a:spcPts val="0"/>
                        </a:spcAft>
                        <a:buNone/>
                      </a:pPr>
                      <a:r>
                        <a:rPr sz="1100" b="0">
                          <a:latin typeface="Meiryo UI"/>
                          <a:ea typeface="Meiryo UI"/>
                        </a:rPr>
                        <a:t>仕入債務の計上</a:t>
                      </a:r>
                    </a:p>
                  </a:txBody>
                  <a:tcPr marL="54000" marR="36000" marT="18000" marB="18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20000"/>
                        <a:lumOff val="80000"/>
                      </a:schemeClr>
                    </a:solidFill>
                  </a:tcPr>
                </a:tc>
                <a:tc>
                  <a:txBody>
                    <a:bodyPr/>
                    <a:lstStyle/>
                    <a:p>
                      <a:pPr marL="0" marR="0" lvl="0" indent="0" algn="l" rtl="0">
                        <a:lnSpc>
                          <a:spcPct val="100000"/>
                        </a:lnSpc>
                        <a:spcBef>
                          <a:spcPts val="0"/>
                        </a:spcBef>
                        <a:spcAft>
                          <a:spcPts val="0"/>
                        </a:spcAft>
                        <a:buClr>
                          <a:srgbClr val="66A09A"/>
                        </a:buClr>
                        <a:buSzPts val="1120"/>
                        <a:buFont typeface="Arial"/>
                        <a:buNone/>
                      </a:pPr>
                      <a:r>
                        <a:rPr sz="900" b="0">
                          <a:latin typeface="Meiryo UI"/>
                          <a:ea typeface="Meiryo UI"/>
                        </a:rPr>
                        <a:t>2025年12月期の仕入高291,639千円に対し買掛金の計上がなく、未払金2,357千円のみ。仕入計上基準・支払サイト（前払の有無）の実態確認が必要。</a:t>
                      </a:r>
                    </a:p>
                  </a:txBody>
                  <a:tcPr marL="54000" marR="36000" marT="18000" marB="18000" anchor="ctr">
                    <a:lnL w="9525" cap="flat" cmpd="sng">
                      <a:solidFill>
                        <a:srgbClr val="000000">
                          <a:alpha val="0"/>
                        </a:srgbClr>
                      </a:solidFill>
                      <a:prstDash val="solid"/>
                      <a:round/>
                      <a:headEnd type="none" w="sm" len="sm"/>
                      <a:tailEnd type="none" w="sm" len="sm"/>
                    </a:lnL>
                    <a:lnR w="12700" cap="flat" cmpd="sng">
                      <a:solidFill>
                        <a:srgbClr val="C8C8C8"/>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solidFill>
                        <a:srgbClr val="C8C8C8"/>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chemeClr val="dk1"/>
                        </a:buClr>
                        <a:buSzPts val="1600"/>
                        <a:buFont typeface="Arial"/>
                        <a:buNone/>
                      </a:pPr>
                      <a:r>
                        <a:rPr sz="1200" b="1">
                          <a:latin typeface="Meiryo UI"/>
                          <a:ea typeface="Meiryo UI"/>
                        </a:rPr>
                        <a:t>要確認</a:t>
                      </a:r>
                      <a:endParaRPr lang="ja-JP" sz="1600" b="1" i="0" u="none" strike="noStrike" cap="none" dirty="0">
                        <a:solidFill>
                          <a:schemeClr val="dk1"/>
                        </a:solidFill>
                        <a:latin typeface="Meiryo UI" panose="020B0604030504040204" pitchFamily="50" charset="-128"/>
                        <a:ea typeface="Meiryo UI" panose="020B0604030504040204" pitchFamily="50" charset="-128"/>
                        <a:cs typeface="Arial"/>
                        <a:sym typeface="Arial"/>
                      </a:endParaRPr>
                    </a:p>
                  </a:txBody>
                  <a:tcPr marL="54000" marR="36000" marT="18000" marB="18000" anchor="ctr">
                    <a:lnL w="12700" cap="flat" cmpd="sng">
                      <a:solidFill>
                        <a:srgbClr val="C8C8C8"/>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solidFill>
                        <a:srgbClr val="C8C8C8"/>
                      </a:solidFill>
                      <a:prstDash val="solid"/>
                      <a:round/>
                      <a:headEnd type="none" w="sm" len="sm"/>
                      <a:tailEnd type="none" w="sm" len="sm"/>
                    </a:lnB>
                    <a:solidFill>
                      <a:srgbClr val="ECF2D9"/>
                    </a:solidFill>
                  </a:tcPr>
                </a:tc>
                <a:extLst>
                  <a:ext uri="{0D108BD9-81ED-4DB2-BD59-A6C34878D82A}">
                    <a16:rowId xmlns:a16="http://schemas.microsoft.com/office/drawing/2014/main" val="10002"/>
                  </a:ext>
                </a:extLst>
              </a:tr>
              <a:tr h="758952">
                <a:tc>
                  <a:txBody>
                    <a:bodyPr/>
                    <a:lstStyle/>
                    <a:p>
                      <a:pPr marL="0" marR="0" lvl="0" indent="0" algn="ctr" rtl="0">
                        <a:spcBef>
                          <a:spcPts val="0"/>
                        </a:spcBef>
                        <a:spcAft>
                          <a:spcPts val="0"/>
                        </a:spcAft>
                        <a:buNone/>
                      </a:pPr>
                      <a:r>
                        <a:rPr sz="1300" b="1">
                          <a:latin typeface="Meiryo UI"/>
                          <a:ea typeface="Meiryo UI"/>
                        </a:rPr>
                        <a:t>3</a:t>
                      </a:r>
                    </a:p>
                  </a:txBody>
                  <a:tcPr marL="54000" marR="36000" marT="18000" marB="18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60000"/>
                        <a:lumOff val="40000"/>
                      </a:schemeClr>
                    </a:solidFill>
                  </a:tcPr>
                </a:tc>
                <a:tc>
                  <a:txBody>
                    <a:bodyPr/>
                    <a:lstStyle/>
                    <a:p>
                      <a:pPr marL="0" marR="0" lvl="0" indent="0" algn="ctr" rtl="0">
                        <a:spcBef>
                          <a:spcPts val="0"/>
                        </a:spcBef>
                        <a:spcAft>
                          <a:spcPts val="0"/>
                        </a:spcAft>
                        <a:buNone/>
                      </a:pPr>
                      <a:r>
                        <a:rPr sz="1100" b="0">
                          <a:latin typeface="Meiryo UI"/>
                          <a:ea typeface="Meiryo UI"/>
                        </a:rPr>
                        <a:t>有利子負債・</a:t>
                      </a:r>
                    </a:p>
                    <a:p>
                      <a:pPr algn="ctr"/>
                      <a:r>
                        <a:rPr sz="1100" b="0">
                          <a:latin typeface="Meiryo UI"/>
                          <a:ea typeface="Meiryo UI"/>
                        </a:rPr>
                        <a:t>連帯保証</a:t>
                      </a:r>
                    </a:p>
                  </a:txBody>
                  <a:tcPr marL="54000" marR="36000" marT="18000" marB="18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20000"/>
                        <a:lumOff val="80000"/>
                      </a:schemeClr>
                    </a:solidFill>
                  </a:tcPr>
                </a:tc>
                <a:tc>
                  <a:txBody>
                    <a:bodyPr/>
                    <a:lstStyle/>
                    <a:p>
                      <a:pPr marL="139700" marR="0" lvl="0" indent="-139700" algn="l" rtl="0">
                        <a:lnSpc>
                          <a:spcPct val="100000"/>
                        </a:lnSpc>
                        <a:spcBef>
                          <a:spcPts val="0"/>
                        </a:spcBef>
                        <a:spcAft>
                          <a:spcPts val="0"/>
                        </a:spcAft>
                        <a:buClr>
                          <a:srgbClr val="66A09A"/>
                        </a:buClr>
                        <a:buSzPts val="1120"/>
                        <a:buFont typeface="Noto Sans Symbols"/>
                        <a:buNone/>
                      </a:pPr>
                      <a:r>
                        <a:rPr sz="900" b="0">
                          <a:latin typeface="Meiryo UI"/>
                          <a:ea typeface="Meiryo UI"/>
                        </a:rPr>
                        <a:t>借入金156,317千円（短期15,321・長期140,996）に対し純資産5,896千円。借入条件・担保・保証の状況、財務制限条項の有無、および代表の連帯保証解除に係る金融機関の意向を確認。</a:t>
                      </a:r>
                    </a:p>
                  </a:txBody>
                  <a:tcPr marL="54000" marR="36000" marT="18000" marB="18000" anchor="ctr">
                    <a:lnL w="9525" cap="flat" cmpd="sng">
                      <a:solidFill>
                        <a:srgbClr val="000000">
                          <a:alpha val="0"/>
                        </a:srgbClr>
                      </a:solidFill>
                      <a:prstDash val="solid"/>
                      <a:round/>
                      <a:headEnd type="none" w="sm" len="sm"/>
                      <a:tailEnd type="none" w="sm" len="sm"/>
                    </a:lnL>
                    <a:lnR w="12700" cap="flat" cmpd="sng">
                      <a:solidFill>
                        <a:srgbClr val="C8C8C8"/>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solidFill>
                        <a:srgbClr val="C8C8C8"/>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252525"/>
                        </a:buClr>
                        <a:buSzPts val="1600"/>
                        <a:buFont typeface="Arial"/>
                        <a:buNone/>
                      </a:pPr>
                      <a:r>
                        <a:rPr sz="1200" b="1">
                          <a:latin typeface="Meiryo UI"/>
                          <a:ea typeface="Meiryo UI"/>
                        </a:rPr>
                        <a:t>要確認</a:t>
                      </a:r>
                      <a:endParaRPr lang="ja-JP" sz="1600" b="1" i="0" u="none" strike="noStrike" cap="none" dirty="0">
                        <a:solidFill>
                          <a:srgbClr val="252525"/>
                        </a:solidFill>
                        <a:latin typeface="Meiryo UI" panose="020B0604030504040204" pitchFamily="50" charset="-128"/>
                        <a:ea typeface="Meiryo UI" panose="020B0604030504040204" pitchFamily="50" charset="-128"/>
                        <a:cs typeface="Arial"/>
                        <a:sym typeface="Arial"/>
                      </a:endParaRPr>
                    </a:p>
                  </a:txBody>
                  <a:tcPr marL="54000" marR="36000" marT="18000" marB="18000" anchor="ctr">
                    <a:lnL w="12700" cap="flat" cmpd="sng">
                      <a:solidFill>
                        <a:srgbClr val="C8C8C8"/>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solidFill>
                        <a:srgbClr val="C8C8C8"/>
                      </a:solidFill>
                      <a:prstDash val="solid"/>
                      <a:round/>
                      <a:headEnd type="none" w="sm" len="sm"/>
                      <a:tailEnd type="none" w="sm" len="sm"/>
                    </a:lnB>
                    <a:solidFill>
                      <a:srgbClr val="ECF2D9"/>
                    </a:solidFill>
                  </a:tcPr>
                </a:tc>
                <a:extLst>
                  <a:ext uri="{0D108BD9-81ED-4DB2-BD59-A6C34878D82A}">
                    <a16:rowId xmlns:a16="http://schemas.microsoft.com/office/drawing/2014/main" val="10003"/>
                  </a:ext>
                </a:extLst>
              </a:tr>
              <a:tr h="758952">
                <a:tc>
                  <a:txBody>
                    <a:bodyPr/>
                    <a:lstStyle/>
                    <a:p>
                      <a:pPr marL="0" marR="0" lvl="0" indent="0" algn="ctr" rtl="0">
                        <a:spcBef>
                          <a:spcPts val="0"/>
                        </a:spcBef>
                        <a:spcAft>
                          <a:spcPts val="0"/>
                        </a:spcAft>
                        <a:buNone/>
                      </a:pPr>
                      <a:r>
                        <a:rPr sz="1300" b="1">
                          <a:latin typeface="Meiryo UI"/>
                          <a:ea typeface="Meiryo UI"/>
                        </a:rPr>
                        <a:t>4</a:t>
                      </a:r>
                    </a:p>
                  </a:txBody>
                  <a:tcPr marL="54000" marR="36000" marT="18000" marB="18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60000"/>
                        <a:lumOff val="40000"/>
                      </a:schemeClr>
                    </a:solidFill>
                  </a:tcPr>
                </a:tc>
                <a:tc>
                  <a:txBody>
                    <a:bodyPr/>
                    <a:lstStyle/>
                    <a:p>
                      <a:pPr marL="0" marR="0" lvl="0" indent="0" algn="ctr" rtl="0">
                        <a:lnSpc>
                          <a:spcPct val="100000"/>
                        </a:lnSpc>
                        <a:spcBef>
                          <a:spcPts val="0"/>
                        </a:spcBef>
                        <a:spcAft>
                          <a:spcPts val="0"/>
                        </a:spcAft>
                        <a:buClr>
                          <a:schemeClr val="dk1"/>
                        </a:buClr>
                        <a:buSzPts val="1500"/>
                        <a:buFont typeface="Arial"/>
                        <a:buNone/>
                      </a:pPr>
                      <a:r>
                        <a:rPr sz="1100" b="0">
                          <a:latin typeface="Meiryo UI"/>
                          <a:ea typeface="Meiryo UI"/>
                        </a:rPr>
                        <a:t>役員借入金</a:t>
                      </a:r>
                    </a:p>
                  </a:txBody>
                  <a:tcPr marL="54000" marR="36000" marT="18000" marB="18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20000"/>
                        <a:lumOff val="80000"/>
                      </a:schemeClr>
                    </a:solidFill>
                  </a:tcPr>
                </a:tc>
                <a:tc>
                  <a:txBody>
                    <a:bodyPr/>
                    <a:lstStyle/>
                    <a:p>
                      <a:pPr marL="139700" marR="0" lvl="0" indent="-139700" algn="l" rtl="0">
                        <a:lnSpc>
                          <a:spcPct val="100000"/>
                        </a:lnSpc>
                        <a:spcBef>
                          <a:spcPts val="0"/>
                        </a:spcBef>
                        <a:spcAft>
                          <a:spcPts val="0"/>
                        </a:spcAft>
                        <a:buClr>
                          <a:srgbClr val="66A09A"/>
                        </a:buClr>
                        <a:buSzPts val="1120"/>
                        <a:buFont typeface="Noto Sans Symbols"/>
                        <a:buNone/>
                      </a:pPr>
                      <a:r>
                        <a:rPr sz="900" b="0">
                          <a:latin typeface="Meiryo UI"/>
                          <a:ea typeface="Meiryo UI"/>
                        </a:rPr>
                        <a:t>約10,000千円（企業概要書上「詳細は確認中」）。貸借対照表上の計上区分（短期借入金への含有の有無）と返済原資を確認。付帯条件として返済が求められている。</a:t>
                      </a:r>
                    </a:p>
                  </a:txBody>
                  <a:tcPr marL="54000" marR="36000" marT="18000" marB="18000" anchor="ctr">
                    <a:lnL w="9525" cap="flat" cmpd="sng">
                      <a:solidFill>
                        <a:srgbClr val="000000">
                          <a:alpha val="0"/>
                        </a:srgbClr>
                      </a:solidFill>
                      <a:prstDash val="solid"/>
                      <a:round/>
                      <a:headEnd type="none" w="sm" len="sm"/>
                      <a:tailEnd type="none" w="sm" len="sm"/>
                    </a:lnL>
                    <a:lnR w="12700" cap="flat" cmpd="sng">
                      <a:solidFill>
                        <a:srgbClr val="C8C8C8"/>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solidFill>
                        <a:srgbClr val="C8C8C8"/>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252525"/>
                        </a:buClr>
                        <a:buSzPts val="1600"/>
                        <a:buFont typeface="Arial"/>
                        <a:buNone/>
                      </a:pPr>
                      <a:r>
                        <a:rPr sz="1200" b="1">
                          <a:latin typeface="Meiryo UI"/>
                          <a:ea typeface="Meiryo UI"/>
                        </a:rPr>
                        <a:t>要確認</a:t>
                      </a:r>
                      <a:endParaRPr lang="ja-JP" altLang="en-US" sz="1600" b="1" i="0" u="none" strike="noStrike" cap="none" dirty="0">
                        <a:solidFill>
                          <a:srgbClr val="252525"/>
                        </a:solidFill>
                        <a:latin typeface="Meiryo UI" panose="020B0604030504040204" pitchFamily="50" charset="-128"/>
                        <a:ea typeface="Meiryo UI" panose="020B0604030504040204" pitchFamily="50" charset="-128"/>
                        <a:cs typeface="Arial"/>
                        <a:sym typeface="Arial"/>
                      </a:endParaRPr>
                    </a:p>
                  </a:txBody>
                  <a:tcPr marL="54000" marR="36000" marT="18000" marB="18000" anchor="ctr">
                    <a:lnL w="12700" cap="flat" cmpd="sng">
                      <a:solidFill>
                        <a:srgbClr val="C8C8C8"/>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solidFill>
                        <a:srgbClr val="C8C8C8"/>
                      </a:solidFill>
                      <a:prstDash val="solid"/>
                      <a:round/>
                      <a:headEnd type="none" w="sm" len="sm"/>
                      <a:tailEnd type="none" w="sm" len="sm"/>
                    </a:lnB>
                    <a:solidFill>
                      <a:srgbClr val="ECF2D9"/>
                    </a:solidFill>
                  </a:tcPr>
                </a:tc>
                <a:extLst>
                  <a:ext uri="{0D108BD9-81ED-4DB2-BD59-A6C34878D82A}">
                    <a16:rowId xmlns:a16="http://schemas.microsoft.com/office/drawing/2014/main" val="10004"/>
                  </a:ext>
                </a:extLst>
              </a:tr>
              <a:tr h="758952">
                <a:tc>
                  <a:txBody>
                    <a:bodyPr/>
                    <a:lstStyle/>
                    <a:p>
                      <a:pPr marL="0" marR="0" lvl="0" indent="0" algn="ctr" rtl="0">
                        <a:spcBef>
                          <a:spcPts val="0"/>
                        </a:spcBef>
                        <a:spcAft>
                          <a:spcPts val="0"/>
                        </a:spcAft>
                        <a:buNone/>
                      </a:pPr>
                      <a:r>
                        <a:rPr sz="1300" b="1">
                          <a:latin typeface="Meiryo UI"/>
                          <a:ea typeface="Meiryo UI"/>
                        </a:rPr>
                        <a:t>5</a:t>
                      </a:r>
                    </a:p>
                  </a:txBody>
                  <a:tcPr marL="54000" marR="36000" marT="18000" marB="18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60000"/>
                        <a:lumOff val="40000"/>
                      </a:schemeClr>
                    </a:solidFill>
                  </a:tcPr>
                </a:tc>
                <a:tc>
                  <a:txBody>
                    <a:bodyPr/>
                    <a:lstStyle/>
                    <a:p>
                      <a:pPr marL="0" marR="0" lvl="0" indent="0" algn="ctr" rtl="0">
                        <a:lnSpc>
                          <a:spcPct val="100000"/>
                        </a:lnSpc>
                        <a:spcBef>
                          <a:spcPts val="0"/>
                        </a:spcBef>
                        <a:spcAft>
                          <a:spcPts val="0"/>
                        </a:spcAft>
                        <a:buClr>
                          <a:schemeClr val="dk1"/>
                        </a:buClr>
                        <a:buSzPts val="1500"/>
                        <a:buFont typeface="Arial"/>
                        <a:buNone/>
                      </a:pPr>
                      <a:r>
                        <a:rPr sz="1100" b="0">
                          <a:latin typeface="Meiryo UI"/>
                          <a:ea typeface="Meiryo UI"/>
                        </a:rPr>
                        <a:t>為替リスク</a:t>
                      </a:r>
                    </a:p>
                  </a:txBody>
                  <a:tcPr marL="54000" marR="36000" marT="18000" marB="18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20000"/>
                        <a:lumOff val="80000"/>
                      </a:schemeClr>
                    </a:solidFill>
                  </a:tcPr>
                </a:tc>
                <a:tc>
                  <a:txBody>
                    <a:bodyPr/>
                    <a:lstStyle/>
                    <a:p>
                      <a:pPr marL="139700" marR="0" lvl="0" indent="-139700" algn="l" rtl="0">
                        <a:lnSpc>
                          <a:spcPct val="100000"/>
                        </a:lnSpc>
                        <a:spcBef>
                          <a:spcPts val="0"/>
                        </a:spcBef>
                        <a:spcAft>
                          <a:spcPts val="0"/>
                        </a:spcAft>
                        <a:buClr>
                          <a:srgbClr val="66A09A"/>
                        </a:buClr>
                        <a:buSzPts val="1120"/>
                        <a:buFont typeface="Noto Sans Symbols"/>
                        <a:buNone/>
                      </a:pPr>
                      <a:r>
                        <a:rPr sz="900" b="0">
                          <a:latin typeface="Meiryo UI"/>
                          <a:ea typeface="Meiryo UI"/>
                        </a:rPr>
                        <a:t>2024年12月期に為替差損3,535千円を計上し、当期純損失△2,323千円の主因となっている。建値通貨・決済条件・ヘッジ方針を確認。</a:t>
                      </a:r>
                    </a:p>
                  </a:txBody>
                  <a:tcPr marL="54000" marR="36000" marT="18000" marB="18000" anchor="ctr">
                    <a:lnL w="9525" cap="flat" cmpd="sng">
                      <a:solidFill>
                        <a:srgbClr val="000000">
                          <a:alpha val="0"/>
                        </a:srgbClr>
                      </a:solidFill>
                      <a:prstDash val="solid"/>
                      <a:round/>
                      <a:headEnd type="none" w="sm" len="sm"/>
                      <a:tailEnd type="none" w="sm" len="sm"/>
                    </a:lnL>
                    <a:lnR w="12700" cap="flat" cmpd="sng">
                      <a:solidFill>
                        <a:srgbClr val="C8C8C8"/>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solidFill>
                        <a:srgbClr val="C8C8C8"/>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252525"/>
                        </a:buClr>
                        <a:buSzPts val="1600"/>
                        <a:buFont typeface="Arial"/>
                        <a:buNone/>
                      </a:pPr>
                      <a:r>
                        <a:rPr sz="1200" b="1">
                          <a:latin typeface="Meiryo UI"/>
                          <a:ea typeface="Meiryo UI"/>
                        </a:rPr>
                        <a:t>要確認</a:t>
                      </a:r>
                      <a:endParaRPr lang="ja-JP" altLang="en-US" sz="1600" b="1" i="0" u="none" strike="noStrike" cap="none" dirty="0">
                        <a:solidFill>
                          <a:srgbClr val="252525"/>
                        </a:solidFill>
                        <a:latin typeface="Meiryo UI" panose="020B0604030504040204" pitchFamily="50" charset="-128"/>
                        <a:ea typeface="Meiryo UI" panose="020B0604030504040204" pitchFamily="50" charset="-128"/>
                        <a:cs typeface="Arial"/>
                        <a:sym typeface="Arial"/>
                      </a:endParaRPr>
                    </a:p>
                  </a:txBody>
                  <a:tcPr marL="54000" marR="36000" marT="18000" marB="18000" anchor="ctr">
                    <a:lnL w="12700" cap="flat" cmpd="sng">
                      <a:solidFill>
                        <a:srgbClr val="C8C8C8"/>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solidFill>
                        <a:srgbClr val="C8C8C8"/>
                      </a:solidFill>
                      <a:prstDash val="solid"/>
                      <a:round/>
                      <a:headEnd type="none" w="sm" len="sm"/>
                      <a:tailEnd type="none" w="sm" len="sm"/>
                    </a:lnB>
                    <a:solidFill>
                      <a:srgbClr val="ECF2D9"/>
                    </a:solidFill>
                  </a:tcPr>
                </a:tc>
                <a:extLst>
                  <a:ext uri="{0D108BD9-81ED-4DB2-BD59-A6C34878D82A}">
                    <a16:rowId xmlns:a16="http://schemas.microsoft.com/office/drawing/2014/main" val="10005"/>
                  </a:ext>
                </a:extLst>
              </a:tr>
              <a:tr h="758952">
                <a:tc>
                  <a:txBody>
                    <a:bodyPr/>
                    <a:lstStyle/>
                    <a:p>
                      <a:pPr marL="0" marR="0" lvl="0" indent="0" algn="ctr" rtl="0">
                        <a:spcBef>
                          <a:spcPts val="0"/>
                        </a:spcBef>
                        <a:spcAft>
                          <a:spcPts val="0"/>
                        </a:spcAft>
                        <a:buNone/>
                      </a:pPr>
                      <a:r>
                        <a:rPr sz="1300" b="1">
                          <a:latin typeface="Meiryo UI"/>
                          <a:ea typeface="Meiryo UI"/>
                        </a:rPr>
                        <a:t>6</a:t>
                      </a:r>
                    </a:p>
                  </a:txBody>
                  <a:tcPr marL="54000" marR="36000" marT="18000" marB="18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chemeClr val="accent1">
                        <a:lumMod val="60000"/>
                        <a:lumOff val="40000"/>
                      </a:schemeClr>
                    </a:solidFill>
                  </a:tcPr>
                </a:tc>
                <a:tc>
                  <a:txBody>
                    <a:bodyPr/>
                    <a:lstStyle/>
                    <a:p>
                      <a:pPr marL="0" marR="0" lvl="0" indent="0" algn="ctr" rtl="0">
                        <a:lnSpc>
                          <a:spcPct val="100000"/>
                        </a:lnSpc>
                        <a:spcBef>
                          <a:spcPts val="0"/>
                        </a:spcBef>
                        <a:spcAft>
                          <a:spcPts val="0"/>
                        </a:spcAft>
                        <a:buClr>
                          <a:schemeClr val="dk1"/>
                        </a:buClr>
                        <a:buSzPts val="1500"/>
                        <a:buFont typeface="Arial"/>
                        <a:buNone/>
                      </a:pPr>
                      <a:r>
                        <a:rPr sz="1100" b="0">
                          <a:latin typeface="Meiryo UI"/>
                          <a:ea typeface="Meiryo UI"/>
                        </a:rPr>
                        <a:t>進行期の業績</a:t>
                      </a:r>
                    </a:p>
                  </a:txBody>
                  <a:tcPr marL="54000" marR="36000" marT="18000" marB="18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chemeClr val="accent1">
                        <a:lumMod val="20000"/>
                        <a:lumOff val="80000"/>
                      </a:schemeClr>
                    </a:solidFill>
                  </a:tcPr>
                </a:tc>
                <a:tc>
                  <a:txBody>
                    <a:bodyPr/>
                    <a:lstStyle/>
                    <a:p>
                      <a:pPr marL="88900" marR="0" lvl="0" indent="-88900" algn="l" rtl="0">
                        <a:lnSpc>
                          <a:spcPct val="100000"/>
                        </a:lnSpc>
                        <a:spcBef>
                          <a:spcPts val="0"/>
                        </a:spcBef>
                        <a:spcAft>
                          <a:spcPts val="0"/>
                        </a:spcAft>
                        <a:buClr>
                          <a:srgbClr val="66A09A"/>
                        </a:buClr>
                        <a:buSzPts val="1120"/>
                        <a:buFont typeface="Noto Sans Symbols"/>
                        <a:buNone/>
                      </a:pPr>
                      <a:r>
                        <a:rPr sz="900" b="0">
                          <a:latin typeface="Meiryo UI"/>
                          <a:ea typeface="Meiryo UI"/>
                        </a:rPr>
                        <a:t>評価の基礎は2025年12月期まで。2026年12月期の月次試算表・受注状況の開示を受けたうえで、価格目線に反映する必要。</a:t>
                      </a:r>
                    </a:p>
                  </a:txBody>
                  <a:tcPr marL="54000" marR="36000" marT="18000" marB="18000" anchor="ctr">
                    <a:lnL w="9525" cap="flat" cmpd="sng">
                      <a:solidFill>
                        <a:srgbClr val="000000">
                          <a:alpha val="0"/>
                        </a:srgbClr>
                      </a:solidFill>
                      <a:prstDash val="solid"/>
                      <a:round/>
                      <a:headEnd type="none" w="sm" len="sm"/>
                      <a:tailEnd type="none" w="sm" len="sm"/>
                    </a:lnL>
                    <a:lnR w="12700" cap="flat" cmpd="sng">
                      <a:solidFill>
                        <a:srgbClr val="C8C8C8"/>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lgn="ctr">
                      <a:solidFill>
                        <a:srgbClr val="C8C8C8"/>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252525"/>
                        </a:buClr>
                        <a:buSzPts val="1600"/>
                        <a:buFont typeface="Arial"/>
                        <a:buNone/>
                      </a:pPr>
                      <a:r>
                        <a:rPr sz="1200" b="1">
                          <a:latin typeface="Meiryo UI"/>
                          <a:ea typeface="Meiryo UI"/>
                        </a:rPr>
                        <a:t>要確認</a:t>
                      </a:r>
                      <a:endParaRPr lang="ja-JP" sz="1600" b="1" i="0" u="none" strike="noStrike" cap="none" dirty="0">
                        <a:solidFill>
                          <a:srgbClr val="252525"/>
                        </a:solidFill>
                        <a:latin typeface="Meiryo UI" panose="020B0604030504040204" pitchFamily="50" charset="-128"/>
                        <a:ea typeface="Meiryo UI" panose="020B0604030504040204" pitchFamily="50" charset="-128"/>
                        <a:cs typeface="Arial"/>
                        <a:sym typeface="Arial"/>
                      </a:endParaRPr>
                    </a:p>
                  </a:txBody>
                  <a:tcPr marL="54000" marR="36000" marT="18000" marB="18000" anchor="ctr">
                    <a:lnL w="12700" cap="flat" cmpd="sng">
                      <a:solidFill>
                        <a:srgbClr val="C8C8C8"/>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lgn="ctr">
                      <a:solidFill>
                        <a:srgbClr val="C8C8C8"/>
                      </a:solidFill>
                      <a:prstDash val="solid"/>
                      <a:round/>
                      <a:headEnd type="none" w="sm" len="sm"/>
                      <a:tailEnd type="none" w="sm" len="sm"/>
                    </a:lnB>
                    <a:solidFill>
                      <a:srgbClr val="ECF2D9"/>
                    </a:solidFill>
                  </a:tcPr>
                </a:tc>
                <a:extLst>
                  <a:ext uri="{0D108BD9-81ED-4DB2-BD59-A6C34878D82A}">
                    <a16:rowId xmlns:a16="http://schemas.microsoft.com/office/drawing/2014/main" val="10006"/>
                  </a:ext>
                </a:extLst>
              </a:tr>
              <a:tr h="758952">
                <a:tc>
                  <a:txBody>
                    <a:bodyPr/>
                    <a:lstStyle/>
                    <a:p>
                      <a:pPr marL="0" marR="0" lvl="0" indent="0" algn="ctr" rtl="0">
                        <a:spcBef>
                          <a:spcPts val="0"/>
                        </a:spcBef>
                        <a:spcAft>
                          <a:spcPts val="0"/>
                        </a:spcAft>
                        <a:buNone/>
                      </a:pPr>
                      <a:r>
                        <a:rPr sz="1300" b="1">
                          <a:latin typeface="Meiryo UI"/>
                          <a:ea typeface="Meiryo UI"/>
                        </a:rPr>
                        <a:t>7</a:t>
                      </a:r>
                    </a:p>
                  </a:txBody>
                  <a:tcPr marL="54000" marR="36000" marT="18000" marB="18000" anchor="ctr">
                    <a:lnL w="9525" cap="flat" cmpd="sng">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60000"/>
                        <a:lumOff val="40000"/>
                      </a:schemeClr>
                    </a:solidFill>
                  </a:tcPr>
                </a:tc>
                <a:tc>
                  <a:txBody>
                    <a:bodyPr/>
                    <a:lstStyle/>
                    <a:p>
                      <a:pPr marL="0" marR="0" lvl="0" indent="0" algn="ctr" rtl="0">
                        <a:lnSpc>
                          <a:spcPct val="100000"/>
                        </a:lnSpc>
                        <a:spcBef>
                          <a:spcPts val="0"/>
                        </a:spcBef>
                        <a:spcAft>
                          <a:spcPts val="0"/>
                        </a:spcAft>
                        <a:buClr>
                          <a:schemeClr val="dk1"/>
                        </a:buClr>
                        <a:buSzPts val="1500"/>
                        <a:buFont typeface="Arial"/>
                        <a:buNone/>
                      </a:pPr>
                      <a:r>
                        <a:rPr sz="1100" b="0">
                          <a:latin typeface="Meiryo UI"/>
                          <a:ea typeface="Meiryo UI"/>
                        </a:rPr>
                        <a:t>販管費の変動</a:t>
                      </a:r>
                    </a:p>
                  </a:txBody>
                  <a:tcPr marL="54000" marR="36000" marT="18000" marB="18000" anchor="ctr">
                    <a:lnL w="9525" cap="flat" cmpd="sng" algn="ctr">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20000"/>
                        <a:lumOff val="80000"/>
                      </a:schemeClr>
                    </a:solidFill>
                  </a:tcPr>
                </a:tc>
                <a:tc>
                  <a:txBody>
                    <a:bodyPr/>
                    <a:lstStyle/>
                    <a:p>
                      <a:pPr marL="88900" marR="0" lvl="0" indent="-88900" algn="l" rtl="0">
                        <a:lnSpc>
                          <a:spcPct val="100000"/>
                        </a:lnSpc>
                        <a:spcBef>
                          <a:spcPts val="0"/>
                        </a:spcBef>
                        <a:spcAft>
                          <a:spcPts val="0"/>
                        </a:spcAft>
                        <a:buClr>
                          <a:srgbClr val="66A09A"/>
                        </a:buClr>
                        <a:buSzPts val="1120"/>
                        <a:buFont typeface="Noto Sans Symbols"/>
                        <a:buNone/>
                      </a:pPr>
                      <a:r>
                        <a:rPr sz="900" b="0">
                          <a:latin typeface="Meiryo UI"/>
                          <a:ea typeface="Meiryo UI"/>
                        </a:rPr>
                        <a:t>2025年12月期の賃借料7,869千円（前期2,355千円）、交際接待費6,350千円、旅費交通費11,228千円。増加要因と譲渡後の継続性を確認。</a:t>
                      </a:r>
                    </a:p>
                  </a:txBody>
                  <a:tcPr marL="54000" marR="36000" marT="18000" marB="18000" anchor="ctr">
                    <a:lnL w="9525" cap="flat" cmpd="sng" algn="ctr">
                      <a:solidFill>
                        <a:srgbClr val="000000">
                          <a:alpha val="0"/>
                        </a:srgbClr>
                      </a:solidFill>
                      <a:prstDash val="solid"/>
                      <a:round/>
                      <a:headEnd type="none" w="sm" len="sm"/>
                      <a:tailEnd type="none" w="sm" len="sm"/>
                    </a:lnL>
                    <a:lnR w="12700" cap="flat" cmpd="sng" algn="ctr">
                      <a:solidFill>
                        <a:srgbClr val="C8C8C8"/>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solidFill>
                        <a:srgbClr val="C8C8C8"/>
                      </a:solidFill>
                      <a:prstDash val="solid"/>
                      <a:round/>
                      <a:headEnd type="none" w="sm" len="sm"/>
                      <a:tailEnd type="none" w="sm" len="sm"/>
                    </a:lnB>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
                          <a:srgbClr val="252525"/>
                        </a:buClr>
                        <a:buSzPts val="1600"/>
                        <a:buFont typeface="Arial"/>
                        <a:buNone/>
                        <a:tabLst/>
                        <a:defRPr/>
                      </a:pPr>
                      <a:r>
                        <a:rPr sz="1200" b="1">
                          <a:latin typeface="Meiryo UI"/>
                          <a:ea typeface="Meiryo UI"/>
                        </a:rPr>
                        <a:t>要確認</a:t>
                      </a:r>
                      <a:endParaRPr lang="ja-JP" altLang="en-US" sz="1600" b="1" i="0" u="none" strike="noStrike" cap="none" dirty="0">
                        <a:solidFill>
                          <a:srgbClr val="252525"/>
                        </a:solidFill>
                        <a:latin typeface="Meiryo UI" panose="020B0604030504040204" pitchFamily="50" charset="-128"/>
                        <a:ea typeface="Meiryo UI" panose="020B0604030504040204" pitchFamily="50" charset="-128"/>
                        <a:cs typeface="Arial"/>
                        <a:sym typeface="Arial"/>
                      </a:endParaRPr>
                    </a:p>
                  </a:txBody>
                  <a:tcPr marL="54000" marR="36000" marT="18000" marB="18000" anchor="ctr">
                    <a:lnL w="12700" cap="flat" cmpd="sng" algn="ctr">
                      <a:solidFill>
                        <a:srgbClr val="C8C8C8"/>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solidFill>
                        <a:srgbClr val="C8C8C8"/>
                      </a:solidFill>
                      <a:prstDash val="solid"/>
                      <a:round/>
                      <a:headEnd type="none" w="sm" len="sm"/>
                      <a:tailEnd type="none" w="sm" len="sm"/>
                    </a:lnB>
                    <a:solidFill>
                      <a:srgbClr val="ECF2D9"/>
                    </a:solidFill>
                  </a:tcPr>
                </a:tc>
                <a:extLst>
                  <a:ext uri="{0D108BD9-81ED-4DB2-BD59-A6C34878D82A}">
                    <a16:rowId xmlns:a16="http://schemas.microsoft.com/office/drawing/2014/main" val="259882126"/>
                  </a:ext>
                </a:extLst>
              </a:tr>
            </a:tbl>
          </a:graphicData>
        </a:graphic>
      </p:graphicFrame>
      <p:sp>
        <p:nvSpPr>
          <p:cNvPr id="218" name="Google Shape;218;p4"/>
          <p:cNvSpPr txBox="1"/>
          <p:nvPr/>
        </p:nvSpPr>
        <p:spPr>
          <a:xfrm>
            <a:off x="9450000" y="0"/>
            <a:ext cx="3400000" cy="6858000"/>
          </a:xfrm>
          <a:prstGeom prst="rect">
            <a:avLst/>
          </a:prstGeom>
          <a:solidFill>
            <a:srgbClr val="EEF7CD"/>
          </a:solidFill>
          <a:ln>
            <a:noFill/>
          </a:ln>
        </p:spPr>
        <p:txBody>
          <a:bodyPr spcFirstLastPara="1" wrap="square" lIns="72000" tIns="36000" rIns="72000" bIns="36000" anchor="ctr" anchorCtr="0">
            <a:noAutofit/>
          </a:bodyPr>
          <a:lstStyle/>
          <a:p>
            <a:pPr marL="0" marR="0" lvl="0" indent="0" algn="l" rtl="0">
              <a:lnSpc>
                <a:spcPct val="110000"/>
              </a:lnSpc>
              <a:spcBef>
                <a:spcPts val="0"/>
              </a:spcBef>
              <a:spcAft>
                <a:spcPts val="0"/>
              </a:spcAft>
              <a:buNone/>
            </a:pPr>
            <a:r>
              <a:rPr sz="900" b="0">
                <a:latin typeface="Meiryo UI"/>
                <a:ea typeface="Meiryo UI"/>
              </a:rPr>
              <a:t>【社内メモ｜本資料作成時の留意事項】</a:t>
            </a:r>
            <a:endParaRPr/>
          </a:p>
          <a:p>
            <a:pPr algn="l">
              <a:lnSpc>
                <a:spcPct val="110000"/>
              </a:lnSpc>
            </a:pPr>
            <a:r>
              <a:rPr sz="900" b="0">
                <a:latin typeface="Meiryo UI"/>
                <a:ea typeface="Meiryo UI"/>
              </a:rPr>
              <a:t>※本テキストボックスはスライド範囲外に配置しており、スライドショー・PDF出力には表示されません。買手候補への提示前に内容をご確認ください。</a:t>
            </a:r>
          </a:p>
          <a:p>
            <a:pPr algn="l">
              <a:lnSpc>
                <a:spcPct val="110000"/>
              </a:lnSpc>
            </a:pPr>
            <a:r>
              <a:rPr sz="900" b="0">
                <a:latin typeface="Meiryo UI"/>
                <a:ea typeface="Meiryo UI"/>
              </a:rPr>
              <a:t>　</a:t>
            </a:r>
          </a:p>
          <a:p>
            <a:pPr algn="l">
              <a:lnSpc>
                <a:spcPct val="110000"/>
              </a:lnSpc>
            </a:pPr>
            <a:r>
              <a:rPr sz="900" b="0">
                <a:latin typeface="Meiryo UI"/>
                <a:ea typeface="Meiryo UI"/>
              </a:rPr>
              <a:t>１．基準EBITDA 18,760千円は株式価値試算報告書（2026年4月17日付）の記載値。修正後EBITDA（14,806／14,410／22,952）を1:2:3で加重平均すると18,747千円となり13千円の差が生じるため、案件マスターで算定根拠を確定すること。</a:t>
            </a:r>
          </a:p>
          <a:p>
            <a:pPr algn="l">
              <a:lnSpc>
                <a:spcPct val="110000"/>
              </a:lnSpc>
            </a:pPr>
            <a:r>
              <a:rPr sz="900" b="0">
                <a:latin typeface="Meiryo UI"/>
                <a:ea typeface="Meiryo UI"/>
              </a:rPr>
              <a:t>　</a:t>
            </a:r>
          </a:p>
          <a:p>
            <a:pPr algn="l">
              <a:lnSpc>
                <a:spcPct val="110000"/>
              </a:lnSpc>
            </a:pPr>
            <a:r>
              <a:rPr sz="900" b="0">
                <a:latin typeface="Meiryo UI"/>
                <a:ea typeface="Meiryo UI"/>
              </a:rPr>
              <a:t>２．「スキーム比較のご提案」（2026年5月29日付）では基準EBITDA 18,512千円・倍率4〜6倍（EV 74,046〜111,069千円）と記載されており、株式価値試算報告書（18,760千円・3〜5倍）と数値・倍率がいずれも異なる。買手候補ごとに提示数値が食い違わないよう、提示前に統一すること。本資料は株式価値試算報告書の数値に統一している。</a:t>
            </a:r>
          </a:p>
          <a:p>
            <a:pPr algn="l">
              <a:lnSpc>
                <a:spcPct val="110000"/>
              </a:lnSpc>
            </a:pPr>
            <a:r>
              <a:rPr sz="900" b="0">
                <a:latin typeface="Meiryo UI"/>
                <a:ea typeface="Meiryo UI"/>
              </a:rPr>
              <a:t>　</a:t>
            </a:r>
          </a:p>
          <a:p>
            <a:pPr algn="l">
              <a:lnSpc>
                <a:spcPct val="110000"/>
              </a:lnSpc>
            </a:pPr>
            <a:r>
              <a:rPr sz="900" b="0">
                <a:latin typeface="Meiryo UI"/>
                <a:ea typeface="Meiryo UI"/>
              </a:rPr>
              <a:t>３．株式価値試算報告書の「販管費及び一般管理費の修正」の修正後合計（2025年12月期 47,260千円）と、PLハイライトから逆算した販管費（44,780千円＝売上総利益67,190－営業利益22,410）に2,480千円の差異がある。案件マスターで整合を確認すること。</a:t>
            </a:r>
          </a:p>
          <a:p>
            <a:pPr algn="l">
              <a:lnSpc>
                <a:spcPct val="110000"/>
              </a:lnSpc>
            </a:pPr>
            <a:r>
              <a:rPr sz="900" b="0">
                <a:latin typeface="Meiryo UI"/>
                <a:ea typeface="Meiryo UI"/>
              </a:rPr>
              <a:t>　</a:t>
            </a:r>
          </a:p>
          <a:p>
            <a:pPr algn="l">
              <a:lnSpc>
                <a:spcPct val="110000"/>
              </a:lnSpc>
            </a:pPr>
            <a:r>
              <a:rPr sz="900" b="0">
                <a:latin typeface="Meiryo UI"/>
                <a:ea typeface="Meiryo UI"/>
              </a:rPr>
              <a:t>４．企業概要書の売上高（2024年12月期252,085／2025年12月期375,521千円）と分析資料の売上高（201,668／356,909千円）が異なる。前者は軽配送事業を含む全社ベース、後者はフォワーダー事業単体ベースと理解しているが、2023年12月期のみ両者が一致（282,040千円）しており、同期の軽配送事業売上の除外が未反映の可能性がある。要検証。</a:t>
            </a:r>
          </a:p>
          <a:p>
            <a:pPr algn="l">
              <a:lnSpc>
                <a:spcPct val="110000"/>
              </a:lnSpc>
            </a:pPr>
            <a:r>
              <a:rPr sz="900" b="0">
                <a:latin typeface="Meiryo UI"/>
                <a:ea typeface="Meiryo UI"/>
              </a:rPr>
              <a:t>　</a:t>
            </a:r>
          </a:p>
          <a:p>
            <a:pPr algn="l">
              <a:lnSpc>
                <a:spcPct val="110000"/>
              </a:lnSpc>
            </a:pPr>
            <a:r>
              <a:rPr sz="900" b="0">
                <a:latin typeface="Meiryo UI"/>
                <a:ea typeface="Meiryo UI"/>
              </a:rPr>
              <a:t>５．P10の「＋6,920千円（軽配送事業の切離し・販管費の部門別賦課）」は、企業概要書の調整後EBITDA 9,922千円と本資料の22,952千円の差額13,030千円から役員報酬差6,110千円を控除した残差として算出したもの。内訳を案件マスターで分解し、確定させること。</a:t>
            </a:r>
          </a:p>
          <a:p>
            <a:pPr algn="l">
              <a:lnSpc>
                <a:spcPct val="110000"/>
              </a:lnSpc>
            </a:pPr>
            <a:r>
              <a:rPr sz="900" b="0">
                <a:latin typeface="Meiryo UI"/>
                <a:ea typeface="Meiryo UI"/>
              </a:rPr>
              <a:t>　</a:t>
            </a:r>
          </a:p>
          <a:p>
            <a:pPr algn="l">
              <a:lnSpc>
                <a:spcPct val="110000"/>
              </a:lnSpc>
            </a:pPr>
            <a:r>
              <a:rPr sz="900" b="0">
                <a:latin typeface="Meiryo UI"/>
                <a:ea typeface="Meiryo UI"/>
              </a:rPr>
              <a:t>６．弊社成功報酬について、企業概要書の報酬体系では「時価総資産（営業権含む）2億円以下の部分＝2,000万円、最低額1,500万円」、「スキーム比較のご提案」では「アドバイザリー報酬10,000千円」と記載が異なる。提示前の統一が必要なため、本資料では金額を記載せず「別途ご提示」としている。</a:t>
            </a:r>
          </a:p>
          <a:p>
            <a:pPr algn="l">
              <a:lnSpc>
                <a:spcPct val="110000"/>
              </a:lnSpc>
            </a:pPr>
            <a:r>
              <a:rPr sz="900" b="0">
                <a:latin typeface="Meiryo UI"/>
                <a:ea typeface="Meiryo UI"/>
              </a:rPr>
              <a:t>　</a:t>
            </a:r>
          </a:p>
          <a:p>
            <a:pPr algn="l">
              <a:lnSpc>
                <a:spcPct val="110000"/>
              </a:lnSpc>
            </a:pPr>
            <a:r>
              <a:rPr sz="900" b="0">
                <a:latin typeface="Meiryo UI"/>
                <a:ea typeface="Meiryo UI"/>
              </a:rPr>
              <a:t>７．他の買手候補（ジャパン・バン・ラインズ株式会社）への提示資料の存在および提示条件については、本資料および面談において一切言及しないこと。</a:t>
            </a:r>
          </a:p>
          <a:p>
            <a:pPr algn="l">
              <a:lnSpc>
                <a:spcPct val="110000"/>
              </a:lnSpc>
            </a:pPr>
            <a:r>
              <a:rPr sz="900" b="0">
                <a:latin typeface="Meiryo UI"/>
                <a:ea typeface="Meiryo UI"/>
              </a:rPr>
              <a:t>　</a:t>
            </a:r>
          </a:p>
          <a:p>
            <a:pPr algn="l">
              <a:lnSpc>
                <a:spcPct val="110000"/>
              </a:lnSpc>
            </a:pPr>
            <a:r>
              <a:rPr sz="900" b="0">
                <a:latin typeface="Meiryo UI"/>
                <a:ea typeface="Meiryo UI"/>
              </a:rPr>
              <a:t>８．「2026年4月中に代表保有の休眠会社へ軽配送事業を切り分ける想定」（企業概要書P6）は同年4月時点の記載。本日（2026年8月16日）時点の実行状況を売主に確認のうえ、面談前にP7・P8を更新すること。</a:t>
            </a:r>
          </a:p>
          <a:p>
            <a:pPr algn="l">
              <a:lnSpc>
                <a:spcPct val="110000"/>
              </a:lnSpc>
            </a:pPr>
            <a:r>
              <a:rPr sz="900" b="0">
                <a:latin typeface="Meiryo UI"/>
                <a:ea typeface="Meiryo UI"/>
              </a:rPr>
              <a:t>　</a:t>
            </a:r>
          </a:p>
          <a:p>
            <a:pPr algn="l">
              <a:lnSpc>
                <a:spcPct val="110000"/>
              </a:lnSpc>
            </a:pPr>
            <a:r>
              <a:rPr sz="900" b="0">
                <a:latin typeface="Meiryo UI"/>
                <a:ea typeface="Meiryo UI"/>
              </a:rPr>
              <a:t>９．役員借入金 約10,000千円の貸借対照表上の計上区分が未確定。短期借入金15,321千円に含まれる場合、P6の手出し資金表（③と⑤）で二重計上となるため要修正。</a:t>
            </a:r>
          </a:p>
          <a:p>
            <a:pPr algn="l">
              <a:lnSpc>
                <a:spcPct val="110000"/>
              </a:lnSpc>
            </a:pPr>
            <a:r>
              <a:rPr sz="900" b="0">
                <a:latin typeface="Meiryo UI"/>
                <a:ea typeface="Meiryo UI"/>
              </a:rPr>
              <a:t>　</a:t>
            </a:r>
          </a:p>
          <a:p>
            <a:pPr algn="l">
              <a:lnSpc>
                <a:spcPct val="110000"/>
              </a:lnSpc>
            </a:pPr>
            <a:r>
              <a:rPr sz="900" b="0">
                <a:latin typeface="Meiryo UI"/>
                <a:ea typeface="Meiryo UI"/>
              </a:rPr>
              <a:t>10．第一種貨物利用運送事業（外航海運）の事業譲渡・会社分割時の承継手続については、所管官庁（国土交通省）への確認が必要。本資料では「要確認」としている。</a:t>
            </a:r>
          </a:p>
          <a:p>
            <a:pPr algn="l">
              <a:lnSpc>
                <a:spcPct val="110000"/>
              </a:lnSpc>
            </a:pPr>
            <a:r>
              <a:rPr sz="900" b="0">
                <a:latin typeface="Meiryo UI"/>
                <a:ea typeface="Meiryo UI"/>
              </a:rPr>
              <a:t>　</a:t>
            </a:r>
          </a:p>
          <a:p>
            <a:pPr algn="l">
              <a:lnSpc>
                <a:spcPct val="110000"/>
              </a:lnSpc>
            </a:pPr>
            <a:r>
              <a:rPr sz="900" b="0">
                <a:latin typeface="Meiryo UI"/>
                <a:ea typeface="Meiryo UI"/>
              </a:rPr>
              <a:t>11．発行済株式数は企業概要書内で「3,000株」（基本情報）と「300株」（株主及び役員）の2通りの記載。登記簿で確定のうえ、企業概要書も修正すること。</a:t>
            </a:r>
          </a:p>
          <a:p>
            <a:pPr algn="l">
              <a:lnSpc>
                <a:spcPct val="110000"/>
              </a:lnSpc>
            </a:pPr>
            <a:r>
              <a:rPr sz="900" b="0">
                <a:latin typeface="Meiryo UI"/>
                <a:ea typeface="Meiryo UI"/>
              </a:rPr>
              <a:t>　</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33"/>
        <p:cNvGrpSpPr/>
        <p:nvPr/>
      </p:nvGrpSpPr>
      <p:grpSpPr>
        <a:xfrm>
          <a:off x="0" y="0"/>
          <a:ext cx="0" cy="0"/>
          <a:chOff x="0" y="0"/>
          <a:chExt cx="0" cy="0"/>
        </a:xfrm>
      </p:grpSpPr>
      <p:sp>
        <p:nvSpPr>
          <p:cNvPr id="234" name="Google Shape;234;p6"/>
          <p:cNvSpPr txBox="1">
            <a:spLocks noGrp="1"/>
          </p:cNvSpPr>
          <p:nvPr>
            <p:ph type="title"/>
          </p:nvPr>
        </p:nvSpPr>
        <p:spPr>
          <a:xfrm>
            <a:off x="395536" y="332655"/>
            <a:ext cx="6696744" cy="288033"/>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sz="1400" b="1">
                <a:solidFill>
                  <a:srgbClr val="5A5A5A"/>
                </a:solidFill>
                <a:latin typeface="Meiryo UI"/>
                <a:ea typeface="Meiryo UI"/>
              </a:rPr>
              <a:t>リスク事項に関する対応状況</a:t>
            </a:r>
            <a:endParaRPr>
              <a:latin typeface="Meiryo UI" panose="020B0604030504040204" pitchFamily="50" charset="-128"/>
              <a:ea typeface="Meiryo UI" panose="020B0604030504040204" pitchFamily="50" charset="-128"/>
            </a:endParaRPr>
          </a:p>
        </p:txBody>
      </p:sp>
      <p:sp>
        <p:nvSpPr>
          <p:cNvPr id="235" name="Google Shape;235;p6"/>
          <p:cNvSpPr txBox="1"/>
          <p:nvPr/>
        </p:nvSpPr>
        <p:spPr>
          <a:xfrm>
            <a:off x="323528" y="116632"/>
            <a:ext cx="2376264" cy="188640"/>
          </a:xfrm>
          <a:prstGeom prst="rect">
            <a:avLst/>
          </a:prstGeom>
          <a:noFill/>
          <a:ln>
            <a:noFill/>
          </a:ln>
        </p:spPr>
        <p:txBody>
          <a:bodyPr spcFirstLastPara="1" wrap="square" lIns="36000" tIns="0" rIns="0" bIns="0" anchor="ctr" anchorCtr="0">
            <a:noAutofit/>
          </a:bodyPr>
          <a:lstStyle/>
          <a:p>
            <a:pPr marL="0" marR="0" lvl="0" indent="0" algn="l" rtl="0">
              <a:lnSpc>
                <a:spcPct val="100000"/>
              </a:lnSpc>
              <a:spcBef>
                <a:spcPts val="0"/>
              </a:spcBef>
              <a:spcAft>
                <a:spcPts val="0"/>
              </a:spcAft>
              <a:buClr>
                <a:srgbClr val="5A5A5A"/>
              </a:buClr>
              <a:buSzPts val="1000"/>
              <a:buFont typeface="Arial"/>
              <a:buNone/>
            </a:pPr>
            <a:r>
              <a:rPr sz="1000" b="0">
                <a:solidFill>
                  <a:srgbClr val="5A5A5A"/>
                </a:solidFill>
                <a:latin typeface="Meiryo UI"/>
                <a:ea typeface="Meiryo UI"/>
              </a:rPr>
              <a:t>本件の論点整理</a:t>
            </a:r>
            <a:endParaRPr dirty="0">
              <a:latin typeface="Meiryo UI" panose="020B0604030504040204" pitchFamily="50" charset="-128"/>
              <a:ea typeface="Meiryo UI" panose="020B0604030504040204" pitchFamily="50" charset="-128"/>
            </a:endParaRPr>
          </a:p>
        </p:txBody>
      </p:sp>
      <p:sp>
        <p:nvSpPr>
          <p:cNvPr id="236" name="Google Shape;236;p6"/>
          <p:cNvSpPr/>
          <p:nvPr/>
        </p:nvSpPr>
        <p:spPr>
          <a:xfrm>
            <a:off x="0" y="116632"/>
            <a:ext cx="323528" cy="180000"/>
          </a:xfrm>
          <a:prstGeom prst="parallelogram">
            <a:avLst>
              <a:gd name="adj" fmla="val 32938"/>
            </a:avLst>
          </a:prstGeom>
          <a:solidFill>
            <a:srgbClr val="66A09A"/>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Arial"/>
              <a:buNone/>
            </a:pPr>
            <a:r>
              <a:rPr sz="1000" b="0">
                <a:solidFill>
                  <a:srgbClr val="FFFFFF"/>
                </a:solidFill>
                <a:latin typeface="Meiryo UI"/>
                <a:ea typeface="Meiryo UI"/>
              </a:rPr>
              <a:t>1</a:t>
            </a:r>
            <a:endParaRPr sz="1000" b="0" i="0" u="none" strike="noStrike" cap="none">
              <a:solidFill>
                <a:srgbClr val="FFFFFF"/>
              </a:solidFill>
              <a:latin typeface="Arial"/>
              <a:ea typeface="Arial"/>
              <a:cs typeface="Arial"/>
              <a:sym typeface="Arial"/>
            </a:endParaRPr>
          </a:p>
        </p:txBody>
      </p:sp>
      <p:graphicFrame>
        <p:nvGraphicFramePr>
          <p:cNvPr id="237" name="Google Shape;237;p6"/>
          <p:cNvGraphicFramePr/>
          <p:nvPr>
            <p:extLst>
              <p:ext uri="{D42A27DB-BD31-4B8C-83A1-F6EECF244321}">
                <p14:modId xmlns:p14="http://schemas.microsoft.com/office/powerpoint/2010/main" val="807980537"/>
              </p:ext>
            </p:extLst>
          </p:nvPr>
        </p:nvGraphicFramePr>
        <p:xfrm>
          <a:off x="398711" y="838950"/>
          <a:ext cx="8348471" cy="5650992"/>
        </p:xfrm>
        <a:graphic>
          <a:graphicData uri="http://schemas.openxmlformats.org/drawingml/2006/table">
            <a:tbl>
              <a:tblPr>
                <a:noFill/>
                <a:tableStyleId>{FA6B9113-0DA6-4419-ABC6-697280B0F4CE}</a:tableStyleId>
              </a:tblPr>
              <a:tblGrid>
                <a:gridCol w="429768">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gridCol w="5385816">
                  <a:extLst>
                    <a:ext uri="{9D8B030D-6E8A-4147-A177-3AD203B41FA5}">
                      <a16:colId xmlns:a16="http://schemas.microsoft.com/office/drawing/2014/main" val="20002"/>
                    </a:ext>
                  </a:extLst>
                </a:gridCol>
                <a:gridCol w="932688">
                  <a:extLst>
                    <a:ext uri="{9D8B030D-6E8A-4147-A177-3AD203B41FA5}">
                      <a16:colId xmlns:a16="http://schemas.microsoft.com/office/drawing/2014/main" val="20003"/>
                    </a:ext>
                  </a:extLst>
                </a:gridCol>
              </a:tblGrid>
              <a:tr h="347472">
                <a:tc>
                  <a:txBody>
                    <a:bodyPr/>
                    <a:lstStyle/>
                    <a:p>
                      <a:pPr marL="0" marR="0" lvl="0" indent="0" algn="ctr" rtl="0">
                        <a:spcBef>
                          <a:spcPts val="0"/>
                        </a:spcBef>
                        <a:spcAft>
                          <a:spcPts val="0"/>
                        </a:spcAft>
                        <a:buNone/>
                      </a:pPr>
                      <a:r>
                        <a:rPr sz="1100" b="1">
                          <a:latin typeface="Meiryo UI"/>
                          <a:ea typeface="Meiryo UI"/>
                        </a:rPr>
                        <a:t>No.</a:t>
                      </a:r>
                      <a:endParaRPr sz="1400" b="1">
                        <a:solidFill>
                          <a:schemeClr val="lt1"/>
                        </a:solidFill>
                        <a:latin typeface="Meiryo UI" panose="020B0604030504040204" pitchFamily="50" charset="-128"/>
                        <a:ea typeface="Meiryo UI" panose="020B0604030504040204" pitchFamily="50" charset="-128"/>
                        <a:cs typeface="Arial"/>
                        <a:sym typeface="Arial"/>
                      </a:endParaRPr>
                    </a:p>
                  </a:txBody>
                  <a:tcPr marL="18000" marR="36000" marT="18000" marB="18000" anchor="ctr">
                    <a:lnL w="9525" cap="flat" cmpd="sng">
                      <a:solidFill>
                        <a:srgbClr val="000000">
                          <a:alpha val="0"/>
                        </a:srgbClr>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accent1">
                        <a:lumMod val="50000"/>
                      </a:schemeClr>
                    </a:solidFill>
                  </a:tcPr>
                </a:tc>
                <a:tc>
                  <a:txBody>
                    <a:bodyPr/>
                    <a:lstStyle/>
                    <a:p>
                      <a:pPr marL="0" marR="0" lvl="0" indent="0" algn="ctr" rtl="0">
                        <a:spcBef>
                          <a:spcPts val="0"/>
                        </a:spcBef>
                        <a:spcAft>
                          <a:spcPts val="0"/>
                        </a:spcAft>
                        <a:buNone/>
                      </a:pPr>
                      <a:r>
                        <a:rPr sz="1100" b="1">
                          <a:latin typeface="Meiryo UI"/>
                          <a:ea typeface="Meiryo UI"/>
                        </a:rPr>
                        <a:t>リスク事項</a:t>
                      </a:r>
                      <a:endParaRPr dirty="0">
                        <a:latin typeface="Meiryo UI" panose="020B0604030504040204" pitchFamily="50" charset="-128"/>
                        <a:ea typeface="Meiryo UI" panose="020B0604030504040204" pitchFamily="50" charset="-128"/>
                      </a:endParaRPr>
                    </a:p>
                  </a:txBody>
                  <a:tcPr marL="18000" marR="36000" marT="18000" marB="1800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accent1">
                        <a:lumMod val="50000"/>
                      </a:schemeClr>
                    </a:solidFill>
                  </a:tcPr>
                </a:tc>
                <a:tc>
                  <a:txBody>
                    <a:bodyPr/>
                    <a:lstStyle/>
                    <a:p>
                      <a:pPr marL="0" marR="0" lvl="0" indent="0" algn="ctr" rtl="0">
                        <a:spcBef>
                          <a:spcPts val="0"/>
                        </a:spcBef>
                        <a:spcAft>
                          <a:spcPts val="0"/>
                        </a:spcAft>
                        <a:buNone/>
                      </a:pPr>
                      <a:r>
                        <a:rPr sz="1100" b="1">
                          <a:latin typeface="Meiryo UI"/>
                          <a:ea typeface="Meiryo UI"/>
                        </a:rPr>
                        <a:t>内容</a:t>
                      </a:r>
                      <a:endParaRPr>
                        <a:latin typeface="Meiryo UI" panose="020B0604030504040204" pitchFamily="50" charset="-128"/>
                        <a:ea typeface="Meiryo UI" panose="020B0604030504040204" pitchFamily="50" charset="-128"/>
                      </a:endParaRPr>
                    </a:p>
                  </a:txBody>
                  <a:tcPr marL="18000" marR="36000" marT="18000" marB="1800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accent1">
                        <a:lumMod val="50000"/>
                      </a:schemeClr>
                    </a:solidFill>
                  </a:tcPr>
                </a:tc>
                <a:tc>
                  <a:txBody>
                    <a:bodyPr/>
                    <a:lstStyle/>
                    <a:p>
                      <a:pPr marL="0" marR="0" lvl="0" indent="0" algn="ctr" rtl="0">
                        <a:spcBef>
                          <a:spcPts val="0"/>
                        </a:spcBef>
                        <a:spcAft>
                          <a:spcPts val="0"/>
                        </a:spcAft>
                        <a:buNone/>
                      </a:pPr>
                      <a:r>
                        <a:rPr sz="1100" b="1">
                          <a:latin typeface="Meiryo UI"/>
                          <a:ea typeface="Meiryo UI"/>
                        </a:rPr>
                        <a:t>状況</a:t>
                      </a:r>
                      <a:endParaRPr dirty="0">
                        <a:latin typeface="Meiryo UI" panose="020B0604030504040204" pitchFamily="50" charset="-128"/>
                        <a:ea typeface="Meiryo UI" panose="020B0604030504040204" pitchFamily="50" charset="-128"/>
                      </a:endParaRPr>
                    </a:p>
                  </a:txBody>
                  <a:tcPr marL="18000" marR="36000" marT="18000" marB="18000" anchor="ctr">
                    <a:lnL w="9525" cap="flat" cmpd="sng">
                      <a:solidFill>
                        <a:schemeClr val="lt1"/>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accent1">
                        <a:lumMod val="50000"/>
                      </a:schemeClr>
                    </a:solidFill>
                  </a:tcPr>
                </a:tc>
                <a:extLst>
                  <a:ext uri="{0D108BD9-81ED-4DB2-BD59-A6C34878D82A}">
                    <a16:rowId xmlns:a16="http://schemas.microsoft.com/office/drawing/2014/main" val="10000"/>
                  </a:ext>
                </a:extLst>
              </a:tr>
              <a:tr h="1060704">
                <a:tc>
                  <a:txBody>
                    <a:bodyPr/>
                    <a:lstStyle/>
                    <a:p>
                      <a:pPr marL="0" marR="0" lvl="0" indent="0" algn="ctr" rtl="0">
                        <a:lnSpc>
                          <a:spcPct val="100000"/>
                        </a:lnSpc>
                        <a:spcBef>
                          <a:spcPts val="0"/>
                        </a:spcBef>
                        <a:spcAft>
                          <a:spcPts val="0"/>
                        </a:spcAft>
                        <a:buClr>
                          <a:schemeClr val="dk1"/>
                        </a:buClr>
                        <a:buSzPts val="1500"/>
                        <a:buFont typeface="Arial"/>
                        <a:buNone/>
                      </a:pPr>
                      <a:r>
                        <a:rPr sz="1300" b="1">
                          <a:latin typeface="Meiryo UI"/>
                          <a:ea typeface="Meiryo UI"/>
                        </a:rPr>
                        <a:t>1</a:t>
                      </a:r>
                    </a:p>
                  </a:txBody>
                  <a:tcPr marL="54000" marR="36000" marT="18000" marB="18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60000"/>
                        <a:lumOff val="40000"/>
                      </a:schemeClr>
                    </a:solidFill>
                  </a:tcPr>
                </a:tc>
                <a:tc>
                  <a:txBody>
                    <a:bodyPr/>
                    <a:lstStyle/>
                    <a:p>
                      <a:pPr marL="0" marR="0" lvl="0" indent="0" algn="ctr" rtl="0">
                        <a:lnSpc>
                          <a:spcPct val="100000"/>
                        </a:lnSpc>
                        <a:spcBef>
                          <a:spcPts val="0"/>
                        </a:spcBef>
                        <a:spcAft>
                          <a:spcPts val="0"/>
                        </a:spcAft>
                        <a:buClr>
                          <a:schemeClr val="dk1"/>
                        </a:buClr>
                        <a:buSzPts val="1500"/>
                        <a:buFont typeface="Arial"/>
                        <a:buNone/>
                      </a:pPr>
                      <a:r>
                        <a:rPr sz="1100" b="0">
                          <a:latin typeface="Meiryo UI"/>
                          <a:ea typeface="Meiryo UI"/>
                        </a:rPr>
                        <a:t>収益性の水準</a:t>
                      </a:r>
                    </a:p>
                  </a:txBody>
                  <a:tcPr marL="54000" marR="36000" marT="18000" marB="18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20000"/>
                        <a:lumOff val="80000"/>
                      </a:schemeClr>
                    </a:solidFill>
                  </a:tcPr>
                </a:tc>
                <a:tc>
                  <a:txBody>
                    <a:bodyPr/>
                    <a:lstStyle/>
                    <a:p>
                      <a:pPr marL="139700" marR="0" lvl="0" indent="-139700" algn="l" rtl="0">
                        <a:lnSpc>
                          <a:spcPct val="100000"/>
                        </a:lnSpc>
                        <a:spcBef>
                          <a:spcPts val="0"/>
                        </a:spcBef>
                        <a:spcAft>
                          <a:spcPts val="0"/>
                        </a:spcAft>
                        <a:buClr>
                          <a:srgbClr val="66A09A"/>
                        </a:buClr>
                        <a:buSzPts val="1120"/>
                        <a:buFont typeface="Noto Sans Symbols"/>
                        <a:buNone/>
                      </a:pPr>
                      <a:r>
                        <a:rPr sz="900" b="0">
                          <a:latin typeface="Meiryo UI"/>
                          <a:ea typeface="Meiryo UI"/>
                        </a:rPr>
                        <a:t>帳簿ベースの営業利益は3,784→2,666→3,436千円と、売上規模（2〜3億円）に対して薄い水準。修正後EBITDA（22,952千円）は正常収益力を示すものであり、譲渡後に実現するかは費用削減の可能性の検証が必要。</a:t>
                      </a:r>
                    </a:p>
                  </a:txBody>
                  <a:tcPr marL="54000" marR="36000" marT="18000" marB="18000" anchor="ctr">
                    <a:lnL w="9525" cap="flat" cmpd="sng">
                      <a:solidFill>
                        <a:srgbClr val="000000">
                          <a:alpha val="0"/>
                        </a:srgbClr>
                      </a:solidFill>
                      <a:prstDash val="solid"/>
                      <a:round/>
                      <a:headEnd type="none" w="sm" len="sm"/>
                      <a:tailEnd type="none" w="sm" len="sm"/>
                    </a:lnL>
                    <a:lnR w="12700" cap="flat" cmpd="sng">
                      <a:solidFill>
                        <a:srgbClr val="C8C8C8"/>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rgbClr val="C8C8C8"/>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252525"/>
                        </a:buClr>
                        <a:buSzPts val="1600"/>
                        <a:buFont typeface="Arial"/>
                        <a:buNone/>
                      </a:pPr>
                      <a:r>
                        <a:rPr sz="1200" b="1">
                          <a:latin typeface="Meiryo UI"/>
                          <a:ea typeface="Meiryo UI"/>
                        </a:rPr>
                        <a:t>要確認</a:t>
                      </a:r>
                    </a:p>
                  </a:txBody>
                  <a:tcPr marL="54000" marR="36000" marT="18000" marB="18000" anchor="ctr">
                    <a:lnL w="12700" cap="flat" cmpd="sng">
                      <a:solidFill>
                        <a:srgbClr val="C8C8C8"/>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rgbClr val="C8C8C8"/>
                      </a:solidFill>
                      <a:prstDash val="solid"/>
                      <a:round/>
                      <a:headEnd type="none" w="sm" len="sm"/>
                      <a:tailEnd type="none" w="sm" len="sm"/>
                    </a:lnB>
                    <a:solidFill>
                      <a:srgbClr val="ECF2D9"/>
                    </a:solidFill>
                  </a:tcPr>
                </a:tc>
                <a:extLst>
                  <a:ext uri="{0D108BD9-81ED-4DB2-BD59-A6C34878D82A}">
                    <a16:rowId xmlns:a16="http://schemas.microsoft.com/office/drawing/2014/main" val="10001"/>
                  </a:ext>
                </a:extLst>
              </a:tr>
              <a:tr h="1060704">
                <a:tc>
                  <a:txBody>
                    <a:bodyPr/>
                    <a:lstStyle/>
                    <a:p>
                      <a:pPr marL="0" marR="0" lvl="0" indent="0" algn="ctr" rtl="0">
                        <a:spcBef>
                          <a:spcPts val="0"/>
                        </a:spcBef>
                        <a:spcAft>
                          <a:spcPts val="0"/>
                        </a:spcAft>
                        <a:buNone/>
                      </a:pPr>
                      <a:r>
                        <a:rPr sz="1300" b="1">
                          <a:latin typeface="Meiryo UI"/>
                          <a:ea typeface="Meiryo UI"/>
                        </a:rPr>
                        <a:t>2</a:t>
                      </a:r>
                    </a:p>
                  </a:txBody>
                  <a:tcPr marL="54000" marR="36000" marT="18000" marB="18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60000"/>
                        <a:lumOff val="40000"/>
                      </a:schemeClr>
                    </a:solidFill>
                  </a:tcPr>
                </a:tc>
                <a:tc>
                  <a:txBody>
                    <a:bodyPr/>
                    <a:lstStyle/>
                    <a:p>
                      <a:pPr marL="0" marR="0" lvl="0" indent="0" algn="ctr" rtl="0">
                        <a:spcBef>
                          <a:spcPts val="0"/>
                        </a:spcBef>
                        <a:spcAft>
                          <a:spcPts val="0"/>
                        </a:spcAft>
                        <a:buNone/>
                      </a:pPr>
                      <a:r>
                        <a:rPr sz="1100" b="0">
                          <a:latin typeface="Meiryo UI"/>
                          <a:ea typeface="Meiryo UI"/>
                        </a:rPr>
                        <a:t>財務体質</a:t>
                      </a:r>
                    </a:p>
                  </a:txBody>
                  <a:tcPr marL="54000" marR="36000" marT="18000" marB="18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20000"/>
                        <a:lumOff val="80000"/>
                      </a:schemeClr>
                    </a:solidFill>
                  </a:tcPr>
                </a:tc>
                <a:tc>
                  <a:txBody>
                    <a:bodyPr/>
                    <a:lstStyle/>
                    <a:p>
                      <a:pPr marL="139700" marR="0" lvl="0" indent="-139700" algn="l" rtl="0">
                        <a:lnSpc>
                          <a:spcPct val="100000"/>
                        </a:lnSpc>
                        <a:spcBef>
                          <a:spcPts val="0"/>
                        </a:spcBef>
                        <a:spcAft>
                          <a:spcPts val="0"/>
                        </a:spcAft>
                        <a:buClr>
                          <a:srgbClr val="66A09A"/>
                        </a:buClr>
                        <a:buSzPts val="1120"/>
                        <a:buFont typeface="Noto Sans Symbols"/>
                        <a:buNone/>
                      </a:pPr>
                      <a:r>
                        <a:rPr sz="900" b="0">
                          <a:latin typeface="Meiryo UI"/>
                          <a:ea typeface="Meiryo UI"/>
                        </a:rPr>
                        <a:t>純資産5,896千円に対し有利子負債156,317千円。運転資本の増加を借入で賄っている構造であり、譲受後の資金繰りおよび追加調達の要否を確認。</a:t>
                      </a:r>
                    </a:p>
                  </a:txBody>
                  <a:tcPr marL="54000" marR="36000" marT="18000" marB="18000" anchor="ctr">
                    <a:lnL w="9525" cap="flat" cmpd="sng">
                      <a:solidFill>
                        <a:srgbClr val="000000">
                          <a:alpha val="0"/>
                        </a:srgbClr>
                      </a:solidFill>
                      <a:prstDash val="solid"/>
                      <a:round/>
                      <a:headEnd type="none" w="sm" len="sm"/>
                      <a:tailEnd type="none" w="sm" len="sm"/>
                    </a:lnL>
                    <a:lnR w="12700" cap="flat" cmpd="sng">
                      <a:solidFill>
                        <a:srgbClr val="C8C8C8"/>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solidFill>
                        <a:srgbClr val="C8C8C8"/>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252525"/>
                        </a:buClr>
                        <a:buSzPts val="1600"/>
                        <a:buFont typeface="Arial"/>
                        <a:buNone/>
                      </a:pPr>
                      <a:r>
                        <a:rPr sz="1200" b="1">
                          <a:latin typeface="Meiryo UI"/>
                          <a:ea typeface="Meiryo UI"/>
                        </a:rPr>
                        <a:t>要確認</a:t>
                      </a:r>
                    </a:p>
                  </a:txBody>
                  <a:tcPr marL="54000" marR="36000" marT="18000" marB="18000" anchor="ctr">
                    <a:lnL w="12700" cap="flat" cmpd="sng">
                      <a:solidFill>
                        <a:srgbClr val="C8C8C8"/>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solidFill>
                        <a:srgbClr val="C8C8C8"/>
                      </a:solidFill>
                      <a:prstDash val="solid"/>
                      <a:round/>
                      <a:headEnd type="none" w="sm" len="sm"/>
                      <a:tailEnd type="none" w="sm" len="sm"/>
                    </a:lnB>
                    <a:solidFill>
                      <a:srgbClr val="ECF2D9"/>
                    </a:solidFill>
                  </a:tcPr>
                </a:tc>
                <a:extLst>
                  <a:ext uri="{0D108BD9-81ED-4DB2-BD59-A6C34878D82A}">
                    <a16:rowId xmlns:a16="http://schemas.microsoft.com/office/drawing/2014/main" val="10002"/>
                  </a:ext>
                </a:extLst>
              </a:tr>
              <a:tr h="1060704">
                <a:tc>
                  <a:txBody>
                    <a:bodyPr/>
                    <a:lstStyle/>
                    <a:p>
                      <a:pPr marL="0" marR="0" lvl="0" indent="0" algn="ctr" rtl="0">
                        <a:spcBef>
                          <a:spcPts val="0"/>
                        </a:spcBef>
                        <a:spcAft>
                          <a:spcPts val="0"/>
                        </a:spcAft>
                        <a:buNone/>
                      </a:pPr>
                      <a:r>
                        <a:rPr sz="1300" b="1">
                          <a:latin typeface="Meiryo UI"/>
                          <a:ea typeface="Meiryo UI"/>
                        </a:rPr>
                        <a:t>3</a:t>
                      </a:r>
                    </a:p>
                  </a:txBody>
                  <a:tcPr marL="54000" marR="36000" marT="18000" marB="18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60000"/>
                        <a:lumOff val="40000"/>
                      </a:schemeClr>
                    </a:solidFill>
                  </a:tcPr>
                </a:tc>
                <a:tc>
                  <a:txBody>
                    <a:bodyPr/>
                    <a:lstStyle/>
                    <a:p>
                      <a:pPr marL="0" marR="0" lvl="0" indent="0" algn="ctr" rtl="0">
                        <a:spcBef>
                          <a:spcPts val="0"/>
                        </a:spcBef>
                        <a:spcAft>
                          <a:spcPts val="0"/>
                        </a:spcAft>
                        <a:buNone/>
                      </a:pPr>
                      <a:r>
                        <a:rPr sz="1100" b="0">
                          <a:latin typeface="Meiryo UI"/>
                          <a:ea typeface="Meiryo UI"/>
                        </a:rPr>
                        <a:t>株式の状況</a:t>
                      </a:r>
                    </a:p>
                  </a:txBody>
                  <a:tcPr marL="54000" marR="36000" marT="18000" marB="18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20000"/>
                        <a:lumOff val="80000"/>
                      </a:schemeClr>
                    </a:solidFill>
                  </a:tcPr>
                </a:tc>
                <a:tc>
                  <a:txBody>
                    <a:bodyPr/>
                    <a:lstStyle/>
                    <a:p>
                      <a:pPr marL="139700" marR="0" lvl="0" indent="-139700" algn="l" rtl="0">
                        <a:lnSpc>
                          <a:spcPct val="100000"/>
                        </a:lnSpc>
                        <a:spcBef>
                          <a:spcPts val="0"/>
                        </a:spcBef>
                        <a:spcAft>
                          <a:spcPts val="0"/>
                        </a:spcAft>
                        <a:buClr>
                          <a:srgbClr val="66A09A"/>
                        </a:buClr>
                        <a:buSzPts val="1120"/>
                        <a:buFont typeface="Noto Sans Symbols"/>
                        <a:buNone/>
                      </a:pPr>
                      <a:r>
                        <a:rPr sz="900" b="0">
                          <a:latin typeface="Meiryo UI"/>
                          <a:ea typeface="Meiryo UI"/>
                        </a:rPr>
                        <a:t>発行済株式数について、企業概要書内に「3,000株」と「300株」の2通りの記載がある。株券不発行会社・譲渡制限あり。登記簿謄本および株主名簿による確定が必要。</a:t>
                      </a:r>
                      <a:endParaRPr lang="en-US" altLang="ja-JP" sz="1100" b="0" dirty="0">
                        <a:solidFill>
                          <a:schemeClr val="dk1"/>
                        </a:solidFill>
                        <a:latin typeface="Meiryo UI" panose="020B0604030504040204" pitchFamily="50" charset="-128"/>
                        <a:ea typeface="Meiryo UI" panose="020B0604030504040204" pitchFamily="50" charset="-128"/>
                        <a:cs typeface="Arial"/>
                        <a:sym typeface="Arial"/>
                      </a:endParaRPr>
                    </a:p>
                  </a:txBody>
                  <a:tcPr marL="54000" marR="36000" marT="18000" marB="18000" anchor="ctr">
                    <a:lnL w="9525" cap="flat" cmpd="sng">
                      <a:solidFill>
                        <a:srgbClr val="000000">
                          <a:alpha val="0"/>
                        </a:srgbClr>
                      </a:solidFill>
                      <a:prstDash val="solid"/>
                      <a:round/>
                      <a:headEnd type="none" w="sm" len="sm"/>
                      <a:tailEnd type="none" w="sm" len="sm"/>
                    </a:lnL>
                    <a:lnR w="12700" cap="flat" cmpd="sng">
                      <a:solidFill>
                        <a:srgbClr val="C8C8C8"/>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solidFill>
                        <a:srgbClr val="C8C8C8"/>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252525"/>
                        </a:buClr>
                        <a:buSzPts val="1600"/>
                        <a:buFont typeface="Arial"/>
                        <a:buNone/>
                      </a:pPr>
                      <a:r>
                        <a:rPr sz="1200" b="1">
                          <a:latin typeface="Meiryo UI"/>
                          <a:ea typeface="Meiryo UI"/>
                        </a:rPr>
                        <a:t>要確認</a:t>
                      </a:r>
                    </a:p>
                  </a:txBody>
                  <a:tcPr marL="54000" marR="36000" marT="18000" marB="18000" anchor="ctr">
                    <a:lnL w="12700" cap="flat" cmpd="sng">
                      <a:solidFill>
                        <a:srgbClr val="C8C8C8"/>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solidFill>
                        <a:srgbClr val="C8C8C8"/>
                      </a:solidFill>
                      <a:prstDash val="solid"/>
                      <a:round/>
                      <a:headEnd type="none" w="sm" len="sm"/>
                      <a:tailEnd type="none" w="sm" len="sm"/>
                    </a:lnB>
                    <a:solidFill>
                      <a:srgbClr val="ECF2D9"/>
                    </a:solidFill>
                  </a:tcPr>
                </a:tc>
                <a:extLst>
                  <a:ext uri="{0D108BD9-81ED-4DB2-BD59-A6C34878D82A}">
                    <a16:rowId xmlns:a16="http://schemas.microsoft.com/office/drawing/2014/main" val="10003"/>
                  </a:ext>
                </a:extLst>
              </a:tr>
              <a:tr h="1060704">
                <a:tc>
                  <a:txBody>
                    <a:bodyPr/>
                    <a:lstStyle/>
                    <a:p>
                      <a:pPr marL="0" marR="0" lvl="0" indent="0" algn="ctr" rtl="0">
                        <a:lnSpc>
                          <a:spcPct val="100000"/>
                        </a:lnSpc>
                        <a:spcBef>
                          <a:spcPts val="0"/>
                        </a:spcBef>
                        <a:spcAft>
                          <a:spcPts val="0"/>
                        </a:spcAft>
                        <a:buClr>
                          <a:schemeClr val="dk1"/>
                        </a:buClr>
                        <a:buSzPts val="1500"/>
                        <a:buFont typeface="Arial"/>
                        <a:buNone/>
                      </a:pPr>
                      <a:r>
                        <a:rPr sz="1300" b="1">
                          <a:latin typeface="Meiryo UI"/>
                          <a:ea typeface="Meiryo UI"/>
                        </a:rPr>
                        <a:t>4</a:t>
                      </a:r>
                    </a:p>
                  </a:txBody>
                  <a:tcPr marL="54000" marR="36000" marT="18000" marB="18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60000"/>
                        <a:lumOff val="40000"/>
                      </a:schemeClr>
                    </a:solidFill>
                  </a:tcPr>
                </a:tc>
                <a:tc>
                  <a:txBody>
                    <a:bodyPr/>
                    <a:lstStyle/>
                    <a:p>
                      <a:pPr marL="0" marR="0" lvl="0" indent="0" algn="ctr" rtl="0">
                        <a:lnSpc>
                          <a:spcPct val="100000"/>
                        </a:lnSpc>
                        <a:spcBef>
                          <a:spcPts val="0"/>
                        </a:spcBef>
                        <a:spcAft>
                          <a:spcPts val="0"/>
                        </a:spcAft>
                        <a:buClr>
                          <a:schemeClr val="dk1"/>
                        </a:buClr>
                        <a:buSzPts val="1500"/>
                        <a:buFont typeface="Arial"/>
                        <a:buNone/>
                      </a:pPr>
                      <a:r>
                        <a:rPr sz="1100" b="0">
                          <a:latin typeface="Meiryo UI"/>
                          <a:ea typeface="Meiryo UI"/>
                        </a:rPr>
                        <a:t>スキーム未確定に</a:t>
                      </a:r>
                    </a:p>
                    <a:p>
                      <a:pPr algn="ctr"/>
                      <a:r>
                        <a:rPr sz="1100" b="0">
                          <a:latin typeface="Meiryo UI"/>
                          <a:ea typeface="Meiryo UI"/>
                        </a:rPr>
                        <a:t>伴う手続</a:t>
                      </a:r>
                    </a:p>
                  </a:txBody>
                  <a:tcPr marL="54000" marR="36000" marT="18000" marB="18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20000"/>
                        <a:lumOff val="80000"/>
                      </a:schemeClr>
                    </a:solidFill>
                  </a:tcPr>
                </a:tc>
                <a:tc>
                  <a:txBody>
                    <a:bodyPr/>
                    <a:lstStyle/>
                    <a:p>
                      <a:pPr marL="139700" marR="0" lvl="0" indent="-139700" algn="l" rtl="0">
                        <a:lnSpc>
                          <a:spcPct val="100000"/>
                        </a:lnSpc>
                        <a:spcBef>
                          <a:spcPts val="0"/>
                        </a:spcBef>
                        <a:spcAft>
                          <a:spcPts val="0"/>
                        </a:spcAft>
                        <a:buClr>
                          <a:srgbClr val="66A09A"/>
                        </a:buClr>
                        <a:buSzPts val="1120"/>
                        <a:buFont typeface="Noto Sans Symbols"/>
                        <a:buNone/>
                      </a:pPr>
                      <a:r>
                        <a:rPr sz="900" b="0">
                          <a:latin typeface="Meiryo UI"/>
                          <a:ea typeface="Meiryo UI"/>
                        </a:rPr>
                        <a:t>スキームにより、許認可の承継手続・従業員の転籍同意・契約の巻き直しの要否が異なる。スキームの確定を前提としてスケジュールを確定する必要。</a:t>
                      </a:r>
                    </a:p>
                  </a:txBody>
                  <a:tcPr marL="54000" marR="36000" marT="18000" marB="18000" anchor="ctr">
                    <a:lnL w="9525" cap="flat" cmpd="sng">
                      <a:solidFill>
                        <a:srgbClr val="000000">
                          <a:alpha val="0"/>
                        </a:srgbClr>
                      </a:solidFill>
                      <a:prstDash val="solid"/>
                      <a:round/>
                      <a:headEnd type="none" w="sm" len="sm"/>
                      <a:tailEnd type="none" w="sm" len="sm"/>
                    </a:lnL>
                    <a:lnR w="12700" cap="flat" cmpd="sng">
                      <a:solidFill>
                        <a:srgbClr val="C8C8C8"/>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rgbClr val="C8C8C8"/>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252525"/>
                        </a:buClr>
                        <a:buSzPts val="1600"/>
                        <a:buFont typeface="Arial"/>
                        <a:buNone/>
                      </a:pPr>
                      <a:r>
                        <a:rPr sz="1200" b="1">
                          <a:latin typeface="Meiryo UI"/>
                          <a:ea typeface="Meiryo UI"/>
                        </a:rPr>
                        <a:t>要対応</a:t>
                      </a:r>
                    </a:p>
                  </a:txBody>
                  <a:tcPr marL="54000" marR="36000" marT="18000" marB="18000" anchor="ctr">
                    <a:lnL w="12700" cap="flat" cmpd="sng">
                      <a:solidFill>
                        <a:srgbClr val="C8C8C8"/>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rgbClr val="C8C8C8"/>
                      </a:solidFill>
                      <a:prstDash val="solid"/>
                      <a:round/>
                      <a:headEnd type="none" w="sm" len="sm"/>
                      <a:tailEnd type="none" w="sm" len="sm"/>
                    </a:lnB>
                    <a:solidFill>
                      <a:srgbClr val="ECF2D9"/>
                    </a:solidFill>
                  </a:tcPr>
                </a:tc>
                <a:extLst>
                  <a:ext uri="{0D108BD9-81ED-4DB2-BD59-A6C34878D82A}">
                    <a16:rowId xmlns:a16="http://schemas.microsoft.com/office/drawing/2014/main" val="10001"/>
                  </a:ext>
                </a:extLst>
              </a:tr>
              <a:tr h="1060704">
                <a:tc>
                  <a:txBody>
                    <a:bodyPr/>
                    <a:lstStyle/>
                    <a:p>
                      <a:pPr marL="0" marR="0" lvl="0" indent="0" algn="ctr" rtl="0">
                        <a:lnSpc>
                          <a:spcPct val="100000"/>
                        </a:lnSpc>
                        <a:spcBef>
                          <a:spcPts val="0"/>
                        </a:spcBef>
                        <a:spcAft>
                          <a:spcPts val="0"/>
                        </a:spcAft>
                        <a:buClr>
                          <a:schemeClr val="dk1"/>
                        </a:buClr>
                        <a:buSzPts val="1500"/>
                        <a:buFont typeface="Arial"/>
                        <a:buNone/>
                      </a:pPr>
                      <a:r>
                        <a:rPr sz="1300" b="1">
                          <a:latin typeface="Meiryo UI"/>
                          <a:ea typeface="Meiryo UI"/>
                        </a:rPr>
                        <a:t>5</a:t>
                      </a:r>
                    </a:p>
                  </a:txBody>
                  <a:tcPr marL="54000" marR="36000" marT="18000" marB="18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60000"/>
                        <a:lumOff val="40000"/>
                      </a:schemeClr>
                    </a:solidFill>
                  </a:tcPr>
                </a:tc>
                <a:tc>
                  <a:txBody>
                    <a:bodyPr/>
                    <a:lstStyle/>
                    <a:p>
                      <a:pPr marL="0" marR="0" lvl="0" indent="0" algn="ctr" rtl="0">
                        <a:lnSpc>
                          <a:spcPct val="100000"/>
                        </a:lnSpc>
                        <a:spcBef>
                          <a:spcPts val="0"/>
                        </a:spcBef>
                        <a:spcAft>
                          <a:spcPts val="0"/>
                        </a:spcAft>
                        <a:buClr>
                          <a:schemeClr val="dk1"/>
                        </a:buClr>
                        <a:buSzPts val="1500"/>
                        <a:buFont typeface="Arial"/>
                        <a:buNone/>
                      </a:pPr>
                      <a:r>
                        <a:rPr sz="1100" b="0">
                          <a:latin typeface="Meiryo UI"/>
                          <a:ea typeface="Meiryo UI"/>
                        </a:rPr>
                        <a:t>譲渡対象事業の</a:t>
                      </a:r>
                    </a:p>
                    <a:p>
                      <a:pPr algn="ctr"/>
                      <a:r>
                        <a:rPr sz="1100" b="0">
                          <a:latin typeface="Meiryo UI"/>
                          <a:ea typeface="Meiryo UI"/>
                        </a:rPr>
                        <a:t>独立性</a:t>
                      </a:r>
                    </a:p>
                  </a:txBody>
                  <a:tcPr marL="54000" marR="36000" marT="18000" marB="18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20000"/>
                        <a:lumOff val="80000"/>
                      </a:schemeClr>
                    </a:solidFill>
                  </a:tcPr>
                </a:tc>
                <a:tc>
                  <a:txBody>
                    <a:bodyPr/>
                    <a:lstStyle/>
                    <a:p>
                      <a:pPr marL="139700" marR="0" lvl="0" indent="-139700" algn="l" rtl="0">
                        <a:lnSpc>
                          <a:spcPct val="100000"/>
                        </a:lnSpc>
                        <a:spcBef>
                          <a:spcPts val="0"/>
                        </a:spcBef>
                        <a:spcAft>
                          <a:spcPts val="0"/>
                        </a:spcAft>
                        <a:buClr>
                          <a:srgbClr val="66A09A"/>
                        </a:buClr>
                        <a:buSzPts val="1120"/>
                        <a:buFont typeface="Noto Sans Symbols"/>
                        <a:buNone/>
                      </a:pPr>
                      <a:r>
                        <a:rPr sz="900" b="0">
                          <a:latin typeface="Meiryo UI"/>
                          <a:ea typeface="Meiryo UI"/>
                        </a:rPr>
                        <a:t>軽配送事業の切出しが未了の場合、譲渡対象事業単体の損益および貸借対照表が確定しない。切出し完了後の試算表の入手が前提となる。</a:t>
                      </a:r>
                    </a:p>
                  </a:txBody>
                  <a:tcPr marL="54000" marR="36000" marT="18000" marB="18000" anchor="ctr">
                    <a:lnL w="9525" cap="flat" cmpd="sng">
                      <a:solidFill>
                        <a:srgbClr val="000000">
                          <a:alpha val="0"/>
                        </a:srgbClr>
                      </a:solidFill>
                      <a:prstDash val="solid"/>
                      <a:round/>
                      <a:headEnd type="none" w="sm" len="sm"/>
                      <a:tailEnd type="none" w="sm" len="sm"/>
                    </a:lnL>
                    <a:lnR w="12700" cap="flat" cmpd="sng">
                      <a:solidFill>
                        <a:srgbClr val="C8C8C8"/>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rgbClr val="C8C8C8"/>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252525"/>
                        </a:buClr>
                        <a:buSzPts val="1600"/>
                        <a:buFont typeface="Arial"/>
                        <a:buNone/>
                      </a:pPr>
                      <a:r>
                        <a:rPr sz="1200" b="1">
                          <a:latin typeface="Meiryo UI"/>
                          <a:ea typeface="Meiryo UI"/>
                        </a:rPr>
                        <a:t>要対応</a:t>
                      </a:r>
                    </a:p>
                  </a:txBody>
                  <a:tcPr marL="54000" marR="36000" marT="18000" marB="18000" anchor="ctr">
                    <a:lnL w="12700" cap="flat" cmpd="sng">
                      <a:solidFill>
                        <a:srgbClr val="C8C8C8"/>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rgbClr val="C8C8C8"/>
                      </a:solidFill>
                      <a:prstDash val="solid"/>
                      <a:round/>
                      <a:headEnd type="none" w="sm" len="sm"/>
                      <a:tailEnd type="none" w="sm" len="sm"/>
                    </a:lnB>
                    <a:solidFill>
                      <a:srgbClr val="ECF2D9"/>
                    </a:solidFill>
                  </a:tcPr>
                </a:tc>
                <a:extLst>
                  <a:ext uri="{0D108BD9-81ED-4DB2-BD59-A6C34878D82A}">
                    <a16:rowId xmlns:a16="http://schemas.microsoft.com/office/drawing/2014/main" val="10001"/>
                  </a:ext>
                </a:extLst>
              </a:tr>
            </a:tbl>
          </a:graphicData>
        </a:graphic>
      </p:graphicFrame>
      <p:sp>
        <p:nvSpPr>
          <p:cNvPr id="238" name="Google Shape;238;p6"/>
          <p:cNvSpPr txBox="1"/>
          <p:nvPr/>
        </p:nvSpPr>
        <p:spPr>
          <a:xfrm>
            <a:off x="9450000" y="0"/>
            <a:ext cx="3400000" cy="6858000"/>
          </a:xfrm>
          <a:prstGeom prst="rect">
            <a:avLst/>
          </a:prstGeom>
          <a:solidFill>
            <a:srgbClr val="EEF7CD"/>
          </a:solidFill>
          <a:ln>
            <a:noFill/>
          </a:ln>
        </p:spPr>
        <p:txBody>
          <a:bodyPr spcFirstLastPara="1" wrap="square" lIns="72000" tIns="36000" rIns="72000" bIns="36000" anchor="ctr" anchorCtr="0">
            <a:noAutofit/>
          </a:bodyPr>
          <a:lstStyle/>
          <a:p>
            <a:pPr marL="0" marR="0" lvl="0" indent="0" algn="l" rtl="0">
              <a:lnSpc>
                <a:spcPct val="110000"/>
              </a:lnSpc>
              <a:spcBef>
                <a:spcPts val="0"/>
              </a:spcBef>
              <a:spcAft>
                <a:spcPts val="0"/>
              </a:spcAft>
              <a:buNone/>
            </a:pPr>
            <a:r>
              <a:rPr sz="900" b="0">
                <a:latin typeface="Meiryo UI"/>
                <a:ea typeface="Meiryo UI"/>
              </a:rPr>
              <a:t>【社内メモ｜本資料作成時の留意事項】</a:t>
            </a:r>
            <a:endParaRPr/>
          </a:p>
          <a:p>
            <a:pPr algn="l">
              <a:lnSpc>
                <a:spcPct val="110000"/>
              </a:lnSpc>
            </a:pPr>
            <a:r>
              <a:rPr sz="900" b="0">
                <a:latin typeface="Meiryo UI"/>
                <a:ea typeface="Meiryo UI"/>
              </a:rPr>
              <a:t>※本テキストボックスはスライド範囲外に配置しており、スライドショー・PDF出力には表示されません。買手候補への提示前に内容をご確認ください。</a:t>
            </a:r>
          </a:p>
          <a:p>
            <a:pPr algn="l">
              <a:lnSpc>
                <a:spcPct val="110000"/>
              </a:lnSpc>
            </a:pPr>
            <a:r>
              <a:rPr sz="900" b="0">
                <a:latin typeface="Meiryo UI"/>
                <a:ea typeface="Meiryo UI"/>
              </a:rPr>
              <a:t>　</a:t>
            </a:r>
          </a:p>
          <a:p>
            <a:pPr algn="l">
              <a:lnSpc>
                <a:spcPct val="110000"/>
              </a:lnSpc>
            </a:pPr>
            <a:r>
              <a:rPr sz="900" b="0">
                <a:latin typeface="Meiryo UI"/>
                <a:ea typeface="Meiryo UI"/>
              </a:rPr>
              <a:t>１．基準EBITDA 18,760千円は株式価値試算報告書（2026年4月17日付）の記載値。修正後EBITDA（14,806／14,410／22,952）を1:2:3で加重平均すると18,747千円となり13千円の差が生じるため、案件マスターで算定根拠を確定すること。</a:t>
            </a:r>
          </a:p>
          <a:p>
            <a:pPr algn="l">
              <a:lnSpc>
                <a:spcPct val="110000"/>
              </a:lnSpc>
            </a:pPr>
            <a:r>
              <a:rPr sz="900" b="0">
                <a:latin typeface="Meiryo UI"/>
                <a:ea typeface="Meiryo UI"/>
              </a:rPr>
              <a:t>　</a:t>
            </a:r>
          </a:p>
          <a:p>
            <a:pPr algn="l">
              <a:lnSpc>
                <a:spcPct val="110000"/>
              </a:lnSpc>
            </a:pPr>
            <a:r>
              <a:rPr sz="900" b="0">
                <a:latin typeface="Meiryo UI"/>
                <a:ea typeface="Meiryo UI"/>
              </a:rPr>
              <a:t>２．「スキーム比較のご提案」（2026年5月29日付）では基準EBITDA 18,512千円・倍率4〜6倍（EV 74,046〜111,069千円）と記載されており、株式価値試算報告書（18,760千円・3〜5倍）と数値・倍率がいずれも異なる。買手候補ごとに提示数値が食い違わないよう、提示前に統一すること。本資料は株式価値試算報告書の数値に統一している。</a:t>
            </a:r>
          </a:p>
          <a:p>
            <a:pPr algn="l">
              <a:lnSpc>
                <a:spcPct val="110000"/>
              </a:lnSpc>
            </a:pPr>
            <a:r>
              <a:rPr sz="900" b="0">
                <a:latin typeface="Meiryo UI"/>
                <a:ea typeface="Meiryo UI"/>
              </a:rPr>
              <a:t>　</a:t>
            </a:r>
          </a:p>
          <a:p>
            <a:pPr algn="l">
              <a:lnSpc>
                <a:spcPct val="110000"/>
              </a:lnSpc>
            </a:pPr>
            <a:r>
              <a:rPr sz="900" b="0">
                <a:latin typeface="Meiryo UI"/>
                <a:ea typeface="Meiryo UI"/>
              </a:rPr>
              <a:t>３．株式価値試算報告書の「販管費及び一般管理費の修正」の修正後合計（2025年12月期 47,260千円）と、PLハイライトから逆算した販管費（44,780千円＝売上総利益67,190－営業利益22,410）に2,480千円の差異がある。案件マスターで整合を確認すること。</a:t>
            </a:r>
          </a:p>
          <a:p>
            <a:pPr algn="l">
              <a:lnSpc>
                <a:spcPct val="110000"/>
              </a:lnSpc>
            </a:pPr>
            <a:r>
              <a:rPr sz="900" b="0">
                <a:latin typeface="Meiryo UI"/>
                <a:ea typeface="Meiryo UI"/>
              </a:rPr>
              <a:t>　</a:t>
            </a:r>
          </a:p>
          <a:p>
            <a:pPr algn="l">
              <a:lnSpc>
                <a:spcPct val="110000"/>
              </a:lnSpc>
            </a:pPr>
            <a:r>
              <a:rPr sz="900" b="0">
                <a:latin typeface="Meiryo UI"/>
                <a:ea typeface="Meiryo UI"/>
              </a:rPr>
              <a:t>４．企業概要書の売上高（2024年12月期252,085／2025年12月期375,521千円）と分析資料の売上高（201,668／356,909千円）が異なる。前者は軽配送事業を含む全社ベース、後者はフォワーダー事業単体ベースと理解しているが、2023年12月期のみ両者が一致（282,040千円）しており、同期の軽配送事業売上の除外が未反映の可能性がある。要検証。</a:t>
            </a:r>
          </a:p>
          <a:p>
            <a:pPr algn="l">
              <a:lnSpc>
                <a:spcPct val="110000"/>
              </a:lnSpc>
            </a:pPr>
            <a:r>
              <a:rPr sz="900" b="0">
                <a:latin typeface="Meiryo UI"/>
                <a:ea typeface="Meiryo UI"/>
              </a:rPr>
              <a:t>　</a:t>
            </a:r>
          </a:p>
          <a:p>
            <a:pPr algn="l">
              <a:lnSpc>
                <a:spcPct val="110000"/>
              </a:lnSpc>
            </a:pPr>
            <a:r>
              <a:rPr sz="900" b="0">
                <a:latin typeface="Meiryo UI"/>
                <a:ea typeface="Meiryo UI"/>
              </a:rPr>
              <a:t>５．P10の「＋6,920千円（軽配送事業の切離し・販管費の部門別賦課）」は、企業概要書の調整後EBITDA 9,922千円と本資料の22,952千円の差額13,030千円から役員報酬差6,110千円を控除した残差として算出したもの。内訳を案件マスターで分解し、確定させること。</a:t>
            </a:r>
          </a:p>
          <a:p>
            <a:pPr algn="l">
              <a:lnSpc>
                <a:spcPct val="110000"/>
              </a:lnSpc>
            </a:pPr>
            <a:r>
              <a:rPr sz="900" b="0">
                <a:latin typeface="Meiryo UI"/>
                <a:ea typeface="Meiryo UI"/>
              </a:rPr>
              <a:t>　</a:t>
            </a:r>
          </a:p>
          <a:p>
            <a:pPr algn="l">
              <a:lnSpc>
                <a:spcPct val="110000"/>
              </a:lnSpc>
            </a:pPr>
            <a:r>
              <a:rPr sz="900" b="0">
                <a:latin typeface="Meiryo UI"/>
                <a:ea typeface="Meiryo UI"/>
              </a:rPr>
              <a:t>６．弊社成功報酬について、企業概要書の報酬体系では「時価総資産（営業権含む）2億円以下の部分＝2,000万円、最低額1,500万円」、「スキーム比較のご提案」では「アドバイザリー報酬10,000千円」と記載が異なる。提示前の統一が必要なため、本資料では金額を記載せず「別途ご提示」としている。</a:t>
            </a:r>
          </a:p>
          <a:p>
            <a:pPr algn="l">
              <a:lnSpc>
                <a:spcPct val="110000"/>
              </a:lnSpc>
            </a:pPr>
            <a:r>
              <a:rPr sz="900" b="0">
                <a:latin typeface="Meiryo UI"/>
                <a:ea typeface="Meiryo UI"/>
              </a:rPr>
              <a:t>　</a:t>
            </a:r>
          </a:p>
          <a:p>
            <a:pPr algn="l">
              <a:lnSpc>
                <a:spcPct val="110000"/>
              </a:lnSpc>
            </a:pPr>
            <a:r>
              <a:rPr sz="900" b="0">
                <a:latin typeface="Meiryo UI"/>
                <a:ea typeface="Meiryo UI"/>
              </a:rPr>
              <a:t>７．他の買手候補（ジャパン・バン・ラインズ株式会社）への提示資料の存在および提示条件については、本資料および面談において一切言及しないこと。</a:t>
            </a:r>
          </a:p>
          <a:p>
            <a:pPr algn="l">
              <a:lnSpc>
                <a:spcPct val="110000"/>
              </a:lnSpc>
            </a:pPr>
            <a:r>
              <a:rPr sz="900" b="0">
                <a:latin typeface="Meiryo UI"/>
                <a:ea typeface="Meiryo UI"/>
              </a:rPr>
              <a:t>　</a:t>
            </a:r>
          </a:p>
          <a:p>
            <a:pPr algn="l">
              <a:lnSpc>
                <a:spcPct val="110000"/>
              </a:lnSpc>
            </a:pPr>
            <a:r>
              <a:rPr sz="900" b="0">
                <a:latin typeface="Meiryo UI"/>
                <a:ea typeface="Meiryo UI"/>
              </a:rPr>
              <a:t>８．「2026年4月中に代表保有の休眠会社へ軽配送事業を切り分ける想定」（企業概要書P6）は同年4月時点の記載。本日（2026年8月16日）時点の実行状況を売主に確認のうえ、面談前にP7・P8を更新すること。</a:t>
            </a:r>
          </a:p>
          <a:p>
            <a:pPr algn="l">
              <a:lnSpc>
                <a:spcPct val="110000"/>
              </a:lnSpc>
            </a:pPr>
            <a:r>
              <a:rPr sz="900" b="0">
                <a:latin typeface="Meiryo UI"/>
                <a:ea typeface="Meiryo UI"/>
              </a:rPr>
              <a:t>　</a:t>
            </a:r>
          </a:p>
          <a:p>
            <a:pPr algn="l">
              <a:lnSpc>
                <a:spcPct val="110000"/>
              </a:lnSpc>
            </a:pPr>
            <a:r>
              <a:rPr sz="900" b="0">
                <a:latin typeface="Meiryo UI"/>
                <a:ea typeface="Meiryo UI"/>
              </a:rPr>
              <a:t>９．役員借入金 約10,000千円の貸借対照表上の計上区分が未確定。短期借入金15,321千円に含まれる場合、P6の手出し資金表（③と⑤）で二重計上となるため要修正。</a:t>
            </a:r>
          </a:p>
          <a:p>
            <a:pPr algn="l">
              <a:lnSpc>
                <a:spcPct val="110000"/>
              </a:lnSpc>
            </a:pPr>
            <a:r>
              <a:rPr sz="900" b="0">
                <a:latin typeface="Meiryo UI"/>
                <a:ea typeface="Meiryo UI"/>
              </a:rPr>
              <a:t>　</a:t>
            </a:r>
          </a:p>
          <a:p>
            <a:pPr algn="l">
              <a:lnSpc>
                <a:spcPct val="110000"/>
              </a:lnSpc>
            </a:pPr>
            <a:r>
              <a:rPr sz="900" b="0">
                <a:latin typeface="Meiryo UI"/>
                <a:ea typeface="Meiryo UI"/>
              </a:rPr>
              <a:t>10．第一種貨物利用運送事業（外航海運）の事業譲渡・会社分割時の承継手続については、所管官庁（国土交通省）への確認が必要。本資料では「要確認」としている。</a:t>
            </a:r>
          </a:p>
          <a:p>
            <a:pPr algn="l">
              <a:lnSpc>
                <a:spcPct val="110000"/>
              </a:lnSpc>
            </a:pPr>
            <a:r>
              <a:rPr sz="900" b="0">
                <a:latin typeface="Meiryo UI"/>
                <a:ea typeface="Meiryo UI"/>
              </a:rPr>
              <a:t>　</a:t>
            </a:r>
          </a:p>
          <a:p>
            <a:pPr algn="l">
              <a:lnSpc>
                <a:spcPct val="110000"/>
              </a:lnSpc>
            </a:pPr>
            <a:r>
              <a:rPr sz="900" b="0">
                <a:latin typeface="Meiryo UI"/>
                <a:ea typeface="Meiryo UI"/>
              </a:rPr>
              <a:t>11．発行済株式数は企業概要書内で「3,000株」（基本情報）と「300株」（株主及び役員）の2通りの記載。登記簿で確定のうえ、企業概要書も修正すること。</a:t>
            </a:r>
          </a:p>
          <a:p>
            <a:pPr algn="l">
              <a:lnSpc>
                <a:spcPct val="110000"/>
              </a:lnSpc>
            </a:pPr>
            <a:r>
              <a:rPr sz="900" b="0">
                <a:latin typeface="Meiryo UI"/>
                <a:ea typeface="Meiryo UI"/>
              </a:rPr>
              <a:t>　</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88"/>
        <p:cNvGrpSpPr/>
        <p:nvPr/>
      </p:nvGrpSpPr>
      <p:grpSpPr>
        <a:xfrm>
          <a:off x="0" y="0"/>
          <a:ext cx="0" cy="0"/>
          <a:chOff x="0" y="0"/>
          <a:chExt cx="0" cy="0"/>
        </a:xfrm>
      </p:grpSpPr>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04" name="Google Shape;204;p3"/>
          <p:cNvSpPr txBox="1">
            <a:spLocks noGrp="1"/>
          </p:cNvSpPr>
          <p:nvPr>
            <p:ph type="title"/>
          </p:nvPr>
        </p:nvSpPr>
        <p:spPr>
          <a:xfrm>
            <a:off x="395536" y="332655"/>
            <a:ext cx="6696744" cy="288033"/>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sz="1400" b="1">
                <a:solidFill>
                  <a:srgbClr val="5A5A5A"/>
                </a:solidFill>
                <a:latin typeface="Meiryo UI"/>
                <a:ea typeface="Meiryo UI"/>
              </a:rPr>
              <a:t>本日ご説明・ご相談したい事項</a:t>
            </a:r>
            <a:endParaRPr b="1" dirty="0">
              <a:solidFill>
                <a:srgbClr val="5A5A5A"/>
              </a:solidFill>
              <a:latin typeface="Meiryo UI" panose="020B0604030504040204" pitchFamily="50" charset="-128"/>
              <a:ea typeface="Meiryo UI" panose="020B0604030504040204" pitchFamily="50" charset="-128"/>
              <a:sym typeface="Arial"/>
            </a:endParaRPr>
          </a:p>
        </p:txBody>
      </p:sp>
      <p:sp>
        <p:nvSpPr>
          <p:cNvPr id="205" name="Google Shape;205;p3"/>
          <p:cNvSpPr txBox="1"/>
          <p:nvPr/>
        </p:nvSpPr>
        <p:spPr>
          <a:xfrm>
            <a:off x="323528" y="116632"/>
            <a:ext cx="2376264" cy="188640"/>
          </a:xfrm>
          <a:prstGeom prst="rect">
            <a:avLst/>
          </a:prstGeom>
          <a:noFill/>
          <a:ln>
            <a:noFill/>
          </a:ln>
        </p:spPr>
        <p:txBody>
          <a:bodyPr spcFirstLastPara="1" wrap="square" lIns="36000" tIns="0" rIns="0" bIns="0" anchor="ctr" anchorCtr="0">
            <a:noAutofit/>
          </a:bodyPr>
          <a:lstStyle/>
          <a:p>
            <a:pPr marL="0" marR="0" lvl="0" indent="0" algn="l" rtl="0">
              <a:lnSpc>
                <a:spcPct val="100000"/>
              </a:lnSpc>
              <a:spcBef>
                <a:spcPts val="0"/>
              </a:spcBef>
              <a:spcAft>
                <a:spcPts val="0"/>
              </a:spcAft>
              <a:buClr>
                <a:srgbClr val="5A5A5A"/>
              </a:buClr>
              <a:buSzPts val="1000"/>
              <a:buFont typeface="Arial"/>
              <a:buNone/>
            </a:pPr>
            <a:r>
              <a:rPr sz="1000" b="0">
                <a:solidFill>
                  <a:srgbClr val="5A5A5A"/>
                </a:solidFill>
                <a:latin typeface="Meiryo UI"/>
                <a:ea typeface="Meiryo UI"/>
              </a:rPr>
              <a:t>本件の論点整理</a:t>
            </a:r>
            <a:endParaRPr>
              <a:latin typeface="Meiryo UI" panose="020B0604030504040204" pitchFamily="50" charset="-128"/>
              <a:ea typeface="Meiryo UI" panose="020B0604030504040204" pitchFamily="50" charset="-128"/>
            </a:endParaRPr>
          </a:p>
        </p:txBody>
      </p:sp>
      <p:sp>
        <p:nvSpPr>
          <p:cNvPr id="206" name="Google Shape;206;p3"/>
          <p:cNvSpPr/>
          <p:nvPr/>
        </p:nvSpPr>
        <p:spPr>
          <a:xfrm>
            <a:off x="0" y="116632"/>
            <a:ext cx="323528" cy="180000"/>
          </a:xfrm>
          <a:prstGeom prst="parallelogram">
            <a:avLst>
              <a:gd name="adj" fmla="val 32938"/>
            </a:avLst>
          </a:prstGeom>
          <a:solidFill>
            <a:srgbClr val="66A09A"/>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Arial"/>
              <a:buNone/>
            </a:pPr>
            <a:r>
              <a:rPr sz="1000" b="0">
                <a:solidFill>
                  <a:srgbClr val="FFFFFF"/>
                </a:solidFill>
                <a:latin typeface="Meiryo UI"/>
                <a:ea typeface="Meiryo UI"/>
              </a:rPr>
              <a:t>1</a:t>
            </a:r>
            <a:endParaRPr sz="1000" b="0" i="0" u="none" strike="noStrike" cap="none">
              <a:solidFill>
                <a:srgbClr val="FFFFFF"/>
              </a:solidFill>
              <a:latin typeface="Arial"/>
              <a:ea typeface="Arial"/>
              <a:cs typeface="Arial"/>
              <a:sym typeface="Arial"/>
            </a:endParaRPr>
          </a:p>
        </p:txBody>
      </p:sp>
      <p:graphicFrame>
        <p:nvGraphicFramePr>
          <p:cNvPr id="207" name="Google Shape;207;p3"/>
          <p:cNvGraphicFramePr/>
          <p:nvPr>
            <p:extLst>
              <p:ext uri="{D42A27DB-BD31-4B8C-83A1-F6EECF244321}">
                <p14:modId xmlns:p14="http://schemas.microsoft.com/office/powerpoint/2010/main" val="2721619109"/>
              </p:ext>
            </p:extLst>
          </p:nvPr>
        </p:nvGraphicFramePr>
        <p:xfrm>
          <a:off x="398462" y="839788"/>
          <a:ext cx="8348472" cy="5669280"/>
        </p:xfrm>
        <a:graphic>
          <a:graphicData uri="http://schemas.openxmlformats.org/drawingml/2006/table">
            <a:tbl>
              <a:tblPr>
                <a:noFill/>
                <a:tableStyleId>{FA6B9113-0DA6-4419-ABC6-697280B0F4CE}</a:tableStyleId>
              </a:tblPr>
              <a:tblGrid>
                <a:gridCol w="429768">
                  <a:extLst>
                    <a:ext uri="{9D8B030D-6E8A-4147-A177-3AD203B41FA5}">
                      <a16:colId xmlns:a16="http://schemas.microsoft.com/office/drawing/2014/main" val="20000"/>
                    </a:ext>
                  </a:extLst>
                </a:gridCol>
                <a:gridCol w="1691640">
                  <a:extLst>
                    <a:ext uri="{9D8B030D-6E8A-4147-A177-3AD203B41FA5}">
                      <a16:colId xmlns:a16="http://schemas.microsoft.com/office/drawing/2014/main" val="20001"/>
                    </a:ext>
                  </a:extLst>
                </a:gridCol>
                <a:gridCol w="4343400">
                  <a:extLst>
                    <a:ext uri="{9D8B030D-6E8A-4147-A177-3AD203B41FA5}">
                      <a16:colId xmlns:a16="http://schemas.microsoft.com/office/drawing/2014/main" val="20002"/>
                    </a:ext>
                  </a:extLst>
                </a:gridCol>
                <a:gridCol w="1883664">
                  <a:extLst>
                    <a:ext uri="{9D8B030D-6E8A-4147-A177-3AD203B41FA5}">
                      <a16:colId xmlns:a16="http://schemas.microsoft.com/office/drawing/2014/main" val="20003"/>
                    </a:ext>
                  </a:extLst>
                </a:gridCol>
              </a:tblGrid>
              <a:tr h="365760">
                <a:tc>
                  <a:txBody>
                    <a:bodyPr/>
                    <a:lstStyle/>
                    <a:p>
                      <a:pPr marL="0" marR="0" lvl="0" indent="0" algn="ctr" rtl="0">
                        <a:spcBef>
                          <a:spcPts val="0"/>
                        </a:spcBef>
                        <a:spcAft>
                          <a:spcPts val="0"/>
                        </a:spcAft>
                        <a:buNone/>
                      </a:pPr>
                      <a:r>
                        <a:rPr sz="1100" b="1">
                          <a:latin typeface="Meiryo UI"/>
                          <a:ea typeface="Meiryo UI"/>
                        </a:rPr>
                        <a:t>No.</a:t>
                      </a:r>
                      <a:endParaRPr sz="1400" b="1" u="none" strike="noStrike" cap="none" dirty="0">
                        <a:solidFill>
                          <a:schemeClr val="lt1"/>
                        </a:solidFill>
                        <a:latin typeface="Meiryo UI" panose="020B0604030504040204" pitchFamily="50" charset="-128"/>
                        <a:ea typeface="Meiryo UI" panose="020B0604030504040204" pitchFamily="50" charset="-128"/>
                      </a:endParaRPr>
                    </a:p>
                  </a:txBody>
                  <a:tcPr marL="18000" marR="36000" marT="18000" marB="18000" anchor="ctr">
                    <a:lnL w="9525" cap="flat" cmpd="sng">
                      <a:solidFill>
                        <a:srgbClr val="000000">
                          <a:alpha val="0"/>
                        </a:srgbClr>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accent1">
                        <a:lumMod val="50000"/>
                      </a:schemeClr>
                    </a:solidFill>
                  </a:tcPr>
                </a:tc>
                <a:tc>
                  <a:txBody>
                    <a:bodyPr/>
                    <a:lstStyle/>
                    <a:p>
                      <a:pPr marL="0" marR="0" lvl="0" indent="0" algn="ctr" rtl="0">
                        <a:spcBef>
                          <a:spcPts val="0"/>
                        </a:spcBef>
                        <a:spcAft>
                          <a:spcPts val="0"/>
                        </a:spcAft>
                        <a:buNone/>
                      </a:pPr>
                      <a:r>
                        <a:rPr sz="1100" b="1">
                          <a:latin typeface="Meiryo UI"/>
                          <a:ea typeface="Meiryo UI"/>
                        </a:rPr>
                        <a:t>論点</a:t>
                      </a:r>
                      <a:endParaRPr dirty="0">
                        <a:latin typeface="Meiryo UI" panose="020B0604030504040204" pitchFamily="50" charset="-128"/>
                        <a:ea typeface="Meiryo UI" panose="020B0604030504040204" pitchFamily="50" charset="-128"/>
                      </a:endParaRPr>
                    </a:p>
                  </a:txBody>
                  <a:tcPr marL="18000" marR="36000" marT="18000" marB="1800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accent1">
                        <a:lumMod val="50000"/>
                      </a:schemeClr>
                    </a:solidFill>
                  </a:tcPr>
                </a:tc>
                <a:tc>
                  <a:txBody>
                    <a:bodyPr/>
                    <a:lstStyle/>
                    <a:p>
                      <a:pPr marL="0" marR="0" lvl="0" indent="0" algn="ctr" rtl="0">
                        <a:spcBef>
                          <a:spcPts val="0"/>
                        </a:spcBef>
                        <a:spcAft>
                          <a:spcPts val="0"/>
                        </a:spcAft>
                        <a:buNone/>
                      </a:pPr>
                      <a:r>
                        <a:rPr sz="1100" b="1">
                          <a:latin typeface="Meiryo UI"/>
                          <a:ea typeface="Meiryo UI"/>
                        </a:rPr>
                        <a:t>現状</a:t>
                      </a:r>
                      <a:endParaRPr dirty="0">
                        <a:latin typeface="Meiryo UI" panose="020B0604030504040204" pitchFamily="50" charset="-128"/>
                        <a:ea typeface="Meiryo UI" panose="020B0604030504040204" pitchFamily="50" charset="-128"/>
                      </a:endParaRPr>
                    </a:p>
                  </a:txBody>
                  <a:tcPr marL="18000" marR="36000" marT="18000" marB="1800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accent1">
                        <a:lumMod val="50000"/>
                      </a:schemeClr>
                    </a:solidFill>
                  </a:tcPr>
                </a:tc>
                <a:tc>
                  <a:txBody>
                    <a:bodyPr/>
                    <a:lstStyle/>
                    <a:p>
                      <a:pPr marL="0" marR="0" lvl="0" indent="0" algn="ctr" rtl="0">
                        <a:spcBef>
                          <a:spcPts val="0"/>
                        </a:spcBef>
                        <a:spcAft>
                          <a:spcPts val="0"/>
                        </a:spcAft>
                        <a:buNone/>
                      </a:pPr>
                      <a:r>
                        <a:rPr sz="1100" b="1">
                          <a:latin typeface="Meiryo UI"/>
                          <a:ea typeface="Meiryo UI"/>
                        </a:rPr>
                        <a:t>本日のご相談事項</a:t>
                      </a:r>
                      <a:endParaRPr dirty="0">
                        <a:latin typeface="Meiryo UI" panose="020B0604030504040204" pitchFamily="50" charset="-128"/>
                        <a:ea typeface="Meiryo UI" panose="020B0604030504040204" pitchFamily="50" charset="-128"/>
                      </a:endParaRPr>
                    </a:p>
                  </a:txBody>
                  <a:tcPr marL="18000" marR="36000" marT="18000" marB="18000" anchor="ctr">
                    <a:lnL w="9525" cap="flat" cmpd="sng">
                      <a:solidFill>
                        <a:schemeClr val="lt1"/>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accent1">
                        <a:lumMod val="50000"/>
                      </a:schemeClr>
                    </a:solidFill>
                  </a:tcPr>
                </a:tc>
                <a:extLst>
                  <a:ext uri="{0D108BD9-81ED-4DB2-BD59-A6C34878D82A}">
                    <a16:rowId xmlns:a16="http://schemas.microsoft.com/office/drawing/2014/main" val="10000"/>
                  </a:ext>
                </a:extLst>
              </a:tr>
              <a:tr h="1325880">
                <a:tc>
                  <a:txBody>
                    <a:bodyPr/>
                    <a:lstStyle/>
                    <a:p>
                      <a:pPr marL="0" marR="0" lvl="0" indent="0" algn="ctr" rtl="0">
                        <a:spcBef>
                          <a:spcPts val="0"/>
                        </a:spcBef>
                        <a:spcAft>
                          <a:spcPts val="0"/>
                        </a:spcAft>
                        <a:buNone/>
                      </a:pPr>
                      <a:r>
                        <a:rPr sz="1300" b="1">
                          <a:latin typeface="Meiryo UI"/>
                          <a:ea typeface="Meiryo UI"/>
                        </a:rPr>
                        <a:t>1</a:t>
                      </a:r>
                    </a:p>
                  </a:txBody>
                  <a:tcPr marL="54000" marR="36000" marT="18000" marB="18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60000"/>
                        <a:lumOff val="40000"/>
                      </a:schemeClr>
                    </a:solidFill>
                  </a:tcPr>
                </a:tc>
                <a:tc>
                  <a:txBody>
                    <a:bodyPr/>
                    <a:lstStyle/>
                    <a:p>
                      <a:pPr marL="0" marR="0" lvl="0" indent="0" algn="ctr" rtl="0">
                        <a:spcBef>
                          <a:spcPts val="0"/>
                        </a:spcBef>
                        <a:spcAft>
                          <a:spcPts val="0"/>
                        </a:spcAft>
                        <a:buNone/>
                      </a:pPr>
                      <a:r>
                        <a:rPr sz="1100" b="0">
                          <a:latin typeface="Meiryo UI"/>
                          <a:ea typeface="Meiryo UI"/>
                        </a:rPr>
                        <a:t>譲渡スキームが</a:t>
                      </a:r>
                    </a:p>
                    <a:p>
                      <a:pPr algn="ctr"/>
                      <a:r>
                        <a:rPr sz="1100" b="0">
                          <a:latin typeface="Meiryo UI"/>
                          <a:ea typeface="Meiryo UI"/>
                        </a:rPr>
                        <a:t>確定していない</a:t>
                      </a:r>
                    </a:p>
                  </a:txBody>
                  <a:tcPr marL="54000" marR="36000" marT="18000" marB="18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20000"/>
                        <a:lumOff val="80000"/>
                      </a:schemeClr>
                    </a:solidFill>
                  </a:tcPr>
                </a:tc>
                <a:tc>
                  <a:txBody>
                    <a:bodyPr/>
                    <a:lstStyle/>
                    <a:p>
                      <a:pPr marL="0" marR="0" lvl="0" indent="0" algn="l" rtl="0">
                        <a:spcBef>
                          <a:spcPts val="0"/>
                        </a:spcBef>
                        <a:spcAft>
                          <a:spcPts val="0"/>
                        </a:spcAft>
                        <a:buClr>
                          <a:srgbClr val="66A09A"/>
                        </a:buClr>
                        <a:buSzPts val="1120"/>
                        <a:buFont typeface="Arial"/>
                        <a:buNone/>
                      </a:pPr>
                      <a:r>
                        <a:rPr sz="850" b="0">
                          <a:latin typeface="Meiryo UI"/>
                          <a:ea typeface="Meiryo UI"/>
                        </a:rPr>
                        <a:t>株式譲渡・事業譲渡のいずれも選択肢として残っており、確定しておりません。</a:t>
                      </a:r>
                      <a:endParaRPr lang="en-US" altLang="ja-JP" sz="1050" u="none" strike="noStrike" cap="none" dirty="0">
                        <a:solidFill>
                          <a:schemeClr val="dk1"/>
                        </a:solidFill>
                        <a:latin typeface="Meiryo UI" panose="020B0604030504040204" pitchFamily="50" charset="-128"/>
                        <a:ea typeface="Meiryo UI" panose="020B0604030504040204" pitchFamily="50" charset="-128"/>
                      </a:endParaRPr>
                    </a:p>
                    <a:p>
                      <a:pPr algn="l"/>
                      <a:r>
                        <a:rPr sz="850" b="0">
                          <a:latin typeface="Meiryo UI"/>
                          <a:ea typeface="Meiryo UI"/>
                        </a:rPr>
                        <a:t>スキームにより、貴社の手出し資金・承継対象・許認可の取扱いが大きく変わります。</a:t>
                      </a:r>
                    </a:p>
                  </a:txBody>
                  <a:tcPr marL="54000" marR="36000" marT="18000" marB="18000" anchor="ctr">
                    <a:lnL w="9525" cap="flat" cmpd="sng">
                      <a:solidFill>
                        <a:srgbClr val="000000">
                          <a:alpha val="0"/>
                        </a:srgbClr>
                      </a:solidFill>
                      <a:prstDash val="solid"/>
                      <a:round/>
                      <a:headEnd type="none" w="sm" len="sm"/>
                      <a:tailEnd type="none" w="sm" len="sm"/>
                    </a:lnL>
                    <a:lnR w="12700" cap="flat" cmpd="sng">
                      <a:solidFill>
                        <a:srgbClr val="C8C8C8"/>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rgbClr val="C8C8C8"/>
                      </a:solidFill>
                      <a:prstDash val="solid"/>
                      <a:round/>
                      <a:headEnd type="none" w="sm" len="sm"/>
                      <a:tailEnd type="none" w="sm" len="sm"/>
                    </a:lnB>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
                          <a:prstClr val="black"/>
                        </a:buClr>
                        <a:buSzPts val="1600"/>
                        <a:buFont typeface="Arial"/>
                        <a:buNone/>
                        <a:tabLst/>
                        <a:defRPr/>
                      </a:pPr>
                      <a:r>
                        <a:rPr sz="850" b="0">
                          <a:latin typeface="Meiryo UI"/>
                          <a:ea typeface="Meiryo UI"/>
                        </a:rPr>
                        <a:t>いずれのスキームを軸にご検討いただけるか、方向性のご共有をお願いいたします。</a:t>
                      </a:r>
                      <a:endParaRPr kumimoji="0" lang="ja-JP" altLang="ja-JP" sz="1600" b="1"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Arial"/>
                        <a:sym typeface="Arial"/>
                      </a:endParaRPr>
                    </a:p>
                  </a:txBody>
                  <a:tcPr marL="54000" marR="36000" marT="18000" marB="18000" anchor="ctr">
                    <a:lnL w="12700" cap="flat" cmpd="sng">
                      <a:solidFill>
                        <a:srgbClr val="C8C8C8"/>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rgbClr val="C8C8C8"/>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1325880">
                <a:tc>
                  <a:txBody>
                    <a:bodyPr/>
                    <a:lstStyle/>
                    <a:p>
                      <a:pPr marL="0" marR="0" lvl="0" indent="0" algn="ctr" rtl="0">
                        <a:spcBef>
                          <a:spcPts val="0"/>
                        </a:spcBef>
                        <a:spcAft>
                          <a:spcPts val="0"/>
                        </a:spcAft>
                        <a:buNone/>
                      </a:pPr>
                      <a:r>
                        <a:rPr sz="1300" b="1">
                          <a:latin typeface="Meiryo UI"/>
                          <a:ea typeface="Meiryo UI"/>
                        </a:rPr>
                        <a:t>2</a:t>
                      </a:r>
                    </a:p>
                  </a:txBody>
                  <a:tcPr marL="54000" marR="36000" marT="18000" marB="18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60000"/>
                        <a:lumOff val="40000"/>
                      </a:schemeClr>
                    </a:solidFill>
                  </a:tcPr>
                </a:tc>
                <a:tc>
                  <a:txBody>
                    <a:bodyPr/>
                    <a:lstStyle/>
                    <a:p>
                      <a:pPr marL="0" marR="0" lvl="0" indent="0" algn="ctr" rtl="0">
                        <a:spcBef>
                          <a:spcPts val="0"/>
                        </a:spcBef>
                        <a:spcAft>
                          <a:spcPts val="0"/>
                        </a:spcAft>
                        <a:buNone/>
                      </a:pPr>
                      <a:r>
                        <a:rPr sz="1100" b="0">
                          <a:latin typeface="Meiryo UI"/>
                          <a:ea typeface="Meiryo UI"/>
                        </a:rPr>
                        <a:t>譲渡価額（株価）の</a:t>
                      </a:r>
                      <a:endParaRPr lang="en-US" altLang="ja-JP" sz="1300" u="none" strike="noStrike" cap="none" dirty="0">
                        <a:solidFill>
                          <a:schemeClr val="dk1"/>
                        </a:solidFill>
                        <a:latin typeface="Meiryo UI" panose="020B0604030504040204" pitchFamily="50" charset="-128"/>
                        <a:ea typeface="Meiryo UI" panose="020B0604030504040204" pitchFamily="50" charset="-128"/>
                      </a:endParaRPr>
                    </a:p>
                    <a:p>
                      <a:pPr algn="ctr"/>
                      <a:r>
                        <a:rPr sz="1100" b="0">
                          <a:latin typeface="Meiryo UI"/>
                          <a:ea typeface="Meiryo UI"/>
                        </a:rPr>
                        <a:t>考え方</a:t>
                      </a:r>
                    </a:p>
                  </a:txBody>
                  <a:tcPr marL="54000" marR="36000" marT="18000" marB="18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chemeClr val="accent1">
                        <a:lumMod val="20000"/>
                        <a:lumOff val="80000"/>
                      </a:schemeClr>
                    </a:solidFill>
                  </a:tcPr>
                </a:tc>
                <a:tc>
                  <a:txBody>
                    <a:bodyPr/>
                    <a:lstStyle/>
                    <a:p>
                      <a:pPr marL="0" marR="0" lvl="0" indent="0" algn="l" rtl="0">
                        <a:spcBef>
                          <a:spcPts val="0"/>
                        </a:spcBef>
                        <a:spcAft>
                          <a:spcPts val="0"/>
                        </a:spcAft>
                        <a:buClr>
                          <a:srgbClr val="66A09A"/>
                        </a:buClr>
                        <a:buSzPts val="1120"/>
                        <a:buFont typeface="Arial"/>
                        <a:buNone/>
                      </a:pPr>
                      <a:r>
                        <a:rPr sz="850" b="0">
                          <a:latin typeface="Meiryo UI"/>
                          <a:ea typeface="Meiryo UI"/>
                        </a:rPr>
                        <a:t>売主希望価格は15,000千円（株式100%）である一方、基準EBITDA 18,760千円に対するEV/EBITDA倍率では56,280〜93,800千円となります。</a:t>
                      </a:r>
                    </a:p>
                    <a:p>
                      <a:pPr algn="l"/>
                      <a:r>
                        <a:rPr sz="850" b="0">
                          <a:latin typeface="Meiryo UI"/>
                          <a:ea typeface="Meiryo UI"/>
                        </a:rPr>
                        <a:t>有利子負債156,317千円の取扱いが両者の差の主因です。</a:t>
                      </a:r>
                    </a:p>
                  </a:txBody>
                  <a:tcPr marL="54000" marR="36000" marT="18000" marB="18000" anchor="ctr">
                    <a:lnL w="9525" cap="flat" cmpd="sng">
                      <a:solidFill>
                        <a:srgbClr val="000000">
                          <a:alpha val="0"/>
                        </a:srgbClr>
                      </a:solidFill>
                      <a:prstDash val="solid"/>
                      <a:round/>
                      <a:headEnd type="none" w="sm" len="sm"/>
                      <a:tailEnd type="none" w="sm" len="sm"/>
                    </a:lnL>
                    <a:lnR w="12700" cap="flat" cmpd="sng">
                      <a:solidFill>
                        <a:srgbClr val="C8C8C8"/>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lgn="ctr">
                      <a:solidFill>
                        <a:srgbClr val="C8C8C8"/>
                      </a:solidFill>
                      <a:prstDash val="solid"/>
                      <a:round/>
                      <a:headEnd type="none" w="sm" len="sm"/>
                      <a:tailEnd type="none" w="sm" len="sm"/>
                    </a:lnB>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
                          <a:prstClr val="black"/>
                        </a:buClr>
                        <a:buSzPts val="1600"/>
                        <a:buFont typeface="Arial"/>
                        <a:buNone/>
                        <a:tabLst/>
                        <a:defRPr/>
                      </a:pPr>
                      <a:r>
                        <a:rPr sz="850" b="0">
                          <a:latin typeface="Meiryo UI"/>
                          <a:ea typeface="Meiryo UI"/>
                        </a:rPr>
                        <a:t>事業価値と株式価値の関係をご説明のうえ、価格目線のすり合わせをお願いいたします。</a:t>
                      </a:r>
                      <a:endParaRPr kumimoji="0" lang="ja-JP" altLang="ja-JP" sz="1600" b="1"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Arial"/>
                        <a:sym typeface="Arial"/>
                      </a:endParaRPr>
                    </a:p>
                  </a:txBody>
                  <a:tcPr marL="54000" marR="36000" marT="18000" marB="18000" anchor="ctr">
                    <a:lnL w="12700" cap="flat" cmpd="sng">
                      <a:solidFill>
                        <a:srgbClr val="C8C8C8"/>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lgn="ctr">
                      <a:solidFill>
                        <a:srgbClr val="C8C8C8"/>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r h="1325880">
                <a:tc>
                  <a:txBody>
                    <a:bodyPr/>
                    <a:lstStyle/>
                    <a:p>
                      <a:pPr marL="0" marR="0" lvl="0" indent="0" algn="ctr" rtl="0">
                        <a:spcBef>
                          <a:spcPts val="0"/>
                        </a:spcBef>
                        <a:spcAft>
                          <a:spcPts val="0"/>
                        </a:spcAft>
                        <a:buNone/>
                      </a:pPr>
                      <a:r>
                        <a:rPr sz="1300" b="1">
                          <a:latin typeface="Meiryo UI"/>
                          <a:ea typeface="Meiryo UI"/>
                        </a:rPr>
                        <a:t>3</a:t>
                      </a:r>
                    </a:p>
                  </a:txBody>
                  <a:tcPr marL="54000" marR="36000" marT="18000" marB="18000" anchor="ctr">
                    <a:lnL w="9525" cap="flat" cmpd="sng">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60000"/>
                        <a:lumOff val="40000"/>
                      </a:schemeClr>
                    </a:solidFill>
                  </a:tcPr>
                </a:tc>
                <a:tc>
                  <a:txBody>
                    <a:bodyPr/>
                    <a:lstStyle/>
                    <a:p>
                      <a:pPr marL="0" marR="0" lvl="0" indent="0" algn="ctr" rtl="0">
                        <a:spcBef>
                          <a:spcPts val="0"/>
                        </a:spcBef>
                        <a:spcAft>
                          <a:spcPts val="0"/>
                        </a:spcAft>
                        <a:buNone/>
                      </a:pPr>
                      <a:r>
                        <a:rPr sz="1100" b="0">
                          <a:latin typeface="Meiryo UI"/>
                          <a:ea typeface="Meiryo UI"/>
                        </a:rPr>
                        <a:t>軽配送事業の</a:t>
                      </a:r>
                    </a:p>
                    <a:p>
                      <a:pPr algn="ctr"/>
                      <a:r>
                        <a:rPr sz="1100" b="0">
                          <a:latin typeface="Meiryo UI"/>
                          <a:ea typeface="Meiryo UI"/>
                        </a:rPr>
                        <a:t>切り分け</a:t>
                      </a:r>
                    </a:p>
                  </a:txBody>
                  <a:tcPr marL="54000" marR="36000" marT="18000" marB="18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chemeClr val="accent1">
                        <a:lumMod val="20000"/>
                        <a:lumOff val="80000"/>
                      </a:schemeClr>
                    </a:solidFill>
                  </a:tcPr>
                </a:tc>
                <a:tc>
                  <a:txBody>
                    <a:bodyPr/>
                    <a:lstStyle/>
                    <a:p>
                      <a:pPr marL="0" marR="0" lvl="0" indent="0" algn="l" rtl="0">
                        <a:spcBef>
                          <a:spcPts val="0"/>
                        </a:spcBef>
                        <a:spcAft>
                          <a:spcPts val="0"/>
                        </a:spcAft>
                        <a:buClr>
                          <a:srgbClr val="66A09A"/>
                        </a:buClr>
                        <a:buSzPts val="1120"/>
                        <a:buFont typeface="Arial"/>
                        <a:buNone/>
                      </a:pPr>
                      <a:r>
                        <a:rPr sz="850" b="0">
                          <a:latin typeface="Meiryo UI"/>
                          <a:ea typeface="Meiryo UI"/>
                        </a:rPr>
                        <a:t>譲渡対象はフォワーダー事業のみで、軽配送事業は代表保有の別会社へ切り出す前提です。</a:t>
                      </a:r>
                    </a:p>
                    <a:p>
                      <a:pPr algn="l"/>
                      <a:r>
                        <a:rPr sz="850" b="0">
                          <a:latin typeface="Meiryo UI"/>
                          <a:ea typeface="Meiryo UI"/>
                        </a:rPr>
                        <a:t>企業概要書上は2026年4月中の実行を想定と記載されておりますが、実行状況・切出し範囲は確認中です。</a:t>
                      </a:r>
                    </a:p>
                  </a:txBody>
                  <a:tcPr marL="54000" marR="36000" marT="18000" marB="18000" anchor="ctr">
                    <a:lnL w="9525" cap="flat" cmpd="sng">
                      <a:solidFill>
                        <a:srgbClr val="000000">
                          <a:alpha val="0"/>
                        </a:srgbClr>
                      </a:solidFill>
                      <a:prstDash val="solid"/>
                      <a:round/>
                      <a:headEnd type="none" w="sm" len="sm"/>
                      <a:tailEnd type="none" w="sm" len="sm"/>
                    </a:lnL>
                    <a:lnR w="12700" cap="flat" cmpd="sng">
                      <a:solidFill>
                        <a:srgbClr val="C8C8C8"/>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lgn="ctr">
                      <a:solidFill>
                        <a:srgbClr val="C8C8C8"/>
                      </a:solidFill>
                      <a:prstDash val="solid"/>
                      <a:round/>
                      <a:headEnd type="none" w="sm" len="sm"/>
                      <a:tailEnd type="none" w="sm" len="sm"/>
                    </a:lnB>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
                          <a:prstClr val="black"/>
                        </a:buClr>
                        <a:buSzPts val="1600"/>
                        <a:buFont typeface="Arial"/>
                        <a:buNone/>
                        <a:tabLst/>
                        <a:defRPr/>
                      </a:pPr>
                      <a:r>
                        <a:rPr sz="850" b="0">
                          <a:latin typeface="Meiryo UI"/>
                          <a:ea typeface="Meiryo UI"/>
                        </a:rPr>
                        <a:t>切り分けの完了を実行の前提条件とする形でご了解いただけるかを確認させてください。</a:t>
                      </a:r>
                      <a:endParaRPr kumimoji="0" lang="ja-JP" altLang="ja-JP" sz="1600" b="1"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Arial"/>
                        <a:sym typeface="Arial"/>
                      </a:endParaRPr>
                    </a:p>
                  </a:txBody>
                  <a:tcPr marL="54000" marR="36000" marT="18000" marB="18000" anchor="ctr">
                    <a:lnL w="12700" cap="flat" cmpd="sng">
                      <a:solidFill>
                        <a:srgbClr val="C8C8C8"/>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lgn="ctr">
                      <a:solidFill>
                        <a:srgbClr val="C8C8C8"/>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1325880">
                <a:tc>
                  <a:txBody>
                    <a:bodyPr/>
                    <a:lstStyle/>
                    <a:p>
                      <a:pPr marL="0" marR="0" lvl="0" indent="0" algn="ctr" rtl="0">
                        <a:spcBef>
                          <a:spcPts val="0"/>
                        </a:spcBef>
                        <a:spcAft>
                          <a:spcPts val="0"/>
                        </a:spcAft>
                        <a:buNone/>
                      </a:pPr>
                      <a:r>
                        <a:rPr sz="1300" b="1">
                          <a:latin typeface="Meiryo UI"/>
                          <a:ea typeface="Meiryo UI"/>
                        </a:rPr>
                        <a:t>4</a:t>
                      </a:r>
                    </a:p>
                  </a:txBody>
                  <a:tcPr marL="54000" marR="36000" marT="18000" marB="18000" anchor="ctr">
                    <a:lnL w="9525" cap="flat" cmpd="sng">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chemeClr val="accent1">
                        <a:lumMod val="60000"/>
                        <a:lumOff val="40000"/>
                      </a:schemeClr>
                    </a:solidFill>
                  </a:tcPr>
                </a:tc>
                <a:tc>
                  <a:txBody>
                    <a:bodyPr/>
                    <a:lstStyle/>
                    <a:p>
                      <a:pPr marL="0" marR="0" lvl="0" indent="0" algn="ctr" rtl="0">
                        <a:spcBef>
                          <a:spcPts val="0"/>
                        </a:spcBef>
                        <a:spcAft>
                          <a:spcPts val="0"/>
                        </a:spcAft>
                        <a:buNone/>
                      </a:pPr>
                      <a:r>
                        <a:rPr sz="1100" b="0">
                          <a:latin typeface="Meiryo UI"/>
                          <a:ea typeface="Meiryo UI"/>
                        </a:rPr>
                        <a:t>その他の確認事項</a:t>
                      </a:r>
                    </a:p>
                  </a:txBody>
                  <a:tcPr marL="54000" marR="36000" marT="18000" marB="18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chemeClr val="accent1">
                        <a:lumMod val="20000"/>
                        <a:lumOff val="80000"/>
                      </a:schemeClr>
                    </a:solidFill>
                  </a:tcPr>
                </a:tc>
                <a:tc>
                  <a:txBody>
                    <a:bodyPr/>
                    <a:lstStyle/>
                    <a:p>
                      <a:pPr marL="0" marR="0" lvl="0" indent="0" algn="l" rtl="0">
                        <a:spcBef>
                          <a:spcPts val="0"/>
                        </a:spcBef>
                        <a:spcAft>
                          <a:spcPts val="0"/>
                        </a:spcAft>
                        <a:buClr>
                          <a:srgbClr val="66A09A"/>
                        </a:buClr>
                        <a:buSzPts val="1120"/>
                        <a:buFont typeface="Arial"/>
                        <a:buNone/>
                      </a:pPr>
                      <a:r>
                        <a:rPr sz="850" b="0">
                          <a:latin typeface="Meiryo UI"/>
                          <a:ea typeface="Meiryo UI"/>
                        </a:rPr>
                        <a:t>前渡金・立替金等（計75,075千円）の実体性、有利子負債と代表の連帯保証、キーマンの継続勤務、海外駐在員事務所の取扱い等。</a:t>
                      </a:r>
                      <a:endParaRPr lang="en-US" altLang="ja-JP" sz="1000" b="0" u="none" strike="noStrike" cap="none" dirty="0">
                        <a:solidFill>
                          <a:schemeClr val="dk1"/>
                        </a:solidFill>
                        <a:latin typeface="Meiryo UI" panose="020B0604030504040204" pitchFamily="50" charset="-128"/>
                        <a:ea typeface="Meiryo UI" panose="020B0604030504040204" pitchFamily="50" charset="-128"/>
                      </a:endParaRPr>
                    </a:p>
                  </a:txBody>
                  <a:tcPr marL="54000" marR="36000" marT="18000" marB="18000" anchor="ctr">
                    <a:lnL w="9525" cap="flat" cmpd="sng">
                      <a:solidFill>
                        <a:srgbClr val="000000">
                          <a:alpha val="0"/>
                        </a:srgbClr>
                      </a:solidFill>
                      <a:prstDash val="solid"/>
                      <a:round/>
                      <a:headEnd type="none" w="sm" len="sm"/>
                      <a:tailEnd type="none" w="sm" len="sm"/>
                    </a:lnL>
                    <a:lnR w="12700" cap="flat" cmpd="sng">
                      <a:solidFill>
                        <a:srgbClr val="C8C8C8"/>
                      </a:solidFill>
                      <a:prstDash val="solid"/>
                      <a:round/>
                      <a:headEnd type="none" w="sm" len="sm"/>
                      <a:tailEnd type="none" w="sm" len="sm"/>
                    </a:lnR>
                    <a:lnT w="12700" cap="flat" cmpd="sng" algn="ctr">
                      <a:solidFill>
                        <a:srgbClr val="C8C8C8"/>
                      </a:solidFill>
                      <a:prstDash val="solid"/>
                      <a:round/>
                      <a:headEnd type="none" w="sm" len="sm"/>
                      <a:tailEnd type="none" w="sm" len="sm"/>
                    </a:lnT>
                    <a:lnB w="12700" cap="flat" cmpd="sng" algn="ctr">
                      <a:solidFill>
                        <a:srgbClr val="C8C8C8"/>
                      </a:solidFill>
                      <a:prstDash val="solid"/>
                      <a:round/>
                      <a:headEnd type="none" w="sm" len="sm"/>
                      <a:tailEnd type="none" w="sm" len="sm"/>
                    </a:lnB>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
                          <a:prstClr val="black"/>
                        </a:buClr>
                        <a:buSzPts val="1600"/>
                        <a:buFont typeface="Arial"/>
                        <a:buNone/>
                        <a:tabLst/>
                        <a:defRPr/>
                      </a:pPr>
                      <a:r>
                        <a:rPr sz="850" b="0">
                          <a:latin typeface="Meiryo UI"/>
                          <a:ea typeface="Meiryo UI"/>
                        </a:rPr>
                        <a:t>貴社として優先的に確認されたい事項をご共有ください。</a:t>
                      </a:r>
                      <a:endParaRPr kumimoji="0" lang="ja-JP" altLang="ja-JP" sz="1600" b="1"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Arial"/>
                        <a:sym typeface="Arial"/>
                      </a:endParaRPr>
                    </a:p>
                  </a:txBody>
                  <a:tcPr marL="54000" marR="36000" marT="18000" marB="18000" anchor="ctr">
                    <a:lnL w="12700" cap="flat" cmpd="sng">
                      <a:solidFill>
                        <a:srgbClr val="C8C8C8"/>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lgn="ctr">
                      <a:solidFill>
                        <a:srgbClr val="C8C8C8"/>
                      </a:solidFill>
                      <a:prstDash val="solid"/>
                      <a:round/>
                      <a:headEnd type="none" w="sm" len="sm"/>
                      <a:tailEnd type="none" w="sm" len="sm"/>
                    </a:lnT>
                    <a:lnB w="12700" cap="flat" cmpd="sng" algn="ctr">
                      <a:solidFill>
                        <a:srgbClr val="C8C8C8"/>
                      </a:solidFill>
                      <a:prstDash val="solid"/>
                      <a:round/>
                      <a:headEnd type="none" w="sm" len="sm"/>
                      <a:tailEnd type="none" w="sm" len="sm"/>
                    </a:lnB>
                    <a:solidFill>
                      <a:srgbClr val="FFFFFF"/>
                    </a:solidFill>
                  </a:tcPr>
                </a:tc>
                <a:extLst>
                  <a:ext uri="{0D108BD9-81ED-4DB2-BD59-A6C34878D82A}">
                    <a16:rowId xmlns:a16="http://schemas.microsoft.com/office/drawing/2014/main" val="10004"/>
                  </a:ext>
                </a:extLst>
              </a:tr>
            </a:tbl>
          </a:graphicData>
        </a:graphic>
      </p:graphicFrame>
      <p:sp>
        <p:nvSpPr>
          <p:cNvPr id="208" name="Google Shape;208;p3"/>
          <p:cNvSpPr txBox="1"/>
          <p:nvPr/>
        </p:nvSpPr>
        <p:spPr>
          <a:xfrm>
            <a:off x="9450000" y="0"/>
            <a:ext cx="3400000" cy="6858000"/>
          </a:xfrm>
          <a:prstGeom prst="rect">
            <a:avLst/>
          </a:prstGeom>
          <a:solidFill>
            <a:srgbClr val="EEF7CD"/>
          </a:solidFill>
          <a:ln>
            <a:noFill/>
          </a:ln>
        </p:spPr>
        <p:txBody>
          <a:bodyPr spcFirstLastPara="1" wrap="square" lIns="72000" tIns="36000" rIns="72000" bIns="36000" anchor="ctr" anchorCtr="0">
            <a:noAutofit/>
          </a:bodyPr>
          <a:lstStyle/>
          <a:p>
            <a:pPr marL="0" marR="0" lvl="0" indent="0" algn="l" rtl="0">
              <a:lnSpc>
                <a:spcPct val="110000"/>
              </a:lnSpc>
              <a:spcBef>
                <a:spcPts val="0"/>
              </a:spcBef>
              <a:spcAft>
                <a:spcPts val="0"/>
              </a:spcAft>
              <a:buNone/>
            </a:pPr>
            <a:r>
              <a:rPr sz="900" b="0">
                <a:latin typeface="Meiryo UI"/>
                <a:ea typeface="Meiryo UI"/>
              </a:rPr>
              <a:t>【社内メモ｜本資料作成時の留意事項】</a:t>
            </a:r>
            <a:endParaRPr dirty="0"/>
          </a:p>
          <a:p>
            <a:pPr algn="l">
              <a:lnSpc>
                <a:spcPct val="110000"/>
              </a:lnSpc>
            </a:pPr>
            <a:r>
              <a:rPr sz="900" b="0">
                <a:latin typeface="Meiryo UI"/>
                <a:ea typeface="Meiryo UI"/>
              </a:rPr>
              <a:t>※本テキストボックスはスライド範囲外に配置しており、スライドショー・PDF出力には表示されません。買手候補への提示前に内容をご確認ください。</a:t>
            </a:r>
          </a:p>
          <a:p>
            <a:pPr algn="l">
              <a:lnSpc>
                <a:spcPct val="110000"/>
              </a:lnSpc>
            </a:pPr>
            <a:r>
              <a:rPr sz="900" b="0">
                <a:latin typeface="Meiryo UI"/>
                <a:ea typeface="Meiryo UI"/>
              </a:rPr>
              <a:t>　</a:t>
            </a:r>
          </a:p>
          <a:p>
            <a:pPr algn="l">
              <a:lnSpc>
                <a:spcPct val="110000"/>
              </a:lnSpc>
            </a:pPr>
            <a:r>
              <a:rPr sz="900" b="0">
                <a:latin typeface="Meiryo UI"/>
                <a:ea typeface="Meiryo UI"/>
              </a:rPr>
              <a:t>１．基準EBITDA 18,760千円は株式価値試算報告書（2026年4月17日付）の記載値。修正後EBITDA（14,806／14,410／22,952）を1:2:3で加重平均すると18,747千円となり13千円の差が生じるため、案件マスターで算定根拠を確定すること。</a:t>
            </a:r>
          </a:p>
          <a:p>
            <a:pPr algn="l">
              <a:lnSpc>
                <a:spcPct val="110000"/>
              </a:lnSpc>
            </a:pPr>
            <a:r>
              <a:rPr sz="900" b="0">
                <a:latin typeface="Meiryo UI"/>
                <a:ea typeface="Meiryo UI"/>
              </a:rPr>
              <a:t>　</a:t>
            </a:r>
          </a:p>
          <a:p>
            <a:pPr algn="l">
              <a:lnSpc>
                <a:spcPct val="110000"/>
              </a:lnSpc>
            </a:pPr>
            <a:r>
              <a:rPr sz="900" b="0">
                <a:latin typeface="Meiryo UI"/>
                <a:ea typeface="Meiryo UI"/>
              </a:rPr>
              <a:t>２．「スキーム比較のご提案」（2026年5月29日付）では基準EBITDA 18,512千円・倍率4〜6倍（EV 74,046〜111,069千円）と記載されており、株式価値試算報告書（18,760千円・3〜5倍）と数値・倍率がいずれも異なる。買手候補ごとに提示数値が食い違わないよう、提示前に統一すること。本資料は株式価値試算報告書の数値に統一している。</a:t>
            </a:r>
          </a:p>
          <a:p>
            <a:pPr algn="l">
              <a:lnSpc>
                <a:spcPct val="110000"/>
              </a:lnSpc>
            </a:pPr>
            <a:r>
              <a:rPr sz="900" b="0">
                <a:latin typeface="Meiryo UI"/>
                <a:ea typeface="Meiryo UI"/>
              </a:rPr>
              <a:t>　</a:t>
            </a:r>
          </a:p>
          <a:p>
            <a:pPr algn="l">
              <a:lnSpc>
                <a:spcPct val="110000"/>
              </a:lnSpc>
            </a:pPr>
            <a:r>
              <a:rPr sz="900" b="0">
                <a:latin typeface="Meiryo UI"/>
                <a:ea typeface="Meiryo UI"/>
              </a:rPr>
              <a:t>３．株式価値試算報告書の「販管費及び一般管理費の修正」の修正後合計（2025年12月期 47,260千円）と、PLハイライトから逆算した販管費（44,780千円＝売上総利益67,190－営業利益22,410）に2,480千円の差異がある。案件マスターで整合を確認すること。</a:t>
            </a:r>
          </a:p>
          <a:p>
            <a:pPr algn="l">
              <a:lnSpc>
                <a:spcPct val="110000"/>
              </a:lnSpc>
            </a:pPr>
            <a:r>
              <a:rPr sz="900" b="0">
                <a:latin typeface="Meiryo UI"/>
                <a:ea typeface="Meiryo UI"/>
              </a:rPr>
              <a:t>　</a:t>
            </a:r>
          </a:p>
          <a:p>
            <a:pPr algn="l">
              <a:lnSpc>
                <a:spcPct val="110000"/>
              </a:lnSpc>
            </a:pPr>
            <a:r>
              <a:rPr sz="900" b="0">
                <a:latin typeface="Meiryo UI"/>
                <a:ea typeface="Meiryo UI"/>
              </a:rPr>
              <a:t>４．企業概要書の売上高（2024年12月期252,085／2025年12月期375,521千円）と分析資料の売上高（201,668／356,909千円）が異なる。前者は軽配送事業を含む全社ベース、後者はフォワーダー事業単体ベースと理解しているが、2023年12月期のみ両者が一致（282,040千円）しており、同期の軽配送事業売上の除外が未反映の可能性がある。要検証。</a:t>
            </a:r>
          </a:p>
          <a:p>
            <a:pPr algn="l">
              <a:lnSpc>
                <a:spcPct val="110000"/>
              </a:lnSpc>
            </a:pPr>
            <a:r>
              <a:rPr sz="900" b="0">
                <a:latin typeface="Meiryo UI"/>
                <a:ea typeface="Meiryo UI"/>
              </a:rPr>
              <a:t>　</a:t>
            </a:r>
          </a:p>
          <a:p>
            <a:pPr algn="l">
              <a:lnSpc>
                <a:spcPct val="110000"/>
              </a:lnSpc>
            </a:pPr>
            <a:r>
              <a:rPr sz="900" b="0">
                <a:latin typeface="Meiryo UI"/>
                <a:ea typeface="Meiryo UI"/>
              </a:rPr>
              <a:t>５．P10の「＋6,920千円（軽配送事業の切離し・販管費の部門別賦課）」は、企業概要書の調整後EBITDA 9,922千円と本資料の22,952千円の差額13,030千円から役員報酬差6,110千円を控除した残差として算出したもの。内訳を案件マスターで分解し、確定させること。</a:t>
            </a:r>
          </a:p>
          <a:p>
            <a:pPr algn="l">
              <a:lnSpc>
                <a:spcPct val="110000"/>
              </a:lnSpc>
            </a:pPr>
            <a:r>
              <a:rPr sz="900" b="0">
                <a:latin typeface="Meiryo UI"/>
                <a:ea typeface="Meiryo UI"/>
              </a:rPr>
              <a:t>　</a:t>
            </a:r>
          </a:p>
          <a:p>
            <a:pPr algn="l">
              <a:lnSpc>
                <a:spcPct val="110000"/>
              </a:lnSpc>
            </a:pPr>
            <a:r>
              <a:rPr sz="900" b="0">
                <a:latin typeface="Meiryo UI"/>
                <a:ea typeface="Meiryo UI"/>
              </a:rPr>
              <a:t>６．弊社成功報酬について、企業概要書の報酬体系では「時価総資産（営業権含む）2億円以下の部分＝2,000万円、最低額1,500万円」、「スキーム比較のご提案」では「アドバイザリー報酬10,000千円」と記載が異なる。提示前の統一が必要なため、本資料では金額を記載せず「別途ご提示」としている。</a:t>
            </a:r>
          </a:p>
          <a:p>
            <a:pPr algn="l">
              <a:lnSpc>
                <a:spcPct val="110000"/>
              </a:lnSpc>
            </a:pPr>
            <a:r>
              <a:rPr sz="900" b="0">
                <a:latin typeface="Meiryo UI"/>
                <a:ea typeface="Meiryo UI"/>
              </a:rPr>
              <a:t>　</a:t>
            </a:r>
          </a:p>
          <a:p>
            <a:pPr algn="l">
              <a:lnSpc>
                <a:spcPct val="110000"/>
              </a:lnSpc>
            </a:pPr>
            <a:r>
              <a:rPr sz="900" b="0">
                <a:latin typeface="Meiryo UI"/>
                <a:ea typeface="Meiryo UI"/>
              </a:rPr>
              <a:t>７．他の買手候補（ジャパン・バン・ラインズ株式会社）への提示資料の存在および提示条件については、本資料および面談において一切言及しないこと。</a:t>
            </a:r>
          </a:p>
          <a:p>
            <a:pPr algn="l">
              <a:lnSpc>
                <a:spcPct val="110000"/>
              </a:lnSpc>
            </a:pPr>
            <a:r>
              <a:rPr sz="900" b="0">
                <a:latin typeface="Meiryo UI"/>
                <a:ea typeface="Meiryo UI"/>
              </a:rPr>
              <a:t>　</a:t>
            </a:r>
          </a:p>
          <a:p>
            <a:pPr algn="l">
              <a:lnSpc>
                <a:spcPct val="110000"/>
              </a:lnSpc>
            </a:pPr>
            <a:r>
              <a:rPr sz="900" b="0">
                <a:latin typeface="Meiryo UI"/>
                <a:ea typeface="Meiryo UI"/>
              </a:rPr>
              <a:t>８．「2026年4月中に代表保有の休眠会社へ軽配送事業を切り分ける想定」（企業概要書P6）は同年4月時点の記載。本日（2026年8月16日）時点の実行状況を売主に確認のうえ、面談前にP7・P8を更新すること。</a:t>
            </a:r>
          </a:p>
          <a:p>
            <a:pPr algn="l">
              <a:lnSpc>
                <a:spcPct val="110000"/>
              </a:lnSpc>
            </a:pPr>
            <a:r>
              <a:rPr sz="900" b="0">
                <a:latin typeface="Meiryo UI"/>
                <a:ea typeface="Meiryo UI"/>
              </a:rPr>
              <a:t>　</a:t>
            </a:r>
          </a:p>
          <a:p>
            <a:pPr algn="l">
              <a:lnSpc>
                <a:spcPct val="110000"/>
              </a:lnSpc>
            </a:pPr>
            <a:r>
              <a:rPr sz="900" b="0">
                <a:latin typeface="Meiryo UI"/>
                <a:ea typeface="Meiryo UI"/>
              </a:rPr>
              <a:t>９．役員借入金 約10,000千円の貸借対照表上の計上区分が未確定。短期借入金15,321千円に含まれる場合、P6の手出し資金表（③と⑤）で二重計上となるため要修正。</a:t>
            </a:r>
          </a:p>
          <a:p>
            <a:pPr algn="l">
              <a:lnSpc>
                <a:spcPct val="110000"/>
              </a:lnSpc>
            </a:pPr>
            <a:r>
              <a:rPr sz="900" b="0">
                <a:latin typeface="Meiryo UI"/>
                <a:ea typeface="Meiryo UI"/>
              </a:rPr>
              <a:t>　</a:t>
            </a:r>
          </a:p>
          <a:p>
            <a:pPr algn="l">
              <a:lnSpc>
                <a:spcPct val="110000"/>
              </a:lnSpc>
            </a:pPr>
            <a:r>
              <a:rPr sz="900" b="0">
                <a:latin typeface="Meiryo UI"/>
                <a:ea typeface="Meiryo UI"/>
              </a:rPr>
              <a:t>10．第一種貨物利用運送事業（外航海運）の事業譲渡・会社分割時の承継手続については、所管官庁（国土交通省）への確認が必要。本資料では「要確認」としている。</a:t>
            </a:r>
          </a:p>
          <a:p>
            <a:pPr algn="l">
              <a:lnSpc>
                <a:spcPct val="110000"/>
              </a:lnSpc>
            </a:pPr>
            <a:r>
              <a:rPr sz="900" b="0">
                <a:latin typeface="Meiryo UI"/>
                <a:ea typeface="Meiryo UI"/>
              </a:rPr>
              <a:t>　</a:t>
            </a:r>
          </a:p>
          <a:p>
            <a:pPr algn="l">
              <a:lnSpc>
                <a:spcPct val="110000"/>
              </a:lnSpc>
            </a:pPr>
            <a:r>
              <a:rPr sz="900" b="0">
                <a:latin typeface="Meiryo UI"/>
                <a:ea typeface="Meiryo UI"/>
              </a:rPr>
              <a:t>11．発行済株式数は企業概要書内で「3,000株」（基本情報）と「300株」（株主及び役員）の2通りの記載。登記簿で確定のうえ、企業概要書も修正すること。</a:t>
            </a:r>
          </a:p>
          <a:p>
            <a:pPr algn="l">
              <a:lnSpc>
                <a:spcPct val="110000"/>
              </a:lnSpc>
            </a:pPr>
            <a:r>
              <a:rPr sz="900" b="0">
                <a:latin typeface="Meiryo UI"/>
                <a:ea typeface="Meiryo UI"/>
              </a:rPr>
              <a:t>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04" name="Google Shape;204;p3"/>
          <p:cNvSpPr txBox="1">
            <a:spLocks noGrp="1"/>
          </p:cNvSpPr>
          <p:nvPr>
            <p:ph type="title"/>
          </p:nvPr>
        </p:nvSpPr>
        <p:spPr>
          <a:xfrm>
            <a:off x="395536" y="332655"/>
            <a:ext cx="6696744" cy="288033"/>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sz="1400" b="1">
                <a:solidFill>
                  <a:srgbClr val="5A5A5A"/>
                </a:solidFill>
                <a:latin typeface="Meiryo UI"/>
                <a:ea typeface="Meiryo UI"/>
              </a:rPr>
              <a:t>譲渡スキームの比較</a:t>
            </a:r>
            <a:endParaRPr b="1" dirty="0">
              <a:solidFill>
                <a:srgbClr val="5A5A5A"/>
              </a:solidFill>
              <a:latin typeface="Meiryo UI" panose="020B0604030504040204" pitchFamily="50" charset="-128"/>
              <a:ea typeface="Meiryo UI" panose="020B0604030504040204" pitchFamily="50" charset="-128"/>
              <a:sym typeface="Arial"/>
            </a:endParaRPr>
          </a:p>
        </p:txBody>
      </p:sp>
      <p:sp>
        <p:nvSpPr>
          <p:cNvPr id="205" name="Google Shape;205;p3"/>
          <p:cNvSpPr txBox="1"/>
          <p:nvPr/>
        </p:nvSpPr>
        <p:spPr>
          <a:xfrm>
            <a:off x="323528" y="116632"/>
            <a:ext cx="2376264" cy="188640"/>
          </a:xfrm>
          <a:prstGeom prst="rect">
            <a:avLst/>
          </a:prstGeom>
          <a:noFill/>
          <a:ln>
            <a:noFill/>
          </a:ln>
        </p:spPr>
        <p:txBody>
          <a:bodyPr spcFirstLastPara="1" wrap="square" lIns="36000" tIns="0" rIns="0" bIns="0" anchor="ctr" anchorCtr="0">
            <a:noAutofit/>
          </a:bodyPr>
          <a:lstStyle/>
          <a:p>
            <a:pPr marL="0" marR="0" lvl="0" indent="0" algn="l" rtl="0">
              <a:lnSpc>
                <a:spcPct val="100000"/>
              </a:lnSpc>
              <a:spcBef>
                <a:spcPts val="0"/>
              </a:spcBef>
              <a:spcAft>
                <a:spcPts val="0"/>
              </a:spcAft>
              <a:buClr>
                <a:srgbClr val="5A5A5A"/>
              </a:buClr>
              <a:buSzPts val="1000"/>
              <a:buFont typeface="Arial"/>
              <a:buNone/>
            </a:pPr>
            <a:r>
              <a:rPr sz="1000" b="0">
                <a:solidFill>
                  <a:srgbClr val="5A5A5A"/>
                </a:solidFill>
                <a:latin typeface="Meiryo UI"/>
                <a:ea typeface="Meiryo UI"/>
              </a:rPr>
              <a:t>本件の論点整理</a:t>
            </a:r>
            <a:endParaRPr>
              <a:latin typeface="Meiryo UI" panose="020B0604030504040204" pitchFamily="50" charset="-128"/>
              <a:ea typeface="Meiryo UI" panose="020B0604030504040204" pitchFamily="50" charset="-128"/>
            </a:endParaRPr>
          </a:p>
        </p:txBody>
      </p:sp>
      <p:sp>
        <p:nvSpPr>
          <p:cNvPr id="206" name="Google Shape;206;p3"/>
          <p:cNvSpPr/>
          <p:nvPr/>
        </p:nvSpPr>
        <p:spPr>
          <a:xfrm>
            <a:off x="0" y="116632"/>
            <a:ext cx="323528" cy="180000"/>
          </a:xfrm>
          <a:prstGeom prst="parallelogram">
            <a:avLst>
              <a:gd name="adj" fmla="val 32938"/>
            </a:avLst>
          </a:prstGeom>
          <a:solidFill>
            <a:srgbClr val="66A09A"/>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Arial"/>
              <a:buNone/>
            </a:pPr>
            <a:r>
              <a:rPr sz="1000" b="0">
                <a:solidFill>
                  <a:srgbClr val="FFFFFF"/>
                </a:solidFill>
                <a:latin typeface="Meiryo UI"/>
                <a:ea typeface="Meiryo UI"/>
              </a:rPr>
              <a:t>1</a:t>
            </a:r>
            <a:endParaRPr sz="1000" b="0" i="0" u="none" strike="noStrike" cap="none">
              <a:solidFill>
                <a:srgbClr val="FFFFFF"/>
              </a:solidFill>
              <a:latin typeface="Arial"/>
              <a:ea typeface="Arial"/>
              <a:cs typeface="Arial"/>
              <a:sym typeface="Arial"/>
            </a:endParaRPr>
          </a:p>
        </p:txBody>
      </p:sp>
      <p:graphicFrame>
        <p:nvGraphicFramePr>
          <p:cNvPr id="207" name="Google Shape;207;p3"/>
          <p:cNvGraphicFramePr/>
          <p:nvPr>
            <p:extLst>
              <p:ext uri="{D42A27DB-BD31-4B8C-83A1-F6EECF244321}">
                <p14:modId xmlns:p14="http://schemas.microsoft.com/office/powerpoint/2010/main" val="2721619109"/>
              </p:ext>
            </p:extLst>
          </p:nvPr>
        </p:nvGraphicFramePr>
        <p:xfrm>
          <a:off x="265176" y="1481328"/>
          <a:ext cx="8348472" cy="4690872"/>
        </p:xfrm>
        <a:graphic>
          <a:graphicData uri="http://schemas.openxmlformats.org/drawingml/2006/table">
            <a:tbl>
              <a:tblPr>
                <a:noFill/>
                <a:tableStyleId>{FA6B9113-0DA6-4419-ABC6-697280B0F4CE}</a:tableStyleId>
              </a:tblPr>
              <a:tblGrid>
                <a:gridCol w="1627632">
                  <a:extLst>
                    <a:ext uri="{9D8B030D-6E8A-4147-A177-3AD203B41FA5}">
                      <a16:colId xmlns:a16="http://schemas.microsoft.com/office/drawing/2014/main" val="20000"/>
                    </a:ext>
                  </a:extLst>
                </a:gridCol>
                <a:gridCol w="2240280">
                  <a:extLst>
                    <a:ext uri="{9D8B030D-6E8A-4147-A177-3AD203B41FA5}">
                      <a16:colId xmlns:a16="http://schemas.microsoft.com/office/drawing/2014/main" val="20001"/>
                    </a:ext>
                  </a:extLst>
                </a:gridCol>
                <a:gridCol w="2240280">
                  <a:extLst>
                    <a:ext uri="{9D8B030D-6E8A-4147-A177-3AD203B41FA5}">
                      <a16:colId xmlns:a16="http://schemas.microsoft.com/office/drawing/2014/main" val="20002"/>
                    </a:ext>
                  </a:extLst>
                </a:gridCol>
                <a:gridCol w="2240280">
                  <a:extLst>
                    <a:ext uri="{9D8B030D-6E8A-4147-A177-3AD203B41FA5}">
                      <a16:colId xmlns:a16="http://schemas.microsoft.com/office/drawing/2014/main" val="20003"/>
                    </a:ext>
                  </a:extLst>
                </a:gridCol>
              </a:tblGrid>
              <a:tr h="329184">
                <a:tc>
                  <a:txBody>
                    <a:bodyPr/>
                    <a:lstStyle/>
                    <a:p>
                      <a:pPr marL="0" marR="0" lvl="0" indent="0" algn="ctr" rtl="0">
                        <a:spcBef>
                          <a:spcPts val="0"/>
                        </a:spcBef>
                        <a:spcAft>
                          <a:spcPts val="0"/>
                        </a:spcAft>
                        <a:buNone/>
                      </a:pPr>
                      <a:r>
                        <a:rPr sz="1000" b="1">
                          <a:latin typeface="Meiryo UI"/>
                          <a:ea typeface="Meiryo UI"/>
                        </a:rPr>
                        <a:t>比較項目</a:t>
                      </a:r>
                      <a:endParaRPr sz="1400" b="1" u="none" strike="noStrike" cap="none" dirty="0">
                        <a:solidFill>
                          <a:schemeClr val="lt1"/>
                        </a:solidFill>
                        <a:latin typeface="Meiryo UI" panose="020B0604030504040204" pitchFamily="50" charset="-128"/>
                        <a:ea typeface="Meiryo UI" panose="020B0604030504040204" pitchFamily="50" charset="-128"/>
                      </a:endParaRPr>
                    </a:p>
                  </a:txBody>
                  <a:tcPr marL="18000" marR="36000" marT="18000" marB="18000" anchor="ctr">
                    <a:lnL w="9525" cap="flat" cmpd="sng">
                      <a:solidFill>
                        <a:srgbClr val="000000">
                          <a:alpha val="0"/>
                        </a:srgbClr>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accent1">
                        <a:lumMod val="50000"/>
                      </a:schemeClr>
                    </a:solidFill>
                  </a:tcPr>
                </a:tc>
                <a:tc>
                  <a:txBody>
                    <a:bodyPr/>
                    <a:lstStyle/>
                    <a:p>
                      <a:pPr marL="0" marR="0" lvl="0" indent="0" algn="ctr" rtl="0">
                        <a:spcBef>
                          <a:spcPts val="0"/>
                        </a:spcBef>
                        <a:spcAft>
                          <a:spcPts val="0"/>
                        </a:spcAft>
                        <a:buNone/>
                      </a:pPr>
                      <a:r>
                        <a:rPr sz="1000" b="1">
                          <a:latin typeface="Meiryo UI"/>
                          <a:ea typeface="Meiryo UI"/>
                        </a:rPr>
                        <a:t>A. 株式譲渡</a:t>
                      </a:r>
                      <a:endParaRPr dirty="0">
                        <a:latin typeface="Meiryo UI" panose="020B0604030504040204" pitchFamily="50" charset="-128"/>
                        <a:ea typeface="Meiryo UI" panose="020B0604030504040204" pitchFamily="50" charset="-128"/>
                      </a:endParaRPr>
                    </a:p>
                  </a:txBody>
                  <a:tcPr marL="18000" marR="36000" marT="18000" marB="1800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accent1">
                        <a:lumMod val="50000"/>
                      </a:schemeClr>
                    </a:solidFill>
                  </a:tcPr>
                </a:tc>
                <a:tc>
                  <a:txBody>
                    <a:bodyPr/>
                    <a:lstStyle/>
                    <a:p>
                      <a:pPr marL="0" marR="0" lvl="0" indent="0" algn="ctr" rtl="0">
                        <a:spcBef>
                          <a:spcPts val="0"/>
                        </a:spcBef>
                        <a:spcAft>
                          <a:spcPts val="0"/>
                        </a:spcAft>
                        <a:buNone/>
                      </a:pPr>
                      <a:r>
                        <a:rPr sz="1000" b="1">
                          <a:latin typeface="Meiryo UI"/>
                          <a:ea typeface="Meiryo UI"/>
                        </a:rPr>
                        <a:t>B. 事業譲渡</a:t>
                      </a:r>
                      <a:endParaRPr dirty="0">
                        <a:latin typeface="Meiryo UI" panose="020B0604030504040204" pitchFamily="50" charset="-128"/>
                        <a:ea typeface="Meiryo UI" panose="020B0604030504040204" pitchFamily="50" charset="-128"/>
                      </a:endParaRPr>
                    </a:p>
                  </a:txBody>
                  <a:tcPr marL="18000" marR="36000" marT="18000" marB="1800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accent1">
                        <a:lumMod val="50000"/>
                      </a:schemeClr>
                    </a:solidFill>
                  </a:tcPr>
                </a:tc>
                <a:tc>
                  <a:txBody>
                    <a:bodyPr/>
                    <a:lstStyle/>
                    <a:p>
                      <a:pPr marL="0" marR="0" lvl="0" indent="0" algn="ctr" rtl="0">
                        <a:spcBef>
                          <a:spcPts val="0"/>
                        </a:spcBef>
                        <a:spcAft>
                          <a:spcPts val="0"/>
                        </a:spcAft>
                        <a:buNone/>
                      </a:pPr>
                      <a:r>
                        <a:rPr sz="1000" b="1">
                          <a:latin typeface="Meiryo UI"/>
                          <a:ea typeface="Meiryo UI"/>
                        </a:rPr>
                        <a:t>C. 会社分割（吸収分割）</a:t>
                      </a:r>
                      <a:endParaRPr dirty="0">
                        <a:latin typeface="Meiryo UI" panose="020B0604030504040204" pitchFamily="50" charset="-128"/>
                        <a:ea typeface="Meiryo UI" panose="020B0604030504040204" pitchFamily="50" charset="-128"/>
                      </a:endParaRPr>
                    </a:p>
                  </a:txBody>
                  <a:tcPr marL="18000" marR="36000" marT="18000" marB="18000" anchor="ctr">
                    <a:lnL w="9525" cap="flat" cmpd="sng">
                      <a:solidFill>
                        <a:schemeClr val="lt1"/>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accent1">
                        <a:lumMod val="50000"/>
                      </a:schemeClr>
                    </a:solidFill>
                  </a:tcPr>
                </a:tc>
                <a:extLst>
                  <a:ext uri="{0D108BD9-81ED-4DB2-BD59-A6C34878D82A}">
                    <a16:rowId xmlns:a16="http://schemas.microsoft.com/office/drawing/2014/main" val="10000"/>
                  </a:ext>
                </a:extLst>
              </a:tr>
              <a:tr h="484632">
                <a:tc>
                  <a:txBody>
                    <a:bodyPr/>
                    <a:lstStyle/>
                    <a:p>
                      <a:pPr marL="0" marR="0" lvl="0" indent="0" algn="ctr" rtl="0">
                        <a:spcBef>
                          <a:spcPts val="0"/>
                        </a:spcBef>
                        <a:spcAft>
                          <a:spcPts val="0"/>
                        </a:spcAft>
                        <a:buNone/>
                      </a:pPr>
                      <a:r>
                        <a:rPr sz="850" b="1">
                          <a:latin typeface="Meiryo UI"/>
                          <a:ea typeface="Meiryo UI"/>
                        </a:rPr>
                        <a:t>承継対象</a:t>
                      </a:r>
                    </a:p>
                  </a:txBody>
                  <a:tcPr marL="54000" marR="36000" marT="18000" marB="18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60000"/>
                        <a:lumOff val="40000"/>
                      </a:schemeClr>
                    </a:solidFill>
                  </a:tcPr>
                </a:tc>
                <a:tc>
                  <a:txBody>
                    <a:bodyPr/>
                    <a:lstStyle/>
                    <a:p>
                      <a:pPr marL="0" marR="0" lvl="0" indent="0" algn="l" rtl="0">
                        <a:spcBef>
                          <a:spcPts val="0"/>
                        </a:spcBef>
                        <a:spcAft>
                          <a:spcPts val="0"/>
                        </a:spcAft>
                        <a:buNone/>
                      </a:pPr>
                      <a:r>
                        <a:rPr sz="850" b="0">
                          <a:latin typeface="Meiryo UI"/>
                          <a:ea typeface="Meiryo UI"/>
                        </a:rPr>
                        <a:t>会社そのもの（資産・負債・契約・許認可を包括承継）</a:t>
                      </a:r>
                    </a:p>
                  </a:txBody>
                  <a:tcPr marL="54000" marR="36000" marT="18000" marB="18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lt1"/>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66A09A"/>
                        </a:buClr>
                        <a:buSzPts val="1120"/>
                        <a:buFont typeface="Arial"/>
                        <a:buNone/>
                      </a:pPr>
                      <a:r>
                        <a:rPr sz="850" b="0">
                          <a:latin typeface="Meiryo UI"/>
                          <a:ea typeface="Meiryo UI"/>
                        </a:rPr>
                        <a:t>選択した資産・負債のみを個別に承継</a:t>
                      </a:r>
                      <a:endParaRPr lang="en-US" altLang="ja-JP" sz="1050" u="none" strike="noStrike" cap="none" dirty="0">
                        <a:solidFill>
                          <a:schemeClr val="dk1"/>
                        </a:solidFill>
                        <a:latin typeface="Meiryo UI" panose="020B0604030504040204" pitchFamily="50" charset="-128"/>
                        <a:ea typeface="Meiryo UI" panose="020B0604030504040204" pitchFamily="50" charset="-128"/>
                      </a:endParaRPr>
                    </a:p>
                  </a:txBody>
                  <a:tcPr marL="54000" marR="36000" marT="18000" marB="18000" anchor="ctr">
                    <a:lnL w="9525" cap="flat" cmpd="sng">
                      <a:solidFill>
                        <a:srgbClr val="000000">
                          <a:alpha val="0"/>
                        </a:srgbClr>
                      </a:solidFill>
                      <a:prstDash val="solid"/>
                      <a:round/>
                      <a:headEnd type="none" w="sm" len="sm"/>
                      <a:tailEnd type="none" w="sm" len="sm"/>
                    </a:lnL>
                    <a:lnR w="12700" cap="flat" cmpd="sng">
                      <a:solidFill>
                        <a:srgbClr val="C8C8C8"/>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rgbClr val="C8C8C8"/>
                      </a:solidFill>
                      <a:prstDash val="solid"/>
                      <a:round/>
                      <a:headEnd type="none" w="sm" len="sm"/>
                      <a:tailEnd type="none" w="sm" len="sm"/>
                    </a:lnB>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
                          <a:prstClr val="black"/>
                        </a:buClr>
                        <a:buSzPts val="1600"/>
                        <a:buFont typeface="Arial"/>
                        <a:buNone/>
                        <a:tabLst/>
                        <a:defRPr/>
                      </a:pPr>
                      <a:r>
                        <a:rPr sz="850" b="0">
                          <a:latin typeface="Meiryo UI"/>
                          <a:ea typeface="Meiryo UI"/>
                        </a:rPr>
                        <a:t>分割契約で定めた権利義務を包括承継</a:t>
                      </a:r>
                      <a:endParaRPr kumimoji="0" lang="ja-JP" altLang="ja-JP" sz="1600" b="1"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Arial"/>
                        <a:sym typeface="Arial"/>
                      </a:endParaRPr>
                    </a:p>
                  </a:txBody>
                  <a:tcPr marL="54000" marR="36000" marT="18000" marB="18000" anchor="ctr">
                    <a:lnL w="12700" cap="flat" cmpd="sng">
                      <a:solidFill>
                        <a:srgbClr val="C8C8C8"/>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rgbClr val="C8C8C8"/>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484632">
                <a:tc>
                  <a:txBody>
                    <a:bodyPr/>
                    <a:lstStyle/>
                    <a:p>
                      <a:pPr marL="0" marR="0" lvl="0" indent="0" algn="ctr" rtl="0">
                        <a:spcBef>
                          <a:spcPts val="0"/>
                        </a:spcBef>
                        <a:spcAft>
                          <a:spcPts val="0"/>
                        </a:spcAft>
                        <a:buNone/>
                      </a:pPr>
                      <a:r>
                        <a:rPr sz="850" b="1">
                          <a:latin typeface="Meiryo UI"/>
                          <a:ea typeface="Meiryo UI"/>
                        </a:rPr>
                        <a:t>有利子負債</a:t>
                      </a:r>
                    </a:p>
                    <a:p>
                      <a:pPr algn="ctr"/>
                      <a:r>
                        <a:rPr sz="850" b="1">
                          <a:latin typeface="Meiryo UI"/>
                          <a:ea typeface="Meiryo UI"/>
                        </a:rPr>
                        <a:t>156,317千円</a:t>
                      </a:r>
                    </a:p>
                  </a:txBody>
                  <a:tcPr marL="54000" marR="36000" marT="18000" marB="18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60000"/>
                        <a:lumOff val="40000"/>
                      </a:schemeClr>
                    </a:solidFill>
                  </a:tcPr>
                </a:tc>
                <a:tc>
                  <a:txBody>
                    <a:bodyPr/>
                    <a:lstStyle/>
                    <a:p>
                      <a:pPr marL="0" marR="0" lvl="0" indent="0" algn="l" rtl="0">
                        <a:spcBef>
                          <a:spcPts val="0"/>
                        </a:spcBef>
                        <a:spcAft>
                          <a:spcPts val="0"/>
                        </a:spcAft>
                        <a:buNone/>
                      </a:pPr>
                      <a:r>
                        <a:rPr sz="850" b="0">
                          <a:latin typeface="Meiryo UI"/>
                          <a:ea typeface="Meiryo UI"/>
                        </a:rPr>
                        <a:t>対象会社に残るため実質的に承継</a:t>
                      </a:r>
                      <a:endParaRPr lang="en-US" altLang="ja-JP" sz="1300" u="none" strike="noStrike" cap="none" dirty="0">
                        <a:solidFill>
                          <a:schemeClr val="dk1"/>
                        </a:solidFill>
                        <a:latin typeface="Meiryo UI" panose="020B0604030504040204" pitchFamily="50" charset="-128"/>
                        <a:ea typeface="Meiryo UI" panose="020B0604030504040204" pitchFamily="50" charset="-128"/>
                      </a:endParaRPr>
                    </a:p>
                  </a:txBody>
                  <a:tcPr marL="54000" marR="36000" marT="18000" marB="18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66A09A"/>
                        </a:buClr>
                        <a:buSzPts val="1120"/>
                        <a:buFont typeface="Arial"/>
                        <a:buNone/>
                      </a:pPr>
                      <a:r>
                        <a:rPr sz="850" b="0">
                          <a:latin typeface="Meiryo UI"/>
                          <a:ea typeface="Meiryo UI"/>
                        </a:rPr>
                        <a:t>承継しない（対象会社に残置）</a:t>
                      </a:r>
                    </a:p>
                  </a:txBody>
                  <a:tcPr marL="54000" marR="36000" marT="18000" marB="18000" anchor="ctr">
                    <a:lnL w="9525" cap="flat" cmpd="sng">
                      <a:solidFill>
                        <a:srgbClr val="000000">
                          <a:alpha val="0"/>
                        </a:srgbClr>
                      </a:solidFill>
                      <a:prstDash val="solid"/>
                      <a:round/>
                      <a:headEnd type="none" w="sm" len="sm"/>
                      <a:tailEnd type="none" w="sm" len="sm"/>
                    </a:lnL>
                    <a:lnR w="12700" cap="flat" cmpd="sng">
                      <a:solidFill>
                        <a:srgbClr val="C8C8C8"/>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lgn="ctr">
                      <a:solidFill>
                        <a:srgbClr val="C8C8C8"/>
                      </a:solidFill>
                      <a:prstDash val="solid"/>
                      <a:round/>
                      <a:headEnd type="none" w="sm" len="sm"/>
                      <a:tailEnd type="none" w="sm" len="sm"/>
                    </a:lnB>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
                          <a:prstClr val="black"/>
                        </a:buClr>
                        <a:buSzPts val="1600"/>
                        <a:buFont typeface="Arial"/>
                        <a:buNone/>
                        <a:tabLst/>
                        <a:defRPr/>
                      </a:pPr>
                      <a:r>
                        <a:rPr sz="850" b="0">
                          <a:latin typeface="Meiryo UI"/>
                          <a:ea typeface="Meiryo UI"/>
                        </a:rPr>
                        <a:t>選択承継が可能（金融機関の同意が必要）</a:t>
                      </a:r>
                      <a:endParaRPr kumimoji="0" lang="ja-JP" altLang="ja-JP" sz="1600" b="1"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Arial"/>
                        <a:sym typeface="Arial"/>
                      </a:endParaRPr>
                    </a:p>
                  </a:txBody>
                  <a:tcPr marL="54000" marR="36000" marT="18000" marB="18000" anchor="ctr">
                    <a:lnL w="12700" cap="flat" cmpd="sng">
                      <a:solidFill>
                        <a:srgbClr val="C8C8C8"/>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lgn="ctr">
                      <a:solidFill>
                        <a:srgbClr val="C8C8C8"/>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r h="484632">
                <a:tc>
                  <a:txBody>
                    <a:bodyPr/>
                    <a:lstStyle/>
                    <a:p>
                      <a:pPr marL="0" marR="0" lvl="0" indent="0" algn="ctr" rtl="0">
                        <a:spcBef>
                          <a:spcPts val="0"/>
                        </a:spcBef>
                        <a:spcAft>
                          <a:spcPts val="0"/>
                        </a:spcAft>
                        <a:buNone/>
                      </a:pPr>
                      <a:r>
                        <a:rPr sz="850" b="1">
                          <a:latin typeface="Meiryo UI"/>
                          <a:ea typeface="Meiryo UI"/>
                        </a:rPr>
                        <a:t>事業用資産・負債</a:t>
                      </a:r>
                    </a:p>
                    <a:p>
                      <a:pPr algn="ctr"/>
                      <a:r>
                        <a:rPr sz="850" b="1">
                          <a:latin typeface="Meiryo UI"/>
                          <a:ea typeface="Meiryo UI"/>
                        </a:rPr>
                        <a:t>（純額 約144,500千円）</a:t>
                      </a:r>
                    </a:p>
                  </a:txBody>
                  <a:tcPr marL="54000" marR="36000" marT="18000" marB="18000" anchor="ctr">
                    <a:lnL w="9525" cap="flat" cmpd="sng">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60000"/>
                        <a:lumOff val="40000"/>
                      </a:schemeClr>
                    </a:solidFill>
                  </a:tcPr>
                </a:tc>
                <a:tc>
                  <a:txBody>
                    <a:bodyPr/>
                    <a:lstStyle/>
                    <a:p>
                      <a:pPr marL="0" marR="0" lvl="0" indent="0" algn="l" rtl="0">
                        <a:spcBef>
                          <a:spcPts val="0"/>
                        </a:spcBef>
                        <a:spcAft>
                          <a:spcPts val="0"/>
                        </a:spcAft>
                        <a:buNone/>
                      </a:pPr>
                      <a:r>
                        <a:rPr sz="850" b="0">
                          <a:latin typeface="Meiryo UI"/>
                          <a:ea typeface="Meiryo UI"/>
                        </a:rPr>
                        <a:t>株式取得により自動的に承継</a:t>
                      </a:r>
                    </a:p>
                  </a:txBody>
                  <a:tcPr marL="54000" marR="36000" marT="18000" marB="18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66A09A"/>
                        </a:buClr>
                        <a:buSzPts val="1120"/>
                        <a:buFont typeface="Arial"/>
                        <a:buNone/>
                      </a:pPr>
                      <a:r>
                        <a:rPr sz="850" b="0">
                          <a:latin typeface="Meiryo UI"/>
                          <a:ea typeface="Meiryo UI"/>
                        </a:rPr>
                        <a:t>承継範囲を双方協議のうえ決定</a:t>
                      </a:r>
                    </a:p>
                  </a:txBody>
                  <a:tcPr marL="54000" marR="36000" marT="18000" marB="18000" anchor="ctr">
                    <a:lnL w="9525" cap="flat" cmpd="sng">
                      <a:solidFill>
                        <a:srgbClr val="000000">
                          <a:alpha val="0"/>
                        </a:srgbClr>
                      </a:solidFill>
                      <a:prstDash val="solid"/>
                      <a:round/>
                      <a:headEnd type="none" w="sm" len="sm"/>
                      <a:tailEnd type="none" w="sm" len="sm"/>
                    </a:lnL>
                    <a:lnR w="12700" cap="flat" cmpd="sng">
                      <a:solidFill>
                        <a:srgbClr val="C8C8C8"/>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lgn="ctr">
                      <a:solidFill>
                        <a:srgbClr val="C8C8C8"/>
                      </a:solidFill>
                      <a:prstDash val="solid"/>
                      <a:round/>
                      <a:headEnd type="none" w="sm" len="sm"/>
                      <a:tailEnd type="none" w="sm" len="sm"/>
                    </a:lnB>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
                          <a:prstClr val="black"/>
                        </a:buClr>
                        <a:buSzPts val="1600"/>
                        <a:buFont typeface="Arial"/>
                        <a:buNone/>
                        <a:tabLst/>
                        <a:defRPr/>
                      </a:pPr>
                      <a:r>
                        <a:rPr sz="850" b="0">
                          <a:latin typeface="Meiryo UI"/>
                          <a:ea typeface="Meiryo UI"/>
                        </a:rPr>
                        <a:t>分割契約で定めた範囲を承継</a:t>
                      </a:r>
                      <a:endParaRPr kumimoji="0" lang="ja-JP" altLang="ja-JP" sz="1600" b="1"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Arial"/>
                        <a:sym typeface="Arial"/>
                      </a:endParaRPr>
                    </a:p>
                  </a:txBody>
                  <a:tcPr marL="54000" marR="36000" marT="18000" marB="18000" anchor="ctr">
                    <a:lnL w="12700" cap="flat" cmpd="sng">
                      <a:solidFill>
                        <a:srgbClr val="C8C8C8"/>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lgn="ctr">
                      <a:solidFill>
                        <a:srgbClr val="C8C8C8"/>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484632">
                <a:tc>
                  <a:txBody>
                    <a:bodyPr/>
                    <a:lstStyle/>
                    <a:p>
                      <a:pPr marL="0" marR="0" lvl="0" indent="0" algn="ctr" rtl="0">
                        <a:spcBef>
                          <a:spcPts val="0"/>
                        </a:spcBef>
                        <a:spcAft>
                          <a:spcPts val="0"/>
                        </a:spcAft>
                        <a:buNone/>
                      </a:pPr>
                      <a:r>
                        <a:rPr sz="850" b="1">
                          <a:latin typeface="Meiryo UI"/>
                          <a:ea typeface="Meiryo UI"/>
                        </a:rPr>
                        <a:t>許認可</a:t>
                      </a:r>
                    </a:p>
                    <a:p>
                      <a:pPr algn="ctr"/>
                      <a:r>
                        <a:rPr sz="850" b="1">
                          <a:latin typeface="Meiryo UI"/>
                          <a:ea typeface="Meiryo UI"/>
                        </a:rPr>
                        <a:t>（第一種貨物利用運送事業）</a:t>
                      </a:r>
                    </a:p>
                  </a:txBody>
                  <a:tcPr marL="54000" marR="36000" marT="18000" marB="18000" anchor="ctr">
                    <a:lnL w="9525" cap="flat" cmpd="sng">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chemeClr val="accent1">
                        <a:lumMod val="60000"/>
                        <a:lumOff val="40000"/>
                      </a:schemeClr>
                    </a:solidFill>
                  </a:tcPr>
                </a:tc>
                <a:tc>
                  <a:txBody>
                    <a:bodyPr/>
                    <a:lstStyle/>
                    <a:p>
                      <a:pPr marL="0" marR="0" lvl="0" indent="0" algn="l" rtl="0">
                        <a:spcBef>
                          <a:spcPts val="0"/>
                        </a:spcBef>
                        <a:spcAft>
                          <a:spcPts val="0"/>
                        </a:spcAft>
                        <a:buNone/>
                      </a:pPr>
                      <a:r>
                        <a:rPr sz="850" b="0">
                          <a:latin typeface="Meiryo UI"/>
                          <a:ea typeface="Meiryo UI"/>
                        </a:rPr>
                        <a:t>法人格に変更がないため原則継続</a:t>
                      </a:r>
                    </a:p>
                  </a:txBody>
                  <a:tcPr marL="54000" marR="36000" marT="18000" marB="18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66A09A"/>
                        </a:buClr>
                        <a:buSzPts val="1120"/>
                        <a:buFont typeface="Arial"/>
                        <a:buNone/>
                      </a:pPr>
                      <a:r>
                        <a:rPr sz="850" b="0">
                          <a:latin typeface="Meiryo UI"/>
                          <a:ea typeface="Meiryo UI"/>
                        </a:rPr>
                        <a:t>承継されず、譲受側での取得または既存登録の活用が必要</a:t>
                      </a:r>
                      <a:endParaRPr lang="en-US" altLang="ja-JP" sz="1000" b="0" u="none" strike="noStrike" cap="none" dirty="0">
                        <a:solidFill>
                          <a:schemeClr val="dk1"/>
                        </a:solidFill>
                        <a:latin typeface="Meiryo UI" panose="020B0604030504040204" pitchFamily="50" charset="-128"/>
                        <a:ea typeface="Meiryo UI" panose="020B0604030504040204" pitchFamily="50" charset="-128"/>
                      </a:endParaRPr>
                    </a:p>
                  </a:txBody>
                  <a:tcPr marL="54000" marR="36000" marT="18000" marB="18000" anchor="ctr">
                    <a:lnL w="9525" cap="flat" cmpd="sng">
                      <a:solidFill>
                        <a:srgbClr val="000000">
                          <a:alpha val="0"/>
                        </a:srgbClr>
                      </a:solidFill>
                      <a:prstDash val="solid"/>
                      <a:round/>
                      <a:headEnd type="none" w="sm" len="sm"/>
                      <a:tailEnd type="none" w="sm" len="sm"/>
                    </a:lnL>
                    <a:lnR w="12700" cap="flat" cmpd="sng">
                      <a:solidFill>
                        <a:srgbClr val="C8C8C8"/>
                      </a:solidFill>
                      <a:prstDash val="solid"/>
                      <a:round/>
                      <a:headEnd type="none" w="sm" len="sm"/>
                      <a:tailEnd type="none" w="sm" len="sm"/>
                    </a:lnR>
                    <a:lnT w="12700" cap="flat" cmpd="sng" algn="ctr">
                      <a:solidFill>
                        <a:srgbClr val="C8C8C8"/>
                      </a:solidFill>
                      <a:prstDash val="solid"/>
                      <a:round/>
                      <a:headEnd type="none" w="sm" len="sm"/>
                      <a:tailEnd type="none" w="sm" len="sm"/>
                    </a:lnT>
                    <a:lnB w="12700" cap="flat" cmpd="sng" algn="ctr">
                      <a:solidFill>
                        <a:srgbClr val="C8C8C8"/>
                      </a:solidFill>
                      <a:prstDash val="solid"/>
                      <a:round/>
                      <a:headEnd type="none" w="sm" len="sm"/>
                      <a:tailEnd type="none" w="sm" len="sm"/>
                    </a:lnB>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
                          <a:prstClr val="black"/>
                        </a:buClr>
                        <a:buSzPts val="1600"/>
                        <a:buFont typeface="Arial"/>
                        <a:buNone/>
                        <a:tabLst/>
                        <a:defRPr/>
                      </a:pPr>
                      <a:r>
                        <a:rPr sz="850" b="0">
                          <a:latin typeface="Meiryo UI"/>
                          <a:ea typeface="Meiryo UI"/>
                        </a:rPr>
                        <a:t>承継には所管官庁の認可等が必要（要確認）</a:t>
                      </a:r>
                      <a:endParaRPr kumimoji="0" lang="ja-JP" altLang="ja-JP" sz="1600" b="1"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Arial"/>
                        <a:sym typeface="Arial"/>
                      </a:endParaRPr>
                    </a:p>
                  </a:txBody>
                  <a:tcPr marL="54000" marR="36000" marT="18000" marB="18000" anchor="ctr">
                    <a:lnL w="12700" cap="flat" cmpd="sng">
                      <a:solidFill>
                        <a:srgbClr val="C8C8C8"/>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lgn="ctr">
                      <a:solidFill>
                        <a:srgbClr val="C8C8C8"/>
                      </a:solidFill>
                      <a:prstDash val="solid"/>
                      <a:round/>
                      <a:headEnd type="none" w="sm" len="sm"/>
                      <a:tailEnd type="none" w="sm" len="sm"/>
                    </a:lnT>
                    <a:lnB w="12700" cap="flat" cmpd="sng" algn="ctr">
                      <a:solidFill>
                        <a:srgbClr val="C8C8C8"/>
                      </a:solidFill>
                      <a:prstDash val="solid"/>
                      <a:round/>
                      <a:headEnd type="none" w="sm" len="sm"/>
                      <a:tailEnd type="none" w="sm" len="sm"/>
                    </a:lnB>
                    <a:solidFill>
                      <a:srgbClr val="FFFFFF"/>
                    </a:solidFill>
                  </a:tcPr>
                </a:tc>
                <a:extLst>
                  <a:ext uri="{0D108BD9-81ED-4DB2-BD59-A6C34878D82A}">
                    <a16:rowId xmlns:a16="http://schemas.microsoft.com/office/drawing/2014/main" val="10004"/>
                  </a:ext>
                </a:extLst>
              </a:tr>
              <a:tr h="484632">
                <a:tc>
                  <a:txBody>
                    <a:bodyPr/>
                    <a:lstStyle/>
                    <a:p>
                      <a:pPr marL="0" marR="0" lvl="0" indent="0" algn="ctr" rtl="0">
                        <a:spcBef>
                          <a:spcPts val="0"/>
                        </a:spcBef>
                        <a:spcAft>
                          <a:spcPts val="0"/>
                        </a:spcAft>
                        <a:buNone/>
                      </a:pPr>
                      <a:r>
                        <a:rPr sz="850" b="1">
                          <a:latin typeface="Meiryo UI"/>
                          <a:ea typeface="Meiryo UI"/>
                        </a:rPr>
                        <a:t>従業員（6名）</a:t>
                      </a:r>
                    </a:p>
                  </a:txBody>
                  <a:tcPr marL="54000" marR="36000" marT="18000" marB="18000" anchor="ctr">
                    <a:lnL w="9525" cap="flat" cmpd="sng">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60000"/>
                        <a:lumOff val="40000"/>
                      </a:schemeClr>
                    </a:solidFill>
                  </a:tcPr>
                </a:tc>
                <a:tc>
                  <a:txBody>
                    <a:bodyPr/>
                    <a:lstStyle/>
                    <a:p>
                      <a:pPr marL="0" marR="0" lvl="0" indent="0" algn="l" rtl="0">
                        <a:spcBef>
                          <a:spcPts val="0"/>
                        </a:spcBef>
                        <a:spcAft>
                          <a:spcPts val="0"/>
                        </a:spcAft>
                        <a:buNone/>
                      </a:pPr>
                      <a:r>
                        <a:rPr sz="850" b="0">
                          <a:latin typeface="Meiryo UI"/>
                          <a:ea typeface="Meiryo UI"/>
                        </a:rPr>
                        <a:t>雇用契約が継続（転籍手続は不要）</a:t>
                      </a:r>
                    </a:p>
                  </a:txBody>
                  <a:tcPr marL="54000" marR="36000" marT="18000" marB="18000" anchor="ctr">
                    <a:lnL w="9525" cap="flat" cmpd="sng" algn="ctr">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66A09A"/>
                        </a:buClr>
                        <a:buSzPts val="1120"/>
                        <a:buFont typeface="Arial"/>
                        <a:buNone/>
                      </a:pPr>
                      <a:r>
                        <a:rPr sz="850" b="0">
                          <a:latin typeface="Meiryo UI"/>
                          <a:ea typeface="Meiryo UI"/>
                        </a:rPr>
                        <a:t>個別の転籍同意が必要</a:t>
                      </a:r>
                    </a:p>
                  </a:txBody>
                  <a:tcPr marL="54000" marR="36000" marT="18000" marB="18000" anchor="ctr">
                    <a:lnL w="9525" cap="flat" cmpd="sng" algn="ctr">
                      <a:solidFill>
                        <a:srgbClr val="000000">
                          <a:alpha val="0"/>
                        </a:srgbClr>
                      </a:solidFill>
                      <a:prstDash val="solid"/>
                      <a:round/>
                      <a:headEnd type="none" w="sm" len="sm"/>
                      <a:tailEnd type="none" w="sm" len="sm"/>
                    </a:lnL>
                    <a:lnR w="12700" cap="flat" cmpd="sng" algn="ctr">
                      <a:solidFill>
                        <a:srgbClr val="C8C8C8"/>
                      </a:solidFill>
                      <a:prstDash val="solid"/>
                      <a:round/>
                      <a:headEnd type="none" w="sm" len="sm"/>
                      <a:tailEnd type="none" w="sm" len="sm"/>
                    </a:lnR>
                    <a:lnT w="12700" cap="flat" cmpd="sng" algn="ctr">
                      <a:solidFill>
                        <a:srgbClr val="C8C8C8"/>
                      </a:solidFill>
                      <a:prstDash val="solid"/>
                      <a:round/>
                      <a:headEnd type="none" w="sm" len="sm"/>
                      <a:tailEnd type="none" w="sm" len="sm"/>
                    </a:lnT>
                    <a:lnB w="12700" cap="flat" cmpd="sng">
                      <a:solidFill>
                        <a:srgbClr val="C8C8C8"/>
                      </a:solidFill>
                      <a:prstDash val="solid"/>
                      <a:round/>
                      <a:headEnd type="none" w="sm" len="sm"/>
                      <a:tailEnd type="none" w="sm" len="sm"/>
                    </a:lnB>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
                          <a:prstClr val="black"/>
                        </a:buClr>
                        <a:buSzPts val="1600"/>
                        <a:buFont typeface="Arial"/>
                        <a:buNone/>
                        <a:tabLst/>
                        <a:defRPr/>
                      </a:pPr>
                      <a:r>
                        <a:rPr sz="850" b="0">
                          <a:latin typeface="Meiryo UI"/>
                          <a:ea typeface="Meiryo UI"/>
                        </a:rPr>
                        <a:t>労働契約承継法に基づく手続が必要</a:t>
                      </a:r>
                      <a:endParaRPr kumimoji="0" lang="en-US" altLang="ja-JP" sz="1600" b="1"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Arial"/>
                        <a:sym typeface="Arial"/>
                      </a:endParaRPr>
                    </a:p>
                  </a:txBody>
                  <a:tcPr marL="54000" marR="36000" marT="18000" marB="18000" anchor="ctr">
                    <a:lnL w="12700" cap="flat" cmpd="sng" algn="ctr">
                      <a:solidFill>
                        <a:srgbClr val="C8C8C8"/>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lgn="ctr">
                      <a:solidFill>
                        <a:srgbClr val="C8C8C8"/>
                      </a:solidFill>
                      <a:prstDash val="solid"/>
                      <a:round/>
                      <a:headEnd type="none" w="sm" len="sm"/>
                      <a:tailEnd type="none" w="sm" len="sm"/>
                    </a:lnT>
                    <a:lnB w="12700" cap="flat" cmpd="sng">
                      <a:solidFill>
                        <a:srgbClr val="C8C8C8"/>
                      </a:solidFill>
                      <a:prstDash val="solid"/>
                      <a:round/>
                      <a:headEnd type="none" w="sm" len="sm"/>
                      <a:tailEnd type="none" w="sm" len="sm"/>
                    </a:lnB>
                    <a:solidFill>
                      <a:srgbClr val="FFFFFF"/>
                    </a:solidFill>
                  </a:tcPr>
                </a:tc>
                <a:extLst>
                  <a:ext uri="{0D108BD9-81ED-4DB2-BD59-A6C34878D82A}">
                    <a16:rowId xmlns:a16="http://schemas.microsoft.com/office/drawing/2014/main" val="10007"/>
                  </a:ext>
                </a:extLst>
              </a:tr>
              <a:tr h="484632">
                <a:tc>
                  <a:txBody>
                    <a:bodyPr/>
                    <a:lstStyle/>
                    <a:p>
                      <a:pPr marL="0" marR="0" lvl="0" indent="0" algn="ctr" rtl="0">
                        <a:spcBef>
                          <a:spcPts val="0"/>
                        </a:spcBef>
                        <a:spcAft>
                          <a:spcPts val="0"/>
                        </a:spcAft>
                        <a:buNone/>
                      </a:pPr>
                      <a:r>
                        <a:rPr sz="850" b="1">
                          <a:latin typeface="Meiryo UI"/>
                          <a:ea typeface="Meiryo UI"/>
                        </a:rPr>
                        <a:t>取引先・外注先契約</a:t>
                      </a:r>
                    </a:p>
                  </a:txBody>
                  <a:tcPr marL="54000" marR="36000" marT="18000" marB="18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60000"/>
                        <a:lumOff val="40000"/>
                      </a:schemeClr>
                    </a:solidFill>
                  </a:tcPr>
                </a:tc>
                <a:tc>
                  <a:txBody>
                    <a:bodyPr/>
                    <a:lstStyle/>
                    <a:p>
                      <a:pPr marL="0" marR="0" lvl="0" indent="0" algn="l" rtl="0">
                        <a:lnSpc>
                          <a:spcPct val="100000"/>
                        </a:lnSpc>
                        <a:spcBef>
                          <a:spcPts val="0"/>
                        </a:spcBef>
                        <a:spcAft>
                          <a:spcPts val="0"/>
                        </a:spcAft>
                        <a:buClr>
                          <a:schemeClr val="dk1"/>
                        </a:buClr>
                        <a:buSzPts val="1500"/>
                        <a:buFont typeface="Arial"/>
                        <a:buNone/>
                      </a:pPr>
                      <a:r>
                        <a:rPr sz="850" b="0">
                          <a:latin typeface="Meiryo UI"/>
                          <a:ea typeface="Meiryo UI"/>
                        </a:rPr>
                        <a:t>原則継続（COC条項の有無を確認）</a:t>
                      </a:r>
                    </a:p>
                  </a:txBody>
                  <a:tcPr marL="54000" marR="36000" marT="18000" marB="18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chemeClr val="dk1"/>
                        </a:buClr>
                        <a:buSzPts val="1400"/>
                        <a:buFont typeface="Arial"/>
                        <a:buNone/>
                      </a:pPr>
                      <a:r>
                        <a:rPr sz="850" b="0">
                          <a:latin typeface="Meiryo UI"/>
                          <a:ea typeface="Meiryo UI"/>
                        </a:rPr>
                        <a:t>契約の巻き直しが必要</a:t>
                      </a:r>
                    </a:p>
                  </a:txBody>
                  <a:tcPr marL="54000" marR="36000" marT="18000" marB="18000" anchor="ctr">
                    <a:lnL w="9525" cap="flat" cmpd="sng">
                      <a:solidFill>
                        <a:srgbClr val="000000">
                          <a:alpha val="0"/>
                        </a:srgbClr>
                      </a:solidFill>
                      <a:prstDash val="solid"/>
                      <a:round/>
                      <a:headEnd type="none" w="sm" len="sm"/>
                      <a:tailEnd type="none" w="sm" len="sm"/>
                    </a:lnL>
                    <a:lnR w="12700" cap="flat" cmpd="sng">
                      <a:solidFill>
                        <a:srgbClr val="C8C8C8"/>
                      </a:solidFill>
                      <a:prstDash val="solid"/>
                      <a:round/>
                      <a:headEnd type="none" w="sm" len="sm"/>
                      <a:tailEnd type="none" w="sm" len="sm"/>
                    </a:lnR>
                    <a:lnT w="12700" cap="flat" cmpd="sng" algn="ctr">
                      <a:solidFill>
                        <a:srgbClr val="C8C8C8"/>
                      </a:solidFill>
                      <a:prstDash val="solid"/>
                      <a:round/>
                      <a:headEnd type="none" w="sm" len="sm"/>
                      <a:tailEnd type="none" w="sm" len="sm"/>
                    </a:lnT>
                    <a:lnB w="12700" cap="flat" cmpd="sng">
                      <a:solidFill>
                        <a:srgbClr val="C8C8C8"/>
                      </a:solidFill>
                      <a:prstDash val="solid"/>
                      <a:round/>
                      <a:headEnd type="none" w="sm" len="sm"/>
                      <a:tailEnd type="none" w="sm" len="sm"/>
                    </a:lnB>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
                          <a:prstClr val="black"/>
                        </a:buClr>
                        <a:buSzPts val="1600"/>
                        <a:buFont typeface="Arial"/>
                        <a:buNone/>
                        <a:tabLst/>
                        <a:defRPr/>
                      </a:pPr>
                      <a:r>
                        <a:rPr sz="850" b="0">
                          <a:latin typeface="Meiryo UI"/>
                          <a:ea typeface="Meiryo UI"/>
                        </a:rPr>
                        <a:t>原則承継（COC条項の有無を確認）</a:t>
                      </a:r>
                      <a:endParaRPr kumimoji="0" lang="ja-JP" altLang="ja-JP" sz="1600" b="1"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Arial"/>
                        <a:sym typeface="Arial"/>
                      </a:endParaRPr>
                    </a:p>
                  </a:txBody>
                  <a:tcPr marL="54000" marR="36000" marT="18000" marB="18000" anchor="ctr">
                    <a:lnL w="12700" cap="flat" cmpd="sng">
                      <a:solidFill>
                        <a:srgbClr val="C8C8C8"/>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lgn="ctr">
                      <a:solidFill>
                        <a:srgbClr val="C8C8C8"/>
                      </a:solidFill>
                      <a:prstDash val="solid"/>
                      <a:round/>
                      <a:headEnd type="none" w="sm" len="sm"/>
                      <a:tailEnd type="none" w="sm" len="sm"/>
                    </a:lnT>
                    <a:lnB w="12700" cap="flat" cmpd="sng">
                      <a:solidFill>
                        <a:srgbClr val="C8C8C8"/>
                      </a:solidFill>
                      <a:prstDash val="solid"/>
                      <a:round/>
                      <a:headEnd type="none" w="sm" len="sm"/>
                      <a:tailEnd type="none" w="sm" len="sm"/>
                    </a:lnB>
                    <a:solidFill>
                      <a:srgbClr val="FFFFFF"/>
                    </a:solidFill>
                  </a:tcPr>
                </a:tc>
                <a:extLst>
                  <a:ext uri="{0D108BD9-81ED-4DB2-BD59-A6C34878D82A}">
                    <a16:rowId xmlns:a16="http://schemas.microsoft.com/office/drawing/2014/main" val="10008"/>
                  </a:ext>
                </a:extLst>
              </a:tr>
              <a:tr h="484632">
                <a:tc>
                  <a:txBody>
                    <a:bodyPr/>
                    <a:lstStyle/>
                    <a:p>
                      <a:pPr marL="0" marR="0" lvl="0" indent="0" algn="ctr" rtl="0">
                        <a:spcBef>
                          <a:spcPts val="0"/>
                        </a:spcBef>
                        <a:spcAft>
                          <a:spcPts val="0"/>
                        </a:spcAft>
                        <a:buNone/>
                      </a:pPr>
                      <a:r>
                        <a:rPr sz="850" b="1">
                          <a:latin typeface="Meiryo UI"/>
                          <a:ea typeface="Meiryo UI"/>
                        </a:rPr>
                        <a:t>簿外債務・税務労務リスク</a:t>
                      </a:r>
                    </a:p>
                  </a:txBody>
                  <a:tcPr marL="54000" marR="36000" marT="18000" marB="18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60000"/>
                        <a:lumOff val="40000"/>
                      </a:schemeClr>
                    </a:solidFill>
                  </a:tcPr>
                </a:tc>
                <a:tc>
                  <a:txBody>
                    <a:bodyPr/>
                    <a:lstStyle/>
                    <a:p>
                      <a:pPr marL="0" marR="0" lvl="0" indent="0" algn="l" rtl="0">
                        <a:spcBef>
                          <a:spcPts val="0"/>
                        </a:spcBef>
                        <a:spcAft>
                          <a:spcPts val="0"/>
                        </a:spcAft>
                        <a:buNone/>
                      </a:pPr>
                      <a:r>
                        <a:rPr sz="850" b="0">
                          <a:latin typeface="Meiryo UI"/>
                          <a:ea typeface="Meiryo UI"/>
                        </a:rPr>
                        <a:t>承継しやすい</a:t>
                      </a:r>
                    </a:p>
                  </a:txBody>
                  <a:tcPr marL="54000" marR="36000" marT="18000" marB="18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lt1"/>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66A09A"/>
                        </a:buClr>
                        <a:buSzPts val="1120"/>
                        <a:buFont typeface="Arial"/>
                        <a:buNone/>
                      </a:pPr>
                      <a:r>
                        <a:rPr sz="850" b="0">
                          <a:latin typeface="Meiryo UI"/>
                          <a:ea typeface="Meiryo UI"/>
                        </a:rPr>
                        <a:t>承継対象外とすることで遮断しやすい</a:t>
                      </a:r>
                      <a:endParaRPr lang="en-US" altLang="ja-JP" sz="1050" u="none" strike="noStrike" cap="none" dirty="0">
                        <a:solidFill>
                          <a:schemeClr val="dk1"/>
                        </a:solidFill>
                        <a:latin typeface="Meiryo UI" panose="020B0604030504040204" pitchFamily="50" charset="-128"/>
                        <a:ea typeface="Meiryo UI" panose="020B0604030504040204" pitchFamily="50" charset="-128"/>
                      </a:endParaRPr>
                    </a:p>
                  </a:txBody>
                  <a:tcPr marL="54000" marR="36000" marT="18000" marB="18000" anchor="ctr">
                    <a:lnL w="9525" cap="flat" cmpd="sng">
                      <a:solidFill>
                        <a:srgbClr val="000000">
                          <a:alpha val="0"/>
                        </a:srgbClr>
                      </a:solidFill>
                      <a:prstDash val="solid"/>
                      <a:round/>
                      <a:headEnd type="none" w="sm" len="sm"/>
                      <a:tailEnd type="none" w="sm" len="sm"/>
                    </a:lnL>
                    <a:lnR w="12700" cap="flat" cmpd="sng">
                      <a:solidFill>
                        <a:srgbClr val="C8C8C8"/>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rgbClr val="C8C8C8"/>
                      </a:solidFill>
                      <a:prstDash val="solid"/>
                      <a:round/>
                      <a:headEnd type="none" w="sm" len="sm"/>
                      <a:tailEnd type="none" w="sm" len="sm"/>
                    </a:lnB>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
                          <a:prstClr val="black"/>
                        </a:buClr>
                        <a:buSzPts val="1600"/>
                        <a:buFont typeface="Arial"/>
                        <a:buNone/>
                        <a:tabLst/>
                        <a:defRPr/>
                      </a:pPr>
                      <a:r>
                        <a:rPr sz="850" b="0">
                          <a:latin typeface="Meiryo UI"/>
                          <a:ea typeface="Meiryo UI"/>
                        </a:rPr>
                        <a:t>分割契約の定めによる</a:t>
                      </a:r>
                      <a:endParaRPr kumimoji="0" lang="ja-JP" altLang="ja-JP" sz="1600" b="1"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Arial"/>
                        <a:sym typeface="Arial"/>
                      </a:endParaRPr>
                    </a:p>
                  </a:txBody>
                  <a:tcPr marL="54000" marR="36000" marT="18000" marB="18000" anchor="ctr">
                    <a:lnL w="12700" cap="flat" cmpd="sng">
                      <a:solidFill>
                        <a:srgbClr val="C8C8C8"/>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rgbClr val="C8C8C8"/>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484632">
                <a:tc>
                  <a:txBody>
                    <a:bodyPr/>
                    <a:lstStyle/>
                    <a:p>
                      <a:pPr marL="0" marR="0" lvl="0" indent="0" algn="ctr" rtl="0">
                        <a:spcBef>
                          <a:spcPts val="0"/>
                        </a:spcBef>
                        <a:spcAft>
                          <a:spcPts val="0"/>
                        </a:spcAft>
                        <a:buNone/>
                      </a:pPr>
                      <a:r>
                        <a:rPr sz="850" b="1">
                          <a:latin typeface="Meiryo UI"/>
                          <a:ea typeface="Meiryo UI"/>
                        </a:rPr>
                        <a:t>消費税</a:t>
                      </a:r>
                    </a:p>
                  </a:txBody>
                  <a:tcPr marL="54000" marR="36000" marT="18000" marB="18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60000"/>
                        <a:lumOff val="40000"/>
                      </a:schemeClr>
                    </a:solidFill>
                  </a:tcPr>
                </a:tc>
                <a:tc>
                  <a:txBody>
                    <a:bodyPr/>
                    <a:lstStyle/>
                    <a:p>
                      <a:pPr marL="0" marR="0" lvl="0" indent="0" algn="l" rtl="0">
                        <a:spcBef>
                          <a:spcPts val="0"/>
                        </a:spcBef>
                        <a:spcAft>
                          <a:spcPts val="0"/>
                        </a:spcAft>
                        <a:buNone/>
                      </a:pPr>
                      <a:r>
                        <a:rPr sz="850" b="0">
                          <a:latin typeface="Meiryo UI"/>
                          <a:ea typeface="Meiryo UI"/>
                        </a:rPr>
                        <a:t>非課税</a:t>
                      </a:r>
                    </a:p>
                  </a:txBody>
                  <a:tcPr marL="54000" marR="36000" marT="18000" marB="18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lt1"/>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66A09A"/>
                        </a:buClr>
                        <a:buSzPts val="1120"/>
                        <a:buFont typeface="Arial"/>
                        <a:buNone/>
                      </a:pPr>
                      <a:r>
                        <a:rPr sz="850" b="0">
                          <a:latin typeface="Meiryo UI"/>
                          <a:ea typeface="Meiryo UI"/>
                        </a:rPr>
                        <a:t>対価（営業権・棚卸資産等）に課税</a:t>
                      </a:r>
                      <a:endParaRPr lang="en-US" altLang="ja-JP" sz="1050" u="none" strike="noStrike" cap="none" dirty="0">
                        <a:solidFill>
                          <a:schemeClr val="dk1"/>
                        </a:solidFill>
                        <a:latin typeface="Meiryo UI" panose="020B0604030504040204" pitchFamily="50" charset="-128"/>
                        <a:ea typeface="Meiryo UI" panose="020B0604030504040204" pitchFamily="50" charset="-128"/>
                      </a:endParaRPr>
                    </a:p>
                  </a:txBody>
                  <a:tcPr marL="54000" marR="36000" marT="18000" marB="18000" anchor="ctr">
                    <a:lnL w="9525" cap="flat" cmpd="sng">
                      <a:solidFill>
                        <a:srgbClr val="000000">
                          <a:alpha val="0"/>
                        </a:srgbClr>
                      </a:solidFill>
                      <a:prstDash val="solid"/>
                      <a:round/>
                      <a:headEnd type="none" w="sm" len="sm"/>
                      <a:tailEnd type="none" w="sm" len="sm"/>
                    </a:lnL>
                    <a:lnR w="12700" cap="flat" cmpd="sng">
                      <a:solidFill>
                        <a:srgbClr val="C8C8C8"/>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rgbClr val="C8C8C8"/>
                      </a:solidFill>
                      <a:prstDash val="solid"/>
                      <a:round/>
                      <a:headEnd type="none" w="sm" len="sm"/>
                      <a:tailEnd type="none" w="sm" len="sm"/>
                    </a:lnB>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
                          <a:prstClr val="black"/>
                        </a:buClr>
                        <a:buSzPts val="1600"/>
                        <a:buFont typeface="Arial"/>
                        <a:buNone/>
                        <a:tabLst/>
                        <a:defRPr/>
                      </a:pPr>
                      <a:r>
                        <a:rPr sz="850" b="0">
                          <a:latin typeface="Meiryo UI"/>
                          <a:ea typeface="Meiryo UI"/>
                        </a:rPr>
                        <a:t>原則不課税</a:t>
                      </a:r>
                      <a:endParaRPr kumimoji="0" lang="ja-JP" altLang="ja-JP" sz="1600" b="1"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Arial"/>
                        <a:sym typeface="Arial"/>
                      </a:endParaRPr>
                    </a:p>
                  </a:txBody>
                  <a:tcPr marL="54000" marR="36000" marT="18000" marB="18000" anchor="ctr">
                    <a:lnL w="12700" cap="flat" cmpd="sng">
                      <a:solidFill>
                        <a:srgbClr val="C8C8C8"/>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rgbClr val="C8C8C8"/>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484632">
                <a:tc>
                  <a:txBody>
                    <a:bodyPr/>
                    <a:lstStyle/>
                    <a:p>
                      <a:pPr marL="0" marR="0" lvl="0" indent="0" algn="ctr" rtl="0">
                        <a:spcBef>
                          <a:spcPts val="0"/>
                        </a:spcBef>
                        <a:spcAft>
                          <a:spcPts val="0"/>
                        </a:spcAft>
                        <a:buNone/>
                      </a:pPr>
                      <a:r>
                        <a:rPr sz="850" b="1">
                          <a:latin typeface="Meiryo UI"/>
                          <a:ea typeface="Meiryo UI"/>
                        </a:rPr>
                        <a:t>手続期間の目安</a:t>
                      </a:r>
                    </a:p>
                  </a:txBody>
                  <a:tcPr marL="54000" marR="36000" marT="18000" marB="18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60000"/>
                        <a:lumOff val="40000"/>
                      </a:schemeClr>
                    </a:solidFill>
                  </a:tcPr>
                </a:tc>
                <a:tc>
                  <a:txBody>
                    <a:bodyPr/>
                    <a:lstStyle/>
                    <a:p>
                      <a:pPr marL="0" marR="0" lvl="0" indent="0" algn="l" rtl="0">
                        <a:spcBef>
                          <a:spcPts val="0"/>
                        </a:spcBef>
                        <a:spcAft>
                          <a:spcPts val="0"/>
                        </a:spcAft>
                        <a:buNone/>
                      </a:pPr>
                      <a:r>
                        <a:rPr sz="850" b="0">
                          <a:latin typeface="Meiryo UI"/>
                          <a:ea typeface="Meiryo UI"/>
                        </a:rPr>
                        <a:t>最終契約〜クロージング 約1ヶ月</a:t>
                      </a:r>
                    </a:p>
                  </a:txBody>
                  <a:tcPr marL="54000" marR="36000" marT="18000" marB="18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lt1"/>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66A09A"/>
                        </a:buClr>
                        <a:buSzPts val="1120"/>
                        <a:buFont typeface="Arial"/>
                        <a:buNone/>
                      </a:pPr>
                      <a:r>
                        <a:rPr sz="850" b="0">
                          <a:latin typeface="Meiryo UI"/>
                          <a:ea typeface="Meiryo UI"/>
                        </a:rPr>
                        <a:t>資産・契約の個別移転手続に相応の期間</a:t>
                      </a:r>
                      <a:endParaRPr lang="en-US" altLang="ja-JP" sz="1050" u="none" strike="noStrike" cap="none" dirty="0">
                        <a:solidFill>
                          <a:schemeClr val="dk1"/>
                        </a:solidFill>
                        <a:latin typeface="Meiryo UI" panose="020B0604030504040204" pitchFamily="50" charset="-128"/>
                        <a:ea typeface="Meiryo UI" panose="020B0604030504040204" pitchFamily="50" charset="-128"/>
                      </a:endParaRPr>
                    </a:p>
                  </a:txBody>
                  <a:tcPr marL="54000" marR="36000" marT="18000" marB="18000" anchor="ctr">
                    <a:lnL w="9525" cap="flat" cmpd="sng">
                      <a:solidFill>
                        <a:srgbClr val="000000">
                          <a:alpha val="0"/>
                        </a:srgbClr>
                      </a:solidFill>
                      <a:prstDash val="solid"/>
                      <a:round/>
                      <a:headEnd type="none" w="sm" len="sm"/>
                      <a:tailEnd type="none" w="sm" len="sm"/>
                    </a:lnL>
                    <a:lnR w="12700" cap="flat" cmpd="sng">
                      <a:solidFill>
                        <a:srgbClr val="C8C8C8"/>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rgbClr val="C8C8C8"/>
                      </a:solidFill>
                      <a:prstDash val="solid"/>
                      <a:round/>
                      <a:headEnd type="none" w="sm" len="sm"/>
                      <a:tailEnd type="none" w="sm" len="sm"/>
                    </a:lnB>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
                          <a:prstClr val="black"/>
                        </a:buClr>
                        <a:buSzPts val="1600"/>
                        <a:buFont typeface="Arial"/>
                        <a:buNone/>
                        <a:tabLst/>
                        <a:defRPr/>
                      </a:pPr>
                      <a:r>
                        <a:rPr sz="850" b="0">
                          <a:latin typeface="Meiryo UI"/>
                          <a:ea typeface="Meiryo UI"/>
                        </a:rPr>
                        <a:t>債権者保護手続等により＋1.5〜2ヶ月</a:t>
                      </a:r>
                      <a:endParaRPr kumimoji="0" lang="ja-JP" altLang="ja-JP" sz="1600" b="1"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Arial"/>
                        <a:sym typeface="Arial"/>
                      </a:endParaRPr>
                    </a:p>
                  </a:txBody>
                  <a:tcPr marL="54000" marR="36000" marT="18000" marB="18000" anchor="ctr">
                    <a:lnL w="12700" cap="flat" cmpd="sng">
                      <a:solidFill>
                        <a:srgbClr val="C8C8C8"/>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rgbClr val="C8C8C8"/>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bl>
          </a:graphicData>
        </a:graphic>
      </p:graphicFrame>
      <p:sp>
        <p:nvSpPr>
          <p:cNvPr id="208" name="Google Shape;208;p3"/>
          <p:cNvSpPr txBox="1"/>
          <p:nvPr/>
        </p:nvSpPr>
        <p:spPr>
          <a:xfrm>
            <a:off x="9450000" y="0"/>
            <a:ext cx="3400000" cy="6858000"/>
          </a:xfrm>
          <a:prstGeom prst="rect">
            <a:avLst/>
          </a:prstGeom>
          <a:solidFill>
            <a:srgbClr val="EEF7CD"/>
          </a:solidFill>
          <a:ln>
            <a:noFill/>
          </a:ln>
        </p:spPr>
        <p:txBody>
          <a:bodyPr spcFirstLastPara="1" wrap="square" lIns="72000" tIns="36000" rIns="72000" bIns="36000" anchor="ctr" anchorCtr="0">
            <a:noAutofit/>
          </a:bodyPr>
          <a:lstStyle/>
          <a:p>
            <a:pPr marL="0" marR="0" lvl="0" indent="0" algn="l" rtl="0">
              <a:lnSpc>
                <a:spcPct val="110000"/>
              </a:lnSpc>
              <a:spcBef>
                <a:spcPts val="0"/>
              </a:spcBef>
              <a:spcAft>
                <a:spcPts val="0"/>
              </a:spcAft>
              <a:buNone/>
            </a:pPr>
            <a:r>
              <a:rPr sz="900" b="0">
                <a:latin typeface="Meiryo UI"/>
                <a:ea typeface="Meiryo UI"/>
              </a:rPr>
              <a:t>【社内メモ｜本資料作成時の留意事項】</a:t>
            </a:r>
            <a:endParaRPr dirty="0"/>
          </a:p>
          <a:p>
            <a:pPr algn="l">
              <a:lnSpc>
                <a:spcPct val="110000"/>
              </a:lnSpc>
            </a:pPr>
            <a:r>
              <a:rPr sz="900" b="0">
                <a:latin typeface="Meiryo UI"/>
                <a:ea typeface="Meiryo UI"/>
              </a:rPr>
              <a:t>※本テキストボックスはスライド範囲外に配置しており、スライドショー・PDF出力には表示されません。買手候補への提示前に内容をご確認ください。</a:t>
            </a:r>
          </a:p>
          <a:p>
            <a:pPr algn="l">
              <a:lnSpc>
                <a:spcPct val="110000"/>
              </a:lnSpc>
            </a:pPr>
            <a:r>
              <a:rPr sz="900" b="0">
                <a:latin typeface="Meiryo UI"/>
                <a:ea typeface="Meiryo UI"/>
              </a:rPr>
              <a:t>　</a:t>
            </a:r>
          </a:p>
          <a:p>
            <a:pPr algn="l">
              <a:lnSpc>
                <a:spcPct val="110000"/>
              </a:lnSpc>
            </a:pPr>
            <a:r>
              <a:rPr sz="900" b="0">
                <a:latin typeface="Meiryo UI"/>
                <a:ea typeface="Meiryo UI"/>
              </a:rPr>
              <a:t>１．基準EBITDA 18,760千円は株式価値試算報告書（2026年4月17日付）の記載値。修正後EBITDA（14,806／14,410／22,952）を1:2:3で加重平均すると18,747千円となり13千円の差が生じるため、案件マスターで算定根拠を確定すること。</a:t>
            </a:r>
          </a:p>
          <a:p>
            <a:pPr algn="l">
              <a:lnSpc>
                <a:spcPct val="110000"/>
              </a:lnSpc>
            </a:pPr>
            <a:r>
              <a:rPr sz="900" b="0">
                <a:latin typeface="Meiryo UI"/>
                <a:ea typeface="Meiryo UI"/>
              </a:rPr>
              <a:t>　</a:t>
            </a:r>
          </a:p>
          <a:p>
            <a:pPr algn="l">
              <a:lnSpc>
                <a:spcPct val="110000"/>
              </a:lnSpc>
            </a:pPr>
            <a:r>
              <a:rPr sz="900" b="0">
                <a:latin typeface="Meiryo UI"/>
                <a:ea typeface="Meiryo UI"/>
              </a:rPr>
              <a:t>２．「スキーム比較のご提案」（2026年5月29日付）では基準EBITDA 18,512千円・倍率4〜6倍（EV 74,046〜111,069千円）と記載されており、株式価値試算報告書（18,760千円・3〜5倍）と数値・倍率がいずれも異なる。買手候補ごとに提示数値が食い違わないよう、提示前に統一すること。本資料は株式価値試算報告書の数値に統一している。</a:t>
            </a:r>
          </a:p>
          <a:p>
            <a:pPr algn="l">
              <a:lnSpc>
                <a:spcPct val="110000"/>
              </a:lnSpc>
            </a:pPr>
            <a:r>
              <a:rPr sz="900" b="0">
                <a:latin typeface="Meiryo UI"/>
                <a:ea typeface="Meiryo UI"/>
              </a:rPr>
              <a:t>　</a:t>
            </a:r>
          </a:p>
          <a:p>
            <a:pPr algn="l">
              <a:lnSpc>
                <a:spcPct val="110000"/>
              </a:lnSpc>
            </a:pPr>
            <a:r>
              <a:rPr sz="900" b="0">
                <a:latin typeface="Meiryo UI"/>
                <a:ea typeface="Meiryo UI"/>
              </a:rPr>
              <a:t>３．株式価値試算報告書の「販管費及び一般管理費の修正」の修正後合計（2025年12月期 47,260千円）と、PLハイライトから逆算した販管費（44,780千円＝売上総利益67,190－営業利益22,410）に2,480千円の差異がある。案件マスターで整合を確認すること。</a:t>
            </a:r>
          </a:p>
          <a:p>
            <a:pPr algn="l">
              <a:lnSpc>
                <a:spcPct val="110000"/>
              </a:lnSpc>
            </a:pPr>
            <a:r>
              <a:rPr sz="900" b="0">
                <a:latin typeface="Meiryo UI"/>
                <a:ea typeface="Meiryo UI"/>
              </a:rPr>
              <a:t>　</a:t>
            </a:r>
          </a:p>
          <a:p>
            <a:pPr algn="l">
              <a:lnSpc>
                <a:spcPct val="110000"/>
              </a:lnSpc>
            </a:pPr>
            <a:r>
              <a:rPr sz="900" b="0">
                <a:latin typeface="Meiryo UI"/>
                <a:ea typeface="Meiryo UI"/>
              </a:rPr>
              <a:t>４．企業概要書の売上高（2024年12月期252,085／2025年12月期375,521千円）と分析資料の売上高（201,668／356,909千円）が異なる。前者は軽配送事業を含む全社ベース、後者はフォワーダー事業単体ベースと理解しているが、2023年12月期のみ両者が一致（282,040千円）しており、同期の軽配送事業売上の除外が未反映の可能性がある。要検証。</a:t>
            </a:r>
          </a:p>
          <a:p>
            <a:pPr algn="l">
              <a:lnSpc>
                <a:spcPct val="110000"/>
              </a:lnSpc>
            </a:pPr>
            <a:r>
              <a:rPr sz="900" b="0">
                <a:latin typeface="Meiryo UI"/>
                <a:ea typeface="Meiryo UI"/>
              </a:rPr>
              <a:t>　</a:t>
            </a:r>
          </a:p>
          <a:p>
            <a:pPr algn="l">
              <a:lnSpc>
                <a:spcPct val="110000"/>
              </a:lnSpc>
            </a:pPr>
            <a:r>
              <a:rPr sz="900" b="0">
                <a:latin typeface="Meiryo UI"/>
                <a:ea typeface="Meiryo UI"/>
              </a:rPr>
              <a:t>５．P10の「＋6,920千円（軽配送事業の切離し・販管費の部門別賦課）」は、企業概要書の調整後EBITDA 9,922千円と本資料の22,952千円の差額13,030千円から役員報酬差6,110千円を控除した残差として算出したもの。内訳を案件マスターで分解し、確定させること。</a:t>
            </a:r>
          </a:p>
          <a:p>
            <a:pPr algn="l">
              <a:lnSpc>
                <a:spcPct val="110000"/>
              </a:lnSpc>
            </a:pPr>
            <a:r>
              <a:rPr sz="900" b="0">
                <a:latin typeface="Meiryo UI"/>
                <a:ea typeface="Meiryo UI"/>
              </a:rPr>
              <a:t>　</a:t>
            </a:r>
          </a:p>
          <a:p>
            <a:pPr algn="l">
              <a:lnSpc>
                <a:spcPct val="110000"/>
              </a:lnSpc>
            </a:pPr>
            <a:r>
              <a:rPr sz="900" b="0">
                <a:latin typeface="Meiryo UI"/>
                <a:ea typeface="Meiryo UI"/>
              </a:rPr>
              <a:t>６．弊社成功報酬について、企業概要書の報酬体系では「時価総資産（営業権含む）2億円以下の部分＝2,000万円、最低額1,500万円」、「スキーム比較のご提案」では「アドバイザリー報酬10,000千円」と記載が異なる。提示前の統一が必要なため、本資料では金額を記載せず「別途ご提示」としている。</a:t>
            </a:r>
          </a:p>
          <a:p>
            <a:pPr algn="l">
              <a:lnSpc>
                <a:spcPct val="110000"/>
              </a:lnSpc>
            </a:pPr>
            <a:r>
              <a:rPr sz="900" b="0">
                <a:latin typeface="Meiryo UI"/>
                <a:ea typeface="Meiryo UI"/>
              </a:rPr>
              <a:t>　</a:t>
            </a:r>
          </a:p>
          <a:p>
            <a:pPr algn="l">
              <a:lnSpc>
                <a:spcPct val="110000"/>
              </a:lnSpc>
            </a:pPr>
            <a:r>
              <a:rPr sz="900" b="0">
                <a:latin typeface="Meiryo UI"/>
                <a:ea typeface="Meiryo UI"/>
              </a:rPr>
              <a:t>７．他の買手候補（ジャパン・バン・ラインズ株式会社）への提示資料の存在および提示条件については、本資料および面談において一切言及しないこと。</a:t>
            </a:r>
          </a:p>
          <a:p>
            <a:pPr algn="l">
              <a:lnSpc>
                <a:spcPct val="110000"/>
              </a:lnSpc>
            </a:pPr>
            <a:r>
              <a:rPr sz="900" b="0">
                <a:latin typeface="Meiryo UI"/>
                <a:ea typeface="Meiryo UI"/>
              </a:rPr>
              <a:t>　</a:t>
            </a:r>
          </a:p>
          <a:p>
            <a:pPr algn="l">
              <a:lnSpc>
                <a:spcPct val="110000"/>
              </a:lnSpc>
            </a:pPr>
            <a:r>
              <a:rPr sz="900" b="0">
                <a:latin typeface="Meiryo UI"/>
                <a:ea typeface="Meiryo UI"/>
              </a:rPr>
              <a:t>８．「2026年4月中に代表保有の休眠会社へ軽配送事業を切り分ける想定」（企業概要書P6）は同年4月時点の記載。本日（2026年8月16日）時点の実行状況を売主に確認のうえ、面談前にP7・P8を更新すること。</a:t>
            </a:r>
          </a:p>
          <a:p>
            <a:pPr algn="l">
              <a:lnSpc>
                <a:spcPct val="110000"/>
              </a:lnSpc>
            </a:pPr>
            <a:r>
              <a:rPr sz="900" b="0">
                <a:latin typeface="Meiryo UI"/>
                <a:ea typeface="Meiryo UI"/>
              </a:rPr>
              <a:t>　</a:t>
            </a:r>
          </a:p>
          <a:p>
            <a:pPr algn="l">
              <a:lnSpc>
                <a:spcPct val="110000"/>
              </a:lnSpc>
            </a:pPr>
            <a:r>
              <a:rPr sz="900" b="0">
                <a:latin typeface="Meiryo UI"/>
                <a:ea typeface="Meiryo UI"/>
              </a:rPr>
              <a:t>９．役員借入金 約10,000千円の貸借対照表上の計上区分が未確定。短期借入金15,321千円に含まれる場合、P6の手出し資金表（③と⑤）で二重計上となるため要修正。</a:t>
            </a:r>
          </a:p>
          <a:p>
            <a:pPr algn="l">
              <a:lnSpc>
                <a:spcPct val="110000"/>
              </a:lnSpc>
            </a:pPr>
            <a:r>
              <a:rPr sz="900" b="0">
                <a:latin typeface="Meiryo UI"/>
                <a:ea typeface="Meiryo UI"/>
              </a:rPr>
              <a:t>　</a:t>
            </a:r>
          </a:p>
          <a:p>
            <a:pPr algn="l">
              <a:lnSpc>
                <a:spcPct val="110000"/>
              </a:lnSpc>
            </a:pPr>
            <a:r>
              <a:rPr sz="900" b="0">
                <a:latin typeface="Meiryo UI"/>
                <a:ea typeface="Meiryo UI"/>
              </a:rPr>
              <a:t>10．第一種貨物利用運送事業（外航海運）の事業譲渡・会社分割時の承継手続については、所管官庁（国土交通省）への確認が必要。本資料では「要確認」としている。</a:t>
            </a:r>
          </a:p>
          <a:p>
            <a:pPr algn="l">
              <a:lnSpc>
                <a:spcPct val="110000"/>
              </a:lnSpc>
            </a:pPr>
            <a:r>
              <a:rPr sz="900" b="0">
                <a:latin typeface="Meiryo UI"/>
                <a:ea typeface="Meiryo UI"/>
              </a:rPr>
              <a:t>　</a:t>
            </a:r>
          </a:p>
          <a:p>
            <a:pPr algn="l">
              <a:lnSpc>
                <a:spcPct val="110000"/>
              </a:lnSpc>
            </a:pPr>
            <a:r>
              <a:rPr sz="900" b="0">
                <a:latin typeface="Meiryo UI"/>
                <a:ea typeface="Meiryo UI"/>
              </a:rPr>
              <a:t>11．発行済株式数は企業概要書内で「3,000株」（基本情報）と「300株」（株主及び役員）の2通りの記載。登記簿で確定のうえ、企業概要書も修正すること。</a:t>
            </a:r>
          </a:p>
          <a:p>
            <a:pPr algn="l">
              <a:lnSpc>
                <a:spcPct val="110000"/>
              </a:lnSpc>
            </a:pPr>
            <a:r>
              <a:rPr sz="900" b="0">
                <a:latin typeface="Meiryo UI"/>
                <a:ea typeface="Meiryo UI"/>
              </a:rPr>
              <a:t>　</a:t>
            </a:r>
          </a:p>
        </p:txBody>
      </p:sp>
      <p:sp>
        <p:nvSpPr>
          <p:cNvPr id="4" name="正方形/長方形 3">
            <a:extLst>
              <a:ext uri="{FF2B5EF4-FFF2-40B4-BE49-F238E27FC236}">
                <a16:creationId xmlns:a16="http://schemas.microsoft.com/office/drawing/2014/main" id="{F63F0559-A471-05FB-7992-03A5FE1C9DE2}"/>
              </a:ext>
            </a:extLst>
          </p:cNvPr>
          <p:cNvSpPr/>
          <p:nvPr/>
        </p:nvSpPr>
        <p:spPr>
          <a:xfrm>
            <a:off x="249787" y="971550"/>
            <a:ext cx="8623625" cy="230832"/>
          </a:xfrm>
          <a:prstGeom prst="rect">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r>
              <a:rPr sz="1050" b="1">
                <a:solidFill>
                  <a:srgbClr val="FFFFFF"/>
                </a:solidFill>
                <a:latin typeface="Meiryo UI"/>
                <a:ea typeface="Meiryo UI"/>
              </a:rPr>
              <a:t>スキーム比較｜株式譲渡・事業譲渡・会社分割</a:t>
            </a:r>
          </a:p>
        </p:txBody>
      </p:sp>
      <p:sp>
        <p:nvSpPr>
          <p:cNvPr id="210" name="TextBox 209"/>
          <p:cNvSpPr txBox="1"/>
          <p:nvPr/>
        </p:nvSpPr>
        <p:spPr>
          <a:xfrm>
            <a:off x="265176" y="6400000"/>
            <a:ext cx="8631936" cy="274320"/>
          </a:xfrm>
          <a:prstGeom prst="rect">
            <a:avLst/>
          </a:prstGeom>
          <a:noFill/>
        </p:spPr>
        <p:txBody>
          <a:bodyPr wrap="square">
            <a:spAutoFit/>
          </a:bodyPr>
          <a:lstStyle/>
          <a:p>
            <a:pPr algn="l">
              <a:lnSpc>
                <a:spcPct val="115000"/>
              </a:lnSpc>
            </a:pPr>
            <a:r>
              <a:rPr sz="750" b="0">
                <a:latin typeface="Meiryo UI"/>
                <a:ea typeface="Meiryo UI"/>
              </a:rPr>
              <a:t>※上記は一般的な整理であり、本件における具体的な取扱いは今後の協議および専門家による確認によります。</a:t>
            </a:r>
          </a:p>
          <a:p>
            <a:pPr algn="l">
              <a:lnSpc>
                <a:spcPct val="115000"/>
              </a:lnSpc>
            </a:pPr>
            <a:r>
              <a:rPr sz="750" b="0">
                <a:latin typeface="Meiryo UI"/>
                <a:ea typeface="Meiryo UI"/>
              </a:rPr>
              <a:t>※許認可（第一種貨物利用運送事業）の承継可否・手続については、所管官庁への確認が必要なため「要確認」としております。</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04" name="Google Shape;204;p3"/>
          <p:cNvSpPr txBox="1">
            <a:spLocks noGrp="1"/>
          </p:cNvSpPr>
          <p:nvPr>
            <p:ph type="title"/>
          </p:nvPr>
        </p:nvSpPr>
        <p:spPr>
          <a:xfrm>
            <a:off x="395536" y="332655"/>
            <a:ext cx="6696744" cy="288033"/>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sz="1400" b="1">
                <a:solidFill>
                  <a:srgbClr val="5A5A5A"/>
                </a:solidFill>
                <a:latin typeface="Meiryo UI"/>
                <a:ea typeface="Meiryo UI"/>
              </a:rPr>
              <a:t>スキーム別の手出し資金（初期投資額）の比較</a:t>
            </a:r>
            <a:endParaRPr b="1" dirty="0">
              <a:solidFill>
                <a:srgbClr val="5A5A5A"/>
              </a:solidFill>
              <a:latin typeface="Meiryo UI" panose="020B0604030504040204" pitchFamily="50" charset="-128"/>
              <a:ea typeface="Meiryo UI" panose="020B0604030504040204" pitchFamily="50" charset="-128"/>
              <a:sym typeface="Arial"/>
            </a:endParaRPr>
          </a:p>
        </p:txBody>
      </p:sp>
      <p:sp>
        <p:nvSpPr>
          <p:cNvPr id="205" name="Google Shape;205;p3"/>
          <p:cNvSpPr txBox="1"/>
          <p:nvPr/>
        </p:nvSpPr>
        <p:spPr>
          <a:xfrm>
            <a:off x="323528" y="116632"/>
            <a:ext cx="2376264" cy="188640"/>
          </a:xfrm>
          <a:prstGeom prst="rect">
            <a:avLst/>
          </a:prstGeom>
          <a:noFill/>
          <a:ln>
            <a:noFill/>
          </a:ln>
        </p:spPr>
        <p:txBody>
          <a:bodyPr spcFirstLastPara="1" wrap="square" lIns="36000" tIns="0" rIns="0" bIns="0" anchor="ctr" anchorCtr="0">
            <a:noAutofit/>
          </a:bodyPr>
          <a:lstStyle/>
          <a:p>
            <a:pPr marL="0" marR="0" lvl="0" indent="0" algn="l" rtl="0">
              <a:lnSpc>
                <a:spcPct val="100000"/>
              </a:lnSpc>
              <a:spcBef>
                <a:spcPts val="0"/>
              </a:spcBef>
              <a:spcAft>
                <a:spcPts val="0"/>
              </a:spcAft>
              <a:buClr>
                <a:srgbClr val="5A5A5A"/>
              </a:buClr>
              <a:buSzPts val="1000"/>
              <a:buFont typeface="Arial"/>
              <a:buNone/>
            </a:pPr>
            <a:r>
              <a:rPr sz="1000" b="0">
                <a:solidFill>
                  <a:srgbClr val="5A5A5A"/>
                </a:solidFill>
                <a:latin typeface="Meiryo UI"/>
                <a:ea typeface="Meiryo UI"/>
              </a:rPr>
              <a:t>本件の論点整理</a:t>
            </a:r>
            <a:endParaRPr>
              <a:latin typeface="Meiryo UI" panose="020B0604030504040204" pitchFamily="50" charset="-128"/>
              <a:ea typeface="Meiryo UI" panose="020B0604030504040204" pitchFamily="50" charset="-128"/>
            </a:endParaRPr>
          </a:p>
        </p:txBody>
      </p:sp>
      <p:sp>
        <p:nvSpPr>
          <p:cNvPr id="206" name="Google Shape;206;p3"/>
          <p:cNvSpPr/>
          <p:nvPr/>
        </p:nvSpPr>
        <p:spPr>
          <a:xfrm>
            <a:off x="0" y="116632"/>
            <a:ext cx="323528" cy="180000"/>
          </a:xfrm>
          <a:prstGeom prst="parallelogram">
            <a:avLst>
              <a:gd name="adj" fmla="val 32938"/>
            </a:avLst>
          </a:prstGeom>
          <a:solidFill>
            <a:srgbClr val="66A09A"/>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Arial"/>
              <a:buNone/>
            </a:pPr>
            <a:r>
              <a:rPr sz="1000" b="0">
                <a:solidFill>
                  <a:srgbClr val="FFFFFF"/>
                </a:solidFill>
                <a:latin typeface="Meiryo UI"/>
                <a:ea typeface="Meiryo UI"/>
              </a:rPr>
              <a:t>1</a:t>
            </a:r>
            <a:endParaRPr sz="1000" b="0" i="0" u="none" strike="noStrike" cap="none">
              <a:solidFill>
                <a:srgbClr val="FFFFFF"/>
              </a:solidFill>
              <a:latin typeface="Arial"/>
              <a:ea typeface="Arial"/>
              <a:cs typeface="Arial"/>
              <a:sym typeface="Arial"/>
            </a:endParaRPr>
          </a:p>
        </p:txBody>
      </p:sp>
      <p:graphicFrame>
        <p:nvGraphicFramePr>
          <p:cNvPr id="207" name="Google Shape;207;p3"/>
          <p:cNvGraphicFramePr/>
          <p:nvPr>
            <p:extLst>
              <p:ext uri="{D42A27DB-BD31-4B8C-83A1-F6EECF244321}">
                <p14:modId xmlns:p14="http://schemas.microsoft.com/office/powerpoint/2010/main" val="2721619109"/>
              </p:ext>
            </p:extLst>
          </p:nvPr>
        </p:nvGraphicFramePr>
        <p:xfrm>
          <a:off x="265176" y="1481328"/>
          <a:ext cx="8394192" cy="4023360"/>
        </p:xfrm>
        <a:graphic>
          <a:graphicData uri="http://schemas.openxmlformats.org/drawingml/2006/table">
            <a:tbl>
              <a:tblPr>
                <a:noFill/>
                <a:tableStyleId>{FA6B9113-0DA6-4419-ABC6-697280B0F4CE}</a:tableStyleId>
              </a:tblPr>
              <a:tblGrid>
                <a:gridCol w="2304288">
                  <a:extLst>
                    <a:ext uri="{9D8B030D-6E8A-4147-A177-3AD203B41FA5}">
                      <a16:colId xmlns:a16="http://schemas.microsoft.com/office/drawing/2014/main" val="20000"/>
                    </a:ext>
                  </a:extLst>
                </a:gridCol>
                <a:gridCol w="1691640">
                  <a:extLst>
                    <a:ext uri="{9D8B030D-6E8A-4147-A177-3AD203B41FA5}">
                      <a16:colId xmlns:a16="http://schemas.microsoft.com/office/drawing/2014/main" val="20001"/>
                    </a:ext>
                  </a:extLst>
                </a:gridCol>
                <a:gridCol w="2057400">
                  <a:extLst>
                    <a:ext uri="{9D8B030D-6E8A-4147-A177-3AD203B41FA5}">
                      <a16:colId xmlns:a16="http://schemas.microsoft.com/office/drawing/2014/main" val="20002"/>
                    </a:ext>
                  </a:extLst>
                </a:gridCol>
                <a:gridCol w="2340864">
                  <a:extLst>
                    <a:ext uri="{9D8B030D-6E8A-4147-A177-3AD203B41FA5}">
                      <a16:colId xmlns:a16="http://schemas.microsoft.com/office/drawing/2014/main" val="20003"/>
                    </a:ext>
                  </a:extLst>
                </a:gridCol>
              </a:tblGrid>
              <a:tr h="402336">
                <a:tc>
                  <a:txBody>
                    <a:bodyPr/>
                    <a:lstStyle/>
                    <a:p>
                      <a:pPr marL="0" marR="0" lvl="0" indent="0" algn="ctr" rtl="0">
                        <a:spcBef>
                          <a:spcPts val="0"/>
                        </a:spcBef>
                        <a:spcAft>
                          <a:spcPts val="0"/>
                        </a:spcAft>
                        <a:buNone/>
                      </a:pPr>
                      <a:r>
                        <a:rPr sz="900" b="1">
                          <a:latin typeface="Meiryo UI"/>
                          <a:ea typeface="Meiryo UI"/>
                        </a:rPr>
                        <a:t>項目</a:t>
                      </a:r>
                      <a:endParaRPr sz="1400" b="1" u="none" strike="noStrike" cap="none" dirty="0">
                        <a:solidFill>
                          <a:schemeClr val="lt1"/>
                        </a:solidFill>
                        <a:latin typeface="Meiryo UI" panose="020B0604030504040204" pitchFamily="50" charset="-128"/>
                        <a:ea typeface="Meiryo UI" panose="020B0604030504040204" pitchFamily="50" charset="-128"/>
                      </a:endParaRPr>
                    </a:p>
                  </a:txBody>
                  <a:tcPr marL="18000" marR="36000" marT="18000" marB="18000" anchor="ctr">
                    <a:lnL w="9525" cap="flat" cmpd="sng">
                      <a:solidFill>
                        <a:srgbClr val="000000">
                          <a:alpha val="0"/>
                        </a:srgbClr>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accent1">
                        <a:lumMod val="50000"/>
                      </a:schemeClr>
                    </a:solidFill>
                  </a:tcPr>
                </a:tc>
                <a:tc>
                  <a:txBody>
                    <a:bodyPr/>
                    <a:lstStyle/>
                    <a:p>
                      <a:pPr marL="0" marR="0" lvl="0" indent="0" algn="ctr" rtl="0">
                        <a:spcBef>
                          <a:spcPts val="0"/>
                        </a:spcBef>
                        <a:spcAft>
                          <a:spcPts val="0"/>
                        </a:spcAft>
                        <a:buNone/>
                      </a:pPr>
                      <a:r>
                        <a:rPr sz="900" b="1">
                          <a:latin typeface="Meiryo UI"/>
                          <a:ea typeface="Meiryo UI"/>
                        </a:rPr>
                        <a:t>A. 株式譲渡</a:t>
                      </a:r>
                      <a:endParaRPr dirty="0">
                        <a:latin typeface="Meiryo UI" panose="020B0604030504040204" pitchFamily="50" charset="-128"/>
                        <a:ea typeface="Meiryo UI" panose="020B0604030504040204" pitchFamily="50" charset="-128"/>
                      </a:endParaRPr>
                    </a:p>
                  </a:txBody>
                  <a:tcPr marL="18000" marR="36000" marT="18000" marB="1800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accent1">
                        <a:lumMod val="50000"/>
                      </a:schemeClr>
                    </a:solidFill>
                  </a:tcPr>
                </a:tc>
                <a:tc>
                  <a:txBody>
                    <a:bodyPr/>
                    <a:lstStyle/>
                    <a:p>
                      <a:pPr marL="0" marR="0" lvl="0" indent="0" algn="ctr" rtl="0">
                        <a:spcBef>
                          <a:spcPts val="0"/>
                        </a:spcBef>
                        <a:spcAft>
                          <a:spcPts val="0"/>
                        </a:spcAft>
                        <a:buNone/>
                      </a:pPr>
                      <a:r>
                        <a:rPr sz="900" b="1">
                          <a:latin typeface="Meiryo UI"/>
                          <a:ea typeface="Meiryo UI"/>
                        </a:rPr>
                        <a:t>B-1. 事業譲渡</a:t>
                      </a:r>
                      <a:endParaRPr dirty="0">
                        <a:latin typeface="Meiryo UI" panose="020B0604030504040204" pitchFamily="50" charset="-128"/>
                        <a:ea typeface="Meiryo UI" panose="020B0604030504040204" pitchFamily="50" charset="-128"/>
                      </a:endParaRPr>
                    </a:p>
                    <a:p>
                      <a:pPr algn="ctr"/>
                      <a:r>
                        <a:rPr sz="900" b="1">
                          <a:latin typeface="Meiryo UI"/>
                          <a:ea typeface="Meiryo UI"/>
                        </a:rPr>
                        <a:t>（営業権のみ）</a:t>
                      </a:r>
                    </a:p>
                  </a:txBody>
                  <a:tcPr marL="18000" marR="36000" marT="18000" marB="1800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accent1">
                        <a:lumMod val="50000"/>
                      </a:schemeClr>
                    </a:solidFill>
                  </a:tcPr>
                </a:tc>
                <a:tc>
                  <a:txBody>
                    <a:bodyPr/>
                    <a:lstStyle/>
                    <a:p>
                      <a:pPr marL="0" marR="0" lvl="0" indent="0" algn="ctr" rtl="0">
                        <a:spcBef>
                          <a:spcPts val="0"/>
                        </a:spcBef>
                        <a:spcAft>
                          <a:spcPts val="0"/>
                        </a:spcAft>
                        <a:buNone/>
                      </a:pPr>
                      <a:r>
                        <a:rPr sz="900" b="1">
                          <a:latin typeface="Meiryo UI"/>
                          <a:ea typeface="Meiryo UI"/>
                        </a:rPr>
                        <a:t>B-2. 事業譲渡</a:t>
                      </a:r>
                      <a:endParaRPr dirty="0">
                        <a:latin typeface="Meiryo UI" panose="020B0604030504040204" pitchFamily="50" charset="-128"/>
                        <a:ea typeface="Meiryo UI" panose="020B0604030504040204" pitchFamily="50" charset="-128"/>
                      </a:endParaRPr>
                    </a:p>
                    <a:p>
                      <a:pPr algn="ctr"/>
                      <a:r>
                        <a:rPr sz="900" b="1">
                          <a:latin typeface="Meiryo UI"/>
                          <a:ea typeface="Meiryo UI"/>
                        </a:rPr>
                        <a:t>（事業用資産・負債を含む）</a:t>
                      </a:r>
                    </a:p>
                  </a:txBody>
                  <a:tcPr marL="18000" marR="36000" marT="18000" marB="18000" anchor="ctr">
                    <a:lnL w="9525" cap="flat" cmpd="sng">
                      <a:solidFill>
                        <a:schemeClr val="lt1"/>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accent1">
                        <a:lumMod val="50000"/>
                      </a:schemeClr>
                    </a:solidFill>
                  </a:tcPr>
                </a:tc>
                <a:extLst>
                  <a:ext uri="{0D108BD9-81ED-4DB2-BD59-A6C34878D82A}">
                    <a16:rowId xmlns:a16="http://schemas.microsoft.com/office/drawing/2014/main" val="10000"/>
                  </a:ext>
                </a:extLst>
              </a:tr>
              <a:tr h="402336">
                <a:tc>
                  <a:txBody>
                    <a:bodyPr/>
                    <a:lstStyle/>
                    <a:p>
                      <a:pPr marL="0" marR="0" lvl="0" indent="0" algn="l" rtl="0">
                        <a:spcBef>
                          <a:spcPts val="0"/>
                        </a:spcBef>
                        <a:spcAft>
                          <a:spcPts val="0"/>
                        </a:spcAft>
                        <a:buNone/>
                      </a:pPr>
                      <a:r>
                        <a:rPr sz="900" b="0">
                          <a:latin typeface="Meiryo UI"/>
                          <a:ea typeface="Meiryo UI"/>
                        </a:rPr>
                        <a:t>① 譲渡対価</a:t>
                      </a:r>
                    </a:p>
                  </a:txBody>
                  <a:tcPr marL="54000" marR="36000" marT="18000" marB="18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60000"/>
                        <a:lumOff val="40000"/>
                      </a:schemeClr>
                    </a:solidFill>
                  </a:tcPr>
                </a:tc>
                <a:tc>
                  <a:txBody>
                    <a:bodyPr/>
                    <a:lstStyle/>
                    <a:p>
                      <a:pPr marL="0" marR="0" lvl="0" indent="0" algn="ctr" rtl="0">
                        <a:spcBef>
                          <a:spcPts val="0"/>
                        </a:spcBef>
                        <a:spcAft>
                          <a:spcPts val="0"/>
                        </a:spcAft>
                        <a:buNone/>
                      </a:pPr>
                      <a:r>
                        <a:rPr sz="900" b="0">
                          <a:latin typeface="Meiryo UI"/>
                          <a:ea typeface="Meiryo UI"/>
                        </a:rPr>
                        <a:t>15,000</a:t>
                      </a:r>
                    </a:p>
                    <a:p>
                      <a:pPr algn="ctr"/>
                      <a:r>
                        <a:rPr sz="900" b="0">
                          <a:latin typeface="Meiryo UI"/>
                          <a:ea typeface="Meiryo UI"/>
                        </a:rPr>
                        <a:t>（売主希望価格）</a:t>
                      </a:r>
                    </a:p>
                  </a:txBody>
                  <a:tcPr marL="54000" marR="36000" marT="18000" marB="18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lt1"/>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66A09A"/>
                        </a:buClr>
                        <a:buSzPts val="1120"/>
                        <a:buFont typeface="Arial"/>
                        <a:buNone/>
                      </a:pPr>
                      <a:r>
                        <a:rPr sz="900" b="0">
                          <a:latin typeface="Meiryo UI"/>
                          <a:ea typeface="Meiryo UI"/>
                        </a:rPr>
                        <a:t>56,280 〜 93,800</a:t>
                      </a:r>
                      <a:endParaRPr lang="en-US" altLang="ja-JP" sz="1050" u="none" strike="noStrike" cap="none" dirty="0">
                        <a:solidFill>
                          <a:schemeClr val="dk1"/>
                        </a:solidFill>
                        <a:latin typeface="Meiryo UI" panose="020B0604030504040204" pitchFamily="50" charset="-128"/>
                        <a:ea typeface="Meiryo UI" panose="020B0604030504040204" pitchFamily="50" charset="-128"/>
                      </a:endParaRPr>
                    </a:p>
                    <a:p>
                      <a:pPr algn="ctr"/>
                      <a:r>
                        <a:rPr sz="900" b="0">
                          <a:latin typeface="Meiryo UI"/>
                          <a:ea typeface="Meiryo UI"/>
                        </a:rPr>
                        <a:t>（EV＝18,760×3〜5倍）</a:t>
                      </a:r>
                    </a:p>
                  </a:txBody>
                  <a:tcPr marL="54000" marR="36000" marT="18000" marB="18000" anchor="ctr">
                    <a:lnL w="9525" cap="flat" cmpd="sng">
                      <a:solidFill>
                        <a:srgbClr val="000000">
                          <a:alpha val="0"/>
                        </a:srgbClr>
                      </a:solidFill>
                      <a:prstDash val="solid"/>
                      <a:round/>
                      <a:headEnd type="none" w="sm" len="sm"/>
                      <a:tailEnd type="none" w="sm" len="sm"/>
                    </a:lnL>
                    <a:lnR w="12700" cap="flat" cmpd="sng">
                      <a:solidFill>
                        <a:srgbClr val="C8C8C8"/>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rgbClr val="C8C8C8"/>
                      </a:solidFill>
                      <a:prstDash val="solid"/>
                      <a:round/>
                      <a:headEnd type="none" w="sm" len="sm"/>
                      <a:tailEnd type="none" w="sm" len="sm"/>
                    </a:lnB>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
                          <a:prstClr val="black"/>
                        </a:buClr>
                        <a:buSzPts val="1600"/>
                        <a:buFont typeface="Arial"/>
                        <a:buNone/>
                        <a:tabLst/>
                        <a:defRPr/>
                      </a:pPr>
                      <a:r>
                        <a:rPr sz="900" b="0">
                          <a:latin typeface="Meiryo UI"/>
                          <a:ea typeface="Meiryo UI"/>
                        </a:rPr>
                        <a:t>56,280 〜 93,800</a:t>
                      </a:r>
                      <a:endParaRPr kumimoji="0" lang="ja-JP" altLang="ja-JP" sz="1600" b="1"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Arial"/>
                        <a:sym typeface="Arial"/>
                      </a:endParaRPr>
                    </a:p>
                  </a:txBody>
                  <a:tcPr marL="54000" marR="36000" marT="18000" marB="18000" anchor="ctr">
                    <a:lnL w="12700" cap="flat" cmpd="sng">
                      <a:solidFill>
                        <a:srgbClr val="C8C8C8"/>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rgbClr val="C8C8C8"/>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402336">
                <a:tc>
                  <a:txBody>
                    <a:bodyPr/>
                    <a:lstStyle/>
                    <a:p>
                      <a:pPr marL="0" marR="0" lvl="0" indent="0" algn="l" rtl="0">
                        <a:spcBef>
                          <a:spcPts val="0"/>
                        </a:spcBef>
                        <a:spcAft>
                          <a:spcPts val="0"/>
                        </a:spcAft>
                        <a:buNone/>
                      </a:pPr>
                      <a:r>
                        <a:rPr sz="900" b="0">
                          <a:latin typeface="Meiryo UI"/>
                          <a:ea typeface="Meiryo UI"/>
                        </a:rPr>
                        <a:t>② 事業用資産・負債（純額）の買取</a:t>
                      </a:r>
                    </a:p>
                  </a:txBody>
                  <a:tcPr marL="54000" marR="36000" marT="18000" marB="18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60000"/>
                        <a:lumOff val="40000"/>
                      </a:schemeClr>
                    </a:solidFill>
                  </a:tcPr>
                </a:tc>
                <a:tc>
                  <a:txBody>
                    <a:bodyPr/>
                    <a:lstStyle/>
                    <a:p>
                      <a:pPr marL="0" marR="0" lvl="0" indent="0" algn="ctr" rtl="0">
                        <a:spcBef>
                          <a:spcPts val="0"/>
                        </a:spcBef>
                        <a:spcAft>
                          <a:spcPts val="0"/>
                        </a:spcAft>
                        <a:buNone/>
                      </a:pPr>
                      <a:r>
                        <a:rPr sz="900" b="0">
                          <a:latin typeface="Meiryo UI"/>
                          <a:ea typeface="Meiryo UI"/>
                        </a:rPr>
                        <a:t>－（株式取得により承継）</a:t>
                      </a:r>
                      <a:endParaRPr lang="en-US" altLang="ja-JP" sz="1300" u="none" strike="noStrike" cap="none" dirty="0">
                        <a:solidFill>
                          <a:schemeClr val="dk1"/>
                        </a:solidFill>
                        <a:latin typeface="Meiryo UI" panose="020B0604030504040204" pitchFamily="50" charset="-128"/>
                        <a:ea typeface="Meiryo UI" panose="020B0604030504040204" pitchFamily="50" charset="-128"/>
                      </a:endParaRPr>
                    </a:p>
                  </a:txBody>
                  <a:tcPr marL="54000" marR="36000" marT="18000" marB="18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66A09A"/>
                        </a:buClr>
                        <a:buSzPts val="1120"/>
                        <a:buFont typeface="Arial"/>
                        <a:buNone/>
                      </a:pPr>
                      <a:r>
                        <a:rPr sz="900" b="0">
                          <a:latin typeface="Meiryo UI"/>
                          <a:ea typeface="Meiryo UI"/>
                        </a:rPr>
                        <a:t>－（承継しない）</a:t>
                      </a:r>
                    </a:p>
                  </a:txBody>
                  <a:tcPr marL="54000" marR="36000" marT="18000" marB="18000" anchor="ctr">
                    <a:lnL w="9525" cap="flat" cmpd="sng">
                      <a:solidFill>
                        <a:srgbClr val="000000">
                          <a:alpha val="0"/>
                        </a:srgbClr>
                      </a:solidFill>
                      <a:prstDash val="solid"/>
                      <a:round/>
                      <a:headEnd type="none" w="sm" len="sm"/>
                      <a:tailEnd type="none" w="sm" len="sm"/>
                    </a:lnL>
                    <a:lnR w="12700" cap="flat" cmpd="sng">
                      <a:solidFill>
                        <a:srgbClr val="C8C8C8"/>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lgn="ctr">
                      <a:solidFill>
                        <a:srgbClr val="C8C8C8"/>
                      </a:solidFill>
                      <a:prstDash val="solid"/>
                      <a:round/>
                      <a:headEnd type="none" w="sm" len="sm"/>
                      <a:tailEnd type="none" w="sm" len="sm"/>
                    </a:lnB>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
                          <a:prstClr val="black"/>
                        </a:buClr>
                        <a:buSzPts val="1600"/>
                        <a:buFont typeface="Arial"/>
                        <a:buNone/>
                        <a:tabLst/>
                        <a:defRPr/>
                      </a:pPr>
                      <a:r>
                        <a:rPr sz="900" b="0">
                          <a:latin typeface="Meiryo UI"/>
                          <a:ea typeface="Meiryo UI"/>
                        </a:rPr>
                        <a:t>約 144,500</a:t>
                      </a:r>
                      <a:endParaRPr kumimoji="0" lang="ja-JP" altLang="ja-JP" sz="1600" b="1"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Arial"/>
                        <a:sym typeface="Arial"/>
                      </a:endParaRPr>
                    </a:p>
                  </a:txBody>
                  <a:tcPr marL="54000" marR="36000" marT="18000" marB="18000" anchor="ctr">
                    <a:lnL w="12700" cap="flat" cmpd="sng">
                      <a:solidFill>
                        <a:srgbClr val="C8C8C8"/>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lgn="ctr">
                      <a:solidFill>
                        <a:srgbClr val="C8C8C8"/>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r h="402336">
                <a:tc>
                  <a:txBody>
                    <a:bodyPr/>
                    <a:lstStyle/>
                    <a:p>
                      <a:pPr marL="0" marR="0" lvl="0" indent="0" algn="l" rtl="0">
                        <a:spcBef>
                          <a:spcPts val="0"/>
                        </a:spcBef>
                        <a:spcAft>
                          <a:spcPts val="0"/>
                        </a:spcAft>
                        <a:buNone/>
                      </a:pPr>
                      <a:r>
                        <a:rPr sz="900" b="0">
                          <a:latin typeface="Meiryo UI"/>
                          <a:ea typeface="Meiryo UI"/>
                        </a:rPr>
                        <a:t>③ 役員借入金の返済</a:t>
                      </a:r>
                    </a:p>
                  </a:txBody>
                  <a:tcPr marL="54000" marR="36000" marT="18000" marB="18000" anchor="ctr">
                    <a:lnL w="9525" cap="flat" cmpd="sng">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60000"/>
                        <a:lumOff val="40000"/>
                      </a:schemeClr>
                    </a:solidFill>
                  </a:tcPr>
                </a:tc>
                <a:tc>
                  <a:txBody>
                    <a:bodyPr/>
                    <a:lstStyle/>
                    <a:p>
                      <a:pPr marL="0" marR="0" lvl="0" indent="0" algn="ctr" rtl="0">
                        <a:spcBef>
                          <a:spcPts val="0"/>
                        </a:spcBef>
                        <a:spcAft>
                          <a:spcPts val="0"/>
                        </a:spcAft>
                        <a:buNone/>
                      </a:pPr>
                      <a:r>
                        <a:rPr sz="900" b="0">
                          <a:latin typeface="Meiryo UI"/>
                          <a:ea typeface="Meiryo UI"/>
                        </a:rPr>
                        <a:t>約 10,000</a:t>
                      </a:r>
                    </a:p>
                  </a:txBody>
                  <a:tcPr marL="54000" marR="36000" marT="18000" marB="18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66A09A"/>
                        </a:buClr>
                        <a:buSzPts val="1120"/>
                        <a:buFont typeface="Arial"/>
                        <a:buNone/>
                      </a:pPr>
                      <a:r>
                        <a:rPr sz="900" b="0">
                          <a:latin typeface="Meiryo UI"/>
                          <a:ea typeface="Meiryo UI"/>
                        </a:rPr>
                        <a:t>対象会社に残置（要協議）</a:t>
                      </a:r>
                    </a:p>
                  </a:txBody>
                  <a:tcPr marL="54000" marR="36000" marT="18000" marB="18000" anchor="ctr">
                    <a:lnL w="9525" cap="flat" cmpd="sng">
                      <a:solidFill>
                        <a:srgbClr val="000000">
                          <a:alpha val="0"/>
                        </a:srgbClr>
                      </a:solidFill>
                      <a:prstDash val="solid"/>
                      <a:round/>
                      <a:headEnd type="none" w="sm" len="sm"/>
                      <a:tailEnd type="none" w="sm" len="sm"/>
                    </a:lnL>
                    <a:lnR w="12700" cap="flat" cmpd="sng">
                      <a:solidFill>
                        <a:srgbClr val="C8C8C8"/>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lgn="ctr">
                      <a:solidFill>
                        <a:srgbClr val="C8C8C8"/>
                      </a:solidFill>
                      <a:prstDash val="solid"/>
                      <a:round/>
                      <a:headEnd type="none" w="sm" len="sm"/>
                      <a:tailEnd type="none" w="sm" len="sm"/>
                    </a:lnB>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
                          <a:prstClr val="black"/>
                        </a:buClr>
                        <a:buSzPts val="1600"/>
                        <a:buFont typeface="Arial"/>
                        <a:buNone/>
                        <a:tabLst/>
                        <a:defRPr/>
                      </a:pPr>
                      <a:r>
                        <a:rPr sz="900" b="0">
                          <a:latin typeface="Meiryo UI"/>
                          <a:ea typeface="Meiryo UI"/>
                        </a:rPr>
                        <a:t>対象会社に残置（要協議）</a:t>
                      </a:r>
                      <a:endParaRPr kumimoji="0" lang="ja-JP" altLang="ja-JP" sz="1600" b="1"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Arial"/>
                        <a:sym typeface="Arial"/>
                      </a:endParaRPr>
                    </a:p>
                  </a:txBody>
                  <a:tcPr marL="54000" marR="36000" marT="18000" marB="18000" anchor="ctr">
                    <a:lnL w="12700" cap="flat" cmpd="sng">
                      <a:solidFill>
                        <a:srgbClr val="C8C8C8"/>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lgn="ctr">
                      <a:solidFill>
                        <a:srgbClr val="C8C8C8"/>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402336">
                <a:tc>
                  <a:txBody>
                    <a:bodyPr/>
                    <a:lstStyle/>
                    <a:p>
                      <a:pPr marL="0" marR="0" lvl="0" indent="0" algn="l" rtl="0">
                        <a:spcBef>
                          <a:spcPts val="0"/>
                        </a:spcBef>
                        <a:spcAft>
                          <a:spcPts val="0"/>
                        </a:spcAft>
                        <a:buNone/>
                      </a:pPr>
                      <a:r>
                        <a:rPr sz="900" b="0">
                          <a:latin typeface="Meiryo UI"/>
                          <a:ea typeface="Meiryo UI"/>
                        </a:rPr>
                        <a:t>④ 消費税（一時的な資金負担）</a:t>
                      </a:r>
                    </a:p>
                  </a:txBody>
                  <a:tcPr marL="54000" marR="36000" marT="18000" marB="18000" anchor="ctr">
                    <a:lnL w="9525" cap="flat" cmpd="sng">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chemeClr val="accent1">
                        <a:lumMod val="60000"/>
                        <a:lumOff val="40000"/>
                      </a:schemeClr>
                    </a:solidFill>
                  </a:tcPr>
                </a:tc>
                <a:tc>
                  <a:txBody>
                    <a:bodyPr/>
                    <a:lstStyle/>
                    <a:p>
                      <a:pPr marL="0" marR="0" lvl="0" indent="0" algn="ctr" rtl="0">
                        <a:spcBef>
                          <a:spcPts val="0"/>
                        </a:spcBef>
                        <a:spcAft>
                          <a:spcPts val="0"/>
                        </a:spcAft>
                        <a:buNone/>
                      </a:pPr>
                      <a:r>
                        <a:rPr sz="900" b="0">
                          <a:latin typeface="Meiryo UI"/>
                          <a:ea typeface="Meiryo UI"/>
                        </a:rPr>
                        <a:t>－（非課税）</a:t>
                      </a:r>
                    </a:p>
                  </a:txBody>
                  <a:tcPr marL="54000" marR="36000" marT="18000" marB="18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66A09A"/>
                        </a:buClr>
                        <a:buSzPts val="1120"/>
                        <a:buFont typeface="Arial"/>
                        <a:buNone/>
                      </a:pPr>
                      <a:r>
                        <a:rPr sz="900" b="0">
                          <a:latin typeface="Meiryo UI"/>
                          <a:ea typeface="Meiryo UI"/>
                        </a:rPr>
                        <a:t>約 5,600 〜 9,400</a:t>
                      </a:r>
                      <a:endParaRPr lang="en-US" altLang="ja-JP" sz="1000" b="0" u="none" strike="noStrike" cap="none" dirty="0">
                        <a:solidFill>
                          <a:schemeClr val="dk1"/>
                        </a:solidFill>
                        <a:latin typeface="Meiryo UI" panose="020B0604030504040204" pitchFamily="50" charset="-128"/>
                        <a:ea typeface="Meiryo UI" panose="020B0604030504040204" pitchFamily="50" charset="-128"/>
                      </a:endParaRPr>
                    </a:p>
                  </a:txBody>
                  <a:tcPr marL="54000" marR="36000" marT="18000" marB="18000" anchor="ctr">
                    <a:lnL w="9525" cap="flat" cmpd="sng">
                      <a:solidFill>
                        <a:srgbClr val="000000">
                          <a:alpha val="0"/>
                        </a:srgbClr>
                      </a:solidFill>
                      <a:prstDash val="solid"/>
                      <a:round/>
                      <a:headEnd type="none" w="sm" len="sm"/>
                      <a:tailEnd type="none" w="sm" len="sm"/>
                    </a:lnL>
                    <a:lnR w="12700" cap="flat" cmpd="sng">
                      <a:solidFill>
                        <a:srgbClr val="C8C8C8"/>
                      </a:solidFill>
                      <a:prstDash val="solid"/>
                      <a:round/>
                      <a:headEnd type="none" w="sm" len="sm"/>
                      <a:tailEnd type="none" w="sm" len="sm"/>
                    </a:lnR>
                    <a:lnT w="12700" cap="flat" cmpd="sng" algn="ctr">
                      <a:solidFill>
                        <a:srgbClr val="C8C8C8"/>
                      </a:solidFill>
                      <a:prstDash val="solid"/>
                      <a:round/>
                      <a:headEnd type="none" w="sm" len="sm"/>
                      <a:tailEnd type="none" w="sm" len="sm"/>
                    </a:lnT>
                    <a:lnB w="12700" cap="flat" cmpd="sng" algn="ctr">
                      <a:solidFill>
                        <a:srgbClr val="C8C8C8"/>
                      </a:solidFill>
                      <a:prstDash val="solid"/>
                      <a:round/>
                      <a:headEnd type="none" w="sm" len="sm"/>
                      <a:tailEnd type="none" w="sm" len="sm"/>
                    </a:lnB>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
                          <a:prstClr val="black"/>
                        </a:buClr>
                        <a:buSzPts val="1600"/>
                        <a:buFont typeface="Arial"/>
                        <a:buNone/>
                        <a:tabLst/>
                        <a:defRPr/>
                      </a:pPr>
                      <a:r>
                        <a:rPr sz="900" b="0">
                          <a:latin typeface="Meiryo UI"/>
                          <a:ea typeface="Meiryo UI"/>
                        </a:rPr>
                        <a:t>約 5,900 〜 9,600</a:t>
                      </a:r>
                      <a:endParaRPr kumimoji="0" lang="ja-JP" altLang="ja-JP" sz="1600" b="1"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Arial"/>
                        <a:sym typeface="Arial"/>
                      </a:endParaRPr>
                    </a:p>
                  </a:txBody>
                  <a:tcPr marL="54000" marR="36000" marT="18000" marB="18000" anchor="ctr">
                    <a:lnL w="12700" cap="flat" cmpd="sng">
                      <a:solidFill>
                        <a:srgbClr val="C8C8C8"/>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lgn="ctr">
                      <a:solidFill>
                        <a:srgbClr val="C8C8C8"/>
                      </a:solidFill>
                      <a:prstDash val="solid"/>
                      <a:round/>
                      <a:headEnd type="none" w="sm" len="sm"/>
                      <a:tailEnd type="none" w="sm" len="sm"/>
                    </a:lnT>
                    <a:lnB w="12700" cap="flat" cmpd="sng" algn="ctr">
                      <a:solidFill>
                        <a:srgbClr val="C8C8C8"/>
                      </a:solidFill>
                      <a:prstDash val="solid"/>
                      <a:round/>
                      <a:headEnd type="none" w="sm" len="sm"/>
                      <a:tailEnd type="none" w="sm" len="sm"/>
                    </a:lnB>
                    <a:solidFill>
                      <a:srgbClr val="FFFFFF"/>
                    </a:solidFill>
                  </a:tcPr>
                </a:tc>
                <a:extLst>
                  <a:ext uri="{0D108BD9-81ED-4DB2-BD59-A6C34878D82A}">
                    <a16:rowId xmlns:a16="http://schemas.microsoft.com/office/drawing/2014/main" val="10004"/>
                  </a:ext>
                </a:extLst>
              </a:tr>
              <a:tr h="402336">
                <a:tc>
                  <a:txBody>
                    <a:bodyPr/>
                    <a:lstStyle/>
                    <a:p>
                      <a:pPr marL="0" marR="0" lvl="0" indent="0" algn="l" rtl="0">
                        <a:spcBef>
                          <a:spcPts val="0"/>
                        </a:spcBef>
                        <a:spcAft>
                          <a:spcPts val="0"/>
                        </a:spcAft>
                        <a:buNone/>
                      </a:pPr>
                      <a:r>
                        <a:rPr sz="900" b="1">
                          <a:latin typeface="Meiryo UI"/>
                          <a:ea typeface="Meiryo UI"/>
                        </a:rPr>
                        <a:t>初期の現金支出（①＋②＋③＋④）</a:t>
                      </a:r>
                    </a:p>
                  </a:txBody>
                  <a:tcPr marL="54000" marR="36000" marT="18000" marB="18000" anchor="ctr">
                    <a:lnL w="9525" cap="flat" cmpd="sng">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60000"/>
                        <a:lumOff val="40000"/>
                      </a:schemeClr>
                    </a:solidFill>
                  </a:tcPr>
                </a:tc>
                <a:tc>
                  <a:txBody>
                    <a:bodyPr/>
                    <a:lstStyle/>
                    <a:p>
                      <a:pPr marL="0" marR="0" lvl="0" indent="0" algn="ctr" rtl="0">
                        <a:spcBef>
                          <a:spcPts val="0"/>
                        </a:spcBef>
                        <a:spcAft>
                          <a:spcPts val="0"/>
                        </a:spcAft>
                        <a:buNone/>
                      </a:pPr>
                      <a:r>
                        <a:rPr sz="900" b="1">
                          <a:latin typeface="Meiryo UI"/>
                          <a:ea typeface="Meiryo UI"/>
                        </a:rPr>
                        <a:t>約 25,000</a:t>
                      </a:r>
                    </a:p>
                  </a:txBody>
                  <a:tcPr marL="54000" marR="36000" marT="18000" marB="18000" anchor="ctr">
                    <a:lnL w="9525" cap="flat" cmpd="sng" algn="ctr">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66A09A"/>
                        </a:buClr>
                        <a:buSzPts val="1120"/>
                        <a:buFont typeface="Arial"/>
                        <a:buNone/>
                      </a:pPr>
                      <a:r>
                        <a:rPr sz="900" b="1">
                          <a:latin typeface="Meiryo UI"/>
                          <a:ea typeface="Meiryo UI"/>
                        </a:rPr>
                        <a:t>約 62,000 〜 103,000</a:t>
                      </a:r>
                    </a:p>
                  </a:txBody>
                  <a:tcPr marL="54000" marR="36000" marT="18000" marB="18000" anchor="ctr">
                    <a:lnL w="9525" cap="flat" cmpd="sng" algn="ctr">
                      <a:solidFill>
                        <a:srgbClr val="000000">
                          <a:alpha val="0"/>
                        </a:srgbClr>
                      </a:solidFill>
                      <a:prstDash val="solid"/>
                      <a:round/>
                      <a:headEnd type="none" w="sm" len="sm"/>
                      <a:tailEnd type="none" w="sm" len="sm"/>
                    </a:lnL>
                    <a:lnR w="12700" cap="flat" cmpd="sng" algn="ctr">
                      <a:solidFill>
                        <a:srgbClr val="C8C8C8"/>
                      </a:solidFill>
                      <a:prstDash val="solid"/>
                      <a:round/>
                      <a:headEnd type="none" w="sm" len="sm"/>
                      <a:tailEnd type="none" w="sm" len="sm"/>
                    </a:lnR>
                    <a:lnT w="12700" cap="flat" cmpd="sng" algn="ctr">
                      <a:solidFill>
                        <a:srgbClr val="C8C8C8"/>
                      </a:solidFill>
                      <a:prstDash val="solid"/>
                      <a:round/>
                      <a:headEnd type="none" w="sm" len="sm"/>
                      <a:tailEnd type="none" w="sm" len="sm"/>
                    </a:lnT>
                    <a:lnB w="12700" cap="flat" cmpd="sng">
                      <a:solidFill>
                        <a:srgbClr val="C8C8C8"/>
                      </a:solidFill>
                      <a:prstDash val="solid"/>
                      <a:round/>
                      <a:headEnd type="none" w="sm" len="sm"/>
                      <a:tailEnd type="none" w="sm" len="sm"/>
                    </a:lnB>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
                          <a:prstClr val="black"/>
                        </a:buClr>
                        <a:buSzPts val="1600"/>
                        <a:buFont typeface="Arial"/>
                        <a:buNone/>
                        <a:tabLst/>
                        <a:defRPr/>
                      </a:pPr>
                      <a:r>
                        <a:rPr sz="900" b="1">
                          <a:latin typeface="Meiryo UI"/>
                          <a:ea typeface="Meiryo UI"/>
                        </a:rPr>
                        <a:t>約 207,000 〜 248,000</a:t>
                      </a:r>
                      <a:endParaRPr kumimoji="0" lang="en-US" altLang="ja-JP" sz="1600" b="1"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Arial"/>
                        <a:sym typeface="Arial"/>
                      </a:endParaRPr>
                    </a:p>
                  </a:txBody>
                  <a:tcPr marL="54000" marR="36000" marT="18000" marB="18000" anchor="ctr">
                    <a:lnL w="12700" cap="flat" cmpd="sng" algn="ctr">
                      <a:solidFill>
                        <a:srgbClr val="C8C8C8"/>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lgn="ctr">
                      <a:solidFill>
                        <a:srgbClr val="C8C8C8"/>
                      </a:solidFill>
                      <a:prstDash val="solid"/>
                      <a:round/>
                      <a:headEnd type="none" w="sm" len="sm"/>
                      <a:tailEnd type="none" w="sm" len="sm"/>
                    </a:lnT>
                    <a:lnB w="12700" cap="flat" cmpd="sng">
                      <a:solidFill>
                        <a:srgbClr val="C8C8C8"/>
                      </a:solidFill>
                      <a:prstDash val="solid"/>
                      <a:round/>
                      <a:headEnd type="none" w="sm" len="sm"/>
                      <a:tailEnd type="none" w="sm" len="sm"/>
                    </a:lnB>
                    <a:solidFill>
                      <a:srgbClr val="FFFFFF"/>
                    </a:solidFill>
                  </a:tcPr>
                </a:tc>
                <a:extLst>
                  <a:ext uri="{0D108BD9-81ED-4DB2-BD59-A6C34878D82A}">
                    <a16:rowId xmlns:a16="http://schemas.microsoft.com/office/drawing/2014/main" val="10007"/>
                  </a:ext>
                </a:extLst>
              </a:tr>
              <a:tr h="402336">
                <a:tc>
                  <a:txBody>
                    <a:bodyPr/>
                    <a:lstStyle/>
                    <a:p>
                      <a:pPr marL="0" marR="0" lvl="0" indent="0" algn="l" rtl="0">
                        <a:spcBef>
                          <a:spcPts val="0"/>
                        </a:spcBef>
                        <a:spcAft>
                          <a:spcPts val="0"/>
                        </a:spcAft>
                        <a:buNone/>
                      </a:pPr>
                      <a:r>
                        <a:rPr sz="900" b="0">
                          <a:latin typeface="Meiryo UI"/>
                          <a:ea typeface="Meiryo UI"/>
                        </a:rPr>
                        <a:t>⑤ 承継する純有利子負債</a:t>
                      </a:r>
                    </a:p>
                  </a:txBody>
                  <a:tcPr marL="54000" marR="36000" marT="18000" marB="18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60000"/>
                        <a:lumOff val="40000"/>
                      </a:schemeClr>
                    </a:solidFill>
                  </a:tcPr>
                </a:tc>
                <a:tc>
                  <a:txBody>
                    <a:bodyPr/>
                    <a:lstStyle/>
                    <a:p>
                      <a:pPr marL="0" marR="0" lvl="0" indent="0" algn="ctr" rtl="0">
                        <a:lnSpc>
                          <a:spcPct val="100000"/>
                        </a:lnSpc>
                        <a:spcBef>
                          <a:spcPts val="0"/>
                        </a:spcBef>
                        <a:spcAft>
                          <a:spcPts val="0"/>
                        </a:spcAft>
                        <a:buClr>
                          <a:schemeClr val="dk1"/>
                        </a:buClr>
                        <a:buSzPts val="1500"/>
                        <a:buFont typeface="Arial"/>
                        <a:buNone/>
                      </a:pPr>
                      <a:r>
                        <a:rPr sz="900" b="0">
                          <a:latin typeface="Meiryo UI"/>
                          <a:ea typeface="Meiryo UI"/>
                        </a:rPr>
                        <a:t>138,569</a:t>
                      </a:r>
                    </a:p>
                    <a:p>
                      <a:pPr algn="ctr"/>
                      <a:r>
                        <a:rPr sz="900" b="0">
                          <a:latin typeface="Meiryo UI"/>
                          <a:ea typeface="Meiryo UI"/>
                        </a:rPr>
                        <a:t>（借入156,317－現預金17,748）</a:t>
                      </a:r>
                    </a:p>
                  </a:txBody>
                  <a:tcPr marL="54000" marR="36000" marT="18000" marB="18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chemeClr val="dk1"/>
                        </a:buClr>
                        <a:buSzPts val="1400"/>
                        <a:buFont typeface="Arial"/>
                        <a:buNone/>
                      </a:pPr>
                      <a:r>
                        <a:rPr sz="900" b="0">
                          <a:latin typeface="Meiryo UI"/>
                          <a:ea typeface="Meiryo UI"/>
                        </a:rPr>
                        <a:t>－</a:t>
                      </a:r>
                    </a:p>
                  </a:txBody>
                  <a:tcPr marL="54000" marR="36000" marT="18000" marB="18000" anchor="ctr">
                    <a:lnL w="9525" cap="flat" cmpd="sng">
                      <a:solidFill>
                        <a:srgbClr val="000000">
                          <a:alpha val="0"/>
                        </a:srgbClr>
                      </a:solidFill>
                      <a:prstDash val="solid"/>
                      <a:round/>
                      <a:headEnd type="none" w="sm" len="sm"/>
                      <a:tailEnd type="none" w="sm" len="sm"/>
                    </a:lnL>
                    <a:lnR w="12700" cap="flat" cmpd="sng">
                      <a:solidFill>
                        <a:srgbClr val="C8C8C8"/>
                      </a:solidFill>
                      <a:prstDash val="solid"/>
                      <a:round/>
                      <a:headEnd type="none" w="sm" len="sm"/>
                      <a:tailEnd type="none" w="sm" len="sm"/>
                    </a:lnR>
                    <a:lnT w="12700" cap="flat" cmpd="sng" algn="ctr">
                      <a:solidFill>
                        <a:srgbClr val="C8C8C8"/>
                      </a:solidFill>
                      <a:prstDash val="solid"/>
                      <a:round/>
                      <a:headEnd type="none" w="sm" len="sm"/>
                      <a:tailEnd type="none" w="sm" len="sm"/>
                    </a:lnT>
                    <a:lnB w="12700" cap="flat" cmpd="sng">
                      <a:solidFill>
                        <a:srgbClr val="C8C8C8"/>
                      </a:solidFill>
                      <a:prstDash val="solid"/>
                      <a:round/>
                      <a:headEnd type="none" w="sm" len="sm"/>
                      <a:tailEnd type="none" w="sm" len="sm"/>
                    </a:lnB>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
                          <a:prstClr val="black"/>
                        </a:buClr>
                        <a:buSzPts val="1600"/>
                        <a:buFont typeface="Arial"/>
                        <a:buNone/>
                        <a:tabLst/>
                        <a:defRPr/>
                      </a:pPr>
                      <a:r>
                        <a:rPr sz="900" b="0">
                          <a:latin typeface="Meiryo UI"/>
                          <a:ea typeface="Meiryo UI"/>
                        </a:rPr>
                        <a:t>－</a:t>
                      </a:r>
                      <a:endParaRPr kumimoji="0" lang="ja-JP" altLang="ja-JP" sz="1600" b="1"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Arial"/>
                        <a:sym typeface="Arial"/>
                      </a:endParaRPr>
                    </a:p>
                  </a:txBody>
                  <a:tcPr marL="54000" marR="36000" marT="18000" marB="18000" anchor="ctr">
                    <a:lnL w="12700" cap="flat" cmpd="sng">
                      <a:solidFill>
                        <a:srgbClr val="C8C8C8"/>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lgn="ctr">
                      <a:solidFill>
                        <a:srgbClr val="C8C8C8"/>
                      </a:solidFill>
                      <a:prstDash val="solid"/>
                      <a:round/>
                      <a:headEnd type="none" w="sm" len="sm"/>
                      <a:tailEnd type="none" w="sm" len="sm"/>
                    </a:lnT>
                    <a:lnB w="12700" cap="flat" cmpd="sng">
                      <a:solidFill>
                        <a:srgbClr val="C8C8C8"/>
                      </a:solidFill>
                      <a:prstDash val="solid"/>
                      <a:round/>
                      <a:headEnd type="none" w="sm" len="sm"/>
                      <a:tailEnd type="none" w="sm" len="sm"/>
                    </a:lnB>
                    <a:solidFill>
                      <a:srgbClr val="FFFFFF"/>
                    </a:solidFill>
                  </a:tcPr>
                </a:tc>
                <a:extLst>
                  <a:ext uri="{0D108BD9-81ED-4DB2-BD59-A6C34878D82A}">
                    <a16:rowId xmlns:a16="http://schemas.microsoft.com/office/drawing/2014/main" val="10008"/>
                  </a:ext>
                </a:extLst>
              </a:tr>
              <a:tr h="402336">
                <a:tc>
                  <a:txBody>
                    <a:bodyPr/>
                    <a:lstStyle/>
                    <a:p>
                      <a:pPr marL="0" marR="0" lvl="0" indent="0" algn="l" rtl="0">
                        <a:spcBef>
                          <a:spcPts val="0"/>
                        </a:spcBef>
                        <a:spcAft>
                          <a:spcPts val="0"/>
                        </a:spcAft>
                        <a:buNone/>
                      </a:pPr>
                      <a:r>
                        <a:rPr sz="900" b="1">
                          <a:latin typeface="Meiryo UI"/>
                          <a:ea typeface="Meiryo UI"/>
                        </a:rPr>
                        <a:t>実質総投資額（①＋②＋⑤）</a:t>
                      </a:r>
                    </a:p>
                  </a:txBody>
                  <a:tcPr marL="54000" marR="36000" marT="18000" marB="18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lt1"/>
                      </a:solidFill>
                      <a:prstDash val="solid"/>
                      <a:round/>
                      <a:headEnd type="none" w="sm" len="sm"/>
                      <a:tailEnd type="none" w="sm" len="sm"/>
                    </a:lnB>
                    <a:solidFill>
                      <a:srgbClr val="E1F3FB"/>
                    </a:solidFill>
                  </a:tcPr>
                </a:tc>
                <a:tc>
                  <a:txBody>
                    <a:bodyPr/>
                    <a:lstStyle/>
                    <a:p>
                      <a:pPr marL="0" marR="0" lvl="0" indent="0" algn="ctr" rtl="0">
                        <a:spcBef>
                          <a:spcPts val="0"/>
                        </a:spcBef>
                        <a:spcAft>
                          <a:spcPts val="0"/>
                        </a:spcAft>
                        <a:buNone/>
                      </a:pPr>
                      <a:r>
                        <a:rPr sz="900" b="1">
                          <a:latin typeface="Meiryo UI"/>
                          <a:ea typeface="Meiryo UI"/>
                        </a:rPr>
                        <a:t>約 153,600</a:t>
                      </a:r>
                    </a:p>
                  </a:txBody>
                  <a:tcPr marL="54000" marR="36000" marT="18000" marB="18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lt1"/>
                      </a:solidFill>
                      <a:prstDash val="solid"/>
                      <a:round/>
                      <a:headEnd type="none" w="sm" len="sm"/>
                      <a:tailEnd type="none" w="sm" len="sm"/>
                    </a:lnB>
                    <a:solidFill>
                      <a:srgbClr val="E1F3FB"/>
                    </a:solidFill>
                  </a:tcPr>
                </a:tc>
                <a:tc>
                  <a:txBody>
                    <a:bodyPr/>
                    <a:lstStyle/>
                    <a:p>
                      <a:pPr marL="0" marR="0" lvl="0" indent="0" algn="ctr" rtl="0">
                        <a:spcBef>
                          <a:spcPts val="0"/>
                        </a:spcBef>
                        <a:spcAft>
                          <a:spcPts val="0"/>
                        </a:spcAft>
                        <a:buClr>
                          <a:srgbClr val="66A09A"/>
                        </a:buClr>
                        <a:buSzPts val="1120"/>
                        <a:buFont typeface="Arial"/>
                        <a:buNone/>
                      </a:pPr>
                      <a:r>
                        <a:rPr sz="900" b="1">
                          <a:latin typeface="Meiryo UI"/>
                          <a:ea typeface="Meiryo UI"/>
                        </a:rPr>
                        <a:t>約 56,300 〜 93,800</a:t>
                      </a:r>
                      <a:endParaRPr lang="en-US" altLang="ja-JP" sz="1050" u="none" strike="noStrike" cap="none" dirty="0">
                        <a:solidFill>
                          <a:schemeClr val="dk1"/>
                        </a:solidFill>
                        <a:latin typeface="Meiryo UI" panose="020B0604030504040204" pitchFamily="50" charset="-128"/>
                        <a:ea typeface="Meiryo UI" panose="020B0604030504040204" pitchFamily="50" charset="-128"/>
                      </a:endParaRPr>
                    </a:p>
                  </a:txBody>
                  <a:tcPr marL="54000" marR="36000" marT="18000" marB="18000" anchor="ctr">
                    <a:lnL w="9525" cap="flat" cmpd="sng">
                      <a:solidFill>
                        <a:srgbClr val="000000">
                          <a:alpha val="0"/>
                        </a:srgbClr>
                      </a:solidFill>
                      <a:prstDash val="solid"/>
                      <a:round/>
                      <a:headEnd type="none" w="sm" len="sm"/>
                      <a:tailEnd type="none" w="sm" len="sm"/>
                    </a:lnL>
                    <a:lnR w="12700" cap="flat" cmpd="sng">
                      <a:solidFill>
                        <a:srgbClr val="C8C8C8"/>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rgbClr val="C8C8C8"/>
                      </a:solidFill>
                      <a:prstDash val="solid"/>
                      <a:round/>
                      <a:headEnd type="none" w="sm" len="sm"/>
                      <a:tailEnd type="none" w="sm" len="sm"/>
                    </a:lnB>
                    <a:solidFill>
                      <a:srgbClr val="E1F3FB"/>
                    </a:solidFill>
                  </a:tcPr>
                </a:tc>
                <a:tc>
                  <a:txBody>
                    <a:bodyPr/>
                    <a:lstStyle/>
                    <a:p>
                      <a:pPr marL="0" marR="0" lvl="0" indent="0" algn="ctr" defTabSz="914400" rtl="0" eaLnBrk="1" fontAlgn="auto" latinLnBrk="0" hangingPunct="1">
                        <a:lnSpc>
                          <a:spcPct val="100000"/>
                        </a:lnSpc>
                        <a:spcBef>
                          <a:spcPts val="0"/>
                        </a:spcBef>
                        <a:spcAft>
                          <a:spcPts val="0"/>
                        </a:spcAft>
                        <a:buClr>
                          <a:prstClr val="black"/>
                        </a:buClr>
                        <a:buSzPts val="1600"/>
                        <a:buFont typeface="Arial"/>
                        <a:buNone/>
                        <a:tabLst/>
                        <a:defRPr/>
                      </a:pPr>
                      <a:r>
                        <a:rPr sz="900" b="1">
                          <a:latin typeface="Meiryo UI"/>
                          <a:ea typeface="Meiryo UI"/>
                        </a:rPr>
                        <a:t>約 200,800 〜 238,300</a:t>
                      </a:r>
                      <a:endParaRPr kumimoji="0" lang="ja-JP" altLang="ja-JP" sz="1600" b="1"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Arial"/>
                        <a:sym typeface="Arial"/>
                      </a:endParaRPr>
                    </a:p>
                  </a:txBody>
                  <a:tcPr marL="54000" marR="36000" marT="18000" marB="18000" anchor="ctr">
                    <a:lnL w="12700" cap="flat" cmpd="sng">
                      <a:solidFill>
                        <a:srgbClr val="C8C8C8"/>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rgbClr val="C8C8C8"/>
                      </a:solidFill>
                      <a:prstDash val="solid"/>
                      <a:round/>
                      <a:headEnd type="none" w="sm" len="sm"/>
                      <a:tailEnd type="none" w="sm" len="sm"/>
                    </a:lnB>
                    <a:solidFill>
                      <a:srgbClr val="E1F3FB"/>
                    </a:solidFill>
                  </a:tcPr>
                </a:tc>
                <a:extLst>
                  <a:ext uri="{0D108BD9-81ED-4DB2-BD59-A6C34878D82A}">
                    <a16:rowId xmlns:a16="http://schemas.microsoft.com/office/drawing/2014/main" val="10001"/>
                  </a:ext>
                </a:extLst>
              </a:tr>
              <a:tr h="402336">
                <a:tc>
                  <a:txBody>
                    <a:bodyPr/>
                    <a:lstStyle/>
                    <a:p>
                      <a:pPr marL="0" marR="0" lvl="0" indent="0" algn="l" rtl="0">
                        <a:spcBef>
                          <a:spcPts val="0"/>
                        </a:spcBef>
                        <a:spcAft>
                          <a:spcPts val="0"/>
                        </a:spcAft>
                        <a:buNone/>
                      </a:pPr>
                      <a:r>
                        <a:rPr sz="900" b="1">
                          <a:latin typeface="Meiryo UI"/>
                          <a:ea typeface="Meiryo UI"/>
                        </a:rPr>
                        <a:t>　同　基準EBITDA倍率換算</a:t>
                      </a:r>
                    </a:p>
                  </a:txBody>
                  <a:tcPr marL="54000" marR="36000" marT="18000" marB="18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lt1"/>
                      </a:solidFill>
                      <a:prstDash val="solid"/>
                      <a:round/>
                      <a:headEnd type="none" w="sm" len="sm"/>
                      <a:tailEnd type="none" w="sm" len="sm"/>
                    </a:lnB>
                    <a:solidFill>
                      <a:srgbClr val="E1F3FB"/>
                    </a:solidFill>
                  </a:tcPr>
                </a:tc>
                <a:tc>
                  <a:txBody>
                    <a:bodyPr/>
                    <a:lstStyle/>
                    <a:p>
                      <a:pPr marL="0" marR="0" lvl="0" indent="0" algn="ctr" rtl="0">
                        <a:spcBef>
                          <a:spcPts val="0"/>
                        </a:spcBef>
                        <a:spcAft>
                          <a:spcPts val="0"/>
                        </a:spcAft>
                        <a:buNone/>
                      </a:pPr>
                      <a:r>
                        <a:rPr sz="900" b="1">
                          <a:latin typeface="Meiryo UI"/>
                          <a:ea typeface="Meiryo UI"/>
                        </a:rPr>
                        <a:t>約 8.2 倍</a:t>
                      </a:r>
                    </a:p>
                  </a:txBody>
                  <a:tcPr marL="54000" marR="36000" marT="18000" marB="18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lt1"/>
                      </a:solidFill>
                      <a:prstDash val="solid"/>
                      <a:round/>
                      <a:headEnd type="none" w="sm" len="sm"/>
                      <a:tailEnd type="none" w="sm" len="sm"/>
                    </a:lnB>
                    <a:solidFill>
                      <a:srgbClr val="E1F3FB"/>
                    </a:solidFill>
                  </a:tcPr>
                </a:tc>
                <a:tc>
                  <a:txBody>
                    <a:bodyPr/>
                    <a:lstStyle/>
                    <a:p>
                      <a:pPr marL="0" marR="0" lvl="0" indent="0" algn="ctr" rtl="0">
                        <a:spcBef>
                          <a:spcPts val="0"/>
                        </a:spcBef>
                        <a:spcAft>
                          <a:spcPts val="0"/>
                        </a:spcAft>
                        <a:buClr>
                          <a:srgbClr val="66A09A"/>
                        </a:buClr>
                        <a:buSzPts val="1120"/>
                        <a:buFont typeface="Arial"/>
                        <a:buNone/>
                      </a:pPr>
                      <a:r>
                        <a:rPr sz="900" b="1">
                          <a:latin typeface="Meiryo UI"/>
                          <a:ea typeface="Meiryo UI"/>
                        </a:rPr>
                        <a:t>3.0 〜 5.0 倍</a:t>
                      </a:r>
                      <a:endParaRPr lang="en-US" altLang="ja-JP" sz="1050" u="none" strike="noStrike" cap="none" dirty="0">
                        <a:solidFill>
                          <a:schemeClr val="dk1"/>
                        </a:solidFill>
                        <a:latin typeface="Meiryo UI" panose="020B0604030504040204" pitchFamily="50" charset="-128"/>
                        <a:ea typeface="Meiryo UI" panose="020B0604030504040204" pitchFamily="50" charset="-128"/>
                      </a:endParaRPr>
                    </a:p>
                  </a:txBody>
                  <a:tcPr marL="54000" marR="36000" marT="18000" marB="18000" anchor="ctr">
                    <a:lnL w="9525" cap="flat" cmpd="sng">
                      <a:solidFill>
                        <a:srgbClr val="000000">
                          <a:alpha val="0"/>
                        </a:srgbClr>
                      </a:solidFill>
                      <a:prstDash val="solid"/>
                      <a:round/>
                      <a:headEnd type="none" w="sm" len="sm"/>
                      <a:tailEnd type="none" w="sm" len="sm"/>
                    </a:lnL>
                    <a:lnR w="12700" cap="flat" cmpd="sng">
                      <a:solidFill>
                        <a:srgbClr val="C8C8C8"/>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rgbClr val="C8C8C8"/>
                      </a:solidFill>
                      <a:prstDash val="solid"/>
                      <a:round/>
                      <a:headEnd type="none" w="sm" len="sm"/>
                      <a:tailEnd type="none" w="sm" len="sm"/>
                    </a:lnB>
                    <a:solidFill>
                      <a:srgbClr val="E1F3FB"/>
                    </a:solidFill>
                  </a:tcPr>
                </a:tc>
                <a:tc>
                  <a:txBody>
                    <a:bodyPr/>
                    <a:lstStyle/>
                    <a:p>
                      <a:pPr marL="0" marR="0" lvl="0" indent="0" algn="ctr" defTabSz="914400" rtl="0" eaLnBrk="1" fontAlgn="auto" latinLnBrk="0" hangingPunct="1">
                        <a:lnSpc>
                          <a:spcPct val="100000"/>
                        </a:lnSpc>
                        <a:spcBef>
                          <a:spcPts val="0"/>
                        </a:spcBef>
                        <a:spcAft>
                          <a:spcPts val="0"/>
                        </a:spcAft>
                        <a:buClr>
                          <a:prstClr val="black"/>
                        </a:buClr>
                        <a:buSzPts val="1600"/>
                        <a:buFont typeface="Arial"/>
                        <a:buNone/>
                        <a:tabLst/>
                        <a:defRPr/>
                      </a:pPr>
                      <a:r>
                        <a:rPr sz="900" b="1">
                          <a:latin typeface="Meiryo UI"/>
                          <a:ea typeface="Meiryo UI"/>
                        </a:rPr>
                        <a:t>10.7 〜 12.7 倍</a:t>
                      </a:r>
                      <a:endParaRPr kumimoji="0" lang="ja-JP" altLang="ja-JP" sz="1600" b="1"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Arial"/>
                        <a:sym typeface="Arial"/>
                      </a:endParaRPr>
                    </a:p>
                  </a:txBody>
                  <a:tcPr marL="54000" marR="36000" marT="18000" marB="18000" anchor="ctr">
                    <a:lnL w="12700" cap="flat" cmpd="sng">
                      <a:solidFill>
                        <a:srgbClr val="C8C8C8"/>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rgbClr val="C8C8C8"/>
                      </a:solidFill>
                      <a:prstDash val="solid"/>
                      <a:round/>
                      <a:headEnd type="none" w="sm" len="sm"/>
                      <a:tailEnd type="none" w="sm" len="sm"/>
                    </a:lnB>
                    <a:solidFill>
                      <a:srgbClr val="E1F3FB"/>
                    </a:solidFill>
                  </a:tcPr>
                </a:tc>
                <a:extLst>
                  <a:ext uri="{0D108BD9-81ED-4DB2-BD59-A6C34878D82A}">
                    <a16:rowId xmlns:a16="http://schemas.microsoft.com/office/drawing/2014/main" val="10001"/>
                  </a:ext>
                </a:extLst>
              </a:tr>
              <a:tr h="402336">
                <a:tc>
                  <a:txBody>
                    <a:bodyPr/>
                    <a:lstStyle/>
                    <a:p>
                      <a:pPr marL="0" marR="0" lvl="0" indent="0" algn="l" rtl="0">
                        <a:spcBef>
                          <a:spcPts val="0"/>
                        </a:spcBef>
                        <a:spcAft>
                          <a:spcPts val="0"/>
                        </a:spcAft>
                        <a:buNone/>
                      </a:pPr>
                      <a:r>
                        <a:rPr sz="750" b="0">
                          <a:latin typeface="Meiryo UI"/>
                          <a:ea typeface="Meiryo UI"/>
                        </a:rPr>
                        <a:t>売主側における借入金の返済可能性</a:t>
                      </a:r>
                    </a:p>
                  </a:txBody>
                  <a:tcPr marL="54000" marR="36000" marT="18000" marB="18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60000"/>
                        <a:lumOff val="40000"/>
                      </a:schemeClr>
                    </a:solidFill>
                  </a:tcPr>
                </a:tc>
                <a:tc>
                  <a:txBody>
                    <a:bodyPr/>
                    <a:lstStyle/>
                    <a:p>
                      <a:pPr marL="0" marR="0" lvl="0" indent="0" algn="l" rtl="0">
                        <a:spcBef>
                          <a:spcPts val="0"/>
                        </a:spcBef>
                        <a:spcAft>
                          <a:spcPts val="0"/>
                        </a:spcAft>
                        <a:buNone/>
                      </a:pPr>
                      <a:r>
                        <a:rPr sz="750" b="0">
                          <a:latin typeface="Meiryo UI"/>
                          <a:ea typeface="Meiryo UI"/>
                        </a:rPr>
                        <a:t>借入金は対象会社に残るため論点となりません</a:t>
                      </a:r>
                    </a:p>
                  </a:txBody>
                  <a:tcPr marL="54000" marR="36000" marT="18000" marB="18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lt1"/>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66A09A"/>
                        </a:buClr>
                        <a:buSzPts val="1120"/>
                        <a:buFont typeface="Arial"/>
                        <a:buNone/>
                      </a:pPr>
                      <a:r>
                        <a:rPr sz="750" b="0">
                          <a:latin typeface="Meiryo UI"/>
                          <a:ea typeface="Meiryo UI"/>
                        </a:rPr>
                        <a:t>対価では借入金156,317千円を返済できず、不足額は約62,500〜100,000千円。金融機関の事前内諾が必須</a:t>
                      </a:r>
                      <a:endParaRPr lang="en-US" altLang="ja-JP" sz="1050" u="none" strike="noStrike" cap="none" dirty="0">
                        <a:solidFill>
                          <a:schemeClr val="dk1"/>
                        </a:solidFill>
                        <a:latin typeface="Meiryo UI" panose="020B0604030504040204" pitchFamily="50" charset="-128"/>
                        <a:ea typeface="Meiryo UI" panose="020B0604030504040204" pitchFamily="50" charset="-128"/>
                      </a:endParaRPr>
                    </a:p>
                  </a:txBody>
                  <a:tcPr marL="54000" marR="36000" marT="18000" marB="18000" anchor="ctr">
                    <a:lnL w="9525" cap="flat" cmpd="sng">
                      <a:solidFill>
                        <a:srgbClr val="000000">
                          <a:alpha val="0"/>
                        </a:srgbClr>
                      </a:solidFill>
                      <a:prstDash val="solid"/>
                      <a:round/>
                      <a:headEnd type="none" w="sm" len="sm"/>
                      <a:tailEnd type="none" w="sm" len="sm"/>
                    </a:lnL>
                    <a:lnR w="12700" cap="flat" cmpd="sng">
                      <a:solidFill>
                        <a:srgbClr val="C8C8C8"/>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rgbClr val="C8C8C8"/>
                      </a:solidFill>
                      <a:prstDash val="solid"/>
                      <a:round/>
                      <a:headEnd type="none" w="sm" len="sm"/>
                      <a:tailEnd type="none" w="sm" len="sm"/>
                    </a:lnB>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
                          <a:prstClr val="black"/>
                        </a:buClr>
                        <a:buSzPts val="1600"/>
                        <a:buFont typeface="Arial"/>
                        <a:buNone/>
                        <a:tabLst/>
                        <a:defRPr/>
                      </a:pPr>
                      <a:r>
                        <a:rPr sz="750" b="0">
                          <a:latin typeface="Meiryo UI"/>
                          <a:ea typeface="Meiryo UI"/>
                        </a:rPr>
                        <a:t>対価により借入金の全額返済が可能</a:t>
                      </a:r>
                      <a:endParaRPr kumimoji="0" lang="ja-JP" altLang="ja-JP" sz="1600" b="1"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Arial"/>
                        <a:sym typeface="Arial"/>
                      </a:endParaRPr>
                    </a:p>
                  </a:txBody>
                  <a:tcPr marL="54000" marR="36000" marT="18000" marB="18000" anchor="ctr">
                    <a:lnL w="12700" cap="flat" cmpd="sng">
                      <a:solidFill>
                        <a:srgbClr val="C8C8C8"/>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rgbClr val="C8C8C8"/>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bl>
          </a:graphicData>
        </a:graphic>
      </p:graphicFrame>
      <p:sp>
        <p:nvSpPr>
          <p:cNvPr id="208" name="Google Shape;208;p3"/>
          <p:cNvSpPr txBox="1"/>
          <p:nvPr/>
        </p:nvSpPr>
        <p:spPr>
          <a:xfrm>
            <a:off x="9450000" y="0"/>
            <a:ext cx="3400000" cy="6858000"/>
          </a:xfrm>
          <a:prstGeom prst="rect">
            <a:avLst/>
          </a:prstGeom>
          <a:solidFill>
            <a:srgbClr val="EEF7CD"/>
          </a:solidFill>
          <a:ln>
            <a:noFill/>
          </a:ln>
        </p:spPr>
        <p:txBody>
          <a:bodyPr spcFirstLastPara="1" wrap="square" lIns="72000" tIns="36000" rIns="72000" bIns="36000" anchor="ctr" anchorCtr="0">
            <a:noAutofit/>
          </a:bodyPr>
          <a:lstStyle/>
          <a:p>
            <a:pPr marL="0" marR="0" lvl="0" indent="0" algn="l" rtl="0">
              <a:lnSpc>
                <a:spcPct val="110000"/>
              </a:lnSpc>
              <a:spcBef>
                <a:spcPts val="0"/>
              </a:spcBef>
              <a:spcAft>
                <a:spcPts val="0"/>
              </a:spcAft>
              <a:buNone/>
            </a:pPr>
            <a:r>
              <a:rPr sz="900" b="0">
                <a:latin typeface="Meiryo UI"/>
                <a:ea typeface="Meiryo UI"/>
              </a:rPr>
              <a:t>【社内メモ｜本資料作成時の留意事項】</a:t>
            </a:r>
            <a:endParaRPr dirty="0"/>
          </a:p>
          <a:p>
            <a:pPr algn="l">
              <a:lnSpc>
                <a:spcPct val="110000"/>
              </a:lnSpc>
            </a:pPr>
            <a:r>
              <a:rPr sz="900" b="0">
                <a:latin typeface="Meiryo UI"/>
                <a:ea typeface="Meiryo UI"/>
              </a:rPr>
              <a:t>※本テキストボックスはスライド範囲外に配置しており、スライドショー・PDF出力には表示されません。買手候補への提示前に内容をご確認ください。</a:t>
            </a:r>
          </a:p>
          <a:p>
            <a:pPr algn="l">
              <a:lnSpc>
                <a:spcPct val="110000"/>
              </a:lnSpc>
            </a:pPr>
            <a:r>
              <a:rPr sz="900" b="0">
                <a:latin typeface="Meiryo UI"/>
                <a:ea typeface="Meiryo UI"/>
              </a:rPr>
              <a:t>　</a:t>
            </a:r>
          </a:p>
          <a:p>
            <a:pPr algn="l">
              <a:lnSpc>
                <a:spcPct val="110000"/>
              </a:lnSpc>
            </a:pPr>
            <a:r>
              <a:rPr sz="900" b="0">
                <a:latin typeface="Meiryo UI"/>
                <a:ea typeface="Meiryo UI"/>
              </a:rPr>
              <a:t>１．基準EBITDA 18,760千円は株式価値試算報告書（2026年4月17日付）の記載値。修正後EBITDA（14,806／14,410／22,952）を1:2:3で加重平均すると18,747千円となり13千円の差が生じるため、案件マスターで算定根拠を確定すること。</a:t>
            </a:r>
          </a:p>
          <a:p>
            <a:pPr algn="l">
              <a:lnSpc>
                <a:spcPct val="110000"/>
              </a:lnSpc>
            </a:pPr>
            <a:r>
              <a:rPr sz="900" b="0">
                <a:latin typeface="Meiryo UI"/>
                <a:ea typeface="Meiryo UI"/>
              </a:rPr>
              <a:t>　</a:t>
            </a:r>
          </a:p>
          <a:p>
            <a:pPr algn="l">
              <a:lnSpc>
                <a:spcPct val="110000"/>
              </a:lnSpc>
            </a:pPr>
            <a:r>
              <a:rPr sz="900" b="0">
                <a:latin typeface="Meiryo UI"/>
                <a:ea typeface="Meiryo UI"/>
              </a:rPr>
              <a:t>２．「スキーム比較のご提案」（2026年5月29日付）では基準EBITDA 18,512千円・倍率4〜6倍（EV 74,046〜111,069千円）と記載されており、株式価値試算報告書（18,760千円・3〜5倍）と数値・倍率がいずれも異なる。買手候補ごとに提示数値が食い違わないよう、提示前に統一すること。本資料は株式価値試算報告書の数値に統一している。</a:t>
            </a:r>
          </a:p>
          <a:p>
            <a:pPr algn="l">
              <a:lnSpc>
                <a:spcPct val="110000"/>
              </a:lnSpc>
            </a:pPr>
            <a:r>
              <a:rPr sz="900" b="0">
                <a:latin typeface="Meiryo UI"/>
                <a:ea typeface="Meiryo UI"/>
              </a:rPr>
              <a:t>　</a:t>
            </a:r>
          </a:p>
          <a:p>
            <a:pPr algn="l">
              <a:lnSpc>
                <a:spcPct val="110000"/>
              </a:lnSpc>
            </a:pPr>
            <a:r>
              <a:rPr sz="900" b="0">
                <a:latin typeface="Meiryo UI"/>
                <a:ea typeface="Meiryo UI"/>
              </a:rPr>
              <a:t>３．株式価値試算報告書の「販管費及び一般管理費の修正」の修正後合計（2025年12月期 47,260千円）と、PLハイライトから逆算した販管費（44,780千円＝売上総利益67,190－営業利益22,410）に2,480千円の差異がある。案件マスターで整合を確認すること。</a:t>
            </a:r>
          </a:p>
          <a:p>
            <a:pPr algn="l">
              <a:lnSpc>
                <a:spcPct val="110000"/>
              </a:lnSpc>
            </a:pPr>
            <a:r>
              <a:rPr sz="900" b="0">
                <a:latin typeface="Meiryo UI"/>
                <a:ea typeface="Meiryo UI"/>
              </a:rPr>
              <a:t>　</a:t>
            </a:r>
          </a:p>
          <a:p>
            <a:pPr algn="l">
              <a:lnSpc>
                <a:spcPct val="110000"/>
              </a:lnSpc>
            </a:pPr>
            <a:r>
              <a:rPr sz="900" b="0">
                <a:latin typeface="Meiryo UI"/>
                <a:ea typeface="Meiryo UI"/>
              </a:rPr>
              <a:t>４．企業概要書の売上高（2024年12月期252,085／2025年12月期375,521千円）と分析資料の売上高（201,668／356,909千円）が異なる。前者は軽配送事業を含む全社ベース、後者はフォワーダー事業単体ベースと理解しているが、2023年12月期のみ両者が一致（282,040千円）しており、同期の軽配送事業売上の除外が未反映の可能性がある。要検証。</a:t>
            </a:r>
          </a:p>
          <a:p>
            <a:pPr algn="l">
              <a:lnSpc>
                <a:spcPct val="110000"/>
              </a:lnSpc>
            </a:pPr>
            <a:r>
              <a:rPr sz="900" b="0">
                <a:latin typeface="Meiryo UI"/>
                <a:ea typeface="Meiryo UI"/>
              </a:rPr>
              <a:t>　</a:t>
            </a:r>
          </a:p>
          <a:p>
            <a:pPr algn="l">
              <a:lnSpc>
                <a:spcPct val="110000"/>
              </a:lnSpc>
            </a:pPr>
            <a:r>
              <a:rPr sz="900" b="0">
                <a:latin typeface="Meiryo UI"/>
                <a:ea typeface="Meiryo UI"/>
              </a:rPr>
              <a:t>５．P10の「＋6,920千円（軽配送事業の切離し・販管費の部門別賦課）」は、企業概要書の調整後EBITDA 9,922千円と本資料の22,952千円の差額13,030千円から役員報酬差6,110千円を控除した残差として算出したもの。内訳を案件マスターで分解し、確定させること。</a:t>
            </a:r>
          </a:p>
          <a:p>
            <a:pPr algn="l">
              <a:lnSpc>
                <a:spcPct val="110000"/>
              </a:lnSpc>
            </a:pPr>
            <a:r>
              <a:rPr sz="900" b="0">
                <a:latin typeface="Meiryo UI"/>
                <a:ea typeface="Meiryo UI"/>
              </a:rPr>
              <a:t>　</a:t>
            </a:r>
          </a:p>
          <a:p>
            <a:pPr algn="l">
              <a:lnSpc>
                <a:spcPct val="110000"/>
              </a:lnSpc>
            </a:pPr>
            <a:r>
              <a:rPr sz="900" b="0">
                <a:latin typeface="Meiryo UI"/>
                <a:ea typeface="Meiryo UI"/>
              </a:rPr>
              <a:t>６．弊社成功報酬について、企業概要書の報酬体系では「時価総資産（営業権含む）2億円以下の部分＝2,000万円、最低額1,500万円」、「スキーム比較のご提案」では「アドバイザリー報酬10,000千円」と記載が異なる。提示前の統一が必要なため、本資料では金額を記載せず「別途ご提示」としている。</a:t>
            </a:r>
          </a:p>
          <a:p>
            <a:pPr algn="l">
              <a:lnSpc>
                <a:spcPct val="110000"/>
              </a:lnSpc>
            </a:pPr>
            <a:r>
              <a:rPr sz="900" b="0">
                <a:latin typeface="Meiryo UI"/>
                <a:ea typeface="Meiryo UI"/>
              </a:rPr>
              <a:t>　</a:t>
            </a:r>
          </a:p>
          <a:p>
            <a:pPr algn="l">
              <a:lnSpc>
                <a:spcPct val="110000"/>
              </a:lnSpc>
            </a:pPr>
            <a:r>
              <a:rPr sz="900" b="0">
                <a:latin typeface="Meiryo UI"/>
                <a:ea typeface="Meiryo UI"/>
              </a:rPr>
              <a:t>７．他の買手候補（ジャパン・バン・ラインズ株式会社）への提示資料の存在および提示条件については、本資料および面談において一切言及しないこと。</a:t>
            </a:r>
          </a:p>
          <a:p>
            <a:pPr algn="l">
              <a:lnSpc>
                <a:spcPct val="110000"/>
              </a:lnSpc>
            </a:pPr>
            <a:r>
              <a:rPr sz="900" b="0">
                <a:latin typeface="Meiryo UI"/>
                <a:ea typeface="Meiryo UI"/>
              </a:rPr>
              <a:t>　</a:t>
            </a:r>
          </a:p>
          <a:p>
            <a:pPr algn="l">
              <a:lnSpc>
                <a:spcPct val="110000"/>
              </a:lnSpc>
            </a:pPr>
            <a:r>
              <a:rPr sz="900" b="0">
                <a:latin typeface="Meiryo UI"/>
                <a:ea typeface="Meiryo UI"/>
              </a:rPr>
              <a:t>８．「2026年4月中に代表保有の休眠会社へ軽配送事業を切り分ける想定」（企業概要書P6）は同年4月時点の記載。本日（2026年8月16日）時点の実行状況を売主に確認のうえ、面談前にP7・P8を更新すること。</a:t>
            </a:r>
          </a:p>
          <a:p>
            <a:pPr algn="l">
              <a:lnSpc>
                <a:spcPct val="110000"/>
              </a:lnSpc>
            </a:pPr>
            <a:r>
              <a:rPr sz="900" b="0">
                <a:latin typeface="Meiryo UI"/>
                <a:ea typeface="Meiryo UI"/>
              </a:rPr>
              <a:t>　</a:t>
            </a:r>
          </a:p>
          <a:p>
            <a:pPr algn="l">
              <a:lnSpc>
                <a:spcPct val="110000"/>
              </a:lnSpc>
            </a:pPr>
            <a:r>
              <a:rPr sz="900" b="0">
                <a:latin typeface="Meiryo UI"/>
                <a:ea typeface="Meiryo UI"/>
              </a:rPr>
              <a:t>９．役員借入金 約10,000千円の貸借対照表上の計上区分が未確定。短期借入金15,321千円に含まれる場合、P6の手出し資金表（③と⑤）で二重計上となるため要修正。</a:t>
            </a:r>
          </a:p>
          <a:p>
            <a:pPr algn="l">
              <a:lnSpc>
                <a:spcPct val="110000"/>
              </a:lnSpc>
            </a:pPr>
            <a:r>
              <a:rPr sz="900" b="0">
                <a:latin typeface="Meiryo UI"/>
                <a:ea typeface="Meiryo UI"/>
              </a:rPr>
              <a:t>　</a:t>
            </a:r>
          </a:p>
          <a:p>
            <a:pPr algn="l">
              <a:lnSpc>
                <a:spcPct val="110000"/>
              </a:lnSpc>
            </a:pPr>
            <a:r>
              <a:rPr sz="900" b="0">
                <a:latin typeface="Meiryo UI"/>
                <a:ea typeface="Meiryo UI"/>
              </a:rPr>
              <a:t>10．第一種貨物利用運送事業（外航海運）の事業譲渡・会社分割時の承継手続については、所管官庁（国土交通省）への確認が必要。本資料では「要確認」としている。</a:t>
            </a:r>
          </a:p>
          <a:p>
            <a:pPr algn="l">
              <a:lnSpc>
                <a:spcPct val="110000"/>
              </a:lnSpc>
            </a:pPr>
            <a:r>
              <a:rPr sz="900" b="0">
                <a:latin typeface="Meiryo UI"/>
                <a:ea typeface="Meiryo UI"/>
              </a:rPr>
              <a:t>　</a:t>
            </a:r>
          </a:p>
          <a:p>
            <a:pPr algn="l">
              <a:lnSpc>
                <a:spcPct val="110000"/>
              </a:lnSpc>
            </a:pPr>
            <a:r>
              <a:rPr sz="900" b="0">
                <a:latin typeface="Meiryo UI"/>
                <a:ea typeface="Meiryo UI"/>
              </a:rPr>
              <a:t>11．発行済株式数は企業概要書内で「3,000株」（基本情報）と「300株」（株主及び役員）の2通りの記載。登記簿で確定のうえ、企業概要書も修正すること。</a:t>
            </a:r>
          </a:p>
          <a:p>
            <a:pPr algn="l">
              <a:lnSpc>
                <a:spcPct val="110000"/>
              </a:lnSpc>
            </a:pPr>
            <a:r>
              <a:rPr sz="900" b="0">
                <a:latin typeface="Meiryo UI"/>
                <a:ea typeface="Meiryo UI"/>
              </a:rPr>
              <a:t>　</a:t>
            </a:r>
          </a:p>
        </p:txBody>
      </p:sp>
      <p:sp>
        <p:nvSpPr>
          <p:cNvPr id="4" name="正方形/長方形 3">
            <a:extLst>
              <a:ext uri="{FF2B5EF4-FFF2-40B4-BE49-F238E27FC236}">
                <a16:creationId xmlns:a16="http://schemas.microsoft.com/office/drawing/2014/main" id="{F63F0559-A471-05FB-7992-03A5FE1C9DE2}"/>
              </a:ext>
            </a:extLst>
          </p:cNvPr>
          <p:cNvSpPr/>
          <p:nvPr/>
        </p:nvSpPr>
        <p:spPr>
          <a:xfrm>
            <a:off x="249787" y="971550"/>
            <a:ext cx="8623625" cy="230832"/>
          </a:xfrm>
          <a:prstGeom prst="rect">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r>
              <a:rPr sz="1050" b="1">
                <a:solidFill>
                  <a:srgbClr val="FFFFFF"/>
                </a:solidFill>
                <a:latin typeface="Meiryo UI"/>
                <a:ea typeface="Meiryo UI"/>
              </a:rPr>
              <a:t>手出し資金の比較｜2025年12月期BS・基準EBITDA 18,760千円ベース</a:t>
            </a:r>
          </a:p>
        </p:txBody>
      </p:sp>
      <p:sp>
        <p:nvSpPr>
          <p:cNvPr id="3" name="テキスト ボックス 2">
            <a:extLst>
              <a:ext uri="{FF2B5EF4-FFF2-40B4-BE49-F238E27FC236}">
                <a16:creationId xmlns:a16="http://schemas.microsoft.com/office/drawing/2014/main" id="{6C03ED91-D22A-D22B-526D-CF9FC3CC78F7}"/>
              </a:ext>
            </a:extLst>
          </p:cNvPr>
          <p:cNvSpPr txBox="1"/>
          <p:nvPr/>
        </p:nvSpPr>
        <p:spPr>
          <a:xfrm>
            <a:off x="8149019" y="1304559"/>
            <a:ext cx="1036086" cy="230832"/>
          </a:xfrm>
          <a:prstGeom prst="rect">
            <a:avLst/>
          </a:prstGeom>
          <a:noFill/>
        </p:spPr>
        <p:txBody>
          <a:bodyPr wrap="square" rtlCol="0">
            <a:spAutoFit/>
          </a:bodyPr>
          <a:lstStyle/>
          <a:p>
            <a:pPr algn="r"/>
            <a:r>
              <a:rPr sz="900" b="0">
                <a:latin typeface="Meiryo UI"/>
                <a:ea typeface="Meiryo UI"/>
              </a:rPr>
              <a:t>（単位：千円）</a:t>
            </a:r>
          </a:p>
        </p:txBody>
      </p:sp>
      <p:sp>
        <p:nvSpPr>
          <p:cNvPr id="210" name="TextBox 209"/>
          <p:cNvSpPr txBox="1"/>
          <p:nvPr/>
        </p:nvSpPr>
        <p:spPr>
          <a:xfrm>
            <a:off x="265176" y="6150000"/>
            <a:ext cx="8631936" cy="274320"/>
          </a:xfrm>
          <a:prstGeom prst="rect">
            <a:avLst/>
          </a:prstGeom>
          <a:noFill/>
        </p:spPr>
        <p:txBody>
          <a:bodyPr wrap="square">
            <a:spAutoFit/>
          </a:bodyPr>
          <a:lstStyle/>
          <a:p>
            <a:pPr algn="l">
              <a:lnSpc>
                <a:spcPct val="115000"/>
              </a:lnSpc>
            </a:pPr>
            <a:r>
              <a:rPr sz="750" b="0">
                <a:latin typeface="Meiryo UI"/>
                <a:ea typeface="Meiryo UI"/>
              </a:rPr>
              <a:t>▌ 事業譲渡を採る場合、事業用資産・負債（純額 約144,500千円）を含めた譲渡が前提となります。営業権のみの譲受では、対象会社に借入金156,317千円が残り返済原資が不足するため、金融機関の内諾が得られない可能性が高いと考えられます。</a:t>
            </a:r>
          </a:p>
          <a:p>
            <a:pPr algn="l">
              <a:lnSpc>
                <a:spcPct val="115000"/>
              </a:lnSpc>
            </a:pPr>
            <a:r>
              <a:rPr sz="750" b="0">
                <a:latin typeface="Meiryo UI"/>
                <a:ea typeface="Meiryo UI"/>
              </a:rPr>
              <a:t>※弊社成功報酬は別途ご提示のとおりであり、上記には含んでおりません。　※消費税は対価等に対する10%を機械的に計算したもので、後日仕入税額控除の対象となります。</a:t>
            </a:r>
          </a:p>
          <a:p>
            <a:pPr algn="l">
              <a:lnSpc>
                <a:spcPct val="115000"/>
              </a:lnSpc>
            </a:pPr>
            <a:r>
              <a:rPr sz="750" b="0">
                <a:latin typeface="Meiryo UI"/>
                <a:ea typeface="Meiryo UI"/>
              </a:rPr>
              <a:t>※役員借入金 約10,000千円は貸借対照表上の計上区分が確認中であり、短期借入金15,321千円に含まれる場合は⑤との重複となります。　※千円未満の端数処理により合計が一致しない場合があります。</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04" name="Google Shape;204;p3"/>
          <p:cNvSpPr txBox="1">
            <a:spLocks noGrp="1"/>
          </p:cNvSpPr>
          <p:nvPr>
            <p:ph type="title"/>
          </p:nvPr>
        </p:nvSpPr>
        <p:spPr>
          <a:xfrm>
            <a:off x="395536" y="332655"/>
            <a:ext cx="6696744" cy="288033"/>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sz="1400" b="1">
                <a:solidFill>
                  <a:srgbClr val="5A5A5A"/>
                </a:solidFill>
                <a:latin typeface="Meiryo UI"/>
                <a:ea typeface="Meiryo UI"/>
              </a:rPr>
              <a:t>譲渡価額の考え方 ①｜正常収益力（修正後EBITDA）</a:t>
            </a:r>
            <a:endParaRPr b="1" dirty="0">
              <a:solidFill>
                <a:srgbClr val="5A5A5A"/>
              </a:solidFill>
              <a:latin typeface="Meiryo UI" panose="020B0604030504040204" pitchFamily="50" charset="-128"/>
              <a:ea typeface="Meiryo UI" panose="020B0604030504040204" pitchFamily="50" charset="-128"/>
              <a:sym typeface="Arial"/>
            </a:endParaRPr>
          </a:p>
        </p:txBody>
      </p:sp>
      <p:sp>
        <p:nvSpPr>
          <p:cNvPr id="205" name="Google Shape;205;p3"/>
          <p:cNvSpPr txBox="1"/>
          <p:nvPr/>
        </p:nvSpPr>
        <p:spPr>
          <a:xfrm>
            <a:off x="323528" y="116632"/>
            <a:ext cx="2376264" cy="188640"/>
          </a:xfrm>
          <a:prstGeom prst="rect">
            <a:avLst/>
          </a:prstGeom>
          <a:noFill/>
          <a:ln>
            <a:noFill/>
          </a:ln>
        </p:spPr>
        <p:txBody>
          <a:bodyPr spcFirstLastPara="1" wrap="square" lIns="36000" tIns="0" rIns="0" bIns="0" anchor="ctr" anchorCtr="0">
            <a:noAutofit/>
          </a:bodyPr>
          <a:lstStyle/>
          <a:p>
            <a:pPr marL="0" marR="0" lvl="0" indent="0" algn="l" rtl="0">
              <a:lnSpc>
                <a:spcPct val="100000"/>
              </a:lnSpc>
              <a:spcBef>
                <a:spcPts val="0"/>
              </a:spcBef>
              <a:spcAft>
                <a:spcPts val="0"/>
              </a:spcAft>
              <a:buClr>
                <a:srgbClr val="5A5A5A"/>
              </a:buClr>
              <a:buSzPts val="1000"/>
              <a:buFont typeface="Arial"/>
              <a:buNone/>
            </a:pPr>
            <a:r>
              <a:rPr sz="1000" b="0">
                <a:solidFill>
                  <a:srgbClr val="5A5A5A"/>
                </a:solidFill>
                <a:latin typeface="Meiryo UI"/>
                <a:ea typeface="Meiryo UI"/>
              </a:rPr>
              <a:t>本件の論点整理</a:t>
            </a:r>
            <a:endParaRPr>
              <a:latin typeface="Meiryo UI" panose="020B0604030504040204" pitchFamily="50" charset="-128"/>
              <a:ea typeface="Meiryo UI" panose="020B0604030504040204" pitchFamily="50" charset="-128"/>
            </a:endParaRPr>
          </a:p>
        </p:txBody>
      </p:sp>
      <p:sp>
        <p:nvSpPr>
          <p:cNvPr id="206" name="Google Shape;206;p3"/>
          <p:cNvSpPr/>
          <p:nvPr/>
        </p:nvSpPr>
        <p:spPr>
          <a:xfrm>
            <a:off x="0" y="116632"/>
            <a:ext cx="323528" cy="180000"/>
          </a:xfrm>
          <a:prstGeom prst="parallelogram">
            <a:avLst>
              <a:gd name="adj" fmla="val 32938"/>
            </a:avLst>
          </a:prstGeom>
          <a:solidFill>
            <a:srgbClr val="66A09A"/>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Arial"/>
              <a:buNone/>
            </a:pPr>
            <a:r>
              <a:rPr sz="1000" b="0">
                <a:solidFill>
                  <a:srgbClr val="FFFFFF"/>
                </a:solidFill>
                <a:latin typeface="Meiryo UI"/>
                <a:ea typeface="Meiryo UI"/>
              </a:rPr>
              <a:t>1</a:t>
            </a:r>
            <a:endParaRPr sz="1000" b="0" i="0" u="none" strike="noStrike" cap="none">
              <a:solidFill>
                <a:srgbClr val="FFFFFF"/>
              </a:solidFill>
              <a:latin typeface="Arial"/>
              <a:ea typeface="Arial"/>
              <a:cs typeface="Arial"/>
              <a:sym typeface="Arial"/>
            </a:endParaRPr>
          </a:p>
        </p:txBody>
      </p:sp>
      <p:graphicFrame>
        <p:nvGraphicFramePr>
          <p:cNvPr id="207" name="Google Shape;207;p3"/>
          <p:cNvGraphicFramePr/>
          <p:nvPr>
            <p:extLst>
              <p:ext uri="{D42A27DB-BD31-4B8C-83A1-F6EECF244321}">
                <p14:modId xmlns:p14="http://schemas.microsoft.com/office/powerpoint/2010/main" val="2721619109"/>
              </p:ext>
            </p:extLst>
          </p:nvPr>
        </p:nvGraphicFramePr>
        <p:xfrm>
          <a:off x="265176" y="1481328"/>
          <a:ext cx="5340095" cy="4315968"/>
        </p:xfrm>
        <a:graphic>
          <a:graphicData uri="http://schemas.openxmlformats.org/drawingml/2006/table">
            <a:tbl>
              <a:tblPr>
                <a:noFill/>
                <a:tableStyleId>{FA6B9113-0DA6-4419-ABC6-697280B0F4CE}</a:tableStyleId>
              </a:tblPr>
              <a:tblGrid>
                <a:gridCol w="2212848">
                  <a:extLst>
                    <a:ext uri="{9D8B030D-6E8A-4147-A177-3AD203B41FA5}">
                      <a16:colId xmlns:a16="http://schemas.microsoft.com/office/drawing/2014/main" val="20000"/>
                    </a:ext>
                  </a:extLst>
                </a:gridCol>
                <a:gridCol w="1042415">
                  <a:extLst>
                    <a:ext uri="{9D8B030D-6E8A-4147-A177-3AD203B41FA5}">
                      <a16:colId xmlns:a16="http://schemas.microsoft.com/office/drawing/2014/main" val="20001"/>
                    </a:ext>
                  </a:extLst>
                </a:gridCol>
                <a:gridCol w="1042415">
                  <a:extLst>
                    <a:ext uri="{9D8B030D-6E8A-4147-A177-3AD203B41FA5}">
                      <a16:colId xmlns:a16="http://schemas.microsoft.com/office/drawing/2014/main" val="20002"/>
                    </a:ext>
                  </a:extLst>
                </a:gridCol>
                <a:gridCol w="1042415">
                  <a:extLst>
                    <a:ext uri="{9D8B030D-6E8A-4147-A177-3AD203B41FA5}">
                      <a16:colId xmlns:a16="http://schemas.microsoft.com/office/drawing/2014/main" val="20003"/>
                    </a:ext>
                  </a:extLst>
                </a:gridCol>
              </a:tblGrid>
              <a:tr h="347472">
                <a:tc>
                  <a:txBody>
                    <a:bodyPr/>
                    <a:lstStyle/>
                    <a:p>
                      <a:pPr marL="0" marR="0" lvl="0" indent="0" algn="ctr" rtl="0">
                        <a:spcBef>
                          <a:spcPts val="0"/>
                        </a:spcBef>
                        <a:spcAft>
                          <a:spcPts val="0"/>
                        </a:spcAft>
                        <a:buNone/>
                      </a:pPr>
                      <a:r>
                        <a:rPr sz="850" b="1">
                          <a:latin typeface="Meiryo UI"/>
                          <a:ea typeface="Meiryo UI"/>
                        </a:rPr>
                        <a:t>項目</a:t>
                      </a:r>
                      <a:endParaRPr sz="1400" b="1" u="none" strike="noStrike" cap="none" dirty="0">
                        <a:solidFill>
                          <a:schemeClr val="lt1"/>
                        </a:solidFill>
                        <a:latin typeface="Meiryo UI" panose="020B0604030504040204" pitchFamily="50" charset="-128"/>
                        <a:ea typeface="Meiryo UI" panose="020B0604030504040204" pitchFamily="50" charset="-128"/>
                      </a:endParaRPr>
                    </a:p>
                  </a:txBody>
                  <a:tcPr marL="18000" marR="36000" marT="18000" marB="18000" anchor="ctr">
                    <a:lnL w="9525" cap="flat" cmpd="sng">
                      <a:solidFill>
                        <a:srgbClr val="000000">
                          <a:alpha val="0"/>
                        </a:srgbClr>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accent1">
                        <a:lumMod val="50000"/>
                      </a:schemeClr>
                    </a:solidFill>
                  </a:tcPr>
                </a:tc>
                <a:tc>
                  <a:txBody>
                    <a:bodyPr/>
                    <a:lstStyle/>
                    <a:p>
                      <a:pPr marL="0" marR="0" lvl="0" indent="0" algn="ctr" rtl="0">
                        <a:spcBef>
                          <a:spcPts val="0"/>
                        </a:spcBef>
                        <a:spcAft>
                          <a:spcPts val="0"/>
                        </a:spcAft>
                        <a:buNone/>
                      </a:pPr>
                      <a:r>
                        <a:rPr sz="850" b="1">
                          <a:latin typeface="Meiryo UI"/>
                          <a:ea typeface="Meiryo UI"/>
                        </a:rPr>
                        <a:t>2023年12月期</a:t>
                      </a:r>
                      <a:endParaRPr dirty="0">
                        <a:latin typeface="Meiryo UI" panose="020B0604030504040204" pitchFamily="50" charset="-128"/>
                        <a:ea typeface="Meiryo UI" panose="020B0604030504040204" pitchFamily="50" charset="-128"/>
                      </a:endParaRPr>
                    </a:p>
                  </a:txBody>
                  <a:tcPr marL="18000" marR="36000" marT="18000" marB="1800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accent1">
                        <a:lumMod val="50000"/>
                      </a:schemeClr>
                    </a:solidFill>
                  </a:tcPr>
                </a:tc>
                <a:tc>
                  <a:txBody>
                    <a:bodyPr/>
                    <a:lstStyle/>
                    <a:p>
                      <a:pPr marL="0" marR="0" lvl="0" indent="0" algn="ctr" rtl="0">
                        <a:spcBef>
                          <a:spcPts val="0"/>
                        </a:spcBef>
                        <a:spcAft>
                          <a:spcPts val="0"/>
                        </a:spcAft>
                        <a:buNone/>
                      </a:pPr>
                      <a:r>
                        <a:rPr sz="850" b="1">
                          <a:latin typeface="Meiryo UI"/>
                          <a:ea typeface="Meiryo UI"/>
                        </a:rPr>
                        <a:t>2024年12月期</a:t>
                      </a:r>
                      <a:endParaRPr dirty="0">
                        <a:latin typeface="Meiryo UI" panose="020B0604030504040204" pitchFamily="50" charset="-128"/>
                        <a:ea typeface="Meiryo UI" panose="020B0604030504040204" pitchFamily="50" charset="-128"/>
                      </a:endParaRPr>
                    </a:p>
                  </a:txBody>
                  <a:tcPr marL="18000" marR="36000" marT="18000" marB="1800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accent1">
                        <a:lumMod val="50000"/>
                      </a:schemeClr>
                    </a:solidFill>
                  </a:tcPr>
                </a:tc>
                <a:tc>
                  <a:txBody>
                    <a:bodyPr/>
                    <a:lstStyle/>
                    <a:p>
                      <a:pPr marL="0" marR="0" lvl="0" indent="0" algn="ctr" rtl="0">
                        <a:spcBef>
                          <a:spcPts val="0"/>
                        </a:spcBef>
                        <a:spcAft>
                          <a:spcPts val="0"/>
                        </a:spcAft>
                        <a:buNone/>
                      </a:pPr>
                      <a:r>
                        <a:rPr sz="850" b="1">
                          <a:latin typeface="Meiryo UI"/>
                          <a:ea typeface="Meiryo UI"/>
                        </a:rPr>
                        <a:t>2025年12月期</a:t>
                      </a:r>
                      <a:endParaRPr dirty="0">
                        <a:latin typeface="Meiryo UI" panose="020B0604030504040204" pitchFamily="50" charset="-128"/>
                        <a:ea typeface="Meiryo UI" panose="020B0604030504040204" pitchFamily="50" charset="-128"/>
                      </a:endParaRPr>
                    </a:p>
                  </a:txBody>
                  <a:tcPr marL="18000" marR="36000" marT="18000" marB="18000" anchor="ctr">
                    <a:lnL w="9525" cap="flat" cmpd="sng">
                      <a:solidFill>
                        <a:schemeClr val="lt1"/>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accent1">
                        <a:lumMod val="50000"/>
                      </a:schemeClr>
                    </a:solidFill>
                  </a:tcPr>
                </a:tc>
                <a:extLst>
                  <a:ext uri="{0D108BD9-81ED-4DB2-BD59-A6C34878D82A}">
                    <a16:rowId xmlns:a16="http://schemas.microsoft.com/office/drawing/2014/main" val="10000"/>
                  </a:ext>
                </a:extLst>
              </a:tr>
              <a:tr h="566928">
                <a:tc>
                  <a:txBody>
                    <a:bodyPr/>
                    <a:lstStyle/>
                    <a:p>
                      <a:pPr marL="0" marR="0" lvl="0" indent="0" algn="l" rtl="0">
                        <a:spcBef>
                          <a:spcPts val="0"/>
                        </a:spcBef>
                        <a:spcAft>
                          <a:spcPts val="0"/>
                        </a:spcAft>
                        <a:buNone/>
                      </a:pPr>
                      <a:r>
                        <a:rPr sz="850" b="0">
                          <a:latin typeface="Meiryo UI"/>
                          <a:ea typeface="Meiryo UI"/>
                        </a:rPr>
                        <a:t>売上高（帳簿・全社ベース）</a:t>
                      </a:r>
                    </a:p>
                  </a:txBody>
                  <a:tcPr marL="54000" marR="36000" marT="18000" marB="18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60000"/>
                        <a:lumOff val="40000"/>
                      </a:schemeClr>
                    </a:solidFill>
                  </a:tcPr>
                </a:tc>
                <a:tc>
                  <a:txBody>
                    <a:bodyPr/>
                    <a:lstStyle/>
                    <a:p>
                      <a:pPr marL="0" marR="0" lvl="0" indent="0" algn="r" rtl="0">
                        <a:spcBef>
                          <a:spcPts val="0"/>
                        </a:spcBef>
                        <a:spcAft>
                          <a:spcPts val="0"/>
                        </a:spcAft>
                        <a:buNone/>
                      </a:pPr>
                      <a:r>
                        <a:rPr sz="900" b="0">
                          <a:latin typeface="Meiryo UI"/>
                          <a:ea typeface="Meiryo UI"/>
                        </a:rPr>
                        <a:t>282,040</a:t>
                      </a:r>
                    </a:p>
                  </a:txBody>
                  <a:tcPr marL="54000" marR="36000" marT="18000" marB="18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lt1"/>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rgbClr val="66A09A"/>
                        </a:buClr>
                        <a:buSzPts val="1120"/>
                        <a:buFont typeface="Arial"/>
                        <a:buNone/>
                      </a:pPr>
                      <a:r>
                        <a:rPr sz="900" b="0">
                          <a:latin typeface="Meiryo UI"/>
                          <a:ea typeface="Meiryo UI"/>
                        </a:rPr>
                        <a:t>252,085</a:t>
                      </a:r>
                      <a:endParaRPr lang="en-US" altLang="ja-JP" sz="1050" u="none" strike="noStrike" cap="none" dirty="0">
                        <a:solidFill>
                          <a:schemeClr val="dk1"/>
                        </a:solidFill>
                        <a:latin typeface="Meiryo UI" panose="020B0604030504040204" pitchFamily="50" charset="-128"/>
                        <a:ea typeface="Meiryo UI" panose="020B0604030504040204" pitchFamily="50" charset="-128"/>
                      </a:endParaRPr>
                    </a:p>
                  </a:txBody>
                  <a:tcPr marL="54000" marR="36000" marT="18000" marB="18000" anchor="ctr">
                    <a:lnL w="9525" cap="flat" cmpd="sng">
                      <a:solidFill>
                        <a:srgbClr val="000000">
                          <a:alpha val="0"/>
                        </a:srgbClr>
                      </a:solidFill>
                      <a:prstDash val="solid"/>
                      <a:round/>
                      <a:headEnd type="none" w="sm" len="sm"/>
                      <a:tailEnd type="none" w="sm" len="sm"/>
                    </a:lnL>
                    <a:lnR w="12700" cap="flat" cmpd="sng">
                      <a:solidFill>
                        <a:srgbClr val="C8C8C8"/>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rgbClr val="C8C8C8"/>
                      </a:solidFill>
                      <a:prstDash val="solid"/>
                      <a:round/>
                      <a:headEnd type="none" w="sm" len="sm"/>
                      <a:tailEnd type="none" w="sm" len="sm"/>
                    </a:lnB>
                    <a:solidFill>
                      <a:srgbClr val="FFFFFF"/>
                    </a:solidFill>
                  </a:tcPr>
                </a:tc>
                <a:tc>
                  <a:txBody>
                    <a:bodyPr/>
                    <a:lstStyle/>
                    <a:p>
                      <a:pPr marL="0" marR="0" lvl="0" indent="0" algn="r" defTabSz="914400" rtl="0" eaLnBrk="1" fontAlgn="auto" latinLnBrk="0" hangingPunct="1">
                        <a:lnSpc>
                          <a:spcPct val="100000"/>
                        </a:lnSpc>
                        <a:spcBef>
                          <a:spcPts val="0"/>
                        </a:spcBef>
                        <a:spcAft>
                          <a:spcPts val="0"/>
                        </a:spcAft>
                        <a:buClr>
                          <a:prstClr val="black"/>
                        </a:buClr>
                        <a:buSzPts val="1600"/>
                        <a:buFont typeface="Arial"/>
                        <a:buNone/>
                        <a:tabLst/>
                        <a:defRPr/>
                      </a:pPr>
                      <a:r>
                        <a:rPr sz="900" b="0">
                          <a:latin typeface="Meiryo UI"/>
                          <a:ea typeface="Meiryo UI"/>
                        </a:rPr>
                        <a:t>375,521</a:t>
                      </a:r>
                      <a:endParaRPr kumimoji="0" lang="ja-JP" altLang="ja-JP" sz="1600" b="1"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Arial"/>
                        <a:sym typeface="Arial"/>
                      </a:endParaRPr>
                    </a:p>
                  </a:txBody>
                  <a:tcPr marL="54000" marR="36000" marT="18000" marB="18000" anchor="ctr">
                    <a:lnL w="12700" cap="flat" cmpd="sng">
                      <a:solidFill>
                        <a:srgbClr val="C8C8C8"/>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rgbClr val="C8C8C8"/>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566928">
                <a:tc>
                  <a:txBody>
                    <a:bodyPr/>
                    <a:lstStyle/>
                    <a:p>
                      <a:pPr marL="0" marR="0" lvl="0" indent="0" algn="l" rtl="0">
                        <a:spcBef>
                          <a:spcPts val="0"/>
                        </a:spcBef>
                        <a:spcAft>
                          <a:spcPts val="0"/>
                        </a:spcAft>
                        <a:buNone/>
                      </a:pPr>
                      <a:r>
                        <a:rPr sz="850" b="0">
                          <a:latin typeface="Meiryo UI"/>
                          <a:ea typeface="Meiryo UI"/>
                        </a:rPr>
                        <a:t>簿価営業利益（全社ベース）</a:t>
                      </a:r>
                    </a:p>
                  </a:txBody>
                  <a:tcPr marL="54000" marR="36000" marT="18000" marB="18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60000"/>
                        <a:lumOff val="40000"/>
                      </a:schemeClr>
                    </a:solidFill>
                  </a:tcPr>
                </a:tc>
                <a:tc>
                  <a:txBody>
                    <a:bodyPr/>
                    <a:lstStyle/>
                    <a:p>
                      <a:pPr marL="0" marR="0" lvl="0" indent="0" algn="r" rtl="0">
                        <a:spcBef>
                          <a:spcPts val="0"/>
                        </a:spcBef>
                        <a:spcAft>
                          <a:spcPts val="0"/>
                        </a:spcAft>
                        <a:buNone/>
                      </a:pPr>
                      <a:r>
                        <a:rPr sz="900" b="0">
                          <a:latin typeface="Meiryo UI"/>
                          <a:ea typeface="Meiryo UI"/>
                        </a:rPr>
                        <a:t>3,784</a:t>
                      </a:r>
                      <a:endParaRPr lang="en-US" altLang="ja-JP" sz="1300" u="none" strike="noStrike" cap="none" dirty="0">
                        <a:solidFill>
                          <a:schemeClr val="dk1"/>
                        </a:solidFill>
                        <a:latin typeface="Meiryo UI" panose="020B0604030504040204" pitchFamily="50" charset="-128"/>
                        <a:ea typeface="Meiryo UI" panose="020B0604030504040204" pitchFamily="50" charset="-128"/>
                      </a:endParaRPr>
                    </a:p>
                  </a:txBody>
                  <a:tcPr marL="54000" marR="36000" marT="18000" marB="18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rgbClr val="66A09A"/>
                        </a:buClr>
                        <a:buSzPts val="1120"/>
                        <a:buFont typeface="Arial"/>
                        <a:buNone/>
                      </a:pPr>
                      <a:r>
                        <a:rPr sz="900" b="0">
                          <a:latin typeface="Meiryo UI"/>
                          <a:ea typeface="Meiryo UI"/>
                        </a:rPr>
                        <a:t>2,666</a:t>
                      </a:r>
                    </a:p>
                  </a:txBody>
                  <a:tcPr marL="54000" marR="36000" marT="18000" marB="18000" anchor="ctr">
                    <a:lnL w="9525" cap="flat" cmpd="sng">
                      <a:solidFill>
                        <a:srgbClr val="000000">
                          <a:alpha val="0"/>
                        </a:srgbClr>
                      </a:solidFill>
                      <a:prstDash val="solid"/>
                      <a:round/>
                      <a:headEnd type="none" w="sm" len="sm"/>
                      <a:tailEnd type="none" w="sm" len="sm"/>
                    </a:lnL>
                    <a:lnR w="12700" cap="flat" cmpd="sng">
                      <a:solidFill>
                        <a:srgbClr val="C8C8C8"/>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lgn="ctr">
                      <a:solidFill>
                        <a:srgbClr val="C8C8C8"/>
                      </a:solidFill>
                      <a:prstDash val="solid"/>
                      <a:round/>
                      <a:headEnd type="none" w="sm" len="sm"/>
                      <a:tailEnd type="none" w="sm" len="sm"/>
                    </a:lnB>
                    <a:solidFill>
                      <a:srgbClr val="FFFFFF"/>
                    </a:solidFill>
                  </a:tcPr>
                </a:tc>
                <a:tc>
                  <a:txBody>
                    <a:bodyPr/>
                    <a:lstStyle/>
                    <a:p>
                      <a:pPr marL="0" marR="0" lvl="0" indent="0" algn="r" defTabSz="914400" rtl="0" eaLnBrk="1" fontAlgn="auto" latinLnBrk="0" hangingPunct="1">
                        <a:lnSpc>
                          <a:spcPct val="100000"/>
                        </a:lnSpc>
                        <a:spcBef>
                          <a:spcPts val="0"/>
                        </a:spcBef>
                        <a:spcAft>
                          <a:spcPts val="0"/>
                        </a:spcAft>
                        <a:buClr>
                          <a:prstClr val="black"/>
                        </a:buClr>
                        <a:buSzPts val="1600"/>
                        <a:buFont typeface="Arial"/>
                        <a:buNone/>
                        <a:tabLst/>
                        <a:defRPr/>
                      </a:pPr>
                      <a:r>
                        <a:rPr sz="900" b="0">
                          <a:latin typeface="Meiryo UI"/>
                          <a:ea typeface="Meiryo UI"/>
                        </a:rPr>
                        <a:t>3,436</a:t>
                      </a:r>
                      <a:endParaRPr kumimoji="0" lang="ja-JP" altLang="ja-JP" sz="1600" b="1"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Arial"/>
                        <a:sym typeface="Arial"/>
                      </a:endParaRPr>
                    </a:p>
                  </a:txBody>
                  <a:tcPr marL="54000" marR="36000" marT="18000" marB="18000" anchor="ctr">
                    <a:lnL w="12700" cap="flat" cmpd="sng">
                      <a:solidFill>
                        <a:srgbClr val="C8C8C8"/>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lgn="ctr">
                      <a:solidFill>
                        <a:srgbClr val="C8C8C8"/>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r h="566928">
                <a:tc>
                  <a:txBody>
                    <a:bodyPr/>
                    <a:lstStyle/>
                    <a:p>
                      <a:pPr marL="0" marR="0" lvl="0" indent="0" algn="l" rtl="0">
                        <a:spcBef>
                          <a:spcPts val="0"/>
                        </a:spcBef>
                        <a:spcAft>
                          <a:spcPts val="0"/>
                        </a:spcAft>
                        <a:buNone/>
                      </a:pPr>
                      <a:r>
                        <a:rPr sz="850" b="0">
                          <a:latin typeface="Meiryo UI"/>
                          <a:ea typeface="Meiryo UI"/>
                        </a:rPr>
                        <a:t>修正額</a:t>
                      </a:r>
                    </a:p>
                  </a:txBody>
                  <a:tcPr marL="54000" marR="36000" marT="18000" marB="18000" anchor="ctr">
                    <a:lnL w="9525" cap="flat" cmpd="sng">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60000"/>
                        <a:lumOff val="40000"/>
                      </a:schemeClr>
                    </a:solidFill>
                  </a:tcPr>
                </a:tc>
                <a:tc>
                  <a:txBody>
                    <a:bodyPr/>
                    <a:lstStyle/>
                    <a:p>
                      <a:pPr marL="0" marR="0" lvl="0" indent="0" algn="r" rtl="0">
                        <a:spcBef>
                          <a:spcPts val="0"/>
                        </a:spcBef>
                        <a:spcAft>
                          <a:spcPts val="0"/>
                        </a:spcAft>
                        <a:buNone/>
                      </a:pPr>
                      <a:r>
                        <a:rPr sz="900" b="0">
                          <a:latin typeface="Meiryo UI"/>
                          <a:ea typeface="Meiryo UI"/>
                        </a:rPr>
                        <a:t>＋10,404</a:t>
                      </a:r>
                    </a:p>
                  </a:txBody>
                  <a:tcPr marL="54000" marR="36000" marT="18000" marB="18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rgbClr val="66A09A"/>
                        </a:buClr>
                        <a:buSzPts val="1120"/>
                        <a:buFont typeface="Arial"/>
                        <a:buNone/>
                      </a:pPr>
                      <a:r>
                        <a:rPr sz="900" b="0">
                          <a:latin typeface="Meiryo UI"/>
                          <a:ea typeface="Meiryo UI"/>
                        </a:rPr>
                        <a:t>＋11,033</a:t>
                      </a:r>
                    </a:p>
                  </a:txBody>
                  <a:tcPr marL="54000" marR="36000" marT="18000" marB="18000" anchor="ctr">
                    <a:lnL w="9525" cap="flat" cmpd="sng">
                      <a:solidFill>
                        <a:srgbClr val="000000">
                          <a:alpha val="0"/>
                        </a:srgbClr>
                      </a:solidFill>
                      <a:prstDash val="solid"/>
                      <a:round/>
                      <a:headEnd type="none" w="sm" len="sm"/>
                      <a:tailEnd type="none" w="sm" len="sm"/>
                    </a:lnL>
                    <a:lnR w="12700" cap="flat" cmpd="sng">
                      <a:solidFill>
                        <a:srgbClr val="C8C8C8"/>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lgn="ctr">
                      <a:solidFill>
                        <a:srgbClr val="C8C8C8"/>
                      </a:solidFill>
                      <a:prstDash val="solid"/>
                      <a:round/>
                      <a:headEnd type="none" w="sm" len="sm"/>
                      <a:tailEnd type="none" w="sm" len="sm"/>
                    </a:lnB>
                    <a:solidFill>
                      <a:srgbClr val="FFFFFF"/>
                    </a:solidFill>
                  </a:tcPr>
                </a:tc>
                <a:tc>
                  <a:txBody>
                    <a:bodyPr/>
                    <a:lstStyle/>
                    <a:p>
                      <a:pPr marL="0" marR="0" lvl="0" indent="0" algn="r" defTabSz="914400" rtl="0" eaLnBrk="1" fontAlgn="auto" latinLnBrk="0" hangingPunct="1">
                        <a:lnSpc>
                          <a:spcPct val="100000"/>
                        </a:lnSpc>
                        <a:spcBef>
                          <a:spcPts val="0"/>
                        </a:spcBef>
                        <a:spcAft>
                          <a:spcPts val="0"/>
                        </a:spcAft>
                        <a:buClr>
                          <a:prstClr val="black"/>
                        </a:buClr>
                        <a:buSzPts val="1600"/>
                        <a:buFont typeface="Arial"/>
                        <a:buNone/>
                        <a:tabLst/>
                        <a:defRPr/>
                      </a:pPr>
                      <a:r>
                        <a:rPr sz="900" b="0">
                          <a:latin typeface="Meiryo UI"/>
                          <a:ea typeface="Meiryo UI"/>
                        </a:rPr>
                        <a:t>＋18,973</a:t>
                      </a:r>
                      <a:endParaRPr kumimoji="0" lang="ja-JP" altLang="ja-JP" sz="1600" b="1"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Arial"/>
                        <a:sym typeface="Arial"/>
                      </a:endParaRPr>
                    </a:p>
                  </a:txBody>
                  <a:tcPr marL="54000" marR="36000" marT="18000" marB="18000" anchor="ctr">
                    <a:lnL w="12700" cap="flat" cmpd="sng">
                      <a:solidFill>
                        <a:srgbClr val="C8C8C8"/>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lgn="ctr">
                      <a:solidFill>
                        <a:srgbClr val="C8C8C8"/>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566928">
                <a:tc>
                  <a:txBody>
                    <a:bodyPr/>
                    <a:lstStyle/>
                    <a:p>
                      <a:pPr marL="0" marR="0" lvl="0" indent="0" algn="l" rtl="0">
                        <a:spcBef>
                          <a:spcPts val="0"/>
                        </a:spcBef>
                        <a:spcAft>
                          <a:spcPts val="0"/>
                        </a:spcAft>
                        <a:buNone/>
                      </a:pPr>
                      <a:r>
                        <a:rPr sz="850" b="0">
                          <a:latin typeface="Meiryo UI"/>
                          <a:ea typeface="Meiryo UI"/>
                        </a:rPr>
                        <a:t>修正後営業利益（フォワーダー事業）</a:t>
                      </a:r>
                    </a:p>
                  </a:txBody>
                  <a:tcPr marL="54000" marR="36000" marT="18000" marB="18000" anchor="ctr">
                    <a:lnL w="9525" cap="flat" cmpd="sng">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chemeClr val="accent1">
                        <a:lumMod val="60000"/>
                        <a:lumOff val="40000"/>
                      </a:schemeClr>
                    </a:solidFill>
                  </a:tcPr>
                </a:tc>
                <a:tc>
                  <a:txBody>
                    <a:bodyPr/>
                    <a:lstStyle/>
                    <a:p>
                      <a:pPr marL="0" marR="0" lvl="0" indent="0" algn="r" rtl="0">
                        <a:spcBef>
                          <a:spcPts val="0"/>
                        </a:spcBef>
                        <a:spcAft>
                          <a:spcPts val="0"/>
                        </a:spcAft>
                        <a:buNone/>
                      </a:pPr>
                      <a:r>
                        <a:rPr sz="900" b="0">
                          <a:latin typeface="Meiryo UI"/>
                          <a:ea typeface="Meiryo UI"/>
                        </a:rPr>
                        <a:t>14,187</a:t>
                      </a:r>
                    </a:p>
                  </a:txBody>
                  <a:tcPr marL="54000" marR="36000" marT="18000" marB="18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rgbClr val="66A09A"/>
                        </a:buClr>
                        <a:buSzPts val="1120"/>
                        <a:buFont typeface="Arial"/>
                        <a:buNone/>
                      </a:pPr>
                      <a:r>
                        <a:rPr sz="900" b="0">
                          <a:latin typeface="Meiryo UI"/>
                          <a:ea typeface="Meiryo UI"/>
                        </a:rPr>
                        <a:t>13,699</a:t>
                      </a:r>
                      <a:endParaRPr lang="en-US" altLang="ja-JP" sz="1000" b="0" u="none" strike="noStrike" cap="none" dirty="0">
                        <a:solidFill>
                          <a:schemeClr val="dk1"/>
                        </a:solidFill>
                        <a:latin typeface="Meiryo UI" panose="020B0604030504040204" pitchFamily="50" charset="-128"/>
                        <a:ea typeface="Meiryo UI" panose="020B0604030504040204" pitchFamily="50" charset="-128"/>
                      </a:endParaRPr>
                    </a:p>
                  </a:txBody>
                  <a:tcPr marL="54000" marR="36000" marT="18000" marB="18000" anchor="ctr">
                    <a:lnL w="9525" cap="flat" cmpd="sng">
                      <a:solidFill>
                        <a:srgbClr val="000000">
                          <a:alpha val="0"/>
                        </a:srgbClr>
                      </a:solidFill>
                      <a:prstDash val="solid"/>
                      <a:round/>
                      <a:headEnd type="none" w="sm" len="sm"/>
                      <a:tailEnd type="none" w="sm" len="sm"/>
                    </a:lnL>
                    <a:lnR w="12700" cap="flat" cmpd="sng">
                      <a:solidFill>
                        <a:srgbClr val="C8C8C8"/>
                      </a:solidFill>
                      <a:prstDash val="solid"/>
                      <a:round/>
                      <a:headEnd type="none" w="sm" len="sm"/>
                      <a:tailEnd type="none" w="sm" len="sm"/>
                    </a:lnR>
                    <a:lnT w="12700" cap="flat" cmpd="sng" algn="ctr">
                      <a:solidFill>
                        <a:srgbClr val="C8C8C8"/>
                      </a:solidFill>
                      <a:prstDash val="solid"/>
                      <a:round/>
                      <a:headEnd type="none" w="sm" len="sm"/>
                      <a:tailEnd type="none" w="sm" len="sm"/>
                    </a:lnT>
                    <a:lnB w="12700" cap="flat" cmpd="sng" algn="ctr">
                      <a:solidFill>
                        <a:srgbClr val="C8C8C8"/>
                      </a:solidFill>
                      <a:prstDash val="solid"/>
                      <a:round/>
                      <a:headEnd type="none" w="sm" len="sm"/>
                      <a:tailEnd type="none" w="sm" len="sm"/>
                    </a:lnB>
                    <a:solidFill>
                      <a:srgbClr val="FFFFFF"/>
                    </a:solidFill>
                  </a:tcPr>
                </a:tc>
                <a:tc>
                  <a:txBody>
                    <a:bodyPr/>
                    <a:lstStyle/>
                    <a:p>
                      <a:pPr marL="0" marR="0" lvl="0" indent="0" algn="r" defTabSz="914400" rtl="0" eaLnBrk="1" fontAlgn="auto" latinLnBrk="0" hangingPunct="1">
                        <a:lnSpc>
                          <a:spcPct val="100000"/>
                        </a:lnSpc>
                        <a:spcBef>
                          <a:spcPts val="0"/>
                        </a:spcBef>
                        <a:spcAft>
                          <a:spcPts val="0"/>
                        </a:spcAft>
                        <a:buClr>
                          <a:prstClr val="black"/>
                        </a:buClr>
                        <a:buSzPts val="1600"/>
                        <a:buFont typeface="Arial"/>
                        <a:buNone/>
                        <a:tabLst/>
                        <a:defRPr/>
                      </a:pPr>
                      <a:r>
                        <a:rPr sz="900" b="0">
                          <a:latin typeface="Meiryo UI"/>
                          <a:ea typeface="Meiryo UI"/>
                        </a:rPr>
                        <a:t>22,410</a:t>
                      </a:r>
                      <a:endParaRPr kumimoji="0" lang="ja-JP" altLang="ja-JP" sz="1600" b="1"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Arial"/>
                        <a:sym typeface="Arial"/>
                      </a:endParaRPr>
                    </a:p>
                  </a:txBody>
                  <a:tcPr marL="54000" marR="36000" marT="18000" marB="18000" anchor="ctr">
                    <a:lnL w="12700" cap="flat" cmpd="sng">
                      <a:solidFill>
                        <a:srgbClr val="C8C8C8"/>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lgn="ctr">
                      <a:solidFill>
                        <a:srgbClr val="C8C8C8"/>
                      </a:solidFill>
                      <a:prstDash val="solid"/>
                      <a:round/>
                      <a:headEnd type="none" w="sm" len="sm"/>
                      <a:tailEnd type="none" w="sm" len="sm"/>
                    </a:lnT>
                    <a:lnB w="12700" cap="flat" cmpd="sng" algn="ctr">
                      <a:solidFill>
                        <a:srgbClr val="C8C8C8"/>
                      </a:solidFill>
                      <a:prstDash val="solid"/>
                      <a:round/>
                      <a:headEnd type="none" w="sm" len="sm"/>
                      <a:tailEnd type="none" w="sm" len="sm"/>
                    </a:lnB>
                    <a:solidFill>
                      <a:srgbClr val="FFFFFF"/>
                    </a:solidFill>
                  </a:tcPr>
                </a:tc>
                <a:extLst>
                  <a:ext uri="{0D108BD9-81ED-4DB2-BD59-A6C34878D82A}">
                    <a16:rowId xmlns:a16="http://schemas.microsoft.com/office/drawing/2014/main" val="10004"/>
                  </a:ext>
                </a:extLst>
              </a:tr>
              <a:tr h="566928">
                <a:tc>
                  <a:txBody>
                    <a:bodyPr/>
                    <a:lstStyle/>
                    <a:p>
                      <a:pPr marL="0" marR="0" lvl="0" indent="0" algn="l" rtl="0">
                        <a:spcBef>
                          <a:spcPts val="0"/>
                        </a:spcBef>
                        <a:spcAft>
                          <a:spcPts val="0"/>
                        </a:spcAft>
                        <a:buNone/>
                      </a:pPr>
                      <a:r>
                        <a:rPr sz="850" b="0">
                          <a:latin typeface="Meiryo UI"/>
                          <a:ea typeface="Meiryo UI"/>
                        </a:rPr>
                        <a:t>減価償却費</a:t>
                      </a:r>
                    </a:p>
                  </a:txBody>
                  <a:tcPr marL="54000" marR="36000" marT="18000" marB="18000" anchor="ctr">
                    <a:lnL w="9525" cap="flat" cmpd="sng">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60000"/>
                        <a:lumOff val="40000"/>
                      </a:schemeClr>
                    </a:solidFill>
                  </a:tcPr>
                </a:tc>
                <a:tc>
                  <a:txBody>
                    <a:bodyPr/>
                    <a:lstStyle/>
                    <a:p>
                      <a:pPr marL="0" marR="0" lvl="0" indent="0" algn="r" rtl="0">
                        <a:spcBef>
                          <a:spcPts val="0"/>
                        </a:spcBef>
                        <a:spcAft>
                          <a:spcPts val="0"/>
                        </a:spcAft>
                        <a:buNone/>
                      </a:pPr>
                      <a:r>
                        <a:rPr sz="900" b="0">
                          <a:latin typeface="Meiryo UI"/>
                          <a:ea typeface="Meiryo UI"/>
                        </a:rPr>
                        <a:t>619</a:t>
                      </a:r>
                    </a:p>
                  </a:txBody>
                  <a:tcPr marL="54000" marR="36000" marT="18000" marB="18000" anchor="ctr">
                    <a:lnL w="9525" cap="flat" cmpd="sng" algn="ctr">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rgbClr val="66A09A"/>
                        </a:buClr>
                        <a:buSzPts val="1120"/>
                        <a:buFont typeface="Arial"/>
                        <a:buNone/>
                      </a:pPr>
                      <a:r>
                        <a:rPr sz="900" b="0">
                          <a:latin typeface="Meiryo UI"/>
                          <a:ea typeface="Meiryo UI"/>
                        </a:rPr>
                        <a:t>711</a:t>
                      </a:r>
                    </a:p>
                  </a:txBody>
                  <a:tcPr marL="54000" marR="36000" marT="18000" marB="18000" anchor="ctr">
                    <a:lnL w="9525" cap="flat" cmpd="sng" algn="ctr">
                      <a:solidFill>
                        <a:srgbClr val="000000">
                          <a:alpha val="0"/>
                        </a:srgbClr>
                      </a:solidFill>
                      <a:prstDash val="solid"/>
                      <a:round/>
                      <a:headEnd type="none" w="sm" len="sm"/>
                      <a:tailEnd type="none" w="sm" len="sm"/>
                    </a:lnL>
                    <a:lnR w="12700" cap="flat" cmpd="sng" algn="ctr">
                      <a:solidFill>
                        <a:srgbClr val="C8C8C8"/>
                      </a:solidFill>
                      <a:prstDash val="solid"/>
                      <a:round/>
                      <a:headEnd type="none" w="sm" len="sm"/>
                      <a:tailEnd type="none" w="sm" len="sm"/>
                    </a:lnR>
                    <a:lnT w="12700" cap="flat" cmpd="sng" algn="ctr">
                      <a:solidFill>
                        <a:srgbClr val="C8C8C8"/>
                      </a:solidFill>
                      <a:prstDash val="solid"/>
                      <a:round/>
                      <a:headEnd type="none" w="sm" len="sm"/>
                      <a:tailEnd type="none" w="sm" len="sm"/>
                    </a:lnT>
                    <a:lnB w="12700" cap="flat" cmpd="sng">
                      <a:solidFill>
                        <a:srgbClr val="C8C8C8"/>
                      </a:solidFill>
                      <a:prstDash val="solid"/>
                      <a:round/>
                      <a:headEnd type="none" w="sm" len="sm"/>
                      <a:tailEnd type="none" w="sm" len="sm"/>
                    </a:lnB>
                    <a:solidFill>
                      <a:srgbClr val="FFFFFF"/>
                    </a:solidFill>
                  </a:tcPr>
                </a:tc>
                <a:tc>
                  <a:txBody>
                    <a:bodyPr/>
                    <a:lstStyle/>
                    <a:p>
                      <a:pPr marL="0" marR="0" lvl="0" indent="0" algn="r" defTabSz="914400" rtl="0" eaLnBrk="1" fontAlgn="auto" latinLnBrk="0" hangingPunct="1">
                        <a:lnSpc>
                          <a:spcPct val="100000"/>
                        </a:lnSpc>
                        <a:spcBef>
                          <a:spcPts val="0"/>
                        </a:spcBef>
                        <a:spcAft>
                          <a:spcPts val="0"/>
                        </a:spcAft>
                        <a:buClr>
                          <a:prstClr val="black"/>
                        </a:buClr>
                        <a:buSzPts val="1600"/>
                        <a:buFont typeface="Arial"/>
                        <a:buNone/>
                        <a:tabLst/>
                        <a:defRPr/>
                      </a:pPr>
                      <a:r>
                        <a:rPr sz="900" b="0">
                          <a:latin typeface="Meiryo UI"/>
                          <a:ea typeface="Meiryo UI"/>
                        </a:rPr>
                        <a:t>542</a:t>
                      </a:r>
                      <a:endParaRPr kumimoji="0" lang="en-US" altLang="ja-JP" sz="1600" b="1"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Arial"/>
                        <a:sym typeface="Arial"/>
                      </a:endParaRPr>
                    </a:p>
                  </a:txBody>
                  <a:tcPr marL="54000" marR="36000" marT="18000" marB="18000" anchor="ctr">
                    <a:lnL w="12700" cap="flat" cmpd="sng" algn="ctr">
                      <a:solidFill>
                        <a:srgbClr val="C8C8C8"/>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lgn="ctr">
                      <a:solidFill>
                        <a:srgbClr val="C8C8C8"/>
                      </a:solidFill>
                      <a:prstDash val="solid"/>
                      <a:round/>
                      <a:headEnd type="none" w="sm" len="sm"/>
                      <a:tailEnd type="none" w="sm" len="sm"/>
                    </a:lnT>
                    <a:lnB w="12700" cap="flat" cmpd="sng">
                      <a:solidFill>
                        <a:srgbClr val="C8C8C8"/>
                      </a:solidFill>
                      <a:prstDash val="solid"/>
                      <a:round/>
                      <a:headEnd type="none" w="sm" len="sm"/>
                      <a:tailEnd type="none" w="sm" len="sm"/>
                    </a:lnB>
                    <a:solidFill>
                      <a:srgbClr val="FFFFFF"/>
                    </a:solidFill>
                  </a:tcPr>
                </a:tc>
                <a:extLst>
                  <a:ext uri="{0D108BD9-81ED-4DB2-BD59-A6C34878D82A}">
                    <a16:rowId xmlns:a16="http://schemas.microsoft.com/office/drawing/2014/main" val="10007"/>
                  </a:ext>
                </a:extLst>
              </a:tr>
              <a:tr h="566928">
                <a:tc>
                  <a:txBody>
                    <a:bodyPr/>
                    <a:lstStyle/>
                    <a:p>
                      <a:pPr marL="0" marR="0" lvl="0" indent="0" algn="l" rtl="0">
                        <a:spcBef>
                          <a:spcPts val="0"/>
                        </a:spcBef>
                        <a:spcAft>
                          <a:spcPts val="0"/>
                        </a:spcAft>
                        <a:buNone/>
                      </a:pPr>
                      <a:r>
                        <a:rPr sz="850" b="1">
                          <a:latin typeface="Meiryo UI"/>
                          <a:ea typeface="Meiryo UI"/>
                        </a:rPr>
                        <a:t>修正後EBITDA</a:t>
                      </a:r>
                    </a:p>
                  </a:txBody>
                  <a:tcPr marL="54000" marR="36000" marT="18000" marB="18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1F3FB"/>
                    </a:solidFill>
                  </a:tcPr>
                </a:tc>
                <a:tc>
                  <a:txBody>
                    <a:bodyPr/>
                    <a:lstStyle/>
                    <a:p>
                      <a:pPr marL="0" marR="0" lvl="0" indent="0" algn="r" rtl="0">
                        <a:lnSpc>
                          <a:spcPct val="100000"/>
                        </a:lnSpc>
                        <a:spcBef>
                          <a:spcPts val="0"/>
                        </a:spcBef>
                        <a:spcAft>
                          <a:spcPts val="0"/>
                        </a:spcAft>
                        <a:buClr>
                          <a:schemeClr val="dk1"/>
                        </a:buClr>
                        <a:buSzPts val="1500"/>
                        <a:buFont typeface="Arial"/>
                        <a:buNone/>
                      </a:pPr>
                      <a:r>
                        <a:rPr sz="900" b="1">
                          <a:latin typeface="Meiryo UI"/>
                          <a:ea typeface="Meiryo UI"/>
                        </a:rPr>
                        <a:t>14,806</a:t>
                      </a:r>
                    </a:p>
                  </a:txBody>
                  <a:tcPr marL="54000" marR="36000" marT="18000" marB="18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1F3FB"/>
                    </a:solidFill>
                  </a:tcPr>
                </a:tc>
                <a:tc>
                  <a:txBody>
                    <a:bodyPr/>
                    <a:lstStyle/>
                    <a:p>
                      <a:pPr marL="0" marR="0" lvl="0" indent="0" algn="r" rtl="0">
                        <a:lnSpc>
                          <a:spcPct val="100000"/>
                        </a:lnSpc>
                        <a:spcBef>
                          <a:spcPts val="0"/>
                        </a:spcBef>
                        <a:spcAft>
                          <a:spcPts val="0"/>
                        </a:spcAft>
                        <a:buClr>
                          <a:schemeClr val="dk1"/>
                        </a:buClr>
                        <a:buSzPts val="1400"/>
                        <a:buFont typeface="Arial"/>
                        <a:buNone/>
                      </a:pPr>
                      <a:r>
                        <a:rPr sz="900" b="1">
                          <a:latin typeface="Meiryo UI"/>
                          <a:ea typeface="Meiryo UI"/>
                        </a:rPr>
                        <a:t>14,410</a:t>
                      </a:r>
                    </a:p>
                  </a:txBody>
                  <a:tcPr marL="54000" marR="36000" marT="18000" marB="18000" anchor="ctr">
                    <a:lnL w="9525" cap="flat" cmpd="sng">
                      <a:solidFill>
                        <a:srgbClr val="000000">
                          <a:alpha val="0"/>
                        </a:srgbClr>
                      </a:solidFill>
                      <a:prstDash val="solid"/>
                      <a:round/>
                      <a:headEnd type="none" w="sm" len="sm"/>
                      <a:tailEnd type="none" w="sm" len="sm"/>
                    </a:lnL>
                    <a:lnR w="12700" cap="flat" cmpd="sng">
                      <a:solidFill>
                        <a:srgbClr val="C8C8C8"/>
                      </a:solidFill>
                      <a:prstDash val="solid"/>
                      <a:round/>
                      <a:headEnd type="none" w="sm" len="sm"/>
                      <a:tailEnd type="none" w="sm" len="sm"/>
                    </a:lnR>
                    <a:lnT w="12700" cap="flat" cmpd="sng" algn="ctr">
                      <a:solidFill>
                        <a:srgbClr val="C8C8C8"/>
                      </a:solidFill>
                      <a:prstDash val="solid"/>
                      <a:round/>
                      <a:headEnd type="none" w="sm" len="sm"/>
                      <a:tailEnd type="none" w="sm" len="sm"/>
                    </a:lnT>
                    <a:lnB w="12700" cap="flat" cmpd="sng">
                      <a:solidFill>
                        <a:srgbClr val="C8C8C8"/>
                      </a:solidFill>
                      <a:prstDash val="solid"/>
                      <a:round/>
                      <a:headEnd type="none" w="sm" len="sm"/>
                      <a:tailEnd type="none" w="sm" len="sm"/>
                    </a:lnB>
                    <a:solidFill>
                      <a:srgbClr val="E1F3FB"/>
                    </a:solidFill>
                  </a:tcPr>
                </a:tc>
                <a:tc>
                  <a:txBody>
                    <a:bodyPr/>
                    <a:lstStyle/>
                    <a:p>
                      <a:pPr marL="0" marR="0" lvl="0" indent="0" algn="r" defTabSz="914400" rtl="0" eaLnBrk="1" fontAlgn="auto" latinLnBrk="0" hangingPunct="1">
                        <a:lnSpc>
                          <a:spcPct val="100000"/>
                        </a:lnSpc>
                        <a:spcBef>
                          <a:spcPts val="0"/>
                        </a:spcBef>
                        <a:spcAft>
                          <a:spcPts val="0"/>
                        </a:spcAft>
                        <a:buClr>
                          <a:prstClr val="black"/>
                        </a:buClr>
                        <a:buSzPts val="1600"/>
                        <a:buFont typeface="Arial"/>
                        <a:buNone/>
                        <a:tabLst/>
                        <a:defRPr/>
                      </a:pPr>
                      <a:r>
                        <a:rPr sz="900" b="1">
                          <a:latin typeface="Meiryo UI"/>
                          <a:ea typeface="Meiryo UI"/>
                        </a:rPr>
                        <a:t>22,952</a:t>
                      </a:r>
                      <a:endParaRPr kumimoji="0" lang="ja-JP" altLang="ja-JP" sz="1600" b="1"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Arial"/>
                        <a:sym typeface="Arial"/>
                      </a:endParaRPr>
                    </a:p>
                  </a:txBody>
                  <a:tcPr marL="54000" marR="36000" marT="18000" marB="18000" anchor="ctr">
                    <a:lnL w="12700" cap="flat" cmpd="sng">
                      <a:solidFill>
                        <a:srgbClr val="C8C8C8"/>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lgn="ctr">
                      <a:solidFill>
                        <a:srgbClr val="C8C8C8"/>
                      </a:solidFill>
                      <a:prstDash val="solid"/>
                      <a:round/>
                      <a:headEnd type="none" w="sm" len="sm"/>
                      <a:tailEnd type="none" w="sm" len="sm"/>
                    </a:lnT>
                    <a:lnB w="12700" cap="flat" cmpd="sng">
                      <a:solidFill>
                        <a:srgbClr val="C8C8C8"/>
                      </a:solidFill>
                      <a:prstDash val="solid"/>
                      <a:round/>
                      <a:headEnd type="none" w="sm" len="sm"/>
                      <a:tailEnd type="none" w="sm" len="sm"/>
                    </a:lnB>
                    <a:solidFill>
                      <a:srgbClr val="E1F3FB"/>
                    </a:solidFill>
                  </a:tcPr>
                </a:tc>
                <a:extLst>
                  <a:ext uri="{0D108BD9-81ED-4DB2-BD59-A6C34878D82A}">
                    <a16:rowId xmlns:a16="http://schemas.microsoft.com/office/drawing/2014/main" val="10008"/>
                  </a:ext>
                </a:extLst>
              </a:tr>
              <a:tr h="566928">
                <a:tc>
                  <a:txBody>
                    <a:bodyPr/>
                    <a:lstStyle/>
                    <a:p>
                      <a:pPr marL="0" marR="0" lvl="0" indent="0" algn="l" rtl="0">
                        <a:spcBef>
                          <a:spcPts val="0"/>
                        </a:spcBef>
                        <a:spcAft>
                          <a:spcPts val="0"/>
                        </a:spcAft>
                        <a:buNone/>
                      </a:pPr>
                      <a:r>
                        <a:rPr sz="850" b="1">
                          <a:latin typeface="Meiryo UI"/>
                          <a:ea typeface="Meiryo UI"/>
                        </a:rPr>
                        <a:t>基準EBITDA（加重平均）</a:t>
                      </a:r>
                    </a:p>
                  </a:txBody>
                  <a:tcPr marL="54000" marR="36000" marT="18000" marB="18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lt1"/>
                      </a:solidFill>
                      <a:prstDash val="solid"/>
                      <a:round/>
                      <a:headEnd type="none" w="sm" len="sm"/>
                      <a:tailEnd type="none" w="sm" len="sm"/>
                    </a:lnB>
                    <a:solidFill>
                      <a:srgbClr val="E1F3FB"/>
                    </a:solidFill>
                  </a:tcPr>
                </a:tc>
                <a:tc>
                  <a:txBody>
                    <a:bodyPr/>
                    <a:lstStyle/>
                    <a:p>
                      <a:pPr marL="0" marR="0" lvl="0" indent="0" algn="r" rtl="0">
                        <a:spcBef>
                          <a:spcPts val="0"/>
                        </a:spcBef>
                        <a:spcAft>
                          <a:spcPts val="0"/>
                        </a:spcAft>
                        <a:buNone/>
                      </a:pPr>
                      <a:r>
                        <a:rPr sz="900" b="1">
                          <a:latin typeface="Meiryo UI"/>
                          <a:ea typeface="Meiryo UI"/>
                        </a:rPr>
                        <a:t>－</a:t>
                      </a:r>
                    </a:p>
                  </a:txBody>
                  <a:tcPr marL="54000" marR="36000" marT="18000" marB="18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lt1"/>
                      </a:solidFill>
                      <a:prstDash val="solid"/>
                      <a:round/>
                      <a:headEnd type="none" w="sm" len="sm"/>
                      <a:tailEnd type="none" w="sm" len="sm"/>
                    </a:lnB>
                    <a:solidFill>
                      <a:srgbClr val="E1F3FB"/>
                    </a:solidFill>
                  </a:tcPr>
                </a:tc>
                <a:tc>
                  <a:txBody>
                    <a:bodyPr/>
                    <a:lstStyle/>
                    <a:p>
                      <a:pPr marL="0" marR="0" lvl="0" indent="0" algn="r" rtl="0">
                        <a:spcBef>
                          <a:spcPts val="0"/>
                        </a:spcBef>
                        <a:spcAft>
                          <a:spcPts val="0"/>
                        </a:spcAft>
                        <a:buClr>
                          <a:srgbClr val="66A09A"/>
                        </a:buClr>
                        <a:buSzPts val="1120"/>
                        <a:buFont typeface="Arial"/>
                        <a:buNone/>
                      </a:pPr>
                      <a:r>
                        <a:rPr sz="900" b="1">
                          <a:latin typeface="Meiryo UI"/>
                          <a:ea typeface="Meiryo UI"/>
                        </a:rPr>
                        <a:t>－</a:t>
                      </a:r>
                      <a:endParaRPr lang="en-US" altLang="ja-JP" sz="1050" u="none" strike="noStrike" cap="none" dirty="0">
                        <a:solidFill>
                          <a:schemeClr val="dk1"/>
                        </a:solidFill>
                        <a:latin typeface="Meiryo UI" panose="020B0604030504040204" pitchFamily="50" charset="-128"/>
                        <a:ea typeface="Meiryo UI" panose="020B0604030504040204" pitchFamily="50" charset="-128"/>
                      </a:endParaRPr>
                    </a:p>
                  </a:txBody>
                  <a:tcPr marL="54000" marR="36000" marT="18000" marB="18000" anchor="ctr">
                    <a:lnL w="9525" cap="flat" cmpd="sng">
                      <a:solidFill>
                        <a:srgbClr val="000000">
                          <a:alpha val="0"/>
                        </a:srgbClr>
                      </a:solidFill>
                      <a:prstDash val="solid"/>
                      <a:round/>
                      <a:headEnd type="none" w="sm" len="sm"/>
                      <a:tailEnd type="none" w="sm" len="sm"/>
                    </a:lnL>
                    <a:lnR w="12700" cap="flat" cmpd="sng">
                      <a:solidFill>
                        <a:srgbClr val="C8C8C8"/>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rgbClr val="C8C8C8"/>
                      </a:solidFill>
                      <a:prstDash val="solid"/>
                      <a:round/>
                      <a:headEnd type="none" w="sm" len="sm"/>
                      <a:tailEnd type="none" w="sm" len="sm"/>
                    </a:lnB>
                    <a:solidFill>
                      <a:srgbClr val="E1F3FB"/>
                    </a:solidFill>
                  </a:tcPr>
                </a:tc>
                <a:tc>
                  <a:txBody>
                    <a:bodyPr/>
                    <a:lstStyle/>
                    <a:p>
                      <a:pPr marL="0" marR="0" lvl="0" indent="0" algn="r" defTabSz="914400" rtl="0" eaLnBrk="1" fontAlgn="auto" latinLnBrk="0" hangingPunct="1">
                        <a:lnSpc>
                          <a:spcPct val="100000"/>
                        </a:lnSpc>
                        <a:spcBef>
                          <a:spcPts val="0"/>
                        </a:spcBef>
                        <a:spcAft>
                          <a:spcPts val="0"/>
                        </a:spcAft>
                        <a:buClr>
                          <a:prstClr val="black"/>
                        </a:buClr>
                        <a:buSzPts val="1600"/>
                        <a:buFont typeface="Arial"/>
                        <a:buNone/>
                        <a:tabLst/>
                        <a:defRPr/>
                      </a:pPr>
                      <a:r>
                        <a:rPr sz="900" b="1">
                          <a:latin typeface="Meiryo UI"/>
                          <a:ea typeface="Meiryo UI"/>
                        </a:rPr>
                        <a:t>18,760</a:t>
                      </a:r>
                      <a:endParaRPr kumimoji="0" lang="ja-JP" altLang="ja-JP" sz="1600" b="1"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Arial"/>
                        <a:sym typeface="Arial"/>
                      </a:endParaRPr>
                    </a:p>
                  </a:txBody>
                  <a:tcPr marL="54000" marR="36000" marT="18000" marB="18000" anchor="ctr">
                    <a:lnL w="12700" cap="flat" cmpd="sng">
                      <a:solidFill>
                        <a:srgbClr val="C8C8C8"/>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rgbClr val="C8C8C8"/>
                      </a:solidFill>
                      <a:prstDash val="solid"/>
                      <a:round/>
                      <a:headEnd type="none" w="sm" len="sm"/>
                      <a:tailEnd type="none" w="sm" len="sm"/>
                    </a:lnB>
                    <a:solidFill>
                      <a:srgbClr val="E1F3FB"/>
                    </a:solidFill>
                  </a:tcPr>
                </a:tc>
                <a:extLst>
                  <a:ext uri="{0D108BD9-81ED-4DB2-BD59-A6C34878D82A}">
                    <a16:rowId xmlns:a16="http://schemas.microsoft.com/office/drawing/2014/main" val="10001"/>
                  </a:ext>
                </a:extLst>
              </a:tr>
            </a:tbl>
          </a:graphicData>
        </a:graphic>
      </p:graphicFrame>
      <p:sp>
        <p:nvSpPr>
          <p:cNvPr id="208" name="Google Shape;208;p3"/>
          <p:cNvSpPr txBox="1"/>
          <p:nvPr/>
        </p:nvSpPr>
        <p:spPr>
          <a:xfrm>
            <a:off x="9450000" y="0"/>
            <a:ext cx="3400000" cy="6858000"/>
          </a:xfrm>
          <a:prstGeom prst="rect">
            <a:avLst/>
          </a:prstGeom>
          <a:solidFill>
            <a:srgbClr val="EEF7CD"/>
          </a:solidFill>
          <a:ln>
            <a:noFill/>
          </a:ln>
        </p:spPr>
        <p:txBody>
          <a:bodyPr spcFirstLastPara="1" wrap="square" lIns="72000" tIns="36000" rIns="72000" bIns="36000" anchor="ctr" anchorCtr="0">
            <a:noAutofit/>
          </a:bodyPr>
          <a:lstStyle/>
          <a:p>
            <a:pPr marL="0" marR="0" lvl="0" indent="0" algn="l" rtl="0">
              <a:lnSpc>
                <a:spcPct val="110000"/>
              </a:lnSpc>
              <a:spcBef>
                <a:spcPts val="0"/>
              </a:spcBef>
              <a:spcAft>
                <a:spcPts val="0"/>
              </a:spcAft>
              <a:buNone/>
            </a:pPr>
            <a:r>
              <a:rPr sz="900" b="0">
                <a:latin typeface="Meiryo UI"/>
                <a:ea typeface="Meiryo UI"/>
              </a:rPr>
              <a:t>【社内メモ｜本資料作成時の留意事項】</a:t>
            </a:r>
            <a:endParaRPr dirty="0"/>
          </a:p>
          <a:p>
            <a:pPr algn="l">
              <a:lnSpc>
                <a:spcPct val="110000"/>
              </a:lnSpc>
            </a:pPr>
            <a:r>
              <a:rPr sz="900" b="0">
                <a:latin typeface="Meiryo UI"/>
                <a:ea typeface="Meiryo UI"/>
              </a:rPr>
              <a:t>※本テキストボックスはスライド範囲外に配置しており、スライドショー・PDF出力には表示されません。買手候補への提示前に内容をご確認ください。</a:t>
            </a:r>
          </a:p>
          <a:p>
            <a:pPr algn="l">
              <a:lnSpc>
                <a:spcPct val="110000"/>
              </a:lnSpc>
            </a:pPr>
            <a:r>
              <a:rPr sz="900" b="0">
                <a:latin typeface="Meiryo UI"/>
                <a:ea typeface="Meiryo UI"/>
              </a:rPr>
              <a:t>　</a:t>
            </a:r>
          </a:p>
          <a:p>
            <a:pPr algn="l">
              <a:lnSpc>
                <a:spcPct val="110000"/>
              </a:lnSpc>
            </a:pPr>
            <a:r>
              <a:rPr sz="900" b="0">
                <a:latin typeface="Meiryo UI"/>
                <a:ea typeface="Meiryo UI"/>
              </a:rPr>
              <a:t>１．基準EBITDA 18,760千円は株式価値試算報告書（2026年4月17日付）の記載値。修正後EBITDA（14,806／14,410／22,952）を1:2:3で加重平均すると18,747千円となり13千円の差が生じるため、案件マスターで算定根拠を確定すること。</a:t>
            </a:r>
          </a:p>
          <a:p>
            <a:pPr algn="l">
              <a:lnSpc>
                <a:spcPct val="110000"/>
              </a:lnSpc>
            </a:pPr>
            <a:r>
              <a:rPr sz="900" b="0">
                <a:latin typeface="Meiryo UI"/>
                <a:ea typeface="Meiryo UI"/>
              </a:rPr>
              <a:t>　</a:t>
            </a:r>
          </a:p>
          <a:p>
            <a:pPr algn="l">
              <a:lnSpc>
                <a:spcPct val="110000"/>
              </a:lnSpc>
            </a:pPr>
            <a:r>
              <a:rPr sz="900" b="0">
                <a:latin typeface="Meiryo UI"/>
                <a:ea typeface="Meiryo UI"/>
              </a:rPr>
              <a:t>２．「スキーム比較のご提案」（2026年5月29日付）では基準EBITDA 18,512千円・倍率4〜6倍（EV 74,046〜111,069千円）と記載されており、株式価値試算報告書（18,760千円・3〜5倍）と数値・倍率がいずれも異なる。買手候補ごとに提示数値が食い違わないよう、提示前に統一すること。本資料は株式価値試算報告書の数値に統一している。</a:t>
            </a:r>
          </a:p>
          <a:p>
            <a:pPr algn="l">
              <a:lnSpc>
                <a:spcPct val="110000"/>
              </a:lnSpc>
            </a:pPr>
            <a:r>
              <a:rPr sz="900" b="0">
                <a:latin typeface="Meiryo UI"/>
                <a:ea typeface="Meiryo UI"/>
              </a:rPr>
              <a:t>　</a:t>
            </a:r>
          </a:p>
          <a:p>
            <a:pPr algn="l">
              <a:lnSpc>
                <a:spcPct val="110000"/>
              </a:lnSpc>
            </a:pPr>
            <a:r>
              <a:rPr sz="900" b="0">
                <a:latin typeface="Meiryo UI"/>
                <a:ea typeface="Meiryo UI"/>
              </a:rPr>
              <a:t>３．株式価値試算報告書の「販管費及び一般管理費の修正」の修正後合計（2025年12月期 47,260千円）と、PLハイライトから逆算した販管費（44,780千円＝売上総利益67,190－営業利益22,410）に2,480千円の差異がある。案件マスターで整合を確認すること。</a:t>
            </a:r>
          </a:p>
          <a:p>
            <a:pPr algn="l">
              <a:lnSpc>
                <a:spcPct val="110000"/>
              </a:lnSpc>
            </a:pPr>
            <a:r>
              <a:rPr sz="900" b="0">
                <a:latin typeface="Meiryo UI"/>
                <a:ea typeface="Meiryo UI"/>
              </a:rPr>
              <a:t>　</a:t>
            </a:r>
          </a:p>
          <a:p>
            <a:pPr algn="l">
              <a:lnSpc>
                <a:spcPct val="110000"/>
              </a:lnSpc>
            </a:pPr>
            <a:r>
              <a:rPr sz="900" b="0">
                <a:latin typeface="Meiryo UI"/>
                <a:ea typeface="Meiryo UI"/>
              </a:rPr>
              <a:t>４．企業概要書の売上高（2024年12月期252,085／2025年12月期375,521千円）と分析資料の売上高（201,668／356,909千円）が異なる。前者は軽配送事業を含む全社ベース、後者はフォワーダー事業単体ベースと理解しているが、2023年12月期のみ両者が一致（282,040千円）しており、同期の軽配送事業売上の除外が未反映の可能性がある。要検証。</a:t>
            </a:r>
          </a:p>
          <a:p>
            <a:pPr algn="l">
              <a:lnSpc>
                <a:spcPct val="110000"/>
              </a:lnSpc>
            </a:pPr>
            <a:r>
              <a:rPr sz="900" b="0">
                <a:latin typeface="Meiryo UI"/>
                <a:ea typeface="Meiryo UI"/>
              </a:rPr>
              <a:t>　</a:t>
            </a:r>
          </a:p>
          <a:p>
            <a:pPr algn="l">
              <a:lnSpc>
                <a:spcPct val="110000"/>
              </a:lnSpc>
            </a:pPr>
            <a:r>
              <a:rPr sz="900" b="0">
                <a:latin typeface="Meiryo UI"/>
                <a:ea typeface="Meiryo UI"/>
              </a:rPr>
              <a:t>５．P10の「＋6,920千円（軽配送事業の切離し・販管費の部門別賦課）」は、企業概要書の調整後EBITDA 9,922千円と本資料の22,952千円の差額13,030千円から役員報酬差6,110千円を控除した残差として算出したもの。内訳を案件マスターで分解し、確定させること。</a:t>
            </a:r>
          </a:p>
          <a:p>
            <a:pPr algn="l">
              <a:lnSpc>
                <a:spcPct val="110000"/>
              </a:lnSpc>
            </a:pPr>
            <a:r>
              <a:rPr sz="900" b="0">
                <a:latin typeface="Meiryo UI"/>
                <a:ea typeface="Meiryo UI"/>
              </a:rPr>
              <a:t>　</a:t>
            </a:r>
          </a:p>
          <a:p>
            <a:pPr algn="l">
              <a:lnSpc>
                <a:spcPct val="110000"/>
              </a:lnSpc>
            </a:pPr>
            <a:r>
              <a:rPr sz="900" b="0">
                <a:latin typeface="Meiryo UI"/>
                <a:ea typeface="Meiryo UI"/>
              </a:rPr>
              <a:t>６．弊社成功報酬について、企業概要書の報酬体系では「時価総資産（営業権含む）2億円以下の部分＝2,000万円、最低額1,500万円」、「スキーム比較のご提案」では「アドバイザリー報酬10,000千円」と記載が異なる。提示前の統一が必要なため、本資料では金額を記載せず「別途ご提示」としている。</a:t>
            </a:r>
          </a:p>
          <a:p>
            <a:pPr algn="l">
              <a:lnSpc>
                <a:spcPct val="110000"/>
              </a:lnSpc>
            </a:pPr>
            <a:r>
              <a:rPr sz="900" b="0">
                <a:latin typeface="Meiryo UI"/>
                <a:ea typeface="Meiryo UI"/>
              </a:rPr>
              <a:t>　</a:t>
            </a:r>
          </a:p>
          <a:p>
            <a:pPr algn="l">
              <a:lnSpc>
                <a:spcPct val="110000"/>
              </a:lnSpc>
            </a:pPr>
            <a:r>
              <a:rPr sz="900" b="0">
                <a:latin typeface="Meiryo UI"/>
                <a:ea typeface="Meiryo UI"/>
              </a:rPr>
              <a:t>７．他の買手候補（ジャパン・バン・ラインズ株式会社）への提示資料の存在および提示条件については、本資料および面談において一切言及しないこと。</a:t>
            </a:r>
          </a:p>
          <a:p>
            <a:pPr algn="l">
              <a:lnSpc>
                <a:spcPct val="110000"/>
              </a:lnSpc>
            </a:pPr>
            <a:r>
              <a:rPr sz="900" b="0">
                <a:latin typeface="Meiryo UI"/>
                <a:ea typeface="Meiryo UI"/>
              </a:rPr>
              <a:t>　</a:t>
            </a:r>
          </a:p>
          <a:p>
            <a:pPr algn="l">
              <a:lnSpc>
                <a:spcPct val="110000"/>
              </a:lnSpc>
            </a:pPr>
            <a:r>
              <a:rPr sz="900" b="0">
                <a:latin typeface="Meiryo UI"/>
                <a:ea typeface="Meiryo UI"/>
              </a:rPr>
              <a:t>８．「2026年4月中に代表保有の休眠会社へ軽配送事業を切り分ける想定」（企業概要書P6）は同年4月時点の記載。本日（2026年8月16日）時点の実行状況を売主に確認のうえ、面談前にP7・P8を更新すること。</a:t>
            </a:r>
          </a:p>
          <a:p>
            <a:pPr algn="l">
              <a:lnSpc>
                <a:spcPct val="110000"/>
              </a:lnSpc>
            </a:pPr>
            <a:r>
              <a:rPr sz="900" b="0">
                <a:latin typeface="Meiryo UI"/>
                <a:ea typeface="Meiryo UI"/>
              </a:rPr>
              <a:t>　</a:t>
            </a:r>
          </a:p>
          <a:p>
            <a:pPr algn="l">
              <a:lnSpc>
                <a:spcPct val="110000"/>
              </a:lnSpc>
            </a:pPr>
            <a:r>
              <a:rPr sz="900" b="0">
                <a:latin typeface="Meiryo UI"/>
                <a:ea typeface="Meiryo UI"/>
              </a:rPr>
              <a:t>９．役員借入金 約10,000千円の貸借対照表上の計上区分が未確定。短期借入金15,321千円に含まれる場合、P6の手出し資金表（③と⑤）で二重計上となるため要修正。</a:t>
            </a:r>
          </a:p>
          <a:p>
            <a:pPr algn="l">
              <a:lnSpc>
                <a:spcPct val="110000"/>
              </a:lnSpc>
            </a:pPr>
            <a:r>
              <a:rPr sz="900" b="0">
                <a:latin typeface="Meiryo UI"/>
                <a:ea typeface="Meiryo UI"/>
              </a:rPr>
              <a:t>　</a:t>
            </a:r>
          </a:p>
          <a:p>
            <a:pPr algn="l">
              <a:lnSpc>
                <a:spcPct val="110000"/>
              </a:lnSpc>
            </a:pPr>
            <a:r>
              <a:rPr sz="900" b="0">
                <a:latin typeface="Meiryo UI"/>
                <a:ea typeface="Meiryo UI"/>
              </a:rPr>
              <a:t>10．第一種貨物利用運送事業（外航海運）の事業譲渡・会社分割時の承継手続については、所管官庁（国土交通省）への確認が必要。本資料では「要確認」としている。</a:t>
            </a:r>
          </a:p>
          <a:p>
            <a:pPr algn="l">
              <a:lnSpc>
                <a:spcPct val="110000"/>
              </a:lnSpc>
            </a:pPr>
            <a:r>
              <a:rPr sz="900" b="0">
                <a:latin typeface="Meiryo UI"/>
                <a:ea typeface="Meiryo UI"/>
              </a:rPr>
              <a:t>　</a:t>
            </a:r>
          </a:p>
          <a:p>
            <a:pPr algn="l">
              <a:lnSpc>
                <a:spcPct val="110000"/>
              </a:lnSpc>
            </a:pPr>
            <a:r>
              <a:rPr sz="900" b="0">
                <a:latin typeface="Meiryo UI"/>
                <a:ea typeface="Meiryo UI"/>
              </a:rPr>
              <a:t>11．発行済株式数は企業概要書内で「3,000株」（基本情報）と「300株」（株主及び役員）の2通りの記載。登記簿で確定のうえ、企業概要書も修正すること。</a:t>
            </a:r>
          </a:p>
          <a:p>
            <a:pPr algn="l">
              <a:lnSpc>
                <a:spcPct val="110000"/>
              </a:lnSpc>
            </a:pPr>
            <a:r>
              <a:rPr sz="900" b="0">
                <a:latin typeface="Meiryo UI"/>
                <a:ea typeface="Meiryo UI"/>
              </a:rPr>
              <a:t>　</a:t>
            </a:r>
          </a:p>
        </p:txBody>
      </p:sp>
      <p:sp>
        <p:nvSpPr>
          <p:cNvPr id="4" name="正方形/長方形 3">
            <a:extLst>
              <a:ext uri="{FF2B5EF4-FFF2-40B4-BE49-F238E27FC236}">
                <a16:creationId xmlns:a16="http://schemas.microsoft.com/office/drawing/2014/main" id="{F63F0559-A471-05FB-7992-03A5FE1C9DE2}"/>
              </a:ext>
            </a:extLst>
          </p:cNvPr>
          <p:cNvSpPr/>
          <p:nvPr/>
        </p:nvSpPr>
        <p:spPr>
          <a:xfrm>
            <a:off x="249787" y="971550"/>
            <a:ext cx="8623625" cy="230832"/>
          </a:xfrm>
          <a:prstGeom prst="rect">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r>
              <a:rPr sz="1050" b="1">
                <a:solidFill>
                  <a:srgbClr val="FFFFFF"/>
                </a:solidFill>
                <a:latin typeface="Meiryo UI"/>
                <a:ea typeface="Meiryo UI"/>
              </a:rPr>
              <a:t>帳簿営業利益から修正後EBITDAへの調整</a:t>
            </a:r>
          </a:p>
        </p:txBody>
      </p:sp>
      <p:sp>
        <p:nvSpPr>
          <p:cNvPr id="3" name="テキスト ボックス 2">
            <a:extLst>
              <a:ext uri="{FF2B5EF4-FFF2-40B4-BE49-F238E27FC236}">
                <a16:creationId xmlns:a16="http://schemas.microsoft.com/office/drawing/2014/main" id="{6C03ED91-D22A-D22B-526D-CF9FC3CC78F7}"/>
              </a:ext>
            </a:extLst>
          </p:cNvPr>
          <p:cNvSpPr txBox="1"/>
          <p:nvPr/>
        </p:nvSpPr>
        <p:spPr>
          <a:xfrm>
            <a:off x="8149019" y="1304559"/>
            <a:ext cx="1036086" cy="230832"/>
          </a:xfrm>
          <a:prstGeom prst="rect">
            <a:avLst/>
          </a:prstGeom>
          <a:noFill/>
        </p:spPr>
        <p:txBody>
          <a:bodyPr wrap="square" rtlCol="0">
            <a:spAutoFit/>
          </a:bodyPr>
          <a:lstStyle/>
          <a:p>
            <a:pPr algn="r"/>
            <a:r>
              <a:rPr sz="900" b="0">
                <a:latin typeface="Meiryo UI"/>
                <a:ea typeface="Meiryo UI"/>
              </a:rPr>
              <a:t>（単位：千円）</a:t>
            </a:r>
          </a:p>
        </p:txBody>
      </p:sp>
      <p:sp>
        <p:nvSpPr>
          <p:cNvPr id="210" name="TextBox 209"/>
          <p:cNvSpPr txBox="1"/>
          <p:nvPr/>
        </p:nvSpPr>
        <p:spPr>
          <a:xfrm>
            <a:off x="6050000" y="1481328"/>
            <a:ext cx="2850000" cy="3400000"/>
          </a:xfrm>
          <a:prstGeom prst="rect">
            <a:avLst/>
          </a:prstGeom>
          <a:noFill/>
        </p:spPr>
        <p:txBody>
          <a:bodyPr wrap="square">
            <a:spAutoFit/>
          </a:bodyPr>
          <a:lstStyle/>
          <a:p>
            <a:pPr algn="l">
              <a:lnSpc>
                <a:spcPct val="120000"/>
              </a:lnSpc>
            </a:pPr>
            <a:r>
              <a:rPr sz="800" b="0">
                <a:latin typeface="Meiryo UI"/>
                <a:ea typeface="Meiryo UI"/>
              </a:rPr>
              <a:t>▌主な修正内容</a:t>
            </a:r>
          </a:p>
          <a:p>
            <a:pPr algn="l">
              <a:lnSpc>
                <a:spcPct val="120000"/>
              </a:lnSpc>
            </a:pPr>
            <a:r>
              <a:rPr sz="800" b="0">
                <a:latin typeface="Meiryo UI"/>
                <a:ea typeface="Meiryo UI"/>
              </a:rPr>
              <a:t>・役員報酬・役員賞与：退任予定である松永代表の報酬を控除（各期8,400千円、2025年12月期は役員賞与1,294千円を含む）</a:t>
            </a:r>
          </a:p>
          <a:p>
            <a:pPr algn="l">
              <a:lnSpc>
                <a:spcPct val="120000"/>
              </a:lnSpc>
            </a:pPr>
            <a:r>
              <a:rPr sz="800" b="0">
                <a:latin typeface="Meiryo UI"/>
                <a:ea typeface="Meiryo UI"/>
              </a:rPr>
              <a:t>・給与手当・法定福利費：軽配送事業に係る人件費を控除（2024・2025年12月期 各△9,631千円ほか）</a:t>
            </a:r>
          </a:p>
          <a:p>
            <a:pPr algn="l">
              <a:lnSpc>
                <a:spcPct val="120000"/>
              </a:lnSpc>
            </a:pPr>
            <a:r>
              <a:rPr sz="800" b="0">
                <a:latin typeface="Meiryo UI"/>
                <a:ea typeface="Meiryo UI"/>
              </a:rPr>
              <a:t>・賃借料・地代家賃：軽配送事業に係る倉庫・車両関連費用を控除（2025年12月期 計△8,323千円）</a:t>
            </a:r>
          </a:p>
          <a:p>
            <a:pPr algn="l">
              <a:lnSpc>
                <a:spcPct val="120000"/>
              </a:lnSpc>
            </a:pPr>
            <a:r>
              <a:rPr sz="800" b="0">
                <a:latin typeface="Meiryo UI"/>
                <a:ea typeface="Meiryo UI"/>
              </a:rPr>
              <a:t>・旅費交通費・交際接待費等：部門別の売上・利益構成に基づき賦課し、事業の切り分けにより削減可能な費用を控除</a:t>
            </a:r>
          </a:p>
          <a:p>
            <a:pPr algn="l">
              <a:lnSpc>
                <a:spcPct val="120000"/>
              </a:lnSpc>
            </a:pPr>
            <a:r>
              <a:rPr sz="800" b="0">
                <a:latin typeface="Meiryo UI"/>
                <a:ea typeface="Meiryo UI"/>
              </a:rPr>
              <a:t>・売上総利益：軽配送事業に係る売上・原価を除外（2025年12月期 86,362千円→67,190千円）</a:t>
            </a:r>
          </a:p>
        </p:txBody>
      </p:sp>
      <p:sp>
        <p:nvSpPr>
          <p:cNvPr id="210" name="TextBox 209"/>
          <p:cNvSpPr txBox="1"/>
          <p:nvPr/>
        </p:nvSpPr>
        <p:spPr>
          <a:xfrm>
            <a:off x="265176" y="6263640"/>
            <a:ext cx="8631936" cy="274320"/>
          </a:xfrm>
          <a:prstGeom prst="rect">
            <a:avLst/>
          </a:prstGeom>
          <a:noFill/>
        </p:spPr>
        <p:txBody>
          <a:bodyPr wrap="square">
            <a:spAutoFit/>
          </a:bodyPr>
          <a:lstStyle/>
          <a:p>
            <a:pPr algn="l">
              <a:lnSpc>
                <a:spcPct val="115000"/>
              </a:lnSpc>
            </a:pPr>
            <a:r>
              <a:rPr sz="750" b="0">
                <a:latin typeface="Meiryo UI"/>
                <a:ea typeface="Meiryo UI"/>
              </a:rPr>
              <a:t>※修正額の内訳は、株式価値試算報告書「販売費及び一般管理費の修正」をご参照ください。</a:t>
            </a:r>
          </a:p>
          <a:p>
            <a:pPr algn="l">
              <a:lnSpc>
                <a:spcPct val="115000"/>
              </a:lnSpc>
            </a:pPr>
            <a:r>
              <a:rPr sz="750" b="0">
                <a:latin typeface="Meiryo UI"/>
                <a:ea typeface="Meiryo UI"/>
              </a:rPr>
              <a:t>※基準EBITDAは2023〜2025年12月期の修正後EBITDAを、直近期に比重を置いて加重平均したものです。</a:t>
            </a:r>
          </a:p>
          <a:p>
            <a:pPr algn="l">
              <a:lnSpc>
                <a:spcPct val="115000"/>
              </a:lnSpc>
            </a:pPr>
            <a:r>
              <a:rPr sz="750" b="0">
                <a:latin typeface="Meiryo UI"/>
                <a:ea typeface="Meiryo UI"/>
              </a:rPr>
              <a:t>※売上高は企業概要書記載の帳簿値（全社ベース・軽配送事業を含む）です。修正後の各数値はフォワーダー事業単体ベースです。</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04" name="Google Shape;204;p3"/>
          <p:cNvSpPr txBox="1">
            <a:spLocks noGrp="1"/>
          </p:cNvSpPr>
          <p:nvPr>
            <p:ph type="title"/>
          </p:nvPr>
        </p:nvSpPr>
        <p:spPr>
          <a:xfrm>
            <a:off x="395536" y="332655"/>
            <a:ext cx="6696744" cy="288033"/>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sz="1400" b="1">
                <a:solidFill>
                  <a:srgbClr val="5A5A5A"/>
                </a:solidFill>
                <a:latin typeface="Meiryo UI"/>
                <a:ea typeface="Meiryo UI"/>
              </a:rPr>
              <a:t>譲渡価額の考え方 ②｜企業概要書記載のEBITDAとの差異</a:t>
            </a:r>
            <a:endParaRPr b="1" dirty="0">
              <a:solidFill>
                <a:srgbClr val="5A5A5A"/>
              </a:solidFill>
              <a:latin typeface="Meiryo UI" panose="020B0604030504040204" pitchFamily="50" charset="-128"/>
              <a:ea typeface="Meiryo UI" panose="020B0604030504040204" pitchFamily="50" charset="-128"/>
              <a:sym typeface="Arial"/>
            </a:endParaRPr>
          </a:p>
        </p:txBody>
      </p:sp>
      <p:sp>
        <p:nvSpPr>
          <p:cNvPr id="205" name="Google Shape;205;p3"/>
          <p:cNvSpPr txBox="1"/>
          <p:nvPr/>
        </p:nvSpPr>
        <p:spPr>
          <a:xfrm>
            <a:off x="323528" y="116632"/>
            <a:ext cx="2376264" cy="188640"/>
          </a:xfrm>
          <a:prstGeom prst="rect">
            <a:avLst/>
          </a:prstGeom>
          <a:noFill/>
          <a:ln>
            <a:noFill/>
          </a:ln>
        </p:spPr>
        <p:txBody>
          <a:bodyPr spcFirstLastPara="1" wrap="square" lIns="36000" tIns="0" rIns="0" bIns="0" anchor="ctr" anchorCtr="0">
            <a:noAutofit/>
          </a:bodyPr>
          <a:lstStyle/>
          <a:p>
            <a:pPr marL="0" marR="0" lvl="0" indent="0" algn="l" rtl="0">
              <a:lnSpc>
                <a:spcPct val="100000"/>
              </a:lnSpc>
              <a:spcBef>
                <a:spcPts val="0"/>
              </a:spcBef>
              <a:spcAft>
                <a:spcPts val="0"/>
              </a:spcAft>
              <a:buClr>
                <a:srgbClr val="5A5A5A"/>
              </a:buClr>
              <a:buSzPts val="1000"/>
              <a:buFont typeface="Arial"/>
              <a:buNone/>
            </a:pPr>
            <a:r>
              <a:rPr sz="1000" b="0">
                <a:solidFill>
                  <a:srgbClr val="5A5A5A"/>
                </a:solidFill>
                <a:latin typeface="Meiryo UI"/>
                <a:ea typeface="Meiryo UI"/>
              </a:rPr>
              <a:t>本件の論点整理</a:t>
            </a:r>
            <a:endParaRPr>
              <a:latin typeface="Meiryo UI" panose="020B0604030504040204" pitchFamily="50" charset="-128"/>
              <a:ea typeface="Meiryo UI" panose="020B0604030504040204" pitchFamily="50" charset="-128"/>
            </a:endParaRPr>
          </a:p>
        </p:txBody>
      </p:sp>
      <p:sp>
        <p:nvSpPr>
          <p:cNvPr id="206" name="Google Shape;206;p3"/>
          <p:cNvSpPr/>
          <p:nvPr/>
        </p:nvSpPr>
        <p:spPr>
          <a:xfrm>
            <a:off x="0" y="116632"/>
            <a:ext cx="323528" cy="180000"/>
          </a:xfrm>
          <a:prstGeom prst="parallelogram">
            <a:avLst>
              <a:gd name="adj" fmla="val 32938"/>
            </a:avLst>
          </a:prstGeom>
          <a:solidFill>
            <a:srgbClr val="66A09A"/>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Arial"/>
              <a:buNone/>
            </a:pPr>
            <a:r>
              <a:rPr sz="1000" b="0">
                <a:solidFill>
                  <a:srgbClr val="FFFFFF"/>
                </a:solidFill>
                <a:latin typeface="Meiryo UI"/>
                <a:ea typeface="Meiryo UI"/>
              </a:rPr>
              <a:t>1</a:t>
            </a:r>
            <a:endParaRPr sz="1000" b="0" i="0" u="none" strike="noStrike" cap="none">
              <a:solidFill>
                <a:srgbClr val="FFFFFF"/>
              </a:solidFill>
              <a:latin typeface="Arial"/>
              <a:ea typeface="Arial"/>
              <a:cs typeface="Arial"/>
              <a:sym typeface="Arial"/>
            </a:endParaRPr>
          </a:p>
        </p:txBody>
      </p:sp>
      <p:graphicFrame>
        <p:nvGraphicFramePr>
          <p:cNvPr id="207" name="Google Shape;207;p3"/>
          <p:cNvGraphicFramePr/>
          <p:nvPr>
            <p:extLst>
              <p:ext uri="{D42A27DB-BD31-4B8C-83A1-F6EECF244321}">
                <p14:modId xmlns:p14="http://schemas.microsoft.com/office/powerpoint/2010/main" val="2721619109"/>
              </p:ext>
            </p:extLst>
          </p:nvPr>
        </p:nvGraphicFramePr>
        <p:xfrm>
          <a:off x="265176" y="1481328"/>
          <a:ext cx="8403336" cy="4224528"/>
        </p:xfrm>
        <a:graphic>
          <a:graphicData uri="http://schemas.openxmlformats.org/drawingml/2006/table">
            <a:tbl>
              <a:tblPr>
                <a:noFill/>
                <a:tableStyleId>{FA6B9113-0DA6-4419-ABC6-697280B0F4CE}</a:tableStyleId>
              </a:tblPr>
              <a:tblGrid>
                <a:gridCol w="429768">
                  <a:extLst>
                    <a:ext uri="{9D8B030D-6E8A-4147-A177-3AD203B41FA5}">
                      <a16:colId xmlns:a16="http://schemas.microsoft.com/office/drawing/2014/main" val="20000"/>
                    </a:ext>
                  </a:extLst>
                </a:gridCol>
                <a:gridCol w="2606040">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gridCol w="4361688">
                  <a:extLst>
                    <a:ext uri="{9D8B030D-6E8A-4147-A177-3AD203B41FA5}">
                      <a16:colId xmlns:a16="http://schemas.microsoft.com/office/drawing/2014/main" val="20003"/>
                    </a:ext>
                  </a:extLst>
                </a:gridCol>
              </a:tblGrid>
              <a:tr h="347472">
                <a:tc>
                  <a:txBody>
                    <a:bodyPr/>
                    <a:lstStyle/>
                    <a:p>
                      <a:pPr marL="0" marR="0" lvl="0" indent="0" algn="ctr" rtl="0">
                        <a:spcBef>
                          <a:spcPts val="0"/>
                        </a:spcBef>
                        <a:spcAft>
                          <a:spcPts val="0"/>
                        </a:spcAft>
                        <a:buNone/>
                      </a:pPr>
                      <a:r>
                        <a:rPr sz="1000" b="1">
                          <a:latin typeface="Meiryo UI"/>
                          <a:ea typeface="Meiryo UI"/>
                        </a:rPr>
                        <a:t>No.</a:t>
                      </a:r>
                      <a:endParaRPr sz="1400" b="1" u="none" strike="noStrike" cap="none" dirty="0">
                        <a:solidFill>
                          <a:schemeClr val="lt1"/>
                        </a:solidFill>
                        <a:latin typeface="Meiryo UI" panose="020B0604030504040204" pitchFamily="50" charset="-128"/>
                        <a:ea typeface="Meiryo UI" panose="020B0604030504040204" pitchFamily="50" charset="-128"/>
                      </a:endParaRPr>
                    </a:p>
                  </a:txBody>
                  <a:tcPr marL="18000" marR="36000" marT="18000" marB="18000" anchor="ctr">
                    <a:lnL w="9525" cap="flat" cmpd="sng">
                      <a:solidFill>
                        <a:srgbClr val="000000">
                          <a:alpha val="0"/>
                        </a:srgbClr>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accent1">
                        <a:lumMod val="50000"/>
                      </a:schemeClr>
                    </a:solidFill>
                  </a:tcPr>
                </a:tc>
                <a:tc>
                  <a:txBody>
                    <a:bodyPr/>
                    <a:lstStyle/>
                    <a:p>
                      <a:pPr marL="0" marR="0" lvl="0" indent="0" algn="ctr" rtl="0">
                        <a:spcBef>
                          <a:spcPts val="0"/>
                        </a:spcBef>
                        <a:spcAft>
                          <a:spcPts val="0"/>
                        </a:spcAft>
                        <a:buNone/>
                      </a:pPr>
                      <a:r>
                        <a:rPr sz="1000" b="1">
                          <a:latin typeface="Meiryo UI"/>
                          <a:ea typeface="Meiryo UI"/>
                        </a:rPr>
                        <a:t>項目</a:t>
                      </a:r>
                      <a:endParaRPr dirty="0">
                        <a:latin typeface="Meiryo UI" panose="020B0604030504040204" pitchFamily="50" charset="-128"/>
                        <a:ea typeface="Meiryo UI" panose="020B0604030504040204" pitchFamily="50" charset="-128"/>
                      </a:endParaRPr>
                    </a:p>
                  </a:txBody>
                  <a:tcPr marL="18000" marR="36000" marT="18000" marB="1800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accent1">
                        <a:lumMod val="50000"/>
                      </a:schemeClr>
                    </a:solidFill>
                  </a:tcPr>
                </a:tc>
                <a:tc>
                  <a:txBody>
                    <a:bodyPr/>
                    <a:lstStyle/>
                    <a:p>
                      <a:pPr marL="0" marR="0" lvl="0" indent="0" algn="ctr" rtl="0">
                        <a:spcBef>
                          <a:spcPts val="0"/>
                        </a:spcBef>
                        <a:spcAft>
                          <a:spcPts val="0"/>
                        </a:spcAft>
                        <a:buNone/>
                      </a:pPr>
                      <a:r>
                        <a:rPr sz="1000" b="1">
                          <a:latin typeface="Meiryo UI"/>
                          <a:ea typeface="Meiryo UI"/>
                        </a:rPr>
                        <a:t>金額</a:t>
                      </a:r>
                      <a:endParaRPr dirty="0">
                        <a:latin typeface="Meiryo UI" panose="020B0604030504040204" pitchFamily="50" charset="-128"/>
                        <a:ea typeface="Meiryo UI" panose="020B0604030504040204" pitchFamily="50" charset="-128"/>
                      </a:endParaRPr>
                    </a:p>
                  </a:txBody>
                  <a:tcPr marL="18000" marR="36000" marT="18000" marB="1800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accent1">
                        <a:lumMod val="50000"/>
                      </a:schemeClr>
                    </a:solidFill>
                  </a:tcPr>
                </a:tc>
                <a:tc>
                  <a:txBody>
                    <a:bodyPr/>
                    <a:lstStyle/>
                    <a:p>
                      <a:pPr marL="0" marR="0" lvl="0" indent="0" algn="ctr" rtl="0">
                        <a:spcBef>
                          <a:spcPts val="0"/>
                        </a:spcBef>
                        <a:spcAft>
                          <a:spcPts val="0"/>
                        </a:spcAft>
                        <a:buNone/>
                      </a:pPr>
                      <a:r>
                        <a:rPr sz="1000" b="1">
                          <a:latin typeface="Meiryo UI"/>
                          <a:ea typeface="Meiryo UI"/>
                        </a:rPr>
                        <a:t>内容</a:t>
                      </a:r>
                      <a:endParaRPr dirty="0">
                        <a:latin typeface="Meiryo UI" panose="020B0604030504040204" pitchFamily="50" charset="-128"/>
                        <a:ea typeface="Meiryo UI" panose="020B0604030504040204" pitchFamily="50" charset="-128"/>
                      </a:endParaRPr>
                    </a:p>
                  </a:txBody>
                  <a:tcPr marL="18000" marR="36000" marT="18000" marB="18000" anchor="ctr">
                    <a:lnL w="9525" cap="flat" cmpd="sng">
                      <a:solidFill>
                        <a:schemeClr val="lt1"/>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accent1">
                        <a:lumMod val="50000"/>
                      </a:schemeClr>
                    </a:solidFill>
                  </a:tcPr>
                </a:tc>
                <a:extLst>
                  <a:ext uri="{0D108BD9-81ED-4DB2-BD59-A6C34878D82A}">
                    <a16:rowId xmlns:a16="http://schemas.microsoft.com/office/drawing/2014/main" val="10000"/>
                  </a:ext>
                </a:extLst>
              </a:tr>
              <a:tr h="969264">
                <a:tc>
                  <a:txBody>
                    <a:bodyPr/>
                    <a:lstStyle/>
                    <a:p>
                      <a:pPr marL="0" marR="0" lvl="0" indent="0" algn="ctr" rtl="0">
                        <a:spcBef>
                          <a:spcPts val="0"/>
                        </a:spcBef>
                        <a:spcAft>
                          <a:spcPts val="0"/>
                        </a:spcAft>
                        <a:buNone/>
                      </a:pPr>
                      <a:r>
                        <a:rPr sz="1100" b="1">
                          <a:latin typeface="Meiryo UI"/>
                          <a:ea typeface="Meiryo UI"/>
                        </a:rPr>
                        <a:t>1</a:t>
                      </a:r>
                    </a:p>
                  </a:txBody>
                  <a:tcPr marL="54000" marR="36000" marT="18000" marB="18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60000"/>
                        <a:lumOff val="40000"/>
                      </a:schemeClr>
                    </a:solidFill>
                  </a:tcPr>
                </a:tc>
                <a:tc>
                  <a:txBody>
                    <a:bodyPr/>
                    <a:lstStyle/>
                    <a:p>
                      <a:pPr marL="0" marR="0" lvl="0" indent="0" algn="l" rtl="0">
                        <a:spcBef>
                          <a:spcPts val="0"/>
                        </a:spcBef>
                        <a:spcAft>
                          <a:spcPts val="0"/>
                        </a:spcAft>
                        <a:buNone/>
                      </a:pPr>
                      <a:r>
                        <a:rPr sz="950" b="0">
                          <a:latin typeface="Meiryo UI"/>
                          <a:ea typeface="Meiryo UI"/>
                        </a:rPr>
                        <a:t>企業概要書記載の調整後EBITDA</a:t>
                      </a:r>
                    </a:p>
                    <a:p>
                      <a:pPr algn="l"/>
                      <a:r>
                        <a:rPr sz="950" b="0">
                          <a:latin typeface="Meiryo UI"/>
                          <a:ea typeface="Meiryo UI"/>
                        </a:rPr>
                        <a:t>（2025年12月期）</a:t>
                      </a:r>
                    </a:p>
                  </a:txBody>
                  <a:tcPr marL="54000" marR="36000" marT="18000" marB="18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lt1"/>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rgbClr val="66A09A"/>
                        </a:buClr>
                        <a:buSzPts val="1120"/>
                        <a:buFont typeface="Arial"/>
                        <a:buNone/>
                      </a:pPr>
                      <a:r>
                        <a:rPr sz="1100" b="1">
                          <a:latin typeface="Meiryo UI"/>
                          <a:ea typeface="Meiryo UI"/>
                        </a:rPr>
                        <a:t>9,922</a:t>
                      </a:r>
                      <a:endParaRPr lang="en-US" altLang="ja-JP" sz="1050" u="none" strike="noStrike" cap="none" dirty="0">
                        <a:solidFill>
                          <a:schemeClr val="dk1"/>
                        </a:solidFill>
                        <a:latin typeface="Meiryo UI" panose="020B0604030504040204" pitchFamily="50" charset="-128"/>
                        <a:ea typeface="Meiryo UI" panose="020B0604030504040204" pitchFamily="50" charset="-128"/>
                      </a:endParaRPr>
                    </a:p>
                  </a:txBody>
                  <a:tcPr marL="54000" marR="36000" marT="18000" marB="18000" anchor="ctr">
                    <a:lnL w="9525" cap="flat" cmpd="sng">
                      <a:solidFill>
                        <a:srgbClr val="000000">
                          <a:alpha val="0"/>
                        </a:srgbClr>
                      </a:solidFill>
                      <a:prstDash val="solid"/>
                      <a:round/>
                      <a:headEnd type="none" w="sm" len="sm"/>
                      <a:tailEnd type="none" w="sm" len="sm"/>
                    </a:lnL>
                    <a:lnR w="12700" cap="flat" cmpd="sng">
                      <a:solidFill>
                        <a:srgbClr val="C8C8C8"/>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rgbClr val="C8C8C8"/>
                      </a:solidFill>
                      <a:prstDash val="solid"/>
                      <a:round/>
                      <a:headEnd type="none" w="sm" len="sm"/>
                      <a:tailEnd type="none" w="sm" len="sm"/>
                    </a:lnB>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
                          <a:prstClr val="black"/>
                        </a:buClr>
                        <a:buSzPts val="1600"/>
                        <a:buFont typeface="Arial"/>
                        <a:buNone/>
                        <a:tabLst/>
                        <a:defRPr/>
                      </a:pPr>
                      <a:r>
                        <a:rPr sz="900" b="0">
                          <a:latin typeface="Meiryo UI"/>
                          <a:ea typeface="Meiryo UI"/>
                        </a:rPr>
                        <a:t>全社（軽配送事業を含む）ベース。役員報酬8,400千円・役員賞与1,294千円を控除する一方、後任役員の報酬を年額6,110千円と想定して差額のみを調整。</a:t>
                      </a:r>
                      <a:endParaRPr kumimoji="0" lang="ja-JP" altLang="ja-JP" sz="1600" b="1"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Arial"/>
                        <a:sym typeface="Arial"/>
                      </a:endParaRPr>
                    </a:p>
                  </a:txBody>
                  <a:tcPr marL="54000" marR="36000" marT="18000" marB="18000" anchor="ctr">
                    <a:lnL w="12700" cap="flat" cmpd="sng">
                      <a:solidFill>
                        <a:srgbClr val="C8C8C8"/>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rgbClr val="C8C8C8"/>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969264">
                <a:tc>
                  <a:txBody>
                    <a:bodyPr/>
                    <a:lstStyle/>
                    <a:p>
                      <a:pPr marL="0" marR="0" lvl="0" indent="0" algn="ctr" rtl="0">
                        <a:spcBef>
                          <a:spcPts val="0"/>
                        </a:spcBef>
                        <a:spcAft>
                          <a:spcPts val="0"/>
                        </a:spcAft>
                        <a:buNone/>
                      </a:pPr>
                      <a:r>
                        <a:rPr sz="1100" b="1">
                          <a:latin typeface="Meiryo UI"/>
                          <a:ea typeface="Meiryo UI"/>
                        </a:rPr>
                        <a:t>2</a:t>
                      </a:r>
                    </a:p>
                  </a:txBody>
                  <a:tcPr marL="54000" marR="36000" marT="18000" marB="18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60000"/>
                        <a:lumOff val="40000"/>
                      </a:schemeClr>
                    </a:solidFill>
                  </a:tcPr>
                </a:tc>
                <a:tc>
                  <a:txBody>
                    <a:bodyPr/>
                    <a:lstStyle/>
                    <a:p>
                      <a:pPr marL="0" marR="0" lvl="0" indent="0" algn="l" rtl="0">
                        <a:spcBef>
                          <a:spcPts val="0"/>
                        </a:spcBef>
                        <a:spcAft>
                          <a:spcPts val="0"/>
                        </a:spcAft>
                        <a:buNone/>
                      </a:pPr>
                      <a:r>
                        <a:rPr sz="950" b="0">
                          <a:latin typeface="Meiryo UI"/>
                          <a:ea typeface="Meiryo UI"/>
                        </a:rPr>
                        <a:t>＋ 役員報酬の取扱いの差</a:t>
                      </a:r>
                      <a:endParaRPr lang="en-US" altLang="ja-JP" sz="1300" u="none" strike="noStrike" cap="none" dirty="0">
                        <a:solidFill>
                          <a:schemeClr val="dk1"/>
                        </a:solidFill>
                        <a:latin typeface="Meiryo UI" panose="020B0604030504040204" pitchFamily="50" charset="-128"/>
                        <a:ea typeface="Meiryo UI" panose="020B0604030504040204" pitchFamily="50" charset="-128"/>
                      </a:endParaRPr>
                    </a:p>
                  </a:txBody>
                  <a:tcPr marL="54000" marR="36000" marT="18000" marB="18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rgbClr val="66A09A"/>
                        </a:buClr>
                        <a:buSzPts val="1120"/>
                        <a:buFont typeface="Arial"/>
                        <a:buNone/>
                      </a:pPr>
                      <a:r>
                        <a:rPr sz="1100" b="1">
                          <a:latin typeface="Meiryo UI"/>
                          <a:ea typeface="Meiryo UI"/>
                        </a:rPr>
                        <a:t>＋6,110</a:t>
                      </a:r>
                    </a:p>
                  </a:txBody>
                  <a:tcPr marL="54000" marR="36000" marT="18000" marB="18000" anchor="ctr">
                    <a:lnL w="9525" cap="flat" cmpd="sng">
                      <a:solidFill>
                        <a:srgbClr val="000000">
                          <a:alpha val="0"/>
                        </a:srgbClr>
                      </a:solidFill>
                      <a:prstDash val="solid"/>
                      <a:round/>
                      <a:headEnd type="none" w="sm" len="sm"/>
                      <a:tailEnd type="none" w="sm" len="sm"/>
                    </a:lnL>
                    <a:lnR w="12700" cap="flat" cmpd="sng">
                      <a:solidFill>
                        <a:srgbClr val="C8C8C8"/>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lgn="ctr">
                      <a:solidFill>
                        <a:srgbClr val="C8C8C8"/>
                      </a:solidFill>
                      <a:prstDash val="solid"/>
                      <a:round/>
                      <a:headEnd type="none" w="sm" len="sm"/>
                      <a:tailEnd type="none" w="sm" len="sm"/>
                    </a:lnB>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
                          <a:prstClr val="black"/>
                        </a:buClr>
                        <a:buSzPts val="1600"/>
                        <a:buFont typeface="Arial"/>
                        <a:buNone/>
                        <a:tabLst/>
                        <a:defRPr/>
                      </a:pPr>
                      <a:r>
                        <a:rPr sz="900" b="0">
                          <a:latin typeface="Meiryo UI"/>
                          <a:ea typeface="Meiryo UI"/>
                        </a:rPr>
                        <a:t>本資料では後任役員の報酬を織り込まず、役員報酬を全額控除して算定（譲受企業側で経営人員を手当てされる前提）。</a:t>
                      </a:r>
                      <a:endParaRPr kumimoji="0" lang="ja-JP" altLang="ja-JP" sz="1600" b="1"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Arial"/>
                        <a:sym typeface="Arial"/>
                      </a:endParaRPr>
                    </a:p>
                  </a:txBody>
                  <a:tcPr marL="54000" marR="36000" marT="18000" marB="18000" anchor="ctr">
                    <a:lnL w="12700" cap="flat" cmpd="sng">
                      <a:solidFill>
                        <a:srgbClr val="C8C8C8"/>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lgn="ctr">
                      <a:solidFill>
                        <a:srgbClr val="C8C8C8"/>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r h="969264">
                <a:tc>
                  <a:txBody>
                    <a:bodyPr/>
                    <a:lstStyle/>
                    <a:p>
                      <a:pPr marL="0" marR="0" lvl="0" indent="0" algn="ctr" rtl="0">
                        <a:spcBef>
                          <a:spcPts val="0"/>
                        </a:spcBef>
                        <a:spcAft>
                          <a:spcPts val="0"/>
                        </a:spcAft>
                        <a:buNone/>
                      </a:pPr>
                      <a:r>
                        <a:rPr sz="1100" b="1">
                          <a:latin typeface="Meiryo UI"/>
                          <a:ea typeface="Meiryo UI"/>
                        </a:rPr>
                        <a:t>3</a:t>
                      </a:r>
                    </a:p>
                  </a:txBody>
                  <a:tcPr marL="54000" marR="36000" marT="18000" marB="18000" anchor="ctr">
                    <a:lnL w="9525" cap="flat" cmpd="sng">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60000"/>
                        <a:lumOff val="40000"/>
                      </a:schemeClr>
                    </a:solidFill>
                  </a:tcPr>
                </a:tc>
                <a:tc>
                  <a:txBody>
                    <a:bodyPr/>
                    <a:lstStyle/>
                    <a:p>
                      <a:pPr marL="0" marR="0" lvl="0" indent="0" algn="l" rtl="0">
                        <a:spcBef>
                          <a:spcPts val="0"/>
                        </a:spcBef>
                        <a:spcAft>
                          <a:spcPts val="0"/>
                        </a:spcAft>
                        <a:buNone/>
                      </a:pPr>
                      <a:r>
                        <a:rPr sz="950" b="0">
                          <a:latin typeface="Meiryo UI"/>
                          <a:ea typeface="Meiryo UI"/>
                        </a:rPr>
                        <a:t>＋ 軽配送事業の切離し・</a:t>
                      </a:r>
                    </a:p>
                    <a:p>
                      <a:pPr algn="l"/>
                      <a:r>
                        <a:rPr sz="950" b="0">
                          <a:latin typeface="Meiryo UI"/>
                          <a:ea typeface="Meiryo UI"/>
                        </a:rPr>
                        <a:t>　 販管費の部門別賦課</a:t>
                      </a:r>
                    </a:p>
                  </a:txBody>
                  <a:tcPr marL="54000" marR="36000" marT="18000" marB="18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rgbClr val="66A09A"/>
                        </a:buClr>
                        <a:buSzPts val="1120"/>
                        <a:buFont typeface="Arial"/>
                        <a:buNone/>
                      </a:pPr>
                      <a:r>
                        <a:rPr sz="1100" b="1">
                          <a:latin typeface="Meiryo UI"/>
                          <a:ea typeface="Meiryo UI"/>
                        </a:rPr>
                        <a:t>＋6,920</a:t>
                      </a:r>
                    </a:p>
                  </a:txBody>
                  <a:tcPr marL="54000" marR="36000" marT="18000" marB="18000" anchor="ctr">
                    <a:lnL w="9525" cap="flat" cmpd="sng">
                      <a:solidFill>
                        <a:srgbClr val="000000">
                          <a:alpha val="0"/>
                        </a:srgbClr>
                      </a:solidFill>
                      <a:prstDash val="solid"/>
                      <a:round/>
                      <a:headEnd type="none" w="sm" len="sm"/>
                      <a:tailEnd type="none" w="sm" len="sm"/>
                    </a:lnL>
                    <a:lnR w="12700" cap="flat" cmpd="sng">
                      <a:solidFill>
                        <a:srgbClr val="C8C8C8"/>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lgn="ctr">
                      <a:solidFill>
                        <a:srgbClr val="C8C8C8"/>
                      </a:solidFill>
                      <a:prstDash val="solid"/>
                      <a:round/>
                      <a:headEnd type="none" w="sm" len="sm"/>
                      <a:tailEnd type="none" w="sm" len="sm"/>
                    </a:lnB>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
                          <a:prstClr val="black"/>
                        </a:buClr>
                        <a:buSzPts val="1600"/>
                        <a:buFont typeface="Arial"/>
                        <a:buNone/>
                        <a:tabLst/>
                        <a:defRPr/>
                      </a:pPr>
                      <a:r>
                        <a:rPr sz="900" b="0">
                          <a:latin typeface="Meiryo UI"/>
                          <a:ea typeface="Meiryo UI"/>
                        </a:rPr>
                        <a:t>軽配送事業に係る売上・原価・販管費を除外し、事業の切り分けにより削減可能な費用を控除。</a:t>
                      </a:r>
                      <a:endParaRPr kumimoji="0" lang="ja-JP" altLang="ja-JP" sz="1600" b="1"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Arial"/>
                        <a:sym typeface="Arial"/>
                      </a:endParaRPr>
                    </a:p>
                  </a:txBody>
                  <a:tcPr marL="54000" marR="36000" marT="18000" marB="18000" anchor="ctr">
                    <a:lnL w="12700" cap="flat" cmpd="sng">
                      <a:solidFill>
                        <a:srgbClr val="C8C8C8"/>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lgn="ctr">
                      <a:solidFill>
                        <a:srgbClr val="C8C8C8"/>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969264">
                <a:tc>
                  <a:txBody>
                    <a:bodyPr/>
                    <a:lstStyle/>
                    <a:p>
                      <a:pPr marL="0" marR="0" lvl="0" indent="0" algn="ctr" rtl="0">
                        <a:spcBef>
                          <a:spcPts val="0"/>
                        </a:spcBef>
                        <a:spcAft>
                          <a:spcPts val="0"/>
                        </a:spcAft>
                        <a:buNone/>
                      </a:pPr>
                      <a:r>
                        <a:rPr sz="1100" b="1">
                          <a:latin typeface="Meiryo UI"/>
                          <a:ea typeface="Meiryo UI"/>
                        </a:rPr>
                        <a:t>4</a:t>
                      </a:r>
                    </a:p>
                  </a:txBody>
                  <a:tcPr marL="54000" marR="36000" marT="18000" marB="18000" anchor="ctr">
                    <a:lnL w="9525" cap="flat" cmpd="sng">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E1F3FB"/>
                    </a:solidFill>
                  </a:tcPr>
                </a:tc>
                <a:tc>
                  <a:txBody>
                    <a:bodyPr/>
                    <a:lstStyle/>
                    <a:p>
                      <a:pPr marL="0" marR="0" lvl="0" indent="0" algn="l" rtl="0">
                        <a:spcBef>
                          <a:spcPts val="0"/>
                        </a:spcBef>
                        <a:spcAft>
                          <a:spcPts val="0"/>
                        </a:spcAft>
                        <a:buNone/>
                      </a:pPr>
                      <a:r>
                        <a:rPr sz="950" b="1">
                          <a:latin typeface="Meiryo UI"/>
                          <a:ea typeface="Meiryo UI"/>
                        </a:rPr>
                        <a:t>＝ 本資料の修正後EBITDA</a:t>
                      </a:r>
                    </a:p>
                    <a:p>
                      <a:pPr algn="l"/>
                      <a:r>
                        <a:rPr sz="950" b="1">
                          <a:latin typeface="Meiryo UI"/>
                          <a:ea typeface="Meiryo UI"/>
                        </a:rPr>
                        <a:t>　 （2025年12月期）</a:t>
                      </a:r>
                    </a:p>
                  </a:txBody>
                  <a:tcPr marL="54000" marR="36000" marT="18000" marB="18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E1F3FB"/>
                    </a:solidFill>
                  </a:tcPr>
                </a:tc>
                <a:tc>
                  <a:txBody>
                    <a:bodyPr/>
                    <a:lstStyle/>
                    <a:p>
                      <a:pPr marL="0" marR="0" lvl="0" indent="0" algn="r" rtl="0">
                        <a:spcBef>
                          <a:spcPts val="0"/>
                        </a:spcBef>
                        <a:spcAft>
                          <a:spcPts val="0"/>
                        </a:spcAft>
                        <a:buClr>
                          <a:srgbClr val="66A09A"/>
                        </a:buClr>
                        <a:buSzPts val="1120"/>
                        <a:buFont typeface="Arial"/>
                        <a:buNone/>
                      </a:pPr>
                      <a:r>
                        <a:rPr sz="1100" b="1">
                          <a:latin typeface="Meiryo UI"/>
                          <a:ea typeface="Meiryo UI"/>
                        </a:rPr>
                        <a:t>22,952</a:t>
                      </a:r>
                      <a:endParaRPr lang="en-US" altLang="ja-JP" sz="1000" b="0" u="none" strike="noStrike" cap="none" dirty="0">
                        <a:solidFill>
                          <a:schemeClr val="dk1"/>
                        </a:solidFill>
                        <a:latin typeface="Meiryo UI" panose="020B0604030504040204" pitchFamily="50" charset="-128"/>
                        <a:ea typeface="Meiryo UI" panose="020B0604030504040204" pitchFamily="50" charset="-128"/>
                      </a:endParaRPr>
                    </a:p>
                  </a:txBody>
                  <a:tcPr marL="54000" marR="36000" marT="18000" marB="18000" anchor="ctr">
                    <a:lnL w="9525" cap="flat" cmpd="sng">
                      <a:solidFill>
                        <a:srgbClr val="000000">
                          <a:alpha val="0"/>
                        </a:srgbClr>
                      </a:solidFill>
                      <a:prstDash val="solid"/>
                      <a:round/>
                      <a:headEnd type="none" w="sm" len="sm"/>
                      <a:tailEnd type="none" w="sm" len="sm"/>
                    </a:lnL>
                    <a:lnR w="12700" cap="flat" cmpd="sng">
                      <a:solidFill>
                        <a:srgbClr val="C8C8C8"/>
                      </a:solidFill>
                      <a:prstDash val="solid"/>
                      <a:round/>
                      <a:headEnd type="none" w="sm" len="sm"/>
                      <a:tailEnd type="none" w="sm" len="sm"/>
                    </a:lnR>
                    <a:lnT w="12700" cap="flat" cmpd="sng" algn="ctr">
                      <a:solidFill>
                        <a:srgbClr val="C8C8C8"/>
                      </a:solidFill>
                      <a:prstDash val="solid"/>
                      <a:round/>
                      <a:headEnd type="none" w="sm" len="sm"/>
                      <a:tailEnd type="none" w="sm" len="sm"/>
                    </a:lnT>
                    <a:lnB w="12700" cap="flat" cmpd="sng" algn="ctr">
                      <a:solidFill>
                        <a:srgbClr val="C8C8C8"/>
                      </a:solidFill>
                      <a:prstDash val="solid"/>
                      <a:round/>
                      <a:headEnd type="none" w="sm" len="sm"/>
                      <a:tailEnd type="none" w="sm" len="sm"/>
                    </a:lnB>
                    <a:solidFill>
                      <a:srgbClr val="E1F3FB"/>
                    </a:solidFill>
                  </a:tcPr>
                </a:tc>
                <a:tc>
                  <a:txBody>
                    <a:bodyPr/>
                    <a:lstStyle/>
                    <a:p>
                      <a:pPr marL="0" marR="0" lvl="0" indent="0" algn="l" defTabSz="914400" rtl="0" eaLnBrk="1" fontAlgn="auto" latinLnBrk="0" hangingPunct="1">
                        <a:lnSpc>
                          <a:spcPct val="100000"/>
                        </a:lnSpc>
                        <a:spcBef>
                          <a:spcPts val="0"/>
                        </a:spcBef>
                        <a:spcAft>
                          <a:spcPts val="0"/>
                        </a:spcAft>
                        <a:buClr>
                          <a:prstClr val="black"/>
                        </a:buClr>
                        <a:buSzPts val="1600"/>
                        <a:buFont typeface="Arial"/>
                        <a:buNone/>
                        <a:tabLst/>
                        <a:defRPr/>
                      </a:pPr>
                      <a:r>
                        <a:rPr sz="900" b="1">
                          <a:latin typeface="Meiryo UI"/>
                          <a:ea typeface="Meiryo UI"/>
                        </a:rPr>
                        <a:t>譲渡対象であるフォワーダー事業単体ベース。EV/EBITDAマルチプル法はこの数値を基礎としています。</a:t>
                      </a:r>
                      <a:endParaRPr kumimoji="0" lang="ja-JP" altLang="ja-JP" sz="1600" b="1"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Arial"/>
                        <a:sym typeface="Arial"/>
                      </a:endParaRPr>
                    </a:p>
                  </a:txBody>
                  <a:tcPr marL="54000" marR="36000" marT="18000" marB="18000" anchor="ctr">
                    <a:lnL w="12700" cap="flat" cmpd="sng">
                      <a:solidFill>
                        <a:srgbClr val="C8C8C8"/>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lgn="ctr">
                      <a:solidFill>
                        <a:srgbClr val="C8C8C8"/>
                      </a:solidFill>
                      <a:prstDash val="solid"/>
                      <a:round/>
                      <a:headEnd type="none" w="sm" len="sm"/>
                      <a:tailEnd type="none" w="sm" len="sm"/>
                    </a:lnT>
                    <a:lnB w="12700" cap="flat" cmpd="sng" algn="ctr">
                      <a:solidFill>
                        <a:srgbClr val="C8C8C8"/>
                      </a:solidFill>
                      <a:prstDash val="solid"/>
                      <a:round/>
                      <a:headEnd type="none" w="sm" len="sm"/>
                      <a:tailEnd type="none" w="sm" len="sm"/>
                    </a:lnB>
                    <a:solidFill>
                      <a:srgbClr val="E1F3FB"/>
                    </a:solidFill>
                  </a:tcPr>
                </a:tc>
                <a:extLst>
                  <a:ext uri="{0D108BD9-81ED-4DB2-BD59-A6C34878D82A}">
                    <a16:rowId xmlns:a16="http://schemas.microsoft.com/office/drawing/2014/main" val="10004"/>
                  </a:ext>
                </a:extLst>
              </a:tr>
            </a:tbl>
          </a:graphicData>
        </a:graphic>
      </p:graphicFrame>
      <p:sp>
        <p:nvSpPr>
          <p:cNvPr id="208" name="Google Shape;208;p3"/>
          <p:cNvSpPr txBox="1"/>
          <p:nvPr/>
        </p:nvSpPr>
        <p:spPr>
          <a:xfrm>
            <a:off x="9450000" y="0"/>
            <a:ext cx="3400000" cy="6858000"/>
          </a:xfrm>
          <a:prstGeom prst="rect">
            <a:avLst/>
          </a:prstGeom>
          <a:solidFill>
            <a:srgbClr val="EEF7CD"/>
          </a:solidFill>
          <a:ln>
            <a:noFill/>
          </a:ln>
        </p:spPr>
        <p:txBody>
          <a:bodyPr spcFirstLastPara="1" wrap="square" lIns="72000" tIns="36000" rIns="72000" bIns="36000" anchor="ctr" anchorCtr="0">
            <a:noAutofit/>
          </a:bodyPr>
          <a:lstStyle/>
          <a:p>
            <a:pPr marL="0" marR="0" lvl="0" indent="0" algn="l" rtl="0">
              <a:lnSpc>
                <a:spcPct val="110000"/>
              </a:lnSpc>
              <a:spcBef>
                <a:spcPts val="0"/>
              </a:spcBef>
              <a:spcAft>
                <a:spcPts val="0"/>
              </a:spcAft>
              <a:buNone/>
            </a:pPr>
            <a:r>
              <a:rPr sz="900" b="0">
                <a:latin typeface="Meiryo UI"/>
                <a:ea typeface="Meiryo UI"/>
              </a:rPr>
              <a:t>【社内メモ｜本資料作成時の留意事項】</a:t>
            </a:r>
            <a:endParaRPr dirty="0"/>
          </a:p>
          <a:p>
            <a:pPr algn="l">
              <a:lnSpc>
                <a:spcPct val="110000"/>
              </a:lnSpc>
            </a:pPr>
            <a:r>
              <a:rPr sz="900" b="0">
                <a:latin typeface="Meiryo UI"/>
                <a:ea typeface="Meiryo UI"/>
              </a:rPr>
              <a:t>※本テキストボックスはスライド範囲外に配置しており、スライドショー・PDF出力には表示されません。買手候補への提示前に内容をご確認ください。</a:t>
            </a:r>
          </a:p>
          <a:p>
            <a:pPr algn="l">
              <a:lnSpc>
                <a:spcPct val="110000"/>
              </a:lnSpc>
            </a:pPr>
            <a:r>
              <a:rPr sz="900" b="0">
                <a:latin typeface="Meiryo UI"/>
                <a:ea typeface="Meiryo UI"/>
              </a:rPr>
              <a:t>　</a:t>
            </a:r>
          </a:p>
          <a:p>
            <a:pPr algn="l">
              <a:lnSpc>
                <a:spcPct val="110000"/>
              </a:lnSpc>
            </a:pPr>
            <a:r>
              <a:rPr sz="900" b="0">
                <a:latin typeface="Meiryo UI"/>
                <a:ea typeface="Meiryo UI"/>
              </a:rPr>
              <a:t>１．基準EBITDA 18,760千円は株式価値試算報告書（2026年4月17日付）の記載値。修正後EBITDA（14,806／14,410／22,952）を1:2:3で加重平均すると18,747千円となり13千円の差が生じるため、案件マスターで算定根拠を確定すること。</a:t>
            </a:r>
          </a:p>
          <a:p>
            <a:pPr algn="l">
              <a:lnSpc>
                <a:spcPct val="110000"/>
              </a:lnSpc>
            </a:pPr>
            <a:r>
              <a:rPr sz="900" b="0">
                <a:latin typeface="Meiryo UI"/>
                <a:ea typeface="Meiryo UI"/>
              </a:rPr>
              <a:t>　</a:t>
            </a:r>
          </a:p>
          <a:p>
            <a:pPr algn="l">
              <a:lnSpc>
                <a:spcPct val="110000"/>
              </a:lnSpc>
            </a:pPr>
            <a:r>
              <a:rPr sz="900" b="0">
                <a:latin typeface="Meiryo UI"/>
                <a:ea typeface="Meiryo UI"/>
              </a:rPr>
              <a:t>２．「スキーム比較のご提案」（2026年5月29日付）では基準EBITDA 18,512千円・倍率4〜6倍（EV 74,046〜111,069千円）と記載されており、株式価値試算報告書（18,760千円・3〜5倍）と数値・倍率がいずれも異なる。買手候補ごとに提示数値が食い違わないよう、提示前に統一すること。本資料は株式価値試算報告書の数値に統一している。</a:t>
            </a:r>
          </a:p>
          <a:p>
            <a:pPr algn="l">
              <a:lnSpc>
                <a:spcPct val="110000"/>
              </a:lnSpc>
            </a:pPr>
            <a:r>
              <a:rPr sz="900" b="0">
                <a:latin typeface="Meiryo UI"/>
                <a:ea typeface="Meiryo UI"/>
              </a:rPr>
              <a:t>　</a:t>
            </a:r>
          </a:p>
          <a:p>
            <a:pPr algn="l">
              <a:lnSpc>
                <a:spcPct val="110000"/>
              </a:lnSpc>
            </a:pPr>
            <a:r>
              <a:rPr sz="900" b="0">
                <a:latin typeface="Meiryo UI"/>
                <a:ea typeface="Meiryo UI"/>
              </a:rPr>
              <a:t>３．株式価値試算報告書の「販管費及び一般管理費の修正」の修正後合計（2025年12月期 47,260千円）と、PLハイライトから逆算した販管費（44,780千円＝売上総利益67,190－営業利益22,410）に2,480千円の差異がある。案件マスターで整合を確認すること。</a:t>
            </a:r>
          </a:p>
          <a:p>
            <a:pPr algn="l">
              <a:lnSpc>
                <a:spcPct val="110000"/>
              </a:lnSpc>
            </a:pPr>
            <a:r>
              <a:rPr sz="900" b="0">
                <a:latin typeface="Meiryo UI"/>
                <a:ea typeface="Meiryo UI"/>
              </a:rPr>
              <a:t>　</a:t>
            </a:r>
          </a:p>
          <a:p>
            <a:pPr algn="l">
              <a:lnSpc>
                <a:spcPct val="110000"/>
              </a:lnSpc>
            </a:pPr>
            <a:r>
              <a:rPr sz="900" b="0">
                <a:latin typeface="Meiryo UI"/>
                <a:ea typeface="Meiryo UI"/>
              </a:rPr>
              <a:t>４．企業概要書の売上高（2024年12月期252,085／2025年12月期375,521千円）と分析資料の売上高（201,668／356,909千円）が異なる。前者は軽配送事業を含む全社ベース、後者はフォワーダー事業単体ベースと理解しているが、2023年12月期のみ両者が一致（282,040千円）しており、同期の軽配送事業売上の除外が未反映の可能性がある。要検証。</a:t>
            </a:r>
          </a:p>
          <a:p>
            <a:pPr algn="l">
              <a:lnSpc>
                <a:spcPct val="110000"/>
              </a:lnSpc>
            </a:pPr>
            <a:r>
              <a:rPr sz="900" b="0">
                <a:latin typeface="Meiryo UI"/>
                <a:ea typeface="Meiryo UI"/>
              </a:rPr>
              <a:t>　</a:t>
            </a:r>
          </a:p>
          <a:p>
            <a:pPr algn="l">
              <a:lnSpc>
                <a:spcPct val="110000"/>
              </a:lnSpc>
            </a:pPr>
            <a:r>
              <a:rPr sz="900" b="0">
                <a:latin typeface="Meiryo UI"/>
                <a:ea typeface="Meiryo UI"/>
              </a:rPr>
              <a:t>５．P10の「＋6,920千円（軽配送事業の切離し・販管費の部門別賦課）」は、企業概要書の調整後EBITDA 9,922千円と本資料の22,952千円の差額13,030千円から役員報酬差6,110千円を控除した残差として算出したもの。内訳を案件マスターで分解し、確定させること。</a:t>
            </a:r>
          </a:p>
          <a:p>
            <a:pPr algn="l">
              <a:lnSpc>
                <a:spcPct val="110000"/>
              </a:lnSpc>
            </a:pPr>
            <a:r>
              <a:rPr sz="900" b="0">
                <a:latin typeface="Meiryo UI"/>
                <a:ea typeface="Meiryo UI"/>
              </a:rPr>
              <a:t>　</a:t>
            </a:r>
          </a:p>
          <a:p>
            <a:pPr algn="l">
              <a:lnSpc>
                <a:spcPct val="110000"/>
              </a:lnSpc>
            </a:pPr>
            <a:r>
              <a:rPr sz="900" b="0">
                <a:latin typeface="Meiryo UI"/>
                <a:ea typeface="Meiryo UI"/>
              </a:rPr>
              <a:t>６．弊社成功報酬について、企業概要書の報酬体系では「時価総資産（営業権含む）2億円以下の部分＝2,000万円、最低額1,500万円」、「スキーム比較のご提案」では「アドバイザリー報酬10,000千円」と記載が異なる。提示前の統一が必要なため、本資料では金額を記載せず「別途ご提示」としている。</a:t>
            </a:r>
          </a:p>
          <a:p>
            <a:pPr algn="l">
              <a:lnSpc>
                <a:spcPct val="110000"/>
              </a:lnSpc>
            </a:pPr>
            <a:r>
              <a:rPr sz="900" b="0">
                <a:latin typeface="Meiryo UI"/>
                <a:ea typeface="Meiryo UI"/>
              </a:rPr>
              <a:t>　</a:t>
            </a:r>
          </a:p>
          <a:p>
            <a:pPr algn="l">
              <a:lnSpc>
                <a:spcPct val="110000"/>
              </a:lnSpc>
            </a:pPr>
            <a:r>
              <a:rPr sz="900" b="0">
                <a:latin typeface="Meiryo UI"/>
                <a:ea typeface="Meiryo UI"/>
              </a:rPr>
              <a:t>７．他の買手候補（ジャパン・バン・ラインズ株式会社）への提示資料の存在および提示条件については、本資料および面談において一切言及しないこと。</a:t>
            </a:r>
          </a:p>
          <a:p>
            <a:pPr algn="l">
              <a:lnSpc>
                <a:spcPct val="110000"/>
              </a:lnSpc>
            </a:pPr>
            <a:r>
              <a:rPr sz="900" b="0">
                <a:latin typeface="Meiryo UI"/>
                <a:ea typeface="Meiryo UI"/>
              </a:rPr>
              <a:t>　</a:t>
            </a:r>
          </a:p>
          <a:p>
            <a:pPr algn="l">
              <a:lnSpc>
                <a:spcPct val="110000"/>
              </a:lnSpc>
            </a:pPr>
            <a:r>
              <a:rPr sz="900" b="0">
                <a:latin typeface="Meiryo UI"/>
                <a:ea typeface="Meiryo UI"/>
              </a:rPr>
              <a:t>８．「2026年4月中に代表保有の休眠会社へ軽配送事業を切り分ける想定」（企業概要書P6）は同年4月時点の記載。本日（2026年8月16日）時点の実行状況を売主に確認のうえ、面談前にP7・P8を更新すること。</a:t>
            </a:r>
          </a:p>
          <a:p>
            <a:pPr algn="l">
              <a:lnSpc>
                <a:spcPct val="110000"/>
              </a:lnSpc>
            </a:pPr>
            <a:r>
              <a:rPr sz="900" b="0">
                <a:latin typeface="Meiryo UI"/>
                <a:ea typeface="Meiryo UI"/>
              </a:rPr>
              <a:t>　</a:t>
            </a:r>
          </a:p>
          <a:p>
            <a:pPr algn="l">
              <a:lnSpc>
                <a:spcPct val="110000"/>
              </a:lnSpc>
            </a:pPr>
            <a:r>
              <a:rPr sz="900" b="0">
                <a:latin typeface="Meiryo UI"/>
                <a:ea typeface="Meiryo UI"/>
              </a:rPr>
              <a:t>９．役員借入金 約10,000千円の貸借対照表上の計上区分が未確定。短期借入金15,321千円に含まれる場合、P6の手出し資金表（③と⑤）で二重計上となるため要修正。</a:t>
            </a:r>
          </a:p>
          <a:p>
            <a:pPr algn="l">
              <a:lnSpc>
                <a:spcPct val="110000"/>
              </a:lnSpc>
            </a:pPr>
            <a:r>
              <a:rPr sz="900" b="0">
                <a:latin typeface="Meiryo UI"/>
                <a:ea typeface="Meiryo UI"/>
              </a:rPr>
              <a:t>　</a:t>
            </a:r>
          </a:p>
          <a:p>
            <a:pPr algn="l">
              <a:lnSpc>
                <a:spcPct val="110000"/>
              </a:lnSpc>
            </a:pPr>
            <a:r>
              <a:rPr sz="900" b="0">
                <a:latin typeface="Meiryo UI"/>
                <a:ea typeface="Meiryo UI"/>
              </a:rPr>
              <a:t>10．第一種貨物利用運送事業（外航海運）の事業譲渡・会社分割時の承継手続については、所管官庁（国土交通省）への確認が必要。本資料では「要確認」としている。</a:t>
            </a:r>
          </a:p>
          <a:p>
            <a:pPr algn="l">
              <a:lnSpc>
                <a:spcPct val="110000"/>
              </a:lnSpc>
            </a:pPr>
            <a:r>
              <a:rPr sz="900" b="0">
                <a:latin typeface="Meiryo UI"/>
                <a:ea typeface="Meiryo UI"/>
              </a:rPr>
              <a:t>　</a:t>
            </a:r>
          </a:p>
          <a:p>
            <a:pPr algn="l">
              <a:lnSpc>
                <a:spcPct val="110000"/>
              </a:lnSpc>
            </a:pPr>
            <a:r>
              <a:rPr sz="900" b="0">
                <a:latin typeface="Meiryo UI"/>
                <a:ea typeface="Meiryo UI"/>
              </a:rPr>
              <a:t>11．発行済株式数は企業概要書内で「3,000株」（基本情報）と「300株」（株主及び役員）の2通りの記載。登記簿で確定のうえ、企業概要書も修正すること。</a:t>
            </a:r>
          </a:p>
          <a:p>
            <a:pPr algn="l">
              <a:lnSpc>
                <a:spcPct val="110000"/>
              </a:lnSpc>
            </a:pPr>
            <a:r>
              <a:rPr sz="900" b="0">
                <a:latin typeface="Meiryo UI"/>
                <a:ea typeface="Meiryo UI"/>
              </a:rPr>
              <a:t>　</a:t>
            </a:r>
          </a:p>
        </p:txBody>
      </p:sp>
      <p:sp>
        <p:nvSpPr>
          <p:cNvPr id="4" name="正方形/長方形 3">
            <a:extLst>
              <a:ext uri="{FF2B5EF4-FFF2-40B4-BE49-F238E27FC236}">
                <a16:creationId xmlns:a16="http://schemas.microsoft.com/office/drawing/2014/main" id="{F63F0559-A471-05FB-7992-03A5FE1C9DE2}"/>
              </a:ext>
            </a:extLst>
          </p:cNvPr>
          <p:cNvSpPr/>
          <p:nvPr/>
        </p:nvSpPr>
        <p:spPr>
          <a:xfrm>
            <a:off x="249787" y="971550"/>
            <a:ext cx="8623625" cy="230832"/>
          </a:xfrm>
          <a:prstGeom prst="rect">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r>
              <a:rPr sz="1050" b="1">
                <a:solidFill>
                  <a:srgbClr val="FFFFFF"/>
                </a:solidFill>
                <a:latin typeface="Meiryo UI"/>
                <a:ea typeface="Meiryo UI"/>
              </a:rPr>
              <a:t>企業概要書の調整後EBITDA（9,922千円）と本資料の修正後EBITDA（22,952千円）の関係</a:t>
            </a:r>
          </a:p>
        </p:txBody>
      </p:sp>
      <p:sp>
        <p:nvSpPr>
          <p:cNvPr id="3" name="テキスト ボックス 2">
            <a:extLst>
              <a:ext uri="{FF2B5EF4-FFF2-40B4-BE49-F238E27FC236}">
                <a16:creationId xmlns:a16="http://schemas.microsoft.com/office/drawing/2014/main" id="{6C03ED91-D22A-D22B-526D-CF9FC3CC78F7}"/>
              </a:ext>
            </a:extLst>
          </p:cNvPr>
          <p:cNvSpPr txBox="1"/>
          <p:nvPr/>
        </p:nvSpPr>
        <p:spPr>
          <a:xfrm>
            <a:off x="8149019" y="1304559"/>
            <a:ext cx="1036086" cy="230832"/>
          </a:xfrm>
          <a:prstGeom prst="rect">
            <a:avLst/>
          </a:prstGeom>
          <a:noFill/>
        </p:spPr>
        <p:txBody>
          <a:bodyPr wrap="square" rtlCol="0">
            <a:spAutoFit/>
          </a:bodyPr>
          <a:lstStyle/>
          <a:p>
            <a:pPr algn="r"/>
            <a:r>
              <a:rPr sz="900" b="0">
                <a:latin typeface="Meiryo UI"/>
                <a:ea typeface="Meiryo UI"/>
              </a:rPr>
              <a:t>（単位：千円）</a:t>
            </a:r>
          </a:p>
        </p:txBody>
      </p:sp>
      <p:sp>
        <p:nvSpPr>
          <p:cNvPr id="210" name="TextBox 209"/>
          <p:cNvSpPr txBox="1"/>
          <p:nvPr/>
        </p:nvSpPr>
        <p:spPr>
          <a:xfrm>
            <a:off x="265176" y="6180000"/>
            <a:ext cx="8631936" cy="274320"/>
          </a:xfrm>
          <a:prstGeom prst="rect">
            <a:avLst/>
          </a:prstGeom>
          <a:noFill/>
        </p:spPr>
        <p:txBody>
          <a:bodyPr wrap="square">
            <a:spAutoFit/>
          </a:bodyPr>
          <a:lstStyle/>
          <a:p>
            <a:pPr algn="l">
              <a:lnSpc>
                <a:spcPct val="115000"/>
              </a:lnSpc>
            </a:pPr>
            <a:r>
              <a:rPr sz="750" b="0">
                <a:latin typeface="Meiryo UI"/>
                <a:ea typeface="Meiryo UI"/>
              </a:rPr>
              <a:t>▌ 後任役員の報酬水準は、貴社の運営体制により変動いたします。仮に企業概要書と同水準（年額6,110千円）を織り込む場合、2025年12月期の修正後EBITDAは16,842千円、基準EBITDAは12,650千円程度となり、事業価値は37,950〜63,250千円（3〜5倍）まで低下いたします。</a:t>
            </a:r>
          </a:p>
          <a:p>
            <a:pPr algn="l">
              <a:lnSpc>
                <a:spcPct val="115000"/>
              </a:lnSpc>
            </a:pPr>
            <a:r>
              <a:rPr sz="750" b="0">
                <a:latin typeface="Meiryo UI"/>
                <a:ea typeface="Meiryo UI"/>
              </a:rPr>
              <a:t>※貴社にて既存の管理部門・営業体制を活用され追加の役員配置を要しない場合は、上表4の水準が実態に近いものと考えられます。この点は価額に直結するため、トップ面談にて譲渡後の経営体制のお考えをお聞かせください。</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04" name="Google Shape;204;p3"/>
          <p:cNvSpPr txBox="1">
            <a:spLocks noGrp="1"/>
          </p:cNvSpPr>
          <p:nvPr>
            <p:ph type="title"/>
          </p:nvPr>
        </p:nvSpPr>
        <p:spPr>
          <a:xfrm>
            <a:off x="395536" y="332655"/>
            <a:ext cx="6696744" cy="288033"/>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sz="1400" b="1">
                <a:solidFill>
                  <a:srgbClr val="5A5A5A"/>
                </a:solidFill>
                <a:latin typeface="Meiryo UI"/>
                <a:ea typeface="Meiryo UI"/>
              </a:rPr>
              <a:t>譲渡価額の考え方 ③｜事業価値と株式価値</a:t>
            </a:r>
            <a:endParaRPr b="1" dirty="0">
              <a:solidFill>
                <a:srgbClr val="5A5A5A"/>
              </a:solidFill>
              <a:latin typeface="Meiryo UI" panose="020B0604030504040204" pitchFamily="50" charset="-128"/>
              <a:ea typeface="Meiryo UI" panose="020B0604030504040204" pitchFamily="50" charset="-128"/>
              <a:sym typeface="Arial"/>
            </a:endParaRPr>
          </a:p>
        </p:txBody>
      </p:sp>
      <p:sp>
        <p:nvSpPr>
          <p:cNvPr id="205" name="Google Shape;205;p3"/>
          <p:cNvSpPr txBox="1"/>
          <p:nvPr/>
        </p:nvSpPr>
        <p:spPr>
          <a:xfrm>
            <a:off x="323528" y="116632"/>
            <a:ext cx="2376264" cy="188640"/>
          </a:xfrm>
          <a:prstGeom prst="rect">
            <a:avLst/>
          </a:prstGeom>
          <a:noFill/>
          <a:ln>
            <a:noFill/>
          </a:ln>
        </p:spPr>
        <p:txBody>
          <a:bodyPr spcFirstLastPara="1" wrap="square" lIns="36000" tIns="0" rIns="0" bIns="0" anchor="ctr" anchorCtr="0">
            <a:noAutofit/>
          </a:bodyPr>
          <a:lstStyle/>
          <a:p>
            <a:pPr marL="0" marR="0" lvl="0" indent="0" algn="l" rtl="0">
              <a:lnSpc>
                <a:spcPct val="100000"/>
              </a:lnSpc>
              <a:spcBef>
                <a:spcPts val="0"/>
              </a:spcBef>
              <a:spcAft>
                <a:spcPts val="0"/>
              </a:spcAft>
              <a:buClr>
                <a:srgbClr val="5A5A5A"/>
              </a:buClr>
              <a:buSzPts val="1000"/>
              <a:buFont typeface="Arial"/>
              <a:buNone/>
            </a:pPr>
            <a:r>
              <a:rPr sz="1000" b="0">
                <a:solidFill>
                  <a:srgbClr val="5A5A5A"/>
                </a:solidFill>
                <a:latin typeface="Meiryo UI"/>
                <a:ea typeface="Meiryo UI"/>
              </a:rPr>
              <a:t>本件の論点整理</a:t>
            </a:r>
            <a:endParaRPr>
              <a:latin typeface="Meiryo UI" panose="020B0604030504040204" pitchFamily="50" charset="-128"/>
              <a:ea typeface="Meiryo UI" panose="020B0604030504040204" pitchFamily="50" charset="-128"/>
            </a:endParaRPr>
          </a:p>
        </p:txBody>
      </p:sp>
      <p:sp>
        <p:nvSpPr>
          <p:cNvPr id="206" name="Google Shape;206;p3"/>
          <p:cNvSpPr/>
          <p:nvPr/>
        </p:nvSpPr>
        <p:spPr>
          <a:xfrm>
            <a:off x="0" y="116632"/>
            <a:ext cx="323528" cy="180000"/>
          </a:xfrm>
          <a:prstGeom prst="parallelogram">
            <a:avLst>
              <a:gd name="adj" fmla="val 32938"/>
            </a:avLst>
          </a:prstGeom>
          <a:solidFill>
            <a:srgbClr val="66A09A"/>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Arial"/>
              <a:buNone/>
            </a:pPr>
            <a:r>
              <a:rPr sz="1000" b="0">
                <a:solidFill>
                  <a:srgbClr val="FFFFFF"/>
                </a:solidFill>
                <a:latin typeface="Meiryo UI"/>
                <a:ea typeface="Meiryo UI"/>
              </a:rPr>
              <a:t>1</a:t>
            </a:r>
            <a:endParaRPr sz="1000" b="0" i="0" u="none" strike="noStrike" cap="none">
              <a:solidFill>
                <a:srgbClr val="FFFFFF"/>
              </a:solidFill>
              <a:latin typeface="Arial"/>
              <a:ea typeface="Arial"/>
              <a:cs typeface="Arial"/>
              <a:sym typeface="Arial"/>
            </a:endParaRPr>
          </a:p>
        </p:txBody>
      </p:sp>
      <p:graphicFrame>
        <p:nvGraphicFramePr>
          <p:cNvPr id="207" name="Google Shape;207;p3"/>
          <p:cNvGraphicFramePr/>
          <p:nvPr>
            <p:extLst>
              <p:ext uri="{D42A27DB-BD31-4B8C-83A1-F6EECF244321}">
                <p14:modId xmlns:p14="http://schemas.microsoft.com/office/powerpoint/2010/main" val="2721619109"/>
              </p:ext>
            </p:extLst>
          </p:nvPr>
        </p:nvGraphicFramePr>
        <p:xfrm>
          <a:off x="265176" y="1481328"/>
          <a:ext cx="5541264" cy="4315968"/>
        </p:xfrm>
        <a:graphic>
          <a:graphicData uri="http://schemas.openxmlformats.org/drawingml/2006/table">
            <a:tbl>
              <a:tblPr>
                <a:noFill/>
                <a:tableStyleId>{FA6B9113-0DA6-4419-ABC6-697280B0F4CE}</a:tableStyleId>
              </a:tblPr>
              <a:tblGrid>
                <a:gridCol w="2633472">
                  <a:extLst>
                    <a:ext uri="{9D8B030D-6E8A-4147-A177-3AD203B41FA5}">
                      <a16:colId xmlns:a16="http://schemas.microsoft.com/office/drawing/2014/main" val="20000"/>
                    </a:ext>
                  </a:extLst>
                </a:gridCol>
                <a:gridCol w="969264">
                  <a:extLst>
                    <a:ext uri="{9D8B030D-6E8A-4147-A177-3AD203B41FA5}">
                      <a16:colId xmlns:a16="http://schemas.microsoft.com/office/drawing/2014/main" val="20001"/>
                    </a:ext>
                  </a:extLst>
                </a:gridCol>
                <a:gridCol w="969264">
                  <a:extLst>
                    <a:ext uri="{9D8B030D-6E8A-4147-A177-3AD203B41FA5}">
                      <a16:colId xmlns:a16="http://schemas.microsoft.com/office/drawing/2014/main" val="20002"/>
                    </a:ext>
                  </a:extLst>
                </a:gridCol>
                <a:gridCol w="969264">
                  <a:extLst>
                    <a:ext uri="{9D8B030D-6E8A-4147-A177-3AD203B41FA5}">
                      <a16:colId xmlns:a16="http://schemas.microsoft.com/office/drawing/2014/main" val="20003"/>
                    </a:ext>
                  </a:extLst>
                </a:gridCol>
              </a:tblGrid>
              <a:tr h="347472">
                <a:tc>
                  <a:txBody>
                    <a:bodyPr/>
                    <a:lstStyle/>
                    <a:p>
                      <a:pPr marL="0" marR="0" lvl="0" indent="0" algn="ctr" rtl="0">
                        <a:spcBef>
                          <a:spcPts val="0"/>
                        </a:spcBef>
                        <a:spcAft>
                          <a:spcPts val="0"/>
                        </a:spcAft>
                        <a:buNone/>
                      </a:pPr>
                      <a:r>
                        <a:rPr sz="900" b="1">
                          <a:latin typeface="Meiryo UI"/>
                          <a:ea typeface="Meiryo UI"/>
                        </a:rPr>
                        <a:t>項目</a:t>
                      </a:r>
                      <a:endParaRPr sz="1400" b="1" u="none" strike="noStrike" cap="none" dirty="0">
                        <a:solidFill>
                          <a:schemeClr val="lt1"/>
                        </a:solidFill>
                        <a:latin typeface="Meiryo UI" panose="020B0604030504040204" pitchFamily="50" charset="-128"/>
                        <a:ea typeface="Meiryo UI" panose="020B0604030504040204" pitchFamily="50" charset="-128"/>
                      </a:endParaRPr>
                    </a:p>
                  </a:txBody>
                  <a:tcPr marL="18000" marR="36000" marT="18000" marB="18000" anchor="ctr">
                    <a:lnL w="9525" cap="flat" cmpd="sng">
                      <a:solidFill>
                        <a:srgbClr val="000000">
                          <a:alpha val="0"/>
                        </a:srgbClr>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accent1">
                        <a:lumMod val="50000"/>
                      </a:schemeClr>
                    </a:solidFill>
                  </a:tcPr>
                </a:tc>
                <a:tc>
                  <a:txBody>
                    <a:bodyPr/>
                    <a:lstStyle/>
                    <a:p>
                      <a:pPr marL="0" marR="0" lvl="0" indent="0" algn="ctr" rtl="0">
                        <a:spcBef>
                          <a:spcPts val="0"/>
                        </a:spcBef>
                        <a:spcAft>
                          <a:spcPts val="0"/>
                        </a:spcAft>
                        <a:buNone/>
                      </a:pPr>
                      <a:r>
                        <a:rPr sz="900" b="1">
                          <a:latin typeface="Meiryo UI"/>
                          <a:ea typeface="Meiryo UI"/>
                        </a:rPr>
                        <a:t>×3倍</a:t>
                      </a:r>
                      <a:endParaRPr dirty="0">
                        <a:latin typeface="Meiryo UI" panose="020B0604030504040204" pitchFamily="50" charset="-128"/>
                        <a:ea typeface="Meiryo UI" panose="020B0604030504040204" pitchFamily="50" charset="-128"/>
                      </a:endParaRPr>
                    </a:p>
                  </a:txBody>
                  <a:tcPr marL="18000" marR="36000" marT="18000" marB="1800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accent1">
                        <a:lumMod val="50000"/>
                      </a:schemeClr>
                    </a:solidFill>
                  </a:tcPr>
                </a:tc>
                <a:tc>
                  <a:txBody>
                    <a:bodyPr/>
                    <a:lstStyle/>
                    <a:p>
                      <a:pPr marL="0" marR="0" lvl="0" indent="0" algn="ctr" rtl="0">
                        <a:spcBef>
                          <a:spcPts val="0"/>
                        </a:spcBef>
                        <a:spcAft>
                          <a:spcPts val="0"/>
                        </a:spcAft>
                        <a:buNone/>
                      </a:pPr>
                      <a:r>
                        <a:rPr sz="900" b="1">
                          <a:latin typeface="Meiryo UI"/>
                          <a:ea typeface="Meiryo UI"/>
                        </a:rPr>
                        <a:t>×4倍</a:t>
                      </a:r>
                      <a:endParaRPr dirty="0">
                        <a:latin typeface="Meiryo UI" panose="020B0604030504040204" pitchFamily="50" charset="-128"/>
                        <a:ea typeface="Meiryo UI" panose="020B0604030504040204" pitchFamily="50" charset="-128"/>
                      </a:endParaRPr>
                    </a:p>
                  </a:txBody>
                  <a:tcPr marL="18000" marR="36000" marT="18000" marB="1800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accent1">
                        <a:lumMod val="50000"/>
                      </a:schemeClr>
                    </a:solidFill>
                  </a:tcPr>
                </a:tc>
                <a:tc>
                  <a:txBody>
                    <a:bodyPr/>
                    <a:lstStyle/>
                    <a:p>
                      <a:pPr marL="0" marR="0" lvl="0" indent="0" algn="ctr" rtl="0">
                        <a:spcBef>
                          <a:spcPts val="0"/>
                        </a:spcBef>
                        <a:spcAft>
                          <a:spcPts val="0"/>
                        </a:spcAft>
                        <a:buNone/>
                      </a:pPr>
                      <a:r>
                        <a:rPr sz="900" b="1">
                          <a:latin typeface="Meiryo UI"/>
                          <a:ea typeface="Meiryo UI"/>
                        </a:rPr>
                        <a:t>×5倍</a:t>
                      </a:r>
                      <a:endParaRPr dirty="0">
                        <a:latin typeface="Meiryo UI" panose="020B0604030504040204" pitchFamily="50" charset="-128"/>
                        <a:ea typeface="Meiryo UI" panose="020B0604030504040204" pitchFamily="50" charset="-128"/>
                      </a:endParaRPr>
                    </a:p>
                  </a:txBody>
                  <a:tcPr marL="18000" marR="36000" marT="18000" marB="18000" anchor="ctr">
                    <a:lnL w="9525" cap="flat" cmpd="sng">
                      <a:solidFill>
                        <a:schemeClr val="lt1"/>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accent1">
                        <a:lumMod val="50000"/>
                      </a:schemeClr>
                    </a:solidFill>
                  </a:tcPr>
                </a:tc>
                <a:extLst>
                  <a:ext uri="{0D108BD9-81ED-4DB2-BD59-A6C34878D82A}">
                    <a16:rowId xmlns:a16="http://schemas.microsoft.com/office/drawing/2014/main" val="10000"/>
                  </a:ext>
                </a:extLst>
              </a:tr>
              <a:tr h="566928">
                <a:tc>
                  <a:txBody>
                    <a:bodyPr/>
                    <a:lstStyle/>
                    <a:p>
                      <a:pPr marL="0" marR="0" lvl="0" indent="0" algn="l" rtl="0">
                        <a:spcBef>
                          <a:spcPts val="0"/>
                        </a:spcBef>
                        <a:spcAft>
                          <a:spcPts val="0"/>
                        </a:spcAft>
                        <a:buNone/>
                      </a:pPr>
                      <a:r>
                        <a:rPr sz="900" b="0">
                          <a:latin typeface="Meiryo UI"/>
                          <a:ea typeface="Meiryo UI"/>
                        </a:rPr>
                        <a:t>基準EBITDA</a:t>
                      </a:r>
                    </a:p>
                  </a:txBody>
                  <a:tcPr marL="54000" marR="36000" marT="18000" marB="18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60000"/>
                        <a:lumOff val="40000"/>
                      </a:schemeClr>
                    </a:solidFill>
                  </a:tcPr>
                </a:tc>
                <a:tc>
                  <a:txBody>
                    <a:bodyPr/>
                    <a:lstStyle/>
                    <a:p>
                      <a:pPr marL="0" marR="0" lvl="0" indent="0" algn="r" rtl="0">
                        <a:spcBef>
                          <a:spcPts val="0"/>
                        </a:spcBef>
                        <a:spcAft>
                          <a:spcPts val="0"/>
                        </a:spcAft>
                        <a:buNone/>
                      </a:pPr>
                      <a:r>
                        <a:rPr sz="900" b="0">
                          <a:latin typeface="Meiryo UI"/>
                          <a:ea typeface="Meiryo UI"/>
                        </a:rPr>
                        <a:t>18,760</a:t>
                      </a:r>
                    </a:p>
                  </a:txBody>
                  <a:tcPr marL="54000" marR="36000" marT="18000" marB="18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lt1"/>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rgbClr val="66A09A"/>
                        </a:buClr>
                        <a:buSzPts val="1120"/>
                        <a:buFont typeface="Arial"/>
                        <a:buNone/>
                      </a:pPr>
                      <a:r>
                        <a:rPr sz="900" b="0">
                          <a:latin typeface="Meiryo UI"/>
                          <a:ea typeface="Meiryo UI"/>
                        </a:rPr>
                        <a:t>18,760</a:t>
                      </a:r>
                      <a:endParaRPr lang="en-US" altLang="ja-JP" sz="1050" u="none" strike="noStrike" cap="none" dirty="0">
                        <a:solidFill>
                          <a:schemeClr val="dk1"/>
                        </a:solidFill>
                        <a:latin typeface="Meiryo UI" panose="020B0604030504040204" pitchFamily="50" charset="-128"/>
                        <a:ea typeface="Meiryo UI" panose="020B0604030504040204" pitchFamily="50" charset="-128"/>
                      </a:endParaRPr>
                    </a:p>
                  </a:txBody>
                  <a:tcPr marL="54000" marR="36000" marT="18000" marB="18000" anchor="ctr">
                    <a:lnL w="9525" cap="flat" cmpd="sng">
                      <a:solidFill>
                        <a:srgbClr val="000000">
                          <a:alpha val="0"/>
                        </a:srgbClr>
                      </a:solidFill>
                      <a:prstDash val="solid"/>
                      <a:round/>
                      <a:headEnd type="none" w="sm" len="sm"/>
                      <a:tailEnd type="none" w="sm" len="sm"/>
                    </a:lnL>
                    <a:lnR w="12700" cap="flat" cmpd="sng">
                      <a:solidFill>
                        <a:srgbClr val="C8C8C8"/>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rgbClr val="C8C8C8"/>
                      </a:solidFill>
                      <a:prstDash val="solid"/>
                      <a:round/>
                      <a:headEnd type="none" w="sm" len="sm"/>
                      <a:tailEnd type="none" w="sm" len="sm"/>
                    </a:lnB>
                    <a:solidFill>
                      <a:srgbClr val="FFFFFF"/>
                    </a:solidFill>
                  </a:tcPr>
                </a:tc>
                <a:tc>
                  <a:txBody>
                    <a:bodyPr/>
                    <a:lstStyle/>
                    <a:p>
                      <a:pPr marL="0" marR="0" lvl="0" indent="0" algn="r" defTabSz="914400" rtl="0" eaLnBrk="1" fontAlgn="auto" latinLnBrk="0" hangingPunct="1">
                        <a:lnSpc>
                          <a:spcPct val="100000"/>
                        </a:lnSpc>
                        <a:spcBef>
                          <a:spcPts val="0"/>
                        </a:spcBef>
                        <a:spcAft>
                          <a:spcPts val="0"/>
                        </a:spcAft>
                        <a:buClr>
                          <a:prstClr val="black"/>
                        </a:buClr>
                        <a:buSzPts val="1600"/>
                        <a:buFont typeface="Arial"/>
                        <a:buNone/>
                        <a:tabLst/>
                        <a:defRPr/>
                      </a:pPr>
                      <a:r>
                        <a:rPr sz="900" b="0">
                          <a:latin typeface="Meiryo UI"/>
                          <a:ea typeface="Meiryo UI"/>
                        </a:rPr>
                        <a:t>18,760</a:t>
                      </a:r>
                      <a:endParaRPr kumimoji="0" lang="ja-JP" altLang="ja-JP" sz="1600" b="1"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Arial"/>
                        <a:sym typeface="Arial"/>
                      </a:endParaRPr>
                    </a:p>
                  </a:txBody>
                  <a:tcPr marL="54000" marR="36000" marT="18000" marB="18000" anchor="ctr">
                    <a:lnL w="12700" cap="flat" cmpd="sng">
                      <a:solidFill>
                        <a:srgbClr val="C8C8C8"/>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rgbClr val="C8C8C8"/>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566928">
                <a:tc>
                  <a:txBody>
                    <a:bodyPr/>
                    <a:lstStyle/>
                    <a:p>
                      <a:pPr marL="0" marR="0" lvl="0" indent="0" algn="l" rtl="0">
                        <a:spcBef>
                          <a:spcPts val="0"/>
                        </a:spcBef>
                        <a:spcAft>
                          <a:spcPts val="0"/>
                        </a:spcAft>
                        <a:buNone/>
                      </a:pPr>
                      <a:r>
                        <a:rPr sz="900" b="1">
                          <a:latin typeface="Meiryo UI"/>
                          <a:ea typeface="Meiryo UI"/>
                        </a:rPr>
                        <a:t>事業価値（EV＝基準EBITDA×倍率）</a:t>
                      </a:r>
                    </a:p>
                  </a:txBody>
                  <a:tcPr marL="54000" marR="36000" marT="18000" marB="18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1F3FB"/>
                    </a:solidFill>
                  </a:tcPr>
                </a:tc>
                <a:tc>
                  <a:txBody>
                    <a:bodyPr/>
                    <a:lstStyle/>
                    <a:p>
                      <a:pPr marL="0" marR="0" lvl="0" indent="0" algn="r" rtl="0">
                        <a:spcBef>
                          <a:spcPts val="0"/>
                        </a:spcBef>
                        <a:spcAft>
                          <a:spcPts val="0"/>
                        </a:spcAft>
                        <a:buNone/>
                      </a:pPr>
                      <a:r>
                        <a:rPr sz="900" b="1">
                          <a:latin typeface="Meiryo UI"/>
                          <a:ea typeface="Meiryo UI"/>
                        </a:rPr>
                        <a:t>56,280</a:t>
                      </a:r>
                      <a:endParaRPr lang="en-US" altLang="ja-JP" sz="1300" u="none" strike="noStrike" cap="none" dirty="0">
                        <a:solidFill>
                          <a:schemeClr val="dk1"/>
                        </a:solidFill>
                        <a:latin typeface="Meiryo UI" panose="020B0604030504040204" pitchFamily="50" charset="-128"/>
                        <a:ea typeface="Meiryo UI" panose="020B0604030504040204" pitchFamily="50" charset="-128"/>
                      </a:endParaRPr>
                    </a:p>
                  </a:txBody>
                  <a:tcPr marL="54000" marR="36000" marT="18000" marB="18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E1F3FB"/>
                    </a:solidFill>
                  </a:tcPr>
                </a:tc>
                <a:tc>
                  <a:txBody>
                    <a:bodyPr/>
                    <a:lstStyle/>
                    <a:p>
                      <a:pPr marL="0" marR="0" lvl="0" indent="0" algn="r" rtl="0">
                        <a:spcBef>
                          <a:spcPts val="0"/>
                        </a:spcBef>
                        <a:spcAft>
                          <a:spcPts val="0"/>
                        </a:spcAft>
                        <a:buClr>
                          <a:srgbClr val="66A09A"/>
                        </a:buClr>
                        <a:buSzPts val="1120"/>
                        <a:buFont typeface="Arial"/>
                        <a:buNone/>
                      </a:pPr>
                      <a:r>
                        <a:rPr sz="900" b="1">
                          <a:latin typeface="Meiryo UI"/>
                          <a:ea typeface="Meiryo UI"/>
                        </a:rPr>
                        <a:t>75,040</a:t>
                      </a:r>
                    </a:p>
                  </a:txBody>
                  <a:tcPr marL="54000" marR="36000" marT="18000" marB="18000" anchor="ctr">
                    <a:lnL w="9525" cap="flat" cmpd="sng">
                      <a:solidFill>
                        <a:srgbClr val="000000">
                          <a:alpha val="0"/>
                        </a:srgbClr>
                      </a:solidFill>
                      <a:prstDash val="solid"/>
                      <a:round/>
                      <a:headEnd type="none" w="sm" len="sm"/>
                      <a:tailEnd type="none" w="sm" len="sm"/>
                    </a:lnL>
                    <a:lnR w="12700" cap="flat" cmpd="sng">
                      <a:solidFill>
                        <a:srgbClr val="C8C8C8"/>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lgn="ctr">
                      <a:solidFill>
                        <a:srgbClr val="C8C8C8"/>
                      </a:solidFill>
                      <a:prstDash val="solid"/>
                      <a:round/>
                      <a:headEnd type="none" w="sm" len="sm"/>
                      <a:tailEnd type="none" w="sm" len="sm"/>
                    </a:lnB>
                    <a:solidFill>
                      <a:srgbClr val="E1F3FB"/>
                    </a:solidFill>
                  </a:tcPr>
                </a:tc>
                <a:tc>
                  <a:txBody>
                    <a:bodyPr/>
                    <a:lstStyle/>
                    <a:p>
                      <a:pPr marL="0" marR="0" lvl="0" indent="0" algn="r" defTabSz="914400" rtl="0" eaLnBrk="1" fontAlgn="auto" latinLnBrk="0" hangingPunct="1">
                        <a:lnSpc>
                          <a:spcPct val="100000"/>
                        </a:lnSpc>
                        <a:spcBef>
                          <a:spcPts val="0"/>
                        </a:spcBef>
                        <a:spcAft>
                          <a:spcPts val="0"/>
                        </a:spcAft>
                        <a:buClr>
                          <a:prstClr val="black"/>
                        </a:buClr>
                        <a:buSzPts val="1600"/>
                        <a:buFont typeface="Arial"/>
                        <a:buNone/>
                        <a:tabLst/>
                        <a:defRPr/>
                      </a:pPr>
                      <a:r>
                        <a:rPr sz="900" b="1">
                          <a:latin typeface="Meiryo UI"/>
                          <a:ea typeface="Meiryo UI"/>
                        </a:rPr>
                        <a:t>93,800</a:t>
                      </a:r>
                      <a:endParaRPr kumimoji="0" lang="ja-JP" altLang="ja-JP" sz="1600" b="1"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Arial"/>
                        <a:sym typeface="Arial"/>
                      </a:endParaRPr>
                    </a:p>
                  </a:txBody>
                  <a:tcPr marL="54000" marR="36000" marT="18000" marB="18000" anchor="ctr">
                    <a:lnL w="12700" cap="flat" cmpd="sng">
                      <a:solidFill>
                        <a:srgbClr val="C8C8C8"/>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lgn="ctr">
                      <a:solidFill>
                        <a:srgbClr val="C8C8C8"/>
                      </a:solidFill>
                      <a:prstDash val="solid"/>
                      <a:round/>
                      <a:headEnd type="none" w="sm" len="sm"/>
                      <a:tailEnd type="none" w="sm" len="sm"/>
                    </a:lnB>
                    <a:solidFill>
                      <a:srgbClr val="E1F3FB"/>
                    </a:solidFill>
                  </a:tcPr>
                </a:tc>
                <a:extLst>
                  <a:ext uri="{0D108BD9-81ED-4DB2-BD59-A6C34878D82A}">
                    <a16:rowId xmlns:a16="http://schemas.microsoft.com/office/drawing/2014/main" val="10002"/>
                  </a:ext>
                </a:extLst>
              </a:tr>
              <a:tr h="566928">
                <a:tc>
                  <a:txBody>
                    <a:bodyPr/>
                    <a:lstStyle/>
                    <a:p>
                      <a:pPr marL="0" marR="0" lvl="0" indent="0" algn="l" rtl="0">
                        <a:spcBef>
                          <a:spcPts val="0"/>
                        </a:spcBef>
                        <a:spcAft>
                          <a:spcPts val="0"/>
                        </a:spcAft>
                        <a:buNone/>
                      </a:pPr>
                      <a:r>
                        <a:rPr sz="900" b="0">
                          <a:latin typeface="Meiryo UI"/>
                          <a:ea typeface="Meiryo UI"/>
                        </a:rPr>
                        <a:t>△ 純有利子負債（156,317－17,748）</a:t>
                      </a:r>
                    </a:p>
                  </a:txBody>
                  <a:tcPr marL="54000" marR="36000" marT="18000" marB="18000" anchor="ctr">
                    <a:lnL w="9525" cap="flat" cmpd="sng">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60000"/>
                        <a:lumOff val="40000"/>
                      </a:schemeClr>
                    </a:solidFill>
                  </a:tcPr>
                </a:tc>
                <a:tc>
                  <a:txBody>
                    <a:bodyPr/>
                    <a:lstStyle/>
                    <a:p>
                      <a:pPr marL="0" marR="0" lvl="0" indent="0" algn="r" rtl="0">
                        <a:spcBef>
                          <a:spcPts val="0"/>
                        </a:spcBef>
                        <a:spcAft>
                          <a:spcPts val="0"/>
                        </a:spcAft>
                        <a:buNone/>
                      </a:pPr>
                      <a:r>
                        <a:rPr sz="900" b="0">
                          <a:latin typeface="Meiryo UI"/>
                          <a:ea typeface="Meiryo UI"/>
                        </a:rPr>
                        <a:t>△138,569</a:t>
                      </a:r>
                    </a:p>
                  </a:txBody>
                  <a:tcPr marL="54000" marR="36000" marT="18000" marB="18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rgbClr val="66A09A"/>
                        </a:buClr>
                        <a:buSzPts val="1120"/>
                        <a:buFont typeface="Arial"/>
                        <a:buNone/>
                      </a:pPr>
                      <a:r>
                        <a:rPr sz="900" b="0">
                          <a:latin typeface="Meiryo UI"/>
                          <a:ea typeface="Meiryo UI"/>
                        </a:rPr>
                        <a:t>△138,569</a:t>
                      </a:r>
                    </a:p>
                  </a:txBody>
                  <a:tcPr marL="54000" marR="36000" marT="18000" marB="18000" anchor="ctr">
                    <a:lnL w="9525" cap="flat" cmpd="sng">
                      <a:solidFill>
                        <a:srgbClr val="000000">
                          <a:alpha val="0"/>
                        </a:srgbClr>
                      </a:solidFill>
                      <a:prstDash val="solid"/>
                      <a:round/>
                      <a:headEnd type="none" w="sm" len="sm"/>
                      <a:tailEnd type="none" w="sm" len="sm"/>
                    </a:lnL>
                    <a:lnR w="12700" cap="flat" cmpd="sng">
                      <a:solidFill>
                        <a:srgbClr val="C8C8C8"/>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lgn="ctr">
                      <a:solidFill>
                        <a:srgbClr val="C8C8C8"/>
                      </a:solidFill>
                      <a:prstDash val="solid"/>
                      <a:round/>
                      <a:headEnd type="none" w="sm" len="sm"/>
                      <a:tailEnd type="none" w="sm" len="sm"/>
                    </a:lnB>
                    <a:solidFill>
                      <a:srgbClr val="FFFFFF"/>
                    </a:solidFill>
                  </a:tcPr>
                </a:tc>
                <a:tc>
                  <a:txBody>
                    <a:bodyPr/>
                    <a:lstStyle/>
                    <a:p>
                      <a:pPr marL="0" marR="0" lvl="0" indent="0" algn="r" defTabSz="914400" rtl="0" eaLnBrk="1" fontAlgn="auto" latinLnBrk="0" hangingPunct="1">
                        <a:lnSpc>
                          <a:spcPct val="100000"/>
                        </a:lnSpc>
                        <a:spcBef>
                          <a:spcPts val="0"/>
                        </a:spcBef>
                        <a:spcAft>
                          <a:spcPts val="0"/>
                        </a:spcAft>
                        <a:buClr>
                          <a:prstClr val="black"/>
                        </a:buClr>
                        <a:buSzPts val="1600"/>
                        <a:buFont typeface="Arial"/>
                        <a:buNone/>
                        <a:tabLst/>
                        <a:defRPr/>
                      </a:pPr>
                      <a:r>
                        <a:rPr sz="900" b="0">
                          <a:latin typeface="Meiryo UI"/>
                          <a:ea typeface="Meiryo UI"/>
                        </a:rPr>
                        <a:t>△138,569</a:t>
                      </a:r>
                      <a:endParaRPr kumimoji="0" lang="ja-JP" altLang="ja-JP" sz="1600" b="1"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Arial"/>
                        <a:sym typeface="Arial"/>
                      </a:endParaRPr>
                    </a:p>
                  </a:txBody>
                  <a:tcPr marL="54000" marR="36000" marT="18000" marB="18000" anchor="ctr">
                    <a:lnL w="12700" cap="flat" cmpd="sng">
                      <a:solidFill>
                        <a:srgbClr val="C8C8C8"/>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lgn="ctr">
                      <a:solidFill>
                        <a:srgbClr val="C8C8C8"/>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566928">
                <a:tc>
                  <a:txBody>
                    <a:bodyPr/>
                    <a:lstStyle/>
                    <a:p>
                      <a:pPr marL="0" marR="0" lvl="0" indent="0" algn="l" rtl="0">
                        <a:spcBef>
                          <a:spcPts val="0"/>
                        </a:spcBef>
                        <a:spcAft>
                          <a:spcPts val="0"/>
                        </a:spcAft>
                        <a:buNone/>
                      </a:pPr>
                      <a:r>
                        <a:rPr sz="900" b="1">
                          <a:latin typeface="Meiryo UI"/>
                          <a:ea typeface="Meiryo UI"/>
                        </a:rPr>
                        <a:t>株式価値（理論値）</a:t>
                      </a:r>
                    </a:p>
                  </a:txBody>
                  <a:tcPr marL="54000" marR="36000" marT="18000" marB="18000" anchor="ctr">
                    <a:lnL w="9525" cap="flat" cmpd="sng">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chemeClr val="accent1">
                        <a:lumMod val="60000"/>
                        <a:lumOff val="40000"/>
                      </a:schemeClr>
                    </a:solidFill>
                  </a:tcPr>
                </a:tc>
                <a:tc>
                  <a:txBody>
                    <a:bodyPr/>
                    <a:lstStyle/>
                    <a:p>
                      <a:pPr marL="0" marR="0" lvl="0" indent="0" algn="r" rtl="0">
                        <a:spcBef>
                          <a:spcPts val="0"/>
                        </a:spcBef>
                        <a:spcAft>
                          <a:spcPts val="0"/>
                        </a:spcAft>
                        <a:buNone/>
                      </a:pPr>
                      <a:r>
                        <a:rPr sz="900" b="1">
                          <a:latin typeface="Meiryo UI"/>
                          <a:ea typeface="Meiryo UI"/>
                        </a:rPr>
                        <a:t>△82,289</a:t>
                      </a:r>
                    </a:p>
                  </a:txBody>
                  <a:tcPr marL="54000" marR="36000" marT="18000" marB="18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rgbClr val="66A09A"/>
                        </a:buClr>
                        <a:buSzPts val="1120"/>
                        <a:buFont typeface="Arial"/>
                        <a:buNone/>
                      </a:pPr>
                      <a:r>
                        <a:rPr sz="900" b="1">
                          <a:latin typeface="Meiryo UI"/>
                          <a:ea typeface="Meiryo UI"/>
                        </a:rPr>
                        <a:t>△63,529</a:t>
                      </a:r>
                      <a:endParaRPr lang="en-US" altLang="ja-JP" sz="1000" b="0" u="none" strike="noStrike" cap="none" dirty="0">
                        <a:solidFill>
                          <a:schemeClr val="dk1"/>
                        </a:solidFill>
                        <a:latin typeface="Meiryo UI" panose="020B0604030504040204" pitchFamily="50" charset="-128"/>
                        <a:ea typeface="Meiryo UI" panose="020B0604030504040204" pitchFamily="50" charset="-128"/>
                      </a:endParaRPr>
                    </a:p>
                  </a:txBody>
                  <a:tcPr marL="54000" marR="36000" marT="18000" marB="18000" anchor="ctr">
                    <a:lnL w="9525" cap="flat" cmpd="sng">
                      <a:solidFill>
                        <a:srgbClr val="000000">
                          <a:alpha val="0"/>
                        </a:srgbClr>
                      </a:solidFill>
                      <a:prstDash val="solid"/>
                      <a:round/>
                      <a:headEnd type="none" w="sm" len="sm"/>
                      <a:tailEnd type="none" w="sm" len="sm"/>
                    </a:lnL>
                    <a:lnR w="12700" cap="flat" cmpd="sng">
                      <a:solidFill>
                        <a:srgbClr val="C8C8C8"/>
                      </a:solidFill>
                      <a:prstDash val="solid"/>
                      <a:round/>
                      <a:headEnd type="none" w="sm" len="sm"/>
                      <a:tailEnd type="none" w="sm" len="sm"/>
                    </a:lnR>
                    <a:lnT w="12700" cap="flat" cmpd="sng" algn="ctr">
                      <a:solidFill>
                        <a:srgbClr val="C8C8C8"/>
                      </a:solidFill>
                      <a:prstDash val="solid"/>
                      <a:round/>
                      <a:headEnd type="none" w="sm" len="sm"/>
                      <a:tailEnd type="none" w="sm" len="sm"/>
                    </a:lnT>
                    <a:lnB w="12700" cap="flat" cmpd="sng" algn="ctr">
                      <a:solidFill>
                        <a:srgbClr val="C8C8C8"/>
                      </a:solidFill>
                      <a:prstDash val="solid"/>
                      <a:round/>
                      <a:headEnd type="none" w="sm" len="sm"/>
                      <a:tailEnd type="none" w="sm" len="sm"/>
                    </a:lnB>
                    <a:solidFill>
                      <a:srgbClr val="FFFFFF"/>
                    </a:solidFill>
                  </a:tcPr>
                </a:tc>
                <a:tc>
                  <a:txBody>
                    <a:bodyPr/>
                    <a:lstStyle/>
                    <a:p>
                      <a:pPr marL="0" marR="0" lvl="0" indent="0" algn="r" defTabSz="914400" rtl="0" eaLnBrk="1" fontAlgn="auto" latinLnBrk="0" hangingPunct="1">
                        <a:lnSpc>
                          <a:spcPct val="100000"/>
                        </a:lnSpc>
                        <a:spcBef>
                          <a:spcPts val="0"/>
                        </a:spcBef>
                        <a:spcAft>
                          <a:spcPts val="0"/>
                        </a:spcAft>
                        <a:buClr>
                          <a:prstClr val="black"/>
                        </a:buClr>
                        <a:buSzPts val="1600"/>
                        <a:buFont typeface="Arial"/>
                        <a:buNone/>
                        <a:tabLst/>
                        <a:defRPr/>
                      </a:pPr>
                      <a:r>
                        <a:rPr sz="900" b="1">
                          <a:latin typeface="Meiryo UI"/>
                          <a:ea typeface="Meiryo UI"/>
                        </a:rPr>
                        <a:t>△44,769</a:t>
                      </a:r>
                      <a:endParaRPr kumimoji="0" lang="ja-JP" altLang="ja-JP" sz="1600" b="1"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Arial"/>
                        <a:sym typeface="Arial"/>
                      </a:endParaRPr>
                    </a:p>
                  </a:txBody>
                  <a:tcPr marL="54000" marR="36000" marT="18000" marB="18000" anchor="ctr">
                    <a:lnL w="12700" cap="flat" cmpd="sng">
                      <a:solidFill>
                        <a:srgbClr val="C8C8C8"/>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lgn="ctr">
                      <a:solidFill>
                        <a:srgbClr val="C8C8C8"/>
                      </a:solidFill>
                      <a:prstDash val="solid"/>
                      <a:round/>
                      <a:headEnd type="none" w="sm" len="sm"/>
                      <a:tailEnd type="none" w="sm" len="sm"/>
                    </a:lnT>
                    <a:lnB w="12700" cap="flat" cmpd="sng" algn="ctr">
                      <a:solidFill>
                        <a:srgbClr val="C8C8C8"/>
                      </a:solidFill>
                      <a:prstDash val="solid"/>
                      <a:round/>
                      <a:headEnd type="none" w="sm" len="sm"/>
                      <a:tailEnd type="none" w="sm" len="sm"/>
                    </a:lnB>
                    <a:solidFill>
                      <a:srgbClr val="FFFFFF"/>
                    </a:solidFill>
                  </a:tcPr>
                </a:tc>
                <a:extLst>
                  <a:ext uri="{0D108BD9-81ED-4DB2-BD59-A6C34878D82A}">
                    <a16:rowId xmlns:a16="http://schemas.microsoft.com/office/drawing/2014/main" val="10004"/>
                  </a:ext>
                </a:extLst>
              </a:tr>
              <a:tr h="566928">
                <a:tc>
                  <a:txBody>
                    <a:bodyPr/>
                    <a:lstStyle/>
                    <a:p>
                      <a:pPr marL="0" marR="0" lvl="0" indent="0" algn="l" rtl="0">
                        <a:spcBef>
                          <a:spcPts val="0"/>
                        </a:spcBef>
                        <a:spcAft>
                          <a:spcPts val="0"/>
                        </a:spcAft>
                        <a:buNone/>
                      </a:pPr>
                      <a:r>
                        <a:rPr sz="900" b="0">
                          <a:latin typeface="Meiryo UI"/>
                          <a:ea typeface="Meiryo UI"/>
                        </a:rPr>
                        <a:t>（ご参考）売主希望価格（株式100%）</a:t>
                      </a:r>
                    </a:p>
                  </a:txBody>
                  <a:tcPr marL="54000" marR="36000" marT="18000" marB="18000" anchor="ctr">
                    <a:lnL w="9525" cap="flat" cmpd="sng">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60000"/>
                        <a:lumOff val="40000"/>
                      </a:schemeClr>
                    </a:solidFill>
                  </a:tcPr>
                </a:tc>
                <a:tc>
                  <a:txBody>
                    <a:bodyPr/>
                    <a:lstStyle/>
                    <a:p>
                      <a:pPr marL="0" marR="0" lvl="0" indent="0" algn="r" rtl="0">
                        <a:spcBef>
                          <a:spcPts val="0"/>
                        </a:spcBef>
                        <a:spcAft>
                          <a:spcPts val="0"/>
                        </a:spcAft>
                        <a:buNone/>
                      </a:pPr>
                      <a:r>
                        <a:rPr sz="900" b="0">
                          <a:latin typeface="Meiryo UI"/>
                          <a:ea typeface="Meiryo UI"/>
                        </a:rPr>
                        <a:t>15,000</a:t>
                      </a:r>
                    </a:p>
                  </a:txBody>
                  <a:tcPr marL="54000" marR="36000" marT="18000" marB="18000" anchor="ctr">
                    <a:lnL w="9525" cap="flat" cmpd="sng" algn="ctr">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rgbClr val="66A09A"/>
                        </a:buClr>
                        <a:buSzPts val="1120"/>
                        <a:buFont typeface="Arial"/>
                        <a:buNone/>
                      </a:pPr>
                      <a:r>
                        <a:rPr sz="900" b="0">
                          <a:latin typeface="Meiryo UI"/>
                          <a:ea typeface="Meiryo UI"/>
                        </a:rPr>
                        <a:t>15,000</a:t>
                      </a:r>
                    </a:p>
                  </a:txBody>
                  <a:tcPr marL="54000" marR="36000" marT="18000" marB="18000" anchor="ctr">
                    <a:lnL w="9525" cap="flat" cmpd="sng" algn="ctr">
                      <a:solidFill>
                        <a:srgbClr val="000000">
                          <a:alpha val="0"/>
                        </a:srgbClr>
                      </a:solidFill>
                      <a:prstDash val="solid"/>
                      <a:round/>
                      <a:headEnd type="none" w="sm" len="sm"/>
                      <a:tailEnd type="none" w="sm" len="sm"/>
                    </a:lnL>
                    <a:lnR w="12700" cap="flat" cmpd="sng" algn="ctr">
                      <a:solidFill>
                        <a:srgbClr val="C8C8C8"/>
                      </a:solidFill>
                      <a:prstDash val="solid"/>
                      <a:round/>
                      <a:headEnd type="none" w="sm" len="sm"/>
                      <a:tailEnd type="none" w="sm" len="sm"/>
                    </a:lnR>
                    <a:lnT w="12700" cap="flat" cmpd="sng" algn="ctr">
                      <a:solidFill>
                        <a:srgbClr val="C8C8C8"/>
                      </a:solidFill>
                      <a:prstDash val="solid"/>
                      <a:round/>
                      <a:headEnd type="none" w="sm" len="sm"/>
                      <a:tailEnd type="none" w="sm" len="sm"/>
                    </a:lnT>
                    <a:lnB w="12700" cap="flat" cmpd="sng">
                      <a:solidFill>
                        <a:srgbClr val="C8C8C8"/>
                      </a:solidFill>
                      <a:prstDash val="solid"/>
                      <a:round/>
                      <a:headEnd type="none" w="sm" len="sm"/>
                      <a:tailEnd type="none" w="sm" len="sm"/>
                    </a:lnB>
                    <a:solidFill>
                      <a:srgbClr val="FFFFFF"/>
                    </a:solidFill>
                  </a:tcPr>
                </a:tc>
                <a:tc>
                  <a:txBody>
                    <a:bodyPr/>
                    <a:lstStyle/>
                    <a:p>
                      <a:pPr marL="0" marR="0" lvl="0" indent="0" algn="r" defTabSz="914400" rtl="0" eaLnBrk="1" fontAlgn="auto" latinLnBrk="0" hangingPunct="1">
                        <a:lnSpc>
                          <a:spcPct val="100000"/>
                        </a:lnSpc>
                        <a:spcBef>
                          <a:spcPts val="0"/>
                        </a:spcBef>
                        <a:spcAft>
                          <a:spcPts val="0"/>
                        </a:spcAft>
                        <a:buClr>
                          <a:prstClr val="black"/>
                        </a:buClr>
                        <a:buSzPts val="1600"/>
                        <a:buFont typeface="Arial"/>
                        <a:buNone/>
                        <a:tabLst/>
                        <a:defRPr/>
                      </a:pPr>
                      <a:r>
                        <a:rPr sz="900" b="0">
                          <a:latin typeface="Meiryo UI"/>
                          <a:ea typeface="Meiryo UI"/>
                        </a:rPr>
                        <a:t>15,000</a:t>
                      </a:r>
                      <a:endParaRPr kumimoji="0" lang="en-US" altLang="ja-JP" sz="1600" b="1"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Arial"/>
                        <a:sym typeface="Arial"/>
                      </a:endParaRPr>
                    </a:p>
                  </a:txBody>
                  <a:tcPr marL="54000" marR="36000" marT="18000" marB="18000" anchor="ctr">
                    <a:lnL w="12700" cap="flat" cmpd="sng" algn="ctr">
                      <a:solidFill>
                        <a:srgbClr val="C8C8C8"/>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lgn="ctr">
                      <a:solidFill>
                        <a:srgbClr val="C8C8C8"/>
                      </a:solidFill>
                      <a:prstDash val="solid"/>
                      <a:round/>
                      <a:headEnd type="none" w="sm" len="sm"/>
                      <a:tailEnd type="none" w="sm" len="sm"/>
                    </a:lnT>
                    <a:lnB w="12700" cap="flat" cmpd="sng">
                      <a:solidFill>
                        <a:srgbClr val="C8C8C8"/>
                      </a:solidFill>
                      <a:prstDash val="solid"/>
                      <a:round/>
                      <a:headEnd type="none" w="sm" len="sm"/>
                      <a:tailEnd type="none" w="sm" len="sm"/>
                    </a:lnB>
                    <a:solidFill>
                      <a:srgbClr val="FFFFFF"/>
                    </a:solidFill>
                  </a:tcPr>
                </a:tc>
                <a:extLst>
                  <a:ext uri="{0D108BD9-81ED-4DB2-BD59-A6C34878D82A}">
                    <a16:rowId xmlns:a16="http://schemas.microsoft.com/office/drawing/2014/main" val="10007"/>
                  </a:ext>
                </a:extLst>
              </a:tr>
              <a:tr h="566928">
                <a:tc>
                  <a:txBody>
                    <a:bodyPr/>
                    <a:lstStyle/>
                    <a:p>
                      <a:pPr marL="0" marR="0" lvl="0" indent="0" algn="l" rtl="0">
                        <a:spcBef>
                          <a:spcPts val="0"/>
                        </a:spcBef>
                        <a:spcAft>
                          <a:spcPts val="0"/>
                        </a:spcAft>
                        <a:buNone/>
                      </a:pPr>
                      <a:r>
                        <a:rPr sz="900" b="1">
                          <a:latin typeface="Meiryo UI"/>
                          <a:ea typeface="Meiryo UI"/>
                        </a:rPr>
                        <a:t>株式譲渡の実質総投資額</a:t>
                      </a:r>
                    </a:p>
                    <a:p>
                      <a:pPr algn="l"/>
                      <a:r>
                        <a:rPr sz="900" b="1">
                          <a:latin typeface="Meiryo UI"/>
                          <a:ea typeface="Meiryo UI"/>
                        </a:rPr>
                        <a:t>（希望価格＋純有利子負債）</a:t>
                      </a:r>
                    </a:p>
                  </a:txBody>
                  <a:tcPr marL="54000" marR="36000" marT="18000" marB="18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3E7E9"/>
                    </a:solidFill>
                  </a:tcPr>
                </a:tc>
                <a:tc>
                  <a:txBody>
                    <a:bodyPr/>
                    <a:lstStyle/>
                    <a:p>
                      <a:pPr marL="0" marR="0" lvl="0" indent="0" algn="r" rtl="0">
                        <a:lnSpc>
                          <a:spcPct val="100000"/>
                        </a:lnSpc>
                        <a:spcBef>
                          <a:spcPts val="0"/>
                        </a:spcBef>
                        <a:spcAft>
                          <a:spcPts val="0"/>
                        </a:spcAft>
                        <a:buClr>
                          <a:schemeClr val="dk1"/>
                        </a:buClr>
                        <a:buSzPts val="1500"/>
                        <a:buFont typeface="Arial"/>
                        <a:buNone/>
                      </a:pPr>
                      <a:r>
                        <a:rPr sz="900" b="1">
                          <a:latin typeface="Meiryo UI"/>
                          <a:ea typeface="Meiryo UI"/>
                        </a:rPr>
                        <a:t>153,569</a:t>
                      </a:r>
                    </a:p>
                  </a:txBody>
                  <a:tcPr marL="54000" marR="36000" marT="18000" marB="18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3E7E9"/>
                    </a:solidFill>
                  </a:tcPr>
                </a:tc>
                <a:tc>
                  <a:txBody>
                    <a:bodyPr/>
                    <a:lstStyle/>
                    <a:p>
                      <a:pPr marL="0" marR="0" lvl="0" indent="0" algn="r" rtl="0">
                        <a:lnSpc>
                          <a:spcPct val="100000"/>
                        </a:lnSpc>
                        <a:spcBef>
                          <a:spcPts val="0"/>
                        </a:spcBef>
                        <a:spcAft>
                          <a:spcPts val="0"/>
                        </a:spcAft>
                        <a:buClr>
                          <a:schemeClr val="dk1"/>
                        </a:buClr>
                        <a:buSzPts val="1400"/>
                        <a:buFont typeface="Arial"/>
                        <a:buNone/>
                      </a:pPr>
                      <a:r>
                        <a:rPr sz="900" b="1">
                          <a:latin typeface="Meiryo UI"/>
                          <a:ea typeface="Meiryo UI"/>
                        </a:rPr>
                        <a:t>153,569</a:t>
                      </a:r>
                    </a:p>
                  </a:txBody>
                  <a:tcPr marL="54000" marR="36000" marT="18000" marB="18000" anchor="ctr">
                    <a:lnL w="9525" cap="flat" cmpd="sng">
                      <a:solidFill>
                        <a:srgbClr val="000000">
                          <a:alpha val="0"/>
                        </a:srgbClr>
                      </a:solidFill>
                      <a:prstDash val="solid"/>
                      <a:round/>
                      <a:headEnd type="none" w="sm" len="sm"/>
                      <a:tailEnd type="none" w="sm" len="sm"/>
                    </a:lnL>
                    <a:lnR w="12700" cap="flat" cmpd="sng">
                      <a:solidFill>
                        <a:srgbClr val="C8C8C8"/>
                      </a:solidFill>
                      <a:prstDash val="solid"/>
                      <a:round/>
                      <a:headEnd type="none" w="sm" len="sm"/>
                      <a:tailEnd type="none" w="sm" len="sm"/>
                    </a:lnR>
                    <a:lnT w="12700" cap="flat" cmpd="sng" algn="ctr">
                      <a:solidFill>
                        <a:srgbClr val="C8C8C8"/>
                      </a:solidFill>
                      <a:prstDash val="solid"/>
                      <a:round/>
                      <a:headEnd type="none" w="sm" len="sm"/>
                      <a:tailEnd type="none" w="sm" len="sm"/>
                    </a:lnT>
                    <a:lnB w="12700" cap="flat" cmpd="sng">
                      <a:solidFill>
                        <a:srgbClr val="C8C8C8"/>
                      </a:solidFill>
                      <a:prstDash val="solid"/>
                      <a:round/>
                      <a:headEnd type="none" w="sm" len="sm"/>
                      <a:tailEnd type="none" w="sm" len="sm"/>
                    </a:lnB>
                    <a:solidFill>
                      <a:srgbClr val="E3E7E9"/>
                    </a:solidFill>
                  </a:tcPr>
                </a:tc>
                <a:tc>
                  <a:txBody>
                    <a:bodyPr/>
                    <a:lstStyle/>
                    <a:p>
                      <a:pPr marL="0" marR="0" lvl="0" indent="0" algn="r" defTabSz="914400" rtl="0" eaLnBrk="1" fontAlgn="auto" latinLnBrk="0" hangingPunct="1">
                        <a:lnSpc>
                          <a:spcPct val="100000"/>
                        </a:lnSpc>
                        <a:spcBef>
                          <a:spcPts val="0"/>
                        </a:spcBef>
                        <a:spcAft>
                          <a:spcPts val="0"/>
                        </a:spcAft>
                        <a:buClr>
                          <a:prstClr val="black"/>
                        </a:buClr>
                        <a:buSzPts val="1600"/>
                        <a:buFont typeface="Arial"/>
                        <a:buNone/>
                        <a:tabLst/>
                        <a:defRPr/>
                      </a:pPr>
                      <a:r>
                        <a:rPr sz="900" b="1">
                          <a:latin typeface="Meiryo UI"/>
                          <a:ea typeface="Meiryo UI"/>
                        </a:rPr>
                        <a:t>153,569</a:t>
                      </a:r>
                      <a:endParaRPr kumimoji="0" lang="ja-JP" altLang="ja-JP" sz="1600" b="1"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Arial"/>
                        <a:sym typeface="Arial"/>
                      </a:endParaRPr>
                    </a:p>
                  </a:txBody>
                  <a:tcPr marL="54000" marR="36000" marT="18000" marB="18000" anchor="ctr">
                    <a:lnL w="12700" cap="flat" cmpd="sng">
                      <a:solidFill>
                        <a:srgbClr val="C8C8C8"/>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lgn="ctr">
                      <a:solidFill>
                        <a:srgbClr val="C8C8C8"/>
                      </a:solidFill>
                      <a:prstDash val="solid"/>
                      <a:round/>
                      <a:headEnd type="none" w="sm" len="sm"/>
                      <a:tailEnd type="none" w="sm" len="sm"/>
                    </a:lnT>
                    <a:lnB w="12700" cap="flat" cmpd="sng">
                      <a:solidFill>
                        <a:srgbClr val="C8C8C8"/>
                      </a:solidFill>
                      <a:prstDash val="solid"/>
                      <a:round/>
                      <a:headEnd type="none" w="sm" len="sm"/>
                      <a:tailEnd type="none" w="sm" len="sm"/>
                    </a:lnB>
                    <a:solidFill>
                      <a:srgbClr val="E3E7E9"/>
                    </a:solidFill>
                  </a:tcPr>
                </a:tc>
                <a:extLst>
                  <a:ext uri="{0D108BD9-81ED-4DB2-BD59-A6C34878D82A}">
                    <a16:rowId xmlns:a16="http://schemas.microsoft.com/office/drawing/2014/main" val="10008"/>
                  </a:ext>
                </a:extLst>
              </a:tr>
              <a:tr h="566928">
                <a:tc>
                  <a:txBody>
                    <a:bodyPr/>
                    <a:lstStyle/>
                    <a:p>
                      <a:pPr marL="0" marR="0" lvl="0" indent="0" algn="l" rtl="0">
                        <a:spcBef>
                          <a:spcPts val="0"/>
                        </a:spcBef>
                        <a:spcAft>
                          <a:spcPts val="0"/>
                        </a:spcAft>
                        <a:buNone/>
                      </a:pPr>
                      <a:r>
                        <a:rPr sz="900" b="1">
                          <a:latin typeface="Meiryo UI"/>
                          <a:ea typeface="Meiryo UI"/>
                        </a:rPr>
                        <a:t>　同　基準EBITDA倍率換算</a:t>
                      </a:r>
                    </a:p>
                  </a:txBody>
                  <a:tcPr marL="54000" marR="36000" marT="18000" marB="18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lt1"/>
                      </a:solidFill>
                      <a:prstDash val="solid"/>
                      <a:round/>
                      <a:headEnd type="none" w="sm" len="sm"/>
                      <a:tailEnd type="none" w="sm" len="sm"/>
                    </a:lnB>
                    <a:solidFill>
                      <a:srgbClr val="E3E7E9"/>
                    </a:solidFill>
                  </a:tcPr>
                </a:tc>
                <a:tc>
                  <a:txBody>
                    <a:bodyPr/>
                    <a:lstStyle/>
                    <a:p>
                      <a:pPr marL="0" marR="0" lvl="0" indent="0" algn="r" rtl="0">
                        <a:spcBef>
                          <a:spcPts val="0"/>
                        </a:spcBef>
                        <a:spcAft>
                          <a:spcPts val="0"/>
                        </a:spcAft>
                        <a:buNone/>
                      </a:pPr>
                      <a:r>
                        <a:rPr sz="900" b="1">
                          <a:latin typeface="Meiryo UI"/>
                          <a:ea typeface="Meiryo UI"/>
                        </a:rPr>
                        <a:t>約8.2倍</a:t>
                      </a:r>
                    </a:p>
                  </a:txBody>
                  <a:tcPr marL="54000" marR="36000" marT="18000" marB="18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lt1"/>
                      </a:solidFill>
                      <a:prstDash val="solid"/>
                      <a:round/>
                      <a:headEnd type="none" w="sm" len="sm"/>
                      <a:tailEnd type="none" w="sm" len="sm"/>
                    </a:lnB>
                    <a:solidFill>
                      <a:srgbClr val="E3E7E9"/>
                    </a:solidFill>
                  </a:tcPr>
                </a:tc>
                <a:tc>
                  <a:txBody>
                    <a:bodyPr/>
                    <a:lstStyle/>
                    <a:p>
                      <a:pPr marL="0" marR="0" lvl="0" indent="0" algn="r" rtl="0">
                        <a:spcBef>
                          <a:spcPts val="0"/>
                        </a:spcBef>
                        <a:spcAft>
                          <a:spcPts val="0"/>
                        </a:spcAft>
                        <a:buClr>
                          <a:srgbClr val="66A09A"/>
                        </a:buClr>
                        <a:buSzPts val="1120"/>
                        <a:buFont typeface="Arial"/>
                        <a:buNone/>
                      </a:pPr>
                      <a:r>
                        <a:rPr sz="900" b="1">
                          <a:latin typeface="Meiryo UI"/>
                          <a:ea typeface="Meiryo UI"/>
                        </a:rPr>
                        <a:t>約8.2倍</a:t>
                      </a:r>
                      <a:endParaRPr lang="en-US" altLang="ja-JP" sz="1050" u="none" strike="noStrike" cap="none" dirty="0">
                        <a:solidFill>
                          <a:schemeClr val="dk1"/>
                        </a:solidFill>
                        <a:latin typeface="Meiryo UI" panose="020B0604030504040204" pitchFamily="50" charset="-128"/>
                        <a:ea typeface="Meiryo UI" panose="020B0604030504040204" pitchFamily="50" charset="-128"/>
                      </a:endParaRPr>
                    </a:p>
                  </a:txBody>
                  <a:tcPr marL="54000" marR="36000" marT="18000" marB="18000" anchor="ctr">
                    <a:lnL w="9525" cap="flat" cmpd="sng">
                      <a:solidFill>
                        <a:srgbClr val="000000">
                          <a:alpha val="0"/>
                        </a:srgbClr>
                      </a:solidFill>
                      <a:prstDash val="solid"/>
                      <a:round/>
                      <a:headEnd type="none" w="sm" len="sm"/>
                      <a:tailEnd type="none" w="sm" len="sm"/>
                    </a:lnL>
                    <a:lnR w="12700" cap="flat" cmpd="sng">
                      <a:solidFill>
                        <a:srgbClr val="C8C8C8"/>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rgbClr val="C8C8C8"/>
                      </a:solidFill>
                      <a:prstDash val="solid"/>
                      <a:round/>
                      <a:headEnd type="none" w="sm" len="sm"/>
                      <a:tailEnd type="none" w="sm" len="sm"/>
                    </a:lnB>
                    <a:solidFill>
                      <a:srgbClr val="E3E7E9"/>
                    </a:solidFill>
                  </a:tcPr>
                </a:tc>
                <a:tc>
                  <a:txBody>
                    <a:bodyPr/>
                    <a:lstStyle/>
                    <a:p>
                      <a:pPr marL="0" marR="0" lvl="0" indent="0" algn="r" defTabSz="914400" rtl="0" eaLnBrk="1" fontAlgn="auto" latinLnBrk="0" hangingPunct="1">
                        <a:lnSpc>
                          <a:spcPct val="100000"/>
                        </a:lnSpc>
                        <a:spcBef>
                          <a:spcPts val="0"/>
                        </a:spcBef>
                        <a:spcAft>
                          <a:spcPts val="0"/>
                        </a:spcAft>
                        <a:buClr>
                          <a:prstClr val="black"/>
                        </a:buClr>
                        <a:buSzPts val="1600"/>
                        <a:buFont typeface="Arial"/>
                        <a:buNone/>
                        <a:tabLst/>
                        <a:defRPr/>
                      </a:pPr>
                      <a:r>
                        <a:rPr sz="900" b="1">
                          <a:latin typeface="Meiryo UI"/>
                          <a:ea typeface="Meiryo UI"/>
                        </a:rPr>
                        <a:t>約8.2倍</a:t>
                      </a:r>
                      <a:endParaRPr kumimoji="0" lang="ja-JP" altLang="ja-JP" sz="1600" b="1"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Arial"/>
                        <a:sym typeface="Arial"/>
                      </a:endParaRPr>
                    </a:p>
                  </a:txBody>
                  <a:tcPr marL="54000" marR="36000" marT="18000" marB="18000" anchor="ctr">
                    <a:lnL w="12700" cap="flat" cmpd="sng">
                      <a:solidFill>
                        <a:srgbClr val="C8C8C8"/>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rgbClr val="C8C8C8"/>
                      </a:solidFill>
                      <a:prstDash val="solid"/>
                      <a:round/>
                      <a:headEnd type="none" w="sm" len="sm"/>
                      <a:tailEnd type="none" w="sm" len="sm"/>
                    </a:lnB>
                    <a:solidFill>
                      <a:srgbClr val="E3E7E9"/>
                    </a:solidFill>
                  </a:tcPr>
                </a:tc>
                <a:extLst>
                  <a:ext uri="{0D108BD9-81ED-4DB2-BD59-A6C34878D82A}">
                    <a16:rowId xmlns:a16="http://schemas.microsoft.com/office/drawing/2014/main" val="10001"/>
                  </a:ext>
                </a:extLst>
              </a:tr>
            </a:tbl>
          </a:graphicData>
        </a:graphic>
      </p:graphicFrame>
      <p:sp>
        <p:nvSpPr>
          <p:cNvPr id="208" name="Google Shape;208;p3"/>
          <p:cNvSpPr txBox="1"/>
          <p:nvPr/>
        </p:nvSpPr>
        <p:spPr>
          <a:xfrm>
            <a:off x="9450000" y="0"/>
            <a:ext cx="3400000" cy="6858000"/>
          </a:xfrm>
          <a:prstGeom prst="rect">
            <a:avLst/>
          </a:prstGeom>
          <a:solidFill>
            <a:srgbClr val="EEF7CD"/>
          </a:solidFill>
          <a:ln>
            <a:noFill/>
          </a:ln>
        </p:spPr>
        <p:txBody>
          <a:bodyPr spcFirstLastPara="1" wrap="square" lIns="72000" tIns="36000" rIns="72000" bIns="36000" anchor="ctr" anchorCtr="0">
            <a:noAutofit/>
          </a:bodyPr>
          <a:lstStyle/>
          <a:p>
            <a:pPr marL="0" marR="0" lvl="0" indent="0" algn="l" rtl="0">
              <a:lnSpc>
                <a:spcPct val="110000"/>
              </a:lnSpc>
              <a:spcBef>
                <a:spcPts val="0"/>
              </a:spcBef>
              <a:spcAft>
                <a:spcPts val="0"/>
              </a:spcAft>
              <a:buNone/>
            </a:pPr>
            <a:r>
              <a:rPr sz="900" b="0">
                <a:latin typeface="Meiryo UI"/>
                <a:ea typeface="Meiryo UI"/>
              </a:rPr>
              <a:t>【社内メモ｜本資料作成時の留意事項】</a:t>
            </a:r>
            <a:endParaRPr dirty="0"/>
          </a:p>
          <a:p>
            <a:pPr algn="l">
              <a:lnSpc>
                <a:spcPct val="110000"/>
              </a:lnSpc>
            </a:pPr>
            <a:r>
              <a:rPr sz="900" b="0">
                <a:latin typeface="Meiryo UI"/>
                <a:ea typeface="Meiryo UI"/>
              </a:rPr>
              <a:t>※本テキストボックスはスライド範囲外に配置しており、スライドショー・PDF出力には表示されません。買手候補への提示前に内容をご確認ください。</a:t>
            </a:r>
          </a:p>
          <a:p>
            <a:pPr algn="l">
              <a:lnSpc>
                <a:spcPct val="110000"/>
              </a:lnSpc>
            </a:pPr>
            <a:r>
              <a:rPr sz="900" b="0">
                <a:latin typeface="Meiryo UI"/>
                <a:ea typeface="Meiryo UI"/>
              </a:rPr>
              <a:t>　</a:t>
            </a:r>
          </a:p>
          <a:p>
            <a:pPr algn="l">
              <a:lnSpc>
                <a:spcPct val="110000"/>
              </a:lnSpc>
            </a:pPr>
            <a:r>
              <a:rPr sz="900" b="0">
                <a:latin typeface="Meiryo UI"/>
                <a:ea typeface="Meiryo UI"/>
              </a:rPr>
              <a:t>１．基準EBITDA 18,760千円は株式価値試算報告書（2026年4月17日付）の記載値。修正後EBITDA（14,806／14,410／22,952）を1:2:3で加重平均すると18,747千円となり13千円の差が生じるため、案件マスターで算定根拠を確定すること。</a:t>
            </a:r>
          </a:p>
          <a:p>
            <a:pPr algn="l">
              <a:lnSpc>
                <a:spcPct val="110000"/>
              </a:lnSpc>
            </a:pPr>
            <a:r>
              <a:rPr sz="900" b="0">
                <a:latin typeface="Meiryo UI"/>
                <a:ea typeface="Meiryo UI"/>
              </a:rPr>
              <a:t>　</a:t>
            </a:r>
          </a:p>
          <a:p>
            <a:pPr algn="l">
              <a:lnSpc>
                <a:spcPct val="110000"/>
              </a:lnSpc>
            </a:pPr>
            <a:r>
              <a:rPr sz="900" b="0">
                <a:latin typeface="Meiryo UI"/>
                <a:ea typeface="Meiryo UI"/>
              </a:rPr>
              <a:t>２．「スキーム比較のご提案」（2026年5月29日付）では基準EBITDA 18,512千円・倍率4〜6倍（EV 74,046〜111,069千円）と記載されており、株式価値試算報告書（18,760千円・3〜5倍）と数値・倍率がいずれも異なる。買手候補ごとに提示数値が食い違わないよう、提示前に統一すること。本資料は株式価値試算報告書の数値に統一している。</a:t>
            </a:r>
          </a:p>
          <a:p>
            <a:pPr algn="l">
              <a:lnSpc>
                <a:spcPct val="110000"/>
              </a:lnSpc>
            </a:pPr>
            <a:r>
              <a:rPr sz="900" b="0">
                <a:latin typeface="Meiryo UI"/>
                <a:ea typeface="Meiryo UI"/>
              </a:rPr>
              <a:t>　</a:t>
            </a:r>
          </a:p>
          <a:p>
            <a:pPr algn="l">
              <a:lnSpc>
                <a:spcPct val="110000"/>
              </a:lnSpc>
            </a:pPr>
            <a:r>
              <a:rPr sz="900" b="0">
                <a:latin typeface="Meiryo UI"/>
                <a:ea typeface="Meiryo UI"/>
              </a:rPr>
              <a:t>３．株式価値試算報告書の「販管費及び一般管理費の修正」の修正後合計（2025年12月期 47,260千円）と、PLハイライトから逆算した販管費（44,780千円＝売上総利益67,190－営業利益22,410）に2,480千円の差異がある。案件マスターで整合を確認すること。</a:t>
            </a:r>
          </a:p>
          <a:p>
            <a:pPr algn="l">
              <a:lnSpc>
                <a:spcPct val="110000"/>
              </a:lnSpc>
            </a:pPr>
            <a:r>
              <a:rPr sz="900" b="0">
                <a:latin typeface="Meiryo UI"/>
                <a:ea typeface="Meiryo UI"/>
              </a:rPr>
              <a:t>　</a:t>
            </a:r>
          </a:p>
          <a:p>
            <a:pPr algn="l">
              <a:lnSpc>
                <a:spcPct val="110000"/>
              </a:lnSpc>
            </a:pPr>
            <a:r>
              <a:rPr sz="900" b="0">
                <a:latin typeface="Meiryo UI"/>
                <a:ea typeface="Meiryo UI"/>
              </a:rPr>
              <a:t>４．企業概要書の売上高（2024年12月期252,085／2025年12月期375,521千円）と分析資料の売上高（201,668／356,909千円）が異なる。前者は軽配送事業を含む全社ベース、後者はフォワーダー事業単体ベースと理解しているが、2023年12月期のみ両者が一致（282,040千円）しており、同期の軽配送事業売上の除外が未反映の可能性がある。要検証。</a:t>
            </a:r>
          </a:p>
          <a:p>
            <a:pPr algn="l">
              <a:lnSpc>
                <a:spcPct val="110000"/>
              </a:lnSpc>
            </a:pPr>
            <a:r>
              <a:rPr sz="900" b="0">
                <a:latin typeface="Meiryo UI"/>
                <a:ea typeface="Meiryo UI"/>
              </a:rPr>
              <a:t>　</a:t>
            </a:r>
          </a:p>
          <a:p>
            <a:pPr algn="l">
              <a:lnSpc>
                <a:spcPct val="110000"/>
              </a:lnSpc>
            </a:pPr>
            <a:r>
              <a:rPr sz="900" b="0">
                <a:latin typeface="Meiryo UI"/>
                <a:ea typeface="Meiryo UI"/>
              </a:rPr>
              <a:t>５．P10の「＋6,920千円（軽配送事業の切離し・販管費の部門別賦課）」は、企業概要書の調整後EBITDA 9,922千円と本資料の22,952千円の差額13,030千円から役員報酬差6,110千円を控除した残差として算出したもの。内訳を案件マスターで分解し、確定させること。</a:t>
            </a:r>
          </a:p>
          <a:p>
            <a:pPr algn="l">
              <a:lnSpc>
                <a:spcPct val="110000"/>
              </a:lnSpc>
            </a:pPr>
            <a:r>
              <a:rPr sz="900" b="0">
                <a:latin typeface="Meiryo UI"/>
                <a:ea typeface="Meiryo UI"/>
              </a:rPr>
              <a:t>　</a:t>
            </a:r>
          </a:p>
          <a:p>
            <a:pPr algn="l">
              <a:lnSpc>
                <a:spcPct val="110000"/>
              </a:lnSpc>
            </a:pPr>
            <a:r>
              <a:rPr sz="900" b="0">
                <a:latin typeface="Meiryo UI"/>
                <a:ea typeface="Meiryo UI"/>
              </a:rPr>
              <a:t>６．弊社成功報酬について、企業概要書の報酬体系では「時価総資産（営業権含む）2億円以下の部分＝2,000万円、最低額1,500万円」、「スキーム比較のご提案」では「アドバイザリー報酬10,000千円」と記載が異なる。提示前の統一が必要なため、本資料では金額を記載せず「別途ご提示」としている。</a:t>
            </a:r>
          </a:p>
          <a:p>
            <a:pPr algn="l">
              <a:lnSpc>
                <a:spcPct val="110000"/>
              </a:lnSpc>
            </a:pPr>
            <a:r>
              <a:rPr sz="900" b="0">
                <a:latin typeface="Meiryo UI"/>
                <a:ea typeface="Meiryo UI"/>
              </a:rPr>
              <a:t>　</a:t>
            </a:r>
          </a:p>
          <a:p>
            <a:pPr algn="l">
              <a:lnSpc>
                <a:spcPct val="110000"/>
              </a:lnSpc>
            </a:pPr>
            <a:r>
              <a:rPr sz="900" b="0">
                <a:latin typeface="Meiryo UI"/>
                <a:ea typeface="Meiryo UI"/>
              </a:rPr>
              <a:t>７．他の買手候補（ジャパン・バン・ラインズ株式会社）への提示資料の存在および提示条件については、本資料および面談において一切言及しないこと。</a:t>
            </a:r>
          </a:p>
          <a:p>
            <a:pPr algn="l">
              <a:lnSpc>
                <a:spcPct val="110000"/>
              </a:lnSpc>
            </a:pPr>
            <a:r>
              <a:rPr sz="900" b="0">
                <a:latin typeface="Meiryo UI"/>
                <a:ea typeface="Meiryo UI"/>
              </a:rPr>
              <a:t>　</a:t>
            </a:r>
          </a:p>
          <a:p>
            <a:pPr algn="l">
              <a:lnSpc>
                <a:spcPct val="110000"/>
              </a:lnSpc>
            </a:pPr>
            <a:r>
              <a:rPr sz="900" b="0">
                <a:latin typeface="Meiryo UI"/>
                <a:ea typeface="Meiryo UI"/>
              </a:rPr>
              <a:t>８．「2026年4月中に代表保有の休眠会社へ軽配送事業を切り分ける想定」（企業概要書P6）は同年4月時点の記載。本日（2026年8月16日）時点の実行状況を売主に確認のうえ、面談前にP7・P8を更新すること。</a:t>
            </a:r>
          </a:p>
          <a:p>
            <a:pPr algn="l">
              <a:lnSpc>
                <a:spcPct val="110000"/>
              </a:lnSpc>
            </a:pPr>
            <a:r>
              <a:rPr sz="900" b="0">
                <a:latin typeface="Meiryo UI"/>
                <a:ea typeface="Meiryo UI"/>
              </a:rPr>
              <a:t>　</a:t>
            </a:r>
          </a:p>
          <a:p>
            <a:pPr algn="l">
              <a:lnSpc>
                <a:spcPct val="110000"/>
              </a:lnSpc>
            </a:pPr>
            <a:r>
              <a:rPr sz="900" b="0">
                <a:latin typeface="Meiryo UI"/>
                <a:ea typeface="Meiryo UI"/>
              </a:rPr>
              <a:t>９．役員借入金 約10,000千円の貸借対照表上の計上区分が未確定。短期借入金15,321千円に含まれる場合、P6の手出し資金表（③と⑤）で二重計上となるため要修正。</a:t>
            </a:r>
          </a:p>
          <a:p>
            <a:pPr algn="l">
              <a:lnSpc>
                <a:spcPct val="110000"/>
              </a:lnSpc>
            </a:pPr>
            <a:r>
              <a:rPr sz="900" b="0">
                <a:latin typeface="Meiryo UI"/>
                <a:ea typeface="Meiryo UI"/>
              </a:rPr>
              <a:t>　</a:t>
            </a:r>
          </a:p>
          <a:p>
            <a:pPr algn="l">
              <a:lnSpc>
                <a:spcPct val="110000"/>
              </a:lnSpc>
            </a:pPr>
            <a:r>
              <a:rPr sz="900" b="0">
                <a:latin typeface="Meiryo UI"/>
                <a:ea typeface="Meiryo UI"/>
              </a:rPr>
              <a:t>10．第一種貨物利用運送事業（外航海運）の事業譲渡・会社分割時の承継手続については、所管官庁（国土交通省）への確認が必要。本資料では「要確認」としている。</a:t>
            </a:r>
          </a:p>
          <a:p>
            <a:pPr algn="l">
              <a:lnSpc>
                <a:spcPct val="110000"/>
              </a:lnSpc>
            </a:pPr>
            <a:r>
              <a:rPr sz="900" b="0">
                <a:latin typeface="Meiryo UI"/>
                <a:ea typeface="Meiryo UI"/>
              </a:rPr>
              <a:t>　</a:t>
            </a:r>
          </a:p>
          <a:p>
            <a:pPr algn="l">
              <a:lnSpc>
                <a:spcPct val="110000"/>
              </a:lnSpc>
            </a:pPr>
            <a:r>
              <a:rPr sz="900" b="0">
                <a:latin typeface="Meiryo UI"/>
                <a:ea typeface="Meiryo UI"/>
              </a:rPr>
              <a:t>11．発行済株式数は企業概要書内で「3,000株」（基本情報）と「300株」（株主及び役員）の2通りの記載。登記簿で確定のうえ、企業概要書も修正すること。</a:t>
            </a:r>
          </a:p>
          <a:p>
            <a:pPr algn="l">
              <a:lnSpc>
                <a:spcPct val="110000"/>
              </a:lnSpc>
            </a:pPr>
            <a:r>
              <a:rPr sz="900" b="0">
                <a:latin typeface="Meiryo UI"/>
                <a:ea typeface="Meiryo UI"/>
              </a:rPr>
              <a:t>　</a:t>
            </a:r>
          </a:p>
        </p:txBody>
      </p:sp>
      <p:sp>
        <p:nvSpPr>
          <p:cNvPr id="4" name="正方形/長方形 3">
            <a:extLst>
              <a:ext uri="{FF2B5EF4-FFF2-40B4-BE49-F238E27FC236}">
                <a16:creationId xmlns:a16="http://schemas.microsoft.com/office/drawing/2014/main" id="{F63F0559-A471-05FB-7992-03A5FE1C9DE2}"/>
              </a:ext>
            </a:extLst>
          </p:cNvPr>
          <p:cNvSpPr/>
          <p:nvPr/>
        </p:nvSpPr>
        <p:spPr>
          <a:xfrm>
            <a:off x="249787" y="971550"/>
            <a:ext cx="8623625" cy="230832"/>
          </a:xfrm>
          <a:prstGeom prst="rect">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r>
              <a:rPr sz="1050" b="1">
                <a:solidFill>
                  <a:srgbClr val="FFFFFF"/>
                </a:solidFill>
                <a:latin typeface="Meiryo UI"/>
                <a:ea typeface="Meiryo UI"/>
              </a:rPr>
              <a:t>EV/EBITDAマルチプル法による事業価値と、スキーム別の対価水準</a:t>
            </a:r>
          </a:p>
        </p:txBody>
      </p:sp>
      <p:sp>
        <p:nvSpPr>
          <p:cNvPr id="3" name="テキスト ボックス 2">
            <a:extLst>
              <a:ext uri="{FF2B5EF4-FFF2-40B4-BE49-F238E27FC236}">
                <a16:creationId xmlns:a16="http://schemas.microsoft.com/office/drawing/2014/main" id="{6C03ED91-D22A-D22B-526D-CF9FC3CC78F7}"/>
              </a:ext>
            </a:extLst>
          </p:cNvPr>
          <p:cNvSpPr txBox="1"/>
          <p:nvPr/>
        </p:nvSpPr>
        <p:spPr>
          <a:xfrm>
            <a:off x="8149019" y="1304559"/>
            <a:ext cx="1036086" cy="230832"/>
          </a:xfrm>
          <a:prstGeom prst="rect">
            <a:avLst/>
          </a:prstGeom>
          <a:noFill/>
        </p:spPr>
        <p:txBody>
          <a:bodyPr wrap="square" rtlCol="0">
            <a:spAutoFit/>
          </a:bodyPr>
          <a:lstStyle/>
          <a:p>
            <a:pPr algn="r"/>
            <a:r>
              <a:rPr sz="900" b="0">
                <a:latin typeface="Meiryo UI"/>
                <a:ea typeface="Meiryo UI"/>
              </a:rPr>
              <a:t>（単位：千円）</a:t>
            </a:r>
          </a:p>
        </p:txBody>
      </p:sp>
      <p:sp>
        <p:nvSpPr>
          <p:cNvPr id="210" name="TextBox 209"/>
          <p:cNvSpPr txBox="1"/>
          <p:nvPr/>
        </p:nvSpPr>
        <p:spPr>
          <a:xfrm>
            <a:off x="6250000" y="1481328"/>
            <a:ext cx="2680000" cy="3900000"/>
          </a:xfrm>
          <a:prstGeom prst="rect">
            <a:avLst/>
          </a:prstGeom>
          <a:noFill/>
        </p:spPr>
        <p:txBody>
          <a:bodyPr wrap="square">
            <a:spAutoFit/>
          </a:bodyPr>
          <a:lstStyle/>
          <a:p>
            <a:pPr algn="l">
              <a:lnSpc>
                <a:spcPct val="120000"/>
              </a:lnSpc>
            </a:pPr>
            <a:r>
              <a:rPr sz="800" b="0">
                <a:latin typeface="Meiryo UI"/>
                <a:ea typeface="Meiryo UI"/>
              </a:rPr>
              <a:t>▌ポイント</a:t>
            </a:r>
          </a:p>
          <a:p>
            <a:pPr algn="l">
              <a:lnSpc>
                <a:spcPct val="120000"/>
              </a:lnSpc>
            </a:pPr>
            <a:r>
              <a:rPr sz="800" b="0">
                <a:latin typeface="Meiryo UI"/>
                <a:ea typeface="Meiryo UI"/>
              </a:rPr>
              <a:t>・EV/EBITDA倍率で算定される56,280〜93,800千円は「事業価値」であり、有利子負債を控除する前の金額です。</a:t>
            </a:r>
          </a:p>
          <a:p>
            <a:pPr algn="l">
              <a:lnSpc>
                <a:spcPct val="120000"/>
              </a:lnSpc>
            </a:pPr>
            <a:r>
              <a:rPr sz="800" b="0">
                <a:latin typeface="Meiryo UI"/>
                <a:ea typeface="Meiryo UI"/>
              </a:rPr>
              <a:t>・株式譲渡では有利子負債156,317千円を実質的に承継するため、理論上の株式価値はマイナスとなります。売主希望価格15,000千円は、借入金を事業とともに継続する前提での名目対価とご理解ください。</a:t>
            </a:r>
          </a:p>
          <a:p>
            <a:pPr algn="l">
              <a:lnSpc>
                <a:spcPct val="120000"/>
              </a:lnSpc>
            </a:pPr>
            <a:r>
              <a:rPr sz="800" b="0">
                <a:latin typeface="Meiryo UI"/>
                <a:ea typeface="Meiryo UI"/>
              </a:rPr>
              <a:t>・株式譲渡における実質総投資額は約153,600千円（基準EBITDAの約8.2倍）となり、事業譲渡（営業権のみ：3.0〜5.0倍）との比較が必要です。</a:t>
            </a:r>
          </a:p>
          <a:p>
            <a:pPr algn="l">
              <a:lnSpc>
                <a:spcPct val="120000"/>
              </a:lnSpc>
            </a:pPr>
            <a:r>
              <a:rPr sz="800" b="0">
                <a:latin typeface="Meiryo UI"/>
                <a:ea typeface="Meiryo UI"/>
              </a:rPr>
              <a:t>・一方、事業譲渡では事業用資産・負債（純額 約144,500千円）の買取が実質的な前提となるため、手出し資金は約2億円規模となります（前掲）。</a:t>
            </a:r>
          </a:p>
        </p:txBody>
      </p:sp>
      <p:sp>
        <p:nvSpPr>
          <p:cNvPr id="210" name="TextBox 209"/>
          <p:cNvSpPr txBox="1"/>
          <p:nvPr/>
        </p:nvSpPr>
        <p:spPr>
          <a:xfrm>
            <a:off x="265176" y="6263640"/>
            <a:ext cx="8631936" cy="274320"/>
          </a:xfrm>
          <a:prstGeom prst="rect">
            <a:avLst/>
          </a:prstGeom>
          <a:noFill/>
        </p:spPr>
        <p:txBody>
          <a:bodyPr wrap="square">
            <a:spAutoFit/>
          </a:bodyPr>
          <a:lstStyle/>
          <a:p>
            <a:pPr algn="l">
              <a:lnSpc>
                <a:spcPct val="115000"/>
              </a:lnSpc>
            </a:pPr>
            <a:r>
              <a:rPr sz="750" b="0">
                <a:latin typeface="Meiryo UI"/>
                <a:ea typeface="Meiryo UI"/>
              </a:rPr>
              <a:t>※マルチプル倍率は同業種の倍率を参考に3〜5倍としております。※基準EBITDAの算定根拠の詳細は株式価値試算報告書をご参照ください。</a:t>
            </a:r>
          </a:p>
          <a:p>
            <a:pPr algn="l">
              <a:lnSpc>
                <a:spcPct val="115000"/>
              </a:lnSpc>
            </a:pPr>
            <a:r>
              <a:rPr sz="750" b="0">
                <a:latin typeface="Meiryo UI"/>
                <a:ea typeface="Meiryo UI"/>
              </a:rPr>
              <a:t>※上記はあくまで目安であり、最終的な譲渡価額は当事者間の協議により決定されます。※千円未満の端数処理により合計が一致しない場合があります。</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14" name="Google Shape;214;p4"/>
          <p:cNvSpPr txBox="1">
            <a:spLocks noGrp="1"/>
          </p:cNvSpPr>
          <p:nvPr>
            <p:ph type="title"/>
          </p:nvPr>
        </p:nvSpPr>
        <p:spPr>
          <a:xfrm>
            <a:off x="395536" y="332655"/>
            <a:ext cx="6696744" cy="288033"/>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sz="1400" b="1">
                <a:solidFill>
                  <a:srgbClr val="5A5A5A"/>
                </a:solidFill>
                <a:latin typeface="Meiryo UI"/>
                <a:ea typeface="Meiryo UI"/>
              </a:rPr>
              <a:t>その他の論点 ②｜事業・組織・契約</a:t>
            </a:r>
            <a:endParaRPr b="1" dirty="0">
              <a:solidFill>
                <a:srgbClr val="5A5A5A"/>
              </a:solidFill>
              <a:latin typeface="Meiryo UI" panose="020B0604030504040204" pitchFamily="50" charset="-128"/>
              <a:ea typeface="Meiryo UI" panose="020B0604030504040204" pitchFamily="50" charset="-128"/>
              <a:sym typeface="Arial"/>
            </a:endParaRPr>
          </a:p>
        </p:txBody>
      </p:sp>
      <p:sp>
        <p:nvSpPr>
          <p:cNvPr id="215" name="Google Shape;215;p4"/>
          <p:cNvSpPr txBox="1"/>
          <p:nvPr/>
        </p:nvSpPr>
        <p:spPr>
          <a:xfrm>
            <a:off x="323528" y="116632"/>
            <a:ext cx="2376264" cy="188640"/>
          </a:xfrm>
          <a:prstGeom prst="rect">
            <a:avLst/>
          </a:prstGeom>
          <a:noFill/>
          <a:ln>
            <a:noFill/>
          </a:ln>
        </p:spPr>
        <p:txBody>
          <a:bodyPr spcFirstLastPara="1" wrap="square" lIns="36000" tIns="0" rIns="0" bIns="0" anchor="ctr" anchorCtr="0">
            <a:noAutofit/>
          </a:bodyPr>
          <a:lstStyle/>
          <a:p>
            <a:pPr marL="0" marR="0" lvl="0" indent="0" algn="l" rtl="0">
              <a:lnSpc>
                <a:spcPct val="100000"/>
              </a:lnSpc>
              <a:spcBef>
                <a:spcPts val="0"/>
              </a:spcBef>
              <a:spcAft>
                <a:spcPts val="0"/>
              </a:spcAft>
              <a:buClr>
                <a:srgbClr val="5A5A5A"/>
              </a:buClr>
              <a:buSzPts val="1000"/>
              <a:buFont typeface="Arial"/>
              <a:buNone/>
            </a:pPr>
            <a:r>
              <a:rPr sz="1000" b="0">
                <a:solidFill>
                  <a:srgbClr val="5A5A5A"/>
                </a:solidFill>
                <a:latin typeface="Meiryo UI"/>
                <a:ea typeface="Meiryo UI"/>
              </a:rPr>
              <a:t>本件の論点整理</a:t>
            </a:r>
            <a:endParaRPr dirty="0">
              <a:latin typeface="Meiryo UI" panose="020B0604030504040204" pitchFamily="50" charset="-128"/>
              <a:ea typeface="Meiryo UI" panose="020B0604030504040204" pitchFamily="50" charset="-128"/>
            </a:endParaRPr>
          </a:p>
        </p:txBody>
      </p:sp>
      <p:sp>
        <p:nvSpPr>
          <p:cNvPr id="216" name="Google Shape;216;p4"/>
          <p:cNvSpPr/>
          <p:nvPr/>
        </p:nvSpPr>
        <p:spPr>
          <a:xfrm>
            <a:off x="0" y="116632"/>
            <a:ext cx="323528" cy="180000"/>
          </a:xfrm>
          <a:prstGeom prst="parallelogram">
            <a:avLst>
              <a:gd name="adj" fmla="val 32938"/>
            </a:avLst>
          </a:prstGeom>
          <a:solidFill>
            <a:srgbClr val="66A09A"/>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Arial"/>
              <a:buNone/>
            </a:pPr>
            <a:r>
              <a:rPr sz="1000" b="0">
                <a:solidFill>
                  <a:srgbClr val="FFFFFF"/>
                </a:solidFill>
                <a:latin typeface="Meiryo UI"/>
                <a:ea typeface="Meiryo UI"/>
              </a:rPr>
              <a:t>1</a:t>
            </a:r>
            <a:endParaRPr sz="1000" b="0" i="0" u="none" strike="noStrike" cap="none">
              <a:solidFill>
                <a:srgbClr val="FFFFFF"/>
              </a:solidFill>
              <a:latin typeface="Arial"/>
              <a:ea typeface="Arial"/>
              <a:cs typeface="Arial"/>
              <a:sym typeface="Arial"/>
            </a:endParaRPr>
          </a:p>
        </p:txBody>
      </p:sp>
      <p:graphicFrame>
        <p:nvGraphicFramePr>
          <p:cNvPr id="217" name="Google Shape;217;p4"/>
          <p:cNvGraphicFramePr/>
          <p:nvPr>
            <p:extLst>
              <p:ext uri="{D42A27DB-BD31-4B8C-83A1-F6EECF244321}">
                <p14:modId xmlns:p14="http://schemas.microsoft.com/office/powerpoint/2010/main" val="1165932223"/>
              </p:ext>
            </p:extLst>
          </p:nvPr>
        </p:nvGraphicFramePr>
        <p:xfrm>
          <a:off x="398462" y="838712"/>
          <a:ext cx="8348471" cy="5687568"/>
        </p:xfrm>
        <a:graphic>
          <a:graphicData uri="http://schemas.openxmlformats.org/drawingml/2006/table">
            <a:tbl>
              <a:tblPr>
                <a:noFill/>
                <a:tableStyleId>{FA6B9113-0DA6-4419-ABC6-697280B0F4CE}</a:tableStyleId>
              </a:tblPr>
              <a:tblGrid>
                <a:gridCol w="429768">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gridCol w="5385816">
                  <a:extLst>
                    <a:ext uri="{9D8B030D-6E8A-4147-A177-3AD203B41FA5}">
                      <a16:colId xmlns:a16="http://schemas.microsoft.com/office/drawing/2014/main" val="20002"/>
                    </a:ext>
                  </a:extLst>
                </a:gridCol>
                <a:gridCol w="932688">
                  <a:extLst>
                    <a:ext uri="{9D8B030D-6E8A-4147-A177-3AD203B41FA5}">
                      <a16:colId xmlns:a16="http://schemas.microsoft.com/office/drawing/2014/main" val="20003"/>
                    </a:ext>
                  </a:extLst>
                </a:gridCol>
              </a:tblGrid>
              <a:tr h="347472">
                <a:tc>
                  <a:txBody>
                    <a:bodyPr/>
                    <a:lstStyle/>
                    <a:p>
                      <a:pPr marL="0" marR="0" lvl="0" indent="0" algn="ctr" rtl="0">
                        <a:spcBef>
                          <a:spcPts val="0"/>
                        </a:spcBef>
                        <a:spcAft>
                          <a:spcPts val="0"/>
                        </a:spcAft>
                        <a:buNone/>
                      </a:pPr>
                      <a:r>
                        <a:rPr sz="1100" b="1">
                          <a:latin typeface="Meiryo UI"/>
                          <a:ea typeface="Meiryo UI"/>
                        </a:rPr>
                        <a:t>No.</a:t>
                      </a:r>
                      <a:endParaRPr sz="1400" b="1" dirty="0">
                        <a:solidFill>
                          <a:schemeClr val="lt1"/>
                        </a:solidFill>
                        <a:latin typeface="Meiryo UI" panose="020B0604030504040204" pitchFamily="50" charset="-128"/>
                        <a:ea typeface="Meiryo UI" panose="020B0604030504040204" pitchFamily="50" charset="-128"/>
                        <a:cs typeface="Arial"/>
                        <a:sym typeface="Arial"/>
                      </a:endParaRPr>
                    </a:p>
                  </a:txBody>
                  <a:tcPr marL="18000" marR="36000" marT="18000" marB="18000" anchor="ctr">
                    <a:lnL w="9525" cap="flat" cmpd="sng">
                      <a:solidFill>
                        <a:srgbClr val="000000">
                          <a:alpha val="0"/>
                        </a:srgbClr>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accent1">
                        <a:lumMod val="50000"/>
                      </a:schemeClr>
                    </a:solidFill>
                  </a:tcPr>
                </a:tc>
                <a:tc>
                  <a:txBody>
                    <a:bodyPr/>
                    <a:lstStyle/>
                    <a:p>
                      <a:pPr marL="0" marR="0" lvl="0" indent="0" algn="ctr" rtl="0">
                        <a:spcBef>
                          <a:spcPts val="0"/>
                        </a:spcBef>
                        <a:spcAft>
                          <a:spcPts val="0"/>
                        </a:spcAft>
                        <a:buNone/>
                      </a:pPr>
                      <a:r>
                        <a:rPr sz="1100" b="1">
                          <a:latin typeface="Meiryo UI"/>
                          <a:ea typeface="Meiryo UI"/>
                        </a:rPr>
                        <a:t>項目</a:t>
                      </a:r>
                      <a:endParaRPr dirty="0">
                        <a:latin typeface="Meiryo UI" panose="020B0604030504040204" pitchFamily="50" charset="-128"/>
                        <a:ea typeface="Meiryo UI" panose="020B0604030504040204" pitchFamily="50" charset="-128"/>
                      </a:endParaRPr>
                    </a:p>
                  </a:txBody>
                  <a:tcPr marL="18000" marR="36000" marT="18000" marB="1800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accent1">
                        <a:lumMod val="50000"/>
                      </a:schemeClr>
                    </a:solidFill>
                  </a:tcPr>
                </a:tc>
                <a:tc>
                  <a:txBody>
                    <a:bodyPr/>
                    <a:lstStyle/>
                    <a:p>
                      <a:pPr marL="0" marR="0" lvl="0" indent="0" algn="ctr" rtl="0">
                        <a:spcBef>
                          <a:spcPts val="0"/>
                        </a:spcBef>
                        <a:spcAft>
                          <a:spcPts val="0"/>
                        </a:spcAft>
                        <a:buNone/>
                      </a:pPr>
                      <a:r>
                        <a:rPr sz="1100" b="1">
                          <a:latin typeface="Meiryo UI"/>
                          <a:ea typeface="Meiryo UI"/>
                        </a:rPr>
                        <a:t>内容</a:t>
                      </a:r>
                      <a:endParaRPr dirty="0">
                        <a:latin typeface="Meiryo UI" panose="020B0604030504040204" pitchFamily="50" charset="-128"/>
                        <a:ea typeface="Meiryo UI" panose="020B0604030504040204" pitchFamily="50" charset="-128"/>
                      </a:endParaRPr>
                    </a:p>
                  </a:txBody>
                  <a:tcPr marL="18000" marR="36000" marT="18000" marB="1800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accent1">
                        <a:lumMod val="50000"/>
                      </a:schemeClr>
                    </a:solidFill>
                  </a:tcPr>
                </a:tc>
                <a:tc>
                  <a:txBody>
                    <a:bodyPr/>
                    <a:lstStyle/>
                    <a:p>
                      <a:pPr marL="0" marR="0" lvl="0" indent="0" algn="ctr" rtl="0">
                        <a:spcBef>
                          <a:spcPts val="0"/>
                        </a:spcBef>
                        <a:spcAft>
                          <a:spcPts val="0"/>
                        </a:spcAft>
                        <a:buNone/>
                      </a:pPr>
                      <a:r>
                        <a:rPr sz="1100" b="1">
                          <a:latin typeface="Meiryo UI"/>
                          <a:ea typeface="Meiryo UI"/>
                        </a:rPr>
                        <a:t>協議状況</a:t>
                      </a:r>
                      <a:endParaRPr dirty="0">
                        <a:latin typeface="Meiryo UI" panose="020B0604030504040204" pitchFamily="50" charset="-128"/>
                        <a:ea typeface="Meiryo UI" panose="020B0604030504040204" pitchFamily="50" charset="-128"/>
                      </a:endParaRPr>
                    </a:p>
                  </a:txBody>
                  <a:tcPr marL="18000" marR="36000" marT="18000" marB="18000" anchor="ctr">
                    <a:lnL w="9525" cap="flat" cmpd="sng">
                      <a:solidFill>
                        <a:schemeClr val="lt1"/>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accent1">
                        <a:lumMod val="50000"/>
                      </a:schemeClr>
                    </a:solidFill>
                  </a:tcPr>
                </a:tc>
                <a:extLst>
                  <a:ext uri="{0D108BD9-81ED-4DB2-BD59-A6C34878D82A}">
                    <a16:rowId xmlns:a16="http://schemas.microsoft.com/office/drawing/2014/main" val="10000"/>
                  </a:ext>
                </a:extLst>
              </a:tr>
              <a:tr h="667512">
                <a:tc>
                  <a:txBody>
                    <a:bodyPr/>
                    <a:lstStyle/>
                    <a:p>
                      <a:pPr marL="0" marR="0" lvl="0" indent="0" algn="ctr" rtl="0">
                        <a:spcBef>
                          <a:spcPts val="0"/>
                        </a:spcBef>
                        <a:spcAft>
                          <a:spcPts val="0"/>
                        </a:spcAft>
                        <a:buNone/>
                      </a:pPr>
                      <a:r>
                        <a:rPr sz="1300" b="1">
                          <a:latin typeface="Meiryo UI"/>
                          <a:ea typeface="Meiryo UI"/>
                        </a:rPr>
                        <a:t>1</a:t>
                      </a:r>
                    </a:p>
                  </a:txBody>
                  <a:tcPr marL="54000" marR="36000" marT="18000" marB="18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60000"/>
                        <a:lumOff val="40000"/>
                      </a:schemeClr>
                    </a:solidFill>
                  </a:tcPr>
                </a:tc>
                <a:tc>
                  <a:txBody>
                    <a:bodyPr/>
                    <a:lstStyle/>
                    <a:p>
                      <a:pPr marL="0" marR="0" lvl="0" indent="0" algn="ctr" rtl="0">
                        <a:spcBef>
                          <a:spcPts val="0"/>
                        </a:spcBef>
                        <a:spcAft>
                          <a:spcPts val="0"/>
                        </a:spcAft>
                        <a:buNone/>
                      </a:pPr>
                      <a:r>
                        <a:rPr sz="1050" b="0">
                          <a:latin typeface="Meiryo UI"/>
                          <a:ea typeface="Meiryo UI"/>
                        </a:rPr>
                        <a:t>軽配送事業の</a:t>
                      </a:r>
                    </a:p>
                    <a:p>
                      <a:pPr algn="ctr"/>
                      <a:r>
                        <a:rPr sz="1050" b="0">
                          <a:latin typeface="Meiryo UI"/>
                          <a:ea typeface="Meiryo UI"/>
                        </a:rPr>
                        <a:t>切出し</a:t>
                      </a:r>
                    </a:p>
                  </a:txBody>
                  <a:tcPr marL="54000" marR="36000" marT="18000" marB="18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20000"/>
                        <a:lumOff val="80000"/>
                      </a:schemeClr>
                    </a:solidFill>
                  </a:tcPr>
                </a:tc>
                <a:tc>
                  <a:txBody>
                    <a:bodyPr/>
                    <a:lstStyle/>
                    <a:p>
                      <a:pPr marL="0" marR="0" lvl="0" indent="0" algn="l" rtl="0">
                        <a:lnSpc>
                          <a:spcPct val="100000"/>
                        </a:lnSpc>
                        <a:spcBef>
                          <a:spcPts val="0"/>
                        </a:spcBef>
                        <a:spcAft>
                          <a:spcPts val="0"/>
                        </a:spcAft>
                        <a:buClr>
                          <a:srgbClr val="66A09A"/>
                        </a:buClr>
                        <a:buSzPts val="1120"/>
                        <a:buFont typeface="Arial"/>
                        <a:buNone/>
                      </a:pPr>
                      <a:r>
                        <a:rPr sz="900" b="0">
                          <a:latin typeface="Meiryo UI"/>
                          <a:ea typeface="Meiryo UI"/>
                        </a:rPr>
                        <a:t>企業概要書では2026年4月中の実行を想定と記載。現時点の実行状況、切出し対象資産・負債の範囲、法形式（事業譲渡／会社分割）、対価および税務処理を確認。</a:t>
                      </a:r>
                      <a:endParaRPr lang="en-US" altLang="ja-JP" sz="1100" b="0" dirty="0">
                        <a:solidFill>
                          <a:schemeClr val="dk1"/>
                        </a:solidFill>
                        <a:latin typeface="Meiryo UI" panose="020B0604030504040204" pitchFamily="50" charset="-128"/>
                        <a:ea typeface="Meiryo UI" panose="020B0604030504040204" pitchFamily="50" charset="-128"/>
                      </a:endParaRPr>
                    </a:p>
                  </a:txBody>
                  <a:tcPr marL="54000" marR="36000" marT="18000" marB="18000" anchor="ctr">
                    <a:lnL w="9525" cap="flat" cmpd="sng">
                      <a:solidFill>
                        <a:srgbClr val="000000">
                          <a:alpha val="0"/>
                        </a:srgbClr>
                      </a:solidFill>
                      <a:prstDash val="solid"/>
                      <a:round/>
                      <a:headEnd type="none" w="sm" len="sm"/>
                      <a:tailEnd type="none" w="sm" len="sm"/>
                    </a:lnL>
                    <a:lnR w="12700" cap="flat" cmpd="sng">
                      <a:solidFill>
                        <a:srgbClr val="C8C8C8"/>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rgbClr val="C8C8C8"/>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252525"/>
                        </a:buClr>
                        <a:buSzPts val="1600"/>
                        <a:buFont typeface="Arial"/>
                        <a:buNone/>
                      </a:pPr>
                      <a:r>
                        <a:rPr sz="1200" b="1">
                          <a:latin typeface="Meiryo UI"/>
                          <a:ea typeface="Meiryo UI"/>
                        </a:rPr>
                        <a:t>要確認</a:t>
                      </a:r>
                      <a:endParaRPr lang="ja-JP" sz="1600" b="1" i="0" u="none" strike="noStrike" cap="none" dirty="0">
                        <a:solidFill>
                          <a:srgbClr val="252525"/>
                        </a:solidFill>
                        <a:latin typeface="Meiryo UI" panose="020B0604030504040204" pitchFamily="50" charset="-128"/>
                        <a:ea typeface="Meiryo UI" panose="020B0604030504040204" pitchFamily="50" charset="-128"/>
                        <a:cs typeface="Arial"/>
                        <a:sym typeface="Arial"/>
                      </a:endParaRPr>
                    </a:p>
                  </a:txBody>
                  <a:tcPr marL="54000" marR="36000" marT="18000" marB="18000" anchor="ctr">
                    <a:lnL w="12700" cap="flat" cmpd="sng">
                      <a:solidFill>
                        <a:srgbClr val="C8C8C8"/>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rgbClr val="C8C8C8"/>
                      </a:solidFill>
                      <a:prstDash val="solid"/>
                      <a:round/>
                      <a:headEnd type="none" w="sm" len="sm"/>
                      <a:tailEnd type="none" w="sm" len="sm"/>
                    </a:lnB>
                    <a:solidFill>
                      <a:srgbClr val="ECF2D9"/>
                    </a:solidFill>
                  </a:tcPr>
                </a:tc>
                <a:extLst>
                  <a:ext uri="{0D108BD9-81ED-4DB2-BD59-A6C34878D82A}">
                    <a16:rowId xmlns:a16="http://schemas.microsoft.com/office/drawing/2014/main" val="10001"/>
                  </a:ext>
                </a:extLst>
              </a:tr>
              <a:tr h="667512">
                <a:tc>
                  <a:txBody>
                    <a:bodyPr/>
                    <a:lstStyle/>
                    <a:p>
                      <a:pPr marL="0" marR="0" lvl="0" indent="0" algn="ctr" rtl="0">
                        <a:lnSpc>
                          <a:spcPct val="100000"/>
                        </a:lnSpc>
                        <a:spcBef>
                          <a:spcPts val="0"/>
                        </a:spcBef>
                        <a:spcAft>
                          <a:spcPts val="0"/>
                        </a:spcAft>
                        <a:buClr>
                          <a:schemeClr val="dk1"/>
                        </a:buClr>
                        <a:buSzPts val="1500"/>
                        <a:buFont typeface="Arial"/>
                        <a:buNone/>
                      </a:pPr>
                      <a:r>
                        <a:rPr sz="1300" b="1">
                          <a:latin typeface="Meiryo UI"/>
                          <a:ea typeface="Meiryo UI"/>
                        </a:rPr>
                        <a:t>2</a:t>
                      </a:r>
                    </a:p>
                  </a:txBody>
                  <a:tcPr marL="54000" marR="36000" marT="18000" marB="18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60000"/>
                        <a:lumOff val="40000"/>
                      </a:schemeClr>
                    </a:solidFill>
                  </a:tcPr>
                </a:tc>
                <a:tc>
                  <a:txBody>
                    <a:bodyPr/>
                    <a:lstStyle/>
                    <a:p>
                      <a:pPr marL="0" marR="0" lvl="0" indent="0" algn="ctr" rtl="0">
                        <a:spcBef>
                          <a:spcPts val="0"/>
                        </a:spcBef>
                        <a:spcAft>
                          <a:spcPts val="0"/>
                        </a:spcAft>
                        <a:buNone/>
                      </a:pPr>
                      <a:r>
                        <a:rPr sz="1050" b="0">
                          <a:latin typeface="Meiryo UI"/>
                          <a:ea typeface="Meiryo UI"/>
                        </a:rPr>
                        <a:t>共用資源の</a:t>
                      </a:r>
                    </a:p>
                    <a:p>
                      <a:pPr algn="ctr"/>
                      <a:r>
                        <a:rPr sz="1050" b="0">
                          <a:latin typeface="Meiryo UI"/>
                          <a:ea typeface="Meiryo UI"/>
                        </a:rPr>
                        <a:t>切り分け</a:t>
                      </a:r>
                    </a:p>
                  </a:txBody>
                  <a:tcPr marL="54000" marR="36000" marT="18000" marB="18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20000"/>
                        <a:lumOff val="80000"/>
                      </a:schemeClr>
                    </a:solidFill>
                  </a:tcPr>
                </a:tc>
                <a:tc>
                  <a:txBody>
                    <a:bodyPr/>
                    <a:lstStyle/>
                    <a:p>
                      <a:pPr marL="0" marR="0" lvl="0" indent="0" algn="l" rtl="0">
                        <a:lnSpc>
                          <a:spcPct val="100000"/>
                        </a:lnSpc>
                        <a:spcBef>
                          <a:spcPts val="0"/>
                        </a:spcBef>
                        <a:spcAft>
                          <a:spcPts val="0"/>
                        </a:spcAft>
                        <a:buClr>
                          <a:srgbClr val="66A09A"/>
                        </a:buClr>
                        <a:buSzPts val="1120"/>
                        <a:buFont typeface="Arial"/>
                        <a:buNone/>
                      </a:pPr>
                      <a:r>
                        <a:rPr sz="900" b="0">
                          <a:latin typeface="Meiryo UI"/>
                          <a:ea typeface="Meiryo UI"/>
                        </a:rPr>
                        <a:t>組織図上、営業統括（M.M様）が軽配送事業と譲渡対象事業の双方に関与している可能性。人員・事務所・システムの共用範囲と、切分け後の運営体制を確認。</a:t>
                      </a:r>
                    </a:p>
                  </a:txBody>
                  <a:tcPr marL="54000" marR="36000" marT="18000" marB="18000" anchor="ctr">
                    <a:lnL w="9525" cap="flat" cmpd="sng">
                      <a:solidFill>
                        <a:srgbClr val="000000">
                          <a:alpha val="0"/>
                        </a:srgbClr>
                      </a:solidFill>
                      <a:prstDash val="solid"/>
                      <a:round/>
                      <a:headEnd type="none" w="sm" len="sm"/>
                      <a:tailEnd type="none" w="sm" len="sm"/>
                    </a:lnL>
                    <a:lnR w="12700" cap="flat" cmpd="sng">
                      <a:solidFill>
                        <a:srgbClr val="C8C8C8"/>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solidFill>
                        <a:srgbClr val="C8C8C8"/>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chemeClr val="dk1"/>
                        </a:buClr>
                        <a:buSzPts val="1600"/>
                        <a:buFont typeface="Arial"/>
                        <a:buNone/>
                      </a:pPr>
                      <a:r>
                        <a:rPr sz="1200" b="1">
                          <a:latin typeface="Meiryo UI"/>
                          <a:ea typeface="Meiryo UI"/>
                        </a:rPr>
                        <a:t>要確認</a:t>
                      </a:r>
                      <a:endParaRPr lang="ja-JP" sz="1600" b="1" i="0" u="none" strike="noStrike" cap="none" dirty="0">
                        <a:solidFill>
                          <a:schemeClr val="dk1"/>
                        </a:solidFill>
                        <a:latin typeface="Meiryo UI" panose="020B0604030504040204" pitchFamily="50" charset="-128"/>
                        <a:ea typeface="Meiryo UI" panose="020B0604030504040204" pitchFamily="50" charset="-128"/>
                        <a:cs typeface="Arial"/>
                        <a:sym typeface="Arial"/>
                      </a:endParaRPr>
                    </a:p>
                  </a:txBody>
                  <a:tcPr marL="54000" marR="36000" marT="18000" marB="18000" anchor="ctr">
                    <a:lnL w="12700" cap="flat" cmpd="sng">
                      <a:solidFill>
                        <a:srgbClr val="C8C8C8"/>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solidFill>
                        <a:srgbClr val="C8C8C8"/>
                      </a:solidFill>
                      <a:prstDash val="solid"/>
                      <a:round/>
                      <a:headEnd type="none" w="sm" len="sm"/>
                      <a:tailEnd type="none" w="sm" len="sm"/>
                    </a:lnB>
                    <a:solidFill>
                      <a:srgbClr val="ECF2D9"/>
                    </a:solidFill>
                  </a:tcPr>
                </a:tc>
                <a:extLst>
                  <a:ext uri="{0D108BD9-81ED-4DB2-BD59-A6C34878D82A}">
                    <a16:rowId xmlns:a16="http://schemas.microsoft.com/office/drawing/2014/main" val="10002"/>
                  </a:ext>
                </a:extLst>
              </a:tr>
              <a:tr h="667512">
                <a:tc>
                  <a:txBody>
                    <a:bodyPr/>
                    <a:lstStyle/>
                    <a:p>
                      <a:pPr marL="0" marR="0" lvl="0" indent="0" algn="ctr" rtl="0">
                        <a:spcBef>
                          <a:spcPts val="0"/>
                        </a:spcBef>
                        <a:spcAft>
                          <a:spcPts val="0"/>
                        </a:spcAft>
                        <a:buNone/>
                      </a:pPr>
                      <a:r>
                        <a:rPr sz="1300" b="1">
                          <a:latin typeface="Meiryo UI"/>
                          <a:ea typeface="Meiryo UI"/>
                        </a:rPr>
                        <a:t>3</a:t>
                      </a:r>
                    </a:p>
                  </a:txBody>
                  <a:tcPr marL="54000" marR="36000" marT="18000" marB="18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60000"/>
                        <a:lumOff val="40000"/>
                      </a:schemeClr>
                    </a:solidFill>
                  </a:tcPr>
                </a:tc>
                <a:tc>
                  <a:txBody>
                    <a:bodyPr/>
                    <a:lstStyle/>
                    <a:p>
                      <a:pPr marL="0" marR="0" lvl="0" indent="0" algn="ctr" rtl="0">
                        <a:spcBef>
                          <a:spcPts val="0"/>
                        </a:spcBef>
                        <a:spcAft>
                          <a:spcPts val="0"/>
                        </a:spcAft>
                        <a:buNone/>
                      </a:pPr>
                      <a:r>
                        <a:rPr sz="1050" b="0">
                          <a:latin typeface="Meiryo UI"/>
                          <a:ea typeface="Meiryo UI"/>
                        </a:rPr>
                        <a:t>キーパーソンの</a:t>
                      </a:r>
                    </a:p>
                    <a:p>
                      <a:pPr algn="ctr"/>
                      <a:r>
                        <a:rPr sz="1050" b="0">
                          <a:latin typeface="Meiryo UI"/>
                          <a:ea typeface="Meiryo UI"/>
                        </a:rPr>
                        <a:t>継続勤務</a:t>
                      </a:r>
                    </a:p>
                  </a:txBody>
                  <a:tcPr marL="54000" marR="36000" marT="18000" marB="18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20000"/>
                        <a:lumOff val="80000"/>
                      </a:schemeClr>
                    </a:solidFill>
                  </a:tcPr>
                </a:tc>
                <a:tc>
                  <a:txBody>
                    <a:bodyPr/>
                    <a:lstStyle/>
                    <a:p>
                      <a:pPr marL="139700" marR="0" lvl="0" indent="-139700" algn="l" rtl="0">
                        <a:lnSpc>
                          <a:spcPct val="100000"/>
                        </a:lnSpc>
                        <a:spcBef>
                          <a:spcPts val="0"/>
                        </a:spcBef>
                        <a:spcAft>
                          <a:spcPts val="0"/>
                        </a:spcAft>
                        <a:buClr>
                          <a:srgbClr val="66A09A"/>
                        </a:buClr>
                        <a:buSzPts val="1120"/>
                        <a:buFont typeface="Noto Sans Symbols"/>
                        <a:buNone/>
                      </a:pPr>
                      <a:r>
                        <a:rPr sz="900" b="0">
                          <a:latin typeface="Meiryo UI"/>
                          <a:ea typeface="Meiryo UI"/>
                        </a:rPr>
                        <a:t>松永代表は引継ぎ完了後に退任予定。引継期間・関与形態・対価を協議。営業統括M.M様（勤続1年6か月）の継続勤務のご意向と処遇を確認。</a:t>
                      </a:r>
                    </a:p>
                  </a:txBody>
                  <a:tcPr marL="54000" marR="36000" marT="18000" marB="18000" anchor="ctr">
                    <a:lnL w="9525" cap="flat" cmpd="sng">
                      <a:solidFill>
                        <a:srgbClr val="000000">
                          <a:alpha val="0"/>
                        </a:srgbClr>
                      </a:solidFill>
                      <a:prstDash val="solid"/>
                      <a:round/>
                      <a:headEnd type="none" w="sm" len="sm"/>
                      <a:tailEnd type="none" w="sm" len="sm"/>
                    </a:lnL>
                    <a:lnR w="12700" cap="flat" cmpd="sng">
                      <a:solidFill>
                        <a:srgbClr val="C8C8C8"/>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solidFill>
                        <a:srgbClr val="C8C8C8"/>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252525"/>
                        </a:buClr>
                        <a:buSzPts val="1600"/>
                        <a:buFont typeface="Arial"/>
                        <a:buNone/>
                      </a:pPr>
                      <a:r>
                        <a:rPr sz="1200" b="1">
                          <a:latin typeface="Meiryo UI"/>
                          <a:ea typeface="Meiryo UI"/>
                        </a:rPr>
                        <a:t>要協議</a:t>
                      </a:r>
                      <a:endParaRPr lang="ja-JP" sz="1600" b="1" i="0" u="none" strike="noStrike" cap="none" dirty="0">
                        <a:solidFill>
                          <a:srgbClr val="252525"/>
                        </a:solidFill>
                        <a:latin typeface="Meiryo UI" panose="020B0604030504040204" pitchFamily="50" charset="-128"/>
                        <a:ea typeface="Meiryo UI" panose="020B0604030504040204" pitchFamily="50" charset="-128"/>
                        <a:cs typeface="Arial"/>
                        <a:sym typeface="Arial"/>
                      </a:endParaRPr>
                    </a:p>
                  </a:txBody>
                  <a:tcPr marL="54000" marR="36000" marT="18000" marB="18000" anchor="ctr">
                    <a:lnL w="12700" cap="flat" cmpd="sng">
                      <a:solidFill>
                        <a:srgbClr val="C8C8C8"/>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solidFill>
                        <a:srgbClr val="C8C8C8"/>
                      </a:solidFill>
                      <a:prstDash val="solid"/>
                      <a:round/>
                      <a:headEnd type="none" w="sm" len="sm"/>
                      <a:tailEnd type="none" w="sm" len="sm"/>
                    </a:lnB>
                    <a:solidFill>
                      <a:srgbClr val="ECF2D9"/>
                    </a:solidFill>
                  </a:tcPr>
                </a:tc>
                <a:extLst>
                  <a:ext uri="{0D108BD9-81ED-4DB2-BD59-A6C34878D82A}">
                    <a16:rowId xmlns:a16="http://schemas.microsoft.com/office/drawing/2014/main" val="10003"/>
                  </a:ext>
                </a:extLst>
              </a:tr>
              <a:tr h="667512">
                <a:tc>
                  <a:txBody>
                    <a:bodyPr/>
                    <a:lstStyle/>
                    <a:p>
                      <a:pPr marL="0" marR="0" lvl="0" indent="0" algn="ctr" rtl="0">
                        <a:spcBef>
                          <a:spcPts val="0"/>
                        </a:spcBef>
                        <a:spcAft>
                          <a:spcPts val="0"/>
                        </a:spcAft>
                        <a:buNone/>
                      </a:pPr>
                      <a:r>
                        <a:rPr sz="1300" b="1">
                          <a:latin typeface="Meiryo UI"/>
                          <a:ea typeface="Meiryo UI"/>
                        </a:rPr>
                        <a:t>4</a:t>
                      </a:r>
                    </a:p>
                  </a:txBody>
                  <a:tcPr marL="54000" marR="36000" marT="18000" marB="18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60000"/>
                        <a:lumOff val="40000"/>
                      </a:schemeClr>
                    </a:solidFill>
                  </a:tcPr>
                </a:tc>
                <a:tc>
                  <a:txBody>
                    <a:bodyPr/>
                    <a:lstStyle/>
                    <a:p>
                      <a:pPr marL="0" marR="0" lvl="0" indent="0" algn="ctr" rtl="0">
                        <a:lnSpc>
                          <a:spcPct val="100000"/>
                        </a:lnSpc>
                        <a:spcBef>
                          <a:spcPts val="0"/>
                        </a:spcBef>
                        <a:spcAft>
                          <a:spcPts val="0"/>
                        </a:spcAft>
                        <a:buClr>
                          <a:schemeClr val="dk1"/>
                        </a:buClr>
                        <a:buSzPts val="1500"/>
                        <a:buFont typeface="Arial"/>
                        <a:buNone/>
                      </a:pPr>
                      <a:r>
                        <a:rPr sz="1050" b="0">
                          <a:latin typeface="Meiryo UI"/>
                          <a:ea typeface="Meiryo UI"/>
                        </a:rPr>
                        <a:t>従業員の雇用条件</a:t>
                      </a:r>
                    </a:p>
                  </a:txBody>
                  <a:tcPr marL="54000" marR="36000" marT="18000" marB="18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20000"/>
                        <a:lumOff val="80000"/>
                      </a:schemeClr>
                    </a:solidFill>
                  </a:tcPr>
                </a:tc>
                <a:tc>
                  <a:txBody>
                    <a:bodyPr/>
                    <a:lstStyle/>
                    <a:p>
                      <a:pPr marL="139700" marR="0" lvl="0" indent="-139700" algn="l" rtl="0">
                        <a:lnSpc>
                          <a:spcPct val="100000"/>
                        </a:lnSpc>
                        <a:spcBef>
                          <a:spcPts val="0"/>
                        </a:spcBef>
                        <a:spcAft>
                          <a:spcPts val="0"/>
                        </a:spcAft>
                        <a:buClr>
                          <a:srgbClr val="66A09A"/>
                        </a:buClr>
                        <a:buSzPts val="1120"/>
                        <a:buFont typeface="Noto Sans Symbols"/>
                        <a:buNone/>
                      </a:pPr>
                      <a:r>
                        <a:rPr sz="900" b="0">
                          <a:latin typeface="Meiryo UI"/>
                          <a:ea typeface="Meiryo UI"/>
                        </a:rPr>
                        <a:t>譲渡対象事業の従業員6名（正社員4名／うち貿易事務3名、パート2名）。週4日勤務・在宅勤務者を含むため、現行の勤務条件の維持可否を確認。</a:t>
                      </a:r>
                    </a:p>
                  </a:txBody>
                  <a:tcPr marL="54000" marR="36000" marT="18000" marB="18000" anchor="ctr">
                    <a:lnL w="9525" cap="flat" cmpd="sng">
                      <a:solidFill>
                        <a:srgbClr val="000000">
                          <a:alpha val="0"/>
                        </a:srgbClr>
                      </a:solidFill>
                      <a:prstDash val="solid"/>
                      <a:round/>
                      <a:headEnd type="none" w="sm" len="sm"/>
                      <a:tailEnd type="none" w="sm" len="sm"/>
                    </a:lnL>
                    <a:lnR w="12700" cap="flat" cmpd="sng">
                      <a:solidFill>
                        <a:srgbClr val="C8C8C8"/>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solidFill>
                        <a:srgbClr val="C8C8C8"/>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252525"/>
                        </a:buClr>
                        <a:buSzPts val="1600"/>
                        <a:buFont typeface="Arial"/>
                        <a:buNone/>
                      </a:pPr>
                      <a:r>
                        <a:rPr sz="1200" b="1">
                          <a:latin typeface="Meiryo UI"/>
                          <a:ea typeface="Meiryo UI"/>
                        </a:rPr>
                        <a:t>要協議</a:t>
                      </a:r>
                      <a:endParaRPr lang="ja-JP" altLang="en-US" sz="1600" b="1" i="0" u="none" strike="noStrike" cap="none" dirty="0">
                        <a:solidFill>
                          <a:srgbClr val="252525"/>
                        </a:solidFill>
                        <a:latin typeface="Meiryo UI" panose="020B0604030504040204" pitchFamily="50" charset="-128"/>
                        <a:ea typeface="Meiryo UI" panose="020B0604030504040204" pitchFamily="50" charset="-128"/>
                        <a:cs typeface="Arial"/>
                        <a:sym typeface="Arial"/>
                      </a:endParaRPr>
                    </a:p>
                  </a:txBody>
                  <a:tcPr marL="54000" marR="36000" marT="18000" marB="18000" anchor="ctr">
                    <a:lnL w="12700" cap="flat" cmpd="sng">
                      <a:solidFill>
                        <a:srgbClr val="C8C8C8"/>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solidFill>
                        <a:srgbClr val="C8C8C8"/>
                      </a:solidFill>
                      <a:prstDash val="solid"/>
                      <a:round/>
                      <a:headEnd type="none" w="sm" len="sm"/>
                      <a:tailEnd type="none" w="sm" len="sm"/>
                    </a:lnB>
                    <a:solidFill>
                      <a:srgbClr val="ECF2D9"/>
                    </a:solidFill>
                  </a:tcPr>
                </a:tc>
                <a:extLst>
                  <a:ext uri="{0D108BD9-81ED-4DB2-BD59-A6C34878D82A}">
                    <a16:rowId xmlns:a16="http://schemas.microsoft.com/office/drawing/2014/main" val="10004"/>
                  </a:ext>
                </a:extLst>
              </a:tr>
              <a:tr h="667512">
                <a:tc>
                  <a:txBody>
                    <a:bodyPr/>
                    <a:lstStyle/>
                    <a:p>
                      <a:pPr marL="0" marR="0" lvl="0" indent="0" algn="ctr" rtl="0">
                        <a:spcBef>
                          <a:spcPts val="0"/>
                        </a:spcBef>
                        <a:spcAft>
                          <a:spcPts val="0"/>
                        </a:spcAft>
                        <a:buNone/>
                      </a:pPr>
                      <a:r>
                        <a:rPr sz="1300" b="1">
                          <a:latin typeface="Meiryo UI"/>
                          <a:ea typeface="Meiryo UI"/>
                        </a:rPr>
                        <a:t>5</a:t>
                      </a:r>
                    </a:p>
                  </a:txBody>
                  <a:tcPr marL="54000" marR="36000" marT="18000" marB="18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60000"/>
                        <a:lumOff val="40000"/>
                      </a:schemeClr>
                    </a:solidFill>
                  </a:tcPr>
                </a:tc>
                <a:tc>
                  <a:txBody>
                    <a:bodyPr/>
                    <a:lstStyle/>
                    <a:p>
                      <a:pPr marL="0" marR="0" lvl="0" indent="0" algn="ctr" rtl="0">
                        <a:lnSpc>
                          <a:spcPct val="100000"/>
                        </a:lnSpc>
                        <a:spcBef>
                          <a:spcPts val="0"/>
                        </a:spcBef>
                        <a:spcAft>
                          <a:spcPts val="0"/>
                        </a:spcAft>
                        <a:buClr>
                          <a:schemeClr val="dk1"/>
                        </a:buClr>
                        <a:buSzPts val="1500"/>
                        <a:buFont typeface="Arial"/>
                        <a:buNone/>
                      </a:pPr>
                      <a:r>
                        <a:rPr sz="1050" b="0">
                          <a:latin typeface="Meiryo UI"/>
                          <a:ea typeface="Meiryo UI"/>
                        </a:rPr>
                        <a:t>主要顧客・</a:t>
                      </a:r>
                    </a:p>
                    <a:p>
                      <a:pPr algn="ctr"/>
                      <a:r>
                        <a:rPr sz="1050" b="0">
                          <a:latin typeface="Meiryo UI"/>
                          <a:ea typeface="Meiryo UI"/>
                        </a:rPr>
                        <a:t>売上構成</a:t>
                      </a:r>
                    </a:p>
                  </a:txBody>
                  <a:tcPr marL="54000" marR="36000" marT="18000" marB="18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20000"/>
                        <a:lumOff val="80000"/>
                      </a:schemeClr>
                    </a:solidFill>
                  </a:tcPr>
                </a:tc>
                <a:tc>
                  <a:txBody>
                    <a:bodyPr/>
                    <a:lstStyle/>
                    <a:p>
                      <a:pPr marL="139700" marR="0" lvl="0" indent="-139700" algn="l" rtl="0">
                        <a:lnSpc>
                          <a:spcPct val="100000"/>
                        </a:lnSpc>
                        <a:spcBef>
                          <a:spcPts val="0"/>
                        </a:spcBef>
                        <a:spcAft>
                          <a:spcPts val="0"/>
                        </a:spcAft>
                        <a:buClr>
                          <a:srgbClr val="66A09A"/>
                        </a:buClr>
                        <a:buSzPts val="1120"/>
                        <a:buFont typeface="Noto Sans Symbols"/>
                        <a:buNone/>
                      </a:pPr>
                      <a:r>
                        <a:rPr sz="900" b="0">
                          <a:latin typeface="Meiryo UI"/>
                          <a:ea typeface="Meiryo UI"/>
                        </a:rPr>
                        <a:t>企業概要書に売上先別の構成比の記載がない。上位取引先の売上構成比・取引条件・COC条項の有無について開示を依頼。</a:t>
                      </a:r>
                    </a:p>
                  </a:txBody>
                  <a:tcPr marL="54000" marR="36000" marT="18000" marB="18000" anchor="ctr">
                    <a:lnL w="9525" cap="flat" cmpd="sng">
                      <a:solidFill>
                        <a:srgbClr val="000000">
                          <a:alpha val="0"/>
                        </a:srgbClr>
                      </a:solidFill>
                      <a:prstDash val="solid"/>
                      <a:round/>
                      <a:headEnd type="none" w="sm" len="sm"/>
                      <a:tailEnd type="none" w="sm" len="sm"/>
                    </a:lnL>
                    <a:lnR w="12700" cap="flat" cmpd="sng">
                      <a:solidFill>
                        <a:srgbClr val="C8C8C8"/>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solidFill>
                        <a:srgbClr val="C8C8C8"/>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252525"/>
                        </a:buClr>
                        <a:buSzPts val="1600"/>
                        <a:buFont typeface="Arial"/>
                        <a:buNone/>
                      </a:pPr>
                      <a:r>
                        <a:rPr sz="1200" b="1">
                          <a:latin typeface="Meiryo UI"/>
                          <a:ea typeface="Meiryo UI"/>
                        </a:rPr>
                        <a:t>要確認</a:t>
                      </a:r>
                      <a:endParaRPr lang="ja-JP" altLang="en-US" sz="1600" b="1" i="0" u="none" strike="noStrike" cap="none" dirty="0">
                        <a:solidFill>
                          <a:srgbClr val="252525"/>
                        </a:solidFill>
                        <a:latin typeface="Meiryo UI" panose="020B0604030504040204" pitchFamily="50" charset="-128"/>
                        <a:ea typeface="Meiryo UI" panose="020B0604030504040204" pitchFamily="50" charset="-128"/>
                        <a:cs typeface="Arial"/>
                        <a:sym typeface="Arial"/>
                      </a:endParaRPr>
                    </a:p>
                  </a:txBody>
                  <a:tcPr marL="54000" marR="36000" marT="18000" marB="18000" anchor="ctr">
                    <a:lnL w="12700" cap="flat" cmpd="sng">
                      <a:solidFill>
                        <a:srgbClr val="C8C8C8"/>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solidFill>
                        <a:srgbClr val="C8C8C8"/>
                      </a:solidFill>
                      <a:prstDash val="solid"/>
                      <a:round/>
                      <a:headEnd type="none" w="sm" len="sm"/>
                      <a:tailEnd type="none" w="sm" len="sm"/>
                    </a:lnB>
                    <a:solidFill>
                      <a:srgbClr val="ECF2D9"/>
                    </a:solidFill>
                  </a:tcPr>
                </a:tc>
                <a:extLst>
                  <a:ext uri="{0D108BD9-81ED-4DB2-BD59-A6C34878D82A}">
                    <a16:rowId xmlns:a16="http://schemas.microsoft.com/office/drawing/2014/main" val="10005"/>
                  </a:ext>
                </a:extLst>
              </a:tr>
              <a:tr h="667512">
                <a:tc>
                  <a:txBody>
                    <a:bodyPr/>
                    <a:lstStyle/>
                    <a:p>
                      <a:pPr marL="0" marR="0" lvl="0" indent="0" algn="ctr" rtl="0">
                        <a:spcBef>
                          <a:spcPts val="0"/>
                        </a:spcBef>
                        <a:spcAft>
                          <a:spcPts val="0"/>
                        </a:spcAft>
                        <a:buNone/>
                      </a:pPr>
                      <a:r>
                        <a:rPr sz="1300" b="1">
                          <a:latin typeface="Meiryo UI"/>
                          <a:ea typeface="Meiryo UI"/>
                        </a:rPr>
                        <a:t>6</a:t>
                      </a:r>
                    </a:p>
                  </a:txBody>
                  <a:tcPr marL="54000" marR="36000" marT="18000" marB="18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chemeClr val="accent1">
                        <a:lumMod val="60000"/>
                        <a:lumOff val="40000"/>
                      </a:schemeClr>
                    </a:solidFill>
                  </a:tcPr>
                </a:tc>
                <a:tc>
                  <a:txBody>
                    <a:bodyPr/>
                    <a:lstStyle/>
                    <a:p>
                      <a:pPr marL="0" marR="0" lvl="0" indent="0" algn="ctr" rtl="0">
                        <a:lnSpc>
                          <a:spcPct val="100000"/>
                        </a:lnSpc>
                        <a:spcBef>
                          <a:spcPts val="0"/>
                        </a:spcBef>
                        <a:spcAft>
                          <a:spcPts val="0"/>
                        </a:spcAft>
                        <a:buClr>
                          <a:schemeClr val="dk1"/>
                        </a:buClr>
                        <a:buSzPts val="1500"/>
                        <a:buFont typeface="Arial"/>
                        <a:buNone/>
                      </a:pPr>
                      <a:r>
                        <a:rPr sz="1050" b="0">
                          <a:latin typeface="Meiryo UI"/>
                          <a:ea typeface="Meiryo UI"/>
                        </a:rPr>
                        <a:t>主要外注先</a:t>
                      </a:r>
                    </a:p>
                  </a:txBody>
                  <a:tcPr marL="54000" marR="36000" marT="18000" marB="18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chemeClr val="accent1">
                        <a:lumMod val="20000"/>
                        <a:lumOff val="80000"/>
                      </a:schemeClr>
                    </a:solidFill>
                  </a:tcPr>
                </a:tc>
                <a:tc>
                  <a:txBody>
                    <a:bodyPr/>
                    <a:lstStyle/>
                    <a:p>
                      <a:pPr marL="88900" marR="0" lvl="0" indent="-88900" algn="l" rtl="0">
                        <a:lnSpc>
                          <a:spcPct val="100000"/>
                        </a:lnSpc>
                        <a:spcBef>
                          <a:spcPts val="0"/>
                        </a:spcBef>
                        <a:spcAft>
                          <a:spcPts val="0"/>
                        </a:spcAft>
                        <a:buClr>
                          <a:srgbClr val="66A09A"/>
                        </a:buClr>
                        <a:buSzPts val="1120"/>
                        <a:buFont typeface="Noto Sans Symbols"/>
                        <a:buNone/>
                      </a:pPr>
                      <a:r>
                        <a:rPr sz="900" b="0">
                          <a:latin typeface="Meiryo UI"/>
                          <a:ea typeface="Meiryo UI"/>
                        </a:rPr>
                        <a:t>売上高の約8割が外注費。シノトランスジャパン、サンスターライン、マトリクス、中国代理店（上海远雅国际物流有限公司）等との契約条件・COC条項・与信状況を確認。</a:t>
                      </a:r>
                    </a:p>
                  </a:txBody>
                  <a:tcPr marL="54000" marR="36000" marT="18000" marB="18000" anchor="ctr">
                    <a:lnL w="9525" cap="flat" cmpd="sng">
                      <a:solidFill>
                        <a:srgbClr val="000000">
                          <a:alpha val="0"/>
                        </a:srgbClr>
                      </a:solidFill>
                      <a:prstDash val="solid"/>
                      <a:round/>
                      <a:headEnd type="none" w="sm" len="sm"/>
                      <a:tailEnd type="none" w="sm" len="sm"/>
                    </a:lnL>
                    <a:lnR w="12700" cap="flat" cmpd="sng">
                      <a:solidFill>
                        <a:srgbClr val="C8C8C8"/>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lgn="ctr">
                      <a:solidFill>
                        <a:srgbClr val="C8C8C8"/>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252525"/>
                        </a:buClr>
                        <a:buSzPts val="1600"/>
                        <a:buFont typeface="Arial"/>
                        <a:buNone/>
                      </a:pPr>
                      <a:r>
                        <a:rPr sz="1200" b="1">
                          <a:latin typeface="Meiryo UI"/>
                          <a:ea typeface="Meiryo UI"/>
                        </a:rPr>
                        <a:t>要確認</a:t>
                      </a:r>
                      <a:endParaRPr lang="ja-JP" sz="1600" b="1" i="0" u="none" strike="noStrike" cap="none" dirty="0">
                        <a:solidFill>
                          <a:srgbClr val="252525"/>
                        </a:solidFill>
                        <a:latin typeface="Meiryo UI" panose="020B0604030504040204" pitchFamily="50" charset="-128"/>
                        <a:ea typeface="Meiryo UI" panose="020B0604030504040204" pitchFamily="50" charset="-128"/>
                        <a:cs typeface="Arial"/>
                        <a:sym typeface="Arial"/>
                      </a:endParaRPr>
                    </a:p>
                  </a:txBody>
                  <a:tcPr marL="54000" marR="36000" marT="18000" marB="18000" anchor="ctr">
                    <a:lnL w="12700" cap="flat" cmpd="sng">
                      <a:solidFill>
                        <a:srgbClr val="C8C8C8"/>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lgn="ctr">
                      <a:solidFill>
                        <a:srgbClr val="C8C8C8"/>
                      </a:solidFill>
                      <a:prstDash val="solid"/>
                      <a:round/>
                      <a:headEnd type="none" w="sm" len="sm"/>
                      <a:tailEnd type="none" w="sm" len="sm"/>
                    </a:lnB>
                    <a:solidFill>
                      <a:srgbClr val="ECF2D9"/>
                    </a:solidFill>
                  </a:tcPr>
                </a:tc>
                <a:extLst>
                  <a:ext uri="{0D108BD9-81ED-4DB2-BD59-A6C34878D82A}">
                    <a16:rowId xmlns:a16="http://schemas.microsoft.com/office/drawing/2014/main" val="10006"/>
                  </a:ext>
                </a:extLst>
              </a:tr>
              <a:tr h="667512">
                <a:tc>
                  <a:txBody>
                    <a:bodyPr/>
                    <a:lstStyle/>
                    <a:p>
                      <a:pPr marL="0" marR="0" lvl="0" indent="0" algn="ctr" rtl="0">
                        <a:spcBef>
                          <a:spcPts val="0"/>
                        </a:spcBef>
                        <a:spcAft>
                          <a:spcPts val="0"/>
                        </a:spcAft>
                        <a:buNone/>
                      </a:pPr>
                      <a:r>
                        <a:rPr sz="1300" b="1">
                          <a:latin typeface="Meiryo UI"/>
                          <a:ea typeface="Meiryo UI"/>
                        </a:rPr>
                        <a:t>7</a:t>
                      </a:r>
                    </a:p>
                  </a:txBody>
                  <a:tcPr marL="54000" marR="36000" marT="18000" marB="18000" anchor="ctr">
                    <a:lnL w="9525" cap="flat" cmpd="sng">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60000"/>
                        <a:lumOff val="40000"/>
                      </a:schemeClr>
                    </a:solidFill>
                  </a:tcPr>
                </a:tc>
                <a:tc>
                  <a:txBody>
                    <a:bodyPr/>
                    <a:lstStyle/>
                    <a:p>
                      <a:pPr marL="0" marR="0" lvl="0" indent="0" algn="ctr" rtl="0">
                        <a:lnSpc>
                          <a:spcPct val="100000"/>
                        </a:lnSpc>
                        <a:spcBef>
                          <a:spcPts val="0"/>
                        </a:spcBef>
                        <a:spcAft>
                          <a:spcPts val="0"/>
                        </a:spcAft>
                        <a:buClr>
                          <a:schemeClr val="dk1"/>
                        </a:buClr>
                        <a:buSzPts val="1500"/>
                        <a:buFont typeface="Arial"/>
                        <a:buNone/>
                      </a:pPr>
                      <a:r>
                        <a:rPr sz="1050" b="0">
                          <a:latin typeface="Meiryo UI"/>
                          <a:ea typeface="Meiryo UI"/>
                        </a:rPr>
                        <a:t>海外拠点</a:t>
                      </a:r>
                    </a:p>
                  </a:txBody>
                  <a:tcPr marL="54000" marR="36000" marT="18000" marB="18000" anchor="ctr">
                    <a:lnL w="9525" cap="flat" cmpd="sng" algn="ctr">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20000"/>
                        <a:lumOff val="80000"/>
                      </a:schemeClr>
                    </a:solidFill>
                  </a:tcPr>
                </a:tc>
                <a:tc>
                  <a:txBody>
                    <a:bodyPr/>
                    <a:lstStyle/>
                    <a:p>
                      <a:pPr marL="88900" marR="0" lvl="0" indent="-88900" algn="l" rtl="0">
                        <a:lnSpc>
                          <a:spcPct val="100000"/>
                        </a:lnSpc>
                        <a:spcBef>
                          <a:spcPts val="0"/>
                        </a:spcBef>
                        <a:spcAft>
                          <a:spcPts val="0"/>
                        </a:spcAft>
                        <a:buClr>
                          <a:srgbClr val="66A09A"/>
                        </a:buClr>
                        <a:buSzPts val="1120"/>
                        <a:buFont typeface="Noto Sans Symbols"/>
                        <a:buNone/>
                      </a:pPr>
                      <a:r>
                        <a:rPr sz="900" b="0">
                          <a:latin typeface="Meiryo UI"/>
                          <a:ea typeface="Meiryo UI"/>
                        </a:rPr>
                        <a:t>上海・広州の駐在員事務所。法的な位置づけ、人員・費用負担、譲渡後の継続可否および承継手続を確認。</a:t>
                      </a:r>
                    </a:p>
                  </a:txBody>
                  <a:tcPr marL="54000" marR="36000" marT="18000" marB="18000" anchor="ctr">
                    <a:lnL w="9525" cap="flat" cmpd="sng" algn="ctr">
                      <a:solidFill>
                        <a:srgbClr val="000000">
                          <a:alpha val="0"/>
                        </a:srgbClr>
                      </a:solidFill>
                      <a:prstDash val="solid"/>
                      <a:round/>
                      <a:headEnd type="none" w="sm" len="sm"/>
                      <a:tailEnd type="none" w="sm" len="sm"/>
                    </a:lnL>
                    <a:lnR w="12700" cap="flat" cmpd="sng" algn="ctr">
                      <a:solidFill>
                        <a:srgbClr val="C8C8C8"/>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solidFill>
                        <a:srgbClr val="C8C8C8"/>
                      </a:solidFill>
                      <a:prstDash val="solid"/>
                      <a:round/>
                      <a:headEnd type="none" w="sm" len="sm"/>
                      <a:tailEnd type="none" w="sm" len="sm"/>
                    </a:lnB>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
                          <a:srgbClr val="252525"/>
                        </a:buClr>
                        <a:buSzPts val="1600"/>
                        <a:buFont typeface="Arial"/>
                        <a:buNone/>
                        <a:tabLst/>
                        <a:defRPr/>
                      </a:pPr>
                      <a:r>
                        <a:rPr sz="1200" b="1">
                          <a:latin typeface="Meiryo UI"/>
                          <a:ea typeface="Meiryo UI"/>
                        </a:rPr>
                        <a:t>要確認</a:t>
                      </a:r>
                      <a:endParaRPr lang="ja-JP" altLang="en-US" sz="1600" b="1" i="0" u="none" strike="noStrike" cap="none" dirty="0">
                        <a:solidFill>
                          <a:srgbClr val="252525"/>
                        </a:solidFill>
                        <a:latin typeface="Meiryo UI" panose="020B0604030504040204" pitchFamily="50" charset="-128"/>
                        <a:ea typeface="Meiryo UI" panose="020B0604030504040204" pitchFamily="50" charset="-128"/>
                        <a:cs typeface="Arial"/>
                        <a:sym typeface="Arial"/>
                      </a:endParaRPr>
                    </a:p>
                  </a:txBody>
                  <a:tcPr marL="54000" marR="36000" marT="18000" marB="18000" anchor="ctr">
                    <a:lnL w="12700" cap="flat" cmpd="sng" algn="ctr">
                      <a:solidFill>
                        <a:srgbClr val="C8C8C8"/>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solidFill>
                        <a:srgbClr val="C8C8C8"/>
                      </a:solidFill>
                      <a:prstDash val="solid"/>
                      <a:round/>
                      <a:headEnd type="none" w="sm" len="sm"/>
                      <a:tailEnd type="none" w="sm" len="sm"/>
                    </a:lnB>
                    <a:solidFill>
                      <a:srgbClr val="ECF2D9"/>
                    </a:solidFill>
                  </a:tcPr>
                </a:tc>
                <a:extLst>
                  <a:ext uri="{0D108BD9-81ED-4DB2-BD59-A6C34878D82A}">
                    <a16:rowId xmlns:a16="http://schemas.microsoft.com/office/drawing/2014/main" val="259882126"/>
                  </a:ext>
                </a:extLst>
              </a:tr>
              <a:tr h="667512">
                <a:tc>
                  <a:txBody>
                    <a:bodyPr/>
                    <a:lstStyle/>
                    <a:p>
                      <a:pPr marL="0" marR="0" lvl="0" indent="0" algn="ctr" rtl="0">
                        <a:spcBef>
                          <a:spcPts val="0"/>
                        </a:spcBef>
                        <a:spcAft>
                          <a:spcPts val="0"/>
                        </a:spcAft>
                        <a:buNone/>
                      </a:pPr>
                      <a:r>
                        <a:rPr sz="1300" b="1">
                          <a:latin typeface="Meiryo UI"/>
                          <a:ea typeface="Meiryo UI"/>
                        </a:rPr>
                        <a:t>8</a:t>
                      </a:r>
                    </a:p>
                  </a:txBody>
                  <a:tcPr marL="54000" marR="36000" marT="18000" marB="18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60000"/>
                        <a:lumOff val="40000"/>
                      </a:schemeClr>
                    </a:solidFill>
                  </a:tcPr>
                </a:tc>
                <a:tc>
                  <a:txBody>
                    <a:bodyPr/>
                    <a:lstStyle/>
                    <a:p>
                      <a:pPr marL="0" marR="0" lvl="0" indent="0" algn="ctr" rtl="0">
                        <a:spcBef>
                          <a:spcPts val="0"/>
                        </a:spcBef>
                        <a:spcAft>
                          <a:spcPts val="0"/>
                        </a:spcAft>
                        <a:buNone/>
                      </a:pPr>
                      <a:r>
                        <a:rPr sz="1050" b="0">
                          <a:latin typeface="Meiryo UI"/>
                          <a:ea typeface="Meiryo UI"/>
                        </a:rPr>
                        <a:t>不動産・</a:t>
                      </a:r>
                    </a:p>
                    <a:p>
                      <a:pPr algn="ctr"/>
                      <a:r>
                        <a:rPr sz="1050" b="0">
                          <a:latin typeface="Meiryo UI"/>
                          <a:ea typeface="Meiryo UI"/>
                        </a:rPr>
                        <a:t>許認可等</a:t>
                      </a:r>
                    </a:p>
                  </a:txBody>
                  <a:tcPr marL="54000" marR="36000" marT="18000" marB="18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20000"/>
                        <a:lumOff val="80000"/>
                      </a:schemeClr>
                    </a:solidFill>
                  </a:tcPr>
                </a:tc>
                <a:tc>
                  <a:txBody>
                    <a:bodyPr/>
                    <a:lstStyle/>
                    <a:p>
                      <a:pPr marL="0" marR="0" lvl="0" indent="0" algn="l" rtl="0">
                        <a:lnSpc>
                          <a:spcPct val="100000"/>
                        </a:lnSpc>
                        <a:spcBef>
                          <a:spcPts val="0"/>
                        </a:spcBef>
                        <a:spcAft>
                          <a:spcPts val="0"/>
                        </a:spcAft>
                        <a:buClr>
                          <a:srgbClr val="66A09A"/>
                        </a:buClr>
                        <a:buSzPts val="1120"/>
                        <a:buFont typeface="Arial"/>
                        <a:buNone/>
                      </a:pPr>
                      <a:r>
                        <a:rPr sz="900" b="0">
                          <a:latin typeface="Meiryo UI"/>
                          <a:ea typeface="Meiryo UI"/>
                        </a:rPr>
                        <a:t>本社事務所（普通賃貸借・2年更新・月額192.5千円、解約費用なし）。敷金の金額が企業概要書内で1,000千円と350千円の2通り記載されており要確認。通関業許可の有無も併せて確認。</a:t>
                      </a:r>
                      <a:endParaRPr lang="en-US" altLang="ja-JP" sz="1100" b="0" dirty="0">
                        <a:solidFill>
                          <a:schemeClr val="dk1"/>
                        </a:solidFill>
                        <a:latin typeface="Meiryo UI" panose="020B0604030504040204" pitchFamily="50" charset="-128"/>
                        <a:ea typeface="Meiryo UI" panose="020B0604030504040204" pitchFamily="50" charset="-128"/>
                      </a:endParaRPr>
                    </a:p>
                  </a:txBody>
                  <a:tcPr marL="54000" marR="36000" marT="18000" marB="18000" anchor="ctr">
                    <a:lnL w="9525" cap="flat" cmpd="sng">
                      <a:solidFill>
                        <a:srgbClr val="000000">
                          <a:alpha val="0"/>
                        </a:srgbClr>
                      </a:solidFill>
                      <a:prstDash val="solid"/>
                      <a:round/>
                      <a:headEnd type="none" w="sm" len="sm"/>
                      <a:tailEnd type="none" w="sm" len="sm"/>
                    </a:lnL>
                    <a:lnR w="12700" cap="flat" cmpd="sng">
                      <a:solidFill>
                        <a:srgbClr val="C8C8C8"/>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rgbClr val="C8C8C8"/>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252525"/>
                        </a:buClr>
                        <a:buSzPts val="1600"/>
                        <a:buFont typeface="Arial"/>
                        <a:buNone/>
                      </a:pPr>
                      <a:r>
                        <a:rPr sz="1200" b="1">
                          <a:latin typeface="Meiryo UI"/>
                          <a:ea typeface="Meiryo UI"/>
                        </a:rPr>
                        <a:t>要確認</a:t>
                      </a:r>
                      <a:endParaRPr lang="ja-JP" sz="1600" b="1" i="0" u="none" strike="noStrike" cap="none" dirty="0">
                        <a:solidFill>
                          <a:srgbClr val="252525"/>
                        </a:solidFill>
                        <a:latin typeface="Meiryo UI" panose="020B0604030504040204" pitchFamily="50" charset="-128"/>
                        <a:ea typeface="Meiryo UI" panose="020B0604030504040204" pitchFamily="50" charset="-128"/>
                        <a:cs typeface="Arial"/>
                        <a:sym typeface="Arial"/>
                      </a:endParaRPr>
                    </a:p>
                  </a:txBody>
                  <a:tcPr marL="54000" marR="36000" marT="18000" marB="18000" anchor="ctr">
                    <a:lnL w="12700" cap="flat" cmpd="sng">
                      <a:solidFill>
                        <a:srgbClr val="C8C8C8"/>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rgbClr val="C8C8C8"/>
                      </a:solidFill>
                      <a:prstDash val="solid"/>
                      <a:round/>
                      <a:headEnd type="none" w="sm" len="sm"/>
                      <a:tailEnd type="none" w="sm" len="sm"/>
                    </a:lnB>
                    <a:solidFill>
                      <a:srgbClr val="ECF2D9"/>
                    </a:solidFill>
                  </a:tcPr>
                </a:tc>
                <a:extLst>
                  <a:ext uri="{0D108BD9-81ED-4DB2-BD59-A6C34878D82A}">
                    <a16:rowId xmlns:a16="http://schemas.microsoft.com/office/drawing/2014/main" val="10001"/>
                  </a:ext>
                </a:extLst>
              </a:tr>
            </a:tbl>
          </a:graphicData>
        </a:graphic>
      </p:graphicFrame>
      <p:sp>
        <p:nvSpPr>
          <p:cNvPr id="218" name="Google Shape;218;p4"/>
          <p:cNvSpPr txBox="1"/>
          <p:nvPr/>
        </p:nvSpPr>
        <p:spPr>
          <a:xfrm>
            <a:off x="9450000" y="0"/>
            <a:ext cx="3400000" cy="6858000"/>
          </a:xfrm>
          <a:prstGeom prst="rect">
            <a:avLst/>
          </a:prstGeom>
          <a:solidFill>
            <a:srgbClr val="EEF7CD"/>
          </a:solidFill>
          <a:ln>
            <a:noFill/>
          </a:ln>
        </p:spPr>
        <p:txBody>
          <a:bodyPr spcFirstLastPara="1" wrap="square" lIns="72000" tIns="36000" rIns="72000" bIns="36000" anchor="ctr" anchorCtr="0">
            <a:noAutofit/>
          </a:bodyPr>
          <a:lstStyle/>
          <a:p>
            <a:pPr marL="0" marR="0" lvl="0" indent="0" algn="l" rtl="0">
              <a:lnSpc>
                <a:spcPct val="110000"/>
              </a:lnSpc>
              <a:spcBef>
                <a:spcPts val="0"/>
              </a:spcBef>
              <a:spcAft>
                <a:spcPts val="0"/>
              </a:spcAft>
              <a:buNone/>
            </a:pPr>
            <a:r>
              <a:rPr sz="900" b="0">
                <a:latin typeface="Meiryo UI"/>
                <a:ea typeface="Meiryo UI"/>
              </a:rPr>
              <a:t>【社内メモ｜本資料作成時の留意事項】</a:t>
            </a:r>
            <a:endParaRPr/>
          </a:p>
          <a:p>
            <a:pPr algn="l">
              <a:lnSpc>
                <a:spcPct val="110000"/>
              </a:lnSpc>
            </a:pPr>
            <a:r>
              <a:rPr sz="900" b="0">
                <a:latin typeface="Meiryo UI"/>
                <a:ea typeface="Meiryo UI"/>
              </a:rPr>
              <a:t>※本テキストボックスはスライド範囲外に配置しており、スライドショー・PDF出力には表示されません。買手候補への提示前に内容をご確認ください。</a:t>
            </a:r>
          </a:p>
          <a:p>
            <a:pPr algn="l">
              <a:lnSpc>
                <a:spcPct val="110000"/>
              </a:lnSpc>
            </a:pPr>
            <a:r>
              <a:rPr sz="900" b="0">
                <a:latin typeface="Meiryo UI"/>
                <a:ea typeface="Meiryo UI"/>
              </a:rPr>
              <a:t>　</a:t>
            </a:r>
          </a:p>
          <a:p>
            <a:pPr algn="l">
              <a:lnSpc>
                <a:spcPct val="110000"/>
              </a:lnSpc>
            </a:pPr>
            <a:r>
              <a:rPr sz="900" b="0">
                <a:latin typeface="Meiryo UI"/>
                <a:ea typeface="Meiryo UI"/>
              </a:rPr>
              <a:t>１．基準EBITDA 18,760千円は株式価値試算報告書（2026年4月17日付）の記載値。修正後EBITDA（14,806／14,410／22,952）を1:2:3で加重平均すると18,747千円となり13千円の差が生じるため、案件マスターで算定根拠を確定すること。</a:t>
            </a:r>
          </a:p>
          <a:p>
            <a:pPr algn="l">
              <a:lnSpc>
                <a:spcPct val="110000"/>
              </a:lnSpc>
            </a:pPr>
            <a:r>
              <a:rPr sz="900" b="0">
                <a:latin typeface="Meiryo UI"/>
                <a:ea typeface="Meiryo UI"/>
              </a:rPr>
              <a:t>　</a:t>
            </a:r>
          </a:p>
          <a:p>
            <a:pPr algn="l">
              <a:lnSpc>
                <a:spcPct val="110000"/>
              </a:lnSpc>
            </a:pPr>
            <a:r>
              <a:rPr sz="900" b="0">
                <a:latin typeface="Meiryo UI"/>
                <a:ea typeface="Meiryo UI"/>
              </a:rPr>
              <a:t>２．「スキーム比較のご提案」（2026年5月29日付）では基準EBITDA 18,512千円・倍率4〜6倍（EV 74,046〜111,069千円）と記載されており、株式価値試算報告書（18,760千円・3〜5倍）と数値・倍率がいずれも異なる。買手候補ごとに提示数値が食い違わないよう、提示前に統一すること。本資料は株式価値試算報告書の数値に統一している。</a:t>
            </a:r>
          </a:p>
          <a:p>
            <a:pPr algn="l">
              <a:lnSpc>
                <a:spcPct val="110000"/>
              </a:lnSpc>
            </a:pPr>
            <a:r>
              <a:rPr sz="900" b="0">
                <a:latin typeface="Meiryo UI"/>
                <a:ea typeface="Meiryo UI"/>
              </a:rPr>
              <a:t>　</a:t>
            </a:r>
          </a:p>
          <a:p>
            <a:pPr algn="l">
              <a:lnSpc>
                <a:spcPct val="110000"/>
              </a:lnSpc>
            </a:pPr>
            <a:r>
              <a:rPr sz="900" b="0">
                <a:latin typeface="Meiryo UI"/>
                <a:ea typeface="Meiryo UI"/>
              </a:rPr>
              <a:t>３．株式価値試算報告書の「販管費及び一般管理費の修正」の修正後合計（2025年12月期 47,260千円）と、PLハイライトから逆算した販管費（44,780千円＝売上総利益67,190－営業利益22,410）に2,480千円の差異がある。案件マスターで整合を確認すること。</a:t>
            </a:r>
          </a:p>
          <a:p>
            <a:pPr algn="l">
              <a:lnSpc>
                <a:spcPct val="110000"/>
              </a:lnSpc>
            </a:pPr>
            <a:r>
              <a:rPr sz="900" b="0">
                <a:latin typeface="Meiryo UI"/>
                <a:ea typeface="Meiryo UI"/>
              </a:rPr>
              <a:t>　</a:t>
            </a:r>
          </a:p>
          <a:p>
            <a:pPr algn="l">
              <a:lnSpc>
                <a:spcPct val="110000"/>
              </a:lnSpc>
            </a:pPr>
            <a:r>
              <a:rPr sz="900" b="0">
                <a:latin typeface="Meiryo UI"/>
                <a:ea typeface="Meiryo UI"/>
              </a:rPr>
              <a:t>４．企業概要書の売上高（2024年12月期252,085／2025年12月期375,521千円）と分析資料の売上高（201,668／356,909千円）が異なる。前者は軽配送事業を含む全社ベース、後者はフォワーダー事業単体ベースと理解しているが、2023年12月期のみ両者が一致（282,040千円）しており、同期の軽配送事業売上の除外が未反映の可能性がある。要検証。</a:t>
            </a:r>
          </a:p>
          <a:p>
            <a:pPr algn="l">
              <a:lnSpc>
                <a:spcPct val="110000"/>
              </a:lnSpc>
            </a:pPr>
            <a:r>
              <a:rPr sz="900" b="0">
                <a:latin typeface="Meiryo UI"/>
                <a:ea typeface="Meiryo UI"/>
              </a:rPr>
              <a:t>　</a:t>
            </a:r>
          </a:p>
          <a:p>
            <a:pPr algn="l">
              <a:lnSpc>
                <a:spcPct val="110000"/>
              </a:lnSpc>
            </a:pPr>
            <a:r>
              <a:rPr sz="900" b="0">
                <a:latin typeface="Meiryo UI"/>
                <a:ea typeface="Meiryo UI"/>
              </a:rPr>
              <a:t>５．P10の「＋6,920千円（軽配送事業の切離し・販管費の部門別賦課）」は、企業概要書の調整後EBITDA 9,922千円と本資料の22,952千円の差額13,030千円から役員報酬差6,110千円を控除した残差として算出したもの。内訳を案件マスターで分解し、確定させること。</a:t>
            </a:r>
          </a:p>
          <a:p>
            <a:pPr algn="l">
              <a:lnSpc>
                <a:spcPct val="110000"/>
              </a:lnSpc>
            </a:pPr>
            <a:r>
              <a:rPr sz="900" b="0">
                <a:latin typeface="Meiryo UI"/>
                <a:ea typeface="Meiryo UI"/>
              </a:rPr>
              <a:t>　</a:t>
            </a:r>
          </a:p>
          <a:p>
            <a:pPr algn="l">
              <a:lnSpc>
                <a:spcPct val="110000"/>
              </a:lnSpc>
            </a:pPr>
            <a:r>
              <a:rPr sz="900" b="0">
                <a:latin typeface="Meiryo UI"/>
                <a:ea typeface="Meiryo UI"/>
              </a:rPr>
              <a:t>６．弊社成功報酬について、企業概要書の報酬体系では「時価総資産（営業権含む）2億円以下の部分＝2,000万円、最低額1,500万円」、「スキーム比較のご提案」では「アドバイザリー報酬10,000千円」と記載が異なる。提示前の統一が必要なため、本資料では金額を記載せず「別途ご提示」としている。</a:t>
            </a:r>
          </a:p>
          <a:p>
            <a:pPr algn="l">
              <a:lnSpc>
                <a:spcPct val="110000"/>
              </a:lnSpc>
            </a:pPr>
            <a:r>
              <a:rPr sz="900" b="0">
                <a:latin typeface="Meiryo UI"/>
                <a:ea typeface="Meiryo UI"/>
              </a:rPr>
              <a:t>　</a:t>
            </a:r>
          </a:p>
          <a:p>
            <a:pPr algn="l">
              <a:lnSpc>
                <a:spcPct val="110000"/>
              </a:lnSpc>
            </a:pPr>
            <a:r>
              <a:rPr sz="900" b="0">
                <a:latin typeface="Meiryo UI"/>
                <a:ea typeface="Meiryo UI"/>
              </a:rPr>
              <a:t>７．他の買手候補（ジャパン・バン・ラインズ株式会社）への提示資料の存在および提示条件については、本資料および面談において一切言及しないこと。</a:t>
            </a:r>
          </a:p>
          <a:p>
            <a:pPr algn="l">
              <a:lnSpc>
                <a:spcPct val="110000"/>
              </a:lnSpc>
            </a:pPr>
            <a:r>
              <a:rPr sz="900" b="0">
                <a:latin typeface="Meiryo UI"/>
                <a:ea typeface="Meiryo UI"/>
              </a:rPr>
              <a:t>　</a:t>
            </a:r>
          </a:p>
          <a:p>
            <a:pPr algn="l">
              <a:lnSpc>
                <a:spcPct val="110000"/>
              </a:lnSpc>
            </a:pPr>
            <a:r>
              <a:rPr sz="900" b="0">
                <a:latin typeface="Meiryo UI"/>
                <a:ea typeface="Meiryo UI"/>
              </a:rPr>
              <a:t>８．「2026年4月中に代表保有の休眠会社へ軽配送事業を切り分ける想定」（企業概要書P6）は同年4月時点の記載。本日（2026年8月16日）時点の実行状況を売主に確認のうえ、面談前にP7・P8を更新すること。</a:t>
            </a:r>
          </a:p>
          <a:p>
            <a:pPr algn="l">
              <a:lnSpc>
                <a:spcPct val="110000"/>
              </a:lnSpc>
            </a:pPr>
            <a:r>
              <a:rPr sz="900" b="0">
                <a:latin typeface="Meiryo UI"/>
                <a:ea typeface="Meiryo UI"/>
              </a:rPr>
              <a:t>　</a:t>
            </a:r>
          </a:p>
          <a:p>
            <a:pPr algn="l">
              <a:lnSpc>
                <a:spcPct val="110000"/>
              </a:lnSpc>
            </a:pPr>
            <a:r>
              <a:rPr sz="900" b="0">
                <a:latin typeface="Meiryo UI"/>
                <a:ea typeface="Meiryo UI"/>
              </a:rPr>
              <a:t>９．役員借入金 約10,000千円の貸借対照表上の計上区分が未確定。短期借入金15,321千円に含まれる場合、P6の手出し資金表（③と⑤）で二重計上となるため要修正。</a:t>
            </a:r>
          </a:p>
          <a:p>
            <a:pPr algn="l">
              <a:lnSpc>
                <a:spcPct val="110000"/>
              </a:lnSpc>
            </a:pPr>
            <a:r>
              <a:rPr sz="900" b="0">
                <a:latin typeface="Meiryo UI"/>
                <a:ea typeface="Meiryo UI"/>
              </a:rPr>
              <a:t>　</a:t>
            </a:r>
          </a:p>
          <a:p>
            <a:pPr algn="l">
              <a:lnSpc>
                <a:spcPct val="110000"/>
              </a:lnSpc>
            </a:pPr>
            <a:r>
              <a:rPr sz="900" b="0">
                <a:latin typeface="Meiryo UI"/>
                <a:ea typeface="Meiryo UI"/>
              </a:rPr>
              <a:t>10．第一種貨物利用運送事業（外航海運）の事業譲渡・会社分割時の承継手続については、所管官庁（国土交通省）への確認が必要。本資料では「要確認」としている。</a:t>
            </a:r>
          </a:p>
          <a:p>
            <a:pPr algn="l">
              <a:lnSpc>
                <a:spcPct val="110000"/>
              </a:lnSpc>
            </a:pPr>
            <a:r>
              <a:rPr sz="900" b="0">
                <a:latin typeface="Meiryo UI"/>
                <a:ea typeface="Meiryo UI"/>
              </a:rPr>
              <a:t>　</a:t>
            </a:r>
          </a:p>
          <a:p>
            <a:pPr algn="l">
              <a:lnSpc>
                <a:spcPct val="110000"/>
              </a:lnSpc>
            </a:pPr>
            <a:r>
              <a:rPr sz="900" b="0">
                <a:latin typeface="Meiryo UI"/>
                <a:ea typeface="Meiryo UI"/>
              </a:rPr>
              <a:t>11．発行済株式数は企業概要書内で「3,000株」（基本情報）と「300株」（株主及び役員）の2通りの記載。登記簿で確定のうえ、企業概要書も修正すること。</a:t>
            </a:r>
          </a:p>
          <a:p>
            <a:pPr algn="l">
              <a:lnSpc>
                <a:spcPct val="110000"/>
              </a:lnSpc>
            </a:pPr>
            <a:r>
              <a:rPr sz="900" b="0">
                <a:latin typeface="Meiryo UI"/>
                <a:ea typeface="Meiryo UI"/>
              </a:rPr>
              <a:t>　</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04" name="Google Shape;204;p3"/>
          <p:cNvSpPr txBox="1">
            <a:spLocks noGrp="1"/>
          </p:cNvSpPr>
          <p:nvPr>
            <p:ph type="title"/>
          </p:nvPr>
        </p:nvSpPr>
        <p:spPr>
          <a:xfrm>
            <a:off x="395536" y="332655"/>
            <a:ext cx="6696744" cy="288033"/>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sz="1400" b="1">
                <a:solidFill>
                  <a:srgbClr val="5A5A5A"/>
                </a:solidFill>
                <a:latin typeface="Meiryo UI"/>
                <a:ea typeface="Meiryo UI"/>
              </a:rPr>
              <a:t>今後のスケジュール（想定）</a:t>
            </a:r>
            <a:endParaRPr b="1" dirty="0">
              <a:solidFill>
                <a:srgbClr val="5A5A5A"/>
              </a:solidFill>
              <a:latin typeface="Meiryo UI" panose="020B0604030504040204" pitchFamily="50" charset="-128"/>
              <a:ea typeface="Meiryo UI" panose="020B0604030504040204" pitchFamily="50" charset="-128"/>
              <a:sym typeface="Arial"/>
            </a:endParaRPr>
          </a:p>
        </p:txBody>
      </p:sp>
      <p:sp>
        <p:nvSpPr>
          <p:cNvPr id="205" name="Google Shape;205;p3"/>
          <p:cNvSpPr txBox="1"/>
          <p:nvPr/>
        </p:nvSpPr>
        <p:spPr>
          <a:xfrm>
            <a:off x="323528" y="116632"/>
            <a:ext cx="2376264" cy="188640"/>
          </a:xfrm>
          <a:prstGeom prst="rect">
            <a:avLst/>
          </a:prstGeom>
          <a:noFill/>
          <a:ln>
            <a:noFill/>
          </a:ln>
        </p:spPr>
        <p:txBody>
          <a:bodyPr spcFirstLastPara="1" wrap="square" lIns="36000" tIns="0" rIns="0" bIns="0" anchor="ctr" anchorCtr="0">
            <a:noAutofit/>
          </a:bodyPr>
          <a:lstStyle/>
          <a:p>
            <a:pPr marL="0" marR="0" lvl="0" indent="0" algn="l" rtl="0">
              <a:lnSpc>
                <a:spcPct val="100000"/>
              </a:lnSpc>
              <a:spcBef>
                <a:spcPts val="0"/>
              </a:spcBef>
              <a:spcAft>
                <a:spcPts val="0"/>
              </a:spcAft>
              <a:buClr>
                <a:srgbClr val="5A5A5A"/>
              </a:buClr>
              <a:buSzPts val="1000"/>
              <a:buFont typeface="Arial"/>
              <a:buNone/>
            </a:pPr>
            <a:r>
              <a:rPr sz="1000" b="0">
                <a:solidFill>
                  <a:srgbClr val="5A5A5A"/>
                </a:solidFill>
                <a:latin typeface="Meiryo UI"/>
                <a:ea typeface="Meiryo UI"/>
              </a:rPr>
              <a:t>本件の論点整理</a:t>
            </a:r>
            <a:endParaRPr>
              <a:latin typeface="Meiryo UI" panose="020B0604030504040204" pitchFamily="50" charset="-128"/>
              <a:ea typeface="Meiryo UI" panose="020B0604030504040204" pitchFamily="50" charset="-128"/>
            </a:endParaRPr>
          </a:p>
        </p:txBody>
      </p:sp>
      <p:sp>
        <p:nvSpPr>
          <p:cNvPr id="206" name="Google Shape;206;p3"/>
          <p:cNvSpPr/>
          <p:nvPr/>
        </p:nvSpPr>
        <p:spPr>
          <a:xfrm>
            <a:off x="0" y="116632"/>
            <a:ext cx="323528" cy="180000"/>
          </a:xfrm>
          <a:prstGeom prst="parallelogram">
            <a:avLst>
              <a:gd name="adj" fmla="val 32938"/>
            </a:avLst>
          </a:prstGeom>
          <a:solidFill>
            <a:srgbClr val="66A09A"/>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Arial"/>
              <a:buNone/>
            </a:pPr>
            <a:r>
              <a:rPr sz="1000" b="0">
                <a:solidFill>
                  <a:srgbClr val="FFFFFF"/>
                </a:solidFill>
                <a:latin typeface="Meiryo UI"/>
                <a:ea typeface="Meiryo UI"/>
              </a:rPr>
              <a:t>1</a:t>
            </a:r>
            <a:endParaRPr sz="1000" b="0" i="0" u="none" strike="noStrike" cap="none">
              <a:solidFill>
                <a:srgbClr val="FFFFFF"/>
              </a:solidFill>
              <a:latin typeface="Arial"/>
              <a:ea typeface="Arial"/>
              <a:cs typeface="Arial"/>
              <a:sym typeface="Arial"/>
            </a:endParaRPr>
          </a:p>
        </p:txBody>
      </p:sp>
      <p:graphicFrame>
        <p:nvGraphicFramePr>
          <p:cNvPr id="207" name="Google Shape;207;p3"/>
          <p:cNvGraphicFramePr/>
          <p:nvPr>
            <p:extLst>
              <p:ext uri="{D42A27DB-BD31-4B8C-83A1-F6EECF244321}">
                <p14:modId xmlns:p14="http://schemas.microsoft.com/office/powerpoint/2010/main" val="2721619109"/>
              </p:ext>
            </p:extLst>
          </p:nvPr>
        </p:nvGraphicFramePr>
        <p:xfrm>
          <a:off x="265176" y="1481328"/>
          <a:ext cx="8348471" cy="4462272"/>
        </p:xfrm>
        <a:graphic>
          <a:graphicData uri="http://schemas.openxmlformats.org/drawingml/2006/table">
            <a:tbl>
              <a:tblPr>
                <a:noFill/>
                <a:tableStyleId>{FA6B9113-0DA6-4419-ABC6-697280B0F4CE}</a:tableStyleId>
              </a:tblPr>
              <a:tblGrid>
                <a:gridCol w="429768">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gridCol w="4443984">
                  <a:extLst>
                    <a:ext uri="{9D8B030D-6E8A-4147-A177-3AD203B41FA5}">
                      <a16:colId xmlns:a16="http://schemas.microsoft.com/office/drawing/2014/main" val="20002"/>
                    </a:ext>
                  </a:extLst>
                </a:gridCol>
                <a:gridCol w="1874519">
                  <a:extLst>
                    <a:ext uri="{9D8B030D-6E8A-4147-A177-3AD203B41FA5}">
                      <a16:colId xmlns:a16="http://schemas.microsoft.com/office/drawing/2014/main" val="20003"/>
                    </a:ext>
                  </a:extLst>
                </a:gridCol>
              </a:tblGrid>
              <a:tr h="347472">
                <a:tc>
                  <a:txBody>
                    <a:bodyPr/>
                    <a:lstStyle/>
                    <a:p>
                      <a:pPr marL="0" marR="0" lvl="0" indent="0" algn="ctr" rtl="0">
                        <a:spcBef>
                          <a:spcPts val="0"/>
                        </a:spcBef>
                        <a:spcAft>
                          <a:spcPts val="0"/>
                        </a:spcAft>
                        <a:buNone/>
                      </a:pPr>
                      <a:r>
                        <a:rPr sz="1100" b="1">
                          <a:latin typeface="Meiryo UI"/>
                          <a:ea typeface="Meiryo UI"/>
                        </a:rPr>
                        <a:t>No.</a:t>
                      </a:r>
                      <a:endParaRPr sz="1400" b="1" u="none" strike="noStrike" cap="none" dirty="0">
                        <a:solidFill>
                          <a:schemeClr val="lt1"/>
                        </a:solidFill>
                        <a:latin typeface="Meiryo UI" panose="020B0604030504040204" pitchFamily="50" charset="-128"/>
                        <a:ea typeface="Meiryo UI" panose="020B0604030504040204" pitchFamily="50" charset="-128"/>
                      </a:endParaRPr>
                    </a:p>
                  </a:txBody>
                  <a:tcPr marL="18000" marR="36000" marT="18000" marB="18000" anchor="ctr">
                    <a:lnL w="9525" cap="flat" cmpd="sng">
                      <a:solidFill>
                        <a:srgbClr val="000000">
                          <a:alpha val="0"/>
                        </a:srgbClr>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accent1">
                        <a:lumMod val="50000"/>
                      </a:schemeClr>
                    </a:solidFill>
                  </a:tcPr>
                </a:tc>
                <a:tc>
                  <a:txBody>
                    <a:bodyPr/>
                    <a:lstStyle/>
                    <a:p>
                      <a:pPr marL="0" marR="0" lvl="0" indent="0" algn="ctr" rtl="0">
                        <a:spcBef>
                          <a:spcPts val="0"/>
                        </a:spcBef>
                        <a:spcAft>
                          <a:spcPts val="0"/>
                        </a:spcAft>
                        <a:buNone/>
                      </a:pPr>
                      <a:r>
                        <a:rPr sz="1100" b="1">
                          <a:latin typeface="Meiryo UI"/>
                          <a:ea typeface="Meiryo UI"/>
                        </a:rPr>
                        <a:t>時期</a:t>
                      </a:r>
                      <a:endParaRPr dirty="0">
                        <a:latin typeface="Meiryo UI" panose="020B0604030504040204" pitchFamily="50" charset="-128"/>
                        <a:ea typeface="Meiryo UI" panose="020B0604030504040204" pitchFamily="50" charset="-128"/>
                      </a:endParaRPr>
                    </a:p>
                  </a:txBody>
                  <a:tcPr marL="18000" marR="36000" marT="18000" marB="1800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accent1">
                        <a:lumMod val="50000"/>
                      </a:schemeClr>
                    </a:solidFill>
                  </a:tcPr>
                </a:tc>
                <a:tc>
                  <a:txBody>
                    <a:bodyPr/>
                    <a:lstStyle/>
                    <a:p>
                      <a:pPr marL="0" marR="0" lvl="0" indent="0" algn="ctr" rtl="0">
                        <a:spcBef>
                          <a:spcPts val="0"/>
                        </a:spcBef>
                        <a:spcAft>
                          <a:spcPts val="0"/>
                        </a:spcAft>
                        <a:buNone/>
                      </a:pPr>
                      <a:r>
                        <a:rPr sz="1100" b="1">
                          <a:latin typeface="Meiryo UI"/>
                          <a:ea typeface="Meiryo UI"/>
                        </a:rPr>
                        <a:t>内容</a:t>
                      </a:r>
                      <a:endParaRPr dirty="0">
                        <a:latin typeface="Meiryo UI" panose="020B0604030504040204" pitchFamily="50" charset="-128"/>
                        <a:ea typeface="Meiryo UI" panose="020B0604030504040204" pitchFamily="50" charset="-128"/>
                      </a:endParaRPr>
                    </a:p>
                  </a:txBody>
                  <a:tcPr marL="18000" marR="36000" marT="18000" marB="1800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accent1">
                        <a:lumMod val="50000"/>
                      </a:schemeClr>
                    </a:solidFill>
                  </a:tcPr>
                </a:tc>
                <a:tc>
                  <a:txBody>
                    <a:bodyPr/>
                    <a:lstStyle/>
                    <a:p>
                      <a:pPr marL="0" marR="0" lvl="0" indent="0" algn="ctr" rtl="0">
                        <a:spcBef>
                          <a:spcPts val="0"/>
                        </a:spcBef>
                        <a:spcAft>
                          <a:spcPts val="0"/>
                        </a:spcAft>
                        <a:buNone/>
                      </a:pPr>
                      <a:r>
                        <a:rPr sz="1100" b="1">
                          <a:latin typeface="Meiryo UI"/>
                          <a:ea typeface="Meiryo UI"/>
                        </a:rPr>
                        <a:t>備考</a:t>
                      </a:r>
                      <a:endParaRPr dirty="0">
                        <a:latin typeface="Meiryo UI" panose="020B0604030504040204" pitchFamily="50" charset="-128"/>
                        <a:ea typeface="Meiryo UI" panose="020B0604030504040204" pitchFamily="50" charset="-128"/>
                      </a:endParaRPr>
                    </a:p>
                  </a:txBody>
                  <a:tcPr marL="18000" marR="36000" marT="18000" marB="18000" anchor="ctr">
                    <a:lnL w="9525" cap="flat" cmpd="sng">
                      <a:solidFill>
                        <a:schemeClr val="lt1"/>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accent1">
                        <a:lumMod val="50000"/>
                      </a:schemeClr>
                    </a:solidFill>
                  </a:tcPr>
                </a:tc>
                <a:extLst>
                  <a:ext uri="{0D108BD9-81ED-4DB2-BD59-A6C34878D82A}">
                    <a16:rowId xmlns:a16="http://schemas.microsoft.com/office/drawing/2014/main" val="10000"/>
                  </a:ext>
                </a:extLst>
              </a:tr>
              <a:tr h="685800">
                <a:tc>
                  <a:txBody>
                    <a:bodyPr/>
                    <a:lstStyle/>
                    <a:p>
                      <a:pPr marL="0" marR="0" lvl="0" indent="0" algn="ctr" rtl="0">
                        <a:spcBef>
                          <a:spcPts val="0"/>
                        </a:spcBef>
                        <a:spcAft>
                          <a:spcPts val="0"/>
                        </a:spcAft>
                        <a:buNone/>
                      </a:pPr>
                      <a:r>
                        <a:rPr sz="1200" b="1">
                          <a:latin typeface="Meiryo UI"/>
                          <a:ea typeface="Meiryo UI"/>
                        </a:rPr>
                        <a:t>1</a:t>
                      </a:r>
                    </a:p>
                  </a:txBody>
                  <a:tcPr marL="54000" marR="36000" marT="18000" marB="18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60000"/>
                        <a:lumOff val="40000"/>
                      </a:schemeClr>
                    </a:solidFill>
                  </a:tcPr>
                </a:tc>
                <a:tc>
                  <a:txBody>
                    <a:bodyPr/>
                    <a:lstStyle/>
                    <a:p>
                      <a:pPr marL="0" marR="0" lvl="0" indent="0" algn="ctr" rtl="0">
                        <a:spcBef>
                          <a:spcPts val="0"/>
                        </a:spcBef>
                        <a:spcAft>
                          <a:spcPts val="0"/>
                        </a:spcAft>
                        <a:buNone/>
                      </a:pPr>
                      <a:r>
                        <a:rPr sz="1050" b="0">
                          <a:latin typeface="Meiryo UI"/>
                          <a:ea typeface="Meiryo UI"/>
                        </a:rPr>
                        <a:t>2026年8月下旬</a:t>
                      </a:r>
                    </a:p>
                  </a:txBody>
                  <a:tcPr marL="54000" marR="36000" marT="18000" marB="18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20000"/>
                        <a:lumOff val="80000"/>
                      </a:schemeClr>
                    </a:solidFill>
                  </a:tcPr>
                </a:tc>
                <a:tc>
                  <a:txBody>
                    <a:bodyPr/>
                    <a:lstStyle/>
                    <a:p>
                      <a:pPr marL="0" marR="0" lvl="0" indent="0" algn="l" rtl="0">
                        <a:spcBef>
                          <a:spcPts val="0"/>
                        </a:spcBef>
                        <a:spcAft>
                          <a:spcPts val="0"/>
                        </a:spcAft>
                        <a:buClr>
                          <a:srgbClr val="66A09A"/>
                        </a:buClr>
                        <a:buSzPts val="1120"/>
                        <a:buFont typeface="Arial"/>
                        <a:buNone/>
                      </a:pPr>
                      <a:r>
                        <a:rPr sz="950" b="0">
                          <a:latin typeface="Meiryo UI"/>
                          <a:ea typeface="Meiryo UI"/>
                        </a:rPr>
                        <a:t>トップ面談（本資料に基づく譲渡スキーム・価額の方向性のすり合わせ）</a:t>
                      </a:r>
                      <a:endParaRPr lang="en-US" altLang="ja-JP" sz="1050" u="none" strike="noStrike" cap="none" dirty="0">
                        <a:solidFill>
                          <a:schemeClr val="dk1"/>
                        </a:solidFill>
                        <a:latin typeface="Meiryo UI" panose="020B0604030504040204" pitchFamily="50" charset="-128"/>
                        <a:ea typeface="Meiryo UI" panose="020B0604030504040204" pitchFamily="50" charset="-128"/>
                      </a:endParaRPr>
                    </a:p>
                  </a:txBody>
                  <a:tcPr marL="54000" marR="36000" marT="18000" marB="18000" anchor="ctr">
                    <a:lnL w="9525" cap="flat" cmpd="sng">
                      <a:solidFill>
                        <a:srgbClr val="000000">
                          <a:alpha val="0"/>
                        </a:srgbClr>
                      </a:solidFill>
                      <a:prstDash val="solid"/>
                      <a:round/>
                      <a:headEnd type="none" w="sm" len="sm"/>
                      <a:tailEnd type="none" w="sm" len="sm"/>
                    </a:lnL>
                    <a:lnR w="12700" cap="flat" cmpd="sng">
                      <a:solidFill>
                        <a:srgbClr val="C8C8C8"/>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rgbClr val="C8C8C8"/>
                      </a:solidFill>
                      <a:prstDash val="solid"/>
                      <a:round/>
                      <a:headEnd type="none" w="sm" len="sm"/>
                      <a:tailEnd type="none" w="sm" len="sm"/>
                    </a:lnB>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
                          <a:prstClr val="black"/>
                        </a:buClr>
                        <a:buSzPts val="1600"/>
                        <a:buFont typeface="Arial"/>
                        <a:buNone/>
                        <a:tabLst/>
                        <a:defRPr/>
                      </a:pPr>
                      <a:r>
                        <a:rPr sz="900" b="0">
                          <a:latin typeface="Meiryo UI"/>
                          <a:ea typeface="Meiryo UI"/>
                        </a:rPr>
                        <a:t>本日</a:t>
                      </a:r>
                      <a:endParaRPr kumimoji="0" lang="ja-JP" altLang="ja-JP" sz="1600" b="1"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Arial"/>
                        <a:sym typeface="Arial"/>
                      </a:endParaRPr>
                    </a:p>
                  </a:txBody>
                  <a:tcPr marL="54000" marR="36000" marT="18000" marB="18000" anchor="ctr">
                    <a:lnL w="12700" cap="flat" cmpd="sng">
                      <a:solidFill>
                        <a:srgbClr val="C8C8C8"/>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rgbClr val="C8C8C8"/>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685800">
                <a:tc>
                  <a:txBody>
                    <a:bodyPr/>
                    <a:lstStyle/>
                    <a:p>
                      <a:pPr marL="0" marR="0" lvl="0" indent="0" algn="ctr" rtl="0">
                        <a:spcBef>
                          <a:spcPts val="0"/>
                        </a:spcBef>
                        <a:spcAft>
                          <a:spcPts val="0"/>
                        </a:spcAft>
                        <a:buNone/>
                      </a:pPr>
                      <a:r>
                        <a:rPr sz="1200" b="1">
                          <a:latin typeface="Meiryo UI"/>
                          <a:ea typeface="Meiryo UI"/>
                        </a:rPr>
                        <a:t>2</a:t>
                      </a:r>
                    </a:p>
                  </a:txBody>
                  <a:tcPr marL="54000" marR="36000" marT="18000" marB="18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60000"/>
                        <a:lumOff val="40000"/>
                      </a:schemeClr>
                    </a:solidFill>
                  </a:tcPr>
                </a:tc>
                <a:tc>
                  <a:txBody>
                    <a:bodyPr/>
                    <a:lstStyle/>
                    <a:p>
                      <a:pPr marL="0" marR="0" lvl="0" indent="0" algn="ctr" rtl="0">
                        <a:spcBef>
                          <a:spcPts val="0"/>
                        </a:spcBef>
                        <a:spcAft>
                          <a:spcPts val="0"/>
                        </a:spcAft>
                        <a:buNone/>
                      </a:pPr>
                      <a:r>
                        <a:rPr sz="1050" b="0">
                          <a:latin typeface="Meiryo UI"/>
                          <a:ea typeface="Meiryo UI"/>
                        </a:rPr>
                        <a:t>2026年9月上旬</a:t>
                      </a:r>
                      <a:endParaRPr lang="en-US" altLang="ja-JP" sz="1300" u="none" strike="noStrike" cap="none" dirty="0">
                        <a:solidFill>
                          <a:schemeClr val="dk1"/>
                        </a:solidFill>
                        <a:latin typeface="Meiryo UI" panose="020B0604030504040204" pitchFamily="50" charset="-128"/>
                        <a:ea typeface="Meiryo UI" panose="020B0604030504040204" pitchFamily="50" charset="-128"/>
                      </a:endParaRPr>
                    </a:p>
                  </a:txBody>
                  <a:tcPr marL="54000" marR="36000" marT="18000" marB="18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chemeClr val="accent1">
                        <a:lumMod val="20000"/>
                        <a:lumOff val="80000"/>
                      </a:schemeClr>
                    </a:solidFill>
                  </a:tcPr>
                </a:tc>
                <a:tc>
                  <a:txBody>
                    <a:bodyPr/>
                    <a:lstStyle/>
                    <a:p>
                      <a:pPr marL="0" marR="0" lvl="0" indent="0" algn="l" rtl="0">
                        <a:spcBef>
                          <a:spcPts val="0"/>
                        </a:spcBef>
                        <a:spcAft>
                          <a:spcPts val="0"/>
                        </a:spcAft>
                        <a:buClr>
                          <a:srgbClr val="66A09A"/>
                        </a:buClr>
                        <a:buSzPts val="1120"/>
                        <a:buFont typeface="Arial"/>
                        <a:buNone/>
                      </a:pPr>
                      <a:r>
                        <a:rPr sz="950" b="0">
                          <a:latin typeface="Meiryo UI"/>
                          <a:ea typeface="Meiryo UI"/>
                        </a:rPr>
                        <a:t>譲渡スキームの確定／軽配送事業の切出し状況の確認／追加開示資料のご提供</a:t>
                      </a:r>
                    </a:p>
                  </a:txBody>
                  <a:tcPr marL="54000" marR="36000" marT="18000" marB="18000" anchor="ctr">
                    <a:lnL w="9525" cap="flat" cmpd="sng">
                      <a:solidFill>
                        <a:srgbClr val="000000">
                          <a:alpha val="0"/>
                        </a:srgbClr>
                      </a:solidFill>
                      <a:prstDash val="solid"/>
                      <a:round/>
                      <a:headEnd type="none" w="sm" len="sm"/>
                      <a:tailEnd type="none" w="sm" len="sm"/>
                    </a:lnL>
                    <a:lnR w="12700" cap="flat" cmpd="sng">
                      <a:solidFill>
                        <a:srgbClr val="C8C8C8"/>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lgn="ctr">
                      <a:solidFill>
                        <a:srgbClr val="C8C8C8"/>
                      </a:solidFill>
                      <a:prstDash val="solid"/>
                      <a:round/>
                      <a:headEnd type="none" w="sm" len="sm"/>
                      <a:tailEnd type="none" w="sm" len="sm"/>
                    </a:lnB>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
                          <a:prstClr val="black"/>
                        </a:buClr>
                        <a:buSzPts val="1600"/>
                        <a:buFont typeface="Arial"/>
                        <a:buNone/>
                        <a:tabLst/>
                        <a:defRPr/>
                      </a:pPr>
                      <a:r>
                        <a:rPr sz="900" b="0">
                          <a:latin typeface="Meiryo UI"/>
                          <a:ea typeface="Meiryo UI"/>
                        </a:rPr>
                        <a:t>切出し完了が実行の前提条件</a:t>
                      </a:r>
                      <a:endParaRPr kumimoji="0" lang="ja-JP" altLang="ja-JP" sz="1600" b="1"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Arial"/>
                        <a:sym typeface="Arial"/>
                      </a:endParaRPr>
                    </a:p>
                  </a:txBody>
                  <a:tcPr marL="54000" marR="36000" marT="18000" marB="18000" anchor="ctr">
                    <a:lnL w="12700" cap="flat" cmpd="sng">
                      <a:solidFill>
                        <a:srgbClr val="C8C8C8"/>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lgn="ctr">
                      <a:solidFill>
                        <a:srgbClr val="C8C8C8"/>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r h="685800">
                <a:tc>
                  <a:txBody>
                    <a:bodyPr/>
                    <a:lstStyle/>
                    <a:p>
                      <a:pPr marL="0" marR="0" lvl="0" indent="0" algn="ctr" rtl="0">
                        <a:spcBef>
                          <a:spcPts val="0"/>
                        </a:spcBef>
                        <a:spcAft>
                          <a:spcPts val="0"/>
                        </a:spcAft>
                        <a:buNone/>
                      </a:pPr>
                      <a:r>
                        <a:rPr sz="1200" b="1">
                          <a:latin typeface="Meiryo UI"/>
                          <a:ea typeface="Meiryo UI"/>
                        </a:rPr>
                        <a:t>3</a:t>
                      </a:r>
                    </a:p>
                  </a:txBody>
                  <a:tcPr marL="54000" marR="36000" marT="18000" marB="18000" anchor="ctr">
                    <a:lnL w="9525" cap="flat" cmpd="sng">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60000"/>
                        <a:lumOff val="40000"/>
                      </a:schemeClr>
                    </a:solidFill>
                  </a:tcPr>
                </a:tc>
                <a:tc>
                  <a:txBody>
                    <a:bodyPr/>
                    <a:lstStyle/>
                    <a:p>
                      <a:pPr marL="0" marR="0" lvl="0" indent="0" algn="ctr" rtl="0">
                        <a:spcBef>
                          <a:spcPts val="0"/>
                        </a:spcBef>
                        <a:spcAft>
                          <a:spcPts val="0"/>
                        </a:spcAft>
                        <a:buNone/>
                      </a:pPr>
                      <a:r>
                        <a:rPr sz="1050" b="0">
                          <a:latin typeface="Meiryo UI"/>
                          <a:ea typeface="Meiryo UI"/>
                        </a:rPr>
                        <a:t>2026年9月中旬</a:t>
                      </a:r>
                    </a:p>
                  </a:txBody>
                  <a:tcPr marL="54000" marR="36000" marT="18000" marB="18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chemeClr val="accent1">
                        <a:lumMod val="20000"/>
                        <a:lumOff val="80000"/>
                      </a:schemeClr>
                    </a:solidFill>
                  </a:tcPr>
                </a:tc>
                <a:tc>
                  <a:txBody>
                    <a:bodyPr/>
                    <a:lstStyle/>
                    <a:p>
                      <a:pPr marL="0" marR="0" lvl="0" indent="0" algn="l" rtl="0">
                        <a:spcBef>
                          <a:spcPts val="0"/>
                        </a:spcBef>
                        <a:spcAft>
                          <a:spcPts val="0"/>
                        </a:spcAft>
                        <a:buClr>
                          <a:srgbClr val="66A09A"/>
                        </a:buClr>
                        <a:buSzPts val="1120"/>
                        <a:buFont typeface="Arial"/>
                        <a:buNone/>
                      </a:pPr>
                      <a:r>
                        <a:rPr sz="950" b="0">
                          <a:latin typeface="Meiryo UI"/>
                          <a:ea typeface="Meiryo UI"/>
                        </a:rPr>
                        <a:t>意向表明書のご提出（スキーム・譲渡価額・付帯条件）</a:t>
                      </a:r>
                    </a:p>
                  </a:txBody>
                  <a:tcPr marL="54000" marR="36000" marT="18000" marB="18000" anchor="ctr">
                    <a:lnL w="9525" cap="flat" cmpd="sng">
                      <a:solidFill>
                        <a:srgbClr val="000000">
                          <a:alpha val="0"/>
                        </a:srgbClr>
                      </a:solidFill>
                      <a:prstDash val="solid"/>
                      <a:round/>
                      <a:headEnd type="none" w="sm" len="sm"/>
                      <a:tailEnd type="none" w="sm" len="sm"/>
                    </a:lnL>
                    <a:lnR w="12700" cap="flat" cmpd="sng">
                      <a:solidFill>
                        <a:srgbClr val="C8C8C8"/>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lgn="ctr">
                      <a:solidFill>
                        <a:srgbClr val="C8C8C8"/>
                      </a:solidFill>
                      <a:prstDash val="solid"/>
                      <a:round/>
                      <a:headEnd type="none" w="sm" len="sm"/>
                      <a:tailEnd type="none" w="sm" len="sm"/>
                    </a:lnB>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
                          <a:prstClr val="black"/>
                        </a:buClr>
                        <a:buSzPts val="1600"/>
                        <a:buFont typeface="Arial"/>
                        <a:buNone/>
                        <a:tabLst/>
                        <a:defRPr/>
                      </a:pPr>
                      <a:r>
                        <a:rPr sz="900" b="0">
                          <a:latin typeface="Meiryo UI"/>
                          <a:ea typeface="Meiryo UI"/>
                        </a:rPr>
                        <a:t>　</a:t>
                      </a:r>
                      <a:endParaRPr kumimoji="0" lang="ja-JP" altLang="ja-JP" sz="1600" b="1"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Arial"/>
                        <a:sym typeface="Arial"/>
                      </a:endParaRPr>
                    </a:p>
                  </a:txBody>
                  <a:tcPr marL="54000" marR="36000" marT="18000" marB="18000" anchor="ctr">
                    <a:lnL w="12700" cap="flat" cmpd="sng">
                      <a:solidFill>
                        <a:srgbClr val="C8C8C8"/>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lgn="ctr">
                      <a:solidFill>
                        <a:srgbClr val="C8C8C8"/>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685800">
                <a:tc>
                  <a:txBody>
                    <a:bodyPr/>
                    <a:lstStyle/>
                    <a:p>
                      <a:pPr marL="0" marR="0" lvl="0" indent="0" algn="ctr" rtl="0">
                        <a:spcBef>
                          <a:spcPts val="0"/>
                        </a:spcBef>
                        <a:spcAft>
                          <a:spcPts val="0"/>
                        </a:spcAft>
                        <a:buNone/>
                      </a:pPr>
                      <a:r>
                        <a:rPr sz="1200" b="1">
                          <a:latin typeface="Meiryo UI"/>
                          <a:ea typeface="Meiryo UI"/>
                        </a:rPr>
                        <a:t>4</a:t>
                      </a:r>
                    </a:p>
                  </a:txBody>
                  <a:tcPr marL="54000" marR="36000" marT="18000" marB="18000" anchor="ctr">
                    <a:lnL w="9525" cap="flat" cmpd="sng">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chemeClr val="accent1">
                        <a:lumMod val="60000"/>
                        <a:lumOff val="40000"/>
                      </a:schemeClr>
                    </a:solidFill>
                  </a:tcPr>
                </a:tc>
                <a:tc>
                  <a:txBody>
                    <a:bodyPr/>
                    <a:lstStyle/>
                    <a:p>
                      <a:pPr marL="0" marR="0" lvl="0" indent="0" algn="ctr" rtl="0">
                        <a:spcBef>
                          <a:spcPts val="0"/>
                        </a:spcBef>
                        <a:spcAft>
                          <a:spcPts val="0"/>
                        </a:spcAft>
                        <a:buNone/>
                      </a:pPr>
                      <a:r>
                        <a:rPr sz="1050" b="0">
                          <a:latin typeface="Meiryo UI"/>
                          <a:ea typeface="Meiryo UI"/>
                        </a:rPr>
                        <a:t>2026年9月下旬</a:t>
                      </a:r>
                    </a:p>
                  </a:txBody>
                  <a:tcPr marL="54000" marR="36000" marT="18000" marB="18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chemeClr val="accent1">
                        <a:lumMod val="20000"/>
                        <a:lumOff val="80000"/>
                      </a:schemeClr>
                    </a:solidFill>
                  </a:tcPr>
                </a:tc>
                <a:tc>
                  <a:txBody>
                    <a:bodyPr/>
                    <a:lstStyle/>
                    <a:p>
                      <a:pPr marL="0" marR="0" lvl="0" indent="0" algn="l" rtl="0">
                        <a:spcBef>
                          <a:spcPts val="0"/>
                        </a:spcBef>
                        <a:spcAft>
                          <a:spcPts val="0"/>
                        </a:spcAft>
                        <a:buClr>
                          <a:srgbClr val="66A09A"/>
                        </a:buClr>
                        <a:buSzPts val="1120"/>
                        <a:buFont typeface="Arial"/>
                        <a:buNone/>
                      </a:pPr>
                      <a:r>
                        <a:rPr sz="950" b="0">
                          <a:latin typeface="Meiryo UI"/>
                          <a:ea typeface="Meiryo UI"/>
                        </a:rPr>
                        <a:t>基本合意書の締結（独占交渉権の付与）</a:t>
                      </a:r>
                      <a:endParaRPr lang="en-US" altLang="ja-JP" sz="1000" b="0" u="none" strike="noStrike" cap="none" dirty="0">
                        <a:solidFill>
                          <a:schemeClr val="dk1"/>
                        </a:solidFill>
                        <a:latin typeface="Meiryo UI" panose="020B0604030504040204" pitchFamily="50" charset="-128"/>
                        <a:ea typeface="Meiryo UI" panose="020B0604030504040204" pitchFamily="50" charset="-128"/>
                      </a:endParaRPr>
                    </a:p>
                  </a:txBody>
                  <a:tcPr marL="54000" marR="36000" marT="18000" marB="18000" anchor="ctr">
                    <a:lnL w="9525" cap="flat" cmpd="sng">
                      <a:solidFill>
                        <a:srgbClr val="000000">
                          <a:alpha val="0"/>
                        </a:srgbClr>
                      </a:solidFill>
                      <a:prstDash val="solid"/>
                      <a:round/>
                      <a:headEnd type="none" w="sm" len="sm"/>
                      <a:tailEnd type="none" w="sm" len="sm"/>
                    </a:lnL>
                    <a:lnR w="12700" cap="flat" cmpd="sng">
                      <a:solidFill>
                        <a:srgbClr val="C8C8C8"/>
                      </a:solidFill>
                      <a:prstDash val="solid"/>
                      <a:round/>
                      <a:headEnd type="none" w="sm" len="sm"/>
                      <a:tailEnd type="none" w="sm" len="sm"/>
                    </a:lnR>
                    <a:lnT w="12700" cap="flat" cmpd="sng" algn="ctr">
                      <a:solidFill>
                        <a:srgbClr val="C8C8C8"/>
                      </a:solidFill>
                      <a:prstDash val="solid"/>
                      <a:round/>
                      <a:headEnd type="none" w="sm" len="sm"/>
                      <a:tailEnd type="none" w="sm" len="sm"/>
                    </a:lnT>
                    <a:lnB w="12700" cap="flat" cmpd="sng" algn="ctr">
                      <a:solidFill>
                        <a:srgbClr val="C8C8C8"/>
                      </a:solidFill>
                      <a:prstDash val="solid"/>
                      <a:round/>
                      <a:headEnd type="none" w="sm" len="sm"/>
                      <a:tailEnd type="none" w="sm" len="sm"/>
                    </a:lnB>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
                          <a:prstClr val="black"/>
                        </a:buClr>
                        <a:buSzPts val="1600"/>
                        <a:buFont typeface="Arial"/>
                        <a:buNone/>
                        <a:tabLst/>
                        <a:defRPr/>
                      </a:pPr>
                      <a:r>
                        <a:rPr sz="900" b="0">
                          <a:latin typeface="Meiryo UI"/>
                          <a:ea typeface="Meiryo UI"/>
                        </a:rPr>
                        <a:t>　</a:t>
                      </a:r>
                      <a:endParaRPr kumimoji="0" lang="ja-JP" altLang="ja-JP" sz="1600" b="1"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Arial"/>
                        <a:sym typeface="Arial"/>
                      </a:endParaRPr>
                    </a:p>
                  </a:txBody>
                  <a:tcPr marL="54000" marR="36000" marT="18000" marB="18000" anchor="ctr">
                    <a:lnL w="12700" cap="flat" cmpd="sng">
                      <a:solidFill>
                        <a:srgbClr val="C8C8C8"/>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lgn="ctr">
                      <a:solidFill>
                        <a:srgbClr val="C8C8C8"/>
                      </a:solidFill>
                      <a:prstDash val="solid"/>
                      <a:round/>
                      <a:headEnd type="none" w="sm" len="sm"/>
                      <a:tailEnd type="none" w="sm" len="sm"/>
                    </a:lnT>
                    <a:lnB w="12700" cap="flat" cmpd="sng" algn="ctr">
                      <a:solidFill>
                        <a:srgbClr val="C8C8C8"/>
                      </a:solidFill>
                      <a:prstDash val="solid"/>
                      <a:round/>
                      <a:headEnd type="none" w="sm" len="sm"/>
                      <a:tailEnd type="none" w="sm" len="sm"/>
                    </a:lnB>
                    <a:solidFill>
                      <a:srgbClr val="FFFFFF"/>
                    </a:solidFill>
                  </a:tcPr>
                </a:tc>
                <a:extLst>
                  <a:ext uri="{0D108BD9-81ED-4DB2-BD59-A6C34878D82A}">
                    <a16:rowId xmlns:a16="http://schemas.microsoft.com/office/drawing/2014/main" val="10004"/>
                  </a:ext>
                </a:extLst>
              </a:tr>
              <a:tr h="685800">
                <a:tc>
                  <a:txBody>
                    <a:bodyPr/>
                    <a:lstStyle/>
                    <a:p>
                      <a:pPr marL="0" marR="0" lvl="0" indent="0" algn="ctr" rtl="0">
                        <a:spcBef>
                          <a:spcPts val="0"/>
                        </a:spcBef>
                        <a:spcAft>
                          <a:spcPts val="0"/>
                        </a:spcAft>
                        <a:buNone/>
                      </a:pPr>
                      <a:r>
                        <a:rPr sz="1200" b="1">
                          <a:latin typeface="Meiryo UI"/>
                          <a:ea typeface="Meiryo UI"/>
                        </a:rPr>
                        <a:t>5</a:t>
                      </a:r>
                    </a:p>
                  </a:txBody>
                  <a:tcPr marL="54000" marR="36000" marT="18000" marB="18000" anchor="ctr">
                    <a:lnL w="9525" cap="flat" cmpd="sng">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60000"/>
                        <a:lumOff val="40000"/>
                      </a:schemeClr>
                    </a:solidFill>
                  </a:tcPr>
                </a:tc>
                <a:tc>
                  <a:txBody>
                    <a:bodyPr/>
                    <a:lstStyle/>
                    <a:p>
                      <a:pPr marL="0" marR="0" lvl="0" indent="0" algn="ctr" rtl="0">
                        <a:spcBef>
                          <a:spcPts val="0"/>
                        </a:spcBef>
                        <a:spcAft>
                          <a:spcPts val="0"/>
                        </a:spcAft>
                        <a:buNone/>
                      </a:pPr>
                      <a:r>
                        <a:rPr sz="1050" b="0">
                          <a:latin typeface="Meiryo UI"/>
                          <a:ea typeface="Meiryo UI"/>
                        </a:rPr>
                        <a:t>2026年10月</a:t>
                      </a:r>
                    </a:p>
                  </a:txBody>
                  <a:tcPr marL="54000" marR="36000" marT="18000" marB="18000" anchor="ctr">
                    <a:lnL w="9525" cap="flat" cmpd="sng" algn="ctr">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20000"/>
                        <a:lumOff val="80000"/>
                      </a:schemeClr>
                    </a:solidFill>
                  </a:tcPr>
                </a:tc>
                <a:tc>
                  <a:txBody>
                    <a:bodyPr/>
                    <a:lstStyle/>
                    <a:p>
                      <a:pPr marL="0" marR="0" lvl="0" indent="0" algn="l" rtl="0">
                        <a:spcBef>
                          <a:spcPts val="0"/>
                        </a:spcBef>
                        <a:spcAft>
                          <a:spcPts val="0"/>
                        </a:spcAft>
                        <a:buClr>
                          <a:srgbClr val="66A09A"/>
                        </a:buClr>
                        <a:buSzPts val="1120"/>
                        <a:buFont typeface="Arial"/>
                        <a:buNone/>
                      </a:pPr>
                      <a:r>
                        <a:rPr sz="950" b="0">
                          <a:latin typeface="Meiryo UI"/>
                          <a:ea typeface="Meiryo UI"/>
                        </a:rPr>
                        <a:t>買収監査（デューデリジェンス）</a:t>
                      </a:r>
                    </a:p>
                  </a:txBody>
                  <a:tcPr marL="54000" marR="36000" marT="18000" marB="18000" anchor="ctr">
                    <a:lnL w="9525" cap="flat" cmpd="sng" algn="ctr">
                      <a:solidFill>
                        <a:srgbClr val="000000">
                          <a:alpha val="0"/>
                        </a:srgbClr>
                      </a:solidFill>
                      <a:prstDash val="solid"/>
                      <a:round/>
                      <a:headEnd type="none" w="sm" len="sm"/>
                      <a:tailEnd type="none" w="sm" len="sm"/>
                    </a:lnL>
                    <a:lnR w="12700" cap="flat" cmpd="sng" algn="ctr">
                      <a:solidFill>
                        <a:srgbClr val="C8C8C8"/>
                      </a:solidFill>
                      <a:prstDash val="solid"/>
                      <a:round/>
                      <a:headEnd type="none" w="sm" len="sm"/>
                      <a:tailEnd type="none" w="sm" len="sm"/>
                    </a:lnR>
                    <a:lnT w="12700" cap="flat" cmpd="sng" algn="ctr">
                      <a:solidFill>
                        <a:srgbClr val="C8C8C8"/>
                      </a:solidFill>
                      <a:prstDash val="solid"/>
                      <a:round/>
                      <a:headEnd type="none" w="sm" len="sm"/>
                      <a:tailEnd type="none" w="sm" len="sm"/>
                    </a:lnT>
                    <a:lnB w="12700" cap="flat" cmpd="sng">
                      <a:solidFill>
                        <a:srgbClr val="C8C8C8"/>
                      </a:solidFill>
                      <a:prstDash val="solid"/>
                      <a:round/>
                      <a:headEnd type="none" w="sm" len="sm"/>
                      <a:tailEnd type="none" w="sm" len="sm"/>
                    </a:lnB>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
                          <a:prstClr val="black"/>
                        </a:buClr>
                        <a:buSzPts val="1600"/>
                        <a:buFont typeface="Arial"/>
                        <a:buNone/>
                        <a:tabLst/>
                        <a:defRPr/>
                      </a:pPr>
                      <a:r>
                        <a:rPr sz="900" b="0">
                          <a:latin typeface="Meiryo UI"/>
                          <a:ea typeface="Meiryo UI"/>
                        </a:rPr>
                        <a:t>財務・税務・法務</a:t>
                      </a:r>
                      <a:endParaRPr kumimoji="0" lang="en-US" altLang="ja-JP" sz="1600" b="1"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Arial"/>
                        <a:sym typeface="Arial"/>
                      </a:endParaRPr>
                    </a:p>
                  </a:txBody>
                  <a:tcPr marL="54000" marR="36000" marT="18000" marB="18000" anchor="ctr">
                    <a:lnL w="12700" cap="flat" cmpd="sng" algn="ctr">
                      <a:solidFill>
                        <a:srgbClr val="C8C8C8"/>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lgn="ctr">
                      <a:solidFill>
                        <a:srgbClr val="C8C8C8"/>
                      </a:solidFill>
                      <a:prstDash val="solid"/>
                      <a:round/>
                      <a:headEnd type="none" w="sm" len="sm"/>
                      <a:tailEnd type="none" w="sm" len="sm"/>
                    </a:lnT>
                    <a:lnB w="12700" cap="flat" cmpd="sng">
                      <a:solidFill>
                        <a:srgbClr val="C8C8C8"/>
                      </a:solidFill>
                      <a:prstDash val="solid"/>
                      <a:round/>
                      <a:headEnd type="none" w="sm" len="sm"/>
                      <a:tailEnd type="none" w="sm" len="sm"/>
                    </a:lnB>
                    <a:solidFill>
                      <a:srgbClr val="FFFFFF"/>
                    </a:solidFill>
                  </a:tcPr>
                </a:tc>
                <a:extLst>
                  <a:ext uri="{0D108BD9-81ED-4DB2-BD59-A6C34878D82A}">
                    <a16:rowId xmlns:a16="http://schemas.microsoft.com/office/drawing/2014/main" val="10007"/>
                  </a:ext>
                </a:extLst>
              </a:tr>
              <a:tr h="685800">
                <a:tc>
                  <a:txBody>
                    <a:bodyPr/>
                    <a:lstStyle/>
                    <a:p>
                      <a:pPr marL="0" marR="0" lvl="0" indent="0" algn="ctr" rtl="0">
                        <a:spcBef>
                          <a:spcPts val="0"/>
                        </a:spcBef>
                        <a:spcAft>
                          <a:spcPts val="0"/>
                        </a:spcAft>
                        <a:buNone/>
                      </a:pPr>
                      <a:r>
                        <a:rPr sz="1200" b="1">
                          <a:latin typeface="Meiryo UI"/>
                          <a:ea typeface="Meiryo UI"/>
                        </a:rPr>
                        <a:t>6</a:t>
                      </a:r>
                    </a:p>
                  </a:txBody>
                  <a:tcPr marL="54000" marR="36000" marT="18000" marB="18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60000"/>
                        <a:lumOff val="40000"/>
                      </a:schemeClr>
                    </a:solidFill>
                  </a:tcPr>
                </a:tc>
                <a:tc>
                  <a:txBody>
                    <a:bodyPr/>
                    <a:lstStyle/>
                    <a:p>
                      <a:pPr marL="0" marR="0" lvl="0" indent="0" algn="ctr" rtl="0">
                        <a:lnSpc>
                          <a:spcPct val="100000"/>
                        </a:lnSpc>
                        <a:spcBef>
                          <a:spcPts val="0"/>
                        </a:spcBef>
                        <a:spcAft>
                          <a:spcPts val="0"/>
                        </a:spcAft>
                        <a:buClr>
                          <a:schemeClr val="dk1"/>
                        </a:buClr>
                        <a:buSzPts val="1500"/>
                        <a:buFont typeface="Arial"/>
                        <a:buNone/>
                      </a:pPr>
                      <a:r>
                        <a:rPr sz="1050" b="0">
                          <a:latin typeface="Meiryo UI"/>
                          <a:ea typeface="Meiryo UI"/>
                        </a:rPr>
                        <a:t>2026年11月</a:t>
                      </a:r>
                    </a:p>
                  </a:txBody>
                  <a:tcPr marL="54000" marR="36000" marT="18000" marB="18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20000"/>
                        <a:lumOff val="80000"/>
                      </a:schemeClr>
                    </a:solidFill>
                  </a:tcPr>
                </a:tc>
                <a:tc>
                  <a:txBody>
                    <a:bodyPr/>
                    <a:lstStyle/>
                    <a:p>
                      <a:pPr marL="0" marR="0" lvl="0" indent="0" algn="l" rtl="0">
                        <a:lnSpc>
                          <a:spcPct val="100000"/>
                        </a:lnSpc>
                        <a:spcBef>
                          <a:spcPts val="0"/>
                        </a:spcBef>
                        <a:spcAft>
                          <a:spcPts val="0"/>
                        </a:spcAft>
                        <a:buClr>
                          <a:schemeClr val="dk1"/>
                        </a:buClr>
                        <a:buSzPts val="1400"/>
                        <a:buFont typeface="Arial"/>
                        <a:buNone/>
                      </a:pPr>
                      <a:r>
                        <a:rPr sz="950" b="0">
                          <a:latin typeface="Meiryo UI"/>
                          <a:ea typeface="Meiryo UI"/>
                        </a:rPr>
                        <a:t>最終契約の締結・クロージング</a:t>
                      </a:r>
                    </a:p>
                  </a:txBody>
                  <a:tcPr marL="54000" marR="36000" marT="18000" marB="18000" anchor="ctr">
                    <a:lnL w="9525" cap="flat" cmpd="sng">
                      <a:solidFill>
                        <a:srgbClr val="000000">
                          <a:alpha val="0"/>
                        </a:srgbClr>
                      </a:solidFill>
                      <a:prstDash val="solid"/>
                      <a:round/>
                      <a:headEnd type="none" w="sm" len="sm"/>
                      <a:tailEnd type="none" w="sm" len="sm"/>
                    </a:lnL>
                    <a:lnR w="12700" cap="flat" cmpd="sng">
                      <a:solidFill>
                        <a:srgbClr val="C8C8C8"/>
                      </a:solidFill>
                      <a:prstDash val="solid"/>
                      <a:round/>
                      <a:headEnd type="none" w="sm" len="sm"/>
                      <a:tailEnd type="none" w="sm" len="sm"/>
                    </a:lnR>
                    <a:lnT w="12700" cap="flat" cmpd="sng" algn="ctr">
                      <a:solidFill>
                        <a:srgbClr val="C8C8C8"/>
                      </a:solidFill>
                      <a:prstDash val="solid"/>
                      <a:round/>
                      <a:headEnd type="none" w="sm" len="sm"/>
                      <a:tailEnd type="none" w="sm" len="sm"/>
                    </a:lnT>
                    <a:lnB w="12700" cap="flat" cmpd="sng">
                      <a:solidFill>
                        <a:srgbClr val="C8C8C8"/>
                      </a:solidFill>
                      <a:prstDash val="solid"/>
                      <a:round/>
                      <a:headEnd type="none" w="sm" len="sm"/>
                      <a:tailEnd type="none" w="sm" len="sm"/>
                    </a:lnB>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
                          <a:prstClr val="black"/>
                        </a:buClr>
                        <a:buSzPts val="1600"/>
                        <a:buFont typeface="Arial"/>
                        <a:buNone/>
                        <a:tabLst/>
                        <a:defRPr/>
                      </a:pPr>
                      <a:r>
                        <a:rPr sz="900" b="0">
                          <a:latin typeface="Meiryo UI"/>
                          <a:ea typeface="Meiryo UI"/>
                        </a:rPr>
                        <a:t>　</a:t>
                      </a:r>
                      <a:endParaRPr kumimoji="0" lang="ja-JP" altLang="ja-JP" sz="1600" b="1"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Arial"/>
                        <a:sym typeface="Arial"/>
                      </a:endParaRPr>
                    </a:p>
                  </a:txBody>
                  <a:tcPr marL="54000" marR="36000" marT="18000" marB="18000" anchor="ctr">
                    <a:lnL w="12700" cap="flat" cmpd="sng">
                      <a:solidFill>
                        <a:srgbClr val="C8C8C8"/>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lgn="ctr">
                      <a:solidFill>
                        <a:srgbClr val="C8C8C8"/>
                      </a:solidFill>
                      <a:prstDash val="solid"/>
                      <a:round/>
                      <a:headEnd type="none" w="sm" len="sm"/>
                      <a:tailEnd type="none" w="sm" len="sm"/>
                    </a:lnT>
                    <a:lnB w="12700" cap="flat" cmpd="sng">
                      <a:solidFill>
                        <a:srgbClr val="C8C8C8"/>
                      </a:solidFill>
                      <a:prstDash val="solid"/>
                      <a:round/>
                      <a:headEnd type="none" w="sm" len="sm"/>
                      <a:tailEnd type="none" w="sm" len="sm"/>
                    </a:lnB>
                    <a:solidFill>
                      <a:srgbClr val="FFFFFF"/>
                    </a:solidFill>
                  </a:tcPr>
                </a:tc>
                <a:extLst>
                  <a:ext uri="{0D108BD9-81ED-4DB2-BD59-A6C34878D82A}">
                    <a16:rowId xmlns:a16="http://schemas.microsoft.com/office/drawing/2014/main" val="10008"/>
                  </a:ext>
                </a:extLst>
              </a:tr>
            </a:tbl>
          </a:graphicData>
        </a:graphic>
      </p:graphicFrame>
      <p:sp>
        <p:nvSpPr>
          <p:cNvPr id="208" name="Google Shape;208;p3"/>
          <p:cNvSpPr txBox="1"/>
          <p:nvPr/>
        </p:nvSpPr>
        <p:spPr>
          <a:xfrm>
            <a:off x="9450000" y="0"/>
            <a:ext cx="3400000" cy="6858000"/>
          </a:xfrm>
          <a:prstGeom prst="rect">
            <a:avLst/>
          </a:prstGeom>
          <a:solidFill>
            <a:srgbClr val="EEF7CD"/>
          </a:solidFill>
          <a:ln>
            <a:noFill/>
          </a:ln>
        </p:spPr>
        <p:txBody>
          <a:bodyPr spcFirstLastPara="1" wrap="square" lIns="72000" tIns="36000" rIns="72000" bIns="36000" anchor="ctr" anchorCtr="0">
            <a:noAutofit/>
          </a:bodyPr>
          <a:lstStyle/>
          <a:p>
            <a:pPr marL="0" marR="0" lvl="0" indent="0" algn="l" rtl="0">
              <a:lnSpc>
                <a:spcPct val="110000"/>
              </a:lnSpc>
              <a:spcBef>
                <a:spcPts val="0"/>
              </a:spcBef>
              <a:spcAft>
                <a:spcPts val="0"/>
              </a:spcAft>
              <a:buNone/>
            </a:pPr>
            <a:r>
              <a:rPr sz="900" b="0">
                <a:latin typeface="Meiryo UI"/>
                <a:ea typeface="Meiryo UI"/>
              </a:rPr>
              <a:t>【社内メモ｜本資料作成時の留意事項】</a:t>
            </a:r>
            <a:endParaRPr dirty="0"/>
          </a:p>
          <a:p>
            <a:pPr algn="l">
              <a:lnSpc>
                <a:spcPct val="110000"/>
              </a:lnSpc>
            </a:pPr>
            <a:r>
              <a:rPr sz="900" b="0">
                <a:latin typeface="Meiryo UI"/>
                <a:ea typeface="Meiryo UI"/>
              </a:rPr>
              <a:t>※本テキストボックスはスライド範囲外に配置しており、スライドショー・PDF出力には表示されません。買手候補への提示前に内容をご確認ください。</a:t>
            </a:r>
          </a:p>
          <a:p>
            <a:pPr algn="l">
              <a:lnSpc>
                <a:spcPct val="110000"/>
              </a:lnSpc>
            </a:pPr>
            <a:r>
              <a:rPr sz="900" b="0">
                <a:latin typeface="Meiryo UI"/>
                <a:ea typeface="Meiryo UI"/>
              </a:rPr>
              <a:t>　</a:t>
            </a:r>
          </a:p>
          <a:p>
            <a:pPr algn="l">
              <a:lnSpc>
                <a:spcPct val="110000"/>
              </a:lnSpc>
            </a:pPr>
            <a:r>
              <a:rPr sz="900" b="0">
                <a:latin typeface="Meiryo UI"/>
                <a:ea typeface="Meiryo UI"/>
              </a:rPr>
              <a:t>１．基準EBITDA 18,760千円は株式価値試算報告書（2026年4月17日付）の記載値。修正後EBITDA（14,806／14,410／22,952）を1:2:3で加重平均すると18,747千円となり13千円の差が生じるため、案件マスターで算定根拠を確定すること。</a:t>
            </a:r>
          </a:p>
          <a:p>
            <a:pPr algn="l">
              <a:lnSpc>
                <a:spcPct val="110000"/>
              </a:lnSpc>
            </a:pPr>
            <a:r>
              <a:rPr sz="900" b="0">
                <a:latin typeface="Meiryo UI"/>
                <a:ea typeface="Meiryo UI"/>
              </a:rPr>
              <a:t>　</a:t>
            </a:r>
          </a:p>
          <a:p>
            <a:pPr algn="l">
              <a:lnSpc>
                <a:spcPct val="110000"/>
              </a:lnSpc>
            </a:pPr>
            <a:r>
              <a:rPr sz="900" b="0">
                <a:latin typeface="Meiryo UI"/>
                <a:ea typeface="Meiryo UI"/>
              </a:rPr>
              <a:t>２．「スキーム比較のご提案」（2026年5月29日付）では基準EBITDA 18,512千円・倍率4〜6倍（EV 74,046〜111,069千円）と記載されており、株式価値試算報告書（18,760千円・3〜5倍）と数値・倍率がいずれも異なる。買手候補ごとに提示数値が食い違わないよう、提示前に統一すること。本資料は株式価値試算報告書の数値に統一している。</a:t>
            </a:r>
          </a:p>
          <a:p>
            <a:pPr algn="l">
              <a:lnSpc>
                <a:spcPct val="110000"/>
              </a:lnSpc>
            </a:pPr>
            <a:r>
              <a:rPr sz="900" b="0">
                <a:latin typeface="Meiryo UI"/>
                <a:ea typeface="Meiryo UI"/>
              </a:rPr>
              <a:t>　</a:t>
            </a:r>
          </a:p>
          <a:p>
            <a:pPr algn="l">
              <a:lnSpc>
                <a:spcPct val="110000"/>
              </a:lnSpc>
            </a:pPr>
            <a:r>
              <a:rPr sz="900" b="0">
                <a:latin typeface="Meiryo UI"/>
                <a:ea typeface="Meiryo UI"/>
              </a:rPr>
              <a:t>３．株式価値試算報告書の「販管費及び一般管理費の修正」の修正後合計（2025年12月期 47,260千円）と、PLハイライトから逆算した販管費（44,780千円＝売上総利益67,190－営業利益22,410）に2,480千円の差異がある。案件マスターで整合を確認すること。</a:t>
            </a:r>
          </a:p>
          <a:p>
            <a:pPr algn="l">
              <a:lnSpc>
                <a:spcPct val="110000"/>
              </a:lnSpc>
            </a:pPr>
            <a:r>
              <a:rPr sz="900" b="0">
                <a:latin typeface="Meiryo UI"/>
                <a:ea typeface="Meiryo UI"/>
              </a:rPr>
              <a:t>　</a:t>
            </a:r>
          </a:p>
          <a:p>
            <a:pPr algn="l">
              <a:lnSpc>
                <a:spcPct val="110000"/>
              </a:lnSpc>
            </a:pPr>
            <a:r>
              <a:rPr sz="900" b="0">
                <a:latin typeface="Meiryo UI"/>
                <a:ea typeface="Meiryo UI"/>
              </a:rPr>
              <a:t>４．企業概要書の売上高（2024年12月期252,085／2025年12月期375,521千円）と分析資料の売上高（201,668／356,909千円）が異なる。前者は軽配送事業を含む全社ベース、後者はフォワーダー事業単体ベースと理解しているが、2023年12月期のみ両者が一致（282,040千円）しており、同期の軽配送事業売上の除外が未反映の可能性がある。要検証。</a:t>
            </a:r>
          </a:p>
          <a:p>
            <a:pPr algn="l">
              <a:lnSpc>
                <a:spcPct val="110000"/>
              </a:lnSpc>
            </a:pPr>
            <a:r>
              <a:rPr sz="900" b="0">
                <a:latin typeface="Meiryo UI"/>
                <a:ea typeface="Meiryo UI"/>
              </a:rPr>
              <a:t>　</a:t>
            </a:r>
          </a:p>
          <a:p>
            <a:pPr algn="l">
              <a:lnSpc>
                <a:spcPct val="110000"/>
              </a:lnSpc>
            </a:pPr>
            <a:r>
              <a:rPr sz="900" b="0">
                <a:latin typeface="Meiryo UI"/>
                <a:ea typeface="Meiryo UI"/>
              </a:rPr>
              <a:t>５．P10の「＋6,920千円（軽配送事業の切離し・販管費の部門別賦課）」は、企業概要書の調整後EBITDA 9,922千円と本資料の22,952千円の差額13,030千円から役員報酬差6,110千円を控除した残差として算出したもの。内訳を案件マスターで分解し、確定させること。</a:t>
            </a:r>
          </a:p>
          <a:p>
            <a:pPr algn="l">
              <a:lnSpc>
                <a:spcPct val="110000"/>
              </a:lnSpc>
            </a:pPr>
            <a:r>
              <a:rPr sz="900" b="0">
                <a:latin typeface="Meiryo UI"/>
                <a:ea typeface="Meiryo UI"/>
              </a:rPr>
              <a:t>　</a:t>
            </a:r>
          </a:p>
          <a:p>
            <a:pPr algn="l">
              <a:lnSpc>
                <a:spcPct val="110000"/>
              </a:lnSpc>
            </a:pPr>
            <a:r>
              <a:rPr sz="900" b="0">
                <a:latin typeface="Meiryo UI"/>
                <a:ea typeface="Meiryo UI"/>
              </a:rPr>
              <a:t>６．弊社成功報酬について、企業概要書の報酬体系では「時価総資産（営業権含む）2億円以下の部分＝2,000万円、最低額1,500万円」、「スキーム比較のご提案」では「アドバイザリー報酬10,000千円」と記載が異なる。提示前の統一が必要なため、本資料では金額を記載せず「別途ご提示」としている。</a:t>
            </a:r>
          </a:p>
          <a:p>
            <a:pPr algn="l">
              <a:lnSpc>
                <a:spcPct val="110000"/>
              </a:lnSpc>
            </a:pPr>
            <a:r>
              <a:rPr sz="900" b="0">
                <a:latin typeface="Meiryo UI"/>
                <a:ea typeface="Meiryo UI"/>
              </a:rPr>
              <a:t>　</a:t>
            </a:r>
          </a:p>
          <a:p>
            <a:pPr algn="l">
              <a:lnSpc>
                <a:spcPct val="110000"/>
              </a:lnSpc>
            </a:pPr>
            <a:r>
              <a:rPr sz="900" b="0">
                <a:latin typeface="Meiryo UI"/>
                <a:ea typeface="Meiryo UI"/>
              </a:rPr>
              <a:t>７．他の買手候補（ジャパン・バン・ラインズ株式会社）への提示資料の存在および提示条件については、本資料および面談において一切言及しないこと。</a:t>
            </a:r>
          </a:p>
          <a:p>
            <a:pPr algn="l">
              <a:lnSpc>
                <a:spcPct val="110000"/>
              </a:lnSpc>
            </a:pPr>
            <a:r>
              <a:rPr sz="900" b="0">
                <a:latin typeface="Meiryo UI"/>
                <a:ea typeface="Meiryo UI"/>
              </a:rPr>
              <a:t>　</a:t>
            </a:r>
          </a:p>
          <a:p>
            <a:pPr algn="l">
              <a:lnSpc>
                <a:spcPct val="110000"/>
              </a:lnSpc>
            </a:pPr>
            <a:r>
              <a:rPr sz="900" b="0">
                <a:latin typeface="Meiryo UI"/>
                <a:ea typeface="Meiryo UI"/>
              </a:rPr>
              <a:t>８．「2026年4月中に代表保有の休眠会社へ軽配送事業を切り分ける想定」（企業概要書P6）は同年4月時点の記載。本日（2026年8月16日）時点の実行状況を売主に確認のうえ、面談前にP7・P8を更新すること。</a:t>
            </a:r>
          </a:p>
          <a:p>
            <a:pPr algn="l">
              <a:lnSpc>
                <a:spcPct val="110000"/>
              </a:lnSpc>
            </a:pPr>
            <a:r>
              <a:rPr sz="900" b="0">
                <a:latin typeface="Meiryo UI"/>
                <a:ea typeface="Meiryo UI"/>
              </a:rPr>
              <a:t>　</a:t>
            </a:r>
          </a:p>
          <a:p>
            <a:pPr algn="l">
              <a:lnSpc>
                <a:spcPct val="110000"/>
              </a:lnSpc>
            </a:pPr>
            <a:r>
              <a:rPr sz="900" b="0">
                <a:latin typeface="Meiryo UI"/>
                <a:ea typeface="Meiryo UI"/>
              </a:rPr>
              <a:t>９．役員借入金 約10,000千円の貸借対照表上の計上区分が未確定。短期借入金15,321千円に含まれる場合、P6の手出し資金表（③と⑤）で二重計上となるため要修正。</a:t>
            </a:r>
          </a:p>
          <a:p>
            <a:pPr algn="l">
              <a:lnSpc>
                <a:spcPct val="110000"/>
              </a:lnSpc>
            </a:pPr>
            <a:r>
              <a:rPr sz="900" b="0">
                <a:latin typeface="Meiryo UI"/>
                <a:ea typeface="Meiryo UI"/>
              </a:rPr>
              <a:t>　</a:t>
            </a:r>
          </a:p>
          <a:p>
            <a:pPr algn="l">
              <a:lnSpc>
                <a:spcPct val="110000"/>
              </a:lnSpc>
            </a:pPr>
            <a:r>
              <a:rPr sz="900" b="0">
                <a:latin typeface="Meiryo UI"/>
                <a:ea typeface="Meiryo UI"/>
              </a:rPr>
              <a:t>10．第一種貨物利用運送事業（外航海運）の事業譲渡・会社分割時の承継手続については、所管官庁（国土交通省）への確認が必要。本資料では「要確認」としている。</a:t>
            </a:r>
          </a:p>
          <a:p>
            <a:pPr algn="l">
              <a:lnSpc>
                <a:spcPct val="110000"/>
              </a:lnSpc>
            </a:pPr>
            <a:r>
              <a:rPr sz="900" b="0">
                <a:latin typeface="Meiryo UI"/>
                <a:ea typeface="Meiryo UI"/>
              </a:rPr>
              <a:t>　</a:t>
            </a:r>
          </a:p>
          <a:p>
            <a:pPr algn="l">
              <a:lnSpc>
                <a:spcPct val="110000"/>
              </a:lnSpc>
            </a:pPr>
            <a:r>
              <a:rPr sz="900" b="0">
                <a:latin typeface="Meiryo UI"/>
                <a:ea typeface="Meiryo UI"/>
              </a:rPr>
              <a:t>11．発行済株式数は企業概要書内で「3,000株」（基本情報）と「300株」（株主及び役員）の2通りの記載。登記簿で確定のうえ、企業概要書も修正すること。</a:t>
            </a:r>
          </a:p>
          <a:p>
            <a:pPr algn="l">
              <a:lnSpc>
                <a:spcPct val="110000"/>
              </a:lnSpc>
            </a:pPr>
            <a:r>
              <a:rPr sz="900" b="0">
                <a:latin typeface="Meiryo UI"/>
                <a:ea typeface="Meiryo UI"/>
              </a:rPr>
              <a:t>　</a:t>
            </a:r>
          </a:p>
        </p:txBody>
      </p:sp>
      <p:sp>
        <p:nvSpPr>
          <p:cNvPr id="4" name="正方形/長方形 3">
            <a:extLst>
              <a:ext uri="{FF2B5EF4-FFF2-40B4-BE49-F238E27FC236}">
                <a16:creationId xmlns:a16="http://schemas.microsoft.com/office/drawing/2014/main" id="{F63F0559-A471-05FB-7992-03A5FE1C9DE2}"/>
              </a:ext>
            </a:extLst>
          </p:cNvPr>
          <p:cNvSpPr/>
          <p:nvPr/>
        </p:nvSpPr>
        <p:spPr>
          <a:xfrm>
            <a:off x="249787" y="971550"/>
            <a:ext cx="8623625" cy="230832"/>
          </a:xfrm>
          <a:prstGeom prst="rect">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r>
              <a:rPr sz="1050" b="1">
                <a:solidFill>
                  <a:srgbClr val="FFFFFF"/>
                </a:solidFill>
                <a:latin typeface="Meiryo UI"/>
                <a:ea typeface="Meiryo UI"/>
              </a:rPr>
              <a:t>本件の想定スケジュール</a:t>
            </a:r>
          </a:p>
        </p:txBody>
      </p:sp>
      <p:sp>
        <p:nvSpPr>
          <p:cNvPr id="210" name="TextBox 209"/>
          <p:cNvSpPr txBox="1"/>
          <p:nvPr/>
        </p:nvSpPr>
        <p:spPr>
          <a:xfrm>
            <a:off x="265176" y="6350000"/>
            <a:ext cx="8631936" cy="274320"/>
          </a:xfrm>
          <a:prstGeom prst="rect">
            <a:avLst/>
          </a:prstGeom>
          <a:noFill/>
        </p:spPr>
        <p:txBody>
          <a:bodyPr wrap="square">
            <a:spAutoFit/>
          </a:bodyPr>
          <a:lstStyle/>
          <a:p>
            <a:pPr algn="l">
              <a:lnSpc>
                <a:spcPct val="115000"/>
              </a:lnSpc>
            </a:pPr>
            <a:r>
              <a:rPr sz="750" b="0">
                <a:latin typeface="Meiryo UI"/>
                <a:ea typeface="Meiryo UI"/>
              </a:rPr>
              <a:t>※上記は現時点における想定であり、今後の協議により変更となります。</a:t>
            </a:r>
          </a:p>
          <a:p>
            <a:pPr algn="l">
              <a:lnSpc>
                <a:spcPct val="115000"/>
              </a:lnSpc>
            </a:pPr>
            <a:r>
              <a:rPr sz="750" b="0">
                <a:latin typeface="Meiryo UI"/>
                <a:ea typeface="Meiryo UI"/>
              </a:rPr>
              <a:t>※会社分割を採用する場合、債権者保護手続等によりクロージングまでに追加で1.5〜2ヶ月程度を要します。</a:t>
            </a:r>
          </a:p>
          <a:p>
            <a:pPr algn="l">
              <a:lnSpc>
                <a:spcPct val="115000"/>
              </a:lnSpc>
            </a:pPr>
            <a:r>
              <a:rPr sz="750" b="0">
                <a:latin typeface="Meiryo UI"/>
                <a:ea typeface="Meiryo UI"/>
              </a:rPr>
              <a:t>※軽配送事業の切出しの完了が、本件実行の前提条件となります。</a:t>
            </a:r>
          </a:p>
        </p:txBody>
      </p:sp>
    </p:spTree>
  </p:cSld>
  <p:clrMapOvr>
    <a:masterClrMapping/>
  </p:clrMapOvr>
</p:sld>
</file>

<file path=ppt/theme/theme1.xml><?xml version="1.0" encoding="utf-8"?>
<a:theme xmlns:a="http://schemas.openxmlformats.org/drawingml/2006/main" name="1_Template1">
  <a:themeElements>
    <a:clrScheme name="Office 2013 - 2022">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テーマ">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1335</TotalTime>
  <Words>4407</Words>
  <Application>Microsoft Office PowerPoint</Application>
  <PresentationFormat>画面に合わせる (4:3)</PresentationFormat>
  <Paragraphs>563</Paragraphs>
  <Slides>10</Slides>
  <Notes>9</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10</vt:i4>
      </vt:variant>
    </vt:vector>
  </HeadingPairs>
  <TitlesOfParts>
    <vt:vector size="16" baseType="lpstr">
      <vt:lpstr>Meiryo UI</vt:lpstr>
      <vt:lpstr>Noto Sans Symbols</vt:lpstr>
      <vt:lpstr>游ゴシック</vt:lpstr>
      <vt:lpstr>Arial</vt:lpstr>
      <vt:lpstr>Trebuchet MS</vt:lpstr>
      <vt:lpstr>1_Template1</vt:lpstr>
      <vt:lpstr>PowerPoint プレゼンテーション</vt:lpstr>
      <vt:lpstr>PowerPoint プレゼンテーション</vt:lpstr>
      <vt:lpstr>確認事項</vt:lpstr>
      <vt:lpstr>分割対象資産の確認①</vt:lpstr>
      <vt:lpstr>分割対象資産の確認②</vt:lpstr>
      <vt:lpstr>会社分割スキームの前提整理</vt:lpstr>
      <vt:lpstr>分割後BSイメージ（2025年7月期BSベース）</vt:lpstr>
      <vt:lpstr>確認事項・要対応事項</vt:lpstr>
      <vt:lpstr>リスク事項に関する対応状況①</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日本M&amp;Aセンター</dc:creator>
  <cp:lastModifiedBy>田垣内 啓介</cp:lastModifiedBy>
  <cp:revision>28</cp:revision>
  <cp:lastPrinted>2026-07-13T11:25:43Z</cp:lastPrinted>
  <dcterms:created xsi:type="dcterms:W3CDTF">2010-02-03T05:21:11Z</dcterms:created>
  <dcterms:modified xsi:type="dcterms:W3CDTF">2026-07-30T01:44:22Z</dcterms:modified>
</cp:coreProperties>
</file>