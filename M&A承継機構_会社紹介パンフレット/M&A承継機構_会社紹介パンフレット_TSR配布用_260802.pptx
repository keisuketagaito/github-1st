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5119970" cy="10691988"/>
  <p:notesSz cx="10691988" cy="15119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游ゴシック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游ゴシック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游ゴシック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游ゴシック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游ゴシック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游ゴシック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游ゴシック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游ゴシック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游ゴシック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游ゴシック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游ゴシック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4.png"/><Relationship Id="rId7" Type="http://schemas.openxmlformats.org/officeDocument/2006/relationships/image" Target="../media/image-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_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59985" y="5827133"/>
            <a:ext cx="7559985" cy="4864854"/>
          </a:xfrm>
          <a:prstGeom prst="rect">
            <a:avLst/>
          </a:prstGeom>
        </p:spPr>
      </p:pic>
      <p:pic>
        <p:nvPicPr>
          <p:cNvPr id="3" name="Image 1" descr="assets/scrim_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985" y="5827133"/>
            <a:ext cx="7559985" cy="4864854"/>
          </a:xfrm>
          <a:prstGeom prst="rect">
            <a:avLst/>
          </a:prstGeom>
        </p:spPr>
      </p:pic>
      <p:pic>
        <p:nvPicPr>
          <p:cNvPr id="4" name="Image 2" descr="assets/logo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913" y="548640"/>
            <a:ext cx="2212848" cy="43891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809842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20" kern="0" dirty="0">
                <a:solidFill>
                  <a:srgbClr val="8A959D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COMPANY PROFILE</a:t>
            </a:r>
            <a:endParaRPr lang="en-US" sz="800" dirty="0"/>
          </a:p>
        </p:txBody>
      </p:sp>
      <p:pic>
        <p:nvPicPr>
          <p:cNvPr id="6" name="Image 3" descr="assets/mar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13" y="1794053"/>
            <a:ext cx="96012" cy="9601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282361" y="1746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M&amp;A ADVISORY &amp; BUSINESS SUCCESSION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8126913" y="2139696"/>
            <a:ext cx="642612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会社の未来を、</a:t>
            </a:r>
            <a:endParaRPr lang="en-US" sz="3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次の成長へつなぐ。</a:t>
            </a:r>
            <a:endParaRPr lang="en-US" sz="3300" dirty="0"/>
          </a:p>
        </p:txBody>
      </p:sp>
      <p:sp>
        <p:nvSpPr>
          <p:cNvPr id="9" name="Text 3"/>
          <p:cNvSpPr/>
          <p:nvPr/>
        </p:nvSpPr>
        <p:spPr>
          <a:xfrm>
            <a:off x="8126913" y="4334256"/>
            <a:ext cx="642612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事業承継、成長戦略、資本提携。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経営者の想いに寄り添い、最適な選択肢をご提案します。</a:t>
            </a:r>
            <a:endParaRPr lang="en-US" sz="1050" dirty="0"/>
          </a:p>
        </p:txBody>
      </p:sp>
      <p:sp>
        <p:nvSpPr>
          <p:cNvPr id="10" name="Text 4"/>
          <p:cNvSpPr/>
          <p:nvPr/>
        </p:nvSpPr>
        <p:spPr>
          <a:xfrm>
            <a:off x="8126913" y="5157216"/>
            <a:ext cx="64261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株式会社TWOSTONE&amp;Sons</a:t>
            </a:r>
            <a:pPr indent="0" marL="0"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（東証グロース・証券コード 7352）グループ</a:t>
            </a:r>
            <a:endParaRPr lang="en-US" sz="850" dirty="0"/>
          </a:p>
        </p:txBody>
      </p:sp>
      <p:pic>
        <p:nvPicPr>
          <p:cNvPr id="11" name="Image 4" descr="assets/logo_knocko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913" y="7930500"/>
            <a:ext cx="2084832" cy="41330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126913" y="8534004"/>
            <a:ext cx="64261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企業価値の最大化を通じて、経済に正しい循環を。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8126913" y="9210660"/>
            <a:ext cx="449884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762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8328081" y="92106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本資料は東京商工リサーチのご担当者様を通じてご案内しています</a:t>
            </a:r>
            <a:endParaRPr lang="en-US" sz="850" dirty="0"/>
          </a:p>
        </p:txBody>
      </p:sp>
      <p:pic>
        <p:nvPicPr>
          <p:cNvPr id="15" name="Image 5" descr="assets/mark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87045"/>
            <a:ext cx="96012" cy="9601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22376" y="539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CONTACT &amp; COMPANY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6261537" y="5120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C6CC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566928" y="1042416"/>
            <a:ext cx="642612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まだ具体的でない段階から、</a:t>
            </a:r>
            <a:endParaRPr lang="en-US" sz="19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お気軽にご相談ください。</a:t>
            </a:r>
            <a:endParaRPr lang="en-US" sz="1900" dirty="0"/>
          </a:p>
        </p:txBody>
      </p:sp>
      <p:sp>
        <p:nvSpPr>
          <p:cNvPr id="19" name="Text 11"/>
          <p:cNvSpPr/>
          <p:nvPr/>
        </p:nvSpPr>
        <p:spPr>
          <a:xfrm>
            <a:off x="566928" y="2103120"/>
            <a:ext cx="64261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ご相談いただいたからといって、M&amp;Aを進めなければならないわけではありません。まずは会社の現状と、考えられる選択肢を一緒に整理するところから始めます。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566928" y="2816352"/>
            <a:ext cx="38556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ご相談の流れ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422605" y="2857500"/>
            <a:ext cx="257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8A959D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HOW TO START</a:t>
            </a:r>
            <a:endParaRPr lang="en-US" sz="750" dirty="0"/>
          </a:p>
        </p:txBody>
      </p:sp>
      <p:sp>
        <p:nvSpPr>
          <p:cNvPr id="22" name="Shape 14"/>
          <p:cNvSpPr/>
          <p:nvPr/>
        </p:nvSpPr>
        <p:spPr>
          <a:xfrm>
            <a:off x="566928" y="3090672"/>
            <a:ext cx="6426129" cy="7315"/>
          </a:xfrm>
          <a:prstGeom prst="rect">
            <a:avLst/>
          </a:prstGeom>
          <a:solidFill>
            <a:srgbClr val="D8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370194" y="3497580"/>
            <a:ext cx="4819597" cy="20117"/>
          </a:xfrm>
          <a:prstGeom prst="rect">
            <a:avLst/>
          </a:prstGeom>
          <a:solidFill>
            <a:srgbClr val="E3E7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1191886" y="3328416"/>
            <a:ext cx="356616" cy="3566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3E7E9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1191886" y="332841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041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03504" y="3785616"/>
            <a:ext cx="15333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東京商工リサーチの</a:t>
            </a:r>
            <a:endParaRPr lang="en-US" sz="8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ご担当者様へご相談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2798418" y="3328416"/>
            <a:ext cx="356616" cy="3566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3E7E9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2798418" y="332841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041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2210036" y="3785616"/>
            <a:ext cx="15333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M&amp;A承継機構との</a:t>
            </a:r>
            <a:endParaRPr lang="en-US" sz="8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初回面談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4404951" y="3328416"/>
            <a:ext cx="356616" cy="3566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3E7E9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404951" y="332841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041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3816568" y="3785616"/>
            <a:ext cx="15333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現状・ご意向・</a:t>
            </a:r>
            <a:endParaRPr lang="en-US" sz="8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選択肢の整理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6011483" y="3328416"/>
            <a:ext cx="356616" cy="356616"/>
          </a:xfrm>
          <a:prstGeom prst="ellipse">
            <a:avLst/>
          </a:prstGeom>
          <a:solidFill>
            <a:srgbClr val="2E9C87"/>
          </a:solidFill>
          <a:ln w="13970">
            <a:solidFill>
              <a:srgbClr val="2E9C87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011483" y="332841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23101" y="3785616"/>
            <a:ext cx="15333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必要に応じて企業評価・</a:t>
            </a:r>
            <a:endParaRPr lang="en-US" sz="850" dirty="0"/>
          </a:p>
          <a:p>
            <a:pPr algn="ctr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具体的なご提案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66928" y="4443984"/>
            <a:ext cx="2068891" cy="786384"/>
          </a:xfrm>
          <a:prstGeom prst="roundRect">
            <a:avLst>
              <a:gd name="adj" fmla="val 5814"/>
            </a:avLst>
          </a:prstGeom>
          <a:solidFill>
            <a:srgbClr val="F5FAFB"/>
          </a:solidFill>
          <a:ln w="7620">
            <a:solidFill>
              <a:srgbClr val="DCE8EC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66928" y="4544568"/>
            <a:ext cx="20688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初回相談無料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640080" y="4809744"/>
            <a:ext cx="1922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企業価値評価のみのご依頼も可能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2745547" y="4443984"/>
            <a:ext cx="2068891" cy="786384"/>
          </a:xfrm>
          <a:prstGeom prst="roundRect">
            <a:avLst>
              <a:gd name="adj" fmla="val 5814"/>
            </a:avLst>
          </a:prstGeom>
          <a:solidFill>
            <a:srgbClr val="F5FAFB"/>
          </a:solidFill>
          <a:ln w="7620">
            <a:solidFill>
              <a:srgbClr val="DCE8EC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745547" y="4544568"/>
            <a:ext cx="20688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完全成功報酬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2818699" y="4809744"/>
            <a:ext cx="1922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ご成約まで費用は発生しません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4924166" y="4443984"/>
            <a:ext cx="2068891" cy="786384"/>
          </a:xfrm>
          <a:prstGeom prst="roundRect">
            <a:avLst>
              <a:gd name="adj" fmla="val 5814"/>
            </a:avLst>
          </a:prstGeom>
          <a:solidFill>
            <a:srgbClr val="F5FAFB"/>
          </a:solidFill>
          <a:ln w="7620">
            <a:solidFill>
              <a:srgbClr val="DCE8EC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4924166" y="4544568"/>
            <a:ext cx="20688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秘密厳守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4997318" y="4809744"/>
            <a:ext cx="19225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ISO/IEC 27001 認証取得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566928" y="5449824"/>
            <a:ext cx="38556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会社概要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4422605" y="5490972"/>
            <a:ext cx="257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8A959D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COMPANY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566928" y="5724144"/>
            <a:ext cx="6426129" cy="7315"/>
          </a:xfrm>
          <a:prstGeom prst="rect">
            <a:avLst/>
          </a:prstGeom>
          <a:solidFill>
            <a:srgbClr val="D8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66928" y="5907024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会社名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1627632" y="5907024"/>
            <a:ext cx="53654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株式会社M&amp;A承継機構（M&amp;A SUCCESSION GROUP INC.）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566928" y="6112764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66928" y="6153912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所在地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1627632" y="6153912"/>
            <a:ext cx="53654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東京都港区港南1-8-15 Wビル13F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566928" y="6359652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566928" y="6400800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代表者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1627632" y="6400800"/>
            <a:ext cx="53654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代表取締役CEO　西村 将明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566928" y="6606540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566928" y="6647688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事業内容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1627632" y="6647688"/>
            <a:ext cx="53654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M&amp;A仲介・アドバイザリー業務／財務・会計アドバイザリー業務／事業承継コンサルティング</a:t>
            </a:r>
            <a:endParaRPr lang="en-US" sz="800" dirty="0"/>
          </a:p>
        </p:txBody>
      </p:sp>
      <p:sp>
        <p:nvSpPr>
          <p:cNvPr id="59" name="Shape 51"/>
          <p:cNvSpPr/>
          <p:nvPr/>
        </p:nvSpPr>
        <p:spPr>
          <a:xfrm>
            <a:off x="566928" y="6853428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566928" y="6894576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従業員数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1627632" y="6894576"/>
            <a:ext cx="53654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70名（2026年6月時点）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566928" y="7100316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566928" y="7141464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グループ</a:t>
            </a:r>
            <a:endParaRPr lang="en-US" sz="800" dirty="0"/>
          </a:p>
        </p:txBody>
      </p:sp>
      <p:sp>
        <p:nvSpPr>
          <p:cNvPr id="64" name="Text 56"/>
          <p:cNvSpPr/>
          <p:nvPr/>
        </p:nvSpPr>
        <p:spPr>
          <a:xfrm>
            <a:off x="1627632" y="7141464"/>
            <a:ext cx="53654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株式会社TWOSTONE&amp;Sons（東証グロース・証券コード7352）のグループ会社</a:t>
            </a:r>
            <a:endParaRPr lang="en-US" sz="8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グループ連結売上高 18,077百万円（2025年8月期実績）／連結従業員 750名（2025年8月時点）</a:t>
            </a:r>
            <a:endParaRPr lang="en-US" sz="800" dirty="0"/>
          </a:p>
        </p:txBody>
      </p:sp>
      <p:sp>
        <p:nvSpPr>
          <p:cNvPr id="65" name="Shape 57"/>
          <p:cNvSpPr/>
          <p:nvPr/>
        </p:nvSpPr>
        <p:spPr>
          <a:xfrm>
            <a:off x="566928" y="7502652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566928" y="754380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登録・許認可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1627632" y="7543800"/>
            <a:ext cx="53654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中小企業庁 M&amp;A支援機関登録制度 登録企業／一般社団法人M&amp;A支援機関協会 正会員</a:t>
            </a:r>
            <a:endParaRPr lang="en-US" sz="8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80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宅地建物取引業免許 東京都知事(1)第112845号／ISO/IEC 27001:2022 認証取得</a:t>
            </a:r>
            <a:endParaRPr lang="en-US" sz="800" dirty="0"/>
          </a:p>
        </p:txBody>
      </p:sp>
      <p:sp>
        <p:nvSpPr>
          <p:cNvPr id="68" name="Shape 60"/>
          <p:cNvSpPr/>
          <p:nvPr/>
        </p:nvSpPr>
        <p:spPr>
          <a:xfrm>
            <a:off x="566928" y="7904988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9" name="Image 6" descr="assets/band_contact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0" y="8387700"/>
            <a:ext cx="7559985" cy="2304288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566928" y="86985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54CCB3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CONTACT</a:t>
            </a:r>
            <a:endParaRPr lang="en-US" sz="800" dirty="0"/>
          </a:p>
        </p:txBody>
      </p:sp>
      <p:sp>
        <p:nvSpPr>
          <p:cNvPr id="71" name="Text 62"/>
          <p:cNvSpPr/>
          <p:nvPr/>
        </p:nvSpPr>
        <p:spPr>
          <a:xfrm>
            <a:off x="566928" y="8972916"/>
            <a:ext cx="500880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ご相談は、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54CCB3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東京商工リサーチのご担当者様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まで</a:t>
            </a:r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お申し付けください。</a:t>
            </a:r>
            <a:endParaRPr lang="en-US" sz="1250" dirty="0"/>
          </a:p>
        </p:txBody>
      </p:sp>
      <p:sp>
        <p:nvSpPr>
          <p:cNvPr id="72" name="Text 63"/>
          <p:cNvSpPr/>
          <p:nvPr/>
        </p:nvSpPr>
        <p:spPr>
          <a:xfrm>
            <a:off x="566928" y="9722724"/>
            <a:ext cx="50088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60" kern="0" dirty="0">
                <a:solidFill>
                  <a:srgbClr val="54CCB3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https://ma-sg.co.jp/</a:t>
            </a:r>
            <a:endParaRPr lang="en-US" sz="950" dirty="0"/>
          </a:p>
        </p:txBody>
      </p:sp>
      <p:sp>
        <p:nvSpPr>
          <p:cNvPr id="73" name="Shape 64"/>
          <p:cNvSpPr/>
          <p:nvPr/>
        </p:nvSpPr>
        <p:spPr>
          <a:xfrm>
            <a:off x="5804337" y="8771748"/>
            <a:ext cx="118872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5804337" y="877174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QRコード</a:t>
            </a:r>
            <a:endParaRPr lang="en-US" sz="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（差し替え）</a:t>
            </a:r>
            <a:endParaRPr lang="en-US" sz="750" dirty="0"/>
          </a:p>
        </p:txBody>
      </p:sp>
      <p:sp>
        <p:nvSpPr>
          <p:cNvPr id="75" name="Text 66"/>
          <p:cNvSpPr/>
          <p:nvPr/>
        </p:nvSpPr>
        <p:spPr>
          <a:xfrm>
            <a:off x="6993057" y="91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D0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中央折り線</a:t>
            </a:r>
            <a:endParaRPr lang="en-US" sz="650" dirty="0"/>
          </a:p>
        </p:txBody>
      </p:sp>
      <p:sp>
        <p:nvSpPr>
          <p:cNvPr id="76" name="Shape 67"/>
          <p:cNvSpPr/>
          <p:nvPr/>
        </p:nvSpPr>
        <p:spPr>
          <a:xfrm>
            <a:off x="7557699" y="310896"/>
            <a:ext cx="4572" cy="10070196"/>
          </a:xfrm>
          <a:prstGeom prst="rect">
            <a:avLst/>
          </a:prstGeom>
          <a:solidFill>
            <a:srgbClr val="DDE4E7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r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87045"/>
            <a:ext cx="96012" cy="960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76" y="539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YOUR CHALLENGE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61537" y="5120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C6CC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642612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会社の未来について、</a:t>
            </a:r>
            <a:endParaRPr lang="en-US" sz="19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このようなお悩みはありませんか。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66928" y="2103120"/>
            <a:ext cx="64261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ひとつでも当てはまるものがあれば、いまが会社の将来を考えるタイミングかもしれません。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6426129" cy="7315"/>
          </a:xfrm>
          <a:prstGeom prst="rect">
            <a:avLst/>
          </a:prstGeom>
          <a:solidFill>
            <a:srgbClr val="D8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25603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69264" y="2574036"/>
            <a:ext cx="2755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後継者が決まっていない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779992" y="25603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82328" y="2574036"/>
            <a:ext cx="2755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従業員や取引先を守りたい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" y="2926080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9809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69264" y="2994660"/>
            <a:ext cx="2755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自社の強みを次の世代に残したい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79992" y="29809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182328" y="2994660"/>
            <a:ext cx="2755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大手企業との連携で事業を成長させたい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3346704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3401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05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69264" y="3415284"/>
            <a:ext cx="2755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一部事業の譲渡や整理を検討している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779992" y="3401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06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182328" y="3415284"/>
            <a:ext cx="2755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会社の価値や今後の選択肢を知りたい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3767328"/>
            <a:ext cx="6426129" cy="7315"/>
          </a:xfrm>
          <a:prstGeom prst="rect">
            <a:avLst/>
          </a:prstGeom>
          <a:solidFill>
            <a:srgbClr val="EDF1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1" descr="assets/wash_pa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3986784"/>
            <a:ext cx="6426129" cy="12070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4169664"/>
            <a:ext cx="59140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大切なのは、M&amp;Aをするかどうかを急いで決めることではありません。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22960" y="4498848"/>
            <a:ext cx="591406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8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は自社の価値と、考えられる選択肢を知ることから始まります。M&amp;Aは会社を手放すためだけの手段ではなく、事業承継・成長戦略としての買収・資本提携・不採算事業の整理・事業再生など、会社の未来を考えるための選択肢のひとつです。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66928" y="5413248"/>
            <a:ext cx="38556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選ばれる理由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422605" y="5454396"/>
            <a:ext cx="257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8A959D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WHY WE ARE CHOSEN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566928" y="5687568"/>
            <a:ext cx="6426129" cy="7315"/>
          </a:xfrm>
          <a:prstGeom prst="rect">
            <a:avLst/>
          </a:prstGeom>
          <a:solidFill>
            <a:srgbClr val="D8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66928" y="5870448"/>
            <a:ext cx="312162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620">
            <a:solidFill>
              <a:srgbClr val="D8E0E4"/>
            </a:solidFill>
            <a:prstDash val="solid"/>
          </a:ln>
          <a:effectLst>
            <a:outerShdw sx="100000" sy="100000" kx="0" ky="0" algn="bl" rotWithShape="0" blurRad="101600" dist="19050" dir="5400000">
              <a:srgbClr val="0B3041">
                <a:alpha val="7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86384" y="6007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4CCB3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31" name="Text 27"/>
          <p:cNvSpPr/>
          <p:nvPr/>
        </p:nvSpPr>
        <p:spPr>
          <a:xfrm>
            <a:off x="786384" y="6373368"/>
            <a:ext cx="2682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実績豊富なプロフェッショナル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86384" y="6638544"/>
            <a:ext cx="2682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在籍アドバイザーの70%が大手M&amp;A仲介会社の出身。豊富な実務経験に基づく専門性で、早期の成約を実現します。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3871432" y="5870448"/>
            <a:ext cx="312162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620">
            <a:solidFill>
              <a:srgbClr val="D8E0E4"/>
            </a:solidFill>
            <a:prstDash val="solid"/>
          </a:ln>
          <a:effectLst>
            <a:outerShdw sx="100000" sy="100000" kx="0" ky="0" algn="bl" rotWithShape="0" blurRad="101600" dist="19050" dir="5400000">
              <a:srgbClr val="0B3041">
                <a:alpha val="7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4090888" y="6007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4CCB3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35" name="Text 31"/>
          <p:cNvSpPr/>
          <p:nvPr/>
        </p:nvSpPr>
        <p:spPr>
          <a:xfrm>
            <a:off x="4090888" y="6373368"/>
            <a:ext cx="2682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上場企業グループの安心感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090888" y="6638544"/>
            <a:ext cx="2682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東証グロース上場・TWOSTONE&amp;Sonsのグループ会社。確かな経営基盤と情報管理体制のもとで対応します。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566928" y="7260336"/>
            <a:ext cx="312162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620">
            <a:solidFill>
              <a:srgbClr val="D8E0E4"/>
            </a:solidFill>
            <a:prstDash val="solid"/>
          </a:ln>
          <a:effectLst>
            <a:outerShdw sx="100000" sy="100000" kx="0" ky="0" algn="bl" rotWithShape="0" blurRad="101600" dist="19050" dir="5400000">
              <a:srgbClr val="0B3041">
                <a:alpha val="7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786384" y="7397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4CCB3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39" name="Text 35"/>
          <p:cNvSpPr/>
          <p:nvPr/>
        </p:nvSpPr>
        <p:spPr>
          <a:xfrm>
            <a:off x="786384" y="7763256"/>
            <a:ext cx="2682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複雑な案件にも対応する実行力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86384" y="8028432"/>
            <a:ext cx="2682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会社分割・二段階譲渡・私的再生など、他社が敬遠する難易度の高い案件にも知見をもって伴走します。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3871432" y="7260336"/>
            <a:ext cx="312162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620">
            <a:solidFill>
              <a:srgbClr val="D8E0E4"/>
            </a:solidFill>
            <a:prstDash val="solid"/>
          </a:ln>
          <a:effectLst>
            <a:outerShdw sx="100000" sy="100000" kx="0" ky="0" algn="bl" rotWithShape="0" blurRad="101600" dist="19050" dir="5400000">
              <a:srgbClr val="0B3041">
                <a:alpha val="7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4090888" y="7397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4CCB3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43" name="Text 39"/>
          <p:cNvSpPr/>
          <p:nvPr/>
        </p:nvSpPr>
        <p:spPr>
          <a:xfrm>
            <a:off x="4090888" y="7763256"/>
            <a:ext cx="2682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M&amp;A以外の経営課題にも対応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090888" y="8028432"/>
            <a:ext cx="2682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資金調達・財務改善から成長支援まで、M&amp;Aを前提としないご相談も承ります。</a:t>
            </a:r>
            <a:endParaRPr lang="en-US" sz="800" dirty="0"/>
          </a:p>
        </p:txBody>
      </p:sp>
      <p:pic>
        <p:nvPicPr>
          <p:cNvPr id="45" name="Image 2" descr="assets/band_sta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8723376"/>
            <a:ext cx="6426129" cy="786384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66928" y="8851392"/>
            <a:ext cx="21420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650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件+</a:t>
            </a:r>
            <a:endParaRPr lang="en-US" sz="1900" dirty="0"/>
          </a:p>
        </p:txBody>
      </p:sp>
      <p:sp>
        <p:nvSpPr>
          <p:cNvPr id="47" name="Text 42"/>
          <p:cNvSpPr/>
          <p:nvPr/>
        </p:nvSpPr>
        <p:spPr>
          <a:xfrm>
            <a:off x="603504" y="9180576"/>
            <a:ext cx="20688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FE7E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累計成約実績※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2708971" y="8906256"/>
            <a:ext cx="7315" cy="42062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708971" y="8851392"/>
            <a:ext cx="21420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70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%</a:t>
            </a:r>
            <a:endParaRPr lang="en-US" sz="1900" dirty="0"/>
          </a:p>
        </p:txBody>
      </p:sp>
      <p:sp>
        <p:nvSpPr>
          <p:cNvPr id="50" name="Text 45"/>
          <p:cNvSpPr/>
          <p:nvPr/>
        </p:nvSpPr>
        <p:spPr>
          <a:xfrm>
            <a:off x="2745547" y="9180576"/>
            <a:ext cx="20688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FE7E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大手M&amp;A仲介会社出身※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4851014" y="8906256"/>
            <a:ext cx="7315" cy="42062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851014" y="8851392"/>
            <a:ext cx="21420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100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件+</a:t>
            </a:r>
            <a:endParaRPr lang="en-US" sz="1900" dirty="0"/>
          </a:p>
        </p:txBody>
      </p:sp>
      <p:sp>
        <p:nvSpPr>
          <p:cNvPr id="53" name="Text 48"/>
          <p:cNvSpPr/>
          <p:nvPr/>
        </p:nvSpPr>
        <p:spPr>
          <a:xfrm>
            <a:off x="4887590" y="9180576"/>
            <a:ext cx="20688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FE7E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常時受託している譲渡案件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566928" y="9637776"/>
            <a:ext cx="64261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支援領域｜</a:t>
            </a:r>
            <a:pPr indent="0" marL="0">
              <a:buNone/>
            </a:pPr>
            <a:r>
              <a:rPr lang="en-US" sz="7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事業承継・カーブアウト・私的再生・スポンサー探索・業界再編・不動産M&amp;A・スタートアップExit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566928" y="9866376"/>
            <a:ext cx="64261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業種例｜</a:t>
            </a:r>
            <a:pPr indent="0" marL="0">
              <a:buNone/>
            </a:pPr>
            <a:r>
              <a:rPr lang="en-US" sz="7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訪問介護／人材サービス／外食（上場）／自動車部品／建材製造／不動産／広告／エンタメ ほか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566928" y="10149840"/>
            <a:ext cx="64261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在籍アドバイザーの過去の成約実績・出身実績を含みます。</a:t>
            </a:r>
            <a:endParaRPr lang="en-US" sz="680" dirty="0"/>
          </a:p>
        </p:txBody>
      </p:sp>
      <p:pic>
        <p:nvPicPr>
          <p:cNvPr id="57" name="Image 3" descr="assets/mar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13" y="587045"/>
            <a:ext cx="96012" cy="96012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8282361" y="539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E9C87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SERVICE &amp; FEE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13821522" y="5120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C6CC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8126913" y="1042416"/>
            <a:ext cx="642612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M&amp;A仲介にとどまらず、</a:t>
            </a:r>
            <a:endParaRPr lang="en-US" sz="19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経営課題にワンストップで。</a:t>
            </a:r>
            <a:endParaRPr lang="en-US" sz="1900" dirty="0"/>
          </a:p>
        </p:txBody>
      </p:sp>
      <p:sp>
        <p:nvSpPr>
          <p:cNvPr id="61" name="Shape 55"/>
          <p:cNvSpPr/>
          <p:nvPr/>
        </p:nvSpPr>
        <p:spPr>
          <a:xfrm>
            <a:off x="8126913" y="2103120"/>
            <a:ext cx="6426129" cy="877824"/>
          </a:xfrm>
          <a:prstGeom prst="roundRect">
            <a:avLst>
              <a:gd name="adj" fmla="val 5208"/>
            </a:avLst>
          </a:prstGeom>
          <a:solidFill>
            <a:srgbClr val="0B30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8382945" y="2249424"/>
            <a:ext cx="59140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M&amp;A仲介・アドバイザリー</a:t>
            </a:r>
            <a:endParaRPr lang="en-US" sz="1200" dirty="0"/>
          </a:p>
        </p:txBody>
      </p:sp>
      <p:sp>
        <p:nvSpPr>
          <p:cNvPr id="63" name="Text 57"/>
          <p:cNvSpPr/>
          <p:nvPr/>
        </p:nvSpPr>
        <p:spPr>
          <a:xfrm>
            <a:off x="8382945" y="2523744"/>
            <a:ext cx="59140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C2D4D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譲渡（事業承継・成長戦略）と譲受（買収・資本提携）の双方を支援。株式譲渡・事業譲渡に加え、会社分割や二段階譲渡など目的に応じたスキームを設計します。</a:t>
            </a:r>
            <a:endParaRPr lang="en-US" sz="850" dirty="0"/>
          </a:p>
        </p:txBody>
      </p:sp>
      <p:sp>
        <p:nvSpPr>
          <p:cNvPr id="64" name="Text 58"/>
          <p:cNvSpPr/>
          <p:nvPr/>
        </p:nvSpPr>
        <p:spPr>
          <a:xfrm>
            <a:off x="8126913" y="3163824"/>
            <a:ext cx="64261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M&amp;A以外の経営課題も、提携先ネットワークでワンストップにご相談いただけます。</a:t>
            </a:r>
            <a:endParaRPr lang="en-US" sz="850" dirty="0"/>
          </a:p>
        </p:txBody>
      </p:sp>
      <p:sp>
        <p:nvSpPr>
          <p:cNvPr id="65" name="Shape 59"/>
          <p:cNvSpPr/>
          <p:nvPr/>
        </p:nvSpPr>
        <p:spPr>
          <a:xfrm>
            <a:off x="8126913" y="3474720"/>
            <a:ext cx="2068891" cy="1207008"/>
          </a:xfrm>
          <a:prstGeom prst="roundRect">
            <a:avLst>
              <a:gd name="adj" fmla="val 3788"/>
            </a:avLst>
          </a:prstGeom>
          <a:solidFill>
            <a:srgbClr val="F7FAFB"/>
          </a:solidFill>
          <a:ln w="7620">
            <a:solidFill>
              <a:srgbClr val="E2EAEE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8273217" y="3593592"/>
            <a:ext cx="1776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財務・資金繰り支援</a:t>
            </a:r>
            <a:endParaRPr lang="en-US" sz="950" dirty="0"/>
          </a:p>
        </p:txBody>
      </p:sp>
      <p:sp>
        <p:nvSpPr>
          <p:cNvPr id="67" name="Shape 61"/>
          <p:cNvSpPr/>
          <p:nvPr/>
        </p:nvSpPr>
        <p:spPr>
          <a:xfrm>
            <a:off x="8273217" y="3849624"/>
            <a:ext cx="1776283" cy="7315"/>
          </a:xfrm>
          <a:prstGeom prst="rect">
            <a:avLst/>
          </a:prstGeom>
          <a:solidFill>
            <a:srgbClr val="D3E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8273217" y="3913632"/>
            <a:ext cx="17762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資金調達・資金繰り改善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財務コンサルティング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事業再生・スポンサー探索</a:t>
            </a:r>
            <a:endParaRPr lang="en-US" sz="800" dirty="0"/>
          </a:p>
        </p:txBody>
      </p:sp>
      <p:sp>
        <p:nvSpPr>
          <p:cNvPr id="69" name="Shape 63"/>
          <p:cNvSpPr/>
          <p:nvPr/>
        </p:nvSpPr>
        <p:spPr>
          <a:xfrm>
            <a:off x="10305532" y="3474720"/>
            <a:ext cx="2068891" cy="1207008"/>
          </a:xfrm>
          <a:prstGeom prst="roundRect">
            <a:avLst>
              <a:gd name="adj" fmla="val 3788"/>
            </a:avLst>
          </a:prstGeom>
          <a:solidFill>
            <a:srgbClr val="F7FAFB"/>
          </a:solidFill>
          <a:ln w="7620">
            <a:solidFill>
              <a:srgbClr val="E2EAEE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10451836" y="3593592"/>
            <a:ext cx="1776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成長支援</a:t>
            </a:r>
            <a:endParaRPr lang="en-US" sz="950" dirty="0"/>
          </a:p>
        </p:txBody>
      </p:sp>
      <p:sp>
        <p:nvSpPr>
          <p:cNvPr id="71" name="Shape 65"/>
          <p:cNvSpPr/>
          <p:nvPr/>
        </p:nvSpPr>
        <p:spPr>
          <a:xfrm>
            <a:off x="10451836" y="3849624"/>
            <a:ext cx="1776283" cy="7315"/>
          </a:xfrm>
          <a:prstGeom prst="rect">
            <a:avLst/>
          </a:prstGeom>
          <a:solidFill>
            <a:srgbClr val="D3E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66"/>
          <p:cNvSpPr/>
          <p:nvPr/>
        </p:nvSpPr>
        <p:spPr>
          <a:xfrm>
            <a:off x="10451836" y="3913632"/>
            <a:ext cx="17762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成長戦略・DX・IT支援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人材・組織構築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BPO・業務効率化</a:t>
            </a:r>
            <a:endParaRPr lang="en-US" sz="800" dirty="0"/>
          </a:p>
        </p:txBody>
      </p:sp>
      <p:sp>
        <p:nvSpPr>
          <p:cNvPr id="73" name="Shape 67"/>
          <p:cNvSpPr/>
          <p:nvPr/>
        </p:nvSpPr>
        <p:spPr>
          <a:xfrm>
            <a:off x="12484151" y="3474720"/>
            <a:ext cx="2068891" cy="1207008"/>
          </a:xfrm>
          <a:prstGeom prst="roundRect">
            <a:avLst>
              <a:gd name="adj" fmla="val 3788"/>
            </a:avLst>
          </a:prstGeom>
          <a:solidFill>
            <a:srgbClr val="F7FAFB"/>
          </a:solidFill>
          <a:ln w="7620">
            <a:solidFill>
              <a:srgbClr val="E2EAEE"/>
            </a:solidFill>
            <a:prstDash val="solid"/>
          </a:ln>
        </p:spPr>
      </p:sp>
      <p:sp>
        <p:nvSpPr>
          <p:cNvPr id="74" name="Text 68"/>
          <p:cNvSpPr/>
          <p:nvPr/>
        </p:nvSpPr>
        <p:spPr>
          <a:xfrm>
            <a:off x="12630455" y="3593592"/>
            <a:ext cx="1776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譲渡後のサポート</a:t>
            </a:r>
            <a:endParaRPr lang="en-US" sz="950" dirty="0"/>
          </a:p>
        </p:txBody>
      </p:sp>
      <p:sp>
        <p:nvSpPr>
          <p:cNvPr id="75" name="Shape 69"/>
          <p:cNvSpPr/>
          <p:nvPr/>
        </p:nvSpPr>
        <p:spPr>
          <a:xfrm>
            <a:off x="12630455" y="3849624"/>
            <a:ext cx="1776283" cy="7315"/>
          </a:xfrm>
          <a:prstGeom prst="rect">
            <a:avLst/>
          </a:prstGeom>
          <a:solidFill>
            <a:srgbClr val="D3E2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12630455" y="3913632"/>
            <a:ext cx="177628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資産運用・保険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不動産のご紹介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税務・専門家との連携</a:t>
            </a:r>
            <a:endParaRPr lang="en-US" sz="800" dirty="0"/>
          </a:p>
        </p:txBody>
      </p:sp>
      <p:sp>
        <p:nvSpPr>
          <p:cNvPr id="77" name="Text 71"/>
          <p:cNvSpPr/>
          <p:nvPr/>
        </p:nvSpPr>
        <p:spPr>
          <a:xfrm>
            <a:off x="8126913" y="4956048"/>
            <a:ext cx="38556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料金体系｜完全成功報酬型</a:t>
            </a:r>
            <a:endParaRPr lang="en-US" sz="1250" dirty="0"/>
          </a:p>
        </p:txBody>
      </p:sp>
      <p:sp>
        <p:nvSpPr>
          <p:cNvPr id="78" name="Text 72"/>
          <p:cNvSpPr/>
          <p:nvPr/>
        </p:nvSpPr>
        <p:spPr>
          <a:xfrm>
            <a:off x="11982590" y="4997196"/>
            <a:ext cx="257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8A959D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FEE</a:t>
            </a:r>
            <a:endParaRPr lang="en-US" sz="750" dirty="0"/>
          </a:p>
        </p:txBody>
      </p:sp>
      <p:sp>
        <p:nvSpPr>
          <p:cNvPr id="79" name="Shape 73"/>
          <p:cNvSpPr/>
          <p:nvPr/>
        </p:nvSpPr>
        <p:spPr>
          <a:xfrm>
            <a:off x="8126913" y="5230368"/>
            <a:ext cx="6426129" cy="7315"/>
          </a:xfrm>
          <a:prstGeom prst="rect">
            <a:avLst/>
          </a:prstGeom>
          <a:solidFill>
            <a:srgbClr val="D8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4"/>
          <p:cNvSpPr/>
          <p:nvPr/>
        </p:nvSpPr>
        <p:spPr>
          <a:xfrm>
            <a:off x="8126913" y="5431536"/>
            <a:ext cx="64261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ご成約まで、費用は一切いただきません。</a:t>
            </a:r>
            <a:endParaRPr lang="en-US" sz="1250" dirty="0"/>
          </a:p>
        </p:txBody>
      </p:sp>
      <p:sp>
        <p:nvSpPr>
          <p:cNvPr id="81" name="Shape 75"/>
          <p:cNvSpPr/>
          <p:nvPr/>
        </p:nvSpPr>
        <p:spPr>
          <a:xfrm>
            <a:off x="8126913" y="5779008"/>
            <a:ext cx="1544810" cy="566928"/>
          </a:xfrm>
          <a:prstGeom prst="roundRect">
            <a:avLst>
              <a:gd name="adj" fmla="val 8065"/>
            </a:avLst>
          </a:prstGeom>
          <a:solidFill>
            <a:srgbClr val="EEF9F6"/>
          </a:solidFill>
          <a:ln w="10160">
            <a:solidFill>
              <a:srgbClr val="54CCB3"/>
            </a:solidFill>
            <a:prstDash val="solid"/>
          </a:ln>
        </p:spPr>
      </p:sp>
      <p:sp>
        <p:nvSpPr>
          <p:cNvPr id="82" name="Text 76"/>
          <p:cNvSpPr/>
          <p:nvPr/>
        </p:nvSpPr>
        <p:spPr>
          <a:xfrm>
            <a:off x="8126913" y="5829300"/>
            <a:ext cx="1544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着手金</a:t>
            </a:r>
            <a:endParaRPr lang="en-US" sz="85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無料</a:t>
            </a:r>
            <a:endParaRPr lang="en-US" sz="850" dirty="0"/>
          </a:p>
        </p:txBody>
      </p:sp>
      <p:sp>
        <p:nvSpPr>
          <p:cNvPr id="83" name="Shape 77"/>
          <p:cNvSpPr/>
          <p:nvPr/>
        </p:nvSpPr>
        <p:spPr>
          <a:xfrm>
            <a:off x="9754019" y="5779008"/>
            <a:ext cx="1544810" cy="566928"/>
          </a:xfrm>
          <a:prstGeom prst="roundRect">
            <a:avLst>
              <a:gd name="adj" fmla="val 8065"/>
            </a:avLst>
          </a:prstGeom>
          <a:solidFill>
            <a:srgbClr val="EEF9F6"/>
          </a:solidFill>
          <a:ln w="10160">
            <a:solidFill>
              <a:srgbClr val="54CCB3"/>
            </a:solidFill>
            <a:prstDash val="solid"/>
          </a:ln>
        </p:spPr>
      </p:sp>
      <p:sp>
        <p:nvSpPr>
          <p:cNvPr id="84" name="Text 78"/>
          <p:cNvSpPr/>
          <p:nvPr/>
        </p:nvSpPr>
        <p:spPr>
          <a:xfrm>
            <a:off x="9754019" y="5829300"/>
            <a:ext cx="1544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中間報酬</a:t>
            </a:r>
            <a:endParaRPr lang="en-US" sz="85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無料</a:t>
            </a:r>
            <a:endParaRPr lang="en-US" sz="850" dirty="0"/>
          </a:p>
        </p:txBody>
      </p:sp>
      <p:sp>
        <p:nvSpPr>
          <p:cNvPr id="85" name="Shape 79"/>
          <p:cNvSpPr/>
          <p:nvPr/>
        </p:nvSpPr>
        <p:spPr>
          <a:xfrm>
            <a:off x="11381125" y="5779008"/>
            <a:ext cx="1544810" cy="566928"/>
          </a:xfrm>
          <a:prstGeom prst="roundRect">
            <a:avLst>
              <a:gd name="adj" fmla="val 8065"/>
            </a:avLst>
          </a:prstGeom>
          <a:solidFill>
            <a:srgbClr val="EEF9F6"/>
          </a:solidFill>
          <a:ln w="10160">
            <a:solidFill>
              <a:srgbClr val="54CCB3"/>
            </a:solidFill>
            <a:prstDash val="solid"/>
          </a:ln>
        </p:spPr>
      </p:sp>
      <p:sp>
        <p:nvSpPr>
          <p:cNvPr id="86" name="Text 80"/>
          <p:cNvSpPr/>
          <p:nvPr/>
        </p:nvSpPr>
        <p:spPr>
          <a:xfrm>
            <a:off x="11381125" y="5829300"/>
            <a:ext cx="1544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企業評価料</a:t>
            </a:r>
            <a:endParaRPr lang="en-US" sz="85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無料</a:t>
            </a:r>
            <a:endParaRPr lang="en-US" sz="850" dirty="0"/>
          </a:p>
        </p:txBody>
      </p:sp>
      <p:sp>
        <p:nvSpPr>
          <p:cNvPr id="87" name="Shape 81"/>
          <p:cNvSpPr/>
          <p:nvPr/>
        </p:nvSpPr>
        <p:spPr>
          <a:xfrm>
            <a:off x="13008232" y="5779008"/>
            <a:ext cx="1544810" cy="566928"/>
          </a:xfrm>
          <a:prstGeom prst="roundRect">
            <a:avLst>
              <a:gd name="adj" fmla="val 8065"/>
            </a:avLst>
          </a:prstGeom>
          <a:solidFill>
            <a:srgbClr val="EEF9F6"/>
          </a:solidFill>
          <a:ln w="10160">
            <a:solidFill>
              <a:srgbClr val="54CCB3"/>
            </a:solidFill>
            <a:prstDash val="solid"/>
          </a:ln>
        </p:spPr>
      </p:sp>
      <p:sp>
        <p:nvSpPr>
          <p:cNvPr id="88" name="Text 82"/>
          <p:cNvSpPr/>
          <p:nvPr/>
        </p:nvSpPr>
        <p:spPr>
          <a:xfrm>
            <a:off x="13008232" y="5829300"/>
            <a:ext cx="15448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0B304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案件化料</a:t>
            </a:r>
            <a:endParaRPr lang="en-US" sz="85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無料</a:t>
            </a:r>
            <a:endParaRPr lang="en-US" sz="850" dirty="0"/>
          </a:p>
        </p:txBody>
      </p:sp>
      <p:sp>
        <p:nvSpPr>
          <p:cNvPr id="89" name="Shape 83"/>
          <p:cNvSpPr/>
          <p:nvPr/>
        </p:nvSpPr>
        <p:spPr>
          <a:xfrm>
            <a:off x="9699681" y="6510528"/>
            <a:ext cx="1617787" cy="310896"/>
          </a:xfrm>
          <a:prstGeom prst="rect">
            <a:avLst/>
          </a:prstGeom>
          <a:solidFill>
            <a:srgbClr val="0B30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9699681" y="6510528"/>
            <a:ext cx="1617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当社</a:t>
            </a:r>
            <a:endParaRPr lang="en-US" sz="900" dirty="0"/>
          </a:p>
        </p:txBody>
      </p:sp>
      <p:sp>
        <p:nvSpPr>
          <p:cNvPr id="91" name="Text 85"/>
          <p:cNvSpPr/>
          <p:nvPr/>
        </p:nvSpPr>
        <p:spPr>
          <a:xfrm>
            <a:off x="11317468" y="6510528"/>
            <a:ext cx="1617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大手A社</a:t>
            </a:r>
            <a:endParaRPr lang="en-US" sz="900" dirty="0"/>
          </a:p>
        </p:txBody>
      </p:sp>
      <p:sp>
        <p:nvSpPr>
          <p:cNvPr id="92" name="Text 86"/>
          <p:cNvSpPr/>
          <p:nvPr/>
        </p:nvSpPr>
        <p:spPr>
          <a:xfrm>
            <a:off x="12935255" y="6510528"/>
            <a:ext cx="1617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大手B社</a:t>
            </a:r>
            <a:endParaRPr lang="en-US" sz="900" dirty="0"/>
          </a:p>
        </p:txBody>
      </p:sp>
      <p:sp>
        <p:nvSpPr>
          <p:cNvPr id="93" name="Shape 87"/>
          <p:cNvSpPr/>
          <p:nvPr/>
        </p:nvSpPr>
        <p:spPr>
          <a:xfrm>
            <a:off x="9699681" y="6821424"/>
            <a:ext cx="1617787" cy="457200"/>
          </a:xfrm>
          <a:prstGeom prst="rect">
            <a:avLst/>
          </a:prstGeom>
          <a:solidFill>
            <a:srgbClr val="F1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88"/>
          <p:cNvSpPr/>
          <p:nvPr/>
        </p:nvSpPr>
        <p:spPr>
          <a:xfrm>
            <a:off x="8126913" y="68214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料金体系</a:t>
            </a:r>
            <a:endParaRPr lang="en-US" sz="850" dirty="0"/>
          </a:p>
        </p:txBody>
      </p:sp>
      <p:sp>
        <p:nvSpPr>
          <p:cNvPr id="95" name="Text 89"/>
          <p:cNvSpPr/>
          <p:nvPr/>
        </p:nvSpPr>
        <p:spPr>
          <a:xfrm>
            <a:off x="9699681" y="6821424"/>
            <a:ext cx="1617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完全成功報酬</a:t>
            </a:r>
            <a:endParaRPr lang="en-US" sz="850" dirty="0"/>
          </a:p>
        </p:txBody>
      </p:sp>
      <p:sp>
        <p:nvSpPr>
          <p:cNvPr id="96" name="Text 90"/>
          <p:cNvSpPr/>
          <p:nvPr/>
        </p:nvSpPr>
        <p:spPr>
          <a:xfrm>
            <a:off x="11317468" y="6821424"/>
            <a:ext cx="1617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着手金＋中間報酬</a:t>
            </a:r>
            <a:endParaRPr lang="en-US" sz="850" dirty="0"/>
          </a:p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＋成功報酬</a:t>
            </a:r>
            <a:endParaRPr lang="en-US" sz="850" dirty="0"/>
          </a:p>
        </p:txBody>
      </p:sp>
      <p:sp>
        <p:nvSpPr>
          <p:cNvPr id="97" name="Text 91"/>
          <p:cNvSpPr/>
          <p:nvPr/>
        </p:nvSpPr>
        <p:spPr>
          <a:xfrm>
            <a:off x="12935255" y="6821424"/>
            <a:ext cx="1617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中間報酬</a:t>
            </a:r>
            <a:endParaRPr lang="en-US" sz="850" dirty="0"/>
          </a:p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＋成功報酬</a:t>
            </a:r>
            <a:endParaRPr lang="en-US" sz="850" dirty="0"/>
          </a:p>
        </p:txBody>
      </p:sp>
      <p:sp>
        <p:nvSpPr>
          <p:cNvPr id="98" name="Shape 92"/>
          <p:cNvSpPr/>
          <p:nvPr/>
        </p:nvSpPr>
        <p:spPr>
          <a:xfrm>
            <a:off x="8126913" y="7278624"/>
            <a:ext cx="6426129" cy="7315"/>
          </a:xfrm>
          <a:prstGeom prst="rect">
            <a:avLst/>
          </a:prstGeom>
          <a:solidFill>
            <a:srgbClr val="E4EB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9699681" y="7278624"/>
            <a:ext cx="1617787" cy="329184"/>
          </a:xfrm>
          <a:prstGeom prst="rect">
            <a:avLst/>
          </a:prstGeom>
          <a:solidFill>
            <a:srgbClr val="F1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4"/>
          <p:cNvSpPr/>
          <p:nvPr/>
        </p:nvSpPr>
        <p:spPr>
          <a:xfrm>
            <a:off x="8126913" y="72786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着手金</a:t>
            </a:r>
            <a:endParaRPr lang="en-US" sz="850" dirty="0"/>
          </a:p>
        </p:txBody>
      </p:sp>
      <p:sp>
        <p:nvSpPr>
          <p:cNvPr id="101" name="Text 95"/>
          <p:cNvSpPr/>
          <p:nvPr/>
        </p:nvSpPr>
        <p:spPr>
          <a:xfrm>
            <a:off x="9699681" y="7278624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無料</a:t>
            </a:r>
            <a:endParaRPr lang="en-US" sz="850" dirty="0"/>
          </a:p>
        </p:txBody>
      </p:sp>
      <p:sp>
        <p:nvSpPr>
          <p:cNvPr id="102" name="Text 96"/>
          <p:cNvSpPr/>
          <p:nvPr/>
        </p:nvSpPr>
        <p:spPr>
          <a:xfrm>
            <a:off x="11317468" y="7278624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</a:t>
            </a:r>
            <a:endParaRPr lang="en-US" sz="850" dirty="0"/>
          </a:p>
        </p:txBody>
      </p:sp>
      <p:sp>
        <p:nvSpPr>
          <p:cNvPr id="103" name="Text 97"/>
          <p:cNvSpPr/>
          <p:nvPr/>
        </p:nvSpPr>
        <p:spPr>
          <a:xfrm>
            <a:off x="12935255" y="7278624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無料</a:t>
            </a:r>
            <a:endParaRPr lang="en-US" sz="850" dirty="0"/>
          </a:p>
        </p:txBody>
      </p:sp>
      <p:sp>
        <p:nvSpPr>
          <p:cNvPr id="104" name="Shape 98"/>
          <p:cNvSpPr/>
          <p:nvPr/>
        </p:nvSpPr>
        <p:spPr>
          <a:xfrm>
            <a:off x="8126913" y="7607808"/>
            <a:ext cx="6426129" cy="7315"/>
          </a:xfrm>
          <a:prstGeom prst="rect">
            <a:avLst/>
          </a:prstGeom>
          <a:solidFill>
            <a:srgbClr val="E4EB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99"/>
          <p:cNvSpPr/>
          <p:nvPr/>
        </p:nvSpPr>
        <p:spPr>
          <a:xfrm>
            <a:off x="9699681" y="7607808"/>
            <a:ext cx="1617787" cy="329184"/>
          </a:xfrm>
          <a:prstGeom prst="rect">
            <a:avLst/>
          </a:prstGeom>
          <a:solidFill>
            <a:srgbClr val="F1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0"/>
          <p:cNvSpPr/>
          <p:nvPr/>
        </p:nvSpPr>
        <p:spPr>
          <a:xfrm>
            <a:off x="8126913" y="7607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中間報酬</a:t>
            </a:r>
            <a:endParaRPr lang="en-US" sz="850" dirty="0"/>
          </a:p>
        </p:txBody>
      </p:sp>
      <p:sp>
        <p:nvSpPr>
          <p:cNvPr id="107" name="Text 101"/>
          <p:cNvSpPr/>
          <p:nvPr/>
        </p:nvSpPr>
        <p:spPr>
          <a:xfrm>
            <a:off x="9699681" y="7607808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無料</a:t>
            </a:r>
            <a:endParaRPr lang="en-US" sz="850" dirty="0"/>
          </a:p>
        </p:txBody>
      </p:sp>
      <p:sp>
        <p:nvSpPr>
          <p:cNvPr id="108" name="Text 102"/>
          <p:cNvSpPr/>
          <p:nvPr/>
        </p:nvSpPr>
        <p:spPr>
          <a:xfrm>
            <a:off x="11317468" y="7607808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</a:t>
            </a:r>
            <a:endParaRPr lang="en-US" sz="850" dirty="0"/>
          </a:p>
        </p:txBody>
      </p:sp>
      <p:sp>
        <p:nvSpPr>
          <p:cNvPr id="109" name="Text 103"/>
          <p:cNvSpPr/>
          <p:nvPr/>
        </p:nvSpPr>
        <p:spPr>
          <a:xfrm>
            <a:off x="12935255" y="7607808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</a:t>
            </a:r>
            <a:endParaRPr lang="en-US" sz="850" dirty="0"/>
          </a:p>
        </p:txBody>
      </p:sp>
      <p:sp>
        <p:nvSpPr>
          <p:cNvPr id="110" name="Shape 104"/>
          <p:cNvSpPr/>
          <p:nvPr/>
        </p:nvSpPr>
        <p:spPr>
          <a:xfrm>
            <a:off x="8126913" y="7936992"/>
            <a:ext cx="6426129" cy="7315"/>
          </a:xfrm>
          <a:prstGeom prst="rect">
            <a:avLst/>
          </a:prstGeom>
          <a:solidFill>
            <a:srgbClr val="E4EB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5"/>
          <p:cNvSpPr/>
          <p:nvPr/>
        </p:nvSpPr>
        <p:spPr>
          <a:xfrm>
            <a:off x="9699681" y="7936992"/>
            <a:ext cx="1617787" cy="329184"/>
          </a:xfrm>
          <a:prstGeom prst="rect">
            <a:avLst/>
          </a:prstGeom>
          <a:solidFill>
            <a:srgbClr val="F1F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06"/>
          <p:cNvSpPr/>
          <p:nvPr/>
        </p:nvSpPr>
        <p:spPr>
          <a:xfrm>
            <a:off x="8126913" y="79369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株価評価・案件化料</a:t>
            </a:r>
            <a:endParaRPr lang="en-US" sz="850" dirty="0"/>
          </a:p>
        </p:txBody>
      </p:sp>
      <p:sp>
        <p:nvSpPr>
          <p:cNvPr id="113" name="Text 107"/>
          <p:cNvSpPr/>
          <p:nvPr/>
        </p:nvSpPr>
        <p:spPr>
          <a:xfrm>
            <a:off x="9699681" y="7936992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無料</a:t>
            </a:r>
            <a:endParaRPr lang="en-US" sz="850" dirty="0"/>
          </a:p>
        </p:txBody>
      </p:sp>
      <p:sp>
        <p:nvSpPr>
          <p:cNvPr id="114" name="Text 108"/>
          <p:cNvSpPr/>
          <p:nvPr/>
        </p:nvSpPr>
        <p:spPr>
          <a:xfrm>
            <a:off x="11317468" y="7936992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着手金に含む</a:t>
            </a:r>
            <a:endParaRPr lang="en-US" sz="850" dirty="0"/>
          </a:p>
        </p:txBody>
      </p:sp>
      <p:sp>
        <p:nvSpPr>
          <p:cNvPr id="115" name="Text 109"/>
          <p:cNvSpPr/>
          <p:nvPr/>
        </p:nvSpPr>
        <p:spPr>
          <a:xfrm>
            <a:off x="12935255" y="7936992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無料</a:t>
            </a:r>
            <a:endParaRPr lang="en-US" sz="850" dirty="0"/>
          </a:p>
        </p:txBody>
      </p:sp>
      <p:sp>
        <p:nvSpPr>
          <p:cNvPr id="116" name="Shape 110"/>
          <p:cNvSpPr/>
          <p:nvPr/>
        </p:nvSpPr>
        <p:spPr>
          <a:xfrm>
            <a:off x="8126913" y="8266176"/>
            <a:ext cx="6426129" cy="7315"/>
          </a:xfrm>
          <a:prstGeom prst="rect">
            <a:avLst/>
          </a:prstGeom>
          <a:solidFill>
            <a:srgbClr val="E4EB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1"/>
          <p:cNvSpPr/>
          <p:nvPr/>
        </p:nvSpPr>
        <p:spPr>
          <a:xfrm>
            <a:off x="9699681" y="8266176"/>
            <a:ext cx="1617787" cy="329184"/>
          </a:xfrm>
          <a:prstGeom prst="rect">
            <a:avLst/>
          </a:prstGeom>
          <a:solidFill>
            <a:srgbClr val="DFF4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2"/>
          <p:cNvSpPr/>
          <p:nvPr/>
        </p:nvSpPr>
        <p:spPr>
          <a:xfrm>
            <a:off x="8126913" y="82661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最低報酬</a:t>
            </a:r>
            <a:endParaRPr lang="en-US" sz="850" dirty="0"/>
          </a:p>
        </p:txBody>
      </p:sp>
      <p:sp>
        <p:nvSpPr>
          <p:cNvPr id="119" name="Text 113"/>
          <p:cNvSpPr/>
          <p:nvPr/>
        </p:nvSpPr>
        <p:spPr>
          <a:xfrm>
            <a:off x="9699681" y="8266176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1,500万円</a:t>
            </a:r>
            <a:endParaRPr lang="en-US" sz="1100" dirty="0"/>
          </a:p>
        </p:txBody>
      </p:sp>
      <p:sp>
        <p:nvSpPr>
          <p:cNvPr id="120" name="Text 114"/>
          <p:cNvSpPr/>
          <p:nvPr/>
        </p:nvSpPr>
        <p:spPr>
          <a:xfrm>
            <a:off x="11317468" y="8266176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2,000万円</a:t>
            </a:r>
            <a:endParaRPr lang="en-US" sz="900" dirty="0"/>
          </a:p>
        </p:txBody>
      </p:sp>
      <p:sp>
        <p:nvSpPr>
          <p:cNvPr id="121" name="Text 115"/>
          <p:cNvSpPr/>
          <p:nvPr/>
        </p:nvSpPr>
        <p:spPr>
          <a:xfrm>
            <a:off x="12935255" y="8266176"/>
            <a:ext cx="16177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2,500万円</a:t>
            </a:r>
            <a:endParaRPr lang="en-US" sz="900" dirty="0"/>
          </a:p>
        </p:txBody>
      </p:sp>
      <p:sp>
        <p:nvSpPr>
          <p:cNvPr id="122" name="Shape 116"/>
          <p:cNvSpPr/>
          <p:nvPr/>
        </p:nvSpPr>
        <p:spPr>
          <a:xfrm>
            <a:off x="8126913" y="8595360"/>
            <a:ext cx="6426129" cy="7315"/>
          </a:xfrm>
          <a:prstGeom prst="rect">
            <a:avLst/>
          </a:prstGeom>
          <a:solidFill>
            <a:srgbClr val="E4EB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9699681" y="6510528"/>
            <a:ext cx="1617787" cy="208483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9C87"/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8126913" y="8741664"/>
            <a:ext cx="64261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68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成功報酬は譲渡企業の時価総資産額（営業権を含む）に対するレーマン方式。5億円以下の部分5%／5億円超10億円以下の部分4%／10億円超50億円以下の部分3%／50億円超100億円以下の部分2%／100億円超の部分1%（消費税別）。合併・会社分割・業務提携等は形態・規模に応じてお見積りいたします。</a:t>
            </a:r>
            <a:endParaRPr lang="en-US" sz="6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680" dirty="0">
                <a:solidFill>
                  <a:srgbClr val="8A959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他社条件は当社調べ。2026年8月時点の公表情報等に基づく一例であり、各社の最新の料金体系とは異なる場合があります。</a:t>
            </a:r>
            <a:endParaRPr lang="en-US" sz="680" dirty="0"/>
          </a:p>
        </p:txBody>
      </p:sp>
      <p:sp>
        <p:nvSpPr>
          <p:cNvPr id="125" name="Text 119"/>
          <p:cNvSpPr/>
          <p:nvPr/>
        </p:nvSpPr>
        <p:spPr>
          <a:xfrm>
            <a:off x="8126913" y="9381744"/>
            <a:ext cx="38556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041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支援事例（匿名化）</a:t>
            </a:r>
            <a:endParaRPr lang="en-US" sz="1250" dirty="0"/>
          </a:p>
        </p:txBody>
      </p:sp>
      <p:sp>
        <p:nvSpPr>
          <p:cNvPr id="126" name="Text 120"/>
          <p:cNvSpPr/>
          <p:nvPr/>
        </p:nvSpPr>
        <p:spPr>
          <a:xfrm>
            <a:off x="11982590" y="9422892"/>
            <a:ext cx="257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8A959D"/>
                </a:solidFill>
                <a:latin typeface="Arial" pitchFamily="34" charset="0"/>
                <a:ea typeface="游ゴシック" pitchFamily="34" charset="-122"/>
                <a:cs typeface="Arial" pitchFamily="34" charset="-120"/>
              </a:rPr>
              <a:t>CASE</a:t>
            </a:r>
            <a:endParaRPr lang="en-US" sz="750" dirty="0"/>
          </a:p>
        </p:txBody>
      </p:sp>
      <p:sp>
        <p:nvSpPr>
          <p:cNvPr id="127" name="Shape 121"/>
          <p:cNvSpPr/>
          <p:nvPr/>
        </p:nvSpPr>
        <p:spPr>
          <a:xfrm>
            <a:off x="8126913" y="9656064"/>
            <a:ext cx="6426129" cy="7315"/>
          </a:xfrm>
          <a:prstGeom prst="rect">
            <a:avLst/>
          </a:prstGeom>
          <a:solidFill>
            <a:srgbClr val="D8E0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8126913" y="9779508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EF9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8126913" y="97795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事業承継</a:t>
            </a:r>
            <a:endParaRPr lang="en-US" sz="700" dirty="0"/>
          </a:p>
        </p:txBody>
      </p:sp>
      <p:sp>
        <p:nvSpPr>
          <p:cNvPr id="130" name="Text 124"/>
          <p:cNvSpPr/>
          <p:nvPr/>
        </p:nvSpPr>
        <p:spPr>
          <a:xfrm>
            <a:off x="9077889" y="9765792"/>
            <a:ext cx="54751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後継者不在の企業の株式譲渡。条件面を丁寧に整理し、会社と従業員の将来を守るかたちで円満に承継。</a:t>
            </a:r>
            <a:endParaRPr lang="en-US" sz="780" dirty="0"/>
          </a:p>
        </p:txBody>
      </p:sp>
      <p:sp>
        <p:nvSpPr>
          <p:cNvPr id="131" name="Shape 125"/>
          <p:cNvSpPr/>
          <p:nvPr/>
        </p:nvSpPr>
        <p:spPr>
          <a:xfrm>
            <a:off x="8126913" y="1004011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EF9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8126913" y="100401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成長型M&amp;A</a:t>
            </a:r>
            <a:endParaRPr lang="en-US" sz="700" dirty="0"/>
          </a:p>
        </p:txBody>
      </p:sp>
      <p:sp>
        <p:nvSpPr>
          <p:cNvPr id="133" name="Text 127"/>
          <p:cNvSpPr/>
          <p:nvPr/>
        </p:nvSpPr>
        <p:spPr>
          <a:xfrm>
            <a:off x="9077889" y="10026396"/>
            <a:ext cx="54751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スタートアップの株式譲渡。成長性を評価に織り込み、株式譲渡とアーンアウトの組合せで約6カ月で成約。</a:t>
            </a:r>
            <a:endParaRPr lang="en-US" sz="780" dirty="0"/>
          </a:p>
        </p:txBody>
      </p:sp>
      <p:sp>
        <p:nvSpPr>
          <p:cNvPr id="134" name="Shape 128"/>
          <p:cNvSpPr/>
          <p:nvPr/>
        </p:nvSpPr>
        <p:spPr>
          <a:xfrm>
            <a:off x="8126913" y="10300716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EF9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Text 129"/>
          <p:cNvSpPr/>
          <p:nvPr/>
        </p:nvSpPr>
        <p:spPr>
          <a:xfrm>
            <a:off x="8126913" y="103007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9C87"/>
                </a:solidFill>
                <a:latin typeface="游ゴシック Medium" pitchFamily="34" charset="0"/>
                <a:ea typeface="游ゴシック Medium" pitchFamily="34" charset="-122"/>
                <a:cs typeface="游ゴシック Medium" pitchFamily="34" charset="-120"/>
              </a:rPr>
              <a:t>資金調達支援</a:t>
            </a:r>
            <a:endParaRPr lang="en-US" sz="700" dirty="0"/>
          </a:p>
        </p:txBody>
      </p:sp>
      <p:sp>
        <p:nvSpPr>
          <p:cNvPr id="136" name="Text 130"/>
          <p:cNvSpPr/>
          <p:nvPr/>
        </p:nvSpPr>
        <p:spPr>
          <a:xfrm>
            <a:off x="9077889" y="10287000"/>
            <a:ext cx="54751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A667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食品卸の運転資金確保。M&amp;Aによらない本業支援として、ご相談から約2カ月で調達を完了。</a:t>
            </a:r>
            <a:endParaRPr lang="en-US" sz="780" dirty="0"/>
          </a:p>
        </p:txBody>
      </p:sp>
      <p:sp>
        <p:nvSpPr>
          <p:cNvPr id="137" name="Text 131"/>
          <p:cNvSpPr/>
          <p:nvPr/>
        </p:nvSpPr>
        <p:spPr>
          <a:xfrm>
            <a:off x="6993057" y="91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D0D4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中央折り線</a:t>
            </a:r>
            <a:endParaRPr lang="en-US" sz="650" dirty="0"/>
          </a:p>
        </p:txBody>
      </p:sp>
      <p:sp>
        <p:nvSpPr>
          <p:cNvPr id="138" name="Shape 132"/>
          <p:cNvSpPr/>
          <p:nvPr/>
        </p:nvSpPr>
        <p:spPr>
          <a:xfrm>
            <a:off x="7557699" y="310896"/>
            <a:ext cx="4572" cy="10070196"/>
          </a:xfrm>
          <a:prstGeom prst="rect">
            <a:avLst/>
          </a:prstGeom>
          <a:solidFill>
            <a:srgbClr val="DDE4E7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游ゴシック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游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M&amp;A承継機構 会社紹介パンフレット</dc:title>
  <dc:subject>PptxGenJS Presentation</dc:subject>
  <dc:creator>株式会社M&amp;A承継機構</dc:creator>
  <cp:lastModifiedBy>株式会社M&amp;A承継機構</cp:lastModifiedBy>
  <cp:revision>1</cp:revision>
  <dcterms:created xsi:type="dcterms:W3CDTF">2026-08-02T15:52:27Z</dcterms:created>
  <dcterms:modified xsi:type="dcterms:W3CDTF">2026-08-02T15:52:27Z</dcterms:modified>
</cp:coreProperties>
</file>