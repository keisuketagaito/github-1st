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4"/>
  </p:notesMasterIdLst>
  <p:sldIdLst>
    <p:sldId id="256" r:id="rId2"/>
    <p:sldId id="257" r:id="rId3"/>
    <p:sldId id="290" r:id="rId4"/>
    <p:sldId id="314" r:id="rId5"/>
    <p:sldId id="259" r:id="rId6"/>
    <p:sldId id="295" r:id="rId7"/>
    <p:sldId id="315" r:id="rId8"/>
    <p:sldId id="262" r:id="rId9"/>
    <p:sldId id="263" r:id="rId10"/>
    <p:sldId id="264" r:id="rId11"/>
    <p:sldId id="317" r:id="rId12"/>
    <p:sldId id="318" r:id="rId13"/>
    <p:sldId id="319" r:id="rId14"/>
    <p:sldId id="309" r:id="rId15"/>
    <p:sldId id="310" r:id="rId16"/>
    <p:sldId id="282" r:id="rId17"/>
    <p:sldId id="283" r:id="rId18"/>
    <p:sldId id="299" r:id="rId19"/>
    <p:sldId id="287" r:id="rId20"/>
    <p:sldId id="320" r:id="rId21"/>
    <p:sldId id="312" r:id="rId22"/>
    <p:sldId id="277" r:id="rId23"/>
  </p:sldIdLst>
  <p:sldSz cx="10691813" cy="7559675"/>
  <p:notesSz cx="6794500" cy="9931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35" userDrawn="1">
          <p15:clr>
            <a:srgbClr val="A4A3A4"/>
          </p15:clr>
        </p15:guide>
        <p15:guide id="2" pos="336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50" autoAdjust="0"/>
    <p:restoredTop sz="75000" autoAdjust="0"/>
  </p:normalViewPr>
  <p:slideViewPr>
    <p:cSldViewPr snapToGrid="0">
      <p:cViewPr varScale="1">
        <p:scale>
          <a:sx n="64" d="100"/>
          <a:sy n="64" d="100"/>
        </p:scale>
        <p:origin x="1244" y="52"/>
      </p:cViewPr>
      <p:guideLst>
        <p:guide orient="horz" pos="635"/>
        <p:guide pos="3367"/>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spPr>
            <a:noFill/>
            <a:ln w="0">
              <a:noFill/>
            </a:ln>
          </c:spPr>
          <c:invertIfNegative val="0"/>
          <c:dLbls>
            <c:spPr>
              <a:noFill/>
              <a:ln>
                <a:noFill/>
              </a:ln>
              <a:effectLst/>
            </c:spPr>
            <c:txPr>
              <a:bodyPr wrap="square"/>
              <a:lstStyle/>
              <a:p>
                <a:pPr>
                  <a:defRPr sz="1000" b="0" strike="noStrike" spc="-1">
                    <a:solidFill>
                      <a:srgbClr val="000000"/>
                    </a:solidFill>
                    <a:latin typeface="Arial"/>
                    <a:ea typeface="游ゴシック Medium"/>
                  </a:defRPr>
                </a:pPr>
                <a:endParaRPr lang="ja-JP"/>
              </a:p>
            </c:txPr>
            <c:dLblPos val="ct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'株式価値 '!$B$4:$B$6</c:f>
              <c:strCache>
                <c:ptCount val="3"/>
                <c:pt idx="0">
                  <c:v>インカム</c:v>
                </c:pt>
                <c:pt idx="1">
                  <c:v>マーケット</c:v>
                </c:pt>
                <c:pt idx="2">
                  <c:v>コスト</c:v>
                </c:pt>
              </c:strCache>
            </c:strRef>
          </c:cat>
          <c:val>
            <c:numRef>
              <c:f>'株式価値 '!$C$4:$C$6</c:f>
              <c:numCache>
                <c:formatCode>#,##0,</c:formatCode>
                <c:ptCount val="3"/>
                <c:pt idx="0">
                  <c:v>0.0</c:v>
                </c:pt>
                <c:pt idx="1">
                  <c:v>63797000.0</c:v>
                </c:pt>
                <c:pt idx="2">
                  <c:v>83012000.0</c:v>
                </c:pt>
              </c:numCache>
            </c:numRef>
          </c:val>
          <c:extLst>
            <c:ext xmlns:c16="http://schemas.microsoft.com/office/drawing/2014/chart" uri="{C3380CC4-5D6E-409C-BE32-E72D297353CC}">
              <c16:uniqueId val="{00000000-2B92-40CA-8669-90E01AE844BB}"/>
            </c:ext>
          </c:extLst>
        </c:ser>
        <c:ser>
          <c:idx val="1"/>
          <c:order val="1"/>
          <c:spPr>
            <a:solidFill>
              <a:srgbClr val="0889C9"/>
            </a:solidFill>
            <a:ln w="0">
              <a:noFill/>
            </a:ln>
          </c:spPr>
          <c:invertIfNegative val="0"/>
          <c:dLbls>
            <c:spPr>
              <a:noFill/>
              <a:ln>
                <a:noFill/>
              </a:ln>
              <a:effectLst/>
            </c:spPr>
            <c:txPr>
              <a:bodyPr wrap="square"/>
              <a:lstStyle/>
              <a:p>
                <a:pPr>
                  <a:defRPr sz="1000" b="0" strike="noStrike" spc="-1">
                    <a:solidFill>
                      <a:srgbClr val="000000"/>
                    </a:solidFill>
                    <a:latin typeface="Arial"/>
                    <a:ea typeface="游ゴシック Medium"/>
                  </a:defRPr>
                </a:pPr>
                <a:endParaRPr lang="ja-JP"/>
              </a:p>
            </c:txPr>
            <c:dLblPos val="ct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'株式価値 '!$B$4:$B$6</c:f>
              <c:strCache>
                <c:ptCount val="3"/>
                <c:pt idx="0">
                  <c:v>インカム</c:v>
                </c:pt>
                <c:pt idx="1">
                  <c:v>マーケット</c:v>
                </c:pt>
                <c:pt idx="2">
                  <c:v>コスト</c:v>
                </c:pt>
              </c:strCache>
            </c:strRef>
          </c:cat>
          <c:val>
            <c:numRef>
              <c:f>'株式価値 '!$D$4:$D$6</c:f>
              <c:numCache>
                <c:formatCode>#,##0,</c:formatCode>
                <c:ptCount val="3"/>
                <c:pt idx="0">
                  <c:v>0.0</c:v>
                </c:pt>
                <c:pt idx="1">
                  <c:v>38103000.0</c:v>
                </c:pt>
                <c:pt idx="2">
                  <c:v>20431000.0</c:v>
                </c:pt>
              </c:numCache>
            </c:numRef>
          </c:val>
          <c:extLst>
            <c:ext xmlns:c16="http://schemas.microsoft.com/office/drawing/2014/chart" uri="{C3380CC4-5D6E-409C-BE32-E72D297353CC}">
              <c16:uniqueId val="{00000001-2B92-40CA-8669-90E01AE844BB}"/>
            </c:ext>
          </c:extLst>
        </c:ser>
        <c:dLbls>
          <c:showLegendKey val="0"/>
          <c:showVal val="0"/>
          <c:showCatName val="0"/>
          <c:showSerName val="0"/>
          <c:showPercent val="0"/>
          <c:showBubbleSize val="0"/>
        </c:dLbls>
        <c:gapWidth val="70"/>
        <c:overlap val="100"/>
        <c:axId val="70114149"/>
        <c:axId val="98614812"/>
      </c:barChart>
      <c:catAx>
        <c:axId val="70114149"/>
        <c:scaling>
          <c:orientation val="minMax"/>
        </c:scaling>
        <c:delete val="1"/>
        <c:axPos val="l"/>
        <c:numFmt formatCode="General" sourceLinked="1"/>
        <c:majorTickMark val="out"/>
        <c:minorTickMark val="none"/>
        <c:tickLblPos val="nextTo"/>
        <c:crossAx val="98614812"/>
        <c:crosses val="autoZero"/>
        <c:auto val="1"/>
        <c:lblAlgn val="ctr"/>
        <c:lblOffset val="100"/>
        <c:noMultiLvlLbl val="0"/>
      </c:catAx>
      <c:valAx>
        <c:axId val="98614812"/>
        <c:scaling>
          <c:orientation val="minMax"/>
        </c:scaling>
        <c:delete val="0"/>
        <c:axPos val="b"/>
        <c:majorGridlines>
          <c:spPr>
            <a:ln w="9360">
              <a:solidFill>
                <a:srgbClr val="0B3041"/>
              </a:solidFill>
              <a:round/>
            </a:ln>
          </c:spPr>
        </c:majorGridlines>
        <c:numFmt formatCode="#,##0," sourceLinked="0"/>
        <c:majorTickMark val="out"/>
        <c:minorTickMark val="none"/>
        <c:tickLblPos val="nextTo"/>
        <c:spPr>
          <a:ln w="12600">
            <a:noFill/>
          </a:ln>
        </c:spPr>
        <c:txPr>
          <a:bodyPr/>
          <a:lstStyle/>
          <a:p>
            <a:pPr>
              <a:defRPr sz="900" b="0" strike="noStrike" spc="-1">
                <a:solidFill>
                  <a:srgbClr val="0B3041"/>
                </a:solidFill>
                <a:latin typeface="Arial"/>
                <a:ea typeface="游ゴシック Medium"/>
              </a:defRPr>
            </a:pPr>
            <a:endParaRPr lang="ja-JP"/>
          </a:p>
        </c:txPr>
        <c:crossAx val="70114149"/>
        <c:crosses val="autoZero"/>
        <c:crossBetween val="between"/>
      </c:valAx>
      <c:spPr>
        <a:noFill/>
        <a:ln w="0">
          <a:noFill/>
        </a:ln>
      </c:spPr>
    </c:plotArea>
    <c:plotVisOnly val="1"/>
    <c:dispBlanksAs val="gap"/>
    <c:showDLblsOverMax val="1"/>
  </c:chart>
  <c:spPr>
    <a:solidFill>
      <a:srgbClr val="FFFFFF"/>
    </a:solidFill>
    <a:ln w="12600">
      <a:noFill/>
    </a:ln>
  </c:sp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1028700" y="1241425"/>
            <a:ext cx="4737100" cy="33512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6</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9</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18</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t>Valuation</a:t>
            </a:r>
            <a:r>
              <a:rPr lang="ja-JP" altLang="en-US" dirty="0"/>
              <a:t> </a:t>
            </a:r>
            <a:r>
              <a:rPr lang="en-US" altLang="ja-JP" dirty="0"/>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2192908" cy="276999"/>
          </a:xfrm>
          <a:prstGeom prst="rect">
            <a:avLst/>
          </a:prstGeom>
          <a:noFill/>
        </p:spPr>
        <p:txBody>
          <a:bodyPr wrap="none" lIns="0" tIns="0" rIns="0" bIns="0" rtlCol="0">
            <a:spAutoFit/>
          </a:bodyPr>
          <a:lstStyle/>
          <a:p>
            <a:r>
              <a:rPr lang="ja-JP" altLang="en-US" b="1" spc="100" dirty="0">
                <a:latin typeface="+mj-lt"/>
                <a:ea typeface="+mj-ea"/>
              </a:rPr>
              <a:t>株式会社ミドリメディカル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72601"/>
            <a:ext cx="1540486" cy="246221"/>
          </a:xfrm>
          <a:prstGeom prst="rect">
            <a:avLst/>
          </a:prstGeom>
          <a:noFill/>
        </p:spPr>
        <p:txBody>
          <a:bodyPr wrap="none" lIns="0" tIns="0" rIns="0" bIns="0" rtlCol="0" anchor="ctr">
            <a:spAutoFit/>
          </a:bodyPr>
          <a:lstStyle/>
          <a:p>
            <a:pPr defTabSz="503972">
              <a:defRPr/>
            </a:pPr>
            <a:r>
              <a:rPr kumimoji="1" lang="en-US" altLang="ja-JP" sz="1600" spc="100" dirty="0"/>
              <a:t>2026年8月19日</a:t>
            </a:r>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2631826034"/>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 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t>M&amp;A</a:t>
            </a:r>
            <a:r>
              <a:rPr lang="ja-JP" altLang="en-US" sz="1200" dirty="0"/>
              <a:t>実行時の譲渡価額（売買取引価額）を保証するものではありません。</a:t>
            </a:r>
          </a:p>
          <a:p>
            <a:pPr>
              <a:spcAft>
                <a:spcPts val="1200"/>
              </a:spcAft>
            </a:pPr>
            <a:r>
              <a:rPr lang="ja-JP" altLang="en-US" sz="1200" dirty="0"/>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における株価は、買主との協議によって決定されるものであり、最終的に本書での評価結果の範囲外に</a:t>
            </a:r>
            <a:br>
              <a:rPr lang="en-US" altLang="ja-JP" dirty="0"/>
            </a:br>
            <a:r>
              <a:rPr lang="ja-JP" altLang="en-US" dirty="0"/>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における株価評価方法は画一的なものはなく、世の中には多数の算出手法が存在します。</a:t>
            </a:r>
            <a:br>
              <a:rPr lang="en-US" altLang="ja-JP" dirty="0"/>
            </a:br>
            <a:r>
              <a:rPr lang="ja-JP" altLang="en-US" dirty="0"/>
              <a:t>本書においては中小企業</a:t>
            </a:r>
            <a:r>
              <a:rPr lang="en-US" altLang="ja-JP" dirty="0"/>
              <a:t>M&amp;A</a:t>
            </a:r>
            <a:r>
              <a:rPr lang="ja-JP" altLang="en-US" dirty="0"/>
              <a:t>において用いられる一般的な評価手法から、貴社の評価に適していると</a:t>
            </a:r>
            <a:br>
              <a:rPr lang="en-US" altLang="ja-JP" dirty="0"/>
            </a:br>
            <a:r>
              <a:rPr lang="ja-JP" altLang="en-US" dirty="0"/>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今後の業績や事業の状態・見通し等の変化によって、株式価値は変動する為、適宜、月次試算表のご提出や、</a:t>
            </a:r>
            <a:br>
              <a:rPr lang="en-US" altLang="ja-JP" dirty="0"/>
            </a:br>
            <a:r>
              <a:rPr lang="ja-JP" altLang="en-US" dirty="0"/>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株価の一部を退職金や配当として受け取る事を希望される場合、当該金額は株価から減算されることが</a:t>
            </a:r>
            <a:br>
              <a:rPr lang="en-US" altLang="ja-JP" dirty="0"/>
            </a:br>
            <a:r>
              <a:rPr lang="ja-JP" altLang="en-US" dirty="0"/>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本書での評価結果を大幅に上回る株価を希望される場合、マッチングが困難になる為、</a:t>
            </a:r>
            <a:br>
              <a:rPr lang="en-US" altLang="ja-JP" dirty="0"/>
            </a:br>
            <a:r>
              <a:rPr lang="ja-JP" altLang="en-US" dirty="0"/>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Summary </a:t>
            </a:r>
            <a:r>
              <a:rPr lang="ja-JP" altLang="en-US" sz="1600" dirty="0"/>
              <a:t>／ </a:t>
            </a:r>
            <a:br>
              <a:rPr lang="en-US" altLang="ja-JP" sz="1800" dirty="0"/>
            </a:br>
            <a:r>
              <a:rPr lang="ja-JP" altLang="en-US" sz="2200" dirty="0"/>
              <a:t>試算結果</a:t>
            </a:r>
            <a:endParaRPr lang="en-US" altLang="ja-JP" sz="2200" dirty="0"/>
          </a:p>
          <a:p>
            <a:pPr>
              <a:spcAft>
                <a:spcPts val="1000"/>
              </a:spcAft>
            </a:pPr>
            <a:r>
              <a:rPr lang="en-US" altLang="ja-JP" sz="1600" dirty="0"/>
              <a:t>Financial Analysis </a:t>
            </a:r>
            <a:r>
              <a:rPr lang="ja-JP" altLang="en-US" sz="1600" dirty="0"/>
              <a:t>／ </a:t>
            </a:r>
            <a:br>
              <a:rPr lang="en-US" altLang="ja-JP" sz="1800" dirty="0"/>
            </a:br>
            <a:r>
              <a:rPr lang="ja-JP" altLang="en-US" dirty="0"/>
              <a:t>財務情報の分析</a:t>
            </a:r>
          </a:p>
          <a:p>
            <a:pPr>
              <a:spcAft>
                <a:spcPts val="1000"/>
              </a:spcAft>
            </a:pPr>
            <a:r>
              <a:rPr lang="en-US" altLang="ja-JP" sz="1600" dirty="0"/>
              <a:t>Valuation Details </a:t>
            </a:r>
            <a:r>
              <a:rPr lang="ja-JP" altLang="en-US" sz="1600" dirty="0"/>
              <a:t>／ </a:t>
            </a:r>
            <a:br>
              <a:rPr lang="en-US" altLang="ja-JP" sz="1800" dirty="0"/>
            </a:br>
            <a:r>
              <a:rPr lang="ja-JP" altLang="en-US" dirty="0"/>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Methodology </a:t>
            </a:r>
            <a:r>
              <a:rPr lang="ja-JP" altLang="en-US" sz="1600" dirty="0"/>
              <a:t>／ </a:t>
            </a:r>
            <a:br>
              <a:rPr lang="en-US" altLang="ja-JP" sz="1800" dirty="0"/>
            </a:br>
            <a:r>
              <a:rPr lang="ja-JP" altLang="en-US" dirty="0"/>
              <a:t>評価手法について</a:t>
            </a:r>
            <a:endParaRPr lang="en-US" altLang="ja-JP" dirty="0"/>
          </a:p>
          <a:p>
            <a:pPr>
              <a:spcAft>
                <a:spcPts val="1000"/>
              </a:spcAft>
            </a:pPr>
            <a:r>
              <a:rPr lang="en-US" altLang="ja-JP" sz="1600" dirty="0"/>
              <a:t>Valuation Concept </a:t>
            </a:r>
            <a:r>
              <a:rPr lang="ja-JP" altLang="en-US" sz="1600" dirty="0"/>
              <a:t>／ </a:t>
            </a:r>
            <a:br>
              <a:rPr lang="en-US" altLang="ja-JP" sz="1800" dirty="0"/>
            </a:br>
            <a:r>
              <a:rPr lang="ja-JP" altLang="en-US" dirty="0"/>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Valuation Summary </a:t>
            </a:r>
            <a:r>
              <a:rPr lang="ja-JP" altLang="en-US" dirty="0"/>
              <a:t>／</a:t>
            </a:r>
            <a:br>
              <a:rPr lang="en-US" altLang="ja-JP" dirty="0"/>
            </a:br>
            <a:r>
              <a:rPr lang="ja-JP" altLang="en-US" dirty="0"/>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pPr>
            <a:r>
              <a:rPr lang="ja-JP" altLang="en-US" sz="1200" b="1" spc="30">
                <a:solidFill>
                  <a:schemeClr val="tx2"/>
                </a:solidFill>
                <a:latin typeface="+mj-ea"/>
                <a:ea typeface="+mj-ea"/>
              </a:rPr>
              <a:t>最適な評価手法の選定にあたっては、対象会社の性質や評価目的などを踏まえ、総合的に判断する必要があります。</a:t>
            </a:r>
            <a:br>
              <a:rPr lang="en-US" altLang="ja-JP" sz="1200" b="1" spc="30">
                <a:solidFill>
                  <a:schemeClr val="tx2"/>
                </a:solidFill>
                <a:latin typeface="+mj-ea"/>
                <a:ea typeface="+mj-ea"/>
              </a:rPr>
            </a:br>
            <a:r>
              <a:rPr lang="ja-JP" altLang="en-US" sz="1200" b="1" spc="30">
                <a:solidFill>
                  <a:schemeClr val="tx2"/>
                </a:solidFill>
                <a:latin typeface="+mj-ea"/>
                <a:ea typeface="+mj-ea"/>
              </a:rPr>
              <a:t>なお、各手法の概略につきましては、「</a:t>
            </a:r>
            <a:r>
              <a:rPr lang="en-US" altLang="ja-JP" sz="1200" b="1" spc="30">
                <a:solidFill>
                  <a:schemeClr val="tx2"/>
                </a:solidFill>
                <a:latin typeface="+mj-ea"/>
                <a:ea typeface="+mj-ea"/>
              </a:rPr>
              <a:t>Appendix2.</a:t>
            </a:r>
            <a:r>
              <a:rPr lang="ja-JP" altLang="en-US" sz="1200" b="1" spc="30">
                <a:solidFill>
                  <a:schemeClr val="tx2"/>
                </a:solidFill>
                <a:latin typeface="+mj-ea"/>
                <a:ea typeface="+mj-ea"/>
              </a:rPr>
              <a:t>評価手法について」をご確認ください。</a:t>
            </a:r>
            <a:endParaRPr kumimoji="1" lang="ja-JP" altLang="en-US" sz="1200" b="1" spc="30" dirty="0">
              <a:solidFill>
                <a:schemeClr val="tx2"/>
              </a:solidFill>
              <a:latin typeface="+mj-ea"/>
              <a:ea typeface="+mj-ea"/>
            </a:endParaRP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時価純資産に会社の超過収益力である営業権を加算することで</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継続企業価値を算定する手法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実質的な財政状態に加え、経営成績をバランスよく反映させることができる「時価純資産価額法」に「営業権」を加味する手法を採用しました。なお、本手法は、中堅・中小企業の</a:t>
                      </a:r>
                      <a:r>
                        <a:rPr kumimoji="1" lang="en-US" altLang="ja-JP" sz="1000" b="0" kern="1200" dirty="0">
                          <a:solidFill>
                            <a:schemeClr val="dk1"/>
                          </a:solidFill>
                          <a:latin typeface="+mn-ea"/>
                          <a:ea typeface="+mn-ea"/>
                          <a:cs typeface="+mn-cs"/>
                        </a:rPr>
                        <a:t>M&amp;A</a:t>
                      </a:r>
                      <a:r>
                        <a:rPr kumimoji="1" lang="ja-JP" altLang="en-US" sz="1000" b="0" kern="1200" dirty="0">
                          <a:solidFill>
                            <a:schemeClr val="dk1"/>
                          </a:solidFill>
                          <a:latin typeface="+mn-ea"/>
                          <a:ea typeface="+mn-ea"/>
                          <a:cs typeface="+mn-cs"/>
                        </a:rPr>
                        <a:t>での株式評価において、最も広く用いられている手法です。</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類似会社比準法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a:t>
                      </a:r>
                      <a:r>
                        <a:rPr kumimoji="1" lang="en-US" altLang="ja-JP" sz="900" b="1" kern="1200" dirty="0">
                          <a:solidFill>
                            <a:schemeClr val="tx2"/>
                          </a:solidFill>
                          <a:latin typeface="+mj-lt"/>
                          <a:ea typeface="+mj-ea"/>
                          <a:cs typeface="+mn-cs"/>
                        </a:rPr>
                        <a:t>EV/EBITDA</a:t>
                      </a:r>
                      <a:r>
                        <a:rPr kumimoji="1" lang="ja-JP" altLang="en-US" sz="900" b="1" kern="1200" dirty="0">
                          <a:solidFill>
                            <a:schemeClr val="tx2"/>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規模・業種が類似する企業の株価指標（倍率）をもとに、価値を</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株式市場における客観的な評価尺度である「株価」をベースとし、市場のトレンドを反映できる本手法を採用しました。なお、類似する上場企業の評価倍率を用いることで、第三者からの客観性と納得性が高い評価結果が得られる点が特徴です。</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収益還元法や</a:t>
                      </a:r>
                      <a:r>
                        <a:rPr kumimoji="1" lang="en-US" altLang="ja-JP" sz="1000" b="0" kern="1200" dirty="0">
                          <a:solidFill>
                            <a:schemeClr val="dk1"/>
                          </a:solidFill>
                          <a:latin typeface="+mn-ea"/>
                          <a:ea typeface="+mn-ea"/>
                          <a:cs typeface="+mn-cs"/>
                        </a:rPr>
                        <a:t>DCF</a:t>
                      </a:r>
                      <a:r>
                        <a:rPr kumimoji="1" lang="ja-JP" altLang="en-US" sz="1000" b="0" kern="1200" dirty="0">
                          <a:solidFill>
                            <a:schemeClr val="dk1"/>
                          </a:solidFill>
                          <a:latin typeface="+mn-ea"/>
                          <a:ea typeface="+mn-ea"/>
                          <a:cs typeface="+mn-cs"/>
                        </a:rPr>
                        <a:t>法を適用するには、根拠となる利益やキャッシュフローの計画値が必要となります。現状、詳細な事業計画が存在せず算定が困難であることから、これらの手法は採用しません。</a:t>
                      </a:r>
                    </a:p>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配当還元法は、本来、配当獲得を主眼とする少数株主の視点に立った評価手法です。したがって、本件取引の性質上、採用は適切ではないと判断しました。</a:t>
                      </a:r>
                      <a:endParaRPr kumimoji="1" lang="ja-JP" altLang="en-US" sz="1000" b="0" dirty="0">
                        <a:latin typeface="+mn-ea"/>
                        <a:ea typeface="+mn-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graphicFrame>
        <p:nvGraphicFramePr>
          <p:cNvPr id="5" name="Chart 1">
            <a:extLst>
              <a:ext uri="{FF2B5EF4-FFF2-40B4-BE49-F238E27FC236}">
                <a16:creationId xmlns:a16="http://schemas.microsoft.com/office/drawing/2014/main" id="{00000000-0008-0000-0800-000002000000}"/>
              </a:ext>
            </a:extLst>
          </p:cNvPr>
          <p:cNvGraphicFramePr>
            <a:graphicFrameLocks/>
          </p:cNvGraphicFramePr>
          <p:nvPr>
            <p:extLst>
              <p:ext uri="{D42A27DB-BD31-4B8C-83A1-F6EECF244321}">
                <p14:modId xmlns:p14="http://schemas.microsoft.com/office/powerpoint/2010/main" val="2604671756"/>
              </p:ext>
            </p:extLst>
          </p:nvPr>
        </p:nvGraphicFramePr>
        <p:xfrm>
          <a:off x="5687917" y="3595280"/>
          <a:ext cx="4906625" cy="3207095"/>
        </p:xfrm>
        <a:graphic>
          <a:graphicData uri="http://schemas.openxmlformats.org/drawingml/2006/chart">
            <c:chart xmlns:c="http://schemas.openxmlformats.org/drawingml/2006/chart" xmlns:r="http://schemas.openxmlformats.org/officeDocument/2006/relationships" r:id="rId3"/>
          </a:graphicData>
        </a:graphic>
      </p:graphicFrame>
      <p:sp>
        <p:nvSpPr>
          <p:cNvPr id="12" name="正方形/長方形 11">
            <a:extLst>
              <a:ext uri="{FF2B5EF4-FFF2-40B4-BE49-F238E27FC236}">
                <a16:creationId xmlns:a16="http://schemas.microsoft.com/office/drawing/2014/main" id="{51F94532-DA10-FFBE-8C16-C508182360BE}"/>
              </a:ext>
            </a:extLst>
          </p:cNvPr>
          <p:cNvSpPr/>
          <p:nvPr/>
        </p:nvSpPr>
        <p:spPr>
          <a:xfrm>
            <a:off x="449263" y="3257914"/>
            <a:ext cx="82296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株式価値試算結果</a:t>
            </a:r>
          </a:p>
        </p:txBody>
      </p:sp>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lang="ja-JP" altLang="en-US" dirty="0"/>
              <a:t>株式価値の試算結果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7" name="正方形/長方形 6">
            <a:extLst>
              <a:ext uri="{FF2B5EF4-FFF2-40B4-BE49-F238E27FC236}">
                <a16:creationId xmlns:a16="http://schemas.microsoft.com/office/drawing/2014/main" id="{600396BE-765E-25EB-B4B0-EC8CCF4E55A6}"/>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試算の前提条件</a:t>
            </a:r>
          </a:p>
        </p:txBody>
      </p:sp>
      <p:graphicFrame>
        <p:nvGraphicFramePr>
          <p:cNvPr id="15" name="表 14">
            <a:extLst>
              <a:ext uri="{FF2B5EF4-FFF2-40B4-BE49-F238E27FC236}">
                <a16:creationId xmlns:a16="http://schemas.microsoft.com/office/drawing/2014/main" id="{8380FA3D-B192-E961-5C06-72E4D8504090}"/>
              </a:ext>
            </a:extLst>
          </p:cNvPr>
          <p:cNvGraphicFramePr>
            <a:graphicFrameLocks noGrp="1"/>
          </p:cNvGraphicFramePr>
          <p:nvPr>
            <p:extLst>
              <p:ext uri="{D42A27DB-BD31-4B8C-83A1-F6EECF244321}">
                <p14:modId xmlns:p14="http://schemas.microsoft.com/office/powerpoint/2010/main" val="2506677353"/>
              </p:ext>
            </p:extLst>
          </p:nvPr>
        </p:nvGraphicFramePr>
        <p:xfrm>
          <a:off x="449263" y="1276419"/>
          <a:ext cx="9792000" cy="1620000"/>
        </p:xfrm>
        <a:graphic>
          <a:graphicData uri="http://schemas.openxmlformats.org/drawingml/2006/table">
            <a:tbl>
              <a:tblPr>
                <a:tableStyleId>{5C22544A-7EE6-4342-B048-85BDC9FD1C3A}</a:tableStyleId>
              </a:tblPr>
              <a:tblGrid>
                <a:gridCol w="1080000">
                  <a:extLst>
                    <a:ext uri="{9D8B030D-6E8A-4147-A177-3AD203B41FA5}">
                      <a16:colId xmlns:a16="http://schemas.microsoft.com/office/drawing/2014/main" val="2925986688"/>
                    </a:ext>
                  </a:extLst>
                </a:gridCol>
                <a:gridCol w="8712000">
                  <a:extLst>
                    <a:ext uri="{9D8B030D-6E8A-4147-A177-3AD203B41FA5}">
                      <a16:colId xmlns:a16="http://schemas.microsoft.com/office/drawing/2014/main" val="803462936"/>
                    </a:ext>
                  </a:extLst>
                </a:gridCol>
              </a:tblGrid>
              <a:tr h="288000">
                <a:tc>
                  <a:txBody>
                    <a:bodyPr/>
                    <a:lstStyle/>
                    <a:p>
                      <a:pPr algn="l" fontAlgn="ctr">
                        <a:buNone/>
                      </a:pPr>
                      <a:r>
                        <a:rPr lang="ja-JP" altLang="en-US" sz="1200" b="1" u="none" strike="noStrike" spc="50" baseline="0" dirty="0">
                          <a:effectLst/>
                          <a:latin typeface="+mj-lt"/>
                          <a:ea typeface="+mj-ea"/>
                        </a:rPr>
                        <a:t>評価対象</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株式会社ミドリメディカル</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9972504"/>
                  </a:ext>
                </a:extLst>
              </a:tr>
              <a:tr h="288000">
                <a:tc>
                  <a:txBody>
                    <a:bodyPr/>
                    <a:lstStyle/>
                    <a:p>
                      <a:pPr algn="l" fontAlgn="ctr">
                        <a:buNone/>
                      </a:pPr>
                      <a:r>
                        <a:rPr lang="ja-JP" altLang="en-US" sz="1200" b="1" u="none" strike="noStrike" spc="50" baseline="0" dirty="0">
                          <a:effectLst/>
                          <a:latin typeface="+mj-lt"/>
                          <a:ea typeface="+mj-ea"/>
                        </a:rPr>
                        <a:t>算定日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sz="1100" b="0" u="none" strike="noStrike" spc="50" baseline="0" dirty="0">
                          <a:effectLst/>
                          <a:latin typeface="+mn-ea"/>
                          <a:ea typeface="+mn-ea"/>
                        </a:rPr>
                        <a:t>2026年8月19日</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7319347"/>
                  </a:ext>
                </a:extLst>
              </a:tr>
              <a:tr h="288000">
                <a:tc>
                  <a:txBody>
                    <a:bodyPr/>
                    <a:lstStyle/>
                    <a:p>
                      <a:pPr algn="l" fontAlgn="ctr">
                        <a:buNone/>
                      </a:pPr>
                      <a:r>
                        <a:rPr lang="ja-JP" altLang="en-US" sz="1200" b="1" u="none" strike="noStrike" spc="50" baseline="0" dirty="0">
                          <a:effectLst/>
                          <a:latin typeface="+mj-lt"/>
                          <a:ea typeface="+mj-ea"/>
                        </a:rPr>
                        <a:t>基準日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令和7年12月期（2025年12月31日／貸借対照表の基準日）</a:t>
                      </a: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7021639"/>
                  </a:ext>
                </a:extLst>
              </a:tr>
              <a:tr h="288000">
                <a:tc>
                  <a:txBody>
                    <a:bodyPr/>
                    <a:lstStyle/>
                    <a:p>
                      <a:pPr algn="l" fontAlgn="ctr">
                        <a:buNone/>
                      </a:pPr>
                      <a:r>
                        <a:rPr lang="ja-JP" altLang="en-US" sz="1200" b="1" i="0" u="none" strike="noStrike" spc="50" baseline="0" dirty="0">
                          <a:solidFill>
                            <a:srgbClr val="000000"/>
                          </a:solidFill>
                          <a:effectLst/>
                          <a:latin typeface="+mj-lt"/>
                          <a:ea typeface="+mj-ea"/>
                        </a:rPr>
                        <a:t>参照期間</a:t>
                      </a: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令和5年12月期～令和7年12月期（損益計算書の参照期間）</a:t>
                      </a: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8669453"/>
                  </a:ext>
                </a:extLst>
              </a:tr>
              <a:tr h="468000">
                <a:tc>
                  <a:txBody>
                    <a:bodyPr/>
                    <a:lstStyle/>
                    <a:p>
                      <a:pPr algn="l" fontAlgn="ctr">
                        <a:buNone/>
                      </a:pPr>
                      <a:r>
                        <a:rPr lang="ja-JP" altLang="en-US" sz="1200" b="1" u="none" strike="noStrike" spc="50" baseline="0" dirty="0">
                          <a:effectLst/>
                          <a:latin typeface="+mj-lt"/>
                          <a:ea typeface="+mj-ea"/>
                        </a:rPr>
                        <a:t>目的</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対象会社の過半数の株式を第三者間で売買取引・M&amp;Aする場合（「本件取引」といいます）の譲渡価額決定の参考資料とすること（「本件試算目的」といいます）を目的に本株式価値試算報告書は作成されております。</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865392"/>
                  </a:ext>
                </a:extLst>
              </a:tr>
            </a:tbl>
          </a:graphicData>
        </a:graphic>
      </p:graphicFrame>
      <p:sp>
        <p:nvSpPr>
          <p:cNvPr id="13" name="テキスト ボックス 12">
            <a:extLst>
              <a:ext uri="{FF2B5EF4-FFF2-40B4-BE49-F238E27FC236}">
                <a16:creationId xmlns:a16="http://schemas.microsoft.com/office/drawing/2014/main" id="{4DA9828D-AE4F-DE9E-A514-7657576FA044}"/>
              </a:ext>
            </a:extLst>
          </p:cNvPr>
          <p:cNvSpPr txBox="1"/>
          <p:nvPr/>
        </p:nvSpPr>
        <p:spPr>
          <a:xfrm>
            <a:off x="449263" y="3643540"/>
            <a:ext cx="2182008"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コストアプローチ（年買法）</a:t>
            </a:r>
            <a:endParaRPr lang="zh-TW" altLang="en-US" sz="1200" b="1" dirty="0">
              <a:latin typeface="+mj-ea"/>
              <a:ea typeface="+mj-ea"/>
            </a:endParaRPr>
          </a:p>
        </p:txBody>
      </p:sp>
      <p:sp>
        <p:nvSpPr>
          <p:cNvPr id="14" name="テキスト ボックス 13">
            <a:extLst>
              <a:ext uri="{FF2B5EF4-FFF2-40B4-BE49-F238E27FC236}">
                <a16:creationId xmlns:a16="http://schemas.microsoft.com/office/drawing/2014/main" id="{0571F37E-300F-5933-03E4-F551A36628E1}"/>
              </a:ext>
            </a:extLst>
          </p:cNvPr>
          <p:cNvSpPr txBox="1"/>
          <p:nvPr/>
        </p:nvSpPr>
        <p:spPr>
          <a:xfrm>
            <a:off x="449263" y="4632086"/>
            <a:ext cx="3817071"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マーケットアプローチ（</a:t>
            </a:r>
            <a:r>
              <a:rPr lang="en-US" altLang="ja-JP" sz="1200" b="1" dirty="0">
                <a:latin typeface="+mj-ea"/>
                <a:ea typeface="+mj-ea"/>
              </a:rPr>
              <a:t>EV/EBITDA</a:t>
            </a:r>
            <a:r>
              <a:rPr lang="ja-JP" altLang="en-US" sz="1200" b="1" dirty="0">
                <a:latin typeface="+mj-ea"/>
                <a:ea typeface="+mj-ea"/>
              </a:rPr>
              <a:t>マルチプル法）</a:t>
            </a:r>
          </a:p>
        </p:txBody>
      </p:sp>
      <p:sp>
        <p:nvSpPr>
          <p:cNvPr id="16" name="テキスト ボックス 15">
            <a:extLst>
              <a:ext uri="{FF2B5EF4-FFF2-40B4-BE49-F238E27FC236}">
                <a16:creationId xmlns:a16="http://schemas.microsoft.com/office/drawing/2014/main" id="{D184A0B6-D006-557B-7A6C-DB0A24D85D2B}"/>
              </a:ext>
            </a:extLst>
          </p:cNvPr>
          <p:cNvSpPr txBox="1"/>
          <p:nvPr/>
        </p:nvSpPr>
        <p:spPr>
          <a:xfrm>
            <a:off x="449263" y="5629322"/>
            <a:ext cx="2355132"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インカムアプローチ（</a:t>
            </a:r>
            <a:r>
              <a:rPr lang="en-US" altLang="ja-JP" sz="1200" b="1" dirty="0">
                <a:latin typeface="+mj-ea"/>
                <a:ea typeface="+mj-ea"/>
              </a:rPr>
              <a:t>DCF</a:t>
            </a:r>
            <a:r>
              <a:rPr lang="ja-JP" altLang="en-US" sz="1200" b="1" dirty="0">
                <a:latin typeface="+mj-ea"/>
                <a:ea typeface="+mj-ea"/>
              </a:rPr>
              <a:t>法）</a:t>
            </a:r>
            <a:endParaRPr lang="en-US" altLang="ja-JP" sz="1200" b="1" dirty="0">
              <a:latin typeface="+mj-ea"/>
              <a:ea typeface="+mj-ea"/>
            </a:endParaRPr>
          </a:p>
        </p:txBody>
      </p:sp>
      <p:sp>
        <p:nvSpPr>
          <p:cNvPr id="30" name="フローチャート: 処理 29">
            <a:extLst>
              <a:ext uri="{FF2B5EF4-FFF2-40B4-BE49-F238E27FC236}">
                <a16:creationId xmlns:a16="http://schemas.microsoft.com/office/drawing/2014/main" id="{AC729EB1-0964-BC40-F3C1-457DAE613AA5}"/>
              </a:ext>
            </a:extLst>
          </p:cNvPr>
          <p:cNvSpPr/>
          <p:nvPr/>
        </p:nvSpPr>
        <p:spPr>
          <a:xfrm>
            <a:off x="449263" y="3964277"/>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83,012 ～ 103,443（千円）</a:t>
            </a:r>
          </a:p>
        </p:txBody>
      </p:sp>
      <p:sp>
        <p:nvSpPr>
          <p:cNvPr id="31" name="正方形/長方形 30">
            <a:extLst>
              <a:ext uri="{FF2B5EF4-FFF2-40B4-BE49-F238E27FC236}">
                <a16:creationId xmlns:a16="http://schemas.microsoft.com/office/drawing/2014/main" id="{C1D83875-1354-478D-3F35-D7D444FAAA33}"/>
              </a:ext>
            </a:extLst>
          </p:cNvPr>
          <p:cNvSpPr/>
          <p:nvPr/>
        </p:nvSpPr>
        <p:spPr>
          <a:xfrm>
            <a:off x="449263" y="3964277"/>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
        <p:nvSpPr>
          <p:cNvPr id="6" name="正方形/長方形 5">
            <a:extLst>
              <a:ext uri="{FF2B5EF4-FFF2-40B4-BE49-F238E27FC236}">
                <a16:creationId xmlns:a16="http://schemas.microsoft.com/office/drawing/2014/main" id="{17A298AC-04B9-69B2-3669-CBEBBB69DC3B}"/>
              </a:ext>
            </a:extLst>
          </p:cNvPr>
          <p:cNvSpPr/>
          <p:nvPr/>
        </p:nvSpPr>
        <p:spPr>
          <a:xfrm>
            <a:off x="449263" y="5918514"/>
            <a:ext cx="9901235" cy="516169"/>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spc="50" dirty="0">
                <a:solidFill>
                  <a:schemeClr val="tx1"/>
                </a:solidFill>
                <a:latin typeface="+mj-ea"/>
                <a:ea typeface="+mj-ea"/>
              </a:rPr>
              <a:t>※※※※※</a:t>
            </a:r>
            <a:r>
              <a:rPr kumimoji="1" lang="ja-JP" altLang="en-US" sz="1200" b="1" spc="50" dirty="0">
                <a:solidFill>
                  <a:schemeClr val="tx1"/>
                </a:solidFill>
                <a:latin typeface="+mj-ea"/>
                <a:ea typeface="+mj-ea"/>
              </a:rPr>
              <a:t>不採用</a:t>
            </a:r>
            <a:r>
              <a:rPr kumimoji="1" lang="en-US" altLang="ja-JP" sz="1200" b="1" spc="50" dirty="0">
                <a:solidFill>
                  <a:schemeClr val="tx1"/>
                </a:solidFill>
                <a:latin typeface="+mj-ea"/>
                <a:ea typeface="+mj-ea"/>
              </a:rPr>
              <a:t>※※※※※</a:t>
            </a:r>
            <a:endParaRPr kumimoji="1" lang="ja-JP" altLang="en-US" sz="1200" b="1" spc="50" dirty="0">
              <a:solidFill>
                <a:schemeClr val="tx1"/>
              </a:solidFill>
              <a:latin typeface="+mj-ea"/>
              <a:ea typeface="+mj-ea"/>
            </a:endParaRPr>
          </a:p>
        </p:txBody>
      </p:sp>
      <p:sp>
        <p:nvSpPr>
          <p:cNvPr id="34" name="テキスト ボックス 33">
            <a:extLst>
              <a:ext uri="{FF2B5EF4-FFF2-40B4-BE49-F238E27FC236}">
                <a16:creationId xmlns:a16="http://schemas.microsoft.com/office/drawing/2014/main" id="{72CDD6C7-EAB4-9143-0AA5-D2C037712831}"/>
              </a:ext>
            </a:extLst>
          </p:cNvPr>
          <p:cNvSpPr txBox="1"/>
          <p:nvPr/>
        </p:nvSpPr>
        <p:spPr>
          <a:xfrm>
            <a:off x="9434637" y="3609789"/>
            <a:ext cx="807913" cy="138499"/>
          </a:xfrm>
          <a:prstGeom prst="rect">
            <a:avLst/>
          </a:prstGeom>
          <a:noFill/>
        </p:spPr>
        <p:txBody>
          <a:bodyPr wrap="none" lIns="0" tIns="0" rIns="0" bIns="0" rtlCol="0">
            <a:spAutoFit/>
          </a:bodyPr>
          <a:lstStyle/>
          <a:p>
            <a:pPr algn="r"/>
            <a:r>
              <a:rPr lang="ja-JP" altLang="en-US" sz="900" dirty="0">
                <a:latin typeface="+mn-ea"/>
              </a:rPr>
              <a:t>（単位：千円）</a:t>
            </a:r>
            <a:endParaRPr kumimoji="1" lang="ja-JP" altLang="en-US" sz="900" dirty="0">
              <a:latin typeface="+mn-ea"/>
            </a:endParaRPr>
          </a:p>
        </p:txBody>
      </p:sp>
      <p:sp>
        <p:nvSpPr>
          <p:cNvPr id="4" name="フローチャート: 処理 3">
            <a:extLst>
              <a:ext uri="{FF2B5EF4-FFF2-40B4-BE49-F238E27FC236}">
                <a16:creationId xmlns:a16="http://schemas.microsoft.com/office/drawing/2014/main" id="{31BA7B52-DE7E-53D3-E9FA-1E37D575B554}"/>
              </a:ext>
            </a:extLst>
          </p:cNvPr>
          <p:cNvSpPr/>
          <p:nvPr/>
        </p:nvSpPr>
        <p:spPr>
          <a:xfrm>
            <a:off x="449263" y="5009389"/>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63,797 ～ 101,900（千円）</a:t>
            </a:r>
          </a:p>
        </p:txBody>
      </p:sp>
      <p:sp>
        <p:nvSpPr>
          <p:cNvPr id="3" name="正方形/長方形 2">
            <a:extLst>
              <a:ext uri="{FF2B5EF4-FFF2-40B4-BE49-F238E27FC236}">
                <a16:creationId xmlns:a16="http://schemas.microsoft.com/office/drawing/2014/main" id="{667841E7-61E2-BA67-43F8-6C81A4DEC72B}"/>
              </a:ext>
            </a:extLst>
          </p:cNvPr>
          <p:cNvSpPr/>
          <p:nvPr/>
        </p:nvSpPr>
        <p:spPr>
          <a:xfrm>
            <a:off x="449263" y="5009389"/>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Tree>
    <p:extLst>
      <p:ext uri="{BB962C8B-B14F-4D97-AF65-F5344CB8AC3E}">
        <p14:creationId xmlns:p14="http://schemas.microsoft.com/office/powerpoint/2010/main" val="380815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B/S</a:t>
            </a:r>
            <a:r>
              <a:rPr lang="ja-JP" altLang="en-US" dirty="0"/>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lang="ja-JP" altLang="en-US" dirty="0"/>
              <a:t>過去</a:t>
            </a:r>
            <a:r>
              <a:rPr lang="en-US" altLang="ja-JP" dirty="0"/>
              <a:t>BS</a:t>
            </a:r>
            <a:r>
              <a:rPr lang="ja-JP" altLang="en-US" dirty="0"/>
              <a:t>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3" name="表 2">
            <a:extLst>
              <a:ext uri="{FF2B5EF4-FFF2-40B4-BE49-F238E27FC236}">
                <a16:creationId xmlns:a16="http://schemas.microsoft.com/office/drawing/2014/main" id="{9058A3E2-A4D0-CB71-8DA3-534867E373FE}"/>
              </a:ext>
            </a:extLst>
          </p:cNvPr>
          <p:cNvGraphicFramePr>
            <a:graphicFrameLocks noGrp="1"/>
          </p:cNvGraphicFramePr>
          <p:nvPr>
            <p:extLst>
              <p:ext uri="{D42A27DB-BD31-4B8C-83A1-F6EECF244321}">
                <p14:modId xmlns:p14="http://schemas.microsoft.com/office/powerpoint/2010/main" val="966731738"/>
              </p:ext>
            </p:extLst>
          </p:nvPr>
        </p:nvGraphicFramePr>
        <p:xfrm>
          <a:off x="341312" y="982456"/>
          <a:ext cx="5003801" cy="5050247"/>
        </p:xfrm>
        <a:graphic>
          <a:graphicData uri="http://schemas.openxmlformats.org/drawingml/2006/table">
            <a:tbl>
              <a:tblPr/>
              <a:tblGrid>
                <a:gridCol w="1730183">
                  <a:extLst>
                    <a:ext uri="{9D8B030D-6E8A-4147-A177-3AD203B41FA5}">
                      <a16:colId xmlns:a16="http://schemas.microsoft.com/office/drawing/2014/main" val="822254377"/>
                    </a:ext>
                  </a:extLst>
                </a:gridCol>
                <a:gridCol w="1091206">
                  <a:extLst>
                    <a:ext uri="{9D8B030D-6E8A-4147-A177-3AD203B41FA5}">
                      <a16:colId xmlns:a16="http://schemas.microsoft.com/office/drawing/2014/main" val="3061090460"/>
                    </a:ext>
                  </a:extLst>
                </a:gridCol>
                <a:gridCol w="1091206">
                  <a:extLst>
                    <a:ext uri="{9D8B030D-6E8A-4147-A177-3AD203B41FA5}">
                      <a16:colId xmlns:a16="http://schemas.microsoft.com/office/drawing/2014/main" val="2032412681"/>
                    </a:ext>
                  </a:extLst>
                </a:gridCol>
                <a:gridCol w="1091206">
                  <a:extLst>
                    <a:ext uri="{9D8B030D-6E8A-4147-A177-3AD203B41FA5}">
                      <a16:colId xmlns:a16="http://schemas.microsoft.com/office/drawing/2014/main" val="1235492032"/>
                    </a:ext>
                  </a:extLst>
                </a:gridCol>
              </a:tblGrid>
              <a:tr h="182436">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2023年12月期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2024年12月期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2025年12月期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21945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119,157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130,777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141,385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40,643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48,853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61,842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32,080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貯蔵品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49,800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52,401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未収還付法人税等</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1,310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22,990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23,828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19,843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12,240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9,519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7,402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275347410"/>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6,299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275347410"/>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7,087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275347410"/>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6,639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1,152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21945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142,147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154,606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161,229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18816421"/>
                  </a:ext>
                </a:extLst>
              </a:tr>
            </a:tbl>
          </a:graphicData>
        </a:graphic>
      </p:graphicFrame>
      <p:graphicFrame>
        <p:nvGraphicFramePr>
          <p:cNvPr id="6" name="表 5">
            <a:extLst>
              <a:ext uri="{FF2B5EF4-FFF2-40B4-BE49-F238E27FC236}">
                <a16:creationId xmlns:a16="http://schemas.microsoft.com/office/drawing/2014/main" id="{FA894D48-DD3C-65D9-C625-4EB31EFC08F2}"/>
              </a:ext>
            </a:extLst>
          </p:cNvPr>
          <p:cNvGraphicFramePr>
            <a:graphicFrameLocks noGrp="1"/>
          </p:cNvGraphicFramePr>
          <p:nvPr>
            <p:extLst>
              <p:ext uri="{D42A27DB-BD31-4B8C-83A1-F6EECF244321}">
                <p14:modId xmlns:p14="http://schemas.microsoft.com/office/powerpoint/2010/main" val="1269696317"/>
              </p:ext>
            </p:extLst>
          </p:nvPr>
        </p:nvGraphicFramePr>
        <p:xfrm>
          <a:off x="5345113" y="982459"/>
          <a:ext cx="5005387" cy="2207556"/>
        </p:xfrm>
        <a:graphic>
          <a:graphicData uri="http://schemas.openxmlformats.org/drawingml/2006/table">
            <a:tbl>
              <a:tblPr/>
              <a:tblGrid>
                <a:gridCol w="1730731">
                  <a:extLst>
                    <a:ext uri="{9D8B030D-6E8A-4147-A177-3AD203B41FA5}">
                      <a16:colId xmlns:a16="http://schemas.microsoft.com/office/drawing/2014/main" val="140435893"/>
                    </a:ext>
                  </a:extLst>
                </a:gridCol>
                <a:gridCol w="1091552">
                  <a:extLst>
                    <a:ext uri="{9D8B030D-6E8A-4147-A177-3AD203B41FA5}">
                      <a16:colId xmlns:a16="http://schemas.microsoft.com/office/drawing/2014/main" val="1469753659"/>
                    </a:ext>
                  </a:extLst>
                </a:gridCol>
                <a:gridCol w="1091552">
                  <a:extLst>
                    <a:ext uri="{9D8B030D-6E8A-4147-A177-3AD203B41FA5}">
                      <a16:colId xmlns:a16="http://schemas.microsoft.com/office/drawing/2014/main" val="80575429"/>
                    </a:ext>
                  </a:extLst>
                </a:gridCol>
                <a:gridCol w="1091552">
                  <a:extLst>
                    <a:ext uri="{9D8B030D-6E8A-4147-A177-3AD203B41FA5}">
                      <a16:colId xmlns:a16="http://schemas.microsoft.com/office/drawing/2014/main" val="2683263371"/>
                    </a:ext>
                  </a:extLst>
                </a:gridCol>
              </a:tblGrid>
              <a:tr h="182052">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69856">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2023年12月期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2024年12月期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2025年12月期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21945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40,848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44,626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41,578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23,388</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32,913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26,935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短期借入金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8,000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8,000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8,000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3,615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3,649</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3,541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5,845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3,101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945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945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88,048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91,826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88,778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26826700"/>
                  </a:ext>
                </a:extLst>
              </a:tr>
            </a:tbl>
          </a:graphicData>
        </a:graphic>
      </p:graphicFrame>
      <p:graphicFrame>
        <p:nvGraphicFramePr>
          <p:cNvPr id="9" name="表 8">
            <a:extLst>
              <a:ext uri="{FF2B5EF4-FFF2-40B4-BE49-F238E27FC236}">
                <a16:creationId xmlns:a16="http://schemas.microsoft.com/office/drawing/2014/main" id="{CFB11CDF-FC0D-6D75-4322-C3BD8A89E411}"/>
              </a:ext>
            </a:extLst>
          </p:cNvPr>
          <p:cNvGraphicFramePr>
            <a:graphicFrameLocks noGrp="1"/>
          </p:cNvGraphicFramePr>
          <p:nvPr>
            <p:extLst>
              <p:ext uri="{D42A27DB-BD31-4B8C-83A1-F6EECF244321}">
                <p14:modId xmlns:p14="http://schemas.microsoft.com/office/powerpoint/2010/main" val="2723974325"/>
              </p:ext>
            </p:extLst>
          </p:nvPr>
        </p:nvGraphicFramePr>
        <p:xfrm>
          <a:off x="5345113" y="5054183"/>
          <a:ext cx="5005387" cy="2130664"/>
        </p:xfrm>
        <a:graphic>
          <a:graphicData uri="http://schemas.openxmlformats.org/drawingml/2006/table">
            <a:tbl>
              <a:tblPr/>
              <a:tblGrid>
                <a:gridCol w="1730731">
                  <a:extLst>
                    <a:ext uri="{9D8B030D-6E8A-4147-A177-3AD203B41FA5}">
                      <a16:colId xmlns:a16="http://schemas.microsoft.com/office/drawing/2014/main" val="4058629608"/>
                    </a:ext>
                  </a:extLst>
                </a:gridCol>
                <a:gridCol w="1091552">
                  <a:extLst>
                    <a:ext uri="{9D8B030D-6E8A-4147-A177-3AD203B41FA5}">
                      <a16:colId xmlns:a16="http://schemas.microsoft.com/office/drawing/2014/main" val="2673297223"/>
                    </a:ext>
                  </a:extLst>
                </a:gridCol>
                <a:gridCol w="1091552">
                  <a:extLst>
                    <a:ext uri="{9D8B030D-6E8A-4147-A177-3AD203B41FA5}">
                      <a16:colId xmlns:a16="http://schemas.microsoft.com/office/drawing/2014/main" val="756661618"/>
                    </a:ext>
                  </a:extLst>
                </a:gridCol>
                <a:gridCol w="1091552">
                  <a:extLst>
                    <a:ext uri="{9D8B030D-6E8A-4147-A177-3AD203B41FA5}">
                      <a16:colId xmlns:a16="http://schemas.microsoft.com/office/drawing/2014/main" val="2152851366"/>
                    </a:ext>
                  </a:extLst>
                </a:gridCol>
              </a:tblGrid>
              <a:tr h="15556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r>
                        <a:rPr/>
                        <a:t>2023年12月期</a:t>
                      </a:r>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r>
                        <a:rPr/>
                        <a:t>2024年12月期</a:t>
                      </a:r>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r>
                        <a:rPr/>
                        <a:t>2025年12月期</a:t>
                      </a:r>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25719736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資本準備金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25719736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44,099</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52,780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62,451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44,099</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52,780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62,451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25719736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219456">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54,099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62,780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72,451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219456">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142,147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154,606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161,229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bl>
          </a:graphicData>
        </a:graphic>
      </p:graphicFrame>
    </p:spTree>
    <p:extLst>
      <p:ext uri="{BB962C8B-B14F-4D97-AF65-F5344CB8AC3E}">
        <p14:creationId xmlns:p14="http://schemas.microsoft.com/office/powerpoint/2010/main" val="995234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4320478"/>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現金及び預金：40,643千円→61,842千円と3期連続で増加。借入金55,200千円を控除したネットキャッシュは＋6,642千円。</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未収入金：45,758千円→52,401千円と増加し、総資産の約33%を占める最大科目。売掛金勘定を用いず未収入金に一本化されている点、及び相手先別残高・回収サイト・年齢調べについて要確認。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商品：32,080千円→26,584千円と減少。評価方法は最終仕入原価法。滞留在庫の有無・廃棄実績について要確認。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有形固定資産：12,240千円→7,402千円と減少。設備投資を上回る償却が進んでいる状況。</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ソフトウェア：3,084千円→7,223千円→4,816千円と推移。令和6年12月期に業務システム等への投資があったものと推察される。内容について要確認。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差入保証金：6,513千円→6,639千円。賃借物件に係るもの。返還条件・原状回復義務について要確認。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長期前払費用：1,152千円→985千円。内容の内訳について要確認。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その他：私用で活用している資産、役員貸付金等がないか要確認。</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en-US" altLang="ja-JP" dirty="0"/>
              <a:t>BS</a:t>
            </a:r>
            <a:r>
              <a:rPr lang="ja-JP" altLang="en-US" dirty="0"/>
              <a:t>補足</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7" name="表 6">
            <a:extLst>
              <a:ext uri="{FF2B5EF4-FFF2-40B4-BE49-F238E27FC236}">
                <a16:creationId xmlns:a16="http://schemas.microsoft.com/office/drawing/2014/main" id="{448E38F1-237A-5405-6ACD-01F738D6BE46}"/>
              </a:ext>
            </a:extLst>
          </p:cNvPr>
          <p:cNvGraphicFramePr>
            <a:graphicFrameLocks noGrp="1"/>
          </p:cNvGraphicFramePr>
          <p:nvPr>
            <p:extLst>
              <p:ext uri="{D42A27DB-BD31-4B8C-83A1-F6EECF244321}">
                <p14:modId xmlns:p14="http://schemas.microsoft.com/office/powerpoint/2010/main" val="3265120595"/>
              </p:ext>
            </p:extLst>
          </p:nvPr>
        </p:nvGraphicFramePr>
        <p:xfrm>
          <a:off x="341312" y="982456"/>
          <a:ext cx="5003801" cy="5050247"/>
        </p:xfrm>
        <a:graphic>
          <a:graphicData uri="http://schemas.openxmlformats.org/drawingml/2006/table">
            <a:tbl>
              <a:tblPr/>
              <a:tblGrid>
                <a:gridCol w="1730183">
                  <a:extLst>
                    <a:ext uri="{9D8B030D-6E8A-4147-A177-3AD203B41FA5}">
                      <a16:colId xmlns:a16="http://schemas.microsoft.com/office/drawing/2014/main" val="822254377"/>
                    </a:ext>
                  </a:extLst>
                </a:gridCol>
                <a:gridCol w="1091206">
                  <a:extLst>
                    <a:ext uri="{9D8B030D-6E8A-4147-A177-3AD203B41FA5}">
                      <a16:colId xmlns:a16="http://schemas.microsoft.com/office/drawing/2014/main" val="3061090460"/>
                    </a:ext>
                  </a:extLst>
                </a:gridCol>
                <a:gridCol w="1091206">
                  <a:extLst>
                    <a:ext uri="{9D8B030D-6E8A-4147-A177-3AD203B41FA5}">
                      <a16:colId xmlns:a16="http://schemas.microsoft.com/office/drawing/2014/main" val="2032412681"/>
                    </a:ext>
                  </a:extLst>
                </a:gridCol>
                <a:gridCol w="1091206">
                  <a:extLst>
                    <a:ext uri="{9D8B030D-6E8A-4147-A177-3AD203B41FA5}">
                      <a16:colId xmlns:a16="http://schemas.microsoft.com/office/drawing/2014/main" val="1235492032"/>
                    </a:ext>
                  </a:extLst>
                </a:gridCol>
              </a:tblGrid>
              <a:tr h="182436">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2023年12月期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2024年12月期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2025年12月期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21945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119,157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130,777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141,385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40,643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48,853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61,842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32,080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貯蔵品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49,800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52,401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仮払金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前払金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未収還付法人税等</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1,310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22,990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23,828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19,843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12,240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9,519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7,402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154328196"/>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6,299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［無形固定資産］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154328196"/>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ソフトウェア</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［投資その他資産］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7,087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154328196"/>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6,639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1,152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21945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21945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142,147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154,606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161,229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2160162"/>
                  </a:ext>
                </a:extLst>
              </a:tr>
            </a:tbl>
          </a:graphicData>
        </a:graphic>
      </p:graphicFrame>
    </p:spTree>
    <p:extLst>
      <p:ext uri="{BB962C8B-B14F-4D97-AF65-F5344CB8AC3E}">
        <p14:creationId xmlns:p14="http://schemas.microsoft.com/office/powerpoint/2010/main" val="272168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1448923"/>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貸倒引当金：法人税法上の法定繰入率により機械的に繰り入れ、翌期に全額を戻し入れる処理が3期連続で行われており、実際の貸倒れの発生は確認されない。直接評価の観点から全額戻入し、524千円を加算している。</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未収入金・商品：相手先別内訳、債権年齢表及び棚卸資産明細が未受領のため、個別の回収可能性・滞留状況の判定は未実施。帳簿価額により評価している（要確認）。</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有形固定資産・ソフトウェア：固定資産台帳が未受領のため償却過不足の検証は未実施。税法基準により継続的に償却されていることから帳簿価額により評価している（要確認）。</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差入保証金・長期前払費用：賃貸借契約書及び内訳が未受領のため帳簿価額により評価している（要確認）。</a:t>
            </a: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ja-JP" altLang="en-US" dirty="0"/>
              <a:t>修正</a:t>
            </a:r>
            <a:r>
              <a:rPr lang="en-US" altLang="ja-JP" dirty="0"/>
              <a:t>BS</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5" name="表 4">
            <a:extLst>
              <a:ext uri="{FF2B5EF4-FFF2-40B4-BE49-F238E27FC236}">
                <a16:creationId xmlns:a16="http://schemas.microsoft.com/office/drawing/2014/main" id="{F82B30C9-78FB-A0E7-EDB2-643EA427D31F}"/>
              </a:ext>
            </a:extLst>
          </p:cNvPr>
          <p:cNvGraphicFramePr>
            <a:graphicFrameLocks noGrp="1"/>
          </p:cNvGraphicFramePr>
          <p:nvPr>
            <p:extLst>
              <p:ext uri="{D42A27DB-BD31-4B8C-83A1-F6EECF244321}">
                <p14:modId xmlns:p14="http://schemas.microsoft.com/office/powerpoint/2010/main" val="3186183130"/>
              </p:ext>
            </p:extLst>
          </p:nvPr>
        </p:nvGraphicFramePr>
        <p:xfrm>
          <a:off x="341313" y="895347"/>
          <a:ext cx="5106587" cy="5213404"/>
        </p:xfrm>
        <a:graphic>
          <a:graphicData uri="http://schemas.openxmlformats.org/drawingml/2006/table">
            <a:tbl>
              <a:tblPr/>
              <a:tblGrid>
                <a:gridCol w="1869077">
                  <a:extLst>
                    <a:ext uri="{9D8B030D-6E8A-4147-A177-3AD203B41FA5}">
                      <a16:colId xmlns:a16="http://schemas.microsoft.com/office/drawing/2014/main" val="1811348898"/>
                    </a:ext>
                  </a:extLst>
                </a:gridCol>
                <a:gridCol w="1079170">
                  <a:extLst>
                    <a:ext uri="{9D8B030D-6E8A-4147-A177-3AD203B41FA5}">
                      <a16:colId xmlns:a16="http://schemas.microsoft.com/office/drawing/2014/main" val="1080150328"/>
                    </a:ext>
                  </a:extLst>
                </a:gridCol>
                <a:gridCol w="1079170">
                  <a:extLst>
                    <a:ext uri="{9D8B030D-6E8A-4147-A177-3AD203B41FA5}">
                      <a16:colId xmlns:a16="http://schemas.microsoft.com/office/drawing/2014/main" val="975008562"/>
                    </a:ext>
                  </a:extLst>
                </a:gridCol>
                <a:gridCol w="1079170">
                  <a:extLst>
                    <a:ext uri="{9D8B030D-6E8A-4147-A177-3AD203B41FA5}">
                      <a16:colId xmlns:a16="http://schemas.microsoft.com/office/drawing/2014/main" val="3394293467"/>
                    </a:ext>
                  </a:extLst>
                </a:gridCol>
              </a:tblGrid>
              <a:tr h="17182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b">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4250869639"/>
                  </a:ext>
                </a:extLst>
              </a:tr>
              <a:tr h="254303">
                <a:tc gridSpan="4">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資産の部</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334621787"/>
                  </a:ext>
                </a:extLst>
              </a:tr>
              <a:tr h="178699">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en-US" altLang="ja-JP" sz="1000" b="1" i="0" u="none" strike="noStrike" dirty="0">
                          <a:solidFill>
                            <a:srgbClr val="FFFFFF"/>
                          </a:solidFill>
                          <a:effectLst/>
                          <a:latin typeface="游ゴシック" panose="020B0400000000000000" pitchFamily="50" charset="-128"/>
                          <a:ea typeface="游ゴシック" panose="020B0400000000000000" pitchFamily="50" charset="-128"/>
                        </a:rPr>
                        <a:t>2025年12月期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a:noFill/>
                    </a:lnB>
                    <a:solidFill>
                      <a:srgbClr val="0889C9"/>
                    </a:solidFill>
                  </a:tcPr>
                </a:tc>
                <a:extLst>
                  <a:ext uri="{0D108BD9-81ED-4DB2-BD59-A6C34878D82A}">
                    <a16:rowId xmlns:a16="http://schemas.microsoft.com/office/drawing/2014/main" val="2071081210"/>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141,385</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524</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141,909</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987201787"/>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61,842</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61,842</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26,584</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26,584</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貯蔵品</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620</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620</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162</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162</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52,401</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52,401</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△524</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524</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仮払金</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前払金</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300</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300</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未収還付法人税等</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19,843</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19,843</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987201787"/>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13306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7,402</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7,402</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380204907"/>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5,362</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5,362</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2,041</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2,041</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13306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4,816</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4,816</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380204907"/>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4,816</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4,816</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13306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7,625</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7,625</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380204907"/>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6,639</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6,639</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985</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985</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987201787"/>
                  </a:ext>
                </a:extLst>
              </a:tr>
              <a:tr h="219456">
                <a:tc>
                  <a:txBody>
                    <a:bodyPr/>
                    <a:lstStyle/>
                    <a:p>
                      <a:pPr algn="l"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資産合計</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161,229</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524</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161,753</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2386605806"/>
                  </a:ext>
                </a:extLst>
              </a:tr>
            </a:tbl>
          </a:graphicData>
        </a:graphic>
      </p:graphicFrame>
    </p:spTree>
    <p:extLst>
      <p:ext uri="{BB962C8B-B14F-4D97-AF65-F5344CB8AC3E}">
        <p14:creationId xmlns:p14="http://schemas.microsoft.com/office/powerpoint/2010/main" val="1717633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C329-BBDE-997E-33BB-A9FD47BC642C}"/>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B13BEBD7-E126-4EFC-80E2-30F6E3A5C825}"/>
              </a:ext>
            </a:extLst>
          </p:cNvPr>
          <p:cNvSpPr txBox="1"/>
          <p:nvPr/>
        </p:nvSpPr>
        <p:spPr>
          <a:xfrm>
            <a:off x="5919905" y="1849388"/>
            <a:ext cx="4320000" cy="213526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買掛金：23,388千円→32,913千円→26,935千円と推移。仕入高の増減に概ね連動しており、特異な動きは認められない。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借入金：短期8,000千円・長期47,200千円の合計55,200千円で、3期を通じて残高が一定。約定弁済の有無、借換えの状況、返済条件・担保／保証の状況について要確認。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未払法人税等：令和6年12月期は64千円と僅少で、同期に未収還付法人税等1,310千円を計上。中間納付との関係について要確認。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純資産：繰越利益剰余金は毎期積み上がり、純資産合計は72,451千円。自己資本比率は44.9%と安定した水準にある。</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012852EF-C89F-A030-08AF-F6FD92C8DC4C}"/>
              </a:ext>
            </a:extLst>
          </p:cNvPr>
          <p:cNvSpPr>
            <a:spLocks noGrp="1"/>
          </p:cNvSpPr>
          <p:nvPr>
            <p:ph type="ctrTitle"/>
          </p:nvPr>
        </p:nvSpPr>
        <p:spPr/>
        <p:txBody>
          <a:bodyPr/>
          <a:lstStyle/>
          <a:p>
            <a:r>
              <a:rPr lang="en-US" altLang="ja-JP" dirty="0"/>
              <a:t>BS</a:t>
            </a:r>
            <a:r>
              <a:rPr lang="ja-JP" altLang="en-US" dirty="0"/>
              <a:t>補足</a:t>
            </a:r>
            <a:r>
              <a:rPr lang="ja-JP" altLang="en-US" sz="1800" dirty="0"/>
              <a:t>［負債・純資産］</a:t>
            </a:r>
          </a:p>
        </p:txBody>
      </p:sp>
      <p:sp>
        <p:nvSpPr>
          <p:cNvPr id="6" name="タイトル 1">
            <a:extLst>
              <a:ext uri="{FF2B5EF4-FFF2-40B4-BE49-F238E27FC236}">
                <a16:creationId xmlns:a16="http://schemas.microsoft.com/office/drawing/2014/main" id="{D054D60A-9874-6F6C-68B4-54AD036BE4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B027BB31-5712-B589-FAF6-FEF5A19860C5}"/>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8" name="表 7">
            <a:extLst>
              <a:ext uri="{FF2B5EF4-FFF2-40B4-BE49-F238E27FC236}">
                <a16:creationId xmlns:a16="http://schemas.microsoft.com/office/drawing/2014/main" id="{5E81CBBB-A446-BB13-683B-CB5F62B2DD3C}"/>
              </a:ext>
            </a:extLst>
          </p:cNvPr>
          <p:cNvGraphicFramePr>
            <a:graphicFrameLocks noGrp="1"/>
          </p:cNvGraphicFramePr>
          <p:nvPr>
            <p:extLst>
              <p:ext uri="{D42A27DB-BD31-4B8C-83A1-F6EECF244321}">
                <p14:modId xmlns:p14="http://schemas.microsoft.com/office/powerpoint/2010/main" val="300471915"/>
              </p:ext>
            </p:extLst>
          </p:nvPr>
        </p:nvGraphicFramePr>
        <p:xfrm>
          <a:off x="341313" y="982458"/>
          <a:ext cx="5005387" cy="2470330"/>
        </p:xfrm>
        <a:graphic>
          <a:graphicData uri="http://schemas.openxmlformats.org/drawingml/2006/table">
            <a:tbl>
              <a:tblPr/>
              <a:tblGrid>
                <a:gridCol w="1730731">
                  <a:extLst>
                    <a:ext uri="{9D8B030D-6E8A-4147-A177-3AD203B41FA5}">
                      <a16:colId xmlns:a16="http://schemas.microsoft.com/office/drawing/2014/main" val="140435893"/>
                    </a:ext>
                  </a:extLst>
                </a:gridCol>
                <a:gridCol w="1091552">
                  <a:extLst>
                    <a:ext uri="{9D8B030D-6E8A-4147-A177-3AD203B41FA5}">
                      <a16:colId xmlns:a16="http://schemas.microsoft.com/office/drawing/2014/main" val="1469753659"/>
                    </a:ext>
                  </a:extLst>
                </a:gridCol>
                <a:gridCol w="1091552">
                  <a:extLst>
                    <a:ext uri="{9D8B030D-6E8A-4147-A177-3AD203B41FA5}">
                      <a16:colId xmlns:a16="http://schemas.microsoft.com/office/drawing/2014/main" val="80575429"/>
                    </a:ext>
                  </a:extLst>
                </a:gridCol>
                <a:gridCol w="1091552">
                  <a:extLst>
                    <a:ext uri="{9D8B030D-6E8A-4147-A177-3AD203B41FA5}">
                      <a16:colId xmlns:a16="http://schemas.microsoft.com/office/drawing/2014/main" val="2683263371"/>
                    </a:ext>
                  </a:extLst>
                </a:gridCol>
              </a:tblGrid>
              <a:tr h="223621">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344757">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2023年12月期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2024年12月期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2025年12月期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23774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40,848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44,626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41,578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23774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23,388</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32,913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26,935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3774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短期借入金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8,000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8,000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8,000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3774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3,615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3,649</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3,541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3774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5,845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3,101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3774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23774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47,200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3774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88,048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91,826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88,778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10354605"/>
                  </a:ext>
                </a:extLst>
              </a:tr>
            </a:tbl>
          </a:graphicData>
        </a:graphic>
      </p:graphicFrame>
      <p:graphicFrame>
        <p:nvGraphicFramePr>
          <p:cNvPr id="11" name="表 10">
            <a:extLst>
              <a:ext uri="{FF2B5EF4-FFF2-40B4-BE49-F238E27FC236}">
                <a16:creationId xmlns:a16="http://schemas.microsoft.com/office/drawing/2014/main" id="{73623FF6-D72B-C11F-A680-C7721DBB6E74}"/>
              </a:ext>
            </a:extLst>
          </p:cNvPr>
          <p:cNvGraphicFramePr>
            <a:graphicFrameLocks noGrp="1"/>
          </p:cNvGraphicFramePr>
          <p:nvPr>
            <p:extLst>
              <p:ext uri="{D42A27DB-BD31-4B8C-83A1-F6EECF244321}">
                <p14:modId xmlns:p14="http://schemas.microsoft.com/office/powerpoint/2010/main" val="2957363408"/>
              </p:ext>
            </p:extLst>
          </p:nvPr>
        </p:nvGraphicFramePr>
        <p:xfrm>
          <a:off x="341313" y="4527746"/>
          <a:ext cx="5005387" cy="2177809"/>
        </p:xfrm>
        <a:graphic>
          <a:graphicData uri="http://schemas.openxmlformats.org/drawingml/2006/table">
            <a:tbl>
              <a:tblPr/>
              <a:tblGrid>
                <a:gridCol w="1730731">
                  <a:extLst>
                    <a:ext uri="{9D8B030D-6E8A-4147-A177-3AD203B41FA5}">
                      <a16:colId xmlns:a16="http://schemas.microsoft.com/office/drawing/2014/main" val="4058629608"/>
                    </a:ext>
                  </a:extLst>
                </a:gridCol>
                <a:gridCol w="1091552">
                  <a:extLst>
                    <a:ext uri="{9D8B030D-6E8A-4147-A177-3AD203B41FA5}">
                      <a16:colId xmlns:a16="http://schemas.microsoft.com/office/drawing/2014/main" val="2673297223"/>
                    </a:ext>
                  </a:extLst>
                </a:gridCol>
                <a:gridCol w="1091552">
                  <a:extLst>
                    <a:ext uri="{9D8B030D-6E8A-4147-A177-3AD203B41FA5}">
                      <a16:colId xmlns:a16="http://schemas.microsoft.com/office/drawing/2014/main" val="756661618"/>
                    </a:ext>
                  </a:extLst>
                </a:gridCol>
                <a:gridCol w="1091552">
                  <a:extLst>
                    <a:ext uri="{9D8B030D-6E8A-4147-A177-3AD203B41FA5}">
                      <a16:colId xmlns:a16="http://schemas.microsoft.com/office/drawing/2014/main" val="2152851366"/>
                    </a:ext>
                  </a:extLst>
                </a:gridCol>
              </a:tblGrid>
              <a:tr h="202705">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r>
                        <a:rPr/>
                        <a:t>2023年12月期</a:t>
                      </a:r>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r>
                        <a:rPr/>
                        <a:t>2024年12月期</a:t>
                      </a:r>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r>
                        <a:rPr/>
                        <a:t>2025年12月期</a:t>
                      </a:r>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505177488"/>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資本準備金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505177488"/>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44,099</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52,780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62,451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44,099</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52,780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62,451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505177488"/>
                  </a:ext>
                </a:extLst>
              </a:tr>
              <a:tr h="21945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219456">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54,099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62,780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72,451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219456">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142,147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154,606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161,229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bl>
          </a:graphicData>
        </a:graphic>
      </p:graphicFrame>
    </p:spTree>
    <p:extLst>
      <p:ext uri="{BB962C8B-B14F-4D97-AF65-F5344CB8AC3E}">
        <p14:creationId xmlns:p14="http://schemas.microsoft.com/office/powerpoint/2010/main" val="62765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1069-72DF-A6D5-2DC9-38122B5766A8}"/>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07165E55-3785-323B-D0D9-F2EFA46529D1}"/>
              </a:ext>
            </a:extLst>
          </p:cNvPr>
          <p:cNvSpPr txBox="1"/>
          <p:nvPr/>
        </p:nvSpPr>
        <p:spPr>
          <a:xfrm>
            <a:off x="5919905" y="1849388"/>
            <a:ext cx="4320000" cy="165205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負債：借入金を含め、時価評価を要する項目は存在しなかったため、いずれも帳簿価額により評価している。なお、未払残業代・賞与引当金・退職給付引当金といった簿外債務については、就業規則・賃金規程・退職金規程が未受領のため未計上としている（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繰延税金負債：貸倒引当金の戻入524千円に対し、実効税率34%による繰延税金負債178千円を計上している。</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純資産：簿価純資産72,451千円に評価修正額346千円を反映した結果、修正後純資産（時価純資産）は72,797千円となる。</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4B44719C-88E4-C2E8-E209-EEC4A9F272D2}"/>
              </a:ext>
            </a:extLst>
          </p:cNvPr>
          <p:cNvSpPr>
            <a:spLocks noGrp="1"/>
          </p:cNvSpPr>
          <p:nvPr>
            <p:ph type="ctrTitle"/>
          </p:nvPr>
        </p:nvSpPr>
        <p:spPr/>
        <p:txBody>
          <a:bodyPr/>
          <a:lstStyle/>
          <a:p>
            <a:r>
              <a:rPr lang="ja-JP" altLang="en-US" dirty="0"/>
              <a:t>修正</a:t>
            </a:r>
            <a:r>
              <a:rPr lang="en-US" altLang="ja-JP" dirty="0"/>
              <a:t>BS</a:t>
            </a:r>
            <a:r>
              <a:rPr lang="ja-JP" altLang="en-US" sz="1800" dirty="0"/>
              <a:t>［負債・純資産］</a:t>
            </a:r>
          </a:p>
        </p:txBody>
      </p:sp>
      <p:sp>
        <p:nvSpPr>
          <p:cNvPr id="6" name="タイトル 1">
            <a:extLst>
              <a:ext uri="{FF2B5EF4-FFF2-40B4-BE49-F238E27FC236}">
                <a16:creationId xmlns:a16="http://schemas.microsoft.com/office/drawing/2014/main" id="{EED50456-622D-7517-0703-96034524068C}"/>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7865103-507D-37F1-F6F9-CDEC35B6E872}"/>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5" name="表 4">
            <a:extLst>
              <a:ext uri="{FF2B5EF4-FFF2-40B4-BE49-F238E27FC236}">
                <a16:creationId xmlns:a16="http://schemas.microsoft.com/office/drawing/2014/main" id="{EBC5D66D-F9FF-3876-586A-B31125B18F6B}"/>
              </a:ext>
            </a:extLst>
          </p:cNvPr>
          <p:cNvGraphicFramePr>
            <a:graphicFrameLocks noGrp="1"/>
          </p:cNvGraphicFramePr>
          <p:nvPr>
            <p:extLst>
              <p:ext uri="{D42A27DB-BD31-4B8C-83A1-F6EECF244321}">
                <p14:modId xmlns:p14="http://schemas.microsoft.com/office/powerpoint/2010/main" val="1645145149"/>
              </p:ext>
            </p:extLst>
          </p:nvPr>
        </p:nvGraphicFramePr>
        <p:xfrm>
          <a:off x="340521" y="800217"/>
          <a:ext cx="5004592" cy="5095441"/>
        </p:xfrm>
        <a:graphic>
          <a:graphicData uri="http://schemas.openxmlformats.org/drawingml/2006/table">
            <a:tbl>
              <a:tblPr/>
              <a:tblGrid>
                <a:gridCol w="1831747">
                  <a:extLst>
                    <a:ext uri="{9D8B030D-6E8A-4147-A177-3AD203B41FA5}">
                      <a16:colId xmlns:a16="http://schemas.microsoft.com/office/drawing/2014/main" val="2719514001"/>
                    </a:ext>
                  </a:extLst>
                </a:gridCol>
                <a:gridCol w="1057615">
                  <a:extLst>
                    <a:ext uri="{9D8B030D-6E8A-4147-A177-3AD203B41FA5}">
                      <a16:colId xmlns:a16="http://schemas.microsoft.com/office/drawing/2014/main" val="3558173115"/>
                    </a:ext>
                  </a:extLst>
                </a:gridCol>
                <a:gridCol w="1057615">
                  <a:extLst>
                    <a:ext uri="{9D8B030D-6E8A-4147-A177-3AD203B41FA5}">
                      <a16:colId xmlns:a16="http://schemas.microsoft.com/office/drawing/2014/main" val="2313249536"/>
                    </a:ext>
                  </a:extLst>
                </a:gridCol>
                <a:gridCol w="1057615">
                  <a:extLst>
                    <a:ext uri="{9D8B030D-6E8A-4147-A177-3AD203B41FA5}">
                      <a16:colId xmlns:a16="http://schemas.microsoft.com/office/drawing/2014/main" val="937774236"/>
                    </a:ext>
                  </a:extLst>
                </a:gridCol>
              </a:tblGrid>
              <a:tr h="192196">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4281" marR="4281" marT="4281"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281" marR="4281" marT="4281"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281" marR="4281" marT="4281" marB="0" anchor="ctr">
                    <a:lnL>
                      <a:noFill/>
                    </a:lnL>
                    <a:lnR>
                      <a:noFill/>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4281" marR="4281" marT="4281" marB="0" anchor="ctr">
                    <a:lnL>
                      <a:noFill/>
                    </a:lnL>
                    <a:lnR>
                      <a:noFill/>
                    </a:lnR>
                    <a:lnT>
                      <a:noFill/>
                    </a:lnT>
                    <a:lnB>
                      <a:noFill/>
                    </a:lnB>
                    <a:noFill/>
                  </a:tcPr>
                </a:tc>
                <a:extLst>
                  <a:ext uri="{0D108BD9-81ED-4DB2-BD59-A6C34878D82A}">
                    <a16:rowId xmlns:a16="http://schemas.microsoft.com/office/drawing/2014/main" val="352485218"/>
                  </a:ext>
                </a:extLst>
              </a:tr>
              <a:tr h="300574">
                <a:tc gridSpan="4">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4281" marR="4281" marT="4281" marB="0" anchor="ctr">
                    <a:lnL w="635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a:noFill/>
                    </a:lnT>
                    <a:lnB w="6350" cap="flat" cmpd="sng" algn="ctr">
                      <a:noFill/>
                      <a:prstDash val="solid"/>
                      <a:round/>
                      <a:headEnd type="none" w="med" len="med"/>
                      <a:tailEnd type="none" w="med" len="med"/>
                    </a:lnB>
                    <a:solidFill>
                      <a:srgbClr val="0B3041"/>
                    </a:solidFill>
                  </a:tcPr>
                </a:tc>
                <a:tc hMerge="1">
                  <a:txBody>
                    <a:bodyPr/>
                    <a:lstStyle/>
                    <a:p>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dirty="0"/>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2209732130"/>
                  </a:ext>
                </a:extLst>
              </a:tr>
              <a:tr h="213551">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4281" marR="4281" marT="4281" marB="0" anchor="ctr">
                    <a:lnL>
                      <a:noFill/>
                    </a:lnL>
                    <a:lnR w="6350" cap="flat" cmpd="sng" algn="ctr">
                      <a:solidFill>
                        <a:srgbClr val="A6A6A6"/>
                      </a:solidFill>
                      <a:prstDash val="solid"/>
                      <a:round/>
                      <a:headEnd type="none" w="med" len="med"/>
                      <a:tailEnd type="none" w="med" len="med"/>
                    </a:lnR>
                    <a:lnT w="6350" cap="flat" cmpd="sng" algn="ctr">
                      <a:noFill/>
                      <a:prstDash val="solid"/>
                      <a:round/>
                      <a:headEnd type="none" w="med" len="med"/>
                      <a:tailEnd type="none" w="med" len="med"/>
                    </a:lnT>
                    <a:lnB>
                      <a:noFill/>
                    </a:lnB>
                    <a:solidFill>
                      <a:srgbClr val="0B3041"/>
                    </a:solidFill>
                  </a:tcPr>
                </a:tc>
                <a:tc>
                  <a:txBody>
                    <a:bodyPr/>
                    <a:lstStyle/>
                    <a:p>
                      <a:pPr algn="ctr" fontAlgn="ctr">
                        <a:buNone/>
                      </a:pPr>
                      <a:r>
                        <a:rPr lang="en-US" altLang="ja-JP" sz="1000" b="1" i="0" u="none" strike="noStrike" dirty="0">
                          <a:solidFill>
                            <a:srgbClr val="FFFFFF"/>
                          </a:solidFill>
                          <a:effectLst/>
                          <a:latin typeface="游ゴシック" panose="020B0400000000000000" pitchFamily="50" charset="-128"/>
                          <a:ea typeface="游ゴシック" panose="020B0400000000000000" pitchFamily="50" charset="-128"/>
                        </a:rPr>
                        <a:t>2025年12月期</a:t>
                      </a:r>
                    </a:p>
                  </a:txBody>
                  <a:tcPr marL="4281" marR="4281" marT="4281"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修正額</a:t>
                      </a:r>
                    </a:p>
                  </a:txBody>
                  <a:tcPr marL="4281" marR="4281" marT="4281" marB="0" anchor="ctr">
                    <a:lnL w="6350" cap="flat" cmpd="sng" algn="ctr">
                      <a:solidFill>
                        <a:srgbClr val="A6A6A6"/>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4281" marR="4281"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a:noFill/>
                    </a:lnB>
                    <a:solidFill>
                      <a:srgbClr val="0889C9"/>
                    </a:solidFill>
                  </a:tcPr>
                </a:tc>
                <a:extLst>
                  <a:ext uri="{0D108BD9-81ED-4DB2-BD59-A6C34878D82A}">
                    <a16:rowId xmlns:a16="http://schemas.microsoft.com/office/drawing/2014/main" val="2774289802"/>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41,578</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　</a:t>
                      </a:r>
                      <a:endParaRPr lang="ja-JP" sz="1000" b="1"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41,578</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26,935</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26,935</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短期借入金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8,000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8,000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3,541</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3,541</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3,101</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3,101</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47,200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　</a:t>
                      </a:r>
                      <a:endParaRPr lang="ja-JP" sz="1000" b="1"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47,200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47,200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47,200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【繰延税金負債】</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178</a:t>
                      </a:r>
                      <a:endParaRPr lang="ja-JP" sz="1000" b="1"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178</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77062"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88,778</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178</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88,956</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921416153"/>
                  </a:ext>
                </a:extLst>
              </a:tr>
              <a:tr h="219456">
                <a:tc gridSpan="4">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4281" marR="4281" marT="4281" marB="0" anchor="ctr">
                    <a:lnL>
                      <a:noFill/>
                    </a:lnL>
                    <a:lnR w="12700" cap="flat" cmpd="sng" algn="ctr">
                      <a:solidFill>
                        <a:srgbClr val="04456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r>
                        <a:t>　</a:t>
                      </a: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r>
                        <a:t>　</a:t>
                      </a: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r>
                        <a:rPr dirty="0"/>
                        <a:t>　</a:t>
                      </a: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98765913"/>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9,000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　</a:t>
                      </a:r>
                      <a:endParaRPr lang="ja-JP" sz="1000" b="1"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9,000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9,000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9,000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1,000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　</a:t>
                      </a:r>
                      <a:endParaRPr lang="ja-JP" sz="1000" b="1"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1,000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資本準備金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1,000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62,451</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　</a:t>
                      </a:r>
                      <a:endParaRPr lang="ja-JP" sz="1000" b="1"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62,451</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1945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62,451</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62,451</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　</a:t>
                      </a:r>
                      <a:endParaRPr lang="ja-JP" sz="1000" b="1"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【評価修正額】</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346</a:t>
                      </a:r>
                      <a:endParaRPr lang="ja-JP" sz="1000" b="1"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346</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77062"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72,451</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346</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72,797</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921416153"/>
                  </a:ext>
                </a:extLst>
              </a:tr>
              <a:tr h="21945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負債・純資産合計</a:t>
                      </a:r>
                    </a:p>
                  </a:txBody>
                  <a:tcPr marL="77062"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161,229</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524</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161,753</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921416153"/>
                  </a:ext>
                </a:extLst>
              </a:tr>
            </a:tbl>
          </a:graphicData>
        </a:graphic>
      </p:graphicFrame>
    </p:spTree>
    <p:extLst>
      <p:ext uri="{BB962C8B-B14F-4D97-AF65-F5344CB8AC3E}">
        <p14:creationId xmlns:p14="http://schemas.microsoft.com/office/powerpoint/2010/main" val="1524445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ネットキャッシュの算定</a:t>
            </a:r>
            <a:endParaRPr lang="ja-JP" altLang="en-US" sz="1800" dirty="0">
              <a:latin typeface="游ゴシック" panose="020B0400000000000000" pitchFamily="50" charset="-128"/>
              <a:ea typeface="游ゴシック" panose="020B0400000000000000" pitchFamily="50" charset="-128"/>
            </a:endParaRPr>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latin typeface="游ゴシック" panose="020B0400000000000000" pitchFamily="50" charset="-128"/>
                <a:ea typeface="游ゴシック" panose="020B0400000000000000" pitchFamily="50" charset="-128"/>
              </a:rPr>
              <a:t>2. Financial Analysis </a:t>
            </a:r>
            <a:endParaRPr lang="ja-JP" altLang="en-US" spc="0" dirty="0">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8056" y="4434840"/>
            <a:ext cx="9793224" cy="96012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737360" y="4621571"/>
            <a:ext cx="8321040" cy="609654"/>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50" spc="50" dirty="0">
                <a:latin typeface="游ゴシック" panose="020B0400000000000000" pitchFamily="50" charset="-128"/>
                <a:ea typeface="游ゴシック" panose="020B0400000000000000" pitchFamily="50" charset="-128"/>
              </a:rPr>
              <a:t>・キャッシュライクアイテム：現金及び預金61,842千円。運用目的の有価証券・保険積立金、役員貸付金等の計上はない。</a:t>
            </a:r>
            <a:endParaRPr lang="en-US" altLang="ja-JP" sz="1050" spc="50" dirty="0">
              <a:latin typeface="游ゴシック" panose="020B0400000000000000" pitchFamily="50" charset="-128"/>
              <a:ea typeface="游ゴシック" panose="020B0400000000000000" pitchFamily="50" charset="-128"/>
            </a:endParaRPr>
          </a:p>
          <a:p>
            <a:pPr>
              <a:lnSpc>
                <a:spcPct val="120000"/>
              </a:lnSpc>
              <a:spcAft>
                <a:spcPts val="300"/>
              </a:spcAft>
              <a:buClr>
                <a:schemeClr val="tx1"/>
              </a:buClr>
              <a:buSzPct val="100000"/>
            </a:pPr>
            <a:r>
              <a:rPr lang="ja-JP" altLang="en-US" sz="1050" spc="50" dirty="0">
                <a:latin typeface="游ゴシック" panose="020B0400000000000000" pitchFamily="50" charset="-128"/>
                <a:ea typeface="游ゴシック" panose="020B0400000000000000" pitchFamily="50" charset="-128"/>
              </a:rPr>
              <a:t>・デットライクアイテム：有利子負債（短期借入金8,000千円・長期借入金47,200千円）。3期を通じて残高が一定である点は要確認。</a:t>
            </a:r>
            <a:endParaRPr lang="en-US" altLang="ja-JP" sz="1050" spc="50" dirty="0">
              <a:latin typeface="游ゴシック" panose="020B0400000000000000" pitchFamily="50" charset="-128"/>
              <a:ea typeface="游ゴシック" panose="020B0400000000000000" pitchFamily="50" charset="-128"/>
            </a:endParaRPr>
          </a:p>
          <a:p>
            <a:pPr>
              <a:lnSpc>
                <a:spcPct val="120000"/>
              </a:lnSpc>
              <a:spcAft>
                <a:spcPts val="300"/>
              </a:spcAft>
              <a:buClr>
                <a:schemeClr val="tx1"/>
              </a:buClr>
              <a:buSzPct val="100000"/>
            </a:pPr>
            <a:r>
              <a:rPr lang="ja-JP" altLang="en-US" sz="1050" spc="50" dirty="0">
                <a:latin typeface="游ゴシック" panose="020B0400000000000000" pitchFamily="50" charset="-128"/>
                <a:ea typeface="游ゴシック" panose="020B0400000000000000" pitchFamily="50" charset="-128"/>
              </a:rPr>
              <a:t>・以上の結果、ネットキャッシュは＋6,642千円となる。</a:t>
            </a:r>
            <a:endParaRPr lang="en-US" altLang="ja-JP" sz="1050" spc="50" dirty="0">
              <a:latin typeface="游ゴシック" panose="020B0400000000000000" pitchFamily="50" charset="-128"/>
              <a:ea typeface="游ゴシック" panose="020B0400000000000000" pitchFamily="50" charset="-128"/>
            </a:endParaRPr>
          </a:p>
        </p:txBody>
      </p:sp>
      <p:graphicFrame>
        <p:nvGraphicFramePr>
          <p:cNvPr id="5" name="表 4">
            <a:extLst>
              <a:ext uri="{FF2B5EF4-FFF2-40B4-BE49-F238E27FC236}">
                <a16:creationId xmlns:a16="http://schemas.microsoft.com/office/drawing/2014/main" id="{7C150E09-45BD-0CFA-260D-0B71D34FA81B}"/>
              </a:ext>
            </a:extLst>
          </p:cNvPr>
          <p:cNvGraphicFramePr>
            <a:graphicFrameLocks noGrp="1"/>
          </p:cNvGraphicFramePr>
          <p:nvPr>
            <p:extLst>
              <p:ext uri="{D42A27DB-BD31-4B8C-83A1-F6EECF244321}">
                <p14:modId xmlns:p14="http://schemas.microsoft.com/office/powerpoint/2010/main" val="1070851360"/>
              </p:ext>
            </p:extLst>
          </p:nvPr>
        </p:nvGraphicFramePr>
        <p:xfrm>
          <a:off x="341312" y="1008063"/>
          <a:ext cx="9457207" cy="2880545"/>
        </p:xfrm>
        <a:graphic>
          <a:graphicData uri="http://schemas.openxmlformats.org/drawingml/2006/table">
            <a:tbl>
              <a:tblPr/>
              <a:tblGrid>
                <a:gridCol w="2261506">
                  <a:extLst>
                    <a:ext uri="{9D8B030D-6E8A-4147-A177-3AD203B41FA5}">
                      <a16:colId xmlns:a16="http://schemas.microsoft.com/office/drawing/2014/main" val="1352071965"/>
                    </a:ext>
                  </a:extLst>
                </a:gridCol>
                <a:gridCol w="2261506">
                  <a:extLst>
                    <a:ext uri="{9D8B030D-6E8A-4147-A177-3AD203B41FA5}">
                      <a16:colId xmlns:a16="http://schemas.microsoft.com/office/drawing/2014/main" val="1638083927"/>
                    </a:ext>
                  </a:extLst>
                </a:gridCol>
                <a:gridCol w="411183">
                  <a:extLst>
                    <a:ext uri="{9D8B030D-6E8A-4147-A177-3AD203B41FA5}">
                      <a16:colId xmlns:a16="http://schemas.microsoft.com/office/drawing/2014/main" val="2544734551"/>
                    </a:ext>
                  </a:extLst>
                </a:gridCol>
                <a:gridCol w="2261506">
                  <a:extLst>
                    <a:ext uri="{9D8B030D-6E8A-4147-A177-3AD203B41FA5}">
                      <a16:colId xmlns:a16="http://schemas.microsoft.com/office/drawing/2014/main" val="1409404161"/>
                    </a:ext>
                  </a:extLst>
                </a:gridCol>
                <a:gridCol w="2261506">
                  <a:extLst>
                    <a:ext uri="{9D8B030D-6E8A-4147-A177-3AD203B41FA5}">
                      <a16:colId xmlns:a16="http://schemas.microsoft.com/office/drawing/2014/main" val="1405295861"/>
                    </a:ext>
                  </a:extLst>
                </a:gridCol>
              </a:tblGrid>
              <a:tr h="249182">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2247217033"/>
                  </a:ext>
                </a:extLst>
              </a:tr>
              <a:tr h="289051">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キャッシュライクアイテム</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dirty="0">
                          <a:solidFill>
                            <a:srgbClr val="FFFFFF"/>
                          </a:solidFill>
                          <a:effectLst/>
                          <a:latin typeface="游ゴシック" panose="020B0400000000000000" pitchFamily="50" charset="-128"/>
                          <a:ea typeface="游ゴシック" panose="020B0400000000000000" pitchFamily="50" charset="-128"/>
                        </a:rPr>
                        <a:t>金額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デットライクアイテム</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717121569"/>
                  </a:ext>
                </a:extLst>
              </a:tr>
              <a:tr h="418626">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61,842</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l" fontAlgn="b">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短期借入金</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8,000</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07547278"/>
                  </a:ext>
                </a:extLst>
              </a:tr>
              <a:tr h="418626">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l" fontAlgn="b">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47,200</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679247723"/>
                  </a:ext>
                </a:extLst>
              </a:tr>
              <a:tr h="418626">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61,842</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l" fontAlgn="b">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55,200</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361027530"/>
                  </a:ext>
                </a:extLst>
              </a:tr>
              <a:tr h="249182">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w="12700" cap="flat" cmpd="sng" algn="ctr">
                      <a:solidFill>
                        <a:srgbClr val="0889C9"/>
                      </a:solidFill>
                      <a:prstDash val="solid"/>
                      <a:round/>
                      <a:headEnd type="none" w="med" len="med"/>
                      <a:tailEnd type="none" w="med" len="med"/>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w="12700" cap="flat" cmpd="sng" algn="ctr">
                      <a:solidFill>
                        <a:srgbClr val="0889C9"/>
                      </a:solidFill>
                      <a:prstDash val="solid"/>
                      <a:round/>
                      <a:headEnd type="none" w="med" len="med"/>
                      <a:tailEnd type="none" w="med" len="med"/>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extLst>
                  <a:ext uri="{0D108BD9-81ED-4DB2-BD59-A6C34878D82A}">
                    <a16:rowId xmlns:a16="http://schemas.microsoft.com/office/drawing/2014/main" val="4075682222"/>
                  </a:ext>
                </a:extLst>
              </a:tr>
              <a:tr h="418626">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6,642</a:t>
                      </a:r>
                    </a:p>
                  </a:txBody>
                  <a:tcPr marL="0" marR="11430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2FB"/>
                    </a:solidFill>
                  </a:tcPr>
                </a:tc>
                <a:tc>
                  <a:txBody>
                    <a:bodyPr/>
                    <a:lstStyle/>
                    <a:p>
                      <a:pPr algn="l" fontAlgn="b">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12700" cap="flat" cmpd="sng" algn="ctr">
                      <a:solidFill>
                        <a:srgbClr val="0889C9"/>
                      </a:solidFill>
                      <a:prstDash val="solid"/>
                      <a:round/>
                      <a:headEnd type="none" w="med" len="med"/>
                      <a:tailEnd type="none" w="med" len="med"/>
                    </a:lnL>
                    <a:lnR>
                      <a:noFill/>
                    </a:lnR>
                    <a:lnT>
                      <a:noFill/>
                    </a:lnT>
                    <a:lnB>
                      <a:noFill/>
                    </a:lnB>
                    <a:noFill/>
                  </a:tcPr>
                </a:tc>
                <a:tc>
                  <a:txBody>
                    <a:bodyPr/>
                    <a:lstStyle/>
                    <a:p>
                      <a:pPr algn="l" fontAlgn="b">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　</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extLst>
                  <a:ext uri="{0D108BD9-81ED-4DB2-BD59-A6C34878D82A}">
                    <a16:rowId xmlns:a16="http://schemas.microsoft.com/office/drawing/2014/main" val="2815248336"/>
                  </a:ext>
                </a:extLst>
              </a:tr>
            </a:tbl>
          </a:graphicData>
        </a:graphic>
      </p:graphicFrame>
    </p:spTree>
    <p:extLst>
      <p:ext uri="{BB962C8B-B14F-4D97-AF65-F5344CB8AC3E}">
        <p14:creationId xmlns:p14="http://schemas.microsoft.com/office/powerpoint/2010/main" val="130158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P/L</a:t>
            </a:r>
            <a:r>
              <a:rPr lang="ja-JP" altLang="en-US" dirty="0"/>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lang="ja-JP" altLang="en-US" dirty="0"/>
              <a:t>過去</a:t>
            </a:r>
            <a:r>
              <a:rPr lang="en-US" altLang="ja-JP" dirty="0"/>
              <a:t>PL</a:t>
            </a:r>
            <a:r>
              <a:rPr lang="ja-JP" altLang="en-US" dirty="0"/>
              <a:t>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6" name="表 5">
            <a:extLst>
              <a:ext uri="{FF2B5EF4-FFF2-40B4-BE49-F238E27FC236}">
                <a16:creationId xmlns:a16="http://schemas.microsoft.com/office/drawing/2014/main" id="{E651E485-6E57-DF03-CEB3-303C5F7BC5F1}"/>
              </a:ext>
            </a:extLst>
          </p:cNvPr>
          <p:cNvGraphicFramePr>
            <a:graphicFrameLocks noGrp="1"/>
          </p:cNvGraphicFramePr>
          <p:nvPr>
            <p:extLst>
              <p:ext uri="{D42A27DB-BD31-4B8C-83A1-F6EECF244321}">
                <p14:modId xmlns:p14="http://schemas.microsoft.com/office/powerpoint/2010/main" val="492500337"/>
              </p:ext>
            </p:extLst>
          </p:nvPr>
        </p:nvGraphicFramePr>
        <p:xfrm>
          <a:off x="341312" y="845377"/>
          <a:ext cx="9901240" cy="5950723"/>
        </p:xfrm>
        <a:graphic>
          <a:graphicData uri="http://schemas.openxmlformats.org/drawingml/2006/table">
            <a:tbl>
              <a:tblPr/>
              <a:tblGrid>
                <a:gridCol w="2159926">
                  <a:extLst>
                    <a:ext uri="{9D8B030D-6E8A-4147-A177-3AD203B41FA5}">
                      <a16:colId xmlns:a16="http://schemas.microsoft.com/office/drawing/2014/main" val="1203225717"/>
                    </a:ext>
                  </a:extLst>
                </a:gridCol>
                <a:gridCol w="1290219">
                  <a:extLst>
                    <a:ext uri="{9D8B030D-6E8A-4147-A177-3AD203B41FA5}">
                      <a16:colId xmlns:a16="http://schemas.microsoft.com/office/drawing/2014/main" val="757072105"/>
                    </a:ext>
                  </a:extLst>
                </a:gridCol>
                <a:gridCol w="1290219">
                  <a:extLst>
                    <a:ext uri="{9D8B030D-6E8A-4147-A177-3AD203B41FA5}">
                      <a16:colId xmlns:a16="http://schemas.microsoft.com/office/drawing/2014/main" val="2934432485"/>
                    </a:ext>
                  </a:extLst>
                </a:gridCol>
                <a:gridCol w="1290219">
                  <a:extLst>
                    <a:ext uri="{9D8B030D-6E8A-4147-A177-3AD203B41FA5}">
                      <a16:colId xmlns:a16="http://schemas.microsoft.com/office/drawing/2014/main" val="3085477051"/>
                    </a:ext>
                  </a:extLst>
                </a:gridCol>
                <a:gridCol w="1290219">
                  <a:extLst>
                    <a:ext uri="{9D8B030D-6E8A-4147-A177-3AD203B41FA5}">
                      <a16:colId xmlns:a16="http://schemas.microsoft.com/office/drawing/2014/main" val="1904258578"/>
                    </a:ext>
                  </a:extLst>
                </a:gridCol>
                <a:gridCol w="1290219">
                  <a:extLst>
                    <a:ext uri="{9D8B030D-6E8A-4147-A177-3AD203B41FA5}">
                      <a16:colId xmlns:a16="http://schemas.microsoft.com/office/drawing/2014/main" val="367188390"/>
                    </a:ext>
                  </a:extLst>
                </a:gridCol>
                <a:gridCol w="1290219">
                  <a:extLst>
                    <a:ext uri="{9D8B030D-6E8A-4147-A177-3AD203B41FA5}">
                      <a16:colId xmlns:a16="http://schemas.microsoft.com/office/drawing/2014/main" val="1573539663"/>
                    </a:ext>
                  </a:extLst>
                </a:gridCol>
              </a:tblGrid>
              <a:tr h="154758">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53608451"/>
                  </a:ext>
                </a:extLst>
              </a:tr>
              <a:tr h="251911">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2023年12月期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2024年12月期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2025年12月期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16968241"/>
                  </a:ext>
                </a:extLst>
              </a:tr>
              <a:tr h="171954">
                <a:tc vMerge="1">
                  <a:txBody>
                    <a:bodyPr/>
                    <a:lstStyle/>
                    <a:p>
                      <a:r>
                        <a:rPr kumimoji="1" lang="ja-JP" altLang="en-US"/>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121160983"/>
                  </a:ext>
                </a:extLst>
              </a:tr>
              <a:tr h="21488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325,867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346,562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357,541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28,931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30,240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当期商品仕入高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162,685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179,686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193,115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仕入値引戻し高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期末商品棚卸高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△30,240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159,517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181,526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196,771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21488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166,350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165,036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160,770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145,464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154,261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147,846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20,886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10,774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12,924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2,398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293032276"/>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受取利息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仕入割引</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貸倒引当金戻入額</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雑収入</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293032276"/>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固定資産圧縮損</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21,929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10,885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13,886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293032276"/>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293032276"/>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固定資産除却損</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21,885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10,885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13,886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2148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6,901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21488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8,680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9,671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bl>
          </a:graphicData>
        </a:graphic>
      </p:graphicFrame>
    </p:spTree>
    <p:extLst>
      <p:ext uri="{BB962C8B-B14F-4D97-AF65-F5344CB8AC3E}">
        <p14:creationId xmlns:p14="http://schemas.microsoft.com/office/powerpoint/2010/main" val="4072389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35650247-1E40-B7CB-0FCF-640931A69AE2}"/>
              </a:ext>
            </a:extLst>
          </p:cNvPr>
          <p:cNvSpPr txBox="1"/>
          <p:nvPr/>
        </p:nvSpPr>
        <p:spPr>
          <a:xfrm>
            <a:off x="2051536" y="5870448"/>
            <a:ext cx="3749039" cy="923779"/>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sz="900"/>
              <a:t>役員報酬：役員構成・M&amp;A後の処遇が未確認のため修正していない。令和6年12月期は他期比で突出しており要確認。</a:t>
            </a:r>
            <a:br>
              <a:rPr lang="en-US" altLang="ja-JP" dirty="0"/>
            </a:br>
            <a:endParaRPr lang="en-US" altLang="ja-JP" dirty="0"/>
          </a:p>
          <a:p>
            <a:pPr>
              <a:lnSpc>
                <a:spcPct val="110000"/>
              </a:lnSpc>
              <a:spcAft>
                <a:spcPts val="200"/>
              </a:spcAft>
              <a:tabLst>
                <a:tab pos="1165225" algn="l"/>
                <a:tab pos="1341438" algn="l"/>
              </a:tabLst>
            </a:pPr>
            <a:r>
              <a:rPr lang="ja-JP" altLang="en-US" dirty="0" sz="900"/>
              <a:t>退職金：令和5年12月期のみの370千円を非経常的費用として控除。</a:t>
            </a:r>
            <a:br>
              <a:rPr lang="en-US" altLang="ja-JP" dirty="0"/>
            </a:br>
            <a:endParaRPr lang="en-US" altLang="ja-JP" dirty="0"/>
          </a:p>
        </p:txBody>
      </p:sp>
      <p:sp>
        <p:nvSpPr>
          <p:cNvPr id="12" name="タイトル 11">
            <a:extLst>
              <a:ext uri="{FF2B5EF4-FFF2-40B4-BE49-F238E27FC236}">
                <a16:creationId xmlns:a16="http://schemas.microsoft.com/office/drawing/2014/main" id="{DC2FECB7-19A2-7C36-9E2F-D39B0FB88B2F}"/>
              </a:ext>
            </a:extLst>
          </p:cNvPr>
          <p:cNvSpPr>
            <a:spLocks noGrp="1"/>
          </p:cNvSpPr>
          <p:nvPr>
            <p:ph type="ctrTitle"/>
          </p:nvPr>
        </p:nvSpPr>
        <p:spPr>
          <a:xfrm>
            <a:off x="341313" y="180653"/>
            <a:ext cx="7799917" cy="338554"/>
          </a:xfrm>
        </p:spPr>
        <p:txBody>
          <a:bodyPr/>
          <a:lstStyle/>
          <a:p>
            <a:r>
              <a:rPr lang="ja-JP" altLang="en-US" dirty="0"/>
              <a:t>販管費及び一般管理費の修正</a:t>
            </a:r>
          </a:p>
        </p:txBody>
      </p:sp>
      <p:sp>
        <p:nvSpPr>
          <p:cNvPr id="11" name="タイトル 1">
            <a:extLst>
              <a:ext uri="{FF2B5EF4-FFF2-40B4-BE49-F238E27FC236}">
                <a16:creationId xmlns:a16="http://schemas.microsoft.com/office/drawing/2014/main" id="{E822E01B-8EBB-0777-FFDE-2ED5BD7F6582}"/>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D11C8879-7177-AB32-ADE2-B1BA72013064}"/>
              </a:ext>
            </a:extLst>
          </p:cNvPr>
          <p:cNvSpPr/>
          <p:nvPr/>
        </p:nvSpPr>
        <p:spPr>
          <a:xfrm>
            <a:off x="449263" y="5779008"/>
            <a:ext cx="9793287" cy="1024128"/>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33CBB3D9-5E1D-09B4-EE09-6FFCA0875A38}"/>
              </a:ext>
            </a:extLst>
          </p:cNvPr>
          <p:cNvSpPr txBox="1"/>
          <p:nvPr/>
        </p:nvSpPr>
        <p:spPr>
          <a:xfrm>
            <a:off x="6217920" y="5870448"/>
            <a:ext cx="4023360" cy="949427"/>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sz="900"/>
              <a:t>貸倒引当金繰入額：直接評価の観点から3期とも全額控除するものとする。</a:t>
            </a:r>
            <a:endParaRPr lang="zh-TW" altLang="en-US" dirty="0"/>
          </a:p>
          <a:p>
            <a:pPr>
              <a:lnSpc>
                <a:spcPct val="110000"/>
              </a:lnSpc>
              <a:spcAft>
                <a:spcPts val="200"/>
              </a:spcAft>
              <a:tabLst>
                <a:tab pos="1165225" algn="l"/>
                <a:tab pos="1341438" algn="l"/>
              </a:tabLst>
            </a:pPr>
            <a:r>
              <a:rPr lang="ja-JP" altLang="en-US" dirty="0" sz="900"/>
              <a:t>接待交際費：87〜548千円と僅少。私的利用分の有無は要確認としたうえで修正していない。</a:t>
            </a:r>
            <a:endParaRPr lang="zh-TW" altLang="en-US" dirty="0"/>
          </a:p>
        </p:txBody>
      </p:sp>
      <p:graphicFrame>
        <p:nvGraphicFramePr>
          <p:cNvPr id="3" name="表 2">
            <a:extLst>
              <a:ext uri="{FF2B5EF4-FFF2-40B4-BE49-F238E27FC236}">
                <a16:creationId xmlns:a16="http://schemas.microsoft.com/office/drawing/2014/main" id="{80C083C9-FF56-5568-4B60-0372A8D9CA3C}"/>
              </a:ext>
            </a:extLst>
          </p:cNvPr>
          <p:cNvGraphicFramePr>
            <a:graphicFrameLocks noGrp="1"/>
          </p:cNvGraphicFramePr>
          <p:nvPr>
            <p:extLst>
              <p:ext uri="{D42A27DB-BD31-4B8C-83A1-F6EECF244321}">
                <p14:modId xmlns:p14="http://schemas.microsoft.com/office/powerpoint/2010/main" val="1367617313"/>
              </p:ext>
            </p:extLst>
          </p:nvPr>
        </p:nvGraphicFramePr>
        <p:xfrm>
          <a:off x="341313" y="709996"/>
          <a:ext cx="10089624" cy="5170336"/>
        </p:xfrm>
        <a:graphic>
          <a:graphicData uri="http://schemas.openxmlformats.org/drawingml/2006/table">
            <a:tbl>
              <a:tblPr/>
              <a:tblGrid>
                <a:gridCol w="1733187">
                  <a:extLst>
                    <a:ext uri="{9D8B030D-6E8A-4147-A177-3AD203B41FA5}">
                      <a16:colId xmlns:a16="http://schemas.microsoft.com/office/drawing/2014/main" val="2546535029"/>
                    </a:ext>
                  </a:extLst>
                </a:gridCol>
                <a:gridCol w="928493">
                  <a:extLst>
                    <a:ext uri="{9D8B030D-6E8A-4147-A177-3AD203B41FA5}">
                      <a16:colId xmlns:a16="http://schemas.microsoft.com/office/drawing/2014/main" val="3187838015"/>
                    </a:ext>
                  </a:extLst>
                </a:gridCol>
                <a:gridCol w="928493">
                  <a:extLst>
                    <a:ext uri="{9D8B030D-6E8A-4147-A177-3AD203B41FA5}">
                      <a16:colId xmlns:a16="http://schemas.microsoft.com/office/drawing/2014/main" val="46283282"/>
                    </a:ext>
                  </a:extLst>
                </a:gridCol>
                <a:gridCol w="928493">
                  <a:extLst>
                    <a:ext uri="{9D8B030D-6E8A-4147-A177-3AD203B41FA5}">
                      <a16:colId xmlns:a16="http://schemas.microsoft.com/office/drawing/2014/main" val="2737436974"/>
                    </a:ext>
                  </a:extLst>
                </a:gridCol>
                <a:gridCol w="928493">
                  <a:extLst>
                    <a:ext uri="{9D8B030D-6E8A-4147-A177-3AD203B41FA5}">
                      <a16:colId xmlns:a16="http://schemas.microsoft.com/office/drawing/2014/main" val="3192499044"/>
                    </a:ext>
                  </a:extLst>
                </a:gridCol>
                <a:gridCol w="928493">
                  <a:extLst>
                    <a:ext uri="{9D8B030D-6E8A-4147-A177-3AD203B41FA5}">
                      <a16:colId xmlns:a16="http://schemas.microsoft.com/office/drawing/2014/main" val="4052260167"/>
                    </a:ext>
                  </a:extLst>
                </a:gridCol>
                <a:gridCol w="928493">
                  <a:extLst>
                    <a:ext uri="{9D8B030D-6E8A-4147-A177-3AD203B41FA5}">
                      <a16:colId xmlns:a16="http://schemas.microsoft.com/office/drawing/2014/main" val="1094675847"/>
                    </a:ext>
                  </a:extLst>
                </a:gridCol>
                <a:gridCol w="928493">
                  <a:extLst>
                    <a:ext uri="{9D8B030D-6E8A-4147-A177-3AD203B41FA5}">
                      <a16:colId xmlns:a16="http://schemas.microsoft.com/office/drawing/2014/main" val="2883793926"/>
                    </a:ext>
                  </a:extLst>
                </a:gridCol>
                <a:gridCol w="928493">
                  <a:extLst>
                    <a:ext uri="{9D8B030D-6E8A-4147-A177-3AD203B41FA5}">
                      <a16:colId xmlns:a16="http://schemas.microsoft.com/office/drawing/2014/main" val="1896598632"/>
                    </a:ext>
                  </a:extLst>
                </a:gridCol>
                <a:gridCol w="928493">
                  <a:extLst>
                    <a:ext uri="{9D8B030D-6E8A-4147-A177-3AD203B41FA5}">
                      <a16:colId xmlns:a16="http://schemas.microsoft.com/office/drawing/2014/main" val="2842814301"/>
                    </a:ext>
                  </a:extLst>
                </a:gridCol>
              </a:tblGrid>
              <a:tr h="118506">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2889745379"/>
                  </a:ext>
                </a:extLst>
              </a:tr>
              <a:tr h="127985">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3">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2023年12月期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kumimoji="1" lang="ja-JP" altLang="en-US"/>
                        <a:t>　</a:t>
                      </a:r>
                      <a:endParaRPr kumimoji="1" lang="ja-JP" altLang="en-US"/>
                    </a:p>
                  </a:txBody>
                  <a:tcPr/>
                </a:tc>
                <a:tc hMerge="1">
                  <a:txBody>
                    <a:bodyPr/>
                    <a:lstStyle/>
                    <a:p>
                      <a:r>
                        <a:rPr kumimoji="1" lang="ja-JP" altLang="en-US"/>
                        <a:t>　</a:t>
                      </a:r>
                      <a:endParaRPr kumimoji="1" lang="ja-JP" altLang="en-US"/>
                    </a:p>
                  </a:txBody>
                  <a:tcPr/>
                </a:tc>
                <a:tc gridSpan="3">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2024年12月期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kumimoji="1" lang="ja-JP" altLang="en-US"/>
                        <a:t>　</a:t>
                      </a:r>
                      <a:endParaRPr kumimoji="1" lang="ja-JP" altLang="en-US"/>
                    </a:p>
                  </a:txBody>
                  <a:tcPr/>
                </a:tc>
                <a:tc hMerge="1">
                  <a:txBody>
                    <a:bodyPr/>
                    <a:lstStyle/>
                    <a:p>
                      <a:r>
                        <a:rPr kumimoji="1" lang="ja-JP" altLang="en-US"/>
                        <a:t>　</a:t>
                      </a:r>
                      <a:endParaRPr kumimoji="1" lang="ja-JP" altLang="en-US"/>
                    </a:p>
                  </a:txBody>
                  <a:tcPr/>
                </a:tc>
                <a:tc gridSpan="3">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2025年12月期</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kumimoji="1" lang="ja-JP" altLang="en-US"/>
                        <a:t>　</a:t>
                      </a:r>
                      <a:endParaRPr kumimoji="1" lang="ja-JP" altLang="en-US"/>
                    </a:p>
                  </a:txBody>
                  <a:tcPr/>
                </a:tc>
                <a:tc hMerge="1">
                  <a:txBody>
                    <a:bodyPr/>
                    <a:lstStyle/>
                    <a:p>
                      <a:r>
                        <a:rPr kumimoji="1" lang="ja-JP" altLang="en-US"/>
                        <a:t>　</a:t>
                      </a:r>
                      <a:endParaRPr kumimoji="1" lang="ja-JP" altLang="en-US"/>
                    </a:p>
                  </a:txBody>
                  <a:tcPr/>
                </a:tc>
                <a:extLst>
                  <a:ext uri="{0D108BD9-81ED-4DB2-BD59-A6C34878D82A}">
                    <a16:rowId xmlns:a16="http://schemas.microsoft.com/office/drawing/2014/main" val="415850382"/>
                  </a:ext>
                </a:extLst>
              </a:tr>
              <a:tr h="123245">
                <a:tc vMerge="1">
                  <a:txBody>
                    <a:bodyPr/>
                    <a:lstStyle/>
                    <a:p>
                      <a:endParaRPr kumimoji="1" lang="ja-JP" altLang="en-US"/>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extLst>
                  <a:ext uri="{0D108BD9-81ED-4DB2-BD59-A6C34878D82A}">
                    <a16:rowId xmlns:a16="http://schemas.microsoft.com/office/drawing/2014/main" val="2758168956"/>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10,500</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10,500</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17,120</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17,120</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11,870</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11,870</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給料手当</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64,349</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64,349</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65,194</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65,194</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64,754</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64,754</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賞与</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3,549</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3,549</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3,405</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3,405</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3,197</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3,197</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退職金</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370</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△370</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11,424</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11,424</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12,208</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12,208</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10,842</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10,842</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福利厚生費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1,852</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1,852</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2,218</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2,218</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2,914</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2,914</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採用教育費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291</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291</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185</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185</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89</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89</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1,201</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1,201</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1,208</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1,208</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1,053</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1,053</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548</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548</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180</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180</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87</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87</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273</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273</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367</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367</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460</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460</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2,802</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2,802</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2,701</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2,701</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2,771</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2,771</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1,043</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1,043</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1,254</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1,254</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1,367</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1,367</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消耗品費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2,346</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2,346</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4,468</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4,468</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3,125</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3,125</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1,991</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1,991</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1,930</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1,930</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1,771</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1,771</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805</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805</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926</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926</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533</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533</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1,034</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1,034</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1,114</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1,114</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1,037</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1,037</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新聞図書費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126</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126</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141</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141</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171</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171</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562</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562</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687</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687</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571</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571</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9,572</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9,572</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6,926</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6,926</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9,654</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9,654</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16,890</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16,890</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17,047</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17,047</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17,105</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17,105</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賃借料</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109</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109</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109</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109</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112</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112</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1,353</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1,353</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2,474</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2,474</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1,603</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1,603</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146</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146</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146</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146</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146</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146</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5,076</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5,076</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5,743</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5,743</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4,523</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4,523</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長期前払費用償却</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572</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572</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578</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578</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580</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580</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貸倒引当金繰入額</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457</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△457</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498</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△498</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524</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△524</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228</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228</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290</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290</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436</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436</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派遣料</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2,347</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2,347</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1,711</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1,711</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2,846</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2,846</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管理諸費</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3,650</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3,650</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3,433</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3,433</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3,705</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3,705</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6002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145,464</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△827</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144,637</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154,261</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△498</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153,763</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147,846</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△524</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147,322</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79542186"/>
                  </a:ext>
                </a:extLst>
              </a:tr>
            </a:tbl>
          </a:graphicData>
        </a:graphic>
      </p:graphicFrame>
    </p:spTree>
    <p:extLst>
      <p:ext uri="{BB962C8B-B14F-4D97-AF65-F5344CB8AC3E}">
        <p14:creationId xmlns:p14="http://schemas.microsoft.com/office/powerpoint/2010/main" val="94194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の算定</a:t>
            </a:r>
            <a:r>
              <a:rPr lang="ja-JP" altLang="en-US" sz="1800" dirty="0"/>
              <a:t>［正常収益力の集計］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3" name="テキスト ボックス 12">
            <a:extLst>
              <a:ext uri="{FF2B5EF4-FFF2-40B4-BE49-F238E27FC236}">
                <a16:creationId xmlns:a16="http://schemas.microsoft.com/office/drawing/2014/main" id="{B6914FF2-A4AB-7226-CEF0-EE45321584DA}"/>
              </a:ext>
            </a:extLst>
          </p:cNvPr>
          <p:cNvSpPr txBox="1"/>
          <p:nvPr/>
        </p:nvSpPr>
        <p:spPr>
          <a:xfrm>
            <a:off x="1984169" y="5965738"/>
            <a:ext cx="8183879" cy="97507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703388" algn="l"/>
              </a:tabLst>
            </a:pPr>
            <a:r>
              <a:rPr lang="ja-JP" altLang="en-US" dirty="0"/>
              <a:t>支払利息：資金の調達方法から独立した会社財産の収益獲得力を評価するため控除して評価する。</a:t>
            </a:r>
            <a:endParaRPr lang="en-US" altLang="ja-JP" dirty="0"/>
          </a:p>
          <a:p>
            <a:pPr>
              <a:lnSpc>
                <a:spcPct val="110000"/>
              </a:lnSpc>
              <a:spcAft>
                <a:spcPts val="200"/>
              </a:spcAft>
              <a:tabLst>
                <a:tab pos="1703388" algn="l"/>
              </a:tabLst>
            </a:pPr>
            <a:r>
              <a:rPr lang="ja-JP" altLang="en-US" dirty="0"/>
              <a:t>受取利息・仕入割引・貸倒引当金戻入額・雑収入：非事業用資産から生じる収益、又は非経常的・臨時的なものであるため全額控除して評価する。なお令和6年12月期の雑収入1,886千円は他期比で大きく、内容について要確認。</a:t>
            </a:r>
            <a:endParaRPr lang="en-US" altLang="ja-JP" dirty="0"/>
          </a:p>
          <a:p>
            <a:pPr>
              <a:lnSpc>
                <a:spcPct val="110000"/>
              </a:lnSpc>
              <a:spcAft>
                <a:spcPts val="200"/>
              </a:spcAft>
              <a:tabLst>
                <a:tab pos="1703388" algn="l"/>
              </a:tabLst>
            </a:pPr>
            <a:r>
              <a:rPr lang="ja-JP" altLang="en-US" dirty="0"/>
              <a:t>雑損失・固定資産圧縮損・固定資産除却損：非経常的・臨時的な費用であるため全額控除して評価する。</a:t>
            </a:r>
            <a:endParaRPr lang="en-US" altLang="ja-JP" dirty="0"/>
          </a:p>
          <a:p>
            <a:pPr>
              <a:lnSpc>
                <a:spcPct val="110000"/>
              </a:lnSpc>
              <a:spcAft>
                <a:spcPts val="200"/>
              </a:spcAft>
              <a:tabLst>
                <a:tab pos="1703388" algn="l"/>
              </a:tabLst>
            </a:pPr>
            <a:r>
              <a:rPr lang="ja-JP" altLang="en-US" dirty="0"/>
              <a:t>この結果、正常収益力（修正後営業利益）は21,713千円／11,272千円／13,448千円となる。</a:t>
            </a:r>
            <a:endParaRPr lang="en-US" altLang="ja-JP" dirty="0"/>
          </a:p>
        </p:txBody>
      </p:sp>
      <p:sp>
        <p:nvSpPr>
          <p:cNvPr id="15" name="正方形/長方形 14">
            <a:extLst>
              <a:ext uri="{FF2B5EF4-FFF2-40B4-BE49-F238E27FC236}">
                <a16:creationId xmlns:a16="http://schemas.microsoft.com/office/drawing/2014/main" id="{D75EF43D-370C-E1EA-A9EB-592A8306EB26}"/>
              </a:ext>
            </a:extLst>
          </p:cNvPr>
          <p:cNvSpPr/>
          <p:nvPr/>
        </p:nvSpPr>
        <p:spPr>
          <a:xfrm>
            <a:off x="449263" y="5890660"/>
            <a:ext cx="9793287" cy="1141075"/>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4" name="表 3">
            <a:extLst>
              <a:ext uri="{FF2B5EF4-FFF2-40B4-BE49-F238E27FC236}">
                <a16:creationId xmlns:a16="http://schemas.microsoft.com/office/drawing/2014/main" id="{269EE5F8-9856-0F07-BA17-797BD219C4F9}"/>
              </a:ext>
            </a:extLst>
          </p:cNvPr>
          <p:cNvGraphicFramePr>
            <a:graphicFrameLocks noGrp="1"/>
          </p:cNvGraphicFramePr>
          <p:nvPr>
            <p:extLst>
              <p:ext uri="{D42A27DB-BD31-4B8C-83A1-F6EECF244321}">
                <p14:modId xmlns:p14="http://schemas.microsoft.com/office/powerpoint/2010/main" val="3230988779"/>
              </p:ext>
            </p:extLst>
          </p:nvPr>
        </p:nvGraphicFramePr>
        <p:xfrm>
          <a:off x="341313" y="745519"/>
          <a:ext cx="10009189" cy="4932793"/>
        </p:xfrm>
        <a:graphic>
          <a:graphicData uri="http://schemas.openxmlformats.org/drawingml/2006/table">
            <a:tbl>
              <a:tblPr/>
              <a:tblGrid>
                <a:gridCol w="1719370">
                  <a:extLst>
                    <a:ext uri="{9D8B030D-6E8A-4147-A177-3AD203B41FA5}">
                      <a16:colId xmlns:a16="http://schemas.microsoft.com/office/drawing/2014/main" val="1930032636"/>
                    </a:ext>
                  </a:extLst>
                </a:gridCol>
                <a:gridCol w="921091">
                  <a:extLst>
                    <a:ext uri="{9D8B030D-6E8A-4147-A177-3AD203B41FA5}">
                      <a16:colId xmlns:a16="http://schemas.microsoft.com/office/drawing/2014/main" val="4031478281"/>
                    </a:ext>
                  </a:extLst>
                </a:gridCol>
                <a:gridCol w="921091">
                  <a:extLst>
                    <a:ext uri="{9D8B030D-6E8A-4147-A177-3AD203B41FA5}">
                      <a16:colId xmlns:a16="http://schemas.microsoft.com/office/drawing/2014/main" val="2174857285"/>
                    </a:ext>
                  </a:extLst>
                </a:gridCol>
                <a:gridCol w="921091">
                  <a:extLst>
                    <a:ext uri="{9D8B030D-6E8A-4147-A177-3AD203B41FA5}">
                      <a16:colId xmlns:a16="http://schemas.microsoft.com/office/drawing/2014/main" val="3203381034"/>
                    </a:ext>
                  </a:extLst>
                </a:gridCol>
                <a:gridCol w="921091">
                  <a:extLst>
                    <a:ext uri="{9D8B030D-6E8A-4147-A177-3AD203B41FA5}">
                      <a16:colId xmlns:a16="http://schemas.microsoft.com/office/drawing/2014/main" val="1407206559"/>
                    </a:ext>
                  </a:extLst>
                </a:gridCol>
                <a:gridCol w="921091">
                  <a:extLst>
                    <a:ext uri="{9D8B030D-6E8A-4147-A177-3AD203B41FA5}">
                      <a16:colId xmlns:a16="http://schemas.microsoft.com/office/drawing/2014/main" val="4251082707"/>
                    </a:ext>
                  </a:extLst>
                </a:gridCol>
                <a:gridCol w="921091">
                  <a:extLst>
                    <a:ext uri="{9D8B030D-6E8A-4147-A177-3AD203B41FA5}">
                      <a16:colId xmlns:a16="http://schemas.microsoft.com/office/drawing/2014/main" val="3639116040"/>
                    </a:ext>
                  </a:extLst>
                </a:gridCol>
                <a:gridCol w="921091">
                  <a:extLst>
                    <a:ext uri="{9D8B030D-6E8A-4147-A177-3AD203B41FA5}">
                      <a16:colId xmlns:a16="http://schemas.microsoft.com/office/drawing/2014/main" val="692455042"/>
                    </a:ext>
                  </a:extLst>
                </a:gridCol>
                <a:gridCol w="921091">
                  <a:extLst>
                    <a:ext uri="{9D8B030D-6E8A-4147-A177-3AD203B41FA5}">
                      <a16:colId xmlns:a16="http://schemas.microsoft.com/office/drawing/2014/main" val="1831310534"/>
                    </a:ext>
                  </a:extLst>
                </a:gridCol>
                <a:gridCol w="921091">
                  <a:extLst>
                    <a:ext uri="{9D8B030D-6E8A-4147-A177-3AD203B41FA5}">
                      <a16:colId xmlns:a16="http://schemas.microsoft.com/office/drawing/2014/main" val="1540417249"/>
                    </a:ext>
                  </a:extLst>
                </a:gridCol>
              </a:tblGrid>
              <a:tr h="103916">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2538579597"/>
                  </a:ext>
                </a:extLst>
              </a:tr>
              <a:tr h="112229">
                <a:tc rowSpan="2">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3">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2023年12月期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kumimoji="1" lang="ja-JP" altLang="en-US"/>
                        <a:t>　</a:t>
                      </a:r>
                      <a:endParaRPr kumimoji="1" lang="ja-JP" altLang="en-US"/>
                    </a:p>
                  </a:txBody>
                  <a:tcPr/>
                </a:tc>
                <a:tc hMerge="1">
                  <a:txBody>
                    <a:bodyPr/>
                    <a:lstStyle/>
                    <a:p>
                      <a:r>
                        <a:rPr kumimoji="1" lang="ja-JP" altLang="en-US"/>
                        <a:t>　</a:t>
                      </a:r>
                      <a:endParaRPr kumimoji="1" lang="ja-JP" altLang="en-US"/>
                    </a:p>
                  </a:txBody>
                  <a:tcPr/>
                </a:tc>
                <a:tc gridSpan="3">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2024年12月期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kumimoji="1" lang="ja-JP" altLang="en-US"/>
                        <a:t>　</a:t>
                      </a:r>
                      <a:endParaRPr kumimoji="1" lang="ja-JP" altLang="en-US"/>
                    </a:p>
                  </a:txBody>
                  <a:tcPr/>
                </a:tc>
                <a:tc hMerge="1">
                  <a:txBody>
                    <a:bodyPr/>
                    <a:lstStyle/>
                    <a:p>
                      <a:r>
                        <a:rPr kumimoji="1" lang="ja-JP" altLang="en-US"/>
                        <a:t>　</a:t>
                      </a:r>
                      <a:endParaRPr kumimoji="1" lang="ja-JP" altLang="en-US"/>
                    </a:p>
                  </a:txBody>
                  <a:tcPr/>
                </a:tc>
                <a:tc gridSpan="3">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2025年12月期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kumimoji="1" lang="ja-JP" altLang="en-US"/>
                        <a:t>　</a:t>
                      </a:r>
                      <a:endParaRPr kumimoji="1" lang="ja-JP" altLang="en-US"/>
                    </a:p>
                  </a:txBody>
                  <a:tcPr/>
                </a:tc>
                <a:tc hMerge="1">
                  <a:txBody>
                    <a:bodyPr/>
                    <a:lstStyle/>
                    <a:p>
                      <a:r>
                        <a:rPr kumimoji="1" lang="ja-JP" altLang="en-US"/>
                        <a:t>　</a:t>
                      </a:r>
                      <a:endParaRPr kumimoji="1" lang="ja-JP" altLang="en-US"/>
                    </a:p>
                  </a:txBody>
                  <a:tcPr/>
                </a:tc>
                <a:extLst>
                  <a:ext uri="{0D108BD9-81ED-4DB2-BD59-A6C34878D82A}">
                    <a16:rowId xmlns:a16="http://schemas.microsoft.com/office/drawing/2014/main" val="3472981268"/>
                  </a:ext>
                </a:extLst>
              </a:tr>
              <a:tr h="108072">
                <a:tc vMerge="1">
                  <a:txBody>
                    <a:bodyPr/>
                    <a:lstStyle/>
                    <a:p>
                      <a:endParaRPr kumimoji="1" lang="ja-JP" altLang="en-US"/>
                    </a:p>
                  </a:txBody>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extLst>
                  <a:ext uri="{0D108BD9-81ED-4DB2-BD59-A6C34878D82A}">
                    <a16:rowId xmlns:a16="http://schemas.microsoft.com/office/drawing/2014/main" val="528265991"/>
                  </a:ext>
                </a:extLst>
              </a:tr>
              <a:tr h="192024">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4725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325,867</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325,867</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346,562</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346,562</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357,541</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357,541</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96337769"/>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期首商品棚卸高</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28,931</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28,931</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32,080</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32,080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30,240</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30,240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当期商品仕入高</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162,685</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162,685</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179,686</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179,686</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193,115</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193,115</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仕入値引戻し高</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△19</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△19</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期末商品棚卸高</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△32,080</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△32,080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△30,240</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△30,240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△26,584</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△26,584</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4725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159,517</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159,517</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181,526</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181,526</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196,771</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196,771</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96337769"/>
                  </a:ext>
                </a:extLst>
              </a:tr>
              <a:tr h="192024">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4725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166,350</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166,350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165,036</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165,036</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160,770</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160,770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96337769"/>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145,464</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△827</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144,637</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154,261</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△498</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153,763</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147,846</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△524</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147,322</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4725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20,886</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827</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21,713</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10,774</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498</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11,272</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12,924</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524</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13,448</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96337769"/>
                  </a:ext>
                </a:extLst>
              </a:tr>
              <a:tr h="192024">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9449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1,273</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△1,273</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2,398</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△2,398</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1,051</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△1,051</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859568981"/>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受取利息</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76</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△76</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仕入割引</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212</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△212</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52</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△52</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貸倒引当金戻入額</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448</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△448</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457</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△457</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498</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△498</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雑収入</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613</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△613</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1,886</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△1,886</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477</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△477</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9449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230</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△230</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2,288</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△2,288</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90</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△90</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859568981"/>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支払利息</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80</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△80</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80</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△80</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80</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△80</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雑損失</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150</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△150</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1,650</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△1,650</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固定資産圧縮損</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558</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△558</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4725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21,929</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△216</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21,713</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10,885</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388</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11,272</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13,886</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△437</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13,448</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96337769"/>
                  </a:ext>
                </a:extLst>
              </a:tr>
              <a:tr h="192024">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9449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44</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△44</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859568981"/>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固定資産除却損</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44</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△44</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4725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21,885</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△172</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21,713</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10,885</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388</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11,272</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13,886</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△437</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13,448</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96337769"/>
                  </a:ext>
                </a:extLst>
              </a:tr>
              <a:tr h="19202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6,901</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6,901</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2,205</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2,205</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4,214</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4,214</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92024">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4725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14,984</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△172</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14,812</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8,680</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388</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9,068</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9,671</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△437</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9,234</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96337769"/>
                  </a:ext>
                </a:extLst>
              </a:tr>
            </a:tbl>
          </a:graphicData>
        </a:graphic>
      </p:graphicFrame>
    </p:spTree>
    <p:extLst>
      <p:ext uri="{BB962C8B-B14F-4D97-AF65-F5344CB8AC3E}">
        <p14:creationId xmlns:p14="http://schemas.microsoft.com/office/powerpoint/2010/main" val="1691939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t>Valuation Details </a:t>
            </a:r>
            <a:r>
              <a:rPr lang="ja-JP" altLang="en-US" dirty="0"/>
              <a:t>／</a:t>
            </a:r>
            <a:br>
              <a:rPr lang="en-US" altLang="ja-JP" dirty="0"/>
            </a:br>
            <a:r>
              <a:rPr lang="ja-JP" altLang="en-US" dirty="0"/>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lang="ja-JP" altLang="en-US" dirty="0"/>
              <a:t>年買法</a:t>
            </a:r>
            <a:r>
              <a:rPr lang="ja-JP" altLang="en-US" sz="1400" dirty="0"/>
              <a:t>（コストアプローチ）</a:t>
            </a:r>
            <a:r>
              <a:rPr lang="ja-JP" altLang="en-US" dirty="0"/>
              <a:t>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5193" y="6497692"/>
            <a:ext cx="3132000" cy="358881"/>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・営業権の算出は調整後税考慮後営業利益を基準とし採用</a:t>
            </a:r>
            <a:endParaRPr lang="en-US" altLang="ja-JP" sz="1000" spc="50" dirty="0">
              <a:latin typeface="+mn-ea"/>
            </a:endParaRPr>
          </a:p>
        </p:txBody>
      </p:sp>
      <p:grpSp>
        <p:nvGrpSpPr>
          <p:cNvPr id="2" name="グループ化 1">
            <a:extLst>
              <a:ext uri="{FF2B5EF4-FFF2-40B4-BE49-F238E27FC236}">
                <a16:creationId xmlns:a16="http://schemas.microsoft.com/office/drawing/2014/main" id="{A29EB66C-2E27-8434-B652-DDC186B7F0B3}"/>
              </a:ext>
            </a:extLst>
          </p:cNvPr>
          <p:cNvGrpSpPr/>
          <p:nvPr/>
        </p:nvGrpSpPr>
        <p:grpSpPr>
          <a:xfrm>
            <a:off x="7237573" y="4779102"/>
            <a:ext cx="3132001" cy="1440000"/>
            <a:chOff x="7110548" y="4536538"/>
            <a:chExt cx="3132001" cy="1440000"/>
          </a:xfrm>
        </p:grpSpPr>
        <p:sp>
          <p:nvSpPr>
            <p:cNvPr id="49" name="フローチャート: 処理 48">
              <a:extLst>
                <a:ext uri="{FF2B5EF4-FFF2-40B4-BE49-F238E27FC236}">
                  <a16:creationId xmlns:a16="http://schemas.microsoft.com/office/drawing/2014/main" id="{3563BF4B-3A03-4761-D966-E487EA4F048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200" spc="30" dirty="0">
                  <a:solidFill>
                    <a:schemeClr val="tx2"/>
                  </a:solidFill>
                  <a:latin typeface="+mn-ea"/>
                </a:rPr>
                <a:t>営業権倍率は買手企業の</a:t>
              </a:r>
              <a:r>
                <a:rPr lang="en-US" altLang="ja-JP" sz="1200" spc="30" dirty="0">
                  <a:solidFill>
                    <a:schemeClr val="tx2"/>
                  </a:solidFill>
                  <a:latin typeface="+mn-ea"/>
                </a:rPr>
                <a:t>M&amp;A</a:t>
              </a:r>
              <a:r>
                <a:rPr lang="ja-JP" altLang="en-US" sz="1200" spc="30" dirty="0">
                  <a:solidFill>
                    <a:schemeClr val="tx2"/>
                  </a:solidFill>
                  <a:latin typeface="+mn-ea"/>
                </a:rPr>
                <a:t>方針、取り組み意欲、想定シナジー等によっても変動いたします。</a:t>
              </a:r>
            </a:p>
          </p:txBody>
        </p:sp>
        <p:sp>
          <p:nvSpPr>
            <p:cNvPr id="50" name="正方形/長方形 49">
              <a:extLst>
                <a:ext uri="{FF2B5EF4-FFF2-40B4-BE49-F238E27FC236}">
                  <a16:creationId xmlns:a16="http://schemas.microsoft.com/office/drawing/2014/main" id="{4ED737D8-0179-EDE9-A930-2CF46D17F20B}"/>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51" name="グループ化 50">
              <a:extLst>
                <a:ext uri="{FF2B5EF4-FFF2-40B4-BE49-F238E27FC236}">
                  <a16:creationId xmlns:a16="http://schemas.microsoft.com/office/drawing/2014/main" id="{CB2BF03D-D2D6-3CD9-BAC4-6C0DC169523C}"/>
                </a:ext>
              </a:extLst>
            </p:cNvPr>
            <p:cNvGrpSpPr/>
            <p:nvPr/>
          </p:nvGrpSpPr>
          <p:grpSpPr>
            <a:xfrm>
              <a:off x="7391962" y="4915692"/>
              <a:ext cx="373173" cy="373173"/>
              <a:chOff x="557955" y="6293952"/>
              <a:chExt cx="373173" cy="373173"/>
            </a:xfrm>
          </p:grpSpPr>
          <p:sp>
            <p:nvSpPr>
              <p:cNvPr id="52" name="楕円 51">
                <a:extLst>
                  <a:ext uri="{FF2B5EF4-FFF2-40B4-BE49-F238E27FC236}">
                    <a16:creationId xmlns:a16="http://schemas.microsoft.com/office/drawing/2014/main" id="{6F018B1F-7032-6330-2F6C-C5400AFD9242}"/>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53" name="グループ化 52">
                <a:extLst>
                  <a:ext uri="{FF2B5EF4-FFF2-40B4-BE49-F238E27FC236}">
                    <a16:creationId xmlns:a16="http://schemas.microsoft.com/office/drawing/2014/main" id="{7F068DAC-E598-190E-42FE-1189D043343B}"/>
                  </a:ext>
                </a:extLst>
              </p:cNvPr>
              <p:cNvGrpSpPr/>
              <p:nvPr/>
            </p:nvGrpSpPr>
            <p:grpSpPr>
              <a:xfrm>
                <a:off x="620003" y="6342163"/>
                <a:ext cx="249077" cy="276751"/>
                <a:chOff x="605367" y="6371166"/>
                <a:chExt cx="210977" cy="234418"/>
              </a:xfrm>
            </p:grpSpPr>
            <p:sp>
              <p:nvSpPr>
                <p:cNvPr id="54" name="フリーフォーム: 図形 53">
                  <a:extLst>
                    <a:ext uri="{FF2B5EF4-FFF2-40B4-BE49-F238E27FC236}">
                      <a16:creationId xmlns:a16="http://schemas.microsoft.com/office/drawing/2014/main" id="{A1DEA6EA-1E7F-7BF7-EC29-074B27A76C5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55" name="フリーフォーム: 図形 54">
                  <a:extLst>
                    <a:ext uri="{FF2B5EF4-FFF2-40B4-BE49-F238E27FC236}">
                      <a16:creationId xmlns:a16="http://schemas.microsoft.com/office/drawing/2014/main" id="{3FF254E6-4C92-A794-24E2-A0D99B5FC347}"/>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1CF77B68-8709-D733-9916-92C57E52E7FC}"/>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57" name="フリーフォーム: 図形 56">
                  <a:extLst>
                    <a:ext uri="{FF2B5EF4-FFF2-40B4-BE49-F238E27FC236}">
                      <a16:creationId xmlns:a16="http://schemas.microsoft.com/office/drawing/2014/main" id="{0747E862-F508-E276-0612-34F85441A35A}"/>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7E1CA8BD-0DEF-68F9-82D5-97A5971778F8}"/>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9" name="フリーフォーム: 図形 58">
                  <a:extLst>
                    <a:ext uri="{FF2B5EF4-FFF2-40B4-BE49-F238E27FC236}">
                      <a16:creationId xmlns:a16="http://schemas.microsoft.com/office/drawing/2014/main" id="{6FDF0A0B-79AC-C1B6-E12A-DE7ECB339827}"/>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60" name="グラフィックス 32">
                  <a:extLst>
                    <a:ext uri="{FF2B5EF4-FFF2-40B4-BE49-F238E27FC236}">
                      <a16:creationId xmlns:a16="http://schemas.microsoft.com/office/drawing/2014/main" id="{46003F03-0706-D56E-131C-6F71ACA679AA}"/>
                    </a:ext>
                  </a:extLst>
                </p:cNvPr>
                <p:cNvGrpSpPr/>
                <p:nvPr/>
              </p:nvGrpSpPr>
              <p:grpSpPr>
                <a:xfrm>
                  <a:off x="639299" y="6399061"/>
                  <a:ext cx="149149" cy="149149"/>
                  <a:chOff x="639299" y="6399061"/>
                  <a:chExt cx="149149" cy="149149"/>
                </a:xfrm>
              </p:grpSpPr>
              <p:sp>
                <p:nvSpPr>
                  <p:cNvPr id="68" name="フリーフォーム: 図形 67">
                    <a:extLst>
                      <a:ext uri="{FF2B5EF4-FFF2-40B4-BE49-F238E27FC236}">
                        <a16:creationId xmlns:a16="http://schemas.microsoft.com/office/drawing/2014/main" id="{FF1B27A2-5C8B-F971-8F1E-D89DE9245932}"/>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9" name="フリーフォーム: 図形 68">
                    <a:extLst>
                      <a:ext uri="{FF2B5EF4-FFF2-40B4-BE49-F238E27FC236}">
                        <a16:creationId xmlns:a16="http://schemas.microsoft.com/office/drawing/2014/main" id="{0A67E87D-C16C-7317-27D3-B65177A9A650}"/>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61" name="フリーフォーム: 図形 60">
                  <a:extLst>
                    <a:ext uri="{FF2B5EF4-FFF2-40B4-BE49-F238E27FC236}">
                      <a16:creationId xmlns:a16="http://schemas.microsoft.com/office/drawing/2014/main" id="{A22E7811-79CC-7D34-A60A-5DABDD728347}"/>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62" name="グラフィックス 32">
                  <a:extLst>
                    <a:ext uri="{FF2B5EF4-FFF2-40B4-BE49-F238E27FC236}">
                      <a16:creationId xmlns:a16="http://schemas.microsoft.com/office/drawing/2014/main" id="{DDB6E077-4DF8-9D28-CE9D-FD0DC38080E3}"/>
                    </a:ext>
                  </a:extLst>
                </p:cNvPr>
                <p:cNvGrpSpPr/>
                <p:nvPr/>
              </p:nvGrpSpPr>
              <p:grpSpPr>
                <a:xfrm>
                  <a:off x="605367" y="6470794"/>
                  <a:ext cx="210977" cy="5860"/>
                  <a:chOff x="605367" y="6470794"/>
                  <a:chExt cx="210977" cy="5860"/>
                </a:xfrm>
              </p:grpSpPr>
              <p:sp>
                <p:nvSpPr>
                  <p:cNvPr id="66" name="フリーフォーム: 図形 65">
                    <a:extLst>
                      <a:ext uri="{FF2B5EF4-FFF2-40B4-BE49-F238E27FC236}">
                        <a16:creationId xmlns:a16="http://schemas.microsoft.com/office/drawing/2014/main" id="{F6E3D96F-EC3C-7492-EAD2-472738E099EA}"/>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67" name="フリーフォーム: 図形 66">
                    <a:extLst>
                      <a:ext uri="{FF2B5EF4-FFF2-40B4-BE49-F238E27FC236}">
                        <a16:creationId xmlns:a16="http://schemas.microsoft.com/office/drawing/2014/main" id="{DCC1D94A-2131-4857-9112-4465F8CBD688}"/>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63" name="グラフィックス 32">
                  <a:extLst>
                    <a:ext uri="{FF2B5EF4-FFF2-40B4-BE49-F238E27FC236}">
                      <a16:creationId xmlns:a16="http://schemas.microsoft.com/office/drawing/2014/main" id="{1795E0F7-A5BB-F562-9C60-3E356D161488}"/>
                    </a:ext>
                  </a:extLst>
                </p:cNvPr>
                <p:cNvGrpSpPr/>
                <p:nvPr/>
              </p:nvGrpSpPr>
              <p:grpSpPr>
                <a:xfrm>
                  <a:off x="633262" y="6399061"/>
                  <a:ext cx="149149" cy="149149"/>
                  <a:chOff x="633262" y="6399061"/>
                  <a:chExt cx="149149" cy="149149"/>
                </a:xfrm>
              </p:grpSpPr>
              <p:sp>
                <p:nvSpPr>
                  <p:cNvPr id="64" name="フリーフォーム: 図形 63">
                    <a:extLst>
                      <a:ext uri="{FF2B5EF4-FFF2-40B4-BE49-F238E27FC236}">
                        <a16:creationId xmlns:a16="http://schemas.microsoft.com/office/drawing/2014/main" id="{DDC39931-DD4A-0A4F-7EF0-1E2166A51BA7}"/>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65" name="フリーフォーム: 図形 64">
                    <a:extLst>
                      <a:ext uri="{FF2B5EF4-FFF2-40B4-BE49-F238E27FC236}">
                        <a16:creationId xmlns:a16="http://schemas.microsoft.com/office/drawing/2014/main" id="{182857EE-5EF9-595C-B8CD-3E47A8977D5F}"/>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4" name="正方形/長方形 3">
            <a:extLst>
              <a:ext uri="{FF2B5EF4-FFF2-40B4-BE49-F238E27FC236}">
                <a16:creationId xmlns:a16="http://schemas.microsoft.com/office/drawing/2014/main" id="{6BC308DD-4581-9B3D-2488-1CF63FDB56F1}"/>
              </a:ext>
            </a:extLst>
          </p:cNvPr>
          <p:cNvSpPr/>
          <p:nvPr/>
        </p:nvSpPr>
        <p:spPr>
          <a:xfrm>
            <a:off x="44926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時価純資産</a:t>
            </a:r>
          </a:p>
        </p:txBody>
      </p:sp>
      <p:sp>
        <p:nvSpPr>
          <p:cNvPr id="11" name="正方形/長方形 10">
            <a:extLst>
              <a:ext uri="{FF2B5EF4-FFF2-40B4-BE49-F238E27FC236}">
                <a16:creationId xmlns:a16="http://schemas.microsoft.com/office/drawing/2014/main" id="{FF906F3B-339D-5C93-EB5C-667F5D10FE00}"/>
              </a:ext>
            </a:extLst>
          </p:cNvPr>
          <p:cNvSpPr/>
          <p:nvPr/>
        </p:nvSpPr>
        <p:spPr>
          <a:xfrm>
            <a:off x="419748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基準営業利益</a:t>
            </a:r>
          </a:p>
        </p:txBody>
      </p:sp>
      <p:sp>
        <p:nvSpPr>
          <p:cNvPr id="18" name="テキスト ボックス 17">
            <a:extLst>
              <a:ext uri="{FF2B5EF4-FFF2-40B4-BE49-F238E27FC236}">
                <a16:creationId xmlns:a16="http://schemas.microsoft.com/office/drawing/2014/main" id="{9FA20A16-6D84-8F71-DF07-E04C0E7459DA}"/>
              </a:ext>
            </a:extLst>
          </p:cNvPr>
          <p:cNvSpPr txBox="1"/>
          <p:nvPr/>
        </p:nvSpPr>
        <p:spPr>
          <a:xfrm>
            <a:off x="341313" y="4241196"/>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443322" y="6497692"/>
            <a:ext cx="3132000" cy="174022"/>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・営業利益は過去3年の平均値を採用</a:t>
            </a: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6959065" y="6497692"/>
            <a:ext cx="3349368" cy="358688"/>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・営業権倍率は国内の中小企業M&amp;Aの実例においてボリュームゾーンである1～3倍を適用</a:t>
            </a:r>
            <a:endParaRPr lang="en-US" altLang="ja-JP" sz="1000" spc="50" dirty="0">
              <a:latin typeface="+mn-ea"/>
            </a:endParaRPr>
          </a:p>
        </p:txBody>
      </p:sp>
      <p:graphicFrame>
        <p:nvGraphicFramePr>
          <p:cNvPr id="6" name="表 5">
            <a:extLst>
              <a:ext uri="{FF2B5EF4-FFF2-40B4-BE49-F238E27FC236}">
                <a16:creationId xmlns:a16="http://schemas.microsoft.com/office/drawing/2014/main" id="{64DBA9DE-28CC-CF8E-E12F-5B18A0BFCAF2}"/>
              </a:ext>
            </a:extLst>
          </p:cNvPr>
          <p:cNvGraphicFramePr>
            <a:graphicFrameLocks noGrp="1"/>
          </p:cNvGraphicFramePr>
          <p:nvPr>
            <p:extLst>
              <p:ext uri="{D42A27DB-BD31-4B8C-83A1-F6EECF244321}">
                <p14:modId xmlns:p14="http://schemas.microsoft.com/office/powerpoint/2010/main" val="1577778887"/>
              </p:ext>
            </p:extLst>
          </p:nvPr>
        </p:nvGraphicFramePr>
        <p:xfrm>
          <a:off x="449264" y="1121542"/>
          <a:ext cx="2844800" cy="1523799"/>
        </p:xfrm>
        <a:graphic>
          <a:graphicData uri="http://schemas.openxmlformats.org/drawingml/2006/table">
            <a:tbl>
              <a:tblPr/>
              <a:tblGrid>
                <a:gridCol w="1422400">
                  <a:extLst>
                    <a:ext uri="{9D8B030D-6E8A-4147-A177-3AD203B41FA5}">
                      <a16:colId xmlns:a16="http://schemas.microsoft.com/office/drawing/2014/main" val="3742969139"/>
                    </a:ext>
                  </a:extLst>
                </a:gridCol>
                <a:gridCol w="1422400">
                  <a:extLst>
                    <a:ext uri="{9D8B030D-6E8A-4147-A177-3AD203B41FA5}">
                      <a16:colId xmlns:a16="http://schemas.microsoft.com/office/drawing/2014/main" val="176106280"/>
                    </a:ext>
                  </a:extLst>
                </a:gridCol>
              </a:tblGrid>
              <a:tr h="211639">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4127255786"/>
                  </a:ext>
                </a:extLst>
              </a:tr>
              <a:tr h="245501">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令和7年12月期</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284412510"/>
                  </a:ext>
                </a:extLst>
              </a:tr>
              <a:tr h="355553">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簿価純資産額</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72,451</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179471566"/>
                  </a:ext>
                </a:extLst>
              </a:tr>
              <a:tr h="355553">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524</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179471566"/>
                  </a:ext>
                </a:extLst>
              </a:tr>
              <a:tr h="355553">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税効果</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△178</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179471566"/>
                  </a:ext>
                </a:extLst>
              </a:tr>
              <a:tr h="355553">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時価純資産</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72,797</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956632944"/>
                  </a:ext>
                </a:extLst>
              </a:tr>
            </a:tbl>
          </a:graphicData>
        </a:graphic>
      </p:graphicFrame>
      <p:graphicFrame>
        <p:nvGraphicFramePr>
          <p:cNvPr id="24" name="表 23">
            <a:extLst>
              <a:ext uri="{FF2B5EF4-FFF2-40B4-BE49-F238E27FC236}">
                <a16:creationId xmlns:a16="http://schemas.microsoft.com/office/drawing/2014/main" id="{E43259E8-718C-860F-31F7-CC233A1DA95C}"/>
              </a:ext>
            </a:extLst>
          </p:cNvPr>
          <p:cNvGraphicFramePr>
            <a:graphicFrameLocks noGrp="1"/>
          </p:cNvGraphicFramePr>
          <p:nvPr>
            <p:extLst>
              <p:ext uri="{D42A27DB-BD31-4B8C-83A1-F6EECF244321}">
                <p14:modId xmlns:p14="http://schemas.microsoft.com/office/powerpoint/2010/main" val="1405680720"/>
              </p:ext>
            </p:extLst>
          </p:nvPr>
        </p:nvGraphicFramePr>
        <p:xfrm>
          <a:off x="4197486" y="1087835"/>
          <a:ext cx="6146800" cy="3105150"/>
        </p:xfrm>
        <a:graphic>
          <a:graphicData uri="http://schemas.openxmlformats.org/drawingml/2006/table">
            <a:tbl>
              <a:tblPr/>
              <a:tblGrid>
                <a:gridCol w="1879600">
                  <a:extLst>
                    <a:ext uri="{9D8B030D-6E8A-4147-A177-3AD203B41FA5}">
                      <a16:colId xmlns:a16="http://schemas.microsoft.com/office/drawing/2014/main" val="3127448279"/>
                    </a:ext>
                  </a:extLst>
                </a:gridCol>
                <a:gridCol w="1422400">
                  <a:extLst>
                    <a:ext uri="{9D8B030D-6E8A-4147-A177-3AD203B41FA5}">
                      <a16:colId xmlns:a16="http://schemas.microsoft.com/office/drawing/2014/main" val="2349916149"/>
                    </a:ext>
                  </a:extLst>
                </a:gridCol>
                <a:gridCol w="1422400">
                  <a:extLst>
                    <a:ext uri="{9D8B030D-6E8A-4147-A177-3AD203B41FA5}">
                      <a16:colId xmlns:a16="http://schemas.microsoft.com/office/drawing/2014/main" val="3628197926"/>
                    </a:ext>
                  </a:extLst>
                </a:gridCol>
                <a:gridCol w="1422400">
                  <a:extLst>
                    <a:ext uri="{9D8B030D-6E8A-4147-A177-3AD203B41FA5}">
                      <a16:colId xmlns:a16="http://schemas.microsoft.com/office/drawing/2014/main" val="2374497830"/>
                    </a:ext>
                  </a:extLst>
                </a:gridCol>
              </a:tblGrid>
              <a:tr h="238125">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3500248896"/>
                  </a:ext>
                </a:extLst>
              </a:tr>
              <a:tr h="27622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2023年12月期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2024年12月期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2025年12月期</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546243291"/>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簿価営業利益</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20,886</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10,774</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12,924</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31175826"/>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827</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498</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524</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76092922"/>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修正後営業利益</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21,713</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11,272</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13,448</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853762939"/>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税考慮額</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△7,382</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△3,833</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△4,572</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35575733"/>
                  </a:ext>
                </a:extLst>
              </a:tr>
              <a:tr h="400050">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修正後税考慮後営業利益</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14,330</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7,440</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8,876</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3400901120"/>
                  </a:ext>
                </a:extLst>
              </a:tr>
              <a:tr h="190500">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2700" cap="flat" cmpd="sng" algn="ctr">
                      <a:solidFill>
                        <a:srgbClr val="0B3041"/>
                      </a:solidFill>
                      <a:prstDash val="solid"/>
                      <a:round/>
                      <a:headEnd type="none" w="med" len="med"/>
                      <a:tailEnd type="none" w="med" len="med"/>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507750895"/>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基準営業利益</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10,215</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668525024"/>
                  </a:ext>
                </a:extLst>
              </a:tr>
            </a:tbl>
          </a:graphicData>
        </a:graphic>
      </p:graphicFrame>
      <p:graphicFrame>
        <p:nvGraphicFramePr>
          <p:cNvPr id="26" name="表 25">
            <a:extLst>
              <a:ext uri="{FF2B5EF4-FFF2-40B4-BE49-F238E27FC236}">
                <a16:creationId xmlns:a16="http://schemas.microsoft.com/office/drawing/2014/main" id="{2EE21B01-4926-DC5E-758F-F961391A23E2}"/>
              </a:ext>
            </a:extLst>
          </p:cNvPr>
          <p:cNvGraphicFramePr>
            <a:graphicFrameLocks noGrp="1"/>
          </p:cNvGraphicFramePr>
          <p:nvPr>
            <p:extLst>
              <p:ext uri="{D42A27DB-BD31-4B8C-83A1-F6EECF244321}">
                <p14:modId xmlns:p14="http://schemas.microsoft.com/office/powerpoint/2010/main" val="1101388042"/>
              </p:ext>
            </p:extLst>
          </p:nvPr>
        </p:nvGraphicFramePr>
        <p:xfrm>
          <a:off x="449264" y="4528897"/>
          <a:ext cx="6197600" cy="1714500"/>
        </p:xfrm>
        <a:graphic>
          <a:graphicData uri="http://schemas.openxmlformats.org/drawingml/2006/table">
            <a:tbl>
              <a:tblPr/>
              <a:tblGrid>
                <a:gridCol w="1549400">
                  <a:extLst>
                    <a:ext uri="{9D8B030D-6E8A-4147-A177-3AD203B41FA5}">
                      <a16:colId xmlns:a16="http://schemas.microsoft.com/office/drawing/2014/main" val="1934853515"/>
                    </a:ext>
                  </a:extLst>
                </a:gridCol>
                <a:gridCol w="1549400">
                  <a:extLst>
                    <a:ext uri="{9D8B030D-6E8A-4147-A177-3AD203B41FA5}">
                      <a16:colId xmlns:a16="http://schemas.microsoft.com/office/drawing/2014/main" val="2671121112"/>
                    </a:ext>
                  </a:extLst>
                </a:gridCol>
                <a:gridCol w="1549400">
                  <a:extLst>
                    <a:ext uri="{9D8B030D-6E8A-4147-A177-3AD203B41FA5}">
                      <a16:colId xmlns:a16="http://schemas.microsoft.com/office/drawing/2014/main" val="4062886007"/>
                    </a:ext>
                  </a:extLst>
                </a:gridCol>
                <a:gridCol w="1549400">
                  <a:extLst>
                    <a:ext uri="{9D8B030D-6E8A-4147-A177-3AD203B41FA5}">
                      <a16:colId xmlns:a16="http://schemas.microsoft.com/office/drawing/2014/main" val="2369823747"/>
                    </a:ext>
                  </a:extLst>
                </a:gridCol>
              </a:tblGrid>
              <a:tr h="238125">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931294601"/>
                  </a:ext>
                </a:extLst>
              </a:tr>
              <a:tr h="27622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営業権倍率</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x3</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697186592"/>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時価純資産</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gridSpan="3">
                  <a:txBody>
                    <a:bodyPr/>
                    <a:lstStyle/>
                    <a:p>
                      <a:pPr algn="ct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72,797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hMerge="1">
                  <a:txBody>
                    <a:bodyPr/>
                    <a:lstStyle/>
                    <a:p>
                      <a:r>
                        <a:rPr kumimoji="1" lang="ja-JP" altLang="en-US"/>
                        <a:t>　</a:t>
                      </a:r>
                      <a:endParaRPr kumimoji="1" lang="ja-JP" altLang="en-US"/>
                    </a:p>
                  </a:txBody>
                  <a:tcPr/>
                </a:tc>
                <a:tc hMerge="1">
                  <a:txBody>
                    <a:bodyPr/>
                    <a:lstStyle/>
                    <a:p>
                      <a:r>
                        <a:rPr kumimoji="1" lang="ja-JP" altLang="en-US"/>
                        <a:t>　</a:t>
                      </a:r>
                      <a:endParaRPr kumimoji="1" lang="ja-JP" altLang="en-US"/>
                    </a:p>
                  </a:txBody>
                  <a:tcPr/>
                </a:tc>
                <a:extLst>
                  <a:ext uri="{0D108BD9-81ED-4DB2-BD59-A6C34878D82A}">
                    <a16:rowId xmlns:a16="http://schemas.microsoft.com/office/drawing/2014/main" val="4083514909"/>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10,215</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20,431</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30,646</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186401703"/>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想定株式価値</a:t>
                      </a:r>
                    </a:p>
                  </a:txBody>
                  <a:tcPr marL="11430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83,012</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93,227</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103,443</a:t>
                      </a:r>
                    </a:p>
                  </a:txBody>
                  <a:tcPr marL="0" marR="11430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2191833478"/>
                  </a:ext>
                </a:extLst>
              </a:tr>
            </a:tbl>
          </a:graphicData>
        </a:graphic>
      </p:graphicFrame>
    </p:spTree>
    <p:extLst>
      <p:ext uri="{BB962C8B-B14F-4D97-AF65-F5344CB8AC3E}">
        <p14:creationId xmlns:p14="http://schemas.microsoft.com/office/powerpoint/2010/main" val="3814231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lang="en-US" altLang="ja-JP" dirty="0"/>
              <a:t>EV/EBITDA</a:t>
            </a:r>
            <a:r>
              <a:rPr lang="ja-JP" altLang="en-US" dirty="0"/>
              <a:t>マルチプル法</a:t>
            </a:r>
            <a:r>
              <a:rPr lang="ja-JP" altLang="en-US" sz="1400" dirty="0"/>
              <a:t>（マーケットアプローチ）</a:t>
            </a:r>
            <a:r>
              <a:rPr lang="ja-JP" altLang="en-US" dirty="0"/>
              <a:t>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4" name="正方形/長方形 3">
            <a:extLst>
              <a:ext uri="{FF2B5EF4-FFF2-40B4-BE49-F238E27FC236}">
                <a16:creationId xmlns:a16="http://schemas.microsoft.com/office/drawing/2014/main" id="{33074C14-EE57-454D-DEE5-B4FA1B4A9B58}"/>
              </a:ext>
            </a:extLst>
          </p:cNvPr>
          <p:cNvSpPr/>
          <p:nvPr/>
        </p:nvSpPr>
        <p:spPr>
          <a:xfrm>
            <a:off x="3913982"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en-US" altLang="ja-JP" sz="1600" b="1" spc="50" dirty="0">
                <a:solidFill>
                  <a:schemeClr val="tx1"/>
                </a:solidFill>
                <a:latin typeface="+mj-ea"/>
                <a:ea typeface="+mj-ea"/>
              </a:rPr>
              <a:t>EV</a:t>
            </a:r>
            <a:r>
              <a:rPr lang="ja-JP" altLang="en-US" sz="1600" b="1" spc="50" dirty="0">
                <a:solidFill>
                  <a:schemeClr val="tx1"/>
                </a:solidFill>
                <a:latin typeface="+mj-ea"/>
                <a:ea typeface="+mj-ea"/>
              </a:rPr>
              <a:t>（</a:t>
            </a:r>
            <a:r>
              <a:rPr lang="en-US" altLang="ja-JP" sz="1600" b="1" spc="50" dirty="0">
                <a:solidFill>
                  <a:schemeClr val="tx1"/>
                </a:solidFill>
                <a:latin typeface="+mj-ea"/>
                <a:ea typeface="+mj-ea"/>
              </a:rPr>
              <a:t>EBITDA×</a:t>
            </a:r>
            <a:r>
              <a:rPr lang="ja-JP" altLang="en-US" sz="1600" b="1" spc="50" dirty="0">
                <a:solidFill>
                  <a:schemeClr val="tx1"/>
                </a:solidFill>
                <a:latin typeface="+mj-ea"/>
                <a:ea typeface="+mj-ea"/>
              </a:rPr>
              <a:t>倍率）</a:t>
            </a:r>
          </a:p>
        </p:txBody>
      </p:sp>
      <p:sp>
        <p:nvSpPr>
          <p:cNvPr id="11" name="正方形/長方形 10">
            <a:extLst>
              <a:ext uri="{FF2B5EF4-FFF2-40B4-BE49-F238E27FC236}">
                <a16:creationId xmlns:a16="http://schemas.microsoft.com/office/drawing/2014/main" id="{14370311-C1C8-F01A-03FB-4CB76D5E625E}"/>
              </a:ext>
            </a:extLst>
          </p:cNvPr>
          <p:cNvSpPr/>
          <p:nvPr/>
        </p:nvSpPr>
        <p:spPr>
          <a:xfrm>
            <a:off x="444636"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ネットキャッシュ</a:t>
            </a:r>
          </a:p>
        </p:txBody>
      </p:sp>
      <p:sp>
        <p:nvSpPr>
          <p:cNvPr id="18" name="テキスト ボックス 17">
            <a:extLst>
              <a:ext uri="{FF2B5EF4-FFF2-40B4-BE49-F238E27FC236}">
                <a16:creationId xmlns:a16="http://schemas.microsoft.com/office/drawing/2014/main" id="{179AA9CD-95B4-9925-7A4F-9D862B690B84}"/>
              </a:ext>
            </a:extLst>
          </p:cNvPr>
          <p:cNvSpPr txBox="1"/>
          <p:nvPr/>
        </p:nvSpPr>
        <p:spPr>
          <a:xfrm>
            <a:off x="341313" y="3892348"/>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endParaRPr lang="en-US" altLang="ja-JP" sz="1800" b="1" spc="50" dirty="0">
              <a:solidFill>
                <a:schemeClr val="tx1"/>
              </a:solidFill>
              <a:latin typeface="+mj-ea"/>
              <a:ea typeface="+mj-ea"/>
            </a:endParaRP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8056" y="6355080"/>
            <a:ext cx="9793224" cy="73152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7632" y="6633829"/>
            <a:ext cx="2971800" cy="174022"/>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・EBITDAは直近3年の平均値を採用（減価償却費に長期前払費用償却を含む）</a:t>
            </a:r>
            <a:endParaRPr lang="en-US" altLang="ja-JP" sz="1000" spc="50" dirty="0">
              <a:latin typeface="+mn-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617720" y="6446520"/>
            <a:ext cx="2834640" cy="912686"/>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・マルチプル倍率は類似上場会社の株価倍率及び国内中小企業M&amp;Aの実績水準を踏まえ3～5倍を仮適用</a:t>
            </a:r>
            <a:br>
              <a:rPr lang="en-US" altLang="ja-JP" sz="1000" spc="50" dirty="0">
                <a:latin typeface="+mn-ea"/>
              </a:rPr>
            </a:br>
            <a:br>
              <a:rPr lang="en-US" altLang="ja-JP" sz="1000" spc="50" dirty="0">
                <a:latin typeface="+mn-ea"/>
              </a:rPr>
            </a:b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7498079" y="6446520"/>
            <a:ext cx="2834640" cy="548640"/>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・上場会社の株価倍率には市場性が織込まれているため、非流動性ディスカウント</a:t>
            </a:r>
            <a:r>
              <a:rPr lang="en-US" altLang="ja-JP" sz="1000" spc="50" dirty="0">
                <a:latin typeface="+mn-ea"/>
              </a:rPr>
              <a:t>1</a:t>
            </a:r>
            <a:r>
              <a:rPr lang="ja-JP" altLang="en-US" sz="1000" spc="50" dirty="0">
                <a:latin typeface="+mn-ea"/>
              </a:rPr>
              <a:t>0%とし、仮控除</a:t>
            </a:r>
            <a:endParaRPr lang="en-US" altLang="ja-JP" sz="1000" spc="50" dirty="0">
              <a:latin typeface="+mn-ea"/>
            </a:endParaRPr>
          </a:p>
        </p:txBody>
      </p:sp>
      <p:graphicFrame>
        <p:nvGraphicFramePr>
          <p:cNvPr id="5" name="表 4">
            <a:extLst>
              <a:ext uri="{FF2B5EF4-FFF2-40B4-BE49-F238E27FC236}">
                <a16:creationId xmlns:a16="http://schemas.microsoft.com/office/drawing/2014/main" id="{125B7863-9559-070F-5B67-0D01629AA50D}"/>
              </a:ext>
            </a:extLst>
          </p:cNvPr>
          <p:cNvGraphicFramePr>
            <a:graphicFrameLocks noGrp="1"/>
          </p:cNvGraphicFramePr>
          <p:nvPr>
            <p:extLst>
              <p:ext uri="{D42A27DB-BD31-4B8C-83A1-F6EECF244321}">
                <p14:modId xmlns:p14="http://schemas.microsoft.com/office/powerpoint/2010/main" val="1648416887"/>
              </p:ext>
            </p:extLst>
          </p:nvPr>
        </p:nvGraphicFramePr>
        <p:xfrm>
          <a:off x="444636" y="1326516"/>
          <a:ext cx="2997200" cy="1714500"/>
        </p:xfrm>
        <a:graphic>
          <a:graphicData uri="http://schemas.openxmlformats.org/drawingml/2006/table">
            <a:tbl>
              <a:tblPr/>
              <a:tblGrid>
                <a:gridCol w="1574800">
                  <a:extLst>
                    <a:ext uri="{9D8B030D-6E8A-4147-A177-3AD203B41FA5}">
                      <a16:colId xmlns:a16="http://schemas.microsoft.com/office/drawing/2014/main" val="3042450074"/>
                    </a:ext>
                  </a:extLst>
                </a:gridCol>
                <a:gridCol w="1422400">
                  <a:extLst>
                    <a:ext uri="{9D8B030D-6E8A-4147-A177-3AD203B41FA5}">
                      <a16:colId xmlns:a16="http://schemas.microsoft.com/office/drawing/2014/main" val="1146625195"/>
                    </a:ext>
                  </a:extLst>
                </a:gridCol>
              </a:tblGrid>
              <a:tr h="238125">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035661812"/>
                  </a:ext>
                </a:extLst>
              </a:tr>
              <a:tr h="27622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令和7年12月期</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478118311"/>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キャッシュライク</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61,842</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403053957"/>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デットライク</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55,200</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114466276"/>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6,642</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647662151"/>
                  </a:ext>
                </a:extLst>
              </a:tr>
            </a:tbl>
          </a:graphicData>
        </a:graphic>
      </p:graphicFrame>
      <p:graphicFrame>
        <p:nvGraphicFramePr>
          <p:cNvPr id="9" name="表 8">
            <a:extLst>
              <a:ext uri="{FF2B5EF4-FFF2-40B4-BE49-F238E27FC236}">
                <a16:creationId xmlns:a16="http://schemas.microsoft.com/office/drawing/2014/main" id="{69BEF48B-976C-5835-E536-F4B22849F6B7}"/>
              </a:ext>
            </a:extLst>
          </p:cNvPr>
          <p:cNvGraphicFramePr>
            <a:graphicFrameLocks noGrp="1"/>
          </p:cNvGraphicFramePr>
          <p:nvPr>
            <p:extLst>
              <p:ext uri="{D42A27DB-BD31-4B8C-83A1-F6EECF244321}">
                <p14:modId xmlns:p14="http://schemas.microsoft.com/office/powerpoint/2010/main" val="2724467227"/>
              </p:ext>
            </p:extLst>
          </p:nvPr>
        </p:nvGraphicFramePr>
        <p:xfrm>
          <a:off x="3913982" y="1316904"/>
          <a:ext cx="6146800" cy="3105150"/>
        </p:xfrm>
        <a:graphic>
          <a:graphicData uri="http://schemas.openxmlformats.org/drawingml/2006/table">
            <a:tbl>
              <a:tblPr/>
              <a:tblGrid>
                <a:gridCol w="1879600">
                  <a:extLst>
                    <a:ext uri="{9D8B030D-6E8A-4147-A177-3AD203B41FA5}">
                      <a16:colId xmlns:a16="http://schemas.microsoft.com/office/drawing/2014/main" val="419309602"/>
                    </a:ext>
                  </a:extLst>
                </a:gridCol>
                <a:gridCol w="1422400">
                  <a:extLst>
                    <a:ext uri="{9D8B030D-6E8A-4147-A177-3AD203B41FA5}">
                      <a16:colId xmlns:a16="http://schemas.microsoft.com/office/drawing/2014/main" val="4082431732"/>
                    </a:ext>
                  </a:extLst>
                </a:gridCol>
                <a:gridCol w="1422400">
                  <a:extLst>
                    <a:ext uri="{9D8B030D-6E8A-4147-A177-3AD203B41FA5}">
                      <a16:colId xmlns:a16="http://schemas.microsoft.com/office/drawing/2014/main" val="1128614883"/>
                    </a:ext>
                  </a:extLst>
                </a:gridCol>
                <a:gridCol w="1422400">
                  <a:extLst>
                    <a:ext uri="{9D8B030D-6E8A-4147-A177-3AD203B41FA5}">
                      <a16:colId xmlns:a16="http://schemas.microsoft.com/office/drawing/2014/main" val="1428750272"/>
                    </a:ext>
                  </a:extLst>
                </a:gridCol>
              </a:tblGrid>
              <a:tr h="238125">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391367187"/>
                  </a:ext>
                </a:extLst>
              </a:tr>
              <a:tr h="27622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2023年12月期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2024年12月期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2025年12月期</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938188898"/>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簿価営業利益</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20,886</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10,774</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12,924</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31586696"/>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827</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498</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524</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50257767"/>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修正後営業利益</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21,713</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11,272</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13,448</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132710026"/>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減価償却費等</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5,648</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6,321</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5,103</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245799627"/>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修正後EBITDA</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27,361</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17,593</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18,551</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3874221549"/>
                  </a:ext>
                </a:extLst>
              </a:tr>
              <a:tr h="190500">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2700" cap="flat" cmpd="sng" algn="ctr">
                      <a:solidFill>
                        <a:srgbClr val="0B3041"/>
                      </a:solidFill>
                      <a:prstDash val="solid"/>
                      <a:round/>
                      <a:headEnd type="none" w="med" len="med"/>
                      <a:tailEnd type="none" w="med" len="med"/>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518008555"/>
                  </a:ext>
                </a:extLst>
              </a:tr>
              <a:tr h="400050">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　</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t>
                      </a: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基準EBITDA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21,168</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608372763"/>
                  </a:ext>
                </a:extLst>
              </a:tr>
            </a:tbl>
          </a:graphicData>
        </a:graphic>
      </p:graphicFrame>
      <p:graphicFrame>
        <p:nvGraphicFramePr>
          <p:cNvPr id="13" name="表 12">
            <a:extLst>
              <a:ext uri="{FF2B5EF4-FFF2-40B4-BE49-F238E27FC236}">
                <a16:creationId xmlns:a16="http://schemas.microsoft.com/office/drawing/2014/main" id="{9E659233-E241-DE83-8EF3-73F6009C4F24}"/>
              </a:ext>
            </a:extLst>
          </p:cNvPr>
          <p:cNvGraphicFramePr>
            <a:graphicFrameLocks noGrp="1"/>
          </p:cNvGraphicFramePr>
          <p:nvPr>
            <p:extLst>
              <p:ext uri="{D42A27DB-BD31-4B8C-83A1-F6EECF244321}">
                <p14:modId xmlns:p14="http://schemas.microsoft.com/office/powerpoint/2010/main" val="1656950985"/>
              </p:ext>
            </p:extLst>
          </p:nvPr>
        </p:nvGraphicFramePr>
        <p:xfrm>
          <a:off x="451249" y="4128221"/>
          <a:ext cx="6629400" cy="2114550"/>
        </p:xfrm>
        <a:graphic>
          <a:graphicData uri="http://schemas.openxmlformats.org/drawingml/2006/table">
            <a:tbl>
              <a:tblPr/>
              <a:tblGrid>
                <a:gridCol w="1981200">
                  <a:extLst>
                    <a:ext uri="{9D8B030D-6E8A-4147-A177-3AD203B41FA5}">
                      <a16:colId xmlns:a16="http://schemas.microsoft.com/office/drawing/2014/main" val="689368407"/>
                    </a:ext>
                  </a:extLst>
                </a:gridCol>
                <a:gridCol w="1549400">
                  <a:extLst>
                    <a:ext uri="{9D8B030D-6E8A-4147-A177-3AD203B41FA5}">
                      <a16:colId xmlns:a16="http://schemas.microsoft.com/office/drawing/2014/main" val="2188407217"/>
                    </a:ext>
                  </a:extLst>
                </a:gridCol>
                <a:gridCol w="1549400">
                  <a:extLst>
                    <a:ext uri="{9D8B030D-6E8A-4147-A177-3AD203B41FA5}">
                      <a16:colId xmlns:a16="http://schemas.microsoft.com/office/drawing/2014/main" val="2769913132"/>
                    </a:ext>
                  </a:extLst>
                </a:gridCol>
                <a:gridCol w="1549400">
                  <a:extLst>
                    <a:ext uri="{9D8B030D-6E8A-4147-A177-3AD203B41FA5}">
                      <a16:colId xmlns:a16="http://schemas.microsoft.com/office/drawing/2014/main" val="411640126"/>
                    </a:ext>
                  </a:extLst>
                </a:gridCol>
              </a:tblGrid>
              <a:tr h="238125">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3573108855"/>
                  </a:ext>
                </a:extLst>
              </a:tr>
              <a:tr h="27622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マルチプル倍率</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x5</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798114636"/>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EV（EBITDA×倍率）</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63,505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84,674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105,842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3451337"/>
                  </a:ext>
                </a:extLst>
              </a:tr>
              <a:tr h="400050">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非流動性ディスカウント</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△6,351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△8,467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△10,584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77321392"/>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3E7E9"/>
                    </a:solidFill>
                  </a:tcPr>
                </a:tc>
                <a:tc gridSpan="3">
                  <a:txBody>
                    <a:bodyPr/>
                    <a:lstStyle/>
                    <a:p>
                      <a:pPr algn="ct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6,642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hMerge="1">
                  <a:txBody>
                    <a:bodyPr/>
                    <a:lstStyle/>
                    <a:p>
                      <a:r>
                        <a:rPr kumimoji="1" lang="ja-JP" altLang="en-US"/>
                        <a:t>　</a:t>
                      </a:r>
                      <a:endParaRPr kumimoji="1" lang="ja-JP" altLang="en-US"/>
                    </a:p>
                  </a:txBody>
                  <a:tcPr/>
                </a:tc>
                <a:tc hMerge="1">
                  <a:txBody>
                    <a:bodyPr/>
                    <a:lstStyle/>
                    <a:p>
                      <a:r>
                        <a:rPr kumimoji="1" lang="ja-JP" altLang="en-US"/>
                        <a:t>　</a:t>
                      </a:r>
                      <a:endParaRPr kumimoji="1" lang="ja-JP" altLang="en-US"/>
                    </a:p>
                  </a:txBody>
                  <a:tcPr/>
                </a:tc>
                <a:extLst>
                  <a:ext uri="{0D108BD9-81ED-4DB2-BD59-A6C34878D82A}">
                    <a16:rowId xmlns:a16="http://schemas.microsoft.com/office/drawing/2014/main" val="2508189832"/>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想定株式価値</a:t>
                      </a:r>
                    </a:p>
                  </a:txBody>
                  <a:tcPr marL="11430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63,797</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82,849</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101,900</a:t>
                      </a:r>
                    </a:p>
                  </a:txBody>
                  <a:tcPr marL="0" marR="11430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2223134955"/>
                  </a:ext>
                </a:extLst>
              </a:tr>
            </a:tbl>
          </a:graphicData>
        </a:graphic>
      </p:graphicFrame>
    </p:spTree>
    <p:extLst>
      <p:ext uri="{BB962C8B-B14F-4D97-AF65-F5344CB8AC3E}">
        <p14:creationId xmlns:p14="http://schemas.microsoft.com/office/powerpoint/2010/main" val="966812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7248</TotalTime>
  <Words>4644</Words>
  <Application>Microsoft Office PowerPoint</Application>
  <PresentationFormat>ユーザー設定</PresentationFormat>
  <Paragraphs>1784</Paragraphs>
  <Slides>22</Slides>
  <Notes>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22</vt:i4>
      </vt:variant>
    </vt:vector>
  </HeadingPairs>
  <TitlesOfParts>
    <vt:vector size="28" baseType="lpstr">
      <vt:lpstr>Meiryo UI</vt:lpstr>
      <vt:lpstr>游ゴシック</vt:lpstr>
      <vt:lpstr>游ゴシック Medium</vt:lpstr>
      <vt:lpstr>Arial</vt:lpstr>
      <vt:lpstr>Wingdings</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株式価値の試算結果</vt:lpstr>
      <vt:lpstr>Financial Analysis ／ 財務情報の分析（B/S）</vt:lpstr>
      <vt:lpstr>過去BSの推移</vt:lpstr>
      <vt:lpstr>BS補足［資産］</vt:lpstr>
      <vt:lpstr>修正BS［資産］</vt:lpstr>
      <vt:lpstr>BS補足［負債・純資産］</vt:lpstr>
      <vt:lpstr>修正BS［負債・純資産］</vt:lpstr>
      <vt:lpstr>ネットキャッシュの算定</vt:lpstr>
      <vt:lpstr>Financial Analysis ／ 財務情報の分析（P/L）</vt:lpstr>
      <vt:lpstr>過去PLの推移</vt:lpstr>
      <vt:lpstr>販管費及び一般管理費の修正</vt:lpstr>
      <vt:lpstr>修正PLの算定［正常収益力の集計］</vt:lpstr>
      <vt:lpstr>Valuation Details ／ 株式価値の試算</vt:lpstr>
      <vt:lpstr>年買法（コストアプローチ）による算出</vt:lpstr>
      <vt:lpstr>EV/EBITDAマルチプル法（マーケットアプローチ）による算出</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田垣内 啓介</cp:lastModifiedBy>
  <cp:revision>127</cp:revision>
  <cp:lastPrinted>2026-07-29T02:36:09Z</cp:lastPrinted>
  <dcterms:created xsi:type="dcterms:W3CDTF">2025-11-26T06:32:54Z</dcterms:created>
  <dcterms:modified xsi:type="dcterms:W3CDTF">2026-07-29T02:39:33Z</dcterms:modified>
</cp:coreProperties>
</file>