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6" r:id="rId1"/>
  </p:sldMasterIdLst>
  <p:notesMasterIdLst>
    <p:notesMasterId r:id="rId24"/>
  </p:notesMasterIdLst>
  <p:sldIdLst>
    <p:sldId id="256" r:id="rId2"/>
    <p:sldId id="257" r:id="rId3"/>
    <p:sldId id="290" r:id="rId4"/>
    <p:sldId id="314" r:id="rId5"/>
    <p:sldId id="259" r:id="rId6"/>
    <p:sldId id="295" r:id="rId7"/>
    <p:sldId id="315" r:id="rId8"/>
    <p:sldId id="262" r:id="rId9"/>
    <p:sldId id="263" r:id="rId10"/>
    <p:sldId id="264" r:id="rId11"/>
    <p:sldId id="317" r:id="rId12"/>
    <p:sldId id="318" r:id="rId13"/>
    <p:sldId id="319" r:id="rId14"/>
    <p:sldId id="309" r:id="rId15"/>
    <p:sldId id="310" r:id="rId16"/>
    <p:sldId id="282" r:id="rId17"/>
    <p:sldId id="283" r:id="rId18"/>
    <p:sldId id="299" r:id="rId19"/>
    <p:sldId id="287" r:id="rId20"/>
    <p:sldId id="320" r:id="rId21"/>
    <p:sldId id="312" r:id="rId22"/>
    <p:sldId id="277" r:id="rId23"/>
  </p:sldIdLst>
  <p:sldSz cx="10691813" cy="7559675"/>
  <p:notesSz cx="6794500" cy="9931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35" userDrawn="1">
          <p15:clr>
            <a:srgbClr val="A4A3A4"/>
          </p15:clr>
        </p15:guide>
        <p15:guide id="2" pos="3367">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150" autoAdjust="0"/>
    <p:restoredTop sz="75000" autoAdjust="0"/>
  </p:normalViewPr>
  <p:slideViewPr>
    <p:cSldViewPr snapToGrid="0">
      <p:cViewPr varScale="1">
        <p:scale>
          <a:sx n="64" d="100"/>
          <a:sy n="64" d="100"/>
        </p:scale>
        <p:origin x="1244" y="52"/>
      </p:cViewPr>
      <p:guideLst>
        <p:guide orient="horz" pos="635"/>
        <p:guide pos="3367"/>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0"/>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spPr>
            <a:noFill/>
            <a:ln w="0">
              <a:noFill/>
            </a:ln>
          </c:spPr>
          <c:invertIfNegative val="0"/>
          <c:dLbls>
            <c:spPr>
              <a:noFill/>
              <a:ln>
                <a:noFill/>
              </a:ln>
              <a:effectLst/>
            </c:spPr>
            <c:txPr>
              <a:bodyPr wrap="square"/>
              <a:lstStyle/>
              <a:p>
                <a:pPr>
                  <a:defRPr sz="1000" b="0" strike="noStrike" spc="-1">
                    <a:solidFill>
                      <a:srgbClr val="000000"/>
                    </a:solidFill>
                    <a:latin typeface="Arial"/>
                    <a:ea typeface="游ゴシック Medium"/>
                  </a:defRPr>
                </a:pPr>
                <a:endParaRPr lang="ja-JP"/>
              </a:p>
            </c:txPr>
            <c:dLblPos val="ct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ext>
            </c:extLst>
          </c:dLbls>
          <c:cat>
            <c:strRef>
              <c:f>'株式価値 '!$B$4:$B$6</c:f>
              <c:strCache>
                <c:ptCount val="3"/>
                <c:pt idx="0">
                  <c:v>インカム</c:v>
                </c:pt>
                <c:pt idx="1">
                  <c:v>マーケット</c:v>
                </c:pt>
                <c:pt idx="2">
                  <c:v>コスト</c:v>
                </c:pt>
              </c:strCache>
            </c:strRef>
          </c:cat>
          <c:val>
            <c:numRef>
              <c:f>'株式価値 '!$C$4:$C$6</c:f>
              <c:numCache>
                <c:formatCode>#,##0,</c:formatCode>
                <c:ptCount val="3"/>
                <c:pt idx="0">
                  <c:v>0.0</c:v>
                </c:pt>
                <c:pt idx="1">
                  <c:v>63797000.0</c:v>
                </c:pt>
                <c:pt idx="2">
                  <c:v>82362000.0</c:v>
                </c:pt>
              </c:numCache>
            </c:numRef>
          </c:val>
          <c:extLst>
            <c:ext xmlns:c16="http://schemas.microsoft.com/office/drawing/2014/chart" uri="{C3380CC4-5D6E-409C-BE32-E72D297353CC}">
              <c16:uniqueId val="{00000000-2B92-40CA-8669-90E01AE844BB}"/>
            </c:ext>
          </c:extLst>
        </c:ser>
        <c:ser>
          <c:idx val="1"/>
          <c:order val="1"/>
          <c:spPr>
            <a:solidFill>
              <a:srgbClr val="0889C9"/>
            </a:solidFill>
            <a:ln w="0">
              <a:noFill/>
            </a:ln>
          </c:spPr>
          <c:invertIfNegative val="0"/>
          <c:dLbls>
            <c:spPr>
              <a:noFill/>
              <a:ln>
                <a:noFill/>
              </a:ln>
              <a:effectLst/>
            </c:spPr>
            <c:txPr>
              <a:bodyPr wrap="square"/>
              <a:lstStyle/>
              <a:p>
                <a:pPr>
                  <a:defRPr sz="1000" b="0" strike="noStrike" spc="-1">
                    <a:solidFill>
                      <a:srgbClr val="000000"/>
                    </a:solidFill>
                    <a:latin typeface="Arial"/>
                    <a:ea typeface="游ゴシック Medium"/>
                  </a:defRPr>
                </a:pPr>
                <a:endParaRPr lang="ja-JP"/>
              </a:p>
            </c:txPr>
            <c:dLblPos val="ct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ext>
            </c:extLst>
          </c:dLbls>
          <c:cat>
            <c:strRef>
              <c:f>'株式価値 '!$B$4:$B$6</c:f>
              <c:strCache>
                <c:ptCount val="3"/>
                <c:pt idx="0">
                  <c:v>インカム</c:v>
                </c:pt>
                <c:pt idx="1">
                  <c:v>マーケット</c:v>
                </c:pt>
                <c:pt idx="2">
                  <c:v>コスト</c:v>
                </c:pt>
              </c:strCache>
            </c:strRef>
          </c:cat>
          <c:val>
            <c:numRef>
              <c:f>'株式価値 '!$D$4:$D$6</c:f>
              <c:numCache>
                <c:formatCode>#,##0,</c:formatCode>
                <c:ptCount val="3"/>
                <c:pt idx="0">
                  <c:v>0.0</c:v>
                </c:pt>
                <c:pt idx="1">
                  <c:v>38103000.0</c:v>
                </c:pt>
                <c:pt idx="2">
                  <c:v>20430000.0</c:v>
                </c:pt>
              </c:numCache>
            </c:numRef>
          </c:val>
          <c:extLst>
            <c:ext xmlns:c16="http://schemas.microsoft.com/office/drawing/2014/chart" uri="{C3380CC4-5D6E-409C-BE32-E72D297353CC}">
              <c16:uniqueId val="{00000001-2B92-40CA-8669-90E01AE844BB}"/>
            </c:ext>
          </c:extLst>
        </c:ser>
        <c:dLbls>
          <c:showLegendKey val="0"/>
          <c:showVal val="0"/>
          <c:showCatName val="0"/>
          <c:showSerName val="0"/>
          <c:showPercent val="0"/>
          <c:showBubbleSize val="0"/>
        </c:dLbls>
        <c:gapWidth val="70"/>
        <c:overlap val="100"/>
        <c:axId val="70114149"/>
        <c:axId val="98614812"/>
      </c:barChart>
      <c:catAx>
        <c:axId val="70114149"/>
        <c:scaling>
          <c:orientation val="minMax"/>
        </c:scaling>
        <c:delete val="1"/>
        <c:axPos val="l"/>
        <c:numFmt formatCode="General" sourceLinked="1"/>
        <c:majorTickMark val="out"/>
        <c:minorTickMark val="none"/>
        <c:tickLblPos val="nextTo"/>
        <c:crossAx val="98614812"/>
        <c:crosses val="autoZero"/>
        <c:auto val="1"/>
        <c:lblAlgn val="ctr"/>
        <c:lblOffset val="100"/>
        <c:noMultiLvlLbl val="0"/>
      </c:catAx>
      <c:valAx>
        <c:axId val="98614812"/>
        <c:scaling>
          <c:orientation val="minMax"/>
        </c:scaling>
        <c:delete val="0"/>
        <c:axPos val="b"/>
        <c:majorGridlines>
          <c:spPr>
            <a:ln w="9360">
              <a:solidFill>
                <a:srgbClr val="0B3041"/>
              </a:solidFill>
              <a:round/>
            </a:ln>
          </c:spPr>
        </c:majorGridlines>
        <c:numFmt formatCode="#,##0," sourceLinked="0"/>
        <c:majorTickMark val="out"/>
        <c:minorTickMark val="none"/>
        <c:tickLblPos val="nextTo"/>
        <c:spPr>
          <a:ln w="12600">
            <a:noFill/>
          </a:ln>
        </c:spPr>
        <c:txPr>
          <a:bodyPr/>
          <a:lstStyle/>
          <a:p>
            <a:pPr>
              <a:defRPr sz="900" b="0" strike="noStrike" spc="-1">
                <a:solidFill>
                  <a:srgbClr val="0B3041"/>
                </a:solidFill>
                <a:latin typeface="Arial"/>
                <a:ea typeface="游ゴシック Medium"/>
              </a:defRPr>
            </a:pPr>
            <a:endParaRPr lang="ja-JP"/>
          </a:p>
        </c:txPr>
        <c:crossAx val="70114149"/>
        <c:crosses val="autoZero"/>
        <c:crossBetween val="between"/>
      </c:valAx>
      <c:spPr>
        <a:noFill/>
        <a:ln w="0">
          <a:noFill/>
        </a:ln>
      </c:spPr>
    </c:plotArea>
    <c:plotVisOnly val="1"/>
    <c:dispBlanksAs val="gap"/>
    <c:showDLblsOverMax val="1"/>
  </c:chart>
  <c:spPr>
    <a:solidFill>
      <a:srgbClr val="FFFFFF"/>
    </a:solidFill>
    <a:ln w="12600">
      <a:noFill/>
    </a:ln>
  </c:spPr>
  <c:externalData r:id="rId2">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4283" cy="498295"/>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48645" y="0"/>
            <a:ext cx="2944283" cy="498295"/>
          </a:xfrm>
          <a:prstGeom prst="rect">
            <a:avLst/>
          </a:prstGeom>
        </p:spPr>
        <p:txBody>
          <a:bodyPr vert="horz" lIns="91440" tIns="45720" rIns="91440" bIns="45720" rtlCol="0"/>
          <a:lstStyle>
            <a:lvl1pPr algn="r">
              <a:defRPr sz="1200"/>
            </a:lvl1pPr>
          </a:lstStyle>
          <a:p>
            <a:fld id="{5E719245-6B48-4D9E-9EED-FA258D3B0C86}" type="datetimeFigureOut">
              <a:rPr kumimoji="1" lang="ja-JP" altLang="en-US" smtClean="0"/>
              <a:t>2026/7/29</a:t>
            </a:fld>
            <a:endParaRPr kumimoji="1" lang="ja-JP" altLang="en-US"/>
          </a:p>
        </p:txBody>
      </p:sp>
      <p:sp>
        <p:nvSpPr>
          <p:cNvPr id="4" name="スライド イメージ プレースホルダー 3"/>
          <p:cNvSpPr>
            <a:spLocks noGrp="1" noRot="1" noChangeAspect="1"/>
          </p:cNvSpPr>
          <p:nvPr>
            <p:ph type="sldImg" idx="2"/>
          </p:nvPr>
        </p:nvSpPr>
        <p:spPr>
          <a:xfrm>
            <a:off x="1028700" y="1241425"/>
            <a:ext cx="4737100" cy="3351213"/>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9450" y="4779486"/>
            <a:ext cx="5435600" cy="3910489"/>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33107"/>
            <a:ext cx="2944283" cy="498294"/>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48645" y="9433107"/>
            <a:ext cx="2944283" cy="498294"/>
          </a:xfrm>
          <a:prstGeom prst="rect">
            <a:avLst/>
          </a:prstGeom>
        </p:spPr>
        <p:txBody>
          <a:bodyPr vert="horz" lIns="91440" tIns="45720" rIns="91440" bIns="45720" rtlCol="0" anchor="b"/>
          <a:lstStyle>
            <a:lvl1pPr algn="r">
              <a:defRPr sz="1200"/>
            </a:lvl1pPr>
          </a:lstStyle>
          <a:p>
            <a:fld id="{CCD08276-B047-45AB-869B-6FEE4FD0AA7E}" type="slidenum">
              <a:rPr kumimoji="1" lang="ja-JP" altLang="en-US" smtClean="0"/>
              <a:t>‹#›</a:t>
            </a:fld>
            <a:endParaRPr kumimoji="1" lang="ja-JP" altLang="en-US"/>
          </a:p>
        </p:txBody>
      </p:sp>
    </p:spTree>
    <p:extLst>
      <p:ext uri="{BB962C8B-B14F-4D97-AF65-F5344CB8AC3E}">
        <p14:creationId xmlns:p14="http://schemas.microsoft.com/office/powerpoint/2010/main" val="1234540164"/>
      </p:ext>
    </p:extLst>
  </p:cSld>
  <p:clrMap bg1="lt1" tx1="dk1" bg2="lt2" tx2="dk2" accent1="accent1" accent2="accent2" accent3="accent3" accent4="accent4" accent5="accent5" accent6="accent6" hlink="hlink" folHlink="folHlink"/>
  <p:notesStyle>
    <a:lvl1pPr marL="0" algn="l" defTabSz="1042873" rtl="0" eaLnBrk="1" latinLnBrk="0" hangingPunct="1">
      <a:defRPr kumimoji="1" sz="1369" kern="1200">
        <a:solidFill>
          <a:schemeClr val="tx1"/>
        </a:solidFill>
        <a:latin typeface="+mn-lt"/>
        <a:ea typeface="+mn-ea"/>
        <a:cs typeface="+mn-cs"/>
      </a:defRPr>
    </a:lvl1pPr>
    <a:lvl2pPr marL="521437" algn="l" defTabSz="1042873" rtl="0" eaLnBrk="1" latinLnBrk="0" hangingPunct="1">
      <a:defRPr kumimoji="1" sz="1369" kern="1200">
        <a:solidFill>
          <a:schemeClr val="tx1"/>
        </a:solidFill>
        <a:latin typeface="+mn-lt"/>
        <a:ea typeface="+mn-ea"/>
        <a:cs typeface="+mn-cs"/>
      </a:defRPr>
    </a:lvl2pPr>
    <a:lvl3pPr marL="1042873" algn="l" defTabSz="1042873" rtl="0" eaLnBrk="1" latinLnBrk="0" hangingPunct="1">
      <a:defRPr kumimoji="1" sz="1369" kern="1200">
        <a:solidFill>
          <a:schemeClr val="tx1"/>
        </a:solidFill>
        <a:latin typeface="+mn-lt"/>
        <a:ea typeface="+mn-ea"/>
        <a:cs typeface="+mn-cs"/>
      </a:defRPr>
    </a:lvl3pPr>
    <a:lvl4pPr marL="1564310" algn="l" defTabSz="1042873" rtl="0" eaLnBrk="1" latinLnBrk="0" hangingPunct="1">
      <a:defRPr kumimoji="1" sz="1369" kern="1200">
        <a:solidFill>
          <a:schemeClr val="tx1"/>
        </a:solidFill>
        <a:latin typeface="+mn-lt"/>
        <a:ea typeface="+mn-ea"/>
        <a:cs typeface="+mn-cs"/>
      </a:defRPr>
    </a:lvl4pPr>
    <a:lvl5pPr marL="2085746" algn="l" defTabSz="1042873" rtl="0" eaLnBrk="1" latinLnBrk="0" hangingPunct="1">
      <a:defRPr kumimoji="1" sz="1369" kern="1200">
        <a:solidFill>
          <a:schemeClr val="tx1"/>
        </a:solidFill>
        <a:latin typeface="+mn-lt"/>
        <a:ea typeface="+mn-ea"/>
        <a:cs typeface="+mn-cs"/>
      </a:defRPr>
    </a:lvl5pPr>
    <a:lvl6pPr marL="2607183" algn="l" defTabSz="1042873" rtl="0" eaLnBrk="1" latinLnBrk="0" hangingPunct="1">
      <a:defRPr kumimoji="1" sz="1369" kern="1200">
        <a:solidFill>
          <a:schemeClr val="tx1"/>
        </a:solidFill>
        <a:latin typeface="+mn-lt"/>
        <a:ea typeface="+mn-ea"/>
        <a:cs typeface="+mn-cs"/>
      </a:defRPr>
    </a:lvl6pPr>
    <a:lvl7pPr marL="3128620" algn="l" defTabSz="1042873" rtl="0" eaLnBrk="1" latinLnBrk="0" hangingPunct="1">
      <a:defRPr kumimoji="1" sz="1369" kern="1200">
        <a:solidFill>
          <a:schemeClr val="tx1"/>
        </a:solidFill>
        <a:latin typeface="+mn-lt"/>
        <a:ea typeface="+mn-ea"/>
        <a:cs typeface="+mn-cs"/>
      </a:defRPr>
    </a:lvl7pPr>
    <a:lvl8pPr marL="3650056" algn="l" defTabSz="1042873" rtl="0" eaLnBrk="1" latinLnBrk="0" hangingPunct="1">
      <a:defRPr kumimoji="1" sz="1369" kern="1200">
        <a:solidFill>
          <a:schemeClr val="tx1"/>
        </a:solidFill>
        <a:latin typeface="+mn-lt"/>
        <a:ea typeface="+mn-ea"/>
        <a:cs typeface="+mn-cs"/>
      </a:defRPr>
    </a:lvl8pPr>
    <a:lvl9pPr marL="4171493" algn="l" defTabSz="1042873" rtl="0" eaLnBrk="1" latinLnBrk="0" hangingPunct="1">
      <a:defRPr kumimoji="1"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2373442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2</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49E3F-7139-D801-6405-856863FC060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DBFDA3-D264-0383-7900-345B5B3B56A7}"/>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EC6E1337-5507-C2F6-0F8C-87C4AC26C0AC}"/>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BC0F35DD-7D73-1125-F6E1-E3965E28DE7C}"/>
              </a:ext>
            </a:extLst>
          </p:cNvPr>
          <p:cNvSpPr>
            <a:spLocks noGrp="1"/>
          </p:cNvSpPr>
          <p:nvPr>
            <p:ph type="sldNum" sz="quarter" idx="5"/>
          </p:nvPr>
        </p:nvSpPr>
        <p:spPr/>
        <p:txBody>
          <a:bodyPr/>
          <a:lstStyle/>
          <a:p>
            <a:fld id="{CCD08276-B047-45AB-869B-6FEE4FD0AA7E}" type="slidenum">
              <a:rPr kumimoji="1" lang="ja-JP" altLang="en-US" smtClean="0"/>
              <a:t>3</a:t>
            </a:fld>
            <a:endParaRPr kumimoji="1" lang="ja-JP" altLang="en-US"/>
          </a:p>
        </p:txBody>
      </p:sp>
    </p:spTree>
    <p:extLst>
      <p:ext uri="{BB962C8B-B14F-4D97-AF65-F5344CB8AC3E}">
        <p14:creationId xmlns:p14="http://schemas.microsoft.com/office/powerpoint/2010/main" val="3658020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3: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1" name="Google Shape;191;p3: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192" name="Google Shape;192;p3: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AF929-C853-B63F-7A81-878CD012E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9FE65EB-FC45-F115-A953-E456E1A9B152}"/>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A742DFA8-F037-213C-7D7D-423295DEBEAD}"/>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7138E276-27EB-6F25-5A7A-74C8CC8E81F2}"/>
              </a:ext>
            </a:extLst>
          </p:cNvPr>
          <p:cNvSpPr>
            <a:spLocks noGrp="1"/>
          </p:cNvSpPr>
          <p:nvPr>
            <p:ph type="sldNum" sz="quarter" idx="5"/>
          </p:nvPr>
        </p:nvSpPr>
        <p:spPr/>
        <p:txBody>
          <a:bodyPr/>
          <a:lstStyle/>
          <a:p>
            <a:fld id="{CCD08276-B047-45AB-869B-6FEE4FD0AA7E}" type="slidenum">
              <a:rPr kumimoji="1" lang="ja-JP" altLang="en-US" smtClean="0"/>
              <a:t>6</a:t>
            </a:fld>
            <a:endParaRPr kumimoji="1" lang="ja-JP" altLang="en-US"/>
          </a:p>
        </p:txBody>
      </p:sp>
    </p:spTree>
    <p:extLst>
      <p:ext uri="{BB962C8B-B14F-4D97-AF65-F5344CB8AC3E}">
        <p14:creationId xmlns:p14="http://schemas.microsoft.com/office/powerpoint/2010/main" val="551748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767E3-E20D-C509-6096-3F8BA557623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13D625-8F3E-2CDF-E22F-DAABBF281649}"/>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9B3D2D6A-0AEA-F151-2BFE-9C805976402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a:extLst>
              <a:ext uri="{FF2B5EF4-FFF2-40B4-BE49-F238E27FC236}">
                <a16:creationId xmlns:a16="http://schemas.microsoft.com/office/drawing/2014/main" id="{84478388-9ECF-D759-1C81-F7248689CBD8}"/>
              </a:ext>
            </a:extLst>
          </p:cNvPr>
          <p:cNvSpPr>
            <a:spLocks noGrp="1"/>
          </p:cNvSpPr>
          <p:nvPr>
            <p:ph type="sldNum" sz="quarter" idx="5"/>
          </p:nvPr>
        </p:nvSpPr>
        <p:spPr/>
        <p:txBody>
          <a:bodyPr/>
          <a:lstStyle/>
          <a:p>
            <a:fld id="{CCD08276-B047-45AB-869B-6FEE4FD0AA7E}" type="slidenum">
              <a:rPr kumimoji="1" lang="ja-JP" altLang="en-US" smtClean="0"/>
              <a:t>7</a:t>
            </a:fld>
            <a:endParaRPr kumimoji="1" lang="ja-JP" altLang="en-US"/>
          </a:p>
        </p:txBody>
      </p:sp>
    </p:spTree>
    <p:extLst>
      <p:ext uri="{BB962C8B-B14F-4D97-AF65-F5344CB8AC3E}">
        <p14:creationId xmlns:p14="http://schemas.microsoft.com/office/powerpoint/2010/main" val="1609671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9</a:t>
            </a:fld>
            <a:endParaRPr kumimoji="1" lang="ja-JP" altLang="en-US"/>
          </a:p>
        </p:txBody>
      </p:sp>
    </p:spTree>
    <p:extLst>
      <p:ext uri="{BB962C8B-B14F-4D97-AF65-F5344CB8AC3E}">
        <p14:creationId xmlns:p14="http://schemas.microsoft.com/office/powerpoint/2010/main" val="406546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18</a:t>
            </a:fld>
            <a:endParaRPr kumimoji="1" lang="ja-JP" altLang="en-US"/>
          </a:p>
        </p:txBody>
      </p:sp>
    </p:spTree>
    <p:extLst>
      <p:ext uri="{BB962C8B-B14F-4D97-AF65-F5344CB8AC3E}">
        <p14:creationId xmlns:p14="http://schemas.microsoft.com/office/powerpoint/2010/main" val="18242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03826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1698041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984386"/>
            <a:chOff x="887069" y="3420377"/>
            <a:chExt cx="3420000" cy="984386"/>
          </a:xfrm>
        </p:grpSpPr>
        <p:sp>
          <p:nvSpPr>
            <p:cNvPr id="8" name="Google Shape;261;p2">
              <a:extLst>
                <a:ext uri="{FF2B5EF4-FFF2-40B4-BE49-F238E27FC236}">
                  <a16:creationId xmlns:a16="http://schemas.microsoft.com/office/drawing/2014/main" id="{749E3869-09D9-C379-3B1A-E14B89FDBC05}"/>
                </a:ext>
              </a:extLst>
            </p:cNvPr>
            <p:cNvSpPr txBox="1"/>
            <p:nvPr/>
          </p:nvSpPr>
          <p:spPr>
            <a:xfrm>
              <a:off x="1085069" y="4238564"/>
              <a:ext cx="3024000" cy="166199"/>
            </a:xfrm>
            <a:prstGeom prst="rect">
              <a:avLst/>
            </a:prstGeom>
            <a:noFill/>
            <a:ln>
              <a:noFill/>
            </a:ln>
          </p:spPr>
          <p:txBody>
            <a:bodyPr spcFirstLastPara="1" wrap="square" lIns="0" tIns="0" rIns="0" bIns="0" anchor="t" anchorCtr="0">
              <a:spAutoFit/>
            </a:bodyPr>
            <a:lstStyle/>
            <a:p>
              <a:pPr marL="103241" algn="ctr">
                <a:lnSpc>
                  <a:spcPct val="90000"/>
                </a:lnSpc>
                <a:buClr>
                  <a:schemeClr val="dk1"/>
                </a:buClr>
                <a:buSzPts val="1400"/>
              </a:pPr>
              <a:r>
                <a:rPr lang="ja-JP" altLang="en-US" sz="1200" b="1" dirty="0">
                  <a:solidFill>
                    <a:schemeClr val="dk1"/>
                  </a:solidFill>
                  <a:latin typeface="+mj-ea"/>
                  <a:ea typeface="+mj-ea"/>
                </a:rPr>
                <a:t>ミーティングアジェンダ</a:t>
              </a:r>
              <a:endParaRPr sz="1200" b="1" dirty="0">
                <a:latin typeface="+mj-ea"/>
                <a:ea typeface="+mj-ea"/>
              </a:endParaRPr>
            </a:p>
          </p:txBody>
        </p:sp>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en-US" altLang="ja-JP" sz="3200" b="1" i="0" dirty="0">
                  <a:solidFill>
                    <a:srgbClr val="1F1F1F"/>
                  </a:solidFill>
                  <a:effectLst/>
                  <a:latin typeface="+mj-lt"/>
                </a:rPr>
                <a:t>Meeting Agenda</a:t>
              </a:r>
              <a:endParaRPr lang="ja-JP" altLang="en-US" sz="3200" b="1" dirty="0">
                <a:latin typeface="+mj-lt"/>
              </a:endParaRP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65997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29003268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3552754477"/>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0814009"/>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jpeg"/><Relationship Id="rId3"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D987C9A9-7152-3DD4-F23C-48E1B5BABCAA}"/>
              </a:ext>
            </a:extLst>
          </p:cNvPr>
          <p:cNvSpPr>
            <a:spLocks noGrp="1"/>
          </p:cNvSpPr>
          <p:nvPr>
            <p:ph type="title"/>
          </p:nvPr>
        </p:nvSpPr>
        <p:spPr>
          <a:xfrm>
            <a:off x="885526" y="3467606"/>
            <a:ext cx="9221787" cy="738664"/>
          </a:xfrm>
        </p:spPr>
        <p:txBody>
          <a:bodyPr/>
          <a:lstStyle/>
          <a:p>
            <a:r>
              <a:rPr lang="en-US" altLang="ja-JP" dirty="0"/>
              <a:t>Valuation</a:t>
            </a:r>
            <a:r>
              <a:rPr lang="ja-JP" altLang="en-US" dirty="0"/>
              <a:t> </a:t>
            </a:r>
            <a:r>
              <a:rPr lang="en-US" altLang="ja-JP" dirty="0"/>
              <a:t>Report</a:t>
            </a:r>
            <a:endParaRPr lang="ja-JP" altLang="en-US" dirty="0"/>
          </a:p>
        </p:txBody>
      </p:sp>
      <p:sp>
        <p:nvSpPr>
          <p:cNvPr id="3" name="テキスト ボックス 2">
            <a:extLst>
              <a:ext uri="{FF2B5EF4-FFF2-40B4-BE49-F238E27FC236}">
                <a16:creationId xmlns:a16="http://schemas.microsoft.com/office/drawing/2014/main" id="{C2CE6D41-E85A-5C3B-AEBD-17BCB7C688FB}"/>
              </a:ext>
            </a:extLst>
          </p:cNvPr>
          <p:cNvSpPr txBox="1"/>
          <p:nvPr/>
        </p:nvSpPr>
        <p:spPr>
          <a:xfrm>
            <a:off x="857354" y="2606111"/>
            <a:ext cx="2192908" cy="276999"/>
          </a:xfrm>
          <a:prstGeom prst="rect">
            <a:avLst/>
          </a:prstGeom>
          <a:noFill/>
        </p:spPr>
        <p:txBody>
          <a:bodyPr wrap="none" lIns="0" tIns="0" rIns="0" bIns="0" rtlCol="0">
            <a:spAutoFit/>
          </a:bodyPr>
          <a:lstStyle/>
          <a:p>
            <a:r>
              <a:rPr lang="ja-JP" altLang="en-US" b="1" spc="100" dirty="0">
                <a:latin typeface="+mj-lt"/>
                <a:ea typeface="+mj-ea"/>
              </a:rPr>
              <a:t>株式会社ミドリメディカル　御中</a:t>
            </a:r>
            <a:endParaRPr kumimoji="1" lang="ja-JP" altLang="en-US" b="1" spc="100" dirty="0">
              <a:latin typeface="+mj-lt"/>
              <a:ea typeface="+mj-ea"/>
            </a:endParaRPr>
          </a:p>
        </p:txBody>
      </p:sp>
      <p:sp>
        <p:nvSpPr>
          <p:cNvPr id="11" name="テキスト ボックス 10">
            <a:extLst>
              <a:ext uri="{FF2B5EF4-FFF2-40B4-BE49-F238E27FC236}">
                <a16:creationId xmlns:a16="http://schemas.microsoft.com/office/drawing/2014/main" id="{B8E93A22-E152-6430-ED5D-2758EDBEA463}"/>
              </a:ext>
            </a:extLst>
          </p:cNvPr>
          <p:cNvSpPr txBox="1"/>
          <p:nvPr/>
        </p:nvSpPr>
        <p:spPr>
          <a:xfrm>
            <a:off x="988426" y="4772601"/>
            <a:ext cx="1540486" cy="246221"/>
          </a:xfrm>
          <a:prstGeom prst="rect">
            <a:avLst/>
          </a:prstGeom>
          <a:noFill/>
        </p:spPr>
        <p:txBody>
          <a:bodyPr wrap="none" lIns="0" tIns="0" rIns="0" bIns="0" rtlCol="0" anchor="ctr">
            <a:spAutoFit/>
          </a:bodyPr>
          <a:lstStyle/>
          <a:p>
            <a:pPr defTabSz="503972">
              <a:defRPr/>
            </a:pPr>
            <a:r>
              <a:rPr kumimoji="1" lang="en-US" altLang="ja-JP" sz="1600" spc="100" dirty="0"/>
              <a:t>2026年8月19日</a:t>
            </a:r>
          </a:p>
        </p:txBody>
      </p:sp>
      <p:cxnSp>
        <p:nvCxnSpPr>
          <p:cNvPr id="12" name="直線コネクタ 11">
            <a:extLst>
              <a:ext uri="{FF2B5EF4-FFF2-40B4-BE49-F238E27FC236}">
                <a16:creationId xmlns:a16="http://schemas.microsoft.com/office/drawing/2014/main" id="{20CAB1A1-BCBE-F6F7-8DA5-16D451D49054}"/>
              </a:ext>
            </a:extLst>
          </p:cNvPr>
          <p:cNvCxnSpPr>
            <a:cxnSpLocks/>
          </p:cNvCxnSpPr>
          <p:nvPr/>
        </p:nvCxnSpPr>
        <p:spPr>
          <a:xfrm>
            <a:off x="885526" y="4272782"/>
            <a:ext cx="536127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016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ym typeface="Arial"/>
              </a:rPr>
              <a:t>本件に関する問い合わせ先</a:t>
            </a:r>
            <a:endParaRPr dirty="0">
              <a:sym typeface="Arial"/>
            </a:endParaRP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2631826034"/>
              </p:ext>
            </p:extLst>
          </p:nvPr>
        </p:nvGraphicFramePr>
        <p:xfrm>
          <a:off x="449264" y="6120538"/>
          <a:ext cx="9793288"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2">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a:t>
                      </a:r>
                      <a:r>
                        <a:rPr lang="en-US" altLang="ja-JP" sz="1200" b="1" u="none" strike="noStrike" cap="none" spc="30" baseline="0" dirty="0">
                          <a:latin typeface="+mj-ea"/>
                          <a:ea typeface="+mj-ea"/>
                        </a:rPr>
                        <a:t>M&amp;A</a:t>
                      </a:r>
                      <a:r>
                        <a:rPr lang="ja-JP" altLang="en-US" sz="1200" b="1" u="none" strike="noStrike" cap="none" spc="30" baseline="0" dirty="0">
                          <a:latin typeface="+mj-ea"/>
                          <a:ea typeface="+mj-ea"/>
                        </a:rPr>
                        <a:t>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 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a:xfrm>
            <a:off x="341313" y="180653"/>
            <a:ext cx="7799917" cy="338554"/>
          </a:xfrm>
        </p:spPr>
        <p:txBody>
          <a:bodyPr/>
          <a:lstStyle/>
          <a:p>
            <a:r>
              <a:rPr lang="ja-JP" altLang="en-US" dirty="0"/>
              <a:t>はじめに</a:t>
            </a:r>
          </a:p>
        </p:txBody>
      </p:sp>
      <p:cxnSp>
        <p:nvCxnSpPr>
          <p:cNvPr id="13" name="直線コネクタ 12">
            <a:extLst>
              <a:ext uri="{FF2B5EF4-FFF2-40B4-BE49-F238E27FC236}">
                <a16:creationId xmlns:a16="http://schemas.microsoft.com/office/drawing/2014/main" id="{FB09082A-B52F-14F1-BAAD-CC1AE1853CD8}"/>
              </a:ext>
            </a:extLst>
          </p:cNvPr>
          <p:cNvCxnSpPr>
            <a:cxnSpLocks/>
          </p:cNvCxnSpPr>
          <p:nvPr/>
        </p:nvCxnSpPr>
        <p:spPr>
          <a:xfrm>
            <a:off x="449263" y="4380131"/>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2886496"/>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a:spcAft>
                <a:spcPts val="1200"/>
              </a:spcAft>
            </a:pPr>
            <a:r>
              <a:rPr lang="ja-JP" altLang="en-US" sz="1200" dirty="0"/>
              <a:t>本書における試算結果は対象会社より提出を受けた資料及び一般に公開されている情報並びに対象会社及びその関係者へのインタビューに基づいております。これらの資料、情報及びインタビュー内容の正確性、妥当性、適法性、網羅性または完全性について当社独自の調査・検証は行われておりません。従って、試算の基礎となった資料や情報、インタビュー内容の誤謬に基づく試算結果等への影響について、当社は何らの責任も負いません。</a:t>
            </a:r>
            <a:endParaRPr lang="en-US" altLang="ja-JP" sz="1200" dirty="0"/>
          </a:p>
          <a:p>
            <a:pPr>
              <a:spcAft>
                <a:spcPts val="1200"/>
              </a:spcAft>
            </a:pPr>
            <a:r>
              <a:rPr lang="ja-JP" altLang="en-US" sz="1200" dirty="0"/>
              <a:t>本書において、対象会社の基準日における資産及び負債等の評価（不動産の簡易価格調査結果を含む）、損益実績値の調整、将来予測数値等の分析結果について当社のコメントを付したものがありますが、これらの正確性、妥当性、適法性、網羅性、完全性または実現可能性を保証するものではありません。</a:t>
            </a:r>
          </a:p>
          <a:p>
            <a:pPr>
              <a:spcAft>
                <a:spcPts val="1200"/>
              </a:spcAft>
            </a:pPr>
            <a:r>
              <a:rPr lang="ja-JP" altLang="en-US" sz="1200" dirty="0"/>
              <a:t>本書における試算結果は、限定された情報及び調査機会に基づき本書の日付現在における当社としての意見を述べるものであり、その絶対性を保証するものではありません。従って、本書の試算結果は</a:t>
            </a:r>
            <a:r>
              <a:rPr lang="en-US" altLang="ja-JP" sz="1200" dirty="0"/>
              <a:t>M&amp;A</a:t>
            </a:r>
            <a:r>
              <a:rPr lang="ja-JP" altLang="en-US" sz="1200" dirty="0"/>
              <a:t>実行時の譲渡価額（売買取引価額）を保証するものではありません。</a:t>
            </a:r>
          </a:p>
          <a:p>
            <a:pPr>
              <a:spcAft>
                <a:spcPts val="1200"/>
              </a:spcAft>
            </a:pPr>
            <a:r>
              <a:rPr lang="ja-JP" altLang="en-US" sz="1200" dirty="0"/>
              <a:t>本書を本件試算目的以外で利用する場合及び本件取引の関連当事者以外に開示する場合には、当社の書面による承諾が必要となります。</a:t>
            </a:r>
          </a:p>
        </p:txBody>
      </p:sp>
      <p:grpSp>
        <p:nvGrpSpPr>
          <p:cNvPr id="28" name="グループ化 27">
            <a:extLst>
              <a:ext uri="{FF2B5EF4-FFF2-40B4-BE49-F238E27FC236}">
                <a16:creationId xmlns:a16="http://schemas.microsoft.com/office/drawing/2014/main" id="{D1C6A406-8443-F3E6-28CA-B536B1AA45B5}"/>
              </a:ext>
            </a:extLst>
          </p:cNvPr>
          <p:cNvGrpSpPr/>
          <p:nvPr/>
        </p:nvGrpSpPr>
        <p:grpSpPr>
          <a:xfrm>
            <a:off x="449263" y="4638836"/>
            <a:ext cx="9792000" cy="581999"/>
            <a:chOff x="449263" y="4445708"/>
            <a:chExt cx="9792000" cy="581999"/>
          </a:xfrm>
        </p:grpSpPr>
        <p:sp>
          <p:nvSpPr>
            <p:cNvPr id="24" name="正方形/長方形 23">
              <a:extLst>
                <a:ext uri="{FF2B5EF4-FFF2-40B4-BE49-F238E27FC236}">
                  <a16:creationId xmlns:a16="http://schemas.microsoft.com/office/drawing/2014/main" id="{2FCA2641-923F-459F-562E-5D27E6F566C7}"/>
                </a:ext>
              </a:extLst>
            </p:cNvPr>
            <p:cNvSpPr/>
            <p:nvPr/>
          </p:nvSpPr>
          <p:spPr>
            <a:xfrm>
              <a:off x="449263" y="4445708"/>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用語の定義</a:t>
              </a:r>
            </a:p>
          </p:txBody>
        </p:sp>
        <p:sp>
          <p:nvSpPr>
            <p:cNvPr id="26" name="テキスト ボックス 25">
              <a:extLst>
                <a:ext uri="{FF2B5EF4-FFF2-40B4-BE49-F238E27FC236}">
                  <a16:creationId xmlns:a16="http://schemas.microsoft.com/office/drawing/2014/main" id="{84E29355-A1C9-2368-8A78-4E9FAD4ED010}"/>
                </a:ext>
              </a:extLst>
            </p:cNvPr>
            <p:cNvSpPr txBox="1"/>
            <p:nvPr/>
          </p:nvSpPr>
          <p:spPr>
            <a:xfrm>
              <a:off x="449263" y="4818867"/>
              <a:ext cx="9792000" cy="208840"/>
            </a:xfrm>
            <a:prstGeom prst="rect">
              <a:avLst/>
            </a:prstGeom>
            <a:noFill/>
          </p:spPr>
          <p:txBody>
            <a:bodyPr wrap="square" lIns="0" tIns="0" rIns="0" bIns="0" rtlCol="0">
              <a:spAutoFit/>
            </a:bodyPr>
            <a:lstStyle>
              <a:defPPr>
                <a:defRPr lang="en-US"/>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r>
                <a:rPr lang="ja-JP" altLang="en-US" dirty="0"/>
                <a:t>本書で用いられる「本件取引」「本件試算目的」の定義は、「企業価値試算結果」のページに記載しております。</a:t>
              </a:r>
            </a:p>
          </p:txBody>
        </p:sp>
      </p:grpSp>
      <p:cxnSp>
        <p:nvCxnSpPr>
          <p:cNvPr id="27" name="直線コネクタ 26">
            <a:extLst>
              <a:ext uri="{FF2B5EF4-FFF2-40B4-BE49-F238E27FC236}">
                <a16:creationId xmlns:a16="http://schemas.microsoft.com/office/drawing/2014/main" id="{F946AE5A-CED3-47EB-17ED-BE6A1ABD1294}"/>
              </a:ext>
            </a:extLst>
          </p:cNvPr>
          <p:cNvCxnSpPr>
            <a:cxnSpLocks/>
          </p:cNvCxnSpPr>
          <p:nvPr/>
        </p:nvCxnSpPr>
        <p:spPr>
          <a:xfrm>
            <a:off x="449263" y="5479540"/>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735B2-585C-A9A9-5167-EBEF6489416D}"/>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ABFD2964-553D-9D91-68F1-870D0805E2CB}"/>
              </a:ext>
            </a:extLst>
          </p:cNvPr>
          <p:cNvSpPr>
            <a:spLocks noGrp="1"/>
          </p:cNvSpPr>
          <p:nvPr>
            <p:ph type="ctrTitle"/>
          </p:nvPr>
        </p:nvSpPr>
        <p:spPr>
          <a:xfrm>
            <a:off x="341313" y="180653"/>
            <a:ext cx="7799917" cy="338554"/>
          </a:xfrm>
        </p:spPr>
        <p:txBody>
          <a:bodyPr/>
          <a:lstStyle/>
          <a:p>
            <a:r>
              <a:rPr lang="ja-JP" altLang="en-US" dirty="0"/>
              <a:t>株価評価にあたっての注意点</a:t>
            </a:r>
          </a:p>
        </p:txBody>
      </p:sp>
      <p:sp>
        <p:nvSpPr>
          <p:cNvPr id="18" name="テキスト ボックス 17">
            <a:extLst>
              <a:ext uri="{FF2B5EF4-FFF2-40B4-BE49-F238E27FC236}">
                <a16:creationId xmlns:a16="http://schemas.microsoft.com/office/drawing/2014/main" id="{43FF748D-7302-6B92-5A45-49968A63F0B4}"/>
              </a:ext>
            </a:extLst>
          </p:cNvPr>
          <p:cNvSpPr txBox="1"/>
          <p:nvPr/>
        </p:nvSpPr>
        <p:spPr>
          <a:xfrm>
            <a:off x="1109133" y="10679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における株価は、買主との協議によって決定されるものであり、最終的に本書での評価結果の範囲外に</a:t>
            </a:r>
            <a:br>
              <a:rPr lang="en-US" altLang="ja-JP" dirty="0"/>
            </a:br>
            <a:r>
              <a:rPr lang="ja-JP" altLang="en-US" dirty="0"/>
              <a:t>なる可能性も相応に御座います。本書での評価結果はあくまで目安の一つとして、ご理解ください。</a:t>
            </a:r>
            <a:endParaRPr lang="en-US" altLang="ja-JP" dirty="0"/>
          </a:p>
        </p:txBody>
      </p:sp>
      <p:sp>
        <p:nvSpPr>
          <p:cNvPr id="20" name="テキスト ボックス 19">
            <a:extLst>
              <a:ext uri="{FF2B5EF4-FFF2-40B4-BE49-F238E27FC236}">
                <a16:creationId xmlns:a16="http://schemas.microsoft.com/office/drawing/2014/main" id="{43A2A16C-AED8-ACCF-CB8F-70E0B810FB3B}"/>
              </a:ext>
            </a:extLst>
          </p:cNvPr>
          <p:cNvSpPr txBox="1"/>
          <p:nvPr/>
        </p:nvSpPr>
        <p:spPr>
          <a:xfrm>
            <a:off x="1109133" y="2052538"/>
            <a:ext cx="9132130" cy="760657"/>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における株価評価方法は画一的なものはなく、世の中には多数の算出手法が存在します。</a:t>
            </a:r>
            <a:br>
              <a:rPr lang="en-US" altLang="ja-JP" dirty="0"/>
            </a:br>
            <a:r>
              <a:rPr lang="ja-JP" altLang="en-US" dirty="0"/>
              <a:t>本書においては中小企業</a:t>
            </a:r>
            <a:r>
              <a:rPr lang="en-US" altLang="ja-JP" dirty="0"/>
              <a:t>M&amp;A</a:t>
            </a:r>
            <a:r>
              <a:rPr lang="ja-JP" altLang="en-US" dirty="0"/>
              <a:t>において用いられる一般的な評価手法から、貴社の評価に適していると</a:t>
            </a:r>
            <a:br>
              <a:rPr lang="en-US" altLang="ja-JP" dirty="0"/>
            </a:br>
            <a:r>
              <a:rPr lang="ja-JP" altLang="en-US" dirty="0"/>
              <a:t>考えられる手法を採用しております。</a:t>
            </a:r>
            <a:endParaRPr lang="en-US" altLang="ja-JP" dirty="0"/>
          </a:p>
        </p:txBody>
      </p:sp>
      <p:sp>
        <p:nvSpPr>
          <p:cNvPr id="22" name="テキスト ボックス 21">
            <a:extLst>
              <a:ext uri="{FF2B5EF4-FFF2-40B4-BE49-F238E27FC236}">
                <a16:creationId xmlns:a16="http://schemas.microsoft.com/office/drawing/2014/main" id="{4E37E670-53DE-767E-52D8-7829791681E1}"/>
              </a:ext>
            </a:extLst>
          </p:cNvPr>
          <p:cNvSpPr txBox="1"/>
          <p:nvPr/>
        </p:nvSpPr>
        <p:spPr>
          <a:xfrm>
            <a:off x="1109133" y="3295695"/>
            <a:ext cx="9132130" cy="243593"/>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買主による評価（株価の考え方及び評価方法）は一律ではなく、各買主によって異なる結果になります。</a:t>
            </a:r>
            <a:endParaRPr lang="en-US" altLang="ja-JP" dirty="0"/>
          </a:p>
        </p:txBody>
      </p:sp>
      <p:sp>
        <p:nvSpPr>
          <p:cNvPr id="24" name="テキスト ボックス 23">
            <a:extLst>
              <a:ext uri="{FF2B5EF4-FFF2-40B4-BE49-F238E27FC236}">
                <a16:creationId xmlns:a16="http://schemas.microsoft.com/office/drawing/2014/main" id="{04F96851-B7F8-2437-2EDD-96F0EF865CAB}"/>
              </a:ext>
            </a:extLst>
          </p:cNvPr>
          <p:cNvSpPr txBox="1"/>
          <p:nvPr/>
        </p:nvSpPr>
        <p:spPr>
          <a:xfrm>
            <a:off x="1109133" y="4021788"/>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今後の業績や事業の状態・見通し等の変化によって、株式価値は変動する為、適宜、月次試算表のご提出や、</a:t>
            </a:r>
            <a:br>
              <a:rPr lang="en-US" altLang="ja-JP" dirty="0"/>
            </a:br>
            <a:r>
              <a:rPr lang="ja-JP" altLang="en-US" dirty="0"/>
              <a:t>事業状況の変化についても共有をお願いいたします。</a:t>
            </a:r>
            <a:endParaRPr lang="en-US" altLang="ja-JP" dirty="0"/>
          </a:p>
        </p:txBody>
      </p:sp>
      <p:sp>
        <p:nvSpPr>
          <p:cNvPr id="26" name="テキスト ボックス 25">
            <a:extLst>
              <a:ext uri="{FF2B5EF4-FFF2-40B4-BE49-F238E27FC236}">
                <a16:creationId xmlns:a16="http://schemas.microsoft.com/office/drawing/2014/main" id="{8DE73831-EEAA-7D18-DA19-BDDE4EA3C4F8}"/>
              </a:ext>
            </a:extLst>
          </p:cNvPr>
          <p:cNvSpPr txBox="1"/>
          <p:nvPr/>
        </p:nvSpPr>
        <p:spPr>
          <a:xfrm>
            <a:off x="1109133" y="50064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株価の一部を退職金や配当として受け取る事を希望される場合、当該金額は株価から減算されることが</a:t>
            </a:r>
            <a:br>
              <a:rPr lang="en-US" altLang="ja-JP" dirty="0"/>
            </a:br>
            <a:r>
              <a:rPr lang="ja-JP" altLang="en-US" dirty="0"/>
              <a:t>一般的でございます。</a:t>
            </a:r>
            <a:endParaRPr lang="en-US" altLang="ja-JP" dirty="0"/>
          </a:p>
        </p:txBody>
      </p:sp>
      <p:sp>
        <p:nvSpPr>
          <p:cNvPr id="28" name="テキスト ボックス 27">
            <a:extLst>
              <a:ext uri="{FF2B5EF4-FFF2-40B4-BE49-F238E27FC236}">
                <a16:creationId xmlns:a16="http://schemas.microsoft.com/office/drawing/2014/main" id="{0C5A509E-7475-2B0E-8947-020650C0994C}"/>
              </a:ext>
            </a:extLst>
          </p:cNvPr>
          <p:cNvSpPr txBox="1"/>
          <p:nvPr/>
        </p:nvSpPr>
        <p:spPr>
          <a:xfrm>
            <a:off x="1109133" y="5991041"/>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本書での評価結果を大幅に上回る株価を希望される場合、マッチングが困難になる為、</a:t>
            </a:r>
            <a:br>
              <a:rPr lang="en-US" altLang="ja-JP" dirty="0"/>
            </a:br>
            <a:r>
              <a:rPr lang="ja-JP" altLang="en-US" dirty="0"/>
              <a:t>相手が見つからない事や、長期間の時間を要す可能性が高くなります。</a:t>
            </a:r>
          </a:p>
        </p:txBody>
      </p:sp>
      <p:cxnSp>
        <p:nvCxnSpPr>
          <p:cNvPr id="29" name="直線コネクタ 28">
            <a:extLst>
              <a:ext uri="{FF2B5EF4-FFF2-40B4-BE49-F238E27FC236}">
                <a16:creationId xmlns:a16="http://schemas.microsoft.com/office/drawing/2014/main" id="{35B39C5F-7E18-97A3-3BCF-044BD39FF17C}"/>
              </a:ext>
            </a:extLst>
          </p:cNvPr>
          <p:cNvCxnSpPr>
            <a:cxnSpLocks/>
          </p:cNvCxnSpPr>
          <p:nvPr/>
        </p:nvCxnSpPr>
        <p:spPr>
          <a:xfrm>
            <a:off x="449263" y="57497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AD9E28A-BBAC-DF8F-A86C-68460E385CD4}"/>
              </a:ext>
            </a:extLst>
          </p:cNvPr>
          <p:cNvCxnSpPr>
            <a:cxnSpLocks/>
          </p:cNvCxnSpPr>
          <p:nvPr/>
        </p:nvCxnSpPr>
        <p:spPr>
          <a:xfrm>
            <a:off x="449263" y="4765163"/>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035FDFB6-13CE-B940-E337-9990F42F633B}"/>
              </a:ext>
            </a:extLst>
          </p:cNvPr>
          <p:cNvCxnSpPr>
            <a:cxnSpLocks/>
          </p:cNvCxnSpPr>
          <p:nvPr/>
        </p:nvCxnSpPr>
        <p:spPr>
          <a:xfrm>
            <a:off x="449263" y="378053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40BDB2F5-6079-A5D7-D2D1-B3F25D6D8012}"/>
              </a:ext>
            </a:extLst>
          </p:cNvPr>
          <p:cNvCxnSpPr>
            <a:cxnSpLocks/>
          </p:cNvCxnSpPr>
          <p:nvPr/>
        </p:nvCxnSpPr>
        <p:spPr>
          <a:xfrm>
            <a:off x="449263" y="3054445"/>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3" name="直線コネクタ 32">
            <a:extLst>
              <a:ext uri="{FF2B5EF4-FFF2-40B4-BE49-F238E27FC236}">
                <a16:creationId xmlns:a16="http://schemas.microsoft.com/office/drawing/2014/main" id="{3F9B2615-C99C-C209-F4AD-56373013FA24}"/>
              </a:ext>
            </a:extLst>
          </p:cNvPr>
          <p:cNvCxnSpPr>
            <a:cxnSpLocks/>
          </p:cNvCxnSpPr>
          <p:nvPr/>
        </p:nvCxnSpPr>
        <p:spPr>
          <a:xfrm>
            <a:off x="449263" y="18112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4" name="楕円 33">
            <a:extLst>
              <a:ext uri="{FF2B5EF4-FFF2-40B4-BE49-F238E27FC236}">
                <a16:creationId xmlns:a16="http://schemas.microsoft.com/office/drawing/2014/main" id="{FAEBD9E3-D818-BE03-ADD3-4C5B4AA4F637}"/>
              </a:ext>
            </a:extLst>
          </p:cNvPr>
          <p:cNvSpPr>
            <a:spLocks noChangeAspect="1"/>
          </p:cNvSpPr>
          <p:nvPr/>
        </p:nvSpPr>
        <p:spPr>
          <a:xfrm>
            <a:off x="613435" y="1072307"/>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1</a:t>
            </a:r>
            <a:endParaRPr lang="ja-JP" altLang="en-US" sz="1600" b="1" spc="70" dirty="0">
              <a:solidFill>
                <a:schemeClr val="bg1"/>
              </a:solidFill>
              <a:ea typeface="+mj-ea"/>
            </a:endParaRPr>
          </a:p>
        </p:txBody>
      </p:sp>
      <p:sp>
        <p:nvSpPr>
          <p:cNvPr id="35" name="楕円 34">
            <a:extLst>
              <a:ext uri="{FF2B5EF4-FFF2-40B4-BE49-F238E27FC236}">
                <a16:creationId xmlns:a16="http://schemas.microsoft.com/office/drawing/2014/main" id="{A4699F67-F2C0-E701-1981-BE99A943F4B1}"/>
              </a:ext>
            </a:extLst>
          </p:cNvPr>
          <p:cNvSpPr>
            <a:spLocks noChangeAspect="1"/>
          </p:cNvSpPr>
          <p:nvPr/>
        </p:nvSpPr>
        <p:spPr>
          <a:xfrm>
            <a:off x="613435" y="205270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2</a:t>
            </a:r>
            <a:endParaRPr lang="ja-JP" altLang="en-US" sz="1600" b="1" spc="70" dirty="0">
              <a:solidFill>
                <a:schemeClr val="bg1"/>
              </a:solidFill>
              <a:ea typeface="+mj-ea"/>
            </a:endParaRPr>
          </a:p>
        </p:txBody>
      </p:sp>
      <p:sp>
        <p:nvSpPr>
          <p:cNvPr id="36" name="楕円 35">
            <a:extLst>
              <a:ext uri="{FF2B5EF4-FFF2-40B4-BE49-F238E27FC236}">
                <a16:creationId xmlns:a16="http://schemas.microsoft.com/office/drawing/2014/main" id="{956ADA7D-C5BF-D213-6720-23A1C842F4D0}"/>
              </a:ext>
            </a:extLst>
          </p:cNvPr>
          <p:cNvSpPr>
            <a:spLocks noChangeAspect="1"/>
          </p:cNvSpPr>
          <p:nvPr/>
        </p:nvSpPr>
        <p:spPr>
          <a:xfrm>
            <a:off x="613435" y="3297170"/>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3</a:t>
            </a:r>
            <a:endParaRPr lang="ja-JP" altLang="en-US" sz="1600" b="1" spc="70" dirty="0">
              <a:solidFill>
                <a:schemeClr val="bg1"/>
              </a:solidFill>
              <a:ea typeface="+mj-ea"/>
            </a:endParaRPr>
          </a:p>
        </p:txBody>
      </p:sp>
      <p:sp>
        <p:nvSpPr>
          <p:cNvPr id="37" name="楕円 36">
            <a:extLst>
              <a:ext uri="{FF2B5EF4-FFF2-40B4-BE49-F238E27FC236}">
                <a16:creationId xmlns:a16="http://schemas.microsoft.com/office/drawing/2014/main" id="{E576DF4D-4E9B-1204-40C0-E6AC3658458A}"/>
              </a:ext>
            </a:extLst>
          </p:cNvPr>
          <p:cNvSpPr>
            <a:spLocks noChangeAspect="1"/>
          </p:cNvSpPr>
          <p:nvPr/>
        </p:nvSpPr>
        <p:spPr>
          <a:xfrm>
            <a:off x="613435" y="402758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4</a:t>
            </a:r>
            <a:endParaRPr lang="ja-JP" altLang="en-US" sz="1600" b="1" spc="70" dirty="0">
              <a:solidFill>
                <a:schemeClr val="bg1"/>
              </a:solidFill>
              <a:ea typeface="+mj-ea"/>
            </a:endParaRPr>
          </a:p>
        </p:txBody>
      </p:sp>
      <p:sp>
        <p:nvSpPr>
          <p:cNvPr id="38" name="楕円 37">
            <a:extLst>
              <a:ext uri="{FF2B5EF4-FFF2-40B4-BE49-F238E27FC236}">
                <a16:creationId xmlns:a16="http://schemas.microsoft.com/office/drawing/2014/main" id="{ACEF13D5-5C48-6E65-68D1-217A140C3016}"/>
              </a:ext>
            </a:extLst>
          </p:cNvPr>
          <p:cNvSpPr>
            <a:spLocks noChangeAspect="1"/>
          </p:cNvSpPr>
          <p:nvPr/>
        </p:nvSpPr>
        <p:spPr>
          <a:xfrm>
            <a:off x="613435" y="501181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5</a:t>
            </a:r>
            <a:endParaRPr lang="ja-JP" altLang="en-US" sz="1600" b="1" spc="70" dirty="0">
              <a:solidFill>
                <a:schemeClr val="bg1"/>
              </a:solidFill>
              <a:ea typeface="+mj-ea"/>
            </a:endParaRPr>
          </a:p>
        </p:txBody>
      </p:sp>
      <p:sp>
        <p:nvSpPr>
          <p:cNvPr id="39" name="楕円 38">
            <a:extLst>
              <a:ext uri="{FF2B5EF4-FFF2-40B4-BE49-F238E27FC236}">
                <a16:creationId xmlns:a16="http://schemas.microsoft.com/office/drawing/2014/main" id="{6165E92A-C06D-AE2F-D14B-947E6D286B3F}"/>
              </a:ext>
            </a:extLst>
          </p:cNvPr>
          <p:cNvSpPr>
            <a:spLocks noChangeAspect="1"/>
          </p:cNvSpPr>
          <p:nvPr/>
        </p:nvSpPr>
        <p:spPr>
          <a:xfrm>
            <a:off x="613435" y="5982493"/>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6</a:t>
            </a:r>
            <a:endParaRPr lang="ja-JP" altLang="en-US" sz="1600" b="1" spc="70" dirty="0">
              <a:solidFill>
                <a:schemeClr val="bg1"/>
              </a:solidFill>
              <a:ea typeface="+mj-ea"/>
            </a:endParaRPr>
          </a:p>
        </p:txBody>
      </p:sp>
    </p:spTree>
    <p:extLst>
      <p:ext uri="{BB962C8B-B14F-4D97-AF65-F5344CB8AC3E}">
        <p14:creationId xmlns:p14="http://schemas.microsoft.com/office/powerpoint/2010/main" val="2457898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
          <p:cNvSpPr txBox="1"/>
          <p:nvPr/>
        </p:nvSpPr>
        <p:spPr>
          <a:xfrm>
            <a:off x="6191813" y="1667046"/>
            <a:ext cx="4500000" cy="2382191"/>
          </a:xfrm>
          <a:prstGeom prst="rect">
            <a:avLst/>
          </a:prstGeom>
          <a:noFill/>
          <a:ln>
            <a:noFill/>
          </a:ln>
        </p:spPr>
        <p:txBody>
          <a:bodyPr spcFirstLastPara="1" wrap="square" lIns="0" tIns="0" rIns="0" bIns="0" anchor="t" anchorCtr="0">
            <a:spAutoFit/>
          </a:bodyPr>
          <a:lstStyle>
            <a:defPPr>
              <a:defRPr lang="en-US"/>
            </a:defPPr>
            <a:lvl1pPr>
              <a:lnSpc>
                <a:spcPct val="110000"/>
              </a:lnSpc>
              <a:spcAft>
                <a:spcPts val="2400"/>
              </a:spcAft>
              <a:buClr>
                <a:schemeClr val="dk1"/>
              </a:buClr>
              <a:buSzPts val="1400"/>
              <a:defRPr sz="2400" b="1" spc="70">
                <a:latin typeface="+mj-lt"/>
                <a:ea typeface="+mj-ea"/>
              </a:defRPr>
            </a:lvl1pPr>
          </a:lstStyle>
          <a:p>
            <a:pPr>
              <a:spcAft>
                <a:spcPts val="1000"/>
              </a:spcAft>
            </a:pPr>
            <a:r>
              <a:rPr lang="en-US" altLang="ja-JP" sz="1600" dirty="0"/>
              <a:t>Valuation Summary </a:t>
            </a:r>
            <a:r>
              <a:rPr lang="ja-JP" altLang="en-US" sz="1600" dirty="0"/>
              <a:t>／ </a:t>
            </a:r>
            <a:br>
              <a:rPr lang="en-US" altLang="ja-JP" sz="1800" dirty="0"/>
            </a:br>
            <a:r>
              <a:rPr lang="ja-JP" altLang="en-US" sz="2200" dirty="0"/>
              <a:t>試算結果</a:t>
            </a:r>
            <a:endParaRPr lang="en-US" altLang="ja-JP" sz="2200" dirty="0"/>
          </a:p>
          <a:p>
            <a:pPr>
              <a:spcAft>
                <a:spcPts val="1000"/>
              </a:spcAft>
            </a:pPr>
            <a:r>
              <a:rPr lang="en-US" altLang="ja-JP" sz="1600" dirty="0"/>
              <a:t>Financial Analysis </a:t>
            </a:r>
            <a:r>
              <a:rPr lang="ja-JP" altLang="en-US" sz="1600" dirty="0"/>
              <a:t>／ </a:t>
            </a:r>
            <a:br>
              <a:rPr lang="en-US" altLang="ja-JP" sz="1800" dirty="0"/>
            </a:br>
            <a:r>
              <a:rPr lang="ja-JP" altLang="en-US" dirty="0"/>
              <a:t>財務情報の分析</a:t>
            </a:r>
          </a:p>
          <a:p>
            <a:pPr>
              <a:spcAft>
                <a:spcPts val="1000"/>
              </a:spcAft>
            </a:pPr>
            <a:r>
              <a:rPr lang="en-US" altLang="ja-JP" sz="1600" dirty="0"/>
              <a:t>Valuation Details </a:t>
            </a:r>
            <a:r>
              <a:rPr lang="ja-JP" altLang="en-US" sz="1600" dirty="0"/>
              <a:t>／ </a:t>
            </a:r>
            <a:br>
              <a:rPr lang="en-US" altLang="ja-JP" sz="1800" dirty="0"/>
            </a:br>
            <a:r>
              <a:rPr lang="ja-JP" altLang="en-US" dirty="0"/>
              <a:t>株式価値の試算</a:t>
            </a:r>
          </a:p>
        </p:txBody>
      </p:sp>
      <p:sp>
        <p:nvSpPr>
          <p:cNvPr id="7" name="正方形/長方形 6">
            <a:extLst>
              <a:ext uri="{FF2B5EF4-FFF2-40B4-BE49-F238E27FC236}">
                <a16:creationId xmlns:a16="http://schemas.microsoft.com/office/drawing/2014/main" id="{2C1708EA-89F0-5F4C-1E17-8D5ACE55DC86}"/>
              </a:ext>
            </a:extLst>
          </p:cNvPr>
          <p:cNvSpPr/>
          <p:nvPr/>
        </p:nvSpPr>
        <p:spPr>
          <a:xfrm>
            <a:off x="5624541" y="1732147"/>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8" name="正方形/長方形 7">
            <a:extLst>
              <a:ext uri="{FF2B5EF4-FFF2-40B4-BE49-F238E27FC236}">
                <a16:creationId xmlns:a16="http://schemas.microsoft.com/office/drawing/2014/main" id="{CD50E8F0-8863-1FB0-5044-94DF9D298836}"/>
              </a:ext>
            </a:extLst>
          </p:cNvPr>
          <p:cNvSpPr/>
          <p:nvPr/>
        </p:nvSpPr>
        <p:spPr>
          <a:xfrm>
            <a:off x="5624542" y="2489129"/>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9" name="正方形/長方形 8">
            <a:extLst>
              <a:ext uri="{FF2B5EF4-FFF2-40B4-BE49-F238E27FC236}">
                <a16:creationId xmlns:a16="http://schemas.microsoft.com/office/drawing/2014/main" id="{93D365FE-0FEC-F530-0DDB-077BF8F26623}"/>
              </a:ext>
            </a:extLst>
          </p:cNvPr>
          <p:cNvSpPr/>
          <p:nvPr/>
        </p:nvSpPr>
        <p:spPr>
          <a:xfrm>
            <a:off x="5624542" y="3297805"/>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0" name="正方形/長方形 9">
            <a:extLst>
              <a:ext uri="{FF2B5EF4-FFF2-40B4-BE49-F238E27FC236}">
                <a16:creationId xmlns:a16="http://schemas.microsoft.com/office/drawing/2014/main" id="{356BA6C0-4C4F-20D8-A4B5-B9A7E93A5626}"/>
              </a:ext>
            </a:extLst>
          </p:cNvPr>
          <p:cNvSpPr/>
          <p:nvPr/>
        </p:nvSpPr>
        <p:spPr>
          <a:xfrm>
            <a:off x="5624541" y="4876948"/>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11" name="正方形/長方形 10">
            <a:extLst>
              <a:ext uri="{FF2B5EF4-FFF2-40B4-BE49-F238E27FC236}">
                <a16:creationId xmlns:a16="http://schemas.microsoft.com/office/drawing/2014/main" id="{A3313A39-62ED-3ADF-A7D6-60D17898BFB5}"/>
              </a:ext>
            </a:extLst>
          </p:cNvPr>
          <p:cNvSpPr/>
          <p:nvPr/>
        </p:nvSpPr>
        <p:spPr>
          <a:xfrm>
            <a:off x="5624542" y="569409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grpSp>
        <p:nvGrpSpPr>
          <p:cNvPr id="18" name="グループ化 17">
            <a:extLst>
              <a:ext uri="{FF2B5EF4-FFF2-40B4-BE49-F238E27FC236}">
                <a16:creationId xmlns:a16="http://schemas.microsoft.com/office/drawing/2014/main" id="{0DDEFAE0-C3C3-0B06-AC36-5F2C87ABC64B}"/>
              </a:ext>
            </a:extLst>
          </p:cNvPr>
          <p:cNvGrpSpPr/>
          <p:nvPr/>
        </p:nvGrpSpPr>
        <p:grpSpPr>
          <a:xfrm>
            <a:off x="5624541" y="1159642"/>
            <a:ext cx="3492000" cy="310672"/>
            <a:chOff x="885525" y="2895310"/>
            <a:chExt cx="3492000" cy="310672"/>
          </a:xfrm>
        </p:grpSpPr>
        <p:sp>
          <p:nvSpPr>
            <p:cNvPr id="19" name="テキスト ボックス 18">
              <a:extLst>
                <a:ext uri="{FF2B5EF4-FFF2-40B4-BE49-F238E27FC236}">
                  <a16:creationId xmlns:a16="http://schemas.microsoft.com/office/drawing/2014/main" id="{0894204C-E42E-AEE7-1705-732C7C1CA805}"/>
                </a:ext>
              </a:extLst>
            </p:cNvPr>
            <p:cNvSpPr txBox="1"/>
            <p:nvPr/>
          </p:nvSpPr>
          <p:spPr>
            <a:xfrm>
              <a:off x="974063" y="2895310"/>
              <a:ext cx="2099337" cy="276999"/>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1800" spc="50" dirty="0">
                  <a:solidFill>
                    <a:schemeClr val="tx2"/>
                  </a:solidFill>
                </a:rPr>
                <a:t>Section</a:t>
              </a:r>
              <a:endParaRPr lang="ja-JP" altLang="en-US" sz="1800" spc="50" dirty="0">
                <a:solidFill>
                  <a:schemeClr val="tx2"/>
                </a:solidFill>
              </a:endParaRPr>
            </a:p>
          </p:txBody>
        </p:sp>
        <p:cxnSp>
          <p:nvCxnSpPr>
            <p:cNvPr id="20" name="直線コネクタ 19">
              <a:extLst>
                <a:ext uri="{FF2B5EF4-FFF2-40B4-BE49-F238E27FC236}">
                  <a16:creationId xmlns:a16="http://schemas.microsoft.com/office/drawing/2014/main" id="{8F991BA0-BA15-EAE6-6617-CF5AE0EA46D0}"/>
                </a:ext>
              </a:extLst>
            </p:cNvPr>
            <p:cNvCxnSpPr>
              <a:cxnSpLocks/>
            </p:cNvCxnSpPr>
            <p:nvPr/>
          </p:nvCxnSpPr>
          <p:spPr>
            <a:xfrm>
              <a:off x="885525" y="3205982"/>
              <a:ext cx="3492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1" name="グループ化 20">
            <a:extLst>
              <a:ext uri="{FF2B5EF4-FFF2-40B4-BE49-F238E27FC236}">
                <a16:creationId xmlns:a16="http://schemas.microsoft.com/office/drawing/2014/main" id="{C5DA3EA3-89C2-83D0-3698-1ECBC4BDC2FB}"/>
              </a:ext>
            </a:extLst>
          </p:cNvPr>
          <p:cNvGrpSpPr/>
          <p:nvPr/>
        </p:nvGrpSpPr>
        <p:grpSpPr>
          <a:xfrm>
            <a:off x="5624541" y="4298553"/>
            <a:ext cx="3492000" cy="310672"/>
            <a:chOff x="885525" y="2895310"/>
            <a:chExt cx="3492000" cy="310672"/>
          </a:xfrm>
        </p:grpSpPr>
        <p:sp>
          <p:nvSpPr>
            <p:cNvPr id="22" name="テキスト ボックス 21">
              <a:extLst>
                <a:ext uri="{FF2B5EF4-FFF2-40B4-BE49-F238E27FC236}">
                  <a16:creationId xmlns:a16="http://schemas.microsoft.com/office/drawing/2014/main" id="{9C1DC0E6-ED6E-2F07-E66C-1E1D60682552}"/>
                </a:ext>
              </a:extLst>
            </p:cNvPr>
            <p:cNvSpPr txBox="1"/>
            <p:nvPr/>
          </p:nvSpPr>
          <p:spPr>
            <a:xfrm>
              <a:off x="974063" y="2895310"/>
              <a:ext cx="2099337" cy="276999"/>
            </a:xfrm>
            <a:prstGeom prst="rect">
              <a:avLst/>
            </a:prstGeom>
            <a:noFill/>
          </p:spPr>
          <p:txBody>
            <a:bodyPr wrap="square" lIns="0" tIns="0" rIns="0" bIns="0" rtlCol="0" anchor="ctr">
              <a:spAutoFit/>
            </a:bodyPr>
            <a:lstStyle>
              <a:defPPr>
                <a:defRPr lang="en-US"/>
              </a:defPPr>
              <a:lvl1pPr defTabSz="1007943">
                <a:lnSpc>
                  <a:spcPct val="100000"/>
                </a:lnSpc>
                <a:spcBef>
                  <a:spcPct val="0"/>
                </a:spcBef>
                <a:buClr>
                  <a:schemeClr val="bg1"/>
                </a:buClr>
                <a:buNone/>
                <a:defRPr kumimoji="1" b="1" spc="100">
                  <a:solidFill>
                    <a:schemeClr val="tx2"/>
                  </a:solidFill>
                  <a:latin typeface="+mj-lt"/>
                  <a:ea typeface="+mj-ea"/>
                </a:defRPr>
              </a:lvl1pPr>
            </a:lstStyle>
            <a:p>
              <a:r>
                <a:rPr lang="en-US" altLang="ja-JP" spc="50" dirty="0"/>
                <a:t>Appendix</a:t>
              </a:r>
            </a:p>
          </p:txBody>
        </p:sp>
        <p:cxnSp>
          <p:nvCxnSpPr>
            <p:cNvPr id="23" name="直線コネクタ 22">
              <a:extLst>
                <a:ext uri="{FF2B5EF4-FFF2-40B4-BE49-F238E27FC236}">
                  <a16:creationId xmlns:a16="http://schemas.microsoft.com/office/drawing/2014/main" id="{612D37CD-A59C-F55E-221F-B13CD355E5F9}"/>
                </a:ext>
              </a:extLst>
            </p:cNvPr>
            <p:cNvCxnSpPr>
              <a:cxnSpLocks/>
            </p:cNvCxnSpPr>
            <p:nvPr/>
          </p:nvCxnSpPr>
          <p:spPr>
            <a:xfrm>
              <a:off x="885525" y="3205982"/>
              <a:ext cx="3492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24" name="Google Shape;194;p3">
            <a:extLst>
              <a:ext uri="{FF2B5EF4-FFF2-40B4-BE49-F238E27FC236}">
                <a16:creationId xmlns:a16="http://schemas.microsoft.com/office/drawing/2014/main" id="{51263BEA-61A8-35D5-87C2-23D10C6930F5}"/>
              </a:ext>
            </a:extLst>
          </p:cNvPr>
          <p:cNvSpPr txBox="1"/>
          <p:nvPr/>
        </p:nvSpPr>
        <p:spPr>
          <a:xfrm>
            <a:off x="6191813" y="4825113"/>
            <a:ext cx="4500000" cy="1610697"/>
          </a:xfrm>
          <a:prstGeom prst="rect">
            <a:avLst/>
          </a:prstGeom>
          <a:noFill/>
          <a:ln>
            <a:noFill/>
          </a:ln>
        </p:spPr>
        <p:txBody>
          <a:bodyPr spcFirstLastPara="1" wrap="square" lIns="0" tIns="0" rIns="0" bIns="0" anchor="t" anchorCtr="0">
            <a:spAutoFit/>
          </a:bodyPr>
          <a:lstStyle>
            <a:defPPr>
              <a:defRPr lang="en-US"/>
            </a:defPPr>
            <a:lvl1pPr>
              <a:lnSpc>
                <a:spcPct val="110000"/>
              </a:lnSpc>
              <a:spcAft>
                <a:spcPts val="2400"/>
              </a:spcAft>
              <a:buClr>
                <a:schemeClr val="dk1"/>
              </a:buClr>
              <a:buSzPts val="1400"/>
              <a:defRPr sz="2400" b="1" spc="70">
                <a:latin typeface="+mj-lt"/>
                <a:ea typeface="+mj-ea"/>
              </a:defRPr>
            </a:lvl1pPr>
          </a:lstStyle>
          <a:p>
            <a:pPr>
              <a:spcAft>
                <a:spcPts val="1000"/>
              </a:spcAft>
            </a:pPr>
            <a:r>
              <a:rPr lang="en-US" altLang="ja-JP" sz="1600" dirty="0"/>
              <a:t>Valuation Methodology </a:t>
            </a:r>
            <a:r>
              <a:rPr lang="ja-JP" altLang="en-US" sz="1600" dirty="0"/>
              <a:t>／ </a:t>
            </a:r>
            <a:br>
              <a:rPr lang="en-US" altLang="ja-JP" sz="1800" dirty="0"/>
            </a:br>
            <a:r>
              <a:rPr lang="ja-JP" altLang="en-US" dirty="0"/>
              <a:t>評価手法について</a:t>
            </a:r>
            <a:endParaRPr lang="en-US" altLang="ja-JP" dirty="0"/>
          </a:p>
          <a:p>
            <a:pPr>
              <a:spcAft>
                <a:spcPts val="1000"/>
              </a:spcAft>
            </a:pPr>
            <a:r>
              <a:rPr lang="en-US" altLang="ja-JP" sz="1600" dirty="0"/>
              <a:t>Valuation Concept </a:t>
            </a:r>
            <a:r>
              <a:rPr lang="ja-JP" altLang="en-US" sz="1600" dirty="0"/>
              <a:t>／ </a:t>
            </a:r>
            <a:br>
              <a:rPr lang="en-US" altLang="ja-JP" sz="1800" dirty="0"/>
            </a:br>
            <a:r>
              <a:rPr lang="ja-JP" altLang="en-US" dirty="0"/>
              <a:t>株式価値の考え方</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E3DA6B61-FAFD-DD87-1996-71591FC85C3F}"/>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Valuation Summary </a:t>
            </a:r>
            <a:r>
              <a:rPr lang="ja-JP" altLang="en-US" dirty="0"/>
              <a:t>／</a:t>
            </a:r>
            <a:br>
              <a:rPr lang="en-US" altLang="ja-JP" dirty="0"/>
            </a:br>
            <a:r>
              <a:rPr lang="ja-JP" altLang="en-US" dirty="0"/>
              <a:t>試算結果</a:t>
            </a:r>
          </a:p>
        </p:txBody>
      </p:sp>
      <p:grpSp>
        <p:nvGrpSpPr>
          <p:cNvPr id="11" name="グループ化 10">
            <a:extLst>
              <a:ext uri="{FF2B5EF4-FFF2-40B4-BE49-F238E27FC236}">
                <a16:creationId xmlns:a16="http://schemas.microsoft.com/office/drawing/2014/main" id="{28C8DACB-015F-010F-F923-94C20FE54908}"/>
              </a:ext>
            </a:extLst>
          </p:cNvPr>
          <p:cNvGrpSpPr/>
          <p:nvPr/>
        </p:nvGrpSpPr>
        <p:grpSpPr>
          <a:xfrm>
            <a:off x="885526" y="2173586"/>
            <a:ext cx="3390141" cy="651396"/>
            <a:chOff x="885526" y="2554586"/>
            <a:chExt cx="3390141" cy="651396"/>
          </a:xfrm>
        </p:grpSpPr>
        <p:sp>
          <p:nvSpPr>
            <p:cNvPr id="12" name="テキスト ボックス 11">
              <a:extLst>
                <a:ext uri="{FF2B5EF4-FFF2-40B4-BE49-F238E27FC236}">
                  <a16:creationId xmlns:a16="http://schemas.microsoft.com/office/drawing/2014/main" id="{22B6E4BF-C4F4-525F-6A55-FCF5A0ACC52E}"/>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1</a:t>
              </a:r>
              <a:endParaRPr lang="ja-JP" altLang="en-US" spc="100" dirty="0">
                <a:solidFill>
                  <a:schemeClr val="accent2">
                    <a:lumMod val="90000"/>
                  </a:schemeClr>
                </a:solidFill>
              </a:endParaRPr>
            </a:p>
          </p:txBody>
        </p:sp>
        <p:cxnSp>
          <p:nvCxnSpPr>
            <p:cNvPr id="13" name="直線コネクタ 12">
              <a:extLst>
                <a:ext uri="{FF2B5EF4-FFF2-40B4-BE49-F238E27FC236}">
                  <a16:creationId xmlns:a16="http://schemas.microsoft.com/office/drawing/2014/main" id="{6086A45E-386C-748D-F12D-BB22E67E44E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22226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65677-B8B4-CBCB-42B2-C7230FBB069D}"/>
            </a:ext>
          </a:extLst>
        </p:cNvPr>
        <p:cNvGrpSpPr/>
        <p:nvPr/>
      </p:nvGrpSpPr>
      <p:grpSpPr>
        <a:xfrm>
          <a:off x="0" y="0"/>
          <a:ext cx="0" cy="0"/>
          <a:chOff x="0" y="0"/>
          <a:chExt cx="0" cy="0"/>
        </a:xfrm>
      </p:grpSpPr>
      <p:sp>
        <p:nvSpPr>
          <p:cNvPr id="5" name="字幕 4">
            <a:extLst>
              <a:ext uri="{FF2B5EF4-FFF2-40B4-BE49-F238E27FC236}">
                <a16:creationId xmlns:a16="http://schemas.microsoft.com/office/drawing/2014/main" id="{40B59A8A-DD72-B327-5EE3-75AE45DE656C}"/>
              </a:ext>
            </a:extLst>
          </p:cNvPr>
          <p:cNvSpPr>
            <a:spLocks noGrp="1"/>
          </p:cNvSpPr>
          <p:nvPr>
            <p:ph type="subTitle" idx="1"/>
          </p:nvPr>
        </p:nvSpPr>
        <p:spPr/>
        <p:txBody>
          <a:bodyPr/>
          <a:lstStyle/>
          <a:p>
            <a:r>
              <a:rPr lang="ja-JP" altLang="en-US" dirty="0"/>
              <a:t>現在、一般的に認められている株式価値算定の手法は次のとおり分類されています</a:t>
            </a:r>
          </a:p>
        </p:txBody>
      </p:sp>
      <p:sp>
        <p:nvSpPr>
          <p:cNvPr id="2" name="タイトル 1">
            <a:extLst>
              <a:ext uri="{FF2B5EF4-FFF2-40B4-BE49-F238E27FC236}">
                <a16:creationId xmlns:a16="http://schemas.microsoft.com/office/drawing/2014/main" id="{6661711B-6AA4-E2BF-069F-2959DD69E33E}"/>
              </a:ext>
            </a:extLst>
          </p:cNvPr>
          <p:cNvSpPr>
            <a:spLocks noGrp="1"/>
          </p:cNvSpPr>
          <p:nvPr>
            <p:ph type="ctrTitle"/>
          </p:nvPr>
        </p:nvSpPr>
        <p:spPr/>
        <p:txBody>
          <a:bodyPr/>
          <a:lstStyle/>
          <a:p>
            <a:r>
              <a:rPr lang="ja-JP" altLang="en-US" dirty="0"/>
              <a:t>採用するアプローチの選定</a:t>
            </a:r>
          </a:p>
        </p:txBody>
      </p:sp>
      <p:sp>
        <p:nvSpPr>
          <p:cNvPr id="3" name="タイトル 1">
            <a:extLst>
              <a:ext uri="{FF2B5EF4-FFF2-40B4-BE49-F238E27FC236}">
                <a16:creationId xmlns:a16="http://schemas.microsoft.com/office/drawing/2014/main" id="{E07A9094-1106-36D4-CE53-B7B2CE8FC369}"/>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6" name="乗算記号 5">
            <a:extLst>
              <a:ext uri="{FF2B5EF4-FFF2-40B4-BE49-F238E27FC236}">
                <a16:creationId xmlns:a16="http://schemas.microsoft.com/office/drawing/2014/main" id="{142BB6C9-EEAE-1776-D618-40F16814CE0C}"/>
              </a:ext>
            </a:extLst>
          </p:cNvPr>
          <p:cNvSpPr/>
          <p:nvPr/>
        </p:nvSpPr>
        <p:spPr>
          <a:xfrm>
            <a:off x="5418835" y="3889114"/>
            <a:ext cx="747006" cy="72381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3" name="フローチャート: 処理 12">
            <a:extLst>
              <a:ext uri="{FF2B5EF4-FFF2-40B4-BE49-F238E27FC236}">
                <a16:creationId xmlns:a16="http://schemas.microsoft.com/office/drawing/2014/main" id="{FA8545AF-F6D4-C9D4-463F-EE482C1828FE}"/>
              </a:ext>
            </a:extLst>
          </p:cNvPr>
          <p:cNvSpPr/>
          <p:nvPr/>
        </p:nvSpPr>
        <p:spPr>
          <a:xfrm>
            <a:off x="449264" y="6120538"/>
            <a:ext cx="9793286" cy="72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nSpc>
                <a:spcPct val="120000"/>
              </a:lnSpc>
              <a:spcAft>
                <a:spcPts val="300"/>
              </a:spcAft>
            </a:pPr>
            <a:r>
              <a:rPr lang="ja-JP" altLang="en-US" sz="1200" b="1" spc="30">
                <a:solidFill>
                  <a:schemeClr val="tx2"/>
                </a:solidFill>
                <a:latin typeface="+mj-ea"/>
                <a:ea typeface="+mj-ea"/>
              </a:rPr>
              <a:t>最適な評価手法の選定にあたっては、対象会社の性質や評価目的などを踏まえ、総合的に判断する必要があります。</a:t>
            </a:r>
            <a:br>
              <a:rPr lang="en-US" altLang="ja-JP" sz="1200" b="1" spc="30">
                <a:solidFill>
                  <a:schemeClr val="tx2"/>
                </a:solidFill>
                <a:latin typeface="+mj-ea"/>
                <a:ea typeface="+mj-ea"/>
              </a:rPr>
            </a:br>
            <a:r>
              <a:rPr lang="ja-JP" altLang="en-US" sz="1200" b="1" spc="30">
                <a:solidFill>
                  <a:schemeClr val="tx2"/>
                </a:solidFill>
                <a:latin typeface="+mj-ea"/>
                <a:ea typeface="+mj-ea"/>
              </a:rPr>
              <a:t>なお、各手法の概略につきましては、「</a:t>
            </a:r>
            <a:r>
              <a:rPr lang="en-US" altLang="ja-JP" sz="1200" b="1" spc="30">
                <a:solidFill>
                  <a:schemeClr val="tx2"/>
                </a:solidFill>
                <a:latin typeface="+mj-ea"/>
                <a:ea typeface="+mj-ea"/>
              </a:rPr>
              <a:t>Appendix2.</a:t>
            </a:r>
            <a:r>
              <a:rPr lang="ja-JP" altLang="en-US" sz="1200" b="1" spc="30">
                <a:solidFill>
                  <a:schemeClr val="tx2"/>
                </a:solidFill>
                <a:latin typeface="+mj-ea"/>
                <a:ea typeface="+mj-ea"/>
              </a:rPr>
              <a:t>評価手法について」をご確認ください。</a:t>
            </a:r>
            <a:endParaRPr kumimoji="1" lang="ja-JP" altLang="en-US" sz="1200" b="1" spc="30" dirty="0">
              <a:solidFill>
                <a:schemeClr val="tx2"/>
              </a:solidFill>
              <a:latin typeface="+mj-ea"/>
              <a:ea typeface="+mj-ea"/>
            </a:endParaRPr>
          </a:p>
        </p:txBody>
      </p:sp>
      <p:sp>
        <p:nvSpPr>
          <p:cNvPr id="14" name="乗算記号 13">
            <a:extLst>
              <a:ext uri="{FF2B5EF4-FFF2-40B4-BE49-F238E27FC236}">
                <a16:creationId xmlns:a16="http://schemas.microsoft.com/office/drawing/2014/main" id="{0E497E37-91F1-6E83-A999-ACA92BE33138}"/>
              </a:ext>
            </a:extLst>
          </p:cNvPr>
          <p:cNvSpPr/>
          <p:nvPr/>
        </p:nvSpPr>
        <p:spPr>
          <a:xfrm>
            <a:off x="5364867" y="5236843"/>
            <a:ext cx="854815" cy="82827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aphicFrame>
        <p:nvGraphicFramePr>
          <p:cNvPr id="15" name="表 14">
            <a:extLst>
              <a:ext uri="{FF2B5EF4-FFF2-40B4-BE49-F238E27FC236}">
                <a16:creationId xmlns:a16="http://schemas.microsoft.com/office/drawing/2014/main" id="{4C5CBA27-1CE9-EB68-0FF4-E0BB71BB8CFC}"/>
              </a:ext>
            </a:extLst>
          </p:cNvPr>
          <p:cNvGraphicFramePr>
            <a:graphicFrameLocks noGrp="1"/>
          </p:cNvGraphicFramePr>
          <p:nvPr/>
        </p:nvGraphicFramePr>
        <p:xfrm>
          <a:off x="456921" y="1366838"/>
          <a:ext cx="9792000" cy="44640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1274597146"/>
                    </a:ext>
                  </a:extLst>
                </a:gridCol>
                <a:gridCol w="1440000">
                  <a:extLst>
                    <a:ext uri="{9D8B030D-6E8A-4147-A177-3AD203B41FA5}">
                      <a16:colId xmlns:a16="http://schemas.microsoft.com/office/drawing/2014/main" val="671554233"/>
                    </a:ext>
                  </a:extLst>
                </a:gridCol>
                <a:gridCol w="1908000">
                  <a:extLst>
                    <a:ext uri="{9D8B030D-6E8A-4147-A177-3AD203B41FA5}">
                      <a16:colId xmlns:a16="http://schemas.microsoft.com/office/drawing/2014/main" val="633478589"/>
                    </a:ext>
                  </a:extLst>
                </a:gridCol>
                <a:gridCol w="792000">
                  <a:extLst>
                    <a:ext uri="{9D8B030D-6E8A-4147-A177-3AD203B41FA5}">
                      <a16:colId xmlns:a16="http://schemas.microsoft.com/office/drawing/2014/main" val="2625689903"/>
                    </a:ext>
                  </a:extLst>
                </a:gridCol>
                <a:gridCol w="4212000">
                  <a:extLst>
                    <a:ext uri="{9D8B030D-6E8A-4147-A177-3AD203B41FA5}">
                      <a16:colId xmlns:a16="http://schemas.microsoft.com/office/drawing/2014/main" val="634309969"/>
                    </a:ext>
                  </a:extLst>
                </a:gridCol>
              </a:tblGrid>
              <a:tr h="360000">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評価アプローチ</a:t>
                      </a:r>
                    </a:p>
                  </a:txBody>
                  <a:tcPr marL="108000" marR="108000" marT="0" marB="0" anchor="ctr">
                    <a:lnL w="12700" cmpd="sng">
                      <a:noFill/>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着目点</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評価手法</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gridSpan="2">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採用可否と選定理由</a:t>
                      </a:r>
                    </a:p>
                  </a:txBody>
                  <a:tcPr marL="108000" marR="108000" marT="0" marB="0" anchor="ctr">
                    <a:lnL w="12700" cap="flat" cmpd="sng" algn="ctr">
                      <a:solidFill>
                        <a:schemeClr val="bg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hMerge="1">
                  <a:txBody>
                    <a:bodyPr/>
                    <a:lstStyle/>
                    <a:p>
                      <a:endParaRPr kumimoji="1" lang="ja-JP" altLang="en-US" dirty="0"/>
                    </a:p>
                  </a:txBody>
                  <a:tcPr/>
                </a:tc>
                <a:extLst>
                  <a:ext uri="{0D108BD9-81ED-4DB2-BD59-A6C34878D82A}">
                    <a16:rowId xmlns:a16="http://schemas.microsoft.com/office/drawing/2014/main" val="3874904672"/>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コスト</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100" b="1" kern="1200" dirty="0">
                          <a:solidFill>
                            <a:schemeClr val="dk1"/>
                          </a:solidFill>
                          <a:latin typeface="+mj-lt"/>
                          <a:ea typeface="+mj-ea"/>
                          <a:cs typeface="+mn-cs"/>
                        </a:rPr>
                        <a:t>企業の</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純資産価値</a:t>
                      </a:r>
                      <a:endParaRPr kumimoji="1" lang="en-US" altLang="ja-JP" sz="11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j-lt"/>
                          <a:ea typeface="+mj-ea"/>
                          <a:cs typeface="+mn-cs"/>
                        </a:rPr>
                        <a:t>□ 薄価純資産価額法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時価純資産価額法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tx2"/>
                          </a:solidFill>
                          <a:latin typeface="+mn-lt"/>
                          <a:ea typeface="+mn-ea"/>
                          <a:cs typeface="+mn-cs"/>
                        </a:rPr>
                        <a:t>□ </a:t>
                      </a:r>
                      <a:r>
                        <a:rPr kumimoji="1" lang="ja-JP" altLang="en-US" sz="1100" b="1" kern="1200" dirty="0">
                          <a:solidFill>
                            <a:schemeClr val="tx2"/>
                          </a:solidFill>
                          <a:latin typeface="+mj-lt"/>
                          <a:ea typeface="+mj-ea"/>
                          <a:cs typeface="+mn-cs"/>
                        </a:rPr>
                        <a:t>時価純資産＋営業権法</a:t>
                      </a:r>
                      <a:br>
                        <a:rPr kumimoji="1" lang="en-US" altLang="ja-JP" sz="1100" b="1" kern="1200" dirty="0">
                          <a:solidFill>
                            <a:schemeClr val="tx2"/>
                          </a:solidFill>
                          <a:latin typeface="+mj-lt"/>
                          <a:ea typeface="+mj-ea"/>
                          <a:cs typeface="+mn-cs"/>
                        </a:rPr>
                      </a:br>
                      <a:r>
                        <a:rPr kumimoji="1" lang="ja-JP" altLang="en-US" sz="900" b="1" kern="1200" dirty="0">
                          <a:solidFill>
                            <a:schemeClr val="tx2"/>
                          </a:solidFill>
                          <a:latin typeface="+mj-lt"/>
                          <a:ea typeface="+mj-ea"/>
                          <a:cs typeface="+mn-cs"/>
                        </a:rPr>
                        <a:t>　（年買法）</a:t>
                      </a: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時価純資産に会社の超過収益力である営業権を加算することで</a:t>
                      </a:r>
                      <a:br>
                        <a:rPr kumimoji="1" lang="en-US" altLang="ja-JP" sz="1000" b="1" kern="1200" dirty="0">
                          <a:solidFill>
                            <a:schemeClr val="tx2"/>
                          </a:solidFill>
                          <a:latin typeface="+mj-lt"/>
                          <a:ea typeface="+mj-ea"/>
                          <a:cs typeface="+mn-cs"/>
                        </a:rPr>
                      </a:br>
                      <a:r>
                        <a:rPr kumimoji="1" lang="ja-JP" altLang="en-US" sz="1000" b="1" kern="1200" dirty="0">
                          <a:solidFill>
                            <a:schemeClr val="tx2"/>
                          </a:solidFill>
                          <a:latin typeface="+mj-lt"/>
                          <a:ea typeface="+mj-ea"/>
                          <a:cs typeface="+mn-cs"/>
                        </a:rPr>
                        <a:t>継続企業価値を算定する手法</a:t>
                      </a:r>
                    </a:p>
                    <a:p>
                      <a:pPr marL="144000" marR="0" lvl="0" indent="-144000" algn="l" defTabSz="914400" rtl="0" eaLnBrk="1" fontAlgn="auto" latinLnBrk="0" hangingPunct="1">
                        <a:lnSpc>
                          <a:spcPct val="110000"/>
                        </a:lnSpc>
                        <a:spcBef>
                          <a:spcPts val="300"/>
                        </a:spcBef>
                        <a:spcAft>
                          <a:spcPts val="300"/>
                        </a:spcAft>
                        <a:buClr>
                          <a:schemeClr val="accent4"/>
                        </a:buClr>
                        <a:buSzTx/>
                        <a:buFont typeface="游ゴシック" panose="020B0400000000000000" pitchFamily="50" charset="-128"/>
                        <a:buChar char="▪"/>
                        <a:tabLst/>
                        <a:defRPr/>
                      </a:pPr>
                      <a:r>
                        <a:rPr kumimoji="1" lang="ja-JP" altLang="en-US" sz="1000" b="0" kern="1200" dirty="0">
                          <a:solidFill>
                            <a:schemeClr val="dk1"/>
                          </a:solidFill>
                          <a:latin typeface="+mn-ea"/>
                          <a:ea typeface="+mn-ea"/>
                          <a:cs typeface="+mn-cs"/>
                        </a:rPr>
                        <a:t>実質的な財政状態に加え、経営成績をバランスよく反映させることができる「時価純資産価額法」に「営業権」を加味する手法を採用しました。なお、本手法は、中堅・中小企業の</a:t>
                      </a:r>
                      <a:r>
                        <a:rPr kumimoji="1" lang="en-US" altLang="ja-JP" sz="1000" b="0" kern="1200" dirty="0">
                          <a:solidFill>
                            <a:schemeClr val="dk1"/>
                          </a:solidFill>
                          <a:latin typeface="+mn-ea"/>
                          <a:ea typeface="+mn-ea"/>
                          <a:cs typeface="+mn-cs"/>
                        </a:rPr>
                        <a:t>M&amp;A</a:t>
                      </a:r>
                      <a:r>
                        <a:rPr kumimoji="1" lang="ja-JP" altLang="en-US" sz="1000" b="0" kern="1200" dirty="0">
                          <a:solidFill>
                            <a:schemeClr val="dk1"/>
                          </a:solidFill>
                          <a:latin typeface="+mn-ea"/>
                          <a:ea typeface="+mn-ea"/>
                          <a:cs typeface="+mn-cs"/>
                        </a:rPr>
                        <a:t>での株式評価において、最も広く用いられている手法です。</a:t>
                      </a: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074"/>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マーケット</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株式市場</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における株価</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市場価額法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類似業種比準法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tx2"/>
                          </a:solidFill>
                          <a:latin typeface="+mn-lt"/>
                          <a:ea typeface="+mn-ea"/>
                          <a:cs typeface="+mn-cs"/>
                        </a:rPr>
                        <a:t>□ </a:t>
                      </a:r>
                      <a:r>
                        <a:rPr kumimoji="1" lang="ja-JP" altLang="en-US" sz="1100" b="1" kern="1200" dirty="0">
                          <a:solidFill>
                            <a:schemeClr val="tx2"/>
                          </a:solidFill>
                          <a:latin typeface="+mj-lt"/>
                          <a:ea typeface="+mj-ea"/>
                          <a:cs typeface="+mn-cs"/>
                        </a:rPr>
                        <a:t>類似会社比準法</a:t>
                      </a:r>
                      <a:br>
                        <a:rPr kumimoji="1" lang="en-US" altLang="ja-JP" sz="1100" b="1" kern="1200" dirty="0">
                          <a:solidFill>
                            <a:schemeClr val="tx2"/>
                          </a:solidFill>
                          <a:latin typeface="+mj-lt"/>
                          <a:ea typeface="+mj-ea"/>
                          <a:cs typeface="+mn-cs"/>
                        </a:rPr>
                      </a:br>
                      <a:r>
                        <a:rPr kumimoji="1" lang="ja-JP" altLang="en-US" sz="900" b="1" kern="1200" dirty="0">
                          <a:solidFill>
                            <a:schemeClr val="tx2"/>
                          </a:solidFill>
                          <a:latin typeface="+mj-lt"/>
                          <a:ea typeface="+mj-ea"/>
                          <a:cs typeface="+mn-cs"/>
                        </a:rPr>
                        <a:t>（</a:t>
                      </a:r>
                      <a:r>
                        <a:rPr kumimoji="1" lang="en-US" altLang="ja-JP" sz="900" b="1" kern="1200" dirty="0">
                          <a:solidFill>
                            <a:schemeClr val="tx2"/>
                          </a:solidFill>
                          <a:latin typeface="+mj-lt"/>
                          <a:ea typeface="+mj-ea"/>
                          <a:cs typeface="+mn-cs"/>
                        </a:rPr>
                        <a:t>EV/EBITDA</a:t>
                      </a:r>
                      <a:r>
                        <a:rPr kumimoji="1" lang="ja-JP" altLang="en-US" sz="900" b="1" kern="1200" dirty="0">
                          <a:solidFill>
                            <a:schemeClr val="tx2"/>
                          </a:solidFill>
                          <a:latin typeface="+mj-lt"/>
                          <a:ea typeface="+mj-ea"/>
                          <a:cs typeface="+mn-cs"/>
                        </a:rPr>
                        <a:t>マルチプル法）</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規模・業種が類似する企業の株価指標（倍率）をもとに、価値を</a:t>
                      </a:r>
                      <a:br>
                        <a:rPr kumimoji="1" lang="en-US" altLang="ja-JP" sz="1000" b="1" kern="1200" dirty="0">
                          <a:solidFill>
                            <a:schemeClr val="tx2"/>
                          </a:solidFill>
                          <a:latin typeface="+mj-lt"/>
                          <a:ea typeface="+mj-ea"/>
                          <a:cs typeface="+mn-cs"/>
                        </a:rPr>
                      </a:br>
                      <a:r>
                        <a:rPr kumimoji="1" lang="ja-JP" altLang="en-US" sz="1000" b="1" kern="1200" dirty="0">
                          <a:solidFill>
                            <a:schemeClr val="tx2"/>
                          </a:solidFill>
                          <a:latin typeface="+mj-lt"/>
                          <a:ea typeface="+mj-ea"/>
                          <a:cs typeface="+mn-cs"/>
                        </a:rPr>
                        <a:t>算定する手法</a:t>
                      </a:r>
                    </a:p>
                    <a:p>
                      <a:pPr marL="144000" marR="0" lvl="0" indent="-144000" algn="l" defTabSz="914400" rtl="0" eaLnBrk="1" fontAlgn="auto" latinLnBrk="0" hangingPunct="1">
                        <a:lnSpc>
                          <a:spcPct val="110000"/>
                        </a:lnSpc>
                        <a:spcBef>
                          <a:spcPts val="300"/>
                        </a:spcBef>
                        <a:spcAft>
                          <a:spcPts val="300"/>
                        </a:spcAft>
                        <a:buClr>
                          <a:schemeClr val="accent4"/>
                        </a:buClr>
                        <a:buSzTx/>
                        <a:buFont typeface="游ゴシック" panose="020B0400000000000000" pitchFamily="50" charset="-128"/>
                        <a:buChar char="▪"/>
                        <a:tabLst/>
                        <a:defRPr/>
                      </a:pPr>
                      <a:r>
                        <a:rPr kumimoji="1" lang="ja-JP" altLang="en-US" sz="1000" b="0" kern="1200" dirty="0">
                          <a:solidFill>
                            <a:schemeClr val="dk1"/>
                          </a:solidFill>
                          <a:latin typeface="+mn-ea"/>
                          <a:ea typeface="+mn-ea"/>
                          <a:cs typeface="+mn-cs"/>
                        </a:rPr>
                        <a:t>株式市場における客観的な評価尺度である「株価」をベースとし、市場のトレンドを反映できる本手法を採用しました。なお、類似する上場企業の評価倍率を用いることで、第三者からの客観性と納得性が高い評価結果が得られる点が特徴です。</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0160336"/>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インカム</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企業の</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収益力</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収益還元法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en-US" altLang="ja-JP" sz="1100" b="1" kern="1200" dirty="0">
                          <a:solidFill>
                            <a:schemeClr val="accent1">
                              <a:lumMod val="60000"/>
                              <a:lumOff val="40000"/>
                            </a:schemeClr>
                          </a:solidFill>
                          <a:latin typeface="+mj-lt"/>
                          <a:ea typeface="+mj-ea"/>
                          <a:cs typeface="+mn-cs"/>
                        </a:rPr>
                        <a:t>DCF</a:t>
                      </a:r>
                      <a:r>
                        <a:rPr kumimoji="1" lang="ja-JP" altLang="en-US" sz="1100" b="1" kern="1200" dirty="0">
                          <a:solidFill>
                            <a:schemeClr val="accent1">
                              <a:lumMod val="60000"/>
                              <a:lumOff val="40000"/>
                            </a:schemeClr>
                          </a:solidFill>
                          <a:latin typeface="+mj-lt"/>
                          <a:ea typeface="+mj-ea"/>
                          <a:cs typeface="+mn-cs"/>
                        </a:rPr>
                        <a:t>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800" b="1" kern="1200" dirty="0">
                          <a:solidFill>
                            <a:schemeClr val="accent1">
                              <a:lumMod val="60000"/>
                              <a:lumOff val="40000"/>
                            </a:schemeClr>
                          </a:solidFill>
                          <a:latin typeface="+mj-lt"/>
                          <a:ea typeface="+mj-ea"/>
                          <a:cs typeface="+mn-cs"/>
                        </a:rPr>
                        <a:t>    （ディスカウンティド</a:t>
                      </a:r>
                      <a:br>
                        <a:rPr kumimoji="1" lang="en-US" altLang="ja-JP" sz="800" b="1" kern="1200" dirty="0">
                          <a:solidFill>
                            <a:schemeClr val="accent1">
                              <a:lumMod val="60000"/>
                              <a:lumOff val="40000"/>
                            </a:schemeClr>
                          </a:solidFill>
                          <a:latin typeface="+mj-lt"/>
                          <a:ea typeface="+mj-ea"/>
                          <a:cs typeface="+mn-cs"/>
                        </a:rPr>
                      </a:br>
                      <a:r>
                        <a:rPr kumimoji="1" lang="en-US" altLang="ja-JP" sz="800" b="1" kern="1200" dirty="0">
                          <a:solidFill>
                            <a:schemeClr val="accent1">
                              <a:lumMod val="60000"/>
                              <a:lumOff val="40000"/>
                            </a:schemeClr>
                          </a:solidFill>
                          <a:latin typeface="+mj-lt"/>
                          <a:ea typeface="+mj-ea"/>
                          <a:cs typeface="+mn-cs"/>
                        </a:rPr>
                        <a:t>        </a:t>
                      </a:r>
                      <a:r>
                        <a:rPr kumimoji="1" lang="ja-JP" altLang="en-US" sz="800" b="1" kern="1200" dirty="0">
                          <a:solidFill>
                            <a:schemeClr val="accent1">
                              <a:lumMod val="60000"/>
                              <a:lumOff val="40000"/>
                            </a:schemeClr>
                          </a:solidFill>
                          <a:latin typeface="+mj-lt"/>
                          <a:ea typeface="+mj-ea"/>
                          <a:cs typeface="+mn-cs"/>
                        </a:rPr>
                        <a:t>キャッシュフロー法）</a:t>
                      </a:r>
                      <a:endParaRPr kumimoji="1" lang="en-US" altLang="ja-JP" sz="8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配当還元法</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収益還元法や</a:t>
                      </a:r>
                      <a:r>
                        <a:rPr kumimoji="1" lang="en-US" altLang="ja-JP" sz="1000" b="0" kern="1200" dirty="0">
                          <a:solidFill>
                            <a:schemeClr val="dk1"/>
                          </a:solidFill>
                          <a:latin typeface="+mn-ea"/>
                          <a:ea typeface="+mn-ea"/>
                          <a:cs typeface="+mn-cs"/>
                        </a:rPr>
                        <a:t>DCF</a:t>
                      </a:r>
                      <a:r>
                        <a:rPr kumimoji="1" lang="ja-JP" altLang="en-US" sz="1000" b="0" kern="1200" dirty="0">
                          <a:solidFill>
                            <a:schemeClr val="dk1"/>
                          </a:solidFill>
                          <a:latin typeface="+mn-ea"/>
                          <a:ea typeface="+mn-ea"/>
                          <a:cs typeface="+mn-cs"/>
                        </a:rPr>
                        <a:t>法を適用するには、根拠となる利益やキャッシュフローの計画値が必要となります。現状、詳細な事業計画が存在せず算定が困難であることから、これらの手法は採用しません。</a:t>
                      </a:r>
                    </a:p>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配当還元法は、本来、配当獲得を主眼とする少数株主の視点に立った評価手法です。したがって、本件取引の性質上、採用は適切ではないと判断しました。</a:t>
                      </a:r>
                      <a:endParaRPr kumimoji="1" lang="ja-JP" altLang="en-US" sz="1000" b="0" dirty="0">
                        <a:latin typeface="+mn-ea"/>
                        <a:ea typeface="+mn-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6927477"/>
                  </a:ext>
                </a:extLst>
              </a:tr>
            </a:tbl>
          </a:graphicData>
        </a:graphic>
      </p:graphicFrame>
      <p:sp>
        <p:nvSpPr>
          <p:cNvPr id="36" name="正方形/長方形 35">
            <a:extLst>
              <a:ext uri="{FF2B5EF4-FFF2-40B4-BE49-F238E27FC236}">
                <a16:creationId xmlns:a16="http://schemas.microsoft.com/office/drawing/2014/main" id="{F9F3D3B4-E97C-CA46-6200-0218472772E0}"/>
              </a:ext>
            </a:extLst>
          </p:cNvPr>
          <p:cNvSpPr/>
          <p:nvPr/>
        </p:nvSpPr>
        <p:spPr>
          <a:xfrm>
            <a:off x="449263" y="6120538"/>
            <a:ext cx="1440000" cy="72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612000" tIns="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37" name="グループ化 36">
            <a:extLst>
              <a:ext uri="{FF2B5EF4-FFF2-40B4-BE49-F238E27FC236}">
                <a16:creationId xmlns:a16="http://schemas.microsoft.com/office/drawing/2014/main" id="{E898EBFA-2528-F2FB-84C8-F09FADD39F13}"/>
              </a:ext>
            </a:extLst>
          </p:cNvPr>
          <p:cNvGrpSpPr/>
          <p:nvPr/>
        </p:nvGrpSpPr>
        <p:grpSpPr>
          <a:xfrm>
            <a:off x="583355" y="6293952"/>
            <a:ext cx="373173" cy="373173"/>
            <a:chOff x="557955" y="6293952"/>
            <a:chExt cx="373173" cy="373173"/>
          </a:xfrm>
        </p:grpSpPr>
        <p:sp>
          <p:nvSpPr>
            <p:cNvPr id="38" name="楕円 37">
              <a:extLst>
                <a:ext uri="{FF2B5EF4-FFF2-40B4-BE49-F238E27FC236}">
                  <a16:creationId xmlns:a16="http://schemas.microsoft.com/office/drawing/2014/main" id="{389C6F0D-9B5A-2543-2198-3B5B285670D8}"/>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39" name="グループ化 38">
              <a:extLst>
                <a:ext uri="{FF2B5EF4-FFF2-40B4-BE49-F238E27FC236}">
                  <a16:creationId xmlns:a16="http://schemas.microsoft.com/office/drawing/2014/main" id="{8560C8E1-4DCA-CEC1-7D98-78FA5AFE8E73}"/>
                </a:ext>
              </a:extLst>
            </p:cNvPr>
            <p:cNvGrpSpPr/>
            <p:nvPr/>
          </p:nvGrpSpPr>
          <p:grpSpPr>
            <a:xfrm>
              <a:off x="620003" y="6342163"/>
              <a:ext cx="249077" cy="276751"/>
              <a:chOff x="605367" y="6371166"/>
              <a:chExt cx="210977" cy="234418"/>
            </a:xfrm>
          </p:grpSpPr>
          <p:sp>
            <p:nvSpPr>
              <p:cNvPr id="40" name="フリーフォーム: 図形 39">
                <a:extLst>
                  <a:ext uri="{FF2B5EF4-FFF2-40B4-BE49-F238E27FC236}">
                    <a16:creationId xmlns:a16="http://schemas.microsoft.com/office/drawing/2014/main" id="{79744F08-7A7F-1C36-C1D9-B8ED71537226}"/>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41" name="フリーフォーム: 図形 40">
                <a:extLst>
                  <a:ext uri="{FF2B5EF4-FFF2-40B4-BE49-F238E27FC236}">
                    <a16:creationId xmlns:a16="http://schemas.microsoft.com/office/drawing/2014/main" id="{D3FCDE67-0CF1-77D9-659B-CE2034D9D9B8}"/>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42" name="フリーフォーム: 図形 41">
                <a:extLst>
                  <a:ext uri="{FF2B5EF4-FFF2-40B4-BE49-F238E27FC236}">
                    <a16:creationId xmlns:a16="http://schemas.microsoft.com/office/drawing/2014/main" id="{2AE217CF-74E8-32CA-65CD-76EB0FEEDDD3}"/>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43" name="フリーフォーム: 図形 42">
                <a:extLst>
                  <a:ext uri="{FF2B5EF4-FFF2-40B4-BE49-F238E27FC236}">
                    <a16:creationId xmlns:a16="http://schemas.microsoft.com/office/drawing/2014/main" id="{02308513-C54F-4FAE-A20F-B4579F782FD7}"/>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6" name="フリーフォーム: 図形 45">
                <a:extLst>
                  <a:ext uri="{FF2B5EF4-FFF2-40B4-BE49-F238E27FC236}">
                    <a16:creationId xmlns:a16="http://schemas.microsoft.com/office/drawing/2014/main" id="{A66EF74A-42E2-64CE-3710-A80D5B8E3B53}"/>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7" name="フリーフォーム: 図形 46">
                <a:extLst>
                  <a:ext uri="{FF2B5EF4-FFF2-40B4-BE49-F238E27FC236}">
                    <a16:creationId xmlns:a16="http://schemas.microsoft.com/office/drawing/2014/main" id="{B0D5B854-2E41-4D3A-468F-D33B76BF091C}"/>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48" name="グラフィックス 32">
                <a:extLst>
                  <a:ext uri="{FF2B5EF4-FFF2-40B4-BE49-F238E27FC236}">
                    <a16:creationId xmlns:a16="http://schemas.microsoft.com/office/drawing/2014/main" id="{F383B767-481F-2755-6F75-CD54335E4008}"/>
                  </a:ext>
                </a:extLst>
              </p:cNvPr>
              <p:cNvGrpSpPr/>
              <p:nvPr/>
            </p:nvGrpSpPr>
            <p:grpSpPr>
              <a:xfrm>
                <a:off x="639299" y="6399061"/>
                <a:ext cx="149149" cy="149149"/>
                <a:chOff x="639299" y="6399061"/>
                <a:chExt cx="149149" cy="149149"/>
              </a:xfrm>
            </p:grpSpPr>
            <p:sp>
              <p:nvSpPr>
                <p:cNvPr id="59" name="フリーフォーム: 図形 58">
                  <a:extLst>
                    <a:ext uri="{FF2B5EF4-FFF2-40B4-BE49-F238E27FC236}">
                      <a16:creationId xmlns:a16="http://schemas.microsoft.com/office/drawing/2014/main" id="{5B51B83B-0943-ADC2-2455-8E83664BBFBE}"/>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0" name="フリーフォーム: 図形 59">
                  <a:extLst>
                    <a:ext uri="{FF2B5EF4-FFF2-40B4-BE49-F238E27FC236}">
                      <a16:creationId xmlns:a16="http://schemas.microsoft.com/office/drawing/2014/main" id="{145276C0-2C8D-7A97-FD3D-0F906A846958}"/>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49" name="フリーフォーム: 図形 48">
                <a:extLst>
                  <a:ext uri="{FF2B5EF4-FFF2-40B4-BE49-F238E27FC236}">
                    <a16:creationId xmlns:a16="http://schemas.microsoft.com/office/drawing/2014/main" id="{77EB68C9-E454-9D24-23CA-711803A1911D}"/>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50" name="グラフィックス 32">
                <a:extLst>
                  <a:ext uri="{FF2B5EF4-FFF2-40B4-BE49-F238E27FC236}">
                    <a16:creationId xmlns:a16="http://schemas.microsoft.com/office/drawing/2014/main" id="{528FAC06-79C8-D0C3-7A25-10E574345A71}"/>
                  </a:ext>
                </a:extLst>
              </p:cNvPr>
              <p:cNvGrpSpPr/>
              <p:nvPr/>
            </p:nvGrpSpPr>
            <p:grpSpPr>
              <a:xfrm>
                <a:off x="605367" y="6470794"/>
                <a:ext cx="210977" cy="5860"/>
                <a:chOff x="605367" y="6470794"/>
                <a:chExt cx="210977" cy="5860"/>
              </a:xfrm>
            </p:grpSpPr>
            <p:sp>
              <p:nvSpPr>
                <p:cNvPr id="57" name="フリーフォーム: 図形 56">
                  <a:extLst>
                    <a:ext uri="{FF2B5EF4-FFF2-40B4-BE49-F238E27FC236}">
                      <a16:creationId xmlns:a16="http://schemas.microsoft.com/office/drawing/2014/main" id="{4BFFA65F-8343-57FF-3BF0-A0744E26E026}"/>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D250E6B6-FB2D-5104-EDE9-70FC57F8A4FD}"/>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51" name="グラフィックス 32">
                <a:extLst>
                  <a:ext uri="{FF2B5EF4-FFF2-40B4-BE49-F238E27FC236}">
                    <a16:creationId xmlns:a16="http://schemas.microsoft.com/office/drawing/2014/main" id="{8986A5C1-349E-7A36-3EE9-7277DE54D243}"/>
                  </a:ext>
                </a:extLst>
              </p:cNvPr>
              <p:cNvGrpSpPr/>
              <p:nvPr/>
            </p:nvGrpSpPr>
            <p:grpSpPr>
              <a:xfrm>
                <a:off x="633262" y="6399061"/>
                <a:ext cx="149149" cy="149149"/>
                <a:chOff x="633262" y="6399061"/>
                <a:chExt cx="149149" cy="149149"/>
              </a:xfrm>
            </p:grpSpPr>
            <p:sp>
              <p:nvSpPr>
                <p:cNvPr id="53" name="フリーフォーム: 図形 52">
                  <a:extLst>
                    <a:ext uri="{FF2B5EF4-FFF2-40B4-BE49-F238E27FC236}">
                      <a16:creationId xmlns:a16="http://schemas.microsoft.com/office/drawing/2014/main" id="{F5412291-1DB9-9DE1-6A56-7377A0D63C34}"/>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C2E1BD1C-9D4B-37D8-0888-6D40B6A45667}"/>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sp>
        <p:nvSpPr>
          <p:cNvPr id="61" name="グラフィックス 59">
            <a:extLst>
              <a:ext uri="{FF2B5EF4-FFF2-40B4-BE49-F238E27FC236}">
                <a16:creationId xmlns:a16="http://schemas.microsoft.com/office/drawing/2014/main" id="{4243167B-A39B-11A2-C832-56FC6093FF70}"/>
              </a:ext>
            </a:extLst>
          </p:cNvPr>
          <p:cNvSpPr/>
          <p:nvPr/>
        </p:nvSpPr>
        <p:spPr>
          <a:xfrm>
            <a:off x="3507052" y="2478212"/>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sp>
        <p:nvSpPr>
          <p:cNvPr id="62" name="グラフィックス 59">
            <a:extLst>
              <a:ext uri="{FF2B5EF4-FFF2-40B4-BE49-F238E27FC236}">
                <a16:creationId xmlns:a16="http://schemas.microsoft.com/office/drawing/2014/main" id="{5DBAFE3A-EBEF-EBB2-E8FA-8870D3C86C9D}"/>
              </a:ext>
            </a:extLst>
          </p:cNvPr>
          <p:cNvSpPr/>
          <p:nvPr/>
        </p:nvSpPr>
        <p:spPr>
          <a:xfrm>
            <a:off x="3507052" y="3846447"/>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grpSp>
        <p:nvGrpSpPr>
          <p:cNvPr id="84" name="グループ化 83">
            <a:extLst>
              <a:ext uri="{FF2B5EF4-FFF2-40B4-BE49-F238E27FC236}">
                <a16:creationId xmlns:a16="http://schemas.microsoft.com/office/drawing/2014/main" id="{D26399A4-4A64-3667-475E-0430981C2BFA}"/>
              </a:ext>
            </a:extLst>
          </p:cNvPr>
          <p:cNvGrpSpPr/>
          <p:nvPr/>
        </p:nvGrpSpPr>
        <p:grpSpPr>
          <a:xfrm>
            <a:off x="5401757" y="2057401"/>
            <a:ext cx="557845" cy="3495772"/>
            <a:chOff x="5401757" y="2057401"/>
            <a:chExt cx="557845" cy="3495772"/>
          </a:xfrm>
        </p:grpSpPr>
        <p:grpSp>
          <p:nvGrpSpPr>
            <p:cNvPr id="18" name="グループ化 17">
              <a:extLst>
                <a:ext uri="{FF2B5EF4-FFF2-40B4-BE49-F238E27FC236}">
                  <a16:creationId xmlns:a16="http://schemas.microsoft.com/office/drawing/2014/main" id="{DB5C609D-310E-C306-98F7-D4C2DD3642DA}"/>
                </a:ext>
              </a:extLst>
            </p:cNvPr>
            <p:cNvGrpSpPr/>
            <p:nvPr/>
          </p:nvGrpSpPr>
          <p:grpSpPr>
            <a:xfrm>
              <a:off x="5475363" y="2057401"/>
              <a:ext cx="410634" cy="734169"/>
              <a:chOff x="5517698" y="2057401"/>
              <a:chExt cx="410634" cy="734169"/>
            </a:xfrm>
          </p:grpSpPr>
          <p:sp>
            <p:nvSpPr>
              <p:cNvPr id="34" name="楕円 33">
                <a:extLst>
                  <a:ext uri="{FF2B5EF4-FFF2-40B4-BE49-F238E27FC236}">
                    <a16:creationId xmlns:a16="http://schemas.microsoft.com/office/drawing/2014/main" id="{479466C7-C649-A725-BD8C-7F7550AB2EEF}"/>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3FFEDA4B-E179-A28B-0195-9A0DA4F61678}"/>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nvGrpSpPr>
            <p:cNvPr id="21" name="グループ化 20">
              <a:extLst>
                <a:ext uri="{FF2B5EF4-FFF2-40B4-BE49-F238E27FC236}">
                  <a16:creationId xmlns:a16="http://schemas.microsoft.com/office/drawing/2014/main" id="{24D7C6D8-9BED-A365-0AF5-79DC01D710F6}"/>
                </a:ext>
              </a:extLst>
            </p:cNvPr>
            <p:cNvGrpSpPr/>
            <p:nvPr/>
          </p:nvGrpSpPr>
          <p:grpSpPr>
            <a:xfrm>
              <a:off x="5401757" y="4859957"/>
              <a:ext cx="557845" cy="693216"/>
              <a:chOff x="5444092" y="3460750"/>
              <a:chExt cx="557845" cy="693216"/>
            </a:xfrm>
          </p:grpSpPr>
          <p:sp>
            <p:nvSpPr>
              <p:cNvPr id="22" name="テキスト ボックス 21">
                <a:extLst>
                  <a:ext uri="{FF2B5EF4-FFF2-40B4-BE49-F238E27FC236}">
                    <a16:creationId xmlns:a16="http://schemas.microsoft.com/office/drawing/2014/main" id="{4200C4FF-D773-CD41-30AA-E5E5CC2A5E14}"/>
                  </a:ext>
                </a:extLst>
              </p:cNvPr>
              <p:cNvSpPr txBox="1"/>
              <p:nvPr/>
            </p:nvSpPr>
            <p:spPr>
              <a:xfrm>
                <a:off x="5444092" y="3938522"/>
                <a:ext cx="557845" cy="215444"/>
              </a:xfrm>
              <a:prstGeom prst="rect">
                <a:avLst/>
              </a:prstGeom>
              <a:noFill/>
            </p:spPr>
            <p:txBody>
              <a:bodyPr wrap="none" lIns="0" tIns="0" rIns="0" bIns="0" rtlCol="0">
                <a:spAutoFit/>
              </a:bodyPr>
              <a:lstStyle/>
              <a:p>
                <a:pPr algn="ctr"/>
                <a:r>
                  <a:rPr kumimoji="1" lang="ja-JP" altLang="en-US" sz="1400" b="1" spc="50" dirty="0">
                    <a:solidFill>
                      <a:schemeClr val="accent1"/>
                    </a:solidFill>
                    <a:latin typeface="+mj-ea"/>
                    <a:ea typeface="+mj-ea"/>
                  </a:rPr>
                  <a:t>不採用</a:t>
                </a:r>
              </a:p>
            </p:txBody>
          </p:sp>
          <p:grpSp>
            <p:nvGrpSpPr>
              <p:cNvPr id="23" name="グループ化 22">
                <a:extLst>
                  <a:ext uri="{FF2B5EF4-FFF2-40B4-BE49-F238E27FC236}">
                    <a16:creationId xmlns:a16="http://schemas.microsoft.com/office/drawing/2014/main" id="{112413C6-A96E-7D3F-B364-F303C091FB32}"/>
                  </a:ext>
                </a:extLst>
              </p:cNvPr>
              <p:cNvGrpSpPr>
                <a:grpSpLocks noChangeAspect="1"/>
              </p:cNvGrpSpPr>
              <p:nvPr/>
            </p:nvGrpSpPr>
            <p:grpSpPr>
              <a:xfrm>
                <a:off x="5543015" y="3460750"/>
                <a:ext cx="360000" cy="360000"/>
                <a:chOff x="-161714" y="1568450"/>
                <a:chExt cx="412750" cy="412750"/>
              </a:xfrm>
            </p:grpSpPr>
            <p:cxnSp>
              <p:nvCxnSpPr>
                <p:cNvPr id="27" name="直線コネクタ 26">
                  <a:extLst>
                    <a:ext uri="{FF2B5EF4-FFF2-40B4-BE49-F238E27FC236}">
                      <a16:creationId xmlns:a16="http://schemas.microsoft.com/office/drawing/2014/main" id="{F8365950-98F3-B0B0-FDB0-CC66BBDEEF5D}"/>
                    </a:ext>
                  </a:extLst>
                </p:cNvPr>
                <p:cNvCxnSpPr>
                  <a:cxnSpLocks/>
                </p:cNvCxnSpPr>
                <p:nvPr/>
              </p:nvCxnSpPr>
              <p:spPr>
                <a:xfrm>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cxnSp>
              <p:nvCxnSpPr>
                <p:cNvPr id="28" name="直線コネクタ 27">
                  <a:extLst>
                    <a:ext uri="{FF2B5EF4-FFF2-40B4-BE49-F238E27FC236}">
                      <a16:creationId xmlns:a16="http://schemas.microsoft.com/office/drawing/2014/main" id="{9DBF255E-AD57-19F7-5F05-E30869355B1B}"/>
                    </a:ext>
                  </a:extLst>
                </p:cNvPr>
                <p:cNvCxnSpPr>
                  <a:cxnSpLocks/>
                </p:cNvCxnSpPr>
                <p:nvPr/>
              </p:nvCxnSpPr>
              <p:spPr>
                <a:xfrm flipH="1">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grpSp>
        </p:grpSp>
        <p:grpSp>
          <p:nvGrpSpPr>
            <p:cNvPr id="81" name="グループ化 80">
              <a:extLst>
                <a:ext uri="{FF2B5EF4-FFF2-40B4-BE49-F238E27FC236}">
                  <a16:creationId xmlns:a16="http://schemas.microsoft.com/office/drawing/2014/main" id="{4BB2CB5C-26A6-5AA8-C554-5E6E15B6C766}"/>
                </a:ext>
              </a:extLst>
            </p:cNvPr>
            <p:cNvGrpSpPr/>
            <p:nvPr/>
          </p:nvGrpSpPr>
          <p:grpSpPr>
            <a:xfrm>
              <a:off x="5475363" y="3458679"/>
              <a:ext cx="410634" cy="734169"/>
              <a:chOff x="5517698" y="2057401"/>
              <a:chExt cx="410634" cy="734169"/>
            </a:xfrm>
          </p:grpSpPr>
          <p:sp>
            <p:nvSpPr>
              <p:cNvPr id="82" name="楕円 81">
                <a:extLst>
                  <a:ext uri="{FF2B5EF4-FFF2-40B4-BE49-F238E27FC236}">
                    <a16:creationId xmlns:a16="http://schemas.microsoft.com/office/drawing/2014/main" id="{5B3FD3C1-E450-32CE-E683-E79A71D468AB}"/>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8DA332E3-3670-A6D4-F20F-91D631A6833E}"/>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spTree>
    <p:extLst>
      <p:ext uri="{BB962C8B-B14F-4D97-AF65-F5344CB8AC3E}">
        <p14:creationId xmlns:p14="http://schemas.microsoft.com/office/powerpoint/2010/main" val="7142423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059B5-FB60-D143-C280-CC8417F28261}"/>
            </a:ext>
          </a:extLst>
        </p:cNvPr>
        <p:cNvGrpSpPr/>
        <p:nvPr/>
      </p:nvGrpSpPr>
      <p:grpSpPr>
        <a:xfrm>
          <a:off x="0" y="0"/>
          <a:ext cx="0" cy="0"/>
          <a:chOff x="0" y="0"/>
          <a:chExt cx="0" cy="0"/>
        </a:xfrm>
      </p:grpSpPr>
      <p:graphicFrame>
        <p:nvGraphicFramePr>
          <p:cNvPr id="5" name="Chart 1">
            <a:extLst>
              <a:ext uri="{FF2B5EF4-FFF2-40B4-BE49-F238E27FC236}">
                <a16:creationId xmlns:a16="http://schemas.microsoft.com/office/drawing/2014/main" id="{00000000-0008-0000-0800-000002000000}"/>
              </a:ext>
            </a:extLst>
          </p:cNvPr>
          <p:cNvGraphicFramePr>
            <a:graphicFrameLocks/>
          </p:cNvGraphicFramePr>
          <p:nvPr>
            <p:extLst>
              <p:ext uri="{D42A27DB-BD31-4B8C-83A1-F6EECF244321}">
                <p14:modId xmlns:p14="http://schemas.microsoft.com/office/powerpoint/2010/main" val="2604671756"/>
              </p:ext>
            </p:extLst>
          </p:nvPr>
        </p:nvGraphicFramePr>
        <p:xfrm>
          <a:off x="5687917" y="3595280"/>
          <a:ext cx="4906625" cy="3207095"/>
        </p:xfrm>
        <a:graphic>
          <a:graphicData uri="http://schemas.openxmlformats.org/drawingml/2006/chart">
            <c:chart xmlns:c="http://schemas.openxmlformats.org/drawingml/2006/chart" xmlns:r="http://schemas.openxmlformats.org/officeDocument/2006/relationships" r:id="rId3"/>
          </a:graphicData>
        </a:graphic>
      </p:graphicFrame>
      <p:sp>
        <p:nvSpPr>
          <p:cNvPr id="12" name="正方形/長方形 11">
            <a:extLst>
              <a:ext uri="{FF2B5EF4-FFF2-40B4-BE49-F238E27FC236}">
                <a16:creationId xmlns:a16="http://schemas.microsoft.com/office/drawing/2014/main" id="{51F94532-DA10-FFBE-8C16-C508182360BE}"/>
              </a:ext>
            </a:extLst>
          </p:cNvPr>
          <p:cNvSpPr/>
          <p:nvPr/>
        </p:nvSpPr>
        <p:spPr>
          <a:xfrm>
            <a:off x="449263" y="3257914"/>
            <a:ext cx="82296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株式価値試算結果</a:t>
            </a:r>
          </a:p>
        </p:txBody>
      </p:sp>
      <p:sp>
        <p:nvSpPr>
          <p:cNvPr id="26" name="タイトル 25">
            <a:extLst>
              <a:ext uri="{FF2B5EF4-FFF2-40B4-BE49-F238E27FC236}">
                <a16:creationId xmlns:a16="http://schemas.microsoft.com/office/drawing/2014/main" id="{13D15798-0B0F-EC57-0019-D0F77B468AEF}"/>
              </a:ext>
            </a:extLst>
          </p:cNvPr>
          <p:cNvSpPr>
            <a:spLocks noGrp="1"/>
          </p:cNvSpPr>
          <p:nvPr>
            <p:ph type="ctrTitle"/>
          </p:nvPr>
        </p:nvSpPr>
        <p:spPr>
          <a:xfrm>
            <a:off x="341313" y="180653"/>
            <a:ext cx="7799917" cy="338554"/>
          </a:xfrm>
        </p:spPr>
        <p:txBody>
          <a:bodyPr/>
          <a:lstStyle/>
          <a:p>
            <a:r>
              <a:rPr lang="ja-JP" altLang="en-US" dirty="0"/>
              <a:t>株式価値の試算結果</a:t>
            </a:r>
          </a:p>
        </p:txBody>
      </p:sp>
      <p:sp>
        <p:nvSpPr>
          <p:cNvPr id="10" name="タイトル 1">
            <a:extLst>
              <a:ext uri="{FF2B5EF4-FFF2-40B4-BE49-F238E27FC236}">
                <a16:creationId xmlns:a16="http://schemas.microsoft.com/office/drawing/2014/main" id="{258AD7E0-D342-7F0B-B7C4-8C6662E2414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7" name="正方形/長方形 6">
            <a:extLst>
              <a:ext uri="{FF2B5EF4-FFF2-40B4-BE49-F238E27FC236}">
                <a16:creationId xmlns:a16="http://schemas.microsoft.com/office/drawing/2014/main" id="{600396BE-765E-25EB-B4B0-EC8CCF4E55A6}"/>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試算の前提条件</a:t>
            </a:r>
          </a:p>
        </p:txBody>
      </p:sp>
      <p:graphicFrame>
        <p:nvGraphicFramePr>
          <p:cNvPr id="15" name="表 14">
            <a:extLst>
              <a:ext uri="{FF2B5EF4-FFF2-40B4-BE49-F238E27FC236}">
                <a16:creationId xmlns:a16="http://schemas.microsoft.com/office/drawing/2014/main" id="{8380FA3D-B192-E961-5C06-72E4D8504090}"/>
              </a:ext>
            </a:extLst>
          </p:cNvPr>
          <p:cNvGraphicFramePr>
            <a:graphicFrameLocks noGrp="1"/>
          </p:cNvGraphicFramePr>
          <p:nvPr>
            <p:extLst>
              <p:ext uri="{D42A27DB-BD31-4B8C-83A1-F6EECF244321}">
                <p14:modId xmlns:p14="http://schemas.microsoft.com/office/powerpoint/2010/main" val="2506677353"/>
              </p:ext>
            </p:extLst>
          </p:nvPr>
        </p:nvGraphicFramePr>
        <p:xfrm>
          <a:off x="449263" y="1276419"/>
          <a:ext cx="9792000" cy="162000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2925986688"/>
                    </a:ext>
                  </a:extLst>
                </a:gridCol>
                <a:gridCol w="8712000">
                  <a:extLst>
                    <a:ext uri="{9D8B030D-6E8A-4147-A177-3AD203B41FA5}">
                      <a16:colId xmlns:a16="http://schemas.microsoft.com/office/drawing/2014/main" val="803462936"/>
                    </a:ext>
                  </a:extLst>
                </a:gridCol>
              </a:tblGrid>
              <a:tr h="288000">
                <a:tc>
                  <a:txBody>
                    <a:bodyPr/>
                    <a:lstStyle/>
                    <a:p>
                      <a:pPr algn="l" fontAlgn="ctr">
                        <a:buNone/>
                      </a:pPr>
                      <a:r>
                        <a:rPr lang="ja-JP" altLang="en-US" sz="1200" b="1" u="none" strike="noStrike" spc="50" baseline="0" dirty="0">
                          <a:effectLst/>
                          <a:latin typeface="+mj-lt"/>
                          <a:ea typeface="+mj-ea"/>
                        </a:rPr>
                        <a:t>評価対象</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株式会社ミドリメディカル</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9972504"/>
                  </a:ext>
                </a:extLst>
              </a:tr>
              <a:tr h="288000">
                <a:tc>
                  <a:txBody>
                    <a:bodyPr/>
                    <a:lstStyle/>
                    <a:p>
                      <a:pPr algn="l" fontAlgn="ctr">
                        <a:buNone/>
                      </a:pPr>
                      <a:r>
                        <a:rPr lang="ja-JP" altLang="en-US" sz="1200" b="1" u="none" strike="noStrike" spc="50" baseline="0" dirty="0">
                          <a:effectLst/>
                          <a:latin typeface="+mj-lt"/>
                          <a:ea typeface="+mj-ea"/>
                        </a:rPr>
                        <a:t>算定日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sz="1100" b="0" u="none" strike="noStrike" spc="50" baseline="0" dirty="0">
                          <a:effectLst/>
                          <a:latin typeface="+mn-ea"/>
                          <a:ea typeface="+mn-ea"/>
                        </a:rPr>
                        <a:t>2026年8月19日</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7319347"/>
                  </a:ext>
                </a:extLst>
              </a:tr>
              <a:tr h="288000">
                <a:tc>
                  <a:txBody>
                    <a:bodyPr/>
                    <a:lstStyle/>
                    <a:p>
                      <a:pPr algn="l" fontAlgn="ctr">
                        <a:buNone/>
                      </a:pPr>
                      <a:r>
                        <a:rPr lang="ja-JP" altLang="en-US" sz="1200" b="1" u="none" strike="noStrike" spc="50" baseline="0" dirty="0">
                          <a:effectLst/>
                          <a:latin typeface="+mj-lt"/>
                          <a:ea typeface="+mj-ea"/>
                        </a:rPr>
                        <a:t>基準日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令和7年12月期（2025年12月31日／貸借対照表の基準日）</a:t>
                      </a: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7021639"/>
                  </a:ext>
                </a:extLst>
              </a:tr>
              <a:tr h="288000">
                <a:tc>
                  <a:txBody>
                    <a:bodyPr/>
                    <a:lstStyle/>
                    <a:p>
                      <a:pPr algn="l" fontAlgn="ctr">
                        <a:buNone/>
                      </a:pPr>
                      <a:r>
                        <a:rPr lang="ja-JP" altLang="en-US" sz="1200" b="1" i="0" u="none" strike="noStrike" spc="50" baseline="0" dirty="0">
                          <a:solidFill>
                            <a:srgbClr val="000000"/>
                          </a:solidFill>
                          <a:effectLst/>
                          <a:latin typeface="+mj-lt"/>
                          <a:ea typeface="+mj-ea"/>
                        </a:rPr>
                        <a:t>参照期間</a:t>
                      </a: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令和5年12月期～令和7年12月期（損益計算書の参照期間）</a:t>
                      </a: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8669453"/>
                  </a:ext>
                </a:extLst>
              </a:tr>
              <a:tr h="468000">
                <a:tc>
                  <a:txBody>
                    <a:bodyPr/>
                    <a:lstStyle/>
                    <a:p>
                      <a:pPr algn="l" fontAlgn="ctr">
                        <a:buNone/>
                      </a:pPr>
                      <a:r>
                        <a:rPr lang="ja-JP" altLang="en-US" sz="1200" b="1" u="none" strike="noStrike" spc="50" baseline="0" dirty="0">
                          <a:effectLst/>
                          <a:latin typeface="+mj-lt"/>
                          <a:ea typeface="+mj-ea"/>
                        </a:rPr>
                        <a:t>目的</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対象会社の過半数の株式を第三者間で売買取引・M&amp;Aする場合（「本件取引」といいます）の譲渡価額決定の参考資料とすること（「本件試算目的」といいます）を目的に本株式価値試算報告書は作成されております。</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7865392"/>
                  </a:ext>
                </a:extLst>
              </a:tr>
            </a:tbl>
          </a:graphicData>
        </a:graphic>
      </p:graphicFrame>
      <p:sp>
        <p:nvSpPr>
          <p:cNvPr id="13" name="テキスト ボックス 12">
            <a:extLst>
              <a:ext uri="{FF2B5EF4-FFF2-40B4-BE49-F238E27FC236}">
                <a16:creationId xmlns:a16="http://schemas.microsoft.com/office/drawing/2014/main" id="{4DA9828D-AE4F-DE9E-A514-7657576FA044}"/>
              </a:ext>
            </a:extLst>
          </p:cNvPr>
          <p:cNvSpPr txBox="1"/>
          <p:nvPr/>
        </p:nvSpPr>
        <p:spPr>
          <a:xfrm>
            <a:off x="449263" y="3643540"/>
            <a:ext cx="2182008"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コストアプローチ（年買法）</a:t>
            </a:r>
            <a:endParaRPr lang="zh-TW" altLang="en-US" sz="1200" b="1" dirty="0">
              <a:latin typeface="+mj-ea"/>
              <a:ea typeface="+mj-ea"/>
            </a:endParaRPr>
          </a:p>
        </p:txBody>
      </p:sp>
      <p:sp>
        <p:nvSpPr>
          <p:cNvPr id="14" name="テキスト ボックス 13">
            <a:extLst>
              <a:ext uri="{FF2B5EF4-FFF2-40B4-BE49-F238E27FC236}">
                <a16:creationId xmlns:a16="http://schemas.microsoft.com/office/drawing/2014/main" id="{0571F37E-300F-5933-03E4-F551A36628E1}"/>
              </a:ext>
            </a:extLst>
          </p:cNvPr>
          <p:cNvSpPr txBox="1"/>
          <p:nvPr/>
        </p:nvSpPr>
        <p:spPr>
          <a:xfrm>
            <a:off x="449263" y="4632086"/>
            <a:ext cx="3817071"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マーケットアプローチ（</a:t>
            </a:r>
            <a:r>
              <a:rPr lang="en-US" altLang="ja-JP" sz="1200" b="1" dirty="0">
                <a:latin typeface="+mj-ea"/>
                <a:ea typeface="+mj-ea"/>
              </a:rPr>
              <a:t>EV/EBITDA</a:t>
            </a:r>
            <a:r>
              <a:rPr lang="ja-JP" altLang="en-US" sz="1200" b="1" dirty="0">
                <a:latin typeface="+mj-ea"/>
                <a:ea typeface="+mj-ea"/>
              </a:rPr>
              <a:t>マルチプル法）</a:t>
            </a:r>
          </a:p>
        </p:txBody>
      </p:sp>
      <p:sp>
        <p:nvSpPr>
          <p:cNvPr id="16" name="テキスト ボックス 15">
            <a:extLst>
              <a:ext uri="{FF2B5EF4-FFF2-40B4-BE49-F238E27FC236}">
                <a16:creationId xmlns:a16="http://schemas.microsoft.com/office/drawing/2014/main" id="{D184A0B6-D006-557B-7A6C-DB0A24D85D2B}"/>
              </a:ext>
            </a:extLst>
          </p:cNvPr>
          <p:cNvSpPr txBox="1"/>
          <p:nvPr/>
        </p:nvSpPr>
        <p:spPr>
          <a:xfrm>
            <a:off x="449263" y="5629322"/>
            <a:ext cx="2355132"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インカムアプローチ（</a:t>
            </a:r>
            <a:r>
              <a:rPr lang="en-US" altLang="ja-JP" sz="1200" b="1" dirty="0">
                <a:latin typeface="+mj-ea"/>
                <a:ea typeface="+mj-ea"/>
              </a:rPr>
              <a:t>DCF</a:t>
            </a:r>
            <a:r>
              <a:rPr lang="ja-JP" altLang="en-US" sz="1200" b="1" dirty="0">
                <a:latin typeface="+mj-ea"/>
                <a:ea typeface="+mj-ea"/>
              </a:rPr>
              <a:t>法）</a:t>
            </a:r>
            <a:endParaRPr lang="en-US" altLang="ja-JP" sz="1200" b="1" dirty="0">
              <a:latin typeface="+mj-ea"/>
              <a:ea typeface="+mj-ea"/>
            </a:endParaRPr>
          </a:p>
        </p:txBody>
      </p:sp>
      <p:sp>
        <p:nvSpPr>
          <p:cNvPr id="30" name="フローチャート: 処理 29">
            <a:extLst>
              <a:ext uri="{FF2B5EF4-FFF2-40B4-BE49-F238E27FC236}">
                <a16:creationId xmlns:a16="http://schemas.microsoft.com/office/drawing/2014/main" id="{AC729EB1-0964-BC40-F3C1-457DAE613AA5}"/>
              </a:ext>
            </a:extLst>
          </p:cNvPr>
          <p:cNvSpPr/>
          <p:nvPr/>
        </p:nvSpPr>
        <p:spPr>
          <a:xfrm>
            <a:off x="449263" y="3964277"/>
            <a:ext cx="5682030"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82,362 ～ 102,792（千円）</a:t>
            </a:r>
          </a:p>
        </p:txBody>
      </p:sp>
      <p:sp>
        <p:nvSpPr>
          <p:cNvPr id="31" name="正方形/長方形 30">
            <a:extLst>
              <a:ext uri="{FF2B5EF4-FFF2-40B4-BE49-F238E27FC236}">
                <a16:creationId xmlns:a16="http://schemas.microsoft.com/office/drawing/2014/main" id="{C1D83875-1354-478D-3F35-D7D444FAAA33}"/>
              </a:ext>
            </a:extLst>
          </p:cNvPr>
          <p:cNvSpPr/>
          <p:nvPr/>
        </p:nvSpPr>
        <p:spPr>
          <a:xfrm>
            <a:off x="449263" y="3964277"/>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
        <p:nvSpPr>
          <p:cNvPr id="6" name="正方形/長方形 5">
            <a:extLst>
              <a:ext uri="{FF2B5EF4-FFF2-40B4-BE49-F238E27FC236}">
                <a16:creationId xmlns:a16="http://schemas.microsoft.com/office/drawing/2014/main" id="{17A298AC-04B9-69B2-3669-CBEBBB69DC3B}"/>
              </a:ext>
            </a:extLst>
          </p:cNvPr>
          <p:cNvSpPr/>
          <p:nvPr/>
        </p:nvSpPr>
        <p:spPr>
          <a:xfrm>
            <a:off x="449263" y="5918514"/>
            <a:ext cx="9901235" cy="516169"/>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spc="50" dirty="0">
                <a:solidFill>
                  <a:schemeClr val="tx1"/>
                </a:solidFill>
                <a:latin typeface="+mj-ea"/>
                <a:ea typeface="+mj-ea"/>
              </a:rPr>
              <a:t>※※※※※</a:t>
            </a:r>
            <a:r>
              <a:rPr kumimoji="1" lang="ja-JP" altLang="en-US" sz="1200" b="1" spc="50" dirty="0">
                <a:solidFill>
                  <a:schemeClr val="tx1"/>
                </a:solidFill>
                <a:latin typeface="+mj-ea"/>
                <a:ea typeface="+mj-ea"/>
              </a:rPr>
              <a:t>不採用</a:t>
            </a:r>
            <a:r>
              <a:rPr kumimoji="1" lang="en-US" altLang="ja-JP" sz="1200" b="1" spc="50" dirty="0">
                <a:solidFill>
                  <a:schemeClr val="tx1"/>
                </a:solidFill>
                <a:latin typeface="+mj-ea"/>
                <a:ea typeface="+mj-ea"/>
              </a:rPr>
              <a:t>※※※※※</a:t>
            </a:r>
            <a:endParaRPr kumimoji="1" lang="ja-JP" altLang="en-US" sz="1200" b="1" spc="50" dirty="0">
              <a:solidFill>
                <a:schemeClr val="tx1"/>
              </a:solidFill>
              <a:latin typeface="+mj-ea"/>
              <a:ea typeface="+mj-ea"/>
            </a:endParaRPr>
          </a:p>
        </p:txBody>
      </p:sp>
      <p:sp>
        <p:nvSpPr>
          <p:cNvPr id="34" name="テキスト ボックス 33">
            <a:extLst>
              <a:ext uri="{FF2B5EF4-FFF2-40B4-BE49-F238E27FC236}">
                <a16:creationId xmlns:a16="http://schemas.microsoft.com/office/drawing/2014/main" id="{72CDD6C7-EAB4-9143-0AA5-D2C037712831}"/>
              </a:ext>
            </a:extLst>
          </p:cNvPr>
          <p:cNvSpPr txBox="1"/>
          <p:nvPr/>
        </p:nvSpPr>
        <p:spPr>
          <a:xfrm>
            <a:off x="9434637" y="3609789"/>
            <a:ext cx="807913" cy="138499"/>
          </a:xfrm>
          <a:prstGeom prst="rect">
            <a:avLst/>
          </a:prstGeom>
          <a:noFill/>
        </p:spPr>
        <p:txBody>
          <a:bodyPr wrap="none" lIns="0" tIns="0" rIns="0" bIns="0" rtlCol="0">
            <a:spAutoFit/>
          </a:bodyPr>
          <a:lstStyle/>
          <a:p>
            <a:pPr algn="r"/>
            <a:r>
              <a:rPr lang="ja-JP" altLang="en-US" sz="900" dirty="0">
                <a:latin typeface="+mn-ea"/>
              </a:rPr>
              <a:t>（単位：千円）</a:t>
            </a:r>
            <a:endParaRPr kumimoji="1" lang="ja-JP" altLang="en-US" sz="900" dirty="0">
              <a:latin typeface="+mn-ea"/>
            </a:endParaRPr>
          </a:p>
        </p:txBody>
      </p:sp>
      <p:sp>
        <p:nvSpPr>
          <p:cNvPr id="4" name="フローチャート: 処理 3">
            <a:extLst>
              <a:ext uri="{FF2B5EF4-FFF2-40B4-BE49-F238E27FC236}">
                <a16:creationId xmlns:a16="http://schemas.microsoft.com/office/drawing/2014/main" id="{31BA7B52-DE7E-53D3-E9FA-1E37D575B554}"/>
              </a:ext>
            </a:extLst>
          </p:cNvPr>
          <p:cNvSpPr/>
          <p:nvPr/>
        </p:nvSpPr>
        <p:spPr>
          <a:xfrm>
            <a:off x="449263" y="5009389"/>
            <a:ext cx="5682030"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63,797 ～ 101,900（千円）</a:t>
            </a:r>
          </a:p>
        </p:txBody>
      </p:sp>
      <p:sp>
        <p:nvSpPr>
          <p:cNvPr id="3" name="正方形/長方形 2">
            <a:extLst>
              <a:ext uri="{FF2B5EF4-FFF2-40B4-BE49-F238E27FC236}">
                <a16:creationId xmlns:a16="http://schemas.microsoft.com/office/drawing/2014/main" id="{667841E7-61E2-BA67-43F8-6C81A4DEC72B}"/>
              </a:ext>
            </a:extLst>
          </p:cNvPr>
          <p:cNvSpPr/>
          <p:nvPr/>
        </p:nvSpPr>
        <p:spPr>
          <a:xfrm>
            <a:off x="449263" y="5009389"/>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Tree>
    <p:extLst>
      <p:ext uri="{BB962C8B-B14F-4D97-AF65-F5344CB8AC3E}">
        <p14:creationId xmlns:p14="http://schemas.microsoft.com/office/powerpoint/2010/main" val="38081531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C5E39C6D-60F0-86EE-EFCF-872D0FE99B9E}"/>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B/S</a:t>
            </a:r>
            <a:r>
              <a:rPr lang="ja-JP" altLang="en-US" dirty="0"/>
              <a:t>）</a:t>
            </a:r>
          </a:p>
        </p:txBody>
      </p:sp>
      <p:grpSp>
        <p:nvGrpSpPr>
          <p:cNvPr id="2" name="グループ化 1">
            <a:extLst>
              <a:ext uri="{FF2B5EF4-FFF2-40B4-BE49-F238E27FC236}">
                <a16:creationId xmlns:a16="http://schemas.microsoft.com/office/drawing/2014/main" id="{15306978-470E-B0F6-C5FF-B26948AD9EB2}"/>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2A97B43C-A376-B0B0-4142-E5A9575AD60D}"/>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F5C91817-B1D9-7B38-6106-AA27E6695ACD}"/>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5837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タイトル 11">
            <a:extLst>
              <a:ext uri="{FF2B5EF4-FFF2-40B4-BE49-F238E27FC236}">
                <a16:creationId xmlns:a16="http://schemas.microsoft.com/office/drawing/2014/main" id="{5F3DF0AA-58C6-917B-B152-E777B0E55835}"/>
              </a:ext>
            </a:extLst>
          </p:cNvPr>
          <p:cNvSpPr>
            <a:spLocks noGrp="1"/>
          </p:cNvSpPr>
          <p:nvPr>
            <p:ph type="ctrTitle"/>
          </p:nvPr>
        </p:nvSpPr>
        <p:spPr/>
        <p:txBody>
          <a:bodyPr/>
          <a:lstStyle/>
          <a:p>
            <a:r>
              <a:rPr lang="ja-JP" altLang="en-US" dirty="0"/>
              <a:t>過去</a:t>
            </a:r>
            <a:r>
              <a:rPr lang="en-US" altLang="ja-JP" dirty="0"/>
              <a:t>BS</a:t>
            </a:r>
            <a:r>
              <a:rPr lang="ja-JP" altLang="en-US" dirty="0"/>
              <a:t>の推移</a:t>
            </a:r>
          </a:p>
        </p:txBody>
      </p:sp>
      <p:sp>
        <p:nvSpPr>
          <p:cNvPr id="8" name="タイトル 1">
            <a:extLst>
              <a:ext uri="{FF2B5EF4-FFF2-40B4-BE49-F238E27FC236}">
                <a16:creationId xmlns:a16="http://schemas.microsoft.com/office/drawing/2014/main" id="{DAFB17AF-B358-FD61-383D-82CB09BDE6D1}"/>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3" name="表 2">
            <a:extLst>
              <a:ext uri="{FF2B5EF4-FFF2-40B4-BE49-F238E27FC236}">
                <a16:creationId xmlns:a16="http://schemas.microsoft.com/office/drawing/2014/main" id="{9058A3E2-A4D0-CB71-8DA3-534867E373FE}"/>
              </a:ext>
            </a:extLst>
          </p:cNvPr>
          <p:cNvGraphicFramePr>
            <a:graphicFrameLocks noGrp="1"/>
          </p:cNvGraphicFramePr>
          <p:nvPr>
            <p:extLst>
              <p:ext uri="{D42A27DB-BD31-4B8C-83A1-F6EECF244321}">
                <p14:modId xmlns:p14="http://schemas.microsoft.com/office/powerpoint/2010/main" val="966731738"/>
              </p:ext>
            </p:extLst>
          </p:nvPr>
        </p:nvGraphicFramePr>
        <p:xfrm>
          <a:off x="341312" y="982456"/>
          <a:ext cx="5003801" cy="5050247"/>
        </p:xfrm>
        <a:graphic>
          <a:graphicData uri="http://schemas.openxmlformats.org/drawingml/2006/table">
            <a:tbl>
              <a:tblPr/>
              <a:tblGrid>
                <a:gridCol w="1730183">
                  <a:extLst>
                    <a:ext uri="{9D8B030D-6E8A-4147-A177-3AD203B41FA5}">
                      <a16:colId xmlns:a16="http://schemas.microsoft.com/office/drawing/2014/main" val="822254377"/>
                    </a:ext>
                  </a:extLst>
                </a:gridCol>
                <a:gridCol w="1091206">
                  <a:extLst>
                    <a:ext uri="{9D8B030D-6E8A-4147-A177-3AD203B41FA5}">
                      <a16:colId xmlns:a16="http://schemas.microsoft.com/office/drawing/2014/main" val="3061090460"/>
                    </a:ext>
                  </a:extLst>
                </a:gridCol>
                <a:gridCol w="1091206">
                  <a:extLst>
                    <a:ext uri="{9D8B030D-6E8A-4147-A177-3AD203B41FA5}">
                      <a16:colId xmlns:a16="http://schemas.microsoft.com/office/drawing/2014/main" val="2032412681"/>
                    </a:ext>
                  </a:extLst>
                </a:gridCol>
                <a:gridCol w="1091206">
                  <a:extLst>
                    <a:ext uri="{9D8B030D-6E8A-4147-A177-3AD203B41FA5}">
                      <a16:colId xmlns:a16="http://schemas.microsoft.com/office/drawing/2014/main" val="1235492032"/>
                    </a:ext>
                  </a:extLst>
                </a:gridCol>
              </a:tblGrid>
              <a:tr h="182436">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59235">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119,157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130,777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141,385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40,643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48,853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32,080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26,584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52,401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貸倒引当金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1,310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22,990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19,843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12,240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9,519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27534741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建物附属設備</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6,299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工具器具備品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4,816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27534741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ソフトウェア</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4,816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7,665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7,087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7,625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27534741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6,639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142,147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154,606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161,229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18816421"/>
                  </a:ext>
                </a:extLst>
              </a:tr>
            </a:tbl>
          </a:graphicData>
        </a:graphic>
      </p:graphicFrame>
      <p:graphicFrame>
        <p:nvGraphicFramePr>
          <p:cNvPr id="6" name="表 5">
            <a:extLst>
              <a:ext uri="{FF2B5EF4-FFF2-40B4-BE49-F238E27FC236}">
                <a16:creationId xmlns:a16="http://schemas.microsoft.com/office/drawing/2014/main" id="{FA894D48-DD3C-65D9-C625-4EB31EFC08F2}"/>
              </a:ext>
            </a:extLst>
          </p:cNvPr>
          <p:cNvGraphicFramePr>
            <a:graphicFrameLocks noGrp="1"/>
          </p:cNvGraphicFramePr>
          <p:nvPr>
            <p:extLst>
              <p:ext uri="{D42A27DB-BD31-4B8C-83A1-F6EECF244321}">
                <p14:modId xmlns:p14="http://schemas.microsoft.com/office/powerpoint/2010/main" val="1269696317"/>
              </p:ext>
            </p:extLst>
          </p:nvPr>
        </p:nvGraphicFramePr>
        <p:xfrm>
          <a:off x="5345113" y="982459"/>
          <a:ext cx="5005387" cy="2207556"/>
        </p:xfrm>
        <a:graphic>
          <a:graphicData uri="http://schemas.openxmlformats.org/drawingml/2006/table">
            <a:tbl>
              <a:tblPr/>
              <a:tblGrid>
                <a:gridCol w="1730731">
                  <a:extLst>
                    <a:ext uri="{9D8B030D-6E8A-4147-A177-3AD203B41FA5}">
                      <a16:colId xmlns:a16="http://schemas.microsoft.com/office/drawing/2014/main" val="140435893"/>
                    </a:ext>
                  </a:extLst>
                </a:gridCol>
                <a:gridCol w="1091552">
                  <a:extLst>
                    <a:ext uri="{9D8B030D-6E8A-4147-A177-3AD203B41FA5}">
                      <a16:colId xmlns:a16="http://schemas.microsoft.com/office/drawing/2014/main" val="1469753659"/>
                    </a:ext>
                  </a:extLst>
                </a:gridCol>
                <a:gridCol w="1091552">
                  <a:extLst>
                    <a:ext uri="{9D8B030D-6E8A-4147-A177-3AD203B41FA5}">
                      <a16:colId xmlns:a16="http://schemas.microsoft.com/office/drawing/2014/main" val="80575429"/>
                    </a:ext>
                  </a:extLst>
                </a:gridCol>
                <a:gridCol w="1091552">
                  <a:extLst>
                    <a:ext uri="{9D8B030D-6E8A-4147-A177-3AD203B41FA5}">
                      <a16:colId xmlns:a16="http://schemas.microsoft.com/office/drawing/2014/main" val="2683263371"/>
                    </a:ext>
                  </a:extLst>
                </a:gridCol>
              </a:tblGrid>
              <a:tr h="182052">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269856">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40,848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44,626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41,578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23,388</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32,913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26,935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3,615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3,649</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3,541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3,101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88,048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91,826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88,778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26826700"/>
                  </a:ext>
                </a:extLst>
              </a:tr>
            </a:tbl>
          </a:graphicData>
        </a:graphic>
      </p:graphicFrame>
      <p:graphicFrame>
        <p:nvGraphicFramePr>
          <p:cNvPr id="9" name="表 8">
            <a:extLst>
              <a:ext uri="{FF2B5EF4-FFF2-40B4-BE49-F238E27FC236}">
                <a16:creationId xmlns:a16="http://schemas.microsoft.com/office/drawing/2014/main" id="{CFB11CDF-FC0D-6D75-4322-C3BD8A89E411}"/>
              </a:ext>
            </a:extLst>
          </p:cNvPr>
          <p:cNvGraphicFramePr>
            <a:graphicFrameLocks noGrp="1"/>
          </p:cNvGraphicFramePr>
          <p:nvPr>
            <p:extLst>
              <p:ext uri="{D42A27DB-BD31-4B8C-83A1-F6EECF244321}">
                <p14:modId xmlns:p14="http://schemas.microsoft.com/office/powerpoint/2010/main" val="2723974325"/>
              </p:ext>
            </p:extLst>
          </p:nvPr>
        </p:nvGraphicFramePr>
        <p:xfrm>
          <a:off x="5345113" y="5054183"/>
          <a:ext cx="5005387" cy="2130664"/>
        </p:xfrm>
        <a:graphic>
          <a:graphicData uri="http://schemas.openxmlformats.org/drawingml/2006/table">
            <a:tbl>
              <a:tblPr/>
              <a:tblGrid>
                <a:gridCol w="1730731">
                  <a:extLst>
                    <a:ext uri="{9D8B030D-6E8A-4147-A177-3AD203B41FA5}">
                      <a16:colId xmlns:a16="http://schemas.microsoft.com/office/drawing/2014/main" val="4058629608"/>
                    </a:ext>
                  </a:extLst>
                </a:gridCol>
                <a:gridCol w="1091552">
                  <a:extLst>
                    <a:ext uri="{9D8B030D-6E8A-4147-A177-3AD203B41FA5}">
                      <a16:colId xmlns:a16="http://schemas.microsoft.com/office/drawing/2014/main" val="2673297223"/>
                    </a:ext>
                  </a:extLst>
                </a:gridCol>
                <a:gridCol w="1091552">
                  <a:extLst>
                    <a:ext uri="{9D8B030D-6E8A-4147-A177-3AD203B41FA5}">
                      <a16:colId xmlns:a16="http://schemas.microsoft.com/office/drawing/2014/main" val="756661618"/>
                    </a:ext>
                  </a:extLst>
                </a:gridCol>
                <a:gridCol w="1091552">
                  <a:extLst>
                    <a:ext uri="{9D8B030D-6E8A-4147-A177-3AD203B41FA5}">
                      <a16:colId xmlns:a16="http://schemas.microsoft.com/office/drawing/2014/main" val="2152851366"/>
                    </a:ext>
                  </a:extLst>
                </a:gridCol>
              </a:tblGrid>
              <a:tr h="15556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2023年12月期</a:t>
                      </a:r>
                      <a:endParaRP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2024年12月期</a:t>
                      </a:r>
                      <a:endParaRP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2025年12月期</a:t>
                      </a:r>
                      <a:endParaRP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25719736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資本準備金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25719736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44,099</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44,099</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25719736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54,099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62,780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72,451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r h="219456">
                <a:tc>
                  <a:txBody>
                    <a:bodyPr/>
                    <a:lstStyle/>
                    <a:p>
                      <a:pPr algn="l"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142,147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154,606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161,229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Tree>
    <p:extLst>
      <p:ext uri="{BB962C8B-B14F-4D97-AF65-F5344CB8AC3E}">
        <p14:creationId xmlns:p14="http://schemas.microsoft.com/office/powerpoint/2010/main" val="995234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4320478"/>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現金及び預金：40,643千円→61,842千円と3期連続で増加。内訳は普通預金58,785千円・現金3,058千円。</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未収入金：45,758千円→52,401千円と増加し、総資産の約33%を占める最大科目。内訳は社会保険診療報酬支払基金35,167千円・国民健康保険団体連合会16,412千円で、98.4%が公的保険者に対する診療報酬等の請求債権。貸倒リスクは実質的にない。</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商品・貯蔵品：商品（薬品等）26,584千円、貯蔵品（薬袋等）620千円。品目別明細は会社保存のため滞留状況は要確認。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有形固定資産：12,240千円→7,402千円と減少。店舗はいずれも賃借であり、内装造作が中心と推察される。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ソフトウェア：3,084千円→7,223千円→4,816千円。令和6年12月期に業務システム（電子薬歴等）への投資があったものと推察。</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差入保証金：6,639千円。店舗3件・駐車場4件に係るもの。返還条件・原状回復義務は要確認。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長期前払費用：985千円。賃貸借契約の更新料の未償却分。</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その他：役員貸付金・従業員貸付金の計上はない。</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en-US" altLang="ja-JP" dirty="0"/>
              <a:t>BS</a:t>
            </a:r>
            <a:r>
              <a:rPr lang="ja-JP" altLang="en-US" dirty="0"/>
              <a:t>補足</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7" name="表 6">
            <a:extLst>
              <a:ext uri="{FF2B5EF4-FFF2-40B4-BE49-F238E27FC236}">
                <a16:creationId xmlns:a16="http://schemas.microsoft.com/office/drawing/2014/main" id="{448E38F1-237A-5405-6ACD-01F738D6BE46}"/>
              </a:ext>
            </a:extLst>
          </p:cNvPr>
          <p:cNvGraphicFramePr>
            <a:graphicFrameLocks noGrp="1"/>
          </p:cNvGraphicFramePr>
          <p:nvPr>
            <p:extLst>
              <p:ext uri="{D42A27DB-BD31-4B8C-83A1-F6EECF244321}">
                <p14:modId xmlns:p14="http://schemas.microsoft.com/office/powerpoint/2010/main" val="3265120595"/>
              </p:ext>
            </p:extLst>
          </p:nvPr>
        </p:nvGraphicFramePr>
        <p:xfrm>
          <a:off x="341312" y="982456"/>
          <a:ext cx="5003801" cy="5050247"/>
        </p:xfrm>
        <a:graphic>
          <a:graphicData uri="http://schemas.openxmlformats.org/drawingml/2006/table">
            <a:tbl>
              <a:tblPr/>
              <a:tblGrid>
                <a:gridCol w="1730183">
                  <a:extLst>
                    <a:ext uri="{9D8B030D-6E8A-4147-A177-3AD203B41FA5}">
                      <a16:colId xmlns:a16="http://schemas.microsoft.com/office/drawing/2014/main" val="822254377"/>
                    </a:ext>
                  </a:extLst>
                </a:gridCol>
                <a:gridCol w="1091206">
                  <a:extLst>
                    <a:ext uri="{9D8B030D-6E8A-4147-A177-3AD203B41FA5}">
                      <a16:colId xmlns:a16="http://schemas.microsoft.com/office/drawing/2014/main" val="3061090460"/>
                    </a:ext>
                  </a:extLst>
                </a:gridCol>
                <a:gridCol w="1091206">
                  <a:extLst>
                    <a:ext uri="{9D8B030D-6E8A-4147-A177-3AD203B41FA5}">
                      <a16:colId xmlns:a16="http://schemas.microsoft.com/office/drawing/2014/main" val="2032412681"/>
                    </a:ext>
                  </a:extLst>
                </a:gridCol>
                <a:gridCol w="1091206">
                  <a:extLst>
                    <a:ext uri="{9D8B030D-6E8A-4147-A177-3AD203B41FA5}">
                      <a16:colId xmlns:a16="http://schemas.microsoft.com/office/drawing/2014/main" val="1235492032"/>
                    </a:ext>
                  </a:extLst>
                </a:gridCol>
              </a:tblGrid>
              <a:tr h="182436">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59235">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119,157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130,777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141,385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40,643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48,853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32,080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26,584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52,401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貸倒引当金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前払金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1,310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22,990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19,843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12,240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9,519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154328196"/>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建物附属設備</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6,299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工具器具備品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［無形固定資産］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4,816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154328196"/>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ソフトウェア</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4,816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［投資その他資産］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7,665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7,087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7,625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154328196"/>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6,639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142,147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154,606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161,229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42160162"/>
                  </a:ext>
                </a:extLst>
              </a:tr>
            </a:tbl>
          </a:graphicData>
        </a:graphic>
      </p:graphicFrame>
    </p:spTree>
    <p:extLst>
      <p:ext uri="{BB962C8B-B14F-4D97-AF65-F5344CB8AC3E}">
        <p14:creationId xmlns:p14="http://schemas.microsoft.com/office/powerpoint/2010/main" val="2721680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1448923"/>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貸倒引当金：法定繰入率により機械的に繰り入れ、翌期に全額を戻し入れる処理が3期連続で行われており、実際の貸倒れの発生は確認されない。直接評価の観点から全額戻入し、524千円を加算している。</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長期前払費用：賃貸借契約の更新料の未償却分であり、換金価値を有しない繰延的資産であるため985千円を全額控除している。</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未収入金：98.4%が社会保険診療報酬支払基金及び国民健康保険団体連合会に対する債権であり、貸倒リスクは実質的にないことから帳簿価額により評価している。</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商品・貯蔵品：品目別明細が未受領のため滞留状況の判定は未実施。帳簿価額により評価している（要確認）。</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有形固定資産・ソフトウェア：固定資産台帳が未受領のため償却過不足の検証は未実施。税法基準により継続的に償却されていることから帳簿価額により評価している（要確認）。</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繰延税金資産：修正額の純額△461千円に実効税率34%を乗じた157千円を計上している。</a:t>
            </a: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ja-JP" altLang="en-US" dirty="0"/>
              <a:t>修正</a:t>
            </a:r>
            <a:r>
              <a:rPr lang="en-US" altLang="ja-JP" dirty="0"/>
              <a:t>BS</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5" name="表 4">
            <a:extLst>
              <a:ext uri="{FF2B5EF4-FFF2-40B4-BE49-F238E27FC236}">
                <a16:creationId xmlns:a16="http://schemas.microsoft.com/office/drawing/2014/main" id="{F82B30C9-78FB-A0E7-EDB2-643EA427D31F}"/>
              </a:ext>
            </a:extLst>
          </p:cNvPr>
          <p:cNvGraphicFramePr>
            <a:graphicFrameLocks noGrp="1"/>
          </p:cNvGraphicFramePr>
          <p:nvPr>
            <p:extLst>
              <p:ext uri="{D42A27DB-BD31-4B8C-83A1-F6EECF244321}">
                <p14:modId xmlns:p14="http://schemas.microsoft.com/office/powerpoint/2010/main" val="3186183130"/>
              </p:ext>
            </p:extLst>
          </p:nvPr>
        </p:nvGraphicFramePr>
        <p:xfrm>
          <a:off x="341313" y="895347"/>
          <a:ext cx="5106587" cy="5432860"/>
        </p:xfrm>
        <a:graphic>
          <a:graphicData uri="http://schemas.openxmlformats.org/drawingml/2006/table">
            <a:tbl>
              <a:tblPr/>
              <a:tblGrid>
                <a:gridCol w="1869077">
                  <a:extLst>
                    <a:ext uri="{9D8B030D-6E8A-4147-A177-3AD203B41FA5}">
                      <a16:colId xmlns:a16="http://schemas.microsoft.com/office/drawing/2014/main" val="1811348898"/>
                    </a:ext>
                  </a:extLst>
                </a:gridCol>
                <a:gridCol w="1079170">
                  <a:extLst>
                    <a:ext uri="{9D8B030D-6E8A-4147-A177-3AD203B41FA5}">
                      <a16:colId xmlns:a16="http://schemas.microsoft.com/office/drawing/2014/main" val="1080150328"/>
                    </a:ext>
                  </a:extLst>
                </a:gridCol>
                <a:gridCol w="1079170">
                  <a:extLst>
                    <a:ext uri="{9D8B030D-6E8A-4147-A177-3AD203B41FA5}">
                      <a16:colId xmlns:a16="http://schemas.microsoft.com/office/drawing/2014/main" val="975008562"/>
                    </a:ext>
                  </a:extLst>
                </a:gridCol>
                <a:gridCol w="1079170">
                  <a:extLst>
                    <a:ext uri="{9D8B030D-6E8A-4147-A177-3AD203B41FA5}">
                      <a16:colId xmlns:a16="http://schemas.microsoft.com/office/drawing/2014/main" val="3394293467"/>
                    </a:ext>
                  </a:extLst>
                </a:gridCol>
              </a:tblGrid>
              <a:tr h="17182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b">
                        <a:buNone/>
                      </a:pP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b">
                        <a:buNone/>
                      </a:pP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4250869639"/>
                  </a:ext>
                </a:extLst>
              </a:tr>
              <a:tr h="254303">
                <a:tc gridSpan="4">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資産の部</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3334621787"/>
                  </a:ext>
                </a:extLst>
              </a:tr>
              <a:tr h="178699">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en-US" altLang="ja-JP" sz="10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a:noFill/>
                    </a:lnB>
                    <a:solidFill>
                      <a:srgbClr val="0889C9"/>
                    </a:solidFill>
                  </a:tcPr>
                </a:tc>
                <a:extLst>
                  <a:ext uri="{0D108BD9-81ED-4DB2-BD59-A6C34878D82A}">
                    <a16:rowId xmlns:a16="http://schemas.microsoft.com/office/drawing/2014/main" val="2071081210"/>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141,385</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141,909</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8720178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26,584</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26,584</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620</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620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162</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162</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52,401</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52,401</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貸倒引当金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524</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前払金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300</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300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19,843</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△985</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18,858</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8720178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133064"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7,402</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7,402</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38020490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建物附属設備</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5,362</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5,362</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工具器具備品</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2,041</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2,041</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133064"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4,816</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4,816</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38020490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ソフトウェア</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4,816</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4,816</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133064"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7,625</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△985</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6,639</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38020490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6,639</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6,639</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985</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△985</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87201787"/>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【繰延税金資産】</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157</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157</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87201787"/>
                  </a:ext>
                </a:extLst>
              </a:tr>
              <a:tr h="219456">
                <a:tc>
                  <a:txBody>
                    <a:bodyPr/>
                    <a:lstStyle/>
                    <a:p>
                      <a:pPr algn="l"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資産合計</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161,229</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△305</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160,924</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2386605806"/>
                  </a:ext>
                </a:extLst>
              </a:tr>
            </a:tbl>
          </a:graphicData>
        </a:graphic>
      </p:graphicFrame>
    </p:spTree>
    <p:extLst>
      <p:ext uri="{BB962C8B-B14F-4D97-AF65-F5344CB8AC3E}">
        <p14:creationId xmlns:p14="http://schemas.microsoft.com/office/powerpoint/2010/main" val="1717633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2C329-BBDE-997E-33BB-A9FD47BC642C}"/>
            </a:ext>
          </a:extLst>
        </p:cNvPr>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B13BEBD7-E126-4EFC-80E2-30F6E3A5C825}"/>
              </a:ext>
            </a:extLst>
          </p:cNvPr>
          <p:cNvSpPr txBox="1"/>
          <p:nvPr/>
        </p:nvSpPr>
        <p:spPr>
          <a:xfrm>
            <a:off x="5919905" y="1849388"/>
            <a:ext cx="4320000" cy="213526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買掛金：26,935千円。㈱メディセオ11,140千円・アルフレッサ㈱8,607千円・㈱スズケン7,011千円の医薬品卸大手3社で99.3%を占める。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未払金：3,541千円。うち社会保険料（11月分・賞与分）2,349千円。</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借入金：短期8,000千円は親会社である一般社団法人スタジオ技術研究会からの借入（利率1.0%）、長期47,200千円は「三河町子 相続人」からの借入であり、いずれも金融機関借入ではない。M&amp;A時の取扱い（返済・債務免除・債権譲渡）は株式価値に直接影響するため要確認。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純資産：繰越利益剰余金は毎期積み上がり、純資産合計は72,451千円。自己資本比率は44.9%と安定した水準にある。</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012852EF-C89F-A030-08AF-F6FD92C8DC4C}"/>
              </a:ext>
            </a:extLst>
          </p:cNvPr>
          <p:cNvSpPr>
            <a:spLocks noGrp="1"/>
          </p:cNvSpPr>
          <p:nvPr>
            <p:ph type="ctrTitle"/>
          </p:nvPr>
        </p:nvSpPr>
        <p:spPr/>
        <p:txBody>
          <a:bodyPr/>
          <a:lstStyle/>
          <a:p>
            <a:r>
              <a:rPr lang="en-US" altLang="ja-JP" dirty="0"/>
              <a:t>BS</a:t>
            </a:r>
            <a:r>
              <a:rPr lang="ja-JP" altLang="en-US" dirty="0"/>
              <a:t>補足</a:t>
            </a:r>
            <a:r>
              <a:rPr lang="ja-JP" altLang="en-US" sz="1800" dirty="0"/>
              <a:t>［負債・純資産］</a:t>
            </a:r>
          </a:p>
        </p:txBody>
      </p:sp>
      <p:sp>
        <p:nvSpPr>
          <p:cNvPr id="6" name="タイトル 1">
            <a:extLst>
              <a:ext uri="{FF2B5EF4-FFF2-40B4-BE49-F238E27FC236}">
                <a16:creationId xmlns:a16="http://schemas.microsoft.com/office/drawing/2014/main" id="{D054D60A-9874-6F6C-68B4-54AD036BE44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B027BB31-5712-B589-FAF6-FEF5A19860C5}"/>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8" name="表 7">
            <a:extLst>
              <a:ext uri="{FF2B5EF4-FFF2-40B4-BE49-F238E27FC236}">
                <a16:creationId xmlns:a16="http://schemas.microsoft.com/office/drawing/2014/main" id="{5E81CBBB-A446-BB13-683B-CB5F62B2DD3C}"/>
              </a:ext>
            </a:extLst>
          </p:cNvPr>
          <p:cNvGraphicFramePr>
            <a:graphicFrameLocks noGrp="1"/>
          </p:cNvGraphicFramePr>
          <p:nvPr>
            <p:extLst>
              <p:ext uri="{D42A27DB-BD31-4B8C-83A1-F6EECF244321}">
                <p14:modId xmlns:p14="http://schemas.microsoft.com/office/powerpoint/2010/main" val="300471915"/>
              </p:ext>
            </p:extLst>
          </p:nvPr>
        </p:nvGraphicFramePr>
        <p:xfrm>
          <a:off x="341313" y="982458"/>
          <a:ext cx="5005387" cy="2470330"/>
        </p:xfrm>
        <a:graphic>
          <a:graphicData uri="http://schemas.openxmlformats.org/drawingml/2006/table">
            <a:tbl>
              <a:tblPr/>
              <a:tblGrid>
                <a:gridCol w="1730731">
                  <a:extLst>
                    <a:ext uri="{9D8B030D-6E8A-4147-A177-3AD203B41FA5}">
                      <a16:colId xmlns:a16="http://schemas.microsoft.com/office/drawing/2014/main" val="140435893"/>
                    </a:ext>
                  </a:extLst>
                </a:gridCol>
                <a:gridCol w="1091552">
                  <a:extLst>
                    <a:ext uri="{9D8B030D-6E8A-4147-A177-3AD203B41FA5}">
                      <a16:colId xmlns:a16="http://schemas.microsoft.com/office/drawing/2014/main" val="1469753659"/>
                    </a:ext>
                  </a:extLst>
                </a:gridCol>
                <a:gridCol w="1091552">
                  <a:extLst>
                    <a:ext uri="{9D8B030D-6E8A-4147-A177-3AD203B41FA5}">
                      <a16:colId xmlns:a16="http://schemas.microsoft.com/office/drawing/2014/main" val="80575429"/>
                    </a:ext>
                  </a:extLst>
                </a:gridCol>
                <a:gridCol w="1091552">
                  <a:extLst>
                    <a:ext uri="{9D8B030D-6E8A-4147-A177-3AD203B41FA5}">
                      <a16:colId xmlns:a16="http://schemas.microsoft.com/office/drawing/2014/main" val="2683263371"/>
                    </a:ext>
                  </a:extLst>
                </a:gridCol>
              </a:tblGrid>
              <a:tr h="223621">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344757">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3774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40,848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44,626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41,578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23,388</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32,913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26,935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3,615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3,649</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3,541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3,101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88,048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91,826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88,778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10354605"/>
                  </a:ext>
                </a:extLst>
              </a:tr>
            </a:tbl>
          </a:graphicData>
        </a:graphic>
      </p:graphicFrame>
      <p:graphicFrame>
        <p:nvGraphicFramePr>
          <p:cNvPr id="11" name="表 10">
            <a:extLst>
              <a:ext uri="{FF2B5EF4-FFF2-40B4-BE49-F238E27FC236}">
                <a16:creationId xmlns:a16="http://schemas.microsoft.com/office/drawing/2014/main" id="{73623FF6-D72B-C11F-A680-C7721DBB6E74}"/>
              </a:ext>
            </a:extLst>
          </p:cNvPr>
          <p:cNvGraphicFramePr>
            <a:graphicFrameLocks noGrp="1"/>
          </p:cNvGraphicFramePr>
          <p:nvPr>
            <p:extLst>
              <p:ext uri="{D42A27DB-BD31-4B8C-83A1-F6EECF244321}">
                <p14:modId xmlns:p14="http://schemas.microsoft.com/office/powerpoint/2010/main" val="2957363408"/>
              </p:ext>
            </p:extLst>
          </p:nvPr>
        </p:nvGraphicFramePr>
        <p:xfrm>
          <a:off x="341313" y="4527746"/>
          <a:ext cx="5005387" cy="2177809"/>
        </p:xfrm>
        <a:graphic>
          <a:graphicData uri="http://schemas.openxmlformats.org/drawingml/2006/table">
            <a:tbl>
              <a:tblPr/>
              <a:tblGrid>
                <a:gridCol w="1730731">
                  <a:extLst>
                    <a:ext uri="{9D8B030D-6E8A-4147-A177-3AD203B41FA5}">
                      <a16:colId xmlns:a16="http://schemas.microsoft.com/office/drawing/2014/main" val="4058629608"/>
                    </a:ext>
                  </a:extLst>
                </a:gridCol>
                <a:gridCol w="1091552">
                  <a:extLst>
                    <a:ext uri="{9D8B030D-6E8A-4147-A177-3AD203B41FA5}">
                      <a16:colId xmlns:a16="http://schemas.microsoft.com/office/drawing/2014/main" val="2673297223"/>
                    </a:ext>
                  </a:extLst>
                </a:gridCol>
                <a:gridCol w="1091552">
                  <a:extLst>
                    <a:ext uri="{9D8B030D-6E8A-4147-A177-3AD203B41FA5}">
                      <a16:colId xmlns:a16="http://schemas.microsoft.com/office/drawing/2014/main" val="756661618"/>
                    </a:ext>
                  </a:extLst>
                </a:gridCol>
                <a:gridCol w="1091552">
                  <a:extLst>
                    <a:ext uri="{9D8B030D-6E8A-4147-A177-3AD203B41FA5}">
                      <a16:colId xmlns:a16="http://schemas.microsoft.com/office/drawing/2014/main" val="2152851366"/>
                    </a:ext>
                  </a:extLst>
                </a:gridCol>
              </a:tblGrid>
              <a:tr h="202705">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2023年12月期</a:t>
                      </a:r>
                      <a:endParaRP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2024年12月期</a:t>
                      </a:r>
                      <a:endParaRP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2025年12月期</a:t>
                      </a:r>
                      <a:endParaRP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505177488"/>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資本準備金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505177488"/>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44,099</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44,099</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505177488"/>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54,099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62,780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72,451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r h="219456">
                <a:tc>
                  <a:txBody>
                    <a:bodyPr/>
                    <a:lstStyle/>
                    <a:p>
                      <a:pPr algn="l"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142,147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154,606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161,229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Tree>
    <p:extLst>
      <p:ext uri="{BB962C8B-B14F-4D97-AF65-F5344CB8AC3E}">
        <p14:creationId xmlns:p14="http://schemas.microsoft.com/office/powerpoint/2010/main" val="6276594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01069-72DF-A6D5-2DC9-38122B5766A8}"/>
            </a:ext>
          </a:extLst>
        </p:cNvPr>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07165E55-3785-323B-D0D9-F2EFA46529D1}"/>
              </a:ext>
            </a:extLst>
          </p:cNvPr>
          <p:cNvSpPr txBox="1"/>
          <p:nvPr/>
        </p:nvSpPr>
        <p:spPr>
          <a:xfrm>
            <a:off x="5919905" y="1849388"/>
            <a:ext cx="4320000" cy="165205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負債：時価評価を要する項目は存在しなかったため、いずれも帳簿価額により評価している。ただし借入金55,200千円はいずれも親会社及び代表者親族からの借入であり、M&amp;A時の取扱いを要確認。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簿外債務：未払残業代・賞与引当金・退職給付引当金については、就業規則・賃金規程・退職金規程が未受領のため未計上としている（要確認）。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純資産：簿価純資産72,451千円に評価修正額△305千円を反映した結果、修正後純資産（時価純資産）は72,146千円となる。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上振れ要素：雑益の内訳書に倒産防止共済の前納減額金の計上があり、掛金を全額損金算入している簿外の積立（解約手当金 最大800万円）が存在すると認められる。金額が特定できないため未計上としており、判明後は時価純資産の加算要素となる。</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4B44719C-88E4-C2E8-E209-EEC4A9F272D2}"/>
              </a:ext>
            </a:extLst>
          </p:cNvPr>
          <p:cNvSpPr>
            <a:spLocks noGrp="1"/>
          </p:cNvSpPr>
          <p:nvPr>
            <p:ph type="ctrTitle"/>
          </p:nvPr>
        </p:nvSpPr>
        <p:spPr/>
        <p:txBody>
          <a:bodyPr/>
          <a:lstStyle/>
          <a:p>
            <a:r>
              <a:rPr lang="ja-JP" altLang="en-US" dirty="0"/>
              <a:t>修正</a:t>
            </a:r>
            <a:r>
              <a:rPr lang="en-US" altLang="ja-JP" dirty="0"/>
              <a:t>BS</a:t>
            </a:r>
            <a:r>
              <a:rPr lang="ja-JP" altLang="en-US" sz="1800" dirty="0"/>
              <a:t>［負債・純資産］</a:t>
            </a:r>
          </a:p>
        </p:txBody>
      </p:sp>
      <p:sp>
        <p:nvSpPr>
          <p:cNvPr id="6" name="タイトル 1">
            <a:extLst>
              <a:ext uri="{FF2B5EF4-FFF2-40B4-BE49-F238E27FC236}">
                <a16:creationId xmlns:a16="http://schemas.microsoft.com/office/drawing/2014/main" id="{EED50456-622D-7517-0703-96034524068C}"/>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7865103-507D-37F1-F6F9-CDEC35B6E872}"/>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5" name="表 4">
            <a:extLst>
              <a:ext uri="{FF2B5EF4-FFF2-40B4-BE49-F238E27FC236}">
                <a16:creationId xmlns:a16="http://schemas.microsoft.com/office/drawing/2014/main" id="{EBC5D66D-F9FF-3876-586A-B31125B18F6B}"/>
              </a:ext>
            </a:extLst>
          </p:cNvPr>
          <p:cNvGraphicFramePr>
            <a:graphicFrameLocks noGrp="1"/>
          </p:cNvGraphicFramePr>
          <p:nvPr>
            <p:extLst>
              <p:ext uri="{D42A27DB-BD31-4B8C-83A1-F6EECF244321}">
                <p14:modId xmlns:p14="http://schemas.microsoft.com/office/powerpoint/2010/main" val="1645145149"/>
              </p:ext>
            </p:extLst>
          </p:nvPr>
        </p:nvGraphicFramePr>
        <p:xfrm>
          <a:off x="340521" y="800217"/>
          <a:ext cx="5004592" cy="5095441"/>
        </p:xfrm>
        <a:graphic>
          <a:graphicData uri="http://schemas.openxmlformats.org/drawingml/2006/table">
            <a:tbl>
              <a:tblPr/>
              <a:tblGrid>
                <a:gridCol w="1831747">
                  <a:extLst>
                    <a:ext uri="{9D8B030D-6E8A-4147-A177-3AD203B41FA5}">
                      <a16:colId xmlns:a16="http://schemas.microsoft.com/office/drawing/2014/main" val="2719514001"/>
                    </a:ext>
                  </a:extLst>
                </a:gridCol>
                <a:gridCol w="1057615">
                  <a:extLst>
                    <a:ext uri="{9D8B030D-6E8A-4147-A177-3AD203B41FA5}">
                      <a16:colId xmlns:a16="http://schemas.microsoft.com/office/drawing/2014/main" val="3558173115"/>
                    </a:ext>
                  </a:extLst>
                </a:gridCol>
                <a:gridCol w="1057615">
                  <a:extLst>
                    <a:ext uri="{9D8B030D-6E8A-4147-A177-3AD203B41FA5}">
                      <a16:colId xmlns:a16="http://schemas.microsoft.com/office/drawing/2014/main" val="2313249536"/>
                    </a:ext>
                  </a:extLst>
                </a:gridCol>
                <a:gridCol w="1057615">
                  <a:extLst>
                    <a:ext uri="{9D8B030D-6E8A-4147-A177-3AD203B41FA5}">
                      <a16:colId xmlns:a16="http://schemas.microsoft.com/office/drawing/2014/main" val="937774236"/>
                    </a:ext>
                  </a:extLst>
                </a:gridCol>
              </a:tblGrid>
              <a:tr h="192196">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4281" marR="4281" marT="4281"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4281" marR="4281" marT="4281" marB="0" anchor="ctr">
                    <a:lnL>
                      <a:noFill/>
                    </a:lnL>
                    <a:lnR>
                      <a:noFill/>
                    </a:lnR>
                    <a:lnT>
                      <a:noFill/>
                    </a:lnT>
                    <a:lnB>
                      <a:noFill/>
                    </a:lnB>
                    <a:noFill/>
                  </a:tcPr>
                </a:tc>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4281" marR="4281" marT="4281" marB="0" anchor="ctr">
                    <a:lnL>
                      <a:noFill/>
                    </a:lnL>
                    <a:lnR>
                      <a:noFill/>
                    </a:lnR>
                    <a:lnT>
                      <a:noFill/>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4281" marR="4281" marT="4281" marB="0" anchor="ctr">
                    <a:lnL>
                      <a:noFill/>
                    </a:lnL>
                    <a:lnR>
                      <a:noFill/>
                    </a:lnR>
                    <a:lnT>
                      <a:noFill/>
                    </a:lnT>
                    <a:lnB>
                      <a:noFill/>
                    </a:lnB>
                    <a:noFill/>
                  </a:tcPr>
                </a:tc>
                <a:extLst>
                  <a:ext uri="{0D108BD9-81ED-4DB2-BD59-A6C34878D82A}">
                    <a16:rowId xmlns:a16="http://schemas.microsoft.com/office/drawing/2014/main" val="352485218"/>
                  </a:ext>
                </a:extLst>
              </a:tr>
              <a:tr h="300574">
                <a:tc gridSpan="4">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4281" marR="4281" marT="4281" marB="0" anchor="ctr">
                    <a:lnL w="635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a:noFill/>
                    </a:lnT>
                    <a:lnB w="6350" cap="flat" cmpd="sng" algn="ctr">
                      <a:noFill/>
                      <a:prstDash val="solid"/>
                      <a:round/>
                      <a:headEnd type="none" w="med" len="med"/>
                      <a:tailEnd type="none" w="med" len="med"/>
                    </a:lnB>
                    <a:solidFill>
                      <a:srgbClr val="0B3041"/>
                    </a:solidFill>
                  </a:tcPr>
                </a:tc>
                <a:tc hMerge="1">
                  <a:txBody>
                    <a:bodyPr/>
                    <a:lstStyle/>
                    <a:p>
                      <a:endParaRP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dirty="0"/>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2209732130"/>
                  </a:ext>
                </a:extLst>
              </a:tr>
              <a:tr h="213551">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4281" marR="4281" marT="4281" marB="0" anchor="ctr">
                    <a:lnL>
                      <a:noFill/>
                    </a:lnL>
                    <a:lnR w="6350" cap="flat" cmpd="sng" algn="ctr">
                      <a:solidFill>
                        <a:srgbClr val="A6A6A6"/>
                      </a:solidFill>
                      <a:prstDash val="solid"/>
                      <a:round/>
                      <a:headEnd type="none" w="med" len="med"/>
                      <a:tailEnd type="none" w="med" len="med"/>
                    </a:lnR>
                    <a:lnT w="6350" cap="flat" cmpd="sng" algn="ctr">
                      <a:noFill/>
                      <a:prstDash val="solid"/>
                      <a:round/>
                      <a:headEnd type="none" w="med" len="med"/>
                      <a:tailEnd type="none" w="med" len="med"/>
                    </a:lnT>
                    <a:lnB>
                      <a:noFill/>
                    </a:lnB>
                    <a:solidFill>
                      <a:srgbClr val="0B3041"/>
                    </a:solidFill>
                  </a:tcPr>
                </a:tc>
                <a:tc>
                  <a:txBody>
                    <a:bodyPr/>
                    <a:lstStyle/>
                    <a:p>
                      <a:pPr algn="ctr" fontAlgn="ctr">
                        <a:buNone/>
                      </a:pPr>
                      <a:r>
                        <a:rPr lang="en-US" altLang="ja-JP" sz="10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4281" marR="4281" marT="4281"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修正額</a:t>
                      </a:r>
                    </a:p>
                  </a:txBody>
                  <a:tcPr marL="4281" marR="4281" marT="4281" marB="0" anchor="ctr">
                    <a:lnL w="6350" cap="flat" cmpd="sng" algn="ctr">
                      <a:solidFill>
                        <a:srgbClr val="A6A6A6"/>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4281" marR="4281"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a:noFill/>
                    </a:lnB>
                    <a:solidFill>
                      <a:srgbClr val="0889C9"/>
                    </a:solidFill>
                  </a:tcPr>
                </a:tc>
                <a:extLst>
                  <a:ext uri="{0D108BD9-81ED-4DB2-BD59-A6C34878D82A}">
                    <a16:rowId xmlns:a16="http://schemas.microsoft.com/office/drawing/2014/main" val="2774289802"/>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41,578</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41,578</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26,935</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26,935</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8,000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8,000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3,541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3,541</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3,101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3,101</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47,200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47,200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47,200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47,200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【繰延税金負債】</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77062"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88,778</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88,778</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21416153"/>
                  </a:ext>
                </a:extLst>
              </a:tr>
              <a:tr h="219456">
                <a:tc gridSpan="4">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4281" marR="4281" marT="4281" marB="0" anchor="ctr">
                    <a:lnL>
                      <a:noFill/>
                    </a:lnL>
                    <a:lnR w="12700" cap="flat" cmpd="sng" algn="ctr">
                      <a:solidFill>
                        <a:srgbClr val="04456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hMerge="1">
                  <a:txBody>
                    <a:bodyPr/>
                    <a:lstStyle/>
                    <a:p>
                      <a:r>
                        <a:t>　</a:t>
                      </a: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hMerge="1">
                  <a:txBody>
                    <a:bodyPr/>
                    <a:lstStyle/>
                    <a:p>
                      <a:r>
                        <a:t>　</a:t>
                      </a: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hMerge="1">
                  <a:txBody>
                    <a:bodyPr/>
                    <a:lstStyle/>
                    <a:p>
                      <a:r>
                        <a:rPr dirty="0"/>
                        <a:t>　</a:t>
                      </a: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98765913"/>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9,000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9,000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9,000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9,000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資本準備金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62,451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62,451</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62,451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62,451</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【評価修正額】</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△305</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△305</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77062"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72,451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△305</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72,146</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21416153"/>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77062"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161,229</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△305</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160,924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21416153"/>
                  </a:ext>
                </a:extLst>
              </a:tr>
            </a:tbl>
          </a:graphicData>
        </a:graphic>
      </p:graphicFrame>
    </p:spTree>
    <p:extLst>
      <p:ext uri="{BB962C8B-B14F-4D97-AF65-F5344CB8AC3E}">
        <p14:creationId xmlns:p14="http://schemas.microsoft.com/office/powerpoint/2010/main" val="1524445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6924A-DBCC-BA2E-3DAE-B087BA11D028}"/>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3457B52A-EE32-66A1-E9D7-A16C41555BD4}"/>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ネットキャッシュの算定</a:t>
            </a:r>
            <a:endParaRPr lang="ja-JP" altLang="en-US" sz="1800" dirty="0">
              <a:latin typeface="游ゴシック" panose="020B0400000000000000" pitchFamily="50" charset="-128"/>
              <a:ea typeface="游ゴシック" panose="020B0400000000000000" pitchFamily="50" charset="-128"/>
            </a:endParaRPr>
          </a:p>
        </p:txBody>
      </p:sp>
      <p:sp>
        <p:nvSpPr>
          <p:cNvPr id="3" name="タイトル 1">
            <a:extLst>
              <a:ext uri="{FF2B5EF4-FFF2-40B4-BE49-F238E27FC236}">
                <a16:creationId xmlns:a16="http://schemas.microsoft.com/office/drawing/2014/main" id="{A669AB92-1457-701A-1752-55CB309BC70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latin typeface="游ゴシック" panose="020B0400000000000000" pitchFamily="50" charset="-128"/>
                <a:ea typeface="游ゴシック" panose="020B0400000000000000" pitchFamily="50" charset="-128"/>
              </a:rPr>
              <a:t>2. Financial Analysis </a:t>
            </a:r>
            <a:endParaRPr lang="ja-JP" altLang="en-US" spc="0" dirty="0">
              <a:latin typeface="游ゴシック" panose="020B0400000000000000" pitchFamily="50" charset="-128"/>
              <a:ea typeface="游ゴシック" panose="020B0400000000000000" pitchFamily="50" charset="-128"/>
            </a:endParaRP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8056" y="4434840"/>
            <a:ext cx="9793224" cy="96012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737360" y="4621571"/>
            <a:ext cx="8321040" cy="609654"/>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50" spc="50" dirty="0">
                <a:latin typeface="游ゴシック" panose="020B0400000000000000" pitchFamily="50" charset="-128"/>
                <a:ea typeface="游ゴシック" panose="020B0400000000000000" pitchFamily="50" charset="-128"/>
              </a:rPr>
              <a:t>・キャッシュライクアイテム：現金及び預金61,842千円（普通預金58,785千円・現金3,058千円）。運用目的の有価証券・保険積立金、役員貸付金等の計上はない。</a:t>
            </a:r>
            <a:endParaRPr lang="en-US" altLang="ja-JP" sz="1050" spc="50" dirty="0">
              <a:latin typeface="游ゴシック" panose="020B0400000000000000" pitchFamily="50" charset="-128"/>
              <a:ea typeface="游ゴシック" panose="020B0400000000000000" pitchFamily="50" charset="-128"/>
            </a:endParaRPr>
          </a:p>
          <a:p>
            <a:pPr>
              <a:lnSpc>
                <a:spcPct val="120000"/>
              </a:lnSpc>
              <a:spcAft>
                <a:spcPts val="300"/>
              </a:spcAft>
              <a:buClr>
                <a:schemeClr val="tx1"/>
              </a:buClr>
              <a:buSzPct val="100000"/>
            </a:pPr>
            <a:r>
              <a:rPr lang="ja-JP" altLang="en-US" sz="1050" spc="50" dirty="0">
                <a:latin typeface="游ゴシック" panose="020B0400000000000000" pitchFamily="50" charset="-128"/>
                <a:ea typeface="游ゴシック" panose="020B0400000000000000" pitchFamily="50" charset="-128"/>
              </a:rPr>
              <a:t>・デットライクアイテム：短期借入金8,000千円は親会社である一般社団法人スタジオ技術研究会からの借入（利率1.0%）、長期借入金47,200千円は代表者親族（三河町子 相続人）からの借入であり、いずれも金融機関借入ではない。</a:t>
            </a:r>
            <a:endParaRPr lang="en-US" altLang="ja-JP" sz="1050" spc="50" dirty="0">
              <a:latin typeface="游ゴシック" panose="020B0400000000000000" pitchFamily="50" charset="-128"/>
              <a:ea typeface="游ゴシック" panose="020B0400000000000000" pitchFamily="50" charset="-128"/>
            </a:endParaRPr>
          </a:p>
          <a:p>
            <a:pPr>
              <a:lnSpc>
                <a:spcPct val="120000"/>
              </a:lnSpc>
              <a:spcAft>
                <a:spcPts val="300"/>
              </a:spcAft>
              <a:buClr>
                <a:schemeClr val="tx1"/>
              </a:buClr>
              <a:buSzPct val="100000"/>
            </a:pPr>
            <a:r>
              <a:rPr lang="ja-JP" altLang="en-US" sz="1050" spc="50" dirty="0">
                <a:latin typeface="游ゴシック" panose="020B0400000000000000" pitchFamily="50" charset="-128"/>
                <a:ea typeface="游ゴシック" panose="020B0400000000000000" pitchFamily="50" charset="-128"/>
              </a:rPr>
              <a:t>・以上の結果、ネットキャッシュは＋6,642千円となる。なお、上記借入金の取扱い（譲渡代金からの返済・債務免除・債権譲渡）により、譲受企業から見た実質的なネットキャッシュは変動する。</a:t>
            </a:r>
            <a:endParaRPr lang="en-US" altLang="ja-JP" sz="1050" spc="50" dirty="0">
              <a:latin typeface="游ゴシック" panose="020B0400000000000000" pitchFamily="50" charset="-128"/>
              <a:ea typeface="游ゴシック" panose="020B0400000000000000" pitchFamily="50" charset="-128"/>
            </a:endParaRPr>
          </a:p>
        </p:txBody>
      </p:sp>
      <p:graphicFrame>
        <p:nvGraphicFramePr>
          <p:cNvPr id="5" name="表 4">
            <a:extLst>
              <a:ext uri="{FF2B5EF4-FFF2-40B4-BE49-F238E27FC236}">
                <a16:creationId xmlns:a16="http://schemas.microsoft.com/office/drawing/2014/main" id="{7C150E09-45BD-0CFA-260D-0B71D34FA81B}"/>
              </a:ext>
            </a:extLst>
          </p:cNvPr>
          <p:cNvGraphicFramePr>
            <a:graphicFrameLocks noGrp="1"/>
          </p:cNvGraphicFramePr>
          <p:nvPr>
            <p:extLst>
              <p:ext uri="{D42A27DB-BD31-4B8C-83A1-F6EECF244321}">
                <p14:modId xmlns:p14="http://schemas.microsoft.com/office/powerpoint/2010/main" val="1070851360"/>
              </p:ext>
            </p:extLst>
          </p:nvPr>
        </p:nvGraphicFramePr>
        <p:xfrm>
          <a:off x="341312" y="1008063"/>
          <a:ext cx="9457207" cy="2880545"/>
        </p:xfrm>
        <a:graphic>
          <a:graphicData uri="http://schemas.openxmlformats.org/drawingml/2006/table">
            <a:tbl>
              <a:tblPr/>
              <a:tblGrid>
                <a:gridCol w="2261506">
                  <a:extLst>
                    <a:ext uri="{9D8B030D-6E8A-4147-A177-3AD203B41FA5}">
                      <a16:colId xmlns:a16="http://schemas.microsoft.com/office/drawing/2014/main" val="1352071965"/>
                    </a:ext>
                  </a:extLst>
                </a:gridCol>
                <a:gridCol w="2261506">
                  <a:extLst>
                    <a:ext uri="{9D8B030D-6E8A-4147-A177-3AD203B41FA5}">
                      <a16:colId xmlns:a16="http://schemas.microsoft.com/office/drawing/2014/main" val="1638083927"/>
                    </a:ext>
                  </a:extLst>
                </a:gridCol>
                <a:gridCol w="411183">
                  <a:extLst>
                    <a:ext uri="{9D8B030D-6E8A-4147-A177-3AD203B41FA5}">
                      <a16:colId xmlns:a16="http://schemas.microsoft.com/office/drawing/2014/main" val="2544734551"/>
                    </a:ext>
                  </a:extLst>
                </a:gridCol>
                <a:gridCol w="2261506">
                  <a:extLst>
                    <a:ext uri="{9D8B030D-6E8A-4147-A177-3AD203B41FA5}">
                      <a16:colId xmlns:a16="http://schemas.microsoft.com/office/drawing/2014/main" val="1409404161"/>
                    </a:ext>
                  </a:extLst>
                </a:gridCol>
                <a:gridCol w="2261506">
                  <a:extLst>
                    <a:ext uri="{9D8B030D-6E8A-4147-A177-3AD203B41FA5}">
                      <a16:colId xmlns:a16="http://schemas.microsoft.com/office/drawing/2014/main" val="1405295861"/>
                    </a:ext>
                  </a:extLst>
                </a:gridCol>
              </a:tblGrid>
              <a:tr h="249182">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247217033"/>
                  </a:ext>
                </a:extLst>
              </a:tr>
              <a:tr h="289051">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キャッシュライクアイテム</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dirty="0">
                          <a:solidFill>
                            <a:srgbClr val="FFFFFF"/>
                          </a:solidFill>
                          <a:effectLst/>
                          <a:latin typeface="游ゴシック" panose="020B0400000000000000" pitchFamily="50" charset="-128"/>
                          <a:ea typeface="游ゴシック" panose="020B0400000000000000" pitchFamily="50" charset="-128"/>
                        </a:rPr>
                        <a:t>金額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デットライクアイテム</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717121569"/>
                  </a:ext>
                </a:extLst>
              </a:tr>
              <a:tr h="418626">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8,000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2407547278"/>
                  </a:ext>
                </a:extLst>
              </a:tr>
              <a:tr h="418626">
                <a:tc>
                  <a:txBody>
                    <a:bodyPr/>
                    <a:lstStyle/>
                    <a:p>
                      <a:pPr algn="l"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47,200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679247723"/>
                  </a:ext>
                </a:extLst>
              </a:tr>
              <a:tr h="418626">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55,200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361027530"/>
                  </a:ext>
                </a:extLst>
              </a:tr>
              <a:tr h="249182">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w="12700" cap="flat" cmpd="sng" algn="ctr">
                      <a:solidFill>
                        <a:srgbClr val="0889C9"/>
                      </a:solidFill>
                      <a:prstDash val="solid"/>
                      <a:round/>
                      <a:headEnd type="none" w="med" len="med"/>
                      <a:tailEnd type="none" w="med" len="med"/>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w="12700" cap="flat" cmpd="sng" algn="ctr">
                      <a:solidFill>
                        <a:srgbClr val="0889C9"/>
                      </a:solidFill>
                      <a:prstDash val="solid"/>
                      <a:round/>
                      <a:headEnd type="none" w="med" len="med"/>
                      <a:tailEnd type="none" w="med" len="med"/>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extLst>
                  <a:ext uri="{0D108BD9-81ED-4DB2-BD59-A6C34878D82A}">
                    <a16:rowId xmlns:a16="http://schemas.microsoft.com/office/drawing/2014/main" val="4075682222"/>
                  </a:ext>
                </a:extLst>
              </a:tr>
              <a:tr h="418626">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6,642</a:t>
                      </a:r>
                    </a:p>
                  </a:txBody>
                  <a:tcPr marL="0" marR="11430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2FB"/>
                    </a:solid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12700" cap="flat" cmpd="sng" algn="ctr">
                      <a:solidFill>
                        <a:srgbClr val="0889C9"/>
                      </a:solidFill>
                      <a:prstDash val="solid"/>
                      <a:round/>
                      <a:headEnd type="none" w="med" len="med"/>
                      <a:tailEnd type="none" w="med" len="med"/>
                    </a:lnL>
                    <a:lnR>
                      <a:noFill/>
                    </a:lnR>
                    <a:lnT>
                      <a:noFill/>
                    </a:lnT>
                    <a:lnB>
                      <a:noFill/>
                    </a:lnB>
                    <a:no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r>
                        <a:rPr lang="ja-JP" sz="110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extLst>
                  <a:ext uri="{0D108BD9-81ED-4DB2-BD59-A6C34878D82A}">
                    <a16:rowId xmlns:a16="http://schemas.microsoft.com/office/drawing/2014/main" val="2815248336"/>
                  </a:ext>
                </a:extLst>
              </a:tr>
            </a:tbl>
          </a:graphicData>
        </a:graphic>
      </p:graphicFrame>
    </p:spTree>
    <p:extLst>
      <p:ext uri="{BB962C8B-B14F-4D97-AF65-F5344CB8AC3E}">
        <p14:creationId xmlns:p14="http://schemas.microsoft.com/office/powerpoint/2010/main" val="1301584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A2105-3764-0F9B-6D9E-FDC9164E25C9}"/>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0F54FD88-71A3-9482-A4EB-EB7B53A21670}"/>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P/L</a:t>
            </a:r>
            <a:r>
              <a:rPr lang="ja-JP" altLang="en-US" dirty="0"/>
              <a:t>）</a:t>
            </a:r>
          </a:p>
        </p:txBody>
      </p:sp>
      <p:grpSp>
        <p:nvGrpSpPr>
          <p:cNvPr id="2" name="グループ化 1">
            <a:extLst>
              <a:ext uri="{FF2B5EF4-FFF2-40B4-BE49-F238E27FC236}">
                <a16:creationId xmlns:a16="http://schemas.microsoft.com/office/drawing/2014/main" id="{9BBA03AA-0C3E-769B-7372-5C78F7C906A4}"/>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F0D40862-3FE6-CCAC-56A4-FC8C5BF2AF4C}"/>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43F2BBF9-6AFC-1AC2-87E4-1733C64C416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182307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683D8C01-45AB-F55D-E483-1520171D4D71}"/>
              </a:ext>
            </a:extLst>
          </p:cNvPr>
          <p:cNvSpPr>
            <a:spLocks noGrp="1"/>
          </p:cNvSpPr>
          <p:nvPr>
            <p:ph type="ctrTitle"/>
          </p:nvPr>
        </p:nvSpPr>
        <p:spPr>
          <a:xfrm>
            <a:off x="341313" y="180653"/>
            <a:ext cx="7799917" cy="338554"/>
          </a:xfrm>
        </p:spPr>
        <p:txBody>
          <a:bodyPr/>
          <a:lstStyle/>
          <a:p>
            <a:r>
              <a:rPr lang="ja-JP" altLang="en-US" dirty="0"/>
              <a:t>過去</a:t>
            </a:r>
            <a:r>
              <a:rPr lang="en-US" altLang="ja-JP" dirty="0"/>
              <a:t>PL</a:t>
            </a:r>
            <a:r>
              <a:rPr lang="ja-JP" altLang="en-US" dirty="0"/>
              <a:t>の推移</a:t>
            </a:r>
          </a:p>
        </p:txBody>
      </p:sp>
      <p:sp>
        <p:nvSpPr>
          <p:cNvPr id="7" name="タイトル 1">
            <a:extLst>
              <a:ext uri="{FF2B5EF4-FFF2-40B4-BE49-F238E27FC236}">
                <a16:creationId xmlns:a16="http://schemas.microsoft.com/office/drawing/2014/main" id="{7A790640-DDA3-8580-8C0A-46825ED50EDD}"/>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6" name="表 5">
            <a:extLst>
              <a:ext uri="{FF2B5EF4-FFF2-40B4-BE49-F238E27FC236}">
                <a16:creationId xmlns:a16="http://schemas.microsoft.com/office/drawing/2014/main" id="{E651E485-6E57-DF03-CEB3-303C5F7BC5F1}"/>
              </a:ext>
            </a:extLst>
          </p:cNvPr>
          <p:cNvGraphicFramePr>
            <a:graphicFrameLocks noGrp="1"/>
          </p:cNvGraphicFramePr>
          <p:nvPr>
            <p:extLst>
              <p:ext uri="{D42A27DB-BD31-4B8C-83A1-F6EECF244321}">
                <p14:modId xmlns:p14="http://schemas.microsoft.com/office/powerpoint/2010/main" val="492500337"/>
              </p:ext>
            </p:extLst>
          </p:nvPr>
        </p:nvGraphicFramePr>
        <p:xfrm>
          <a:off x="341312" y="845377"/>
          <a:ext cx="9901240" cy="5950723"/>
        </p:xfrm>
        <a:graphic>
          <a:graphicData uri="http://schemas.openxmlformats.org/drawingml/2006/table">
            <a:tbl>
              <a:tblPr/>
              <a:tblGrid>
                <a:gridCol w="2159926">
                  <a:extLst>
                    <a:ext uri="{9D8B030D-6E8A-4147-A177-3AD203B41FA5}">
                      <a16:colId xmlns:a16="http://schemas.microsoft.com/office/drawing/2014/main" val="1203225717"/>
                    </a:ext>
                  </a:extLst>
                </a:gridCol>
                <a:gridCol w="1290219">
                  <a:extLst>
                    <a:ext uri="{9D8B030D-6E8A-4147-A177-3AD203B41FA5}">
                      <a16:colId xmlns:a16="http://schemas.microsoft.com/office/drawing/2014/main" val="757072105"/>
                    </a:ext>
                  </a:extLst>
                </a:gridCol>
                <a:gridCol w="1290219">
                  <a:extLst>
                    <a:ext uri="{9D8B030D-6E8A-4147-A177-3AD203B41FA5}">
                      <a16:colId xmlns:a16="http://schemas.microsoft.com/office/drawing/2014/main" val="2934432485"/>
                    </a:ext>
                  </a:extLst>
                </a:gridCol>
                <a:gridCol w="1290219">
                  <a:extLst>
                    <a:ext uri="{9D8B030D-6E8A-4147-A177-3AD203B41FA5}">
                      <a16:colId xmlns:a16="http://schemas.microsoft.com/office/drawing/2014/main" val="3085477051"/>
                    </a:ext>
                  </a:extLst>
                </a:gridCol>
                <a:gridCol w="1290219">
                  <a:extLst>
                    <a:ext uri="{9D8B030D-6E8A-4147-A177-3AD203B41FA5}">
                      <a16:colId xmlns:a16="http://schemas.microsoft.com/office/drawing/2014/main" val="1904258578"/>
                    </a:ext>
                  </a:extLst>
                </a:gridCol>
                <a:gridCol w="1290219">
                  <a:extLst>
                    <a:ext uri="{9D8B030D-6E8A-4147-A177-3AD203B41FA5}">
                      <a16:colId xmlns:a16="http://schemas.microsoft.com/office/drawing/2014/main" val="367188390"/>
                    </a:ext>
                  </a:extLst>
                </a:gridCol>
                <a:gridCol w="1290219">
                  <a:extLst>
                    <a:ext uri="{9D8B030D-6E8A-4147-A177-3AD203B41FA5}">
                      <a16:colId xmlns:a16="http://schemas.microsoft.com/office/drawing/2014/main" val="1573539663"/>
                    </a:ext>
                  </a:extLst>
                </a:gridCol>
              </a:tblGrid>
              <a:tr h="154758">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553608451"/>
                  </a:ext>
                </a:extLst>
              </a:tr>
              <a:tr h="251911">
                <a:tc rowSpan="2">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dirty="0"/>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dirty="0"/>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dirty="0"/>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16968241"/>
                  </a:ext>
                </a:extLst>
              </a:tr>
              <a:tr h="171954">
                <a:tc vMerge="1">
                  <a:txBody>
                    <a:bodyPr/>
                    <a:lstStyle/>
                    <a:p>
                      <a:r>
                        <a:rPr kumimoji="1" lang="ja-JP" altLang="en-US"/>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2121160983"/>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325,867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346,562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357,541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期首商品棚卸高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30,240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当期商品仕入高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162,685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179,686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193,115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仕入値引戻し高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期末商品棚卸高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△30,240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△26,584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159,517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181,526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196,771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166,350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165,036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160,770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145,464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154,261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147,846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20,886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10,774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12,924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293032276"/>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仕入割引</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貸倒引当金戻入額</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293032276"/>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固定資産圧縮損</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21,929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10,885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13,886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特別利益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293032276"/>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293032276"/>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21,885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10,885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13,886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6,901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14,984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8,680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9,671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bl>
          </a:graphicData>
        </a:graphic>
      </p:graphicFrame>
    </p:spTree>
    <p:extLst>
      <p:ext uri="{BB962C8B-B14F-4D97-AF65-F5344CB8AC3E}">
        <p14:creationId xmlns:p14="http://schemas.microsoft.com/office/powerpoint/2010/main" val="4072389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35650247-1E40-B7CB-0FCF-640931A69AE2}"/>
              </a:ext>
            </a:extLst>
          </p:cNvPr>
          <p:cNvSpPr txBox="1"/>
          <p:nvPr/>
        </p:nvSpPr>
        <p:spPr>
          <a:xfrm>
            <a:off x="2051536" y="5870448"/>
            <a:ext cx="3749039" cy="923779"/>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ja-JP" altLang="en-US" dirty="0" sz="900"/>
              <a:t>役員報酬：役員は代表取締役1名（11,870千円）。M&amp;A後の処遇が未確認のため修正なし。退任時は同額が上乗せ。</a:t>
            </a:r>
            <a:br>
              <a:rPr lang="en-US" altLang="ja-JP" dirty="0"/>
            </a:br>
            <a:endParaRPr lang="en-US" altLang="ja-JP" dirty="0"/>
          </a:p>
          <a:p>
            <a:pPr>
              <a:lnSpc>
                <a:spcPct val="110000"/>
              </a:lnSpc>
              <a:spcAft>
                <a:spcPts val="200"/>
              </a:spcAft>
              <a:tabLst>
                <a:tab pos="1165225" algn="l"/>
                <a:tab pos="1341438" algn="l"/>
              </a:tabLst>
            </a:pPr>
            <a:r>
              <a:rPr lang="ja-JP" altLang="en-US" dirty="0" sz="900"/>
              <a:t>退職金：令和5年12月期のみの370千円を控除。</a:t>
            </a:r>
            <a:br>
              <a:rPr lang="en-US" altLang="ja-JP" dirty="0"/>
            </a:br>
            <a:endParaRPr lang="en-US" altLang="ja-JP" dirty="0"/>
          </a:p>
        </p:txBody>
      </p:sp>
      <p:sp>
        <p:nvSpPr>
          <p:cNvPr id="12" name="タイトル 11">
            <a:extLst>
              <a:ext uri="{FF2B5EF4-FFF2-40B4-BE49-F238E27FC236}">
                <a16:creationId xmlns:a16="http://schemas.microsoft.com/office/drawing/2014/main" id="{DC2FECB7-19A2-7C36-9E2F-D39B0FB88B2F}"/>
              </a:ext>
            </a:extLst>
          </p:cNvPr>
          <p:cNvSpPr>
            <a:spLocks noGrp="1"/>
          </p:cNvSpPr>
          <p:nvPr>
            <p:ph type="ctrTitle"/>
          </p:nvPr>
        </p:nvSpPr>
        <p:spPr>
          <a:xfrm>
            <a:off x="341313" y="180653"/>
            <a:ext cx="7799917" cy="338554"/>
          </a:xfrm>
        </p:spPr>
        <p:txBody>
          <a:bodyPr/>
          <a:lstStyle/>
          <a:p>
            <a:r>
              <a:rPr lang="ja-JP" altLang="en-US" dirty="0"/>
              <a:t>販管費及び一般管理費の修正</a:t>
            </a:r>
          </a:p>
        </p:txBody>
      </p:sp>
      <p:sp>
        <p:nvSpPr>
          <p:cNvPr id="11" name="タイトル 1">
            <a:extLst>
              <a:ext uri="{FF2B5EF4-FFF2-40B4-BE49-F238E27FC236}">
                <a16:creationId xmlns:a16="http://schemas.microsoft.com/office/drawing/2014/main" id="{E822E01B-8EBB-0777-FFDE-2ED5BD7F6582}"/>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9" name="正方形/長方形 8">
            <a:extLst>
              <a:ext uri="{FF2B5EF4-FFF2-40B4-BE49-F238E27FC236}">
                <a16:creationId xmlns:a16="http://schemas.microsoft.com/office/drawing/2014/main" id="{D11C8879-7177-AB32-ADE2-B1BA72013064}"/>
              </a:ext>
            </a:extLst>
          </p:cNvPr>
          <p:cNvSpPr/>
          <p:nvPr/>
        </p:nvSpPr>
        <p:spPr>
          <a:xfrm>
            <a:off x="449263" y="5779008"/>
            <a:ext cx="9793287" cy="1024128"/>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7" name="テキスト ボックス 6">
            <a:extLst>
              <a:ext uri="{FF2B5EF4-FFF2-40B4-BE49-F238E27FC236}">
                <a16:creationId xmlns:a16="http://schemas.microsoft.com/office/drawing/2014/main" id="{33CBB3D9-5E1D-09B4-EE09-6FFCA0875A38}"/>
              </a:ext>
            </a:extLst>
          </p:cNvPr>
          <p:cNvSpPr txBox="1"/>
          <p:nvPr/>
        </p:nvSpPr>
        <p:spPr>
          <a:xfrm>
            <a:off x="6217920" y="5870448"/>
            <a:ext cx="4023360" cy="949427"/>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ja-JP" altLang="en-US" dirty="0" sz="900"/>
              <a:t>貸倒引当金繰入額：直接評価の観点から3期とも全額控除するものとする。</a:t>
            </a:r>
            <a:endParaRPr lang="zh-TW" altLang="en-US" dirty="0"/>
          </a:p>
          <a:p>
            <a:pPr>
              <a:lnSpc>
                <a:spcPct val="110000"/>
              </a:lnSpc>
              <a:spcAft>
                <a:spcPts val="200"/>
              </a:spcAft>
              <a:tabLst>
                <a:tab pos="1165225" algn="l"/>
                <a:tab pos="1341438" algn="l"/>
              </a:tabLst>
            </a:pPr>
            <a:r>
              <a:rPr lang="ja-JP" altLang="en-US" dirty="0" sz="900"/>
              <a:t>従業員給与のうち代表者及びその家族分4,140千円。勤務実態が未確認のため修正なし（要確認）。</a:t>
            </a:r>
            <a:endParaRPr lang="zh-TW" altLang="en-US" dirty="0"/>
          </a:p>
        </p:txBody>
      </p:sp>
      <p:graphicFrame>
        <p:nvGraphicFramePr>
          <p:cNvPr id="3" name="表 2">
            <a:extLst>
              <a:ext uri="{FF2B5EF4-FFF2-40B4-BE49-F238E27FC236}">
                <a16:creationId xmlns:a16="http://schemas.microsoft.com/office/drawing/2014/main" id="{80C083C9-FF56-5568-4B60-0372A8D9CA3C}"/>
              </a:ext>
            </a:extLst>
          </p:cNvPr>
          <p:cNvGraphicFramePr>
            <a:graphicFrameLocks noGrp="1"/>
          </p:cNvGraphicFramePr>
          <p:nvPr>
            <p:extLst>
              <p:ext uri="{D42A27DB-BD31-4B8C-83A1-F6EECF244321}">
                <p14:modId xmlns:p14="http://schemas.microsoft.com/office/powerpoint/2010/main" val="1367617313"/>
              </p:ext>
            </p:extLst>
          </p:nvPr>
        </p:nvGraphicFramePr>
        <p:xfrm>
          <a:off x="341313" y="709996"/>
          <a:ext cx="10089624" cy="5170336"/>
        </p:xfrm>
        <a:graphic>
          <a:graphicData uri="http://schemas.openxmlformats.org/drawingml/2006/table">
            <a:tbl>
              <a:tblPr/>
              <a:tblGrid>
                <a:gridCol w="1733187">
                  <a:extLst>
                    <a:ext uri="{9D8B030D-6E8A-4147-A177-3AD203B41FA5}">
                      <a16:colId xmlns:a16="http://schemas.microsoft.com/office/drawing/2014/main" val="2546535029"/>
                    </a:ext>
                  </a:extLst>
                </a:gridCol>
                <a:gridCol w="928493">
                  <a:extLst>
                    <a:ext uri="{9D8B030D-6E8A-4147-A177-3AD203B41FA5}">
                      <a16:colId xmlns:a16="http://schemas.microsoft.com/office/drawing/2014/main" val="3187838015"/>
                    </a:ext>
                  </a:extLst>
                </a:gridCol>
                <a:gridCol w="928493">
                  <a:extLst>
                    <a:ext uri="{9D8B030D-6E8A-4147-A177-3AD203B41FA5}">
                      <a16:colId xmlns:a16="http://schemas.microsoft.com/office/drawing/2014/main" val="46283282"/>
                    </a:ext>
                  </a:extLst>
                </a:gridCol>
                <a:gridCol w="928493">
                  <a:extLst>
                    <a:ext uri="{9D8B030D-6E8A-4147-A177-3AD203B41FA5}">
                      <a16:colId xmlns:a16="http://schemas.microsoft.com/office/drawing/2014/main" val="2737436974"/>
                    </a:ext>
                  </a:extLst>
                </a:gridCol>
                <a:gridCol w="928493">
                  <a:extLst>
                    <a:ext uri="{9D8B030D-6E8A-4147-A177-3AD203B41FA5}">
                      <a16:colId xmlns:a16="http://schemas.microsoft.com/office/drawing/2014/main" val="3192499044"/>
                    </a:ext>
                  </a:extLst>
                </a:gridCol>
                <a:gridCol w="928493">
                  <a:extLst>
                    <a:ext uri="{9D8B030D-6E8A-4147-A177-3AD203B41FA5}">
                      <a16:colId xmlns:a16="http://schemas.microsoft.com/office/drawing/2014/main" val="4052260167"/>
                    </a:ext>
                  </a:extLst>
                </a:gridCol>
                <a:gridCol w="928493">
                  <a:extLst>
                    <a:ext uri="{9D8B030D-6E8A-4147-A177-3AD203B41FA5}">
                      <a16:colId xmlns:a16="http://schemas.microsoft.com/office/drawing/2014/main" val="1094675847"/>
                    </a:ext>
                  </a:extLst>
                </a:gridCol>
                <a:gridCol w="928493">
                  <a:extLst>
                    <a:ext uri="{9D8B030D-6E8A-4147-A177-3AD203B41FA5}">
                      <a16:colId xmlns:a16="http://schemas.microsoft.com/office/drawing/2014/main" val="2883793926"/>
                    </a:ext>
                  </a:extLst>
                </a:gridCol>
                <a:gridCol w="928493">
                  <a:extLst>
                    <a:ext uri="{9D8B030D-6E8A-4147-A177-3AD203B41FA5}">
                      <a16:colId xmlns:a16="http://schemas.microsoft.com/office/drawing/2014/main" val="1896598632"/>
                    </a:ext>
                  </a:extLst>
                </a:gridCol>
                <a:gridCol w="928493">
                  <a:extLst>
                    <a:ext uri="{9D8B030D-6E8A-4147-A177-3AD203B41FA5}">
                      <a16:colId xmlns:a16="http://schemas.microsoft.com/office/drawing/2014/main" val="2842814301"/>
                    </a:ext>
                  </a:extLst>
                </a:gridCol>
              </a:tblGrid>
              <a:tr h="118506">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889745379"/>
                  </a:ext>
                </a:extLst>
              </a:tr>
              <a:tr h="127985">
                <a:tc rowSpan="2">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gridSpan="3">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tc gridSpan="3">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tc gridSpan="3">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extLst>
                  <a:ext uri="{0D108BD9-81ED-4DB2-BD59-A6C34878D82A}">
                    <a16:rowId xmlns:a16="http://schemas.microsoft.com/office/drawing/2014/main" val="415850382"/>
                  </a:ext>
                </a:extLst>
              </a:tr>
              <a:tr h="123245">
                <a:tc vMerge="1">
                  <a:txBody>
                    <a:bodyPr/>
                    <a:lstStyle/>
                    <a:p>
                      <a:endParaRPr kumimoji="1" lang="ja-JP" altLang="en-US"/>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extLst>
                  <a:ext uri="{0D108BD9-81ED-4DB2-BD59-A6C34878D82A}">
                    <a16:rowId xmlns:a16="http://schemas.microsoft.com/office/drawing/2014/main" val="2758168956"/>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10,500</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10,500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17,120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17,120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11,870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11,870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給料手当</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64,349</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64,349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65,194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65,194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64,754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64,754</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賞与</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3,549</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3,549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3,405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3,405</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3,197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3,197</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退職金</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370</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△370</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11,424</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11,424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12,208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12,208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10,842</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10,842</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福利厚生費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1,852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1,852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2,218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2,218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2,914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2,914</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採用教育費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291</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291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185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185</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89</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89</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1,201</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1,201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1,208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1,208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1,053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1,053</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548</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548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180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87</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273</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273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367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460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460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旅費交通費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2,802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2,802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2,701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2,701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2,771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2,771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1,043</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1,043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1,254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1,254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1,367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1,367</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消耗品費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2,346</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2,346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4,468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4,468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3,125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3,125</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1,991</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1,991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1,930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1,930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1,771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1,771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805</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805</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926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926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533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533</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1,034</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1,034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1,114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1,114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1,037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1,037</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新聞図書費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126</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141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562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562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687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687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9,572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9,572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6,926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6,926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9,654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9,654</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16,890</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16,890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17,047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17,047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17,105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17,105</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賃借料</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109</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109</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112</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112</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1,353</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1,353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2,474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2,474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1,603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1,603</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5,076</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5,076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5,743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5,743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4,523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4,523</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長期前払費用償却</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572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578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580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580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貸倒引当金繰入額</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457</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△457</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498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△498</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228</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228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290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290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436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436</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派遣料</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2,347</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2,347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1,711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2,846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2,846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3,650</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3,650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3,433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3,433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3,705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3,705</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6002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145,464</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△827</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144,637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154,261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△498</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153,763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147,846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147,322</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79542186"/>
                  </a:ext>
                </a:extLst>
              </a:tr>
            </a:tbl>
          </a:graphicData>
        </a:graphic>
      </p:graphicFrame>
    </p:spTree>
    <p:extLst>
      <p:ext uri="{BB962C8B-B14F-4D97-AF65-F5344CB8AC3E}">
        <p14:creationId xmlns:p14="http://schemas.microsoft.com/office/powerpoint/2010/main" val="941944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FFA37B4E-7ECB-634B-D8F4-FB784ED00D76}"/>
              </a:ext>
            </a:extLst>
          </p:cNvPr>
          <p:cNvSpPr>
            <a:spLocks noGrp="1"/>
          </p:cNvSpPr>
          <p:nvPr>
            <p:ph type="ctrTitle"/>
          </p:nvPr>
        </p:nvSpPr>
        <p:spPr>
          <a:xfrm>
            <a:off x="341313" y="180653"/>
            <a:ext cx="7799917" cy="338554"/>
          </a:xfrm>
        </p:spPr>
        <p:txBody>
          <a:bodyPr/>
          <a:lstStyle/>
          <a:p>
            <a:r>
              <a:rPr lang="ja-JP" altLang="en-US" dirty="0"/>
              <a:t>修正</a:t>
            </a:r>
            <a:r>
              <a:rPr lang="en-US" altLang="ja-JP" dirty="0"/>
              <a:t>PL</a:t>
            </a:r>
            <a:r>
              <a:rPr lang="ja-JP" altLang="en-US" dirty="0"/>
              <a:t>の算定</a:t>
            </a:r>
            <a:r>
              <a:rPr lang="ja-JP" altLang="en-US" sz="1800" dirty="0"/>
              <a:t>［正常収益力の集計］</a:t>
            </a:r>
          </a:p>
        </p:txBody>
      </p:sp>
      <p:sp>
        <p:nvSpPr>
          <p:cNvPr id="3" name="タイトル 1">
            <a:extLst>
              <a:ext uri="{FF2B5EF4-FFF2-40B4-BE49-F238E27FC236}">
                <a16:creationId xmlns:a16="http://schemas.microsoft.com/office/drawing/2014/main" id="{8B1FDB05-1F10-E45F-94B4-C962168561F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3" name="テキスト ボックス 12">
            <a:extLst>
              <a:ext uri="{FF2B5EF4-FFF2-40B4-BE49-F238E27FC236}">
                <a16:creationId xmlns:a16="http://schemas.microsoft.com/office/drawing/2014/main" id="{B6914FF2-A4AB-7226-CEF0-EE45321584DA}"/>
              </a:ext>
            </a:extLst>
          </p:cNvPr>
          <p:cNvSpPr txBox="1"/>
          <p:nvPr/>
        </p:nvSpPr>
        <p:spPr>
          <a:xfrm>
            <a:off x="1984169" y="5965738"/>
            <a:ext cx="8183879" cy="975075"/>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703388" algn="l"/>
              </a:tabLst>
            </a:pPr>
            <a:r>
              <a:rPr lang="ja-JP" altLang="en-US" dirty="0"/>
              <a:t>支払利息：資金の調達方法から独立した会社財産の収益獲得力を評価するため控除して評価する。</a:t>
            </a:r>
            <a:endParaRPr lang="en-US" altLang="ja-JP" dirty="0"/>
          </a:p>
          <a:p>
            <a:pPr>
              <a:lnSpc>
                <a:spcPct val="110000"/>
              </a:lnSpc>
              <a:spcAft>
                <a:spcPts val="200"/>
              </a:spcAft>
              <a:tabLst>
                <a:tab pos="1703388" algn="l"/>
              </a:tabLst>
            </a:pPr>
            <a:r>
              <a:rPr lang="ja-JP" altLang="en-US" dirty="0"/>
              <a:t>受取利息・仕入割引・貸倒引当金戻入額・雑収入：非事業用資産から生じる収益、又は非経常的・臨時的なものであるため全額控除して評価する。令和7年12月期の雑収入477千円はレセプトコンピューター改修助成金162千円・医療機関物価高騰対応支援金294千円等であり、いずれも臨時のもの。</a:t>
            </a:r>
            <a:endParaRPr lang="en-US" altLang="ja-JP" dirty="0"/>
          </a:p>
          <a:p>
            <a:pPr>
              <a:lnSpc>
                <a:spcPct val="110000"/>
              </a:lnSpc>
              <a:spcAft>
                <a:spcPts val="200"/>
              </a:spcAft>
              <a:tabLst>
                <a:tab pos="1703388" algn="l"/>
              </a:tabLst>
            </a:pPr>
            <a:r>
              <a:rPr lang="ja-JP" altLang="en-US" dirty="0"/>
              <a:t>雑損失・固定資産圧縮損・固定資産除却損：非経常的・臨時的な費用であるため全額控除して評価する。</a:t>
            </a:r>
            <a:endParaRPr lang="en-US" altLang="ja-JP" dirty="0"/>
          </a:p>
          <a:p>
            <a:pPr>
              <a:lnSpc>
                <a:spcPct val="110000"/>
              </a:lnSpc>
              <a:spcAft>
                <a:spcPts val="200"/>
              </a:spcAft>
              <a:tabLst>
                <a:tab pos="1703388" algn="l"/>
              </a:tabLst>
            </a:pPr>
            <a:r>
              <a:rPr lang="ja-JP" altLang="en-US" dirty="0"/>
              <a:t>この結果、正常収益力（修正後営業利益）は21,713千円／11,272千円／13,448千円となる。</a:t>
            </a:r>
            <a:endParaRPr lang="en-US" altLang="ja-JP" dirty="0"/>
          </a:p>
        </p:txBody>
      </p:sp>
      <p:sp>
        <p:nvSpPr>
          <p:cNvPr id="15" name="正方形/長方形 14">
            <a:extLst>
              <a:ext uri="{FF2B5EF4-FFF2-40B4-BE49-F238E27FC236}">
                <a16:creationId xmlns:a16="http://schemas.microsoft.com/office/drawing/2014/main" id="{D75EF43D-370C-E1EA-A9EB-592A8306EB26}"/>
              </a:ext>
            </a:extLst>
          </p:cNvPr>
          <p:cNvSpPr/>
          <p:nvPr/>
        </p:nvSpPr>
        <p:spPr>
          <a:xfrm>
            <a:off x="449263" y="5890660"/>
            <a:ext cx="9793287" cy="1141075"/>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4" name="表 3">
            <a:extLst>
              <a:ext uri="{FF2B5EF4-FFF2-40B4-BE49-F238E27FC236}">
                <a16:creationId xmlns:a16="http://schemas.microsoft.com/office/drawing/2014/main" id="{269EE5F8-9856-0F07-BA17-797BD219C4F9}"/>
              </a:ext>
            </a:extLst>
          </p:cNvPr>
          <p:cNvGraphicFramePr>
            <a:graphicFrameLocks noGrp="1"/>
          </p:cNvGraphicFramePr>
          <p:nvPr>
            <p:extLst>
              <p:ext uri="{D42A27DB-BD31-4B8C-83A1-F6EECF244321}">
                <p14:modId xmlns:p14="http://schemas.microsoft.com/office/powerpoint/2010/main" val="3230988779"/>
              </p:ext>
            </p:extLst>
          </p:nvPr>
        </p:nvGraphicFramePr>
        <p:xfrm>
          <a:off x="341313" y="745519"/>
          <a:ext cx="10009189" cy="4932793"/>
        </p:xfrm>
        <a:graphic>
          <a:graphicData uri="http://schemas.openxmlformats.org/drawingml/2006/table">
            <a:tbl>
              <a:tblPr/>
              <a:tblGrid>
                <a:gridCol w="1719370">
                  <a:extLst>
                    <a:ext uri="{9D8B030D-6E8A-4147-A177-3AD203B41FA5}">
                      <a16:colId xmlns:a16="http://schemas.microsoft.com/office/drawing/2014/main" val="1930032636"/>
                    </a:ext>
                  </a:extLst>
                </a:gridCol>
                <a:gridCol w="921091">
                  <a:extLst>
                    <a:ext uri="{9D8B030D-6E8A-4147-A177-3AD203B41FA5}">
                      <a16:colId xmlns:a16="http://schemas.microsoft.com/office/drawing/2014/main" val="4031478281"/>
                    </a:ext>
                  </a:extLst>
                </a:gridCol>
                <a:gridCol w="921091">
                  <a:extLst>
                    <a:ext uri="{9D8B030D-6E8A-4147-A177-3AD203B41FA5}">
                      <a16:colId xmlns:a16="http://schemas.microsoft.com/office/drawing/2014/main" val="2174857285"/>
                    </a:ext>
                  </a:extLst>
                </a:gridCol>
                <a:gridCol w="921091">
                  <a:extLst>
                    <a:ext uri="{9D8B030D-6E8A-4147-A177-3AD203B41FA5}">
                      <a16:colId xmlns:a16="http://schemas.microsoft.com/office/drawing/2014/main" val="3203381034"/>
                    </a:ext>
                  </a:extLst>
                </a:gridCol>
                <a:gridCol w="921091">
                  <a:extLst>
                    <a:ext uri="{9D8B030D-6E8A-4147-A177-3AD203B41FA5}">
                      <a16:colId xmlns:a16="http://schemas.microsoft.com/office/drawing/2014/main" val="1407206559"/>
                    </a:ext>
                  </a:extLst>
                </a:gridCol>
                <a:gridCol w="921091">
                  <a:extLst>
                    <a:ext uri="{9D8B030D-6E8A-4147-A177-3AD203B41FA5}">
                      <a16:colId xmlns:a16="http://schemas.microsoft.com/office/drawing/2014/main" val="4251082707"/>
                    </a:ext>
                  </a:extLst>
                </a:gridCol>
                <a:gridCol w="921091">
                  <a:extLst>
                    <a:ext uri="{9D8B030D-6E8A-4147-A177-3AD203B41FA5}">
                      <a16:colId xmlns:a16="http://schemas.microsoft.com/office/drawing/2014/main" val="3639116040"/>
                    </a:ext>
                  </a:extLst>
                </a:gridCol>
                <a:gridCol w="921091">
                  <a:extLst>
                    <a:ext uri="{9D8B030D-6E8A-4147-A177-3AD203B41FA5}">
                      <a16:colId xmlns:a16="http://schemas.microsoft.com/office/drawing/2014/main" val="692455042"/>
                    </a:ext>
                  </a:extLst>
                </a:gridCol>
                <a:gridCol w="921091">
                  <a:extLst>
                    <a:ext uri="{9D8B030D-6E8A-4147-A177-3AD203B41FA5}">
                      <a16:colId xmlns:a16="http://schemas.microsoft.com/office/drawing/2014/main" val="1831310534"/>
                    </a:ext>
                  </a:extLst>
                </a:gridCol>
                <a:gridCol w="921091">
                  <a:extLst>
                    <a:ext uri="{9D8B030D-6E8A-4147-A177-3AD203B41FA5}">
                      <a16:colId xmlns:a16="http://schemas.microsoft.com/office/drawing/2014/main" val="1540417249"/>
                    </a:ext>
                  </a:extLst>
                </a:gridCol>
              </a:tblGrid>
              <a:tr h="103916">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538579597"/>
                  </a:ext>
                </a:extLst>
              </a:tr>
              <a:tr h="112229">
                <a:tc row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3">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2023年12月期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tc gridSpan="3">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2024年12月期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tc gridSpan="3">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extLst>
                  <a:ext uri="{0D108BD9-81ED-4DB2-BD59-A6C34878D82A}">
                    <a16:rowId xmlns:a16="http://schemas.microsoft.com/office/drawing/2014/main" val="3472981268"/>
                  </a:ext>
                </a:extLst>
              </a:tr>
              <a:tr h="108072">
                <a:tc vMerge="1">
                  <a:txBody>
                    <a:bodyPr/>
                    <a:lstStyle/>
                    <a:p>
                      <a:endParaRPr kumimoji="1" lang="ja-JP" altLang="en-US"/>
                    </a:p>
                  </a:txBody>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extLst>
                  <a:ext uri="{0D108BD9-81ED-4DB2-BD59-A6C34878D82A}">
                    <a16:rowId xmlns:a16="http://schemas.microsoft.com/office/drawing/2014/main" val="528265991"/>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325,867</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325,867</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346,562</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346,562</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357,541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357,541</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期首商品棚卸高</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28,931</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28,931</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32,080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32,080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30,240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30,240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当期商品仕入高</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162,685</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162,685</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179,686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179,686</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193,115</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193,115</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仕入値引戻し高</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期末商品棚卸高</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△32,080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△32,080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△30,240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△30,240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△26,584</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△26,584</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159,517</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159,517</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181,526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181,526</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196,771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196,771</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166,350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166,350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165,036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165,036</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160,770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160,770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145,464</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△827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144,637</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154,261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△498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153,763</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147,846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147,322</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20,886</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827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21,713</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10,774</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498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11,272</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12,924</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13,448</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94499"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1,273</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△1,273</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2,398</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△2,398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1,051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△1,051</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859568981"/>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76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△76</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仕入割引</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52</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△52</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貸倒引当金戻入額</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448</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457</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△457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498</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△498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613</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△613</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1,886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△1,886</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477</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△477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94499"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2,288</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△2,288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90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△90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859568981"/>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1,650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固定資産圧縮損</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558</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△558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21,929</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△216</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21,713</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10,885</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388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11,272</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13,886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△437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13,448</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94499"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44</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859568981"/>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21,885</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△172</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21,713</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10,885</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388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11,272</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13,886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△437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13,448</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6,901</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6,901</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2,205</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2,205</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4,214</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4,214</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14,984</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△172</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14,812</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8,680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388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9,068</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9,671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△437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9,234</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bl>
          </a:graphicData>
        </a:graphic>
      </p:graphicFrame>
    </p:spTree>
    <p:extLst>
      <p:ext uri="{BB962C8B-B14F-4D97-AF65-F5344CB8AC3E}">
        <p14:creationId xmlns:p14="http://schemas.microsoft.com/office/powerpoint/2010/main" val="16919391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C344F58-829E-63F5-31C6-9FB7EA727573}"/>
              </a:ext>
            </a:extLst>
          </p:cNvPr>
          <p:cNvSpPr>
            <a:spLocks noGrp="1"/>
          </p:cNvSpPr>
          <p:nvPr>
            <p:ph type="title"/>
          </p:nvPr>
        </p:nvSpPr>
        <p:spPr>
          <a:xfrm>
            <a:off x="989013" y="3249063"/>
            <a:ext cx="9221787" cy="1429750"/>
          </a:xfrm>
        </p:spPr>
        <p:txBody>
          <a:bodyPr/>
          <a:lstStyle/>
          <a:p>
            <a:pPr>
              <a:lnSpc>
                <a:spcPct val="120000"/>
              </a:lnSpc>
            </a:pPr>
            <a:r>
              <a:rPr lang="en-US" altLang="ja-JP" dirty="0"/>
              <a:t>Valuation Details </a:t>
            </a:r>
            <a:r>
              <a:rPr lang="ja-JP" altLang="en-US" dirty="0"/>
              <a:t>／</a:t>
            </a:r>
            <a:br>
              <a:rPr lang="en-US" altLang="ja-JP" dirty="0"/>
            </a:br>
            <a:r>
              <a:rPr lang="ja-JP" altLang="en-US" dirty="0"/>
              <a:t>株式価値の試算</a:t>
            </a:r>
          </a:p>
        </p:txBody>
      </p:sp>
      <p:grpSp>
        <p:nvGrpSpPr>
          <p:cNvPr id="6" name="グループ化 5">
            <a:extLst>
              <a:ext uri="{FF2B5EF4-FFF2-40B4-BE49-F238E27FC236}">
                <a16:creationId xmlns:a16="http://schemas.microsoft.com/office/drawing/2014/main" id="{52BB44DF-8448-FFAD-BE30-595A1754DDDF}"/>
              </a:ext>
            </a:extLst>
          </p:cNvPr>
          <p:cNvGrpSpPr/>
          <p:nvPr/>
        </p:nvGrpSpPr>
        <p:grpSpPr>
          <a:xfrm>
            <a:off x="885526" y="2173586"/>
            <a:ext cx="3390141" cy="651396"/>
            <a:chOff x="885526" y="2554586"/>
            <a:chExt cx="3390141" cy="651396"/>
          </a:xfrm>
        </p:grpSpPr>
        <p:sp>
          <p:nvSpPr>
            <p:cNvPr id="9" name="テキスト ボックス 8">
              <a:extLst>
                <a:ext uri="{FF2B5EF4-FFF2-40B4-BE49-F238E27FC236}">
                  <a16:creationId xmlns:a16="http://schemas.microsoft.com/office/drawing/2014/main" id="{F253E30E-0D7C-BFB0-7E67-4C2E49F2BDAA}"/>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3</a:t>
              </a:r>
              <a:endParaRPr lang="ja-JP" altLang="en-US" spc="100" dirty="0">
                <a:solidFill>
                  <a:schemeClr val="accent2">
                    <a:lumMod val="90000"/>
                  </a:schemeClr>
                </a:solidFill>
              </a:endParaRPr>
            </a:p>
          </p:txBody>
        </p:sp>
        <p:cxnSp>
          <p:nvCxnSpPr>
            <p:cNvPr id="10" name="直線コネクタ 9">
              <a:extLst>
                <a:ext uri="{FF2B5EF4-FFF2-40B4-BE49-F238E27FC236}">
                  <a16:creationId xmlns:a16="http://schemas.microsoft.com/office/drawing/2014/main" id="{A375A0D1-57FE-D27E-2B83-8DAF521DF351}"/>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0536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7F503-C243-C5C8-C2F0-929E04595FC1}"/>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987794EB-51E3-1A74-C717-E0C9AD41EC4E}"/>
              </a:ext>
            </a:extLst>
          </p:cNvPr>
          <p:cNvSpPr>
            <a:spLocks noGrp="1"/>
          </p:cNvSpPr>
          <p:nvPr>
            <p:ph type="ctrTitle"/>
          </p:nvPr>
        </p:nvSpPr>
        <p:spPr/>
        <p:txBody>
          <a:bodyPr/>
          <a:lstStyle/>
          <a:p>
            <a:r>
              <a:rPr lang="ja-JP" altLang="en-US" dirty="0"/>
              <a:t>年買法</a:t>
            </a:r>
            <a:r>
              <a:rPr lang="ja-JP" altLang="en-US" sz="1400" dirty="0"/>
              <a:t>（コストアプローチ）</a:t>
            </a:r>
            <a:r>
              <a:rPr lang="ja-JP" altLang="en-US" dirty="0"/>
              <a:t>による算出</a:t>
            </a:r>
          </a:p>
        </p:txBody>
      </p:sp>
      <p:sp>
        <p:nvSpPr>
          <p:cNvPr id="15" name="タイトル 1">
            <a:extLst>
              <a:ext uri="{FF2B5EF4-FFF2-40B4-BE49-F238E27FC236}">
                <a16:creationId xmlns:a16="http://schemas.microsoft.com/office/drawing/2014/main" id="{EB1A9B9D-5452-68CC-CE1E-8D524B93E067}"/>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625193" y="6497692"/>
            <a:ext cx="3132000" cy="358881"/>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・営業権の算出は調整後税考慮後営業利益を基準とし採用</a:t>
            </a:r>
            <a:endParaRPr lang="en-US" altLang="ja-JP" sz="1000" spc="50" dirty="0">
              <a:latin typeface="+mn-ea"/>
            </a:endParaRPr>
          </a:p>
        </p:txBody>
      </p:sp>
      <p:grpSp>
        <p:nvGrpSpPr>
          <p:cNvPr id="2" name="グループ化 1">
            <a:extLst>
              <a:ext uri="{FF2B5EF4-FFF2-40B4-BE49-F238E27FC236}">
                <a16:creationId xmlns:a16="http://schemas.microsoft.com/office/drawing/2014/main" id="{A29EB66C-2E27-8434-B652-DDC186B7F0B3}"/>
              </a:ext>
            </a:extLst>
          </p:cNvPr>
          <p:cNvGrpSpPr/>
          <p:nvPr/>
        </p:nvGrpSpPr>
        <p:grpSpPr>
          <a:xfrm>
            <a:off x="7237573" y="4779102"/>
            <a:ext cx="3132001" cy="1440000"/>
            <a:chOff x="7110548" y="4536538"/>
            <a:chExt cx="3132001" cy="1440000"/>
          </a:xfrm>
        </p:grpSpPr>
        <p:sp>
          <p:nvSpPr>
            <p:cNvPr id="49" name="フローチャート: 処理 48">
              <a:extLst>
                <a:ext uri="{FF2B5EF4-FFF2-40B4-BE49-F238E27FC236}">
                  <a16:creationId xmlns:a16="http://schemas.microsoft.com/office/drawing/2014/main" id="{3563BF4B-3A03-4761-D966-E487EA4F0487}"/>
                </a:ext>
              </a:extLst>
            </p:cNvPr>
            <p:cNvSpPr/>
            <p:nvPr/>
          </p:nvSpPr>
          <p:spPr>
            <a:xfrm>
              <a:off x="7110549" y="4536538"/>
              <a:ext cx="3132000" cy="144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116000" tIns="0" rIns="180000" bIns="0" rtlCol="0" anchor="ctr"/>
            <a:lstStyle/>
            <a:p>
              <a:pPr>
                <a:lnSpc>
                  <a:spcPct val="120000"/>
                </a:lnSpc>
              </a:pPr>
              <a:r>
                <a:rPr lang="ja-JP" altLang="en-US" sz="1200" spc="30" dirty="0">
                  <a:solidFill>
                    <a:schemeClr val="tx2"/>
                  </a:solidFill>
                  <a:latin typeface="+mn-ea"/>
                </a:rPr>
                <a:t>営業権倍率は買手企業の</a:t>
              </a:r>
              <a:r>
                <a:rPr lang="en-US" altLang="ja-JP" sz="1200" spc="30" dirty="0">
                  <a:solidFill>
                    <a:schemeClr val="tx2"/>
                  </a:solidFill>
                  <a:latin typeface="+mn-ea"/>
                </a:rPr>
                <a:t>M&amp;A</a:t>
              </a:r>
              <a:r>
                <a:rPr lang="ja-JP" altLang="en-US" sz="1200" spc="30" dirty="0">
                  <a:solidFill>
                    <a:schemeClr val="tx2"/>
                  </a:solidFill>
                  <a:latin typeface="+mn-ea"/>
                </a:rPr>
                <a:t>方針、取り組み意欲、想定シナジー等によっても変動いたします。</a:t>
              </a:r>
            </a:p>
          </p:txBody>
        </p:sp>
        <p:sp>
          <p:nvSpPr>
            <p:cNvPr id="50" name="正方形/長方形 49">
              <a:extLst>
                <a:ext uri="{FF2B5EF4-FFF2-40B4-BE49-F238E27FC236}">
                  <a16:creationId xmlns:a16="http://schemas.microsoft.com/office/drawing/2014/main" id="{4ED737D8-0179-EDE9-A930-2CF46D17F20B}"/>
                </a:ext>
              </a:extLst>
            </p:cNvPr>
            <p:cNvSpPr/>
            <p:nvPr/>
          </p:nvSpPr>
          <p:spPr>
            <a:xfrm>
              <a:off x="7110548" y="4536538"/>
              <a:ext cx="936000" cy="144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2400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51" name="グループ化 50">
              <a:extLst>
                <a:ext uri="{FF2B5EF4-FFF2-40B4-BE49-F238E27FC236}">
                  <a16:creationId xmlns:a16="http://schemas.microsoft.com/office/drawing/2014/main" id="{CB2BF03D-D2D6-3CD9-BAC4-6C0DC169523C}"/>
                </a:ext>
              </a:extLst>
            </p:cNvPr>
            <p:cNvGrpSpPr/>
            <p:nvPr/>
          </p:nvGrpSpPr>
          <p:grpSpPr>
            <a:xfrm>
              <a:off x="7391962" y="4915692"/>
              <a:ext cx="373173" cy="373173"/>
              <a:chOff x="557955" y="6293952"/>
              <a:chExt cx="373173" cy="373173"/>
            </a:xfrm>
          </p:grpSpPr>
          <p:sp>
            <p:nvSpPr>
              <p:cNvPr id="52" name="楕円 51">
                <a:extLst>
                  <a:ext uri="{FF2B5EF4-FFF2-40B4-BE49-F238E27FC236}">
                    <a16:creationId xmlns:a16="http://schemas.microsoft.com/office/drawing/2014/main" id="{6F018B1F-7032-6330-2F6C-C5400AFD9242}"/>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53" name="グループ化 52">
                <a:extLst>
                  <a:ext uri="{FF2B5EF4-FFF2-40B4-BE49-F238E27FC236}">
                    <a16:creationId xmlns:a16="http://schemas.microsoft.com/office/drawing/2014/main" id="{7F068DAC-E598-190E-42FE-1189D043343B}"/>
                  </a:ext>
                </a:extLst>
              </p:cNvPr>
              <p:cNvGrpSpPr/>
              <p:nvPr/>
            </p:nvGrpSpPr>
            <p:grpSpPr>
              <a:xfrm>
                <a:off x="620003" y="6342163"/>
                <a:ext cx="249077" cy="276751"/>
                <a:chOff x="605367" y="6371166"/>
                <a:chExt cx="210977" cy="234418"/>
              </a:xfrm>
            </p:grpSpPr>
            <p:sp>
              <p:nvSpPr>
                <p:cNvPr id="54" name="フリーフォーム: 図形 53">
                  <a:extLst>
                    <a:ext uri="{FF2B5EF4-FFF2-40B4-BE49-F238E27FC236}">
                      <a16:creationId xmlns:a16="http://schemas.microsoft.com/office/drawing/2014/main" id="{A1DEA6EA-1E7F-7BF7-EC29-074B27A76C53}"/>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55" name="フリーフォーム: 図形 54">
                  <a:extLst>
                    <a:ext uri="{FF2B5EF4-FFF2-40B4-BE49-F238E27FC236}">
                      <a16:creationId xmlns:a16="http://schemas.microsoft.com/office/drawing/2014/main" id="{3FF254E6-4C92-A794-24E2-A0D99B5FC347}"/>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1CF77B68-8709-D733-9916-92C57E52E7FC}"/>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57" name="フリーフォーム: 図形 56">
                  <a:extLst>
                    <a:ext uri="{FF2B5EF4-FFF2-40B4-BE49-F238E27FC236}">
                      <a16:creationId xmlns:a16="http://schemas.microsoft.com/office/drawing/2014/main" id="{0747E862-F508-E276-0612-34F85441A35A}"/>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7E1CA8BD-0DEF-68F9-82D5-97A5971778F8}"/>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9" name="フリーフォーム: 図形 58">
                  <a:extLst>
                    <a:ext uri="{FF2B5EF4-FFF2-40B4-BE49-F238E27FC236}">
                      <a16:creationId xmlns:a16="http://schemas.microsoft.com/office/drawing/2014/main" id="{6FDF0A0B-79AC-C1B6-E12A-DE7ECB339827}"/>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60" name="グラフィックス 32">
                  <a:extLst>
                    <a:ext uri="{FF2B5EF4-FFF2-40B4-BE49-F238E27FC236}">
                      <a16:creationId xmlns:a16="http://schemas.microsoft.com/office/drawing/2014/main" id="{46003F03-0706-D56E-131C-6F71ACA679AA}"/>
                    </a:ext>
                  </a:extLst>
                </p:cNvPr>
                <p:cNvGrpSpPr/>
                <p:nvPr/>
              </p:nvGrpSpPr>
              <p:grpSpPr>
                <a:xfrm>
                  <a:off x="639299" y="6399061"/>
                  <a:ext cx="149149" cy="149149"/>
                  <a:chOff x="639299" y="6399061"/>
                  <a:chExt cx="149149" cy="149149"/>
                </a:xfrm>
              </p:grpSpPr>
              <p:sp>
                <p:nvSpPr>
                  <p:cNvPr id="68" name="フリーフォーム: 図形 67">
                    <a:extLst>
                      <a:ext uri="{FF2B5EF4-FFF2-40B4-BE49-F238E27FC236}">
                        <a16:creationId xmlns:a16="http://schemas.microsoft.com/office/drawing/2014/main" id="{FF1B27A2-5C8B-F971-8F1E-D89DE9245932}"/>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9" name="フリーフォーム: 図形 68">
                    <a:extLst>
                      <a:ext uri="{FF2B5EF4-FFF2-40B4-BE49-F238E27FC236}">
                        <a16:creationId xmlns:a16="http://schemas.microsoft.com/office/drawing/2014/main" id="{0A67E87D-C16C-7317-27D3-B65177A9A650}"/>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61" name="フリーフォーム: 図形 60">
                  <a:extLst>
                    <a:ext uri="{FF2B5EF4-FFF2-40B4-BE49-F238E27FC236}">
                      <a16:creationId xmlns:a16="http://schemas.microsoft.com/office/drawing/2014/main" id="{A22E7811-79CC-7D34-A60A-5DABDD728347}"/>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62" name="グラフィックス 32">
                  <a:extLst>
                    <a:ext uri="{FF2B5EF4-FFF2-40B4-BE49-F238E27FC236}">
                      <a16:creationId xmlns:a16="http://schemas.microsoft.com/office/drawing/2014/main" id="{DDB6E077-4DF8-9D28-CE9D-FD0DC38080E3}"/>
                    </a:ext>
                  </a:extLst>
                </p:cNvPr>
                <p:cNvGrpSpPr/>
                <p:nvPr/>
              </p:nvGrpSpPr>
              <p:grpSpPr>
                <a:xfrm>
                  <a:off x="605367" y="6470794"/>
                  <a:ext cx="210977" cy="5860"/>
                  <a:chOff x="605367" y="6470794"/>
                  <a:chExt cx="210977" cy="5860"/>
                </a:xfrm>
              </p:grpSpPr>
              <p:sp>
                <p:nvSpPr>
                  <p:cNvPr id="66" name="フリーフォーム: 図形 65">
                    <a:extLst>
                      <a:ext uri="{FF2B5EF4-FFF2-40B4-BE49-F238E27FC236}">
                        <a16:creationId xmlns:a16="http://schemas.microsoft.com/office/drawing/2014/main" id="{F6E3D96F-EC3C-7492-EAD2-472738E099EA}"/>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67" name="フリーフォーム: 図形 66">
                    <a:extLst>
                      <a:ext uri="{FF2B5EF4-FFF2-40B4-BE49-F238E27FC236}">
                        <a16:creationId xmlns:a16="http://schemas.microsoft.com/office/drawing/2014/main" id="{DCC1D94A-2131-4857-9112-4465F8CBD688}"/>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63" name="グラフィックス 32">
                  <a:extLst>
                    <a:ext uri="{FF2B5EF4-FFF2-40B4-BE49-F238E27FC236}">
                      <a16:creationId xmlns:a16="http://schemas.microsoft.com/office/drawing/2014/main" id="{1795E0F7-A5BB-F562-9C60-3E356D161488}"/>
                    </a:ext>
                  </a:extLst>
                </p:cNvPr>
                <p:cNvGrpSpPr/>
                <p:nvPr/>
              </p:nvGrpSpPr>
              <p:grpSpPr>
                <a:xfrm>
                  <a:off x="633262" y="6399061"/>
                  <a:ext cx="149149" cy="149149"/>
                  <a:chOff x="633262" y="6399061"/>
                  <a:chExt cx="149149" cy="149149"/>
                </a:xfrm>
              </p:grpSpPr>
              <p:sp>
                <p:nvSpPr>
                  <p:cNvPr id="64" name="フリーフォーム: 図形 63">
                    <a:extLst>
                      <a:ext uri="{FF2B5EF4-FFF2-40B4-BE49-F238E27FC236}">
                        <a16:creationId xmlns:a16="http://schemas.microsoft.com/office/drawing/2014/main" id="{DDC39931-DD4A-0A4F-7EF0-1E2166A51BA7}"/>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65" name="フリーフォーム: 図形 64">
                    <a:extLst>
                      <a:ext uri="{FF2B5EF4-FFF2-40B4-BE49-F238E27FC236}">
                        <a16:creationId xmlns:a16="http://schemas.microsoft.com/office/drawing/2014/main" id="{182857EE-5EF9-595C-B8CD-3E47A8977D5F}"/>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grpSp>
      <p:sp>
        <p:nvSpPr>
          <p:cNvPr id="4" name="正方形/長方形 3">
            <a:extLst>
              <a:ext uri="{FF2B5EF4-FFF2-40B4-BE49-F238E27FC236}">
                <a16:creationId xmlns:a16="http://schemas.microsoft.com/office/drawing/2014/main" id="{6BC308DD-4581-9B3D-2488-1CF63FDB56F1}"/>
              </a:ext>
            </a:extLst>
          </p:cNvPr>
          <p:cNvSpPr/>
          <p:nvPr/>
        </p:nvSpPr>
        <p:spPr>
          <a:xfrm>
            <a:off x="449264"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時価純資産</a:t>
            </a:r>
          </a:p>
        </p:txBody>
      </p:sp>
      <p:sp>
        <p:nvSpPr>
          <p:cNvPr id="11" name="正方形/長方形 10">
            <a:extLst>
              <a:ext uri="{FF2B5EF4-FFF2-40B4-BE49-F238E27FC236}">
                <a16:creationId xmlns:a16="http://schemas.microsoft.com/office/drawing/2014/main" id="{FF906F3B-339D-5C93-EB5C-667F5D10FE00}"/>
              </a:ext>
            </a:extLst>
          </p:cNvPr>
          <p:cNvSpPr/>
          <p:nvPr/>
        </p:nvSpPr>
        <p:spPr>
          <a:xfrm>
            <a:off x="4197486"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基準営業利益</a:t>
            </a:r>
          </a:p>
        </p:txBody>
      </p:sp>
      <p:sp>
        <p:nvSpPr>
          <p:cNvPr id="18" name="テキスト ボックス 17">
            <a:extLst>
              <a:ext uri="{FF2B5EF4-FFF2-40B4-BE49-F238E27FC236}">
                <a16:creationId xmlns:a16="http://schemas.microsoft.com/office/drawing/2014/main" id="{9FA20A16-6D84-8F71-DF07-E04C0E7459DA}"/>
              </a:ext>
            </a:extLst>
          </p:cNvPr>
          <p:cNvSpPr txBox="1"/>
          <p:nvPr/>
        </p:nvSpPr>
        <p:spPr>
          <a:xfrm>
            <a:off x="341313" y="4241196"/>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9264" y="6374438"/>
            <a:ext cx="9793287" cy="645487"/>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20" name="テキスト ボックス 19">
            <a:extLst>
              <a:ext uri="{FF2B5EF4-FFF2-40B4-BE49-F238E27FC236}">
                <a16:creationId xmlns:a16="http://schemas.microsoft.com/office/drawing/2014/main" id="{1F5D9AD6-5ABF-F2CF-264A-30C999A3F804}"/>
              </a:ext>
            </a:extLst>
          </p:cNvPr>
          <p:cNvSpPr txBox="1"/>
          <p:nvPr/>
        </p:nvSpPr>
        <p:spPr>
          <a:xfrm>
            <a:off x="4443322" y="6497692"/>
            <a:ext cx="3132000" cy="174022"/>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・営業利益は過去3年の平均値を採用</a:t>
            </a:r>
            <a:endParaRPr lang="en-US" altLang="ja-JP" sz="1000" spc="50" dirty="0">
              <a:latin typeface="+mn-ea"/>
            </a:endParaRPr>
          </a:p>
        </p:txBody>
      </p:sp>
      <p:sp>
        <p:nvSpPr>
          <p:cNvPr id="21" name="テキスト ボックス 20">
            <a:extLst>
              <a:ext uri="{FF2B5EF4-FFF2-40B4-BE49-F238E27FC236}">
                <a16:creationId xmlns:a16="http://schemas.microsoft.com/office/drawing/2014/main" id="{BF0A492D-B740-FF9D-8465-2437101751AE}"/>
              </a:ext>
            </a:extLst>
          </p:cNvPr>
          <p:cNvSpPr txBox="1"/>
          <p:nvPr/>
        </p:nvSpPr>
        <p:spPr>
          <a:xfrm>
            <a:off x="6959065" y="6497692"/>
            <a:ext cx="3349368" cy="358688"/>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・営業権倍率は国内の中小企業M&amp;Aの実例においてボリュームゾーンである1～3倍を適用</a:t>
            </a:r>
            <a:endParaRPr lang="en-US" altLang="ja-JP" sz="1000" spc="50" dirty="0">
              <a:latin typeface="+mn-ea"/>
            </a:endParaRPr>
          </a:p>
        </p:txBody>
      </p:sp>
      <p:graphicFrame>
        <p:nvGraphicFramePr>
          <p:cNvPr id="6" name="表 5">
            <a:extLst>
              <a:ext uri="{FF2B5EF4-FFF2-40B4-BE49-F238E27FC236}">
                <a16:creationId xmlns:a16="http://schemas.microsoft.com/office/drawing/2014/main" id="{64DBA9DE-28CC-CF8E-E12F-5B18A0BFCAF2}"/>
              </a:ext>
            </a:extLst>
          </p:cNvPr>
          <p:cNvGraphicFramePr>
            <a:graphicFrameLocks noGrp="1"/>
          </p:cNvGraphicFramePr>
          <p:nvPr>
            <p:extLst>
              <p:ext uri="{D42A27DB-BD31-4B8C-83A1-F6EECF244321}">
                <p14:modId xmlns:p14="http://schemas.microsoft.com/office/powerpoint/2010/main" val="1577778887"/>
              </p:ext>
            </p:extLst>
          </p:nvPr>
        </p:nvGraphicFramePr>
        <p:xfrm>
          <a:off x="449264" y="1121542"/>
          <a:ext cx="2844800" cy="1523799"/>
        </p:xfrm>
        <a:graphic>
          <a:graphicData uri="http://schemas.openxmlformats.org/drawingml/2006/table">
            <a:tbl>
              <a:tblPr/>
              <a:tblGrid>
                <a:gridCol w="1422400">
                  <a:extLst>
                    <a:ext uri="{9D8B030D-6E8A-4147-A177-3AD203B41FA5}">
                      <a16:colId xmlns:a16="http://schemas.microsoft.com/office/drawing/2014/main" val="3742969139"/>
                    </a:ext>
                  </a:extLst>
                </a:gridCol>
                <a:gridCol w="1422400">
                  <a:extLst>
                    <a:ext uri="{9D8B030D-6E8A-4147-A177-3AD203B41FA5}">
                      <a16:colId xmlns:a16="http://schemas.microsoft.com/office/drawing/2014/main" val="176106280"/>
                    </a:ext>
                  </a:extLst>
                </a:gridCol>
              </a:tblGrid>
              <a:tr h="211639">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4127255786"/>
                  </a:ext>
                </a:extLst>
              </a:tr>
              <a:tr h="245501">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令和7年12月期</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284412510"/>
                  </a:ext>
                </a:extLst>
              </a:tr>
              <a:tr h="355553">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簿価純資産額</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72,451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79471566"/>
                  </a:ext>
                </a:extLst>
              </a:tr>
              <a:tr h="355553">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△461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79471566"/>
                  </a:ext>
                </a:extLst>
              </a:tr>
              <a:tr h="355553">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税効果</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157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79471566"/>
                  </a:ext>
                </a:extLst>
              </a:tr>
              <a:tr h="355553">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時価純資産</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72,146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956632944"/>
                  </a:ext>
                </a:extLst>
              </a:tr>
            </a:tbl>
          </a:graphicData>
        </a:graphic>
      </p:graphicFrame>
      <p:graphicFrame>
        <p:nvGraphicFramePr>
          <p:cNvPr id="24" name="表 23">
            <a:extLst>
              <a:ext uri="{FF2B5EF4-FFF2-40B4-BE49-F238E27FC236}">
                <a16:creationId xmlns:a16="http://schemas.microsoft.com/office/drawing/2014/main" id="{E43259E8-718C-860F-31F7-CC233A1DA95C}"/>
              </a:ext>
            </a:extLst>
          </p:cNvPr>
          <p:cNvGraphicFramePr>
            <a:graphicFrameLocks noGrp="1"/>
          </p:cNvGraphicFramePr>
          <p:nvPr>
            <p:extLst>
              <p:ext uri="{D42A27DB-BD31-4B8C-83A1-F6EECF244321}">
                <p14:modId xmlns:p14="http://schemas.microsoft.com/office/powerpoint/2010/main" val="1405680720"/>
              </p:ext>
            </p:extLst>
          </p:nvPr>
        </p:nvGraphicFramePr>
        <p:xfrm>
          <a:off x="4197486" y="1087835"/>
          <a:ext cx="6146800" cy="3105150"/>
        </p:xfrm>
        <a:graphic>
          <a:graphicData uri="http://schemas.openxmlformats.org/drawingml/2006/table">
            <a:tbl>
              <a:tblPr/>
              <a:tblGrid>
                <a:gridCol w="1879600">
                  <a:extLst>
                    <a:ext uri="{9D8B030D-6E8A-4147-A177-3AD203B41FA5}">
                      <a16:colId xmlns:a16="http://schemas.microsoft.com/office/drawing/2014/main" val="3127448279"/>
                    </a:ext>
                  </a:extLst>
                </a:gridCol>
                <a:gridCol w="1422400">
                  <a:extLst>
                    <a:ext uri="{9D8B030D-6E8A-4147-A177-3AD203B41FA5}">
                      <a16:colId xmlns:a16="http://schemas.microsoft.com/office/drawing/2014/main" val="2349916149"/>
                    </a:ext>
                  </a:extLst>
                </a:gridCol>
                <a:gridCol w="1422400">
                  <a:extLst>
                    <a:ext uri="{9D8B030D-6E8A-4147-A177-3AD203B41FA5}">
                      <a16:colId xmlns:a16="http://schemas.microsoft.com/office/drawing/2014/main" val="3628197926"/>
                    </a:ext>
                  </a:extLst>
                </a:gridCol>
                <a:gridCol w="1422400">
                  <a:extLst>
                    <a:ext uri="{9D8B030D-6E8A-4147-A177-3AD203B41FA5}">
                      <a16:colId xmlns:a16="http://schemas.microsoft.com/office/drawing/2014/main" val="2374497830"/>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3500248896"/>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2023年12月期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2024年12月期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546243291"/>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20,886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10,774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12,924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731175826"/>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827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498</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76092922"/>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修正後営業利益</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21,713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11,272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13,448</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853762939"/>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税考慮額</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△7,382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△3,833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△4,572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35575733"/>
                  </a:ext>
                </a:extLst>
              </a:tr>
              <a:tr h="400050">
                <a:tc>
                  <a:txBody>
                    <a:bodyPr/>
                    <a:lstStyle/>
                    <a:p>
                      <a:pPr algn="ct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修正後税考慮後営業利益</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14,330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7,440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8,876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3400901120"/>
                  </a:ext>
                </a:extLst>
              </a:tr>
              <a:tr h="190500">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w="12700" cap="flat" cmpd="sng" algn="ctr">
                      <a:solidFill>
                        <a:srgbClr val="0B3041"/>
                      </a:solidFill>
                      <a:prstDash val="solid"/>
                      <a:round/>
                      <a:headEnd type="none" w="med" len="med"/>
                      <a:tailEnd type="none" w="med" len="med"/>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507750895"/>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基準営業利益</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10,215</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668525024"/>
                  </a:ext>
                </a:extLst>
              </a:tr>
            </a:tbl>
          </a:graphicData>
        </a:graphic>
      </p:graphicFrame>
      <p:graphicFrame>
        <p:nvGraphicFramePr>
          <p:cNvPr id="26" name="表 25">
            <a:extLst>
              <a:ext uri="{FF2B5EF4-FFF2-40B4-BE49-F238E27FC236}">
                <a16:creationId xmlns:a16="http://schemas.microsoft.com/office/drawing/2014/main" id="{2EE21B01-4926-DC5E-758F-F961391A23E2}"/>
              </a:ext>
            </a:extLst>
          </p:cNvPr>
          <p:cNvGraphicFramePr>
            <a:graphicFrameLocks noGrp="1"/>
          </p:cNvGraphicFramePr>
          <p:nvPr>
            <p:extLst>
              <p:ext uri="{D42A27DB-BD31-4B8C-83A1-F6EECF244321}">
                <p14:modId xmlns:p14="http://schemas.microsoft.com/office/powerpoint/2010/main" val="1101388042"/>
              </p:ext>
            </p:extLst>
          </p:nvPr>
        </p:nvGraphicFramePr>
        <p:xfrm>
          <a:off x="449264" y="4528897"/>
          <a:ext cx="6197600" cy="1714500"/>
        </p:xfrm>
        <a:graphic>
          <a:graphicData uri="http://schemas.openxmlformats.org/drawingml/2006/table">
            <a:tbl>
              <a:tblPr/>
              <a:tblGrid>
                <a:gridCol w="1549400">
                  <a:extLst>
                    <a:ext uri="{9D8B030D-6E8A-4147-A177-3AD203B41FA5}">
                      <a16:colId xmlns:a16="http://schemas.microsoft.com/office/drawing/2014/main" val="1934853515"/>
                    </a:ext>
                  </a:extLst>
                </a:gridCol>
                <a:gridCol w="1549400">
                  <a:extLst>
                    <a:ext uri="{9D8B030D-6E8A-4147-A177-3AD203B41FA5}">
                      <a16:colId xmlns:a16="http://schemas.microsoft.com/office/drawing/2014/main" val="2671121112"/>
                    </a:ext>
                  </a:extLst>
                </a:gridCol>
                <a:gridCol w="1549400">
                  <a:extLst>
                    <a:ext uri="{9D8B030D-6E8A-4147-A177-3AD203B41FA5}">
                      <a16:colId xmlns:a16="http://schemas.microsoft.com/office/drawing/2014/main" val="4062886007"/>
                    </a:ext>
                  </a:extLst>
                </a:gridCol>
                <a:gridCol w="1549400">
                  <a:extLst>
                    <a:ext uri="{9D8B030D-6E8A-4147-A177-3AD203B41FA5}">
                      <a16:colId xmlns:a16="http://schemas.microsoft.com/office/drawing/2014/main" val="2369823747"/>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1931294601"/>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営業権倍率</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x3</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3697186592"/>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時価純資産</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gridSpan="3">
                  <a:txBody>
                    <a:bodyPr/>
                    <a:lstStyle/>
                    <a:p>
                      <a:pPr algn="ct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72,146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extLst>
                  <a:ext uri="{0D108BD9-81ED-4DB2-BD59-A6C34878D82A}">
                    <a16:rowId xmlns:a16="http://schemas.microsoft.com/office/drawing/2014/main" val="4083514909"/>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10,215</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20,431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30,646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186401703"/>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想定株式価値</a:t>
                      </a:r>
                    </a:p>
                  </a:txBody>
                  <a:tcPr marL="11430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82,362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92,577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102,792</a:t>
                      </a:r>
                    </a:p>
                  </a:txBody>
                  <a:tcPr marL="0" marR="11430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2191833478"/>
                  </a:ext>
                </a:extLst>
              </a:tr>
            </a:tbl>
          </a:graphicData>
        </a:graphic>
      </p:graphicFrame>
    </p:spTree>
    <p:extLst>
      <p:ext uri="{BB962C8B-B14F-4D97-AF65-F5344CB8AC3E}">
        <p14:creationId xmlns:p14="http://schemas.microsoft.com/office/powerpoint/2010/main" val="38142318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168CF-D69D-18FC-3A0E-C232A8D38007}"/>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D7EB75FF-F512-AB03-0F54-0531BD69257A}"/>
              </a:ext>
            </a:extLst>
          </p:cNvPr>
          <p:cNvSpPr>
            <a:spLocks noGrp="1"/>
          </p:cNvSpPr>
          <p:nvPr>
            <p:ph type="ctrTitle"/>
          </p:nvPr>
        </p:nvSpPr>
        <p:spPr/>
        <p:txBody>
          <a:bodyPr/>
          <a:lstStyle/>
          <a:p>
            <a:r>
              <a:rPr lang="en-US" altLang="ja-JP" dirty="0"/>
              <a:t>EV/EBITDA</a:t>
            </a:r>
            <a:r>
              <a:rPr lang="ja-JP" altLang="en-US" dirty="0"/>
              <a:t>マルチプル法</a:t>
            </a:r>
            <a:r>
              <a:rPr lang="ja-JP" altLang="en-US" sz="1400" dirty="0"/>
              <a:t>（マーケットアプローチ）</a:t>
            </a:r>
            <a:r>
              <a:rPr lang="ja-JP" altLang="en-US" dirty="0"/>
              <a:t>による算出</a:t>
            </a:r>
          </a:p>
        </p:txBody>
      </p:sp>
      <p:sp>
        <p:nvSpPr>
          <p:cNvPr id="15" name="タイトル 1">
            <a:extLst>
              <a:ext uri="{FF2B5EF4-FFF2-40B4-BE49-F238E27FC236}">
                <a16:creationId xmlns:a16="http://schemas.microsoft.com/office/drawing/2014/main" id="{90570B0E-6143-1519-8292-7086F7DE784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4" name="正方形/長方形 3">
            <a:extLst>
              <a:ext uri="{FF2B5EF4-FFF2-40B4-BE49-F238E27FC236}">
                <a16:creationId xmlns:a16="http://schemas.microsoft.com/office/drawing/2014/main" id="{33074C14-EE57-454D-DEE5-B4FA1B4A9B58}"/>
              </a:ext>
            </a:extLst>
          </p:cNvPr>
          <p:cNvSpPr/>
          <p:nvPr/>
        </p:nvSpPr>
        <p:spPr>
          <a:xfrm>
            <a:off x="3913982" y="987425"/>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en-US" altLang="ja-JP" sz="1600" b="1" spc="50" dirty="0">
                <a:solidFill>
                  <a:schemeClr val="tx1"/>
                </a:solidFill>
                <a:latin typeface="+mj-ea"/>
                <a:ea typeface="+mj-ea"/>
              </a:rPr>
              <a:t>EV</a:t>
            </a:r>
            <a:r>
              <a:rPr lang="ja-JP" altLang="en-US" sz="1600" b="1" spc="50" dirty="0">
                <a:solidFill>
                  <a:schemeClr val="tx1"/>
                </a:solidFill>
                <a:latin typeface="+mj-ea"/>
                <a:ea typeface="+mj-ea"/>
              </a:rPr>
              <a:t>（</a:t>
            </a:r>
            <a:r>
              <a:rPr lang="en-US" altLang="ja-JP" sz="1600" b="1" spc="50" dirty="0">
                <a:solidFill>
                  <a:schemeClr val="tx1"/>
                </a:solidFill>
                <a:latin typeface="+mj-ea"/>
                <a:ea typeface="+mj-ea"/>
              </a:rPr>
              <a:t>EBITDA×</a:t>
            </a:r>
            <a:r>
              <a:rPr lang="ja-JP" altLang="en-US" sz="1600" b="1" spc="50" dirty="0">
                <a:solidFill>
                  <a:schemeClr val="tx1"/>
                </a:solidFill>
                <a:latin typeface="+mj-ea"/>
                <a:ea typeface="+mj-ea"/>
              </a:rPr>
              <a:t>倍率）</a:t>
            </a:r>
          </a:p>
        </p:txBody>
      </p:sp>
      <p:sp>
        <p:nvSpPr>
          <p:cNvPr id="11" name="正方形/長方形 10">
            <a:extLst>
              <a:ext uri="{FF2B5EF4-FFF2-40B4-BE49-F238E27FC236}">
                <a16:creationId xmlns:a16="http://schemas.microsoft.com/office/drawing/2014/main" id="{14370311-C1C8-F01A-03FB-4CB76D5E625E}"/>
              </a:ext>
            </a:extLst>
          </p:cNvPr>
          <p:cNvSpPr/>
          <p:nvPr/>
        </p:nvSpPr>
        <p:spPr>
          <a:xfrm>
            <a:off x="444636" y="987425"/>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ネットキャッシュ</a:t>
            </a:r>
          </a:p>
        </p:txBody>
      </p:sp>
      <p:sp>
        <p:nvSpPr>
          <p:cNvPr id="18" name="テキスト ボックス 17">
            <a:extLst>
              <a:ext uri="{FF2B5EF4-FFF2-40B4-BE49-F238E27FC236}">
                <a16:creationId xmlns:a16="http://schemas.microsoft.com/office/drawing/2014/main" id="{179AA9CD-95B4-9925-7A4F-9D862B690B84}"/>
              </a:ext>
            </a:extLst>
          </p:cNvPr>
          <p:cNvSpPr txBox="1"/>
          <p:nvPr/>
        </p:nvSpPr>
        <p:spPr>
          <a:xfrm>
            <a:off x="341313" y="3892348"/>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endParaRPr lang="en-US" altLang="ja-JP" sz="1800" b="1" spc="50" dirty="0">
              <a:solidFill>
                <a:schemeClr val="tx1"/>
              </a:solidFill>
              <a:latin typeface="+mj-ea"/>
              <a:ea typeface="+mj-ea"/>
            </a:endParaRP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8056" y="6355080"/>
            <a:ext cx="9793224" cy="73152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627632" y="6633829"/>
            <a:ext cx="2971800" cy="174022"/>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・EBITDAは直近3年の平均値を採用（減価償却費に長期前払費用償却を含む）</a:t>
            </a:r>
            <a:endParaRPr lang="en-US" altLang="ja-JP" sz="1000" spc="50" dirty="0">
              <a:latin typeface="+mn-ea"/>
            </a:endParaRPr>
          </a:p>
        </p:txBody>
      </p:sp>
      <p:sp>
        <p:nvSpPr>
          <p:cNvPr id="20" name="テキスト ボックス 19">
            <a:extLst>
              <a:ext uri="{FF2B5EF4-FFF2-40B4-BE49-F238E27FC236}">
                <a16:creationId xmlns:a16="http://schemas.microsoft.com/office/drawing/2014/main" id="{1F5D9AD6-5ABF-F2CF-264A-30C999A3F804}"/>
              </a:ext>
            </a:extLst>
          </p:cNvPr>
          <p:cNvSpPr txBox="1"/>
          <p:nvPr/>
        </p:nvSpPr>
        <p:spPr>
          <a:xfrm>
            <a:off x="4617720" y="6446520"/>
            <a:ext cx="2834640" cy="912686"/>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・マルチプル倍率は類似上場会社の株価倍率及び国内中小企業M&amp;Aの実績水準を踏まえ3～5倍を仮適用</a:t>
            </a:r>
            <a:br>
              <a:rPr lang="en-US" altLang="ja-JP" sz="1000" spc="50" dirty="0">
                <a:latin typeface="+mn-ea"/>
              </a:rPr>
            </a:br>
            <a:br>
              <a:rPr lang="en-US" altLang="ja-JP" sz="1000" spc="50" dirty="0">
                <a:latin typeface="+mn-ea"/>
              </a:rPr>
            </a:br>
            <a:endParaRPr lang="en-US" altLang="ja-JP" sz="1000" spc="50" dirty="0">
              <a:latin typeface="+mn-ea"/>
            </a:endParaRPr>
          </a:p>
        </p:txBody>
      </p:sp>
      <p:sp>
        <p:nvSpPr>
          <p:cNvPr id="21" name="テキスト ボックス 20">
            <a:extLst>
              <a:ext uri="{FF2B5EF4-FFF2-40B4-BE49-F238E27FC236}">
                <a16:creationId xmlns:a16="http://schemas.microsoft.com/office/drawing/2014/main" id="{BF0A492D-B740-FF9D-8465-2437101751AE}"/>
              </a:ext>
            </a:extLst>
          </p:cNvPr>
          <p:cNvSpPr txBox="1"/>
          <p:nvPr/>
        </p:nvSpPr>
        <p:spPr>
          <a:xfrm>
            <a:off x="7498079" y="6446520"/>
            <a:ext cx="2834640" cy="548640"/>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・上場会社の株価倍率には市場性が織込まれているため、非流動性ディスカウント</a:t>
            </a:r>
            <a:r>
              <a:rPr lang="en-US" altLang="ja-JP" sz="1000" spc="50" dirty="0">
                <a:latin typeface="+mn-ea"/>
              </a:rPr>
              <a:t>1</a:t>
            </a:r>
            <a:r>
              <a:rPr lang="ja-JP" altLang="en-US" sz="1000" spc="50" dirty="0">
                <a:latin typeface="+mn-ea"/>
              </a:rPr>
              <a:t>0%とし、仮控除</a:t>
            </a:r>
            <a:endParaRPr lang="en-US" altLang="ja-JP" sz="1000" spc="50" dirty="0">
              <a:latin typeface="+mn-ea"/>
            </a:endParaRPr>
          </a:p>
        </p:txBody>
      </p:sp>
      <p:graphicFrame>
        <p:nvGraphicFramePr>
          <p:cNvPr id="5" name="表 4">
            <a:extLst>
              <a:ext uri="{FF2B5EF4-FFF2-40B4-BE49-F238E27FC236}">
                <a16:creationId xmlns:a16="http://schemas.microsoft.com/office/drawing/2014/main" id="{125B7863-9559-070F-5B67-0D01629AA50D}"/>
              </a:ext>
            </a:extLst>
          </p:cNvPr>
          <p:cNvGraphicFramePr>
            <a:graphicFrameLocks noGrp="1"/>
          </p:cNvGraphicFramePr>
          <p:nvPr>
            <p:extLst>
              <p:ext uri="{D42A27DB-BD31-4B8C-83A1-F6EECF244321}">
                <p14:modId xmlns:p14="http://schemas.microsoft.com/office/powerpoint/2010/main" val="1648416887"/>
              </p:ext>
            </p:extLst>
          </p:nvPr>
        </p:nvGraphicFramePr>
        <p:xfrm>
          <a:off x="444636" y="1326516"/>
          <a:ext cx="2997200" cy="1714500"/>
        </p:xfrm>
        <a:graphic>
          <a:graphicData uri="http://schemas.openxmlformats.org/drawingml/2006/table">
            <a:tbl>
              <a:tblPr/>
              <a:tblGrid>
                <a:gridCol w="1574800">
                  <a:extLst>
                    <a:ext uri="{9D8B030D-6E8A-4147-A177-3AD203B41FA5}">
                      <a16:colId xmlns:a16="http://schemas.microsoft.com/office/drawing/2014/main" val="3042450074"/>
                    </a:ext>
                  </a:extLst>
                </a:gridCol>
                <a:gridCol w="1422400">
                  <a:extLst>
                    <a:ext uri="{9D8B030D-6E8A-4147-A177-3AD203B41FA5}">
                      <a16:colId xmlns:a16="http://schemas.microsoft.com/office/drawing/2014/main" val="1146625195"/>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1035661812"/>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令和7年12月期</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478118311"/>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キャッシュライク</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403053957"/>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デットライク</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55,200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114466276"/>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6,642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647662151"/>
                  </a:ext>
                </a:extLst>
              </a:tr>
            </a:tbl>
          </a:graphicData>
        </a:graphic>
      </p:graphicFrame>
      <p:graphicFrame>
        <p:nvGraphicFramePr>
          <p:cNvPr id="9" name="表 8">
            <a:extLst>
              <a:ext uri="{FF2B5EF4-FFF2-40B4-BE49-F238E27FC236}">
                <a16:creationId xmlns:a16="http://schemas.microsoft.com/office/drawing/2014/main" id="{69BEF48B-976C-5835-E536-F4B22849F6B7}"/>
              </a:ext>
            </a:extLst>
          </p:cNvPr>
          <p:cNvGraphicFramePr>
            <a:graphicFrameLocks noGrp="1"/>
          </p:cNvGraphicFramePr>
          <p:nvPr>
            <p:extLst>
              <p:ext uri="{D42A27DB-BD31-4B8C-83A1-F6EECF244321}">
                <p14:modId xmlns:p14="http://schemas.microsoft.com/office/powerpoint/2010/main" val="2724467227"/>
              </p:ext>
            </p:extLst>
          </p:nvPr>
        </p:nvGraphicFramePr>
        <p:xfrm>
          <a:off x="3913982" y="1316904"/>
          <a:ext cx="6146800" cy="3105150"/>
        </p:xfrm>
        <a:graphic>
          <a:graphicData uri="http://schemas.openxmlformats.org/drawingml/2006/table">
            <a:tbl>
              <a:tblPr/>
              <a:tblGrid>
                <a:gridCol w="1879600">
                  <a:extLst>
                    <a:ext uri="{9D8B030D-6E8A-4147-A177-3AD203B41FA5}">
                      <a16:colId xmlns:a16="http://schemas.microsoft.com/office/drawing/2014/main" val="419309602"/>
                    </a:ext>
                  </a:extLst>
                </a:gridCol>
                <a:gridCol w="1422400">
                  <a:extLst>
                    <a:ext uri="{9D8B030D-6E8A-4147-A177-3AD203B41FA5}">
                      <a16:colId xmlns:a16="http://schemas.microsoft.com/office/drawing/2014/main" val="4082431732"/>
                    </a:ext>
                  </a:extLst>
                </a:gridCol>
                <a:gridCol w="1422400">
                  <a:extLst>
                    <a:ext uri="{9D8B030D-6E8A-4147-A177-3AD203B41FA5}">
                      <a16:colId xmlns:a16="http://schemas.microsoft.com/office/drawing/2014/main" val="1128614883"/>
                    </a:ext>
                  </a:extLst>
                </a:gridCol>
                <a:gridCol w="1422400">
                  <a:extLst>
                    <a:ext uri="{9D8B030D-6E8A-4147-A177-3AD203B41FA5}">
                      <a16:colId xmlns:a16="http://schemas.microsoft.com/office/drawing/2014/main" val="1428750272"/>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391367187"/>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2023年12月期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2024年12月期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938188898"/>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20,886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10,774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12,924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31586696"/>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827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498</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257767"/>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修正後営業利益</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21,713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11,272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13,448</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132710026"/>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減価償却費等</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5,648</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6,321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5,103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245799627"/>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修正後EBITDA</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27,361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17,593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18,551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3874221549"/>
                  </a:ext>
                </a:extLst>
              </a:tr>
              <a:tr h="190500">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w="12700" cap="flat" cmpd="sng" algn="ctr">
                      <a:solidFill>
                        <a:srgbClr val="0B3041"/>
                      </a:solidFill>
                      <a:prstDash val="solid"/>
                      <a:round/>
                      <a:headEnd type="none" w="med" len="med"/>
                      <a:tailEnd type="none" w="med" len="med"/>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18008555"/>
                  </a:ext>
                </a:extLst>
              </a:tr>
              <a:tr h="400050">
                <a:tc>
                  <a:txBody>
                    <a:bodyPr/>
                    <a:lstStyle/>
                    <a:p>
                      <a:pPr algn="l"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ja-JP" sz="12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基準EBITDA</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21,168</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608372763"/>
                  </a:ext>
                </a:extLst>
              </a:tr>
            </a:tbl>
          </a:graphicData>
        </a:graphic>
      </p:graphicFrame>
      <p:graphicFrame>
        <p:nvGraphicFramePr>
          <p:cNvPr id="13" name="表 12">
            <a:extLst>
              <a:ext uri="{FF2B5EF4-FFF2-40B4-BE49-F238E27FC236}">
                <a16:creationId xmlns:a16="http://schemas.microsoft.com/office/drawing/2014/main" id="{9E659233-E241-DE83-8EF3-73F6009C4F24}"/>
              </a:ext>
            </a:extLst>
          </p:cNvPr>
          <p:cNvGraphicFramePr>
            <a:graphicFrameLocks noGrp="1"/>
          </p:cNvGraphicFramePr>
          <p:nvPr>
            <p:extLst>
              <p:ext uri="{D42A27DB-BD31-4B8C-83A1-F6EECF244321}">
                <p14:modId xmlns:p14="http://schemas.microsoft.com/office/powerpoint/2010/main" val="1656950985"/>
              </p:ext>
            </p:extLst>
          </p:nvPr>
        </p:nvGraphicFramePr>
        <p:xfrm>
          <a:off x="451249" y="4128221"/>
          <a:ext cx="6629400" cy="2114550"/>
        </p:xfrm>
        <a:graphic>
          <a:graphicData uri="http://schemas.openxmlformats.org/drawingml/2006/table">
            <a:tbl>
              <a:tblPr/>
              <a:tblGrid>
                <a:gridCol w="1981200">
                  <a:extLst>
                    <a:ext uri="{9D8B030D-6E8A-4147-A177-3AD203B41FA5}">
                      <a16:colId xmlns:a16="http://schemas.microsoft.com/office/drawing/2014/main" val="689368407"/>
                    </a:ext>
                  </a:extLst>
                </a:gridCol>
                <a:gridCol w="1549400">
                  <a:extLst>
                    <a:ext uri="{9D8B030D-6E8A-4147-A177-3AD203B41FA5}">
                      <a16:colId xmlns:a16="http://schemas.microsoft.com/office/drawing/2014/main" val="2188407217"/>
                    </a:ext>
                  </a:extLst>
                </a:gridCol>
                <a:gridCol w="1549400">
                  <a:extLst>
                    <a:ext uri="{9D8B030D-6E8A-4147-A177-3AD203B41FA5}">
                      <a16:colId xmlns:a16="http://schemas.microsoft.com/office/drawing/2014/main" val="2769913132"/>
                    </a:ext>
                  </a:extLst>
                </a:gridCol>
                <a:gridCol w="1549400">
                  <a:extLst>
                    <a:ext uri="{9D8B030D-6E8A-4147-A177-3AD203B41FA5}">
                      <a16:colId xmlns:a16="http://schemas.microsoft.com/office/drawing/2014/main" val="411640126"/>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3573108855"/>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マルチプル倍率</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x5</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3798114636"/>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EV（EBITDA×倍率）</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63,505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84,674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105,842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3451337"/>
                  </a:ext>
                </a:extLst>
              </a:tr>
              <a:tr h="400050">
                <a:tc>
                  <a:txBody>
                    <a:bodyPr/>
                    <a:lstStyle/>
                    <a:p>
                      <a:pPr algn="l"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非流動性ディスカウント</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△6,351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△8,467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△10,584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77321392"/>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gridSpan="3">
                  <a:txBody>
                    <a:bodyPr/>
                    <a:lstStyle/>
                    <a:p>
                      <a:pPr algn="ct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6,642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extLst>
                  <a:ext uri="{0D108BD9-81ED-4DB2-BD59-A6C34878D82A}">
                    <a16:rowId xmlns:a16="http://schemas.microsoft.com/office/drawing/2014/main" val="2508189832"/>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想定株式価値</a:t>
                      </a:r>
                    </a:p>
                  </a:txBody>
                  <a:tcPr marL="11430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63,797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82,849</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101,900</a:t>
                      </a:r>
                    </a:p>
                  </a:txBody>
                  <a:tcPr marL="0" marR="11430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2223134955"/>
                  </a:ext>
                </a:extLst>
              </a:tr>
            </a:tbl>
          </a:graphicData>
        </a:graphic>
      </p:graphicFrame>
    </p:spTree>
    <p:extLst>
      <p:ext uri="{BB962C8B-B14F-4D97-AF65-F5344CB8AC3E}">
        <p14:creationId xmlns:p14="http://schemas.microsoft.com/office/powerpoint/2010/main" val="9668121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Override>
</file>

<file path=docProps/app.xml><?xml version="1.0" encoding="utf-8"?>
<Properties xmlns="http://schemas.openxmlformats.org/officeDocument/2006/extended-properties" xmlns:vt="http://schemas.openxmlformats.org/officeDocument/2006/docPropsVTypes">
  <Template>Office Theme</Template>
  <TotalTime>7248</TotalTime>
  <Words>4644</Words>
  <Application>Microsoft Office PowerPoint</Application>
  <PresentationFormat>ユーザー設定</PresentationFormat>
  <Paragraphs>1784</Paragraphs>
  <Slides>22</Slides>
  <Notes>8</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22</vt:i4>
      </vt:variant>
    </vt:vector>
  </HeadingPairs>
  <TitlesOfParts>
    <vt:vector size="28" baseType="lpstr">
      <vt:lpstr>Meiryo UI</vt:lpstr>
      <vt:lpstr>游ゴシック</vt:lpstr>
      <vt:lpstr>游ゴシック Medium</vt:lpstr>
      <vt:lpstr>Arial</vt:lpstr>
      <vt:lpstr>Wingdings</vt:lpstr>
      <vt:lpstr>SL_2026</vt:lpstr>
      <vt:lpstr>Valuation Report</vt:lpstr>
      <vt:lpstr>はじめに</vt:lpstr>
      <vt:lpstr>株価評価にあたっての注意点</vt:lpstr>
      <vt:lpstr>PowerPoint プレゼンテーション</vt:lpstr>
      <vt:lpstr>Valuation Summary ／ 試算結果</vt:lpstr>
      <vt:lpstr>採用するアプローチの選定</vt:lpstr>
      <vt:lpstr>株式価値の試算結果</vt:lpstr>
      <vt:lpstr>Financial Analysis ／ 財務情報の分析（B/S）</vt:lpstr>
      <vt:lpstr>過去BSの推移</vt:lpstr>
      <vt:lpstr>BS補足［資産］</vt:lpstr>
      <vt:lpstr>修正BS［資産］</vt:lpstr>
      <vt:lpstr>BS補足［負債・純資産］</vt:lpstr>
      <vt:lpstr>修正BS［負債・純資産］</vt:lpstr>
      <vt:lpstr>ネットキャッシュの算定</vt:lpstr>
      <vt:lpstr>Financial Analysis ／ 財務情報の分析（P/L）</vt:lpstr>
      <vt:lpstr>過去PLの推移</vt:lpstr>
      <vt:lpstr>販管費及び一般管理費の修正</vt:lpstr>
      <vt:lpstr>修正PLの算定［正常収益力の集計］</vt:lpstr>
      <vt:lpstr>Valuation Details ／ 株式価値の試算</vt:lpstr>
      <vt:lpstr>年買法（コストアプローチ）による算出</vt:lpstr>
      <vt:lpstr>EV/EBITDAマルチプル法（マーケットアプローチ）による算出</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堀 茉莉</dc:creator>
  <cp:lastModifiedBy>田垣内 啓介</cp:lastModifiedBy>
  <cp:revision>127</cp:revision>
  <cp:lastPrinted>2026-07-29T02:36:09Z</cp:lastPrinted>
  <dcterms:created xsi:type="dcterms:W3CDTF">2025-11-26T06:32:54Z</dcterms:created>
  <dcterms:modified xsi:type="dcterms:W3CDTF">2026-07-29T02:39:33Z</dcterms:modified>
</cp:coreProperties>
</file>