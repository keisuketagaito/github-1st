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25"/>
  </p:notesMasterIdLst>
  <p:sldIdLst>
    <p:sldId id="256" r:id="rId2"/>
    <p:sldId id="257" r:id="rId3"/>
    <p:sldId id="290" r:id="rId4"/>
    <p:sldId id="314" r:id="rId5"/>
    <p:sldId id="259" r:id="rId6"/>
    <p:sldId id="295" r:id="rId7"/>
    <p:sldId id="315" r:id="rId8"/>
    <p:sldId id="321" r:id="rId30"/>
    <p:sldId id="262" r:id="rId9"/>
    <p:sldId id="263" r:id="rId10"/>
    <p:sldId id="264" r:id="rId11"/>
    <p:sldId id="278" r:id="rId12"/>
    <p:sldId id="317" r:id="rId13"/>
    <p:sldId id="318" r:id="rId14"/>
    <p:sldId id="319" r:id="rId15"/>
    <p:sldId id="309" r:id="rId16"/>
    <p:sldId id="310" r:id="rId17"/>
    <p:sldId id="282" r:id="rId18"/>
    <p:sldId id="283" r:id="rId19"/>
    <p:sldId id="299" r:id="rId20"/>
    <p:sldId id="287" r:id="rId21"/>
    <p:sldId id="320" r:id="rId22"/>
    <p:sldId id="312" r:id="rId23"/>
    <p:sldId id="322" r:id="rId31"/>
    <p:sldId id="277" r:id="rId24"/>
  </p:sldIdLst>
  <p:sldSz cx="10691813" cy="7559675"/>
  <p:notesSz cx="6794500" cy="9931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35" userDrawn="1">
          <p15:clr>
            <a:srgbClr val="A4A3A4"/>
          </p15:clr>
        </p15:guide>
        <p15:guide id="2" pos="336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0" autoAdjust="0"/>
    <p:restoredTop sz="75000" autoAdjust="0"/>
  </p:normalViewPr>
  <p:slideViewPr>
    <p:cSldViewPr snapToGrid="0">
      <p:cViewPr varScale="1">
        <p:scale>
          <a:sx n="64" d="100"/>
          <a:sy n="64" d="100"/>
        </p:scale>
        <p:origin x="1244" y="52"/>
      </p:cViewPr>
      <p:guideLst>
        <p:guide orient="horz" pos="635"/>
        <p:guide pos="3367"/>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8.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5E719245-6B48-4D9E-9EED-FA258D3B0C86}" type="datetimeFigureOut">
              <a:rPr kumimoji="1" lang="ja-JP" altLang="en-US" smtClean="0"/>
              <a:t>2026/7/7</a:t>
            </a:fld>
            <a:endParaRPr kumimoji="1" lang="ja-JP" altLang="en-US"/>
          </a:p>
        </p:txBody>
      </p:sp>
      <p:sp>
        <p:nvSpPr>
          <p:cNvPr id="4" name="スライド イメージ プレースホルダー 3"/>
          <p:cNvSpPr>
            <a:spLocks noGrp="1" noRot="1" noChangeAspect="1"/>
          </p:cNvSpPr>
          <p:nvPr>
            <p:ph type="sldImg" idx="2"/>
          </p:nvPr>
        </p:nvSpPr>
        <p:spPr>
          <a:xfrm>
            <a:off x="1028700" y="1241425"/>
            <a:ext cx="4737100" cy="335121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CCD08276-B047-45AB-869B-6FEE4FD0AA7E}" type="slidenum">
              <a:rPr kumimoji="1" lang="ja-JP" altLang="en-US" smtClean="0"/>
              <a:t>‹#›</a:t>
            </a:fld>
            <a:endParaRPr kumimoji="1" lang="ja-JP" altLang="en-US"/>
          </a:p>
        </p:txBody>
      </p:sp>
    </p:spTree>
    <p:extLst>
      <p:ext uri="{BB962C8B-B14F-4D97-AF65-F5344CB8AC3E}">
        <p14:creationId xmlns:p14="http://schemas.microsoft.com/office/powerpoint/2010/main" val="1234540164"/>
      </p:ext>
    </p:extLst>
  </p:cSld>
  <p:clrMap bg1="lt1" tx1="dk1" bg2="lt2" tx2="dk2" accent1="accent1" accent2="accent2" accent3="accent3" accent4="accent4" accent5="accent5" accent6="accent6" hlink="hlink" folHlink="folHlink"/>
  <p:notesStyle>
    <a:lvl1pPr marL="0" algn="l" defTabSz="1042873" rtl="0" eaLnBrk="1" latinLnBrk="0" hangingPunct="1">
      <a:defRPr kumimoji="1" sz="1369" kern="1200">
        <a:solidFill>
          <a:schemeClr val="tx1"/>
        </a:solidFill>
        <a:latin typeface="+mn-lt"/>
        <a:ea typeface="+mn-ea"/>
        <a:cs typeface="+mn-cs"/>
      </a:defRPr>
    </a:lvl1pPr>
    <a:lvl2pPr marL="521437" algn="l" defTabSz="1042873" rtl="0" eaLnBrk="1" latinLnBrk="0" hangingPunct="1">
      <a:defRPr kumimoji="1" sz="1369" kern="1200">
        <a:solidFill>
          <a:schemeClr val="tx1"/>
        </a:solidFill>
        <a:latin typeface="+mn-lt"/>
        <a:ea typeface="+mn-ea"/>
        <a:cs typeface="+mn-cs"/>
      </a:defRPr>
    </a:lvl2pPr>
    <a:lvl3pPr marL="1042873" algn="l" defTabSz="1042873" rtl="0" eaLnBrk="1" latinLnBrk="0" hangingPunct="1">
      <a:defRPr kumimoji="1" sz="1369" kern="1200">
        <a:solidFill>
          <a:schemeClr val="tx1"/>
        </a:solidFill>
        <a:latin typeface="+mn-lt"/>
        <a:ea typeface="+mn-ea"/>
        <a:cs typeface="+mn-cs"/>
      </a:defRPr>
    </a:lvl3pPr>
    <a:lvl4pPr marL="1564310" algn="l" defTabSz="1042873" rtl="0" eaLnBrk="1" latinLnBrk="0" hangingPunct="1">
      <a:defRPr kumimoji="1" sz="1369" kern="1200">
        <a:solidFill>
          <a:schemeClr val="tx1"/>
        </a:solidFill>
        <a:latin typeface="+mn-lt"/>
        <a:ea typeface="+mn-ea"/>
        <a:cs typeface="+mn-cs"/>
      </a:defRPr>
    </a:lvl4pPr>
    <a:lvl5pPr marL="2085746" algn="l" defTabSz="1042873" rtl="0" eaLnBrk="1" latinLnBrk="0" hangingPunct="1">
      <a:defRPr kumimoji="1" sz="1369" kern="1200">
        <a:solidFill>
          <a:schemeClr val="tx1"/>
        </a:solidFill>
        <a:latin typeface="+mn-lt"/>
        <a:ea typeface="+mn-ea"/>
        <a:cs typeface="+mn-cs"/>
      </a:defRPr>
    </a:lvl5pPr>
    <a:lvl6pPr marL="2607183" algn="l" defTabSz="1042873" rtl="0" eaLnBrk="1" latinLnBrk="0" hangingPunct="1">
      <a:defRPr kumimoji="1" sz="1369" kern="1200">
        <a:solidFill>
          <a:schemeClr val="tx1"/>
        </a:solidFill>
        <a:latin typeface="+mn-lt"/>
        <a:ea typeface="+mn-ea"/>
        <a:cs typeface="+mn-cs"/>
      </a:defRPr>
    </a:lvl6pPr>
    <a:lvl7pPr marL="3128620" algn="l" defTabSz="1042873" rtl="0" eaLnBrk="1" latinLnBrk="0" hangingPunct="1">
      <a:defRPr kumimoji="1" sz="1369" kern="1200">
        <a:solidFill>
          <a:schemeClr val="tx1"/>
        </a:solidFill>
        <a:latin typeface="+mn-lt"/>
        <a:ea typeface="+mn-ea"/>
        <a:cs typeface="+mn-cs"/>
      </a:defRPr>
    </a:lvl7pPr>
    <a:lvl8pPr marL="3650056" algn="l" defTabSz="1042873" rtl="0" eaLnBrk="1" latinLnBrk="0" hangingPunct="1">
      <a:defRPr kumimoji="1" sz="1369" kern="1200">
        <a:solidFill>
          <a:schemeClr val="tx1"/>
        </a:solidFill>
        <a:latin typeface="+mn-lt"/>
        <a:ea typeface="+mn-ea"/>
        <a:cs typeface="+mn-cs"/>
      </a:defRPr>
    </a:lvl8pPr>
    <a:lvl9pPr marL="4171493" algn="l" defTabSz="1042873" rtl="0" eaLnBrk="1" latinLnBrk="0" hangingPunct="1">
      <a:defRPr kumimoji="1"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237344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2</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49E3F-7139-D801-6405-856863FC06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DBFDA3-D264-0383-7900-345B5B3B56A7}"/>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EC6E1337-5507-C2F6-0F8C-87C4AC26C0AC}"/>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BC0F35DD-7D73-1125-F6E1-E3965E28DE7C}"/>
              </a:ext>
            </a:extLst>
          </p:cNvPr>
          <p:cNvSpPr>
            <a:spLocks noGrp="1"/>
          </p:cNvSpPr>
          <p:nvPr>
            <p:ph type="sldNum" sz="quarter" idx="5"/>
          </p:nvPr>
        </p:nvSpPr>
        <p:spPr/>
        <p:txBody>
          <a:bodyPr/>
          <a:lstStyle/>
          <a:p>
            <a:fld id="{CCD08276-B047-45AB-869B-6FEE4FD0AA7E}" type="slidenum">
              <a:rPr kumimoji="1" lang="ja-JP" altLang="en-US" smtClean="0"/>
              <a:t>3</a:t>
            </a:fld>
            <a:endParaRPr kumimoji="1" lang="ja-JP" altLang="en-US"/>
          </a:p>
        </p:txBody>
      </p:sp>
    </p:spTree>
    <p:extLst>
      <p:ext uri="{BB962C8B-B14F-4D97-AF65-F5344CB8AC3E}">
        <p14:creationId xmlns:p14="http://schemas.microsoft.com/office/powerpoint/2010/main" val="3658020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3: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192" name="Google Shape;192;p3: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AF929-C853-B63F-7A81-878CD012E20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FE65EB-FC45-F115-A953-E456E1A9B152}"/>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A742DFA8-F037-213C-7D7D-423295DEBEAD}"/>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7138E276-27EB-6F25-5A7A-74C8CC8E81F2}"/>
              </a:ext>
            </a:extLst>
          </p:cNvPr>
          <p:cNvSpPr>
            <a:spLocks noGrp="1"/>
          </p:cNvSpPr>
          <p:nvPr>
            <p:ph type="sldNum" sz="quarter" idx="5"/>
          </p:nvPr>
        </p:nvSpPr>
        <p:spPr/>
        <p:txBody>
          <a:bodyPr/>
          <a:lstStyle/>
          <a:p>
            <a:fld id="{CCD08276-B047-45AB-869B-6FEE4FD0AA7E}" type="slidenum">
              <a:rPr kumimoji="1" lang="ja-JP" altLang="en-US" smtClean="0"/>
              <a:t>6</a:t>
            </a:fld>
            <a:endParaRPr kumimoji="1" lang="ja-JP" altLang="en-US"/>
          </a:p>
        </p:txBody>
      </p:sp>
    </p:spTree>
    <p:extLst>
      <p:ext uri="{BB962C8B-B14F-4D97-AF65-F5344CB8AC3E}">
        <p14:creationId xmlns:p14="http://schemas.microsoft.com/office/powerpoint/2010/main" val="551748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67E3-E20D-C509-6096-3F8BA55762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13D625-8F3E-2CDF-E22F-DAABBF281649}"/>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9B3D2D6A-0AEA-F151-2BFE-9C80597640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a:extLst>
              <a:ext uri="{FF2B5EF4-FFF2-40B4-BE49-F238E27FC236}">
                <a16:creationId xmlns:a16="http://schemas.microsoft.com/office/drawing/2014/main" id="{84478388-9ECF-D759-1C81-F7248689CBD8}"/>
              </a:ext>
            </a:extLst>
          </p:cNvPr>
          <p:cNvSpPr>
            <a:spLocks noGrp="1"/>
          </p:cNvSpPr>
          <p:nvPr>
            <p:ph type="sldNum" sz="quarter" idx="5"/>
          </p:nvPr>
        </p:nvSpPr>
        <p:spPr/>
        <p:txBody>
          <a:bodyPr/>
          <a:lstStyle/>
          <a:p>
            <a:fld id="{CCD08276-B047-45AB-869B-6FEE4FD0AA7E}" type="slidenum">
              <a:rPr kumimoji="1" lang="ja-JP" altLang="en-US" smtClean="0"/>
              <a:t>7</a:t>
            </a:fld>
            <a:endParaRPr kumimoji="1" lang="ja-JP" altLang="en-US"/>
          </a:p>
        </p:txBody>
      </p:sp>
    </p:spTree>
    <p:extLst>
      <p:ext uri="{BB962C8B-B14F-4D97-AF65-F5344CB8AC3E}">
        <p14:creationId xmlns:p14="http://schemas.microsoft.com/office/powerpoint/2010/main" val="160967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9</a:t>
            </a:fld>
            <a:endParaRPr kumimoji="1" lang="ja-JP" altLang="en-US"/>
          </a:p>
        </p:txBody>
      </p:sp>
    </p:spTree>
    <p:extLst>
      <p:ext uri="{BB962C8B-B14F-4D97-AF65-F5344CB8AC3E}">
        <p14:creationId xmlns:p14="http://schemas.microsoft.com/office/powerpoint/2010/main" val="406546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28700" y="1241425"/>
            <a:ext cx="4737100" cy="3351213"/>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19</a:t>
            </a:fld>
            <a:endParaRPr kumimoji="1" lang="ja-JP" altLang="en-US"/>
          </a:p>
        </p:txBody>
      </p:sp>
    </p:spTree>
    <p:extLst>
      <p:ext uri="{BB962C8B-B14F-4D97-AF65-F5344CB8AC3E}">
        <p14:creationId xmlns:p14="http://schemas.microsoft.com/office/powerpoint/2010/main" val="18242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826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1698041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984386"/>
            <a:chOff x="887069" y="3420377"/>
            <a:chExt cx="3420000" cy="984386"/>
          </a:xfrm>
        </p:grpSpPr>
        <p:sp>
          <p:nvSpPr>
            <p:cNvPr id="8" name="Google Shape;261;p2">
              <a:extLst>
                <a:ext uri="{FF2B5EF4-FFF2-40B4-BE49-F238E27FC236}">
                  <a16:creationId xmlns:a16="http://schemas.microsoft.com/office/drawing/2014/main" id="{749E3869-09D9-C379-3B1A-E14B89FDBC05}"/>
                </a:ext>
              </a:extLst>
            </p:cNvPr>
            <p:cNvSpPr txBox="1"/>
            <p:nvPr/>
          </p:nvSpPr>
          <p:spPr>
            <a:xfrm>
              <a:off x="1085069" y="4238564"/>
              <a:ext cx="3024000" cy="166199"/>
            </a:xfrm>
            <a:prstGeom prst="rect">
              <a:avLst/>
            </a:prstGeom>
            <a:noFill/>
            <a:ln>
              <a:noFill/>
            </a:ln>
          </p:spPr>
          <p:txBody>
            <a:bodyPr spcFirstLastPara="1" wrap="square" lIns="0" tIns="0" rIns="0" bIns="0" anchor="t" anchorCtr="0">
              <a:spAutoFit/>
            </a:bodyPr>
            <a:lstStyle/>
            <a:p>
              <a:pPr marL="103241" algn="ctr">
                <a:lnSpc>
                  <a:spcPct val="90000"/>
                </a:lnSpc>
                <a:buClr>
                  <a:schemeClr val="dk1"/>
                </a:buClr>
                <a:buSzPts val="1400"/>
              </a:pPr>
              <a:r>
                <a:rPr lang="ja-JP" altLang="en-US" sz="1200" b="1" dirty="0">
                  <a:solidFill>
                    <a:schemeClr val="dk1"/>
                  </a:solidFill>
                  <a:latin typeface="+mj-ea"/>
                  <a:ea typeface="+mj-ea"/>
                </a:rPr>
                <a:t>ミーティングアジェンダ</a:t>
              </a:r>
              <a:endParaRPr sz="1200" b="1" dirty="0">
                <a:latin typeface="+mj-ea"/>
                <a:ea typeface="+mj-ea"/>
              </a:endParaRPr>
            </a:p>
          </p:txBody>
        </p:sp>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en-US" altLang="ja-JP" sz="3200" b="1" i="0" dirty="0">
                  <a:solidFill>
                    <a:srgbClr val="1F1F1F"/>
                  </a:solidFill>
                  <a:effectLst/>
                  <a:latin typeface="+mj-lt"/>
                </a:rPr>
                <a:t>Meeting Agenda</a:t>
              </a:r>
              <a:endParaRPr lang="ja-JP" altLang="en-US" sz="3200" b="1" dirty="0">
                <a:latin typeface="+mj-lt"/>
              </a:endParaRP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65997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2900326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3552754477"/>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814009"/>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 Id="rId3"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D987C9A9-7152-3DD4-F23C-48E1B5BABCAA}"/>
              </a:ext>
            </a:extLst>
          </p:cNvPr>
          <p:cNvSpPr>
            <a:spLocks noGrp="1"/>
          </p:cNvSpPr>
          <p:nvPr>
            <p:ph type="title"/>
          </p:nvPr>
        </p:nvSpPr>
        <p:spPr>
          <a:xfrm>
            <a:off x="885526" y="3467606"/>
            <a:ext cx="9221787" cy="738664"/>
          </a:xfrm>
        </p:spPr>
        <p:txBody>
          <a:bodyPr/>
          <a:lstStyle/>
          <a:p>
            <a:r>
              <a:rPr lang="en-US" altLang="ja-JP" dirty="0"/>
              <a:t>Valuation</a:t>
            </a:r>
            <a:r>
              <a:rPr lang="ja-JP" altLang="en-US" dirty="0"/>
              <a:t> </a:t>
            </a:r>
            <a:r>
              <a:rPr lang="en-US" altLang="ja-JP" dirty="0"/>
              <a:t>Report</a:t>
            </a:r>
            <a:endParaRPr lang="ja-JP" altLang="en-US" dirty="0"/>
          </a:p>
        </p:txBody>
      </p:sp>
      <p:sp>
        <p:nvSpPr>
          <p:cNvPr id="3" name="テキスト ボックス 2">
            <a:extLst>
              <a:ext uri="{FF2B5EF4-FFF2-40B4-BE49-F238E27FC236}">
                <a16:creationId xmlns:a16="http://schemas.microsoft.com/office/drawing/2014/main" id="{C2CE6D41-E85A-5C3B-AEBD-17BCB7C688FB}"/>
              </a:ext>
            </a:extLst>
          </p:cNvPr>
          <p:cNvSpPr txBox="1"/>
          <p:nvPr/>
        </p:nvSpPr>
        <p:spPr>
          <a:xfrm>
            <a:off x="857354" y="2606111"/>
            <a:ext cx="2192908" cy="276999"/>
          </a:xfrm>
          <a:prstGeom prst="rect">
            <a:avLst/>
          </a:prstGeom>
          <a:noFill/>
        </p:spPr>
        <p:txBody>
          <a:bodyPr wrap="none" lIns="0" tIns="0" rIns="0" bIns="0" rtlCol="0">
            <a:spAutoFit/>
          </a:bodyPr>
          <a:lstStyle/>
          <a:p>
            <a:r>
              <a:rPr lang="ja-JP" altLang="en-US" b="1" spc="100" dirty="0">
                <a:latin typeface="+mj-lt"/>
                <a:ea typeface="+mj-ea"/>
              </a:rPr>
              <a:t>LUXAS株式会社　御中</a:t>
            </a:r>
            <a:endParaRPr kumimoji="1" lang="ja-JP" altLang="en-US" b="1" spc="100" dirty="0">
              <a:latin typeface="+mj-lt"/>
              <a:ea typeface="+mj-ea"/>
            </a:endParaRPr>
          </a:p>
        </p:txBody>
      </p:sp>
      <p:sp>
        <p:nvSpPr>
          <p:cNvPr id="11" name="テキスト ボックス 10">
            <a:extLst>
              <a:ext uri="{FF2B5EF4-FFF2-40B4-BE49-F238E27FC236}">
                <a16:creationId xmlns:a16="http://schemas.microsoft.com/office/drawing/2014/main" id="{B8E93A22-E152-6430-ED5D-2758EDBEA463}"/>
              </a:ext>
            </a:extLst>
          </p:cNvPr>
          <p:cNvSpPr txBox="1"/>
          <p:nvPr/>
        </p:nvSpPr>
        <p:spPr>
          <a:xfrm>
            <a:off x="988426" y="4772601"/>
            <a:ext cx="1413849" cy="246221"/>
          </a:xfrm>
          <a:prstGeom prst="rect">
            <a:avLst/>
          </a:prstGeom>
          <a:noFill/>
        </p:spPr>
        <p:txBody>
          <a:bodyPr wrap="none" lIns="0" tIns="0" rIns="0" bIns="0" rtlCol="0" anchor="ctr">
            <a:spAutoFit/>
          </a:bodyPr>
          <a:lstStyle/>
          <a:p>
            <a:pPr defTabSz="503972">
              <a:defRPr/>
            </a:pPr>
            <a:r>
              <a:rPr kumimoji="1" lang="en-US" altLang="ja-JP" sz="1600" spc="100" dirty="0"/>
              <a:t>2026年9月25日</a:t>
            </a:r>
            <a:endParaRPr kumimoji="1" lang="en-US" altLang="ja-JP" sz="1600" spc="100" dirty="0"/>
          </a:p>
        </p:txBody>
      </p:sp>
      <p:cxnSp>
        <p:nvCxnSpPr>
          <p:cNvPr id="12" name="直線コネクタ 11">
            <a:extLst>
              <a:ext uri="{FF2B5EF4-FFF2-40B4-BE49-F238E27FC236}">
                <a16:creationId xmlns:a16="http://schemas.microsoft.com/office/drawing/2014/main" id="{20CAB1A1-BCBE-F6F7-8DA5-16D451D49054}"/>
              </a:ext>
            </a:extLst>
          </p:cNvPr>
          <p:cNvCxnSpPr>
            <a:cxnSpLocks/>
          </p:cNvCxnSpPr>
          <p:nvPr/>
        </p:nvCxnSpPr>
        <p:spPr>
          <a:xfrm>
            <a:off x="885526" y="4272782"/>
            <a:ext cx="536127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1016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sym typeface="Arial"/>
              </a:rPr>
              <a:t>本件に関する問い合わせ先</a:t>
            </a:r>
            <a:endParaRPr dirty="0">
              <a:sym typeface="Arial"/>
            </a:endParaRP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2631826034"/>
              </p:ext>
            </p:extLst>
          </p:nvPr>
        </p:nvGraphicFramePr>
        <p:xfrm>
          <a:off x="449264" y="6120538"/>
          <a:ext cx="9793288"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2">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a:t>
                      </a:r>
                      <a:r>
                        <a:rPr lang="en-US" altLang="ja-JP" sz="1200" b="1" u="none" strike="noStrike" cap="none" spc="30" baseline="0" dirty="0">
                          <a:latin typeface="+mj-ea"/>
                          <a:ea typeface="+mj-ea"/>
                        </a:rPr>
                        <a:t>M&amp;A</a:t>
                      </a:r>
                      <a:r>
                        <a:rPr lang="ja-JP" altLang="en-US" sz="1200" b="1" u="none" strike="noStrike" cap="none" spc="30" baseline="0" dirty="0">
                          <a:latin typeface="+mj-ea"/>
                          <a:ea typeface="+mj-ea"/>
                        </a:rPr>
                        <a:t>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 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9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a:xfrm>
            <a:off x="341313" y="180653"/>
            <a:ext cx="7799917" cy="338554"/>
          </a:xfrm>
        </p:spPr>
        <p:txBody>
          <a:bodyPr/>
          <a:lstStyle/>
          <a:p>
            <a:r>
              <a:rPr lang="ja-JP" altLang="en-US" dirty="0"/>
              <a:t>はじめに</a:t>
            </a:r>
          </a:p>
        </p:txBody>
      </p:sp>
      <p:cxnSp>
        <p:nvCxnSpPr>
          <p:cNvPr id="13" name="直線コネクタ 12">
            <a:extLst>
              <a:ext uri="{FF2B5EF4-FFF2-40B4-BE49-F238E27FC236}">
                <a16:creationId xmlns:a16="http://schemas.microsoft.com/office/drawing/2014/main" id="{FB09082A-B52F-14F1-BAAD-CC1AE1853CD8}"/>
              </a:ext>
            </a:extLst>
          </p:cNvPr>
          <p:cNvCxnSpPr>
            <a:cxnSpLocks/>
          </p:cNvCxnSpPr>
          <p:nvPr/>
        </p:nvCxnSpPr>
        <p:spPr>
          <a:xfrm>
            <a:off x="449263" y="4380131"/>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2886496"/>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a:spcAft>
                <a:spcPts val="1200"/>
              </a:spcAft>
            </a:pPr>
            <a:r>
              <a:rPr lang="ja-JP" altLang="en-US" sz="1200" dirty="0"/>
              <a:t>本書における試算結果は対象会社より提出を受けた資料及び一般に公開されている情報並びに対象会社へのヒアリングに基づき算定したものであり、弊社はこれらの資料について監査・調査・検証を行っておりません。また、資産の実査・鑑定評価、財務デューデリジェンスその他の詳細調査は実施しておらず、その正確性及び完全性について保証するものではありません。</a:t>
            </a:r>
            <a:endParaRPr lang="en-US" altLang="ja-JP" sz="1200" dirty="0"/>
          </a:p>
          <a:p>
            <a:pPr>
              <a:spcAft>
                <a:spcPts val="1200"/>
              </a:spcAft>
            </a:pPr>
            <a:r>
              <a:rPr lang="ja-JP" altLang="en-US" sz="1200" dirty="0"/>
              <a:t>本書に示す株式価値は、記載の評価基準日および前提条件のもとでの試算値であり、実際の譲渡価格を保証するものではありません。譲渡価格は、買手候補による事業評価・デューデリジェンスの結果および当事者間の交渉により決定されます。</a:t>
            </a:r>
            <a:endParaRPr lang="en-US" altLang="ja-JP" sz="1200" dirty="0"/>
          </a:p>
          <a:p>
            <a:pPr>
              <a:spcAft>
                <a:spcPts val="1200"/>
              </a:spcAft>
            </a:pPr>
            <a:r>
              <a:rPr lang="ja-JP" altLang="en-US" sz="1200" dirty="0"/>
              <a:t>本書の存在及び記載されている情報並びに本書に関する全ての連絡・協議は、貴社と弊社間で締結している秘密保持契約書に定めのある秘密情報に該当致します。</a:t>
            </a:r>
            <a:endParaRPr lang="en-US" altLang="ja-JP" sz="1200" dirty="0"/>
          </a:p>
        </p:txBody>
      </p:sp>
      <p:grpSp>
        <p:nvGrpSpPr>
          <p:cNvPr id="28" name="グループ化 27">
            <a:extLst>
              <a:ext uri="{FF2B5EF4-FFF2-40B4-BE49-F238E27FC236}">
                <a16:creationId xmlns:a16="http://schemas.microsoft.com/office/drawing/2014/main" id="{D1C6A406-8443-F3E6-28CA-B536B1AA45B5}"/>
              </a:ext>
            </a:extLst>
          </p:cNvPr>
          <p:cNvGrpSpPr/>
          <p:nvPr/>
        </p:nvGrpSpPr>
        <p:grpSpPr>
          <a:xfrm>
            <a:off x="449263" y="4638836"/>
            <a:ext cx="9792000" cy="581999"/>
            <a:chOff x="449263" y="4445708"/>
            <a:chExt cx="9792000" cy="581999"/>
          </a:xfrm>
        </p:grpSpPr>
        <p:sp>
          <p:nvSpPr>
            <p:cNvPr id="24" name="正方形/長方形 23">
              <a:extLst>
                <a:ext uri="{FF2B5EF4-FFF2-40B4-BE49-F238E27FC236}">
                  <a16:creationId xmlns:a16="http://schemas.microsoft.com/office/drawing/2014/main" id="{2FCA2641-923F-459F-562E-5D27E6F566C7}"/>
                </a:ext>
              </a:extLst>
            </p:cNvPr>
            <p:cNvSpPr/>
            <p:nvPr/>
          </p:nvSpPr>
          <p:spPr>
            <a:xfrm>
              <a:off x="449263" y="4445708"/>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用語の定義</a:t>
              </a:r>
            </a:p>
          </p:txBody>
        </p:sp>
        <p:sp>
          <p:nvSpPr>
            <p:cNvPr id="26" name="テキスト ボックス 25">
              <a:extLst>
                <a:ext uri="{FF2B5EF4-FFF2-40B4-BE49-F238E27FC236}">
                  <a16:creationId xmlns:a16="http://schemas.microsoft.com/office/drawing/2014/main" id="{84E29355-A1C9-2368-8A78-4E9FAD4ED010}"/>
                </a:ext>
              </a:extLst>
            </p:cNvPr>
            <p:cNvSpPr txBox="1"/>
            <p:nvPr/>
          </p:nvSpPr>
          <p:spPr>
            <a:xfrm>
              <a:off x="449263" y="4818867"/>
              <a:ext cx="9792000" cy="208840"/>
            </a:xfrm>
            <a:prstGeom prst="rect">
              <a:avLst/>
            </a:prstGeom>
            <a:noFill/>
          </p:spPr>
          <p:txBody>
            <a:bodyPr wrap="square" lIns="0" tIns="0" rIns="0" bIns="0" rtlCol="0">
              <a:spAutoFit/>
            </a:bodyPr>
            <a:lstStyle>
              <a:defPPr>
                <a:defRPr lang="en-US"/>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r>
                <a:rPr lang="ja-JP" altLang="en-US" dirty="0"/>
                <a:t>本書で用いられる「本件取引」「本件試算目的」の定義は、「株式価値試算結果」のページ（P.7）に記載しております。</a:t>
              </a:r>
            </a:p>
          </p:txBody>
        </p:sp>
      </p:grpSp>
      <p:cxnSp>
        <p:nvCxnSpPr>
          <p:cNvPr id="27" name="直線コネクタ 26">
            <a:extLst>
              <a:ext uri="{FF2B5EF4-FFF2-40B4-BE49-F238E27FC236}">
                <a16:creationId xmlns:a16="http://schemas.microsoft.com/office/drawing/2014/main" id="{F946AE5A-CED3-47EB-17ED-BE6A1ABD1294}"/>
              </a:ext>
            </a:extLst>
          </p:cNvPr>
          <p:cNvCxnSpPr>
            <a:cxnSpLocks/>
          </p:cNvCxnSpPr>
          <p:nvPr/>
        </p:nvCxnSpPr>
        <p:spPr>
          <a:xfrm>
            <a:off x="449263" y="5479540"/>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735B2-585C-A9A9-5167-EBEF6489416D}"/>
            </a:ext>
          </a:extLst>
        </p:cNvPr>
        <p:cNvGrpSpPr/>
        <p:nvPr/>
      </p:nvGrpSpPr>
      <p:grpSpPr>
        <a:xfrm>
          <a:off x="0" y="0"/>
          <a:ext cx="0" cy="0"/>
          <a:chOff x="0" y="0"/>
          <a:chExt cx="0" cy="0"/>
        </a:xfrm>
      </p:grpSpPr>
      <p:sp>
        <p:nvSpPr>
          <p:cNvPr id="5" name="タイトル 4">
            <a:extLst>
              <a:ext uri="{FF2B5EF4-FFF2-40B4-BE49-F238E27FC236}">
                <a16:creationId xmlns:a16="http://schemas.microsoft.com/office/drawing/2014/main" id="{ABFD2964-553D-9D91-68F1-870D0805E2CB}"/>
              </a:ext>
            </a:extLst>
          </p:cNvPr>
          <p:cNvSpPr>
            <a:spLocks noGrp="1"/>
          </p:cNvSpPr>
          <p:nvPr>
            <p:ph type="ctrTitle"/>
          </p:nvPr>
        </p:nvSpPr>
        <p:spPr>
          <a:xfrm>
            <a:off x="341313" y="180653"/>
            <a:ext cx="7799917" cy="338554"/>
          </a:xfrm>
        </p:spPr>
        <p:txBody>
          <a:bodyPr/>
          <a:lstStyle/>
          <a:p>
            <a:r>
              <a:rPr lang="ja-JP" altLang="en-US" dirty="0"/>
              <a:t>株価評価にあたっての注意点</a:t>
            </a:r>
          </a:p>
        </p:txBody>
      </p:sp>
      <p:sp>
        <p:nvSpPr>
          <p:cNvPr id="18" name="テキスト ボックス 17">
            <a:extLst>
              <a:ext uri="{FF2B5EF4-FFF2-40B4-BE49-F238E27FC236}">
                <a16:creationId xmlns:a16="http://schemas.microsoft.com/office/drawing/2014/main" id="{43FF748D-7302-6B92-5A45-49968A63F0B4}"/>
              </a:ext>
            </a:extLst>
          </p:cNvPr>
          <p:cNvSpPr txBox="1"/>
          <p:nvPr/>
        </p:nvSpPr>
        <p:spPr>
          <a:xfrm>
            <a:off x="1109133" y="10679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における株価は、買主との協議によって決定されるものであり、最終的に本書での評価結果の範囲外に</a:t>
            </a:r>
            <a:br>
              <a:rPr lang="en-US" altLang="ja-JP" dirty="0"/>
            </a:br>
            <a:r>
              <a:rPr lang="ja-JP" altLang="en-US" dirty="0"/>
              <a:t>なる可能性も相応に御座います。本書での評価結果はあくまで目安の一つとして、ご理解ください。</a:t>
            </a:r>
            <a:endParaRPr lang="en-US" altLang="ja-JP" dirty="0"/>
          </a:p>
        </p:txBody>
      </p:sp>
      <p:sp>
        <p:nvSpPr>
          <p:cNvPr id="20" name="テキスト ボックス 19">
            <a:extLst>
              <a:ext uri="{FF2B5EF4-FFF2-40B4-BE49-F238E27FC236}">
                <a16:creationId xmlns:a16="http://schemas.microsoft.com/office/drawing/2014/main" id="{43A2A16C-AED8-ACCF-CB8F-70E0B810FB3B}"/>
              </a:ext>
            </a:extLst>
          </p:cNvPr>
          <p:cNvSpPr txBox="1"/>
          <p:nvPr/>
        </p:nvSpPr>
        <p:spPr>
          <a:xfrm>
            <a:off x="1109133" y="2052538"/>
            <a:ext cx="9132130" cy="760657"/>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en-US" altLang="ja-JP" dirty="0"/>
              <a:t>M&amp;A</a:t>
            </a:r>
            <a:r>
              <a:rPr lang="ja-JP" altLang="en-US" dirty="0"/>
              <a:t>における株価評価方法は画一的なものはなく、世の中には多数の算出手法が存在します。</a:t>
            </a:r>
            <a:br>
              <a:rPr lang="en-US" altLang="ja-JP" dirty="0"/>
            </a:br>
            <a:r>
              <a:rPr lang="ja-JP" altLang="en-US" dirty="0"/>
              <a:t>本書においては中小企業</a:t>
            </a:r>
            <a:r>
              <a:rPr lang="en-US" altLang="ja-JP" dirty="0"/>
              <a:t>M&amp;A</a:t>
            </a:r>
            <a:r>
              <a:rPr lang="ja-JP" altLang="en-US" dirty="0"/>
              <a:t>において用いられる一般的な評価手法から、貴社の評価に適していると</a:t>
            </a:r>
            <a:br>
              <a:rPr lang="en-US" altLang="ja-JP" dirty="0"/>
            </a:br>
            <a:r>
              <a:rPr lang="ja-JP" altLang="en-US" dirty="0"/>
              <a:t>考えられる手法を採用しております。</a:t>
            </a:r>
            <a:endParaRPr lang="en-US" altLang="ja-JP" dirty="0"/>
          </a:p>
        </p:txBody>
      </p:sp>
      <p:sp>
        <p:nvSpPr>
          <p:cNvPr id="22" name="テキスト ボックス 21">
            <a:extLst>
              <a:ext uri="{FF2B5EF4-FFF2-40B4-BE49-F238E27FC236}">
                <a16:creationId xmlns:a16="http://schemas.microsoft.com/office/drawing/2014/main" id="{4E37E670-53DE-767E-52D8-7829791681E1}"/>
              </a:ext>
            </a:extLst>
          </p:cNvPr>
          <p:cNvSpPr txBox="1"/>
          <p:nvPr/>
        </p:nvSpPr>
        <p:spPr>
          <a:xfrm>
            <a:off x="1109133" y="3295695"/>
            <a:ext cx="9132130" cy="243593"/>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買主による評価（株価の考え方及び評価方法）は一律ではなく、各買主によって異なる結果になります。</a:t>
            </a:r>
            <a:endParaRPr lang="en-US" altLang="ja-JP" dirty="0"/>
          </a:p>
        </p:txBody>
      </p:sp>
      <p:sp>
        <p:nvSpPr>
          <p:cNvPr id="24" name="テキスト ボックス 23">
            <a:extLst>
              <a:ext uri="{FF2B5EF4-FFF2-40B4-BE49-F238E27FC236}">
                <a16:creationId xmlns:a16="http://schemas.microsoft.com/office/drawing/2014/main" id="{04F96851-B7F8-2437-2EDD-96F0EF865CAB}"/>
              </a:ext>
            </a:extLst>
          </p:cNvPr>
          <p:cNvSpPr txBox="1"/>
          <p:nvPr/>
        </p:nvSpPr>
        <p:spPr>
          <a:xfrm>
            <a:off x="1109133" y="4021788"/>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今後の業績や事業の状態・見通し等の変化によって、株式価値は変動する為、適宜、月次試算表のご提出や、</a:t>
            </a:r>
            <a:br>
              <a:rPr lang="en-US" altLang="ja-JP" dirty="0"/>
            </a:br>
            <a:r>
              <a:rPr lang="ja-JP" altLang="en-US" dirty="0"/>
              <a:t>事業状況の変化についても共有をお願いいたします。</a:t>
            </a:r>
            <a:endParaRPr lang="en-US" altLang="ja-JP" dirty="0"/>
          </a:p>
        </p:txBody>
      </p:sp>
      <p:sp>
        <p:nvSpPr>
          <p:cNvPr id="26" name="テキスト ボックス 25">
            <a:extLst>
              <a:ext uri="{FF2B5EF4-FFF2-40B4-BE49-F238E27FC236}">
                <a16:creationId xmlns:a16="http://schemas.microsoft.com/office/drawing/2014/main" id="{8DE73831-EEAA-7D18-DA19-BDDE4EA3C4F8}"/>
              </a:ext>
            </a:extLst>
          </p:cNvPr>
          <p:cNvSpPr txBox="1"/>
          <p:nvPr/>
        </p:nvSpPr>
        <p:spPr>
          <a:xfrm>
            <a:off x="1109133" y="5006413"/>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株価の一部を退職金や配当として受け取る事を希望される場合、当該金額は株価から減算されることが</a:t>
            </a:r>
            <a:br>
              <a:rPr lang="en-US" altLang="ja-JP" dirty="0"/>
            </a:br>
            <a:r>
              <a:rPr lang="ja-JP" altLang="en-US" dirty="0"/>
              <a:t>一般的でございます。</a:t>
            </a:r>
            <a:endParaRPr lang="en-US" altLang="ja-JP" dirty="0"/>
          </a:p>
        </p:txBody>
      </p:sp>
      <p:sp>
        <p:nvSpPr>
          <p:cNvPr id="28" name="テキスト ボックス 27">
            <a:extLst>
              <a:ext uri="{FF2B5EF4-FFF2-40B4-BE49-F238E27FC236}">
                <a16:creationId xmlns:a16="http://schemas.microsoft.com/office/drawing/2014/main" id="{0C5A509E-7475-2B0E-8947-020650C0994C}"/>
              </a:ext>
            </a:extLst>
          </p:cNvPr>
          <p:cNvSpPr txBox="1"/>
          <p:nvPr/>
        </p:nvSpPr>
        <p:spPr>
          <a:xfrm>
            <a:off x="1109133" y="5991041"/>
            <a:ext cx="9132130" cy="502125"/>
          </a:xfrm>
          <a:prstGeom prst="rect">
            <a:avLst/>
          </a:prstGeom>
          <a:noFill/>
        </p:spPr>
        <p:txBody>
          <a:bodyPr wrap="square" lIns="0" tIns="0" rIns="0" bIns="0" rtlCol="0">
            <a:spAutoFit/>
          </a:bodyPr>
          <a:lstStyle>
            <a:defPPr>
              <a:defRPr lang="en-US"/>
            </a:defPPr>
            <a:lvl1pPr marL="180000" indent="-180000">
              <a:lnSpc>
                <a:spcPct val="120000"/>
              </a:lnSpc>
              <a:spcAft>
                <a:spcPts val="4800"/>
              </a:spcAft>
              <a:buClr>
                <a:schemeClr val="tx2"/>
              </a:buClr>
              <a:buSzPct val="80000"/>
              <a:buFont typeface="Wingdings" panose="05000000000000000000" pitchFamily="2" charset="2"/>
              <a:buChar char="n"/>
              <a:defRPr kumimoji="1" sz="1400" spc="50">
                <a:latin typeface="+mn-ea"/>
              </a:defRPr>
            </a:lvl1pPr>
          </a:lstStyle>
          <a:p>
            <a:pPr marL="0" indent="0">
              <a:buNone/>
            </a:pPr>
            <a:r>
              <a:rPr lang="ja-JP" altLang="en-US" dirty="0"/>
              <a:t>本書での評価結果を大幅に上回る株価を希望される場合、マッチングが困難になる為、</a:t>
            </a:r>
            <a:br>
              <a:rPr lang="en-US" altLang="ja-JP" dirty="0"/>
            </a:br>
            <a:r>
              <a:rPr lang="ja-JP" altLang="en-US" dirty="0"/>
              <a:t>相手が見つからない事や、長期間の時間を要す可能性が高くなります。</a:t>
            </a:r>
          </a:p>
        </p:txBody>
      </p:sp>
      <p:cxnSp>
        <p:nvCxnSpPr>
          <p:cNvPr id="29" name="直線コネクタ 28">
            <a:extLst>
              <a:ext uri="{FF2B5EF4-FFF2-40B4-BE49-F238E27FC236}">
                <a16:creationId xmlns:a16="http://schemas.microsoft.com/office/drawing/2014/main" id="{35B39C5F-7E18-97A3-3BCF-044BD39FF17C}"/>
              </a:ext>
            </a:extLst>
          </p:cNvPr>
          <p:cNvCxnSpPr>
            <a:cxnSpLocks/>
          </p:cNvCxnSpPr>
          <p:nvPr/>
        </p:nvCxnSpPr>
        <p:spPr>
          <a:xfrm>
            <a:off x="449263" y="57497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6AD9E28A-BBAC-DF8F-A86C-68460E385CD4}"/>
              </a:ext>
            </a:extLst>
          </p:cNvPr>
          <p:cNvCxnSpPr>
            <a:cxnSpLocks/>
          </p:cNvCxnSpPr>
          <p:nvPr/>
        </p:nvCxnSpPr>
        <p:spPr>
          <a:xfrm>
            <a:off x="449263" y="4765163"/>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1" name="直線コネクタ 30">
            <a:extLst>
              <a:ext uri="{FF2B5EF4-FFF2-40B4-BE49-F238E27FC236}">
                <a16:creationId xmlns:a16="http://schemas.microsoft.com/office/drawing/2014/main" id="{035FDFB6-13CE-B940-E337-9990F42F633B}"/>
              </a:ext>
            </a:extLst>
          </p:cNvPr>
          <p:cNvCxnSpPr>
            <a:cxnSpLocks/>
          </p:cNvCxnSpPr>
          <p:nvPr/>
        </p:nvCxnSpPr>
        <p:spPr>
          <a:xfrm>
            <a:off x="449263" y="378053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0BDB2F5-6079-A5D7-D2D1-B3F25D6D8012}"/>
              </a:ext>
            </a:extLst>
          </p:cNvPr>
          <p:cNvCxnSpPr>
            <a:cxnSpLocks/>
          </p:cNvCxnSpPr>
          <p:nvPr/>
        </p:nvCxnSpPr>
        <p:spPr>
          <a:xfrm>
            <a:off x="449263" y="3054445"/>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3F9B2615-C99C-C209-F4AD-56373013FA24}"/>
              </a:ext>
            </a:extLst>
          </p:cNvPr>
          <p:cNvCxnSpPr>
            <a:cxnSpLocks/>
          </p:cNvCxnSpPr>
          <p:nvPr/>
        </p:nvCxnSpPr>
        <p:spPr>
          <a:xfrm>
            <a:off x="449263" y="1811288"/>
            <a:ext cx="9792000" cy="0"/>
          </a:xfrm>
          <a:prstGeom prst="line">
            <a:avLst/>
          </a:prstGeom>
          <a:ln w="12700">
            <a:solidFill>
              <a:schemeClr val="accent1"/>
            </a:solidFill>
            <a:prstDash val="sysDot"/>
          </a:ln>
        </p:spPr>
        <p:style>
          <a:lnRef idx="2">
            <a:schemeClr val="accent1"/>
          </a:lnRef>
          <a:fillRef idx="0">
            <a:schemeClr val="accent1"/>
          </a:fillRef>
          <a:effectRef idx="1">
            <a:schemeClr val="accent1"/>
          </a:effectRef>
          <a:fontRef idx="minor">
            <a:schemeClr val="tx1"/>
          </a:fontRef>
        </p:style>
      </p:cxnSp>
      <p:sp>
        <p:nvSpPr>
          <p:cNvPr id="34" name="楕円 33">
            <a:extLst>
              <a:ext uri="{FF2B5EF4-FFF2-40B4-BE49-F238E27FC236}">
                <a16:creationId xmlns:a16="http://schemas.microsoft.com/office/drawing/2014/main" id="{FAEBD9E3-D818-BE03-ADD3-4C5B4AA4F637}"/>
              </a:ext>
            </a:extLst>
          </p:cNvPr>
          <p:cNvSpPr>
            <a:spLocks noChangeAspect="1"/>
          </p:cNvSpPr>
          <p:nvPr/>
        </p:nvSpPr>
        <p:spPr>
          <a:xfrm>
            <a:off x="613435" y="1072307"/>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1</a:t>
            </a:r>
            <a:endParaRPr lang="ja-JP" altLang="en-US" sz="1600" b="1" spc="70" dirty="0">
              <a:solidFill>
                <a:schemeClr val="bg1"/>
              </a:solidFill>
              <a:ea typeface="+mj-ea"/>
            </a:endParaRPr>
          </a:p>
        </p:txBody>
      </p:sp>
      <p:sp>
        <p:nvSpPr>
          <p:cNvPr id="35" name="楕円 34">
            <a:extLst>
              <a:ext uri="{FF2B5EF4-FFF2-40B4-BE49-F238E27FC236}">
                <a16:creationId xmlns:a16="http://schemas.microsoft.com/office/drawing/2014/main" id="{A4699F67-F2C0-E701-1981-BE99A943F4B1}"/>
              </a:ext>
            </a:extLst>
          </p:cNvPr>
          <p:cNvSpPr>
            <a:spLocks noChangeAspect="1"/>
          </p:cNvSpPr>
          <p:nvPr/>
        </p:nvSpPr>
        <p:spPr>
          <a:xfrm>
            <a:off x="613435" y="205270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2</a:t>
            </a:r>
            <a:endParaRPr lang="ja-JP" altLang="en-US" sz="1600" b="1" spc="70" dirty="0">
              <a:solidFill>
                <a:schemeClr val="bg1"/>
              </a:solidFill>
              <a:ea typeface="+mj-ea"/>
            </a:endParaRPr>
          </a:p>
        </p:txBody>
      </p:sp>
      <p:sp>
        <p:nvSpPr>
          <p:cNvPr id="36" name="楕円 35">
            <a:extLst>
              <a:ext uri="{FF2B5EF4-FFF2-40B4-BE49-F238E27FC236}">
                <a16:creationId xmlns:a16="http://schemas.microsoft.com/office/drawing/2014/main" id="{956ADA7D-C5BF-D213-6720-23A1C842F4D0}"/>
              </a:ext>
            </a:extLst>
          </p:cNvPr>
          <p:cNvSpPr>
            <a:spLocks noChangeAspect="1"/>
          </p:cNvSpPr>
          <p:nvPr/>
        </p:nvSpPr>
        <p:spPr>
          <a:xfrm>
            <a:off x="613435" y="3297170"/>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3</a:t>
            </a:r>
            <a:endParaRPr lang="ja-JP" altLang="en-US" sz="1600" b="1" spc="70" dirty="0">
              <a:solidFill>
                <a:schemeClr val="bg1"/>
              </a:solidFill>
              <a:ea typeface="+mj-ea"/>
            </a:endParaRPr>
          </a:p>
        </p:txBody>
      </p:sp>
      <p:sp>
        <p:nvSpPr>
          <p:cNvPr id="37" name="楕円 36">
            <a:extLst>
              <a:ext uri="{FF2B5EF4-FFF2-40B4-BE49-F238E27FC236}">
                <a16:creationId xmlns:a16="http://schemas.microsoft.com/office/drawing/2014/main" id="{E576DF4D-4E9B-1204-40C0-E6AC3658458A}"/>
              </a:ext>
            </a:extLst>
          </p:cNvPr>
          <p:cNvSpPr>
            <a:spLocks noChangeAspect="1"/>
          </p:cNvSpPr>
          <p:nvPr/>
        </p:nvSpPr>
        <p:spPr>
          <a:xfrm>
            <a:off x="613435" y="402758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4</a:t>
            </a:r>
            <a:endParaRPr lang="ja-JP" altLang="en-US" sz="1600" b="1" spc="70" dirty="0">
              <a:solidFill>
                <a:schemeClr val="bg1"/>
              </a:solidFill>
              <a:ea typeface="+mj-ea"/>
            </a:endParaRPr>
          </a:p>
        </p:txBody>
      </p:sp>
      <p:sp>
        <p:nvSpPr>
          <p:cNvPr id="38" name="楕円 37">
            <a:extLst>
              <a:ext uri="{FF2B5EF4-FFF2-40B4-BE49-F238E27FC236}">
                <a16:creationId xmlns:a16="http://schemas.microsoft.com/office/drawing/2014/main" id="{ACEF13D5-5C48-6E65-68D1-217A140C3016}"/>
              </a:ext>
            </a:extLst>
          </p:cNvPr>
          <p:cNvSpPr>
            <a:spLocks noChangeAspect="1"/>
          </p:cNvSpPr>
          <p:nvPr/>
        </p:nvSpPr>
        <p:spPr>
          <a:xfrm>
            <a:off x="613435" y="5011812"/>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5</a:t>
            </a:r>
            <a:endParaRPr lang="ja-JP" altLang="en-US" sz="1600" b="1" spc="70" dirty="0">
              <a:solidFill>
                <a:schemeClr val="bg1"/>
              </a:solidFill>
              <a:ea typeface="+mj-ea"/>
            </a:endParaRPr>
          </a:p>
        </p:txBody>
      </p:sp>
      <p:sp>
        <p:nvSpPr>
          <p:cNvPr id="39" name="楕円 38">
            <a:extLst>
              <a:ext uri="{FF2B5EF4-FFF2-40B4-BE49-F238E27FC236}">
                <a16:creationId xmlns:a16="http://schemas.microsoft.com/office/drawing/2014/main" id="{6165E92A-C06D-AE2F-D14B-947E6D286B3F}"/>
              </a:ext>
            </a:extLst>
          </p:cNvPr>
          <p:cNvSpPr>
            <a:spLocks noChangeAspect="1"/>
          </p:cNvSpPr>
          <p:nvPr/>
        </p:nvSpPr>
        <p:spPr>
          <a:xfrm>
            <a:off x="613435" y="5982493"/>
            <a:ext cx="252000" cy="252000"/>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r>
              <a:rPr lang="en-US" altLang="ja-JP" sz="1600" b="1" spc="70" dirty="0">
                <a:solidFill>
                  <a:schemeClr val="bg1"/>
                </a:solidFill>
                <a:ea typeface="+mj-ea"/>
              </a:rPr>
              <a:t>6</a:t>
            </a:r>
            <a:endParaRPr lang="ja-JP" altLang="en-US" sz="1600" b="1" spc="70" dirty="0">
              <a:solidFill>
                <a:schemeClr val="bg1"/>
              </a:solidFill>
              <a:ea typeface="+mj-ea"/>
            </a:endParaRPr>
          </a:p>
        </p:txBody>
      </p:sp>
    </p:spTree>
    <p:extLst>
      <p:ext uri="{BB962C8B-B14F-4D97-AF65-F5344CB8AC3E}">
        <p14:creationId xmlns:p14="http://schemas.microsoft.com/office/powerpoint/2010/main" val="2457898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
          <p:cNvSpPr txBox="1"/>
          <p:nvPr/>
        </p:nvSpPr>
        <p:spPr>
          <a:xfrm>
            <a:off x="6191813" y="1667046"/>
            <a:ext cx="4500000" cy="2382191"/>
          </a:xfrm>
          <a:prstGeom prst="rect">
            <a:avLst/>
          </a:prstGeom>
          <a:noFill/>
          <a:ln>
            <a:noFill/>
          </a:ln>
        </p:spPr>
        <p:txBody>
          <a:bodyPr spcFirstLastPara="1" wrap="square" lIns="0" tIns="0" rIns="0" bIns="0" anchor="t" anchorCtr="0">
            <a:spAutoFit/>
          </a:bodyPr>
          <a:lstStyle>
            <a:defPPr>
              <a:defRPr lang="en-US"/>
            </a:defPPr>
            <a:lvl1pPr>
              <a:lnSpc>
                <a:spcPct val="110000"/>
              </a:lnSpc>
              <a:spcAft>
                <a:spcPts val="2400"/>
              </a:spcAft>
              <a:buClr>
                <a:schemeClr val="dk1"/>
              </a:buClr>
              <a:buSzPts val="1400"/>
              <a:defRPr sz="2400" b="1" spc="70">
                <a:latin typeface="+mj-lt"/>
                <a:ea typeface="+mj-ea"/>
              </a:defRPr>
            </a:lvl1pPr>
          </a:lstStyle>
          <a:p>
            <a:pPr>
              <a:spcAft>
                <a:spcPts val="1000"/>
              </a:spcAft>
            </a:pPr>
            <a:r>
              <a:rPr lang="en-US" altLang="ja-JP" sz="1600" dirty="0"/>
              <a:t>Valuation Summary ／ 
試算結果</a:t>
            </a:r>
            <a:endParaRPr lang="en-US" altLang="ja-JP" sz="2200" dirty="0"/>
          </a:p>
          <a:p>
            <a:pPr>
              <a:spcAft>
                <a:spcPts val="1000"/>
              </a:spcAft>
            </a:pPr>
            <a:r>
              <a:rPr lang="en-US" altLang="ja-JP" sz="1600" dirty="0"/>
              <a:t>Financial Analysis ／ 
財務情報の分析</a:t>
            </a:r>
            <a:endParaRPr lang="en-US" altLang="ja-JP" sz="2200" dirty="0"/>
          </a:p>
          <a:p>
            <a:pPr>
              <a:spcAft>
                <a:spcPts val="1000"/>
              </a:spcAft>
            </a:pPr>
            <a:r>
              <a:rPr lang="en-US" altLang="ja-JP" sz="1600" dirty="0"/>
              <a:t>Valuation Details ／ 
株式価値の試算</a:t>
            </a:r>
            <a:endParaRPr lang="en-US" altLang="ja-JP" sz="2200" dirty="0"/>
          </a:p>
        </p:txBody>
      </p:sp>
      <p:sp>
        <p:nvSpPr>
          <p:cNvPr id="7" name="正方形/長方形 6">
            <a:extLst>
              <a:ext uri="{FF2B5EF4-FFF2-40B4-BE49-F238E27FC236}">
                <a16:creationId xmlns:a16="http://schemas.microsoft.com/office/drawing/2014/main" id="{2C1708EA-89F0-5F4C-1E17-8D5ACE55DC86}"/>
              </a:ext>
            </a:extLst>
          </p:cNvPr>
          <p:cNvSpPr/>
          <p:nvPr/>
        </p:nvSpPr>
        <p:spPr>
          <a:xfrm>
            <a:off x="5624541" y="1732147"/>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8" name="正方形/長方形 7">
            <a:extLst>
              <a:ext uri="{FF2B5EF4-FFF2-40B4-BE49-F238E27FC236}">
                <a16:creationId xmlns:a16="http://schemas.microsoft.com/office/drawing/2014/main" id="{CD50E8F0-8863-1FB0-5044-94DF9D298836}"/>
              </a:ext>
            </a:extLst>
          </p:cNvPr>
          <p:cNvSpPr/>
          <p:nvPr/>
        </p:nvSpPr>
        <p:spPr>
          <a:xfrm>
            <a:off x="5624542" y="2489129"/>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9" name="正方形/長方形 8">
            <a:extLst>
              <a:ext uri="{FF2B5EF4-FFF2-40B4-BE49-F238E27FC236}">
                <a16:creationId xmlns:a16="http://schemas.microsoft.com/office/drawing/2014/main" id="{93D365FE-0FEC-F530-0DDB-077BF8F26623}"/>
              </a:ext>
            </a:extLst>
          </p:cNvPr>
          <p:cNvSpPr/>
          <p:nvPr/>
        </p:nvSpPr>
        <p:spPr>
          <a:xfrm>
            <a:off x="5624542" y="3297805"/>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grpSp>
        <p:nvGrpSpPr>
          <p:cNvPr id="18" name="グループ化 17">
            <a:extLst>
              <a:ext uri="{FF2B5EF4-FFF2-40B4-BE49-F238E27FC236}">
                <a16:creationId xmlns:a16="http://schemas.microsoft.com/office/drawing/2014/main" id="{0DDEFAE0-C3C3-0B06-AC36-5F2C87ABC64B}"/>
              </a:ext>
            </a:extLst>
          </p:cNvPr>
          <p:cNvGrpSpPr/>
          <p:nvPr/>
        </p:nvGrpSpPr>
        <p:grpSpPr>
          <a:xfrm>
            <a:off x="5624541" y="1159642"/>
            <a:ext cx="3492000" cy="310672"/>
            <a:chOff x="885525" y="2895310"/>
            <a:chExt cx="3492000" cy="310672"/>
          </a:xfrm>
        </p:grpSpPr>
        <p:sp>
          <p:nvSpPr>
            <p:cNvPr id="19" name="テキスト ボックス 18">
              <a:extLst>
                <a:ext uri="{FF2B5EF4-FFF2-40B4-BE49-F238E27FC236}">
                  <a16:creationId xmlns:a16="http://schemas.microsoft.com/office/drawing/2014/main" id="{0894204C-E42E-AEE7-1705-732C7C1CA805}"/>
                </a:ext>
              </a:extLst>
            </p:cNvPr>
            <p:cNvSpPr txBox="1"/>
            <p:nvPr/>
          </p:nvSpPr>
          <p:spPr>
            <a:xfrm>
              <a:off x="974063" y="2895310"/>
              <a:ext cx="2099337" cy="276999"/>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1800" spc="50" dirty="0">
                  <a:solidFill>
                    <a:schemeClr val="tx2"/>
                  </a:solidFill>
                </a:rPr>
                <a:t>Section</a:t>
              </a:r>
              <a:endParaRPr lang="ja-JP" altLang="en-US" sz="1800" spc="50" dirty="0">
                <a:solidFill>
                  <a:schemeClr val="tx2"/>
                </a:solidFill>
              </a:endParaRPr>
            </a:p>
          </p:txBody>
        </p:sp>
        <p:cxnSp>
          <p:nvCxnSpPr>
            <p:cNvPr id="20" name="直線コネクタ 19">
              <a:extLst>
                <a:ext uri="{FF2B5EF4-FFF2-40B4-BE49-F238E27FC236}">
                  <a16:creationId xmlns:a16="http://schemas.microsoft.com/office/drawing/2014/main" id="{8F991BA0-BA15-EAE6-6617-CF5AE0EA46D0}"/>
                </a:ext>
              </a:extLst>
            </p:cNvPr>
            <p:cNvCxnSpPr>
              <a:cxnSpLocks/>
            </p:cNvCxnSpPr>
            <p:nvPr/>
          </p:nvCxnSpPr>
          <p:spPr>
            <a:xfrm>
              <a:off x="885525" y="3205982"/>
              <a:ext cx="349200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E3DA6B61-FAFD-DD87-1996-71591FC85C3F}"/>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Valuation Summary </a:t>
            </a:r>
            <a:r>
              <a:rPr lang="ja-JP" altLang="en-US" dirty="0"/>
              <a:t>／</a:t>
            </a:r>
            <a:br>
              <a:rPr lang="en-US" altLang="ja-JP" dirty="0"/>
            </a:br>
            <a:r>
              <a:rPr lang="ja-JP" altLang="en-US" dirty="0"/>
              <a:t>試算結果</a:t>
            </a:r>
          </a:p>
        </p:txBody>
      </p:sp>
      <p:grpSp>
        <p:nvGrpSpPr>
          <p:cNvPr id="11" name="グループ化 10">
            <a:extLst>
              <a:ext uri="{FF2B5EF4-FFF2-40B4-BE49-F238E27FC236}">
                <a16:creationId xmlns:a16="http://schemas.microsoft.com/office/drawing/2014/main" id="{28C8DACB-015F-010F-F923-94C20FE54908}"/>
              </a:ext>
            </a:extLst>
          </p:cNvPr>
          <p:cNvGrpSpPr/>
          <p:nvPr/>
        </p:nvGrpSpPr>
        <p:grpSpPr>
          <a:xfrm>
            <a:off x="885526" y="2173586"/>
            <a:ext cx="3390141" cy="651396"/>
            <a:chOff x="885526" y="2554586"/>
            <a:chExt cx="3390141" cy="651396"/>
          </a:xfrm>
        </p:grpSpPr>
        <p:sp>
          <p:nvSpPr>
            <p:cNvPr id="12" name="テキスト ボックス 11">
              <a:extLst>
                <a:ext uri="{FF2B5EF4-FFF2-40B4-BE49-F238E27FC236}">
                  <a16:creationId xmlns:a16="http://schemas.microsoft.com/office/drawing/2014/main" id="{22B6E4BF-C4F4-525F-6A55-FCF5A0ACC52E}"/>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1</a:t>
              </a:r>
              <a:endParaRPr lang="ja-JP" altLang="en-US" spc="100" dirty="0">
                <a:solidFill>
                  <a:schemeClr val="accent2">
                    <a:lumMod val="90000"/>
                  </a:schemeClr>
                </a:solidFill>
              </a:endParaRPr>
            </a:p>
          </p:txBody>
        </p:sp>
        <p:cxnSp>
          <p:nvCxnSpPr>
            <p:cNvPr id="13" name="直線コネクタ 12">
              <a:extLst>
                <a:ext uri="{FF2B5EF4-FFF2-40B4-BE49-F238E27FC236}">
                  <a16:creationId xmlns:a16="http://schemas.microsoft.com/office/drawing/2014/main" id="{6086A45E-386C-748D-F12D-BB22E67E44E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2226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65677-B8B4-CBCB-42B2-C7230FBB069D}"/>
            </a:ext>
          </a:extLst>
        </p:cNvPr>
        <p:cNvGrpSpPr/>
        <p:nvPr/>
      </p:nvGrpSpPr>
      <p:grpSpPr>
        <a:xfrm>
          <a:off x="0" y="0"/>
          <a:ext cx="0" cy="0"/>
          <a:chOff x="0" y="0"/>
          <a:chExt cx="0" cy="0"/>
        </a:xfrm>
      </p:grpSpPr>
      <p:sp>
        <p:nvSpPr>
          <p:cNvPr id="5" name="字幕 4">
            <a:extLst>
              <a:ext uri="{FF2B5EF4-FFF2-40B4-BE49-F238E27FC236}">
                <a16:creationId xmlns:a16="http://schemas.microsoft.com/office/drawing/2014/main" id="{40B59A8A-DD72-B327-5EE3-75AE45DE656C}"/>
              </a:ext>
            </a:extLst>
          </p:cNvPr>
          <p:cNvSpPr>
            <a:spLocks noGrp="1"/>
          </p:cNvSpPr>
          <p:nvPr>
            <p:ph type="subTitle" idx="1"/>
          </p:nvPr>
        </p:nvSpPr>
        <p:spPr/>
        <p:txBody>
          <a:bodyPr/>
          <a:lstStyle/>
          <a:p>
            <a:r>
              <a:rPr lang="ja-JP" altLang="en-US" dirty="0"/>
              <a:t>現在、一般的に認められている株式価値算定の手法は次のとおり分類されています</a:t>
            </a:r>
          </a:p>
        </p:txBody>
      </p:sp>
      <p:sp>
        <p:nvSpPr>
          <p:cNvPr id="2" name="タイトル 1">
            <a:extLst>
              <a:ext uri="{FF2B5EF4-FFF2-40B4-BE49-F238E27FC236}">
                <a16:creationId xmlns:a16="http://schemas.microsoft.com/office/drawing/2014/main" id="{6661711B-6AA4-E2BF-069F-2959DD69E33E}"/>
              </a:ext>
            </a:extLst>
          </p:cNvPr>
          <p:cNvSpPr>
            <a:spLocks noGrp="1"/>
          </p:cNvSpPr>
          <p:nvPr>
            <p:ph type="ctrTitle"/>
          </p:nvPr>
        </p:nvSpPr>
        <p:spPr/>
        <p:txBody>
          <a:bodyPr/>
          <a:lstStyle/>
          <a:p>
            <a:r>
              <a:rPr lang="ja-JP" altLang="en-US" dirty="0"/>
              <a:t>採用するアプローチの選定</a:t>
            </a:r>
          </a:p>
        </p:txBody>
      </p:sp>
      <p:sp>
        <p:nvSpPr>
          <p:cNvPr id="3" name="タイトル 1">
            <a:extLst>
              <a:ext uri="{FF2B5EF4-FFF2-40B4-BE49-F238E27FC236}">
                <a16:creationId xmlns:a16="http://schemas.microsoft.com/office/drawing/2014/main" id="{E07A9094-1106-36D4-CE53-B7B2CE8FC369}"/>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6" name="乗算記号 5">
            <a:extLst>
              <a:ext uri="{FF2B5EF4-FFF2-40B4-BE49-F238E27FC236}">
                <a16:creationId xmlns:a16="http://schemas.microsoft.com/office/drawing/2014/main" id="{142BB6C9-EEAE-1776-D618-40F16814CE0C}"/>
              </a:ext>
            </a:extLst>
          </p:cNvPr>
          <p:cNvSpPr/>
          <p:nvPr/>
        </p:nvSpPr>
        <p:spPr>
          <a:xfrm>
            <a:off x="5418835" y="3889114"/>
            <a:ext cx="747006" cy="72381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sp>
        <p:nvSpPr>
          <p:cNvPr id="13" name="フローチャート: 処理 12">
            <a:extLst>
              <a:ext uri="{FF2B5EF4-FFF2-40B4-BE49-F238E27FC236}">
                <a16:creationId xmlns:a16="http://schemas.microsoft.com/office/drawing/2014/main" id="{FA8545AF-F6D4-C9D4-463F-EE482C1828FE}"/>
              </a:ext>
            </a:extLst>
          </p:cNvPr>
          <p:cNvSpPr/>
          <p:nvPr/>
        </p:nvSpPr>
        <p:spPr>
          <a:xfrm>
            <a:off x="449264" y="6120538"/>
            <a:ext cx="9793286" cy="72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nSpc>
                <a:spcPct val="120000"/>
              </a:lnSpc>
              <a:spcAft>
                <a:spcPts val="300"/>
              </a:spcAft>
            </a:pPr>
            <a:r>
              <a:rPr lang="ja-JP" altLang="en-US" sz="1200" b="1" spc="30">
                <a:solidFill>
                  <a:schemeClr val="tx2"/>
                </a:solidFill>
                <a:latin typeface="+mj-ea"/>
                <a:ea typeface="+mj-ea"/>
              </a:rPr>
              <a:t>最適な評価手法の選定にあたっては、対象会社の性質や評価目的などを踏まえ、総合的に判断する必要があります。</a:t>
            </a:r>
            <a:endParaRPr kumimoji="1" lang="ja-JP" altLang="en-US" sz="1200" b="1" spc="30" dirty="0">
              <a:solidFill>
                <a:schemeClr val="tx2"/>
              </a:solidFill>
              <a:latin typeface="+mj-ea"/>
              <a:ea typeface="+mj-ea"/>
            </a:endParaRPr>
          </a:p>
        </p:txBody>
      </p:sp>
      <p:sp>
        <p:nvSpPr>
          <p:cNvPr id="14" name="乗算記号 13">
            <a:extLst>
              <a:ext uri="{FF2B5EF4-FFF2-40B4-BE49-F238E27FC236}">
                <a16:creationId xmlns:a16="http://schemas.microsoft.com/office/drawing/2014/main" id="{0E497E37-91F1-6E83-A999-ACA92BE33138}"/>
              </a:ext>
            </a:extLst>
          </p:cNvPr>
          <p:cNvSpPr/>
          <p:nvPr/>
        </p:nvSpPr>
        <p:spPr>
          <a:xfrm>
            <a:off x="5364867" y="5236843"/>
            <a:ext cx="854815" cy="828271"/>
          </a:xfrm>
          <a:prstGeom prst="mathMultiply">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endParaRPr>
          </a:p>
        </p:txBody>
      </p:sp>
      <p:graphicFrame>
        <p:nvGraphicFramePr>
          <p:cNvPr id="15" name="表 14">
            <a:extLst>
              <a:ext uri="{FF2B5EF4-FFF2-40B4-BE49-F238E27FC236}">
                <a16:creationId xmlns:a16="http://schemas.microsoft.com/office/drawing/2014/main" id="{4C5CBA27-1CE9-EB68-0FF4-E0BB71BB8CFC}"/>
              </a:ext>
            </a:extLst>
          </p:cNvPr>
          <p:cNvGraphicFramePr>
            <a:graphicFrameLocks noGrp="1"/>
          </p:cNvGraphicFramePr>
          <p:nvPr/>
        </p:nvGraphicFramePr>
        <p:xfrm>
          <a:off x="456921" y="1366838"/>
          <a:ext cx="9792000" cy="446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1274597146"/>
                    </a:ext>
                  </a:extLst>
                </a:gridCol>
                <a:gridCol w="1440000">
                  <a:extLst>
                    <a:ext uri="{9D8B030D-6E8A-4147-A177-3AD203B41FA5}">
                      <a16:colId xmlns:a16="http://schemas.microsoft.com/office/drawing/2014/main" val="671554233"/>
                    </a:ext>
                  </a:extLst>
                </a:gridCol>
                <a:gridCol w="1908000">
                  <a:extLst>
                    <a:ext uri="{9D8B030D-6E8A-4147-A177-3AD203B41FA5}">
                      <a16:colId xmlns:a16="http://schemas.microsoft.com/office/drawing/2014/main" val="633478589"/>
                    </a:ext>
                  </a:extLst>
                </a:gridCol>
                <a:gridCol w="792000">
                  <a:extLst>
                    <a:ext uri="{9D8B030D-6E8A-4147-A177-3AD203B41FA5}">
                      <a16:colId xmlns:a16="http://schemas.microsoft.com/office/drawing/2014/main" val="2625689903"/>
                    </a:ext>
                  </a:extLst>
                </a:gridCol>
                <a:gridCol w="4212000">
                  <a:extLst>
                    <a:ext uri="{9D8B030D-6E8A-4147-A177-3AD203B41FA5}">
                      <a16:colId xmlns:a16="http://schemas.microsoft.com/office/drawing/2014/main" val="634309969"/>
                    </a:ext>
                  </a:extLst>
                </a:gridCol>
              </a:tblGrid>
              <a:tr h="360000">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評価アプローチ</a:t>
                      </a:r>
                    </a:p>
                  </a:txBody>
                  <a:tcPr marL="108000" marR="108000" marT="0" marB="0" anchor="ctr">
                    <a:lnL w="12700" cmpd="sng">
                      <a:noFill/>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着目点</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marL="0" indent="0" algn="ctr">
                        <a:lnSpc>
                          <a:spcPct val="110000"/>
                        </a:lnSpc>
                        <a:spcBef>
                          <a:spcPts val="0"/>
                        </a:spcBef>
                        <a:spcAft>
                          <a:spcPts val="300"/>
                        </a:spcAft>
                        <a:buFontTx/>
                        <a:buNone/>
                      </a:pPr>
                      <a:r>
                        <a:rPr kumimoji="1" lang="ja-JP" altLang="en-US" sz="1200" b="1" kern="1200" dirty="0">
                          <a:solidFill>
                            <a:schemeClr val="lt1"/>
                          </a:solidFill>
                          <a:latin typeface="+mj-lt"/>
                          <a:ea typeface="+mj-ea"/>
                          <a:cs typeface="+mn-cs"/>
                        </a:rPr>
                        <a:t>評価手法</a:t>
                      </a:r>
                    </a:p>
                  </a:txBody>
                  <a:tcPr marL="108000" marR="10800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gridSpan="2">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採用可否と選定理由</a:t>
                      </a:r>
                    </a:p>
                  </a:txBody>
                  <a:tcPr marL="108000" marR="108000" marT="0" marB="0" anchor="ctr">
                    <a:lnL w="12700"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hMerge="1">
                  <a:txBody>
                    <a:bodyPr/>
                    <a:lstStyle/>
                    <a:p>
                      <a:endParaRPr kumimoji="1" lang="ja-JP" altLang="en-US" dirty="0"/>
                    </a:p>
                  </a:txBody>
                  <a:tcPr/>
                </a:tc>
                <a:extLst>
                  <a:ext uri="{0D108BD9-81ED-4DB2-BD59-A6C34878D82A}">
                    <a16:rowId xmlns:a16="http://schemas.microsoft.com/office/drawing/2014/main" val="3874904672"/>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コストアプローチ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100" b="1" kern="1200" dirty="0">
                          <a:solidFill>
                            <a:schemeClr val="dk1"/>
                          </a:solidFill>
                          <a:latin typeface="+mj-lt"/>
                          <a:ea typeface="+mj-ea"/>
                          <a:cs typeface="+mn-cs"/>
                        </a:rPr>
                        <a:t>企業の純資産価値</a:t>
                      </a:r>
                      <a:endParaRPr kumimoji="1" lang="en-US" altLang="ja-JP" sz="1100" b="1" kern="1200" dirty="0">
                        <a:solidFill>
                          <a:schemeClr val="dk1"/>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j-lt"/>
                          <a:ea typeface="+mj-ea"/>
                          <a:cs typeface="+mn-cs"/>
                        </a:rPr>
                        <a:t>□ 簿価純資産価額法
□ 時価純資産価額法
■ 時価純資産＋営業権法
　（年買法）</a:t>
                      </a:r>
                      <a:endParaRPr kumimoji="1" lang="en-US" altLang="ja-JP" sz="1100" b="1" kern="1200" dirty="0">
                        <a:solidFill>
                          <a:schemeClr val="accent1">
                            <a:lumMod val="60000"/>
                            <a:lumOff val="40000"/>
                          </a:schemeClr>
                        </a:solidFill>
                        <a:latin typeface="+mj-lt"/>
                        <a:ea typeface="+mj-ea"/>
                        <a:cs typeface="+mn-cs"/>
                      </a:endParaRPr>
                    </a:p>
                  </a:txBody>
                  <a:tcPr marL="144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　</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時価純資産に会社の超過収益力である営業権を加算することで継続企業価値を算定する手法
実質的な財政状態に加え、経営成績をバランスよく反映させることができる「時価純資産価額法」に「営業権」を加味する手法を採用しました。なお、本手法は、中堅・中小企業のM&amp;Aでの株式評価において、最も広く用いられている手法です。</a:t>
                      </a:r>
                    </a:p>
                  </a:txBody>
                  <a:tcPr marL="108000" marR="108000" marT="0" marB="0" anchor="ctr">
                    <a:lnL w="12700" cmpd="sng">
                      <a:noFill/>
                    </a:lnL>
                    <a:lnR w="12700" cmpd="sng">
                      <a:noFill/>
                    </a:lnR>
                    <a:lnT w="38100" cmpd="sng">
                      <a:noFill/>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074"/>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マーケットアプローチ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株式市場における株価</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市場価額法
□ 類似業種比準法
■ 類似会社比準法
　（EV/EBITDAマルチプル法）</a:t>
                      </a:r>
                      <a:endParaRPr kumimoji="1" lang="en-US" altLang="ja-JP" sz="1100" b="1" kern="1200" dirty="0">
                        <a:solidFill>
                          <a:schemeClr val="accent1">
                            <a:lumMod val="60000"/>
                            <a:lumOff val="40000"/>
                          </a:schemeClr>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　</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Clr>
                          <a:schemeClr val="tx2"/>
                        </a:buClr>
                        <a:buFont typeface="游ゴシック" panose="020B0400000000000000" pitchFamily="50" charset="-128"/>
                        <a:buNone/>
                      </a:pPr>
                      <a:r>
                        <a:rPr kumimoji="1" lang="ja-JP" altLang="en-US" sz="1000" b="1" kern="1200" dirty="0">
                          <a:solidFill>
                            <a:schemeClr val="tx2"/>
                          </a:solidFill>
                          <a:latin typeface="+mj-lt"/>
                          <a:ea typeface="+mj-ea"/>
                          <a:cs typeface="+mn-cs"/>
                        </a:rPr>
                        <a:t>規模・業種が類似する企業の株価指標（倍率）をもとに、価値を算定する手法
株式市場における客観的な評価尺度である「株価」をベースとし、市場のトレンドを反映できる本手法を採用しました。なお、類似する上場企業の評価倍率を用いることで、第三者からの客観性と納得性が高い評価結果が得られる点が特徴です。</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0160336"/>
                  </a:ext>
                </a:extLst>
              </a:tr>
              <a:tr h="1368000">
                <a:tc>
                  <a:txBody>
                    <a:bodyPr/>
                    <a:lstStyle/>
                    <a:p>
                      <a:pPr marL="0" marR="0" lvl="0" indent="0" algn="l" defTabSz="914400" rtl="0" eaLnBrk="1" fontAlgn="auto" latinLnBrk="0" hangingPunct="1">
                        <a:lnSpc>
                          <a:spcPct val="110000"/>
                        </a:lnSpc>
                        <a:spcBef>
                          <a:spcPts val="0"/>
                        </a:spcBef>
                        <a:spcAft>
                          <a:spcPts val="300"/>
                        </a:spcAft>
                        <a:buClrTx/>
                        <a:buSzTx/>
                        <a:buFontTx/>
                        <a:buNone/>
                        <a:tabLst/>
                        <a:defRPr/>
                      </a:pPr>
                      <a:r>
                        <a:rPr kumimoji="1" lang="ja-JP" altLang="en-US" sz="1600" b="1" kern="1200" dirty="0">
                          <a:solidFill>
                            <a:schemeClr val="dk1"/>
                          </a:solidFill>
                          <a:latin typeface="+mj-lt"/>
                          <a:ea typeface="+mj-ea"/>
                          <a:cs typeface="+mn-cs"/>
                        </a:rPr>
                        <a:t>インカムアプローチ</a:t>
                      </a:r>
                      <a:endParaRPr kumimoji="1" lang="en-US" altLang="ja-JP" sz="1600" b="1" kern="1200" dirty="0">
                        <a:solidFill>
                          <a:schemeClr val="dk1"/>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indent="0" algn="l">
                        <a:lnSpc>
                          <a:spcPct val="110000"/>
                        </a:lnSpc>
                        <a:spcBef>
                          <a:spcPts val="0"/>
                        </a:spcBef>
                        <a:spcAft>
                          <a:spcPts val="300"/>
                        </a:spcAft>
                        <a:buFontTx/>
                        <a:buNone/>
                      </a:pPr>
                      <a:r>
                        <a:rPr kumimoji="1" lang="ja-JP" altLang="en-US" sz="1100" b="1" kern="1200" dirty="0">
                          <a:solidFill>
                            <a:schemeClr val="dk1"/>
                          </a:solidFill>
                          <a:latin typeface="+mj-lt"/>
                          <a:ea typeface="+mj-ea"/>
                          <a:cs typeface="+mn-cs"/>
                        </a:rPr>
                        <a:t>企業の収益力</a:t>
                      </a: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l">
                        <a:lnSpc>
                          <a:spcPct val="110000"/>
                        </a:lnSpc>
                        <a:spcBef>
                          <a:spcPts val="0"/>
                        </a:spcBef>
                        <a:spcAft>
                          <a:spcPts val="300"/>
                        </a:spcAft>
                        <a:buFontTx/>
                        <a:buNone/>
                      </a:pPr>
                      <a:r>
                        <a:rPr kumimoji="1" lang="ja-JP" altLang="en-US" sz="1100" b="1" kern="1200" dirty="0">
                          <a:solidFill>
                            <a:schemeClr val="accent1">
                              <a:lumMod val="60000"/>
                              <a:lumOff val="40000"/>
                            </a:schemeClr>
                          </a:solidFill>
                          <a:latin typeface="+mn-lt"/>
                          <a:ea typeface="+mn-ea"/>
                          <a:cs typeface="+mn-cs"/>
                        </a:rPr>
                        <a:t>□ 収益還元法
□ DCF法
　（ディスカウンティド
　　キャッシュフロー法）
□ 配当還元法</a:t>
                      </a:r>
                      <a:endParaRPr kumimoji="1" lang="en-US" altLang="ja-JP" sz="1100" b="1" kern="1200" dirty="0">
                        <a:solidFill>
                          <a:schemeClr val="accent1">
                            <a:lumMod val="60000"/>
                            <a:lumOff val="40000"/>
                          </a:schemeClr>
                        </a:solidFill>
                        <a:latin typeface="+mj-lt"/>
                        <a:ea typeface="+mj-ea"/>
                        <a:cs typeface="+mn-cs"/>
                      </a:endParaRPr>
                    </a:p>
                  </a:txBody>
                  <a:tcPr marL="144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1007943" rtl="0" eaLnBrk="1" fontAlgn="auto" latinLnBrk="0" hangingPunct="1">
                        <a:lnSpc>
                          <a:spcPct val="110000"/>
                        </a:lnSpc>
                        <a:spcBef>
                          <a:spcPts val="0"/>
                        </a:spcBef>
                        <a:spcAft>
                          <a:spcPts val="300"/>
                        </a:spcAft>
                        <a:buClrTx/>
                        <a:buSzTx/>
                        <a:buFontTx/>
                        <a:buNone/>
                        <a:tabLst/>
                        <a:defRPr/>
                      </a:pPr>
                      <a:r>
                        <a:rPr kumimoji="1" lang="ja-JP" altLang="en-US" sz="1200" b="1" kern="1200" dirty="0">
                          <a:solidFill>
                            <a:schemeClr val="lt1"/>
                          </a:solidFill>
                          <a:latin typeface="+mj-lt"/>
                          <a:ea typeface="+mj-ea"/>
                          <a:cs typeface="+mn-cs"/>
                        </a:rPr>
                        <a:t>　</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indent="-144000" algn="l">
                        <a:lnSpc>
                          <a:spcPct val="110000"/>
                        </a:lnSpc>
                        <a:spcBef>
                          <a:spcPts val="0"/>
                        </a:spcBef>
                        <a:spcAft>
                          <a:spcPts val="300"/>
                        </a:spcAft>
                        <a:buClr>
                          <a:schemeClr val="tx2"/>
                        </a:buClr>
                        <a:buFont typeface="游ゴシック" panose="020B0400000000000000" pitchFamily="50" charset="-128"/>
                        <a:buChar char="▪"/>
                      </a:pPr>
                      <a:r>
                        <a:rPr kumimoji="1" lang="ja-JP" altLang="en-US" sz="1000" b="0" kern="1200" dirty="0">
                          <a:solidFill>
                            <a:schemeClr val="dk1"/>
                          </a:solidFill>
                          <a:latin typeface="+mn-ea"/>
                          <a:ea typeface="+mn-ea"/>
                          <a:cs typeface="+mn-cs"/>
                        </a:rPr>
                        <a:t>収益還元法やDCF法を適用するには、根拠となる利益やキャッシュフローの計画値が必要となります。現状、詳細な事業計画が存在せず算定が困難であることから、これらの手法は採用しません。
配当還元法は、本来、配当獲得を主眼とする少数株主の視点に立った評価手法です。したがって、本件取引の性質上、採用は適切ではないと判断しました。</a:t>
                      </a:r>
                    </a:p>
                  </a:txBody>
                  <a:tcPr marL="108000" marR="108000" marT="0" marB="0" anchor="ctr">
                    <a:lnL w="12700" cmpd="sng">
                      <a:noFill/>
                    </a:lnL>
                    <a:lnR w="12700" cmpd="sng">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6927477"/>
                  </a:ext>
                </a:extLst>
              </a:tr>
            </a:tbl>
          </a:graphicData>
        </a:graphic>
      </p:graphicFrame>
      <p:sp>
        <p:nvSpPr>
          <p:cNvPr id="36" name="正方形/長方形 35">
            <a:extLst>
              <a:ext uri="{FF2B5EF4-FFF2-40B4-BE49-F238E27FC236}">
                <a16:creationId xmlns:a16="http://schemas.microsoft.com/office/drawing/2014/main" id="{F9F3D3B4-E97C-CA46-6200-0218472772E0}"/>
              </a:ext>
            </a:extLst>
          </p:cNvPr>
          <p:cNvSpPr/>
          <p:nvPr/>
        </p:nvSpPr>
        <p:spPr>
          <a:xfrm>
            <a:off x="449263" y="6120538"/>
            <a:ext cx="1440000" cy="72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612000" tIns="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37" name="グループ化 36">
            <a:extLst>
              <a:ext uri="{FF2B5EF4-FFF2-40B4-BE49-F238E27FC236}">
                <a16:creationId xmlns:a16="http://schemas.microsoft.com/office/drawing/2014/main" id="{E898EBFA-2528-F2FB-84C8-F09FADD39F13}"/>
              </a:ext>
            </a:extLst>
          </p:cNvPr>
          <p:cNvGrpSpPr/>
          <p:nvPr/>
        </p:nvGrpSpPr>
        <p:grpSpPr>
          <a:xfrm>
            <a:off x="583355" y="6293952"/>
            <a:ext cx="373173" cy="373173"/>
            <a:chOff x="557955" y="6293952"/>
            <a:chExt cx="373173" cy="373173"/>
          </a:xfrm>
        </p:grpSpPr>
        <p:sp>
          <p:nvSpPr>
            <p:cNvPr id="38" name="楕円 37">
              <a:extLst>
                <a:ext uri="{FF2B5EF4-FFF2-40B4-BE49-F238E27FC236}">
                  <a16:creationId xmlns:a16="http://schemas.microsoft.com/office/drawing/2014/main" id="{389C6F0D-9B5A-2543-2198-3B5B285670D8}"/>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39" name="グループ化 38">
              <a:extLst>
                <a:ext uri="{FF2B5EF4-FFF2-40B4-BE49-F238E27FC236}">
                  <a16:creationId xmlns:a16="http://schemas.microsoft.com/office/drawing/2014/main" id="{8560C8E1-4DCA-CEC1-7D98-78FA5AFE8E73}"/>
                </a:ext>
              </a:extLst>
            </p:cNvPr>
            <p:cNvGrpSpPr/>
            <p:nvPr/>
          </p:nvGrpSpPr>
          <p:grpSpPr>
            <a:xfrm>
              <a:off x="620003" y="6342163"/>
              <a:ext cx="249077" cy="276751"/>
              <a:chOff x="605367" y="6371166"/>
              <a:chExt cx="210977" cy="234418"/>
            </a:xfrm>
          </p:grpSpPr>
          <p:sp>
            <p:nvSpPr>
              <p:cNvPr id="40" name="フリーフォーム: 図形 39">
                <a:extLst>
                  <a:ext uri="{FF2B5EF4-FFF2-40B4-BE49-F238E27FC236}">
                    <a16:creationId xmlns:a16="http://schemas.microsoft.com/office/drawing/2014/main" id="{79744F08-7A7F-1C36-C1D9-B8ED71537226}"/>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41" name="フリーフォーム: 図形 40">
                <a:extLst>
                  <a:ext uri="{FF2B5EF4-FFF2-40B4-BE49-F238E27FC236}">
                    <a16:creationId xmlns:a16="http://schemas.microsoft.com/office/drawing/2014/main" id="{D3FCDE67-0CF1-77D9-659B-CE2034D9D9B8}"/>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42" name="フリーフォーム: 図形 41">
                <a:extLst>
                  <a:ext uri="{FF2B5EF4-FFF2-40B4-BE49-F238E27FC236}">
                    <a16:creationId xmlns:a16="http://schemas.microsoft.com/office/drawing/2014/main" id="{2AE217CF-74E8-32CA-65CD-76EB0FEEDDD3}"/>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43" name="フリーフォーム: 図形 42">
                <a:extLst>
                  <a:ext uri="{FF2B5EF4-FFF2-40B4-BE49-F238E27FC236}">
                    <a16:creationId xmlns:a16="http://schemas.microsoft.com/office/drawing/2014/main" id="{02308513-C54F-4FAE-A20F-B4579F782FD7}"/>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6" name="フリーフォーム: 図形 45">
                <a:extLst>
                  <a:ext uri="{FF2B5EF4-FFF2-40B4-BE49-F238E27FC236}">
                    <a16:creationId xmlns:a16="http://schemas.microsoft.com/office/drawing/2014/main" id="{A66EF74A-42E2-64CE-3710-A80D5B8E3B53}"/>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47" name="フリーフォーム: 図形 46">
                <a:extLst>
                  <a:ext uri="{FF2B5EF4-FFF2-40B4-BE49-F238E27FC236}">
                    <a16:creationId xmlns:a16="http://schemas.microsoft.com/office/drawing/2014/main" id="{B0D5B854-2E41-4D3A-468F-D33B76BF091C}"/>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48" name="グラフィックス 32">
                <a:extLst>
                  <a:ext uri="{FF2B5EF4-FFF2-40B4-BE49-F238E27FC236}">
                    <a16:creationId xmlns:a16="http://schemas.microsoft.com/office/drawing/2014/main" id="{F383B767-481F-2755-6F75-CD54335E4008}"/>
                  </a:ext>
                </a:extLst>
              </p:cNvPr>
              <p:cNvGrpSpPr/>
              <p:nvPr/>
            </p:nvGrpSpPr>
            <p:grpSpPr>
              <a:xfrm>
                <a:off x="639299" y="6399061"/>
                <a:ext cx="149149" cy="149149"/>
                <a:chOff x="639299" y="6399061"/>
                <a:chExt cx="149149" cy="149149"/>
              </a:xfrm>
            </p:grpSpPr>
            <p:sp>
              <p:nvSpPr>
                <p:cNvPr id="59" name="フリーフォーム: 図形 58">
                  <a:extLst>
                    <a:ext uri="{FF2B5EF4-FFF2-40B4-BE49-F238E27FC236}">
                      <a16:creationId xmlns:a16="http://schemas.microsoft.com/office/drawing/2014/main" id="{5B51B83B-0943-ADC2-2455-8E83664BBFBE}"/>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0" name="フリーフォーム: 図形 59">
                  <a:extLst>
                    <a:ext uri="{FF2B5EF4-FFF2-40B4-BE49-F238E27FC236}">
                      <a16:creationId xmlns:a16="http://schemas.microsoft.com/office/drawing/2014/main" id="{145276C0-2C8D-7A97-FD3D-0F906A846958}"/>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49" name="フリーフォーム: 図形 48">
                <a:extLst>
                  <a:ext uri="{FF2B5EF4-FFF2-40B4-BE49-F238E27FC236}">
                    <a16:creationId xmlns:a16="http://schemas.microsoft.com/office/drawing/2014/main" id="{77EB68C9-E454-9D24-23CA-711803A1911D}"/>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50" name="グラフィックス 32">
                <a:extLst>
                  <a:ext uri="{FF2B5EF4-FFF2-40B4-BE49-F238E27FC236}">
                    <a16:creationId xmlns:a16="http://schemas.microsoft.com/office/drawing/2014/main" id="{528FAC06-79C8-D0C3-7A25-10E574345A71}"/>
                  </a:ext>
                </a:extLst>
              </p:cNvPr>
              <p:cNvGrpSpPr/>
              <p:nvPr/>
            </p:nvGrpSpPr>
            <p:grpSpPr>
              <a:xfrm>
                <a:off x="605367" y="6470794"/>
                <a:ext cx="210977" cy="5860"/>
                <a:chOff x="605367" y="6470794"/>
                <a:chExt cx="210977" cy="5860"/>
              </a:xfrm>
            </p:grpSpPr>
            <p:sp>
              <p:nvSpPr>
                <p:cNvPr id="57" name="フリーフォーム: 図形 56">
                  <a:extLst>
                    <a:ext uri="{FF2B5EF4-FFF2-40B4-BE49-F238E27FC236}">
                      <a16:creationId xmlns:a16="http://schemas.microsoft.com/office/drawing/2014/main" id="{4BFFA65F-8343-57FF-3BF0-A0744E26E026}"/>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D250E6B6-FB2D-5104-EDE9-70FC57F8A4FD}"/>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51" name="グラフィックス 32">
                <a:extLst>
                  <a:ext uri="{FF2B5EF4-FFF2-40B4-BE49-F238E27FC236}">
                    <a16:creationId xmlns:a16="http://schemas.microsoft.com/office/drawing/2014/main" id="{8986A5C1-349E-7A36-3EE9-7277DE54D243}"/>
                  </a:ext>
                </a:extLst>
              </p:cNvPr>
              <p:cNvGrpSpPr/>
              <p:nvPr/>
            </p:nvGrpSpPr>
            <p:grpSpPr>
              <a:xfrm>
                <a:off x="633262" y="6399061"/>
                <a:ext cx="149149" cy="149149"/>
                <a:chOff x="633262" y="6399061"/>
                <a:chExt cx="149149" cy="149149"/>
              </a:xfrm>
            </p:grpSpPr>
            <p:sp>
              <p:nvSpPr>
                <p:cNvPr id="53" name="フリーフォーム: 図形 52">
                  <a:extLst>
                    <a:ext uri="{FF2B5EF4-FFF2-40B4-BE49-F238E27FC236}">
                      <a16:creationId xmlns:a16="http://schemas.microsoft.com/office/drawing/2014/main" id="{F5412291-1DB9-9DE1-6A56-7377A0D63C34}"/>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C2E1BD1C-9D4B-37D8-0888-6D40B6A45667}"/>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sp>
        <p:nvSpPr>
          <p:cNvPr id="61" name="グラフィックス 59">
            <a:extLst>
              <a:ext uri="{FF2B5EF4-FFF2-40B4-BE49-F238E27FC236}">
                <a16:creationId xmlns:a16="http://schemas.microsoft.com/office/drawing/2014/main" id="{4243167B-A39B-11A2-C832-56FC6093FF70}"/>
              </a:ext>
            </a:extLst>
          </p:cNvPr>
          <p:cNvSpPr/>
          <p:nvPr/>
        </p:nvSpPr>
        <p:spPr>
          <a:xfrm>
            <a:off x="3507052" y="2478212"/>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sp>
        <p:nvSpPr>
          <p:cNvPr id="62" name="グラフィックス 59">
            <a:extLst>
              <a:ext uri="{FF2B5EF4-FFF2-40B4-BE49-F238E27FC236}">
                <a16:creationId xmlns:a16="http://schemas.microsoft.com/office/drawing/2014/main" id="{5DBAFE3A-EBEF-EBB2-E8FA-8870D3C86C9D}"/>
              </a:ext>
            </a:extLst>
          </p:cNvPr>
          <p:cNvSpPr/>
          <p:nvPr/>
        </p:nvSpPr>
        <p:spPr>
          <a:xfrm>
            <a:off x="3507052" y="3846447"/>
            <a:ext cx="104965" cy="85725"/>
          </a:xfrm>
          <a:custGeom>
            <a:avLst/>
            <a:gdLst>
              <a:gd name="csX0" fmla="*/ 0 w 104965"/>
              <a:gd name="csY0" fmla="*/ 47625 h 85725"/>
              <a:gd name="csX1" fmla="*/ 38100 w 104965"/>
              <a:gd name="csY1" fmla="*/ 85725 h 85725"/>
              <a:gd name="csX2" fmla="*/ 104966 w 104965"/>
              <a:gd name="csY2" fmla="*/ 0 h 85725"/>
            </a:gdLst>
            <a:ahLst/>
            <a:cxnLst>
              <a:cxn ang="0">
                <a:pos x="csX0" y="csY0"/>
              </a:cxn>
              <a:cxn ang="0">
                <a:pos x="csX1" y="csY1"/>
              </a:cxn>
              <a:cxn ang="0">
                <a:pos x="csX2" y="csY2"/>
              </a:cxn>
            </a:cxnLst>
            <a:rect l="l" t="t" r="r" b="b"/>
            <a:pathLst>
              <a:path w="104965" h="85725">
                <a:moveTo>
                  <a:pt x="0" y="47625"/>
                </a:moveTo>
                <a:lnTo>
                  <a:pt x="38100" y="85725"/>
                </a:lnTo>
                <a:lnTo>
                  <a:pt x="104966" y="0"/>
                </a:lnTo>
              </a:path>
            </a:pathLst>
          </a:custGeom>
          <a:noFill/>
          <a:ln w="25400" cap="rnd">
            <a:solidFill>
              <a:schemeClr val="accent4"/>
            </a:solidFill>
            <a:prstDash val="solid"/>
            <a:round/>
          </a:ln>
        </p:spPr>
        <p:txBody>
          <a:bodyPr/>
          <a:lstStyle/>
          <a:p>
            <a:endParaRPr lang="ja-JP" altLang="en-US"/>
          </a:p>
        </p:txBody>
      </p:sp>
      <p:grpSp>
        <p:nvGrpSpPr>
          <p:cNvPr id="84" name="グループ化 83">
            <a:extLst>
              <a:ext uri="{FF2B5EF4-FFF2-40B4-BE49-F238E27FC236}">
                <a16:creationId xmlns:a16="http://schemas.microsoft.com/office/drawing/2014/main" id="{D26399A4-4A64-3667-475E-0430981C2BFA}"/>
              </a:ext>
            </a:extLst>
          </p:cNvPr>
          <p:cNvGrpSpPr/>
          <p:nvPr/>
        </p:nvGrpSpPr>
        <p:grpSpPr>
          <a:xfrm>
            <a:off x="5401757" y="2057401"/>
            <a:ext cx="557845" cy="3495772"/>
            <a:chOff x="5401757" y="2057401"/>
            <a:chExt cx="557845" cy="3495772"/>
          </a:xfrm>
        </p:grpSpPr>
        <p:grpSp>
          <p:nvGrpSpPr>
            <p:cNvPr id="18" name="グループ化 17">
              <a:extLst>
                <a:ext uri="{FF2B5EF4-FFF2-40B4-BE49-F238E27FC236}">
                  <a16:creationId xmlns:a16="http://schemas.microsoft.com/office/drawing/2014/main" id="{DB5C609D-310E-C306-98F7-D4C2DD3642DA}"/>
                </a:ext>
              </a:extLst>
            </p:cNvPr>
            <p:cNvGrpSpPr/>
            <p:nvPr/>
          </p:nvGrpSpPr>
          <p:grpSpPr>
            <a:xfrm>
              <a:off x="5475363" y="2057401"/>
              <a:ext cx="410634" cy="734169"/>
              <a:chOff x="5517698" y="2057401"/>
              <a:chExt cx="410634" cy="734169"/>
            </a:xfrm>
          </p:grpSpPr>
          <p:sp>
            <p:nvSpPr>
              <p:cNvPr id="34" name="楕円 33">
                <a:extLst>
                  <a:ext uri="{FF2B5EF4-FFF2-40B4-BE49-F238E27FC236}">
                    <a16:creationId xmlns:a16="http://schemas.microsoft.com/office/drawing/2014/main" id="{479466C7-C649-A725-BD8C-7F7550AB2EEF}"/>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3FFEDA4B-E179-A28B-0195-9A0DA4F61678}"/>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nvGrpSpPr>
            <p:cNvPr id="21" name="グループ化 20">
              <a:extLst>
                <a:ext uri="{FF2B5EF4-FFF2-40B4-BE49-F238E27FC236}">
                  <a16:creationId xmlns:a16="http://schemas.microsoft.com/office/drawing/2014/main" id="{24D7C6D8-9BED-A365-0AF5-79DC01D710F6}"/>
                </a:ext>
              </a:extLst>
            </p:cNvPr>
            <p:cNvGrpSpPr/>
            <p:nvPr/>
          </p:nvGrpSpPr>
          <p:grpSpPr>
            <a:xfrm>
              <a:off x="5401757" y="4859957"/>
              <a:ext cx="557845" cy="693216"/>
              <a:chOff x="5444092" y="3460750"/>
              <a:chExt cx="557845" cy="693216"/>
            </a:xfrm>
          </p:grpSpPr>
          <p:sp>
            <p:nvSpPr>
              <p:cNvPr id="22" name="テキスト ボックス 21">
                <a:extLst>
                  <a:ext uri="{FF2B5EF4-FFF2-40B4-BE49-F238E27FC236}">
                    <a16:creationId xmlns:a16="http://schemas.microsoft.com/office/drawing/2014/main" id="{4200C4FF-D773-CD41-30AA-E5E5CC2A5E14}"/>
                  </a:ext>
                </a:extLst>
              </p:cNvPr>
              <p:cNvSpPr txBox="1"/>
              <p:nvPr/>
            </p:nvSpPr>
            <p:spPr>
              <a:xfrm>
                <a:off x="5444092" y="3938522"/>
                <a:ext cx="557845" cy="215444"/>
              </a:xfrm>
              <a:prstGeom prst="rect">
                <a:avLst/>
              </a:prstGeom>
              <a:noFill/>
            </p:spPr>
            <p:txBody>
              <a:bodyPr wrap="none" lIns="0" tIns="0" rIns="0" bIns="0" rtlCol="0">
                <a:spAutoFit/>
              </a:bodyPr>
              <a:lstStyle/>
              <a:p>
                <a:pPr algn="ctr"/>
                <a:r>
                  <a:rPr kumimoji="1" lang="ja-JP" altLang="en-US" sz="1400" b="1" spc="50" dirty="0">
                    <a:solidFill>
                      <a:schemeClr val="accent1"/>
                    </a:solidFill>
                    <a:latin typeface="+mj-ea"/>
                    <a:ea typeface="+mj-ea"/>
                  </a:rPr>
                  <a:t>不採用</a:t>
                </a:r>
              </a:p>
            </p:txBody>
          </p:sp>
          <p:grpSp>
            <p:nvGrpSpPr>
              <p:cNvPr id="23" name="グループ化 22">
                <a:extLst>
                  <a:ext uri="{FF2B5EF4-FFF2-40B4-BE49-F238E27FC236}">
                    <a16:creationId xmlns:a16="http://schemas.microsoft.com/office/drawing/2014/main" id="{112413C6-A96E-7D3F-B364-F303C091FB32}"/>
                  </a:ext>
                </a:extLst>
              </p:cNvPr>
              <p:cNvGrpSpPr>
                <a:grpSpLocks noChangeAspect="1"/>
              </p:cNvGrpSpPr>
              <p:nvPr/>
            </p:nvGrpSpPr>
            <p:grpSpPr>
              <a:xfrm>
                <a:off x="5543015" y="3460750"/>
                <a:ext cx="360000" cy="360000"/>
                <a:chOff x="-161714" y="1568450"/>
                <a:chExt cx="412750" cy="412750"/>
              </a:xfrm>
            </p:grpSpPr>
            <p:cxnSp>
              <p:nvCxnSpPr>
                <p:cNvPr id="27" name="直線コネクタ 26">
                  <a:extLst>
                    <a:ext uri="{FF2B5EF4-FFF2-40B4-BE49-F238E27FC236}">
                      <a16:creationId xmlns:a16="http://schemas.microsoft.com/office/drawing/2014/main" id="{F8365950-98F3-B0B0-FDB0-CC66BBDEEF5D}"/>
                    </a:ext>
                  </a:extLst>
                </p:cNvPr>
                <p:cNvCxnSpPr>
                  <a:cxnSpLocks/>
                </p:cNvCxnSpPr>
                <p:nvPr/>
              </p:nvCxnSpPr>
              <p:spPr>
                <a:xfrm>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cxnSp>
              <p:nvCxnSpPr>
                <p:cNvPr id="28" name="直線コネクタ 27">
                  <a:extLst>
                    <a:ext uri="{FF2B5EF4-FFF2-40B4-BE49-F238E27FC236}">
                      <a16:creationId xmlns:a16="http://schemas.microsoft.com/office/drawing/2014/main" id="{9DBF255E-AD57-19F7-5F05-E30869355B1B}"/>
                    </a:ext>
                  </a:extLst>
                </p:cNvPr>
                <p:cNvCxnSpPr>
                  <a:cxnSpLocks/>
                </p:cNvCxnSpPr>
                <p:nvPr/>
              </p:nvCxnSpPr>
              <p:spPr>
                <a:xfrm flipH="1">
                  <a:off x="-161714" y="1568450"/>
                  <a:ext cx="412750" cy="412750"/>
                </a:xfrm>
                <a:prstGeom prst="line">
                  <a:avLst/>
                </a:prstGeom>
                <a:noFill/>
                <a:ln w="31750" cap="rnd">
                  <a:solidFill>
                    <a:schemeClr val="accent1"/>
                  </a:solidFill>
                  <a:round/>
                </a:ln>
              </p:spPr>
              <p:style>
                <a:lnRef idx="2">
                  <a:schemeClr val="accent1">
                    <a:shade val="15000"/>
                  </a:schemeClr>
                </a:lnRef>
                <a:fillRef idx="1">
                  <a:schemeClr val="accent1"/>
                </a:fillRef>
                <a:effectRef idx="0">
                  <a:schemeClr val="accent1"/>
                </a:effectRef>
                <a:fontRef idx="minor">
                  <a:schemeClr val="lt1"/>
                </a:fontRef>
              </p:style>
            </p:cxnSp>
          </p:grpSp>
        </p:grpSp>
        <p:grpSp>
          <p:nvGrpSpPr>
            <p:cNvPr id="81" name="グループ化 80">
              <a:extLst>
                <a:ext uri="{FF2B5EF4-FFF2-40B4-BE49-F238E27FC236}">
                  <a16:creationId xmlns:a16="http://schemas.microsoft.com/office/drawing/2014/main" id="{4BB2CB5C-26A6-5AA8-C554-5E6E15B6C766}"/>
                </a:ext>
              </a:extLst>
            </p:cNvPr>
            <p:cNvGrpSpPr/>
            <p:nvPr/>
          </p:nvGrpSpPr>
          <p:grpSpPr>
            <a:xfrm>
              <a:off x="5475363" y="3458679"/>
              <a:ext cx="410634" cy="734169"/>
              <a:chOff x="5517698" y="2057401"/>
              <a:chExt cx="410634" cy="734169"/>
            </a:xfrm>
          </p:grpSpPr>
          <p:sp>
            <p:nvSpPr>
              <p:cNvPr id="82" name="楕円 81">
                <a:extLst>
                  <a:ext uri="{FF2B5EF4-FFF2-40B4-BE49-F238E27FC236}">
                    <a16:creationId xmlns:a16="http://schemas.microsoft.com/office/drawing/2014/main" id="{5B3FD3C1-E450-32CE-E683-E79A71D468AB}"/>
                  </a:ext>
                </a:extLst>
              </p:cNvPr>
              <p:cNvSpPr/>
              <p:nvPr/>
            </p:nvSpPr>
            <p:spPr>
              <a:xfrm>
                <a:off x="5517698" y="2057401"/>
                <a:ext cx="410634" cy="410634"/>
              </a:xfrm>
              <a:prstGeom prst="ellipse">
                <a:avLst/>
              </a:prstGeom>
              <a:noFill/>
              <a:ln w="31750" cap="rnd">
                <a:solidFill>
                  <a:schemeClr val="accent4"/>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テキスト ボックス 82">
                <a:extLst>
                  <a:ext uri="{FF2B5EF4-FFF2-40B4-BE49-F238E27FC236}">
                    <a16:creationId xmlns:a16="http://schemas.microsoft.com/office/drawing/2014/main" id="{8DA332E3-3670-A6D4-F20F-91D631A6833E}"/>
                  </a:ext>
                </a:extLst>
              </p:cNvPr>
              <p:cNvSpPr txBox="1"/>
              <p:nvPr/>
            </p:nvSpPr>
            <p:spPr>
              <a:xfrm>
                <a:off x="5537066" y="2576126"/>
                <a:ext cx="371897" cy="215444"/>
              </a:xfrm>
              <a:prstGeom prst="rect">
                <a:avLst/>
              </a:prstGeom>
              <a:noFill/>
            </p:spPr>
            <p:txBody>
              <a:bodyPr wrap="none" lIns="0" tIns="0" rIns="0" bIns="0" rtlCol="0">
                <a:spAutoFit/>
              </a:bodyPr>
              <a:lstStyle/>
              <a:p>
                <a:pPr algn="ctr"/>
                <a:r>
                  <a:rPr kumimoji="1" lang="ja-JP" altLang="en-US" sz="1400" b="1" spc="50" dirty="0">
                    <a:solidFill>
                      <a:schemeClr val="accent4"/>
                    </a:solidFill>
                    <a:latin typeface="+mj-ea"/>
                    <a:ea typeface="+mj-ea"/>
                  </a:rPr>
                  <a:t>採用</a:t>
                </a:r>
              </a:p>
            </p:txBody>
          </p:sp>
        </p:grpSp>
      </p:grpSp>
    </p:spTree>
    <p:extLst>
      <p:ext uri="{BB962C8B-B14F-4D97-AF65-F5344CB8AC3E}">
        <p14:creationId xmlns:p14="http://schemas.microsoft.com/office/powerpoint/2010/main" val="71424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059B5-FB60-D143-C280-CC8417F28261}"/>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1F94532-DA10-FFBE-8C16-C508182360BE}"/>
              </a:ext>
            </a:extLst>
          </p:cNvPr>
          <p:cNvSpPr/>
          <p:nvPr/>
        </p:nvSpPr>
        <p:spPr>
          <a:xfrm>
            <a:off x="449263" y="3257914"/>
            <a:ext cx="8229600"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株式価値試算結果</a:t>
            </a:r>
          </a:p>
        </p:txBody>
      </p:sp>
      <p:sp>
        <p:nvSpPr>
          <p:cNvPr id="26" name="タイトル 25">
            <a:extLst>
              <a:ext uri="{FF2B5EF4-FFF2-40B4-BE49-F238E27FC236}">
                <a16:creationId xmlns:a16="http://schemas.microsoft.com/office/drawing/2014/main" id="{13D15798-0B0F-EC57-0019-D0F77B468AEF}"/>
              </a:ext>
            </a:extLst>
          </p:cNvPr>
          <p:cNvSpPr>
            <a:spLocks noGrp="1"/>
          </p:cNvSpPr>
          <p:nvPr>
            <p:ph type="ctrTitle"/>
          </p:nvPr>
        </p:nvSpPr>
        <p:spPr>
          <a:xfrm>
            <a:off x="341313" y="180653"/>
            <a:ext cx="7799917" cy="338554"/>
          </a:xfrm>
        </p:spPr>
        <p:txBody>
          <a:bodyPr/>
          <a:lstStyle/>
          <a:p>
            <a:r>
              <a:rPr lang="ja-JP" altLang="en-US" dirty="0"/>
              <a:t>株式価値試算結果</a:t>
            </a:r>
          </a:p>
        </p:txBody>
      </p:sp>
      <p:sp>
        <p:nvSpPr>
          <p:cNvPr id="10" name="タイトル 1">
            <a:extLst>
              <a:ext uri="{FF2B5EF4-FFF2-40B4-BE49-F238E27FC236}">
                <a16:creationId xmlns:a16="http://schemas.microsoft.com/office/drawing/2014/main" id="{258AD7E0-D342-7F0B-B7C4-8C6662E241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7" name="正方形/長方形 6">
            <a:extLst>
              <a:ext uri="{FF2B5EF4-FFF2-40B4-BE49-F238E27FC236}">
                <a16:creationId xmlns:a16="http://schemas.microsoft.com/office/drawing/2014/main" id="{600396BE-765E-25EB-B4B0-EC8CCF4E55A6}"/>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試算の前提条件</a:t>
            </a:r>
          </a:p>
        </p:txBody>
      </p:sp>
      <p:graphicFrame>
        <p:nvGraphicFramePr>
          <p:cNvPr id="15" name="表 14">
            <a:extLst>
              <a:ext uri="{FF2B5EF4-FFF2-40B4-BE49-F238E27FC236}">
                <a16:creationId xmlns:a16="http://schemas.microsoft.com/office/drawing/2014/main" id="{8380FA3D-B192-E961-5C06-72E4D8504090}"/>
              </a:ext>
            </a:extLst>
          </p:cNvPr>
          <p:cNvGraphicFramePr>
            <a:graphicFrameLocks noGrp="1"/>
          </p:cNvGraphicFramePr>
          <p:nvPr>
            <p:extLst>
              <p:ext uri="{D42A27DB-BD31-4B8C-83A1-F6EECF244321}">
                <p14:modId xmlns:p14="http://schemas.microsoft.com/office/powerpoint/2010/main" val="3966982875"/>
              </p:ext>
            </p:extLst>
          </p:nvPr>
        </p:nvGraphicFramePr>
        <p:xfrm>
          <a:off x="449263" y="1276419"/>
          <a:ext cx="9792000" cy="162000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2925986688"/>
                    </a:ext>
                  </a:extLst>
                </a:gridCol>
                <a:gridCol w="8712000">
                  <a:extLst>
                    <a:ext uri="{9D8B030D-6E8A-4147-A177-3AD203B41FA5}">
                      <a16:colId xmlns:a16="http://schemas.microsoft.com/office/drawing/2014/main" val="803462936"/>
                    </a:ext>
                  </a:extLst>
                </a:gridCol>
              </a:tblGrid>
              <a:tr h="288000">
                <a:tc>
                  <a:txBody>
                    <a:bodyPr/>
                    <a:lstStyle/>
                    <a:p>
                      <a:pPr algn="l" fontAlgn="ctr">
                        <a:buNone/>
                      </a:pPr>
                      <a:r>
                        <a:rPr lang="ja-JP" altLang="en-US" sz="1200" b="1" u="none" strike="noStrike" spc="50" baseline="0" dirty="0">
                          <a:effectLst/>
                          <a:latin typeface="+mj-lt"/>
                          <a:ea typeface="+mj-ea"/>
                        </a:rPr>
                        <a:t>評価対象</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LUXAS株式会社</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972504"/>
                  </a:ext>
                </a:extLst>
              </a:tr>
              <a:tr h="288000">
                <a:tc>
                  <a:txBody>
                    <a:bodyPr/>
                    <a:lstStyle/>
                    <a:p>
                      <a:pPr algn="l" fontAlgn="ctr">
                        <a:buNone/>
                      </a:pPr>
                      <a:r>
                        <a:rPr lang="ja-JP" altLang="en-US" sz="1200" b="1" u="none" strike="noStrike" spc="50" baseline="0" dirty="0">
                          <a:effectLst/>
                          <a:latin typeface="+mj-lt"/>
                          <a:ea typeface="+mj-ea"/>
                        </a:rPr>
                        <a:t>算定日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sz="1100" b="0" u="none" strike="noStrike" spc="50" baseline="0" dirty="0">
                          <a:effectLst/>
                          <a:latin typeface="+mn-ea"/>
                          <a:ea typeface="+mn-ea"/>
                        </a:rPr>
                        <a:t>2026年9月25日</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7319347"/>
                  </a:ext>
                </a:extLst>
              </a:tr>
              <a:tr h="288000">
                <a:tc>
                  <a:txBody>
                    <a:bodyPr/>
                    <a:lstStyle/>
                    <a:p>
                      <a:pPr algn="l" fontAlgn="ctr">
                        <a:buNone/>
                      </a:pPr>
                      <a:r>
                        <a:rPr lang="ja-JP" altLang="en-US" sz="1200" b="1" u="none" strike="noStrike" spc="50" baseline="0" dirty="0">
                          <a:effectLst/>
                          <a:latin typeface="+mj-lt"/>
                          <a:ea typeface="+mj-ea"/>
                        </a:rPr>
                        <a:t>基準日</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2025年11月期（貸借対照表の基準日）</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7021639"/>
                  </a:ext>
                </a:extLst>
              </a:tr>
              <a:tr h="288000">
                <a:tc>
                  <a:txBody>
                    <a:bodyPr/>
                    <a:lstStyle/>
                    <a:p>
                      <a:pPr algn="l" fontAlgn="ctr">
                        <a:buNone/>
                      </a:pPr>
                      <a:r>
                        <a:rPr lang="ja-JP" altLang="en-US" sz="1200" b="1" i="0" u="none" strike="noStrike" spc="50" baseline="0" dirty="0">
                          <a:solidFill>
                            <a:srgbClr val="000000"/>
                          </a:solidFill>
                          <a:effectLst/>
                          <a:latin typeface="+mj-lt"/>
                          <a:ea typeface="+mj-ea"/>
                        </a:rPr>
                        <a:t>参照期間</a:t>
                      </a: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en-US" altLang="ja-JP" sz="1100" b="0" u="none" strike="noStrike" spc="50" baseline="0" dirty="0">
                          <a:effectLst/>
                          <a:latin typeface="+mn-ea"/>
                          <a:ea typeface="+mn-ea"/>
                        </a:rPr>
                        <a:t>2023年11月期〜2025年11月期（損益計算書の参照期間）</a:t>
                      </a:r>
                      <a:endParaRPr lang="en-US" altLang="ja-JP" sz="1100" b="0" u="none" strike="noStrike" spc="50" baseline="0" dirty="0">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669453"/>
                  </a:ext>
                </a:extLst>
              </a:tr>
              <a:tr h="468000">
                <a:tc>
                  <a:txBody>
                    <a:bodyPr/>
                    <a:lstStyle/>
                    <a:p>
                      <a:pPr algn="l" fontAlgn="ctr">
                        <a:buNone/>
                      </a:pPr>
                      <a:r>
                        <a:rPr lang="ja-JP" altLang="en-US" sz="1200" b="1" u="none" strike="noStrike" spc="50" baseline="0" dirty="0">
                          <a:effectLst/>
                          <a:latin typeface="+mj-lt"/>
                          <a:ea typeface="+mj-ea"/>
                        </a:rPr>
                        <a:t>目的</a:t>
                      </a:r>
                      <a:endParaRPr lang="ja-JP" altLang="en-US" sz="1200" b="1" i="0" u="none" strike="noStrike" spc="50" baseline="0" dirty="0">
                        <a:solidFill>
                          <a:srgbClr val="000000"/>
                        </a:solidFill>
                        <a:effectLst/>
                        <a:latin typeface="+mj-lt"/>
                        <a:ea typeface="+mj-ea"/>
                      </a:endParaRPr>
                    </a:p>
                  </a:txBody>
                  <a:tcPr marL="144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l" rtl="0" fontAlgn="ctr">
                        <a:buNone/>
                      </a:pPr>
                      <a:r>
                        <a:rPr lang="ja-JP" altLang="en-US" sz="1100" b="0" u="none" strike="noStrike" spc="50" baseline="0" dirty="0">
                          <a:effectLst/>
                          <a:latin typeface="+mn-ea"/>
                          <a:ea typeface="+mn-ea"/>
                        </a:rPr>
                        <a:t>対象会社の過半数の株式を第三者間で売買取引・M&amp;Aする場合（「本件取引」といいます）の譲渡価額決定の参考資料とすること（「本件試算目的」といいます）を目的に本株式価値試算報告書は作成されております。</a:t>
                      </a:r>
                      <a:endParaRPr lang="ja-JP" altLang="en-US" sz="1100" b="0" i="0" u="none" strike="noStrike" spc="50" baseline="0" dirty="0">
                        <a:solidFill>
                          <a:srgbClr val="000000"/>
                        </a:solidFill>
                        <a:effectLst/>
                        <a:latin typeface="+mn-ea"/>
                        <a:ea typeface="+mn-ea"/>
                      </a:endParaRPr>
                    </a:p>
                  </a:txBody>
                  <a:tcPr marL="108000" marR="0" marT="0" marB="0" anchor="ctr">
                    <a:lnL w="12700" cmpd="sng">
                      <a:noFill/>
                    </a:lnL>
                    <a:lnR w="12700" cmpd="sng">
                      <a:noFill/>
                    </a:lnR>
                    <a:lnT w="63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7865392"/>
                  </a:ext>
                </a:extLst>
              </a:tr>
            </a:tbl>
          </a:graphicData>
        </a:graphic>
      </p:graphicFrame>
      <p:sp>
        <p:nvSpPr>
          <p:cNvPr id="13" name="テキスト ボックス 12">
            <a:extLst>
              <a:ext uri="{FF2B5EF4-FFF2-40B4-BE49-F238E27FC236}">
                <a16:creationId xmlns:a16="http://schemas.microsoft.com/office/drawing/2014/main" id="{4DA9828D-AE4F-DE9E-A514-7657576FA044}"/>
              </a:ext>
            </a:extLst>
          </p:cNvPr>
          <p:cNvSpPr txBox="1"/>
          <p:nvPr/>
        </p:nvSpPr>
        <p:spPr>
          <a:xfrm>
            <a:off x="449263" y="3643540"/>
            <a:ext cx="2182008"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コストアプローチ（年買法）</a:t>
            </a:r>
            <a:endParaRPr lang="zh-TW" altLang="en-US" sz="1200" b="1" dirty="0">
              <a:latin typeface="+mj-ea"/>
              <a:ea typeface="+mj-ea"/>
            </a:endParaRPr>
          </a:p>
        </p:txBody>
      </p:sp>
      <p:sp>
        <p:nvSpPr>
          <p:cNvPr id="14" name="テキスト ボックス 13">
            <a:extLst>
              <a:ext uri="{FF2B5EF4-FFF2-40B4-BE49-F238E27FC236}">
                <a16:creationId xmlns:a16="http://schemas.microsoft.com/office/drawing/2014/main" id="{0571F37E-300F-5933-03E4-F551A36628E1}"/>
              </a:ext>
            </a:extLst>
          </p:cNvPr>
          <p:cNvSpPr txBox="1"/>
          <p:nvPr/>
        </p:nvSpPr>
        <p:spPr>
          <a:xfrm>
            <a:off x="449263" y="4632086"/>
            <a:ext cx="3817071"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マーケットアプローチ（</a:t>
            </a:r>
            <a:r>
              <a:rPr lang="en-US" altLang="ja-JP" sz="1200" b="1" dirty="0">
                <a:latin typeface="+mj-ea"/>
                <a:ea typeface="+mj-ea"/>
              </a:rPr>
              <a:t>EV/EBITDA</a:t>
            </a:r>
            <a:r>
              <a:rPr lang="ja-JP" altLang="en-US" sz="1200" b="1" dirty="0">
                <a:latin typeface="+mj-ea"/>
                <a:ea typeface="+mj-ea"/>
              </a:rPr>
              <a:t>マルチプル法）</a:t>
            </a:r>
          </a:p>
        </p:txBody>
      </p:sp>
      <p:sp>
        <p:nvSpPr>
          <p:cNvPr id="16" name="テキスト ボックス 15">
            <a:extLst>
              <a:ext uri="{FF2B5EF4-FFF2-40B4-BE49-F238E27FC236}">
                <a16:creationId xmlns:a16="http://schemas.microsoft.com/office/drawing/2014/main" id="{D184A0B6-D006-557B-7A6C-DB0A24D85D2B}"/>
              </a:ext>
            </a:extLst>
          </p:cNvPr>
          <p:cNvSpPr txBox="1"/>
          <p:nvPr/>
        </p:nvSpPr>
        <p:spPr>
          <a:xfrm>
            <a:off x="449263" y="5629322"/>
            <a:ext cx="2355132" cy="221018"/>
          </a:xfrm>
          <a:prstGeom prst="rect">
            <a:avLst/>
          </a:prstGeom>
          <a:noFill/>
        </p:spPr>
        <p:txBody>
          <a:bodyPr wrap="none" lIns="0" tIns="0" rIns="0" bIns="36000" rtlCol="0" anchor="b">
            <a:spAutoFit/>
          </a:bodyPr>
          <a:lstStyle/>
          <a:p>
            <a:pPr marL="180000" indent="-180000">
              <a:buClr>
                <a:schemeClr val="tx2"/>
              </a:buClr>
              <a:buSzPct val="80000"/>
              <a:buFont typeface="Wingdings" panose="05000000000000000000" pitchFamily="2" charset="2"/>
              <a:buChar char="n"/>
            </a:pPr>
            <a:r>
              <a:rPr lang="ja-JP" altLang="en-US" sz="1200" b="1" dirty="0">
                <a:latin typeface="+mj-ea"/>
                <a:ea typeface="+mj-ea"/>
              </a:rPr>
              <a:t>インカムアプローチ（</a:t>
            </a:r>
            <a:r>
              <a:rPr lang="en-US" altLang="ja-JP" sz="1200" b="1" dirty="0">
                <a:latin typeface="+mj-ea"/>
                <a:ea typeface="+mj-ea"/>
              </a:rPr>
              <a:t>DCF</a:t>
            </a:r>
            <a:r>
              <a:rPr lang="ja-JP" altLang="en-US" sz="1200" b="1" dirty="0">
                <a:latin typeface="+mj-ea"/>
                <a:ea typeface="+mj-ea"/>
              </a:rPr>
              <a:t>法）</a:t>
            </a:r>
            <a:endParaRPr lang="en-US" altLang="ja-JP" sz="1200" b="1" dirty="0">
              <a:latin typeface="+mj-ea"/>
              <a:ea typeface="+mj-ea"/>
            </a:endParaRPr>
          </a:p>
        </p:txBody>
      </p:sp>
      <p:sp>
        <p:nvSpPr>
          <p:cNvPr id="30" name="フローチャート: 処理 29">
            <a:extLst>
              <a:ext uri="{FF2B5EF4-FFF2-40B4-BE49-F238E27FC236}">
                <a16:creationId xmlns:a16="http://schemas.microsoft.com/office/drawing/2014/main" id="{AC729EB1-0964-BC40-F3C1-457DAE613AA5}"/>
              </a:ext>
            </a:extLst>
          </p:cNvPr>
          <p:cNvSpPr/>
          <p:nvPr/>
        </p:nvSpPr>
        <p:spPr>
          <a:xfrm>
            <a:off x="449263" y="3964277"/>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 54,972 〜 △ 42,502（千円）</a:t>
            </a:r>
          </a:p>
        </p:txBody>
      </p:sp>
      <p:sp>
        <p:nvSpPr>
          <p:cNvPr id="31" name="正方形/長方形 30">
            <a:extLst>
              <a:ext uri="{FF2B5EF4-FFF2-40B4-BE49-F238E27FC236}">
                <a16:creationId xmlns:a16="http://schemas.microsoft.com/office/drawing/2014/main" id="{C1D83875-1354-478D-3F35-D7D444FAAA33}"/>
              </a:ext>
            </a:extLst>
          </p:cNvPr>
          <p:cNvSpPr/>
          <p:nvPr/>
        </p:nvSpPr>
        <p:spPr>
          <a:xfrm>
            <a:off x="449263" y="3964277"/>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
        <p:nvSpPr>
          <p:cNvPr id="6" name="正方形/長方形 5">
            <a:extLst>
              <a:ext uri="{FF2B5EF4-FFF2-40B4-BE49-F238E27FC236}">
                <a16:creationId xmlns:a16="http://schemas.microsoft.com/office/drawing/2014/main" id="{17A298AC-04B9-69B2-3669-CBEBBB69DC3B}"/>
              </a:ext>
            </a:extLst>
          </p:cNvPr>
          <p:cNvSpPr/>
          <p:nvPr/>
        </p:nvSpPr>
        <p:spPr>
          <a:xfrm>
            <a:off x="449263" y="5918514"/>
            <a:ext cx="9901235" cy="516169"/>
          </a:xfrm>
          <a:prstGeom prst="rect">
            <a:avLst/>
          </a:prstGeom>
          <a:solidFill>
            <a:schemeClr val="bg2">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spc="50" dirty="0">
                <a:solidFill>
                  <a:schemeClr val="tx1"/>
                </a:solidFill>
                <a:latin typeface="+mj-ea"/>
                <a:ea typeface="+mj-ea"/>
              </a:rPr>
              <a:t>※※※※※</a:t>
            </a:r>
            <a:r>
              <a:rPr kumimoji="1" lang="ja-JP" altLang="en-US" sz="1200" b="1" spc="50" dirty="0">
                <a:solidFill>
                  <a:schemeClr val="tx1"/>
                </a:solidFill>
                <a:latin typeface="+mj-ea"/>
                <a:ea typeface="+mj-ea"/>
              </a:rPr>
              <a:t>不採用</a:t>
            </a:r>
            <a:r>
              <a:rPr kumimoji="1" lang="en-US" altLang="ja-JP" sz="1200" b="1" spc="50" dirty="0">
                <a:solidFill>
                  <a:schemeClr val="tx1"/>
                </a:solidFill>
                <a:latin typeface="+mj-ea"/>
                <a:ea typeface="+mj-ea"/>
              </a:rPr>
              <a:t>※※※※※</a:t>
            </a:r>
            <a:endParaRPr kumimoji="1" lang="ja-JP" altLang="en-US" sz="1200" b="1" spc="50" dirty="0">
              <a:solidFill>
                <a:schemeClr val="tx1"/>
              </a:solidFill>
              <a:latin typeface="+mj-ea"/>
              <a:ea typeface="+mj-ea"/>
            </a:endParaRPr>
          </a:p>
        </p:txBody>
      </p:sp>
      <p:sp>
        <p:nvSpPr>
          <p:cNvPr id="34" name="テキスト ボックス 33">
            <a:extLst>
              <a:ext uri="{FF2B5EF4-FFF2-40B4-BE49-F238E27FC236}">
                <a16:creationId xmlns:a16="http://schemas.microsoft.com/office/drawing/2014/main" id="{72CDD6C7-EAB4-9143-0AA5-D2C037712831}"/>
              </a:ext>
            </a:extLst>
          </p:cNvPr>
          <p:cNvSpPr txBox="1"/>
          <p:nvPr/>
        </p:nvSpPr>
        <p:spPr>
          <a:xfrm>
            <a:off x="9632353" y="3472169"/>
            <a:ext cx="718145" cy="123111"/>
          </a:xfrm>
          <a:prstGeom prst="rect">
            <a:avLst/>
          </a:prstGeom>
          <a:noFill/>
        </p:spPr>
        <p:txBody>
          <a:bodyPr wrap="none" lIns="0" tIns="0" rIns="0" bIns="0" rtlCol="0">
            <a:spAutoFit/>
          </a:bodyPr>
          <a:lstStyle/>
          <a:p>
            <a:pPr algn="r"/>
            <a:r>
              <a:rPr lang="ja-JP" altLang="en-US" sz="800" dirty="0">
                <a:latin typeface="+mn-ea"/>
              </a:rPr>
              <a:t>（単位：千円）</a:t>
            </a:r>
            <a:endParaRPr kumimoji="1" lang="ja-JP" altLang="en-US" sz="800" dirty="0">
              <a:latin typeface="+mn-ea"/>
            </a:endParaRPr>
          </a:p>
        </p:txBody>
      </p:sp>
      <p:sp>
        <p:nvSpPr>
          <p:cNvPr id="4" name="フローチャート: 処理 3">
            <a:extLst>
              <a:ext uri="{FF2B5EF4-FFF2-40B4-BE49-F238E27FC236}">
                <a16:creationId xmlns:a16="http://schemas.microsoft.com/office/drawing/2014/main" id="{31BA7B52-DE7E-53D3-E9FA-1E37D575B554}"/>
              </a:ext>
            </a:extLst>
          </p:cNvPr>
          <p:cNvSpPr/>
          <p:nvPr/>
        </p:nvSpPr>
        <p:spPr>
          <a:xfrm>
            <a:off x="449263" y="5009389"/>
            <a:ext cx="5682030" cy="432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620000" tIns="0" rIns="0" bIns="0" rtlCol="0" anchor="ctr"/>
          <a:lstStyle/>
          <a:p>
            <a:pPr algn="ctr"/>
            <a:r>
              <a:rPr kumimoji="1" lang="en-US" altLang="ja-JP" sz="2000" b="1" dirty="0">
                <a:solidFill>
                  <a:schemeClr val="tx1"/>
                </a:solidFill>
                <a:latin typeface="+mj-lt"/>
                <a:ea typeface="+mj-ea"/>
              </a:rPr>
              <a:t>△ 140,950 〜 △ 108,566（千円）</a:t>
            </a:r>
          </a:p>
        </p:txBody>
      </p:sp>
      <p:sp>
        <p:nvSpPr>
          <p:cNvPr id="3" name="正方形/長方形 2">
            <a:extLst>
              <a:ext uri="{FF2B5EF4-FFF2-40B4-BE49-F238E27FC236}">
                <a16:creationId xmlns:a16="http://schemas.microsoft.com/office/drawing/2014/main" id="{667841E7-61E2-BA67-43F8-6C81A4DEC72B}"/>
              </a:ext>
            </a:extLst>
          </p:cNvPr>
          <p:cNvSpPr/>
          <p:nvPr/>
        </p:nvSpPr>
        <p:spPr>
          <a:xfrm>
            <a:off x="449263" y="5009389"/>
            <a:ext cx="1440000" cy="43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5200" rIns="0" bIns="0" rtlCol="0" anchor="ctr"/>
          <a:lstStyle/>
          <a:p>
            <a:pPr algn="ctr">
              <a:buClr>
                <a:schemeClr val="tx2"/>
              </a:buClr>
              <a:buSzPct val="80000"/>
            </a:pPr>
            <a:r>
              <a:rPr lang="ja-JP" altLang="en-US" sz="1600" b="1" spc="70" dirty="0">
                <a:solidFill>
                  <a:schemeClr val="bg1"/>
                </a:solidFill>
                <a:latin typeface="+mj-lt"/>
                <a:ea typeface="+mj-ea"/>
              </a:rPr>
              <a:t>想定レンジ</a:t>
            </a:r>
          </a:p>
        </p:txBody>
      </p:sp>
    </p:spTree>
    <p:extLst>
      <p:ext uri="{BB962C8B-B14F-4D97-AF65-F5344CB8AC3E}">
        <p14:creationId xmlns:p14="http://schemas.microsoft.com/office/powerpoint/2010/main" val="3808153193"/>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参考｜進行期実績を年換算した場合の試算</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1. Valuation Summary</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前提｜不採算2店舗の撤退効果が通期で発現し、進行期7か月の水準が維持されること</a:t>
            </a:r>
          </a:p>
        </p:txBody>
      </p:sp>
      <p:graphicFrame>
        <p:nvGraphicFramePr>
          <p:cNvPr id="3" name="表 2">
            <a:extLst>
              <a:ext uri="{FF2B5EF4-FFF2-40B4-BE49-F238E27FC236}">
                <a16:creationId xmlns:a16="http://schemas.microsoft.com/office/drawing/2014/main" id="{26964AD7-83FC-660F-44A4-ED1569661D4E}"/>
              </a:ext>
            </a:extLst>
          </p:cNvPr>
          <p:cNvGraphicFramePr>
            <a:graphicFrameLocks noGrp="1"/>
          </p:cNvGraphicFramePr>
          <p:nvPr>
            <p:extLst>
              <p:ext uri="{D42A27DB-BD31-4B8C-83A1-F6EECF244321}">
                <p14:modId xmlns:p14="http://schemas.microsoft.com/office/powerpoint/2010/main" val="1988082998"/>
              </p:ext>
            </p:extLst>
          </p:nvPr>
        </p:nvGraphicFramePr>
        <p:xfrm>
          <a:off x="341312" y="1234440"/>
          <a:ext cx="10012680" cy="3931920"/>
        </p:xfrm>
        <a:graphic>
          <a:graphicData uri="http://schemas.openxmlformats.org/drawingml/2006/table">
            <a:tbl>
              <a:tblPr/>
              <a:tblGrid>
                <a:gridCol w="1143000">
                  <a:extLst>
                    <a:ext uri="{9D8B030D-6E8A-4147-A177-3AD203B41FA5}">
                      <a16:colId xmlns:a16="http://schemas.microsoft.com/office/drawing/2014/main" val="3106683751"/>
                    </a:ext>
                  </a:extLst>
                </a:gridCol>
                <a:gridCol w="2788920">
                  <a:extLst>
                    <a:ext uri="{9D8B030D-6E8A-4147-A177-3AD203B41FA5}">
                      <a16:colId xmlns:a16="http://schemas.microsoft.com/office/drawing/2014/main" val="2671250943"/>
                    </a:ext>
                  </a:extLst>
                </a:gridCol>
                <a:gridCol w="1325880">
                  <a:extLst>
                    <a:ext uri="{9D8B030D-6E8A-4147-A177-3AD203B41FA5}">
                      <a16:colId xmlns:a16="http://schemas.microsoft.com/office/drawing/2014/main" val="2725420420"/>
                    </a:ext>
                  </a:extLst>
                </a:gridCol>
                <a:gridCol w="4754880">
                  <a:extLst>
                    <a:ext uri="{9D8B030D-6E8A-4147-A177-3AD203B41FA5}">
                      <a16:colId xmlns:a16="http://schemas.microsoft.com/office/drawing/2014/main" val="530707860"/>
                    </a:ext>
                  </a:extLst>
                </a:gridCol>
              </a:tblGrid>
              <a:tr h="27432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4895" marR="4895" marT="4895" marB="0" anchor="ctr">
                    <a:lnL>
                      <a:noFill/>
                    </a:lnL>
                    <a:lnR>
                      <a:noFill/>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項目</a:t>
                      </a:r>
                    </a:p>
                  </a:txBody>
                  <a:tcPr marL="54864" marR="36576" marT="4895" marB="0" anchor="ctr">
                    <a:lnL>
                      <a:noFill/>
                    </a:lnL>
                    <a:lnR>
                      <a:noFill/>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金額（千円）</a:t>
                      </a:r>
                    </a:p>
                  </a:txBody>
                  <a:tcPr marL="4895" marR="4895" marT="4895" marB="0" anchor="ctr">
                    <a:lnL>
                      <a:noFill/>
                    </a:lnL>
                    <a:lnR>
                      <a:noFill/>
                    </a:lnR>
                    <a:lnT>
                      <a:noFill/>
                    </a:lnT>
                    <a:lnB>
                      <a:noFill/>
                    </a:lnB>
                    <a:solidFill>
                      <a:srgbClr val="0B3041"/>
                    </a:solidFill>
                  </a:tcPr>
                </a:tc>
                <a:tc>
                  <a:txBody>
                    <a:bodyPr/>
                    <a:lstStyle/>
                    <a:p>
                      <a:pPr algn="ctr" fontAlgn="ctr">
                        <a:buNone/>
                      </a:pPr>
                      <a:r>
                        <a:rPr lang="ja-JP" sz="900" b="1" i="0" u="none" strike="noStrike">
                          <a:solidFill>
                            <a:srgbClr val="FFFFFF"/>
                          </a:solidFill>
                          <a:effectLst/>
                          <a:latin typeface="Arial" panose="020B0604020202020204" pitchFamily="34" charset="0"/>
                          <a:ea typeface="游ゴシック Medium" panose="020B0500000000000000" pitchFamily="50" charset="-128"/>
                        </a:rPr>
                        <a:t>前提・算定方法</a:t>
                      </a:r>
                    </a:p>
                  </a:txBody>
                  <a:tcPr marL="128016" marR="36576" marT="4895" marB="0" anchor="ctr">
                    <a:lnL>
                      <a:noFill/>
                    </a:lnL>
                    <a:lnR>
                      <a:noFill/>
                    </a:lnR>
                    <a:lnT>
                      <a:noFill/>
                    </a:lnT>
                    <a:lnB>
                      <a:noFill/>
                    </a:lnB>
                    <a:solidFill>
                      <a:srgbClr val="0B3041"/>
                    </a:solidFill>
                  </a:tcPr>
                </a:tc>
                <a:extLst>
                  <a:ext uri="{0D108BD9-81ED-4DB2-BD59-A6C34878D82A}">
                    <a16:rowId xmlns:a16="http://schemas.microsoft.com/office/drawing/2014/main" val="1991418216"/>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正常収益力</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進行期7か月 営業利益</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6,637</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月次では減価償却費が未計上のため実質的にEBITDAベース</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正常収益力調整（7か月相当）</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11,599</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第5期の調整項目合計19,884千円を7か月按分</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進行期7か月 修正後EBITDA</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18,236</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年換算 修正後EBITDA</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31,261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7か月実績を12か月へ単純年換算</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減価償却費（通期実績）</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6,349</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第5期の実績額を通期見込みとして控除</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年換算 修正後営業利益</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24,912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株式価値</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時価純資産（2026年6月末ベース）</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55,421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進行期末の純資産から営業権・仮払金を控除。棚卸資産の廃棄損は進行期に計上済</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営業権（税考慮後営業利益×1倍）</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16,442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実効税率34%を考慮</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営業権（税考慮後営業利益×3倍）</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49,326</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同上</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36576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想定株式価値（営業権1〜3倍）</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38,979 〜 △ 6,095</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時価純資産＋営業権</a:t>
                      </a:r>
                    </a:p>
                  </a:txBody>
                  <a:tcPr marL="128016"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bl>
          </a:graphicData>
        </a:graphic>
      </p:graphicFrame>
      <p:sp>
        <p:nvSpPr>
          <p:cNvPr id="17" name="TextBox 16"/>
          <p:cNvSpPr txBox="1"/>
          <p:nvPr/>
        </p:nvSpPr>
        <p:spPr>
          <a:xfrm>
            <a:off x="338328" y="5760720"/>
            <a:ext cx="10012680" cy="731520"/>
          </a:xfrm>
          <a:prstGeom prst="rect">
            <a:avLst/>
          </a:prstGeom>
          <a:noFill/>
        </p:spPr>
        <p:txBody>
          <a:bodyPr wrap="square">
            <a:spAutoFit/>
          </a:bodyPr>
          <a:lstStyle/>
          <a:p>
            <a:r>
              <a:rPr sz="850">
                <a:latin typeface="游ゴシック Medium"/>
              </a:rPr>
              <a:t>※本試算は「進行期7か月の水準が通期で維持されること」を唯一の前提とした感応度分析であり、事業計画に基づくものではない。実績が確定するまでは評価結果として用いない。</a:t>
            </a:r>
          </a:p>
          <a:p>
            <a:r>
              <a:rPr sz="850">
                <a:latin typeface="游ゴシック Medium"/>
              </a:rPr>
              <a:t>※進行期は月次で減価償却費・法定福利費が未計上であり、通期ではその分だけ利益が減少する。また2026年5月に租税公課4,969千円を一括計上しており、単月では5〜6月が営業赤字である。</a:t>
            </a:r>
          </a:p>
          <a:p>
            <a:r>
              <a:rPr sz="850">
                <a:latin typeface="游ゴシック Medium"/>
              </a:rPr>
              <a:t>※マーケットアプローチはネットキャッシュ（2026年6月末で△180,469千円）の影響が大きく、年換算ベースでも株式価値はマイナスにとどまるため、本ページではコストアプローチのみを示している。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5E39C6D-60F0-86EE-EFCF-872D0FE99B9E}"/>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B/S</a:t>
            </a:r>
            <a:r>
              <a:rPr lang="ja-JP" altLang="en-US" dirty="0"/>
              <a:t>）</a:t>
            </a:r>
          </a:p>
        </p:txBody>
      </p:sp>
      <p:grpSp>
        <p:nvGrpSpPr>
          <p:cNvPr id="2" name="グループ化 1">
            <a:extLst>
              <a:ext uri="{FF2B5EF4-FFF2-40B4-BE49-F238E27FC236}">
                <a16:creationId xmlns:a16="http://schemas.microsoft.com/office/drawing/2014/main" id="{15306978-470E-B0F6-C5FF-B26948AD9EB2}"/>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2A97B43C-A376-B0B0-4142-E5A9575AD60D}"/>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F5C91817-B1D9-7B38-6106-AA27E6695ACD}"/>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583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タイトル 11">
            <a:extLst>
              <a:ext uri="{FF2B5EF4-FFF2-40B4-BE49-F238E27FC236}">
                <a16:creationId xmlns:a16="http://schemas.microsoft.com/office/drawing/2014/main" id="{5F3DF0AA-58C6-917B-B152-E777B0E55835}"/>
              </a:ext>
            </a:extLst>
          </p:cNvPr>
          <p:cNvSpPr>
            <a:spLocks noGrp="1"/>
          </p:cNvSpPr>
          <p:nvPr>
            <p:ph type="ctrTitle"/>
          </p:nvPr>
        </p:nvSpPr>
        <p:spPr/>
        <p:txBody>
          <a:bodyPr/>
          <a:lstStyle/>
          <a:p>
            <a:r>
              <a:rPr lang="ja-JP" altLang="en-US" dirty="0"/>
              <a:t>過去</a:t>
            </a:r>
            <a:r>
              <a:rPr lang="en-US" altLang="ja-JP" dirty="0"/>
              <a:t>BS</a:t>
            </a:r>
            <a:r>
              <a:rPr lang="ja-JP" altLang="en-US" dirty="0"/>
              <a:t>の推移</a:t>
            </a:r>
          </a:p>
        </p:txBody>
      </p:sp>
      <p:sp>
        <p:nvSpPr>
          <p:cNvPr id="8" name="タイトル 1">
            <a:extLst>
              <a:ext uri="{FF2B5EF4-FFF2-40B4-BE49-F238E27FC236}">
                <a16:creationId xmlns:a16="http://schemas.microsoft.com/office/drawing/2014/main" id="{DAFB17AF-B358-FD61-383D-82CB09BDE6D1}"/>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3" name="表 2">
            <a:extLst>
              <a:ext uri="{FF2B5EF4-FFF2-40B4-BE49-F238E27FC236}">
                <a16:creationId xmlns:a16="http://schemas.microsoft.com/office/drawing/2014/main" id="{9058A3E2-A4D0-CB71-8DA3-534867E373FE}"/>
              </a:ext>
            </a:extLst>
          </p:cNvPr>
          <p:cNvGraphicFramePr>
            <a:graphicFrameLocks noGrp="1"/>
          </p:cNvGraphicFramePr>
          <p:nvPr>
            <p:extLst>
              <p:ext uri="{D42A27DB-BD31-4B8C-83A1-F6EECF244321}">
                <p14:modId xmlns:p14="http://schemas.microsoft.com/office/powerpoint/2010/main" val="1617001171"/>
              </p:ext>
            </p:extLst>
          </p:nvPr>
        </p:nvGraphicFramePr>
        <p:xfrm>
          <a:off x="341312" y="982456"/>
          <a:ext cx="5001768" cy="5779008"/>
        </p:xfrm>
        <a:graphic>
          <a:graphicData uri="http://schemas.openxmlformats.org/drawingml/2006/table">
            <a:tbl>
              <a:tblPr/>
              <a:tblGrid>
                <a:gridCol w="1572768">
                  <a:extLst>
                    <a:ext uri="{9D8B030D-6E8A-4147-A177-3AD203B41FA5}">
                      <a16:colId xmlns:a16="http://schemas.microsoft.com/office/drawing/2014/main" val="822254377"/>
                    </a:ext>
                  </a:extLst>
                </a:gridCol>
                <a:gridCol w="859536">
                  <a:extLst>
                    <a:ext uri="{9D8B030D-6E8A-4147-A177-3AD203B41FA5}">
                      <a16:colId xmlns:a16="http://schemas.microsoft.com/office/drawing/2014/main" val="3061090460"/>
                    </a:ext>
                  </a:extLst>
                </a:gridCol>
                <a:gridCol w="859536">
                  <a:extLst>
                    <a:ext uri="{9D8B030D-6E8A-4147-A177-3AD203B41FA5}">
                      <a16:colId xmlns:a16="http://schemas.microsoft.com/office/drawing/2014/main" val="2032412681"/>
                    </a:ext>
                  </a:extLst>
                </a:gridCol>
                <a:gridCol w="859536">
                  <a:extLst>
                    <a:ext uri="{9D8B030D-6E8A-4147-A177-3AD203B41FA5}">
                      <a16:colId xmlns:a16="http://schemas.microsoft.com/office/drawing/2014/main" val="1235492032"/>
                    </a:ext>
                  </a:extLst>
                </a:gridCol>
                <a:gridCol w="850392">
                  <a:extLst>
                    <a:ext uri="{9D8B030D-6E8A-4147-A177-3AD203B41FA5}">
                      <a16:colId xmlns:a16="http://schemas.microsoft.com/office/drawing/2014/main" val="914131370"/>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347472">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26年11月期
（7か月TB）</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116,931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188,786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92,091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13,655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14,792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28,158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39,603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16,678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70,918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58,446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68,592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86,018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42,883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63,570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57,571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45,558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建物付属設備</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構築物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2,475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1,495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工具器具及び備品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25,709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31,815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リサイクル預託金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20,642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27,656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178,109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graphicFrame>
        <p:nvGraphicFramePr>
          <p:cNvPr id="6" name="表 5">
            <a:extLst>
              <a:ext uri="{FF2B5EF4-FFF2-40B4-BE49-F238E27FC236}">
                <a16:creationId xmlns:a16="http://schemas.microsoft.com/office/drawing/2014/main" id="{FA894D48-DD3C-65D9-C625-4EB31EFC08F2}"/>
              </a:ext>
            </a:extLst>
          </p:cNvPr>
          <p:cNvGraphicFramePr>
            <a:graphicFrameLocks noGrp="1"/>
          </p:cNvGraphicFramePr>
          <p:nvPr>
            <p:extLst>
              <p:ext uri="{D42A27DB-BD31-4B8C-83A1-F6EECF244321}">
                <p14:modId xmlns:p14="http://schemas.microsoft.com/office/powerpoint/2010/main" val="2945544605"/>
              </p:ext>
            </p:extLst>
          </p:nvPr>
        </p:nvGraphicFramePr>
        <p:xfrm>
          <a:off x="5345113" y="982459"/>
          <a:ext cx="5001768" cy="3154680"/>
        </p:xfrm>
        <a:graphic>
          <a:graphicData uri="http://schemas.openxmlformats.org/drawingml/2006/table">
            <a:tbl>
              <a:tblPr/>
              <a:tblGrid>
                <a:gridCol w="1572768">
                  <a:extLst>
                    <a:ext uri="{9D8B030D-6E8A-4147-A177-3AD203B41FA5}">
                      <a16:colId xmlns:a16="http://schemas.microsoft.com/office/drawing/2014/main" val="140435893"/>
                    </a:ext>
                  </a:extLst>
                </a:gridCol>
                <a:gridCol w="859536">
                  <a:extLst>
                    <a:ext uri="{9D8B030D-6E8A-4147-A177-3AD203B41FA5}">
                      <a16:colId xmlns:a16="http://schemas.microsoft.com/office/drawing/2014/main" val="1469753659"/>
                    </a:ext>
                  </a:extLst>
                </a:gridCol>
                <a:gridCol w="859536">
                  <a:extLst>
                    <a:ext uri="{9D8B030D-6E8A-4147-A177-3AD203B41FA5}">
                      <a16:colId xmlns:a16="http://schemas.microsoft.com/office/drawing/2014/main" val="80575429"/>
                    </a:ext>
                  </a:extLst>
                </a:gridCol>
                <a:gridCol w="859536">
                  <a:extLst>
                    <a:ext uri="{9D8B030D-6E8A-4147-A177-3AD203B41FA5}">
                      <a16:colId xmlns:a16="http://schemas.microsoft.com/office/drawing/2014/main" val="2683263371"/>
                    </a:ext>
                  </a:extLst>
                </a:gridCol>
                <a:gridCol w="850392">
                  <a:extLst>
                    <a:ext uri="{9D8B030D-6E8A-4147-A177-3AD203B41FA5}">
                      <a16:colId xmlns:a16="http://schemas.microsoft.com/office/drawing/2014/main" val="2369272048"/>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73152" marR="36576"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7472">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26年11月期
（7か月TB）</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30,380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47,366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47,672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33,414</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10,176</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7,003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12,571</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24,016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9,579</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3,776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7,438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614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3,144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3,751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7,791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149,816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230,503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196,939</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134,042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218,455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1,122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3,403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14,652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12,048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2,346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180,196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277,869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230,353</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9" name="表 8">
            <a:extLst>
              <a:ext uri="{FF2B5EF4-FFF2-40B4-BE49-F238E27FC236}">
                <a16:creationId xmlns:a16="http://schemas.microsoft.com/office/drawing/2014/main" id="{CFB11CDF-FC0D-6D75-4322-C3BD8A89E411}"/>
              </a:ext>
            </a:extLst>
          </p:cNvPr>
          <p:cNvGraphicFramePr>
            <a:graphicFrameLocks noGrp="1"/>
          </p:cNvGraphicFramePr>
          <p:nvPr>
            <p:extLst>
              <p:ext uri="{D42A27DB-BD31-4B8C-83A1-F6EECF244321}">
                <p14:modId xmlns:p14="http://schemas.microsoft.com/office/powerpoint/2010/main" val="674227100"/>
              </p:ext>
            </p:extLst>
          </p:nvPr>
        </p:nvGraphicFramePr>
        <p:xfrm>
          <a:off x="5345113" y="4535424"/>
          <a:ext cx="5001768" cy="2029968"/>
        </p:xfrm>
        <a:graphic>
          <a:graphicData uri="http://schemas.openxmlformats.org/drawingml/2006/table">
            <a:tbl>
              <a:tblPr/>
              <a:tblGrid>
                <a:gridCol w="1572768">
                  <a:extLst>
                    <a:ext uri="{9D8B030D-6E8A-4147-A177-3AD203B41FA5}">
                      <a16:colId xmlns:a16="http://schemas.microsoft.com/office/drawing/2014/main" val="4058629608"/>
                    </a:ext>
                  </a:extLst>
                </a:gridCol>
                <a:gridCol w="859536">
                  <a:extLst>
                    <a:ext uri="{9D8B030D-6E8A-4147-A177-3AD203B41FA5}">
                      <a16:colId xmlns:a16="http://schemas.microsoft.com/office/drawing/2014/main" val="2673297223"/>
                    </a:ext>
                  </a:extLst>
                </a:gridCol>
                <a:gridCol w="859536">
                  <a:extLst>
                    <a:ext uri="{9D8B030D-6E8A-4147-A177-3AD203B41FA5}">
                      <a16:colId xmlns:a16="http://schemas.microsoft.com/office/drawing/2014/main" val="756661618"/>
                    </a:ext>
                  </a:extLst>
                </a:gridCol>
                <a:gridCol w="859536">
                  <a:extLst>
                    <a:ext uri="{9D8B030D-6E8A-4147-A177-3AD203B41FA5}">
                      <a16:colId xmlns:a16="http://schemas.microsoft.com/office/drawing/2014/main" val="2152851366"/>
                    </a:ext>
                  </a:extLst>
                </a:gridCol>
                <a:gridCol w="850392">
                  <a:extLst>
                    <a:ext uri="{9D8B030D-6E8A-4147-A177-3AD203B41FA5}">
                      <a16:colId xmlns:a16="http://schemas.microsoft.com/office/drawing/2014/main" val="1382805660"/>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73152" marR="36576"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347472">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23年11月期</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24年11月期</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25年11月期</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26年11月期
（7か月TB）</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10772433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53,244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53,244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52,244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178,109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bl>
          </a:graphicData>
        </a:graphic>
      </p:graphicFrame>
    </p:spTree>
    <p:extLst>
      <p:ext uri="{BB962C8B-B14F-4D97-AF65-F5344CB8AC3E}">
        <p14:creationId xmlns:p14="http://schemas.microsoft.com/office/powerpoint/2010/main" val="995234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476521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現預金：10,140千円（2025年11月期末）。月商の約0.2か月分と薄く、進行期は14,792千円へ回復。資金繰りの実態を要確認。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売掛金：27,628千円の内訳は㈲ワンラブ（FC本部）17,373千円、カード・PayPay等の決済会社10,255千円。いずれも翌月回収で滞留債権は認められない。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商品：106,017千円と総資産の45%を占める。内訳は店舗8店52,017千円、本社32,000千円、バックヤード12,000千円、外部保管10,000千円。本社・バックヤード分は2026年3月に全額廃棄されており、基準日時点で既に滞留・陳腐化していたと判断し評価減する（P.13）。</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仮払金：1,650千円。回収を前提とした支出ではなく資産性が認められないため全額評価減する。</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土地：2,974千円（駐車場用地1筆・89.4㎡）。路線価図・固定資産税評価証明が未受領のため簿価評価（要確認）。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車両運搬具：1,058千円（事業用3台）。中古車市場価値が簿価を上回る可能性があるが査定書が未受領のため簿価評価（要確認）。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差入保証金：27,371千円。賃貸借契約書が未受領で償却条項・返還条件が不明のため簿価評価。進行期は2,024千円減少しており、うち2,000千円は撤退店舗の敷金返還と推察（要確認）。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長期前払費用：1,712千円。内訳が未受領のため簿価評価。信用保証料等の前払であれば換金価値は認められない（要確認）。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営業権：1,500千円。仕入先デザイナーズワン㈱に係るもの。年買法で営業権を別途算定するため二重計上となり、全額評価減する。</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en-US" altLang="ja-JP" dirty="0"/>
              <a:t>BS</a:t>
            </a:r>
            <a:r>
              <a:rPr lang="ja-JP" altLang="en-US" dirty="0"/>
              <a:t>補足</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7" name="表 6">
            <a:extLst>
              <a:ext uri="{FF2B5EF4-FFF2-40B4-BE49-F238E27FC236}">
                <a16:creationId xmlns:a16="http://schemas.microsoft.com/office/drawing/2014/main" id="{448E38F1-237A-5405-6ACD-01F738D6BE46}"/>
              </a:ext>
            </a:extLst>
          </p:cNvPr>
          <p:cNvGraphicFramePr>
            <a:graphicFrameLocks noGrp="1"/>
          </p:cNvGraphicFramePr>
          <p:nvPr>
            <p:extLst>
              <p:ext uri="{D42A27DB-BD31-4B8C-83A1-F6EECF244321}">
                <p14:modId xmlns:p14="http://schemas.microsoft.com/office/powerpoint/2010/main" val="3936562900"/>
              </p:ext>
            </p:extLst>
          </p:nvPr>
        </p:nvGraphicFramePr>
        <p:xfrm>
          <a:off x="341312" y="982456"/>
          <a:ext cx="5001768" cy="5779008"/>
        </p:xfrm>
        <a:graphic>
          <a:graphicData uri="http://schemas.openxmlformats.org/drawingml/2006/table">
            <a:tbl>
              <a:tblPr/>
              <a:tblGrid>
                <a:gridCol w="1572768">
                  <a:extLst>
                    <a:ext uri="{9D8B030D-6E8A-4147-A177-3AD203B41FA5}">
                      <a16:colId xmlns:a16="http://schemas.microsoft.com/office/drawing/2014/main" val="822254377"/>
                    </a:ext>
                  </a:extLst>
                </a:gridCol>
                <a:gridCol w="859536">
                  <a:extLst>
                    <a:ext uri="{9D8B030D-6E8A-4147-A177-3AD203B41FA5}">
                      <a16:colId xmlns:a16="http://schemas.microsoft.com/office/drawing/2014/main" val="3061090460"/>
                    </a:ext>
                  </a:extLst>
                </a:gridCol>
                <a:gridCol w="859536">
                  <a:extLst>
                    <a:ext uri="{9D8B030D-6E8A-4147-A177-3AD203B41FA5}">
                      <a16:colId xmlns:a16="http://schemas.microsoft.com/office/drawing/2014/main" val="2032412681"/>
                    </a:ext>
                  </a:extLst>
                </a:gridCol>
                <a:gridCol w="859536">
                  <a:extLst>
                    <a:ext uri="{9D8B030D-6E8A-4147-A177-3AD203B41FA5}">
                      <a16:colId xmlns:a16="http://schemas.microsoft.com/office/drawing/2014/main" val="1235492032"/>
                    </a:ext>
                  </a:extLst>
                </a:gridCol>
                <a:gridCol w="850392">
                  <a:extLst>
                    <a:ext uri="{9D8B030D-6E8A-4147-A177-3AD203B41FA5}">
                      <a16:colId xmlns:a16="http://schemas.microsoft.com/office/drawing/2014/main" val="914131370"/>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945198501"/>
                  </a:ext>
                </a:extLst>
              </a:tr>
              <a:tr h="347472">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24年11月期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26年11月期
（7か月TB）</a:t>
                      </a:r>
                    </a:p>
                  </a:txBody>
                  <a:tcPr marL="2665" marR="2665"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002658859"/>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116,931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188,786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92,091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現金及び預金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13,655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14,792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売掛金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28,158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39,603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16,678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商品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70,918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58,446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貯蔵品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前渡金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前払費用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4,237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未収入金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未収還付法人税等</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仮払金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立替金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68,592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86,018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42,883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63,570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57,571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建物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45,558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建物付属設備</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構築物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2,475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車両運搬具</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15,883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1,495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工具器具及び備品</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7,403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土地</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25,709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31,815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28,447</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リサイクル預託金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長期前払費用</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2,513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差入保証金</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20,642</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27,656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25,204</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0" i="0" u="none" strike="noStrike" dirty="0">
                          <a:solidFill>
                            <a:srgbClr val="000000"/>
                          </a:solidFill>
                          <a:effectLst/>
                          <a:latin typeface="游ゴシック" panose="020B0400000000000000" pitchFamily="50" charset="-128"/>
                          <a:ea typeface="游ゴシック" panose="020B0400000000000000" pitchFamily="50" charset="-128"/>
                        </a:rPr>
                        <a:t>営業権</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1,586</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928792534"/>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73152" marR="36576"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178,109</a:t>
                      </a:r>
                    </a:p>
                  </a:txBody>
                  <a:tcPr marL="2665" marR="47961" marT="266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517171900"/>
                  </a:ext>
                </a:extLst>
              </a:tr>
            </a:tbl>
          </a:graphicData>
        </a:graphic>
      </p:graphicFrame>
    </p:spTree>
    <p:extLst>
      <p:ext uri="{BB962C8B-B14F-4D97-AF65-F5344CB8AC3E}">
        <p14:creationId xmlns:p14="http://schemas.microsoft.com/office/powerpoint/2010/main" val="2721680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評価科目別の検討結果</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評価科目</a:t>
            </a:r>
          </a:p>
        </p:txBody>
      </p:sp>
      <p:graphicFrame>
        <p:nvGraphicFramePr>
          <p:cNvPr id="3" name="表 2">
            <a:extLst>
              <a:ext uri="{FF2B5EF4-FFF2-40B4-BE49-F238E27FC236}">
                <a16:creationId xmlns:a16="http://schemas.microsoft.com/office/drawing/2014/main" id="{26964AD7-83FC-660F-44A4-ED1569661D4E}"/>
              </a:ext>
            </a:extLst>
          </p:cNvPr>
          <p:cNvGraphicFramePr>
            <a:graphicFrameLocks noGrp="1"/>
          </p:cNvGraphicFramePr>
          <p:nvPr>
            <p:extLst>
              <p:ext uri="{D42A27DB-BD31-4B8C-83A1-F6EECF244321}">
                <p14:modId xmlns:p14="http://schemas.microsoft.com/office/powerpoint/2010/main" val="1988082998"/>
              </p:ext>
            </p:extLst>
          </p:nvPr>
        </p:nvGraphicFramePr>
        <p:xfrm>
          <a:off x="341312" y="1234440"/>
          <a:ext cx="10012680" cy="4846320"/>
        </p:xfrm>
        <a:graphic>
          <a:graphicData uri="http://schemas.openxmlformats.org/drawingml/2006/table">
            <a:tbl>
              <a:tblPr/>
              <a:tblGrid>
                <a:gridCol w="237744">
                  <a:extLst>
                    <a:ext uri="{9D8B030D-6E8A-4147-A177-3AD203B41FA5}">
                      <a16:colId xmlns:a16="http://schemas.microsoft.com/office/drawing/2014/main" val="3106683751"/>
                    </a:ext>
                  </a:extLst>
                </a:gridCol>
                <a:gridCol w="1828800">
                  <a:extLst>
                    <a:ext uri="{9D8B030D-6E8A-4147-A177-3AD203B41FA5}">
                      <a16:colId xmlns:a16="http://schemas.microsoft.com/office/drawing/2014/main" val="2671250943"/>
                    </a:ext>
                  </a:extLst>
                </a:gridCol>
                <a:gridCol w="804672">
                  <a:extLst>
                    <a:ext uri="{9D8B030D-6E8A-4147-A177-3AD203B41FA5}">
                      <a16:colId xmlns:a16="http://schemas.microsoft.com/office/drawing/2014/main" val="2725420420"/>
                    </a:ext>
                  </a:extLst>
                </a:gridCol>
                <a:gridCol w="804672">
                  <a:extLst>
                    <a:ext uri="{9D8B030D-6E8A-4147-A177-3AD203B41FA5}">
                      <a16:colId xmlns:a16="http://schemas.microsoft.com/office/drawing/2014/main" val="530707860"/>
                    </a:ext>
                  </a:extLst>
                </a:gridCol>
                <a:gridCol w="804672">
                  <a:extLst>
                    <a:ext uri="{9D8B030D-6E8A-4147-A177-3AD203B41FA5}">
                      <a16:colId xmlns:a16="http://schemas.microsoft.com/office/drawing/2014/main" val="318002353"/>
                    </a:ext>
                  </a:extLst>
                </a:gridCol>
                <a:gridCol w="5532120">
                  <a:extLst>
                    <a:ext uri="{9D8B030D-6E8A-4147-A177-3AD203B41FA5}">
                      <a16:colId xmlns:a16="http://schemas.microsoft.com/office/drawing/2014/main" val="2417561337"/>
                    </a:ext>
                  </a:extLst>
                </a:gridCol>
              </a:tblGrid>
              <a:tr h="237744">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科目</a:t>
                      </a:r>
                    </a:p>
                  </a:txBody>
                  <a:tcPr marL="54864" marR="36576" marT="4895" marB="0" anchor="ctr">
                    <a:lnL>
                      <a:noFill/>
                    </a:lnL>
                    <a:lnR>
                      <a:noFill/>
                    </a:lnR>
                    <a:lnT>
                      <a:noFill/>
                    </a:lnT>
                    <a:lnB>
                      <a:noFill/>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帳簿価額</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評価差額</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評価額</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00" b="1" i="0" u="none" strike="noStrike">
                          <a:solidFill>
                            <a:srgbClr val="FFFFFF"/>
                          </a:solidFill>
                          <a:effectLst/>
                          <a:latin typeface="游ゴシック Medium" panose="020B0500000000000000" pitchFamily="50" charset="-128"/>
                          <a:ea typeface="游ゴシック Medium" panose="020B0500000000000000" pitchFamily="50" charset="-128"/>
                        </a:rPr>
                        <a:t>検討結果・調整事由</a:t>
                      </a:r>
                    </a:p>
                  </a:txBody>
                  <a:tcPr marL="91440" marR="36576" marT="4895" marB="0" anchor="ctr">
                    <a:lnL>
                      <a:noFill/>
                    </a:lnL>
                    <a:lnR>
                      <a:noFill/>
                    </a:lnR>
                    <a:lnT>
                      <a:noFill/>
                    </a:lnT>
                    <a:lnB>
                      <a:noFill/>
                    </a:lnB>
                    <a:solidFill>
                      <a:srgbClr val="0B3041"/>
                    </a:solidFill>
                  </a:tcPr>
                </a:tc>
                <a:extLst>
                  <a:ext uri="{0D108BD9-81ED-4DB2-BD59-A6C34878D82A}">
                    <a16:rowId xmlns:a16="http://schemas.microsoft.com/office/drawing/2014/main" val="1991418216"/>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商品（棚卸資産）</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44,000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62,017</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2026年3月に本社分32,000千円・バックヤード分12,000千円を全額廃棄。基準日時点で滞留・陳腐化していたと判断し評価減。残る外部保管在庫10,000千円は実在性が未確認（要確認）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2</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営業権</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年買法で営業権を別途算定するため二重計上となること、および換金価値が認められないことから全額評価減</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仮払金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1,650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回収を前提とした支出ではなく資産性が認められないため全額評価減</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売掛金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FC本部17,373千円・決済会社10,255千円で構成され、いずれも翌月回収。滞留債権は認められないため簿価評価</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5</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土地（駐車場用地89.4㎡）</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路線価図・固定資産税評価証明が未受領のため簿価評価。簿価33千円/㎡であり大幅な含み損益は生じにくいと推察（要確認）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6</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建物附属設備・工具器具備品</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50,442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50,442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減価償却内訳明細書により適正償却を確認。単独の換金価値は限定的だが事業継続を前提に簿価評価</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7</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車両運搬具</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事業用3台。中古車市場価値が簿価を上回る可能性があるが査定書が未受領のため簿価評価（要確認）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8</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差入保証金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賃貸借契約書が未受領で償却条項・返還条件が不明のため簿価評価。返還額への評価替えの余地がある（要確認）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9</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長期前払費用</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内訳が未受領のため簿価評価。信用保証料等の前払であれば換金価値は認められず最大1,712千円の減額余地（要確認）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未払費用</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賃金台帳では当月締・翌月25日払。11月分給与が未払計上されているか要確認。未計上であれば約10,000千円超の追加計上が必要</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11</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賞与引当金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賞与制度・支給実績が未確認のため未計上（要確認）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12</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退職給付引当金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退職金規程が未受領のため未計上（要確認）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13</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役員退職慰労引当金</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役員退職慰労金規程が未受領のため未計上（要確認）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14</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資産除去債務</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店舗内装の原状回復義務。撤退2店舗の原状回復費用・違約金が未確認であり未計上（要確認）</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繰延税金資産</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繰越欠損金を有し課税所得の見込みが立たないため回収可能性を認めず、税効果は認識していない</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r h="288036">
                <a:tc>
                  <a:txBody>
                    <a:bodyPr/>
                    <a:lstStyle/>
                    <a:p>
                      <a:pPr algn="ct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評価差額 合計</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895" marR="8810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00" b="1"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91440" marR="36576" marT="4895"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3463963275"/>
                  </a:ext>
                </a:extLst>
              </a:tr>
            </a:tbl>
          </a:graphicData>
        </a:graphic>
      </p:graphicFrame>
    </p:spTree>
    <p:extLst>
      <p:ext uri="{BB962C8B-B14F-4D97-AF65-F5344CB8AC3E}">
        <p14:creationId xmlns:p14="http://schemas.microsoft.com/office/powerpoint/2010/main" val="354217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5ED04183-4C6A-40BB-237B-3121689A8C3A}"/>
              </a:ext>
            </a:extLst>
          </p:cNvPr>
          <p:cNvSpPr txBox="1"/>
          <p:nvPr/>
        </p:nvSpPr>
        <p:spPr>
          <a:xfrm>
            <a:off x="5919905" y="1849388"/>
            <a:ext cx="4320000" cy="104265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商品：本社32,000千円・バックヤード12,000千円は2026年3月に全額廃棄。基準日時点で既に滞留・陳腐化していたと判断し44,000千円を評価減。</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仮払金：回収を前提とした支出ではなく資産性が認められないため全額評価減。</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営業権：年買法で営業権を別途算定するため二重計上となること、および換金価値が認められないことから全額評価減。</a:t>
            </a: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その他の科目：資料未受領により評価替えできないものは簿価評価とし、調整余地をP.12に整理している。</a:t>
            </a:r>
          </a:p>
        </p:txBody>
      </p:sp>
      <p:sp>
        <p:nvSpPr>
          <p:cNvPr id="4" name="タイトル 3">
            <a:extLst>
              <a:ext uri="{FF2B5EF4-FFF2-40B4-BE49-F238E27FC236}">
                <a16:creationId xmlns:a16="http://schemas.microsoft.com/office/drawing/2014/main" id="{347F8B1B-D4CA-E3EF-FFE9-EFE057084B01}"/>
              </a:ext>
            </a:extLst>
          </p:cNvPr>
          <p:cNvSpPr>
            <a:spLocks noGrp="1"/>
          </p:cNvSpPr>
          <p:nvPr>
            <p:ph type="ctrTitle"/>
          </p:nvPr>
        </p:nvSpPr>
        <p:spPr/>
        <p:txBody>
          <a:bodyPr/>
          <a:lstStyle/>
          <a:p>
            <a:r>
              <a:rPr lang="ja-JP" altLang="en-US" dirty="0"/>
              <a:t>修正</a:t>
            </a:r>
            <a:r>
              <a:rPr lang="en-US" altLang="ja-JP" dirty="0"/>
              <a:t>BS</a:t>
            </a:r>
            <a:r>
              <a:rPr lang="ja-JP" altLang="en-US" sz="1800" dirty="0"/>
              <a:t>［資産］</a:t>
            </a:r>
          </a:p>
        </p:txBody>
      </p:sp>
      <p:sp>
        <p:nvSpPr>
          <p:cNvPr id="6" name="タイトル 1">
            <a:extLst>
              <a:ext uri="{FF2B5EF4-FFF2-40B4-BE49-F238E27FC236}">
                <a16:creationId xmlns:a16="http://schemas.microsoft.com/office/drawing/2014/main" id="{734A323D-C761-75DC-FCB0-3139DCB02FF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53D4334-6F54-3D2E-4DA3-18553CF717D6}"/>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3" name="表 2">
            <a:extLst>
              <a:ext uri="{FF2B5EF4-FFF2-40B4-BE49-F238E27FC236}">
                <a16:creationId xmlns:a16="http://schemas.microsoft.com/office/drawing/2014/main" id="{5F9492B5-FBDD-DD70-8E52-760677247FF0}"/>
              </a:ext>
            </a:extLst>
          </p:cNvPr>
          <p:cNvGraphicFramePr>
            <a:graphicFrameLocks noGrp="1"/>
          </p:cNvGraphicFramePr>
          <p:nvPr>
            <p:extLst>
              <p:ext uri="{D42A27DB-BD31-4B8C-83A1-F6EECF244321}">
                <p14:modId xmlns:p14="http://schemas.microsoft.com/office/powerpoint/2010/main" val="89324319"/>
              </p:ext>
            </p:extLst>
          </p:nvPr>
        </p:nvGraphicFramePr>
        <p:xfrm>
          <a:off x="244804" y="878418"/>
          <a:ext cx="5102351" cy="5888736"/>
        </p:xfrm>
        <a:graphic>
          <a:graphicData uri="http://schemas.openxmlformats.org/drawingml/2006/table">
            <a:tbl>
              <a:tblPr/>
              <a:tblGrid>
                <a:gridCol w="1901952">
                  <a:extLst>
                    <a:ext uri="{9D8B030D-6E8A-4147-A177-3AD203B41FA5}">
                      <a16:colId xmlns:a16="http://schemas.microsoft.com/office/drawing/2014/main" val="662019843"/>
                    </a:ext>
                  </a:extLst>
                </a:gridCol>
                <a:gridCol w="1078992">
                  <a:extLst>
                    <a:ext uri="{9D8B030D-6E8A-4147-A177-3AD203B41FA5}">
                      <a16:colId xmlns:a16="http://schemas.microsoft.com/office/drawing/2014/main" val="2119100919"/>
                    </a:ext>
                  </a:extLst>
                </a:gridCol>
                <a:gridCol w="1078992">
                  <a:extLst>
                    <a:ext uri="{9D8B030D-6E8A-4147-A177-3AD203B41FA5}">
                      <a16:colId xmlns:a16="http://schemas.microsoft.com/office/drawing/2014/main" val="3235985253"/>
                    </a:ext>
                  </a:extLst>
                </a:gridCol>
                <a:gridCol w="1042415">
                  <a:extLst>
                    <a:ext uri="{9D8B030D-6E8A-4147-A177-3AD203B41FA5}">
                      <a16:colId xmlns:a16="http://schemas.microsoft.com/office/drawing/2014/main" val="1788063771"/>
                    </a:ext>
                  </a:extLst>
                </a:gridCol>
              </a:tblGrid>
              <a:tr h="146304">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739" marR="2739" marT="27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739" marR="2739" marT="2739"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739" marR="2739" marT="2739" marB="0" anchor="ctr">
                    <a:lnL>
                      <a:noFill/>
                    </a:lnL>
                    <a:lnR>
                      <a:noFill/>
                    </a:lnR>
                    <a:lnT>
                      <a:noFill/>
                    </a:lnT>
                    <a:lnB>
                      <a:noFill/>
                    </a:lnB>
                    <a:noFill/>
                  </a:tcPr>
                </a:tc>
                <a:extLst>
                  <a:ext uri="{0D108BD9-81ED-4DB2-BD59-A6C34878D82A}">
                    <a16:rowId xmlns:a16="http://schemas.microsoft.com/office/drawing/2014/main" val="2676240352"/>
                  </a:ext>
                </a:extLst>
              </a:tr>
              <a:tr h="201168">
                <a:tc gridSpan="4">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資産の部</a:t>
                      </a:r>
                    </a:p>
                  </a:txBody>
                  <a:tcPr marL="73152" marR="36576"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739" marR="2739" marT="2739" marB="0" anchor="ctr">
                    <a:lnL w="6350" cap="flat" cmpd="sng" algn="ctr">
                      <a:solidFill>
                        <a:srgbClr val="FFFFFF"/>
                      </a:solidFill>
                      <a:prstDash val="solid"/>
                      <a:round/>
                      <a:headEnd type="none" w="med" len="med"/>
                      <a:tailEnd type="none" w="med" len="med"/>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2739" marR="2739" marT="2739" marB="0" anchor="ctr">
                    <a:lnL>
                      <a:noFill/>
                    </a:lnL>
                    <a:lnR>
                      <a:noFill/>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2739" marR="2739" marT="2739"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675520392"/>
                  </a:ext>
                </a:extLst>
              </a:tr>
              <a:tr h="292608">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2739" marR="2739"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739" marR="2739"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739" marR="2739"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1993888312"/>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150,113</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45,650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104,463</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10,140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売掛金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27,628</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商品</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44,000</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62,017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貯蔵品</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前渡金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前払費用</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3,992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未収入金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未収還付法人税等</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仮払金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1,650</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立替金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85,272</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1,500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83,772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［有形固定資産］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54,658</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44,397</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建物付属設備</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構築物</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車両運搬具</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1,058</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工具器具及び備品</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6,045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土地</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2,974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その他の有形固定資産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［無形固定資産］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［投資その他資産］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30,614</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1,500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29,114</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リサイクル預託金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1,712</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27,371</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1,500</a:t>
                      </a:r>
                    </a:p>
                  </a:txBody>
                  <a:tcPr marL="2739" marR="49303" marT="2739"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1,500</a:t>
                      </a:r>
                    </a:p>
                  </a:txBody>
                  <a:tcPr marL="2739" marR="49303" marT="2739" marB="0" anchor="ctr">
                    <a:lnL>
                      <a:noFill/>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1810747857"/>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【繰延資産】</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資産合計</a:t>
                      </a:r>
                    </a:p>
                  </a:txBody>
                  <a:tcPr marL="73152" marR="36576"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2739" marR="49303" marT="27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2739" marR="49303" marT="2739"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188,235</a:t>
                      </a:r>
                    </a:p>
                  </a:txBody>
                  <a:tcPr marL="2739" marR="49303" marT="2739"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2946707136"/>
                  </a:ext>
                </a:extLst>
              </a:tr>
            </a:tbl>
          </a:graphicData>
        </a:graphic>
      </p:graphicFrame>
    </p:spTree>
    <p:extLst>
      <p:ext uri="{BB962C8B-B14F-4D97-AF65-F5344CB8AC3E}">
        <p14:creationId xmlns:p14="http://schemas.microsoft.com/office/powerpoint/2010/main" val="1717633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2C329-BBDE-997E-33BB-A9FD47BC642C}"/>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B13BEBD7-E126-4EFC-80E2-30F6E3A5C825}"/>
              </a:ext>
            </a:extLst>
          </p:cNvPr>
          <p:cNvSpPr txBox="1"/>
          <p:nvPr/>
        </p:nvSpPr>
        <p:spPr>
          <a:xfrm>
            <a:off x="5919905" y="1849388"/>
            <a:ext cx="4320000" cy="2299925"/>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長期借入金：2024年11月期に大型犬専門店2店舗の出店等で218,455千円まで増加し、2025年11月期末は191,858千円。進行期の月次では期首残高のまま据え置かれており、返済額は決算時に一括計上されていると推察（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役員借入金：2025年11月期末7,566千円。進行期は2026年6月末で3,403千円へ減少している。譲渡時の返済を希望。</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未払消費税等：3,776千円→11,784千円と大幅に増加。納付時期・分割納付の有無を要確認。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カード未払金：3,224千円（2025年11月期末）から進行期は7,790千円へ増加。仕入の決済手段の変化か要確認。</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純資産：2025年11月期は当期純損失20,359千円により△14,057千円の債務超過に転じている。進行期は棚卸資産廃棄損44,000千円の計上により2026年6月末で△52,244千円まで拡大。</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012852EF-C89F-A030-08AF-F6FD92C8DC4C}"/>
              </a:ext>
            </a:extLst>
          </p:cNvPr>
          <p:cNvSpPr>
            <a:spLocks noGrp="1"/>
          </p:cNvSpPr>
          <p:nvPr>
            <p:ph type="ctrTitle"/>
          </p:nvPr>
        </p:nvSpPr>
        <p:spPr/>
        <p:txBody>
          <a:bodyPr/>
          <a:lstStyle/>
          <a:p>
            <a:r>
              <a:rPr lang="en-US" altLang="ja-JP" dirty="0"/>
              <a:t>BS</a:t>
            </a:r>
            <a:r>
              <a:rPr lang="ja-JP" altLang="en-US" dirty="0"/>
              <a:t>補足</a:t>
            </a:r>
            <a:r>
              <a:rPr lang="ja-JP" altLang="en-US" sz="1800" dirty="0"/>
              <a:t>［負債・純資産］</a:t>
            </a:r>
          </a:p>
        </p:txBody>
      </p:sp>
      <p:sp>
        <p:nvSpPr>
          <p:cNvPr id="6" name="タイトル 1">
            <a:extLst>
              <a:ext uri="{FF2B5EF4-FFF2-40B4-BE49-F238E27FC236}">
                <a16:creationId xmlns:a16="http://schemas.microsoft.com/office/drawing/2014/main" id="{D054D60A-9874-6F6C-68B4-54AD036BE445}"/>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B027BB31-5712-B589-FAF6-FEF5A19860C5}"/>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8" name="表 7">
            <a:extLst>
              <a:ext uri="{FF2B5EF4-FFF2-40B4-BE49-F238E27FC236}">
                <a16:creationId xmlns:a16="http://schemas.microsoft.com/office/drawing/2014/main" id="{5E81CBBB-A446-BB13-683B-CB5F62B2DD3C}"/>
              </a:ext>
            </a:extLst>
          </p:cNvPr>
          <p:cNvGraphicFramePr>
            <a:graphicFrameLocks noGrp="1"/>
          </p:cNvGraphicFramePr>
          <p:nvPr>
            <p:extLst>
              <p:ext uri="{D42A27DB-BD31-4B8C-83A1-F6EECF244321}">
                <p14:modId xmlns:p14="http://schemas.microsoft.com/office/powerpoint/2010/main" val="3392452724"/>
              </p:ext>
            </p:extLst>
          </p:nvPr>
        </p:nvGraphicFramePr>
        <p:xfrm>
          <a:off x="341313" y="982458"/>
          <a:ext cx="5001768" cy="3154680"/>
        </p:xfrm>
        <a:graphic>
          <a:graphicData uri="http://schemas.openxmlformats.org/drawingml/2006/table">
            <a:tbl>
              <a:tblPr/>
              <a:tblGrid>
                <a:gridCol w="1572768">
                  <a:extLst>
                    <a:ext uri="{9D8B030D-6E8A-4147-A177-3AD203B41FA5}">
                      <a16:colId xmlns:a16="http://schemas.microsoft.com/office/drawing/2014/main" val="140435893"/>
                    </a:ext>
                  </a:extLst>
                </a:gridCol>
                <a:gridCol w="859536">
                  <a:extLst>
                    <a:ext uri="{9D8B030D-6E8A-4147-A177-3AD203B41FA5}">
                      <a16:colId xmlns:a16="http://schemas.microsoft.com/office/drawing/2014/main" val="1469753659"/>
                    </a:ext>
                  </a:extLst>
                </a:gridCol>
                <a:gridCol w="859536">
                  <a:extLst>
                    <a:ext uri="{9D8B030D-6E8A-4147-A177-3AD203B41FA5}">
                      <a16:colId xmlns:a16="http://schemas.microsoft.com/office/drawing/2014/main" val="80575429"/>
                    </a:ext>
                  </a:extLst>
                </a:gridCol>
                <a:gridCol w="859536">
                  <a:extLst>
                    <a:ext uri="{9D8B030D-6E8A-4147-A177-3AD203B41FA5}">
                      <a16:colId xmlns:a16="http://schemas.microsoft.com/office/drawing/2014/main" val="2683263371"/>
                    </a:ext>
                  </a:extLst>
                </a:gridCol>
                <a:gridCol w="850392">
                  <a:extLst>
                    <a:ext uri="{9D8B030D-6E8A-4147-A177-3AD203B41FA5}">
                      <a16:colId xmlns:a16="http://schemas.microsoft.com/office/drawing/2014/main" val="2369272048"/>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負債の部</a:t>
                      </a:r>
                    </a:p>
                  </a:txBody>
                  <a:tcPr marL="73152" marR="36576"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extLst>
                  <a:ext uri="{0D108BD9-81ED-4DB2-BD59-A6C34878D82A}">
                    <a16:rowId xmlns:a16="http://schemas.microsoft.com/office/drawing/2014/main" val="3333780944"/>
                  </a:ext>
                </a:extLst>
              </a:tr>
              <a:tr h="347472">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26年11月期
（7か月TB）</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3028628170"/>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30,380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47,366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47,672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33,414</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10,176</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14,255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7,003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12,571</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24,016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9,579</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230</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3,645</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3,776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7,438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614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607</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1,600</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3,144</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3,751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7,791</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149,816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230,503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196,939</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134,042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218,455</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1,122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3,403</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14,652</a:t>
                      </a:r>
                    </a:p>
                  </a:txBody>
                  <a:tcPr marL="6350" marR="114300"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12,048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2,346</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1,678</a:t>
                      </a:r>
                    </a:p>
                  </a:txBody>
                  <a:tcPr marL="6350" marR="114300" marT="6350" marB="0" anchor="ctr">
                    <a:lnL>
                      <a:noFill/>
                    </a:lnL>
                    <a:lnR>
                      <a:noFill/>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371247136"/>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3152" marR="36576"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180,196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277,869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230,353</a:t>
                      </a:r>
                    </a:p>
                  </a:txBody>
                  <a:tcPr marL="6350" marR="114300"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495575895"/>
                  </a:ext>
                </a:extLst>
              </a:tr>
            </a:tbl>
          </a:graphicData>
        </a:graphic>
      </p:graphicFrame>
      <p:graphicFrame>
        <p:nvGraphicFramePr>
          <p:cNvPr id="11" name="表 10">
            <a:extLst>
              <a:ext uri="{FF2B5EF4-FFF2-40B4-BE49-F238E27FC236}">
                <a16:creationId xmlns:a16="http://schemas.microsoft.com/office/drawing/2014/main" id="{73623FF6-D72B-C11F-A680-C7721DBB6E74}"/>
              </a:ext>
            </a:extLst>
          </p:cNvPr>
          <p:cNvGraphicFramePr>
            <a:graphicFrameLocks noGrp="1"/>
          </p:cNvGraphicFramePr>
          <p:nvPr>
            <p:extLst>
              <p:ext uri="{D42A27DB-BD31-4B8C-83A1-F6EECF244321}">
                <p14:modId xmlns:p14="http://schemas.microsoft.com/office/powerpoint/2010/main" val="2957363408"/>
              </p:ext>
            </p:extLst>
          </p:nvPr>
        </p:nvGraphicFramePr>
        <p:xfrm>
          <a:off x="341313" y="4572000"/>
          <a:ext cx="5001768" cy="2029968"/>
        </p:xfrm>
        <a:graphic>
          <a:graphicData uri="http://schemas.openxmlformats.org/drawingml/2006/table">
            <a:tbl>
              <a:tblPr/>
              <a:tblGrid>
                <a:gridCol w="1572768">
                  <a:extLst>
                    <a:ext uri="{9D8B030D-6E8A-4147-A177-3AD203B41FA5}">
                      <a16:colId xmlns:a16="http://schemas.microsoft.com/office/drawing/2014/main" val="4058629608"/>
                    </a:ext>
                  </a:extLst>
                </a:gridCol>
                <a:gridCol w="859536">
                  <a:extLst>
                    <a:ext uri="{9D8B030D-6E8A-4147-A177-3AD203B41FA5}">
                      <a16:colId xmlns:a16="http://schemas.microsoft.com/office/drawing/2014/main" val="2673297223"/>
                    </a:ext>
                  </a:extLst>
                </a:gridCol>
                <a:gridCol w="859536">
                  <a:extLst>
                    <a:ext uri="{9D8B030D-6E8A-4147-A177-3AD203B41FA5}">
                      <a16:colId xmlns:a16="http://schemas.microsoft.com/office/drawing/2014/main" val="756661618"/>
                    </a:ext>
                  </a:extLst>
                </a:gridCol>
                <a:gridCol w="859536">
                  <a:extLst>
                    <a:ext uri="{9D8B030D-6E8A-4147-A177-3AD203B41FA5}">
                      <a16:colId xmlns:a16="http://schemas.microsoft.com/office/drawing/2014/main" val="2152851366"/>
                    </a:ext>
                  </a:extLst>
                </a:gridCol>
                <a:gridCol w="850392">
                  <a:extLst>
                    <a:ext uri="{9D8B030D-6E8A-4147-A177-3AD203B41FA5}">
                      <a16:colId xmlns:a16="http://schemas.microsoft.com/office/drawing/2014/main" val="1382805660"/>
                    </a:ext>
                  </a:extLst>
                </a:gridCol>
              </a:tblGrid>
              <a:tr h="182880">
                <a:tc gridSpan="5">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純資産の部</a:t>
                      </a:r>
                    </a:p>
                  </a:txBody>
                  <a:tcPr marL="73152" marR="36576"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916277575"/>
                  </a:ext>
                </a:extLst>
              </a:tr>
              <a:tr h="347472">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23年11月期</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24年11月期</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25年11月期</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Arial" panose="020B0604020202020204" pitchFamily="34" charset="0"/>
                          <a:ea typeface="游ゴシック Medium" panose="020B0500000000000000" pitchFamily="50" charset="-128"/>
                        </a:rPr>
                        <a:t>26年11月期
（7か月TB）</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0B3041"/>
                    </a:solidFill>
                  </a:tcPr>
                </a:tc>
                <a:extLst>
                  <a:ext uri="{0D108BD9-81ED-4DB2-BD59-A6C34878D82A}">
                    <a16:rowId xmlns:a16="http://schemas.microsoft.com/office/drawing/2014/main" val="1077243336"/>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53,244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4,327</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53,244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73152" marR="36576" marT="6350" marB="0" anchor="ctr">
                    <a:lnL w="6350" cap="flat" cmpd="sng" algn="ctr">
                      <a:solidFill>
                        <a:srgbClr val="FFFFFF"/>
                      </a:solidFill>
                      <a:prstDash val="solid"/>
                      <a:round/>
                      <a:headEnd type="none" w="med" len="med"/>
                      <a:tailEnd type="none" w="med" len="med"/>
                    </a:lnL>
                    <a:lnR>
                      <a:noFill/>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081381393"/>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5,327</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6,302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52,244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r h="1874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73152" marR="36576" marT="6350" marB="0" anchor="ctr">
                    <a:lnL w="6350" cap="flat" cmpd="sng" algn="ctr">
                      <a:solidFill>
                        <a:srgbClr val="FFFFFF"/>
                      </a:solidFill>
                      <a:prstDash val="solid"/>
                      <a:round/>
                      <a:headEnd type="none" w="med" len="med"/>
                      <a:tailEnd type="none" w="med" len="med"/>
                    </a:lnL>
                    <a:lnR>
                      <a:noFill/>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185,523</a:t>
                      </a:r>
                    </a:p>
                  </a:txBody>
                  <a:tcPr marL="6350" marR="11430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284,171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178,109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41456255"/>
                  </a:ext>
                </a:extLst>
              </a:tr>
            </a:tbl>
          </a:graphicData>
        </a:graphic>
      </p:graphicFrame>
    </p:spTree>
    <p:extLst>
      <p:ext uri="{BB962C8B-B14F-4D97-AF65-F5344CB8AC3E}">
        <p14:creationId xmlns:p14="http://schemas.microsoft.com/office/powerpoint/2010/main" val="627659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1069-72DF-A6D5-2DC9-38122B5766A8}"/>
            </a:ext>
          </a:extLst>
        </p:cNvPr>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07165E55-3785-323B-D0D9-F2EFA46529D1}"/>
              </a:ext>
            </a:extLst>
          </p:cNvPr>
          <p:cNvSpPr txBox="1"/>
          <p:nvPr/>
        </p:nvSpPr>
        <p:spPr>
          <a:xfrm>
            <a:off x="5919905" y="1849388"/>
            <a:ext cx="4320000" cy="1207318"/>
          </a:xfrm>
          <a:prstGeom prst="rect">
            <a:avLst/>
          </a:prstGeom>
          <a:noFill/>
        </p:spPr>
        <p:txBody>
          <a:bodyPr wrap="square" lIns="288000" tIns="0" rIns="252000" bIns="0" rtlCol="0">
            <a:spAutoFit/>
          </a:bodyPr>
          <a:lstStyle/>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負債側に評価差額は計上していない。資産側の評価減△ 47,150千円が純資産に反映され、時価純資産は△ 61,207千円となる。</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借入金：長期借入金191,858千円（9本）。民間6本は代表者の連帯保証および信用保証協会の保証付き（公庫3本の保証条件は要確認）。譲渡実行時の連帯保証解除が譲渡条件の中心となる。役員借入金7,566千円は譲渡時の返済を希望。</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未払費用：賃金台帳では当月締・翌月25日払であり、11月分給与が未払計上されているか要確認。未計上であれば社会保険料概算15%を含め約10,000千円超の追加計上が必要。</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未計上の引当金等：賞与引当金・退職給付引当金・役員退職慰労引当金は規程が未受領のため、資産除去債務は撤退2店舗の原状回復費用が未確認のため、いずれも計上していない。</a:t>
            </a:r>
            <a:endParaRPr lang="en-US" altLang="ja-JP" sz="1100" b="1" spc="50" dirty="0">
              <a:latin typeface="+mj-ea"/>
              <a:ea typeface="+mj-ea"/>
            </a:endParaRPr>
          </a:p>
          <a:p>
            <a:pPr marL="180000" indent="-180000">
              <a:lnSpc>
                <a:spcPct val="120000"/>
              </a:lnSpc>
              <a:spcAft>
                <a:spcPts val="300"/>
              </a:spcAft>
              <a:buClr>
                <a:schemeClr val="tx2"/>
              </a:buClr>
              <a:buSzPct val="80000"/>
              <a:buFont typeface="Wingdings" panose="05000000000000000000" pitchFamily="2" charset="2"/>
              <a:buChar char="n"/>
            </a:pPr>
            <a:r>
              <a:rPr lang="ja-JP" altLang="en-US" sz="850" b="1" spc="50" dirty="0">
                <a:latin typeface="+mj-ea"/>
                <a:ea typeface="+mj-ea"/>
              </a:rPr>
              <a:t>税効果：繰越欠損金を有し課税所得の見込みが立たないため繰延税金資産の回収可能性を認めず、評価差額に対する税効果は認識していない。回収可能性が認められる場合は評価差額の34%相当（約16,031千円）だけ時価純資産が上振れする。</a:t>
            </a:r>
            <a:endParaRPr lang="en-US" altLang="ja-JP" sz="1100" b="1" spc="50" dirty="0">
              <a:latin typeface="+mj-ea"/>
              <a:ea typeface="+mj-ea"/>
            </a:endParaRPr>
          </a:p>
        </p:txBody>
      </p:sp>
      <p:sp>
        <p:nvSpPr>
          <p:cNvPr id="4" name="タイトル 3">
            <a:extLst>
              <a:ext uri="{FF2B5EF4-FFF2-40B4-BE49-F238E27FC236}">
                <a16:creationId xmlns:a16="http://schemas.microsoft.com/office/drawing/2014/main" id="{4B44719C-88E4-C2E8-E209-EEC4A9F272D2}"/>
              </a:ext>
            </a:extLst>
          </p:cNvPr>
          <p:cNvSpPr>
            <a:spLocks noGrp="1"/>
          </p:cNvSpPr>
          <p:nvPr>
            <p:ph type="ctrTitle"/>
          </p:nvPr>
        </p:nvSpPr>
        <p:spPr/>
        <p:txBody>
          <a:bodyPr/>
          <a:lstStyle/>
          <a:p>
            <a:r>
              <a:rPr lang="ja-JP" altLang="en-US" dirty="0"/>
              <a:t>修正</a:t>
            </a:r>
            <a:r>
              <a:rPr lang="en-US" altLang="ja-JP" dirty="0"/>
              <a:t>BS</a:t>
            </a:r>
            <a:r>
              <a:rPr lang="ja-JP" altLang="en-US" sz="1800" dirty="0"/>
              <a:t>［負債・純資産］</a:t>
            </a:r>
          </a:p>
        </p:txBody>
      </p:sp>
      <p:sp>
        <p:nvSpPr>
          <p:cNvPr id="6" name="タイトル 1">
            <a:extLst>
              <a:ext uri="{FF2B5EF4-FFF2-40B4-BE49-F238E27FC236}">
                <a16:creationId xmlns:a16="http://schemas.microsoft.com/office/drawing/2014/main" id="{EED50456-622D-7517-0703-96034524068C}"/>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4" name="正方形/長方形 13">
            <a:extLst>
              <a:ext uri="{FF2B5EF4-FFF2-40B4-BE49-F238E27FC236}">
                <a16:creationId xmlns:a16="http://schemas.microsoft.com/office/drawing/2014/main" id="{27865103-507D-37F1-F6F9-CDEC35B6E872}"/>
              </a:ext>
            </a:extLst>
          </p:cNvPr>
          <p:cNvSpPr/>
          <p:nvPr/>
        </p:nvSpPr>
        <p:spPr>
          <a:xfrm>
            <a:off x="5922550" y="1080538"/>
            <a:ext cx="4320000" cy="5760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EBC5D66D-F9FF-3876-586A-B31125B18F6B}"/>
              </a:ext>
            </a:extLst>
          </p:cNvPr>
          <p:cNvGraphicFramePr>
            <a:graphicFrameLocks noGrp="1"/>
          </p:cNvGraphicFramePr>
          <p:nvPr>
            <p:extLst>
              <p:ext uri="{D42A27DB-BD31-4B8C-83A1-F6EECF244321}">
                <p14:modId xmlns:p14="http://schemas.microsoft.com/office/powerpoint/2010/main" val="2760838019"/>
              </p:ext>
            </p:extLst>
          </p:nvPr>
        </p:nvGraphicFramePr>
        <p:xfrm>
          <a:off x="341313" y="860007"/>
          <a:ext cx="5001768" cy="5751576"/>
        </p:xfrm>
        <a:graphic>
          <a:graphicData uri="http://schemas.openxmlformats.org/drawingml/2006/table">
            <a:tbl>
              <a:tblPr/>
              <a:tblGrid>
                <a:gridCol w="1801368">
                  <a:extLst>
                    <a:ext uri="{9D8B030D-6E8A-4147-A177-3AD203B41FA5}">
                      <a16:colId xmlns:a16="http://schemas.microsoft.com/office/drawing/2014/main" val="2719514001"/>
                    </a:ext>
                  </a:extLst>
                </a:gridCol>
                <a:gridCol w="1069848">
                  <a:extLst>
                    <a:ext uri="{9D8B030D-6E8A-4147-A177-3AD203B41FA5}">
                      <a16:colId xmlns:a16="http://schemas.microsoft.com/office/drawing/2014/main" val="3558173115"/>
                    </a:ext>
                  </a:extLst>
                </a:gridCol>
                <a:gridCol w="1069848">
                  <a:extLst>
                    <a:ext uri="{9D8B030D-6E8A-4147-A177-3AD203B41FA5}">
                      <a16:colId xmlns:a16="http://schemas.microsoft.com/office/drawing/2014/main" val="2313249536"/>
                    </a:ext>
                  </a:extLst>
                </a:gridCol>
                <a:gridCol w="1060704">
                  <a:extLst>
                    <a:ext uri="{9D8B030D-6E8A-4147-A177-3AD203B41FA5}">
                      <a16:colId xmlns:a16="http://schemas.microsoft.com/office/drawing/2014/main" val="937774236"/>
                    </a:ext>
                  </a:extLst>
                </a:gridCol>
              </a:tblGrid>
              <a:tr h="146304">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73152" marR="36576" marT="4281"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4281" marR="4281" marT="4281" marB="0" anchor="ctr">
                    <a:lnL>
                      <a:noFill/>
                    </a:lnL>
                    <a:lnR>
                      <a:noFill/>
                    </a:lnR>
                    <a:lnT>
                      <a:noFill/>
                    </a:lnT>
                    <a:lnB>
                      <a:noFill/>
                    </a:lnB>
                    <a:no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4281" marR="4281" marT="4281"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4281" marR="4281" marT="4281" marB="0" anchor="ctr">
                    <a:lnL>
                      <a:noFill/>
                    </a:lnL>
                    <a:lnR>
                      <a:noFill/>
                    </a:lnR>
                    <a:lnT>
                      <a:noFill/>
                    </a:lnT>
                    <a:lnB>
                      <a:noFill/>
                    </a:lnB>
                    <a:noFill/>
                  </a:tcPr>
                </a:tc>
                <a:extLst>
                  <a:ext uri="{0D108BD9-81ED-4DB2-BD59-A6C34878D82A}">
                    <a16:rowId xmlns:a16="http://schemas.microsoft.com/office/drawing/2014/main" val="352485218"/>
                  </a:ext>
                </a:extLst>
              </a:tr>
              <a:tr h="201168">
                <a:tc gridSpan="4">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負債・純資産の部</a:t>
                      </a:r>
                    </a:p>
                  </a:txBody>
                  <a:tcPr marL="73152" marR="36576" marT="4281" marB="0" anchor="ctr">
                    <a:lnL w="635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hMerge="1">
                  <a:txBody>
                    <a:bodyPr/>
                    <a:lstStyle/>
                    <a:p>
                      <a:endParaRPr dirty="0"/>
                    </a:p>
                  </a:txBody>
                  <a:tcPr marL="4281" marR="4281" marT="4281" marB="0" anchor="ctr">
                    <a:lnL w="12700" cap="flat" cmpd="sng" algn="ctr">
                      <a:solidFill>
                        <a:srgbClr val="FFFFFF"/>
                      </a:solidFill>
                      <a:prstDash val="solid"/>
                      <a:round/>
                      <a:headEnd type="none" w="med" len="med"/>
                      <a:tailEnd type="none" w="med" len="med"/>
                    </a:lnL>
                    <a:lnR w="12700" cap="flat" cmpd="sng" algn="ctr">
                      <a:solidFill>
                        <a:srgbClr val="044564"/>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209732130"/>
                  </a:ext>
                </a:extLst>
              </a:tr>
              <a:tr h="292608">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73152" marR="36576" marT="4281" marB="0" anchor="ctr">
                    <a:lnL>
                      <a:noFill/>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4281" marR="4281" marT="4281"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修正額</a:t>
                      </a:r>
                    </a:p>
                  </a:txBody>
                  <a:tcPr marL="4281" marR="4281" marT="4281" marB="0" anchor="ctr">
                    <a:lnL w="6350" cap="flat" cmpd="sng" algn="ctr">
                      <a:solidFill>
                        <a:srgbClr val="A6A6A6"/>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4281" marR="4281"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a:noFill/>
                    </a:lnB>
                    <a:solidFill>
                      <a:srgbClr val="0B3041"/>
                    </a:solidFill>
                  </a:tcPr>
                </a:tc>
                <a:extLst>
                  <a:ext uri="{0D108BD9-81ED-4DB2-BD59-A6C34878D82A}">
                    <a16:rowId xmlns:a16="http://schemas.microsoft.com/office/drawing/2014/main" val="2774289802"/>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【流動負債】</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47,672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47,672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買掛金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9,202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短期借入金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714</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20,114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未払消費税等</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11,784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預り金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2,392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カード未払金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3,224</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【固定負債】</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201,770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長期借入金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191,858</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7,566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長期未払金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2,346</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2,346</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【繰延税金負債】</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負債合計</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249,442</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資本金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1,000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【資本剰余金】</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【利益剰余金】</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15,057</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15,057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繰越利益剰余金</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15,057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【自己株式】</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【評価修正額】</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修正税効果</a:t>
                      </a:r>
                    </a:p>
                  </a:txBody>
                  <a:tcPr marL="73152" marR="36576" marT="4281"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4166404555"/>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純資産合計</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14,057</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61,207</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r h="196596">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負債・純資産合計</a:t>
                      </a:r>
                    </a:p>
                  </a:txBody>
                  <a:tcPr marL="73152" marR="36576" marT="4281"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235,385</a:t>
                      </a:r>
                    </a:p>
                  </a:txBody>
                  <a:tcPr marL="4281" marR="77062" marT="4281"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47,150</a:t>
                      </a:r>
                    </a:p>
                  </a:txBody>
                  <a:tcPr marL="4281" marR="77062" marT="4281"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188,235</a:t>
                      </a:r>
                    </a:p>
                  </a:txBody>
                  <a:tcPr marL="4281" marR="77062" marT="4281"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1438252879"/>
                  </a:ext>
                </a:extLst>
              </a:tr>
            </a:tbl>
          </a:graphicData>
        </a:graphic>
      </p:graphicFrame>
    </p:spTree>
    <p:extLst>
      <p:ext uri="{BB962C8B-B14F-4D97-AF65-F5344CB8AC3E}">
        <p14:creationId xmlns:p14="http://schemas.microsoft.com/office/powerpoint/2010/main" val="1524445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924A-DBCC-BA2E-3DAE-B087BA11D028}"/>
            </a:ext>
          </a:extLst>
        </p:cNvPr>
        <p:cNvGrpSpPr/>
        <p:nvPr/>
      </p:nvGrpSpPr>
      <p:grpSpPr>
        <a:xfrm>
          <a:off x="0" y="0"/>
          <a:ext cx="0" cy="0"/>
          <a:chOff x="0" y="0"/>
          <a:chExt cx="0" cy="0"/>
        </a:xfrm>
      </p:grpSpPr>
      <p:sp>
        <p:nvSpPr>
          <p:cNvPr id="9" name="タイトル 8">
            <a:extLst>
              <a:ext uri="{FF2B5EF4-FFF2-40B4-BE49-F238E27FC236}">
                <a16:creationId xmlns:a16="http://schemas.microsoft.com/office/drawing/2014/main" id="{3457B52A-EE32-66A1-E9D7-A16C41555BD4}"/>
              </a:ext>
            </a:extLst>
          </p:cNvPr>
          <p:cNvSpPr>
            <a:spLocks noGrp="1"/>
          </p:cNvSpPr>
          <p:nvPr>
            <p:ph type="ctrTitle"/>
          </p:nvPr>
        </p:nvSpPr>
        <p:spPr/>
        <p:txBody>
          <a:bodyPr/>
          <a:lstStyle/>
          <a:p>
            <a:r>
              <a:rPr lang="ja-JP" altLang="en-US" dirty="0"/>
              <a:t>ネットキャッシュの算定</a:t>
            </a:r>
            <a:endParaRPr lang="ja-JP" altLang="en-US" sz="1800" dirty="0"/>
          </a:p>
        </p:txBody>
      </p:sp>
      <p:sp>
        <p:nvSpPr>
          <p:cNvPr id="3" name="タイトル 1">
            <a:extLst>
              <a:ext uri="{FF2B5EF4-FFF2-40B4-BE49-F238E27FC236}">
                <a16:creationId xmlns:a16="http://schemas.microsoft.com/office/drawing/2014/main" id="{A669AB92-1457-701A-1752-55CB309BC70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4" name="表 3">
            <a:extLst>
              <a:ext uri="{FF2B5EF4-FFF2-40B4-BE49-F238E27FC236}">
                <a16:creationId xmlns:a16="http://schemas.microsoft.com/office/drawing/2014/main" id="{6D1BC568-0617-FF30-CAAD-93EC3E90B15B}"/>
              </a:ext>
            </a:extLst>
          </p:cNvPr>
          <p:cNvGraphicFramePr>
            <a:graphicFrameLocks noGrp="1"/>
          </p:cNvGraphicFramePr>
          <p:nvPr>
            <p:extLst>
              <p:ext uri="{D42A27DB-BD31-4B8C-83A1-F6EECF244321}">
                <p14:modId xmlns:p14="http://schemas.microsoft.com/office/powerpoint/2010/main" val="2463037523"/>
              </p:ext>
            </p:extLst>
          </p:nvPr>
        </p:nvGraphicFramePr>
        <p:xfrm>
          <a:off x="341312" y="888808"/>
          <a:ext cx="10012680" cy="3134550"/>
        </p:xfrm>
        <a:graphic>
          <a:graphicData uri="http://schemas.openxmlformats.org/drawingml/2006/table">
            <a:tbl>
              <a:tblPr/>
              <a:tblGrid>
                <a:gridCol w="2606040">
                  <a:extLst>
                    <a:ext uri="{9D8B030D-6E8A-4147-A177-3AD203B41FA5}">
                      <a16:colId xmlns:a16="http://schemas.microsoft.com/office/drawing/2014/main" val="359348112"/>
                    </a:ext>
                  </a:extLst>
                </a:gridCol>
                <a:gridCol w="1417320">
                  <a:extLst>
                    <a:ext uri="{9D8B030D-6E8A-4147-A177-3AD203B41FA5}">
                      <a16:colId xmlns:a16="http://schemas.microsoft.com/office/drawing/2014/main" val="2576116996"/>
                    </a:ext>
                  </a:extLst>
                </a:gridCol>
                <a:gridCol w="320040">
                  <a:extLst>
                    <a:ext uri="{9D8B030D-6E8A-4147-A177-3AD203B41FA5}">
                      <a16:colId xmlns:a16="http://schemas.microsoft.com/office/drawing/2014/main" val="3613196624"/>
                    </a:ext>
                  </a:extLst>
                </a:gridCol>
                <a:gridCol w="4251960">
                  <a:extLst>
                    <a:ext uri="{9D8B030D-6E8A-4147-A177-3AD203B41FA5}">
                      <a16:colId xmlns:a16="http://schemas.microsoft.com/office/drawing/2014/main" val="4131932259"/>
                    </a:ext>
                  </a:extLst>
                </a:gridCol>
                <a:gridCol w="1417320">
                  <a:extLst>
                    <a:ext uri="{9D8B030D-6E8A-4147-A177-3AD203B41FA5}">
                      <a16:colId xmlns:a16="http://schemas.microsoft.com/office/drawing/2014/main" val="1121997170"/>
                    </a:ext>
                  </a:extLst>
                </a:gridCol>
              </a:tblGrid>
              <a:tr h="258639">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endParaRPr lang="ja-JP" sz="11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l" fontAlgn="ctr">
                        <a:buNone/>
                      </a:pPr>
                      <a:endParaRPr lang="ja-JP" sz="1100" b="0" i="0" u="none" strike="noStrike">
                        <a:solidFill>
                          <a:srgbClr val="000000"/>
                        </a:solidFill>
                        <a:effectLst/>
                        <a:latin typeface="游ゴシック Medium" panose="020B0500000000000000" pitchFamily="50" charset="-128"/>
                        <a:ea typeface="游ゴシック Medium" panose="020B0500000000000000" pitchFamily="50" charset="-128"/>
                      </a:endParaRP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983243275"/>
                  </a:ext>
                </a:extLst>
              </a:tr>
              <a:tr h="318268">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キャッシュライクアイテム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r>
                        <a:rPr sz="900"/>
                        <a:t>　</a:t>
                      </a:r>
                    </a:p>
                  </a:txBody>
                  <a:tcPr marL="6350" marR="6350" marT="6350"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デットライクアイテム</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888147796"/>
                  </a:ext>
                </a:extLst>
              </a:tr>
              <a:tr h="45836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現金及び預金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10,140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r>
                        <a:rPr sz="900">
                          <a:solidFill>
                            <a:srgbClr val="000000"/>
                          </a:solidFill>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長期借入金</a:t>
                      </a:r>
                      <a:endParaRPr lang="ja-JP" sz="12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191,858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998329132"/>
                  </a:ext>
                </a:extLst>
              </a:tr>
              <a:tr h="45836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tc>
                  <a:txBody>
                    <a:bodyPr/>
                    <a:lstStyle/>
                    <a:p>
                      <a:r>
                        <a:rPr sz="900">
                          <a:solidFill>
                            <a:srgbClr val="000000"/>
                          </a:solidFill>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役員借入金</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7,566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700937187"/>
                  </a:ext>
                </a:extLst>
              </a:tr>
              <a:tr h="45836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tc>
                  <a:txBody>
                    <a:bodyPr/>
                    <a:lstStyle/>
                    <a:p>
                      <a:r>
                        <a:rPr sz="900">
                          <a:solidFill>
                            <a:srgbClr val="000000"/>
                          </a:solidFill>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未払法人税等</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243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FFFFFF"/>
                    </a:solidFill>
                  </a:tcPr>
                </a:tc>
                <a:extLst>
                  <a:ext uri="{0D108BD9-81ED-4DB2-BD59-A6C34878D82A}">
                    <a16:rowId xmlns:a16="http://schemas.microsoft.com/office/drawing/2014/main" val="542381496"/>
                  </a:ext>
                </a:extLst>
              </a:tr>
              <a:tr h="45836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10,140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r>
                        <a:rPr sz="900" b="1">
                          <a:solidFill>
                            <a:srgbClr val="000000"/>
                          </a:solidFill>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合計</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199,666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137043644"/>
                  </a:ext>
                </a:extLst>
              </a:tr>
              <a:tr h="265823">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w="12700" cap="flat" cmpd="sng" algn="ctr">
                      <a:solidFill>
                        <a:srgbClr val="0889C9"/>
                      </a:solidFill>
                      <a:prstDash val="solid"/>
                      <a:round/>
                      <a:headEnd type="none" w="med" len="med"/>
                      <a:tailEnd type="none" w="med" len="med"/>
                    </a:lnB>
                    <a:noFill/>
                  </a:tcPr>
                </a:tc>
                <a:tc>
                  <a:txBody>
                    <a:bodyPr/>
                    <a:lstStyle/>
                    <a:p>
                      <a:r>
                        <a:rPr sz="900">
                          <a:solidFill>
                            <a:srgbClr val="000000"/>
                          </a:solidFill>
                        </a:rPr>
                        <a:t>　</a:t>
                      </a:r>
                    </a:p>
                  </a:txBody>
                  <a:tcPr marL="6350" marR="6350" marT="6350" marB="0" anchor="ctr">
                    <a:lnL>
                      <a:noFill/>
                    </a:lnL>
                    <a:lnR>
                      <a:noFill/>
                    </a:lnR>
                    <a:lnT>
                      <a:noFill/>
                    </a:lnT>
                    <a:lnB>
                      <a:noFill/>
                    </a:lnB>
                    <a:noFill/>
                  </a:tcPr>
                </a:tc>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extLst>
                  <a:ext uri="{0D108BD9-81ED-4DB2-BD59-A6C34878D82A}">
                    <a16:rowId xmlns:a16="http://schemas.microsoft.com/office/drawing/2014/main" val="1311672910"/>
                  </a:ext>
                </a:extLst>
              </a:tr>
              <a:tr h="45836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189,526</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2FB"/>
                    </a:solidFill>
                  </a:tcPr>
                </a:tc>
                <a:tc>
                  <a:txBody>
                    <a:bodyPr/>
                    <a:lstStyle/>
                    <a:p>
                      <a:r>
                        <a:rPr sz="900" b="1">
                          <a:solidFill>
                            <a:srgbClr val="000000"/>
                          </a:solidFill>
                        </a:rPr>
                        <a:t>　</a:t>
                      </a:r>
                    </a:p>
                  </a:txBody>
                  <a:tcPr marL="6350" marR="6350" marT="6350" marB="0" anchor="ctr">
                    <a:lnL w="12700" cap="flat" cmpd="sng" algn="ctr">
                      <a:solidFill>
                        <a:srgbClr val="0889C9"/>
                      </a:solidFill>
                      <a:prstDash val="solid"/>
                      <a:round/>
                      <a:headEnd type="none" w="med" len="med"/>
                      <a:tailEnd type="none" w="med" len="med"/>
                    </a:lnL>
                    <a:lnR>
                      <a:noFill/>
                    </a:lnR>
                    <a:lnT>
                      <a:noFill/>
                    </a:lnT>
                    <a:lnB>
                      <a:noFill/>
                    </a:lnB>
                    <a:noFill/>
                  </a:tcPr>
                </a:tc>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extLst>
                  <a:ext uri="{0D108BD9-81ED-4DB2-BD59-A6C34878D82A}">
                    <a16:rowId xmlns:a16="http://schemas.microsoft.com/office/drawing/2014/main" val="49382494"/>
                  </a:ext>
                </a:extLst>
              </a:tr>
            </a:tbl>
          </a:graphicData>
        </a:graphic>
      </p:graphicFrame>
      <p:sp>
        <p:nvSpPr>
          <p:cNvPr id="10" name="TextBox 9"/>
          <p:cNvSpPr txBox="1"/>
          <p:nvPr/>
        </p:nvSpPr>
        <p:spPr>
          <a:xfrm>
            <a:off x="338328" y="4206240"/>
            <a:ext cx="10012680" cy="731520"/>
          </a:xfrm>
          <a:prstGeom prst="rect">
            <a:avLst/>
          </a:prstGeom>
          <a:noFill/>
        </p:spPr>
        <p:txBody>
          <a:bodyPr wrap="square">
            <a:spAutoFit/>
          </a:bodyPr>
          <a:lstStyle/>
          <a:p>
            <a:r>
              <a:rPr sz="850">
                <a:latin typeface="游ゴシック Medium"/>
              </a:rPr>
              <a:t>※評価基準日（2025年11月30日）の残高。保険積立金・投資有価証券・役員貸付金の残高はない。</a:t>
            </a:r>
          </a:p>
          <a:p>
            <a:r>
              <a:rPr sz="850">
                <a:latin typeface="游ゴシック Medium"/>
              </a:rPr>
              <a:t>※役員借入金は譲渡時の返済を希望しているため、有利子負債と同様にデットライクアイテムとして控除している。</a:t>
            </a:r>
          </a:p>
          <a:p>
            <a:r>
              <a:rPr sz="850">
                <a:latin typeface="游ゴシック Medium"/>
              </a:rPr>
              <a:t>※長期未払金2,346千円は分割払いの未払金であり有利子負債ではないためデットライクに含めていない（要確認）。含める場合、想定株式価値は同額だけ下振れする。</a:t>
            </a:r>
          </a:p>
          <a:p>
            <a:r>
              <a:rPr sz="850">
                <a:latin typeface="游ゴシック Medium"/>
              </a:rPr>
              <a:t>※事業運営に必要な運転資金相当額を現預金から控除する考え方もあるが、基準日の現預金水準（月商の約0.2か月分）に照らし、本評価では控除していない。</a:t>
            </a:r>
          </a:p>
        </p:txBody>
      </p:sp>
    </p:spTree>
    <p:extLst>
      <p:ext uri="{BB962C8B-B14F-4D97-AF65-F5344CB8AC3E}">
        <p14:creationId xmlns:p14="http://schemas.microsoft.com/office/powerpoint/2010/main" val="130158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A2105-3764-0F9B-6D9E-FDC9164E25C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F54FD88-71A3-9482-A4EB-EB7B53A21670}"/>
              </a:ext>
            </a:extLst>
          </p:cNvPr>
          <p:cNvSpPr>
            <a:spLocks noGrp="1"/>
          </p:cNvSpPr>
          <p:nvPr>
            <p:ph type="title"/>
          </p:nvPr>
        </p:nvSpPr>
        <p:spPr>
          <a:xfrm>
            <a:off x="989013" y="3249063"/>
            <a:ext cx="9221787" cy="1429750"/>
          </a:xfrm>
          <a:noFill/>
        </p:spPr>
        <p:txBody>
          <a:bodyPr wrap="square" lIns="0" tIns="0" rIns="0" bIns="0" rtlCol="0" anchor="ctr">
            <a:spAutoFit/>
          </a:bodyPr>
          <a:lstStyle/>
          <a:p>
            <a:pPr>
              <a:lnSpc>
                <a:spcPct val="120000"/>
              </a:lnSpc>
            </a:pPr>
            <a:r>
              <a:rPr lang="en-US" altLang="ja-JP" dirty="0"/>
              <a:t>Financial Analysis ／</a:t>
            </a:r>
            <a:br>
              <a:rPr lang="en-US" altLang="ja-JP" dirty="0"/>
            </a:br>
            <a:r>
              <a:rPr lang="ja-JP" altLang="en-US" dirty="0"/>
              <a:t>財務情報の分析（</a:t>
            </a:r>
            <a:r>
              <a:rPr lang="en-US" altLang="ja-JP" dirty="0"/>
              <a:t>P/L</a:t>
            </a:r>
            <a:r>
              <a:rPr lang="ja-JP" altLang="en-US" dirty="0"/>
              <a:t>）</a:t>
            </a:r>
          </a:p>
        </p:txBody>
      </p:sp>
      <p:grpSp>
        <p:nvGrpSpPr>
          <p:cNvPr id="2" name="グループ化 1">
            <a:extLst>
              <a:ext uri="{FF2B5EF4-FFF2-40B4-BE49-F238E27FC236}">
                <a16:creationId xmlns:a16="http://schemas.microsoft.com/office/drawing/2014/main" id="{9BBA03AA-0C3E-769B-7372-5C78F7C906A4}"/>
              </a:ext>
            </a:extLst>
          </p:cNvPr>
          <p:cNvGrpSpPr/>
          <p:nvPr/>
        </p:nvGrpSpPr>
        <p:grpSpPr>
          <a:xfrm>
            <a:off x="885526" y="2173586"/>
            <a:ext cx="3390141" cy="651396"/>
            <a:chOff x="885526" y="2554586"/>
            <a:chExt cx="3390141" cy="651396"/>
          </a:xfrm>
        </p:grpSpPr>
        <p:sp>
          <p:nvSpPr>
            <p:cNvPr id="6" name="テキスト ボックス 5">
              <a:extLst>
                <a:ext uri="{FF2B5EF4-FFF2-40B4-BE49-F238E27FC236}">
                  <a16:creationId xmlns:a16="http://schemas.microsoft.com/office/drawing/2014/main" id="{F0D40862-3FE6-CCAC-56A4-FC8C5BF2AF4C}"/>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2</a:t>
              </a:r>
              <a:endParaRPr lang="ja-JP" altLang="en-US" spc="100" dirty="0">
                <a:solidFill>
                  <a:schemeClr val="accent2">
                    <a:lumMod val="90000"/>
                  </a:schemeClr>
                </a:solidFill>
              </a:endParaRPr>
            </a:p>
          </p:txBody>
        </p:sp>
        <p:cxnSp>
          <p:nvCxnSpPr>
            <p:cNvPr id="7" name="直線コネクタ 6">
              <a:extLst>
                <a:ext uri="{FF2B5EF4-FFF2-40B4-BE49-F238E27FC236}">
                  <a16:creationId xmlns:a16="http://schemas.microsoft.com/office/drawing/2014/main" id="{43F2BBF9-6AFC-1AC2-87E4-1733C64C4160}"/>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823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683D8C01-45AB-F55D-E483-1520171D4D71}"/>
              </a:ext>
            </a:extLst>
          </p:cNvPr>
          <p:cNvSpPr>
            <a:spLocks noGrp="1"/>
          </p:cNvSpPr>
          <p:nvPr>
            <p:ph type="ctrTitle"/>
          </p:nvPr>
        </p:nvSpPr>
        <p:spPr>
          <a:xfrm>
            <a:off x="341313" y="180653"/>
            <a:ext cx="7799917" cy="338554"/>
          </a:xfrm>
        </p:spPr>
        <p:txBody>
          <a:bodyPr/>
          <a:lstStyle/>
          <a:p>
            <a:r>
              <a:rPr lang="ja-JP" altLang="en-US" dirty="0"/>
              <a:t>過去</a:t>
            </a:r>
            <a:r>
              <a:rPr lang="en-US" altLang="ja-JP" dirty="0"/>
              <a:t>PL</a:t>
            </a:r>
            <a:r>
              <a:rPr lang="ja-JP" altLang="en-US" dirty="0"/>
              <a:t>の推移</a:t>
            </a:r>
          </a:p>
        </p:txBody>
      </p:sp>
      <p:sp>
        <p:nvSpPr>
          <p:cNvPr id="7" name="タイトル 1">
            <a:extLst>
              <a:ext uri="{FF2B5EF4-FFF2-40B4-BE49-F238E27FC236}">
                <a16:creationId xmlns:a16="http://schemas.microsoft.com/office/drawing/2014/main" id="{7A790640-DDA3-8580-8C0A-46825ED50EDD}"/>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graphicFrame>
        <p:nvGraphicFramePr>
          <p:cNvPr id="6" name="表 5">
            <a:extLst>
              <a:ext uri="{FF2B5EF4-FFF2-40B4-BE49-F238E27FC236}">
                <a16:creationId xmlns:a16="http://schemas.microsoft.com/office/drawing/2014/main" id="{E651E485-6E57-DF03-CEB3-303C5F7BC5F1}"/>
              </a:ext>
            </a:extLst>
          </p:cNvPr>
          <p:cNvGraphicFramePr>
            <a:graphicFrameLocks noGrp="1"/>
          </p:cNvGraphicFramePr>
          <p:nvPr>
            <p:extLst>
              <p:ext uri="{D42A27DB-BD31-4B8C-83A1-F6EECF244321}">
                <p14:modId xmlns:p14="http://schemas.microsoft.com/office/powerpoint/2010/main" val="1525554261"/>
              </p:ext>
            </p:extLst>
          </p:nvPr>
        </p:nvGraphicFramePr>
        <p:xfrm>
          <a:off x="341312" y="845377"/>
          <a:ext cx="9025128" cy="5625368"/>
        </p:xfrm>
        <a:graphic>
          <a:graphicData uri="http://schemas.openxmlformats.org/drawingml/2006/table">
            <a:tbl>
              <a:tblPr/>
              <a:tblGrid>
                <a:gridCol w="2148840">
                  <a:extLst>
                    <a:ext uri="{9D8B030D-6E8A-4147-A177-3AD203B41FA5}">
                      <a16:colId xmlns:a16="http://schemas.microsoft.com/office/drawing/2014/main" val="1203225717"/>
                    </a:ext>
                  </a:extLst>
                </a:gridCol>
                <a:gridCol w="1005840">
                  <a:extLst>
                    <a:ext uri="{9D8B030D-6E8A-4147-A177-3AD203B41FA5}">
                      <a16:colId xmlns:a16="http://schemas.microsoft.com/office/drawing/2014/main" val="757072105"/>
                    </a:ext>
                  </a:extLst>
                </a:gridCol>
                <a:gridCol w="713232">
                  <a:extLst>
                    <a:ext uri="{9D8B030D-6E8A-4147-A177-3AD203B41FA5}">
                      <a16:colId xmlns:a16="http://schemas.microsoft.com/office/drawing/2014/main" val="2934432485"/>
                    </a:ext>
                  </a:extLst>
                </a:gridCol>
                <a:gridCol w="1005840">
                  <a:extLst>
                    <a:ext uri="{9D8B030D-6E8A-4147-A177-3AD203B41FA5}">
                      <a16:colId xmlns:a16="http://schemas.microsoft.com/office/drawing/2014/main" val="3085477051"/>
                    </a:ext>
                  </a:extLst>
                </a:gridCol>
                <a:gridCol w="713232">
                  <a:extLst>
                    <a:ext uri="{9D8B030D-6E8A-4147-A177-3AD203B41FA5}">
                      <a16:colId xmlns:a16="http://schemas.microsoft.com/office/drawing/2014/main" val="1904258578"/>
                    </a:ext>
                  </a:extLst>
                </a:gridCol>
                <a:gridCol w="1005840">
                  <a:extLst>
                    <a:ext uri="{9D8B030D-6E8A-4147-A177-3AD203B41FA5}">
                      <a16:colId xmlns:a16="http://schemas.microsoft.com/office/drawing/2014/main" val="367188390"/>
                    </a:ext>
                  </a:extLst>
                </a:gridCol>
                <a:gridCol w="713232">
                  <a:extLst>
                    <a:ext uri="{9D8B030D-6E8A-4147-A177-3AD203B41FA5}">
                      <a16:colId xmlns:a16="http://schemas.microsoft.com/office/drawing/2014/main" val="1573539663"/>
                    </a:ext>
                  </a:extLst>
                </a:gridCol>
                <a:gridCol w="1005840">
                  <a:extLst>
                    <a:ext uri="{9D8B030D-6E8A-4147-A177-3AD203B41FA5}">
                      <a16:colId xmlns:a16="http://schemas.microsoft.com/office/drawing/2014/main" val="1952931712"/>
                    </a:ext>
                  </a:extLst>
                </a:gridCol>
                <a:gridCol w="713232">
                  <a:extLst>
                    <a:ext uri="{9D8B030D-6E8A-4147-A177-3AD203B41FA5}">
                      <a16:colId xmlns:a16="http://schemas.microsoft.com/office/drawing/2014/main" val="489212210"/>
                    </a:ext>
                  </a:extLst>
                </a:gridCol>
              </a:tblGrid>
              <a:tr h="146304">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39" marR="3439" marT="3439"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3439" marR="3439" marT="3439" marB="0" anchor="ctr">
                    <a:lnL>
                      <a:noFill/>
                    </a:lnL>
                    <a:lnR>
                      <a:noFill/>
                    </a:lnR>
                    <a:lnT>
                      <a:noFill/>
                    </a:lnT>
                    <a:lnB>
                      <a:noFill/>
                    </a:lnB>
                    <a:noFill/>
                  </a:tcPr>
                </a:tc>
                <a:extLst>
                  <a:ext uri="{0D108BD9-81ED-4DB2-BD59-A6C34878D82A}">
                    <a16:rowId xmlns:a16="http://schemas.microsoft.com/office/drawing/2014/main" val="3553608451"/>
                  </a:ext>
                </a:extLst>
              </a:tr>
              <a:tr h="237744">
                <a:tc rowSpan="2">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grid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23年11月期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grid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26年11月期
（7か月TB）</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727F88"/>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39" marR="3439" marT="3439" marB="0" anchor="ctr">
                    <a:lnL w="1270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727F88"/>
                    </a:solidFill>
                  </a:tcPr>
                </a:tc>
                <a:extLst>
                  <a:ext uri="{0D108BD9-81ED-4DB2-BD59-A6C34878D82A}">
                    <a16:rowId xmlns:a16="http://schemas.microsoft.com/office/drawing/2014/main" val="316968241"/>
                  </a:ext>
                </a:extLst>
              </a:tr>
              <a:tr h="201168">
                <a:tc vMerge="1">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727F88"/>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売上高比</a:t>
                      </a:r>
                    </a:p>
                  </a:txBody>
                  <a:tcPr marL="343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727F88"/>
                    </a:solidFill>
                  </a:tcPr>
                </a:tc>
                <a:extLst>
                  <a:ext uri="{0D108BD9-81ED-4DB2-BD59-A6C34878D82A}">
                    <a16:rowId xmlns:a16="http://schemas.microsoft.com/office/drawing/2014/main" val="2121160983"/>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生体売上高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293,214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333,090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338,295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165,117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サービス売上高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65,656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60,897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52,699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32,792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物販売上高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115,559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145,048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167,395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81,245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474,428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539,035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558,390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279,153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期首棚卸高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39,486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106,017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商品仕入高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183,854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220,801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182,243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92,274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外注費</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29,628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31,466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25,058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8,917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期末棚卸高</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70,918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127,081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106,017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58,446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182,050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38.4%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196,104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36.4%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228,365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104,762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292,379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61.6%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342,931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330,024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174,391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61.1%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62.6%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167,754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2,341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3,022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19,552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6,637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2,383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3,632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1,059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受取利息</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2,378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2,296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2,656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1,882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支払利息</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1,788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2,591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1,882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雑損失</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18,575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5,814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特別損失</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1,298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44,000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固定資産売却損</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固定資産除却損</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棚卸資産廃棄損</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44,000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税引前当期純利益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2,528</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3,110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19,874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38,186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r h="193852">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法人税等</a:t>
                      </a:r>
                    </a:p>
                  </a:txBody>
                  <a:tcPr marL="123799" marR="3439" marT="3439"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894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2,135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485</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0.0%</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395252798"/>
                  </a:ext>
                </a:extLst>
              </a:tr>
              <a:tr h="193852">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税引後当期純利益</a:t>
                      </a:r>
                    </a:p>
                  </a:txBody>
                  <a:tcPr marL="123799" marR="3439"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1,634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0.3%</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974</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0.2%</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20,359</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-3.6%</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38,187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-13.7%</a:t>
                      </a:r>
                    </a:p>
                  </a:txBody>
                  <a:tcPr marL="3439" marR="61900" marT="3439"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extLst>
                  <a:ext uri="{0D108BD9-81ED-4DB2-BD59-A6C34878D82A}">
                    <a16:rowId xmlns:a16="http://schemas.microsoft.com/office/drawing/2014/main" val="1814690740"/>
                  </a:ext>
                </a:extLst>
              </a:tr>
            </a:tbl>
          </a:graphicData>
        </a:graphic>
      </p:graphicFrame>
    </p:spTree>
    <p:extLst>
      <p:ext uri="{BB962C8B-B14F-4D97-AF65-F5344CB8AC3E}">
        <p14:creationId xmlns:p14="http://schemas.microsoft.com/office/powerpoint/2010/main" val="4072389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5650247-1E40-B7CB-0FCF-640931A69AE2}"/>
              </a:ext>
            </a:extLst>
          </p:cNvPr>
          <p:cNvSpPr txBox="1"/>
          <p:nvPr/>
        </p:nvSpPr>
        <p:spPr>
          <a:xfrm>
            <a:off x="2051536"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850"/>
              <a:t>従業員給与：現場責任者（淺野崇氏）の人件費を役員報酬へ振替。</a:t>
            </a:r>
            <a:endParaRPr lang="en-US" altLang="ja-JP" dirty="0"/>
          </a:p>
          <a:p>
            <a:pPr>
              <a:lnSpc>
                <a:spcPct val="110000"/>
              </a:lnSpc>
              <a:spcAft>
                <a:spcPts val="200"/>
              </a:spcAft>
              <a:tabLst>
                <a:tab pos="1165225" algn="l"/>
                <a:tab pos="1341438" algn="l"/>
              </a:tabLst>
            </a:pPr>
            <a:r>
              <a:rPr lang="ja-JP" altLang="en-US" dirty="0" sz="850"/>
              <a:t>役員報酬：代表者の退任分を戻し入れ、後任役員の同水準報酬を控除（差引ゼロ）。</a:t>
            </a:r>
            <a:endParaRPr lang="en-US" altLang="ja-JP" dirty="0"/>
          </a:p>
        </p:txBody>
      </p:sp>
      <p:sp>
        <p:nvSpPr>
          <p:cNvPr id="12" name="タイトル 11">
            <a:extLst>
              <a:ext uri="{FF2B5EF4-FFF2-40B4-BE49-F238E27FC236}">
                <a16:creationId xmlns:a16="http://schemas.microsoft.com/office/drawing/2014/main" id="{DC2FECB7-19A2-7C36-9E2F-D39B0FB88B2F}"/>
              </a:ext>
            </a:extLst>
          </p:cNvPr>
          <p:cNvSpPr>
            <a:spLocks noGrp="1"/>
          </p:cNvSpPr>
          <p:nvPr>
            <p:ph type="ctrTitle"/>
          </p:nvPr>
        </p:nvSpPr>
        <p:spPr>
          <a:xfrm>
            <a:off x="341313" y="180653"/>
            <a:ext cx="7799917" cy="338554"/>
          </a:xfrm>
        </p:spPr>
        <p:txBody>
          <a:bodyPr/>
          <a:lstStyle/>
          <a:p>
            <a:r>
              <a:rPr lang="ja-JP" altLang="en-US" dirty="0"/>
              <a:t>販管費及び一般管理費の修正</a:t>
            </a:r>
          </a:p>
        </p:txBody>
      </p:sp>
      <p:sp>
        <p:nvSpPr>
          <p:cNvPr id="11" name="タイトル 1">
            <a:extLst>
              <a:ext uri="{FF2B5EF4-FFF2-40B4-BE49-F238E27FC236}">
                <a16:creationId xmlns:a16="http://schemas.microsoft.com/office/drawing/2014/main" id="{E822E01B-8EBB-0777-FFDE-2ED5BD7F6582}"/>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9" name="正方形/長方形 8">
            <a:extLst>
              <a:ext uri="{FF2B5EF4-FFF2-40B4-BE49-F238E27FC236}">
                <a16:creationId xmlns:a16="http://schemas.microsoft.com/office/drawing/2014/main" id="{D11C8879-7177-AB32-ADE2-B1BA72013064}"/>
              </a:ext>
            </a:extLst>
          </p:cNvPr>
          <p:cNvSpPr/>
          <p:nvPr/>
        </p:nvSpPr>
        <p:spPr>
          <a:xfrm>
            <a:off x="449263" y="6083474"/>
            <a:ext cx="9793287" cy="76865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6" name="表 5">
            <a:extLst>
              <a:ext uri="{FF2B5EF4-FFF2-40B4-BE49-F238E27FC236}">
                <a16:creationId xmlns:a16="http://schemas.microsoft.com/office/drawing/2014/main" id="{3009E52A-6854-3BA5-D52E-D803BF3251DE}"/>
              </a:ext>
            </a:extLst>
          </p:cNvPr>
          <p:cNvGraphicFramePr>
            <a:graphicFrameLocks noGrp="1"/>
          </p:cNvGraphicFramePr>
          <p:nvPr>
            <p:extLst>
              <p:ext uri="{D42A27DB-BD31-4B8C-83A1-F6EECF244321}">
                <p14:modId xmlns:p14="http://schemas.microsoft.com/office/powerpoint/2010/main" val="1780566356"/>
              </p:ext>
            </p:extLst>
          </p:nvPr>
        </p:nvGraphicFramePr>
        <p:xfrm>
          <a:off x="341313" y="758643"/>
          <a:ext cx="10012680" cy="5170932"/>
        </p:xfrm>
        <a:graphic>
          <a:graphicData uri="http://schemas.openxmlformats.org/drawingml/2006/table">
            <a:tbl>
              <a:tblPr/>
              <a:tblGrid>
                <a:gridCol w="1965960">
                  <a:extLst>
                    <a:ext uri="{9D8B030D-6E8A-4147-A177-3AD203B41FA5}">
                      <a16:colId xmlns:a16="http://schemas.microsoft.com/office/drawing/2014/main" val="2248384718"/>
                    </a:ext>
                  </a:extLst>
                </a:gridCol>
                <a:gridCol w="896112">
                  <a:extLst>
                    <a:ext uri="{9D8B030D-6E8A-4147-A177-3AD203B41FA5}">
                      <a16:colId xmlns:a16="http://schemas.microsoft.com/office/drawing/2014/main" val="3099073515"/>
                    </a:ext>
                  </a:extLst>
                </a:gridCol>
                <a:gridCol w="896112">
                  <a:extLst>
                    <a:ext uri="{9D8B030D-6E8A-4147-A177-3AD203B41FA5}">
                      <a16:colId xmlns:a16="http://schemas.microsoft.com/office/drawing/2014/main" val="2721162313"/>
                    </a:ext>
                  </a:extLst>
                </a:gridCol>
                <a:gridCol w="896112">
                  <a:extLst>
                    <a:ext uri="{9D8B030D-6E8A-4147-A177-3AD203B41FA5}">
                      <a16:colId xmlns:a16="http://schemas.microsoft.com/office/drawing/2014/main" val="2402645372"/>
                    </a:ext>
                  </a:extLst>
                </a:gridCol>
                <a:gridCol w="896112">
                  <a:extLst>
                    <a:ext uri="{9D8B030D-6E8A-4147-A177-3AD203B41FA5}">
                      <a16:colId xmlns:a16="http://schemas.microsoft.com/office/drawing/2014/main" val="3890206035"/>
                    </a:ext>
                  </a:extLst>
                </a:gridCol>
                <a:gridCol w="896112">
                  <a:extLst>
                    <a:ext uri="{9D8B030D-6E8A-4147-A177-3AD203B41FA5}">
                      <a16:colId xmlns:a16="http://schemas.microsoft.com/office/drawing/2014/main" val="1466135658"/>
                    </a:ext>
                  </a:extLst>
                </a:gridCol>
                <a:gridCol w="896112">
                  <a:extLst>
                    <a:ext uri="{9D8B030D-6E8A-4147-A177-3AD203B41FA5}">
                      <a16:colId xmlns:a16="http://schemas.microsoft.com/office/drawing/2014/main" val="1725214901"/>
                    </a:ext>
                  </a:extLst>
                </a:gridCol>
                <a:gridCol w="896112">
                  <a:extLst>
                    <a:ext uri="{9D8B030D-6E8A-4147-A177-3AD203B41FA5}">
                      <a16:colId xmlns:a16="http://schemas.microsoft.com/office/drawing/2014/main" val="493838815"/>
                    </a:ext>
                  </a:extLst>
                </a:gridCol>
                <a:gridCol w="896112">
                  <a:extLst>
                    <a:ext uri="{9D8B030D-6E8A-4147-A177-3AD203B41FA5}">
                      <a16:colId xmlns:a16="http://schemas.microsoft.com/office/drawing/2014/main" val="2010115093"/>
                    </a:ext>
                  </a:extLst>
                </a:gridCol>
                <a:gridCol w="877824">
                  <a:extLst>
                    <a:ext uri="{9D8B030D-6E8A-4147-A177-3AD203B41FA5}">
                      <a16:colId xmlns:a16="http://schemas.microsoft.com/office/drawing/2014/main" val="946341823"/>
                    </a:ext>
                  </a:extLst>
                </a:gridCol>
              </a:tblGrid>
              <a:tr h="146304">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2912" marR="2912"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2912" marR="2912" marT="2912" marB="0" anchor="ctr">
                    <a:lnL>
                      <a:noFill/>
                    </a:lnL>
                    <a:lnR>
                      <a:noFill/>
                    </a:lnR>
                    <a:lnT>
                      <a:noFill/>
                    </a:lnT>
                    <a:lnB>
                      <a:noFill/>
                    </a:lnB>
                    <a:noFill/>
                  </a:tcPr>
                </a:tc>
                <a:extLst>
                  <a:ext uri="{0D108BD9-81ED-4DB2-BD59-A6C34878D82A}">
                    <a16:rowId xmlns:a16="http://schemas.microsoft.com/office/drawing/2014/main" val="440669713"/>
                  </a:ext>
                </a:extLst>
              </a:tr>
              <a:tr h="237744">
                <a:tc rowSpan="2">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科目</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0B3041"/>
                    </a:solidFill>
                  </a:tcPr>
                </a:tc>
                <a:tc gridSpan="3">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23年11月期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24年11月期</a:t>
                      </a:r>
                      <a:endParaRPr lang="ja-JP" altLang="en-US" sz="9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2912" marR="2912" marT="2912"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gridSpan="3">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25年11月期</a:t>
                      </a:r>
                    </a:p>
                  </a:txBody>
                  <a:tcPr marL="2912" marR="2912" marT="2912"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a:p>
                  </a:txBody>
                  <a:tcPr marL="2912" marR="2912" marT="2912"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hMerge="1">
                  <a:txBody>
                    <a:bodyPr/>
                    <a:lstStyle/>
                    <a:p>
                      <a:endParaRPr dirty="0"/>
                    </a:p>
                  </a:txBody>
                  <a:tcPr marL="2912" marR="2912" marT="2912"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2804494408"/>
                  </a:ext>
                </a:extLst>
              </a:tr>
              <a:tr h="219456">
                <a:tc vMerge="1">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2912"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2912" marR="2912"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修正後</a:t>
                      </a:r>
                    </a:p>
                  </a:txBody>
                  <a:tcPr marL="2912" marR="2912"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1585545143"/>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従業員給与</a:t>
                      </a:r>
                    </a:p>
                  </a:txBody>
                  <a:tcPr marL="104827" marR="2912"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112,323</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112,323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115,962</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8,831</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107,131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127,017</a:t>
                      </a:r>
                    </a:p>
                  </a:txBody>
                  <a:tcPr marL="2912" marR="52414" marT="2912"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8,183</a:t>
                      </a:r>
                    </a:p>
                  </a:txBody>
                  <a:tcPr marL="2912" marR="52414" marT="2912"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118,834</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4291242379"/>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旅費交通費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3,152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3,152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4,978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4,978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5,725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5,725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284923447"/>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広告宣伝費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24,335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24,335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34,052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34,052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26,651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26,651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54149399"/>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発送配達費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353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353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128096169"/>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ロイヤリティ</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45,990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45,990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39,848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39,848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29,982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29,982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811506261"/>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会議費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484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484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1,489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1,489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48218478"/>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役員報酬</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9,600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9,600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9,600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14,400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14,400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92195320"/>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法定福利費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10,104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10,104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22,242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22,242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15,295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15,295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9985656"/>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厚生費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3,946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3,946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3,863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3,863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840283469"/>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3,911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3,911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9,295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6,349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6,349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34721628"/>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リース料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4,295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2,386</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1,909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4,555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3,154</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1,401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7,250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5,604</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1,646</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105789052"/>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地代家賃</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8,230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8,230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19,460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19,460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33,249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33,249</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93046354"/>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修繕費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468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468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1,088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1,088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275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444835178"/>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事務用消耗品費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9,802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9,802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6,407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6,407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4,372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4,372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3420636"/>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通信費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2,456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2,456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2,673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2,673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3,045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3,045</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90651905"/>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水道光熱費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2,958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2,958</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3,149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3,149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3,941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3,941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353267682"/>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租税公課</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8,881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8,881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10,506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10,506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20,061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20,061</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943579684"/>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接待交際費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8,453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4,453</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4,000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10,230</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6,230</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4,000</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8,218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4,218</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4,000</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744885227"/>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保険料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2,411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696</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1,715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4,218</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1,599</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2,619</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3,877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1,224</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2,653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82253244"/>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備品消耗品費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12,485</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12,485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14,037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14,037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8,462</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8,462</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870423572"/>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管理諸費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5,564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5,564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5,027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5,027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5,797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5,797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99785787"/>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支払手数料</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7,153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7,153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11,861</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11,861</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14,453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14,453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164828426"/>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諸会費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889669841"/>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車両費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627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627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447</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513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513</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80376357"/>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研修費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103</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103</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174</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682878473"/>
                  </a:ext>
                </a:extLst>
              </a:tr>
              <a:tr h="169164">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雑費</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3,334</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5,436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5,436</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4,667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4,667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4286575363"/>
                  </a:ext>
                </a:extLst>
              </a:tr>
              <a:tr h="169164">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販売費および一般管理費合計</a:t>
                      </a:r>
                    </a:p>
                  </a:txBody>
                  <a:tcPr marL="104827" marR="2912" marT="2912"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290,037</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7,535</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282,502</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339,909</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19,814</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320,095</a:t>
                      </a:r>
                    </a:p>
                  </a:txBody>
                  <a:tcPr marL="2912" marR="52414" marT="2912"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349,576</a:t>
                      </a:r>
                    </a:p>
                  </a:txBody>
                  <a:tcPr marL="2912" marR="52414" marT="2912"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19,229</a:t>
                      </a:r>
                    </a:p>
                  </a:txBody>
                  <a:tcPr marL="2912" marR="52414" marT="2912" marB="0" anchor="ctr">
                    <a:lnL>
                      <a:noFill/>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330,347</a:t>
                      </a:r>
                    </a:p>
                  </a:txBody>
                  <a:tcPr marL="2912" marR="52414" marT="2912"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615647075"/>
                  </a:ext>
                </a:extLst>
              </a:tr>
            </a:tbl>
          </a:graphicData>
        </a:graphic>
      </p:graphicFrame>
      <p:sp>
        <p:nvSpPr>
          <p:cNvPr id="7" name="テキスト ボックス 6">
            <a:extLst>
              <a:ext uri="{FF2B5EF4-FFF2-40B4-BE49-F238E27FC236}">
                <a16:creationId xmlns:a16="http://schemas.microsoft.com/office/drawing/2014/main" id="{33CBB3D9-5E1D-09B4-EE09-6FFCA0875A38}"/>
              </a:ext>
            </a:extLst>
          </p:cNvPr>
          <p:cNvSpPr txBox="1"/>
          <p:nvPr/>
        </p:nvSpPr>
        <p:spPr>
          <a:xfrm>
            <a:off x="5929270" y="6285220"/>
            <a:ext cx="4076270" cy="365165"/>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165225" algn="l"/>
                <a:tab pos="1341438" algn="l"/>
              </a:tabLst>
            </a:pPr>
            <a:r>
              <a:rPr lang="ja-JP" altLang="en-US" dirty="0" sz="850"/>
              <a:t>リース料：非事業用車両分を控除。接待交際費：適正水準4,000千円の超過分を控除。</a:t>
            </a:r>
            <a:endParaRPr lang="zh-TW" altLang="en-US" dirty="0"/>
          </a:p>
          <a:p>
            <a:pPr>
              <a:lnSpc>
                <a:spcPct val="110000"/>
              </a:lnSpc>
              <a:spcAft>
                <a:spcPts val="200"/>
              </a:spcAft>
              <a:tabLst>
                <a:tab pos="1165225" algn="l"/>
                <a:tab pos="1341438" algn="l"/>
              </a:tabLst>
            </a:pPr>
            <a:r>
              <a:rPr lang="ja-JP" altLang="en-US" dirty="0" sz="850"/>
              <a:t>保険料：事業関連性の低い生命保険料を控除。</a:t>
            </a:r>
            <a:endParaRPr lang="zh-TW" altLang="en-US" dirty="0"/>
          </a:p>
        </p:txBody>
      </p:sp>
    </p:spTree>
    <p:extLst>
      <p:ext uri="{BB962C8B-B14F-4D97-AF65-F5344CB8AC3E}">
        <p14:creationId xmlns:p14="http://schemas.microsoft.com/office/powerpoint/2010/main" val="94194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FFA37B4E-7ECB-634B-D8F4-FB784ED00D76}"/>
              </a:ext>
            </a:extLst>
          </p:cNvPr>
          <p:cNvSpPr>
            <a:spLocks noGrp="1"/>
          </p:cNvSpPr>
          <p:nvPr>
            <p:ph type="ctrTitle"/>
          </p:nvPr>
        </p:nvSpPr>
        <p:spPr>
          <a:xfrm>
            <a:off x="341313" y="180653"/>
            <a:ext cx="7799917" cy="338554"/>
          </a:xfrm>
        </p:spPr>
        <p:txBody>
          <a:bodyPr/>
          <a:lstStyle/>
          <a:p>
            <a:r>
              <a:rPr lang="ja-JP" altLang="en-US" dirty="0"/>
              <a:t>修正</a:t>
            </a:r>
            <a:r>
              <a:rPr lang="en-US" altLang="ja-JP" dirty="0"/>
              <a:t>PL</a:t>
            </a:r>
            <a:r>
              <a:rPr lang="ja-JP" altLang="en-US" dirty="0"/>
              <a:t>の算定</a:t>
            </a:r>
            <a:r>
              <a:rPr lang="ja-JP" altLang="en-US" sz="1800" dirty="0"/>
              <a:t>［正常収益力の集計］</a:t>
            </a:r>
          </a:p>
        </p:txBody>
      </p:sp>
      <p:sp>
        <p:nvSpPr>
          <p:cNvPr id="3" name="タイトル 1">
            <a:extLst>
              <a:ext uri="{FF2B5EF4-FFF2-40B4-BE49-F238E27FC236}">
                <a16:creationId xmlns:a16="http://schemas.microsoft.com/office/drawing/2014/main" id="{8B1FDB05-1F10-E45F-94B4-C962168561F8}"/>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2. Financial Analysis </a:t>
            </a:r>
            <a:endParaRPr lang="ja-JP" altLang="en-US" spc="0" dirty="0"/>
          </a:p>
        </p:txBody>
      </p:sp>
      <p:sp>
        <p:nvSpPr>
          <p:cNvPr id="13" name="テキスト ボックス 12">
            <a:extLst>
              <a:ext uri="{FF2B5EF4-FFF2-40B4-BE49-F238E27FC236}">
                <a16:creationId xmlns:a16="http://schemas.microsoft.com/office/drawing/2014/main" id="{B6914FF2-A4AB-7226-CEF0-EE45321584DA}"/>
              </a:ext>
            </a:extLst>
          </p:cNvPr>
          <p:cNvSpPr txBox="1"/>
          <p:nvPr/>
        </p:nvSpPr>
        <p:spPr>
          <a:xfrm>
            <a:off x="1984169" y="6085980"/>
            <a:ext cx="8102806" cy="788870"/>
          </a:xfrm>
          <a:prstGeom prst="rect">
            <a:avLst/>
          </a:prstGeom>
          <a:noFill/>
        </p:spPr>
        <p:txBody>
          <a:bodyPr wrap="square" lIns="0" tIns="0" rIns="0" bIns="0" rtlCol="0">
            <a:spAutoFit/>
          </a:bodyPr>
          <a:lstStyle>
            <a:defPPr>
              <a:defRPr lang="en-US"/>
            </a:defPPr>
            <a:lvl1pPr marL="180000" indent="-180000">
              <a:lnSpc>
                <a:spcPct val="120000"/>
              </a:lnSpc>
              <a:spcAft>
                <a:spcPts val="300"/>
              </a:spcAft>
              <a:buClr>
                <a:schemeClr val="tx2"/>
              </a:buClr>
              <a:buSzPct val="80000"/>
              <a:buFont typeface="Wingdings" panose="05000000000000000000" pitchFamily="2" charset="2"/>
              <a:buChar char="n"/>
              <a:defRPr sz="1100" b="1" spc="50">
                <a:latin typeface="+mj-ea"/>
                <a:ea typeface="+mj-ea"/>
              </a:defRPr>
            </a:lvl1pPr>
          </a:lstStyle>
          <a:p>
            <a:pPr>
              <a:lnSpc>
                <a:spcPct val="110000"/>
              </a:lnSpc>
              <a:spcAft>
                <a:spcPts val="200"/>
              </a:spcAft>
              <a:tabLst>
                <a:tab pos="1703388" algn="l"/>
              </a:tabLst>
            </a:pPr>
            <a:r>
              <a:rPr lang="ja-JP" altLang="en-US" dirty="0" sz="800"/>
              <a:t>雑収入：社員割引に伴い事業へ付随して継続的に発生する部分は経常的な損益として正常収益力に加算する。なお雑収入は営業外収益であるため修正P/L上の営業利益には含まれず、加算後の金額が企業概要書の調整項目合計と一致する。</a:t>
            </a:r>
            <a:endParaRPr lang="en-US" altLang="ja-JP" dirty="0"/>
          </a:p>
          <a:p>
            <a:pPr>
              <a:lnSpc>
                <a:spcPct val="110000"/>
              </a:lnSpc>
              <a:spcAft>
                <a:spcPts val="200"/>
              </a:spcAft>
              <a:tabLst>
                <a:tab pos="1703388" algn="l"/>
              </a:tabLst>
            </a:pPr>
            <a:r>
              <a:rPr lang="ja-JP" altLang="en-US" dirty="0" sz="800"/>
              <a:t>支払利息：資金の調達方法から独立した会社財産の収益獲得力を評価するため、正常収益力は営業利益ベースで算定している。</a:t>
            </a:r>
            <a:endParaRPr lang="en-US" altLang="ja-JP" dirty="0"/>
          </a:p>
          <a:p>
            <a:pPr>
              <a:lnSpc>
                <a:spcPct val="110000"/>
              </a:lnSpc>
              <a:spcAft>
                <a:spcPts val="200"/>
              </a:spcAft>
              <a:tabLst>
                <a:tab pos="1703388" algn="l"/>
              </a:tabLst>
            </a:pPr>
            <a:r>
              <a:rPr lang="ja-JP" altLang="en-US" dirty="0" sz="800"/>
              <a:t>特別損失：固定資産売却損968千円・除却損330千円は非経常的な損益であり、営業利益に含まれないため調整していない。2026年3月の棚卸資産廃棄損44,000千円は基準日後の事象であり、修正B/Sで評価差額として反映している。</a:t>
            </a:r>
            <a:endParaRPr lang="en-US" altLang="ja-JP" dirty="0"/>
          </a:p>
        </p:txBody>
      </p:sp>
      <p:sp>
        <p:nvSpPr>
          <p:cNvPr id="15" name="正方形/長方形 14">
            <a:extLst>
              <a:ext uri="{FF2B5EF4-FFF2-40B4-BE49-F238E27FC236}">
                <a16:creationId xmlns:a16="http://schemas.microsoft.com/office/drawing/2014/main" id="{D75EF43D-370C-E1EA-A9EB-592A8306EB26}"/>
              </a:ext>
            </a:extLst>
          </p:cNvPr>
          <p:cNvSpPr/>
          <p:nvPr/>
        </p:nvSpPr>
        <p:spPr>
          <a:xfrm>
            <a:off x="449263" y="5960534"/>
            <a:ext cx="9793287" cy="1044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graphicFrame>
        <p:nvGraphicFramePr>
          <p:cNvPr id="5" name="表 4">
            <a:extLst>
              <a:ext uri="{FF2B5EF4-FFF2-40B4-BE49-F238E27FC236}">
                <a16:creationId xmlns:a16="http://schemas.microsoft.com/office/drawing/2014/main" id="{262B00C9-3945-A175-7875-BA5E1FDC9A86}"/>
              </a:ext>
            </a:extLst>
          </p:cNvPr>
          <p:cNvGraphicFramePr>
            <a:graphicFrameLocks noGrp="1"/>
          </p:cNvGraphicFramePr>
          <p:nvPr>
            <p:extLst>
              <p:ext uri="{D42A27DB-BD31-4B8C-83A1-F6EECF244321}">
                <p14:modId xmlns:p14="http://schemas.microsoft.com/office/powerpoint/2010/main" val="841508497"/>
              </p:ext>
            </p:extLst>
          </p:nvPr>
        </p:nvGraphicFramePr>
        <p:xfrm>
          <a:off x="341313" y="796845"/>
          <a:ext cx="10012680" cy="4407408"/>
        </p:xfrm>
        <a:graphic>
          <a:graphicData uri="http://schemas.openxmlformats.org/drawingml/2006/table">
            <a:tbl>
              <a:tblPr/>
              <a:tblGrid>
                <a:gridCol w="1965960">
                  <a:extLst>
                    <a:ext uri="{9D8B030D-6E8A-4147-A177-3AD203B41FA5}">
                      <a16:colId xmlns:a16="http://schemas.microsoft.com/office/drawing/2014/main" val="529955708"/>
                    </a:ext>
                  </a:extLst>
                </a:gridCol>
                <a:gridCol w="896112">
                  <a:extLst>
                    <a:ext uri="{9D8B030D-6E8A-4147-A177-3AD203B41FA5}">
                      <a16:colId xmlns:a16="http://schemas.microsoft.com/office/drawing/2014/main" val="2796166159"/>
                    </a:ext>
                  </a:extLst>
                </a:gridCol>
                <a:gridCol w="896112">
                  <a:extLst>
                    <a:ext uri="{9D8B030D-6E8A-4147-A177-3AD203B41FA5}">
                      <a16:colId xmlns:a16="http://schemas.microsoft.com/office/drawing/2014/main" val="3882266854"/>
                    </a:ext>
                  </a:extLst>
                </a:gridCol>
                <a:gridCol w="896112">
                  <a:extLst>
                    <a:ext uri="{9D8B030D-6E8A-4147-A177-3AD203B41FA5}">
                      <a16:colId xmlns:a16="http://schemas.microsoft.com/office/drawing/2014/main" val="2517363555"/>
                    </a:ext>
                  </a:extLst>
                </a:gridCol>
                <a:gridCol w="896112">
                  <a:extLst>
                    <a:ext uri="{9D8B030D-6E8A-4147-A177-3AD203B41FA5}">
                      <a16:colId xmlns:a16="http://schemas.microsoft.com/office/drawing/2014/main" val="2003315344"/>
                    </a:ext>
                  </a:extLst>
                </a:gridCol>
                <a:gridCol w="896112">
                  <a:extLst>
                    <a:ext uri="{9D8B030D-6E8A-4147-A177-3AD203B41FA5}">
                      <a16:colId xmlns:a16="http://schemas.microsoft.com/office/drawing/2014/main" val="3743570613"/>
                    </a:ext>
                  </a:extLst>
                </a:gridCol>
                <a:gridCol w="896112">
                  <a:extLst>
                    <a:ext uri="{9D8B030D-6E8A-4147-A177-3AD203B41FA5}">
                      <a16:colId xmlns:a16="http://schemas.microsoft.com/office/drawing/2014/main" val="1906163807"/>
                    </a:ext>
                  </a:extLst>
                </a:gridCol>
                <a:gridCol w="896112">
                  <a:extLst>
                    <a:ext uri="{9D8B030D-6E8A-4147-A177-3AD203B41FA5}">
                      <a16:colId xmlns:a16="http://schemas.microsoft.com/office/drawing/2014/main" val="1023333781"/>
                    </a:ext>
                  </a:extLst>
                </a:gridCol>
                <a:gridCol w="896112">
                  <a:extLst>
                    <a:ext uri="{9D8B030D-6E8A-4147-A177-3AD203B41FA5}">
                      <a16:colId xmlns:a16="http://schemas.microsoft.com/office/drawing/2014/main" val="3280555493"/>
                    </a:ext>
                  </a:extLst>
                </a:gridCol>
                <a:gridCol w="877824">
                  <a:extLst>
                    <a:ext uri="{9D8B030D-6E8A-4147-A177-3AD203B41FA5}">
                      <a16:colId xmlns:a16="http://schemas.microsoft.com/office/drawing/2014/main" val="319150669"/>
                    </a:ext>
                  </a:extLst>
                </a:gridCol>
              </a:tblGrid>
              <a:tr h="146304">
                <a:tc>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l" fontAlgn="ctr">
                        <a:buNone/>
                      </a:pPr>
                      <a:r>
                        <a:rPr lang="ja-JP" sz="800" b="0" i="0" u="none" strike="noStrike">
                          <a:solidFill>
                            <a:srgbClr val="000000"/>
                          </a:solidFill>
                          <a:effectLst/>
                          <a:latin typeface="游ゴシック Medium" panose="020B0500000000000000" pitchFamily="50" charset="-128"/>
                          <a:ea typeface="游ゴシック Medium" panose="020B0500000000000000" pitchFamily="50" charset="-128"/>
                        </a:rPr>
                        <a:t>　</a:t>
                      </a:r>
                    </a:p>
                  </a:txBody>
                  <a:tcPr marL="3483" marR="3483" marT="3483" marB="0" anchor="ctr">
                    <a:lnL w="6350" cap="flat" cmpd="sng" algn="ctr">
                      <a:solidFill>
                        <a:srgbClr val="FFFFFF"/>
                      </a:solidFill>
                      <a:prstDash val="solid"/>
                      <a:round/>
                      <a:headEnd type="none" w="med" len="med"/>
                      <a:tailEnd type="none" w="med" len="med"/>
                    </a:lnL>
                    <a:lnR>
                      <a:noFill/>
                    </a:lnR>
                    <a:lnT>
                      <a:noFill/>
                    </a:lnT>
                    <a:lnB>
                      <a:noFill/>
                    </a:lnB>
                    <a:no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a:noFill/>
                    </a:lnB>
                    <a:noFill/>
                  </a:tcPr>
                </a:tc>
                <a:tc>
                  <a:txBody>
                    <a:bodyPr/>
                    <a:lstStyle/>
                    <a:p>
                      <a:pPr algn="r"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3483" marR="3483" marT="3483" marB="0" anchor="ctr">
                    <a:lnL>
                      <a:noFill/>
                    </a:lnL>
                    <a:lnR>
                      <a:noFill/>
                    </a:lnR>
                    <a:lnT>
                      <a:noFill/>
                    </a:lnT>
                    <a:lnB>
                      <a:noFill/>
                    </a:lnB>
                    <a:noFill/>
                  </a:tcPr>
                </a:tc>
                <a:extLst>
                  <a:ext uri="{0D108BD9-81ED-4DB2-BD59-A6C34878D82A}">
                    <a16:rowId xmlns:a16="http://schemas.microsoft.com/office/drawing/2014/main" val="1322678044"/>
                  </a:ext>
                </a:extLst>
              </a:tr>
              <a:tr h="237744">
                <a:tc rowSpan="2">
                  <a:txBody>
                    <a:bodyPr/>
                    <a:lstStyle/>
                    <a:p>
                      <a:pPr algn="ctr" fontAlgn="ctr">
                        <a:buNone/>
                      </a:pPr>
                      <a:r>
                        <a:rPr lang="ja-JP" sz="800" b="1" i="0" u="none" strike="noStrike" dirty="0">
                          <a:solidFill>
                            <a:srgbClr val="FFFFFF"/>
                          </a:solidFill>
                          <a:effectLst/>
                          <a:latin typeface="游ゴシック" panose="020B0400000000000000" pitchFamily="50" charset="-128"/>
                          <a:ea typeface="游ゴシック" panose="020B0400000000000000" pitchFamily="50" charset="-128"/>
                        </a:rPr>
                        <a:t>科目</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w="6350" cap="flat" cmpd="sng" algn="ctr">
                      <a:solidFill>
                        <a:srgbClr val="FFFFFF"/>
                      </a:solidFill>
                      <a:prstDash val="solid"/>
                      <a:round/>
                      <a:headEnd type="none" w="med" len="med"/>
                      <a:tailEnd type="none" w="med" len="med"/>
                    </a:lnR>
                    <a:lnT>
                      <a:noFill/>
                    </a:lnT>
                    <a:lnB w="12700" cap="flat" cmpd="sng" algn="ctr">
                      <a:solidFill>
                        <a:srgbClr val="0889C9"/>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w="1270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3483" marR="3483" marT="3483" marB="0" anchor="ctr">
                    <a:lnL>
                      <a:noFill/>
                    </a:lnL>
                    <a:lnR>
                      <a:noFill/>
                    </a:lnR>
                    <a:lnT>
                      <a:noFill/>
                    </a:lnT>
                    <a:lnB w="12700" cap="flat" cmpd="sng" algn="ctr">
                      <a:solidFill>
                        <a:srgbClr val="0889C9"/>
                      </a:solidFill>
                      <a:prstDash val="solid"/>
                      <a:round/>
                      <a:headEnd type="none" w="med" len="med"/>
                      <a:tailEnd type="none" w="med" len="med"/>
                    </a:lnB>
                    <a:solidFill>
                      <a:srgbClr val="0B3041"/>
                    </a:solidFill>
                  </a:tcPr>
                </a:tc>
                <a:extLst>
                  <a:ext uri="{0D108BD9-81ED-4DB2-BD59-A6C34878D82A}">
                    <a16:rowId xmlns:a16="http://schemas.microsoft.com/office/drawing/2014/main" val="1535910436"/>
                  </a:ext>
                </a:extLst>
              </a:tr>
              <a:tr h="219456">
                <a:tc vMerge="1">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　</a:t>
                      </a:r>
                    </a:p>
                  </a:txBody>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帳簿価額</a:t>
                      </a:r>
                    </a:p>
                  </a:txBody>
                  <a:tcPr marL="3483"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修正額</a:t>
                      </a:r>
                    </a:p>
                  </a:txBody>
                  <a:tcPr marL="3483" marR="3483"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B3041"/>
                    </a:solidFill>
                  </a:tcPr>
                </a:tc>
                <a:tc>
                  <a:txBody>
                    <a:bodyPr/>
                    <a:lstStyle/>
                    <a:p>
                      <a:pPr algn="ctr" fontAlgn="ctr">
                        <a:buNone/>
                      </a:pPr>
                      <a:r>
                        <a:rPr lang="ja-JP" sz="800" b="1" i="0" u="none" strike="noStrike">
                          <a:solidFill>
                            <a:srgbClr val="FFFFFF"/>
                          </a:solidFill>
                          <a:effectLst/>
                          <a:latin typeface="游ゴシック" panose="020B0400000000000000" pitchFamily="50" charset="-128"/>
                          <a:ea typeface="游ゴシック" panose="020B0400000000000000" pitchFamily="50" charset="-128"/>
                        </a:rPr>
                        <a:t>修正後</a:t>
                      </a:r>
                    </a:p>
                  </a:txBody>
                  <a:tcPr marL="3483" marR="3483"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889C9"/>
                    </a:solidFill>
                  </a:tcPr>
                </a:tc>
                <a:extLst>
                  <a:ext uri="{0D108BD9-81ED-4DB2-BD59-A6C34878D82A}">
                    <a16:rowId xmlns:a16="http://schemas.microsoft.com/office/drawing/2014/main" val="454711127"/>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売上高</a:t>
                      </a:r>
                    </a:p>
                  </a:txBody>
                  <a:tcPr marL="125381" marR="3483"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474,428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474,428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539,035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539,035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558,390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558,390</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noFill/>
                  </a:tcPr>
                </a:tc>
                <a:extLst>
                  <a:ext uri="{0D108BD9-81ED-4DB2-BD59-A6C34878D82A}">
                    <a16:rowId xmlns:a16="http://schemas.microsoft.com/office/drawing/2014/main" val="3415901390"/>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売上原価</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182,050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182,050</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196,104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196,104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228,365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228,365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106257322"/>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売上総利益</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292,379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292,379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342,931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342,931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330,024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330,024</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1040590857"/>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販売費及び一般管理費</a:t>
                      </a:r>
                    </a:p>
                  </a:txBody>
                  <a:tcPr marL="125381"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290,037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7,535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282,502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339,909</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19,814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320,095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349,576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19,229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330,347</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996461028"/>
                  </a:ext>
                </a:extLst>
              </a:tr>
              <a:tr h="29260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営業利益</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2,341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7,535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9,876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3,022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19,814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22,836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19,552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19,229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323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511136594"/>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営業外収益</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2,642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2,383</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3,018</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3,632</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655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4,287</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a:noFill/>
                    </a:lnB>
                    <a:noFill/>
                  </a:tcPr>
                </a:tc>
                <a:extLst>
                  <a:ext uri="{0D108BD9-81ED-4DB2-BD59-A6C34878D82A}">
                    <a16:rowId xmlns:a16="http://schemas.microsoft.com/office/drawing/2014/main" val="3998197803"/>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雑収入</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1,321</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2,642</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2,378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635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3,013</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3,607</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655</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4,262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3075354887"/>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営業外費用</a:t>
                      </a:r>
                    </a:p>
                  </a:txBody>
                  <a:tcPr marL="125381" marR="3483" marT="3483" marB="0" anchor="ctr">
                    <a:lnL>
                      <a:noFill/>
                    </a:lnL>
                    <a:lnR w="6350" cap="flat" cmpd="sng" algn="ctr">
                      <a:solidFill>
                        <a:srgbClr val="FFFFFF"/>
                      </a:solidFill>
                      <a:prstDash val="solid"/>
                      <a:round/>
                      <a:headEnd type="none" w="med" len="med"/>
                      <a:tailEnd type="none" w="med" len="med"/>
                    </a:lnR>
                    <a:lnT>
                      <a:noFill/>
                    </a:lnT>
                    <a:lnB>
                      <a:noFill/>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2,296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2,296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2,656</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2,656</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a:noFill/>
                    </a:lnB>
                    <a:noFill/>
                  </a:tcPr>
                </a:tc>
                <a:extLst>
                  <a:ext uri="{0D108BD9-81ED-4DB2-BD59-A6C34878D82A}">
                    <a16:rowId xmlns:a16="http://schemas.microsoft.com/office/drawing/2014/main" val="2853166200"/>
                  </a:ext>
                </a:extLst>
              </a:tr>
              <a:tr h="292608">
                <a:tc>
                  <a:txBody>
                    <a:bodyPr/>
                    <a:lstStyle/>
                    <a:p>
                      <a:pPr algn="l" fontAlgn="ctr">
                        <a:buNone/>
                      </a:pPr>
                      <a:r>
                        <a:rPr lang="ja-JP" sz="800" b="0" i="0" u="none" strike="noStrike">
                          <a:solidFill>
                            <a:srgbClr val="000000"/>
                          </a:solidFill>
                          <a:effectLst/>
                          <a:latin typeface="游ゴシック" panose="020B0400000000000000" pitchFamily="50" charset="-128"/>
                          <a:ea typeface="游ゴシック" panose="020B0400000000000000" pitchFamily="50" charset="-128"/>
                        </a:rPr>
                        <a:t>経常利益</a:t>
                      </a:r>
                    </a:p>
                  </a:txBody>
                  <a:tcPr marL="125381" marR="3483" marT="3483" marB="0" anchor="ctr">
                    <a:lnL>
                      <a:noFill/>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2,528</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8,856</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11,384</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3,110</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20,449</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23,559</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 18,575</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19,884</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0" i="0" u="none" strike="noStrike">
                          <a:solidFill>
                            <a:srgbClr val="000000"/>
                          </a:solidFill>
                          <a:effectLst/>
                          <a:latin typeface="Arial" panose="020B0604020202020204" pitchFamily="34" charset="0"/>
                          <a:ea typeface="游ゴシック Medium" panose="020B0500000000000000" pitchFamily="50" charset="-128"/>
                        </a:rPr>
                        <a:t>1,309</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a:noFill/>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81748117"/>
                  </a:ext>
                </a:extLst>
              </a:tr>
              <a:tr h="29260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【正常収益力への橋渡し】</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989390302"/>
                  </a:ext>
                </a:extLst>
              </a:tr>
              <a:tr h="29260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修正後営業利益（修正P/L）</a:t>
                      </a:r>
                    </a:p>
                  </a:txBody>
                  <a:tcPr marL="6269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9,876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22,836</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323</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4068503057"/>
                  </a:ext>
                </a:extLst>
              </a:tr>
              <a:tr h="292608">
                <a:tc>
                  <a:txBody>
                    <a:bodyPr/>
                    <a:lstStyle/>
                    <a:p>
                      <a:pPr algn="l" fontAlgn="ctr">
                        <a:buNone/>
                      </a:pPr>
                      <a:r>
                        <a:rPr lang="ja-JP" sz="800" b="1" i="0" u="none" strike="noStrike">
                          <a:solidFill>
                            <a:srgbClr val="000000"/>
                          </a:solidFill>
                          <a:effectLst/>
                          <a:latin typeface="游ゴシック" panose="020B0400000000000000" pitchFamily="50" charset="-128"/>
                          <a:ea typeface="游ゴシック" panose="020B0400000000000000" pitchFamily="50" charset="-128"/>
                        </a:rPr>
                        <a:t>　経常的雑収入（社員割引）の加算</a:t>
                      </a:r>
                    </a:p>
                  </a:txBody>
                  <a:tcPr marL="125381" marR="3483" marT="3483"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3E7E9"/>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1,321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635</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655</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0889C9"/>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671506463"/>
                  </a:ext>
                </a:extLst>
              </a:tr>
              <a:tr h="292608">
                <a:tc>
                  <a:txBody>
                    <a:bodyPr/>
                    <a:lstStyle/>
                    <a:p>
                      <a:pPr algn="l" fontAlgn="ctr">
                        <a:buNone/>
                      </a:pPr>
                      <a:r>
                        <a:rPr lang="ja-JP" sz="800" b="1" i="0" u="none" strike="noStrike" dirty="0">
                          <a:solidFill>
                            <a:srgbClr val="000000"/>
                          </a:solidFill>
                          <a:effectLst/>
                          <a:latin typeface="游ゴシック" panose="020B0400000000000000" pitchFamily="50" charset="-128"/>
                          <a:ea typeface="游ゴシック" panose="020B0400000000000000" pitchFamily="50" charset="-128"/>
                        </a:rPr>
                        <a:t>正常収益力（修正後営業利益ベース）</a:t>
                      </a:r>
                    </a:p>
                  </a:txBody>
                  <a:tcPr marL="62691" marR="3483" marT="3483" marB="0" anchor="ctr">
                    <a:lnL w="12700" cap="flat" cmpd="sng" algn="ctr">
                      <a:solidFill>
                        <a:srgbClr val="C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11,197</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23,471</a:t>
                      </a:r>
                    </a:p>
                  </a:txBody>
                  <a:tcPr marL="3483" marR="62691" marT="3483"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3483" marR="62691" marT="3483"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tc>
                  <a:txBody>
                    <a:bodyPr/>
                    <a:lstStyle/>
                    <a:p>
                      <a:pPr algn="r" fontAlgn="ctr">
                        <a:buNone/>
                      </a:pPr>
                      <a:r>
                        <a:rPr lang="ja-JP" sz="800" b="1" i="0" u="none" strike="noStrike" dirty="0">
                          <a:solidFill>
                            <a:srgbClr val="000000"/>
                          </a:solidFill>
                          <a:effectLst/>
                          <a:latin typeface="Arial" panose="020B0604020202020204" pitchFamily="34" charset="0"/>
                          <a:ea typeface="游ゴシック Medium" panose="020B0500000000000000" pitchFamily="50" charset="-128"/>
                        </a:rPr>
                        <a:t>332</a:t>
                      </a:r>
                    </a:p>
                  </a:txBody>
                  <a:tcPr marL="3483" marR="62691" marT="3483" marB="0" anchor="ctr">
                    <a:lnL w="12700" cap="flat" cmpd="sng" algn="ctr">
                      <a:solidFill>
                        <a:srgbClr val="0889C9"/>
                      </a:solidFill>
                      <a:prstDash val="solid"/>
                      <a:round/>
                      <a:headEnd type="none" w="med" len="med"/>
                      <a:tailEnd type="none" w="med" len="med"/>
                    </a:lnL>
                    <a:lnR w="12700" cap="flat" cmpd="sng" algn="ctr">
                      <a:solidFill>
                        <a:srgbClr val="C00000"/>
                      </a:solidFill>
                      <a:prstDash val="solid"/>
                      <a:round/>
                      <a:headEnd type="none" w="med" len="med"/>
                      <a:tailEnd type="none" w="med" len="med"/>
                    </a:lnR>
                    <a:lnT w="12700" cap="flat" cmpd="sng" algn="ctr">
                      <a:solidFill>
                        <a:srgbClr val="C00000"/>
                      </a:solidFill>
                      <a:prstDash val="solid"/>
                      <a:round/>
                      <a:headEnd type="none" w="med" len="med"/>
                      <a:tailEnd type="none" w="med" len="med"/>
                    </a:lnT>
                    <a:lnB w="12700" cap="flat" cmpd="sng" algn="ctr">
                      <a:solidFill>
                        <a:srgbClr val="C00000"/>
                      </a:solidFill>
                      <a:prstDash val="solid"/>
                      <a:round/>
                      <a:headEnd type="none" w="med" len="med"/>
                      <a:tailEnd type="none" w="med" len="med"/>
                    </a:lnB>
                    <a:solidFill>
                      <a:srgbClr val="E1F3FB"/>
                    </a:solidFill>
                  </a:tcPr>
                </a:tc>
                <a:extLst>
                  <a:ext uri="{0D108BD9-81ED-4DB2-BD59-A6C34878D82A}">
                    <a16:rowId xmlns:a16="http://schemas.microsoft.com/office/drawing/2014/main" val="2124490931"/>
                  </a:ext>
                </a:extLst>
              </a:tr>
            </a:tbl>
          </a:graphicData>
        </a:graphic>
      </p:graphicFrame>
    </p:spTree>
    <p:extLst>
      <p:ext uri="{BB962C8B-B14F-4D97-AF65-F5344CB8AC3E}">
        <p14:creationId xmlns:p14="http://schemas.microsoft.com/office/powerpoint/2010/main" val="1691939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C344F58-829E-63F5-31C6-9FB7EA727573}"/>
              </a:ext>
            </a:extLst>
          </p:cNvPr>
          <p:cNvSpPr>
            <a:spLocks noGrp="1"/>
          </p:cNvSpPr>
          <p:nvPr>
            <p:ph type="title"/>
          </p:nvPr>
        </p:nvSpPr>
        <p:spPr>
          <a:xfrm>
            <a:off x="989013" y="3249063"/>
            <a:ext cx="9221787" cy="1429750"/>
          </a:xfrm>
        </p:spPr>
        <p:txBody>
          <a:bodyPr/>
          <a:lstStyle/>
          <a:p>
            <a:pPr>
              <a:lnSpc>
                <a:spcPct val="120000"/>
              </a:lnSpc>
            </a:pPr>
            <a:r>
              <a:rPr lang="en-US" altLang="ja-JP" dirty="0"/>
              <a:t>Valuation Details </a:t>
            </a:r>
            <a:r>
              <a:rPr lang="ja-JP" altLang="en-US" dirty="0"/>
              <a:t>／</a:t>
            </a:r>
            <a:br>
              <a:rPr lang="en-US" altLang="ja-JP" dirty="0"/>
            </a:br>
            <a:r>
              <a:rPr lang="ja-JP" altLang="en-US" dirty="0"/>
              <a:t>株式価値の試算</a:t>
            </a:r>
          </a:p>
        </p:txBody>
      </p:sp>
      <p:grpSp>
        <p:nvGrpSpPr>
          <p:cNvPr id="6" name="グループ化 5">
            <a:extLst>
              <a:ext uri="{FF2B5EF4-FFF2-40B4-BE49-F238E27FC236}">
                <a16:creationId xmlns:a16="http://schemas.microsoft.com/office/drawing/2014/main" id="{52BB44DF-8448-FFAD-BE30-595A1754DDDF}"/>
              </a:ext>
            </a:extLst>
          </p:cNvPr>
          <p:cNvGrpSpPr/>
          <p:nvPr/>
        </p:nvGrpSpPr>
        <p:grpSpPr>
          <a:xfrm>
            <a:off x="885526" y="2173586"/>
            <a:ext cx="3390141" cy="651396"/>
            <a:chOff x="885526" y="2554586"/>
            <a:chExt cx="3390141" cy="651396"/>
          </a:xfrm>
        </p:grpSpPr>
        <p:sp>
          <p:nvSpPr>
            <p:cNvPr id="9" name="テキスト ボックス 8">
              <a:extLst>
                <a:ext uri="{FF2B5EF4-FFF2-40B4-BE49-F238E27FC236}">
                  <a16:creationId xmlns:a16="http://schemas.microsoft.com/office/drawing/2014/main" id="{F253E30E-0D7C-BFB0-7E67-4C2E49F2BDAA}"/>
                </a:ext>
              </a:extLst>
            </p:cNvPr>
            <p:cNvSpPr txBox="1"/>
            <p:nvPr/>
          </p:nvSpPr>
          <p:spPr>
            <a:xfrm>
              <a:off x="974063" y="2554586"/>
              <a:ext cx="2099337" cy="615553"/>
            </a:xfrm>
            <a:prstGeom prst="rect">
              <a:avLst/>
            </a:prstGeom>
            <a:noFill/>
          </p:spPr>
          <p:txBody>
            <a:bodyPr wrap="square" lIns="0" tIns="0" rIns="0" bIns="0" rtlCol="0" anchor="ctr">
              <a:spAutoFit/>
            </a:bodyPr>
            <a:lstStyle>
              <a:lvl1pPr defTabSz="1007943">
                <a:lnSpc>
                  <a:spcPct val="100000"/>
                </a:lnSpc>
                <a:spcBef>
                  <a:spcPct val="0"/>
                </a:spcBef>
                <a:buNone/>
                <a:defRPr kumimoji="1" lang="ja-JP" altLang="en-US" sz="4000" b="1" spc="200" dirty="0">
                  <a:solidFill>
                    <a:schemeClr val="bg1"/>
                  </a:solidFill>
                  <a:latin typeface="+mj-lt"/>
                  <a:ea typeface="+mj-ea"/>
                </a:defRPr>
              </a:lvl1pPr>
            </a:lstStyle>
            <a:p>
              <a:pPr>
                <a:buClr>
                  <a:schemeClr val="bg1"/>
                </a:buClr>
              </a:pPr>
              <a:r>
                <a:rPr lang="en-US" altLang="ja-JP" sz="2400" spc="100" dirty="0">
                  <a:solidFill>
                    <a:schemeClr val="accent2">
                      <a:lumMod val="90000"/>
                    </a:schemeClr>
                  </a:solidFill>
                </a:rPr>
                <a:t>Section </a:t>
              </a:r>
              <a:r>
                <a:rPr lang="en-US" altLang="ja-JP" spc="100" dirty="0">
                  <a:solidFill>
                    <a:schemeClr val="accent2">
                      <a:lumMod val="90000"/>
                    </a:schemeClr>
                  </a:solidFill>
                </a:rPr>
                <a:t>3</a:t>
              </a:r>
              <a:endParaRPr lang="ja-JP" altLang="en-US" spc="100" dirty="0">
                <a:solidFill>
                  <a:schemeClr val="accent2">
                    <a:lumMod val="90000"/>
                  </a:schemeClr>
                </a:solidFill>
              </a:endParaRPr>
            </a:p>
          </p:txBody>
        </p:sp>
        <p:cxnSp>
          <p:nvCxnSpPr>
            <p:cNvPr id="10" name="直線コネクタ 9">
              <a:extLst>
                <a:ext uri="{FF2B5EF4-FFF2-40B4-BE49-F238E27FC236}">
                  <a16:creationId xmlns:a16="http://schemas.microsoft.com/office/drawing/2014/main" id="{A375A0D1-57FE-D27E-2B83-8DAF521DF351}"/>
                </a:ext>
              </a:extLst>
            </p:cNvPr>
            <p:cNvCxnSpPr>
              <a:cxnSpLocks/>
            </p:cNvCxnSpPr>
            <p:nvPr/>
          </p:nvCxnSpPr>
          <p:spPr>
            <a:xfrm>
              <a:off x="885526" y="3205982"/>
              <a:ext cx="3390141" cy="0"/>
            </a:xfrm>
            <a:prstGeom prst="line">
              <a:avLst/>
            </a:prstGeom>
            <a:ln w="31750">
              <a:solidFill>
                <a:schemeClr val="accent2">
                  <a:lumMod val="9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10536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F503-C243-C5C8-C2F0-929E04595FC1}"/>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987794EB-51E3-1A74-C717-E0C9AD41EC4E}"/>
              </a:ext>
            </a:extLst>
          </p:cNvPr>
          <p:cNvSpPr>
            <a:spLocks noGrp="1"/>
          </p:cNvSpPr>
          <p:nvPr>
            <p:ph type="ctrTitle"/>
          </p:nvPr>
        </p:nvSpPr>
        <p:spPr/>
        <p:txBody>
          <a:bodyPr/>
          <a:lstStyle/>
          <a:p>
            <a:r>
              <a:rPr lang="ja-JP" altLang="en-US" dirty="0"/>
              <a:t>年買法</a:t>
            </a:r>
            <a:r>
              <a:rPr lang="ja-JP" altLang="en-US" sz="1400" dirty="0"/>
              <a:t>（コストアプローチ）</a:t>
            </a:r>
            <a:r>
              <a:rPr lang="ja-JP" altLang="en-US" dirty="0"/>
              <a:t>による算出</a:t>
            </a:r>
          </a:p>
        </p:txBody>
      </p:sp>
      <p:sp>
        <p:nvSpPr>
          <p:cNvPr id="15" name="タイトル 1">
            <a:extLst>
              <a:ext uri="{FF2B5EF4-FFF2-40B4-BE49-F238E27FC236}">
                <a16:creationId xmlns:a16="http://schemas.microsoft.com/office/drawing/2014/main" id="{EB1A9B9D-5452-68CC-CE1E-8D524B93E067}"/>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8" name="テキスト ボックス 7">
            <a:extLst>
              <a:ext uri="{FF2B5EF4-FFF2-40B4-BE49-F238E27FC236}">
                <a16:creationId xmlns:a16="http://schemas.microsoft.com/office/drawing/2014/main" id="{21C4CA3B-2902-E594-AF5A-2FA35252F4C7}"/>
              </a:ext>
            </a:extLst>
          </p:cNvPr>
          <p:cNvSpPr txBox="1"/>
          <p:nvPr/>
        </p:nvSpPr>
        <p:spPr>
          <a:xfrm>
            <a:off x="1625193" y="6527383"/>
            <a:ext cx="3132000" cy="358881"/>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・営業権の算出は調整後税考慮後営業利益を基準とし採用</a:t>
            </a:r>
            <a:endParaRPr lang="en-US" altLang="ja-JP" sz="1000" spc="50" dirty="0">
              <a:latin typeface="+mn-ea"/>
            </a:endParaRPr>
          </a:p>
        </p:txBody>
      </p:sp>
      <p:grpSp>
        <p:nvGrpSpPr>
          <p:cNvPr id="2" name="グループ化 1">
            <a:extLst>
              <a:ext uri="{FF2B5EF4-FFF2-40B4-BE49-F238E27FC236}">
                <a16:creationId xmlns:a16="http://schemas.microsoft.com/office/drawing/2014/main" id="{A29EB66C-2E27-8434-B652-DDC186B7F0B3}"/>
              </a:ext>
            </a:extLst>
          </p:cNvPr>
          <p:cNvGrpSpPr/>
          <p:nvPr/>
        </p:nvGrpSpPr>
        <p:grpSpPr>
          <a:xfrm>
            <a:off x="7237573" y="4779102"/>
            <a:ext cx="3132001" cy="1440000"/>
            <a:chOff x="7110548" y="4536538"/>
            <a:chExt cx="3132001" cy="1440000"/>
          </a:xfrm>
        </p:grpSpPr>
        <p:sp>
          <p:nvSpPr>
            <p:cNvPr id="49" name="フローチャート: 処理 48">
              <a:extLst>
                <a:ext uri="{FF2B5EF4-FFF2-40B4-BE49-F238E27FC236}">
                  <a16:creationId xmlns:a16="http://schemas.microsoft.com/office/drawing/2014/main" id="{3563BF4B-3A03-4761-D966-E487EA4F0487}"/>
                </a:ext>
              </a:extLst>
            </p:cNvPr>
            <p:cNvSpPr/>
            <p:nvPr/>
          </p:nvSpPr>
          <p:spPr>
            <a:xfrm>
              <a:off x="7110549" y="4536538"/>
              <a:ext cx="3132000" cy="1440000"/>
            </a:xfrm>
            <a:prstGeom prst="flowChartProcess">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116000" tIns="0" rIns="180000" bIns="0" rtlCol="0" anchor="ctr"/>
            <a:lstStyle/>
            <a:p>
              <a:pPr>
                <a:lnSpc>
                  <a:spcPct val="120000"/>
                </a:lnSpc>
              </a:pPr>
              <a:r>
                <a:rPr lang="ja-JP" altLang="en-US" sz="1200" spc="30" dirty="0">
                  <a:solidFill>
                    <a:schemeClr val="tx2"/>
                  </a:solidFill>
                  <a:latin typeface="+mn-ea"/>
                </a:rPr>
                <a:t>営業権倍率は買手企業の</a:t>
              </a:r>
              <a:r>
                <a:rPr lang="en-US" altLang="ja-JP" sz="1200" spc="30" dirty="0">
                  <a:solidFill>
                    <a:schemeClr val="tx2"/>
                  </a:solidFill>
                  <a:latin typeface="+mn-ea"/>
                </a:rPr>
                <a:t>M&amp;A</a:t>
              </a:r>
              <a:r>
                <a:rPr lang="ja-JP" altLang="en-US" sz="1200" spc="30" dirty="0">
                  <a:solidFill>
                    <a:schemeClr val="tx2"/>
                  </a:solidFill>
                  <a:latin typeface="+mn-ea"/>
                </a:rPr>
                <a:t>方針、取り組み意欲、想定シナジー等によっても変動いたします。</a:t>
              </a:r>
            </a:p>
          </p:txBody>
        </p:sp>
        <p:sp>
          <p:nvSpPr>
            <p:cNvPr id="50" name="正方形/長方形 49">
              <a:extLst>
                <a:ext uri="{FF2B5EF4-FFF2-40B4-BE49-F238E27FC236}">
                  <a16:creationId xmlns:a16="http://schemas.microsoft.com/office/drawing/2014/main" id="{4ED737D8-0179-EDE9-A930-2CF46D17F20B}"/>
                </a:ext>
              </a:extLst>
            </p:cNvPr>
            <p:cNvSpPr/>
            <p:nvPr/>
          </p:nvSpPr>
          <p:spPr>
            <a:xfrm>
              <a:off x="7110548" y="4536538"/>
              <a:ext cx="936000" cy="144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24000" rIns="0" bIns="0" rtlCol="0" anchor="ctr"/>
            <a:lstStyle/>
            <a:p>
              <a:pPr>
                <a:buClr>
                  <a:schemeClr val="tx2"/>
                </a:buClr>
                <a:buSzPct val="80000"/>
              </a:pPr>
              <a:r>
                <a:rPr lang="en-US" altLang="ja-JP" sz="1600" b="1" spc="70" dirty="0">
                  <a:solidFill>
                    <a:schemeClr val="bg1"/>
                  </a:solidFill>
                  <a:latin typeface="+mj-lt"/>
                  <a:ea typeface="+mj-ea"/>
                </a:rPr>
                <a:t>Point</a:t>
              </a:r>
              <a:endParaRPr lang="ja-JP" altLang="en-US" sz="1600" b="1" spc="70" dirty="0">
                <a:solidFill>
                  <a:schemeClr val="bg1"/>
                </a:solidFill>
                <a:latin typeface="+mj-lt"/>
                <a:ea typeface="+mj-ea"/>
              </a:endParaRPr>
            </a:p>
          </p:txBody>
        </p:sp>
        <p:grpSp>
          <p:nvGrpSpPr>
            <p:cNvPr id="51" name="グループ化 50">
              <a:extLst>
                <a:ext uri="{FF2B5EF4-FFF2-40B4-BE49-F238E27FC236}">
                  <a16:creationId xmlns:a16="http://schemas.microsoft.com/office/drawing/2014/main" id="{CB2BF03D-D2D6-3CD9-BAC4-6C0DC169523C}"/>
                </a:ext>
              </a:extLst>
            </p:cNvPr>
            <p:cNvGrpSpPr/>
            <p:nvPr/>
          </p:nvGrpSpPr>
          <p:grpSpPr>
            <a:xfrm>
              <a:off x="7391962" y="4915692"/>
              <a:ext cx="373173" cy="373173"/>
              <a:chOff x="557955" y="6293952"/>
              <a:chExt cx="373173" cy="373173"/>
            </a:xfrm>
          </p:grpSpPr>
          <p:sp>
            <p:nvSpPr>
              <p:cNvPr id="52" name="楕円 51">
                <a:extLst>
                  <a:ext uri="{FF2B5EF4-FFF2-40B4-BE49-F238E27FC236}">
                    <a16:creationId xmlns:a16="http://schemas.microsoft.com/office/drawing/2014/main" id="{6F018B1F-7032-6330-2F6C-C5400AFD9242}"/>
                  </a:ext>
                </a:extLst>
              </p:cNvPr>
              <p:cNvSpPr>
                <a:spLocks noChangeAspect="1"/>
              </p:cNvSpPr>
              <p:nvPr/>
            </p:nvSpPr>
            <p:spPr>
              <a:xfrm>
                <a:off x="557955" y="6293952"/>
                <a:ext cx="373173" cy="37317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buClr>
                    <a:schemeClr val="tx2"/>
                  </a:buClr>
                  <a:buSzPct val="80000"/>
                </a:pPr>
                <a:endParaRPr lang="ja-JP" altLang="en-US" sz="1600" b="1" spc="70" dirty="0">
                  <a:solidFill>
                    <a:schemeClr val="tx2"/>
                  </a:solidFill>
                  <a:ea typeface="+mj-ea"/>
                </a:endParaRPr>
              </a:p>
            </p:txBody>
          </p:sp>
          <p:grpSp>
            <p:nvGrpSpPr>
              <p:cNvPr id="53" name="グループ化 52">
                <a:extLst>
                  <a:ext uri="{FF2B5EF4-FFF2-40B4-BE49-F238E27FC236}">
                    <a16:creationId xmlns:a16="http://schemas.microsoft.com/office/drawing/2014/main" id="{7F068DAC-E598-190E-42FE-1189D043343B}"/>
                  </a:ext>
                </a:extLst>
              </p:cNvPr>
              <p:cNvGrpSpPr/>
              <p:nvPr/>
            </p:nvGrpSpPr>
            <p:grpSpPr>
              <a:xfrm>
                <a:off x="620003" y="6342163"/>
                <a:ext cx="249077" cy="276751"/>
                <a:chOff x="605367" y="6371166"/>
                <a:chExt cx="210977" cy="234418"/>
              </a:xfrm>
            </p:grpSpPr>
            <p:sp>
              <p:nvSpPr>
                <p:cNvPr id="54" name="フリーフォーム: 図形 53">
                  <a:extLst>
                    <a:ext uri="{FF2B5EF4-FFF2-40B4-BE49-F238E27FC236}">
                      <a16:creationId xmlns:a16="http://schemas.microsoft.com/office/drawing/2014/main" id="{A1DEA6EA-1E7F-7BF7-EC29-074B27A76C53}"/>
                    </a:ext>
                  </a:extLst>
                </p:cNvPr>
                <p:cNvSpPr/>
                <p:nvPr/>
              </p:nvSpPr>
              <p:spPr>
                <a:xfrm>
                  <a:off x="658111" y="6423910"/>
                  <a:ext cx="105488" cy="123069"/>
                </a:xfrm>
                <a:custGeom>
                  <a:avLst/>
                  <a:gdLst>
                    <a:gd name="csX0" fmla="*/ 76186 w 105488"/>
                    <a:gd name="csY0" fmla="*/ 123070 h 123069"/>
                    <a:gd name="csX1" fmla="*/ 76186 w 105488"/>
                    <a:gd name="csY1" fmla="*/ 99628 h 123069"/>
                    <a:gd name="csX2" fmla="*/ 105489 w 105488"/>
                    <a:gd name="csY2" fmla="*/ 49814 h 123069"/>
                    <a:gd name="csX3" fmla="*/ 52744 w 105488"/>
                    <a:gd name="csY3" fmla="*/ 0 h 123069"/>
                    <a:gd name="csX4" fmla="*/ 0 w 105488"/>
                    <a:gd name="csY4" fmla="*/ 49814 h 123069"/>
                    <a:gd name="csX5" fmla="*/ 29302 w 105488"/>
                    <a:gd name="csY5" fmla="*/ 99628 h 123069"/>
                    <a:gd name="csX6" fmla="*/ 29302 w 105488"/>
                    <a:gd name="csY6" fmla="*/ 123070 h 12306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488" h="123069">
                      <a:moveTo>
                        <a:pt x="76186" y="123070"/>
                      </a:moveTo>
                      <a:lnTo>
                        <a:pt x="76186" y="99628"/>
                      </a:lnTo>
                      <a:cubicBezTo>
                        <a:pt x="91951" y="91013"/>
                        <a:pt x="105489" y="68216"/>
                        <a:pt x="105489" y="49814"/>
                      </a:cubicBezTo>
                      <a:cubicBezTo>
                        <a:pt x="105489" y="22328"/>
                        <a:pt x="81871" y="0"/>
                        <a:pt x="52744" y="0"/>
                      </a:cubicBezTo>
                      <a:cubicBezTo>
                        <a:pt x="23618" y="0"/>
                        <a:pt x="0" y="22328"/>
                        <a:pt x="0" y="49814"/>
                      </a:cubicBezTo>
                      <a:cubicBezTo>
                        <a:pt x="0" y="68216"/>
                        <a:pt x="13538" y="91013"/>
                        <a:pt x="29302" y="99628"/>
                      </a:cubicBezTo>
                      <a:lnTo>
                        <a:pt x="29302" y="123070"/>
                      </a:lnTo>
                    </a:path>
                  </a:pathLst>
                </a:custGeom>
                <a:noFill/>
                <a:ln w="12700" cap="rnd">
                  <a:solidFill>
                    <a:schemeClr val="tx2"/>
                  </a:solidFill>
                  <a:prstDash val="solid"/>
                  <a:round/>
                </a:ln>
              </p:spPr>
              <p:txBody>
                <a:bodyPr/>
                <a:lstStyle/>
                <a:p>
                  <a:endParaRPr lang="ja-JP" altLang="en-US"/>
                </a:p>
              </p:txBody>
            </p:sp>
            <p:sp>
              <p:nvSpPr>
                <p:cNvPr id="55" name="フリーフォーム: 図形 54">
                  <a:extLst>
                    <a:ext uri="{FF2B5EF4-FFF2-40B4-BE49-F238E27FC236}">
                      <a16:creationId xmlns:a16="http://schemas.microsoft.com/office/drawing/2014/main" id="{3FF254E6-4C92-A794-24E2-A0D99B5FC347}"/>
                    </a:ext>
                  </a:extLst>
                </p:cNvPr>
                <p:cNvSpPr/>
                <p:nvPr/>
              </p:nvSpPr>
              <p:spPr>
                <a:xfrm>
                  <a:off x="710855" y="6500096"/>
                  <a:ext cx="5860" cy="46883"/>
                </a:xfrm>
                <a:custGeom>
                  <a:avLst/>
                  <a:gdLst>
                    <a:gd name="csX0" fmla="*/ 0 w 5860"/>
                    <a:gd name="csY0" fmla="*/ 46884 h 46883"/>
                    <a:gd name="csX1" fmla="*/ 0 w 5860"/>
                    <a:gd name="csY1" fmla="*/ 0 h 46883"/>
                  </a:gdLst>
                  <a:ahLst/>
                  <a:cxnLst>
                    <a:cxn ang="0">
                      <a:pos x="csX0" y="csY0"/>
                    </a:cxn>
                    <a:cxn ang="0">
                      <a:pos x="csX1" y="csY1"/>
                    </a:cxn>
                  </a:cxnLst>
                  <a:rect l="l" t="t" r="r" b="b"/>
                  <a:pathLst>
                    <a:path w="5860" h="46883">
                      <a:moveTo>
                        <a:pt x="0" y="46884"/>
                      </a:moveTo>
                      <a:lnTo>
                        <a:pt x="0" y="0"/>
                      </a:lnTo>
                    </a:path>
                  </a:pathLst>
                </a:custGeom>
                <a:ln w="12700" cap="rnd">
                  <a:solidFill>
                    <a:schemeClr val="tx2"/>
                  </a:solidFill>
                  <a:prstDash val="solid"/>
                  <a:round/>
                </a:ln>
              </p:spPr>
              <p:txBody>
                <a:bodyPr/>
                <a:lstStyle/>
                <a:p>
                  <a:endParaRPr lang="ja-JP" altLang="en-US"/>
                </a:p>
              </p:txBody>
            </p:sp>
            <p:sp>
              <p:nvSpPr>
                <p:cNvPr id="56" name="フリーフォーム: 図形 55">
                  <a:extLst>
                    <a:ext uri="{FF2B5EF4-FFF2-40B4-BE49-F238E27FC236}">
                      <a16:creationId xmlns:a16="http://schemas.microsoft.com/office/drawing/2014/main" id="{1CF77B68-8709-D733-9916-92C57E52E7FC}"/>
                    </a:ext>
                  </a:extLst>
                </p:cNvPr>
                <p:cNvSpPr/>
                <p:nvPr/>
              </p:nvSpPr>
              <p:spPr>
                <a:xfrm>
                  <a:off x="699134" y="6494235"/>
                  <a:ext cx="23441" cy="5860"/>
                </a:xfrm>
                <a:custGeom>
                  <a:avLst/>
                  <a:gdLst>
                    <a:gd name="csX0" fmla="*/ 0 w 23441"/>
                    <a:gd name="csY0" fmla="*/ 0 h 5860"/>
                    <a:gd name="csX1" fmla="*/ 23442 w 23441"/>
                    <a:gd name="csY1" fmla="*/ 0 h 5860"/>
                  </a:gdLst>
                  <a:ahLst/>
                  <a:cxnLst>
                    <a:cxn ang="0">
                      <a:pos x="csX0" y="csY0"/>
                    </a:cxn>
                    <a:cxn ang="0">
                      <a:pos x="csX1" y="csY1"/>
                    </a:cxn>
                  </a:cxnLst>
                  <a:rect l="l" t="t" r="r" b="b"/>
                  <a:pathLst>
                    <a:path w="23441" h="5860">
                      <a:moveTo>
                        <a:pt x="0" y="0"/>
                      </a:moveTo>
                      <a:lnTo>
                        <a:pt x="23442" y="0"/>
                      </a:lnTo>
                    </a:path>
                  </a:pathLst>
                </a:custGeom>
                <a:ln w="12700" cap="rnd">
                  <a:solidFill>
                    <a:schemeClr val="tx2"/>
                  </a:solidFill>
                  <a:prstDash val="solid"/>
                  <a:round/>
                </a:ln>
              </p:spPr>
              <p:txBody>
                <a:bodyPr/>
                <a:lstStyle/>
                <a:p>
                  <a:endParaRPr lang="ja-JP" altLang="en-US"/>
                </a:p>
              </p:txBody>
            </p:sp>
            <p:sp>
              <p:nvSpPr>
                <p:cNvPr id="57" name="フリーフォーム: 図形 56">
                  <a:extLst>
                    <a:ext uri="{FF2B5EF4-FFF2-40B4-BE49-F238E27FC236}">
                      <a16:creationId xmlns:a16="http://schemas.microsoft.com/office/drawing/2014/main" id="{0747E862-F508-E276-0612-34F85441A35A}"/>
                    </a:ext>
                  </a:extLst>
                </p:cNvPr>
                <p:cNvSpPr/>
                <p:nvPr/>
              </p:nvSpPr>
              <p:spPr>
                <a:xfrm>
                  <a:off x="681553" y="6564561"/>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8" name="フリーフォーム: 図形 57">
                  <a:extLst>
                    <a:ext uri="{FF2B5EF4-FFF2-40B4-BE49-F238E27FC236}">
                      <a16:creationId xmlns:a16="http://schemas.microsoft.com/office/drawing/2014/main" id="{7E1CA8BD-0DEF-68F9-82D5-97A5971778F8}"/>
                    </a:ext>
                  </a:extLst>
                </p:cNvPr>
                <p:cNvSpPr/>
                <p:nvPr/>
              </p:nvSpPr>
              <p:spPr>
                <a:xfrm>
                  <a:off x="681553" y="6582143"/>
                  <a:ext cx="58604" cy="5860"/>
                </a:xfrm>
                <a:custGeom>
                  <a:avLst/>
                  <a:gdLst>
                    <a:gd name="csX0" fmla="*/ 0 w 58604"/>
                    <a:gd name="csY0" fmla="*/ 0 h 5860"/>
                    <a:gd name="csX1" fmla="*/ 58605 w 58604"/>
                    <a:gd name="csY1" fmla="*/ 0 h 5860"/>
                  </a:gdLst>
                  <a:ahLst/>
                  <a:cxnLst>
                    <a:cxn ang="0">
                      <a:pos x="csX0" y="csY0"/>
                    </a:cxn>
                    <a:cxn ang="0">
                      <a:pos x="csX1" y="csY1"/>
                    </a:cxn>
                  </a:cxnLst>
                  <a:rect l="l" t="t" r="r" b="b"/>
                  <a:pathLst>
                    <a:path w="58604" h="5860">
                      <a:moveTo>
                        <a:pt x="0" y="0"/>
                      </a:moveTo>
                      <a:lnTo>
                        <a:pt x="58605" y="0"/>
                      </a:lnTo>
                    </a:path>
                  </a:pathLst>
                </a:custGeom>
                <a:ln w="12700" cap="rnd">
                  <a:solidFill>
                    <a:schemeClr val="tx2"/>
                  </a:solidFill>
                  <a:prstDash val="solid"/>
                  <a:round/>
                </a:ln>
              </p:spPr>
              <p:txBody>
                <a:bodyPr/>
                <a:lstStyle/>
                <a:p>
                  <a:endParaRPr lang="ja-JP" altLang="en-US"/>
                </a:p>
              </p:txBody>
            </p:sp>
            <p:sp>
              <p:nvSpPr>
                <p:cNvPr id="59" name="フリーフォーム: 図形 58">
                  <a:extLst>
                    <a:ext uri="{FF2B5EF4-FFF2-40B4-BE49-F238E27FC236}">
                      <a16:creationId xmlns:a16="http://schemas.microsoft.com/office/drawing/2014/main" id="{6FDF0A0B-79AC-C1B6-E12A-DE7ECB339827}"/>
                    </a:ext>
                  </a:extLst>
                </p:cNvPr>
                <p:cNvSpPr/>
                <p:nvPr/>
              </p:nvSpPr>
              <p:spPr>
                <a:xfrm>
                  <a:off x="687413" y="6599724"/>
                  <a:ext cx="46883" cy="5860"/>
                </a:xfrm>
                <a:custGeom>
                  <a:avLst/>
                  <a:gdLst>
                    <a:gd name="csX0" fmla="*/ 0 w 46883"/>
                    <a:gd name="csY0" fmla="*/ 0 h 5860"/>
                    <a:gd name="csX1" fmla="*/ 46884 w 46883"/>
                    <a:gd name="csY1" fmla="*/ 0 h 5860"/>
                  </a:gdLst>
                  <a:ahLst/>
                  <a:cxnLst>
                    <a:cxn ang="0">
                      <a:pos x="csX0" y="csY0"/>
                    </a:cxn>
                    <a:cxn ang="0">
                      <a:pos x="csX1" y="csY1"/>
                    </a:cxn>
                  </a:cxnLst>
                  <a:rect l="l" t="t" r="r" b="b"/>
                  <a:pathLst>
                    <a:path w="46883" h="5860">
                      <a:moveTo>
                        <a:pt x="0" y="0"/>
                      </a:moveTo>
                      <a:lnTo>
                        <a:pt x="46884" y="0"/>
                      </a:lnTo>
                    </a:path>
                  </a:pathLst>
                </a:custGeom>
                <a:ln w="12700" cap="rnd">
                  <a:solidFill>
                    <a:schemeClr val="tx2"/>
                  </a:solidFill>
                  <a:prstDash val="solid"/>
                  <a:round/>
                </a:ln>
              </p:spPr>
              <p:txBody>
                <a:bodyPr/>
                <a:lstStyle/>
                <a:p>
                  <a:endParaRPr lang="ja-JP" altLang="en-US"/>
                </a:p>
              </p:txBody>
            </p:sp>
            <p:grpSp>
              <p:nvGrpSpPr>
                <p:cNvPr id="60" name="グラフィックス 32">
                  <a:extLst>
                    <a:ext uri="{FF2B5EF4-FFF2-40B4-BE49-F238E27FC236}">
                      <a16:creationId xmlns:a16="http://schemas.microsoft.com/office/drawing/2014/main" id="{46003F03-0706-D56E-131C-6F71ACA679AA}"/>
                    </a:ext>
                  </a:extLst>
                </p:cNvPr>
                <p:cNvGrpSpPr/>
                <p:nvPr/>
              </p:nvGrpSpPr>
              <p:grpSpPr>
                <a:xfrm>
                  <a:off x="639299" y="6399061"/>
                  <a:ext cx="149149" cy="149149"/>
                  <a:chOff x="639299" y="6399061"/>
                  <a:chExt cx="149149" cy="149149"/>
                </a:xfrm>
              </p:grpSpPr>
              <p:sp>
                <p:nvSpPr>
                  <p:cNvPr id="68" name="フリーフォーム: 図形 67">
                    <a:extLst>
                      <a:ext uri="{FF2B5EF4-FFF2-40B4-BE49-F238E27FC236}">
                        <a16:creationId xmlns:a16="http://schemas.microsoft.com/office/drawing/2014/main" id="{FF1B27A2-5C8B-F971-8F1E-D89DE9245932}"/>
                      </a:ext>
                    </a:extLst>
                  </p:cNvPr>
                  <p:cNvSpPr/>
                  <p:nvPr/>
                </p:nvSpPr>
                <p:spPr>
                  <a:xfrm>
                    <a:off x="639299" y="6523362"/>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sp>
                <p:nvSpPr>
                  <p:cNvPr id="69" name="フリーフォーム: 図形 68">
                    <a:extLst>
                      <a:ext uri="{FF2B5EF4-FFF2-40B4-BE49-F238E27FC236}">
                        <a16:creationId xmlns:a16="http://schemas.microsoft.com/office/drawing/2014/main" id="{0A67E87D-C16C-7317-27D3-B65177A9A650}"/>
                      </a:ext>
                    </a:extLst>
                  </p:cNvPr>
                  <p:cNvSpPr/>
                  <p:nvPr/>
                </p:nvSpPr>
                <p:spPr>
                  <a:xfrm>
                    <a:off x="763599" y="6399061"/>
                    <a:ext cx="24848" cy="24848"/>
                  </a:xfrm>
                  <a:custGeom>
                    <a:avLst/>
                    <a:gdLst>
                      <a:gd name="csX0" fmla="*/ 0 w 24848"/>
                      <a:gd name="csY0" fmla="*/ 24848 h 24848"/>
                      <a:gd name="csX1" fmla="*/ 24848 w 24848"/>
                      <a:gd name="csY1" fmla="*/ 0 h 24848"/>
                    </a:gdLst>
                    <a:ahLst/>
                    <a:cxnLst>
                      <a:cxn ang="0">
                        <a:pos x="csX0" y="csY0"/>
                      </a:cxn>
                      <a:cxn ang="0">
                        <a:pos x="csX1" y="csY1"/>
                      </a:cxn>
                    </a:cxnLst>
                    <a:rect l="l" t="t" r="r" b="b"/>
                    <a:pathLst>
                      <a:path w="24848" h="24848">
                        <a:moveTo>
                          <a:pt x="0" y="24848"/>
                        </a:moveTo>
                        <a:lnTo>
                          <a:pt x="24848" y="0"/>
                        </a:lnTo>
                      </a:path>
                    </a:pathLst>
                  </a:custGeom>
                  <a:ln w="12700" cap="rnd">
                    <a:solidFill>
                      <a:schemeClr val="tx2"/>
                    </a:solidFill>
                    <a:prstDash val="solid"/>
                    <a:round/>
                  </a:ln>
                </p:spPr>
                <p:txBody>
                  <a:bodyPr/>
                  <a:lstStyle/>
                  <a:p>
                    <a:endParaRPr lang="ja-JP" altLang="en-US"/>
                  </a:p>
                </p:txBody>
              </p:sp>
            </p:grpSp>
            <p:sp>
              <p:nvSpPr>
                <p:cNvPr id="61" name="フリーフォーム: 図形 60">
                  <a:extLst>
                    <a:ext uri="{FF2B5EF4-FFF2-40B4-BE49-F238E27FC236}">
                      <a16:creationId xmlns:a16="http://schemas.microsoft.com/office/drawing/2014/main" id="{A22E7811-79CC-7D34-A60A-5DABDD728347}"/>
                    </a:ext>
                  </a:extLst>
                </p:cNvPr>
                <p:cNvSpPr/>
                <p:nvPr/>
              </p:nvSpPr>
              <p:spPr>
                <a:xfrm>
                  <a:off x="710855" y="6371166"/>
                  <a:ext cx="5860" cy="35162"/>
                </a:xfrm>
                <a:custGeom>
                  <a:avLst/>
                  <a:gdLst>
                    <a:gd name="csX0" fmla="*/ 0 w 5860"/>
                    <a:gd name="csY0" fmla="*/ 35163 h 35162"/>
                    <a:gd name="csX1" fmla="*/ 0 w 5860"/>
                    <a:gd name="csY1" fmla="*/ 0 h 35162"/>
                  </a:gdLst>
                  <a:ahLst/>
                  <a:cxnLst>
                    <a:cxn ang="0">
                      <a:pos x="csX0" y="csY0"/>
                    </a:cxn>
                    <a:cxn ang="0">
                      <a:pos x="csX1" y="csY1"/>
                    </a:cxn>
                  </a:cxnLst>
                  <a:rect l="l" t="t" r="r" b="b"/>
                  <a:pathLst>
                    <a:path w="5860" h="35162">
                      <a:moveTo>
                        <a:pt x="0" y="35163"/>
                      </a:moveTo>
                      <a:lnTo>
                        <a:pt x="0" y="0"/>
                      </a:lnTo>
                    </a:path>
                  </a:pathLst>
                </a:custGeom>
                <a:ln w="12700" cap="rnd">
                  <a:solidFill>
                    <a:schemeClr val="tx2"/>
                  </a:solidFill>
                  <a:prstDash val="solid"/>
                  <a:round/>
                </a:ln>
              </p:spPr>
              <p:txBody>
                <a:bodyPr/>
                <a:lstStyle/>
                <a:p>
                  <a:endParaRPr lang="ja-JP" altLang="en-US"/>
                </a:p>
              </p:txBody>
            </p:sp>
            <p:grpSp>
              <p:nvGrpSpPr>
                <p:cNvPr id="62" name="グラフィックス 32">
                  <a:extLst>
                    <a:ext uri="{FF2B5EF4-FFF2-40B4-BE49-F238E27FC236}">
                      <a16:creationId xmlns:a16="http://schemas.microsoft.com/office/drawing/2014/main" id="{DDB6E077-4DF8-9D28-CE9D-FD0DC38080E3}"/>
                    </a:ext>
                  </a:extLst>
                </p:cNvPr>
                <p:cNvGrpSpPr/>
                <p:nvPr/>
              </p:nvGrpSpPr>
              <p:grpSpPr>
                <a:xfrm>
                  <a:off x="605367" y="6470794"/>
                  <a:ext cx="210977" cy="5860"/>
                  <a:chOff x="605367" y="6470794"/>
                  <a:chExt cx="210977" cy="5860"/>
                </a:xfrm>
              </p:grpSpPr>
              <p:sp>
                <p:nvSpPr>
                  <p:cNvPr id="66" name="フリーフォーム: 図形 65">
                    <a:extLst>
                      <a:ext uri="{FF2B5EF4-FFF2-40B4-BE49-F238E27FC236}">
                        <a16:creationId xmlns:a16="http://schemas.microsoft.com/office/drawing/2014/main" id="{F6E3D96F-EC3C-7492-EAD2-472738E099EA}"/>
                      </a:ext>
                    </a:extLst>
                  </p:cNvPr>
                  <p:cNvSpPr/>
                  <p:nvPr/>
                </p:nvSpPr>
                <p:spPr>
                  <a:xfrm>
                    <a:off x="605367"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sp>
                <p:nvSpPr>
                  <p:cNvPr id="67" name="フリーフォーム: 図形 66">
                    <a:extLst>
                      <a:ext uri="{FF2B5EF4-FFF2-40B4-BE49-F238E27FC236}">
                        <a16:creationId xmlns:a16="http://schemas.microsoft.com/office/drawing/2014/main" id="{DCC1D94A-2131-4857-9112-4465F8CBD688}"/>
                      </a:ext>
                    </a:extLst>
                  </p:cNvPr>
                  <p:cNvSpPr/>
                  <p:nvPr/>
                </p:nvSpPr>
                <p:spPr>
                  <a:xfrm>
                    <a:off x="781181" y="6470794"/>
                    <a:ext cx="35162" cy="5860"/>
                  </a:xfrm>
                  <a:custGeom>
                    <a:avLst/>
                    <a:gdLst>
                      <a:gd name="csX0" fmla="*/ 0 w 35162"/>
                      <a:gd name="csY0" fmla="*/ 0 h 5860"/>
                      <a:gd name="csX1" fmla="*/ 35163 w 35162"/>
                      <a:gd name="csY1" fmla="*/ 0 h 5860"/>
                    </a:gdLst>
                    <a:ahLst/>
                    <a:cxnLst>
                      <a:cxn ang="0">
                        <a:pos x="csX0" y="csY0"/>
                      </a:cxn>
                      <a:cxn ang="0">
                        <a:pos x="csX1" y="csY1"/>
                      </a:cxn>
                    </a:cxnLst>
                    <a:rect l="l" t="t" r="r" b="b"/>
                    <a:pathLst>
                      <a:path w="35162" h="5860">
                        <a:moveTo>
                          <a:pt x="0" y="0"/>
                        </a:moveTo>
                        <a:lnTo>
                          <a:pt x="35163" y="0"/>
                        </a:lnTo>
                      </a:path>
                    </a:pathLst>
                  </a:custGeom>
                  <a:ln w="12700" cap="rnd">
                    <a:solidFill>
                      <a:schemeClr val="tx2"/>
                    </a:solidFill>
                    <a:prstDash val="solid"/>
                    <a:round/>
                  </a:ln>
                </p:spPr>
                <p:txBody>
                  <a:bodyPr/>
                  <a:lstStyle/>
                  <a:p>
                    <a:endParaRPr lang="ja-JP" altLang="en-US"/>
                  </a:p>
                </p:txBody>
              </p:sp>
            </p:grpSp>
            <p:grpSp>
              <p:nvGrpSpPr>
                <p:cNvPr id="63" name="グラフィックス 32">
                  <a:extLst>
                    <a:ext uri="{FF2B5EF4-FFF2-40B4-BE49-F238E27FC236}">
                      <a16:creationId xmlns:a16="http://schemas.microsoft.com/office/drawing/2014/main" id="{1795E0F7-A5BB-F562-9C60-3E356D161488}"/>
                    </a:ext>
                  </a:extLst>
                </p:cNvPr>
                <p:cNvGrpSpPr/>
                <p:nvPr/>
              </p:nvGrpSpPr>
              <p:grpSpPr>
                <a:xfrm>
                  <a:off x="633262" y="6399061"/>
                  <a:ext cx="149149" cy="149149"/>
                  <a:chOff x="633262" y="6399061"/>
                  <a:chExt cx="149149" cy="149149"/>
                </a:xfrm>
              </p:grpSpPr>
              <p:sp>
                <p:nvSpPr>
                  <p:cNvPr id="64" name="フリーフォーム: 図形 63">
                    <a:extLst>
                      <a:ext uri="{FF2B5EF4-FFF2-40B4-BE49-F238E27FC236}">
                        <a16:creationId xmlns:a16="http://schemas.microsoft.com/office/drawing/2014/main" id="{DDC39931-DD4A-0A4F-7EF0-1E2166A51BA7}"/>
                      </a:ext>
                    </a:extLst>
                  </p:cNvPr>
                  <p:cNvSpPr/>
                  <p:nvPr/>
                </p:nvSpPr>
                <p:spPr>
                  <a:xfrm>
                    <a:off x="757563" y="6523362"/>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sp>
                <p:nvSpPr>
                  <p:cNvPr id="65" name="フリーフォーム: 図形 64">
                    <a:extLst>
                      <a:ext uri="{FF2B5EF4-FFF2-40B4-BE49-F238E27FC236}">
                        <a16:creationId xmlns:a16="http://schemas.microsoft.com/office/drawing/2014/main" id="{182857EE-5EF9-595C-B8CD-3E47A8977D5F}"/>
                      </a:ext>
                    </a:extLst>
                  </p:cNvPr>
                  <p:cNvSpPr/>
                  <p:nvPr/>
                </p:nvSpPr>
                <p:spPr>
                  <a:xfrm>
                    <a:off x="633262" y="6399061"/>
                    <a:ext cx="24848" cy="24848"/>
                  </a:xfrm>
                  <a:custGeom>
                    <a:avLst/>
                    <a:gdLst>
                      <a:gd name="csX0" fmla="*/ 24848 w 24848"/>
                      <a:gd name="csY0" fmla="*/ 24848 h 24848"/>
                      <a:gd name="csX1" fmla="*/ 0 w 24848"/>
                      <a:gd name="csY1" fmla="*/ 0 h 24848"/>
                    </a:gdLst>
                    <a:ahLst/>
                    <a:cxnLst>
                      <a:cxn ang="0">
                        <a:pos x="csX0" y="csY0"/>
                      </a:cxn>
                      <a:cxn ang="0">
                        <a:pos x="csX1" y="csY1"/>
                      </a:cxn>
                    </a:cxnLst>
                    <a:rect l="l" t="t" r="r" b="b"/>
                    <a:pathLst>
                      <a:path w="24848" h="24848">
                        <a:moveTo>
                          <a:pt x="24848" y="24848"/>
                        </a:moveTo>
                        <a:lnTo>
                          <a:pt x="0" y="0"/>
                        </a:lnTo>
                      </a:path>
                    </a:pathLst>
                  </a:custGeom>
                  <a:ln w="12700" cap="rnd">
                    <a:solidFill>
                      <a:schemeClr val="tx2"/>
                    </a:solidFill>
                    <a:prstDash val="solid"/>
                    <a:round/>
                  </a:ln>
                </p:spPr>
                <p:txBody>
                  <a:bodyPr/>
                  <a:lstStyle/>
                  <a:p>
                    <a:endParaRPr lang="ja-JP" altLang="en-US"/>
                  </a:p>
                </p:txBody>
              </p:sp>
            </p:grpSp>
          </p:grpSp>
        </p:grpSp>
      </p:grpSp>
      <p:sp>
        <p:nvSpPr>
          <p:cNvPr id="4" name="正方形/長方形 3">
            <a:extLst>
              <a:ext uri="{FF2B5EF4-FFF2-40B4-BE49-F238E27FC236}">
                <a16:creationId xmlns:a16="http://schemas.microsoft.com/office/drawing/2014/main" id="{6BC308DD-4581-9B3D-2488-1CF63FDB56F1}"/>
              </a:ext>
            </a:extLst>
          </p:cNvPr>
          <p:cNvSpPr/>
          <p:nvPr/>
        </p:nvSpPr>
        <p:spPr>
          <a:xfrm>
            <a:off x="449264"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時価純資産</a:t>
            </a:r>
          </a:p>
        </p:txBody>
      </p:sp>
      <p:sp>
        <p:nvSpPr>
          <p:cNvPr id="11" name="正方形/長方形 10">
            <a:extLst>
              <a:ext uri="{FF2B5EF4-FFF2-40B4-BE49-F238E27FC236}">
                <a16:creationId xmlns:a16="http://schemas.microsoft.com/office/drawing/2014/main" id="{FF906F3B-339D-5C93-EB5C-667F5D10FE00}"/>
              </a:ext>
            </a:extLst>
          </p:cNvPr>
          <p:cNvSpPr/>
          <p:nvPr/>
        </p:nvSpPr>
        <p:spPr>
          <a:xfrm>
            <a:off x="4197486" y="863600"/>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基準営業利益</a:t>
            </a:r>
          </a:p>
        </p:txBody>
      </p:sp>
      <p:sp>
        <p:nvSpPr>
          <p:cNvPr id="18" name="テキスト ボックス 17">
            <a:extLst>
              <a:ext uri="{FF2B5EF4-FFF2-40B4-BE49-F238E27FC236}">
                <a16:creationId xmlns:a16="http://schemas.microsoft.com/office/drawing/2014/main" id="{9FA20A16-6D84-8F71-DF07-E04C0E7459DA}"/>
              </a:ext>
            </a:extLst>
          </p:cNvPr>
          <p:cNvSpPr txBox="1"/>
          <p:nvPr/>
        </p:nvSpPr>
        <p:spPr>
          <a:xfrm>
            <a:off x="341313" y="4241196"/>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p>
        </p:txBody>
      </p:sp>
      <p:sp>
        <p:nvSpPr>
          <p:cNvPr id="19" name="正方形/長方形 18">
            <a:extLst>
              <a:ext uri="{FF2B5EF4-FFF2-40B4-BE49-F238E27FC236}">
                <a16:creationId xmlns:a16="http://schemas.microsoft.com/office/drawing/2014/main" id="{5B5D0BCA-B3E5-FD71-6C58-18B5BFACDC58}"/>
              </a:ext>
            </a:extLst>
          </p:cNvPr>
          <p:cNvSpPr/>
          <p:nvPr/>
        </p:nvSpPr>
        <p:spPr>
          <a:xfrm>
            <a:off x="449264" y="6374438"/>
            <a:ext cx="9793287" cy="645487"/>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252000" tIns="0" rIns="0" bIns="0" rtlCol="0" anchor="ctr"/>
          <a:lstStyle/>
          <a:p>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20" name="テキスト ボックス 19">
            <a:extLst>
              <a:ext uri="{FF2B5EF4-FFF2-40B4-BE49-F238E27FC236}">
                <a16:creationId xmlns:a16="http://schemas.microsoft.com/office/drawing/2014/main" id="{1F5D9AD6-5ABF-F2CF-264A-30C999A3F804}"/>
              </a:ext>
            </a:extLst>
          </p:cNvPr>
          <p:cNvSpPr txBox="1"/>
          <p:nvPr/>
        </p:nvSpPr>
        <p:spPr>
          <a:xfrm>
            <a:off x="4443322" y="643793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・営業利益は過去3年の加重平均を採用（25年11月期：24年11月期：23年11月期　＝５：３：２）</a:t>
            </a:r>
            <a:endParaRPr lang="en-US" altLang="ja-JP" sz="1000" spc="50" dirty="0">
              <a:latin typeface="+mn-ea"/>
            </a:endParaRPr>
          </a:p>
        </p:txBody>
      </p:sp>
      <p:sp>
        <p:nvSpPr>
          <p:cNvPr id="21" name="テキスト ボックス 20">
            <a:extLst>
              <a:ext uri="{FF2B5EF4-FFF2-40B4-BE49-F238E27FC236}">
                <a16:creationId xmlns:a16="http://schemas.microsoft.com/office/drawing/2014/main" id="{BF0A492D-B740-FF9D-8465-2437101751AE}"/>
              </a:ext>
            </a:extLst>
          </p:cNvPr>
          <p:cNvSpPr txBox="1"/>
          <p:nvPr/>
        </p:nvSpPr>
        <p:spPr>
          <a:xfrm>
            <a:off x="7176433" y="6446993"/>
            <a:ext cx="3132000" cy="543547"/>
          </a:xfrm>
          <a:prstGeom prst="rect">
            <a:avLst/>
          </a:prstGeom>
          <a:noFill/>
        </p:spPr>
        <p:txBody>
          <a:bodyPr wrap="square" lIns="288000" tIns="0" rIns="252000" bIns="0" rtlCol="0">
            <a:spAutoFit/>
          </a:bodyPr>
          <a:lstStyle/>
          <a:p>
            <a:pPr>
              <a:lnSpc>
                <a:spcPct val="120000"/>
              </a:lnSpc>
              <a:spcAft>
                <a:spcPts val="300"/>
              </a:spcAft>
              <a:buClr>
                <a:schemeClr val="tx1"/>
              </a:buClr>
              <a:buSzPct val="100000"/>
            </a:pPr>
            <a:r>
              <a:rPr lang="ja-JP" altLang="en-US" sz="800" spc="50" dirty="0">
                <a:latin typeface="+mn-ea"/>
              </a:rPr>
              <a:t>・営業権倍率は国内の中小企業M&amp;Aの実例におけるボリュームゾーンである1〜3倍を適用
・繰越欠損金があり課税所得の見込みが立たないため繰延税金資産は不認識</a:t>
            </a:r>
            <a:endParaRPr lang="en-US" altLang="ja-JP" sz="1000" spc="50" dirty="0">
              <a:latin typeface="+mn-ea"/>
            </a:endParaRPr>
          </a:p>
        </p:txBody>
      </p:sp>
      <p:graphicFrame>
        <p:nvGraphicFramePr>
          <p:cNvPr id="5" name="表 4">
            <a:extLst>
              <a:ext uri="{FF2B5EF4-FFF2-40B4-BE49-F238E27FC236}">
                <a16:creationId xmlns:a16="http://schemas.microsoft.com/office/drawing/2014/main" id="{26AF88D5-F5AA-EC4C-22F4-A3A39F720979}"/>
              </a:ext>
            </a:extLst>
          </p:cNvPr>
          <p:cNvGraphicFramePr>
            <a:graphicFrameLocks noGrp="1"/>
          </p:cNvGraphicFramePr>
          <p:nvPr>
            <p:extLst>
              <p:ext uri="{D42A27DB-BD31-4B8C-83A1-F6EECF244321}">
                <p14:modId xmlns:p14="http://schemas.microsoft.com/office/powerpoint/2010/main" val="3441969292"/>
              </p:ext>
            </p:extLst>
          </p:nvPr>
        </p:nvGraphicFramePr>
        <p:xfrm>
          <a:off x="449264" y="1104833"/>
          <a:ext cx="2844800" cy="1616079"/>
        </p:xfrm>
        <a:graphic>
          <a:graphicData uri="http://schemas.openxmlformats.org/drawingml/2006/table">
            <a:tbl>
              <a:tblPr/>
              <a:tblGrid>
                <a:gridCol w="1422400">
                  <a:extLst>
                    <a:ext uri="{9D8B030D-6E8A-4147-A177-3AD203B41FA5}">
                      <a16:colId xmlns:a16="http://schemas.microsoft.com/office/drawing/2014/main" val="3694366052"/>
                    </a:ext>
                  </a:extLst>
                </a:gridCol>
                <a:gridCol w="1422400">
                  <a:extLst>
                    <a:ext uri="{9D8B030D-6E8A-4147-A177-3AD203B41FA5}">
                      <a16:colId xmlns:a16="http://schemas.microsoft.com/office/drawing/2014/main" val="1488557040"/>
                    </a:ext>
                  </a:extLst>
                </a:gridCol>
              </a:tblGrid>
              <a:tr h="214129">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856857072"/>
                  </a:ext>
                </a:extLst>
              </a:tr>
              <a:tr h="263498">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655321245"/>
                  </a:ext>
                </a:extLst>
              </a:tr>
              <a:tr h="379484">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簿価純資産額</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14,057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41646571"/>
                  </a:ext>
                </a:extLst>
              </a:tr>
              <a:tr h="379484">
                <a:tc>
                  <a:txBody>
                    <a:bodyPr/>
                    <a:lstStyle/>
                    <a:p>
                      <a:pPr algn="l" fontAlgn="ctr">
                        <a:buNone/>
                      </a:pPr>
                      <a:r>
                        <a:rPr lang="ja-JP" sz="900" b="0" i="0" u="none" strike="noStrike" dirty="0">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47,150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48851464"/>
                  </a:ext>
                </a:extLst>
              </a:tr>
              <a:tr h="379484">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61,207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416888023"/>
                  </a:ext>
                </a:extLst>
              </a:tr>
            </a:tbl>
          </a:graphicData>
        </a:graphic>
      </p:graphicFrame>
      <p:graphicFrame>
        <p:nvGraphicFramePr>
          <p:cNvPr id="9" name="表 8">
            <a:extLst>
              <a:ext uri="{FF2B5EF4-FFF2-40B4-BE49-F238E27FC236}">
                <a16:creationId xmlns:a16="http://schemas.microsoft.com/office/drawing/2014/main" id="{D61F985D-E1EE-9F23-98BD-DEA1EAC23C5B}"/>
              </a:ext>
            </a:extLst>
          </p:cNvPr>
          <p:cNvGraphicFramePr>
            <a:graphicFrameLocks noGrp="1"/>
          </p:cNvGraphicFramePr>
          <p:nvPr>
            <p:extLst>
              <p:ext uri="{D42A27DB-BD31-4B8C-83A1-F6EECF244321}">
                <p14:modId xmlns:p14="http://schemas.microsoft.com/office/powerpoint/2010/main" val="1107443269"/>
              </p:ext>
            </p:extLst>
          </p:nvPr>
        </p:nvGraphicFramePr>
        <p:xfrm>
          <a:off x="4222774" y="1099857"/>
          <a:ext cx="6146800" cy="3070466"/>
        </p:xfrm>
        <a:graphic>
          <a:graphicData uri="http://schemas.openxmlformats.org/drawingml/2006/table">
            <a:tbl>
              <a:tblPr/>
              <a:tblGrid>
                <a:gridCol w="1879600">
                  <a:extLst>
                    <a:ext uri="{9D8B030D-6E8A-4147-A177-3AD203B41FA5}">
                      <a16:colId xmlns:a16="http://schemas.microsoft.com/office/drawing/2014/main" val="2689453775"/>
                    </a:ext>
                  </a:extLst>
                </a:gridCol>
                <a:gridCol w="1422400">
                  <a:extLst>
                    <a:ext uri="{9D8B030D-6E8A-4147-A177-3AD203B41FA5}">
                      <a16:colId xmlns:a16="http://schemas.microsoft.com/office/drawing/2014/main" val="2339328892"/>
                    </a:ext>
                  </a:extLst>
                </a:gridCol>
                <a:gridCol w="1422400">
                  <a:extLst>
                    <a:ext uri="{9D8B030D-6E8A-4147-A177-3AD203B41FA5}">
                      <a16:colId xmlns:a16="http://schemas.microsoft.com/office/drawing/2014/main" val="2858407201"/>
                    </a:ext>
                  </a:extLst>
                </a:gridCol>
                <a:gridCol w="1422400">
                  <a:extLst>
                    <a:ext uri="{9D8B030D-6E8A-4147-A177-3AD203B41FA5}">
                      <a16:colId xmlns:a16="http://schemas.microsoft.com/office/drawing/2014/main" val="1153056647"/>
                    </a:ext>
                  </a:extLst>
                </a:gridCol>
              </a:tblGrid>
              <a:tr h="215062">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060651099"/>
                  </a:ext>
                </a:extLst>
              </a:tr>
              <a:tr h="264646">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182827024"/>
                  </a:ext>
                </a:extLst>
              </a:tr>
              <a:tr h="38113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2,341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19,552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487334889"/>
                  </a:ext>
                </a:extLst>
              </a:tr>
              <a:tr h="38113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8,856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20,449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594322700"/>
                  </a:ext>
                </a:extLst>
              </a:tr>
              <a:tr h="381138">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11,197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23,471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3159235464"/>
                  </a:ext>
                </a:extLst>
              </a:tr>
              <a:tr h="381138">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税考慮額（実効税率34%）</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3,807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7,980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113</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4075929803"/>
                  </a:ext>
                </a:extLst>
              </a:tr>
              <a:tr h="381138">
                <a:tc>
                  <a:txBody>
                    <a:bodyPr/>
                    <a:lstStyle/>
                    <a:p>
                      <a:pPr algn="ct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修正後税考慮後営業利益</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7,390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15,491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219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2910729668"/>
                  </a:ext>
                </a:extLst>
              </a:tr>
              <a:tr h="186984">
                <a:tc>
                  <a:txBody>
                    <a:bodyPr/>
                    <a:lstStyle/>
                    <a:p>
                      <a:pPr algn="ct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加重</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50%</a:t>
                      </a: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28652731"/>
                  </a:ext>
                </a:extLst>
              </a:tr>
              <a:tr h="495838">
                <a:tc>
                  <a:txBody>
                    <a:bodyPr/>
                    <a:lstStyle/>
                    <a:p>
                      <a:pPr algn="ct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基準営業利益(三期加重平均)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6,235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50107663"/>
                  </a:ext>
                </a:extLst>
              </a:tr>
            </a:tbl>
          </a:graphicData>
        </a:graphic>
      </p:graphicFrame>
      <p:graphicFrame>
        <p:nvGraphicFramePr>
          <p:cNvPr id="12" name="表 11">
            <a:extLst>
              <a:ext uri="{FF2B5EF4-FFF2-40B4-BE49-F238E27FC236}">
                <a16:creationId xmlns:a16="http://schemas.microsoft.com/office/drawing/2014/main" id="{F1360EDF-B0F1-0E3A-ADF3-69D171EC72EE}"/>
              </a:ext>
            </a:extLst>
          </p:cNvPr>
          <p:cNvGraphicFramePr>
            <a:graphicFrameLocks noGrp="1"/>
          </p:cNvGraphicFramePr>
          <p:nvPr>
            <p:extLst>
              <p:ext uri="{D42A27DB-BD31-4B8C-83A1-F6EECF244321}">
                <p14:modId xmlns:p14="http://schemas.microsoft.com/office/powerpoint/2010/main" val="963643932"/>
              </p:ext>
            </p:extLst>
          </p:nvPr>
        </p:nvGraphicFramePr>
        <p:xfrm>
          <a:off x="449264" y="4496031"/>
          <a:ext cx="6197600" cy="1725295"/>
        </p:xfrm>
        <a:graphic>
          <a:graphicData uri="http://schemas.openxmlformats.org/drawingml/2006/table">
            <a:tbl>
              <a:tblPr/>
              <a:tblGrid>
                <a:gridCol w="1549400">
                  <a:extLst>
                    <a:ext uri="{9D8B030D-6E8A-4147-A177-3AD203B41FA5}">
                      <a16:colId xmlns:a16="http://schemas.microsoft.com/office/drawing/2014/main" val="1900577174"/>
                    </a:ext>
                  </a:extLst>
                </a:gridCol>
                <a:gridCol w="1549400">
                  <a:extLst>
                    <a:ext uri="{9D8B030D-6E8A-4147-A177-3AD203B41FA5}">
                      <a16:colId xmlns:a16="http://schemas.microsoft.com/office/drawing/2014/main" val="1597478049"/>
                    </a:ext>
                  </a:extLst>
                </a:gridCol>
                <a:gridCol w="1549400">
                  <a:extLst>
                    <a:ext uri="{9D8B030D-6E8A-4147-A177-3AD203B41FA5}">
                      <a16:colId xmlns:a16="http://schemas.microsoft.com/office/drawing/2014/main" val="2184922444"/>
                    </a:ext>
                  </a:extLst>
                </a:gridCol>
                <a:gridCol w="1549400">
                  <a:extLst>
                    <a:ext uri="{9D8B030D-6E8A-4147-A177-3AD203B41FA5}">
                      <a16:colId xmlns:a16="http://schemas.microsoft.com/office/drawing/2014/main" val="2004076858"/>
                    </a:ext>
                  </a:extLst>
                </a:gridCol>
              </a:tblGrid>
              <a:tr h="22860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976737339"/>
                  </a:ext>
                </a:extLst>
              </a:tr>
              <a:tr h="281305">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営業権倍率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x1</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x2</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856159003"/>
                  </a:ext>
                </a:extLst>
              </a:tr>
              <a:tr h="40513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時価純資産</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gridSpan="3">
                  <a:txBody>
                    <a:bodyPr/>
                    <a:lstStyle/>
                    <a:p>
                      <a:pPr algn="ct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61,207</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hMerge="1">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825120275"/>
                  </a:ext>
                </a:extLst>
              </a:tr>
              <a:tr h="40513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営業権</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6,235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12,470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18,705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2612554151"/>
                  </a:ext>
                </a:extLst>
              </a:tr>
              <a:tr h="40513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54,972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48,737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42,502</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2660274039"/>
                  </a:ext>
                </a:extLst>
              </a:tr>
            </a:tbl>
          </a:graphicData>
        </a:graphic>
      </p:graphicFrame>
    </p:spTree>
    <p:extLst>
      <p:ext uri="{BB962C8B-B14F-4D97-AF65-F5344CB8AC3E}">
        <p14:creationId xmlns:p14="http://schemas.microsoft.com/office/powerpoint/2010/main" val="3814231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68CF-D69D-18FC-3A0E-C232A8D38007}"/>
            </a:ext>
          </a:extLst>
        </p:cNvPr>
        <p:cNvGrpSpPr/>
        <p:nvPr/>
      </p:nvGrpSpPr>
      <p:grpSpPr>
        <a:xfrm>
          <a:off x="0" y="0"/>
          <a:ext cx="0" cy="0"/>
          <a:chOff x="0" y="0"/>
          <a:chExt cx="0" cy="0"/>
        </a:xfrm>
      </p:grpSpPr>
      <p:sp>
        <p:nvSpPr>
          <p:cNvPr id="17" name="タイトル 16">
            <a:extLst>
              <a:ext uri="{FF2B5EF4-FFF2-40B4-BE49-F238E27FC236}">
                <a16:creationId xmlns:a16="http://schemas.microsoft.com/office/drawing/2014/main" id="{D7EB75FF-F512-AB03-0F54-0531BD69257A}"/>
              </a:ext>
            </a:extLst>
          </p:cNvPr>
          <p:cNvSpPr>
            <a:spLocks noGrp="1"/>
          </p:cNvSpPr>
          <p:nvPr>
            <p:ph type="ctrTitle"/>
          </p:nvPr>
        </p:nvSpPr>
        <p:spPr/>
        <p:txBody>
          <a:bodyPr/>
          <a:lstStyle/>
          <a:p>
            <a:r>
              <a:rPr lang="en-US" altLang="ja-JP" dirty="0"/>
              <a:t>EV/EBITDA</a:t>
            </a:r>
            <a:r>
              <a:rPr lang="ja-JP" altLang="en-US" dirty="0"/>
              <a:t>マルチプル法</a:t>
            </a:r>
            <a:r>
              <a:rPr lang="ja-JP" altLang="en-US" sz="1400" dirty="0"/>
              <a:t>（マーケットアプローチ）</a:t>
            </a:r>
            <a:r>
              <a:rPr lang="ja-JP" altLang="en-US" dirty="0"/>
              <a:t>による算出</a:t>
            </a:r>
          </a:p>
        </p:txBody>
      </p:sp>
      <p:sp>
        <p:nvSpPr>
          <p:cNvPr id="15" name="タイトル 1">
            <a:extLst>
              <a:ext uri="{FF2B5EF4-FFF2-40B4-BE49-F238E27FC236}">
                <a16:creationId xmlns:a16="http://schemas.microsoft.com/office/drawing/2014/main" id="{90570B0E-6143-1519-8292-7086F7DE784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4" name="正方形/長方形 3">
            <a:extLst>
              <a:ext uri="{FF2B5EF4-FFF2-40B4-BE49-F238E27FC236}">
                <a16:creationId xmlns:a16="http://schemas.microsoft.com/office/drawing/2014/main" id="{33074C14-EE57-454D-DEE5-B4FA1B4A9B58}"/>
              </a:ext>
            </a:extLst>
          </p:cNvPr>
          <p:cNvSpPr/>
          <p:nvPr/>
        </p:nvSpPr>
        <p:spPr>
          <a:xfrm>
            <a:off x="3913982"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en-US" altLang="ja-JP" sz="1600" b="1" spc="50" dirty="0">
                <a:solidFill>
                  <a:schemeClr val="tx1"/>
                </a:solidFill>
                <a:latin typeface="+mj-ea"/>
                <a:ea typeface="+mj-ea"/>
              </a:rPr>
              <a:t>EV</a:t>
            </a:r>
            <a:r>
              <a:rPr lang="ja-JP" altLang="en-US" sz="1600" b="1" spc="50" dirty="0">
                <a:solidFill>
                  <a:schemeClr val="tx1"/>
                </a:solidFill>
                <a:latin typeface="+mj-ea"/>
                <a:ea typeface="+mj-ea"/>
              </a:rPr>
              <a:t>（</a:t>
            </a:r>
            <a:r>
              <a:rPr lang="en-US" altLang="ja-JP" sz="1600" b="1" spc="50" dirty="0">
                <a:solidFill>
                  <a:schemeClr val="tx1"/>
                </a:solidFill>
                <a:latin typeface="+mj-ea"/>
                <a:ea typeface="+mj-ea"/>
              </a:rPr>
              <a:t>EBITDA×</a:t>
            </a:r>
            <a:r>
              <a:rPr lang="ja-JP" altLang="en-US" sz="1600" b="1" spc="50" dirty="0">
                <a:solidFill>
                  <a:schemeClr val="tx1"/>
                </a:solidFill>
                <a:latin typeface="+mj-ea"/>
                <a:ea typeface="+mj-ea"/>
              </a:rPr>
              <a:t>倍率）</a:t>
            </a:r>
          </a:p>
        </p:txBody>
      </p:sp>
      <p:sp>
        <p:nvSpPr>
          <p:cNvPr id="11" name="正方形/長方形 10">
            <a:extLst>
              <a:ext uri="{FF2B5EF4-FFF2-40B4-BE49-F238E27FC236}">
                <a16:creationId xmlns:a16="http://schemas.microsoft.com/office/drawing/2014/main" id="{14370311-C1C8-F01A-03FB-4CB76D5E625E}"/>
              </a:ext>
            </a:extLst>
          </p:cNvPr>
          <p:cNvSpPr/>
          <p:nvPr/>
        </p:nvSpPr>
        <p:spPr>
          <a:xfrm>
            <a:off x="444636" y="987425"/>
            <a:ext cx="3179762"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ネットキャッシュ</a:t>
            </a:r>
          </a:p>
        </p:txBody>
      </p:sp>
      <p:sp>
        <p:nvSpPr>
          <p:cNvPr id="18" name="テキスト ボックス 17">
            <a:extLst>
              <a:ext uri="{FF2B5EF4-FFF2-40B4-BE49-F238E27FC236}">
                <a16:creationId xmlns:a16="http://schemas.microsoft.com/office/drawing/2014/main" id="{179AA9CD-95B4-9925-7A4F-9D862B690B84}"/>
              </a:ext>
            </a:extLst>
          </p:cNvPr>
          <p:cNvSpPr txBox="1"/>
          <p:nvPr/>
        </p:nvSpPr>
        <p:spPr>
          <a:xfrm>
            <a:off x="341313" y="3892348"/>
            <a:ext cx="7562850" cy="369332"/>
          </a:xfrm>
          <a:prstGeom prst="rect">
            <a:avLst/>
          </a:prstGeom>
          <a:noFill/>
        </p:spPr>
        <p:txBody>
          <a:bodyPr wrap="square">
            <a:spAutoFit/>
          </a:bodyPr>
          <a:lstStyle/>
          <a:p>
            <a:pPr marL="180000" indent="-180000">
              <a:buClr>
                <a:schemeClr val="tx2"/>
              </a:buClr>
              <a:buSzPct val="100000"/>
              <a:buFont typeface="游ゴシック" panose="020B0400000000000000" pitchFamily="50" charset="-128"/>
              <a:buChar char="▌"/>
            </a:pPr>
            <a:r>
              <a:rPr lang="ja-JP" altLang="en-US" sz="1800" b="1" spc="50" dirty="0">
                <a:solidFill>
                  <a:schemeClr val="tx1"/>
                </a:solidFill>
                <a:latin typeface="+mj-ea"/>
                <a:ea typeface="+mj-ea"/>
              </a:rPr>
              <a:t>想定株式価値</a:t>
            </a:r>
            <a:endParaRPr lang="en-US" altLang="ja-JP" sz="1800" b="1" spc="50" dirty="0">
              <a:solidFill>
                <a:schemeClr val="tx1"/>
              </a:solidFill>
              <a:latin typeface="+mj-ea"/>
              <a:ea typeface="+mj-ea"/>
            </a:endParaRPr>
          </a:p>
        </p:txBody>
      </p:sp>
      <p:graphicFrame>
        <p:nvGraphicFramePr>
          <p:cNvPr id="3" name="表 2">
            <a:extLst>
              <a:ext uri="{FF2B5EF4-FFF2-40B4-BE49-F238E27FC236}">
                <a16:creationId xmlns:a16="http://schemas.microsoft.com/office/drawing/2014/main" id="{8A126530-37D4-6AF5-7794-72ABEBEE1EB3}"/>
              </a:ext>
            </a:extLst>
          </p:cNvPr>
          <p:cNvGraphicFramePr>
            <a:graphicFrameLocks noGrp="1"/>
          </p:cNvGraphicFramePr>
          <p:nvPr>
            <p:extLst>
              <p:ext uri="{D42A27DB-BD31-4B8C-83A1-F6EECF244321}">
                <p14:modId xmlns:p14="http://schemas.microsoft.com/office/powerpoint/2010/main" val="1231990711"/>
              </p:ext>
            </p:extLst>
          </p:nvPr>
        </p:nvGraphicFramePr>
        <p:xfrm>
          <a:off x="449263" y="1235299"/>
          <a:ext cx="2844800" cy="1469399"/>
        </p:xfrm>
        <a:graphic>
          <a:graphicData uri="http://schemas.openxmlformats.org/drawingml/2006/table">
            <a:tbl>
              <a:tblPr/>
              <a:tblGrid>
                <a:gridCol w="1422400">
                  <a:extLst>
                    <a:ext uri="{9D8B030D-6E8A-4147-A177-3AD203B41FA5}">
                      <a16:colId xmlns:a16="http://schemas.microsoft.com/office/drawing/2014/main" val="4154839348"/>
                    </a:ext>
                  </a:extLst>
                </a:gridCol>
                <a:gridCol w="1422400">
                  <a:extLst>
                    <a:ext uri="{9D8B030D-6E8A-4147-A177-3AD203B41FA5}">
                      <a16:colId xmlns:a16="http://schemas.microsoft.com/office/drawing/2014/main" val="1518282052"/>
                    </a:ext>
                  </a:extLst>
                </a:gridCol>
              </a:tblGrid>
              <a:tr h="194694">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4113578342"/>
                  </a:ext>
                </a:extLst>
              </a:tr>
              <a:tr h="239582">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金額</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2485926093"/>
                  </a:ext>
                </a:extLst>
              </a:tr>
              <a:tr h="34504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キャッシュライク</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10,140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496348683"/>
                  </a:ext>
                </a:extLst>
              </a:tr>
              <a:tr h="34504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デットライク</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199,666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381696707"/>
                  </a:ext>
                </a:extLst>
              </a:tr>
              <a:tr h="345041">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189,526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3021430556"/>
                  </a:ext>
                </a:extLst>
              </a:tr>
            </a:tbl>
          </a:graphicData>
        </a:graphic>
      </p:graphicFrame>
      <p:graphicFrame>
        <p:nvGraphicFramePr>
          <p:cNvPr id="6" name="表 5">
            <a:extLst>
              <a:ext uri="{FF2B5EF4-FFF2-40B4-BE49-F238E27FC236}">
                <a16:creationId xmlns:a16="http://schemas.microsoft.com/office/drawing/2014/main" id="{F34E9297-9F72-FE62-05ED-8FD09732500F}"/>
              </a:ext>
            </a:extLst>
          </p:cNvPr>
          <p:cNvGraphicFramePr>
            <a:graphicFrameLocks noGrp="1"/>
          </p:cNvGraphicFramePr>
          <p:nvPr>
            <p:extLst>
              <p:ext uri="{D42A27DB-BD31-4B8C-83A1-F6EECF244321}">
                <p14:modId xmlns:p14="http://schemas.microsoft.com/office/powerpoint/2010/main" val="1381215500"/>
              </p:ext>
            </p:extLst>
          </p:nvPr>
        </p:nvGraphicFramePr>
        <p:xfrm>
          <a:off x="3913982" y="1233646"/>
          <a:ext cx="6146800" cy="2658808"/>
        </p:xfrm>
        <a:graphic>
          <a:graphicData uri="http://schemas.openxmlformats.org/drawingml/2006/table">
            <a:tbl>
              <a:tblPr/>
              <a:tblGrid>
                <a:gridCol w="1879600">
                  <a:extLst>
                    <a:ext uri="{9D8B030D-6E8A-4147-A177-3AD203B41FA5}">
                      <a16:colId xmlns:a16="http://schemas.microsoft.com/office/drawing/2014/main" val="1558861012"/>
                    </a:ext>
                  </a:extLst>
                </a:gridCol>
                <a:gridCol w="1422400">
                  <a:extLst>
                    <a:ext uri="{9D8B030D-6E8A-4147-A177-3AD203B41FA5}">
                      <a16:colId xmlns:a16="http://schemas.microsoft.com/office/drawing/2014/main" val="3037563323"/>
                    </a:ext>
                  </a:extLst>
                </a:gridCol>
                <a:gridCol w="1422400">
                  <a:extLst>
                    <a:ext uri="{9D8B030D-6E8A-4147-A177-3AD203B41FA5}">
                      <a16:colId xmlns:a16="http://schemas.microsoft.com/office/drawing/2014/main" val="3682607543"/>
                    </a:ext>
                  </a:extLst>
                </a:gridCol>
                <a:gridCol w="1422400">
                  <a:extLst>
                    <a:ext uri="{9D8B030D-6E8A-4147-A177-3AD203B41FA5}">
                      <a16:colId xmlns:a16="http://schemas.microsoft.com/office/drawing/2014/main" val="3399344130"/>
                    </a:ext>
                  </a:extLst>
                </a:gridCol>
              </a:tblGrid>
              <a:tr h="191977">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3721676150"/>
                  </a:ext>
                </a:extLst>
              </a:tr>
              <a:tr h="236239">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23年11月期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24年11月期</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25年11月期</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1121660963"/>
                  </a:ext>
                </a:extLst>
              </a:tr>
              <a:tr h="340227">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簿価営業利益</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2,341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3,022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 19,552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720822673"/>
                  </a:ext>
                </a:extLst>
              </a:tr>
              <a:tr h="340227">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修正額</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8,856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20,449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19,884</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1042059258"/>
                  </a:ext>
                </a:extLst>
              </a:tr>
              <a:tr h="340227">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修正後営業利益</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11,197</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23,471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332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1F3FB"/>
                    </a:solidFill>
                  </a:tcPr>
                </a:tc>
                <a:extLst>
                  <a:ext uri="{0D108BD9-81ED-4DB2-BD59-A6C34878D82A}">
                    <a16:rowId xmlns:a16="http://schemas.microsoft.com/office/drawing/2014/main" val="960213081"/>
                  </a:ext>
                </a:extLst>
              </a:tr>
              <a:tr h="340227">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減価償却費</a:t>
                      </a:r>
                    </a:p>
                  </a:txBody>
                  <a:tcPr marL="114300" marR="6350" marT="6350" marB="0" anchor="ctr">
                    <a:lnL>
                      <a:noFill/>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3,911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9,295</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6,349</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894677"/>
                  </a:ext>
                </a:extLst>
              </a:tr>
              <a:tr h="340227">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修正後EBITDA</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15,108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32,766</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6,681</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109080427"/>
                  </a:ext>
                </a:extLst>
              </a:tr>
              <a:tr h="189125">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加重</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20%</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50%</a:t>
                      </a:r>
                    </a:p>
                  </a:txBody>
                  <a:tcPr marL="6350" marR="6350" marT="6350" marB="0" anchor="ctr">
                    <a:lnL>
                      <a:noFill/>
                    </a:lnL>
                    <a:lnR>
                      <a:noFill/>
                    </a:lnR>
                    <a:lnT>
                      <a:noFill/>
                    </a:lnT>
                    <a:lnB w="1270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238653921"/>
                  </a:ext>
                </a:extLst>
              </a:tr>
              <a:tr h="340227">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a:noFill/>
                    </a:lnL>
                    <a:lnR w="6350" cap="flat" cmpd="sng" algn="ctr">
                      <a:solidFill>
                        <a:srgbClr val="FFFFFF"/>
                      </a:solidFill>
                      <a:prstDash val="solid"/>
                      <a:round/>
                      <a:headEnd type="none" w="med" len="med"/>
                      <a:tailEnd type="none" w="med" len="med"/>
                    </a:lnR>
                    <a:lnT>
                      <a:noFill/>
                    </a:lnT>
                    <a:lnB>
                      <a:noFill/>
                    </a:lnB>
                    <a:noFill/>
                  </a:tcPr>
                </a:tc>
                <a:tc>
                  <a:txBody>
                    <a:bodyPr/>
                    <a:lstStyle/>
                    <a:p>
                      <a:pPr algn="r"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基準EBITDA</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16,192</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B3041"/>
                      </a:solidFill>
                      <a:prstDash val="solid"/>
                      <a:round/>
                      <a:headEnd type="none" w="med" len="med"/>
                      <a:tailEnd type="none" w="med" len="med"/>
                    </a:lnT>
                    <a:lnB>
                      <a:noFill/>
                    </a:lnB>
                    <a:solidFill>
                      <a:srgbClr val="E1F2FB"/>
                    </a:solidFill>
                  </a:tcPr>
                </a:tc>
                <a:extLst>
                  <a:ext uri="{0D108BD9-81ED-4DB2-BD59-A6C34878D82A}">
                    <a16:rowId xmlns:a16="http://schemas.microsoft.com/office/drawing/2014/main" val="1474252318"/>
                  </a:ext>
                </a:extLst>
              </a:tr>
            </a:tbl>
          </a:graphicData>
        </a:graphic>
      </p:graphicFrame>
      <p:graphicFrame>
        <p:nvGraphicFramePr>
          <p:cNvPr id="12" name="表 11">
            <a:extLst>
              <a:ext uri="{FF2B5EF4-FFF2-40B4-BE49-F238E27FC236}">
                <a16:creationId xmlns:a16="http://schemas.microsoft.com/office/drawing/2014/main" id="{6DFB2588-8F9E-A429-43F8-41E53037BA71}"/>
              </a:ext>
            </a:extLst>
          </p:cNvPr>
          <p:cNvGraphicFramePr>
            <a:graphicFrameLocks noGrp="1"/>
          </p:cNvGraphicFramePr>
          <p:nvPr>
            <p:extLst>
              <p:ext uri="{D42A27DB-BD31-4B8C-83A1-F6EECF244321}">
                <p14:modId xmlns:p14="http://schemas.microsoft.com/office/powerpoint/2010/main" val="3294000059"/>
              </p:ext>
            </p:extLst>
          </p:nvPr>
        </p:nvGraphicFramePr>
        <p:xfrm>
          <a:off x="449263" y="4500752"/>
          <a:ext cx="6629400" cy="1725295"/>
        </p:xfrm>
        <a:graphic>
          <a:graphicData uri="http://schemas.openxmlformats.org/drawingml/2006/table">
            <a:tbl>
              <a:tblPr/>
              <a:tblGrid>
                <a:gridCol w="1981200">
                  <a:extLst>
                    <a:ext uri="{9D8B030D-6E8A-4147-A177-3AD203B41FA5}">
                      <a16:colId xmlns:a16="http://schemas.microsoft.com/office/drawing/2014/main" val="1941937149"/>
                    </a:ext>
                  </a:extLst>
                </a:gridCol>
                <a:gridCol w="1549400">
                  <a:extLst>
                    <a:ext uri="{9D8B030D-6E8A-4147-A177-3AD203B41FA5}">
                      <a16:colId xmlns:a16="http://schemas.microsoft.com/office/drawing/2014/main" val="1340086446"/>
                    </a:ext>
                  </a:extLst>
                </a:gridCol>
                <a:gridCol w="1549400">
                  <a:extLst>
                    <a:ext uri="{9D8B030D-6E8A-4147-A177-3AD203B41FA5}">
                      <a16:colId xmlns:a16="http://schemas.microsoft.com/office/drawing/2014/main" val="2591736233"/>
                    </a:ext>
                  </a:extLst>
                </a:gridCol>
                <a:gridCol w="1549400">
                  <a:extLst>
                    <a:ext uri="{9D8B030D-6E8A-4147-A177-3AD203B41FA5}">
                      <a16:colId xmlns:a16="http://schemas.microsoft.com/office/drawing/2014/main" val="3538215636"/>
                    </a:ext>
                  </a:extLst>
                </a:gridCol>
              </a:tblGrid>
              <a:tr h="228600">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　</a:t>
                      </a:r>
                    </a:p>
                  </a:txBody>
                  <a:tcPr marL="6350" marR="6350" marT="6350" marB="0" anchor="ctr">
                    <a:lnL>
                      <a:noFill/>
                    </a:lnL>
                    <a:lnR>
                      <a:noFill/>
                    </a:lnR>
                    <a:lnT>
                      <a:noFill/>
                    </a:lnT>
                    <a:lnB>
                      <a:noFill/>
                    </a:lnB>
                    <a:noFill/>
                  </a:tcPr>
                </a:tc>
                <a:tc>
                  <a:txBody>
                    <a:bodyPr/>
                    <a:lstStyle/>
                    <a:p>
                      <a:pPr algn="r"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(単位：千円)</a:t>
                      </a:r>
                    </a:p>
                  </a:txBody>
                  <a:tcPr marL="6350" marR="6350" marT="6350" marB="0" anchor="ctr">
                    <a:lnL>
                      <a:noFill/>
                    </a:lnL>
                    <a:lnR>
                      <a:noFill/>
                    </a:lnR>
                    <a:lnT>
                      <a:noFill/>
                    </a:lnT>
                    <a:lnB>
                      <a:noFill/>
                    </a:lnB>
                    <a:noFill/>
                  </a:tcPr>
                </a:tc>
                <a:extLst>
                  <a:ext uri="{0D108BD9-81ED-4DB2-BD59-A6C34878D82A}">
                    <a16:rowId xmlns:a16="http://schemas.microsoft.com/office/drawing/2014/main" val="2258571200"/>
                  </a:ext>
                </a:extLst>
              </a:tr>
              <a:tr h="281305">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マルチプル倍率</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x3</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x4</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tc>
                  <a:txBody>
                    <a:bodyPr/>
                    <a:lstStyle/>
                    <a:p>
                      <a:pPr algn="ctr" fontAlgn="ctr">
                        <a:buNone/>
                      </a:pPr>
                      <a:r>
                        <a:rPr lang="ja-JP" sz="900" b="1" i="0" u="none" strike="noStrike">
                          <a:solidFill>
                            <a:srgbClr val="FFFFFF"/>
                          </a:solidFill>
                          <a:effectLst/>
                          <a:latin typeface="游ゴシック" panose="020B0400000000000000" pitchFamily="50" charset="-128"/>
                          <a:ea typeface="游ゴシック" panose="020B0400000000000000" pitchFamily="50" charset="-128"/>
                        </a:rPr>
                        <a:t>x5</a:t>
                      </a:r>
                    </a:p>
                  </a:txBody>
                  <a:tcPr marL="6350" marR="6350" marT="6350" marB="0" anchor="ctr">
                    <a:lnL w="635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6350" cap="flat" cmpd="sng" algn="ctr">
                      <a:solidFill>
                        <a:srgbClr val="A6A6A6"/>
                      </a:solidFill>
                      <a:prstDash val="solid"/>
                      <a:round/>
                      <a:headEnd type="none" w="med" len="med"/>
                      <a:tailEnd type="none" w="med" len="med"/>
                    </a:lnB>
                    <a:solidFill>
                      <a:srgbClr val="0B3041"/>
                    </a:solidFill>
                  </a:tcPr>
                </a:tc>
                <a:extLst>
                  <a:ext uri="{0D108BD9-81ED-4DB2-BD59-A6C34878D82A}">
                    <a16:rowId xmlns:a16="http://schemas.microsoft.com/office/drawing/2014/main" val="3277249613"/>
                  </a:ext>
                </a:extLst>
              </a:tr>
              <a:tr h="40513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EV（EBITDA×倍率）</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48,576</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64,768</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r" fontAlgn="ctr">
                        <a:buNone/>
                      </a:pPr>
                      <a:r>
                        <a:rPr lang="ja-JP" sz="900" b="0" i="0" u="none" strike="noStrike">
                          <a:solidFill>
                            <a:srgbClr val="000000"/>
                          </a:solidFill>
                          <a:effectLst/>
                          <a:latin typeface="Arial" panose="020B0604020202020204" pitchFamily="34" charset="0"/>
                          <a:ea typeface="游ゴシック Medium" panose="020B0500000000000000" pitchFamily="50" charset="-128"/>
                        </a:rPr>
                        <a:t>80,960</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2153197380"/>
                  </a:ext>
                </a:extLst>
              </a:tr>
              <a:tr h="405130">
                <a:tc>
                  <a:txBody>
                    <a:bodyPr/>
                    <a:lstStyle/>
                    <a:p>
                      <a:pPr algn="l" fontAlgn="ctr">
                        <a:buNone/>
                      </a:pPr>
                      <a:r>
                        <a:rPr lang="ja-JP" sz="900" b="0" i="0" u="none" strike="noStrike">
                          <a:solidFill>
                            <a:srgbClr val="000000"/>
                          </a:solidFill>
                          <a:effectLst/>
                          <a:latin typeface="游ゴシック" panose="020B0400000000000000" pitchFamily="50" charset="-128"/>
                          <a:ea typeface="游ゴシック" panose="020B0400000000000000" pitchFamily="50" charset="-128"/>
                        </a:rPr>
                        <a:t>ネットキャッシュ</a:t>
                      </a:r>
                    </a:p>
                  </a:txBody>
                  <a:tcPr marL="11430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3E7E9"/>
                    </a:solidFill>
                  </a:tcPr>
                </a:tc>
                <a:tc gridSpan="3">
                  <a:txBody>
                    <a:bodyPr/>
                    <a:lstStyle/>
                    <a:p>
                      <a:pPr algn="ctr" fontAlgn="ctr">
                        <a:buNone/>
                      </a:pPr>
                      <a:r>
                        <a:rPr lang="ja-JP" sz="900" b="0" i="0" u="none" strike="noStrike" dirty="0">
                          <a:solidFill>
                            <a:srgbClr val="000000"/>
                          </a:solidFill>
                          <a:effectLst/>
                          <a:latin typeface="Arial" panose="020B0604020202020204" pitchFamily="34" charset="0"/>
                          <a:ea typeface="游ゴシック Medium" panose="020B0500000000000000" pitchFamily="50" charset="-128"/>
                        </a:rPr>
                        <a:t>△ 189,526</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tc hMerge="1">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a:t>
                      </a:r>
                    </a:p>
                  </a:txBody>
                  <a:tcPr marL="6350" marR="635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12700" cap="flat" cmpd="sng" algn="ctr">
                      <a:solidFill>
                        <a:srgbClr val="0889C9"/>
                      </a:solidFill>
                      <a:prstDash val="solid"/>
                      <a:round/>
                      <a:headEnd type="none" w="med" len="med"/>
                      <a:tailEnd type="none" w="med" len="med"/>
                    </a:lnB>
                    <a:noFill/>
                  </a:tcPr>
                </a:tc>
                <a:extLst>
                  <a:ext uri="{0D108BD9-81ED-4DB2-BD59-A6C34878D82A}">
                    <a16:rowId xmlns:a16="http://schemas.microsoft.com/office/drawing/2014/main" val="3209892949"/>
                  </a:ext>
                </a:extLst>
              </a:tr>
              <a:tr h="405130">
                <a:tc>
                  <a:txBody>
                    <a:bodyPr/>
                    <a:lstStyle/>
                    <a:p>
                      <a:pPr algn="l" fontAlgn="ctr">
                        <a:buNone/>
                      </a:pPr>
                      <a:r>
                        <a:rPr lang="ja-JP" sz="900" b="1" i="0" u="none" strike="noStrike">
                          <a:solidFill>
                            <a:srgbClr val="000000"/>
                          </a:solidFill>
                          <a:effectLst/>
                          <a:latin typeface="游ゴシック" panose="020B0400000000000000" pitchFamily="50" charset="-128"/>
                          <a:ea typeface="游ゴシック" panose="020B0400000000000000" pitchFamily="50" charset="-128"/>
                        </a:rPr>
                        <a:t>想定株式価値</a:t>
                      </a:r>
                    </a:p>
                  </a:txBody>
                  <a:tcPr marL="114300" marR="6350" marT="6350" marB="0" anchor="ctr">
                    <a:lnL w="12700" cap="flat" cmpd="sng" algn="ctr">
                      <a:solidFill>
                        <a:srgbClr val="0889C9"/>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140,950</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a:solidFill>
                            <a:srgbClr val="000000"/>
                          </a:solidFill>
                          <a:effectLst/>
                          <a:latin typeface="Arial" panose="020B0604020202020204" pitchFamily="34" charset="0"/>
                          <a:ea typeface="游ゴシック Medium" panose="020B0500000000000000" pitchFamily="50" charset="-128"/>
                        </a:rPr>
                        <a:t>△ 124,758</a:t>
                      </a:r>
                    </a:p>
                  </a:txBody>
                  <a:tcPr marL="6350" marR="114300" marT="635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tc>
                  <a:txBody>
                    <a:bodyPr/>
                    <a:lstStyle/>
                    <a:p>
                      <a:pPr algn="r" fontAlgn="ctr">
                        <a:buNone/>
                      </a:pPr>
                      <a:r>
                        <a:rPr lang="ja-JP" sz="900" b="1" i="0" u="none" strike="noStrike" dirty="0">
                          <a:solidFill>
                            <a:srgbClr val="000000"/>
                          </a:solidFill>
                          <a:effectLst/>
                          <a:latin typeface="Arial" panose="020B0604020202020204" pitchFamily="34" charset="0"/>
                          <a:ea typeface="游ゴシック Medium" panose="020B0500000000000000" pitchFamily="50" charset="-128"/>
                        </a:rPr>
                        <a:t>△ 108,566</a:t>
                      </a:r>
                    </a:p>
                  </a:txBody>
                  <a:tcPr marL="6350" marR="114300" marT="6350" marB="0" anchor="ctr">
                    <a:lnL w="6350" cap="flat" cmpd="sng" algn="ctr">
                      <a:solidFill>
                        <a:srgbClr val="FFFFFF"/>
                      </a:solidFill>
                      <a:prstDash val="solid"/>
                      <a:round/>
                      <a:headEnd type="none" w="med" len="med"/>
                      <a:tailEnd type="none" w="med" len="med"/>
                    </a:lnL>
                    <a:lnR w="12700" cap="flat" cmpd="sng" algn="ctr">
                      <a:solidFill>
                        <a:srgbClr val="0889C9"/>
                      </a:solidFill>
                      <a:prstDash val="solid"/>
                      <a:round/>
                      <a:headEnd type="none" w="med" len="med"/>
                      <a:tailEnd type="none" w="med" len="med"/>
                    </a:lnR>
                    <a:lnT w="12700" cap="flat" cmpd="sng" algn="ctr">
                      <a:solidFill>
                        <a:srgbClr val="0889C9"/>
                      </a:solidFill>
                      <a:prstDash val="solid"/>
                      <a:round/>
                      <a:headEnd type="none" w="med" len="med"/>
                      <a:tailEnd type="none" w="med" len="med"/>
                    </a:lnT>
                    <a:lnB w="12700" cap="flat" cmpd="sng" algn="ctr">
                      <a:solidFill>
                        <a:srgbClr val="0889C9"/>
                      </a:solidFill>
                      <a:prstDash val="solid"/>
                      <a:round/>
                      <a:headEnd type="none" w="med" len="med"/>
                      <a:tailEnd type="none" w="med" len="med"/>
                    </a:lnB>
                    <a:solidFill>
                      <a:srgbClr val="E1F3FB"/>
                    </a:solidFill>
                  </a:tcPr>
                </a:tc>
                <a:extLst>
                  <a:ext uri="{0D108BD9-81ED-4DB2-BD59-A6C34878D82A}">
                    <a16:rowId xmlns:a16="http://schemas.microsoft.com/office/drawing/2014/main" val="1003812435"/>
                  </a:ext>
                </a:extLst>
              </a:tr>
            </a:tbl>
          </a:graphicData>
        </a:graphic>
      </p:graphicFrame>
    </p:spTree>
    <p:extLst>
      <p:ext uri="{BB962C8B-B14F-4D97-AF65-F5344CB8AC3E}">
        <p14:creationId xmlns:p14="http://schemas.microsoft.com/office/powerpoint/2010/main" val="966812129"/>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タイトル 8">
            <a:extLst>
              <a:ext uri="{FF2B5EF4-FFF2-40B4-BE49-F238E27FC236}">
                <a16:creationId xmlns:a16="http://schemas.microsoft.com/office/drawing/2014/main" id="{A036D2C3-829F-152F-B36D-269CA777FA94}"/>
              </a:ext>
            </a:extLst>
          </p:cNvPr>
          <p:cNvSpPr>
            <a:spLocks noGrp="1"/>
          </p:cNvSpPr>
          <p:nvPr>
            <p:ph type="ctrTitle"/>
          </p:nvPr>
        </p:nvSpPr>
        <p:spPr>
          <a:xfrm>
            <a:off x="341313" y="180653"/>
            <a:ext cx="7799917" cy="338554"/>
          </a:xfrm>
        </p:spPr>
        <p:txBody>
          <a:bodyPr/>
          <a:lstStyle/>
          <a:p>
            <a:r>
              <a:rPr lang="ja-JP" altLang="en-US" dirty="0"/>
              <a:t>評価の前提と追加調整の可能性</a:t>
            </a:r>
          </a:p>
        </p:txBody>
      </p:sp>
      <p:sp>
        <p:nvSpPr>
          <p:cNvPr id="6" name="タイトル 1">
            <a:extLst>
              <a:ext uri="{FF2B5EF4-FFF2-40B4-BE49-F238E27FC236}">
                <a16:creationId xmlns:a16="http://schemas.microsoft.com/office/drawing/2014/main" id="{4F526834-D427-A9AE-A56D-41DDC6EB745F}"/>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en-US" altLang="ja-JP" spc="0" dirty="0"/>
              <a:t>3. Valuation Details </a:t>
            </a:r>
            <a:endParaRPr lang="ja-JP" altLang="en-US" spc="0" dirty="0"/>
          </a:p>
        </p:txBody>
      </p:sp>
      <p:sp>
        <p:nvSpPr>
          <p:cNvPr id="16" name="正方形/長方形 15">
            <a:extLst>
              <a:ext uri="{FF2B5EF4-FFF2-40B4-BE49-F238E27FC236}">
                <a16:creationId xmlns:a16="http://schemas.microsoft.com/office/drawing/2014/main" id="{3696325D-3E2F-3184-13FD-527C337FC5DA}"/>
              </a:ext>
            </a:extLst>
          </p:cNvPr>
          <p:cNvSpPr/>
          <p:nvPr/>
        </p:nvSpPr>
        <p:spPr>
          <a:xfrm>
            <a:off x="449263" y="900484"/>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影響の方向｜＋＝株式価値の上振れ要因／△＝下振れ要因</a:t>
            </a:r>
          </a:p>
        </p:txBody>
      </p:sp>
      <p:graphicFrame>
        <p:nvGraphicFramePr>
          <p:cNvPr id="3" name="表 2">
            <a:extLst>
              <a:ext uri="{FF2B5EF4-FFF2-40B4-BE49-F238E27FC236}">
                <a16:creationId xmlns:a16="http://schemas.microsoft.com/office/drawing/2014/main" id="{26964AD7-83FC-660F-44A4-ED1569661D4E}"/>
              </a:ext>
            </a:extLst>
          </p:cNvPr>
          <p:cNvGraphicFramePr>
            <a:graphicFrameLocks noGrp="1"/>
          </p:cNvGraphicFramePr>
          <p:nvPr>
            <p:extLst>
              <p:ext uri="{D42A27DB-BD31-4B8C-83A1-F6EECF244321}">
                <p14:modId xmlns:p14="http://schemas.microsoft.com/office/powerpoint/2010/main" val="1988082998"/>
              </p:ext>
            </p:extLst>
          </p:nvPr>
        </p:nvGraphicFramePr>
        <p:xfrm>
          <a:off x="341312" y="1234440"/>
          <a:ext cx="10012680" cy="4297680"/>
        </p:xfrm>
        <a:graphic>
          <a:graphicData uri="http://schemas.openxmlformats.org/drawingml/2006/table">
            <a:tbl>
              <a:tblPr/>
              <a:tblGrid>
                <a:gridCol w="1097280">
                  <a:extLst>
                    <a:ext uri="{9D8B030D-6E8A-4147-A177-3AD203B41FA5}">
                      <a16:colId xmlns:a16="http://schemas.microsoft.com/office/drawing/2014/main" val="3106683751"/>
                    </a:ext>
                  </a:extLst>
                </a:gridCol>
                <a:gridCol w="3840480">
                  <a:extLst>
                    <a:ext uri="{9D8B030D-6E8A-4147-A177-3AD203B41FA5}">
                      <a16:colId xmlns:a16="http://schemas.microsoft.com/office/drawing/2014/main" val="2671250943"/>
                    </a:ext>
                  </a:extLst>
                </a:gridCol>
                <a:gridCol w="640080">
                  <a:extLst>
                    <a:ext uri="{9D8B030D-6E8A-4147-A177-3AD203B41FA5}">
                      <a16:colId xmlns:a16="http://schemas.microsoft.com/office/drawing/2014/main" val="2725420420"/>
                    </a:ext>
                  </a:extLst>
                </a:gridCol>
                <a:gridCol w="4434840">
                  <a:extLst>
                    <a:ext uri="{9D8B030D-6E8A-4147-A177-3AD203B41FA5}">
                      <a16:colId xmlns:a16="http://schemas.microsoft.com/office/drawing/2014/main" val="530707860"/>
                    </a:ext>
                  </a:extLst>
                </a:gridCol>
              </a:tblGrid>
              <a:tr h="274320">
                <a:tc>
                  <a:txBody>
                    <a:bodyPr/>
                    <a:lstStyle/>
                    <a:p>
                      <a:pPr algn="ctr" fontAlgn="ctr">
                        <a:buNone/>
                      </a:pPr>
                      <a:r>
                        <a:rPr lang="ja-JP" sz="85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50" b="1" i="0" u="none" strike="noStrike">
                          <a:solidFill>
                            <a:srgbClr val="FFFFFF"/>
                          </a:solidFill>
                          <a:effectLst/>
                          <a:latin typeface="Arial" panose="020B0604020202020204" pitchFamily="34" charset="0"/>
                          <a:ea typeface="游ゴシック Medium" panose="020B0500000000000000" pitchFamily="50" charset="-128"/>
                        </a:rPr>
                        <a:t>確認を要する事項</a:t>
                      </a:r>
                    </a:p>
                  </a:txBody>
                  <a:tcPr marL="54864" marR="36576" marT="4895" marB="0" anchor="ctr">
                    <a:lnL>
                      <a:noFill/>
                    </a:lnL>
                    <a:lnR>
                      <a:noFill/>
                    </a:lnR>
                    <a:lnT>
                      <a:noFill/>
                    </a:lnT>
                    <a:lnB>
                      <a:noFill/>
                    </a:lnB>
                    <a:solidFill>
                      <a:srgbClr val="0B3041"/>
                    </a:solidFill>
                  </a:tcPr>
                </a:tc>
                <a:tc>
                  <a:txBody>
                    <a:bodyPr/>
                    <a:lstStyle/>
                    <a:p>
                      <a:pPr algn="ctr" fontAlgn="ctr">
                        <a:buNone/>
                      </a:pPr>
                      <a:r>
                        <a:rPr lang="ja-JP" sz="850" b="1" i="0" u="none" strike="noStrike">
                          <a:solidFill>
                            <a:srgbClr val="FFFFFF"/>
                          </a:solidFill>
                          <a:effectLst/>
                          <a:latin typeface="Arial" panose="020B0604020202020204" pitchFamily="34" charset="0"/>
                          <a:ea typeface="游ゴシック Medium" panose="020B0500000000000000" pitchFamily="50" charset="-128"/>
                        </a:rPr>
                        <a:t>方向</a:t>
                      </a:r>
                    </a:p>
                  </a:txBody>
                  <a:tcPr marL="4895" marR="4895" marT="4895" marB="0" anchor="ctr">
                    <a:lnL>
                      <a:noFill/>
                    </a:lnL>
                    <a:lnR>
                      <a:noFill/>
                    </a:lnR>
                    <a:lnT>
                      <a:noFill/>
                    </a:lnT>
                    <a:lnB>
                      <a:noFill/>
                    </a:lnB>
                    <a:solidFill>
                      <a:srgbClr val="0B3041"/>
                    </a:solidFill>
                  </a:tcPr>
                </a:tc>
                <a:tc>
                  <a:txBody>
                    <a:bodyPr/>
                    <a:lstStyle/>
                    <a:p>
                      <a:pPr algn="ctr" fontAlgn="ctr">
                        <a:buNone/>
                      </a:pPr>
                      <a:r>
                        <a:rPr lang="ja-JP" sz="850" b="1" i="0" u="none" strike="noStrike">
                          <a:solidFill>
                            <a:srgbClr val="FFFFFF"/>
                          </a:solidFill>
                          <a:effectLst/>
                          <a:latin typeface="Arial" panose="020B0604020202020204" pitchFamily="34" charset="0"/>
                          <a:ea typeface="游ゴシック Medium" panose="020B0500000000000000" pitchFamily="50" charset="-128"/>
                        </a:rPr>
                        <a:t>評価への影響</a:t>
                      </a:r>
                    </a:p>
                  </a:txBody>
                  <a:tcPr marL="109728" marR="36576" marT="4895" marB="0" anchor="ctr">
                    <a:lnL>
                      <a:noFill/>
                    </a:lnL>
                    <a:lnR>
                      <a:noFill/>
                    </a:lnR>
                    <a:lnT>
                      <a:noFill/>
                    </a:lnT>
                    <a:lnB>
                      <a:noFill/>
                    </a:lnB>
                    <a:solidFill>
                      <a:srgbClr val="0B3041"/>
                    </a:solidFill>
                  </a:tcPr>
                </a:tc>
                <a:extLst>
                  <a:ext uri="{0D108BD9-81ED-4DB2-BD59-A6C34878D82A}">
                    <a16:rowId xmlns:a16="http://schemas.microsoft.com/office/drawing/2014/main" val="1991418216"/>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棚卸資産</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外部保管在庫10,000千円の実在性</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実在しない場合、時価純資産が同額だけ下振れする</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未払費用</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11月分給与（当月締・翌月25日払）が未払計上されているか</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未計上であれば社会保険料概算15%を含め約10,000千円超の追加計上が必要</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引当金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賞与・退職金・役員退職慰労金の各規程の有無と要支給額</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規程がある場合、要支給額を引当計上するため時価純資産が下振れする</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原状回復</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撤退2店舗の原状回復費用・違約金、稼働6店舗の資産除去債務</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発生額を負債計上するため時価純資産が下振れする</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差入保証金</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賃貸借契約書の償却条項・契約解除時の返還額（基準日残高27,371千円）</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償却条項がある場合、返還額まで評価減が必要</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長期前払費用</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内訳（信用保証料等の前払かどうか／基準日残高1,712千円）</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換金価値が認められない場合は全額評価減</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土地・車両</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駐車場用地の路線価、事業用車両3台の査定額</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時価が簿価を上回る場合は時価純資産が上振れする</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税効果</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将来の課税所得の見通し</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回収可能性が認められる場合、評価差額の34%相当（約16,031千円）だけ時価純資産が上振れする</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正常収益力</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進行期（2026年11月期）の着地。減価償却費・法定福利費の通期見込み</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撤退効果が通期で発現すれば正常収益力は回復する（P.8の感応度分析を参照）</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r h="402336">
                <a:tc>
                  <a:txBody>
                    <a:bodyPr/>
                    <a:lstStyle/>
                    <a:p>
                      <a:pPr algn="l" fontAlgn="ctr">
                        <a:buNone/>
                      </a:pPr>
                      <a:r>
                        <a:rPr lang="ja-JP" sz="850" b="0" i="0" u="none" strike="noStrike">
                          <a:solidFill>
                            <a:srgbClr val="000000"/>
                          </a:solidFill>
                          <a:effectLst/>
                          <a:latin typeface="游ゴシック" panose="020B0400000000000000" pitchFamily="50" charset="-128"/>
                          <a:ea typeface="游ゴシック" panose="020B0400000000000000" pitchFamily="50" charset="-128"/>
                        </a:rPr>
                        <a:t>正常収益力</a:t>
                      </a:r>
                    </a:p>
                  </a:txBody>
                  <a:tcPr marL="88106"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solidFill>
                      <a:srgbClr val="E3E7E9"/>
                    </a:solid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共通部門に残る本社仕入40,994千円・外注費5,610千円の店舗への配賦</a:t>
                      </a:r>
                    </a:p>
                  </a:txBody>
                  <a:tcPr marL="54864"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ctr"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a:t>
                      </a:r>
                    </a:p>
                  </a:txBody>
                  <a:tcPr marL="4895" marR="4895"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tc>
                  <a:txBody>
                    <a:bodyPr/>
                    <a:lstStyle/>
                    <a:p>
                      <a:pPr algn="l" fontAlgn="ctr">
                        <a:buNone/>
                      </a:pPr>
                      <a:r>
                        <a:rPr lang="ja-JP" sz="850" b="0" i="0" u="none" strike="noStrike">
                          <a:solidFill>
                            <a:srgbClr val="000000"/>
                          </a:solidFill>
                          <a:effectLst/>
                          <a:latin typeface="Arial" panose="020B0604020202020204" pitchFamily="34" charset="0"/>
                          <a:ea typeface="游ゴシック Medium" panose="020B0500000000000000" pitchFamily="50" charset="-128"/>
                        </a:rPr>
                        <a:t>店舗別の収益性評価に影響する。全社の正常収益力の水準は変わらない</a:t>
                      </a:r>
                    </a:p>
                  </a:txBody>
                  <a:tcPr marL="109728" marR="36576" marT="4895"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B3041"/>
                      </a:solidFill>
                      <a:prstDash val="solid"/>
                      <a:round/>
                      <a:headEnd type="none" w="med" len="med"/>
                      <a:tailEnd type="none" w="med" len="med"/>
                    </a:lnT>
                    <a:lnB w="6350" cap="flat" cmpd="sng" algn="ctr">
                      <a:solidFill>
                        <a:srgbClr val="0B3041"/>
                      </a:solidFill>
                      <a:prstDash val="solid"/>
                      <a:round/>
                      <a:headEnd type="none" w="med" len="med"/>
                      <a:tailEnd type="none" w="med" len="med"/>
                    </a:lnB>
                    <a:noFill/>
                  </a:tcPr>
                </a:tc>
                <a:extLst>
                  <a:ext uri="{0D108BD9-81ED-4DB2-BD59-A6C34878D82A}">
                    <a16:rowId xmlns:a16="http://schemas.microsoft.com/office/drawing/2014/main" val="3463963275"/>
                  </a:ext>
                </a:extLst>
              </a:tr>
            </a:tbl>
          </a:graphicData>
        </a:graphic>
      </p:graphicFrame>
      <p:sp>
        <p:nvSpPr>
          <p:cNvPr id="17" name="TextBox 16"/>
          <p:cNvSpPr txBox="1"/>
          <p:nvPr/>
        </p:nvSpPr>
        <p:spPr>
          <a:xfrm>
            <a:off x="338328" y="5989320"/>
            <a:ext cx="10012680" cy="914400"/>
          </a:xfrm>
          <a:prstGeom prst="rect">
            <a:avLst/>
          </a:prstGeom>
          <a:noFill/>
        </p:spPr>
        <p:txBody>
          <a:bodyPr wrap="square">
            <a:spAutoFit/>
          </a:bodyPr>
          <a:lstStyle/>
          <a:p>
            <a:r>
              <a:rPr sz="850" b="1">
                <a:latin typeface="游ゴシック"/>
              </a:rPr>
              <a:t>【本評価書の位置づけ】</a:t>
            </a:r>
          </a:p>
          <a:p>
            <a:r>
              <a:rPr sz="850" b="0">
                <a:latin typeface="游ゴシック Medium"/>
              </a:rPr>
              <a:t>・本評価書に示す想定株式価値は、記載の評価基準日および前提条件のもとでの試算値であり、実際の譲渡価格を保証するものではない。</a:t>
            </a:r>
          </a:p>
          <a:p>
            <a:r>
              <a:rPr sz="850" b="0">
                <a:latin typeface="游ゴシック Medium"/>
              </a:rPr>
              <a:t>・いずれの手法でも想定株式価値はマイナスとなる。実務上は株式価値を備忘的な水準（ゼロ近傍）と置いたうえで、代表者の連帯保証（長期借入金191,858千円）の解除および役員借入金7,566千円の返済を譲渡条件の中心に据える整理が現実的である。</a:t>
            </a:r>
          </a:p>
          <a:p>
            <a:r>
              <a:rPr sz="850" b="0">
                <a:latin typeface="游ゴシック Medium"/>
              </a:rPr>
              <a:t>・一方、正常収益力（基準営業利益6,235千円・基準EBITDA16,192千円）自体は確保されており、不採算2店舗の撤退効果が通期で発現すれば評価は改善する。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6772</TotalTime>
  <Words>4921</Words>
  <Application>Microsoft Office PowerPoint</Application>
  <PresentationFormat>ユーザー設定</PresentationFormat>
  <Paragraphs>2031</Paragraphs>
  <Slides>23</Slides>
  <Notes>8</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23</vt:i4>
      </vt:variant>
    </vt:vector>
  </HeadingPairs>
  <TitlesOfParts>
    <vt:vector size="29" baseType="lpstr">
      <vt:lpstr>Meiryo UI</vt:lpstr>
      <vt:lpstr>游ゴシック</vt:lpstr>
      <vt:lpstr>游ゴシック Medium</vt:lpstr>
      <vt:lpstr>Arial</vt:lpstr>
      <vt:lpstr>Wingdings</vt:lpstr>
      <vt:lpstr>SL_2026</vt:lpstr>
      <vt:lpstr>Valuation Report</vt:lpstr>
      <vt:lpstr>はじめに</vt:lpstr>
      <vt:lpstr>株価評価にあたっての注意点</vt:lpstr>
      <vt:lpstr>PowerPoint プレゼンテーション</vt:lpstr>
      <vt:lpstr>Valuation Summary ／ 試算結果</vt:lpstr>
      <vt:lpstr>採用するアプローチの選定</vt:lpstr>
      <vt:lpstr>株式価値の試算結果</vt:lpstr>
      <vt:lpstr>Financial Analysis ／ 財務情報の分析（B/S）</vt:lpstr>
      <vt:lpstr>過去BSの推移</vt:lpstr>
      <vt:lpstr>BS補足［資産］</vt:lpstr>
      <vt:lpstr>修正内容詳細①［土地］</vt:lpstr>
      <vt:lpstr>修正BS［資産］</vt:lpstr>
      <vt:lpstr>BS補足［負債・純資産］</vt:lpstr>
      <vt:lpstr>修正BS［負債・純資産］</vt:lpstr>
      <vt:lpstr>ネットキャッシュの算定</vt:lpstr>
      <vt:lpstr>Financial Analysis ／ 財務情報の分析（P/L）</vt:lpstr>
      <vt:lpstr>過去PLの推移</vt:lpstr>
      <vt:lpstr>販管費及び一般管理費の修正</vt:lpstr>
      <vt:lpstr>修正PLの算定［正常収益力の集計］</vt:lpstr>
      <vt:lpstr>Valuation Details ／ 株式価値の試算</vt:lpstr>
      <vt:lpstr>年買法（コストアプローチ）による算出</vt:lpstr>
      <vt:lpstr>EV/EBITDAマルチプル法（マーケットアプローチ）による算出</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堀 茉莉</dc:creator>
  <cp:lastModifiedBy>田垣内 啓介</cp:lastModifiedBy>
  <cp:revision>122</cp:revision>
  <cp:lastPrinted>2026-03-05T06:58:20Z</cp:lastPrinted>
  <dcterms:created xsi:type="dcterms:W3CDTF">2025-11-26T06:32:54Z</dcterms:created>
  <dcterms:modified xsi:type="dcterms:W3CDTF">2026-07-07T23:28:37Z</dcterms:modified>
</cp:coreProperties>
</file>