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6.svg" ContentType="image/svg+xml"/>
  <Override PartName="/ppt/media/image7.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65"/>
  </p:notesMasterIdLst>
  <p:sldIdLst>
    <p:sldId id="770" r:id="rId2"/>
    <p:sldId id="269" r:id="rId3"/>
    <p:sldId id="788" r:id="rId62"/>
    <p:sldId id="693" r:id="rId4"/>
    <p:sldId id="749" r:id="rId5"/>
    <p:sldId id="810" r:id="rId15"/>
    <p:sldId id="835" r:id="rId14"/>
    <p:sldId id="827" r:id="rId16"/>
    <p:sldId id="772" r:id="rId11"/>
    <p:sldId id="784" r:id="rId56"/>
    <p:sldId id="793" r:id="rId32"/>
    <p:sldId id="774" r:id="rId8"/>
    <p:sldId id="775" r:id="rId9"/>
    <p:sldId id="802" r:id="rId54"/>
    <p:sldId id="771" r:id="rId21"/>
    <p:sldId id="785" r:id="rId57"/>
    <p:sldId id="787" r:id="rId58"/>
    <p:sldId id="781" r:id="rId24"/>
    <p:sldId id="773" r:id="rId55"/>
    <p:sldId id="795" r:id="rId39"/>
    <p:sldId id="783" r:id="rId60"/>
    <p:sldId id="794" r:id="rId61"/>
    <p:sldId id="277" r:id="rId64"/>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803"/>
            <p14:sldId id="774"/>
            <p14:sldId id="775"/>
            <p14:sldId id="266"/>
            <p14:sldId id="772"/>
            <p14:sldId id="776"/>
            <p14:sldId id="832"/>
            <p14:sldId id="835"/>
            <p14:sldId id="810"/>
            <p14:sldId id="827"/>
            <p14:sldId id="796"/>
            <p14:sldId id="833"/>
            <p14:sldId id="834"/>
            <p14:sldId id="831"/>
            <p14:sldId id="771"/>
            <p14:sldId id="780"/>
            <p14:sldId id="789"/>
            <p14:sldId id="781"/>
            <p14:sldId id="836"/>
            <p14:sldId id="838"/>
            <p14:sldId id="839"/>
            <p14:sldId id="841"/>
            <p14:sldId id="840"/>
            <p14:sldId id="842"/>
            <p14:sldId id="843"/>
            <p14:sldId id="793"/>
            <p14:sldId id="804"/>
            <p14:sldId id="805"/>
            <p14:sldId id="806"/>
            <p14:sldId id="808"/>
            <p14:sldId id="807"/>
            <p14:sldId id="809"/>
            <p14:sldId id="795"/>
            <p14:sldId id="811"/>
            <p14:sldId id="812"/>
            <p14:sldId id="813"/>
            <p14:sldId id="814"/>
            <p14:sldId id="815"/>
            <p14:sldId id="816"/>
            <p14:sldId id="817"/>
            <p14:sldId id="818"/>
            <p14:sldId id="819"/>
            <p14:sldId id="820"/>
            <p14:sldId id="821"/>
            <p14:sldId id="822"/>
            <p14:sldId id="823"/>
            <p14:sldId id="824"/>
            <p14:sldId id="802"/>
            <p14:sldId id="773"/>
            <p14:sldId id="784"/>
            <p14:sldId id="785"/>
            <p14:sldId id="787"/>
            <p14:sldId id="782"/>
            <p14:sldId id="783"/>
            <p14:sldId id="794"/>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6"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E7E9"/>
    <a:srgbClr val="1F3864"/>
    <a:srgbClr val="003574"/>
    <a:srgbClr val="003775"/>
    <a:srgbClr val="EBEFF8"/>
    <a:srgbClr val="FBFBFC"/>
    <a:srgbClr val="0B3041"/>
    <a:srgbClr val="ECF2FC"/>
    <a:srgbClr val="F5F8FB"/>
    <a:srgbClr val="0889C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218" autoAdjust="0"/>
    <p:restoredTop sz="94660"/>
  </p:normalViewPr>
  <p:slideViewPr>
    <p:cSldViewPr snapToGrid="0">
      <p:cViewPr>
        <p:scale>
          <a:sx n="75" d="100"/>
          <a:sy n="75" d="100"/>
        </p:scale>
        <p:origin x="676" y="-2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1" Type="http://schemas.openxmlformats.org/officeDocument/2006/relationships/slide" Target="slides/slide20.xml"/><Relationship Id="rId24" Type="http://schemas.openxmlformats.org/officeDocument/2006/relationships/slide" Target="slides/slide23.xml"/><Relationship Id="rId32" Type="http://schemas.openxmlformats.org/officeDocument/2006/relationships/slide" Target="slides/slide31.xml"/><Relationship Id="rId39" Type="http://schemas.openxmlformats.org/officeDocument/2006/relationships/slide" Target="slides/slide38.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4" Type="http://schemas.openxmlformats.org/officeDocument/2006/relationships/slide" Target="slides/slide63.xml"/><Relationship Id="rId65" Type="http://schemas.openxmlformats.org/officeDocument/2006/relationships/notesMaster" Target="notesMasters/notesMaster1.xml"/><Relationship Id="rId66" Type="http://customschemas.google.com/relationships/presentationmetadata" Target="metadata"/><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7</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4B92B-944C-47BE-0F1E-89100E9FAA5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F02E50-5FFA-0141-FAFB-A20F9473655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8F8C6A0-F5BA-0A1D-3A6C-D386671861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9E8D2F0-659B-4A6E-4CE3-91D890A0A6DC}"/>
              </a:ext>
            </a:extLst>
          </p:cNvPr>
          <p:cNvSpPr>
            <a:spLocks noGrp="1"/>
          </p:cNvSpPr>
          <p:nvPr>
            <p:ph type="sldNum" sz="quarter" idx="5"/>
          </p:nvPr>
        </p:nvSpPr>
        <p:spPr/>
        <p:txBody>
          <a:bodyPr/>
          <a:lstStyle/>
          <a:p>
            <a:fld id="{CAF5A409-FE33-4202-B69D-8515A6FDCE7E}" type="slidenum">
              <a:rPr kumimoji="1" lang="ja-JP" altLang="en-US" smtClean="0"/>
              <a:t>12</a:t>
            </a:fld>
            <a:endParaRPr kumimoji="1" lang="ja-JP" altLang="en-US"/>
          </a:p>
        </p:txBody>
      </p:sp>
    </p:spTree>
    <p:extLst>
      <p:ext uri="{BB962C8B-B14F-4D97-AF65-F5344CB8AC3E}">
        <p14:creationId xmlns:p14="http://schemas.microsoft.com/office/powerpoint/2010/main" val="25098708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73305-98E7-9C39-4B5B-D423548721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2FDFB1-2BF8-C4BB-A2BD-4892D74A45B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D5D1372-C60D-6808-D87A-773E0F3D997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E576281-9BBA-8477-DB8D-BB3D7D5770C0}"/>
              </a:ext>
            </a:extLst>
          </p:cNvPr>
          <p:cNvSpPr>
            <a:spLocks noGrp="1"/>
          </p:cNvSpPr>
          <p:nvPr>
            <p:ph type="sldNum" sz="quarter" idx="5"/>
          </p:nvPr>
        </p:nvSpPr>
        <p:spPr/>
        <p:txBody>
          <a:bodyPr/>
          <a:lstStyle/>
          <a:p>
            <a:fld id="{CAF5A409-FE33-4202-B69D-8515A6FDCE7E}" type="slidenum">
              <a:rPr kumimoji="1" lang="ja-JP" altLang="en-US" smtClean="0"/>
              <a:t>13</a:t>
            </a:fld>
            <a:endParaRPr kumimoji="1" lang="ja-JP" altLang="en-US"/>
          </a:p>
        </p:txBody>
      </p:sp>
    </p:spTree>
    <p:extLst>
      <p:ext uri="{BB962C8B-B14F-4D97-AF65-F5344CB8AC3E}">
        <p14:creationId xmlns:p14="http://schemas.microsoft.com/office/powerpoint/2010/main" val="35674260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90037-CCED-5EE3-0B10-592CC92981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7D4D1-50FE-51C7-B097-A9CE12C104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AE414B0-5AB7-644F-2021-E12E9A596FD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87DC591-3706-A7D0-C036-675D42D50AA5}"/>
              </a:ext>
            </a:extLst>
          </p:cNvPr>
          <p:cNvSpPr>
            <a:spLocks noGrp="1"/>
          </p:cNvSpPr>
          <p:nvPr>
            <p:ph type="sldNum" sz="quarter" idx="5"/>
          </p:nvPr>
        </p:nvSpPr>
        <p:spPr/>
        <p:txBody>
          <a:bodyPr/>
          <a:lstStyle/>
          <a:p>
            <a:fld id="{CAF5A409-FE33-4202-B69D-8515A6FDCE7E}" type="slidenum">
              <a:rPr kumimoji="1" lang="ja-JP" altLang="en-US" smtClean="0"/>
              <a:t>14</a:t>
            </a:fld>
            <a:endParaRPr kumimoji="1" lang="ja-JP" altLang="en-US"/>
          </a:p>
        </p:txBody>
      </p:sp>
    </p:spTree>
    <p:extLst>
      <p:ext uri="{BB962C8B-B14F-4D97-AF65-F5344CB8AC3E}">
        <p14:creationId xmlns:p14="http://schemas.microsoft.com/office/powerpoint/2010/main" val="854543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37</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0B30E-2F45-B03F-63EA-7CC0D9829D2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6968CDD-94A7-72E4-171C-59BA82CF046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A9B728-686D-68E4-01BC-D5B734918885}"/>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171840CA-567F-E35D-4A27-A0BC17FCC8DF}"/>
              </a:ext>
            </a:extLst>
          </p:cNvPr>
          <p:cNvSpPr>
            <a:spLocks noGrp="1"/>
          </p:cNvSpPr>
          <p:nvPr>
            <p:ph type="sldNum" sz="quarter" idx="5"/>
          </p:nvPr>
        </p:nvSpPr>
        <p:spPr/>
        <p:txBody>
          <a:bodyPr/>
          <a:lstStyle/>
          <a:p>
            <a:fld id="{30FF3BCC-1A43-4D25-8467-E40EF431E2F1}" type="slidenum">
              <a:rPr kumimoji="1" lang="ja-JP" altLang="en-US" smtClean="0"/>
              <a:t>52</a:t>
            </a:fld>
            <a:endParaRPr kumimoji="1" lang="ja-JP" altLang="en-US"/>
          </a:p>
        </p:txBody>
      </p:sp>
    </p:spTree>
    <p:extLst>
      <p:ext uri="{BB962C8B-B14F-4D97-AF65-F5344CB8AC3E}">
        <p14:creationId xmlns:p14="http://schemas.microsoft.com/office/powerpoint/2010/main" val="413513710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54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55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56</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58</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59</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60</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extLst>
    <p:ext uri="{DCECCB84-F9BA-43D5-87BE-67443E8EF086}">
      <p15:sldGuideLst xmlns:p15="http://schemas.microsoft.com/office/powerpoint/2012/main">
        <p15:guide id="1" orient="horz" pos="2381" userDrawn="1">
          <p15:clr>
            <a:srgbClr val="FBAE40"/>
          </p15:clr>
        </p15:guide>
        <p15:guide id="2" pos="336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9.png"/><Relationship Id="rId4" Type="http://schemas.microsoft.com/office/2007/relationships/hdphoto" Target="../media/hdphoto3.wdp"/></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jpeg"/><Relationship Id="rId3" Type="http://schemas.openxmlformats.org/officeDocument/2006/relationships/image" Target="../media/image7.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a:xfrm>
            <a:off x="885526" y="3467606"/>
            <a:ext cx="9221787" cy="738664"/>
          </a:xfrm>
        </p:spPr>
        <p:txBody>
          <a:bodyPr/>
          <a:lstStyle/>
          <a:p>
            <a:r>
              <a:rPr lang="ja-JP" altLang="en-US" dirty="0"/>
              <a:t>株式価値評価書  </a:t>
            </a:r>
            <a:r>
              <a:rPr lang="ja-JP" altLang="en-US" sz="2400" dirty="0"/>
              <a:t>&lt;LUXAS株式会社&gt;</a:t>
            </a:r>
            <a:endParaRPr lang="ja-JP" altLang="en-US" dirty="0"/>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Valuation Report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1416780746"/>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altLang="ja-JP" sz="1200" b="1" u="none" strike="noStrike" cap="none" spc="30" baseline="0" dirty="0">
                          <a:latin typeface="+mj-ea"/>
                          <a:ea typeface="+mj-ea"/>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株式価値評価書（以下、「本評価書」といいます）は、株式会社M&amp;A承継機構（以下「弊社」といいます）が、対象会社の発行済株式の取得もしくは事業その他資産の譲受（以下「本取引」といいます）に関する仲介者として、対象会社から提供された情報に基づき、対象会社の株式価値に関する参考情報を提供するために作成したものです。</a:t>
            </a:r>
          </a:p>
          <a:p>
            <a:pPr>
              <a:spcAft>
                <a:spcPts val="1800"/>
              </a:spcAft>
            </a:pPr>
            <a:r>
              <a:rPr lang="ja-JP" altLang="en-US" dirty="0">
                <a:ea typeface="+mn-ea"/>
              </a:rPr>
              <a:t>本評価書の存在及び記載されている情報並びに本評価書に関する全ての連絡・協議は、貴社と弊社間で締結している秘密保持契約書に定めのある秘密情報に該当致します。</a:t>
            </a:r>
          </a:p>
          <a:p>
            <a:pPr>
              <a:spcAft>
                <a:spcPts val="1800"/>
              </a:spcAft>
            </a:pPr>
            <a:r>
              <a:rPr lang="ja-JP" altLang="en-US" dirty="0">
                <a:ea typeface="+mn-ea"/>
              </a:rPr>
              <a:t>本評価書は、対象会社から提供された決算書・試算表その他の資料に依拠して作成しており、弊社はこれらの資料について監査・調査・検証を行っておりません。また、資産の実査・鑑定評価、財務デューデリジェンスその他の詳細調査は実施しておらず、情報提供者は本評価書に記載されているいかなる情報及び意見についても、明示・黙示にかかわらずその正確性及び完全性を表明または保証するものではありません。</a:t>
            </a:r>
          </a:p>
          <a:p>
            <a:pPr>
              <a:spcAft>
                <a:spcPts val="1800"/>
              </a:spcAft>
            </a:pPr>
            <a:r>
              <a:rPr lang="ja-JP" altLang="en-US" dirty="0">
                <a:ea typeface="+mn-ea"/>
              </a:rPr>
              <a:t>本評価書に示す株式価値は、記載の評価基準日および前提条件のもとでの試算値であり、実際の譲渡価格を保証するものではありません。譲渡価格は、買手候補による事業評価・デューデリジェンスの結果および当事者間の交渉により決定されます。</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Valuation Summary</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Financial Analysis</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Valuation Details</a:t>
            </a:r>
            <a:endParaRPr lang="en-US" altLang="ja-JP" sz="2400" b="1" spc="70" dirty="0">
              <a:latin typeface="+mj-lt"/>
              <a:ea typeface="+mj-ea"/>
            </a:endParaRP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Valuation Summary</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54040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修正B/S［資産の部］</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資産合計235,385千円に対し評価差額△ 47,150千円を計上し、修正後の資産合計は188,235千円となる。評価減はいずれも換金価値・資産性が認められない科目に限っている。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504688"/>
            <a:ext cx="3924999" cy="1481328"/>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游ゴシック" panose="020B0400000000000000" pitchFamily="50" charset="-128"/>
              <a:ea typeface="游ゴシック" panose="020B0400000000000000" pitchFamily="50" charset="-128"/>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609344"/>
            <a:ext cx="3924999" cy="3749039"/>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2121408"/>
            <a:ext cx="3912257" cy="3200400"/>
          </a:xfrm>
          <a:prstGeom prst="rect">
            <a:avLst/>
          </a:prstGeom>
          <a:noFill/>
        </p:spPr>
        <p:txBody>
          <a:bodyPr wrap="square" lIns="288000" tIns="0" rIns="252000" bIns="0" rtlCol="0">
            <a:spAutoFit/>
          </a:bodyPr>
          <a:lstStyle/>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≪棚卸資産（商品）≫</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・基準日残高106,017千円のうち、本社32,000千円・バックヤード12,000千円は2026年3月に全額廃棄されている。基準日時点で既に滞留・陳腐化していたと判断し44,000千円を評価減。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・残る外部保管在庫10,000千円は実在性が未確認であり、さらに評価減となる可能性がある（要確認）。</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≪営業権≫</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・年買法で営業権を別途算定するため、B/S計上分を残すと二重計上となる。換金価値も認められないため全額評価減。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≪仮払金≫</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・回収を前提とした支出ではなく資産性が認められないため全額評価減。</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sz="850" b="1" dirty="0">
                <a:solidFill>
                  <a:sysClr val="windowText" lastClr="000000"/>
                </a:solidFill>
                <a:latin typeface="游ゴシック" panose="020B0400000000000000" pitchFamily="50" charset="-128"/>
                <a:ea typeface="游ゴシック" panose="020B0400000000000000" pitchFamily="50" charset="-128"/>
              </a:rPr>
              <a:t>≪簿価評価とした主な科目≫</a:t>
            </a:r>
            <a:endParaRPr kumimoji="1" lang="en-US" altLang="ja-JP" sz="1200" dirty="0">
              <a:solidFill>
                <a:sysClr val="windowText" lastClr="000000"/>
              </a:solidFill>
              <a:latin typeface="游ゴシック" panose="020B0400000000000000" pitchFamily="50" charset="-128"/>
              <a:ea typeface="游ゴシック" panose="020B0400000000000000" pitchFamily="50" charset="-128"/>
            </a:endParaRPr>
          </a:p>
          <a:p>
            <a:pPr>
              <a:spcAft>
                <a:spcPts val="300"/>
              </a:spcAft>
            </a:pPr>
            <a:r>
              <a:rPr lang="ja-JP" altLang="en-US" sz="850" b="0" dirty="0">
                <a:solidFill>
                  <a:sysClr val="windowText" lastClr="000000"/>
                </a:solidFill>
                <a:latin typeface="游ゴシック" panose="020B0400000000000000" pitchFamily="50" charset="-128"/>
                <a:ea typeface="游ゴシック" panose="020B0400000000000000" pitchFamily="50" charset="-128"/>
              </a:rPr>
              <a:t>・土地（路線価資料未受領）、差入保証金（賃貸借契約書未受領）、長期前払費用（内訳未受領）、車両運搬具（査定書未受領）。いずれも評価替えの余地があり、P.22に要確認事項として整理している。</a:t>
            </a:r>
            <a:endParaRPr lang="en-US" altLang="ja-JP" sz="900" b="0" dirty="0">
              <a:solidFill>
                <a:sysClr val="windowText" lastClr="000000"/>
              </a:solidFill>
              <a:latin typeface="游ゴシック" panose="020B0400000000000000" pitchFamily="50" charset="-128"/>
              <a:ea typeface="游ゴシック" panose="020B0400000000000000" pitchFamily="50" charset="-128"/>
            </a:endParaRPr>
          </a:p>
        </p:txBody>
      </p:sp>
      <p:sp>
        <p:nvSpPr>
          <p:cNvPr id="18" name="TextBox 17"/>
          <p:cNvSpPr txBox="1"/>
          <p:nvPr/>
        </p:nvSpPr>
        <p:spPr>
          <a:xfrm>
            <a:off x="295285" y="6577861"/>
            <a:ext cx="5976000" cy="174851"/>
          </a:xfrm>
          <a:prstGeom prst="rect">
            <a:avLst/>
          </a:prstGeom>
          <a:noFill/>
        </p:spPr>
        <p:txBody>
          <a:bodyPr wrap="square" lIns="36000" tIns="18000" rIns="36000" bIns="18000" anchor="t">
            <a:spAutoFit/>
          </a:bodyPr>
          <a:lstStyle/>
          <a:p>
            <a:pPr>
              <a:spcBef>
                <a:spcPts val="0"/>
              </a:spcBef>
              <a:spcAft>
                <a:spcPts val="200"/>
              </a:spcAft>
            </a:pPr>
            <a:r>
              <a:rPr sz="900" b="0" dirty="0">
                <a:solidFill>
                  <a:sysClr val="windowText" lastClr="000000"/>
                </a:solidFill>
                <a:latin typeface="游ゴシック" panose="020B0400000000000000" pitchFamily="50" charset="-128"/>
                <a:ea typeface="游ゴシック" panose="020B0400000000000000" pitchFamily="50" charset="-128"/>
              </a:rPr>
              <a:t>※評価基準日：2025年11月30日。※単位：千円。※千円未満の端数処理により合計が一致しない場合があります。</a:t>
            </a:r>
          </a:p>
        </p:txBody>
      </p:sp>
      <p:graphicFrame>
        <p:nvGraphicFramePr>
          <p:cNvPr id="4" name="表 3">
            <a:extLst>
              <a:ext uri="{FF2B5EF4-FFF2-40B4-BE49-F238E27FC236}">
                <a16:creationId xmlns:a16="http://schemas.microsoft.com/office/drawing/2014/main" id="{09B8E7CF-D8BA-70BB-75EB-6EC7F4B67D3D}"/>
              </a:ext>
            </a:extLst>
          </p:cNvPr>
          <p:cNvGraphicFramePr>
            <a:graphicFrameLocks noGrp="1"/>
          </p:cNvGraphicFramePr>
          <p:nvPr>
            <p:extLst>
              <p:ext uri="{D42A27DB-BD31-4B8C-83A1-F6EECF244321}">
                <p14:modId xmlns:p14="http://schemas.microsoft.com/office/powerpoint/2010/main" val="1779741811"/>
              </p:ext>
            </p:extLst>
          </p:nvPr>
        </p:nvGraphicFramePr>
        <p:xfrm>
          <a:off x="311150" y="1609344"/>
          <a:ext cx="5779008" cy="4786884"/>
        </p:xfrm>
        <a:graphic>
          <a:graphicData uri="http://schemas.openxmlformats.org/drawingml/2006/table">
            <a:tbl>
              <a:tblPr/>
              <a:tblGrid>
                <a:gridCol w="2212848">
                  <a:extLst>
                    <a:ext uri="{9D8B030D-6E8A-4147-A177-3AD203B41FA5}">
                      <a16:colId xmlns:a16="http://schemas.microsoft.com/office/drawing/2014/main" val="2315921538"/>
                    </a:ext>
                  </a:extLst>
                </a:gridCol>
                <a:gridCol w="1188720">
                  <a:extLst>
                    <a:ext uri="{9D8B030D-6E8A-4147-A177-3AD203B41FA5}">
                      <a16:colId xmlns:a16="http://schemas.microsoft.com/office/drawing/2014/main" val="2930658936"/>
                    </a:ext>
                  </a:extLst>
                </a:gridCol>
                <a:gridCol w="1188720">
                  <a:extLst>
                    <a:ext uri="{9D8B030D-6E8A-4147-A177-3AD203B41FA5}">
                      <a16:colId xmlns:a16="http://schemas.microsoft.com/office/drawing/2014/main" val="3282667626"/>
                    </a:ext>
                  </a:extLst>
                </a:gridCol>
                <a:gridCol w="1188720">
                  <a:extLst>
                    <a:ext uri="{9D8B030D-6E8A-4147-A177-3AD203B41FA5}">
                      <a16:colId xmlns:a16="http://schemas.microsoft.com/office/drawing/2014/main" val="1985302225"/>
                    </a:ext>
                  </a:extLst>
                </a:gridCol>
              </a:tblGrid>
              <a:tr h="274320">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評価差額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850" b="1" i="0" u="none" strike="noStrike">
                          <a:solidFill>
                            <a:srgbClr val="FFFFFF"/>
                          </a:solidFill>
                          <a:effectLst/>
                          <a:latin typeface="游ゴシック" panose="020B0400000000000000" pitchFamily="50" charset="-128"/>
                          <a:ea typeface="游ゴシック" panose="020B0400000000000000" pitchFamily="50" charset="-128"/>
                        </a:rPr>
                        <a:t>評価額</a:t>
                      </a:r>
                    </a:p>
                  </a:txBody>
                  <a:tcPr marL="0" marR="0"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41491395"/>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150,113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45,650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104,463</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10,140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10,140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27,628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27,628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商品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106,017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44,000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62,017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3,992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3,992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505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1,650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85,272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83,772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54,658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54,658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建物</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44,397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44,397</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1,058</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6,045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6,045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土地</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2,974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184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184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30,614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29,114</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32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1,712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1,712</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27,371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27,371</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r" fontAlgn="ctr">
                        <a:buNone/>
                      </a:pPr>
                      <a:r>
                        <a:rPr lang="ja-JP" sz="850" b="0" i="1"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0" marR="103756" marT="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 1,500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tc>
                  <a:txBody>
                    <a:bodyPr/>
                    <a:lstStyle/>
                    <a:p>
                      <a:pPr algn="r" fontAlgn="ctr">
                        <a:buNone/>
                      </a:pPr>
                      <a:r>
                        <a:rPr lang="ja-JP" sz="850" b="0" i="1" u="none" strike="noStrike">
                          <a:solidFill>
                            <a:srgbClr val="000000"/>
                          </a:solidFill>
                          <a:effectLst/>
                          <a:latin typeface="Arial" panose="020B0604020202020204" pitchFamily="34" charset="0"/>
                          <a:ea typeface="游ゴシック Medium" panose="020B0500000000000000" pitchFamily="50" charset="-128"/>
                        </a:rPr>
                        <a:t>－</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noFill/>
                  </a:tcPr>
                </a:tc>
                <a:extLst>
                  <a:ext uri="{0D108BD9-81ED-4DB2-BD59-A6C34878D82A}">
                    <a16:rowId xmlns:a16="http://schemas.microsoft.com/office/drawing/2014/main" val="507957297"/>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103756"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235,385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47,150</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188,235</a:t>
                      </a:r>
                    </a:p>
                  </a:txBody>
                  <a:tcPr marL="0" marR="103756"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extLst>
                  <a:ext uri="{0D108BD9-81ED-4DB2-BD59-A6C34878D82A}">
                    <a16:rowId xmlns:a16="http://schemas.microsoft.com/office/drawing/2014/main" val="724115484"/>
                  </a:ext>
                </a:extLst>
              </a:tr>
            </a:tbl>
          </a:graphicData>
        </a:graphic>
      </p:graphicFrame>
      <p:sp>
        <p:nvSpPr>
          <p:cNvPr id="7" name="テキスト ボックス 6">
            <a:extLst>
              <a:ext uri="{FF2B5EF4-FFF2-40B4-BE49-F238E27FC236}">
                <a16:creationId xmlns:a16="http://schemas.microsoft.com/office/drawing/2014/main" id="{0F97EF78-0317-2D34-6B5B-762C46150F67}"/>
              </a:ext>
            </a:extLst>
          </p:cNvPr>
          <p:cNvSpPr txBox="1"/>
          <p:nvPr/>
        </p:nvSpPr>
        <p:spPr>
          <a:xfrm>
            <a:off x="6455664" y="5577840"/>
            <a:ext cx="3912257" cy="1389888"/>
          </a:xfrm>
          <a:prstGeom prst="rect">
            <a:avLst/>
          </a:prstGeom>
          <a:noFill/>
        </p:spPr>
        <p:txBody>
          <a:bodyPr wrap="square" lIns="288000" tIns="0" rIns="252000" bIns="0" rtlCol="0">
            <a:spAutoFit/>
          </a:bodyPr>
          <a:lstStyle/>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【税効果の取扱い】</a:t>
            </a:r>
          </a:p>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評価差額に対する繰延税金資産は認識していない。対象会社は繰越欠損金を有し、評価差額が将来の課税所得を減額する見込みが立たないため、回収可能性が認められないと判断した。</a:t>
            </a:r>
          </a:p>
          <a:p>
            <a:pPr>
              <a:spcAft>
                <a:spcPts val="300"/>
              </a:spcAft>
            </a:pPr>
            <a:r>
              <a:rPr lang="en-US" altLang="ja-JP" sz="850" b="1" dirty="0">
                <a:solidFill>
                  <a:sysClr val="windowText" lastClr="000000"/>
                </a:solidFill>
                <a:latin typeface="游ゴシック" panose="020B0400000000000000" pitchFamily="50" charset="-128"/>
                <a:ea typeface="游ゴシック" panose="020B0400000000000000" pitchFamily="50" charset="-128"/>
              </a:rPr>
              <a:t>※保守的な取扱いであり、課税所得の見通しが立つ場合は最大で評価差額の34%相当（約16,031千円）だけ時価純資産が上振れする余地がある。</a:t>
            </a:r>
          </a:p>
        </p:txBody>
      </p:sp>
    </p:spTree>
    <p:extLst>
      <p:ext uri="{BB962C8B-B14F-4D97-AF65-F5344CB8AC3E}">
        <p14:creationId xmlns:p14="http://schemas.microsoft.com/office/powerpoint/2010/main" val="30165897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修正B/S［負債・純資産の部］</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801343"/>
          </a:xfrm>
        </p:spPr>
        <p:txBody>
          <a:bodyPr>
            <a:noAutofit/>
          </a:bodyPr>
          <a:lstStyle/>
          <a:p>
            <a:r>
              <a:rPr lang="ja-JP" altLang="en-US" dirty="0">
                <a:latin typeface="游ゴシック" panose="020B0400000000000000" pitchFamily="50" charset="-128"/>
                <a:ea typeface="游ゴシック" panose="020B0400000000000000" pitchFamily="50" charset="-128"/>
              </a:rPr>
              <a:t>資産側の評価減△ 47,150千円が純資産に反映され、時価純資産は△ 61,207千円となる。賞与引当金・退職給付引当金・資産除去債務は規程・見積が未受領のため未計上である。</a:t>
            </a:r>
            <a:endParaRPr lang="en-US" altLang="ja-JP" dirty="0">
              <a:latin typeface="游ゴシック" panose="020B0400000000000000" pitchFamily="50" charset="-128"/>
              <a:ea typeface="游ゴシック" panose="020B0400000000000000" pitchFamily="50" charset="-128"/>
            </a:endParaRP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668" y="1609344"/>
            <a:ext cx="4790832" cy="5376672"/>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游ゴシック" panose="020B0400000000000000" pitchFamily="50" charset="-128"/>
                <a:ea typeface="游ゴシック" panose="020B0400000000000000" pitchFamily="50" charset="-128"/>
              </a:rPr>
              <a:t>Comment</a:t>
            </a:r>
            <a:endParaRPr kumimoji="1" lang="ja-JP" altLang="en-US" sz="1600" b="1" dirty="0">
              <a:solidFill>
                <a:schemeClr val="tx2"/>
              </a:solidFill>
              <a:latin typeface="游ゴシック" panose="020B0400000000000000" pitchFamily="50" charset="-128"/>
              <a:ea typeface="游ゴシック" panose="020B0400000000000000" pitchFamily="50" charset="-128"/>
            </a:endParaRPr>
          </a:p>
        </p:txBody>
      </p:sp>
      <p:graphicFrame>
        <p:nvGraphicFramePr>
          <p:cNvPr id="10" name="表 9">
            <a:extLst>
              <a:ext uri="{FF2B5EF4-FFF2-40B4-BE49-F238E27FC236}">
                <a16:creationId xmlns:a16="http://schemas.microsoft.com/office/drawing/2014/main" id="{EC917954-C9CC-A8BB-CE8B-2313B621CAA9}"/>
              </a:ext>
            </a:extLst>
          </p:cNvPr>
          <p:cNvGraphicFramePr>
            <a:graphicFrameLocks noGrp="1"/>
          </p:cNvGraphicFramePr>
          <p:nvPr>
            <p:extLst>
              <p:ext uri="{D42A27DB-BD31-4B8C-83A1-F6EECF244321}">
                <p14:modId xmlns:p14="http://schemas.microsoft.com/office/powerpoint/2010/main" val="1651202635"/>
              </p:ext>
            </p:extLst>
          </p:nvPr>
        </p:nvGraphicFramePr>
        <p:xfrm>
          <a:off x="341312" y="1609344"/>
          <a:ext cx="5001768" cy="4786884"/>
        </p:xfrm>
        <a:graphic>
          <a:graphicData uri="http://schemas.openxmlformats.org/drawingml/2006/table">
            <a:tbl>
              <a:tblPr/>
              <a:tblGrid>
                <a:gridCol w="1801368">
                  <a:extLst>
                    <a:ext uri="{9D8B030D-6E8A-4147-A177-3AD203B41FA5}">
                      <a16:colId xmlns:a16="http://schemas.microsoft.com/office/drawing/2014/main" val="3288712095"/>
                    </a:ext>
                  </a:extLst>
                </a:gridCol>
                <a:gridCol w="1051560">
                  <a:extLst>
                    <a:ext uri="{9D8B030D-6E8A-4147-A177-3AD203B41FA5}">
                      <a16:colId xmlns:a16="http://schemas.microsoft.com/office/drawing/2014/main" val="1763953894"/>
                    </a:ext>
                  </a:extLst>
                </a:gridCol>
                <a:gridCol w="1051560">
                  <a:extLst>
                    <a:ext uri="{9D8B030D-6E8A-4147-A177-3AD203B41FA5}">
                      <a16:colId xmlns:a16="http://schemas.microsoft.com/office/drawing/2014/main" val="425085564"/>
                    </a:ext>
                  </a:extLst>
                </a:gridCol>
                <a:gridCol w="1051560">
                  <a:extLst>
                    <a:ext uri="{9D8B030D-6E8A-4147-A177-3AD203B41FA5}">
                      <a16:colId xmlns:a16="http://schemas.microsoft.com/office/drawing/2014/main" val="529330877"/>
                    </a:ext>
                  </a:extLst>
                </a:gridCol>
                <a:gridCol w="45720">
                  <a:extLst>
                    <a:ext uri="{9D8B030D-6E8A-4147-A177-3AD203B41FA5}">
                      <a16:colId xmlns:a16="http://schemas.microsoft.com/office/drawing/2014/main" val="1796373806"/>
                    </a:ext>
                  </a:extLst>
                </a:gridCol>
              </a:tblGrid>
              <a:tr h="274320">
                <a:tc>
                  <a:txBody>
                    <a:bodyPr/>
                    <a:lstStyle/>
                    <a:p>
                      <a:pPr algn="ctr" fontAlgn="ctr">
                        <a:buNone/>
                      </a:pPr>
                      <a:r>
                        <a:rPr lang="ja-JP" sz="850" b="0"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rgbClr val="FFFFFF"/>
                      </a:solidFill>
                      <a:prstDash val="solid"/>
                      <a:round/>
                      <a:headEnd type="none" w="med" len="med"/>
                      <a:tailEnd type="none" w="med" len="med"/>
                    </a:lnL>
                    <a:lnR>
                      <a:noFill/>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帳簿価額</a:t>
                      </a:r>
                    </a:p>
                  </a:txBody>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評価差額</a:t>
                      </a:r>
                    </a:p>
                  </a:txBody>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評価額</a:t>
                      </a:r>
                    </a:p>
                  </a:txBody>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a:tc>
                <a:extLst>
                  <a:ext uri="{0D108BD9-81ED-4DB2-BD59-A6C34878D82A}">
                    <a16:rowId xmlns:a16="http://schemas.microsoft.com/office/drawing/2014/main" val="14945041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47,672</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47,672</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9,202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714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20,114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243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243</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11,784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11,784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2,392</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3,224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3,224</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201,770</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201,770</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191,858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191,858</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7,566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7,566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2,346</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249,442</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249,442</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1,000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1,000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15,057</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【評価修正額】</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修正額</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修正税効果</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2486441720"/>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14,057</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61,207</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r h="214884">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負債・純資産合計</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235,385</a:t>
                      </a:r>
                    </a:p>
                  </a:txBody>
                  <a:tcPr marL="0" marR="0" marT="0" marB="0" anchor="ctr">
                    <a:lnL>
                      <a:noFill/>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0" marR="0" marT="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a:noFill/>
                    </a:lnB>
                    <a:no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188,235</a:t>
                      </a:r>
                    </a:p>
                  </a:txBody>
                  <a:tcPr marL="0" marR="0" marT="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tc>
                  <a:txBody>
                    <a:bodyPr/>
                    <a:lstStyle/>
                    <a:p>
                      <a:pPr algn="r" fontAlgn="ctr">
                        <a:buNone/>
                      </a:pPr>
                      <a:r>
                        <a:rPr lang="ja-JP" sz="850" b="0" i="0" u="none" strike="noStrike">
                          <a:solidFill>
                            <a:srgbClr val="000000"/>
                          </a:solidFill>
                          <a:effectLst/>
                          <a:latin typeface="Arial" panose="020B0604020202020204" pitchFamily="34" charset="0"/>
                          <a:ea typeface="游ゴシック Medium" panose="020B0500000000000000" pitchFamily="50" charset="-128"/>
                        </a:rPr>
                        <a:t>　</a:t>
                      </a:r>
                    </a:p>
                  </a:txBody>
                  <a:tcPr marL="0" marR="0" marT="0" marB="0" anchor="ctr">
                    <a:lnL>
                      <a:noFill/>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3E7E9"/>
                    </a:solidFill>
                  </a:tcPr>
                </a:tc>
                <a:extLst>
                  <a:ext uri="{0D108BD9-81ED-4DB2-BD59-A6C34878D82A}">
                    <a16:rowId xmlns:a16="http://schemas.microsoft.com/office/drawing/2014/main" val="3181706172"/>
                  </a:ext>
                </a:extLst>
              </a:tr>
            </a:tbl>
          </a:graphicData>
        </a:graphic>
      </p:graphicFrame>
      <p:sp>
        <p:nvSpPr>
          <p:cNvPr id="16" name="テキスト ボックス 15">
            <a:extLst>
              <a:ext uri="{FF2B5EF4-FFF2-40B4-BE49-F238E27FC236}">
                <a16:creationId xmlns:a16="http://schemas.microsoft.com/office/drawing/2014/main" id="{628CFE76-679D-C90B-1E19-B26DADCE4A7F}"/>
              </a:ext>
            </a:extLst>
          </p:cNvPr>
          <p:cNvSpPr txBox="1"/>
          <p:nvPr/>
        </p:nvSpPr>
        <p:spPr>
          <a:xfrm>
            <a:off x="5703189" y="2157984"/>
            <a:ext cx="4539361" cy="4754880"/>
          </a:xfrm>
          <a:prstGeom prst="rect">
            <a:avLst/>
          </a:prstGeom>
          <a:noFill/>
        </p:spPr>
        <p:txBody>
          <a:bodyPr wrap="square" lIns="288000" tIns="0" rIns="252000" bIns="0" rtlCol="0">
            <a:spAutoFit/>
          </a:bodyPr>
          <a:lstStyle/>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≪借入金≫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・長期借入金191,858千円（9本）。民間6本は代表者の連帯保証および信用保証協会の保証付き（公庫3本の保証条件は要確認）。譲渡実行時の連帯保証解除が譲渡条件の中心となる。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・役員借入金7,566千円は譲渡時の返済を希望。ネットキャッシュ算定ではデットライクアイテムとして控除している。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≪未払費用≫</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・賃金台帳では当月締・翌月25日払であり、11月分給与が未払計上されているか要確認。未計上であれば社会保険料概算15%を含め約10,000千円超の追加計上が必要となる。</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≪未計上の引当金等≫</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・賞与引当金：賞与制度・支給実績が未確認のため未計上。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・退職給付引当金／役員退職慰労引当金：退職金規程・役員退職慰労金規程が未受領のため未計上。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・資産除去債務：店舗内装の原状回復義務。撤退2店舗の原状回復費用・違約金が未確認のため未計上。</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≪長期未払金≫</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・2,346千円は分割払いの未払金であり有利子負債ではないため、ネットキャッシュのデットライクに含めていない（要確認）。</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1"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≪時価純資産≫</a:t>
            </a:r>
            <a:endParaRPr kumimoji="1" lang="ja-JP" altLang="en-US" sz="12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a:p>
            <a:pPr marL="0" marR="0" lvl="0" indent="0" algn="l" defTabSz="914400" rtl="0" eaLnBrk="1" fontAlgn="auto" latinLnBrk="0" hangingPunct="1">
              <a:lnSpc>
                <a:spcPct val="100000"/>
              </a:lnSpc>
              <a:spcBef>
                <a:spcPts val="0"/>
              </a:spcBef>
              <a:spcAft>
                <a:spcPts val="300"/>
              </a:spcAft>
              <a:buClr>
                <a:srgbClr val="000000"/>
              </a:buClr>
              <a:buSzTx/>
              <a:buFont typeface="Arial"/>
              <a:buNone/>
              <a:tabLst/>
              <a:defRPr/>
            </a:pPr>
            <a:r>
              <a:rPr kumimoji="0" lang="ja-JP" altLang="en-US" sz="85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rPr>
              <a:t>・簿価純資産△ 14,057千円 ＋ 評価差額△ 47,150千円 ＋ 税効果－ ＝ △ 61,207千円。</a:t>
            </a:r>
            <a:endParaRPr kumimoji="0" lang="en-US" altLang="ja-JP" sz="900" b="0" i="0" u="none" strike="noStrike" kern="0" cap="none" spc="0" normalizeH="0" baseline="0" noProof="0" dirty="0">
              <a:ln>
                <a:noFill/>
              </a:ln>
              <a:solidFill>
                <a:sysClr val="windowText" lastClr="000000"/>
              </a:solidFill>
              <a:effectLst/>
              <a:uLnTx/>
              <a:uFillTx/>
              <a:latin typeface="游ゴシック" panose="020B0400000000000000" pitchFamily="50" charset="-128"/>
              <a:ea typeface="游ゴシック" panose="020B0400000000000000" pitchFamily="50" charset="-128"/>
              <a:cs typeface="Arial"/>
              <a:sym typeface="Arial"/>
            </a:endParaRPr>
          </a:p>
        </p:txBody>
      </p:sp>
    </p:spTree>
    <p:extLst>
      <p:ext uri="{BB962C8B-B14F-4D97-AF65-F5344CB8AC3E}">
        <p14:creationId xmlns:p14="http://schemas.microsoft.com/office/powerpoint/2010/main" val="40303346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Financial Analysis　― 時価純資産</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4085199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7D0BF3-8862-6D38-707C-2714A6B2BD1A}"/>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A9FDB77-6848-BC40-4BDD-831ED9D8D792}"/>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株式価値の試算結果</a:t>
            </a:r>
          </a:p>
        </p:txBody>
      </p:sp>
      <p:sp>
        <p:nvSpPr>
          <p:cNvPr id="20" name="タイトル 1">
            <a:extLst>
              <a:ext uri="{FF2B5EF4-FFF2-40B4-BE49-F238E27FC236}">
                <a16:creationId xmlns:a16="http://schemas.microsoft.com/office/drawing/2014/main" id="{A91FA19B-8223-DC47-9BD3-2C555B089FC4}"/>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95C74D80-92DD-4745-F4D1-A8B1B082B2A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想定株式価値はコストアプローチで△54,972 〜 △42,502千円、マーケットアプローチで△155,523 〜 △132,854千円となり、いずれの手法でもマイナスとなる（評価基準日：2025年11月30日）。</a:t>
            </a:r>
          </a:p>
        </p:txBody>
      </p:sp>
      <p:graphicFrame>
        <p:nvGraphicFramePr>
          <p:cNvPr id="2" name="表 1">
            <a:extLst>
              <a:ext uri="{FF2B5EF4-FFF2-40B4-BE49-F238E27FC236}">
                <a16:creationId xmlns:a16="http://schemas.microsoft.com/office/drawing/2014/main" id="{932E9EF1-CE56-DEC3-277F-E2D3E2F48ECE}"/>
              </a:ext>
            </a:extLst>
          </p:cNvPr>
          <p:cNvGraphicFramePr>
            <a:graphicFrameLocks noGrp="1"/>
          </p:cNvGraphicFramePr>
          <p:nvPr>
            <p:extLst>
              <p:ext uri="{D42A27DB-BD31-4B8C-83A1-F6EECF244321}">
                <p14:modId xmlns:p14="http://schemas.microsoft.com/office/powerpoint/2010/main" val="2080391777"/>
              </p:ext>
            </p:extLst>
          </p:nvPr>
        </p:nvGraphicFramePr>
        <p:xfrm>
          <a:off x="320040" y="1463040"/>
          <a:ext cx="9921240" cy="2011680"/>
        </p:xfrm>
        <a:graphic>
          <a:graphicData uri="http://schemas.openxmlformats.org/drawingml/2006/table">
            <a:tbl>
              <a:tblPr/>
              <a:tblGrid>
                <a:gridCol w="2240280">
                  <a:extLst>
                    <a:ext uri="{9D8B030D-6E8A-4147-A177-3AD203B41FA5}">
                      <a16:colId xmlns:a16="http://schemas.microsoft.com/office/drawing/2014/main" val="2226821946"/>
                    </a:ext>
                  </a:extLst>
                </a:gridCol>
                <a:gridCol w="1371600">
                  <a:extLst>
                    <a:ext uri="{9D8B030D-6E8A-4147-A177-3AD203B41FA5}">
                      <a16:colId xmlns:a16="http://schemas.microsoft.com/office/drawing/2014/main" val="394351917"/>
                    </a:ext>
                  </a:extLst>
                </a:gridCol>
                <a:gridCol w="1371600">
                  <a:extLst>
                    <a:ext uri="{9D8B030D-6E8A-4147-A177-3AD203B41FA5}">
                      <a16:colId xmlns:a16="http://schemas.microsoft.com/office/drawing/2014/main" val="2273061486"/>
                    </a:ext>
                  </a:extLst>
                </a:gridCol>
                <a:gridCol w="4937760">
                  <a:extLst>
                    <a:ext uri="{9D8B030D-6E8A-4147-A177-3AD203B41FA5}">
                      <a16:colId xmlns:a16="http://schemas.microsoft.com/office/drawing/2014/main" val="2273061486"/>
                    </a:ext>
                  </a:extLst>
                </a:gridCol>
              </a:tblGrid>
              <a:tr h="310896">
                <a:tc>
                  <a:txBody>
                    <a:bodyPr/>
                    <a:lstStyle/>
                    <a:p>
                      <a:pPr algn="ctr" fontAlgn="ctr">
                        <a:lnSpc>
                          <a:spcPct val="106000"/>
                        </a:lnSpc>
                        <a:buNone/>
                      </a:pPr>
                      <a:r>
                        <a:rPr sz="900" b="1">
                          <a:solidFill>
                            <a:srgbClr val="FFFFFF"/>
                          </a:solidFill>
                          <a:latin typeface="游ゴシック" panose="020B0400000000000000" pitchFamily="50" charset="-128"/>
                          <a:ea typeface="游ゴシック" panose="020B0400000000000000" pitchFamily="50" charset="-128"/>
                        </a:rPr>
                        <a:t>評価手法</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lnSpc>
                          <a:spcPct val="106000"/>
                        </a:lnSpc>
                        <a:buNone/>
                      </a:pPr>
                      <a:r>
                        <a:rPr sz="900" b="1">
                          <a:solidFill>
                            <a:srgbClr val="FFFFFF"/>
                          </a:solidFill>
                          <a:latin typeface="游ゴシック" panose="020B0400000000000000" pitchFamily="50" charset="-128"/>
                          <a:ea typeface="游ゴシック" panose="020B0400000000000000" pitchFamily="50" charset="-128"/>
                        </a:rPr>
                        <a:t>想定株式価値（下限）</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8C6D1F"/>
                    </a:solidFill>
                  </a:tcPr>
                </a:tc>
                <a:tc>
                  <a:txBody>
                    <a:bodyPr/>
                    <a:lstStyle/>
                    <a:p>
                      <a:pPr algn="ctr" fontAlgn="ctr">
                        <a:lnSpc>
                          <a:spcPct val="106000"/>
                        </a:lnSpc>
                        <a:buNone/>
                      </a:pPr>
                      <a:r>
                        <a:rPr sz="900" b="1" dirty="0" err="1">
                          <a:solidFill>
                            <a:srgbClr val="FFFFFF"/>
                          </a:solidFill>
                          <a:latin typeface="游ゴシック" panose="020B0400000000000000" pitchFamily="50" charset="-128"/>
                          <a:ea typeface="游ゴシック" panose="020B0400000000000000" pitchFamily="50" charset="-128"/>
                        </a:rPr>
                        <a:t>想定株式価値（上限）</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tc>
                  <a:txBody>
                    <a:bodyPr/>
                    <a:lstStyle/>
                    <a:p>
                      <a:pPr algn="ctr" fontAlgn="ctr">
                        <a:lnSpc>
                          <a:spcPct val="106000"/>
                        </a:lnSpc>
                        <a:buNone/>
                      </a:pPr>
                      <a:r>
                        <a:rPr sz="900" b="1" dirty="0" err="1">
                          <a:solidFill>
                            <a:srgbClr val="FFFFFF"/>
                          </a:solidFill>
                          <a:latin typeface="游ゴシック" panose="020B0400000000000000" pitchFamily="50" charset="-128"/>
                          <a:ea typeface="游ゴシック" panose="020B0400000000000000" pitchFamily="50" charset="-128"/>
                        </a:rPr>
                        <a:t>算定の内訳（単位：千円）</a:t>
                      </a:r>
                      <a:endParaRPr sz="1100" b="1" dirty="0">
                        <a:solidFill>
                          <a:srgbClr val="FFFFFF"/>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5688F"/>
                    </a:solidFill>
                  </a:tcPr>
                </a:tc>
                <a:extLst>
                  <a:ext uri="{0D108BD9-81ED-4DB2-BD59-A6C34878D82A}">
                    <a16:rowId xmlns:a16="http://schemas.microsoft.com/office/drawing/2014/main" val="2136583368"/>
                  </a:ext>
                </a:extLst>
              </a:tr>
              <a:tr h="566928">
                <a:tc>
                  <a:txBody>
                    <a:bodyPr/>
                    <a:lstStyle/>
                    <a:p>
                      <a:pPr algn="ctr" fontAlgn="b">
                        <a:lnSpc>
                          <a:spcPct val="106000"/>
                        </a:lnSpc>
                        <a:buNone/>
                      </a:pPr>
                      <a:r>
                        <a:rPr sz="900" b="1" dirty="0" err="1">
                          <a:solidFill>
                            <a:srgbClr val="1F3864"/>
                          </a:solidFill>
                          <a:latin typeface="游ゴシック" panose="020B0400000000000000" pitchFamily="50" charset="-128"/>
                          <a:ea typeface="游ゴシック" panose="020B0400000000000000" pitchFamily="50" charset="-128"/>
                        </a:rPr>
                        <a:t>コストアプローチ
（時価純資産＋営業権法）</a:t>
                      </a:r>
                      <a:endParaRPr sz="1000" b="1" dirty="0">
                        <a:solidFill>
                          <a:srgbClr val="1F3864"/>
                        </a:solidFill>
                        <a:latin typeface="游ゴシック" panose="020B0400000000000000" pitchFamily="50" charset="-128"/>
                        <a:ea typeface="游ゴシック" panose="020B0400000000000000" pitchFamily="50" charset="-128"/>
                      </a:endParaRP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54,972</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42,502</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時価純資産 △ 61,207 ＋ 営業権 6,235〜18,705（基準営業利益6,235×1〜3倍）</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10604957"/>
                  </a:ext>
                </a:extLst>
              </a:tr>
              <a:tr h="566928">
                <a:tc>
                  <a:txBody>
                    <a:bodyPr/>
                    <a:lstStyle/>
                    <a:p>
                      <a:pPr algn="ctr" fontAlgn="b">
                        <a:lnSpc>
                          <a:spcPct val="106000"/>
                        </a:lnSpc>
                        <a:buNone/>
                      </a:pPr>
                      <a:r>
                        <a:rPr sz="900" b="1">
                          <a:solidFill>
                            <a:srgbClr val="1F3864"/>
                          </a:solidFill>
                          <a:latin typeface="游ゴシック" panose="020B0400000000000000" pitchFamily="50" charset="-128"/>
                          <a:ea typeface="游ゴシック" panose="020B0400000000000000" pitchFamily="50" charset="-128"/>
                        </a:rPr>
                        <a:t>マーケットアプローチ
（EV/EBITDAマルチプル法）</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155,523</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132,854</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EV 48,576〜80,960（基準EBITDA16,192×3〜5倍）－ 非流動性ディスカウント30% ＋ ネットキャッシュ △ 189,526</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4169350144"/>
                  </a:ext>
                </a:extLst>
              </a:tr>
              <a:tr h="566928">
                <a:tc>
                  <a:txBody>
                    <a:bodyPr/>
                    <a:lstStyle/>
                    <a:p>
                      <a:pPr algn="ctr" fontAlgn="b">
                        <a:lnSpc>
                          <a:spcPct val="106000"/>
                        </a:lnSpc>
                        <a:buNone/>
                      </a:pPr>
                      <a:r>
                        <a:rPr sz="900" b="1">
                          <a:solidFill>
                            <a:srgbClr val="1F3864"/>
                          </a:solidFill>
                          <a:latin typeface="游ゴシック" panose="020B0400000000000000" pitchFamily="50" charset="-128"/>
                          <a:ea typeface="游ゴシック" panose="020B0400000000000000" pitchFamily="50" charset="-128"/>
                        </a:rPr>
                        <a:t>参考｜進行期の年換算ベース
（コストアプローチ）</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CF1F7"/>
                    </a:solidFill>
                  </a:tcPr>
                </a:tc>
                <a:tc>
                  <a:txBody>
                    <a:bodyPr/>
                    <a:lstStyle/>
                    <a:p>
                      <a:pPr algn="r" fontAlgn="b">
                        <a:lnSpc>
                          <a:spcPct val="106000"/>
                        </a:lnSpc>
                        <a:buNone/>
                      </a:pPr>
                      <a:r>
                        <a:rPr sz="900" b="0" dirty="0">
                          <a:solidFill>
                            <a:srgbClr val="202020"/>
                          </a:solidFill>
                          <a:latin typeface="游ゴシック" panose="020B0400000000000000" pitchFamily="50" charset="-128"/>
                          <a:ea typeface="游ゴシック" panose="020B0400000000000000" pitchFamily="50" charset="-128"/>
                        </a:rPr>
                        <a:t>△ 38,979</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DF8EC"/>
                    </a:solidFill>
                  </a:tcPr>
                </a:tc>
                <a:tc>
                  <a:txBody>
                    <a:bodyPr/>
                    <a:lstStyle/>
                    <a:p>
                      <a:pPr algn="r"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 6,095</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tc>
                  <a:txBody>
                    <a:bodyPr/>
                    <a:lstStyle/>
                    <a:p>
                      <a:pPr algn="l" fontAlgn="b">
                        <a:lnSpc>
                          <a:spcPct val="106000"/>
                        </a:lnSpc>
                        <a:buNone/>
                      </a:pPr>
                      <a:r>
                        <a:rPr sz="900" b="0">
                          <a:solidFill>
                            <a:srgbClr val="202020"/>
                          </a:solidFill>
                          <a:latin typeface="游ゴシック" panose="020B0400000000000000" pitchFamily="50" charset="-128"/>
                          <a:ea typeface="游ゴシック" panose="020B0400000000000000" pitchFamily="50" charset="-128"/>
                        </a:rPr>
                        <a:t>撤退効果が通期で発現した場合の仮説試算。時価純資産 △ 55,421 ＋ 営業権（年換算修正後営業利益24,912×1〜3倍）※P.8参照</a:t>
                      </a:r>
                    </a:p>
                  </a:txBody>
                  <a:tcPr marL="64008" marR="64008"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3F6FB"/>
                    </a:solidFill>
                  </a:tcPr>
                </a:tc>
                <a:extLst>
                  <a:ext uri="{0D108BD9-81ED-4DB2-BD59-A6C34878D82A}">
                    <a16:rowId xmlns:a16="http://schemas.microsoft.com/office/drawing/2014/main" val="1755084407"/>
                  </a:ext>
                </a:extLst>
              </a:tr>
            </a:tbl>
          </a:graphicData>
        </a:graphic>
      </p:graphicFrame>
      <p:sp>
        <p:nvSpPr>
          <p:cNvPr id="3" name="Rounded Rectangle 35">
            <a:extLst>
              <a:ext uri="{FF2B5EF4-FFF2-40B4-BE49-F238E27FC236}">
                <a16:creationId xmlns:a16="http://schemas.microsoft.com/office/drawing/2014/main" id="{C462A77D-B33F-B820-3A72-13CB97FB6487}"/>
              </a:ext>
            </a:extLst>
          </p:cNvPr>
          <p:cNvSpPr/>
          <p:nvPr/>
        </p:nvSpPr>
        <p:spPr>
          <a:xfrm>
            <a:off x="320040" y="4224528"/>
            <a:ext cx="9921240" cy="1700784"/>
          </a:xfrm>
          <a:prstGeom prst="roundRect">
            <a:avLst>
              <a:gd name="adj" fmla="val 3500"/>
            </a:avLst>
          </a:prstGeom>
          <a:solidFill>
            <a:srgbClr val="FFFFFF"/>
          </a:solidFill>
          <a:ln w="15875">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5" name="Rounded Rectangle 36">
            <a:extLst>
              <a:ext uri="{FF2B5EF4-FFF2-40B4-BE49-F238E27FC236}">
                <a16:creationId xmlns:a16="http://schemas.microsoft.com/office/drawing/2014/main" id="{706C6035-2BDA-E9D4-635E-4A1FCC9623D6}"/>
              </a:ext>
            </a:extLst>
          </p:cNvPr>
          <p:cNvSpPr/>
          <p:nvPr/>
        </p:nvSpPr>
        <p:spPr>
          <a:xfrm>
            <a:off x="320040" y="4224528"/>
            <a:ext cx="9921240" cy="29260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6" name="TextBox 37">
            <a:extLst>
              <a:ext uri="{FF2B5EF4-FFF2-40B4-BE49-F238E27FC236}">
                <a16:creationId xmlns:a16="http://schemas.microsoft.com/office/drawing/2014/main" id="{E16B6D57-F147-9916-FC23-D32A1089191A}"/>
              </a:ext>
            </a:extLst>
          </p:cNvPr>
          <p:cNvSpPr txBox="1"/>
          <p:nvPr/>
        </p:nvSpPr>
        <p:spPr>
          <a:xfrm>
            <a:off x="484632" y="4273241"/>
            <a:ext cx="9592056" cy="195182"/>
          </a:xfrm>
          <a:prstGeom prst="rect">
            <a:avLst/>
          </a:prstGeom>
          <a:noFill/>
        </p:spPr>
        <p:txBody>
          <a:bodyPr wrap="square" lIns="0" tIns="0" rIns="0" bIns="0" anchor="ctr">
            <a:spAutoFit/>
          </a:bodyPr>
          <a:lstStyle/>
          <a:p>
            <a:pPr algn="l">
              <a:lnSpc>
                <a:spcPct val="110000"/>
              </a:lnSpc>
            </a:pPr>
            <a:r>
              <a:rPr sz="1200" b="1">
                <a:solidFill>
                  <a:srgbClr val="FFFFFF"/>
                </a:solidFill>
                <a:latin typeface="游ゴシック" panose="020B0400000000000000" pitchFamily="50" charset="-128"/>
                <a:ea typeface="游ゴシック" panose="020B0400000000000000" pitchFamily="50" charset="-128"/>
              </a:rPr>
              <a:t>評価結果の読み方　―　株式価値は借入金の水準に規定されている</a:t>
            </a:r>
          </a:p>
        </p:txBody>
      </p:sp>
      <p:sp>
        <p:nvSpPr>
          <p:cNvPr id="7" name="Rounded Rectangle 38">
            <a:extLst>
              <a:ext uri="{FF2B5EF4-FFF2-40B4-BE49-F238E27FC236}">
                <a16:creationId xmlns:a16="http://schemas.microsoft.com/office/drawing/2014/main" id="{96FF3115-4F8F-C6E7-30A2-3681C1AE751C}"/>
              </a:ext>
            </a:extLst>
          </p:cNvPr>
          <p:cNvSpPr/>
          <p:nvPr/>
        </p:nvSpPr>
        <p:spPr>
          <a:xfrm>
            <a:off x="484632" y="4590288"/>
            <a:ext cx="91440" cy="201168"/>
          </a:xfrm>
          <a:prstGeom prst="roundRect">
            <a:avLst>
              <a:gd name="adj" fmla="val 30000"/>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1" name="TextBox 39">
            <a:extLst>
              <a:ext uri="{FF2B5EF4-FFF2-40B4-BE49-F238E27FC236}">
                <a16:creationId xmlns:a16="http://schemas.microsoft.com/office/drawing/2014/main" id="{90AC6A11-C144-6C79-D1B8-92EA1FC4EB1C}"/>
              </a:ext>
            </a:extLst>
          </p:cNvPr>
          <p:cNvSpPr txBox="1"/>
          <p:nvPr/>
        </p:nvSpPr>
        <p:spPr>
          <a:xfrm>
            <a:off x="649224" y="4610100"/>
            <a:ext cx="4549140" cy="170816"/>
          </a:xfrm>
          <a:prstGeom prst="rect">
            <a:avLst/>
          </a:prstGeom>
          <a:noFill/>
        </p:spPr>
        <p:txBody>
          <a:bodyPr wrap="square" lIns="0" tIns="0" rIns="0" bIns="0" anchor="t">
            <a:spAutoFit/>
          </a:bodyPr>
          <a:lstStyle/>
          <a:p>
            <a:pPr algn="l">
              <a:lnSpc>
                <a:spcPct val="110000"/>
              </a:lnSpc>
            </a:pPr>
            <a:r>
              <a:rPr sz="1050" b="1" dirty="0" err="1">
                <a:solidFill>
                  <a:srgbClr val="8C6D1F"/>
                </a:solidFill>
                <a:latin typeface="游ゴシック" panose="020B0400000000000000" pitchFamily="50" charset="-128"/>
                <a:ea typeface="游ゴシック" panose="020B0400000000000000" pitchFamily="50" charset="-128"/>
              </a:rPr>
              <a:t>コストアプローチ（採用・主たる手法）</a:t>
            </a:r>
            <a:endParaRPr sz="1050" b="1" dirty="0">
              <a:solidFill>
                <a:srgbClr val="8C6D1F"/>
              </a:solidFill>
              <a:latin typeface="游ゴシック" panose="020B0400000000000000" pitchFamily="50" charset="-128"/>
              <a:ea typeface="游ゴシック" panose="020B0400000000000000" pitchFamily="50" charset="-128"/>
            </a:endParaRPr>
          </a:p>
        </p:txBody>
      </p:sp>
      <p:sp>
        <p:nvSpPr>
          <p:cNvPr id="12" name="Oval 40">
            <a:extLst>
              <a:ext uri="{FF2B5EF4-FFF2-40B4-BE49-F238E27FC236}">
                <a16:creationId xmlns:a16="http://schemas.microsoft.com/office/drawing/2014/main" id="{8DEB51BE-3680-D1AE-7919-C594307A4E19}"/>
              </a:ext>
            </a:extLst>
          </p:cNvPr>
          <p:cNvSpPr/>
          <p:nvPr/>
        </p:nvSpPr>
        <p:spPr>
          <a:xfrm>
            <a:off x="502920" y="4860036"/>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5" name="TextBox 41">
            <a:extLst>
              <a:ext uri="{FF2B5EF4-FFF2-40B4-BE49-F238E27FC236}">
                <a16:creationId xmlns:a16="http://schemas.microsoft.com/office/drawing/2014/main" id="{57E21949-3E46-F996-C081-2DF194FDCB48}"/>
              </a:ext>
            </a:extLst>
          </p:cNvPr>
          <p:cNvSpPr txBox="1"/>
          <p:nvPr/>
        </p:nvSpPr>
        <p:spPr>
          <a:xfrm>
            <a:off x="685800"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時価純資産△ 61,207千円（うち評価差額△ 47,150千円）</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16" name="Oval 42">
            <a:extLst>
              <a:ext uri="{FF2B5EF4-FFF2-40B4-BE49-F238E27FC236}">
                <a16:creationId xmlns:a16="http://schemas.microsoft.com/office/drawing/2014/main" id="{98E069C5-603E-A4BF-8389-F6BAFCA19D59}"/>
              </a:ext>
            </a:extLst>
          </p:cNvPr>
          <p:cNvSpPr/>
          <p:nvPr/>
        </p:nvSpPr>
        <p:spPr>
          <a:xfrm>
            <a:off x="502920" y="5074920"/>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19" name="TextBox 43">
            <a:extLst>
              <a:ext uri="{FF2B5EF4-FFF2-40B4-BE49-F238E27FC236}">
                <a16:creationId xmlns:a16="http://schemas.microsoft.com/office/drawing/2014/main" id="{EEE56CA0-E2F3-17C4-59B0-604E31992743}"/>
              </a:ext>
            </a:extLst>
          </p:cNvPr>
          <p:cNvSpPr txBox="1"/>
          <p:nvPr/>
        </p:nvSpPr>
        <p:spPr>
          <a:xfrm>
            <a:off x="685800" y="5042916"/>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営業権は6,235〜18,705千円（基準営業利益6,235×1〜3倍）</a:t>
            </a:r>
          </a:p>
        </p:txBody>
      </p:sp>
      <p:sp>
        <p:nvSpPr>
          <p:cNvPr id="24" name="Oval 44">
            <a:extLst>
              <a:ext uri="{FF2B5EF4-FFF2-40B4-BE49-F238E27FC236}">
                <a16:creationId xmlns:a16="http://schemas.microsoft.com/office/drawing/2014/main" id="{B34C533D-8263-968E-559C-2F326720C8BB}"/>
              </a:ext>
            </a:extLst>
          </p:cNvPr>
          <p:cNvSpPr/>
          <p:nvPr/>
        </p:nvSpPr>
        <p:spPr>
          <a:xfrm>
            <a:off x="502920" y="5289804"/>
            <a:ext cx="118872" cy="118872"/>
          </a:xfrm>
          <a:prstGeom prst="ellipse">
            <a:avLst/>
          </a:prstGeom>
          <a:solidFill>
            <a:srgbClr val="8C6D1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5" name="TextBox 45">
            <a:extLst>
              <a:ext uri="{FF2B5EF4-FFF2-40B4-BE49-F238E27FC236}">
                <a16:creationId xmlns:a16="http://schemas.microsoft.com/office/drawing/2014/main" id="{E2A879C3-4FFC-AF48-94E4-CE9E288EF308}"/>
              </a:ext>
            </a:extLst>
          </p:cNvPr>
          <p:cNvSpPr txBox="1"/>
          <p:nvPr/>
        </p:nvSpPr>
        <p:spPr>
          <a:xfrm>
            <a:off x="685800" y="5257800"/>
            <a:ext cx="4494275" cy="146771"/>
          </a:xfrm>
          <a:prstGeom prst="rect">
            <a:avLst/>
          </a:prstGeom>
          <a:noFill/>
        </p:spPr>
        <p:txBody>
          <a:bodyPr wrap="square" lIns="0" tIns="0" rIns="0" bIns="0" anchor="t">
            <a:spAutoFit/>
          </a:bodyPr>
          <a:lstStyle/>
          <a:p>
            <a:pPr algn="l">
              <a:lnSpc>
                <a:spcPct val="110000"/>
              </a:lnSpc>
            </a:pPr>
            <a:r>
              <a:rPr sz="900" b="0">
                <a:solidFill>
                  <a:srgbClr val="202020"/>
                </a:solidFill>
                <a:latin typeface="游ゴシック" panose="020B0400000000000000" pitchFamily="50" charset="-128"/>
                <a:ea typeface="游ゴシック" panose="020B0400000000000000" pitchFamily="50" charset="-128"/>
              </a:rPr>
              <a:t>債務超過額を営業権で埋め切れずマイナスとなる</a:t>
            </a:r>
          </a:p>
        </p:txBody>
      </p:sp>
      <p:sp>
        <p:nvSpPr>
          <p:cNvPr id="26" name="Rounded Rectangle 46">
            <a:extLst>
              <a:ext uri="{FF2B5EF4-FFF2-40B4-BE49-F238E27FC236}">
                <a16:creationId xmlns:a16="http://schemas.microsoft.com/office/drawing/2014/main" id="{5335FD71-18A3-F824-F503-8F2853A254E3}"/>
              </a:ext>
            </a:extLst>
          </p:cNvPr>
          <p:cNvSpPr/>
          <p:nvPr/>
        </p:nvSpPr>
        <p:spPr>
          <a:xfrm>
            <a:off x="5362955" y="4590288"/>
            <a:ext cx="91440" cy="201168"/>
          </a:xfrm>
          <a:prstGeom prst="roundRect">
            <a:avLst>
              <a:gd name="adj" fmla="val 30000"/>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7" name="TextBox 47">
            <a:extLst>
              <a:ext uri="{FF2B5EF4-FFF2-40B4-BE49-F238E27FC236}">
                <a16:creationId xmlns:a16="http://schemas.microsoft.com/office/drawing/2014/main" id="{FBC57924-8675-5547-DABC-25828DD8CC81}"/>
              </a:ext>
            </a:extLst>
          </p:cNvPr>
          <p:cNvSpPr txBox="1"/>
          <p:nvPr/>
        </p:nvSpPr>
        <p:spPr>
          <a:xfrm>
            <a:off x="5527547" y="4604004"/>
            <a:ext cx="4549140" cy="170816"/>
          </a:xfrm>
          <a:prstGeom prst="rect">
            <a:avLst/>
          </a:prstGeom>
          <a:noFill/>
        </p:spPr>
        <p:txBody>
          <a:bodyPr wrap="square" lIns="0" tIns="0" rIns="0" bIns="0" anchor="t">
            <a:spAutoFit/>
          </a:bodyPr>
          <a:lstStyle/>
          <a:p>
            <a:pPr algn="l">
              <a:lnSpc>
                <a:spcPct val="110000"/>
              </a:lnSpc>
            </a:pPr>
            <a:r>
              <a:rPr sz="1050" b="1">
                <a:solidFill>
                  <a:srgbClr val="45688F"/>
                </a:solidFill>
                <a:latin typeface="游ゴシック" panose="020B0400000000000000" pitchFamily="50" charset="-128"/>
                <a:ea typeface="游ゴシック" panose="020B0400000000000000" pitchFamily="50" charset="-128"/>
              </a:rPr>
              <a:t>マーケットアプローチ（検証手法）</a:t>
            </a:r>
          </a:p>
        </p:txBody>
      </p:sp>
      <p:sp>
        <p:nvSpPr>
          <p:cNvPr id="28" name="Oval 48">
            <a:extLst>
              <a:ext uri="{FF2B5EF4-FFF2-40B4-BE49-F238E27FC236}">
                <a16:creationId xmlns:a16="http://schemas.microsoft.com/office/drawing/2014/main" id="{8F31C366-DA0F-D824-F8E8-446A91205D67}"/>
              </a:ext>
            </a:extLst>
          </p:cNvPr>
          <p:cNvSpPr/>
          <p:nvPr/>
        </p:nvSpPr>
        <p:spPr>
          <a:xfrm>
            <a:off x="5381243" y="4860036"/>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29" name="TextBox 49">
            <a:extLst>
              <a:ext uri="{FF2B5EF4-FFF2-40B4-BE49-F238E27FC236}">
                <a16:creationId xmlns:a16="http://schemas.microsoft.com/office/drawing/2014/main" id="{E74629B7-9A67-611B-D956-1E6B1F4A5977}"/>
              </a:ext>
            </a:extLst>
          </p:cNvPr>
          <p:cNvSpPr txBox="1"/>
          <p:nvPr/>
        </p:nvSpPr>
        <p:spPr>
          <a:xfrm>
            <a:off x="5564123" y="4828032"/>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基準EBITDA 16,192千円に対しEVは48,576〜80,960千円</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0" name="Oval 50">
            <a:extLst>
              <a:ext uri="{FF2B5EF4-FFF2-40B4-BE49-F238E27FC236}">
                <a16:creationId xmlns:a16="http://schemas.microsoft.com/office/drawing/2014/main" id="{720DEF93-6A39-F6DC-F0BF-83BF83B2F8EA}"/>
              </a:ext>
            </a:extLst>
          </p:cNvPr>
          <p:cNvSpPr/>
          <p:nvPr/>
        </p:nvSpPr>
        <p:spPr>
          <a:xfrm>
            <a:off x="5381243" y="5074920"/>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1" name="TextBox 51">
            <a:extLst>
              <a:ext uri="{FF2B5EF4-FFF2-40B4-BE49-F238E27FC236}">
                <a16:creationId xmlns:a16="http://schemas.microsoft.com/office/drawing/2014/main" id="{026AD4A1-8945-559A-A69C-1FECA8EFD7B7}"/>
              </a:ext>
            </a:extLst>
          </p:cNvPr>
          <p:cNvSpPr txBox="1"/>
          <p:nvPr/>
        </p:nvSpPr>
        <p:spPr>
          <a:xfrm>
            <a:off x="5564123" y="5042916"/>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ネットキャッシュ△ 189,526千円が株式価値を押し下げる</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2" name="Oval 52">
            <a:extLst>
              <a:ext uri="{FF2B5EF4-FFF2-40B4-BE49-F238E27FC236}">
                <a16:creationId xmlns:a16="http://schemas.microsoft.com/office/drawing/2014/main" id="{CA2BB05A-7128-4211-CE64-94054AE15BEF}"/>
              </a:ext>
            </a:extLst>
          </p:cNvPr>
          <p:cNvSpPr/>
          <p:nvPr/>
        </p:nvSpPr>
        <p:spPr>
          <a:xfrm>
            <a:off x="5381243" y="5289804"/>
            <a:ext cx="118872" cy="118872"/>
          </a:xfrm>
          <a:prstGeom prst="ellipse">
            <a:avLst/>
          </a:prstGeom>
          <a:solidFill>
            <a:srgbClr val="45688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3" name="TextBox 53">
            <a:extLst>
              <a:ext uri="{FF2B5EF4-FFF2-40B4-BE49-F238E27FC236}">
                <a16:creationId xmlns:a16="http://schemas.microsoft.com/office/drawing/2014/main" id="{318FBD4F-0805-AA2E-CE43-1D1CC4B21896}"/>
              </a:ext>
            </a:extLst>
          </p:cNvPr>
          <p:cNvSpPr txBox="1"/>
          <p:nvPr/>
        </p:nvSpPr>
        <p:spPr>
          <a:xfrm>
            <a:off x="5564123" y="5257800"/>
            <a:ext cx="4494275" cy="146771"/>
          </a:xfrm>
          <a:prstGeom prst="rect">
            <a:avLst/>
          </a:prstGeom>
          <a:noFill/>
        </p:spPr>
        <p:txBody>
          <a:bodyPr wrap="square" lIns="0" tIns="0" rIns="0" bIns="0" anchor="t">
            <a:spAutoFit/>
          </a:bodyPr>
          <a:lstStyle/>
          <a:p>
            <a:pPr algn="l">
              <a:lnSpc>
                <a:spcPct val="110000"/>
              </a:lnSpc>
            </a:pPr>
            <a:r>
              <a:rPr sz="900" b="0" dirty="0" err="1">
                <a:solidFill>
                  <a:srgbClr val="202020"/>
                </a:solidFill>
                <a:latin typeface="游ゴシック" panose="020B0400000000000000" pitchFamily="50" charset="-128"/>
                <a:ea typeface="游ゴシック" panose="020B0400000000000000" pitchFamily="50" charset="-128"/>
              </a:rPr>
              <a:t>非流動性ディスカウント30%の控除によりさらに低位に出る</a:t>
            </a:r>
            <a:endParaRPr sz="900" b="0" dirty="0">
              <a:solidFill>
                <a:srgbClr val="202020"/>
              </a:solidFill>
              <a:latin typeface="游ゴシック" panose="020B0400000000000000" pitchFamily="50" charset="-128"/>
              <a:ea typeface="游ゴシック" panose="020B0400000000000000" pitchFamily="50" charset="-128"/>
            </a:endParaRPr>
          </a:p>
        </p:txBody>
      </p:sp>
      <p:sp>
        <p:nvSpPr>
          <p:cNvPr id="34" name="Rounded Rectangle 54">
            <a:extLst>
              <a:ext uri="{FF2B5EF4-FFF2-40B4-BE49-F238E27FC236}">
                <a16:creationId xmlns:a16="http://schemas.microsoft.com/office/drawing/2014/main" id="{E150036B-D23E-794A-D996-32B9511B5CC3}"/>
              </a:ext>
            </a:extLst>
          </p:cNvPr>
          <p:cNvSpPr/>
          <p:nvPr/>
        </p:nvSpPr>
        <p:spPr>
          <a:xfrm>
            <a:off x="484632" y="5468112"/>
            <a:ext cx="9592056" cy="402336"/>
          </a:xfrm>
          <a:prstGeom prst="roundRect">
            <a:avLst>
              <a:gd name="adj" fmla="val 10000"/>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6" name="TextBox 55">
            <a:extLst>
              <a:ext uri="{FF2B5EF4-FFF2-40B4-BE49-F238E27FC236}">
                <a16:creationId xmlns:a16="http://schemas.microsoft.com/office/drawing/2014/main" id="{36EBAA10-3303-6F78-F802-F25ABD66B499}"/>
              </a:ext>
            </a:extLst>
          </p:cNvPr>
          <p:cNvSpPr txBox="1"/>
          <p:nvPr/>
        </p:nvSpPr>
        <p:spPr>
          <a:xfrm>
            <a:off x="630936" y="5514879"/>
            <a:ext cx="9299448" cy="308802"/>
          </a:xfrm>
          <a:prstGeom prst="rect">
            <a:avLst/>
          </a:prstGeom>
          <a:noFill/>
        </p:spPr>
        <p:txBody>
          <a:bodyPr wrap="square" lIns="0" tIns="0" rIns="0" bIns="0" anchor="ctr">
            <a:spAutoFit/>
          </a:bodyPr>
          <a:lstStyle/>
          <a:p>
            <a:pPr algn="l">
              <a:lnSpc>
                <a:spcPct val="114000"/>
              </a:lnSpc>
            </a:pPr>
            <a:r>
              <a:rPr sz="900" b="0" dirty="0">
                <a:solidFill>
                  <a:srgbClr val="1F3864"/>
                </a:solidFill>
                <a:latin typeface="游ゴシック" panose="020B0400000000000000" pitchFamily="50" charset="-128"/>
                <a:ea typeface="游ゴシック" panose="020B0400000000000000" pitchFamily="50" charset="-128"/>
              </a:rPr>
              <a:t>いずれの手法でも想定株式価値はマイナスであり、実務上は株式価値を備忘的な水準（ゼロ近傍）と置いたうえで、代表者の連帯保証（長期借入金191,858千円）の解除と役員借入金7,566千円の返済を譲渡条件の中心に据える整理が現実的である。一方、撤退効果が通期で発現すれば正常収益力は回復する。</a:t>
            </a:r>
          </a:p>
        </p:txBody>
      </p:sp>
      <p:sp>
        <p:nvSpPr>
          <p:cNvPr id="37" name="Rounded Rectangle 56">
            <a:extLst>
              <a:ext uri="{FF2B5EF4-FFF2-40B4-BE49-F238E27FC236}">
                <a16:creationId xmlns:a16="http://schemas.microsoft.com/office/drawing/2014/main" id="{83C69019-50CA-ED75-8099-0B4963A8A8BF}"/>
              </a:ext>
            </a:extLst>
          </p:cNvPr>
          <p:cNvSpPr/>
          <p:nvPr/>
        </p:nvSpPr>
        <p:spPr>
          <a:xfrm>
            <a:off x="320040" y="6053328"/>
            <a:ext cx="9921240" cy="841248"/>
          </a:xfrm>
          <a:prstGeom prst="roundRect">
            <a:avLst>
              <a:gd name="adj" fmla="val 6000"/>
            </a:avLst>
          </a:prstGeom>
          <a:solidFill>
            <a:srgbClr val="FFFFFF"/>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8" name="Rounded Rectangle 57">
            <a:extLst>
              <a:ext uri="{FF2B5EF4-FFF2-40B4-BE49-F238E27FC236}">
                <a16:creationId xmlns:a16="http://schemas.microsoft.com/office/drawing/2014/main" id="{66FA17BA-D5DF-6C2E-C518-8FB15E1075A8}"/>
              </a:ext>
            </a:extLst>
          </p:cNvPr>
          <p:cNvSpPr/>
          <p:nvPr/>
        </p:nvSpPr>
        <p:spPr>
          <a:xfrm>
            <a:off x="320040" y="6053328"/>
            <a:ext cx="1417320" cy="8412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latin typeface="游ゴシック" panose="020B0400000000000000" pitchFamily="50" charset="-128"/>
              <a:ea typeface="游ゴシック" panose="020B0400000000000000" pitchFamily="50" charset="-128"/>
            </a:endParaRPr>
          </a:p>
        </p:txBody>
      </p:sp>
      <p:sp>
        <p:nvSpPr>
          <p:cNvPr id="39" name="Rectangle 58">
            <a:extLst>
              <a:ext uri="{FF2B5EF4-FFF2-40B4-BE49-F238E27FC236}">
                <a16:creationId xmlns:a16="http://schemas.microsoft.com/office/drawing/2014/main" id="{2B3003D2-9472-9753-B838-77024EE065B8}"/>
              </a:ext>
            </a:extLst>
          </p:cNvPr>
          <p:cNvSpPr/>
          <p:nvPr/>
        </p:nvSpPr>
        <p:spPr>
          <a:xfrm>
            <a:off x="1600200" y="6053328"/>
            <a:ext cx="137160" cy="84124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游ゴシック" panose="020B0400000000000000" pitchFamily="50" charset="-128"/>
              <a:ea typeface="游ゴシック" panose="020B0400000000000000" pitchFamily="50" charset="-128"/>
            </a:endParaRPr>
          </a:p>
        </p:txBody>
      </p:sp>
      <p:sp>
        <p:nvSpPr>
          <p:cNvPr id="40" name="TextBox 59">
            <a:extLst>
              <a:ext uri="{FF2B5EF4-FFF2-40B4-BE49-F238E27FC236}">
                <a16:creationId xmlns:a16="http://schemas.microsoft.com/office/drawing/2014/main" id="{8D96FFF6-6050-9068-0324-2359CE35C74F}"/>
              </a:ext>
            </a:extLst>
          </p:cNvPr>
          <p:cNvSpPr txBox="1"/>
          <p:nvPr/>
        </p:nvSpPr>
        <p:spPr>
          <a:xfrm>
            <a:off x="411479" y="6368218"/>
            <a:ext cx="1271016" cy="211468"/>
          </a:xfrm>
          <a:prstGeom prst="rect">
            <a:avLst/>
          </a:prstGeom>
          <a:noFill/>
        </p:spPr>
        <p:txBody>
          <a:bodyPr wrap="square" lIns="0" tIns="0" rIns="0" bIns="0" anchor="ctr">
            <a:spAutoFit/>
          </a:bodyPr>
          <a:lstStyle/>
          <a:p>
            <a:pPr algn="ctr">
              <a:lnSpc>
                <a:spcPct val="110000"/>
              </a:lnSpc>
            </a:pPr>
            <a:r>
              <a:rPr sz="1300" b="1">
                <a:solidFill>
                  <a:srgbClr val="FFFFFF"/>
                </a:solidFill>
                <a:latin typeface="游ゴシック" panose="020B0400000000000000" pitchFamily="50" charset="-128"/>
                <a:ea typeface="游ゴシック" panose="020B0400000000000000" pitchFamily="50" charset="-128"/>
              </a:rPr>
              <a:t>ポイント</a:t>
            </a:r>
          </a:p>
        </p:txBody>
      </p:sp>
      <p:sp>
        <p:nvSpPr>
          <p:cNvPr id="41" name="Oval 60">
            <a:extLst>
              <a:ext uri="{FF2B5EF4-FFF2-40B4-BE49-F238E27FC236}">
                <a16:creationId xmlns:a16="http://schemas.microsoft.com/office/drawing/2014/main" id="{8016429C-7314-45F3-F0A9-6686F6C91103}"/>
              </a:ext>
            </a:extLst>
          </p:cNvPr>
          <p:cNvSpPr/>
          <p:nvPr/>
        </p:nvSpPr>
        <p:spPr>
          <a:xfrm>
            <a:off x="188366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2" name="TextBox 61">
            <a:extLst>
              <a:ext uri="{FF2B5EF4-FFF2-40B4-BE49-F238E27FC236}">
                <a16:creationId xmlns:a16="http://schemas.microsoft.com/office/drawing/2014/main" id="{C35530C5-E555-7AE5-C9FF-0747E7314549}"/>
              </a:ext>
            </a:extLst>
          </p:cNvPr>
          <p:cNvSpPr txBox="1"/>
          <p:nvPr/>
        </p:nvSpPr>
        <p:spPr>
          <a:xfrm>
            <a:off x="219456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株式価値は2手法ともマイナス。
借入金191,858千円が最大の要因</a:t>
            </a:r>
          </a:p>
        </p:txBody>
      </p:sp>
      <p:sp>
        <p:nvSpPr>
          <p:cNvPr id="43" name="Oval 62">
            <a:extLst>
              <a:ext uri="{FF2B5EF4-FFF2-40B4-BE49-F238E27FC236}">
                <a16:creationId xmlns:a16="http://schemas.microsoft.com/office/drawing/2014/main" id="{BD6F58C2-3984-2CA7-FF48-CAFEA40424CA}"/>
              </a:ext>
            </a:extLst>
          </p:cNvPr>
          <p:cNvSpPr/>
          <p:nvPr/>
        </p:nvSpPr>
        <p:spPr>
          <a:xfrm>
            <a:off x="471830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4" name="TextBox 63">
            <a:extLst>
              <a:ext uri="{FF2B5EF4-FFF2-40B4-BE49-F238E27FC236}">
                <a16:creationId xmlns:a16="http://schemas.microsoft.com/office/drawing/2014/main" id="{81B3B557-23D3-8F18-2F97-30A34D909D0B}"/>
              </a:ext>
            </a:extLst>
          </p:cNvPr>
          <p:cNvSpPr txBox="1"/>
          <p:nvPr/>
        </p:nvSpPr>
        <p:spPr>
          <a:xfrm>
            <a:off x="502920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正常収益力（基準営業利益6,235千円）
自体は確保されている</a:t>
            </a:r>
          </a:p>
        </p:txBody>
      </p:sp>
      <p:cxnSp>
        <p:nvCxnSpPr>
          <p:cNvPr id="45" name="Connector 64">
            <a:extLst>
              <a:ext uri="{FF2B5EF4-FFF2-40B4-BE49-F238E27FC236}">
                <a16:creationId xmlns:a16="http://schemas.microsoft.com/office/drawing/2014/main" id="{5E5E6452-2E67-5655-FF63-784F5F275FE4}"/>
              </a:ext>
            </a:extLst>
          </p:cNvPr>
          <p:cNvCxnSpPr/>
          <p:nvPr/>
        </p:nvCxnSpPr>
        <p:spPr>
          <a:xfrm>
            <a:off x="457200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
        <p:nvSpPr>
          <p:cNvPr id="46" name="Oval 65">
            <a:extLst>
              <a:ext uri="{FF2B5EF4-FFF2-40B4-BE49-F238E27FC236}">
                <a16:creationId xmlns:a16="http://schemas.microsoft.com/office/drawing/2014/main" id="{7366481F-2D76-A1AC-9531-E59FF08F3A2F}"/>
              </a:ext>
            </a:extLst>
          </p:cNvPr>
          <p:cNvSpPr/>
          <p:nvPr/>
        </p:nvSpPr>
        <p:spPr>
          <a:xfrm>
            <a:off x="7552944" y="6355080"/>
            <a:ext cx="237744" cy="2377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游ゴシック" panose="020B0400000000000000" pitchFamily="50" charset="-128"/>
                <a:ea typeface="游ゴシック" panose="020B0400000000000000" pitchFamily="50" charset="-128"/>
              </a:rPr>
              <a:t>✓</a:t>
            </a:r>
          </a:p>
        </p:txBody>
      </p:sp>
      <p:sp>
        <p:nvSpPr>
          <p:cNvPr id="47" name="TextBox 66">
            <a:extLst>
              <a:ext uri="{FF2B5EF4-FFF2-40B4-BE49-F238E27FC236}">
                <a16:creationId xmlns:a16="http://schemas.microsoft.com/office/drawing/2014/main" id="{C943CBED-9BB5-78AC-8AAA-C3B6EC64B0C8}"/>
              </a:ext>
            </a:extLst>
          </p:cNvPr>
          <p:cNvSpPr txBox="1"/>
          <p:nvPr/>
        </p:nvSpPr>
        <p:spPr>
          <a:xfrm>
            <a:off x="7863840" y="6319582"/>
            <a:ext cx="2285999" cy="308739"/>
          </a:xfrm>
          <a:prstGeom prst="rect">
            <a:avLst/>
          </a:prstGeom>
          <a:noFill/>
        </p:spPr>
        <p:txBody>
          <a:bodyPr wrap="square" lIns="0" tIns="0" rIns="0" bIns="0" anchor="ctr">
            <a:spAutoFit/>
          </a:bodyPr>
          <a:lstStyle/>
          <a:p>
            <a:pPr algn="l">
              <a:lnSpc>
                <a:spcPct val="110000"/>
              </a:lnSpc>
            </a:pPr>
            <a:r>
              <a:rPr sz="930" b="1" dirty="0" err="1">
                <a:solidFill>
                  <a:srgbClr val="202020"/>
                </a:solidFill>
                <a:latin typeface="游ゴシック" panose="020B0400000000000000" pitchFamily="50" charset="-128"/>
                <a:ea typeface="游ゴシック" panose="020B0400000000000000" pitchFamily="50" charset="-128"/>
              </a:rPr>
              <a:t>進行期の年換算では上限が
△ 6,095千円まで回復する（P.8）</a:t>
            </a:r>
          </a:p>
        </p:txBody>
      </p:sp>
      <p:cxnSp>
        <p:nvCxnSpPr>
          <p:cNvPr id="48" name="Connector 67">
            <a:extLst>
              <a:ext uri="{FF2B5EF4-FFF2-40B4-BE49-F238E27FC236}">
                <a16:creationId xmlns:a16="http://schemas.microsoft.com/office/drawing/2014/main" id="{2AD97C75-BC44-BF99-6DCE-43556C2B9203}"/>
              </a:ext>
            </a:extLst>
          </p:cNvPr>
          <p:cNvCxnSpPr/>
          <p:nvPr/>
        </p:nvCxnSpPr>
        <p:spPr>
          <a:xfrm>
            <a:off x="7406640" y="6172200"/>
            <a:ext cx="0" cy="603504"/>
          </a:xfrm>
          <a:prstGeom prst="line">
            <a:avLst/>
          </a:prstGeom>
          <a:ln w="9525">
            <a:solidFill>
              <a:srgbClr val="C8D2E0"/>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1411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371DA-C25D-7F01-0C28-2B43B1B33564}"/>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A7412CA0-F3EF-4734-CC49-C786E0300145}"/>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採用するアプローチの選定</a:t>
            </a:r>
          </a:p>
        </p:txBody>
      </p:sp>
      <p:sp>
        <p:nvSpPr>
          <p:cNvPr id="20" name="タイトル 1">
            <a:extLst>
              <a:ext uri="{FF2B5EF4-FFF2-40B4-BE49-F238E27FC236}">
                <a16:creationId xmlns:a16="http://schemas.microsoft.com/office/drawing/2014/main" id="{49CDD4F0-E0CB-9196-B467-1A9DD0FE74A5}"/>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A9732D9E-8C9D-B414-798C-01440721FFF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中小企業のM&amp;Aで一般的に用いられるコストアプローチ（時価純資産＋営業権法）とマーケットアプローチ（EV/EBITDAマルチプル法）の2手法を採用する。インカムアプローチは、詳細な事業計画が存在せず将来キャッシュ・フローの合理的な見積りが困難であるため採用しない。</a:t>
            </a:r>
            <a:endParaRPr lang="en-US" altLang="ja-JP" dirty="0">
              <a:latin typeface="游ゴシック" panose="020B0400000000000000" pitchFamily="50" charset="-128"/>
              <a:ea typeface="游ゴシック" panose="020B0400000000000000" pitchFamily="50" charset="-128"/>
            </a:endParaRPr>
          </a:p>
        </p:txBody>
      </p:sp>
      <p:graphicFrame>
        <p:nvGraphicFramePr>
          <p:cNvPr id="11" name="表 10">
            <a:extLst>
              <a:ext uri="{FF2B5EF4-FFF2-40B4-BE49-F238E27FC236}">
                <a16:creationId xmlns:a16="http://schemas.microsoft.com/office/drawing/2014/main" id="{8D1A8F18-47A8-882C-04F3-7274BE8DFA21}"/>
              </a:ext>
            </a:extLst>
          </p:cNvPr>
          <p:cNvGraphicFramePr>
            <a:graphicFrameLocks noGrp="1"/>
          </p:cNvGraphicFramePr>
          <p:nvPr>
            <p:extLst>
              <p:ext uri="{D42A27DB-BD31-4B8C-83A1-F6EECF244321}">
                <p14:modId xmlns:p14="http://schemas.microsoft.com/office/powerpoint/2010/main" val="777190556"/>
              </p:ext>
            </p:extLst>
          </p:nvPr>
        </p:nvGraphicFramePr>
        <p:xfrm>
          <a:off x="341313" y="1874519"/>
          <a:ext cx="9902952" cy="4151376"/>
        </p:xfrm>
        <a:graphic>
          <a:graphicData uri="http://schemas.openxmlformats.org/drawingml/2006/table">
            <a:tbl>
              <a:tblPr/>
              <a:tblGrid>
                <a:gridCol w="1737360">
                  <a:extLst>
                    <a:ext uri="{9D8B030D-6E8A-4147-A177-3AD203B41FA5}">
                      <a16:colId xmlns:a16="http://schemas.microsoft.com/office/drawing/2014/main" val="2226821946"/>
                    </a:ext>
                  </a:extLst>
                </a:gridCol>
                <a:gridCol w="2651760">
                  <a:extLst>
                    <a:ext uri="{9D8B030D-6E8A-4147-A177-3AD203B41FA5}">
                      <a16:colId xmlns:a16="http://schemas.microsoft.com/office/drawing/2014/main" val="394351917"/>
                    </a:ext>
                  </a:extLst>
                </a:gridCol>
                <a:gridCol w="822960">
                  <a:extLst>
                    <a:ext uri="{9D8B030D-6E8A-4147-A177-3AD203B41FA5}">
                      <a16:colId xmlns:a16="http://schemas.microsoft.com/office/drawing/2014/main" val="2273061486"/>
                    </a:ext>
                  </a:extLst>
                </a:gridCol>
                <a:gridCol w="4690872">
                  <a:extLst>
                    <a:ext uri="{9D8B030D-6E8A-4147-A177-3AD203B41FA5}">
                      <a16:colId xmlns:a16="http://schemas.microsoft.com/office/drawing/2014/main" val="3147415530"/>
                    </a:ext>
                  </a:extLst>
                </a:gridCol>
              </a:tblGrid>
              <a:tr h="310896">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手法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採否</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tc>
                  <a:txBody>
                    <a:bodyPr/>
                    <a:lstStyle/>
                    <a:p>
                      <a:pPr algn="ctr" fontAlgn="ctr">
                        <a:buNone/>
                      </a:pPr>
                      <a:r>
                        <a:rPr lang="ja-JP" sz="950" b="1" i="0" u="none" strike="noStrike" dirty="0">
                          <a:solidFill>
                            <a:srgbClr val="FFFFFF"/>
                          </a:solidFill>
                          <a:effectLst/>
                          <a:latin typeface="游ゴシック" panose="020B0400000000000000" pitchFamily="50" charset="-128"/>
                          <a:ea typeface="游ゴシック" panose="020B0400000000000000" pitchFamily="50" charset="-128"/>
                        </a:rPr>
                        <a:t>採否の理由</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B3041"/>
                    </a:solidFill>
                  </a:tcPr>
                </a:tc>
                <a:extLst>
                  <a:ext uri="{0D108BD9-81ED-4DB2-BD59-A6C34878D82A}">
                    <a16:rowId xmlns:a16="http://schemas.microsoft.com/office/drawing/2014/main" val="2136583368"/>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コストアプローチ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時価純資産＋営業権法（年買法）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純資産を時価評価したうえで正常収益力に基づく営業権を加算する手法。中小企業M&amp;Aで最も一般的に用いられ、当事者にとって検証可能性が高い</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10604957"/>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マーケットアプローチ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類似会社比準法（EV/EBITDAマルチプル法）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上場類似会社の株価倍率を参照して事業価値を算定する手法。市場環境を反映した客観的な検証手段として併用する</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69350144"/>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インカムアプローチ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DCF法・収益還元法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不採用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将来の事業計画が策定されておらず、将来キャッシュ・フローを合理的に見積ることが困難であるため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755084407"/>
                  </a:ext>
                </a:extLst>
              </a:tr>
              <a:tr h="960120">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インカムアプローチ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dirty="0">
                          <a:solidFill>
                            <a:srgbClr val="000000"/>
                          </a:solidFill>
                          <a:effectLst/>
                          <a:latin typeface="游ゴシック" panose="020B0400000000000000" pitchFamily="50" charset="-128"/>
                          <a:ea typeface="游ゴシック" panose="020B0400000000000000" pitchFamily="50" charset="-128"/>
                        </a:rPr>
                        <a:t>配当還元法</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ctr"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不採用</a:t>
                      </a:r>
                    </a:p>
                  </a:txBody>
                  <a:tcPr marL="6350" marR="6350"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b">
                        <a:buNone/>
                      </a:pPr>
                      <a:r>
                        <a:rPr lang="ja-JP" sz="950" b="0" i="0" u="none" strike="noStrike">
                          <a:solidFill>
                            <a:srgbClr val="000000"/>
                          </a:solidFill>
                          <a:effectLst/>
                          <a:latin typeface="游ゴシック" panose="020B0400000000000000" pitchFamily="50" charset="-128"/>
                          <a:ea typeface="游ゴシック" panose="020B0400000000000000" pitchFamily="50" charset="-128"/>
                        </a:rPr>
                        <a:t>少数株主の視点に立つ手法であり、発行済株式の100%譲渡という本取引の性質に適合しないため</a:t>
                      </a:r>
                    </a:p>
                  </a:txBody>
                  <a:tcPr marL="109728" marR="36576" marT="6350"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54073247"/>
                  </a:ext>
                </a:extLst>
              </a:tr>
            </a:tbl>
          </a:graphicData>
        </a:graphic>
      </p:graphicFrame>
    </p:spTree>
    <p:extLst>
      <p:ext uri="{BB962C8B-B14F-4D97-AF65-F5344CB8AC3E}">
        <p14:creationId xmlns:p14="http://schemas.microsoft.com/office/powerpoint/2010/main" val="31981612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FDEB-F9F2-96DC-838A-7FDC0146B98E}"/>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539E11E6-6AFA-CA56-713C-06699CFF2ADC}"/>
              </a:ext>
            </a:extLst>
          </p:cNvPr>
          <p:cNvSpPr>
            <a:spLocks noGrp="1"/>
          </p:cNvSpPr>
          <p:nvPr>
            <p:ph type="ctrTitle"/>
          </p:nvPr>
        </p:nvSpPr>
        <p:spPr/>
        <p:txBody>
          <a:bodyPr/>
          <a:lstStyle/>
          <a:p>
            <a:r>
              <a:rPr lang="ja-JP" altLang="en-US" dirty="0">
                <a:latin typeface="游ゴシック" panose="020B0400000000000000" pitchFamily="50" charset="-128"/>
                <a:ea typeface="游ゴシック" panose="020B0400000000000000" pitchFamily="50" charset="-128"/>
              </a:rPr>
              <a:t>参考｜進行期実績を年換算した場合の試算</a:t>
            </a:r>
          </a:p>
        </p:txBody>
      </p:sp>
      <p:sp>
        <p:nvSpPr>
          <p:cNvPr id="20" name="タイトル 1">
            <a:extLst>
              <a:ext uri="{FF2B5EF4-FFF2-40B4-BE49-F238E27FC236}">
                <a16:creationId xmlns:a16="http://schemas.microsoft.com/office/drawing/2014/main" id="{A4B1CA18-DAF6-3992-876F-0856A71C6878}"/>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latin typeface="游ゴシック" panose="020B0400000000000000" pitchFamily="50" charset="-128"/>
                <a:ea typeface="游ゴシック" panose="020B0400000000000000" pitchFamily="50" charset="-128"/>
              </a:rPr>
              <a:t>Valuation Summary</a:t>
            </a:r>
          </a:p>
        </p:txBody>
      </p:sp>
      <p:sp>
        <p:nvSpPr>
          <p:cNvPr id="35" name="字幕 13">
            <a:extLst>
              <a:ext uri="{FF2B5EF4-FFF2-40B4-BE49-F238E27FC236}">
                <a16:creationId xmlns:a16="http://schemas.microsoft.com/office/drawing/2014/main" id="{79E2C05E-6C1C-4A67-87BE-BE66A1BDA40B}"/>
              </a:ext>
            </a:extLst>
          </p:cNvPr>
          <p:cNvSpPr>
            <a:spLocks noGrp="1"/>
          </p:cNvSpPr>
          <p:nvPr>
            <p:ph type="subTitle" idx="1"/>
          </p:nvPr>
        </p:nvSpPr>
        <p:spPr>
          <a:xfrm>
            <a:off x="460675" y="830046"/>
            <a:ext cx="9781875" cy="761026"/>
          </a:xfrm>
        </p:spPr>
        <p:txBody>
          <a:bodyPr>
            <a:noAutofit/>
          </a:bodyPr>
          <a:lstStyle/>
          <a:p>
            <a:r>
              <a:rPr lang="ja-JP" altLang="en-US" dirty="0">
                <a:latin typeface="游ゴシック" panose="020B0400000000000000" pitchFamily="50" charset="-128"/>
                <a:ea typeface="游ゴシック" panose="020B0400000000000000" pitchFamily="50" charset="-128"/>
              </a:rPr>
              <a:t>不採算2店舗の撤退効果が通期で発現し、進行期7か月の水準が年間を通じて維持されることを前提とした仮説試算。評価結果ではないが、撤退が正常収益力に与える影響の大きさを示すものとして併記する。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3" name="表 2">
            <a:extLst>
              <a:ext uri="{FF2B5EF4-FFF2-40B4-BE49-F238E27FC236}">
                <a16:creationId xmlns:a16="http://schemas.microsoft.com/office/drawing/2014/main" id="{E566131D-1FDA-971E-8275-99BAA4785941}"/>
              </a:ext>
            </a:extLst>
          </p:cNvPr>
          <p:cNvGraphicFramePr>
            <a:graphicFrameLocks noGrp="1"/>
          </p:cNvGraphicFramePr>
          <p:nvPr>
            <p:extLst>
              <p:ext uri="{D42A27DB-BD31-4B8C-83A1-F6EECF244321}">
                <p14:modId xmlns:p14="http://schemas.microsoft.com/office/powerpoint/2010/main" val="764819747"/>
              </p:ext>
            </p:extLst>
          </p:nvPr>
        </p:nvGraphicFramePr>
        <p:xfrm>
          <a:off x="341312" y="1764792"/>
          <a:ext cx="10012680" cy="4315968"/>
        </p:xfrm>
        <a:graphic>
          <a:graphicData uri="http://schemas.openxmlformats.org/drawingml/2006/table">
            <a:tbl>
              <a:tblPr/>
              <a:tblGrid>
                <a:gridCol w="1143000">
                  <a:extLst>
                    <a:ext uri="{9D8B030D-6E8A-4147-A177-3AD203B41FA5}">
                      <a16:colId xmlns:a16="http://schemas.microsoft.com/office/drawing/2014/main" val="3669490461"/>
                    </a:ext>
                  </a:extLst>
                </a:gridCol>
                <a:gridCol w="2926080">
                  <a:extLst>
                    <a:ext uri="{9D8B030D-6E8A-4147-A177-3AD203B41FA5}">
                      <a16:colId xmlns:a16="http://schemas.microsoft.com/office/drawing/2014/main" val="2793615800"/>
                    </a:ext>
                  </a:extLst>
                </a:gridCol>
                <a:gridCol w="1463040">
                  <a:extLst>
                    <a:ext uri="{9D8B030D-6E8A-4147-A177-3AD203B41FA5}">
                      <a16:colId xmlns:a16="http://schemas.microsoft.com/office/drawing/2014/main" val="1996097912"/>
                    </a:ext>
                  </a:extLst>
                </a:gridCol>
                <a:gridCol w="4480560">
                  <a:extLst>
                    <a:ext uri="{9D8B030D-6E8A-4147-A177-3AD203B41FA5}">
                      <a16:colId xmlns:a16="http://schemas.microsoft.com/office/drawing/2014/main" val="583706970"/>
                    </a:ext>
                  </a:extLst>
                </a:gridCol>
              </a:tblGrid>
              <a:tr h="292608">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区分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項目</a:t>
                      </a:r>
                    </a:p>
                  </a:txBody>
                  <a:tcPr marL="54864" marR="36576"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金額（千円）</a:t>
                      </a:r>
                    </a:p>
                  </a:txBody>
                  <a:tcPr marL="0" marR="0"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前提・算定方法</a:t>
                      </a:r>
                    </a:p>
                  </a:txBody>
                  <a:tcPr marL="146304" marR="36576" marT="0" marB="0" anchor="ctr">
                    <a:lnL>
                      <a:noFill/>
                    </a:lnL>
                    <a:lnR>
                      <a:noFill/>
                    </a:lnR>
                    <a:lnT w="12700" cap="flat" cmpd="sng" algn="ctr">
                      <a:solidFill>
                        <a:srgbClr val="0B3A5B"/>
                      </a:solidFill>
                      <a:prstDash val="solid"/>
                      <a:round/>
                      <a:headEnd type="none" w="med" len="med"/>
                      <a:tailEnd type="none" w="med" len="med"/>
                    </a:lnT>
                    <a:lnB w="12700" cap="flat" cmpd="sng" algn="ctr">
                      <a:solidFill>
                        <a:srgbClr val="0B3A5B"/>
                      </a:solidFill>
                      <a:prstDash val="solid"/>
                      <a:round/>
                      <a:headEnd type="none" w="med" len="med"/>
                      <a:tailEnd type="none" w="med" len="med"/>
                    </a:lnB>
                    <a:solidFill>
                      <a:srgbClr val="0B3041"/>
                    </a:solidFill>
                  </a:tcPr>
                </a:tc>
                <a:extLst>
                  <a:ext uri="{0D108BD9-81ED-4DB2-BD59-A6C34878D82A}">
                    <a16:rowId xmlns:a16="http://schemas.microsoft.com/office/drawing/2014/main" val="2124648568"/>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正常収益力</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進行期7か月 営業利益</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54864" marR="36576"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6,637</a:t>
                      </a:r>
                    </a:p>
                  </a:txBody>
                  <a:tcPr marL="0" marR="0"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月次では減価償却費が未計上のため実質的にEBITDAベース</a:t>
                      </a:r>
                    </a:p>
                  </a:txBody>
                  <a:tcPr marL="146304" marR="36576" marT="0" marB="0" anchor="ctr">
                    <a:lnL>
                      <a:noFill/>
                    </a:lnL>
                    <a:lnR>
                      <a:noFill/>
                    </a:lnR>
                    <a:lnT w="12700" cap="flat" cmpd="sng" algn="ctr">
                      <a:solidFill>
                        <a:srgbClr val="0B3A5B"/>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559026932"/>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正常収益力調整（7か月相当）</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11,599</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第5期の調整項目合計19,884千円を7か月按分</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進行期7か月 修正後EBITDA</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18,236</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3129277040"/>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altLang="ja-JP" sz="900" b="1" i="0" u="none" strike="noStrike" dirty="0">
                          <a:solidFill>
                            <a:srgbClr val="000000"/>
                          </a:solidFill>
                          <a:effectLst/>
                          <a:latin typeface="游ゴシック" panose="020B0400000000000000" pitchFamily="50" charset="-128"/>
                          <a:ea typeface="游ゴシック" panose="020B0400000000000000" pitchFamily="50" charset="-128"/>
                        </a:rPr>
                        <a:t>年換算 修正後EBITDA</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31,261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7か月実績を12か月へ単純年換算</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4215961394"/>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en-US" altLang="ja-JP" sz="10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減価償却費（通期実績）</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6,349</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第5期の実績額を通期見込みとして控除</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solidFill>
                      <a:srgbClr val="F5F8FB"/>
                    </a:solidFill>
                  </a:tcPr>
                </a:tc>
                <a:extLst>
                  <a:ext uri="{0D108BD9-81ED-4DB2-BD59-A6C34878D82A}">
                    <a16:rowId xmlns:a16="http://schemas.microsoft.com/office/drawing/2014/main" val="97534900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年換算 修正後営業利益</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24,912</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3162399901"/>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株式価値</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時価純資産（2026年6月末ベース）</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55,421</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進行期末の純資産から営業権・仮払金を控除。棚卸資産の廃棄損は進行期に計上済のため追加の評価減はない</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営業権（税考慮後営業利益×1倍）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16,442</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実効税率34%を考慮</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営業権（税考慮後営業利益×3倍）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49,326</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同上</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r h="402336">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想定株式価値（営業権1〜3倍）</a:t>
                      </a:r>
                    </a:p>
                  </a:txBody>
                  <a:tcPr marL="5486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38,979 〜 △ 6,095</a:t>
                      </a:r>
                    </a:p>
                  </a:txBody>
                  <a:tcPr marL="0" marR="0"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時価純資産＋営業権</a:t>
                      </a:r>
                    </a:p>
                  </a:txBody>
                  <a:tcPr marL="146304" marR="36576" marT="0" marB="0" anchor="ctr">
                    <a:lnL>
                      <a:noFill/>
                    </a:lnL>
                    <a:lnR>
                      <a:noFill/>
                    </a:lnR>
                    <a:lnT w="6350" cap="flat" cmpd="sng" algn="ctr">
                      <a:solidFill>
                        <a:srgbClr val="B7C9D6"/>
                      </a:solidFill>
                      <a:prstDash val="solid"/>
                      <a:round/>
                      <a:headEnd type="none" w="med" len="med"/>
                      <a:tailEnd type="none" w="med" len="med"/>
                    </a:lnT>
                    <a:lnB w="6350" cap="flat" cmpd="sng" algn="ctr">
                      <a:solidFill>
                        <a:srgbClr val="B7C9D6"/>
                      </a:solidFill>
                      <a:prstDash val="solid"/>
                      <a:round/>
                      <a:headEnd type="none" w="med" len="med"/>
                      <a:tailEnd type="none" w="med" len="med"/>
                    </a:lnB>
                    <a:noFill/>
                  </a:tcPr>
                </a:tc>
                <a:extLst>
                  <a:ext uri="{0D108BD9-81ED-4DB2-BD59-A6C34878D82A}">
                    <a16:rowId xmlns:a16="http://schemas.microsoft.com/office/drawing/2014/main" val="1624083827"/>
                  </a:ext>
                </a:extLst>
              </a:tr>
            </a:tbl>
          </a:graphicData>
        </a:graphic>
      </p:graphicFrame>
      <p:sp>
        <p:nvSpPr>
          <p:cNvPr id="36" name="TextBox 35"/>
          <p:cNvSpPr txBox="1"/>
          <p:nvPr/>
        </p:nvSpPr>
        <p:spPr>
          <a:xfrm>
            <a:off x="338328" y="6400800"/>
            <a:ext cx="10012680" cy="731520"/>
          </a:xfrm>
          <a:prstGeom prst="rect">
            <a:avLst/>
          </a:prstGeom>
          <a:noFill/>
        </p:spPr>
        <p:txBody>
          <a:bodyPr wrap="square">
            <a:spAutoFit/>
          </a:bodyPr>
          <a:lstStyle/>
          <a:p>
            <a:r>
              <a:rPr sz="850">
                <a:latin typeface="游ゴシック Medium"/>
              </a:rPr>
              <a:t>※本試算は「進行期7か月の水準が通期で維持されること」を唯一の前提とした感応度分析であり、事業計画に基づくものではない。実績が確定するまでは評価結果として用いない。</a:t>
            </a:r>
          </a:p>
          <a:p>
            <a:r>
              <a:rPr sz="850">
                <a:latin typeface="游ゴシック Medium"/>
              </a:rPr>
              <a:t>※進行期は月次で減価償却費・法定福利費が未計上であり、通期ではその分だけ利益が減少する。また2026年5月に租税公課4,969千円を一括計上しており、単月では5〜6月が営業赤字である。</a:t>
            </a:r>
          </a:p>
          <a:p>
            <a:r>
              <a:rPr sz="850">
                <a:latin typeface="游ゴシック Medium"/>
              </a:rPr>
              <a:t>※マーケットアプローチはネットキャッシュ（2026年6月末で△180,469千円）の影響が大きく、年換算ベースでも株式価値はマイナスにとどまるため、本ページではコストアプローチのみを示している。</a:t>
            </a:r>
          </a:p>
        </p:txBody>
      </p:sp>
    </p:spTree>
    <p:extLst>
      <p:ext uri="{BB962C8B-B14F-4D97-AF65-F5344CB8AC3E}">
        <p14:creationId xmlns:p14="http://schemas.microsoft.com/office/powerpoint/2010/main" val="540001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Financial Analysis　― 正常収益力</a:t>
            </a:r>
            <a:endParaRPr lang="en-US" altLang="ja-JP" dirty="0"/>
          </a:p>
        </p:txBody>
      </p:sp>
      <p:pic>
        <p:nvPicPr>
          <p:cNvPr id="7" name="図 6">
            <a:extLst>
              <a:ext uri="{FF2B5EF4-FFF2-40B4-BE49-F238E27FC236}">
                <a16:creationId xmlns:a16="http://schemas.microsoft.com/office/drawing/2014/main" id="{C8D5CA77-B77E-EE25-04B7-23BDB60E0B2A}"/>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5841CF96-EF85-6F41-A092-6ED9083D3E7C}"/>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797825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修正P/Lの算定（正常収益力）</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mj-ea"/>
              </a:rPr>
              <a:t>販管費の修正を反映した修正後営業利益に、経常的に発生する雑収入（社員割引）を加算して正常収益力とする。2025年11月期の正常収益力は332千円、3期を通じては332千円〜23,471千円の水準である。</a:t>
            </a:r>
            <a:endParaRPr lang="en-US" altLang="ja-JP" dirty="0"/>
          </a:p>
        </p:txBody>
      </p:sp>
      <p:graphicFrame>
        <p:nvGraphicFramePr>
          <p:cNvPr id="4" name="表 3">
            <a:extLst>
              <a:ext uri="{FF2B5EF4-FFF2-40B4-BE49-F238E27FC236}">
                <a16:creationId xmlns:a16="http://schemas.microsoft.com/office/drawing/2014/main" id="{CC8F67C9-68E7-9BE5-E6D9-6B1766F63D86}"/>
              </a:ext>
            </a:extLst>
          </p:cNvPr>
          <p:cNvGraphicFramePr>
            <a:graphicFrameLocks noGrp="1"/>
          </p:cNvGraphicFramePr>
          <p:nvPr>
            <p:extLst>
              <p:ext uri="{D42A27DB-BD31-4B8C-83A1-F6EECF244321}">
                <p14:modId xmlns:p14="http://schemas.microsoft.com/office/powerpoint/2010/main" val="465018164"/>
              </p:ext>
            </p:extLst>
          </p:nvPr>
        </p:nvGraphicFramePr>
        <p:xfrm>
          <a:off x="311150" y="1737360"/>
          <a:ext cx="10040112" cy="4462272"/>
        </p:xfrm>
        <a:graphic>
          <a:graphicData uri="http://schemas.openxmlformats.org/drawingml/2006/table">
            <a:tbl>
              <a:tblPr/>
              <a:tblGrid>
                <a:gridCol w="1920240">
                  <a:extLst>
                    <a:ext uri="{9D8B030D-6E8A-4147-A177-3AD203B41FA5}">
                      <a16:colId xmlns:a16="http://schemas.microsoft.com/office/drawing/2014/main" val="2009964781"/>
                    </a:ext>
                  </a:extLst>
                </a:gridCol>
                <a:gridCol w="932688">
                  <a:extLst>
                    <a:ext uri="{9D8B030D-6E8A-4147-A177-3AD203B41FA5}">
                      <a16:colId xmlns:a16="http://schemas.microsoft.com/office/drawing/2014/main" val="2892268224"/>
                    </a:ext>
                  </a:extLst>
                </a:gridCol>
                <a:gridCol w="932688">
                  <a:extLst>
                    <a:ext uri="{9D8B030D-6E8A-4147-A177-3AD203B41FA5}">
                      <a16:colId xmlns:a16="http://schemas.microsoft.com/office/drawing/2014/main" val="1250532957"/>
                    </a:ext>
                  </a:extLst>
                </a:gridCol>
                <a:gridCol w="932688">
                  <a:extLst>
                    <a:ext uri="{9D8B030D-6E8A-4147-A177-3AD203B41FA5}">
                      <a16:colId xmlns:a16="http://schemas.microsoft.com/office/drawing/2014/main" val="2143222230"/>
                    </a:ext>
                  </a:extLst>
                </a:gridCol>
                <a:gridCol w="877824">
                  <a:extLst>
                    <a:ext uri="{9D8B030D-6E8A-4147-A177-3AD203B41FA5}">
                      <a16:colId xmlns:a16="http://schemas.microsoft.com/office/drawing/2014/main" val="781273896"/>
                    </a:ext>
                  </a:extLst>
                </a:gridCol>
                <a:gridCol w="932688">
                  <a:extLst>
                    <a:ext uri="{9D8B030D-6E8A-4147-A177-3AD203B41FA5}">
                      <a16:colId xmlns:a16="http://schemas.microsoft.com/office/drawing/2014/main" val="2143180587"/>
                    </a:ext>
                  </a:extLst>
                </a:gridCol>
                <a:gridCol w="3511296">
                  <a:extLst>
                    <a:ext uri="{9D8B030D-6E8A-4147-A177-3AD203B41FA5}">
                      <a16:colId xmlns:a16="http://schemas.microsoft.com/office/drawing/2014/main" val="705162408"/>
                    </a:ext>
                  </a:extLst>
                </a:gridCol>
              </a:tblGrid>
              <a:tr h="420624">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3698" marR="3698" marT="3698"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帳簿価額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修正額</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25年11月期
修正後</a:t>
                      </a:r>
                    </a:p>
                  </a:txBody>
                  <a:tcPr marL="3698" marR="3698"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tc>
                  <a:txBody>
                    <a:bodyPr/>
                    <a:lstStyle/>
                    <a:p>
                      <a:pPr algn="ctr" fontAlgn="ctr">
                        <a:buNone/>
                      </a:pPr>
                      <a:r>
                        <a:rPr lang="ja-JP" sz="850" b="1" i="0" u="none" strike="noStrike" dirty="0">
                          <a:solidFill>
                            <a:srgbClr val="FFFFFF"/>
                          </a:solidFill>
                          <a:effectLst/>
                          <a:latin typeface="游ゴシック" panose="020B0400000000000000" pitchFamily="50" charset="-128"/>
                          <a:ea typeface="游ゴシック" panose="020B0400000000000000" pitchFamily="50" charset="-128"/>
                        </a:rPr>
                        <a:t>調整事由</a:t>
                      </a:r>
                    </a:p>
                  </a:txBody>
                  <a:tcPr marL="54864" marR="36576" marT="3698"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12700" cap="flat" cmpd="sng" algn="ctr">
                      <a:solidFill>
                        <a:schemeClr val="bg1">
                          <a:lumMod val="75000"/>
                        </a:schemeClr>
                      </a:solidFill>
                      <a:prstDash val="solid"/>
                      <a:round/>
                      <a:headEnd type="none" w="med" len="med"/>
                      <a:tailEnd type="none" w="med" len="med"/>
                    </a:lnB>
                    <a:solidFill>
                      <a:srgbClr val="0B3041"/>
                    </a:solidFill>
                  </a:tcPr>
                </a:tc>
                <a:extLst>
                  <a:ext uri="{0D108BD9-81ED-4DB2-BD59-A6C34878D82A}">
                    <a16:rowId xmlns:a16="http://schemas.microsoft.com/office/drawing/2014/main" val="2361366934"/>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売上高</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474,428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539,035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558,390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558,390</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売上原価</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182,050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196,104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228,365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228,365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売上総利益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292,379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342,931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330,024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330,024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290,037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339,909</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349,576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19,229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330,347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営業利益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2,341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3,022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19,552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19,229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323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営業外収益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2,383</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3,632</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4,287</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うち雑収入</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2,378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3,607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4,262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社員割引に伴う経常的な雑収入。事業に付随して継続的に発生するため正常収益力に加算</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営業外費用</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1,134</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2,296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2,656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2,656</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経常利益</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2,528</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3,110</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 18,575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19,884</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1,309</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47260770"/>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【正常収益力への橋渡し】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r h="310896">
                <a:tc>
                  <a:txBody>
                    <a:bodyPr/>
                    <a:lstStyle/>
                    <a:p>
                      <a:pPr algn="ct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修正後営業利益（修正P/L）</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9,876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22,836</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 323</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雑収入は営業外収益であるため修正PL上は営業利益に含まれないが、社員割引に伴い事業へ付随して継続的に発生するため、正常収益力には加算する。この加算後の金額が企業概要書の調整項目合計と一致する。</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954871530"/>
                  </a:ext>
                </a:extLst>
              </a:tr>
              <a:tr h="310896">
                <a:tc>
                  <a:txBody>
                    <a:bodyPr/>
                    <a:lstStyle/>
                    <a:p>
                      <a:pPr algn="ct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　経常的雑収入（社員割引）の加算</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1,321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635</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0" i="0" u="none" strike="noStrike" dirty="0">
                          <a:solidFill>
                            <a:srgbClr val="000000"/>
                          </a:solidFill>
                          <a:effectLst/>
                          <a:latin typeface="游ゴシック" panose="020B0400000000000000" pitchFamily="50" charset="-128"/>
                          <a:ea typeface="游ゴシック" panose="020B0400000000000000" pitchFamily="50" charset="-128"/>
                        </a:rPr>
                        <a:t>655</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0"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574852530"/>
                  </a:ext>
                </a:extLst>
              </a:tr>
              <a:tr h="310896">
                <a:tc>
                  <a:txBody>
                    <a:bodyPr/>
                    <a:lstStyle/>
                    <a:p>
                      <a:pPr algn="ct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正常収益力（修正後営業利益ベース）</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E3E7E9"/>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11,197</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23,471</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r" fontAlgn="ctr">
                        <a:buNone/>
                      </a:pPr>
                      <a:r>
                        <a:rPr lang="ja-JP" sz="850" b="1" i="0" u="none" strike="noStrike" dirty="0">
                          <a:solidFill>
                            <a:srgbClr val="000000"/>
                          </a:solidFill>
                          <a:effectLst/>
                          <a:latin typeface="游ゴシック" panose="020B0400000000000000" pitchFamily="50" charset="-128"/>
                          <a:ea typeface="游ゴシック" panose="020B0400000000000000" pitchFamily="50" charset="-128"/>
                        </a:rPr>
                        <a:t>332</a:t>
                      </a:r>
                      <a:endParaRPr lang="ja-JP" sz="900" b="0" i="0" u="none" strike="noStrike" dirty="0">
                        <a:solidFill>
                          <a:srgbClr val="000000"/>
                        </a:solidFill>
                        <a:effectLst/>
                        <a:latin typeface="游ゴシック" panose="020B0400000000000000" pitchFamily="50" charset="-128"/>
                        <a:ea typeface="游ゴシック" panose="020B0400000000000000" pitchFamily="50" charset="-128"/>
                      </a:endParaRPr>
                    </a:p>
                  </a:txBody>
                  <a:tcPr marL="3698" marR="3698"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rgbClr val="FFFFFF"/>
                    </a:solidFill>
                  </a:tcPr>
                </a:tc>
                <a:tc>
                  <a:txBody>
                    <a:bodyPr/>
                    <a:lstStyle/>
                    <a:p>
                      <a:pPr algn="l" fontAlgn="ctr">
                        <a:buNone/>
                      </a:pPr>
                      <a:r>
                        <a:rPr lang="ja-JP" sz="850" b="1" i="0" u="none" strike="noStrike">
                          <a:solidFill>
                            <a:srgbClr val="000000"/>
                          </a:solidFill>
                          <a:effectLst/>
                          <a:latin typeface="游ゴシック" panose="020B0400000000000000" pitchFamily="50" charset="-128"/>
                          <a:ea typeface="游ゴシック" panose="020B0400000000000000" pitchFamily="50" charset="-128"/>
                        </a:rPr>
                        <a:t>－</a:t>
                      </a:r>
                    </a:p>
                  </a:txBody>
                  <a:tcPr marL="54864" marR="36576" marT="3698"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857659668"/>
                  </a:ext>
                </a:extLst>
              </a:tr>
            </a:tbl>
          </a:graphicData>
        </a:graphic>
      </p:graphicFrame>
      <p:sp>
        <p:nvSpPr>
          <p:cNvPr id="14" name="TextBox 13"/>
          <p:cNvSpPr txBox="1"/>
          <p:nvPr/>
        </p:nvSpPr>
        <p:spPr>
          <a:xfrm>
            <a:off x="310896" y="6492240"/>
            <a:ext cx="10040112" cy="457200"/>
          </a:xfrm>
          <a:prstGeom prst="rect">
            <a:avLst/>
          </a:prstGeom>
          <a:noFill/>
        </p:spPr>
        <p:txBody>
          <a:bodyPr wrap="square">
            <a:spAutoFit/>
          </a:bodyPr>
          <a:lstStyle/>
          <a:p>
            <a:r>
              <a:rPr sz="800">
                <a:latin typeface="游ゴシック Medium"/>
              </a:rPr>
              <a:t>※第3期・第4期についても同一の方針で修正しており、修正後営業利益はそれぞれ9,876千円・22,836千円、正常収益力は11,197千円・23,471千円となる。</a:t>
            </a:r>
          </a:p>
          <a:p>
            <a:r>
              <a:rPr sz="800">
                <a:latin typeface="游ゴシック Medium"/>
              </a:rPr>
              <a:t>※雑収入は営業外収益であるため修正P/L上は営業利益に含まれないが、社員割引に伴い事業へ付随して継続的に発生するため正常収益力には加算する。この加算後の金額が企業概要書の調整項目合計と一致する。単位：千円。</a:t>
            </a:r>
          </a:p>
        </p:txBody>
      </p:sp>
    </p:spTree>
    <p:extLst>
      <p:ext uri="{BB962C8B-B14F-4D97-AF65-F5344CB8AC3E}">
        <p14:creationId xmlns:p14="http://schemas.microsoft.com/office/powerpoint/2010/main" val="4530259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評価科目別の検討結果</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評価差額は合計△ 47,150千円で、うち44,000千円は2026年3月に廃棄した棚卸資産である。資料が未受領で評価できなかった科目は簿価評価とし、追加調整の余地をあわせて記載している。</a:t>
            </a:r>
            <a:endParaRPr lang="en-US" altLang="ja-JP" dirty="0"/>
          </a:p>
        </p:txBody>
      </p:sp>
      <p:graphicFrame>
        <p:nvGraphicFramePr>
          <p:cNvPr id="4" name="表 3">
            <a:extLst>
              <a:ext uri="{FF2B5EF4-FFF2-40B4-BE49-F238E27FC236}">
                <a16:creationId xmlns:a16="http://schemas.microsoft.com/office/drawing/2014/main" id="{F3ABDE07-DA1F-17B4-3617-3A791BD82473}"/>
              </a:ext>
            </a:extLst>
          </p:cNvPr>
          <p:cNvGraphicFramePr>
            <a:graphicFrameLocks noGrp="1"/>
          </p:cNvGraphicFramePr>
          <p:nvPr>
            <p:extLst>
              <p:ext uri="{D42A27DB-BD31-4B8C-83A1-F6EECF244321}">
                <p14:modId xmlns:p14="http://schemas.microsoft.com/office/powerpoint/2010/main" val="3023556640"/>
              </p:ext>
            </p:extLst>
          </p:nvPr>
        </p:nvGraphicFramePr>
        <p:xfrm>
          <a:off x="311150" y="1572768"/>
          <a:ext cx="10021824" cy="4846320"/>
        </p:xfrm>
        <a:graphic>
          <a:graphicData uri="http://schemas.openxmlformats.org/drawingml/2006/table">
            <a:tbl>
              <a:tblPr/>
              <a:tblGrid>
                <a:gridCol w="237744">
                  <a:extLst>
                    <a:ext uri="{9D8B030D-6E8A-4147-A177-3AD203B41FA5}">
                      <a16:colId xmlns:a16="http://schemas.microsoft.com/office/drawing/2014/main" val="3048251594"/>
                    </a:ext>
                  </a:extLst>
                </a:gridCol>
                <a:gridCol w="1828800">
                  <a:extLst>
                    <a:ext uri="{9D8B030D-6E8A-4147-A177-3AD203B41FA5}">
                      <a16:colId xmlns:a16="http://schemas.microsoft.com/office/drawing/2014/main" val="3771399016"/>
                    </a:ext>
                  </a:extLst>
                </a:gridCol>
                <a:gridCol w="804672">
                  <a:extLst>
                    <a:ext uri="{9D8B030D-6E8A-4147-A177-3AD203B41FA5}">
                      <a16:colId xmlns:a16="http://schemas.microsoft.com/office/drawing/2014/main" val="2907773081"/>
                    </a:ext>
                  </a:extLst>
                </a:gridCol>
                <a:gridCol w="804672">
                  <a:extLst>
                    <a:ext uri="{9D8B030D-6E8A-4147-A177-3AD203B41FA5}">
                      <a16:colId xmlns:a16="http://schemas.microsoft.com/office/drawing/2014/main" val="1273101068"/>
                    </a:ext>
                  </a:extLst>
                </a:gridCol>
                <a:gridCol w="804672">
                  <a:extLst>
                    <a:ext uri="{9D8B030D-6E8A-4147-A177-3AD203B41FA5}">
                      <a16:colId xmlns:a16="http://schemas.microsoft.com/office/drawing/2014/main" val="1948566837"/>
                    </a:ext>
                  </a:extLst>
                </a:gridCol>
                <a:gridCol w="5541264">
                  <a:extLst>
                    <a:ext uri="{9D8B030D-6E8A-4147-A177-3AD203B41FA5}">
                      <a16:colId xmlns:a16="http://schemas.microsoft.com/office/drawing/2014/main" val="2619928501"/>
                    </a:ext>
                  </a:extLst>
                </a:gridCol>
              </a:tblGrid>
              <a:tr h="237744">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a:t>
                      </a:r>
                    </a:p>
                  </a:txBody>
                  <a:tcPr marL="0" marR="0" marT="0" marB="0" anchor="ctr">
                    <a:lnL w="12700" cap="flat" cmpd="sng" algn="ctr">
                      <a:solidFill>
                        <a:srgbClr val="000000"/>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帳簿価額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評価差額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評価額</a:t>
                      </a:r>
                    </a:p>
                  </a:txBody>
                  <a:tcPr marL="0" marR="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検討結果・調整事由</a:t>
                      </a:r>
                      <a:endParaRPr lang="ja-JP" sz="105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54864" marR="36576" marT="0" marB="0" anchor="ctr">
                    <a:lnL w="6350" cap="flat" cmpd="sng" algn="ctr">
                      <a:solidFill>
                        <a:schemeClr val="bg1"/>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B3041"/>
                    </a:solidFill>
                  </a:tcPr>
                </a:tc>
                <a:extLst>
                  <a:ext uri="{0D108BD9-81ED-4DB2-BD59-A6C34878D82A}">
                    <a16:rowId xmlns:a16="http://schemas.microsoft.com/office/drawing/2014/main" val="3581390043"/>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商品（棚卸資産）</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106,017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 44,000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62,017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2026年3月に本社分32,000千円・バックヤード分12,000千円を全額廃棄。基準日時点で滞留・陳腐化していたと判断し評価減。残る外部保管在庫10,000千円は実在性が未確認（要確認）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582367820"/>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営業権</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1,500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1,500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年買法で営業権を別途算定するため二重計上となること、および換金価値が認められないことから全額評価減</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3</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仮払金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1,650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1,650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回収を前提とした支出ではなく資産性が認められないため全額評価減</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1936998"/>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4</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売掛金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27,628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27,628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FC本部17,373千円・決済会社10,255千円で構成され、いずれも翌月回収。滞留債権は認められないため簿価評価</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1949359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5</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土地（駐車場用地89.4㎡）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路線価図・固定資産税評価証明が未受領のため簿価評価。簿価33千円/㎡であり大幅な含み損益は生じにくいと推察（要確認）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843379993"/>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6</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建物附属設備・工具器具備品</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50,442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50,442</a:t>
                      </a:r>
                      <a:endParaRPr lang="en-US" altLang="ja-JP" sz="1000" b="0" i="0" u="none" strike="noStrike" dirty="0">
                        <a:solidFill>
                          <a:sysClr val="windowText" lastClr="000000"/>
                        </a:solidFill>
                        <a:effectLst/>
                        <a:latin typeface="游ゴシック" panose="020B0400000000000000" pitchFamily="50" charset="-128"/>
                        <a:ea typeface="游ゴシック" panose="020B0400000000000000" pitchFamily="50" charset="-128"/>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減価償却内訳明細書により適正償却を確認。単独の換金価値は限定的だが事業継続を前提に簿価評価</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660818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7</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車両運搬具</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1,058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1,058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事業用3台。中古車市場価値が簿価を上回る可能性があるが査定書が未受領のため簿価評価（要確認）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41892754"/>
                  </a:ext>
                </a:extLst>
              </a:tr>
              <a:tr h="288036">
                <a:tc>
                  <a:txBody>
                    <a:bodyPr/>
                    <a:lstStyle/>
                    <a:p>
                      <a:pPr algn="ct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8</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差入保証金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27,371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27,371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賃貸借契約書が未受領で償却条項・返還条件が不明のため簿価評価。返還額への評価替えの余地がある（要確認）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97255041"/>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9</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長期前払費用</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1,712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1,712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内訳が未受領のため簿価評価。信用保証料等の前払であれば換金価値は認められず最大1,712千円の減額余地（要確認）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10</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未払費用</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20,114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賃金台帳では当月締・翌月25日払。11月分給与が未払計上されているか要確認。未計上であれば約10,000千円超の追加計上が必要</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11</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賞与引当金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賞与制度・支給実績が未確認のため未計上（要確認）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12</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退職給付引当金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退職金規程が未受領のため未計上（要確認）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13</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役員退職慰労引当金</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役員退職慰労金規程が未受領のため未計上（要確認）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14</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資産除去債務</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店舗内装の原状回復義務。撤退2店舗の原状回復費用・違約金が未確認であり未計上（要確認）</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15</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繰延税金資産</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繰越欠損金を有し課税所得の見込みが立たないため回収可能性を認めず、税効果は認識していない</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r h="288036">
                <a:tc>
                  <a:txBody>
                    <a:bodyPr/>
                    <a:lstStyle/>
                    <a:p>
                      <a:pPr algn="ct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0" marR="0" marT="0" marB="0" anchor="ctr">
                    <a:lnL w="1270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評価差額 合計</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47,150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ctr">
                        <a:buNone/>
                      </a:pPr>
                      <a:r>
                        <a:rPr lang="ja-JP" sz="800" b="0" i="0" u="none" strike="noStrike" dirty="0">
                          <a:solidFill>
                            <a:sysClr val="windowText" lastClr="000000"/>
                          </a:solidFill>
                          <a:effectLst/>
                          <a:latin typeface="游ゴシック" panose="020B0400000000000000" pitchFamily="50" charset="-128"/>
                          <a:ea typeface="游ゴシック" panose="020B0400000000000000" pitchFamily="50" charset="-128"/>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ctr">
                        <a:buNone/>
                      </a:pPr>
                      <a:r>
                        <a:rPr lang="ja-JP" sz="800" b="0" i="0" u="none" strike="noStrike">
                          <a:solidFill>
                            <a:sysClr val="windowText" lastClr="000000"/>
                          </a:solidFill>
                          <a:effectLst/>
                          <a:latin typeface="游ゴシック" panose="020B0400000000000000" pitchFamily="50" charset="-128"/>
                          <a:ea typeface="游ゴシック" panose="020B0400000000000000" pitchFamily="50" charset="-128"/>
                        </a:rPr>
                        <a:t>　</a:t>
                      </a:r>
                    </a:p>
                  </a:txBody>
                  <a:tcPr marL="54864" marR="36576" marT="0" marB="0" anchor="ctr">
                    <a:lnL w="635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39146749"/>
                  </a:ext>
                </a:extLst>
              </a:tr>
            </a:tbl>
          </a:graphicData>
        </a:graphic>
      </p:graphicFrame>
    </p:spTree>
    <p:extLst>
      <p:ext uri="{BB962C8B-B14F-4D97-AF65-F5344CB8AC3E}">
        <p14:creationId xmlns:p14="http://schemas.microsoft.com/office/powerpoint/2010/main" val="3707275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年買法（時価純資産＋営業権法）による算出</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Valuation Details</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正常収益力の加重平均（直近期50%・前期30%・前々期20%）に実効税率34%を考慮した基準営業利益は6,235千円。営業権1〜3倍を時価純資産△ 61,207千円に加算した想定株式価値は△54,972 〜 △42,502千円となる。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9" name="表 8">
            <a:extLst>
              <a:ext uri="{FF2B5EF4-FFF2-40B4-BE49-F238E27FC236}">
                <a16:creationId xmlns:a16="http://schemas.microsoft.com/office/drawing/2014/main" id="{BDBFD0C1-1E26-C190-B7D0-F16AC8348D43}"/>
              </a:ext>
            </a:extLst>
          </p:cNvPr>
          <p:cNvGraphicFramePr>
            <a:graphicFrameLocks noGrp="1"/>
          </p:cNvGraphicFramePr>
          <p:nvPr>
            <p:extLst>
              <p:ext uri="{D42A27DB-BD31-4B8C-83A1-F6EECF244321}">
                <p14:modId xmlns:p14="http://schemas.microsoft.com/office/powerpoint/2010/main" val="2509094929"/>
              </p:ext>
            </p:extLst>
          </p:nvPr>
        </p:nvGraphicFramePr>
        <p:xfrm>
          <a:off x="341313" y="1737360"/>
          <a:ext cx="8778240" cy="4709160"/>
        </p:xfrm>
        <a:graphic>
          <a:graphicData uri="http://schemas.openxmlformats.org/drawingml/2006/table">
            <a:tbl>
              <a:tblPr/>
              <a:tblGrid>
                <a:gridCol w="1572768">
                  <a:extLst>
                    <a:ext uri="{9D8B030D-6E8A-4147-A177-3AD203B41FA5}">
                      <a16:colId xmlns:a16="http://schemas.microsoft.com/office/drawing/2014/main" val="3316058797"/>
                    </a:ext>
                  </a:extLst>
                </a:gridCol>
                <a:gridCol w="2999232">
                  <a:extLst>
                    <a:ext uri="{9D8B030D-6E8A-4147-A177-3AD203B41FA5}">
                      <a16:colId xmlns:a16="http://schemas.microsoft.com/office/drawing/2014/main" val="1380719249"/>
                    </a:ext>
                  </a:extLst>
                </a:gridCol>
                <a:gridCol w="1389888">
                  <a:extLst>
                    <a:ext uri="{9D8B030D-6E8A-4147-A177-3AD203B41FA5}">
                      <a16:colId xmlns:a16="http://schemas.microsoft.com/office/drawing/2014/main" val="246846433"/>
                    </a:ext>
                  </a:extLst>
                </a:gridCol>
                <a:gridCol w="1389888">
                  <a:extLst>
                    <a:ext uri="{9D8B030D-6E8A-4147-A177-3AD203B41FA5}">
                      <a16:colId xmlns:a16="http://schemas.microsoft.com/office/drawing/2014/main" val="3721573245"/>
                    </a:ext>
                  </a:extLst>
                </a:gridCol>
                <a:gridCol w="1426464">
                  <a:extLst>
                    <a:ext uri="{9D8B030D-6E8A-4147-A177-3AD203B41FA5}">
                      <a16:colId xmlns:a16="http://schemas.microsoft.com/office/drawing/2014/main" val="25268631"/>
                    </a:ext>
                  </a:extLst>
                </a:gridCol>
              </a:tblGrid>
              <a:tr h="29260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区分</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項目</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F3864"/>
                    </a:solidFill>
                  </a:tcPr>
                </a:tc>
                <a:extLst>
                  <a:ext uri="{0D108BD9-81ED-4DB2-BD59-A6C34878D82A}">
                    <a16:rowId xmlns:a16="http://schemas.microsoft.com/office/drawing/2014/main" val="3150016470"/>
                  </a:ext>
                </a:extLst>
              </a:tr>
              <a:tr h="315468">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① 正常収益力</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2,341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3,022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19,552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056577972"/>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修正額（P.17・P.18）</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8,856</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20,449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19,884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修正後営業利益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11,197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23,471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332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税考慮額（実効税率34%）</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3,807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7,980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113</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27963007"/>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修正後税考慮後営業利益</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7,390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15,491</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219</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加重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61957651"/>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基準営業利益（加重平均）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6,235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② 時価純資産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簿価純資産額（2025年11月期末）</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14,057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93701439"/>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評価差額（P.11・P.12）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47,150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464820398"/>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税効果（繰延税金資産は不認識）</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0445004"/>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時価純資産</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61,207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③ 想定株式価値</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営業権倍率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2.0倍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3.0倍</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55912933"/>
                  </a:ext>
                </a:extLst>
              </a:tr>
              <a:tr h="315468">
                <a:tc>
                  <a:txBody>
                    <a:bodyPr/>
                    <a:lstStyle/>
                    <a:p>
                      <a:pPr algn="ct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営業権（①×倍率）</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6,235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12,470</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18,705</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45927038"/>
                  </a:ext>
                </a:extLst>
              </a:tr>
              <a:tr h="315468">
                <a:tc>
                  <a:txBody>
                    <a:bodyPr/>
                    <a:lstStyle/>
                    <a:p>
                      <a:pPr algn="ct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想定株式価値（②＋営業権）</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dirty="0">
                          <a:solidFill>
                            <a:srgbClr val="000000"/>
                          </a:solidFill>
                          <a:effectLst/>
                          <a:latin typeface="游ゴシック" panose="020B0400000000000000" pitchFamily="50" charset="-128"/>
                          <a:ea typeface="游ゴシック" panose="020B0400000000000000" pitchFamily="50" charset="-128"/>
                        </a:rPr>
                        <a:t>△ 54,972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48,737</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 42,502</a:t>
                      </a:r>
                    </a:p>
                  </a:txBody>
                  <a:tcPr marL="4674" marR="4674" marT="4674"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7627526"/>
                  </a:ext>
                </a:extLst>
              </a:tr>
            </a:tbl>
          </a:graphicData>
        </a:graphic>
      </p:graphicFrame>
      <p:sp>
        <p:nvSpPr>
          <p:cNvPr id="14" name="TextBox 13"/>
          <p:cNvSpPr txBox="1"/>
          <p:nvPr/>
        </p:nvSpPr>
        <p:spPr>
          <a:xfrm>
            <a:off x="338328" y="6492240"/>
            <a:ext cx="9902952" cy="548640"/>
          </a:xfrm>
          <a:prstGeom prst="rect">
            <a:avLst/>
          </a:prstGeom>
          <a:noFill/>
        </p:spPr>
        <p:txBody>
          <a:bodyPr wrap="square">
            <a:spAutoFit/>
          </a:bodyPr>
          <a:lstStyle/>
          <a:p>
            <a:r>
              <a:rPr sz="800">
                <a:latin typeface="游ゴシック Medium"/>
              </a:rPr>
              <a:t>※営業権倍率1〜3倍は国内中小企業M&amp;Aのボリュームゾーン。※単位：千円。</a:t>
            </a:r>
          </a:p>
          <a:p>
            <a:r>
              <a:rPr sz="800">
                <a:latin typeface="游ゴシック Medium"/>
              </a:rPr>
              <a:t>※修正額は企業概要書の調整項目合計と同一（販管費の修正＋経常的雑収入）。修正P/L上の修正後営業利益との差額は当該雑収入である（P.18の橋渡しを参照）。</a:t>
            </a:r>
          </a:p>
          <a:p>
            <a:r>
              <a:rPr sz="800">
                <a:latin typeface="游ゴシック Medium"/>
              </a:rPr>
              <a:t>※評価差額に対する繰延税金資産は、繰越欠損金を有し課税所得の見込みが立たないため回収可能性を認めず、認識していない（保守的な取扱い）。</a:t>
            </a:r>
          </a:p>
        </p:txBody>
      </p:sp>
    </p:spTree>
    <p:extLst>
      <p:ext uri="{BB962C8B-B14F-4D97-AF65-F5344CB8AC3E}">
        <p14:creationId xmlns:p14="http://schemas.microsoft.com/office/powerpoint/2010/main" val="91554098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576E1-4CA2-293A-375C-E82B2120C60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DF72B822-F634-D170-9005-8B64C163518C}"/>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ネットキャッシュの算定</a:t>
            </a:r>
          </a:p>
        </p:txBody>
      </p:sp>
      <p:sp>
        <p:nvSpPr>
          <p:cNvPr id="4" name="タイトル 1">
            <a:extLst>
              <a:ext uri="{FF2B5EF4-FFF2-40B4-BE49-F238E27FC236}">
                <a16:creationId xmlns:a16="http://schemas.microsoft.com/office/drawing/2014/main" id="{1B883D75-DF1B-E6E8-E329-BDF41BCB1618}"/>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latin typeface="游ゴシック" panose="020B0400000000000000" pitchFamily="50" charset="-128"/>
                <a:ea typeface="游ゴシック" panose="020B0400000000000000" pitchFamily="50" charset="-128"/>
              </a:rPr>
              <a:t>Financial Analysis</a:t>
            </a:r>
          </a:p>
        </p:txBody>
      </p:sp>
      <p:graphicFrame>
        <p:nvGraphicFramePr>
          <p:cNvPr id="3" name="表 2">
            <a:extLst>
              <a:ext uri="{FF2B5EF4-FFF2-40B4-BE49-F238E27FC236}">
                <a16:creationId xmlns:a16="http://schemas.microsoft.com/office/drawing/2014/main" id="{906F5ED1-443F-4DC0-AEC2-A15734FB921F}"/>
              </a:ext>
            </a:extLst>
          </p:cNvPr>
          <p:cNvGraphicFramePr>
            <a:graphicFrameLocks noGrp="1"/>
          </p:cNvGraphicFramePr>
          <p:nvPr>
            <p:extLst>
              <p:ext uri="{D42A27DB-BD31-4B8C-83A1-F6EECF244321}">
                <p14:modId xmlns:p14="http://schemas.microsoft.com/office/powerpoint/2010/main" val="511818016"/>
              </p:ext>
            </p:extLst>
          </p:nvPr>
        </p:nvGraphicFramePr>
        <p:xfrm>
          <a:off x="311150" y="1737360"/>
          <a:ext cx="10021824" cy="3639312"/>
        </p:xfrm>
        <a:graphic>
          <a:graphicData uri="http://schemas.openxmlformats.org/drawingml/2006/table">
            <a:tbl>
              <a:tblPr/>
              <a:tblGrid>
                <a:gridCol w="1417320">
                  <a:extLst>
                    <a:ext uri="{9D8B030D-6E8A-4147-A177-3AD203B41FA5}">
                      <a16:colId xmlns:a16="http://schemas.microsoft.com/office/drawing/2014/main" val="949900933"/>
                    </a:ext>
                  </a:extLst>
                </a:gridCol>
                <a:gridCol w="2880360">
                  <a:extLst>
                    <a:ext uri="{9D8B030D-6E8A-4147-A177-3AD203B41FA5}">
                      <a16:colId xmlns:a16="http://schemas.microsoft.com/office/drawing/2014/main" val="3765230895"/>
                    </a:ext>
                  </a:extLst>
                </a:gridCol>
                <a:gridCol w="1280160">
                  <a:extLst>
                    <a:ext uri="{9D8B030D-6E8A-4147-A177-3AD203B41FA5}">
                      <a16:colId xmlns:a16="http://schemas.microsoft.com/office/drawing/2014/main" val="2593979779"/>
                    </a:ext>
                  </a:extLst>
                </a:gridCol>
                <a:gridCol w="4443984">
                  <a:extLst>
                    <a:ext uri="{9D8B030D-6E8A-4147-A177-3AD203B41FA5}">
                      <a16:colId xmlns:a16="http://schemas.microsoft.com/office/drawing/2014/main" val="2593979779"/>
                    </a:ext>
                  </a:extLst>
                </a:gridCol>
              </a:tblGrid>
              <a:tr h="310896">
                <a:tc>
                  <a:txBody>
                    <a:bodyPr/>
                    <a:lstStyle/>
                    <a:p>
                      <a:pPr algn="ctr" fontAlgn="ctr">
                        <a:buNone/>
                      </a:pPr>
                      <a:r>
                        <a:rPr lang="ja-JP" sz="900" b="1" i="0" u="none" strike="noStrike" dirty="0">
                          <a:solidFill>
                            <a:srgbClr val="FFFFFF"/>
                          </a:solidFill>
                          <a:effectLst/>
                          <a:latin typeface="Yu Gothic" panose="020B0400000000000000" pitchFamily="50" charset="-128"/>
                          <a:ea typeface="Yu Gothic" panose="020B0400000000000000" pitchFamily="50" charset="-128"/>
                        </a:rPr>
                        <a:t>区分</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科目</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金額（千円）</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tc>
                  <a:txBody>
                    <a:bodyPr/>
                    <a:lstStyle/>
                    <a:p>
                      <a:pPr algn="ctr" fontAlgn="ctr">
                        <a:buNone/>
                      </a:pPr>
                      <a:r>
                        <a:rPr lang="ja-JP" sz="900" b="1" i="0" u="none" strike="noStrike">
                          <a:solidFill>
                            <a:srgbClr val="FFFFFF"/>
                          </a:solidFill>
                          <a:effectLst/>
                          <a:latin typeface="Yu Gothic" panose="020B0400000000000000" pitchFamily="50" charset="-128"/>
                          <a:ea typeface="Yu Gothic" panose="020B0400000000000000" pitchFamily="50" charset="-128"/>
                        </a:rPr>
                        <a:t>取扱いの考え方</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B3041"/>
                    </a:solidFill>
                  </a:tcPr>
                </a:tc>
                <a:extLst>
                  <a:ext uri="{0D108BD9-81ED-4DB2-BD59-A6C34878D82A}">
                    <a16:rowId xmlns:a16="http://schemas.microsoft.com/office/drawing/2014/main" val="3741516062"/>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キャッシュライク</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現金及び預金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10,140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基準日残高。運転資金として必要な水準の切り分けは行っていない</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キャッシュライク 小計</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10,140</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保険積立金・投資有価証券・役員貸付金の残高はない</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デットライク</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長期借入金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191,858</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9本。すべて代表者の連帯保証付き</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役員借入金</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7,566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譲渡時の返済を希望しているため有利子負債と同様に取扱う</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0"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0" i="0" u="none" strike="noStrike">
                          <a:solidFill>
                            <a:srgbClr val="000000"/>
                          </a:solidFill>
                          <a:effectLst/>
                          <a:latin typeface="Yu Gothic" panose="020B0400000000000000" pitchFamily="50" charset="-128"/>
                          <a:ea typeface="Yu Gothic" panose="020B0400000000000000" pitchFamily="50" charset="-128"/>
                        </a:rPr>
                        <a:t>未払法人税等</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243</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0" i="0" u="none" strike="noStrike" dirty="0">
                          <a:solidFill>
                            <a:srgbClr val="000000"/>
                          </a:solidFill>
                          <a:effectLst/>
                          <a:latin typeface="Yu Gothic" panose="020B0400000000000000" pitchFamily="50" charset="-128"/>
                          <a:ea typeface="Yu Gothic" panose="020B0400000000000000" pitchFamily="50" charset="-128"/>
                        </a:rPr>
                        <a:t>事業運営に伴う支払義務として控除</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デットライク 小計</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199,666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　</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28584039"/>
                  </a:ext>
                </a:extLst>
              </a:tr>
              <a:tr h="475488">
                <a:tc>
                  <a:txBody>
                    <a:bodyPr/>
                    <a:lstStyle/>
                    <a:p>
                      <a:pPr algn="l" fontAlgn="ctr">
                        <a:buNone/>
                      </a:pPr>
                      <a:r>
                        <a:rPr lang="ja-JP" sz="900" b="1" i="0" u="none" strike="noStrike" dirty="0">
                          <a:solidFill>
                            <a:srgbClr val="000000"/>
                          </a:solidFill>
                          <a:effectLst/>
                          <a:latin typeface="Yu Gothic" panose="020B0400000000000000" pitchFamily="50" charset="-128"/>
                          <a:ea typeface="Yu Gothic" panose="020B0400000000000000" pitchFamily="50" charset="-128"/>
                        </a:rPr>
                        <a:t>ネットキャッシュ</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ja-JP" sz="900" b="1" i="0" u="none" strike="noStrike">
                          <a:solidFill>
                            <a:srgbClr val="000000"/>
                          </a:solidFill>
                          <a:effectLst/>
                          <a:latin typeface="Yu Gothic" panose="020B0400000000000000" pitchFamily="50" charset="-128"/>
                          <a:ea typeface="Yu Gothic" panose="020B0400000000000000" pitchFamily="50" charset="-128"/>
                        </a:rPr>
                        <a:t>キャッシュライク － デットライク</a:t>
                      </a:r>
                    </a:p>
                  </a:txBody>
                  <a:tcPr marL="5486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r"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 189,526</a:t>
                      </a: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tc>
                  <a:txBody>
                    <a:bodyPr/>
                    <a:lstStyle/>
                    <a:p>
                      <a:pPr algn="l" fontAlgn="ctr">
                        <a:buNone/>
                      </a:pPr>
                      <a:r>
                        <a:rPr lang="en-US" altLang="ja-JP" sz="900" b="1" i="0" u="none" strike="noStrike" dirty="0">
                          <a:solidFill>
                            <a:srgbClr val="000000"/>
                          </a:solidFill>
                          <a:effectLst/>
                          <a:latin typeface="Yu Gothic" panose="020B0400000000000000" pitchFamily="50" charset="-128"/>
                          <a:ea typeface="Yu Gothic" panose="020B0400000000000000" pitchFamily="50" charset="-128"/>
                        </a:rPr>
                        <a:t>EV/EBITDAマルチプル法における株式価値への調整額（P.21）</a:t>
                      </a:r>
                    </a:p>
                  </a:txBody>
                  <a:tcPr marL="146304" marR="36576"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6F9"/>
                    </a:solidFill>
                  </a:tcPr>
                </a:tc>
                <a:extLst>
                  <a:ext uri="{0D108BD9-81ED-4DB2-BD59-A6C34878D82A}">
                    <a16:rowId xmlns:a16="http://schemas.microsoft.com/office/drawing/2014/main" val="1228584039"/>
                  </a:ext>
                </a:extLst>
              </a:tr>
            </a:tbl>
          </a:graphicData>
        </a:graphic>
      </p:graphicFrame>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en-US" altLang="ja-JP" dirty="0">
                <a:latin typeface="+mj-ea"/>
              </a:rPr>
              <a:t>マーケットアプローチにおいて事業価値（EV）から株式価値へ橋渡しするネットキャッシュは△ 189,526千円。現預金10,140千円に対し有利子負債が199,666千円あり、株式価値を大きく押し下げる要因となっている。</a:t>
            </a:r>
            <a:endParaRPr lang="en-US" altLang="ja-JP" dirty="0"/>
          </a:p>
        </p:txBody>
      </p:sp>
      <p:sp>
        <p:nvSpPr>
          <p:cNvPr id="14" name="TextBox 13"/>
          <p:cNvSpPr txBox="1"/>
          <p:nvPr/>
        </p:nvSpPr>
        <p:spPr>
          <a:xfrm>
            <a:off x="310896" y="5760720"/>
            <a:ext cx="10021824" cy="640080"/>
          </a:xfrm>
          <a:prstGeom prst="rect">
            <a:avLst/>
          </a:prstGeom>
          <a:noFill/>
        </p:spPr>
        <p:txBody>
          <a:bodyPr wrap="square">
            <a:spAutoFit/>
          </a:bodyPr>
          <a:lstStyle/>
          <a:p>
            <a:r>
              <a:rPr sz="850">
                <a:latin typeface="游ゴシック Medium"/>
              </a:rPr>
              <a:t>※評価基準日（2025年11月30日）の残高。</a:t>
            </a:r>
          </a:p>
          <a:p>
            <a:r>
              <a:rPr sz="850">
                <a:latin typeface="游ゴシック Medium"/>
              </a:rPr>
              <a:t>※長期未払金2,346千円は分割払いの未払金であり有利子負債ではないためデットライクに含めていない（要確認）。含める場合、想定株式価値は同額だけ下振れする。</a:t>
            </a:r>
          </a:p>
          <a:p>
            <a:r>
              <a:rPr sz="850">
                <a:latin typeface="游ゴシック Medium"/>
              </a:rPr>
              <a:t>※事業運営に必要な運転資金相当額を現預金から控除する考え方もあるが、基準日の現預金水準（月商の約0.2か月分）に照らし、本評価では控除していない。</a:t>
            </a:r>
          </a:p>
        </p:txBody>
      </p:sp>
    </p:spTree>
    <p:extLst>
      <p:ext uri="{BB962C8B-B14F-4D97-AF65-F5344CB8AC3E}">
        <p14:creationId xmlns:p14="http://schemas.microsoft.com/office/powerpoint/2010/main" val="19442777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Valuation Details</a:t>
            </a:r>
            <a:endParaRPr lang="en-US" altLang="ja-JP" dirty="0"/>
          </a:p>
        </p:txBody>
      </p:sp>
      <p:pic>
        <p:nvPicPr>
          <p:cNvPr id="7" name="図 6">
            <a:extLst>
              <a:ext uri="{FF2B5EF4-FFF2-40B4-BE49-F238E27FC236}">
                <a16:creationId xmlns:a16="http://schemas.microsoft.com/office/drawing/2014/main" id="{8C09C92A-09D2-050E-A69D-9DE4E20EEFE4}"/>
              </a:ext>
            </a:extLst>
          </p:cNvPr>
          <p:cNvPicPr>
            <a:picLocks noChangeAspect="1"/>
          </p:cNvPicPr>
          <p:nvPr/>
        </p:nvPicPr>
        <p:blipFill>
          <a:blip/>
          <a:stretch>
            <a:fillRect/>
          </a:stretch>
        </p:blipFill>
        <p:spPr>
          <a:xfrm>
            <a:off x="7776467" y="3981785"/>
            <a:ext cx="21" cy="20"/>
          </a:xfrm>
          <a:prstGeom prst="rect">
            <a:avLst/>
          </a:prstGeom>
        </p:spPr>
      </p:pic>
      <p:pic>
        <p:nvPicPr>
          <p:cNvPr id="9" name="図 8">
            <a:extLst>
              <a:ext uri="{FF2B5EF4-FFF2-40B4-BE49-F238E27FC236}">
                <a16:creationId xmlns:a16="http://schemas.microsoft.com/office/drawing/2014/main" id="{A963349D-952A-7D05-26B2-AC270183F230}"/>
              </a:ext>
            </a:extLst>
          </p:cNvPr>
          <p:cNvPicPr>
            <a:picLocks noChangeAspect="1"/>
          </p:cNvPicPr>
          <p:nvPr/>
        </p:nvPicPr>
        <p:blipFill>
          <a:blip/>
          <a:stretch>
            <a:fillRect/>
          </a:stretch>
        </p:blipFill>
        <p:spPr>
          <a:xfrm>
            <a:off x="7776467" y="3981785"/>
            <a:ext cx="21" cy="20"/>
          </a:xfrm>
          <a:prstGeom prst="rect">
            <a:avLst/>
          </a:prstGeom>
        </p:spPr>
      </p:pic>
    </p:spTree>
    <p:extLst>
      <p:ext uri="{BB962C8B-B14F-4D97-AF65-F5344CB8AC3E}">
        <p14:creationId xmlns:p14="http://schemas.microsoft.com/office/powerpoint/2010/main" val="15844496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過去B/Sの推移</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mj-ea"/>
              </a:rPr>
              <a:t>総資産の45%を棚卸資産が占める資産構成。2024年11月期の出店で借入金が218,455千円まで増加し、2025年11月期は当期純損失20,359千円により純資産が△ 14,057千円の債務超過に転じている。</a:t>
            </a:r>
            <a:endParaRPr lang="en-US" altLang="ja-JP" dirty="0"/>
          </a:p>
        </p:txBody>
      </p:sp>
      <p:graphicFrame>
        <p:nvGraphicFramePr>
          <p:cNvPr id="21" name="表 20">
            <a:extLst>
              <a:ext uri="{FF2B5EF4-FFF2-40B4-BE49-F238E27FC236}">
                <a16:creationId xmlns:a16="http://schemas.microsoft.com/office/drawing/2014/main" id="{9409AC18-DB96-6E55-A1EC-BFAC6D28FA8A}"/>
              </a:ext>
            </a:extLst>
          </p:cNvPr>
          <p:cNvGraphicFramePr>
            <a:graphicFrameLocks noGrp="1"/>
          </p:cNvGraphicFramePr>
          <p:nvPr>
            <p:extLst>
              <p:ext uri="{D42A27DB-BD31-4B8C-83A1-F6EECF244321}">
                <p14:modId xmlns:p14="http://schemas.microsoft.com/office/powerpoint/2010/main" val="2132406679"/>
              </p:ext>
            </p:extLst>
          </p:nvPr>
        </p:nvGraphicFramePr>
        <p:xfrm>
          <a:off x="449263" y="1444752"/>
          <a:ext cx="4114800" cy="5221224"/>
        </p:xfrm>
        <a:graphic>
          <a:graphicData uri="http://schemas.openxmlformats.org/drawingml/2006/table">
            <a:tbl>
              <a:tblPr/>
              <a:tblGrid>
                <a:gridCol w="1508760">
                  <a:extLst>
                    <a:ext uri="{9D8B030D-6E8A-4147-A177-3AD203B41FA5}">
                      <a16:colId xmlns:a16="http://schemas.microsoft.com/office/drawing/2014/main" val="822254377"/>
                    </a:ext>
                  </a:extLst>
                </a:gridCol>
                <a:gridCol w="868680">
                  <a:extLst>
                    <a:ext uri="{9D8B030D-6E8A-4147-A177-3AD203B41FA5}">
                      <a16:colId xmlns:a16="http://schemas.microsoft.com/office/drawing/2014/main" val="3061090460"/>
                    </a:ext>
                  </a:extLst>
                </a:gridCol>
                <a:gridCol w="868680">
                  <a:extLst>
                    <a:ext uri="{9D8B030D-6E8A-4147-A177-3AD203B41FA5}">
                      <a16:colId xmlns:a16="http://schemas.microsoft.com/office/drawing/2014/main" val="2032412681"/>
                    </a:ext>
                  </a:extLst>
                </a:gridCol>
                <a:gridCol w="868680">
                  <a:extLst>
                    <a:ext uri="{9D8B030D-6E8A-4147-A177-3AD203B41FA5}">
                      <a16:colId xmlns:a16="http://schemas.microsoft.com/office/drawing/2014/main" val="1235492032"/>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資産の部</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　</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945198501"/>
                  </a:ext>
                </a:extLst>
              </a:tr>
              <a:tr h="237744">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24年11月期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p>
                  </a:txBody>
                  <a:tcPr marL="2665"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1002658859"/>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116,931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188,786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150,113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現金及び預金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13,655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10,140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売掛金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28,158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39,603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27,628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商品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70,918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127,081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106,017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貯蔵品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前渡金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2,837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4,237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3,992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未収入金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88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未収還付法人税等</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505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仮払金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1,650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68,592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85,272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［有形固定資産］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42,883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63,570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54,658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建物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45,558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44,397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車両運搬具</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15,883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10,609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1,058</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工具器具及び備品</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1,247</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7,403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6,045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土地</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2,974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その他の有形固定資産</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184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［無形固定資産］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［投資その他資産］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25,709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31,815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30,614</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リサイクル預託金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59</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長期前払費用</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2,513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1,712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差入保証金</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20,642</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27,656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27,371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営業権</a:t>
                      </a:r>
                    </a:p>
                  </a:txBody>
                  <a:tcPr marL="143883"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1,586</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1,500</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928792534"/>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【繰延資産】</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r h="192024">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資産合計</a:t>
                      </a:r>
                    </a:p>
                  </a:txBody>
                  <a:tcPr marL="47961" marR="2665"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185,523</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284,171</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235,385</a:t>
                      </a:r>
                    </a:p>
                  </a:txBody>
                  <a:tcPr marL="2665" marR="47961" marT="26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2517171900"/>
                  </a:ext>
                </a:extLst>
              </a:tr>
            </a:tbl>
          </a:graphicData>
        </a:graphic>
      </p:graphicFrame>
      <p:graphicFrame>
        <p:nvGraphicFramePr>
          <p:cNvPr id="23" name="表 22">
            <a:extLst>
              <a:ext uri="{FF2B5EF4-FFF2-40B4-BE49-F238E27FC236}">
                <a16:creationId xmlns:a16="http://schemas.microsoft.com/office/drawing/2014/main" id="{59091B6A-EC0B-A82B-1BC9-EBB5149C2230}"/>
              </a:ext>
            </a:extLst>
          </p:cNvPr>
          <p:cNvGraphicFramePr>
            <a:graphicFrameLocks noGrp="1"/>
          </p:cNvGraphicFramePr>
          <p:nvPr>
            <p:extLst>
              <p:ext uri="{D42A27DB-BD31-4B8C-83A1-F6EECF244321}">
                <p14:modId xmlns:p14="http://schemas.microsoft.com/office/powerpoint/2010/main" val="509667498"/>
              </p:ext>
            </p:extLst>
          </p:nvPr>
        </p:nvGraphicFramePr>
        <p:xfrm>
          <a:off x="4580099" y="1444752"/>
          <a:ext cx="4114800" cy="3154680"/>
        </p:xfrm>
        <a:graphic>
          <a:graphicData uri="http://schemas.openxmlformats.org/drawingml/2006/table">
            <a:tbl>
              <a:tblPr/>
              <a:tblGrid>
                <a:gridCol w="1508760">
                  <a:extLst>
                    <a:ext uri="{9D8B030D-6E8A-4147-A177-3AD203B41FA5}">
                      <a16:colId xmlns:a16="http://schemas.microsoft.com/office/drawing/2014/main" val="140435893"/>
                    </a:ext>
                  </a:extLst>
                </a:gridCol>
                <a:gridCol w="868680">
                  <a:extLst>
                    <a:ext uri="{9D8B030D-6E8A-4147-A177-3AD203B41FA5}">
                      <a16:colId xmlns:a16="http://schemas.microsoft.com/office/drawing/2014/main" val="1469753659"/>
                    </a:ext>
                  </a:extLst>
                </a:gridCol>
                <a:gridCol w="868680">
                  <a:extLst>
                    <a:ext uri="{9D8B030D-6E8A-4147-A177-3AD203B41FA5}">
                      <a16:colId xmlns:a16="http://schemas.microsoft.com/office/drawing/2014/main" val="80575429"/>
                    </a:ext>
                  </a:extLst>
                </a:gridCol>
                <a:gridCol w="868680">
                  <a:extLst>
                    <a:ext uri="{9D8B030D-6E8A-4147-A177-3AD203B41FA5}">
                      <a16:colId xmlns:a16="http://schemas.microsoft.com/office/drawing/2014/main" val="2683263371"/>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hMerge="1">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　</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333780944"/>
                  </a:ext>
                </a:extLst>
              </a:tr>
              <a:tr h="237744">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23年11月期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24年11月期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25年11月期</a:t>
                      </a:r>
                    </a:p>
                  </a:txBody>
                  <a:tcPr marL="635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0B3041"/>
                    </a:solidFill>
                  </a:tcPr>
                </a:tc>
                <a:extLst>
                  <a:ext uri="{0D108BD9-81ED-4DB2-BD59-A6C34878D82A}">
                    <a16:rowId xmlns:a16="http://schemas.microsoft.com/office/drawing/2014/main" val="3028628170"/>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【流動負債】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30,380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47,366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47,672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買掛金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10,176</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14,255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9,202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未払費用</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12,571</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24,016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20,114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未払法人税等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230</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962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243</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未払消費税等</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3,645</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3,776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11,784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預り金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614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607</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2,392</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カード未払金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3,144</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3,751</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3,224</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【固定負債】</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149,816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230,503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201,770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134,042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218,455</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191,858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役員借入金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1,122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7,566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長期未払金</a:t>
                      </a:r>
                    </a:p>
                  </a:txBody>
                  <a:tcPr marL="3429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14,652</a:t>
                      </a:r>
                    </a:p>
                  </a:txBody>
                  <a:tcPr marL="6350" marR="11430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12,048</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2,346</a:t>
                      </a:r>
                    </a:p>
                  </a:txBody>
                  <a:tcPr marL="6350" marR="114300" marT="6350" marB="0" anchor="ctr">
                    <a:lnL>
                      <a:noFill/>
                    </a:lnL>
                    <a:lnR>
                      <a:noFill/>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371247136"/>
                  </a:ext>
                </a:extLst>
              </a:tr>
              <a:tr h="210312">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負債合計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180,196</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277,869</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249,442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495575895"/>
                  </a:ext>
                </a:extLst>
              </a:tr>
            </a:tbl>
          </a:graphicData>
        </a:graphic>
      </p:graphicFrame>
      <p:graphicFrame>
        <p:nvGraphicFramePr>
          <p:cNvPr id="25" name="表 24">
            <a:extLst>
              <a:ext uri="{FF2B5EF4-FFF2-40B4-BE49-F238E27FC236}">
                <a16:creationId xmlns:a16="http://schemas.microsoft.com/office/drawing/2014/main" id="{464E22CB-ED12-DB3E-58BA-7434CA07B20D}"/>
              </a:ext>
            </a:extLst>
          </p:cNvPr>
          <p:cNvGraphicFramePr>
            <a:graphicFrameLocks noGrp="1"/>
          </p:cNvGraphicFramePr>
          <p:nvPr>
            <p:extLst>
              <p:ext uri="{D42A27DB-BD31-4B8C-83A1-F6EECF244321}">
                <p14:modId xmlns:p14="http://schemas.microsoft.com/office/powerpoint/2010/main" val="2702880926"/>
              </p:ext>
            </p:extLst>
          </p:nvPr>
        </p:nvGraphicFramePr>
        <p:xfrm>
          <a:off x="4580099" y="4937760"/>
          <a:ext cx="4114800" cy="1572768"/>
        </p:xfrm>
        <a:graphic>
          <a:graphicData uri="http://schemas.openxmlformats.org/drawingml/2006/table">
            <a:tbl>
              <a:tblPr/>
              <a:tblGrid>
                <a:gridCol w="1508760">
                  <a:extLst>
                    <a:ext uri="{9D8B030D-6E8A-4147-A177-3AD203B41FA5}">
                      <a16:colId xmlns:a16="http://schemas.microsoft.com/office/drawing/2014/main" val="4058629608"/>
                    </a:ext>
                  </a:extLst>
                </a:gridCol>
                <a:gridCol w="868680">
                  <a:extLst>
                    <a:ext uri="{9D8B030D-6E8A-4147-A177-3AD203B41FA5}">
                      <a16:colId xmlns:a16="http://schemas.microsoft.com/office/drawing/2014/main" val="2673297223"/>
                    </a:ext>
                  </a:extLst>
                </a:gridCol>
                <a:gridCol w="868680">
                  <a:extLst>
                    <a:ext uri="{9D8B030D-6E8A-4147-A177-3AD203B41FA5}">
                      <a16:colId xmlns:a16="http://schemas.microsoft.com/office/drawing/2014/main" val="756661618"/>
                    </a:ext>
                  </a:extLst>
                </a:gridCol>
                <a:gridCol w="868680">
                  <a:extLst>
                    <a:ext uri="{9D8B030D-6E8A-4147-A177-3AD203B41FA5}">
                      <a16:colId xmlns:a16="http://schemas.microsoft.com/office/drawing/2014/main" val="2152851366"/>
                    </a:ext>
                  </a:extLst>
                </a:gridCol>
              </a:tblGrid>
              <a:tr h="182880">
                <a:tc gridSpan="4">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純資産の部</a:t>
                      </a:r>
                    </a:p>
                  </a:txBody>
                  <a:tcPr marL="6350" marR="6350" marT="6350" marB="0" anchor="ctr">
                    <a:lnL w="635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hMerge="1">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a:t>
                      </a:r>
                    </a:p>
                  </a:txBody>
                  <a:tcPr marL="6350" marR="6350" marT="635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extLst>
                  <a:ext uri="{0D108BD9-81ED-4DB2-BD59-A6C34878D82A}">
                    <a16:rowId xmlns:a16="http://schemas.microsoft.com/office/drawing/2014/main" val="91627757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A6A6A6"/>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77243336"/>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1,000</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341456255"/>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【資本剰余金】</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108138139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【利益剰余金】</a:t>
                      </a:r>
                    </a:p>
                  </a:txBody>
                  <a:tcPr marL="1143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w="6350" cap="flat" cmpd="sng" algn="ctr">
                      <a:solidFill>
                        <a:srgbClr val="0B3041"/>
                      </a:solidFill>
                      <a:prstDash val="solid"/>
                      <a:round/>
                      <a:headEnd type="none" w="med" len="med"/>
                      <a:tailEnd type="none" w="med" len="med"/>
                    </a:lnB>
                    <a:solidFill>
                      <a:srgbClr val="E1F3FB"/>
                    </a:solidFill>
                  </a:tcPr>
                </a:tc>
                <a:extLst>
                  <a:ext uri="{0D108BD9-81ED-4DB2-BD59-A6C34878D82A}">
                    <a16:rowId xmlns:a16="http://schemas.microsoft.com/office/drawing/2014/main" val="316422242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繰越利益剰余金</a:t>
                      </a:r>
                    </a:p>
                  </a:txBody>
                  <a:tcPr marL="342900" marR="6350" marT="6350" marB="0" anchor="ctr">
                    <a:lnL w="6350" cap="flat" cmpd="sng" algn="ctr">
                      <a:solidFill>
                        <a:srgbClr val="FFFFFF"/>
                      </a:solidFill>
                      <a:prstDash val="solid"/>
                      <a:round/>
                      <a:headEnd type="none" w="med" len="med"/>
                      <a:tailEnd type="none" w="med" len="med"/>
                    </a:lnL>
                    <a:lnR>
                      <a:noFill/>
                    </a:lnR>
                    <a:lnT w="6350" cap="flat" cmpd="sng" algn="ctr">
                      <a:solidFill>
                        <a:srgbClr val="0B3041"/>
                      </a:solidFill>
                      <a:prstDash val="solid"/>
                      <a:round/>
                      <a:headEnd type="none" w="med" len="med"/>
                      <a:tailEnd type="none" w="med" len="med"/>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4,327</a:t>
                      </a:r>
                    </a:p>
                  </a:txBody>
                  <a:tcPr marL="6350" marR="114300" marT="6350" marB="0" anchor="ctr">
                    <a:lnL>
                      <a:noFill/>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15,057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0B3041"/>
                      </a:solidFill>
                      <a:prstDash val="solid"/>
                      <a:round/>
                      <a:headEnd type="none" w="med" len="med"/>
                      <a:tailEnd type="none" w="med" len="med"/>
                    </a:lnT>
                    <a:lnB>
                      <a:noFill/>
                    </a:lnB>
                    <a:noFill/>
                  </a:tcPr>
                </a:tc>
                <a:extLst>
                  <a:ext uri="{0D108BD9-81ED-4DB2-BD59-A6C34878D82A}">
                    <a16:rowId xmlns:a16="http://schemas.microsoft.com/office/drawing/2014/main" val="776807753"/>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【自己株式】</a:t>
                      </a:r>
                    </a:p>
                  </a:txBody>
                  <a:tcPr marL="342900" marR="6350" marT="6350"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43967872"/>
                  </a:ext>
                </a:extLst>
              </a:tr>
              <a:tr h="173736">
                <a:tc>
                  <a:txBody>
                    <a:bodyPr/>
                    <a:lstStyle/>
                    <a:p>
                      <a:pPr algn="l" fontAlgn="ctr">
                        <a:buNone/>
                      </a:pPr>
                      <a:r>
                        <a:rPr lang="ja-JP" sz="900" b="0" i="0" u="none" strike="noStrike">
                          <a:solidFill>
                            <a:srgbClr val="000000"/>
                          </a:solidFill>
                          <a:effectLst/>
                          <a:latin typeface="游ゴシック" panose="020B0400000000000000" pitchFamily="50" charset="-128"/>
                          <a:ea typeface="游ゴシック" panose="020B0400000000000000" pitchFamily="50" charset="-128"/>
                        </a:rPr>
                        <a:t>純資産合計</a:t>
                      </a:r>
                    </a:p>
                  </a:txBody>
                  <a:tcPr marL="114300" marR="6350" marT="6350"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5,327</a:t>
                      </a:r>
                    </a:p>
                  </a:txBody>
                  <a:tcPr marL="6350" marR="114300" marT="6350"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6,302</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 14,057</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E1F3FB"/>
                    </a:solidFill>
                  </a:tcPr>
                </a:tc>
                <a:extLst>
                  <a:ext uri="{0D108BD9-81ED-4DB2-BD59-A6C34878D82A}">
                    <a16:rowId xmlns:a16="http://schemas.microsoft.com/office/drawing/2014/main" val="1359361426"/>
                  </a:ext>
                </a:extLst>
              </a:tr>
              <a:tr h="173736">
                <a:tc>
                  <a:txBody>
                    <a:bodyPr/>
                    <a:lstStyle/>
                    <a:p>
                      <a:pPr algn="l"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負債・純資産合計</a:t>
                      </a:r>
                    </a:p>
                  </a:txBody>
                  <a:tcPr marL="114300" marR="635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dirty="0">
                          <a:solidFill>
                            <a:srgbClr val="FFFFFF"/>
                          </a:solidFill>
                          <a:effectLst/>
                          <a:latin typeface="Arial" panose="020B0604020202020204" pitchFamily="34" charset="0"/>
                          <a:ea typeface="游ゴシック Medium" panose="020B0500000000000000" pitchFamily="50" charset="-128"/>
                        </a:rPr>
                        <a:t>185,523</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284,171</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tc>
                  <a:txBody>
                    <a:bodyPr/>
                    <a:lstStyle/>
                    <a:p>
                      <a:pPr algn="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235,385</a:t>
                      </a:r>
                    </a:p>
                  </a:txBody>
                  <a:tcPr marL="6350" marR="114300" marT="6350"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79988555"/>
                  </a:ext>
                </a:extLst>
              </a:tr>
            </a:tbl>
          </a:graphicData>
        </a:graphic>
      </p:graphicFrame>
      <p:sp>
        <p:nvSpPr>
          <p:cNvPr id="26" name="TextBox 25"/>
          <p:cNvSpPr txBox="1"/>
          <p:nvPr/>
        </p:nvSpPr>
        <p:spPr>
          <a:xfrm>
            <a:off x="448056" y="6675120"/>
            <a:ext cx="2743200" cy="182880"/>
          </a:xfrm>
          <a:prstGeom prst="rect">
            <a:avLst/>
          </a:prstGeom>
          <a:noFill/>
        </p:spPr>
        <p:txBody>
          <a:bodyPr wrap="none">
            <a:spAutoFit/>
          </a:bodyPr>
          <a:lstStyle/>
          <a:p>
            <a:r>
              <a:rPr sz="850">
                <a:latin typeface="游ゴシック Medium"/>
              </a:rPr>
              <a:t>※単位：千円。評価基準日は2025年11月30日（第5期末）。</a:t>
            </a:r>
          </a:p>
        </p:txBody>
      </p:sp>
    </p:spTree>
    <p:extLst>
      <p:ext uri="{BB962C8B-B14F-4D97-AF65-F5344CB8AC3E}">
        <p14:creationId xmlns:p14="http://schemas.microsoft.com/office/powerpoint/2010/main" val="28778819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過去P/Lの推移</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mj-ea"/>
              </a:rPr>
              <a:t>売上高は2期で17.7%成長した一方、2025年11月期は粗利率が59.1%へ低下し、販管費の増加とあわせて営業損失19,552千円を計上した。正常収益力の算定はこの簿価営業利益を出発点とする。</a:t>
            </a:r>
            <a:endParaRPr lang="en-US" altLang="ja-JP" dirty="0"/>
          </a:p>
        </p:txBody>
      </p:sp>
      <p:graphicFrame>
        <p:nvGraphicFramePr>
          <p:cNvPr id="7" name="表 6">
            <a:extLst>
              <a:ext uri="{FF2B5EF4-FFF2-40B4-BE49-F238E27FC236}">
                <a16:creationId xmlns:a16="http://schemas.microsoft.com/office/drawing/2014/main" id="{C8A6EA4B-EF0E-6AD7-2FB5-4C0BD6DDD25B}"/>
              </a:ext>
            </a:extLst>
          </p:cNvPr>
          <p:cNvGraphicFramePr>
            <a:graphicFrameLocks noGrp="1"/>
          </p:cNvGraphicFramePr>
          <p:nvPr>
            <p:extLst>
              <p:ext uri="{D42A27DB-BD31-4B8C-83A1-F6EECF244321}">
                <p14:modId xmlns:p14="http://schemas.microsoft.com/office/powerpoint/2010/main" val="89227664"/>
              </p:ext>
            </p:extLst>
          </p:nvPr>
        </p:nvGraphicFramePr>
        <p:xfrm>
          <a:off x="341312" y="1481328"/>
          <a:ext cx="6309360" cy="4722859"/>
        </p:xfrm>
        <a:graphic>
          <a:graphicData uri="http://schemas.openxmlformats.org/drawingml/2006/table">
            <a:tbl>
              <a:tblPr/>
              <a:tblGrid>
                <a:gridCol w="2194560">
                  <a:extLst>
                    <a:ext uri="{9D8B030D-6E8A-4147-A177-3AD203B41FA5}">
                      <a16:colId xmlns:a16="http://schemas.microsoft.com/office/drawing/2014/main" val="1203225717"/>
                    </a:ext>
                  </a:extLst>
                </a:gridCol>
                <a:gridCol w="1371600">
                  <a:extLst>
                    <a:ext uri="{9D8B030D-6E8A-4147-A177-3AD203B41FA5}">
                      <a16:colId xmlns:a16="http://schemas.microsoft.com/office/drawing/2014/main" val="757072105"/>
                    </a:ext>
                  </a:extLst>
                </a:gridCol>
                <a:gridCol w="1371600">
                  <a:extLst>
                    <a:ext uri="{9D8B030D-6E8A-4147-A177-3AD203B41FA5}">
                      <a16:colId xmlns:a16="http://schemas.microsoft.com/office/drawing/2014/main" val="2934432485"/>
                    </a:ext>
                  </a:extLst>
                </a:gridCol>
                <a:gridCol w="1371600">
                  <a:extLst>
                    <a:ext uri="{9D8B030D-6E8A-4147-A177-3AD203B41FA5}">
                      <a16:colId xmlns:a16="http://schemas.microsoft.com/office/drawing/2014/main" val="3085477051"/>
                    </a:ext>
                  </a:extLst>
                </a:gridCol>
              </a:tblGrid>
              <a:tr h="292608">
                <a:tc>
                  <a:txBody>
                    <a:bodyPr/>
                    <a:lstStyle/>
                    <a:p>
                      <a:pPr algn="ctr" fontAlgn="ctr">
                        <a:buNone/>
                      </a:pPr>
                      <a:r>
                        <a:rPr lang="ja-JP" sz="900" b="1" i="0" u="none" strike="noStrike">
                          <a:solidFill>
                            <a:srgbClr val="FFFFFF"/>
                          </a:solidFill>
                          <a:effectLst/>
                          <a:latin typeface="游ゴシック" panose="020B0400000000000000" pitchFamily="50" charset="-128"/>
                          <a:ea typeface="游ゴシック" panose="020B0400000000000000" pitchFamily="50" charset="-128"/>
                        </a:rPr>
                        <a:t>科目</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A6A6A6"/>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23年11月期</a:t>
                      </a: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a:solidFill>
                            <a:srgbClr val="FFFFFF"/>
                          </a:solidFill>
                          <a:effectLst/>
                          <a:latin typeface="Arial" panose="020B0604020202020204" pitchFamily="34" charset="0"/>
                          <a:ea typeface="游ゴシック Medium" panose="020B0500000000000000" pitchFamily="50" charset="-128"/>
                        </a:rPr>
                        <a:t>24年11月期</a:t>
                      </a:r>
                    </a:p>
                  </a:txBody>
                  <a:tcPr marL="3439" marR="3439" marT="3439"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900" b="1" i="0" u="none" strike="noStrike" dirty="0">
                          <a:solidFill>
                            <a:srgbClr val="FFFFFF"/>
                          </a:solidFill>
                          <a:effectLst/>
                          <a:latin typeface="游ゴシック" panose="020B0400000000000000" pitchFamily="50" charset="-128"/>
                          <a:ea typeface="游ゴシック" panose="020B0400000000000000" pitchFamily="50" charset="-128"/>
                        </a:rPr>
                        <a:t>25年11月期</a:t>
                      </a:r>
                      <a:endParaRPr lang="ja-JP" altLang="en-US" sz="900" b="1" i="0" u="none" strike="noStrike" dirty="0">
                        <a:solidFill>
                          <a:srgbClr val="FFFFFF"/>
                        </a:solidFill>
                        <a:effectLst/>
                        <a:latin typeface="游ゴシック" panose="020B0400000000000000" pitchFamily="50" charset="-128"/>
                        <a:ea typeface="游ゴシック" panose="020B0400000000000000" pitchFamily="50" charset="-128"/>
                      </a:endParaRPr>
                    </a:p>
                  </a:txBody>
                  <a:tcPr marL="3439" marR="3439"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16968241"/>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生体売上高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293,214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333,090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338,295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サービス売上高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65,656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60,897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52,699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物販売上高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115,559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145,048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167,395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売上高</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474,428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539,035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558,390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売上原価</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182,050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196,104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228,365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売上総利益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292,379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342,931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330,024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販売費及び一般管理費</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290,037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339,909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2,341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3,022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19,552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営業外収益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2,383</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3,632</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うち雑収入</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1,321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2,378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3,607</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営業外費用</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2,296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2,656</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　うち支払利息</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1,134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1,788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2,591</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経常利益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18,575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特別損失</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1,298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税引前当期純利益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2,528</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3,110</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19,874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r h="260603">
                <a:tc>
                  <a:txBody>
                    <a:bodyPr/>
                    <a:lstStyle/>
                    <a:p>
                      <a:pPr algn="l" fontAlgn="ctr">
                        <a:buNone/>
                      </a:pPr>
                      <a:r>
                        <a:rPr lang="ja-JP" sz="900" b="0" i="0" u="none" strike="noStrike" dirty="0">
                          <a:solidFill>
                            <a:srgbClr val="000000"/>
                          </a:solidFill>
                          <a:effectLst/>
                          <a:latin typeface="游ゴシック" panose="020B0400000000000000" pitchFamily="50" charset="-128"/>
                          <a:ea typeface="游ゴシック" panose="020B0400000000000000" pitchFamily="50" charset="-128"/>
                        </a:rPr>
                        <a:t>法人税等</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0" i="0" u="none" strike="noStrike" dirty="0">
                          <a:solidFill>
                            <a:srgbClr val="000000"/>
                          </a:solidFill>
                          <a:effectLst/>
                          <a:latin typeface="Arial" panose="020B0604020202020204" pitchFamily="34" charset="0"/>
                          <a:ea typeface="游ゴシック Medium" panose="020B0500000000000000" pitchFamily="50" charset="-128"/>
                        </a:rPr>
                        <a:t>894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2,135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0" i="0" u="none" strike="noStrike">
                          <a:solidFill>
                            <a:srgbClr val="000000"/>
                          </a:solidFill>
                          <a:effectLst/>
                          <a:latin typeface="Arial" panose="020B0604020202020204" pitchFamily="34" charset="0"/>
                          <a:ea typeface="游ゴシック Medium" panose="020B0500000000000000" pitchFamily="50" charset="-128"/>
                        </a:rPr>
                        <a:t>485</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99273962"/>
                  </a:ext>
                </a:extLst>
              </a:tr>
              <a:tr h="260603">
                <a:tc>
                  <a:txBody>
                    <a:bodyPr/>
                    <a:lstStyle/>
                    <a:p>
                      <a:pPr algn="l" fontAlgn="ctr">
                        <a:buNone/>
                      </a:pPr>
                      <a:r>
                        <a:rPr lang="ja-JP" sz="900" b="1" i="0" u="none" strike="noStrike">
                          <a:solidFill>
                            <a:srgbClr val="000000"/>
                          </a:solidFill>
                          <a:effectLst/>
                          <a:latin typeface="游ゴシック" panose="020B0400000000000000" pitchFamily="50" charset="-128"/>
                          <a:ea typeface="游ゴシック" panose="020B0400000000000000" pitchFamily="50" charset="-128"/>
                        </a:rPr>
                        <a:t>税引後当期純利益</a:t>
                      </a:r>
                    </a:p>
                  </a:txBody>
                  <a:tcPr marL="123799" marR="3439" marT="3439" marB="0" anchor="ctr">
                    <a:lnL>
                      <a:noFill/>
                    </a:lnL>
                    <a:lnR w="6350" cap="flat" cmpd="sng" algn="ctr">
                      <a:solidFill>
                        <a:srgbClr val="FFFFFF"/>
                      </a:solidFill>
                      <a:prstDash val="solid"/>
                      <a:round/>
                      <a:headEnd type="none" w="med" len="med"/>
                      <a:tailEnd type="none" w="med" len="med"/>
                    </a:lnR>
                    <a:lnT>
                      <a:noFill/>
                    </a:lnT>
                    <a:lnB>
                      <a:noFill/>
                    </a:lnB>
                    <a:solidFill>
                      <a:srgbClr val="E3E7E9"/>
                    </a:solid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1,634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974</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900" b="1" i="0" u="none" strike="noStrike">
                          <a:solidFill>
                            <a:srgbClr val="000000"/>
                          </a:solidFill>
                          <a:effectLst/>
                          <a:latin typeface="Arial" panose="020B0604020202020204" pitchFamily="34" charset="0"/>
                          <a:ea typeface="游ゴシック Medium" panose="020B0500000000000000" pitchFamily="50" charset="-128"/>
                        </a:rPr>
                        <a:t>△ 20,359</a:t>
                      </a:r>
                    </a:p>
                  </a:txBody>
                  <a:tcPr marL="3439" marR="61900" marT="3439"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95252798"/>
                  </a:ext>
                </a:extLst>
              </a:tr>
            </a:tbl>
          </a:graphicData>
        </a:graphic>
      </p:graphicFrame>
      <p:sp>
        <p:nvSpPr>
          <p:cNvPr id="14" name="TextBox 13"/>
          <p:cNvSpPr txBox="1"/>
          <p:nvPr/>
        </p:nvSpPr>
        <p:spPr>
          <a:xfrm>
            <a:off x="6858000" y="1481328"/>
            <a:ext cx="3474720" cy="4572000"/>
          </a:xfrm>
          <a:prstGeom prst="rect">
            <a:avLst/>
          </a:prstGeom>
          <a:noFill/>
        </p:spPr>
        <p:txBody>
          <a:bodyPr wrap="square">
            <a:spAutoFit/>
          </a:bodyPr>
          <a:lstStyle/>
          <a:p>
            <a:pPr>
              <a:spcAft>
                <a:spcPts val="500"/>
              </a:spcAft>
            </a:pPr>
            <a:r>
              <a:rPr sz="900" b="1">
                <a:latin typeface="游ゴシック"/>
              </a:rPr>
              <a:t>【正常収益力算定上の着眼点】</a:t>
            </a:r>
          </a:p>
          <a:p>
            <a:pPr>
              <a:spcAft>
                <a:spcPts val="500"/>
              </a:spcAft>
            </a:pPr>
            <a:r>
              <a:rPr sz="850" b="0">
                <a:latin typeface="游ゴシック Medium"/>
              </a:rPr>
              <a:t>・営業利益は3期を通じて売上高比0.5%前後にとどまり、2025年11月期は不採算2店舗の影響で営業損失に転じている。</a:t>
            </a:r>
          </a:p>
          <a:p>
            <a:pPr>
              <a:spcAft>
                <a:spcPts val="500"/>
              </a:spcAft>
            </a:pPr>
            <a:r>
              <a:rPr sz="850" b="0">
                <a:latin typeface="游ゴシック Medium"/>
              </a:rPr>
              <a:t>・役員報酬・非事業用車両のリース料・事業関連性の低い生命保険料など、本件実行後に発生しない費用が販管費に含まれている（P.17）。</a:t>
            </a:r>
          </a:p>
          <a:p>
            <a:pPr>
              <a:spcAft>
                <a:spcPts val="500"/>
              </a:spcAft>
            </a:pPr>
            <a:r>
              <a:rPr sz="850" b="0">
                <a:latin typeface="游ゴシック Medium"/>
              </a:rPr>
              <a:t>・特別損失に計上された固定資産売却損968千円・除却損330千円は非経常的な損益であり、営業利益に含まれないため調整していない。</a:t>
            </a:r>
          </a:p>
          <a:p>
            <a:pPr>
              <a:spcAft>
                <a:spcPts val="500"/>
              </a:spcAft>
            </a:pPr>
            <a:r>
              <a:rPr sz="850" b="0">
                <a:latin typeface="游ゴシック Medium"/>
              </a:rPr>
              <a:t>・支払利息は債権者への分配前の収益力を見る観点から営業利益ベースで評価しており、あらためての控除は行っていない。</a:t>
            </a:r>
          </a:p>
          <a:p>
            <a:pPr>
              <a:spcAft>
                <a:spcPts val="500"/>
              </a:spcAft>
            </a:pPr>
            <a:r>
              <a:rPr sz="850" b="0">
                <a:latin typeface="游ゴシック Medium"/>
              </a:rPr>
              <a:t>・2026年3月の棚卸資産廃棄損44,000千円は基準日後の事象であり、P/Lではなく修正B/Sで評価差額として反映している（P.12）。</a:t>
            </a:r>
          </a:p>
          <a:p>
            <a:pPr>
              <a:spcAft>
                <a:spcPts val="500"/>
              </a:spcAft>
            </a:pPr>
            <a:r>
              <a:rPr sz="850" b="0">
                <a:latin typeface="游ゴシック Medium"/>
              </a:rPr>
              <a:t>※単位：千円。</a:t>
            </a:r>
          </a:p>
        </p:txBody>
      </p:sp>
    </p:spTree>
    <p:extLst>
      <p:ext uri="{BB962C8B-B14F-4D97-AF65-F5344CB8AC3E}">
        <p14:creationId xmlns:p14="http://schemas.microsoft.com/office/powerpoint/2010/main" val="3740942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販管費の修正</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Financial Analysis</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mj-ea"/>
              </a:rPr>
              <a:t>M&amp;A実行後に継続的に発生しない費用を戻し入れ、継続的に必要となる費用を控除する。2025年11月期の修正額は△ 19,229千円で、修正後の販管費は330,347千円となる。</a:t>
            </a:r>
            <a:endParaRPr lang="en-US" altLang="ja-JP" dirty="0"/>
          </a:p>
        </p:txBody>
      </p:sp>
      <p:graphicFrame>
        <p:nvGraphicFramePr>
          <p:cNvPr id="7" name="表 6">
            <a:extLst>
              <a:ext uri="{FF2B5EF4-FFF2-40B4-BE49-F238E27FC236}">
                <a16:creationId xmlns:a16="http://schemas.microsoft.com/office/drawing/2014/main" id="{0A397644-9A3A-FA5D-2455-9CC6E28D33A6}"/>
              </a:ext>
            </a:extLst>
          </p:cNvPr>
          <p:cNvGraphicFramePr>
            <a:graphicFrameLocks noGrp="1"/>
          </p:cNvGraphicFramePr>
          <p:nvPr>
            <p:extLst>
              <p:ext uri="{D42A27DB-BD31-4B8C-83A1-F6EECF244321}">
                <p14:modId xmlns:p14="http://schemas.microsoft.com/office/powerpoint/2010/main" val="4189343934"/>
              </p:ext>
            </p:extLst>
          </p:nvPr>
        </p:nvGraphicFramePr>
        <p:xfrm>
          <a:off x="311150" y="1517904"/>
          <a:ext cx="10021824" cy="4996260"/>
        </p:xfrm>
        <a:graphic>
          <a:graphicData uri="http://schemas.openxmlformats.org/drawingml/2006/table">
            <a:tbl>
              <a:tblPr/>
              <a:tblGrid>
                <a:gridCol w="1691640">
                  <a:extLst>
                    <a:ext uri="{9D8B030D-6E8A-4147-A177-3AD203B41FA5}">
                      <a16:colId xmlns:a16="http://schemas.microsoft.com/office/drawing/2014/main" val="2251232663"/>
                    </a:ext>
                  </a:extLst>
                </a:gridCol>
                <a:gridCol w="960120">
                  <a:extLst>
                    <a:ext uri="{9D8B030D-6E8A-4147-A177-3AD203B41FA5}">
                      <a16:colId xmlns:a16="http://schemas.microsoft.com/office/drawing/2014/main" val="3949639850"/>
                    </a:ext>
                  </a:extLst>
                </a:gridCol>
                <a:gridCol w="960120">
                  <a:extLst>
                    <a:ext uri="{9D8B030D-6E8A-4147-A177-3AD203B41FA5}">
                      <a16:colId xmlns:a16="http://schemas.microsoft.com/office/drawing/2014/main" val="2364528844"/>
                    </a:ext>
                  </a:extLst>
                </a:gridCol>
                <a:gridCol w="960120">
                  <a:extLst>
                    <a:ext uri="{9D8B030D-6E8A-4147-A177-3AD203B41FA5}">
                      <a16:colId xmlns:a16="http://schemas.microsoft.com/office/drawing/2014/main" val="3459482142"/>
                    </a:ext>
                  </a:extLst>
                </a:gridCol>
                <a:gridCol w="5449824">
                  <a:extLst>
                    <a:ext uri="{9D8B030D-6E8A-4147-A177-3AD203B41FA5}">
                      <a16:colId xmlns:a16="http://schemas.microsoft.com/office/drawing/2014/main" val="107788540"/>
                    </a:ext>
                  </a:extLst>
                </a:gridCol>
              </a:tblGrid>
              <a:tr h="256032">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科目</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帳簿価額</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修正額</a:t>
                      </a:r>
                    </a:p>
                  </a:txBody>
                  <a:tcPr marL="2836" marR="283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dirty="0">
                          <a:solidFill>
                            <a:srgbClr val="FFFFFF"/>
                          </a:solidFill>
                          <a:effectLst/>
                          <a:latin typeface="游ゴシック" panose="020B0400000000000000" pitchFamily="50" charset="-128"/>
                          <a:ea typeface="游ゴシック" panose="020B0400000000000000" pitchFamily="50" charset="-128"/>
                        </a:rPr>
                        <a:t>修正後</a:t>
                      </a:r>
                    </a:p>
                  </a:txBody>
                  <a:tcPr marL="2836" marR="283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tc>
                  <a:txBody>
                    <a:bodyPr/>
                    <a:lstStyle/>
                    <a:p>
                      <a:pPr algn="ctr" fontAlgn="ctr">
                        <a:buNone/>
                      </a:pPr>
                      <a:r>
                        <a:rPr lang="ja-JP" sz="800" b="1" i="0" u="none" strike="noStrike">
                          <a:solidFill>
                            <a:srgbClr val="FFFFFF"/>
                          </a:solidFill>
                          <a:effectLst/>
                          <a:latin typeface="Arial" panose="020B0604020202020204" pitchFamily="34" charset="0"/>
                          <a:ea typeface="游ゴシック Medium" panose="020B0500000000000000" pitchFamily="50" charset="-128"/>
                        </a:rPr>
                        <a:t>調整事由</a:t>
                      </a:r>
                    </a:p>
                  </a:txBody>
                  <a:tcPr marL="54864" marR="36576" marT="2836" marB="0" anchor="ctr">
                    <a:lnL w="1270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0B3041"/>
                    </a:solidFill>
                  </a:tcPr>
                </a:tc>
                <a:extLst>
                  <a:ext uri="{0D108BD9-81ED-4DB2-BD59-A6C34878D82A}">
                    <a16:rowId xmlns:a16="http://schemas.microsoft.com/office/drawing/2014/main" val="346975285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従業員給与</a:t>
                      </a:r>
                    </a:p>
                  </a:txBody>
                  <a:tcPr marL="102099" marR="2836" marT="2836" marB="0" anchor="ctr">
                    <a:lnL w="6350" cap="flat" cmpd="sng" algn="ctr">
                      <a:solidFill>
                        <a:srgbClr val="FFFFFF"/>
                      </a:solidFill>
                      <a:prstDash val="solid"/>
                      <a:round/>
                      <a:headEnd type="none" w="med" len="med"/>
                      <a:tailEnd type="none" w="med" len="med"/>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127,017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8,183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118,834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現場責任者（淺野崇氏）の人件費を役員報酬へ振替</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082702415"/>
                  </a:ext>
                </a:extLst>
              </a:tr>
              <a:tr h="175564">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旅費交通費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5,725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広告宣伝費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26,651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3468358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発送配達費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111409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ロイヤリティ</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29,982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61919010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会議費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1,489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4320019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役員報酬</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代表者の退任分を戻し入れ、後任役員の同水準報酬を控除（差引ゼロ）</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08356641"/>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法定福利費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15,295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721206240"/>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厚生費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3,863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279926147"/>
                  </a:ext>
                </a:extLst>
              </a:tr>
              <a:tr h="175564">
                <a:tc>
                  <a:txBody>
                    <a:bodyPr/>
                    <a:lstStyle/>
                    <a:p>
                      <a:pPr algn="l" fontAlgn="ctr">
                        <a:buNone/>
                      </a:pPr>
                      <a:r>
                        <a:rPr lang="ja-JP" sz="800" b="0" i="0" u="none" strike="noStrike" dirty="0">
                          <a:solidFill>
                            <a:srgbClr val="000000"/>
                          </a:solidFill>
                          <a:effectLst/>
                          <a:latin typeface="游ゴシック" panose="020B0400000000000000" pitchFamily="50" charset="-128"/>
                          <a:ea typeface="游ゴシック" panose="020B0400000000000000" pitchFamily="50" charset="-128"/>
                        </a:rPr>
                        <a:t>減価償却費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6,349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31129602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リース料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7,250</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5,604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1,646</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非事業用車両のリース料（本件実行後に発生しない）</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612394859"/>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地代家賃</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33,249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327523463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修繕費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275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9232182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事務用消耗品費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4,372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2122485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通信費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3,045</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580907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水道光熱費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3,941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84107171"/>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租税公課</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20,061</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25803323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接待交際費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8,218</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4,218</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4,000</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接待交際費のうち適正水準4,000千円を超える部分</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2802856607"/>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保険料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3,877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 1,224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2,653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事業関連性の低い生命保険料</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71138110"/>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備品消耗品費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8,462</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972454482"/>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管理諸費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5,797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14772075"/>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支払手数料</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14,453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59608223"/>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諸会費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48781516"/>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車両費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513</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365172073"/>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研修費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174</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1278158404"/>
                  </a:ext>
                </a:extLst>
              </a:tr>
              <a:tr h="175564">
                <a:tc>
                  <a:txBody>
                    <a:bodyPr/>
                    <a:lstStyle/>
                    <a:p>
                      <a:pPr algn="l" fontAlgn="ctr">
                        <a:buNone/>
                      </a:pPr>
                      <a:r>
                        <a:rPr lang="ja-JP" sz="800" b="0" i="0" u="none" strike="noStrike">
                          <a:solidFill>
                            <a:srgbClr val="000000"/>
                          </a:solidFill>
                          <a:effectLst/>
                          <a:latin typeface="游ゴシック" panose="020B0400000000000000" pitchFamily="50" charset="-128"/>
                          <a:ea typeface="游ゴシック" panose="020B0400000000000000" pitchFamily="50" charset="-128"/>
                        </a:rPr>
                        <a:t>雑費</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4,667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0"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013829628"/>
                  </a:ext>
                </a:extLst>
              </a:tr>
              <a:tr h="175564">
                <a:tc>
                  <a:txBody>
                    <a:bodyPr/>
                    <a:lstStyle/>
                    <a:p>
                      <a:pPr algn="l" fontAlgn="ctr">
                        <a:buNone/>
                      </a:pPr>
                      <a:r>
                        <a:rPr lang="ja-JP" sz="800" b="1" i="0" u="none" strike="noStrike" dirty="0">
                          <a:solidFill>
                            <a:srgbClr val="000000"/>
                          </a:solidFill>
                          <a:effectLst/>
                          <a:latin typeface="游ゴシック" panose="020B0400000000000000" pitchFamily="50" charset="-128"/>
                          <a:ea typeface="游ゴシック" panose="020B0400000000000000" pitchFamily="50" charset="-128"/>
                        </a:rPr>
                        <a:t>販売費および一般管理費合計</a:t>
                      </a:r>
                    </a:p>
                  </a:txBody>
                  <a:tcPr marL="102099" marR="2836" marT="2836" marB="0" anchor="ctr">
                    <a:lnL>
                      <a:noFill/>
                    </a:lnL>
                    <a:lnR>
                      <a:noFill/>
                    </a:lnR>
                    <a:lnT>
                      <a:noFill/>
                    </a:lnT>
                    <a:lnB>
                      <a:noFill/>
                    </a:lnB>
                    <a:solidFill>
                      <a:srgbClr val="E3E7E9"/>
                    </a:solid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349,576</a:t>
                      </a:r>
                    </a:p>
                  </a:txBody>
                  <a:tcPr marL="2836" marR="51050" marT="2836" marB="0" anchor="ctr">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 19,229</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r"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330,347</a:t>
                      </a:r>
                    </a:p>
                  </a:txBody>
                  <a:tcPr marL="2836" marR="51050"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tc>
                  <a:txBody>
                    <a:bodyPr/>
                    <a:lstStyle/>
                    <a:p>
                      <a:pPr algn="l" fontAlgn="ctr">
                        <a:buNone/>
                      </a:pPr>
                      <a:r>
                        <a:rPr lang="ja-JP" sz="800" b="1" i="0" u="none" strike="noStrike">
                          <a:solidFill>
                            <a:srgbClr val="000000"/>
                          </a:solidFill>
                          <a:effectLst/>
                          <a:latin typeface="Arial" panose="020B0604020202020204" pitchFamily="34" charset="0"/>
                          <a:ea typeface="游ゴシック Medium" panose="020B0500000000000000" pitchFamily="50" charset="-128"/>
                        </a:rPr>
                        <a:t>－</a:t>
                      </a:r>
                    </a:p>
                  </a:txBody>
                  <a:tcPr marL="54864" marR="36576" marT="2836"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a:noFill/>
                    </a:lnB>
                    <a:noFill/>
                  </a:tcPr>
                </a:tc>
                <a:extLst>
                  <a:ext uri="{0D108BD9-81ED-4DB2-BD59-A6C34878D82A}">
                    <a16:rowId xmlns:a16="http://schemas.microsoft.com/office/drawing/2014/main" val="4103263029"/>
                  </a:ext>
                </a:extLst>
              </a:tr>
            </a:tbl>
          </a:graphicData>
        </a:graphic>
      </p:graphicFrame>
      <p:sp>
        <p:nvSpPr>
          <p:cNvPr id="14" name="TextBox 13"/>
          <p:cNvSpPr txBox="1"/>
          <p:nvPr/>
        </p:nvSpPr>
        <p:spPr>
          <a:xfrm>
            <a:off x="310896" y="6528816"/>
            <a:ext cx="10021824" cy="365760"/>
          </a:xfrm>
          <a:prstGeom prst="rect">
            <a:avLst/>
          </a:prstGeom>
          <a:noFill/>
        </p:spPr>
        <p:txBody>
          <a:bodyPr wrap="square">
            <a:spAutoFit/>
          </a:bodyPr>
          <a:lstStyle/>
          <a:p>
            <a:r>
              <a:rPr sz="800">
                <a:latin typeface="游ゴシック Medium"/>
              </a:rPr>
              <a:t>※2025年11月期（評価基準期）の金額。第3期・第4期の修正額はそれぞれ△7,535千円・△19,814千円（案件マスター「修正SGA」シート参照）。単位：千円。</a:t>
            </a:r>
          </a:p>
          <a:p>
            <a:r>
              <a:rPr sz="800">
                <a:latin typeface="游ゴシック Medium"/>
              </a:rPr>
              <a:t>※役員報酬は、代表者（淺野ゆう子氏）の退任分14,400千円を戻し入れ、後任役員が同水準の報酬を受ける前提で同額を控除しているため、差引の修正額はゼロとなる。</a:t>
            </a:r>
          </a:p>
        </p:txBody>
      </p:sp>
    </p:spTree>
    <p:extLst>
      <p:ext uri="{BB962C8B-B14F-4D97-AF65-F5344CB8AC3E}">
        <p14:creationId xmlns:p14="http://schemas.microsoft.com/office/powerpoint/2010/main" val="190938000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EV/EBITDAマルチプル法による算出</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Valuation Details</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修正後EBITDAの加重平均による基準EBITDAは16,192千円。事業価値（EV）から非流動性ディスカウント30%を控除し、ネットキャッシュ△ 189,526千円を加算した想定株式価値は△155,523 〜 △132,854千円となる。</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3551852391"/>
              </p:ext>
            </p:extLst>
          </p:nvPr>
        </p:nvGraphicFramePr>
        <p:xfrm>
          <a:off x="341907" y="1737360"/>
          <a:ext cx="8778240" cy="4750308"/>
        </p:xfrm>
        <a:graphic>
          <a:graphicData uri="http://schemas.openxmlformats.org/drawingml/2006/table">
            <a:tbl>
              <a:tblPr>
                <a:tableStyleId>{5C22544A-7EE6-4342-B048-85BDC9FD1C3A}</a:tableStyleId>
              </a:tblPr>
              <a:tblGrid>
                <a:gridCol w="1572768">
                  <a:extLst>
                    <a:ext uri="{9D8B030D-6E8A-4147-A177-3AD203B41FA5}">
                      <a16:colId xmlns:a16="http://schemas.microsoft.com/office/drawing/2014/main" val="20000"/>
                    </a:ext>
                  </a:extLst>
                </a:gridCol>
                <a:gridCol w="2999232">
                  <a:extLst>
                    <a:ext uri="{9D8B030D-6E8A-4147-A177-3AD203B41FA5}">
                      <a16:colId xmlns:a16="http://schemas.microsoft.com/office/drawing/2014/main" val="20001"/>
                    </a:ext>
                  </a:extLst>
                </a:gridCol>
                <a:gridCol w="1389888">
                  <a:extLst>
                    <a:ext uri="{9D8B030D-6E8A-4147-A177-3AD203B41FA5}">
                      <a16:colId xmlns:a16="http://schemas.microsoft.com/office/drawing/2014/main" val="20001"/>
                    </a:ext>
                  </a:extLst>
                </a:gridCol>
                <a:gridCol w="1389888">
                  <a:extLst>
                    <a:ext uri="{9D8B030D-6E8A-4147-A177-3AD203B41FA5}">
                      <a16:colId xmlns:a16="http://schemas.microsoft.com/office/drawing/2014/main" val="20001"/>
                    </a:ext>
                  </a:extLst>
                </a:gridCol>
                <a:gridCol w="1426464">
                  <a:extLst>
                    <a:ext uri="{9D8B030D-6E8A-4147-A177-3AD203B41FA5}">
                      <a16:colId xmlns:a16="http://schemas.microsoft.com/office/drawing/2014/main" val="20001"/>
                    </a:ext>
                  </a:extLst>
                </a:gridCol>
              </a:tblGrid>
              <a:tr h="292608">
                <a:tc>
                  <a:txBody>
                    <a:bodyPr/>
                    <a:lstStyle/>
                    <a:p>
                      <a:pPr algn="l"/>
                      <a:r>
                        <a:rPr sz="90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項目</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23年11月期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24年11月期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tc>
                  <a:txBody>
                    <a:bodyPr/>
                    <a:lstStyle/>
                    <a:p>
                      <a:pPr algn="ctr"/>
                      <a:r>
                        <a:rPr sz="900" b="1" dirty="0" err="1">
                          <a:solidFill>
                            <a:srgbClr val="FFFFFF"/>
                          </a:solidFill>
                          <a:latin typeface="游ゴシック" panose="020B0400000000000000" pitchFamily="50" charset="-128"/>
                          <a:ea typeface="游ゴシック" panose="020B0400000000000000" pitchFamily="50" charset="-128"/>
                        </a:rPr>
                        <a:t>25年11月期</a:t>
                      </a:r>
                      <a:endParaRPr sz="950" b="1" dirty="0">
                        <a:solidFill>
                          <a:srgbClr val="FFFFFF"/>
                        </a:solidFill>
                        <a:latin typeface="游ゴシック" panose="020B0400000000000000" pitchFamily="50" charset="-128"/>
                        <a:ea typeface="游ゴシック" panose="020B0400000000000000" pitchFamily="50" charset="-128"/>
                      </a:endParaRPr>
                    </a:p>
                  </a:txBody>
                  <a:tcPr marL="43200" marR="43200" marT="7200" marB="7200" anchor="ctr">
                    <a:solidFill>
                      <a:srgbClr val="1F3B5B"/>
                    </a:solidFill>
                  </a:tcPr>
                </a:tc>
                <a:extLst>
                  <a:ext uri="{0D108BD9-81ED-4DB2-BD59-A6C34878D82A}">
                    <a16:rowId xmlns:a16="http://schemas.microsoft.com/office/drawing/2014/main" val="10000"/>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① 正常収益力</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修正後営業利益（P.18）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11,197</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23,471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332</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減価償却費（販管費計上分）</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3,911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9,295</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6,349</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修正後EBITDA</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15,108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32,766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6,681</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加重</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20%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50%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4"/>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基準EBITDA（加重平均）</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16,192</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② ネットキャッシュ</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キャッシュライク（P.14）</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10,140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デットライク（P.14）</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199,666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7"/>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ネットキャッシュ</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③ 想定株式価値</a:t>
                      </a:r>
                    </a:p>
                  </a:txBody>
                  <a:tcPr marL="43200" marR="43200" marT="7200" marB="7200" anchor="ctr">
                    <a:solidFill>
                      <a:srgbClr val="F5F8FB"/>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マルチプル倍率</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3.0倍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4.0倍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5.0倍</a:t>
                      </a:r>
                      <a:endParaRPr lang="en-US" altLang="ja-JP"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8"/>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事業価値EV（①×倍率）</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48,576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64,768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80,960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9"/>
                  </a:ext>
                </a:extLst>
              </a:tr>
              <a:tr h="342900">
                <a:tc>
                  <a:txBody>
                    <a:bodyPr/>
                    <a:lstStyle/>
                    <a:p>
                      <a:pPr algn="l"/>
                      <a:r>
                        <a:rPr lang="en-US" sz="900" b="0" dirty="0">
                          <a:solidFill>
                            <a:sysClr val="windowText" lastClr="000000"/>
                          </a:solidFill>
                          <a:latin typeface="游ゴシック" panose="020B0400000000000000" pitchFamily="50" charset="-128"/>
                          <a:ea typeface="游ゴシック" panose="020B0400000000000000" pitchFamily="50" charset="-128"/>
                        </a:rPr>
                        <a:t>　</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900" b="0" dirty="0">
                          <a:solidFill>
                            <a:sysClr val="windowText" lastClr="000000"/>
                          </a:solidFill>
                          <a:latin typeface="游ゴシック" panose="020B0400000000000000" pitchFamily="50" charset="-128"/>
                          <a:ea typeface="游ゴシック" panose="020B0400000000000000" pitchFamily="50" charset="-128"/>
                        </a:rPr>
                        <a:t>非流動性ディスカウント（△30%）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14,573</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19,430</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r"/>
                      <a:r>
                        <a:rPr lang="ja-JP" altLang="en-US" sz="900" b="0" dirty="0">
                          <a:solidFill>
                            <a:sysClr val="windowText" lastClr="000000"/>
                          </a:solidFill>
                          <a:latin typeface="游ゴシック" panose="020B0400000000000000" pitchFamily="50" charset="-128"/>
                          <a:ea typeface="游ゴシック" panose="020B0400000000000000" pitchFamily="50" charset="-128"/>
                        </a:rPr>
                        <a:t>△ 24,288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2412410317"/>
                  </a:ext>
                </a:extLst>
              </a:tr>
              <a:tr h="342900">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ネットキャッシュ（②）</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sz="900" b="0" dirty="0" err="1">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sz="900" b="0" dirty="0" err="1">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sz="900" b="0" dirty="0" err="1">
                          <a:solidFill>
                            <a:sysClr val="windowText" lastClr="000000"/>
                          </a:solidFill>
                          <a:latin typeface="游ゴシック" panose="020B0400000000000000" pitchFamily="50" charset="-128"/>
                          <a:ea typeface="游ゴシック" panose="020B0400000000000000" pitchFamily="50" charset="-128"/>
                        </a:rPr>
                        <a:t>△ 189,526</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10"/>
                  </a:ext>
                </a:extLst>
              </a:tr>
              <a:tr h="342900">
                <a:tc>
                  <a:txBody>
                    <a:bodyPr/>
                    <a:lstStyle/>
                    <a:p>
                      <a:pPr algn="l"/>
                      <a:r>
                        <a:rPr sz="900" b="1" dirty="0">
                          <a:solidFill>
                            <a:sysClr val="windowText" lastClr="000000"/>
                          </a:solidFill>
                          <a:latin typeface="游ゴシック" panose="020B0400000000000000" pitchFamily="50" charset="-128"/>
                          <a:ea typeface="游ゴシック" panose="020B0400000000000000" pitchFamily="50" charset="-128"/>
                        </a:rPr>
                        <a:t>　</a:t>
                      </a:r>
                    </a:p>
                  </a:txBody>
                  <a:tcPr marL="43200" marR="43200" marT="7200" marB="7200" anchor="ctr">
                    <a:solidFill>
                      <a:srgbClr val="F5F8FB"/>
                    </a:solidFill>
                  </a:tcPr>
                </a:tc>
                <a:tc>
                  <a:txBody>
                    <a:bodyPr/>
                    <a:lstStyle/>
                    <a:p>
                      <a:pPr algn="l"/>
                      <a:r>
                        <a:rPr lang="ja-JP" altLang="en-US" sz="900" b="1" dirty="0">
                          <a:solidFill>
                            <a:sysClr val="windowText" lastClr="000000"/>
                          </a:solidFill>
                          <a:latin typeface="游ゴシック" panose="020B0400000000000000" pitchFamily="50" charset="-128"/>
                          <a:ea typeface="游ゴシック" panose="020B0400000000000000" pitchFamily="50" charset="-128"/>
                        </a:rPr>
                        <a:t>想定株式価値</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155,523</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144,188</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r"/>
                      <a:r>
                        <a:rPr lang="ja-JP" altLang="en-US" sz="900" b="1" dirty="0">
                          <a:solidFill>
                            <a:sysClr val="windowText" lastClr="000000"/>
                          </a:solidFill>
                          <a:latin typeface="游ゴシック" panose="020B0400000000000000" pitchFamily="50" charset="-128"/>
                          <a:ea typeface="游ゴシック" panose="020B0400000000000000" pitchFamily="50" charset="-128"/>
                        </a:rPr>
                        <a:t>△ 132,854</a:t>
                      </a:r>
                      <a:endParaRPr sz="10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
        <p:nvSpPr>
          <p:cNvPr id="15" name="TextBox 14"/>
          <p:cNvSpPr txBox="1"/>
          <p:nvPr/>
        </p:nvSpPr>
        <p:spPr>
          <a:xfrm>
            <a:off x="338328" y="6492240"/>
            <a:ext cx="9902952" cy="548640"/>
          </a:xfrm>
          <a:prstGeom prst="rect">
            <a:avLst/>
          </a:prstGeom>
          <a:noFill/>
        </p:spPr>
        <p:txBody>
          <a:bodyPr wrap="square">
            <a:spAutoFit/>
          </a:bodyPr>
          <a:lstStyle/>
          <a:p>
            <a:r>
              <a:rPr sz="800">
                <a:latin typeface="游ゴシック Medium"/>
              </a:rPr>
              <a:t>※修正後EBITDA＝修正後営業利益＋減価償却費であり、企業概要書の調整後EBITDAと同一である。※単位：千円。</a:t>
            </a:r>
          </a:p>
          <a:p>
            <a:r>
              <a:rPr sz="800">
                <a:latin typeface="游ゴシック Medium"/>
              </a:rPr>
              <a:t>※非流動性ディスカウント30%は、上場会社の株価倍率に織り込まれた市場性（流動性）を非上場株式へ適用するにあたり控除するもの。コストアプローチには適用しない。</a:t>
            </a:r>
          </a:p>
          <a:p>
            <a:r>
              <a:rPr sz="800">
                <a:latin typeface="游ゴシック Medium"/>
              </a:rPr>
              <a:t>※類似上場会社の選定にあたっては、ペット関連小売・生体販売を主要事業とする国内上場会社を想定しているが、同社は債務超過かつ売上規模が大きく異なるため、倍率レンジ3〜5倍は保守的に設定している（要確認）。</a:t>
            </a:r>
          </a:p>
        </p:txBody>
      </p:sp>
    </p:spTree>
    <p:extLst>
      <p:ext uri="{BB962C8B-B14F-4D97-AF65-F5344CB8AC3E}">
        <p14:creationId xmlns:p14="http://schemas.microsoft.com/office/powerpoint/2010/main" val="39140159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評価の前提と追加調整の可能性</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Valuation Details</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lang="en-US" altLang="ja-JP" dirty="0">
                <a:latin typeface="游ゴシック" panose="020B0400000000000000" pitchFamily="50" charset="-128"/>
                <a:ea typeface="游ゴシック" panose="020B0400000000000000" pitchFamily="50" charset="-128"/>
              </a:rPr>
              <a:t>本評価は受領済資料の範囲で行っており、以下の事項が確認されれば試算値は変動する。影響の方向（＋＝株式価値の上振れ要因／△＝下振れ要因）をあわせて示す。</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833759943"/>
              </p:ext>
            </p:extLst>
          </p:nvPr>
        </p:nvGraphicFramePr>
        <p:xfrm>
          <a:off x="324000" y="1572768"/>
          <a:ext cx="10003535" cy="4297680"/>
        </p:xfrm>
        <a:graphic>
          <a:graphicData uri="http://schemas.openxmlformats.org/drawingml/2006/table">
            <a:tbl>
              <a:tblPr>
                <a:tableStyleId>{5C22544A-7EE6-4342-B048-85BDC9FD1C3A}</a:tableStyleId>
              </a:tblPr>
              <a:tblGrid>
                <a:gridCol w="1143000">
                  <a:extLst>
                    <a:ext uri="{9D8B030D-6E8A-4147-A177-3AD203B41FA5}">
                      <a16:colId xmlns:a16="http://schemas.microsoft.com/office/drawing/2014/main" val="20000"/>
                    </a:ext>
                  </a:extLst>
                </a:gridCol>
                <a:gridCol w="3977639">
                  <a:extLst>
                    <a:ext uri="{9D8B030D-6E8A-4147-A177-3AD203B41FA5}">
                      <a16:colId xmlns:a16="http://schemas.microsoft.com/office/drawing/2014/main" val="20001"/>
                    </a:ext>
                  </a:extLst>
                </a:gridCol>
                <a:gridCol w="64008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1"/>
                    </a:ext>
                  </a:extLst>
                </a:gridCol>
              </a:tblGrid>
              <a:tr h="274320">
                <a:tc>
                  <a:txBody>
                    <a:bodyPr/>
                    <a:lstStyle/>
                    <a:p>
                      <a:pPr algn="l"/>
                      <a:r>
                        <a:rPr sz="850" b="1">
                          <a:solidFill>
                            <a:srgbClr val="FFFFFF"/>
                          </a:solidFill>
                          <a:latin typeface="游ゴシック" panose="020B0400000000000000" pitchFamily="50" charset="-128"/>
                          <a:ea typeface="游ゴシック" panose="020B0400000000000000" pitchFamily="50" charset="-128"/>
                        </a:rPr>
                        <a:t>区分</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確認を要する事項</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方向</a:t>
                      </a:r>
                    </a:p>
                  </a:txBody>
                  <a:tcPr marL="43200" marR="43200" marT="7200" marB="7200" anchor="ctr">
                    <a:solidFill>
                      <a:srgbClr val="1F3B5B"/>
                    </a:solidFill>
                  </a:tcPr>
                </a:tc>
                <a:tc>
                  <a:txBody>
                    <a:bodyPr/>
                    <a:lstStyle/>
                    <a:p>
                      <a:pPr algn="ctr"/>
                      <a:r>
                        <a:rPr sz="850" b="1">
                          <a:solidFill>
                            <a:srgbClr val="FFFFFF"/>
                          </a:solidFill>
                          <a:latin typeface="游ゴシック" panose="020B0400000000000000" pitchFamily="50" charset="-128"/>
                          <a:ea typeface="游ゴシック" panose="020B0400000000000000" pitchFamily="50" charset="-128"/>
                        </a:rPr>
                        <a:t>評価への影響</a:t>
                      </a:r>
                    </a:p>
                  </a:txBody>
                  <a:tcPr marL="43200" marR="43200" marT="7200" marB="7200" anchor="ctr">
                    <a:solidFill>
                      <a:srgbClr val="1F3B5B"/>
                    </a:solidFill>
                  </a:tcPr>
                </a:tc>
                <a:extLst>
                  <a:ext uri="{0D108BD9-81ED-4DB2-BD59-A6C34878D82A}">
                    <a16:rowId xmlns:a16="http://schemas.microsoft.com/office/drawing/2014/main" val="10000"/>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棚卸資産</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外部保管在庫10,000千円の実在性</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sz="850" b="0" dirty="0" err="1">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実在しない場合、時価純資産が同額だけ下振れする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1"/>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未払費用</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11月分給与（当月締・翌月25日払）が未払計上されているか</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未計上であれば社会保険料概算15%を含め約10,000千円超の追加計上が必要</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引当金</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850" b="0" dirty="0">
                          <a:solidFill>
                            <a:sysClr val="windowText" lastClr="000000"/>
                          </a:solidFill>
                          <a:latin typeface="游ゴシック" panose="020B0400000000000000" pitchFamily="50" charset="-128"/>
                          <a:ea typeface="游ゴシック" panose="020B0400000000000000" pitchFamily="50" charset="-128"/>
                        </a:rPr>
                        <a:t>賞与・退職金・役員退職慰労金の各規程の有無と要支給額</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lang="en-US" altLang="ja-JP"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en-US" altLang="ja-JP" sz="850" b="0" dirty="0">
                          <a:solidFill>
                            <a:sysClr val="windowText" lastClr="000000"/>
                          </a:solidFill>
                          <a:latin typeface="游ゴシック" panose="020B0400000000000000" pitchFamily="50" charset="-128"/>
                          <a:ea typeface="游ゴシック" panose="020B0400000000000000" pitchFamily="50" charset="-128"/>
                        </a:rPr>
                        <a:t>規程がある場合、要支給額を引当計上するため時価純資産が下振れする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3"/>
                  </a:ext>
                </a:extLst>
              </a:tr>
              <a:tr h="402336">
                <a:tc>
                  <a:txBody>
                    <a:bodyPr/>
                    <a:lstStyle/>
                    <a:p>
                      <a:pPr algn="l"/>
                      <a:r>
                        <a:rPr lang="ja-JP" altLang="en-US" sz="850" b="0">
                          <a:solidFill>
                            <a:sysClr val="windowText" lastClr="000000"/>
                          </a:solidFill>
                          <a:latin typeface="游ゴシック" panose="020B0400000000000000" pitchFamily="50" charset="-128"/>
                          <a:ea typeface="游ゴシック" panose="020B0400000000000000" pitchFamily="50" charset="-128"/>
                        </a:rPr>
                        <a:t>原状回復</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撤退2店舗の原状回復費用・違約金、および稼働6店舗の資産除去債務</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ctr"/>
                      <a:r>
                        <a:rPr lang="ja-JP" altLang="en-US"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発生額を負債計上するため時価純資産が下振れする</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673180334"/>
                  </a:ext>
                </a:extLst>
              </a:tr>
              <a:tr h="402336">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差入保証金</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賃貸借契約書の償却条項・契約解除時の返還額（基準日残高27,371千円）</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ctr"/>
                      <a:r>
                        <a:rPr lang="ja-JP" altLang="en-US" sz="850" b="0" dirty="0">
                          <a:solidFill>
                            <a:sysClr val="windowText" lastClr="000000"/>
                          </a:solidFill>
                          <a:latin typeface="游ゴシック" panose="020B0400000000000000" pitchFamily="50" charset="-128"/>
                          <a:ea typeface="游ゴシック" panose="020B0400000000000000" pitchFamily="50" charset="-128"/>
                        </a:rPr>
                        <a:t>△</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償却条項がある場合、返還額まで評価減が必要</a:t>
                      </a:r>
                      <a:endParaRPr lang="en-US" altLang="ja-JP"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3136073279"/>
                  </a:ext>
                </a:extLst>
              </a:tr>
              <a:tr h="402336">
                <a:tc>
                  <a:txBody>
                    <a:bodyPr/>
                    <a:lstStyle/>
                    <a:p>
                      <a:pPr algn="l"/>
                      <a:r>
                        <a:rPr lang="ja-JP" altLang="en-US" sz="850" b="0" dirty="0">
                          <a:solidFill>
                            <a:sysClr val="windowText" lastClr="000000"/>
                          </a:solidFill>
                          <a:latin typeface="游ゴシック" panose="020B0400000000000000" pitchFamily="50" charset="-128"/>
                          <a:ea typeface="游ゴシック" panose="020B0400000000000000" pitchFamily="50" charset="-128"/>
                        </a:rPr>
                        <a:t>長期前払費用</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850" b="0" dirty="0">
                          <a:solidFill>
                            <a:sysClr val="windowText" lastClr="000000"/>
                          </a:solidFill>
                          <a:latin typeface="游ゴシック" panose="020B0400000000000000" pitchFamily="50" charset="-128"/>
                          <a:ea typeface="游ゴシック" panose="020B0400000000000000" pitchFamily="50" charset="-128"/>
                        </a:rPr>
                        <a:t>内訳（信用保証料等の前払かどうか／基準日残高1,712千円）</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ctr"/>
                      <a:r>
                        <a:rPr lang="zh-TW" altLang="en-US" sz="850" b="0" dirty="0">
                          <a:solidFill>
                            <a:sysClr val="windowText" lastClr="000000"/>
                          </a:solidFill>
                          <a:latin typeface="游ゴシック" panose="020B0400000000000000" pitchFamily="50" charset="-128"/>
                          <a:ea typeface="游ゴシック" panose="020B0400000000000000" pitchFamily="50" charset="-128"/>
                        </a:rPr>
                        <a:t>△</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lang="zh-TW" altLang="en-US" sz="850" b="0" dirty="0">
                          <a:solidFill>
                            <a:sysClr val="windowText" lastClr="000000"/>
                          </a:solidFill>
                          <a:latin typeface="游ゴシック" panose="020B0400000000000000" pitchFamily="50" charset="-128"/>
                          <a:ea typeface="游ゴシック" panose="020B0400000000000000" pitchFamily="50" charset="-128"/>
                        </a:rPr>
                        <a:t>換金価値が認められない場合は全額評価減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3829413901"/>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土地・車両</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no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駐車場用地の路線価、事業用車両3台の査定額</a:t>
                      </a:r>
                    </a:p>
                  </a:txBody>
                  <a:tcPr marL="43200" marR="43200" marT="7200" marB="7200" anchor="ctr">
                    <a:no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no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時価が簿価を上回る場合は時価純資産が上振れする</a:t>
                      </a:r>
                    </a:p>
                  </a:txBody>
                  <a:tcPr marL="43200" marR="43200" marT="7200" marB="7200" anchor="ctr">
                    <a:noFill/>
                  </a:tcPr>
                </a:tc>
                <a:extLst>
                  <a:ext uri="{0D108BD9-81ED-4DB2-BD59-A6C34878D82A}">
                    <a16:rowId xmlns:a16="http://schemas.microsoft.com/office/drawing/2014/main" val="10004"/>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税効果</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将来の課税所得の見通し</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回収可能性が認められる場合、評価差額の34%相当（約16,031千円）だけ時価純資産が上振れする</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正常収益力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進行期（2026年11月期）の着地。減価償却費・法定福利費の通期見込み</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撤退効果が通期で発現すれば正常収益力は回復する（P.8の感応度分析を参照）</a:t>
                      </a:r>
                    </a:p>
                  </a:txBody>
                  <a:tcPr marL="43200" marR="43200" marT="7200" marB="7200" anchor="ctr">
                    <a:solidFill>
                      <a:srgbClr val="F5F8FB"/>
                    </a:solidFill>
                  </a:tcPr>
                </a:tc>
                <a:extLst>
                  <a:ext uri="{0D108BD9-81ED-4DB2-BD59-A6C34878D82A}">
                    <a16:rowId xmlns:a16="http://schemas.microsoft.com/office/drawing/2014/main" val="10002"/>
                  </a:ext>
                </a:extLst>
              </a:tr>
              <a:tr h="402336">
                <a:tc>
                  <a:txBody>
                    <a:bodyPr/>
                    <a:lstStyle/>
                    <a:p>
                      <a:pPr algn="l"/>
                      <a:r>
                        <a:rPr sz="850" b="0" dirty="0" err="1">
                          <a:solidFill>
                            <a:sysClr val="windowText" lastClr="000000"/>
                          </a:solidFill>
                          <a:latin typeface="游ゴシック" panose="020B0400000000000000" pitchFamily="50" charset="-128"/>
                          <a:ea typeface="游ゴシック" panose="020B0400000000000000" pitchFamily="50" charset="-128"/>
                        </a:rPr>
                        <a:t>正常収益力</a:t>
                      </a:r>
                      <a:endParaRPr sz="105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共通部門に残る本社仕入40,994千円・外注費5,610千円の店舗への配賦</a:t>
                      </a:r>
                    </a:p>
                  </a:txBody>
                  <a:tcPr marL="43200" marR="43200" marT="7200" marB="7200" anchor="ctr">
                    <a:solidFill>
                      <a:srgbClr val="F5F8FB"/>
                    </a:solidFill>
                  </a:tcPr>
                </a:tc>
                <a:tc>
                  <a:txBody>
                    <a:bodyPr/>
                    <a:lstStyle/>
                    <a:p>
                      <a:pPr algn="ctr"/>
                      <a:r>
                        <a:rPr sz="850" b="0" dirty="0">
                          <a:solidFill>
                            <a:sysClr val="windowText" lastClr="000000"/>
                          </a:solidFill>
                          <a:latin typeface="游ゴシック" panose="020B0400000000000000" pitchFamily="50" charset="-128"/>
                          <a:ea typeface="游ゴシック" panose="020B0400000000000000" pitchFamily="50" charset="-128"/>
                        </a:rPr>
                        <a:t>＋／△</a:t>
                      </a:r>
                    </a:p>
                  </a:txBody>
                  <a:tcPr marL="43200" marR="43200" marT="7200" marB="7200" anchor="ctr">
                    <a:solidFill>
                      <a:srgbClr val="F5F8FB"/>
                    </a:solidFill>
                  </a:tcPr>
                </a:tc>
                <a:tc>
                  <a:txBody>
                    <a:bodyPr/>
                    <a:lstStyle/>
                    <a:p>
                      <a:pPr algn="l"/>
                      <a:r>
                        <a:rPr sz="850" b="0" dirty="0">
                          <a:solidFill>
                            <a:sysClr val="windowText" lastClr="000000"/>
                          </a:solidFill>
                          <a:latin typeface="游ゴシック" panose="020B0400000000000000" pitchFamily="50" charset="-128"/>
                          <a:ea typeface="游ゴシック" panose="020B0400000000000000" pitchFamily="50" charset="-128"/>
                        </a:rPr>
                        <a:t>店舗別の収益性評価に影響する。全社の正常収益力の水準は変わらない</a:t>
                      </a:r>
                    </a:p>
                  </a:txBody>
                  <a:tcPr marL="43200" marR="43200" marT="7200" marB="7200" anchor="ctr">
                    <a:solidFill>
                      <a:srgbClr val="F5F8FB"/>
                    </a:solidFill>
                  </a:tcPr>
                </a:tc>
                <a:extLst>
                  <a:ext uri="{0D108BD9-81ED-4DB2-BD59-A6C34878D82A}">
                    <a16:rowId xmlns:a16="http://schemas.microsoft.com/office/drawing/2014/main" val="10002"/>
                  </a:ext>
                </a:extLst>
              </a:tr>
            </a:tbl>
          </a:graphicData>
        </a:graphic>
      </p:graphicFrame>
      <p:sp>
        <p:nvSpPr>
          <p:cNvPr id="15" name="TextBox 14"/>
          <p:cNvSpPr txBox="1"/>
          <p:nvPr/>
        </p:nvSpPr>
        <p:spPr>
          <a:xfrm>
            <a:off x="324000" y="5961888"/>
            <a:ext cx="10003536" cy="1005840"/>
          </a:xfrm>
          <a:prstGeom prst="rect">
            <a:avLst/>
          </a:prstGeom>
          <a:noFill/>
        </p:spPr>
        <p:txBody>
          <a:bodyPr wrap="square" lIns="36000" tIns="18000" rIns="36000" bIns="18000" anchor="t">
            <a:spAutoFit/>
          </a:bodyPr>
          <a:lstStyle/>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【本評価書の位置づけ】</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・本評価書に示す想定株式価値は、記載の評価基準日および前提条件のもとでの試算値であり、実際の譲渡価格を保証するものではない。</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いずれの手法でも想定株式価値はマイナスとなる。実務上は株式価値を備忘的な水準（ゼロ近傍）と置いたうえで、代表者の連帯保証の解除および役員借入金の返済を譲渡条件の中心に据える整理が現実的であ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・一方、正常収益力（基準営業利益6,235千円・基準EBITDA16,192千円）自体は確保されており、不採算2店舗の撤退効果が通期で発現すれば評価は改善する。進行期の着地がレンジを左右する最大の変数である。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a:p>
            <a:pPr>
              <a:spcBef>
                <a:spcPts val="0"/>
              </a:spcBef>
              <a:spcAft>
                <a:spcPts val="200"/>
              </a:spcAft>
            </a:pPr>
            <a:r>
              <a:rPr sz="850" b="1" dirty="0" err="1">
                <a:solidFill>
                  <a:sysClr val="windowText" lastClr="000000"/>
                </a:solidFill>
                <a:latin typeface="游ゴシック" panose="020B0400000000000000" pitchFamily="50" charset="-128"/>
                <a:ea typeface="游ゴシック" panose="020B0400000000000000" pitchFamily="50" charset="-128"/>
              </a:rPr>
              <a:t>・最終的な譲渡価格は、買手候補による事業評価・デューデリジェンスの結果および当事者間の交渉により決定される。</a:t>
            </a:r>
            <a:endParaRPr lang="en-US" sz="1100" b="1" dirty="0">
              <a:solidFill>
                <a:sysClr val="windowText" lastClr="000000"/>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317028956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latin typeface="游ゴシック" panose="020B0400000000000000" pitchFamily="50" charset="-128"/>
                <a:ea typeface="游ゴシック" panose="020B0400000000000000" pitchFamily="50" charset="-128"/>
              </a:rPr>
              <a:t>株価評価にあたっての注意点</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latin typeface="游ゴシック" panose="020B0400000000000000" pitchFamily="50" charset="-128"/>
                <a:ea typeface="游ゴシック" panose="020B0400000000000000" pitchFamily="50" charset="-128"/>
              </a:rPr>
              <a:t>　はじめに</a:t>
            </a:r>
            <a:endParaRPr lang="ja-JP" altLang="en-US" sz="1200" b="1" spc="55" dirty="0">
              <a:solidFill>
                <a:schemeClr val="bg1"/>
              </a:solidFill>
              <a:latin typeface="游ゴシック" panose="020B0400000000000000" pitchFamily="50" charset="-128"/>
              <a:ea typeface="游ゴシック" panose="020B0400000000000000" pitchFamily="50" charset="-128"/>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panose="020B0400000000000000" pitchFamily="50" charset="-128"/>
                <a:ea typeface="游ゴシック" panose="020B0400000000000000" pitchFamily="50" charset="-128"/>
              </a:rPr>
              <a:t>本評価書は2025年11月30日を評価基準日とし、対象会社から受領した第3期〜第5期の決算書一式、進行期の試算表・店舗別試算表、棚卸表および従業員名簿に依拠して作成している。以下の前提・限界を前提としてご覧いただきたい。</a:t>
            </a:r>
            <a:endParaRPr lang="en-US" altLang="ja-JP" dirty="0">
              <a:latin typeface="游ゴシック" panose="020B0400000000000000" pitchFamily="50" charset="-128"/>
              <a:ea typeface="游ゴシック" panose="020B0400000000000000" pitchFamily="50" charset="-128"/>
            </a:endParaRPr>
          </a:p>
        </p:txBody>
      </p:sp>
      <p:graphicFrame>
        <p:nvGraphicFramePr>
          <p:cNvPr id="14" name="Table 13"/>
          <p:cNvGraphicFramePr>
            <a:graphicFrameLocks noGrp="1"/>
          </p:cNvGraphicFramePr>
          <p:nvPr>
            <p:extLst>
              <p:ext uri="{D42A27DB-BD31-4B8C-83A1-F6EECF244321}">
                <p14:modId xmlns:p14="http://schemas.microsoft.com/office/powerpoint/2010/main" val="2354946443"/>
              </p:ext>
            </p:extLst>
          </p:nvPr>
        </p:nvGraphicFramePr>
        <p:xfrm>
          <a:off x="324000" y="1737360"/>
          <a:ext cx="10003536" cy="3675888"/>
        </p:xfrm>
        <a:graphic>
          <a:graphicData uri="http://schemas.openxmlformats.org/drawingml/2006/table">
            <a:tbl>
              <a:tblPr>
                <a:tableStyleId>{5C22544A-7EE6-4342-B048-85BDC9FD1C3A}</a:tableStyleId>
              </a:tblPr>
              <a:tblGrid>
                <a:gridCol w="1920240">
                  <a:extLst>
                    <a:ext uri="{9D8B030D-6E8A-4147-A177-3AD203B41FA5}">
                      <a16:colId xmlns:a16="http://schemas.microsoft.com/office/drawing/2014/main" val="20000"/>
                    </a:ext>
                  </a:extLst>
                </a:gridCol>
                <a:gridCol w="8083296">
                  <a:extLst>
                    <a:ext uri="{9D8B030D-6E8A-4147-A177-3AD203B41FA5}">
                      <a16:colId xmlns:a16="http://schemas.microsoft.com/office/drawing/2014/main" val="20001"/>
                    </a:ext>
                  </a:extLst>
                </a:gridCol>
              </a:tblGrid>
              <a:tr h="274320">
                <a:tc>
                  <a:txBody>
                    <a:bodyPr/>
                    <a:lstStyle/>
                    <a:p>
                      <a:pPr algn="l"/>
                      <a:r>
                        <a:rPr sz="900" b="1">
                          <a:solidFill>
                            <a:srgbClr val="FFFFFF"/>
                          </a:solidFill>
                          <a:latin typeface="游ゴシック" panose="020B0400000000000000" pitchFamily="50" charset="-128"/>
                          <a:ea typeface="游ゴシック" panose="020B0400000000000000" pitchFamily="50" charset="-128"/>
                        </a:rPr>
                        <a:t>項目</a:t>
                      </a:r>
                    </a:p>
                  </a:txBody>
                  <a:tcPr marL="43200" marR="43200" marT="7200" marB="7200" anchor="ctr">
                    <a:solidFill>
                      <a:srgbClr val="1F3B5B"/>
                    </a:solidFill>
                  </a:tcPr>
                </a:tc>
                <a:tc>
                  <a:txBody>
                    <a:bodyPr/>
                    <a:lstStyle/>
                    <a:p>
                      <a:pPr algn="ctr"/>
                      <a:r>
                        <a:rPr sz="900" b="1">
                          <a:solidFill>
                            <a:srgbClr val="FFFFFF"/>
                          </a:solidFill>
                          <a:latin typeface="游ゴシック" panose="020B0400000000000000" pitchFamily="50" charset="-128"/>
                          <a:ea typeface="游ゴシック" panose="020B0400000000000000" pitchFamily="50" charset="-128"/>
                        </a:rPr>
                        <a:t>内容</a:t>
                      </a:r>
                    </a:p>
                  </a:txBody>
                  <a:tcPr marL="43200" marR="43200" marT="7200" marB="7200" anchor="ctr">
                    <a:solidFill>
                      <a:srgbClr val="1F3B5B"/>
                    </a:solidFill>
                  </a:tcPr>
                </a:tc>
                <a:extLst>
                  <a:ext uri="{0D108BD9-81ED-4DB2-BD59-A6C34878D82A}">
                    <a16:rowId xmlns:a16="http://schemas.microsoft.com/office/drawing/2014/main" val="10000"/>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評価基準日</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tc>
                  <a:txBody>
                    <a:bodyPr/>
                    <a:lstStyle/>
                    <a:p>
                      <a:pPr algn="l"/>
                      <a:r>
                        <a:rPr sz="900" b="0" dirty="0">
                          <a:solidFill>
                            <a:sysClr val="windowText" lastClr="000000"/>
                          </a:solidFill>
                          <a:latin typeface="游ゴシック" panose="020B0400000000000000" pitchFamily="50" charset="-128"/>
                          <a:ea typeface="游ゴシック" panose="020B0400000000000000" pitchFamily="50" charset="-128"/>
                        </a:rPr>
                        <a:t>2025年11月30日（第5期末＝直近決算日）。進行期の試算表（2026年6月末）は決算整理（減価償却・棚卸評価等）が未了のため評価の基礎としていない。ただし基準日後に判明した事実は評価差額に反映している</a:t>
                      </a:r>
                    </a:p>
                  </a:txBody>
                  <a:tcPr marL="43200" marR="43200" marT="7200" marB="7200" anchor="ctr">
                    <a:solidFill>
                      <a:srgbClr val="FFFFFF"/>
                    </a:solidFill>
                  </a:tcPr>
                </a:tc>
                <a:extLst>
                  <a:ext uri="{0D108BD9-81ED-4DB2-BD59-A6C34878D82A}">
                    <a16:rowId xmlns:a16="http://schemas.microsoft.com/office/drawing/2014/main" val="10001"/>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評価の目的</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本取引における譲渡価格の検討にあたっての参考値の提示。税務上の時価・会計上の公正価値の算定を目的とするものではない</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2"/>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採用したアプローチ</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コストアプローチ（時価純資産＋営業権法）およびマーケットアプローチ（EV/EBITDAマルチプル法）。選定理由はP.6を参照</a:t>
                      </a:r>
                    </a:p>
                  </a:txBody>
                  <a:tcPr marL="43200" marR="43200" marT="7200" marB="7200" anchor="ctr">
                    <a:solidFill>
                      <a:srgbClr val="FFFFFF"/>
                    </a:solidFill>
                  </a:tcPr>
                </a:tc>
                <a:extLst>
                  <a:ext uri="{0D108BD9-81ED-4DB2-BD59-A6C34878D82A}">
                    <a16:rowId xmlns:a16="http://schemas.microsoft.com/office/drawing/2014/main" val="10003"/>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依拠した資料</a:t>
                      </a: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決算書・勘定科目内訳明細書・減価償却内訳明細書・法人税等申告書（第3期〜第5期）、勘定科目残高推移表（2025年12月〜2026年6月）、部門別損益計算書、棚卸表、従業員名簿、賃金台帳</a:t>
                      </a:r>
                    </a:p>
                  </a:txBody>
                  <a:tcPr marL="43200" marR="43200" marT="7200" marB="7200" anchor="ctr">
                    <a:solidFill>
                      <a:srgbClr val="F5F8FB"/>
                    </a:solidFill>
                  </a:tcPr>
                </a:tc>
                <a:extLst>
                  <a:ext uri="{0D108BD9-81ED-4DB2-BD59-A6C34878D82A}">
                    <a16:rowId xmlns:a16="http://schemas.microsoft.com/office/drawing/2014/main" val="10004"/>
                  </a:ext>
                </a:extLst>
              </a:tr>
              <a:tr h="566928">
                <a:tc>
                  <a:txBody>
                    <a:bodyPr/>
                    <a:lstStyle/>
                    <a:p>
                      <a:pPr algn="l"/>
                      <a:r>
                        <a:rPr sz="900" b="0">
                          <a:solidFill>
                            <a:sysClr val="windowText" lastClr="000000"/>
                          </a:solidFill>
                          <a:latin typeface="游ゴシック" panose="020B0400000000000000" pitchFamily="50" charset="-128"/>
                          <a:ea typeface="游ゴシック" panose="020B0400000000000000" pitchFamily="50" charset="-128"/>
                        </a:rPr>
                        <a:t>実施していない手続</a:t>
                      </a:r>
                    </a:p>
                  </a:txBody>
                  <a:tcPr marL="43200" marR="43200" marT="7200" marB="7200" anchor="ctr">
                    <a:solidFill>
                      <a:srgbClr val="FFFFFF"/>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監査・財務デューデリジェンス、資産の実査・立会、不動産および動産の鑑定評価、取引先・金融機関への確認。契約書（賃貸借・フランチャイズ）は未受領</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FFFFF"/>
                    </a:solidFill>
                  </a:tcPr>
                </a:tc>
                <a:extLst>
                  <a:ext uri="{0D108BD9-81ED-4DB2-BD59-A6C34878D82A}">
                    <a16:rowId xmlns:a16="http://schemas.microsoft.com/office/drawing/2014/main" val="10005"/>
                  </a:ext>
                </a:extLst>
              </a:tr>
              <a:tr h="566928">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本評価書の位置づけ</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tc>
                  <a:txBody>
                    <a:bodyPr/>
                    <a:lstStyle/>
                    <a:p>
                      <a:pPr algn="l"/>
                      <a:r>
                        <a:rPr sz="900" b="0" dirty="0" err="1">
                          <a:solidFill>
                            <a:sysClr val="windowText" lastClr="000000"/>
                          </a:solidFill>
                          <a:latin typeface="游ゴシック" panose="020B0400000000000000" pitchFamily="50" charset="-128"/>
                          <a:ea typeface="游ゴシック" panose="020B0400000000000000" pitchFamily="50" charset="-128"/>
                        </a:rPr>
                        <a:t>本評価書の試算値は交渉の出発点であり、最終的な譲渡価格は買手候補の事業評価と当事者間の交渉により決定される。要確認事項（P.22）の解消により試算値は変動しうる</a:t>
                      </a:r>
                      <a:endParaRPr sz="900" b="0" dirty="0">
                        <a:solidFill>
                          <a:sysClr val="windowText" lastClr="000000"/>
                        </a:solidFill>
                        <a:latin typeface="游ゴシック" panose="020B0400000000000000" pitchFamily="50" charset="-128"/>
                        <a:ea typeface="游ゴシック" panose="020B0400000000000000" pitchFamily="50" charset="-128"/>
                      </a:endParaRPr>
                    </a:p>
                  </a:txBody>
                  <a:tcPr marL="43200" marR="43200" marT="7200" marB="7200" anchor="ctr">
                    <a:solidFill>
                      <a:srgbClr val="F5F8FB"/>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56887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12916</TotalTime>
  <Words>17871</Words>
  <Application>Microsoft Office PowerPoint</Application>
  <PresentationFormat>ユーザー設定</PresentationFormat>
  <Paragraphs>7232</Paragraphs>
  <Slides>63</Slides>
  <Notes>52</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63</vt:i4>
      </vt:variant>
    </vt:vector>
  </HeadingPairs>
  <TitlesOfParts>
    <vt:vector size="69" baseType="lpstr">
      <vt:lpstr>ＭＳ Ｐゴシック</vt:lpstr>
      <vt:lpstr>Yu Gothic</vt:lpstr>
      <vt:lpstr>Yu Gothic</vt:lpstr>
      <vt:lpstr>游ゴシック Medium</vt:lpstr>
      <vt:lpstr>Arial</vt:lpstr>
      <vt:lpstr>SL_2026</vt:lpstr>
      <vt:lpstr>企業概要書  &lt;水産養殖業／関西&gt;</vt:lpstr>
      <vt:lpstr>はじめに</vt:lpstr>
      <vt:lpstr>PowerPoint プレゼンテーション</vt:lpstr>
      <vt:lpstr>エグゼクティブサマリー</vt:lpstr>
      <vt:lpstr>基本情報</vt:lpstr>
      <vt:lpstr>事業概要</vt:lpstr>
      <vt:lpstr>財務ハイライト（P/L）</vt:lpstr>
      <vt:lpstr>財務ハイライト（B/S）</vt:lpstr>
      <vt:lpstr>譲渡希望条件</vt:lpstr>
      <vt:lpstr>事業概要</vt:lpstr>
      <vt:lpstr>事業内容</vt:lpstr>
      <vt:lpstr>生産サイクル</vt:lpstr>
      <vt:lpstr>参考｜天然琵琶湖産鮎と人工種苗の特性・用途比較</vt:lpstr>
      <vt:lpstr>事業別売上高</vt:lpstr>
      <vt:lpstr>商品・用途別の顧客構成</vt:lpstr>
      <vt:lpstr>特徴</vt:lpstr>
      <vt:lpstr>主要得意先の3期推移</vt:lpstr>
      <vt:lpstr>主要仕入先の3期推移</vt:lpstr>
      <vt:lpstr>仕入・販売における価格形成の仕組み</vt:lpstr>
      <vt:lpstr>組織、拠点、設備等</vt:lpstr>
      <vt:lpstr>組織図</vt:lpstr>
      <vt:lpstr>株主及び役員</vt:lpstr>
      <vt:lpstr>従業員一覧</vt:lpstr>
      <vt:lpstr>拠点概要（本社）</vt:lpstr>
      <vt:lpstr>不動産概況</vt:lpstr>
      <vt:lpstr>不動産の担保設定・権利関係</vt:lpstr>
      <vt:lpstr>不動産詳細｜法人所有分①（土地）</vt:lpstr>
      <vt:lpstr>不動産詳細｜法人所有分②（建物）</vt:lpstr>
      <vt:lpstr>不動産詳細｜社長所有分①（土地・彦根市）</vt:lpstr>
      <vt:lpstr>不動産詳細｜社長所有分②（土地・長浜市／建物）</vt:lpstr>
      <vt:lpstr>拠点概要（養魚場一覧）</vt:lpstr>
      <vt:lpstr>拠点概要（養魚場所在地）</vt:lpstr>
      <vt:lpstr>拠点概要（養殖池の全景）</vt:lpstr>
      <vt:lpstr>拠点概要（養殖池概況｜写真①）</vt:lpstr>
      <vt:lpstr>拠点概要（養殖池概況｜写真②）</vt:lpstr>
      <vt:lpstr>拠点概要（養殖池概況｜写真③）</vt:lpstr>
      <vt:lpstr>拠点概要（養殖池概況｜写真③）</vt:lpstr>
      <vt:lpstr>保有設備一覧①</vt:lpstr>
      <vt:lpstr>保有設備一覧②</vt:lpstr>
      <vt:lpstr>保有設備一覧③</vt:lpstr>
      <vt:lpstr>保有設備一覧④</vt:lpstr>
      <vt:lpstr>保有設備一覧⑤</vt:lpstr>
      <vt:lpstr>保有設備一覧⑤</vt:lpstr>
      <vt:lpstr>保有設備一覧⑥</vt:lpstr>
      <vt:lpstr>保有設備一覧⑦</vt:lpstr>
      <vt:lpstr>保有設備一覧⑧</vt:lpstr>
      <vt:lpstr>保有設備一覧⑨</vt:lpstr>
      <vt:lpstr>保有設備一覧⑩</vt:lpstr>
      <vt:lpstr>保有設備一覧⑪</vt:lpstr>
      <vt:lpstr>保有設備一覧⑫</vt:lpstr>
      <vt:lpstr>保有設備一覧⑬</vt:lpstr>
      <vt:lpstr>保有設備一覧⑭</vt:lpstr>
      <vt:lpstr>許認可一覧</vt:lpstr>
      <vt:lpstr>財務情報詳細</vt:lpstr>
      <vt:lpstr>貸借対照表</vt:lpstr>
      <vt:lpstr>損益計算書</vt:lpstr>
      <vt:lpstr>販売費及び一般管理費</vt:lpstr>
      <vt:lpstr>Appendix</vt:lpstr>
      <vt:lpstr>沿革</vt:lpstr>
      <vt:lpstr>代表者経歴</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田垣内 啓介</cp:lastModifiedBy>
  <cp:revision>194</cp:revision>
  <cp:lastPrinted>2025-10-23T01:12:16Z</cp:lastPrinted>
  <dcterms:created xsi:type="dcterms:W3CDTF">2022-11-09T11:25:01Z</dcterms:created>
  <dcterms:modified xsi:type="dcterms:W3CDTF">2026-08-27T00:46:32Z</dcterms:modified>
</cp:coreProperties>
</file>